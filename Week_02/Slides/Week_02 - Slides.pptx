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8.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5.xml" ContentType="application/vnd.openxmlformats-officedocument.drawingml.chart+xml"/>
  <Override PartName="/ppt/notesSlides/notesSlide18.xml" ContentType="application/vnd.openxmlformats-officedocument.presentationml.notesSlide+xml"/>
  <Override PartName="/ppt/charts/chart16.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7.xml" ContentType="application/vnd.openxmlformats-officedocument.drawingml.chart+xml"/>
  <Override PartName="/ppt/notesSlides/notesSlide22.xml" ContentType="application/vnd.openxmlformats-officedocument.presentationml.notesSlide+xml"/>
  <Override PartName="/ppt/charts/chart18.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9.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20.xml" ContentType="application/vnd.openxmlformats-officedocument.drawingml.chart+xml"/>
  <Override PartName="/ppt/charts/chart21.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notesSlides/notesSlide40.xml" ContentType="application/vnd.openxmlformats-officedocument.presentationml.notesSlide+xml"/>
  <Override PartName="/ppt/charts/chart24.xml" ContentType="application/vnd.openxmlformats-officedocument.drawingml.chart+xml"/>
  <Override PartName="/ppt/charts/chart25.xml" ContentType="application/vnd.openxmlformats-officedocument.drawingml.chart+xml"/>
  <Override PartName="/ppt/notesSlides/notesSlide41.xml" ContentType="application/vnd.openxmlformats-officedocument.presentationml.notesSlide+xml"/>
  <Override PartName="/ppt/charts/chart26.xml" ContentType="application/vnd.openxmlformats-officedocument.drawingml.chart+xml"/>
  <Override PartName="/ppt/charts/chart27.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28.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53"/>
  </p:notesMasterIdLst>
  <p:sldIdLst>
    <p:sldId id="256" r:id="rId3"/>
    <p:sldId id="257" r:id="rId4"/>
    <p:sldId id="300" r:id="rId5"/>
    <p:sldId id="258" r:id="rId6"/>
    <p:sldId id="259" r:id="rId7"/>
    <p:sldId id="260" r:id="rId8"/>
    <p:sldId id="261" r:id="rId9"/>
    <p:sldId id="262" r:id="rId10"/>
    <p:sldId id="263" r:id="rId11"/>
    <p:sldId id="264" r:id="rId12"/>
    <p:sldId id="265" r:id="rId13"/>
    <p:sldId id="301" r:id="rId14"/>
    <p:sldId id="266" r:id="rId15"/>
    <p:sldId id="267" r:id="rId16"/>
    <p:sldId id="268" r:id="rId17"/>
    <p:sldId id="269" r:id="rId18"/>
    <p:sldId id="270" r:id="rId19"/>
    <p:sldId id="271" r:id="rId20"/>
    <p:sldId id="272" r:id="rId21"/>
    <p:sldId id="273" r:id="rId22"/>
    <p:sldId id="274" r:id="rId23"/>
    <p:sldId id="275" r:id="rId24"/>
    <p:sldId id="276" r:id="rId25"/>
    <p:sldId id="303" r:id="rId26"/>
    <p:sldId id="277" r:id="rId27"/>
    <p:sldId id="278" r:id="rId28"/>
    <p:sldId id="306" r:id="rId29"/>
    <p:sldId id="307" r:id="rId30"/>
    <p:sldId id="279" r:id="rId31"/>
    <p:sldId id="304" r:id="rId32"/>
    <p:sldId id="305" r:id="rId33"/>
    <p:sldId id="280" r:id="rId34"/>
    <p:sldId id="302" r:id="rId35"/>
    <p:sldId id="288" r:id="rId36"/>
    <p:sldId id="291" r:id="rId37"/>
    <p:sldId id="312" r:id="rId38"/>
    <p:sldId id="311" r:id="rId39"/>
    <p:sldId id="317" r:id="rId40"/>
    <p:sldId id="294" r:id="rId41"/>
    <p:sldId id="295" r:id="rId42"/>
    <p:sldId id="296" r:id="rId43"/>
    <p:sldId id="309" r:id="rId44"/>
    <p:sldId id="316" r:id="rId45"/>
    <p:sldId id="287" r:id="rId46"/>
    <p:sldId id="286" r:id="rId47"/>
    <p:sldId id="310" r:id="rId48"/>
    <p:sldId id="314" r:id="rId49"/>
    <p:sldId id="315" r:id="rId50"/>
    <p:sldId id="284" r:id="rId51"/>
    <p:sldId id="313" r:id="rId5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7F83"/>
    <a:srgbClr val="326CB2"/>
    <a:srgbClr val="3588C3"/>
    <a:srgbClr val="5885B9"/>
    <a:srgbClr val="7FB7DF"/>
    <a:srgbClr val="35969D"/>
    <a:srgbClr val="868B90"/>
    <a:srgbClr val="3E79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9066A2-05B1-4FC3-9FCD-629CB9772753}" v="420" dt="2026-09-28T16:21:46.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Colomboni" userId="dd40f206-3c8d-4cae-a481-e04c30f4a734" providerId="ADAL" clId="{60E66902-36BF-4793-9F68-7CEF37DD1CC7}"/>
    <pc:docChg chg="custSel modSld">
      <pc:chgData name="Roberto Colomboni" userId="dd40f206-3c8d-4cae-a481-e04c30f4a734" providerId="ADAL" clId="{60E66902-36BF-4793-9F68-7CEF37DD1CC7}" dt="2026-09-28T16:22:13.616" v="483" actId="1076"/>
      <pc:docMkLst>
        <pc:docMk/>
      </pc:docMkLst>
      <pc:sldChg chg="modAnim">
        <pc:chgData name="Roberto Colomboni" userId="dd40f206-3c8d-4cae-a481-e04c30f4a734" providerId="ADAL" clId="{60E66902-36BF-4793-9F68-7CEF37DD1CC7}" dt="2026-09-28T13:32:13.634" v="205"/>
        <pc:sldMkLst>
          <pc:docMk/>
          <pc:sldMk cId="1325068005" sldId="259"/>
        </pc:sldMkLst>
      </pc:sldChg>
      <pc:sldChg chg="modAnim">
        <pc:chgData name="Roberto Colomboni" userId="dd40f206-3c8d-4cae-a481-e04c30f4a734" providerId="ADAL" clId="{60E66902-36BF-4793-9F68-7CEF37DD1CC7}" dt="2026-09-28T13:31:42.993" v="200"/>
        <pc:sldMkLst>
          <pc:docMk/>
          <pc:sldMk cId="978409451" sldId="260"/>
        </pc:sldMkLst>
      </pc:sldChg>
      <pc:sldChg chg="modAnim">
        <pc:chgData name="Roberto Colomboni" userId="dd40f206-3c8d-4cae-a481-e04c30f4a734" providerId="ADAL" clId="{60E66902-36BF-4793-9F68-7CEF37DD1CC7}" dt="2026-09-28T13:31:47.826" v="201"/>
        <pc:sldMkLst>
          <pc:docMk/>
          <pc:sldMk cId="548249767" sldId="261"/>
        </pc:sldMkLst>
      </pc:sldChg>
      <pc:sldChg chg="modAnim">
        <pc:chgData name="Roberto Colomboni" userId="dd40f206-3c8d-4cae-a481-e04c30f4a734" providerId="ADAL" clId="{60E66902-36BF-4793-9F68-7CEF37DD1CC7}" dt="2026-09-28T13:33:14.153" v="208"/>
        <pc:sldMkLst>
          <pc:docMk/>
          <pc:sldMk cId="724106085" sldId="263"/>
        </pc:sldMkLst>
      </pc:sldChg>
      <pc:sldChg chg="modAnim">
        <pc:chgData name="Roberto Colomboni" userId="dd40f206-3c8d-4cae-a481-e04c30f4a734" providerId="ADAL" clId="{60E66902-36BF-4793-9F68-7CEF37DD1CC7}" dt="2026-09-28T13:33:18.168" v="212"/>
        <pc:sldMkLst>
          <pc:docMk/>
          <pc:sldMk cId="437100562" sldId="264"/>
        </pc:sldMkLst>
      </pc:sldChg>
      <pc:sldChg chg="modAnim">
        <pc:chgData name="Roberto Colomboni" userId="dd40f206-3c8d-4cae-a481-e04c30f4a734" providerId="ADAL" clId="{60E66902-36BF-4793-9F68-7CEF37DD1CC7}" dt="2026-09-28T13:33:34.320" v="214"/>
        <pc:sldMkLst>
          <pc:docMk/>
          <pc:sldMk cId="1381018310" sldId="265"/>
        </pc:sldMkLst>
      </pc:sldChg>
      <pc:sldChg chg="modAnim">
        <pc:chgData name="Roberto Colomboni" userId="dd40f206-3c8d-4cae-a481-e04c30f4a734" providerId="ADAL" clId="{60E66902-36BF-4793-9F68-7CEF37DD1CC7}" dt="2026-09-28T13:34:11.101" v="216"/>
        <pc:sldMkLst>
          <pc:docMk/>
          <pc:sldMk cId="65413271" sldId="266"/>
        </pc:sldMkLst>
      </pc:sldChg>
      <pc:sldChg chg="modAnim">
        <pc:chgData name="Roberto Colomboni" userId="dd40f206-3c8d-4cae-a481-e04c30f4a734" providerId="ADAL" clId="{60E66902-36BF-4793-9F68-7CEF37DD1CC7}" dt="2026-09-28T13:34:51.708" v="217"/>
        <pc:sldMkLst>
          <pc:docMk/>
          <pc:sldMk cId="1962287945" sldId="267"/>
        </pc:sldMkLst>
      </pc:sldChg>
      <pc:sldChg chg="modAnim">
        <pc:chgData name="Roberto Colomboni" userId="dd40f206-3c8d-4cae-a481-e04c30f4a734" providerId="ADAL" clId="{60E66902-36BF-4793-9F68-7CEF37DD1CC7}" dt="2026-09-28T13:36:15.619" v="219"/>
        <pc:sldMkLst>
          <pc:docMk/>
          <pc:sldMk cId="555131307" sldId="268"/>
        </pc:sldMkLst>
      </pc:sldChg>
      <pc:sldChg chg="modAnim">
        <pc:chgData name="Roberto Colomboni" userId="dd40f206-3c8d-4cae-a481-e04c30f4a734" providerId="ADAL" clId="{60E66902-36BF-4793-9F68-7CEF37DD1CC7}" dt="2026-09-28T13:37:06.346" v="223"/>
        <pc:sldMkLst>
          <pc:docMk/>
          <pc:sldMk cId="32211880" sldId="269"/>
        </pc:sldMkLst>
      </pc:sldChg>
      <pc:sldChg chg="modSp mod modAnim">
        <pc:chgData name="Roberto Colomboni" userId="dd40f206-3c8d-4cae-a481-e04c30f4a734" providerId="ADAL" clId="{60E66902-36BF-4793-9F68-7CEF37DD1CC7}" dt="2026-09-28T14:15:17.728" v="370" actId="1076"/>
        <pc:sldMkLst>
          <pc:docMk/>
          <pc:sldMk cId="1363087074" sldId="270"/>
        </pc:sldMkLst>
        <pc:spChg chg="mod">
          <ac:chgData name="Roberto Colomboni" userId="dd40f206-3c8d-4cae-a481-e04c30f4a734" providerId="ADAL" clId="{60E66902-36BF-4793-9F68-7CEF37DD1CC7}" dt="2026-09-28T14:15:17.728" v="370" actId="1076"/>
          <ac:spMkLst>
            <pc:docMk/>
            <pc:sldMk cId="1363087074" sldId="270"/>
            <ac:spMk id="4" creationId="{A58A4EE6-5C3A-49EF-9CD7-A784251B6C4C}"/>
          </ac:spMkLst>
        </pc:spChg>
      </pc:sldChg>
      <pc:sldChg chg="modAnim">
        <pc:chgData name="Roberto Colomboni" userId="dd40f206-3c8d-4cae-a481-e04c30f4a734" providerId="ADAL" clId="{60E66902-36BF-4793-9F68-7CEF37DD1CC7}" dt="2026-09-28T13:38:02.026" v="229"/>
        <pc:sldMkLst>
          <pc:docMk/>
          <pc:sldMk cId="1188719092" sldId="271"/>
        </pc:sldMkLst>
      </pc:sldChg>
      <pc:sldChg chg="modAnim">
        <pc:chgData name="Roberto Colomboni" userId="dd40f206-3c8d-4cae-a481-e04c30f4a734" providerId="ADAL" clId="{60E66902-36BF-4793-9F68-7CEF37DD1CC7}" dt="2026-09-28T13:41:21.222" v="259"/>
        <pc:sldMkLst>
          <pc:docMk/>
          <pc:sldMk cId="2094852509" sldId="272"/>
        </pc:sldMkLst>
      </pc:sldChg>
      <pc:sldChg chg="modAnim">
        <pc:chgData name="Roberto Colomboni" userId="dd40f206-3c8d-4cae-a481-e04c30f4a734" providerId="ADAL" clId="{60E66902-36BF-4793-9F68-7CEF37DD1CC7}" dt="2026-09-28T13:41:52.021" v="263"/>
        <pc:sldMkLst>
          <pc:docMk/>
          <pc:sldMk cId="804595755" sldId="273"/>
        </pc:sldMkLst>
      </pc:sldChg>
      <pc:sldChg chg="modAnim">
        <pc:chgData name="Roberto Colomboni" userId="dd40f206-3c8d-4cae-a481-e04c30f4a734" providerId="ADAL" clId="{60E66902-36BF-4793-9F68-7CEF37DD1CC7}" dt="2026-09-28T13:41:59.109" v="266"/>
        <pc:sldMkLst>
          <pc:docMk/>
          <pc:sldMk cId="434038165" sldId="274"/>
        </pc:sldMkLst>
      </pc:sldChg>
      <pc:sldChg chg="modAnim">
        <pc:chgData name="Roberto Colomboni" userId="dd40f206-3c8d-4cae-a481-e04c30f4a734" providerId="ADAL" clId="{60E66902-36BF-4793-9F68-7CEF37DD1CC7}" dt="2026-09-28T13:42:07.933" v="270"/>
        <pc:sldMkLst>
          <pc:docMk/>
          <pc:sldMk cId="2049489303" sldId="275"/>
        </pc:sldMkLst>
      </pc:sldChg>
      <pc:sldChg chg="modSp mod modAnim">
        <pc:chgData name="Roberto Colomboni" userId="dd40f206-3c8d-4cae-a481-e04c30f4a734" providerId="ADAL" clId="{60E66902-36BF-4793-9F68-7CEF37DD1CC7}" dt="2026-09-28T13:42:21.541" v="277"/>
        <pc:sldMkLst>
          <pc:docMk/>
          <pc:sldMk cId="2939386194" sldId="276"/>
        </pc:sldMkLst>
        <pc:spChg chg="mod">
          <ac:chgData name="Roberto Colomboni" userId="dd40f206-3c8d-4cae-a481-e04c30f4a734" providerId="ADAL" clId="{60E66902-36BF-4793-9F68-7CEF37DD1CC7}" dt="2026-09-28T13:42:19.387" v="276" actId="1076"/>
          <ac:spMkLst>
            <pc:docMk/>
            <pc:sldMk cId="2939386194" sldId="276"/>
            <ac:spMk id="5" creationId="{12F86E49-78CE-4767-9B80-DF5E236C0E49}"/>
          </ac:spMkLst>
        </pc:spChg>
        <pc:spChg chg="mod">
          <ac:chgData name="Roberto Colomboni" userId="dd40f206-3c8d-4cae-a481-e04c30f4a734" providerId="ADAL" clId="{60E66902-36BF-4793-9F68-7CEF37DD1CC7}" dt="2026-09-28T13:42:19.387" v="276" actId="1076"/>
          <ac:spMkLst>
            <pc:docMk/>
            <pc:sldMk cId="2939386194" sldId="276"/>
            <ac:spMk id="6" creationId="{2A75A96F-9666-4933-AC9A-073BC94E9CEF}"/>
          </ac:spMkLst>
        </pc:spChg>
        <pc:spChg chg="mod">
          <ac:chgData name="Roberto Colomboni" userId="dd40f206-3c8d-4cae-a481-e04c30f4a734" providerId="ADAL" clId="{60E66902-36BF-4793-9F68-7CEF37DD1CC7}" dt="2026-09-28T13:42:19.387" v="276" actId="1076"/>
          <ac:spMkLst>
            <pc:docMk/>
            <pc:sldMk cId="2939386194" sldId="276"/>
            <ac:spMk id="7" creationId="{F53D1E52-6222-41EE-A673-68B1F1B4ABF1}"/>
          </ac:spMkLst>
        </pc:spChg>
        <pc:spChg chg="mod">
          <ac:chgData name="Roberto Colomboni" userId="dd40f206-3c8d-4cae-a481-e04c30f4a734" providerId="ADAL" clId="{60E66902-36BF-4793-9F68-7CEF37DD1CC7}" dt="2026-09-28T13:42:19.387" v="276" actId="1076"/>
          <ac:spMkLst>
            <pc:docMk/>
            <pc:sldMk cId="2939386194" sldId="276"/>
            <ac:spMk id="9" creationId="{5D40DFB4-6DF1-4108-BB66-0F351F24CB2E}"/>
          </ac:spMkLst>
        </pc:spChg>
      </pc:sldChg>
      <pc:sldChg chg="modAnim">
        <pc:chgData name="Roberto Colomboni" userId="dd40f206-3c8d-4cae-a481-e04c30f4a734" providerId="ADAL" clId="{60E66902-36BF-4793-9F68-7CEF37DD1CC7}" dt="2026-09-28T13:43:05.252" v="286"/>
        <pc:sldMkLst>
          <pc:docMk/>
          <pc:sldMk cId="862685457" sldId="277"/>
        </pc:sldMkLst>
      </pc:sldChg>
      <pc:sldChg chg="modAnim">
        <pc:chgData name="Roberto Colomboni" userId="dd40f206-3c8d-4cae-a481-e04c30f4a734" providerId="ADAL" clId="{60E66902-36BF-4793-9F68-7CEF37DD1CC7}" dt="2026-09-28T13:43:10.707" v="288"/>
        <pc:sldMkLst>
          <pc:docMk/>
          <pc:sldMk cId="1545301341" sldId="278"/>
        </pc:sldMkLst>
      </pc:sldChg>
      <pc:sldChg chg="modAnim">
        <pc:chgData name="Roberto Colomboni" userId="dd40f206-3c8d-4cae-a481-e04c30f4a734" providerId="ADAL" clId="{60E66902-36BF-4793-9F68-7CEF37DD1CC7}" dt="2026-09-28T13:43:38.386" v="300"/>
        <pc:sldMkLst>
          <pc:docMk/>
          <pc:sldMk cId="376919793" sldId="279"/>
        </pc:sldMkLst>
      </pc:sldChg>
      <pc:sldChg chg="modAnim">
        <pc:chgData name="Roberto Colomboni" userId="dd40f206-3c8d-4cae-a481-e04c30f4a734" providerId="ADAL" clId="{60E66902-36BF-4793-9F68-7CEF37DD1CC7}" dt="2026-09-28T13:44:43.123" v="313"/>
        <pc:sldMkLst>
          <pc:docMk/>
          <pc:sldMk cId="1420855613" sldId="280"/>
        </pc:sldMkLst>
      </pc:sldChg>
      <pc:sldChg chg="addSp modSp mod modAnim">
        <pc:chgData name="Roberto Colomboni" userId="dd40f206-3c8d-4cae-a481-e04c30f4a734" providerId="ADAL" clId="{60E66902-36BF-4793-9F68-7CEF37DD1CC7}" dt="2026-09-28T16:22:13.616" v="483" actId="1076"/>
        <pc:sldMkLst>
          <pc:docMk/>
          <pc:sldMk cId="1988538284" sldId="284"/>
        </pc:sldMkLst>
        <pc:spChg chg="mod">
          <ac:chgData name="Roberto Colomboni" userId="dd40f206-3c8d-4cae-a481-e04c30f4a734" providerId="ADAL" clId="{60E66902-36BF-4793-9F68-7CEF37DD1CC7}" dt="2026-09-28T16:20:31.547" v="459" actId="1076"/>
          <ac:spMkLst>
            <pc:docMk/>
            <pc:sldMk cId="1988538284" sldId="284"/>
            <ac:spMk id="4" creationId="{81E84E98-2E55-46E6-8272-4F985B475BE6}"/>
          </ac:spMkLst>
        </pc:spChg>
        <pc:spChg chg="mod">
          <ac:chgData name="Roberto Colomboni" userId="dd40f206-3c8d-4cae-a481-e04c30f4a734" providerId="ADAL" clId="{60E66902-36BF-4793-9F68-7CEF37DD1CC7}" dt="2026-09-28T16:22:13.616" v="483" actId="1076"/>
          <ac:spMkLst>
            <pc:docMk/>
            <pc:sldMk cId="1988538284" sldId="284"/>
            <ac:spMk id="5" creationId="{4C3A4A6B-6700-4561-9D22-A2E091A2DE23}"/>
          </ac:spMkLst>
        </pc:spChg>
        <pc:spChg chg="add mod">
          <ac:chgData name="Roberto Colomboni" userId="dd40f206-3c8d-4cae-a481-e04c30f4a734" providerId="ADAL" clId="{60E66902-36BF-4793-9F68-7CEF37DD1CC7}" dt="2026-09-28T16:20:47.768" v="463" actId="1076"/>
          <ac:spMkLst>
            <pc:docMk/>
            <pc:sldMk cId="1988538284" sldId="284"/>
            <ac:spMk id="7" creationId="{9CE64784-0950-A974-512C-0866A7703707}"/>
          </ac:spMkLst>
        </pc:spChg>
        <pc:spChg chg="mod">
          <ac:chgData name="Roberto Colomboni" userId="dd40f206-3c8d-4cae-a481-e04c30f4a734" providerId="ADAL" clId="{60E66902-36BF-4793-9F68-7CEF37DD1CC7}" dt="2026-09-28T16:21:03.533" v="466" actId="1076"/>
          <ac:spMkLst>
            <pc:docMk/>
            <pc:sldMk cId="1988538284" sldId="284"/>
            <ac:spMk id="9" creationId="{2A238BDC-5AE4-4570-9BE4-91C9E402CC57}"/>
          </ac:spMkLst>
        </pc:spChg>
        <pc:spChg chg="mod">
          <ac:chgData name="Roberto Colomboni" userId="dd40f206-3c8d-4cae-a481-e04c30f4a734" providerId="ADAL" clId="{60E66902-36BF-4793-9F68-7CEF37DD1CC7}" dt="2026-09-28T16:20:52.271" v="464" actId="1076"/>
          <ac:spMkLst>
            <pc:docMk/>
            <pc:sldMk cId="1988538284" sldId="284"/>
            <ac:spMk id="12" creationId="{00000000-0000-0000-0000-000000000000}"/>
          </ac:spMkLst>
        </pc:spChg>
      </pc:sldChg>
      <pc:sldChg chg="modAnim">
        <pc:chgData name="Roberto Colomboni" userId="dd40f206-3c8d-4cae-a481-e04c30f4a734" providerId="ADAL" clId="{60E66902-36BF-4793-9F68-7CEF37DD1CC7}" dt="2026-09-28T13:47:34.622" v="337"/>
        <pc:sldMkLst>
          <pc:docMk/>
          <pc:sldMk cId="388633370" sldId="286"/>
        </pc:sldMkLst>
      </pc:sldChg>
      <pc:sldChg chg="modAnim">
        <pc:chgData name="Roberto Colomboni" userId="dd40f206-3c8d-4cae-a481-e04c30f4a734" providerId="ADAL" clId="{60E66902-36BF-4793-9F68-7CEF37DD1CC7}" dt="2026-09-28T13:47:22.671" v="335"/>
        <pc:sldMkLst>
          <pc:docMk/>
          <pc:sldMk cId="1211116391" sldId="287"/>
        </pc:sldMkLst>
      </pc:sldChg>
      <pc:sldChg chg="modSp modAnim">
        <pc:chgData name="Roberto Colomboni" userId="dd40f206-3c8d-4cae-a481-e04c30f4a734" providerId="ADAL" clId="{60E66902-36BF-4793-9F68-7CEF37DD1CC7}" dt="2026-09-28T13:45:29.953" v="317"/>
        <pc:sldMkLst>
          <pc:docMk/>
          <pc:sldMk cId="1414462998" sldId="288"/>
        </pc:sldMkLst>
        <pc:spChg chg="mod">
          <ac:chgData name="Roberto Colomboni" userId="dd40f206-3c8d-4cae-a481-e04c30f4a734" providerId="ADAL" clId="{60E66902-36BF-4793-9F68-7CEF37DD1CC7}" dt="2026-09-28T13:45:25.230" v="314" actId="6549"/>
          <ac:spMkLst>
            <pc:docMk/>
            <pc:sldMk cId="1414462998" sldId="288"/>
            <ac:spMk id="4" creationId="{B75F472D-0D64-49D1-A21B-BF60FAFDFCD7}"/>
          </ac:spMkLst>
        </pc:spChg>
      </pc:sldChg>
      <pc:sldChg chg="modAnim">
        <pc:chgData name="Roberto Colomboni" userId="dd40f206-3c8d-4cae-a481-e04c30f4a734" providerId="ADAL" clId="{60E66902-36BF-4793-9F68-7CEF37DD1CC7}" dt="2026-09-28T13:45:38.545" v="323"/>
        <pc:sldMkLst>
          <pc:docMk/>
          <pc:sldMk cId="270594905" sldId="291"/>
        </pc:sldMkLst>
      </pc:sldChg>
      <pc:sldChg chg="modAnim">
        <pc:chgData name="Roberto Colomboni" userId="dd40f206-3c8d-4cae-a481-e04c30f4a734" providerId="ADAL" clId="{60E66902-36BF-4793-9F68-7CEF37DD1CC7}" dt="2026-09-28T13:42:58.778" v="283"/>
        <pc:sldMkLst>
          <pc:docMk/>
          <pc:sldMk cId="2000202566" sldId="303"/>
        </pc:sldMkLst>
      </pc:sldChg>
      <pc:sldChg chg="modAnim">
        <pc:chgData name="Roberto Colomboni" userId="dd40f206-3c8d-4cae-a481-e04c30f4a734" providerId="ADAL" clId="{60E66902-36BF-4793-9F68-7CEF37DD1CC7}" dt="2026-09-28T13:44:14.426" v="304"/>
        <pc:sldMkLst>
          <pc:docMk/>
          <pc:sldMk cId="1927208373" sldId="304"/>
        </pc:sldMkLst>
      </pc:sldChg>
      <pc:sldChg chg="modAnim">
        <pc:chgData name="Roberto Colomboni" userId="dd40f206-3c8d-4cae-a481-e04c30f4a734" providerId="ADAL" clId="{60E66902-36BF-4793-9F68-7CEF37DD1CC7}" dt="2026-09-28T13:44:35.145" v="308"/>
        <pc:sldMkLst>
          <pc:docMk/>
          <pc:sldMk cId="3904371725" sldId="305"/>
        </pc:sldMkLst>
      </pc:sldChg>
      <pc:sldChg chg="modAnim">
        <pc:chgData name="Roberto Colomboni" userId="dd40f206-3c8d-4cae-a481-e04c30f4a734" providerId="ADAL" clId="{60E66902-36BF-4793-9F68-7CEF37DD1CC7}" dt="2026-09-28T13:43:14.443" v="291"/>
        <pc:sldMkLst>
          <pc:docMk/>
          <pc:sldMk cId="533848058" sldId="306"/>
        </pc:sldMkLst>
      </pc:sldChg>
      <pc:sldChg chg="modAnim">
        <pc:chgData name="Roberto Colomboni" userId="dd40f206-3c8d-4cae-a481-e04c30f4a734" providerId="ADAL" clId="{60E66902-36BF-4793-9F68-7CEF37DD1CC7}" dt="2026-09-28T13:43:25.522" v="297"/>
        <pc:sldMkLst>
          <pc:docMk/>
          <pc:sldMk cId="2276249976" sldId="307"/>
        </pc:sldMkLst>
      </pc:sldChg>
      <pc:sldChg chg="addSp modSp mod modAnim">
        <pc:chgData name="Roberto Colomboni" userId="dd40f206-3c8d-4cae-a481-e04c30f4a734" providerId="ADAL" clId="{60E66902-36BF-4793-9F68-7CEF37DD1CC7}" dt="2026-09-28T16:17:32.867" v="444" actId="1076"/>
        <pc:sldMkLst>
          <pc:docMk/>
          <pc:sldMk cId="2742218913" sldId="310"/>
        </pc:sldMkLst>
        <pc:spChg chg="add mod">
          <ac:chgData name="Roberto Colomboni" userId="dd40f206-3c8d-4cae-a481-e04c30f4a734" providerId="ADAL" clId="{60E66902-36BF-4793-9F68-7CEF37DD1CC7}" dt="2026-09-28T16:16:49.160" v="439" actId="1076"/>
          <ac:spMkLst>
            <pc:docMk/>
            <pc:sldMk cId="2742218913" sldId="310"/>
            <ac:spMk id="4" creationId="{7B512991-B8F2-13D4-60DF-53237FDC4847}"/>
          </ac:spMkLst>
        </pc:spChg>
        <pc:spChg chg="mod">
          <ac:chgData name="Roberto Colomboni" userId="dd40f206-3c8d-4cae-a481-e04c30f4a734" providerId="ADAL" clId="{60E66902-36BF-4793-9F68-7CEF37DD1CC7}" dt="2026-09-28T16:17:20.853" v="442" actId="1076"/>
          <ac:spMkLst>
            <pc:docMk/>
            <pc:sldMk cId="2742218913" sldId="310"/>
            <ac:spMk id="5" creationId="{47A68216-1D6D-4631-ABE4-B5E5001354DA}"/>
          </ac:spMkLst>
        </pc:spChg>
        <pc:spChg chg="mod">
          <ac:chgData name="Roberto Colomboni" userId="dd40f206-3c8d-4cae-a481-e04c30f4a734" providerId="ADAL" clId="{60E66902-36BF-4793-9F68-7CEF37DD1CC7}" dt="2026-09-27T16:12:23.594" v="197" actId="20577"/>
          <ac:spMkLst>
            <pc:docMk/>
            <pc:sldMk cId="2742218913" sldId="310"/>
            <ac:spMk id="6" creationId="{BE9BE5E2-7011-292B-E229-587E6D6C5D8C}"/>
          </ac:spMkLst>
        </pc:spChg>
        <pc:spChg chg="mod">
          <ac:chgData name="Roberto Colomboni" userId="dd40f206-3c8d-4cae-a481-e04c30f4a734" providerId="ADAL" clId="{60E66902-36BF-4793-9F68-7CEF37DD1CC7}" dt="2026-09-28T16:17:22.811" v="443" actId="1076"/>
          <ac:spMkLst>
            <pc:docMk/>
            <pc:sldMk cId="2742218913" sldId="310"/>
            <ac:spMk id="9" creationId="{99988863-11DB-4DE9-85C7-9E40220136F4}"/>
          </ac:spMkLst>
        </pc:spChg>
        <pc:spChg chg="mod">
          <ac:chgData name="Roberto Colomboni" userId="dd40f206-3c8d-4cae-a481-e04c30f4a734" providerId="ADAL" clId="{60E66902-36BF-4793-9F68-7CEF37DD1CC7}" dt="2026-09-28T16:17:14.420" v="441" actId="1076"/>
          <ac:spMkLst>
            <pc:docMk/>
            <pc:sldMk cId="2742218913" sldId="310"/>
            <ac:spMk id="16" creationId="{019D5E12-3E1B-A4A3-B202-5F78429C010A}"/>
          </ac:spMkLst>
        </pc:spChg>
        <pc:spChg chg="mod">
          <ac:chgData name="Roberto Colomboni" userId="dd40f206-3c8d-4cae-a481-e04c30f4a734" providerId="ADAL" clId="{60E66902-36BF-4793-9F68-7CEF37DD1CC7}" dt="2026-09-28T16:17:32.867" v="444" actId="1076"/>
          <ac:spMkLst>
            <pc:docMk/>
            <pc:sldMk cId="2742218913" sldId="310"/>
            <ac:spMk id="17" creationId="{00000000-0000-0000-0000-000000000000}"/>
          </ac:spMkLst>
        </pc:spChg>
      </pc:sldChg>
      <pc:sldChg chg="modSp mod modAnim">
        <pc:chgData name="Roberto Colomboni" userId="dd40f206-3c8d-4cae-a481-e04c30f4a734" providerId="ADAL" clId="{60E66902-36BF-4793-9F68-7CEF37DD1CC7}" dt="2026-09-28T13:52:29.571" v="369" actId="20577"/>
        <pc:sldMkLst>
          <pc:docMk/>
          <pc:sldMk cId="2270503058" sldId="312"/>
        </pc:sldMkLst>
        <pc:spChg chg="mod">
          <ac:chgData name="Roberto Colomboni" userId="dd40f206-3c8d-4cae-a481-e04c30f4a734" providerId="ADAL" clId="{60E66902-36BF-4793-9F68-7CEF37DD1CC7}" dt="2026-09-28T13:52:29.571" v="369" actId="20577"/>
          <ac:spMkLst>
            <pc:docMk/>
            <pc:sldMk cId="2270503058" sldId="312"/>
            <ac:spMk id="4" creationId="{00000000-0000-0000-0000-000000000000}"/>
          </ac:spMkLst>
        </pc:spChg>
      </pc:sldChg>
      <pc:sldChg chg="modSp mod modAnim">
        <pc:chgData name="Roberto Colomboni" userId="dd40f206-3c8d-4cae-a481-e04c30f4a734" providerId="ADAL" clId="{60E66902-36BF-4793-9F68-7CEF37DD1CC7}" dt="2026-09-28T16:21:46.032" v="482"/>
        <pc:sldMkLst>
          <pc:docMk/>
          <pc:sldMk cId="594123120" sldId="314"/>
        </pc:sldMkLst>
        <pc:spChg chg="mod">
          <ac:chgData name="Roberto Colomboni" userId="dd40f206-3c8d-4cae-a481-e04c30f4a734" providerId="ADAL" clId="{60E66902-36BF-4793-9F68-7CEF37DD1CC7}" dt="2026-09-27T15:57:24.684" v="97" actId="20577"/>
          <ac:spMkLst>
            <pc:docMk/>
            <pc:sldMk cId="594123120" sldId="314"/>
            <ac:spMk id="4" creationId="{591F5313-94E8-4C88-AFE0-8391508B6DA4}"/>
          </ac:spMkLst>
        </pc:spChg>
        <pc:spChg chg="mod">
          <ac:chgData name="Roberto Colomboni" userId="dd40f206-3c8d-4cae-a481-e04c30f4a734" providerId="ADAL" clId="{60E66902-36BF-4793-9F68-7CEF37DD1CC7}" dt="2026-09-28T16:21:46.032" v="482"/>
          <ac:spMkLst>
            <pc:docMk/>
            <pc:sldMk cId="594123120" sldId="314"/>
            <ac:spMk id="5" creationId="{C5392CFA-F835-4F1B-B4D9-4FE8E7B25A65}"/>
          </ac:spMkLst>
        </pc:spChg>
      </pc:sldChg>
      <pc:sldChg chg="delSp modSp mod modAnim">
        <pc:chgData name="Roberto Colomboni" userId="dd40f206-3c8d-4cae-a481-e04c30f4a734" providerId="ADAL" clId="{60E66902-36BF-4793-9F68-7CEF37DD1CC7}" dt="2026-09-28T16:15:00.521" v="388" actId="1076"/>
        <pc:sldMkLst>
          <pc:docMk/>
          <pc:sldMk cId="2919628099" sldId="315"/>
        </pc:sldMkLst>
        <pc:spChg chg="mod">
          <ac:chgData name="Roberto Colomboni" userId="dd40f206-3c8d-4cae-a481-e04c30f4a734" providerId="ADAL" clId="{60E66902-36BF-4793-9F68-7CEF37DD1CC7}" dt="2026-09-28T16:15:00.521" v="388" actId="1076"/>
          <ac:spMkLst>
            <pc:docMk/>
            <pc:sldMk cId="2919628099" sldId="315"/>
            <ac:spMk id="3" creationId="{05FF6165-930E-4648-837E-5491231C21D8}"/>
          </ac:spMkLst>
        </pc:spChg>
        <pc:spChg chg="mod">
          <ac:chgData name="Roberto Colomboni" userId="dd40f206-3c8d-4cae-a481-e04c30f4a734" providerId="ADAL" clId="{60E66902-36BF-4793-9F68-7CEF37DD1CC7}" dt="2026-09-28T16:14:55.977" v="387" actId="1076"/>
          <ac:spMkLst>
            <pc:docMk/>
            <pc:sldMk cId="2919628099" sldId="315"/>
            <ac:spMk id="4" creationId="{FE4618F2-5246-487E-A129-1FE073EB06E8}"/>
          </ac:spMkLst>
        </pc:spChg>
        <pc:spChg chg="del mod">
          <ac:chgData name="Roberto Colomboni" userId="dd40f206-3c8d-4cae-a481-e04c30f4a734" providerId="ADAL" clId="{60E66902-36BF-4793-9F68-7CEF37DD1CC7}" dt="2026-09-28T16:14:10.686" v="372" actId="21"/>
          <ac:spMkLst>
            <pc:docMk/>
            <pc:sldMk cId="2919628099" sldId="315"/>
            <ac:spMk id="5" creationId="{9E249643-86FC-4F20-BF3E-3CD3CA162809}"/>
          </ac:spMkLst>
        </pc:spChg>
        <pc:spChg chg="mod">
          <ac:chgData name="Roberto Colomboni" userId="dd40f206-3c8d-4cae-a481-e04c30f4a734" providerId="ADAL" clId="{60E66902-36BF-4793-9F68-7CEF37DD1CC7}" dt="2026-09-28T16:14:37.063" v="382" actId="20577"/>
          <ac:spMkLst>
            <pc:docMk/>
            <pc:sldMk cId="2919628099" sldId="315"/>
            <ac:spMk id="15" creationId="{00000000-0000-0000-0000-000000000000}"/>
          </ac:spMkLst>
        </pc:spChg>
        <pc:spChg chg="del">
          <ac:chgData name="Roberto Colomboni" userId="dd40f206-3c8d-4cae-a481-e04c30f4a734" providerId="ADAL" clId="{60E66902-36BF-4793-9F68-7CEF37DD1CC7}" dt="2026-09-28T16:14:06.525" v="371" actId="21"/>
          <ac:spMkLst>
            <pc:docMk/>
            <pc:sldMk cId="2919628099" sldId="315"/>
            <ac:spMk id="16" creationId="{00000000-0000-0000-0000-000000000000}"/>
          </ac:spMkLst>
        </pc:spChg>
      </pc:sldChg>
      <pc:sldChg chg="modAnim">
        <pc:chgData name="Roberto Colomboni" userId="dd40f206-3c8d-4cae-a481-e04c30f4a734" providerId="ADAL" clId="{60E66902-36BF-4793-9F68-7CEF37DD1CC7}" dt="2026-09-28T13:46:35.335" v="332"/>
        <pc:sldMkLst>
          <pc:docMk/>
          <pc:sldMk cId="1847033532" sldId="31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Observed data</c:v>
          </c:tx>
          <c:spPr>
            <a:ln w="0">
              <a:noFill/>
            </a:ln>
          </c:spPr>
          <c:marker>
            <c:symbol val="circle"/>
            <c:size val="8"/>
            <c:spPr>
              <a:solidFill>
                <a:srgbClr val="326CB2"/>
              </a:solidFill>
              <a:ln w="12700">
                <a:solidFill>
                  <a:srgbClr val="326CB2"/>
                </a:solidFill>
              </a:ln>
            </c:spPr>
          </c:marker>
          <c:xVal>
            <c:numRef>
              <c:f>'Chart Data'!$A$2:$A$16</c:f>
              <c:numCache>
                <c:formatCode>General</c:formatCode>
                <c:ptCount val="15"/>
                <c:pt idx="0">
                  <c:v>-2.8</c:v>
                </c:pt>
                <c:pt idx="1">
                  <c:v>-2.4</c:v>
                </c:pt>
                <c:pt idx="2">
                  <c:v>-2</c:v>
                </c:pt>
                <c:pt idx="3">
                  <c:v>-1.6</c:v>
                </c:pt>
                <c:pt idx="4">
                  <c:v>-1.2</c:v>
                </c:pt>
                <c:pt idx="5">
                  <c:v>-0.8</c:v>
                </c:pt>
                <c:pt idx="6">
                  <c:v>-0.4</c:v>
                </c:pt>
                <c:pt idx="7">
                  <c:v>0</c:v>
                </c:pt>
                <c:pt idx="8">
                  <c:v>0.4</c:v>
                </c:pt>
                <c:pt idx="9">
                  <c:v>0.8</c:v>
                </c:pt>
                <c:pt idx="10">
                  <c:v>1.2</c:v>
                </c:pt>
                <c:pt idx="11">
                  <c:v>1.6</c:v>
                </c:pt>
                <c:pt idx="12">
                  <c:v>2</c:v>
                </c:pt>
                <c:pt idx="13">
                  <c:v>2.4</c:v>
                </c:pt>
                <c:pt idx="14">
                  <c:v>2.8</c:v>
                </c:pt>
              </c:numCache>
            </c:numRef>
          </c:xVal>
          <c:yVal>
            <c:numRef>
              <c:f>'Chart Data'!$B$2:$B$16</c:f>
              <c:numCache>
                <c:formatCode>0.#</c:formatCode>
                <c:ptCount val="15"/>
                <c:pt idx="0">
                  <c:v>4.556</c:v>
                </c:pt>
                <c:pt idx="1">
                  <c:v>2.1739999999999999</c:v>
                </c:pt>
                <c:pt idx="2">
                  <c:v>2.25</c:v>
                </c:pt>
                <c:pt idx="3">
                  <c:v>0.38400000000000001</c:v>
                </c:pt>
                <c:pt idx="4">
                  <c:v>1.226</c:v>
                </c:pt>
                <c:pt idx="5">
                  <c:v>-7.3999999999999996E-2</c:v>
                </c:pt>
                <c:pt idx="6">
                  <c:v>1.0840000000000001</c:v>
                </c:pt>
                <c:pt idx="7">
                  <c:v>0</c:v>
                </c:pt>
                <c:pt idx="8">
                  <c:v>1.3740000000000001</c:v>
                </c:pt>
                <c:pt idx="9">
                  <c:v>0.75600000000000001</c:v>
                </c:pt>
                <c:pt idx="10">
                  <c:v>2.746</c:v>
                </c:pt>
                <c:pt idx="11">
                  <c:v>2.2440000000000002</c:v>
                </c:pt>
                <c:pt idx="12">
                  <c:v>4.7</c:v>
                </c:pt>
                <c:pt idx="13">
                  <c:v>4.8639999999999999</c:v>
                </c:pt>
                <c:pt idx="14">
                  <c:v>7.4859999999999998</c:v>
                </c:pt>
              </c:numCache>
            </c:numRef>
          </c:yVal>
          <c:smooth val="0"/>
          <c:extLst>
            <c:ext xmlns:c16="http://schemas.microsoft.com/office/drawing/2014/chart" uri="{C3380CC4-5D6E-409C-BE32-E72D297353CC}">
              <c16:uniqueId val="{00000000-C7E1-4955-AF50-AFC4FC1FF2CE}"/>
            </c:ext>
          </c:extLst>
        </c:ser>
        <c:dLbls>
          <c:showLegendKey val="0"/>
          <c:showVal val="0"/>
          <c:showCatName val="0"/>
          <c:showSerName val="0"/>
          <c:showPercent val="0"/>
          <c:showBubbleSize val="0"/>
        </c:dLbls>
        <c:axId val="48650112"/>
        <c:axId val="48672768"/>
      </c:scatterChart>
      <c:valAx>
        <c:axId val="48672768"/>
        <c:scaling>
          <c:orientation val="minMax"/>
          <c:max val="8"/>
          <c:min val="-1"/>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True relationship</c:v>
          </c:tx>
          <c:spPr>
            <a:ln w="28575">
              <a:solidFill>
                <a:srgbClr val="087F83"/>
              </a:solidFill>
            </a:ln>
          </c:spPr>
          <c:marker>
            <c:symbol val="none"/>
          </c:marker>
          <c:xVal>
            <c:numRef>
              <c:f>'Chart Data'!$A$2:$A$162</c:f>
              <c:numCache>
                <c:formatCode>General</c:formatCode>
                <c:ptCount val="161"/>
                <c:pt idx="0">
                  <c:v>-3</c:v>
                </c:pt>
                <c:pt idx="1">
                  <c:v>-2.9624999999999999</c:v>
                </c:pt>
                <c:pt idx="2">
                  <c:v>-2.9249999999999998</c:v>
                </c:pt>
                <c:pt idx="3">
                  <c:v>-2.8875000000000002</c:v>
                </c:pt>
                <c:pt idx="4">
                  <c:v>-2.85</c:v>
                </c:pt>
                <c:pt idx="5">
                  <c:v>-2.8125</c:v>
                </c:pt>
                <c:pt idx="6">
                  <c:v>-2.7749999999999999</c:v>
                </c:pt>
                <c:pt idx="7">
                  <c:v>-2.7374999999999998</c:v>
                </c:pt>
                <c:pt idx="8">
                  <c:v>-2.7</c:v>
                </c:pt>
                <c:pt idx="9">
                  <c:v>-2.6625000000000001</c:v>
                </c:pt>
                <c:pt idx="10">
                  <c:v>-2.625</c:v>
                </c:pt>
                <c:pt idx="11">
                  <c:v>-2.5874999999999999</c:v>
                </c:pt>
                <c:pt idx="12">
                  <c:v>-2.5499999999999998</c:v>
                </c:pt>
                <c:pt idx="13">
                  <c:v>-2.5125000000000002</c:v>
                </c:pt>
                <c:pt idx="14">
                  <c:v>-2.4750000000000001</c:v>
                </c:pt>
                <c:pt idx="15">
                  <c:v>-2.4375</c:v>
                </c:pt>
                <c:pt idx="16">
                  <c:v>-2.4</c:v>
                </c:pt>
                <c:pt idx="17">
                  <c:v>-2.3624999999999998</c:v>
                </c:pt>
                <c:pt idx="18">
                  <c:v>-2.3250000000000002</c:v>
                </c:pt>
                <c:pt idx="19">
                  <c:v>-2.2875000000000001</c:v>
                </c:pt>
                <c:pt idx="20">
                  <c:v>-2.25</c:v>
                </c:pt>
                <c:pt idx="21">
                  <c:v>-2.2124999999999999</c:v>
                </c:pt>
                <c:pt idx="22">
                  <c:v>-2.1749999999999998</c:v>
                </c:pt>
                <c:pt idx="23">
                  <c:v>-2.1375000000000002</c:v>
                </c:pt>
                <c:pt idx="24">
                  <c:v>-2.1</c:v>
                </c:pt>
                <c:pt idx="25">
                  <c:v>-2.0625</c:v>
                </c:pt>
                <c:pt idx="26">
                  <c:v>-2.0249999999999999</c:v>
                </c:pt>
                <c:pt idx="27">
                  <c:v>-1.9875</c:v>
                </c:pt>
                <c:pt idx="28">
                  <c:v>-1.95</c:v>
                </c:pt>
                <c:pt idx="29">
                  <c:v>-1.9125000000000001</c:v>
                </c:pt>
                <c:pt idx="30">
                  <c:v>-1.875</c:v>
                </c:pt>
                <c:pt idx="31">
                  <c:v>-1.8374999999999999</c:v>
                </c:pt>
                <c:pt idx="32">
                  <c:v>-1.8</c:v>
                </c:pt>
                <c:pt idx="33">
                  <c:v>-1.7625</c:v>
                </c:pt>
                <c:pt idx="34">
                  <c:v>-1.7250000000000001</c:v>
                </c:pt>
                <c:pt idx="35">
                  <c:v>-1.6875</c:v>
                </c:pt>
                <c:pt idx="36">
                  <c:v>-1.65</c:v>
                </c:pt>
                <c:pt idx="37">
                  <c:v>-1.6125</c:v>
                </c:pt>
                <c:pt idx="38">
                  <c:v>-1.575</c:v>
                </c:pt>
                <c:pt idx="39">
                  <c:v>-1.5375000000000001</c:v>
                </c:pt>
                <c:pt idx="40">
                  <c:v>-1.5</c:v>
                </c:pt>
                <c:pt idx="41">
                  <c:v>-1.4624999999999999</c:v>
                </c:pt>
                <c:pt idx="42">
                  <c:v>-1.425</c:v>
                </c:pt>
                <c:pt idx="43">
                  <c:v>-1.3875</c:v>
                </c:pt>
                <c:pt idx="44">
                  <c:v>-1.35</c:v>
                </c:pt>
                <c:pt idx="45">
                  <c:v>-1.3125</c:v>
                </c:pt>
                <c:pt idx="46">
                  <c:v>-1.2749999999999999</c:v>
                </c:pt>
                <c:pt idx="47">
                  <c:v>-1.2375</c:v>
                </c:pt>
                <c:pt idx="48">
                  <c:v>-1.2</c:v>
                </c:pt>
                <c:pt idx="49">
                  <c:v>-1.1625000000000001</c:v>
                </c:pt>
                <c:pt idx="50">
                  <c:v>-1.125</c:v>
                </c:pt>
                <c:pt idx="51">
                  <c:v>-1.0874999999999999</c:v>
                </c:pt>
                <c:pt idx="52">
                  <c:v>-1.05</c:v>
                </c:pt>
                <c:pt idx="53">
                  <c:v>-1.0125</c:v>
                </c:pt>
                <c:pt idx="54">
                  <c:v>-0.97499999999999998</c:v>
                </c:pt>
                <c:pt idx="55">
                  <c:v>-0.9375</c:v>
                </c:pt>
                <c:pt idx="56">
                  <c:v>-0.9</c:v>
                </c:pt>
                <c:pt idx="57">
                  <c:v>-0.86250000000000004</c:v>
                </c:pt>
                <c:pt idx="58">
                  <c:v>-0.82499999999999996</c:v>
                </c:pt>
                <c:pt idx="59">
                  <c:v>-0.78749999999999998</c:v>
                </c:pt>
                <c:pt idx="60">
                  <c:v>-0.75</c:v>
                </c:pt>
                <c:pt idx="61">
                  <c:v>-0.71250000000000002</c:v>
                </c:pt>
                <c:pt idx="62">
                  <c:v>-0.67500000000000004</c:v>
                </c:pt>
                <c:pt idx="63">
                  <c:v>-0.63749999999999996</c:v>
                </c:pt>
                <c:pt idx="64">
                  <c:v>-0.6</c:v>
                </c:pt>
                <c:pt idx="65">
                  <c:v>-0.5625</c:v>
                </c:pt>
                <c:pt idx="66">
                  <c:v>-0.52500000000000002</c:v>
                </c:pt>
                <c:pt idx="67">
                  <c:v>-0.48749999999999999</c:v>
                </c:pt>
                <c:pt idx="68">
                  <c:v>-0.45</c:v>
                </c:pt>
                <c:pt idx="69">
                  <c:v>-0.41249999999999998</c:v>
                </c:pt>
                <c:pt idx="70">
                  <c:v>-0.375</c:v>
                </c:pt>
                <c:pt idx="71">
                  <c:v>-0.33750000000000002</c:v>
                </c:pt>
                <c:pt idx="72">
                  <c:v>-0.3</c:v>
                </c:pt>
                <c:pt idx="73">
                  <c:v>-0.26250000000000001</c:v>
                </c:pt>
                <c:pt idx="74">
                  <c:v>-0.22500000000000001</c:v>
                </c:pt>
                <c:pt idx="75">
                  <c:v>-0.1875</c:v>
                </c:pt>
                <c:pt idx="76">
                  <c:v>-0.15</c:v>
                </c:pt>
                <c:pt idx="77">
                  <c:v>-0.1125</c:v>
                </c:pt>
                <c:pt idx="78">
                  <c:v>-7.4999999999999997E-2</c:v>
                </c:pt>
                <c:pt idx="79">
                  <c:v>-3.7499999999999999E-2</c:v>
                </c:pt>
                <c:pt idx="80">
                  <c:v>0</c:v>
                </c:pt>
                <c:pt idx="81">
                  <c:v>3.7499999999999999E-2</c:v>
                </c:pt>
                <c:pt idx="82">
                  <c:v>7.4999999999999997E-2</c:v>
                </c:pt>
                <c:pt idx="83">
                  <c:v>0.1125</c:v>
                </c:pt>
                <c:pt idx="84">
                  <c:v>0.15</c:v>
                </c:pt>
                <c:pt idx="85">
                  <c:v>0.1875</c:v>
                </c:pt>
                <c:pt idx="86">
                  <c:v>0.22500000000000001</c:v>
                </c:pt>
                <c:pt idx="87">
                  <c:v>0.26250000000000001</c:v>
                </c:pt>
                <c:pt idx="88">
                  <c:v>0.3</c:v>
                </c:pt>
                <c:pt idx="89">
                  <c:v>0.33750000000000002</c:v>
                </c:pt>
                <c:pt idx="90">
                  <c:v>0.375</c:v>
                </c:pt>
                <c:pt idx="91">
                  <c:v>0.41249999999999998</c:v>
                </c:pt>
                <c:pt idx="92">
                  <c:v>0.45</c:v>
                </c:pt>
                <c:pt idx="93">
                  <c:v>0.48749999999999999</c:v>
                </c:pt>
                <c:pt idx="94">
                  <c:v>0.52500000000000002</c:v>
                </c:pt>
                <c:pt idx="95">
                  <c:v>0.5625</c:v>
                </c:pt>
                <c:pt idx="96">
                  <c:v>0.6</c:v>
                </c:pt>
                <c:pt idx="97">
                  <c:v>0.63749999999999996</c:v>
                </c:pt>
                <c:pt idx="98">
                  <c:v>0.67500000000000004</c:v>
                </c:pt>
                <c:pt idx="99">
                  <c:v>0.71250000000000002</c:v>
                </c:pt>
                <c:pt idx="100">
                  <c:v>0.75</c:v>
                </c:pt>
                <c:pt idx="101">
                  <c:v>0.78749999999999998</c:v>
                </c:pt>
                <c:pt idx="102">
                  <c:v>0.82499999999999996</c:v>
                </c:pt>
                <c:pt idx="103">
                  <c:v>0.86250000000000004</c:v>
                </c:pt>
                <c:pt idx="104">
                  <c:v>0.9</c:v>
                </c:pt>
                <c:pt idx="105">
                  <c:v>0.9375</c:v>
                </c:pt>
                <c:pt idx="106">
                  <c:v>0.97499999999999998</c:v>
                </c:pt>
                <c:pt idx="107">
                  <c:v>1.0125</c:v>
                </c:pt>
                <c:pt idx="108">
                  <c:v>1.05</c:v>
                </c:pt>
                <c:pt idx="109">
                  <c:v>1.0874999999999999</c:v>
                </c:pt>
                <c:pt idx="110">
                  <c:v>1.125</c:v>
                </c:pt>
                <c:pt idx="111">
                  <c:v>1.1625000000000001</c:v>
                </c:pt>
                <c:pt idx="112">
                  <c:v>1.2</c:v>
                </c:pt>
                <c:pt idx="113">
                  <c:v>1.2375</c:v>
                </c:pt>
                <c:pt idx="114">
                  <c:v>1.2749999999999999</c:v>
                </c:pt>
                <c:pt idx="115">
                  <c:v>1.3125</c:v>
                </c:pt>
                <c:pt idx="116">
                  <c:v>1.35</c:v>
                </c:pt>
                <c:pt idx="117">
                  <c:v>1.3875</c:v>
                </c:pt>
                <c:pt idx="118">
                  <c:v>1.425</c:v>
                </c:pt>
                <c:pt idx="119">
                  <c:v>1.4624999999999999</c:v>
                </c:pt>
                <c:pt idx="120">
                  <c:v>1.5</c:v>
                </c:pt>
                <c:pt idx="121">
                  <c:v>1.5375000000000001</c:v>
                </c:pt>
                <c:pt idx="122">
                  <c:v>1.575</c:v>
                </c:pt>
                <c:pt idx="123">
                  <c:v>1.6125</c:v>
                </c:pt>
                <c:pt idx="124">
                  <c:v>1.65</c:v>
                </c:pt>
                <c:pt idx="125">
                  <c:v>1.6875</c:v>
                </c:pt>
                <c:pt idx="126">
                  <c:v>1.7250000000000001</c:v>
                </c:pt>
                <c:pt idx="127">
                  <c:v>1.7625</c:v>
                </c:pt>
                <c:pt idx="128">
                  <c:v>1.8</c:v>
                </c:pt>
                <c:pt idx="129">
                  <c:v>1.8374999999999999</c:v>
                </c:pt>
                <c:pt idx="130">
                  <c:v>1.875</c:v>
                </c:pt>
                <c:pt idx="131">
                  <c:v>1.9125000000000001</c:v>
                </c:pt>
                <c:pt idx="132">
                  <c:v>1.95</c:v>
                </c:pt>
                <c:pt idx="133">
                  <c:v>1.9875</c:v>
                </c:pt>
                <c:pt idx="134">
                  <c:v>2.0249999999999999</c:v>
                </c:pt>
                <c:pt idx="135">
                  <c:v>2.0625</c:v>
                </c:pt>
                <c:pt idx="136">
                  <c:v>2.1</c:v>
                </c:pt>
                <c:pt idx="137">
                  <c:v>2.1375000000000002</c:v>
                </c:pt>
                <c:pt idx="138">
                  <c:v>2.1749999999999998</c:v>
                </c:pt>
                <c:pt idx="139">
                  <c:v>2.2124999999999999</c:v>
                </c:pt>
                <c:pt idx="140">
                  <c:v>2.25</c:v>
                </c:pt>
                <c:pt idx="141">
                  <c:v>2.2875000000000001</c:v>
                </c:pt>
                <c:pt idx="142">
                  <c:v>2.3250000000000002</c:v>
                </c:pt>
                <c:pt idx="143">
                  <c:v>2.3624999999999998</c:v>
                </c:pt>
                <c:pt idx="144">
                  <c:v>2.4</c:v>
                </c:pt>
                <c:pt idx="145">
                  <c:v>2.4375</c:v>
                </c:pt>
                <c:pt idx="146">
                  <c:v>2.4750000000000001</c:v>
                </c:pt>
                <c:pt idx="147">
                  <c:v>2.5125000000000002</c:v>
                </c:pt>
                <c:pt idx="148">
                  <c:v>2.5499999999999998</c:v>
                </c:pt>
                <c:pt idx="149">
                  <c:v>2.5874999999999999</c:v>
                </c:pt>
                <c:pt idx="150">
                  <c:v>2.625</c:v>
                </c:pt>
                <c:pt idx="151">
                  <c:v>2.6625000000000001</c:v>
                </c:pt>
                <c:pt idx="152">
                  <c:v>2.7</c:v>
                </c:pt>
                <c:pt idx="153">
                  <c:v>2.7374999999999998</c:v>
                </c:pt>
                <c:pt idx="154">
                  <c:v>2.7749999999999999</c:v>
                </c:pt>
                <c:pt idx="155">
                  <c:v>2.8125</c:v>
                </c:pt>
                <c:pt idx="156">
                  <c:v>2.85</c:v>
                </c:pt>
                <c:pt idx="157">
                  <c:v>2.8875000000000002</c:v>
                </c:pt>
                <c:pt idx="158">
                  <c:v>2.9249999999999998</c:v>
                </c:pt>
                <c:pt idx="159">
                  <c:v>2.9624999999999999</c:v>
                </c:pt>
                <c:pt idx="160">
                  <c:v>3</c:v>
                </c:pt>
              </c:numCache>
            </c:numRef>
          </c:xVal>
          <c:yVal>
            <c:numRef>
              <c:f>'Chart Data'!$B$2:$B$162</c:f>
              <c:numCache>
                <c:formatCode>0.#</c:formatCode>
                <c:ptCount val="161"/>
                <c:pt idx="0">
                  <c:v>4.5999999999999996</c:v>
                </c:pt>
                <c:pt idx="1">
                  <c:v>4.4752890624999999</c:v>
                </c:pt>
                <c:pt idx="2">
                  <c:v>4.3524062499999996</c:v>
                </c:pt>
                <c:pt idx="3">
                  <c:v>4.2313515625000004</c:v>
                </c:pt>
                <c:pt idx="4">
                  <c:v>4.1121249999999998</c:v>
                </c:pt>
                <c:pt idx="5">
                  <c:v>3.9947265624999999</c:v>
                </c:pt>
                <c:pt idx="6">
                  <c:v>3.8791562499999999</c:v>
                </c:pt>
                <c:pt idx="7">
                  <c:v>3.7654140625000001</c:v>
                </c:pt>
                <c:pt idx="8">
                  <c:v>3.6535000000000002</c:v>
                </c:pt>
                <c:pt idx="9">
                  <c:v>3.5434140625000001</c:v>
                </c:pt>
                <c:pt idx="10">
                  <c:v>3.4351562499999999</c:v>
                </c:pt>
                <c:pt idx="11">
                  <c:v>3.3287265625</c:v>
                </c:pt>
                <c:pt idx="12">
                  <c:v>3.2241249999999999</c:v>
                </c:pt>
                <c:pt idx="13">
                  <c:v>3.1213515625000001</c:v>
                </c:pt>
                <c:pt idx="14">
                  <c:v>3.0204062500000002</c:v>
                </c:pt>
                <c:pt idx="15">
                  <c:v>2.9212890625000001</c:v>
                </c:pt>
                <c:pt idx="16">
                  <c:v>2.8239999999999998</c:v>
                </c:pt>
                <c:pt idx="17">
                  <c:v>2.7285390624999999</c:v>
                </c:pt>
                <c:pt idx="18">
                  <c:v>2.6349062499999998</c:v>
                </c:pt>
                <c:pt idx="19">
                  <c:v>2.5431015625</c:v>
                </c:pt>
                <c:pt idx="20">
                  <c:v>2.453125</c:v>
                </c:pt>
                <c:pt idx="21">
                  <c:v>2.3649765624999999</c:v>
                </c:pt>
                <c:pt idx="22">
                  <c:v>2.27865625</c:v>
                </c:pt>
                <c:pt idx="23">
                  <c:v>2.1941640625000001</c:v>
                </c:pt>
                <c:pt idx="24">
                  <c:v>2.1114999999999999</c:v>
                </c:pt>
                <c:pt idx="25">
                  <c:v>2.0306640625000001</c:v>
                </c:pt>
                <c:pt idx="26">
                  <c:v>1.9516562500000001</c:v>
                </c:pt>
                <c:pt idx="27">
                  <c:v>1.8744765624999999</c:v>
                </c:pt>
                <c:pt idx="28">
                  <c:v>1.7991250000000001</c:v>
                </c:pt>
                <c:pt idx="29">
                  <c:v>1.7256015625000001</c:v>
                </c:pt>
                <c:pt idx="30">
                  <c:v>1.6539062499999999</c:v>
                </c:pt>
                <c:pt idx="31">
                  <c:v>1.5840390625</c:v>
                </c:pt>
                <c:pt idx="32">
                  <c:v>1.516</c:v>
                </c:pt>
                <c:pt idx="33">
                  <c:v>1.4497890625000001</c:v>
                </c:pt>
                <c:pt idx="34">
                  <c:v>1.38540625</c:v>
                </c:pt>
                <c:pt idx="35">
                  <c:v>1.3228515624999999</c:v>
                </c:pt>
                <c:pt idx="36">
                  <c:v>1.2621249999999999</c:v>
                </c:pt>
                <c:pt idx="37">
                  <c:v>1.2032265625</c:v>
                </c:pt>
                <c:pt idx="38">
                  <c:v>1.14615625</c:v>
                </c:pt>
                <c:pt idx="39">
                  <c:v>1.0909140625</c:v>
                </c:pt>
                <c:pt idx="40">
                  <c:v>1.0375000000000001</c:v>
                </c:pt>
                <c:pt idx="41">
                  <c:v>0.98591406250000002</c:v>
                </c:pt>
                <c:pt idx="42">
                  <c:v>0.93615625000000002</c:v>
                </c:pt>
                <c:pt idx="43">
                  <c:v>0.88822656249999998</c:v>
                </c:pt>
                <c:pt idx="44">
                  <c:v>0.84212500000000001</c:v>
                </c:pt>
                <c:pt idx="45">
                  <c:v>0.7978515625</c:v>
                </c:pt>
                <c:pt idx="46">
                  <c:v>0.75540624999999995</c:v>
                </c:pt>
                <c:pt idx="47">
                  <c:v>0.71478906249999996</c:v>
                </c:pt>
                <c:pt idx="48">
                  <c:v>0.67600000000000005</c:v>
                </c:pt>
                <c:pt idx="49">
                  <c:v>0.63903906249999998</c:v>
                </c:pt>
                <c:pt idx="50">
                  <c:v>0.60390624999999998</c:v>
                </c:pt>
                <c:pt idx="51">
                  <c:v>0.57060156250000005</c:v>
                </c:pt>
                <c:pt idx="52">
                  <c:v>0.53912499999999997</c:v>
                </c:pt>
                <c:pt idx="53">
                  <c:v>0.50947656249999995</c:v>
                </c:pt>
                <c:pt idx="54">
                  <c:v>0.48165625000000001</c:v>
                </c:pt>
                <c:pt idx="55">
                  <c:v>0.45566406250000002</c:v>
                </c:pt>
                <c:pt idx="56">
                  <c:v>0.43149999999999999</c:v>
                </c:pt>
                <c:pt idx="57">
                  <c:v>0.40916406249999998</c:v>
                </c:pt>
                <c:pt idx="58">
                  <c:v>0.38865624999999998</c:v>
                </c:pt>
                <c:pt idx="59">
                  <c:v>0.36997656249999999</c:v>
                </c:pt>
                <c:pt idx="60">
                  <c:v>0.35312500000000002</c:v>
                </c:pt>
                <c:pt idx="61">
                  <c:v>0.33810156250000001</c:v>
                </c:pt>
                <c:pt idx="62">
                  <c:v>0.32490625000000001</c:v>
                </c:pt>
                <c:pt idx="63">
                  <c:v>0.31353906250000002</c:v>
                </c:pt>
                <c:pt idx="64">
                  <c:v>0.30399999999999999</c:v>
                </c:pt>
                <c:pt idx="65">
                  <c:v>0.29628906249999998</c:v>
                </c:pt>
                <c:pt idx="66">
                  <c:v>0.29040624999999998</c:v>
                </c:pt>
                <c:pt idx="67">
                  <c:v>0.28635156249999999</c:v>
                </c:pt>
                <c:pt idx="68">
                  <c:v>0.28412500000000002</c:v>
                </c:pt>
                <c:pt idx="69">
                  <c:v>0.2837265625</c:v>
                </c:pt>
                <c:pt idx="70">
                  <c:v>0.28515625</c:v>
                </c:pt>
                <c:pt idx="71">
                  <c:v>0.28841406250000001</c:v>
                </c:pt>
                <c:pt idx="72">
                  <c:v>0.29349999999999998</c:v>
                </c:pt>
                <c:pt idx="73">
                  <c:v>0.30041406250000002</c:v>
                </c:pt>
                <c:pt idx="74">
                  <c:v>0.30915625000000002</c:v>
                </c:pt>
                <c:pt idx="75">
                  <c:v>0.31972656249999998</c:v>
                </c:pt>
                <c:pt idx="76">
                  <c:v>0.332125</c:v>
                </c:pt>
                <c:pt idx="77">
                  <c:v>0.34635156249999999</c:v>
                </c:pt>
                <c:pt idx="78">
                  <c:v>0.36240624999999999</c:v>
                </c:pt>
                <c:pt idx="79">
                  <c:v>0.3802890625</c:v>
                </c:pt>
                <c:pt idx="80">
                  <c:v>0.4</c:v>
                </c:pt>
                <c:pt idx="81">
                  <c:v>0.42153906250000001</c:v>
                </c:pt>
                <c:pt idx="82">
                  <c:v>0.44490625</c:v>
                </c:pt>
                <c:pt idx="83">
                  <c:v>0.47010156250000001</c:v>
                </c:pt>
                <c:pt idx="84">
                  <c:v>0.49712499999999998</c:v>
                </c:pt>
                <c:pt idx="85">
                  <c:v>0.52597656250000002</c:v>
                </c:pt>
                <c:pt idx="86">
                  <c:v>0.55665624999999996</c:v>
                </c:pt>
                <c:pt idx="87">
                  <c:v>0.58916406249999997</c:v>
                </c:pt>
                <c:pt idx="88">
                  <c:v>0.62350000000000005</c:v>
                </c:pt>
                <c:pt idx="89">
                  <c:v>0.65966406249999998</c:v>
                </c:pt>
                <c:pt idx="90">
                  <c:v>0.69765624999999998</c:v>
                </c:pt>
                <c:pt idx="91">
                  <c:v>0.73747656250000004</c:v>
                </c:pt>
                <c:pt idx="92">
                  <c:v>0.77912499999999996</c:v>
                </c:pt>
                <c:pt idx="93">
                  <c:v>0.82260156250000005</c:v>
                </c:pt>
                <c:pt idx="94">
                  <c:v>0.86790624999999999</c:v>
                </c:pt>
                <c:pt idx="95">
                  <c:v>0.9150390625</c:v>
                </c:pt>
                <c:pt idx="96">
                  <c:v>0.96399999999999997</c:v>
                </c:pt>
                <c:pt idx="97">
                  <c:v>1.0147890625</c:v>
                </c:pt>
                <c:pt idx="98">
                  <c:v>1.0674062499999999</c:v>
                </c:pt>
                <c:pt idx="99">
                  <c:v>1.1218515625000001</c:v>
                </c:pt>
                <c:pt idx="100">
                  <c:v>1.1781250000000001</c:v>
                </c:pt>
                <c:pt idx="101">
                  <c:v>1.2362265625</c:v>
                </c:pt>
                <c:pt idx="102">
                  <c:v>1.2961562499999999</c:v>
                </c:pt>
                <c:pt idx="103">
                  <c:v>1.3579140624999999</c:v>
                </c:pt>
                <c:pt idx="104">
                  <c:v>1.4215</c:v>
                </c:pt>
                <c:pt idx="105">
                  <c:v>1.4869140624999999</c:v>
                </c:pt>
                <c:pt idx="106">
                  <c:v>1.5541562499999999</c:v>
                </c:pt>
                <c:pt idx="107">
                  <c:v>1.6232265625</c:v>
                </c:pt>
                <c:pt idx="108">
                  <c:v>1.6941250000000001</c:v>
                </c:pt>
                <c:pt idx="109">
                  <c:v>1.7668515625000001</c:v>
                </c:pt>
                <c:pt idx="110">
                  <c:v>1.8414062499999999</c:v>
                </c:pt>
                <c:pt idx="111">
                  <c:v>1.9177890625</c:v>
                </c:pt>
                <c:pt idx="112">
                  <c:v>1.996</c:v>
                </c:pt>
                <c:pt idx="113">
                  <c:v>2.0760390625</c:v>
                </c:pt>
                <c:pt idx="114">
                  <c:v>2.1579062499999999</c:v>
                </c:pt>
                <c:pt idx="115">
                  <c:v>2.2416015625000001</c:v>
                </c:pt>
                <c:pt idx="116">
                  <c:v>2.3271250000000001</c:v>
                </c:pt>
                <c:pt idx="117">
                  <c:v>2.4144765625</c:v>
                </c:pt>
                <c:pt idx="118">
                  <c:v>2.5036562500000001</c:v>
                </c:pt>
                <c:pt idx="119">
                  <c:v>2.5946640625000001</c:v>
                </c:pt>
                <c:pt idx="120">
                  <c:v>2.6875</c:v>
                </c:pt>
                <c:pt idx="121">
                  <c:v>2.7821640625000001</c:v>
                </c:pt>
                <c:pt idx="122">
                  <c:v>2.8786562500000001</c:v>
                </c:pt>
                <c:pt idx="123">
                  <c:v>2.9769765625</c:v>
                </c:pt>
                <c:pt idx="124">
                  <c:v>3.0771250000000001</c:v>
                </c:pt>
                <c:pt idx="125">
                  <c:v>3.1791015625000001</c:v>
                </c:pt>
                <c:pt idx="126">
                  <c:v>3.2829062499999999</c:v>
                </c:pt>
                <c:pt idx="127">
                  <c:v>3.3885390625</c:v>
                </c:pt>
                <c:pt idx="128">
                  <c:v>3.496</c:v>
                </c:pt>
                <c:pt idx="129">
                  <c:v>3.6052890624999998</c:v>
                </c:pt>
                <c:pt idx="130">
                  <c:v>3.7164062499999999</c:v>
                </c:pt>
                <c:pt idx="131">
                  <c:v>3.8293515624999999</c:v>
                </c:pt>
                <c:pt idx="132">
                  <c:v>3.9441250000000001</c:v>
                </c:pt>
                <c:pt idx="133">
                  <c:v>4.0607265625000002</c:v>
                </c:pt>
                <c:pt idx="134">
                  <c:v>4.1791562500000001</c:v>
                </c:pt>
                <c:pt idx="135">
                  <c:v>4.2994140625000004</c:v>
                </c:pt>
                <c:pt idx="136">
                  <c:v>4.4215</c:v>
                </c:pt>
                <c:pt idx="137">
                  <c:v>4.5454140624999999</c:v>
                </c:pt>
                <c:pt idx="138">
                  <c:v>4.6711562500000001</c:v>
                </c:pt>
                <c:pt idx="139">
                  <c:v>4.7987265624999997</c:v>
                </c:pt>
                <c:pt idx="140">
                  <c:v>4.9281249999999996</c:v>
                </c:pt>
                <c:pt idx="141">
                  <c:v>5.0593515624999998</c:v>
                </c:pt>
                <c:pt idx="142">
                  <c:v>5.1924062500000003</c:v>
                </c:pt>
                <c:pt idx="143">
                  <c:v>5.3272890625000002</c:v>
                </c:pt>
                <c:pt idx="144">
                  <c:v>5.4640000000000004</c:v>
                </c:pt>
                <c:pt idx="145">
                  <c:v>5.6025390625</c:v>
                </c:pt>
                <c:pt idx="146">
                  <c:v>5.7429062499999999</c:v>
                </c:pt>
                <c:pt idx="147">
                  <c:v>5.8851015625</c:v>
                </c:pt>
                <c:pt idx="148">
                  <c:v>6.0291249999999996</c:v>
                </c:pt>
                <c:pt idx="149">
                  <c:v>6.1749765625000004</c:v>
                </c:pt>
                <c:pt idx="150">
                  <c:v>6.3226562499999996</c:v>
                </c:pt>
                <c:pt idx="151">
                  <c:v>6.4721640625000001</c:v>
                </c:pt>
                <c:pt idx="152">
                  <c:v>6.6234999999999999</c:v>
                </c:pt>
                <c:pt idx="153">
                  <c:v>6.7766640625000001</c:v>
                </c:pt>
                <c:pt idx="154">
                  <c:v>6.9316562499999996</c:v>
                </c:pt>
                <c:pt idx="155">
                  <c:v>7.0884765625000004</c:v>
                </c:pt>
                <c:pt idx="156">
                  <c:v>7.2471249999999996</c:v>
                </c:pt>
                <c:pt idx="157">
                  <c:v>7.4076015625</c:v>
                </c:pt>
                <c:pt idx="158">
                  <c:v>7.5699062499999998</c:v>
                </c:pt>
                <c:pt idx="159">
                  <c:v>7.7340390625</c:v>
                </c:pt>
                <c:pt idx="160">
                  <c:v>7.9</c:v>
                </c:pt>
              </c:numCache>
            </c:numRef>
          </c:yVal>
          <c:smooth val="0"/>
          <c:extLst>
            <c:ext xmlns:c16="http://schemas.microsoft.com/office/drawing/2014/chart" uri="{C3380CC4-5D6E-409C-BE32-E72D297353CC}">
              <c16:uniqueId val="{00000000-D041-44B1-9830-D3C6466CAAD8}"/>
            </c:ext>
          </c:extLst>
        </c:ser>
        <c:ser>
          <c:idx val="16"/>
          <c:order val="16"/>
          <c:tx>
            <c:v>Observed data</c:v>
          </c:tx>
          <c:spPr>
            <a:ln w="0">
              <a:noFill/>
            </a:ln>
          </c:spPr>
          <c:marker>
            <c:symbol val="circle"/>
            <c:size val="8"/>
            <c:spPr>
              <a:solidFill>
                <a:srgbClr val="326CB2"/>
              </a:solidFill>
              <a:ln w="12700">
                <a:solidFill>
                  <a:srgbClr val="326CB2"/>
                </a:solidFill>
              </a:ln>
            </c:spPr>
          </c:marker>
          <c:xVal>
            <c:numRef>
              <c:f>'Chart Data'!$C$2:$C$16</c:f>
              <c:numCache>
                <c:formatCode>General</c:formatCode>
                <c:ptCount val="15"/>
                <c:pt idx="0">
                  <c:v>-2.8</c:v>
                </c:pt>
                <c:pt idx="1">
                  <c:v>-2.4</c:v>
                </c:pt>
                <c:pt idx="2">
                  <c:v>-2</c:v>
                </c:pt>
                <c:pt idx="3">
                  <c:v>-1.6</c:v>
                </c:pt>
                <c:pt idx="4">
                  <c:v>-1.2</c:v>
                </c:pt>
                <c:pt idx="5">
                  <c:v>-0.8</c:v>
                </c:pt>
                <c:pt idx="6">
                  <c:v>-0.4</c:v>
                </c:pt>
                <c:pt idx="7">
                  <c:v>0</c:v>
                </c:pt>
                <c:pt idx="8">
                  <c:v>0.4</c:v>
                </c:pt>
                <c:pt idx="9">
                  <c:v>0.8</c:v>
                </c:pt>
                <c:pt idx="10">
                  <c:v>1.2</c:v>
                </c:pt>
                <c:pt idx="11">
                  <c:v>1.6</c:v>
                </c:pt>
                <c:pt idx="12">
                  <c:v>2</c:v>
                </c:pt>
                <c:pt idx="13">
                  <c:v>2.4</c:v>
                </c:pt>
                <c:pt idx="14">
                  <c:v>2.8</c:v>
                </c:pt>
              </c:numCache>
            </c:numRef>
          </c:xVal>
          <c:yVal>
            <c:numRef>
              <c:f>'Chart Data'!$D$2:$D$16</c:f>
              <c:numCache>
                <c:formatCode>0.#</c:formatCode>
                <c:ptCount val="15"/>
                <c:pt idx="0">
                  <c:v>4.556</c:v>
                </c:pt>
                <c:pt idx="1">
                  <c:v>2.1739999999999999</c:v>
                </c:pt>
                <c:pt idx="2">
                  <c:v>2.25</c:v>
                </c:pt>
                <c:pt idx="3">
                  <c:v>0.38400000000000001</c:v>
                </c:pt>
                <c:pt idx="4">
                  <c:v>1.226</c:v>
                </c:pt>
                <c:pt idx="5">
                  <c:v>-7.3999999999999996E-2</c:v>
                </c:pt>
                <c:pt idx="6">
                  <c:v>1.0840000000000001</c:v>
                </c:pt>
                <c:pt idx="7">
                  <c:v>0</c:v>
                </c:pt>
                <c:pt idx="8">
                  <c:v>1.3740000000000001</c:v>
                </c:pt>
                <c:pt idx="9">
                  <c:v>0.75600000000000001</c:v>
                </c:pt>
                <c:pt idx="10">
                  <c:v>2.746</c:v>
                </c:pt>
                <c:pt idx="11">
                  <c:v>2.2440000000000002</c:v>
                </c:pt>
                <c:pt idx="12">
                  <c:v>4.7</c:v>
                </c:pt>
                <c:pt idx="13">
                  <c:v>4.8639999999999999</c:v>
                </c:pt>
                <c:pt idx="14">
                  <c:v>7.4859999999999998</c:v>
                </c:pt>
              </c:numCache>
            </c:numRef>
          </c:yVal>
          <c:smooth val="0"/>
          <c:extLst>
            <c:ext xmlns:c16="http://schemas.microsoft.com/office/drawing/2014/chart" uri="{C3380CC4-5D6E-409C-BE32-E72D297353CC}">
              <c16:uniqueId val="{00000001-D041-44B1-9830-D3C6466CAAD8}"/>
            </c:ext>
          </c:extLst>
        </c:ser>
        <c:ser>
          <c:idx val="1"/>
          <c:order val="1"/>
          <c:tx>
            <c:v>Noise 1</c:v>
          </c:tx>
          <c:spPr>
            <a:ln w="17145">
              <a:solidFill>
                <a:srgbClr val="C45C28"/>
              </a:solidFill>
            </a:ln>
          </c:spPr>
          <c:marker>
            <c:symbol val="none"/>
          </c:marker>
          <c:xVal>
            <c:numRef>
              <c:f>'Chart Data'!$E$2:$E$3</c:f>
              <c:numCache>
                <c:formatCode>General</c:formatCode>
                <c:ptCount val="2"/>
                <c:pt idx="0">
                  <c:v>-2.8</c:v>
                </c:pt>
                <c:pt idx="1">
                  <c:v>-2.8</c:v>
                </c:pt>
              </c:numCache>
            </c:numRef>
          </c:xVal>
          <c:yVal>
            <c:numRef>
              <c:f>'Chart Data'!$F$2:$F$3</c:f>
              <c:numCache>
                <c:formatCode>0.#</c:formatCode>
                <c:ptCount val="2"/>
                <c:pt idx="0">
                  <c:v>3.956</c:v>
                </c:pt>
                <c:pt idx="1">
                  <c:v>4.556</c:v>
                </c:pt>
              </c:numCache>
            </c:numRef>
          </c:yVal>
          <c:smooth val="0"/>
          <c:extLst>
            <c:ext xmlns:c16="http://schemas.microsoft.com/office/drawing/2014/chart" uri="{C3380CC4-5D6E-409C-BE32-E72D297353CC}">
              <c16:uniqueId val="{00000002-D041-44B1-9830-D3C6466CAAD8}"/>
            </c:ext>
          </c:extLst>
        </c:ser>
        <c:ser>
          <c:idx val="2"/>
          <c:order val="2"/>
          <c:tx>
            <c:v>Noise 2</c:v>
          </c:tx>
          <c:spPr>
            <a:ln w="17145">
              <a:solidFill>
                <a:srgbClr val="C45C28"/>
              </a:solidFill>
            </a:ln>
          </c:spPr>
          <c:marker>
            <c:symbol val="none"/>
          </c:marker>
          <c:xVal>
            <c:numRef>
              <c:f>'Chart Data'!$G$2:$G$3</c:f>
              <c:numCache>
                <c:formatCode>General</c:formatCode>
                <c:ptCount val="2"/>
                <c:pt idx="0">
                  <c:v>-2.4</c:v>
                </c:pt>
                <c:pt idx="1">
                  <c:v>-2.4</c:v>
                </c:pt>
              </c:numCache>
            </c:numRef>
          </c:xVal>
          <c:yVal>
            <c:numRef>
              <c:f>'Chart Data'!$H$2:$H$3</c:f>
              <c:numCache>
                <c:formatCode>0.#</c:formatCode>
                <c:ptCount val="2"/>
                <c:pt idx="0">
                  <c:v>2.8239999999999998</c:v>
                </c:pt>
                <c:pt idx="1">
                  <c:v>2.1739999999999999</c:v>
                </c:pt>
              </c:numCache>
            </c:numRef>
          </c:yVal>
          <c:smooth val="0"/>
          <c:extLst>
            <c:ext xmlns:c16="http://schemas.microsoft.com/office/drawing/2014/chart" uri="{C3380CC4-5D6E-409C-BE32-E72D297353CC}">
              <c16:uniqueId val="{00000003-D041-44B1-9830-D3C6466CAAD8}"/>
            </c:ext>
          </c:extLst>
        </c:ser>
        <c:ser>
          <c:idx val="3"/>
          <c:order val="3"/>
          <c:tx>
            <c:v>Noise 3</c:v>
          </c:tx>
          <c:spPr>
            <a:ln w="17145">
              <a:solidFill>
                <a:srgbClr val="C45C28"/>
              </a:solidFill>
            </a:ln>
          </c:spPr>
          <c:marker>
            <c:symbol val="none"/>
          </c:marker>
          <c:xVal>
            <c:numRef>
              <c:f>'Chart Data'!$I$2:$I$3</c:f>
              <c:numCache>
                <c:formatCode>General</c:formatCode>
                <c:ptCount val="2"/>
                <c:pt idx="0">
                  <c:v>-2</c:v>
                </c:pt>
                <c:pt idx="1">
                  <c:v>-2</c:v>
                </c:pt>
              </c:numCache>
            </c:numRef>
          </c:xVal>
          <c:yVal>
            <c:numRef>
              <c:f>'Chart Data'!$J$2:$J$3</c:f>
              <c:numCache>
                <c:formatCode>0.#</c:formatCode>
                <c:ptCount val="2"/>
                <c:pt idx="0">
                  <c:v>1.9</c:v>
                </c:pt>
                <c:pt idx="1">
                  <c:v>2.25</c:v>
                </c:pt>
              </c:numCache>
            </c:numRef>
          </c:yVal>
          <c:smooth val="0"/>
          <c:extLst>
            <c:ext xmlns:c16="http://schemas.microsoft.com/office/drawing/2014/chart" uri="{C3380CC4-5D6E-409C-BE32-E72D297353CC}">
              <c16:uniqueId val="{00000004-D041-44B1-9830-D3C6466CAAD8}"/>
            </c:ext>
          </c:extLst>
        </c:ser>
        <c:ser>
          <c:idx val="4"/>
          <c:order val="4"/>
          <c:tx>
            <c:v>Noise 4</c:v>
          </c:tx>
          <c:spPr>
            <a:ln w="17145">
              <a:solidFill>
                <a:srgbClr val="C45C28"/>
              </a:solidFill>
            </a:ln>
          </c:spPr>
          <c:marker>
            <c:symbol val="none"/>
          </c:marker>
          <c:xVal>
            <c:numRef>
              <c:f>'Chart Data'!$K$2:$K$3</c:f>
              <c:numCache>
                <c:formatCode>General</c:formatCode>
                <c:ptCount val="2"/>
                <c:pt idx="0">
                  <c:v>-1.6</c:v>
                </c:pt>
                <c:pt idx="1">
                  <c:v>-1.6</c:v>
                </c:pt>
              </c:numCache>
            </c:numRef>
          </c:xVal>
          <c:yVal>
            <c:numRef>
              <c:f>'Chart Data'!$L$2:$L$3</c:f>
              <c:numCache>
                <c:formatCode>0.#</c:formatCode>
                <c:ptCount val="2"/>
                <c:pt idx="0">
                  <c:v>1.1839999999999999</c:v>
                </c:pt>
                <c:pt idx="1">
                  <c:v>0.38400000000000001</c:v>
                </c:pt>
              </c:numCache>
            </c:numRef>
          </c:yVal>
          <c:smooth val="0"/>
          <c:extLst>
            <c:ext xmlns:c16="http://schemas.microsoft.com/office/drawing/2014/chart" uri="{C3380CC4-5D6E-409C-BE32-E72D297353CC}">
              <c16:uniqueId val="{00000005-D041-44B1-9830-D3C6466CAAD8}"/>
            </c:ext>
          </c:extLst>
        </c:ser>
        <c:ser>
          <c:idx val="5"/>
          <c:order val="5"/>
          <c:tx>
            <c:v>Noise 5</c:v>
          </c:tx>
          <c:spPr>
            <a:ln w="17145">
              <a:solidFill>
                <a:srgbClr val="C45C28"/>
              </a:solidFill>
            </a:ln>
          </c:spPr>
          <c:marker>
            <c:symbol val="none"/>
          </c:marker>
          <c:xVal>
            <c:numRef>
              <c:f>'Chart Data'!$M$2:$M$3</c:f>
              <c:numCache>
                <c:formatCode>General</c:formatCode>
                <c:ptCount val="2"/>
                <c:pt idx="0">
                  <c:v>-1.2</c:v>
                </c:pt>
                <c:pt idx="1">
                  <c:v>-1.2</c:v>
                </c:pt>
              </c:numCache>
            </c:numRef>
          </c:xVal>
          <c:yVal>
            <c:numRef>
              <c:f>'Chart Data'!$N$2:$N$3</c:f>
              <c:numCache>
                <c:formatCode>0.#</c:formatCode>
                <c:ptCount val="2"/>
                <c:pt idx="0">
                  <c:v>0.67600000000000005</c:v>
                </c:pt>
                <c:pt idx="1">
                  <c:v>1.226</c:v>
                </c:pt>
              </c:numCache>
            </c:numRef>
          </c:yVal>
          <c:smooth val="0"/>
          <c:extLst>
            <c:ext xmlns:c16="http://schemas.microsoft.com/office/drawing/2014/chart" uri="{C3380CC4-5D6E-409C-BE32-E72D297353CC}">
              <c16:uniqueId val="{00000006-D041-44B1-9830-D3C6466CAAD8}"/>
            </c:ext>
          </c:extLst>
        </c:ser>
        <c:ser>
          <c:idx val="6"/>
          <c:order val="6"/>
          <c:tx>
            <c:v>Noise 6</c:v>
          </c:tx>
          <c:spPr>
            <a:ln w="17145">
              <a:solidFill>
                <a:srgbClr val="C45C28"/>
              </a:solidFill>
            </a:ln>
          </c:spPr>
          <c:marker>
            <c:symbol val="none"/>
          </c:marker>
          <c:xVal>
            <c:numRef>
              <c:f>'Chart Data'!$O$2:$O$3</c:f>
              <c:numCache>
                <c:formatCode>General</c:formatCode>
                <c:ptCount val="2"/>
                <c:pt idx="0">
                  <c:v>-0.8</c:v>
                </c:pt>
                <c:pt idx="1">
                  <c:v>-0.8</c:v>
                </c:pt>
              </c:numCache>
            </c:numRef>
          </c:xVal>
          <c:yVal>
            <c:numRef>
              <c:f>'Chart Data'!$P$2:$P$3</c:f>
              <c:numCache>
                <c:formatCode>0.#</c:formatCode>
                <c:ptCount val="2"/>
                <c:pt idx="0">
                  <c:v>0.376</c:v>
                </c:pt>
                <c:pt idx="1">
                  <c:v>-7.3999999999999996E-2</c:v>
                </c:pt>
              </c:numCache>
            </c:numRef>
          </c:yVal>
          <c:smooth val="0"/>
          <c:extLst>
            <c:ext xmlns:c16="http://schemas.microsoft.com/office/drawing/2014/chart" uri="{C3380CC4-5D6E-409C-BE32-E72D297353CC}">
              <c16:uniqueId val="{00000007-D041-44B1-9830-D3C6466CAAD8}"/>
            </c:ext>
          </c:extLst>
        </c:ser>
        <c:ser>
          <c:idx val="7"/>
          <c:order val="7"/>
          <c:tx>
            <c:v>Noise 7</c:v>
          </c:tx>
          <c:spPr>
            <a:ln w="17145">
              <a:solidFill>
                <a:srgbClr val="C45C28"/>
              </a:solidFill>
            </a:ln>
          </c:spPr>
          <c:marker>
            <c:symbol val="none"/>
          </c:marker>
          <c:xVal>
            <c:numRef>
              <c:f>'Chart Data'!$Q$2:$Q$3</c:f>
              <c:numCache>
                <c:formatCode>General</c:formatCode>
                <c:ptCount val="2"/>
                <c:pt idx="0">
                  <c:v>-0.4</c:v>
                </c:pt>
                <c:pt idx="1">
                  <c:v>-0.4</c:v>
                </c:pt>
              </c:numCache>
            </c:numRef>
          </c:xVal>
          <c:yVal>
            <c:numRef>
              <c:f>'Chart Data'!$R$2:$R$3</c:f>
              <c:numCache>
                <c:formatCode>0.#</c:formatCode>
                <c:ptCount val="2"/>
                <c:pt idx="0">
                  <c:v>0.28399999999999997</c:v>
                </c:pt>
                <c:pt idx="1">
                  <c:v>1.0840000000000001</c:v>
                </c:pt>
              </c:numCache>
            </c:numRef>
          </c:yVal>
          <c:smooth val="0"/>
          <c:extLst>
            <c:ext xmlns:c16="http://schemas.microsoft.com/office/drawing/2014/chart" uri="{C3380CC4-5D6E-409C-BE32-E72D297353CC}">
              <c16:uniqueId val="{00000008-D041-44B1-9830-D3C6466CAAD8}"/>
            </c:ext>
          </c:extLst>
        </c:ser>
        <c:ser>
          <c:idx val="8"/>
          <c:order val="8"/>
          <c:tx>
            <c:v>Noise 8</c:v>
          </c:tx>
          <c:spPr>
            <a:ln w="17145">
              <a:solidFill>
                <a:srgbClr val="C45C28"/>
              </a:solidFill>
            </a:ln>
          </c:spPr>
          <c:marker>
            <c:symbol val="none"/>
          </c:marker>
          <c:xVal>
            <c:numRef>
              <c:f>'Chart Data'!$S$2:$S$3</c:f>
              <c:numCache>
                <c:formatCode>General</c:formatCode>
                <c:ptCount val="2"/>
                <c:pt idx="0">
                  <c:v>0</c:v>
                </c:pt>
                <c:pt idx="1">
                  <c:v>0</c:v>
                </c:pt>
              </c:numCache>
            </c:numRef>
          </c:xVal>
          <c:yVal>
            <c:numRef>
              <c:f>'Chart Data'!$T$2:$T$3</c:f>
              <c:numCache>
                <c:formatCode>0.#</c:formatCode>
                <c:ptCount val="2"/>
                <c:pt idx="0">
                  <c:v>0.4</c:v>
                </c:pt>
                <c:pt idx="1">
                  <c:v>0</c:v>
                </c:pt>
              </c:numCache>
            </c:numRef>
          </c:yVal>
          <c:smooth val="0"/>
          <c:extLst>
            <c:ext xmlns:c16="http://schemas.microsoft.com/office/drawing/2014/chart" uri="{C3380CC4-5D6E-409C-BE32-E72D297353CC}">
              <c16:uniqueId val="{00000009-D041-44B1-9830-D3C6466CAAD8}"/>
            </c:ext>
          </c:extLst>
        </c:ser>
        <c:ser>
          <c:idx val="9"/>
          <c:order val="9"/>
          <c:tx>
            <c:v>Noise 9</c:v>
          </c:tx>
          <c:spPr>
            <a:ln w="17145">
              <a:solidFill>
                <a:srgbClr val="C45C28"/>
              </a:solidFill>
            </a:ln>
          </c:spPr>
          <c:marker>
            <c:symbol val="none"/>
          </c:marker>
          <c:xVal>
            <c:numRef>
              <c:f>'Chart Data'!$U$2:$U$3</c:f>
              <c:numCache>
                <c:formatCode>General</c:formatCode>
                <c:ptCount val="2"/>
                <c:pt idx="0">
                  <c:v>0.4</c:v>
                </c:pt>
                <c:pt idx="1">
                  <c:v>0.4</c:v>
                </c:pt>
              </c:numCache>
            </c:numRef>
          </c:xVal>
          <c:yVal>
            <c:numRef>
              <c:f>'Chart Data'!$V$2:$V$3</c:f>
              <c:numCache>
                <c:formatCode>0.#</c:formatCode>
                <c:ptCount val="2"/>
                <c:pt idx="0">
                  <c:v>0.72399999999999998</c:v>
                </c:pt>
                <c:pt idx="1">
                  <c:v>1.3740000000000001</c:v>
                </c:pt>
              </c:numCache>
            </c:numRef>
          </c:yVal>
          <c:smooth val="0"/>
          <c:extLst>
            <c:ext xmlns:c16="http://schemas.microsoft.com/office/drawing/2014/chart" uri="{C3380CC4-5D6E-409C-BE32-E72D297353CC}">
              <c16:uniqueId val="{0000000A-D041-44B1-9830-D3C6466CAAD8}"/>
            </c:ext>
          </c:extLst>
        </c:ser>
        <c:ser>
          <c:idx val="10"/>
          <c:order val="10"/>
          <c:tx>
            <c:v>Noise 10</c:v>
          </c:tx>
          <c:spPr>
            <a:ln w="17145">
              <a:solidFill>
                <a:srgbClr val="C45C28"/>
              </a:solidFill>
            </a:ln>
          </c:spPr>
          <c:marker>
            <c:symbol val="none"/>
          </c:marker>
          <c:xVal>
            <c:numRef>
              <c:f>'Chart Data'!$W$2:$W$3</c:f>
              <c:numCache>
                <c:formatCode>General</c:formatCode>
                <c:ptCount val="2"/>
                <c:pt idx="0">
                  <c:v>0.8</c:v>
                </c:pt>
                <c:pt idx="1">
                  <c:v>0.8</c:v>
                </c:pt>
              </c:numCache>
            </c:numRef>
          </c:xVal>
          <c:yVal>
            <c:numRef>
              <c:f>'Chart Data'!$X$2:$X$3</c:f>
              <c:numCache>
                <c:formatCode>0.#</c:formatCode>
                <c:ptCount val="2"/>
                <c:pt idx="0">
                  <c:v>1.256</c:v>
                </c:pt>
                <c:pt idx="1">
                  <c:v>0.75600000000000001</c:v>
                </c:pt>
              </c:numCache>
            </c:numRef>
          </c:yVal>
          <c:smooth val="0"/>
          <c:extLst>
            <c:ext xmlns:c16="http://schemas.microsoft.com/office/drawing/2014/chart" uri="{C3380CC4-5D6E-409C-BE32-E72D297353CC}">
              <c16:uniqueId val="{0000000B-D041-44B1-9830-D3C6466CAAD8}"/>
            </c:ext>
          </c:extLst>
        </c:ser>
        <c:ser>
          <c:idx val="11"/>
          <c:order val="11"/>
          <c:tx>
            <c:v>Noise 11</c:v>
          </c:tx>
          <c:spPr>
            <a:ln w="17145">
              <a:solidFill>
                <a:srgbClr val="C45C28"/>
              </a:solidFill>
            </a:ln>
          </c:spPr>
          <c:marker>
            <c:symbol val="none"/>
          </c:marker>
          <c:xVal>
            <c:numRef>
              <c:f>'Chart Data'!$Y$2:$Y$3</c:f>
              <c:numCache>
                <c:formatCode>General</c:formatCode>
                <c:ptCount val="2"/>
                <c:pt idx="0">
                  <c:v>1.2</c:v>
                </c:pt>
                <c:pt idx="1">
                  <c:v>1.2</c:v>
                </c:pt>
              </c:numCache>
            </c:numRef>
          </c:xVal>
          <c:yVal>
            <c:numRef>
              <c:f>'Chart Data'!$Z$2:$Z$3</c:f>
              <c:numCache>
                <c:formatCode>0.#</c:formatCode>
                <c:ptCount val="2"/>
                <c:pt idx="0">
                  <c:v>1.996</c:v>
                </c:pt>
                <c:pt idx="1">
                  <c:v>2.746</c:v>
                </c:pt>
              </c:numCache>
            </c:numRef>
          </c:yVal>
          <c:smooth val="0"/>
          <c:extLst>
            <c:ext xmlns:c16="http://schemas.microsoft.com/office/drawing/2014/chart" uri="{C3380CC4-5D6E-409C-BE32-E72D297353CC}">
              <c16:uniqueId val="{0000000C-D041-44B1-9830-D3C6466CAAD8}"/>
            </c:ext>
          </c:extLst>
        </c:ser>
        <c:ser>
          <c:idx val="12"/>
          <c:order val="12"/>
          <c:tx>
            <c:v>Noise 12</c:v>
          </c:tx>
          <c:spPr>
            <a:ln w="17145">
              <a:solidFill>
                <a:srgbClr val="C45C28"/>
              </a:solidFill>
            </a:ln>
          </c:spPr>
          <c:marker>
            <c:symbol val="none"/>
          </c:marker>
          <c:xVal>
            <c:numRef>
              <c:f>'Chart Data'!$AA$2:$AA$3</c:f>
              <c:numCache>
                <c:formatCode>General</c:formatCode>
                <c:ptCount val="2"/>
                <c:pt idx="0">
                  <c:v>1.6</c:v>
                </c:pt>
                <c:pt idx="1">
                  <c:v>1.6</c:v>
                </c:pt>
              </c:numCache>
            </c:numRef>
          </c:xVal>
          <c:yVal>
            <c:numRef>
              <c:f>'Chart Data'!$AB$2:$AB$3</c:f>
              <c:numCache>
                <c:formatCode>0.#</c:formatCode>
                <c:ptCount val="2"/>
                <c:pt idx="0">
                  <c:v>2.944</c:v>
                </c:pt>
                <c:pt idx="1">
                  <c:v>2.2440000000000002</c:v>
                </c:pt>
              </c:numCache>
            </c:numRef>
          </c:yVal>
          <c:smooth val="0"/>
          <c:extLst>
            <c:ext xmlns:c16="http://schemas.microsoft.com/office/drawing/2014/chart" uri="{C3380CC4-5D6E-409C-BE32-E72D297353CC}">
              <c16:uniqueId val="{0000000D-D041-44B1-9830-D3C6466CAAD8}"/>
            </c:ext>
          </c:extLst>
        </c:ser>
        <c:ser>
          <c:idx val="13"/>
          <c:order val="13"/>
          <c:tx>
            <c:v>Noise 13</c:v>
          </c:tx>
          <c:spPr>
            <a:ln w="17145">
              <a:solidFill>
                <a:srgbClr val="C45C28"/>
              </a:solidFill>
            </a:ln>
          </c:spPr>
          <c:marker>
            <c:symbol val="none"/>
          </c:marker>
          <c:xVal>
            <c:numRef>
              <c:f>'Chart Data'!$AC$2:$AC$3</c:f>
              <c:numCache>
                <c:formatCode>General</c:formatCode>
                <c:ptCount val="2"/>
                <c:pt idx="0">
                  <c:v>2</c:v>
                </c:pt>
                <c:pt idx="1">
                  <c:v>2</c:v>
                </c:pt>
              </c:numCache>
            </c:numRef>
          </c:xVal>
          <c:yVal>
            <c:numRef>
              <c:f>'Chart Data'!$AD$2:$AD$3</c:f>
              <c:numCache>
                <c:formatCode>0.#</c:formatCode>
                <c:ptCount val="2"/>
                <c:pt idx="0">
                  <c:v>4.0999999999999996</c:v>
                </c:pt>
                <c:pt idx="1">
                  <c:v>4.7</c:v>
                </c:pt>
              </c:numCache>
            </c:numRef>
          </c:yVal>
          <c:smooth val="0"/>
          <c:extLst>
            <c:ext xmlns:c16="http://schemas.microsoft.com/office/drawing/2014/chart" uri="{C3380CC4-5D6E-409C-BE32-E72D297353CC}">
              <c16:uniqueId val="{0000000E-D041-44B1-9830-D3C6466CAAD8}"/>
            </c:ext>
          </c:extLst>
        </c:ser>
        <c:ser>
          <c:idx val="14"/>
          <c:order val="14"/>
          <c:tx>
            <c:v>Noise 14</c:v>
          </c:tx>
          <c:spPr>
            <a:ln w="17145">
              <a:solidFill>
                <a:srgbClr val="C45C28"/>
              </a:solidFill>
            </a:ln>
          </c:spPr>
          <c:marker>
            <c:symbol val="none"/>
          </c:marker>
          <c:xVal>
            <c:numRef>
              <c:f>'Chart Data'!$AE$2:$AE$3</c:f>
              <c:numCache>
                <c:formatCode>General</c:formatCode>
                <c:ptCount val="2"/>
                <c:pt idx="0">
                  <c:v>2.4</c:v>
                </c:pt>
                <c:pt idx="1">
                  <c:v>2.4</c:v>
                </c:pt>
              </c:numCache>
            </c:numRef>
          </c:xVal>
          <c:yVal>
            <c:numRef>
              <c:f>'Chart Data'!$AF$2:$AF$3</c:f>
              <c:numCache>
                <c:formatCode>0.#</c:formatCode>
                <c:ptCount val="2"/>
                <c:pt idx="0">
                  <c:v>5.4640000000000004</c:v>
                </c:pt>
                <c:pt idx="1">
                  <c:v>4.8639999999999999</c:v>
                </c:pt>
              </c:numCache>
            </c:numRef>
          </c:yVal>
          <c:smooth val="0"/>
          <c:extLst>
            <c:ext xmlns:c16="http://schemas.microsoft.com/office/drawing/2014/chart" uri="{C3380CC4-5D6E-409C-BE32-E72D297353CC}">
              <c16:uniqueId val="{0000000F-D041-44B1-9830-D3C6466CAAD8}"/>
            </c:ext>
          </c:extLst>
        </c:ser>
        <c:ser>
          <c:idx val="15"/>
          <c:order val="15"/>
          <c:tx>
            <c:v>Noise 15</c:v>
          </c:tx>
          <c:spPr>
            <a:ln w="17145">
              <a:solidFill>
                <a:srgbClr val="C45C28"/>
              </a:solidFill>
            </a:ln>
          </c:spPr>
          <c:marker>
            <c:symbol val="none"/>
          </c:marker>
          <c:xVal>
            <c:numRef>
              <c:f>'Chart Data'!$AG$2:$AG$3</c:f>
              <c:numCache>
                <c:formatCode>General</c:formatCode>
                <c:ptCount val="2"/>
                <c:pt idx="0">
                  <c:v>2.8</c:v>
                </c:pt>
                <c:pt idx="1">
                  <c:v>2.8</c:v>
                </c:pt>
              </c:numCache>
            </c:numRef>
          </c:xVal>
          <c:yVal>
            <c:numRef>
              <c:f>'Chart Data'!$AH$2:$AH$3</c:f>
              <c:numCache>
                <c:formatCode>0.#</c:formatCode>
                <c:ptCount val="2"/>
                <c:pt idx="0">
                  <c:v>7.0359999999999996</c:v>
                </c:pt>
                <c:pt idx="1">
                  <c:v>7.4859999999999998</c:v>
                </c:pt>
              </c:numCache>
            </c:numRef>
          </c:yVal>
          <c:smooth val="0"/>
          <c:extLst>
            <c:ext xmlns:c16="http://schemas.microsoft.com/office/drawing/2014/chart" uri="{C3380CC4-5D6E-409C-BE32-E72D297353CC}">
              <c16:uniqueId val="{00000010-D041-44B1-9830-D3C6466CAAD8}"/>
            </c:ext>
          </c:extLst>
        </c:ser>
        <c:dLbls>
          <c:showLegendKey val="0"/>
          <c:showVal val="0"/>
          <c:showCatName val="0"/>
          <c:showSerName val="0"/>
          <c:showPercent val="0"/>
          <c:showBubbleSize val="0"/>
        </c:dLbls>
        <c:axId val="48650112"/>
        <c:axId val="48672768"/>
      </c:scatterChart>
      <c:valAx>
        <c:axId val="48672768"/>
        <c:scaling>
          <c:orientation val="minMax"/>
          <c:max val="8"/>
          <c:min val="-1"/>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D49A-4FA0-AFF0-18A249E2B669}"/>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-3.9</c:v>
                </c:pt>
                <c:pt idx="1">
                  <c:v>5.9</c:v>
                </c:pt>
              </c:numCache>
            </c:numRef>
          </c:yVal>
          <c:smooth val="0"/>
          <c:extLst>
            <c:ext xmlns:c16="http://schemas.microsoft.com/office/drawing/2014/chart" uri="{C3380CC4-5D6E-409C-BE32-E72D297353CC}">
              <c16:uniqueId val="{00000001-D49A-4FA0-AFF0-18A249E2B669}"/>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3851345823151415"/>
          <c:y val="4.4837472239047042E-2"/>
          <c:w val="0.83616703774097201"/>
          <c:h val="0.72727101420014806"/>
        </c:manualLayout>
      </c:layout>
      <c:scatterChart>
        <c:scatterStyle val="lineMarker"/>
        <c:varyColors val="1"/>
        <c:ser>
          <c:idx val="3"/>
          <c:order val="3"/>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6E61-430B-A570-9B1625A6E4F7}"/>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-3.9</c:v>
                </c:pt>
                <c:pt idx="1">
                  <c:v>5.9</c:v>
                </c:pt>
              </c:numCache>
            </c:numRef>
          </c:yVal>
          <c:smooth val="0"/>
          <c:extLst>
            <c:ext xmlns:c16="http://schemas.microsoft.com/office/drawing/2014/chart" uri="{C3380CC4-5D6E-409C-BE32-E72D297353CC}">
              <c16:uniqueId val="{00000001-6E61-430B-A570-9B1625A6E4F7}"/>
            </c:ext>
          </c:extLst>
        </c:ser>
        <c:ser>
          <c:idx val="1"/>
          <c:order val="1"/>
          <c:tx>
            <c:v>Predictor</c:v>
          </c:tx>
          <c:spPr>
            <a:ln w="28575">
              <a:solidFill>
                <a:srgbClr val="C45C28"/>
              </a:solidFill>
            </a:ln>
          </c:spPr>
          <c:marker>
            <c:symbol val="none"/>
          </c:marker>
          <c:xVal>
            <c:numRef>
              <c:f>'Chart Data'!$E$2:$E$3</c:f>
              <c:numCache>
                <c:formatCode>General</c:formatCode>
                <c:ptCount val="2"/>
                <c:pt idx="0">
                  <c:v>-2.4500000000000002</c:v>
                </c:pt>
                <c:pt idx="1">
                  <c:v>2.4500000000000002</c:v>
                </c:pt>
              </c:numCache>
            </c:numRef>
          </c:xVal>
          <c:yVal>
            <c:numRef>
              <c:f>'Chart Data'!$F$2:$F$3</c:f>
              <c:numCache>
                <c:formatCode>0.##</c:formatCode>
                <c:ptCount val="2"/>
                <c:pt idx="0">
                  <c:v>3.45</c:v>
                </c:pt>
                <c:pt idx="1">
                  <c:v>-1.45</c:v>
                </c:pt>
              </c:numCache>
            </c:numRef>
          </c:yVal>
          <c:smooth val="0"/>
          <c:extLst>
            <c:ext xmlns:c16="http://schemas.microsoft.com/office/drawing/2014/chart" uri="{C3380CC4-5D6E-409C-BE32-E72D297353CC}">
              <c16:uniqueId val="{00000002-6E61-430B-A570-9B1625A6E4F7}"/>
            </c:ext>
          </c:extLst>
        </c:ser>
        <c:ser>
          <c:idx val="2"/>
          <c:order val="2"/>
          <c:tx>
            <c:v>Predictor</c:v>
          </c:tx>
          <c:spPr>
            <a:ln w="28575">
              <a:solidFill>
                <a:srgbClr val="8495A8"/>
              </a:solidFill>
            </a:ln>
          </c:spPr>
          <c:marker>
            <c:symbol val="none"/>
          </c:marker>
          <c:xVal>
            <c:numRef>
              <c:f>'Chart Data'!$G$2:$G$3</c:f>
              <c:numCache>
                <c:formatCode>General</c:formatCode>
                <c:ptCount val="2"/>
                <c:pt idx="0">
                  <c:v>-2.4500000000000002</c:v>
                </c:pt>
                <c:pt idx="1">
                  <c:v>2.4500000000000002</c:v>
                </c:pt>
              </c:numCache>
            </c:numRef>
          </c:xVal>
          <c:yVal>
            <c:numRef>
              <c:f>'Chart Data'!$H$2:$H$3</c:f>
              <c:numCache>
                <c:formatCode>0.##</c:formatCode>
                <c:ptCount val="2"/>
                <c:pt idx="0">
                  <c:v>2</c:v>
                </c:pt>
                <c:pt idx="1">
                  <c:v>2</c:v>
                </c:pt>
              </c:numCache>
            </c:numRef>
          </c:yVal>
          <c:smooth val="0"/>
          <c:extLst>
            <c:ext xmlns:c16="http://schemas.microsoft.com/office/drawing/2014/chart" uri="{C3380CC4-5D6E-409C-BE32-E72D297353CC}">
              <c16:uniqueId val="{00000003-6E61-430B-A570-9B1625A6E4F7}"/>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dirty="0">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6"/>
          <c:order val="6"/>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F553-4854-86B9-DD02D02B028B}"/>
            </c:ext>
          </c:extLst>
        </c:ser>
        <c:ser>
          <c:idx val="0"/>
          <c:order val="0"/>
          <c:tx>
            <c:v>Residual 1</c:v>
          </c:tx>
          <c:spPr>
            <a:ln w="19050">
              <a:solidFill>
                <a:srgbClr val="C45C28"/>
              </a:solidFill>
            </a:ln>
          </c:spPr>
          <c:marker>
            <c:symbol val="none"/>
          </c:marker>
          <c:xVal>
            <c:numRef>
              <c:f>'Chart Data'!$C$2:$C$3</c:f>
              <c:numCache>
                <c:formatCode>General</c:formatCode>
                <c:ptCount val="2"/>
                <c:pt idx="0">
                  <c:v>-2</c:v>
                </c:pt>
                <c:pt idx="1">
                  <c:v>-2</c:v>
                </c:pt>
              </c:numCache>
            </c:numRef>
          </c:xVal>
          <c:yVal>
            <c:numRef>
              <c:f>'Chart Data'!$D$2:$D$3</c:f>
              <c:numCache>
                <c:formatCode>0.##</c:formatCode>
                <c:ptCount val="2"/>
                <c:pt idx="0">
                  <c:v>-1.5</c:v>
                </c:pt>
                <c:pt idx="1">
                  <c:v>-3</c:v>
                </c:pt>
              </c:numCache>
            </c:numRef>
          </c:yVal>
          <c:smooth val="0"/>
          <c:extLst>
            <c:ext xmlns:c16="http://schemas.microsoft.com/office/drawing/2014/chart" uri="{C3380CC4-5D6E-409C-BE32-E72D297353CC}">
              <c16:uniqueId val="{00000001-F553-4854-86B9-DD02D02B028B}"/>
            </c:ext>
          </c:extLst>
        </c:ser>
        <c:ser>
          <c:idx val="1"/>
          <c:order val="1"/>
          <c:tx>
            <c:v>Residual 2</c:v>
          </c:tx>
          <c:spPr>
            <a:ln w="19050">
              <a:solidFill>
                <a:srgbClr val="C45C28"/>
              </a:solidFill>
            </a:ln>
          </c:spPr>
          <c:marker>
            <c:symbol val="none"/>
          </c:marker>
          <c:xVal>
            <c:numRef>
              <c:f>'Chart Data'!$E$2:$E$3</c:f>
              <c:numCache>
                <c:formatCode>General</c:formatCode>
                <c:ptCount val="2"/>
                <c:pt idx="0">
                  <c:v>-1</c:v>
                </c:pt>
                <c:pt idx="1">
                  <c:v>-1</c:v>
                </c:pt>
              </c:numCache>
            </c:numRef>
          </c:xVal>
          <c:yVal>
            <c:numRef>
              <c:f>'Chart Data'!$F$2:$F$3</c:f>
              <c:numCache>
                <c:formatCode>0.##</c:formatCode>
                <c:ptCount val="2"/>
                <c:pt idx="0">
                  <c:v>0.5</c:v>
                </c:pt>
                <c:pt idx="1">
                  <c:v>-1</c:v>
                </c:pt>
              </c:numCache>
            </c:numRef>
          </c:yVal>
          <c:smooth val="0"/>
          <c:extLst>
            <c:ext xmlns:c16="http://schemas.microsoft.com/office/drawing/2014/chart" uri="{C3380CC4-5D6E-409C-BE32-E72D297353CC}">
              <c16:uniqueId val="{00000002-F553-4854-86B9-DD02D02B028B}"/>
            </c:ext>
          </c:extLst>
        </c:ser>
        <c:ser>
          <c:idx val="2"/>
          <c:order val="2"/>
          <c:tx>
            <c:v>Residual 3</c:v>
          </c:tx>
          <c:spPr>
            <a:ln w="19050">
              <a:solidFill>
                <a:srgbClr val="C45C28"/>
              </a:solidFill>
            </a:ln>
          </c:spPr>
          <c:marker>
            <c:symbol val="none"/>
          </c:marker>
          <c:xVal>
            <c:numRef>
              <c:f>'Chart Data'!$G$2:$G$3</c:f>
              <c:numCache>
                <c:formatCode>General</c:formatCode>
                <c:ptCount val="2"/>
                <c:pt idx="0">
                  <c:v>0</c:v>
                </c:pt>
                <c:pt idx="1">
                  <c:v>0</c:v>
                </c:pt>
              </c:numCache>
            </c:numRef>
          </c:xVal>
          <c:yVal>
            <c:numRef>
              <c:f>'Chart Data'!$H$2:$H$3</c:f>
              <c:numCache>
                <c:formatCode>0.##</c:formatCode>
                <c:ptCount val="2"/>
                <c:pt idx="0">
                  <c:v>1</c:v>
                </c:pt>
                <c:pt idx="1">
                  <c:v>1</c:v>
                </c:pt>
              </c:numCache>
            </c:numRef>
          </c:yVal>
          <c:smooth val="0"/>
          <c:extLst>
            <c:ext xmlns:c16="http://schemas.microsoft.com/office/drawing/2014/chart" uri="{C3380CC4-5D6E-409C-BE32-E72D297353CC}">
              <c16:uniqueId val="{00000003-F553-4854-86B9-DD02D02B028B}"/>
            </c:ext>
          </c:extLst>
        </c:ser>
        <c:ser>
          <c:idx val="3"/>
          <c:order val="3"/>
          <c:tx>
            <c:v>Residual 4</c:v>
          </c:tx>
          <c:spPr>
            <a:ln w="19050">
              <a:solidFill>
                <a:srgbClr val="C45C28"/>
              </a:solidFill>
            </a:ln>
          </c:spPr>
          <c:marker>
            <c:symbol val="none"/>
          </c:marker>
          <c:xVal>
            <c:numRef>
              <c:f>'Chart Data'!$I$2:$I$3</c:f>
              <c:numCache>
                <c:formatCode>General</c:formatCode>
                <c:ptCount val="2"/>
                <c:pt idx="0">
                  <c:v>1</c:v>
                </c:pt>
                <c:pt idx="1">
                  <c:v>1</c:v>
                </c:pt>
              </c:numCache>
            </c:numRef>
          </c:xVal>
          <c:yVal>
            <c:numRef>
              <c:f>'Chart Data'!$J$2:$J$3</c:f>
              <c:numCache>
                <c:formatCode>0.##</c:formatCode>
                <c:ptCount val="2"/>
                <c:pt idx="0">
                  <c:v>2.5</c:v>
                </c:pt>
                <c:pt idx="1">
                  <c:v>3</c:v>
                </c:pt>
              </c:numCache>
            </c:numRef>
          </c:yVal>
          <c:smooth val="0"/>
          <c:extLst>
            <c:ext xmlns:c16="http://schemas.microsoft.com/office/drawing/2014/chart" uri="{C3380CC4-5D6E-409C-BE32-E72D297353CC}">
              <c16:uniqueId val="{00000004-F553-4854-86B9-DD02D02B028B}"/>
            </c:ext>
          </c:extLst>
        </c:ser>
        <c:ser>
          <c:idx val="4"/>
          <c:order val="4"/>
          <c:tx>
            <c:v>Residual 5</c:v>
          </c:tx>
          <c:spPr>
            <a:ln w="19050">
              <a:solidFill>
                <a:srgbClr val="C45C28"/>
              </a:solidFill>
            </a:ln>
          </c:spPr>
          <c:marker>
            <c:symbol val="none"/>
          </c:marker>
          <c:xVal>
            <c:numRef>
              <c:f>'Chart Data'!$K$2:$K$3</c:f>
              <c:numCache>
                <c:formatCode>General</c:formatCode>
                <c:ptCount val="2"/>
                <c:pt idx="0">
                  <c:v>2</c:v>
                </c:pt>
                <c:pt idx="1">
                  <c:v>2</c:v>
                </c:pt>
              </c:numCache>
            </c:numRef>
          </c:xVal>
          <c:yVal>
            <c:numRef>
              <c:f>'Chart Data'!$L$2:$L$3</c:f>
              <c:numCache>
                <c:formatCode>0.##</c:formatCode>
                <c:ptCount val="2"/>
                <c:pt idx="0">
                  <c:v>7.5</c:v>
                </c:pt>
                <c:pt idx="1">
                  <c:v>5</c:v>
                </c:pt>
              </c:numCache>
            </c:numRef>
          </c:yVal>
          <c:smooth val="0"/>
          <c:extLst>
            <c:ext xmlns:c16="http://schemas.microsoft.com/office/drawing/2014/chart" uri="{C3380CC4-5D6E-409C-BE32-E72D297353CC}">
              <c16:uniqueId val="{00000005-F553-4854-86B9-DD02D02B028B}"/>
            </c:ext>
          </c:extLst>
        </c:ser>
        <c:ser>
          <c:idx val="5"/>
          <c:order val="5"/>
          <c:tx>
            <c:v>Predictor</c:v>
          </c:tx>
          <c:spPr>
            <a:ln w="28575">
              <a:solidFill>
                <a:srgbClr val="087F83"/>
              </a:solidFill>
            </a:ln>
          </c:spPr>
          <c:marker>
            <c:symbol val="none"/>
          </c:marker>
          <c:xVal>
            <c:numRef>
              <c:f>'Chart Data'!$M$2:$M$3</c:f>
              <c:numCache>
                <c:formatCode>General</c:formatCode>
                <c:ptCount val="2"/>
                <c:pt idx="0">
                  <c:v>-2.4500000000000002</c:v>
                </c:pt>
                <c:pt idx="1">
                  <c:v>2.4500000000000002</c:v>
                </c:pt>
              </c:numCache>
            </c:numRef>
          </c:xVal>
          <c:yVal>
            <c:numRef>
              <c:f>'Chart Data'!$N$2:$N$3</c:f>
              <c:numCache>
                <c:formatCode>0.##</c:formatCode>
                <c:ptCount val="2"/>
                <c:pt idx="0">
                  <c:v>-3.9</c:v>
                </c:pt>
                <c:pt idx="1">
                  <c:v>5.9</c:v>
                </c:pt>
              </c:numCache>
            </c:numRef>
          </c:yVal>
          <c:smooth val="0"/>
          <c:extLst>
            <c:ext xmlns:c16="http://schemas.microsoft.com/office/drawing/2014/chart" uri="{C3380CC4-5D6E-409C-BE32-E72D297353CC}">
              <c16:uniqueId val="{00000006-F553-4854-86B9-DD02D02B028B}"/>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6"/>
          <c:order val="6"/>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B7F5-4E24-93A6-5F6C322D5CB1}"/>
            </c:ext>
          </c:extLst>
        </c:ser>
        <c:ser>
          <c:idx val="0"/>
          <c:order val="0"/>
          <c:tx>
            <c:v>Residual 1</c:v>
          </c:tx>
          <c:spPr>
            <a:ln w="19050">
              <a:solidFill>
                <a:srgbClr val="C45C28"/>
              </a:solidFill>
            </a:ln>
          </c:spPr>
          <c:marker>
            <c:symbol val="none"/>
          </c:marker>
          <c:xVal>
            <c:numRef>
              <c:f>'Chart Data'!$C$2:$C$3</c:f>
              <c:numCache>
                <c:formatCode>General</c:formatCode>
                <c:ptCount val="2"/>
                <c:pt idx="0">
                  <c:v>-2</c:v>
                </c:pt>
                <c:pt idx="1">
                  <c:v>-2</c:v>
                </c:pt>
              </c:numCache>
            </c:numRef>
          </c:xVal>
          <c:yVal>
            <c:numRef>
              <c:f>'Chart Data'!$D$2:$D$3</c:f>
              <c:numCache>
                <c:formatCode>0.##</c:formatCode>
                <c:ptCount val="2"/>
                <c:pt idx="0">
                  <c:v>-1.5</c:v>
                </c:pt>
                <c:pt idx="1">
                  <c:v>3</c:v>
                </c:pt>
              </c:numCache>
            </c:numRef>
          </c:yVal>
          <c:smooth val="0"/>
          <c:extLst>
            <c:ext xmlns:c16="http://schemas.microsoft.com/office/drawing/2014/chart" uri="{C3380CC4-5D6E-409C-BE32-E72D297353CC}">
              <c16:uniqueId val="{00000001-B7F5-4E24-93A6-5F6C322D5CB1}"/>
            </c:ext>
          </c:extLst>
        </c:ser>
        <c:ser>
          <c:idx val="1"/>
          <c:order val="1"/>
          <c:tx>
            <c:v>Residual 2</c:v>
          </c:tx>
          <c:spPr>
            <a:ln w="19050">
              <a:solidFill>
                <a:srgbClr val="C45C28"/>
              </a:solidFill>
            </a:ln>
          </c:spPr>
          <c:marker>
            <c:symbol val="none"/>
          </c:marker>
          <c:xVal>
            <c:numRef>
              <c:f>'Chart Data'!$E$2:$E$3</c:f>
              <c:numCache>
                <c:formatCode>General</c:formatCode>
                <c:ptCount val="2"/>
                <c:pt idx="0">
                  <c:v>-1</c:v>
                </c:pt>
                <c:pt idx="1">
                  <c:v>-1</c:v>
                </c:pt>
              </c:numCache>
            </c:numRef>
          </c:xVal>
          <c:yVal>
            <c:numRef>
              <c:f>'Chart Data'!$F$2:$F$3</c:f>
              <c:numCache>
                <c:formatCode>0.##</c:formatCode>
                <c:ptCount val="2"/>
                <c:pt idx="0">
                  <c:v>0.5</c:v>
                </c:pt>
                <c:pt idx="1">
                  <c:v>2</c:v>
                </c:pt>
              </c:numCache>
            </c:numRef>
          </c:yVal>
          <c:smooth val="0"/>
          <c:extLst>
            <c:ext xmlns:c16="http://schemas.microsoft.com/office/drawing/2014/chart" uri="{C3380CC4-5D6E-409C-BE32-E72D297353CC}">
              <c16:uniqueId val="{00000002-B7F5-4E24-93A6-5F6C322D5CB1}"/>
            </c:ext>
          </c:extLst>
        </c:ser>
        <c:ser>
          <c:idx val="2"/>
          <c:order val="2"/>
          <c:tx>
            <c:v>Residual 3</c:v>
          </c:tx>
          <c:spPr>
            <a:ln w="19050">
              <a:solidFill>
                <a:srgbClr val="C45C28"/>
              </a:solidFill>
            </a:ln>
          </c:spPr>
          <c:marker>
            <c:symbol val="none"/>
          </c:marker>
          <c:xVal>
            <c:numRef>
              <c:f>'Chart Data'!$G$2:$G$3</c:f>
              <c:numCache>
                <c:formatCode>General</c:formatCode>
                <c:ptCount val="2"/>
                <c:pt idx="0">
                  <c:v>0</c:v>
                </c:pt>
                <c:pt idx="1">
                  <c:v>0</c:v>
                </c:pt>
              </c:numCache>
            </c:numRef>
          </c:xVal>
          <c:yVal>
            <c:numRef>
              <c:f>'Chart Data'!$H$2:$H$3</c:f>
              <c:numCache>
                <c:formatCode>0.##</c:formatCode>
                <c:ptCount val="2"/>
                <c:pt idx="0">
                  <c:v>1</c:v>
                </c:pt>
                <c:pt idx="1">
                  <c:v>1</c:v>
                </c:pt>
              </c:numCache>
            </c:numRef>
          </c:yVal>
          <c:smooth val="0"/>
          <c:extLst>
            <c:ext xmlns:c16="http://schemas.microsoft.com/office/drawing/2014/chart" uri="{C3380CC4-5D6E-409C-BE32-E72D297353CC}">
              <c16:uniqueId val="{00000003-B7F5-4E24-93A6-5F6C322D5CB1}"/>
            </c:ext>
          </c:extLst>
        </c:ser>
        <c:ser>
          <c:idx val="3"/>
          <c:order val="3"/>
          <c:tx>
            <c:v>Residual 4</c:v>
          </c:tx>
          <c:spPr>
            <a:ln w="19050">
              <a:solidFill>
                <a:srgbClr val="C45C28"/>
              </a:solidFill>
            </a:ln>
          </c:spPr>
          <c:marker>
            <c:symbol val="none"/>
          </c:marker>
          <c:xVal>
            <c:numRef>
              <c:f>'Chart Data'!$I$2:$I$3</c:f>
              <c:numCache>
                <c:formatCode>General</c:formatCode>
                <c:ptCount val="2"/>
                <c:pt idx="0">
                  <c:v>1</c:v>
                </c:pt>
                <c:pt idx="1">
                  <c:v>1</c:v>
                </c:pt>
              </c:numCache>
            </c:numRef>
          </c:xVal>
          <c:yVal>
            <c:numRef>
              <c:f>'Chart Data'!$J$2:$J$3</c:f>
              <c:numCache>
                <c:formatCode>0.##</c:formatCode>
                <c:ptCount val="2"/>
                <c:pt idx="0">
                  <c:v>2.5</c:v>
                </c:pt>
                <c:pt idx="1">
                  <c:v>0</c:v>
                </c:pt>
              </c:numCache>
            </c:numRef>
          </c:yVal>
          <c:smooth val="0"/>
          <c:extLst>
            <c:ext xmlns:c16="http://schemas.microsoft.com/office/drawing/2014/chart" uri="{C3380CC4-5D6E-409C-BE32-E72D297353CC}">
              <c16:uniqueId val="{00000004-B7F5-4E24-93A6-5F6C322D5CB1}"/>
            </c:ext>
          </c:extLst>
        </c:ser>
        <c:ser>
          <c:idx val="4"/>
          <c:order val="4"/>
          <c:tx>
            <c:v>Residual 5</c:v>
          </c:tx>
          <c:spPr>
            <a:ln w="19050">
              <a:solidFill>
                <a:srgbClr val="C45C28"/>
              </a:solidFill>
            </a:ln>
          </c:spPr>
          <c:marker>
            <c:symbol val="none"/>
          </c:marker>
          <c:xVal>
            <c:numRef>
              <c:f>'Chart Data'!$K$2:$K$3</c:f>
              <c:numCache>
                <c:formatCode>General</c:formatCode>
                <c:ptCount val="2"/>
                <c:pt idx="0">
                  <c:v>2</c:v>
                </c:pt>
                <c:pt idx="1">
                  <c:v>2</c:v>
                </c:pt>
              </c:numCache>
            </c:numRef>
          </c:xVal>
          <c:yVal>
            <c:numRef>
              <c:f>'Chart Data'!$L$2:$L$3</c:f>
              <c:numCache>
                <c:formatCode>0.##</c:formatCode>
                <c:ptCount val="2"/>
                <c:pt idx="0">
                  <c:v>7.5</c:v>
                </c:pt>
                <c:pt idx="1">
                  <c:v>-1</c:v>
                </c:pt>
              </c:numCache>
            </c:numRef>
          </c:yVal>
          <c:smooth val="0"/>
          <c:extLst>
            <c:ext xmlns:c16="http://schemas.microsoft.com/office/drawing/2014/chart" uri="{C3380CC4-5D6E-409C-BE32-E72D297353CC}">
              <c16:uniqueId val="{00000005-B7F5-4E24-93A6-5F6C322D5CB1}"/>
            </c:ext>
          </c:extLst>
        </c:ser>
        <c:ser>
          <c:idx val="5"/>
          <c:order val="5"/>
          <c:tx>
            <c:v>Predictor</c:v>
          </c:tx>
          <c:spPr>
            <a:ln w="28575">
              <a:solidFill>
                <a:srgbClr val="087F83"/>
              </a:solidFill>
            </a:ln>
          </c:spPr>
          <c:marker>
            <c:symbol val="none"/>
          </c:marker>
          <c:xVal>
            <c:numRef>
              <c:f>'Chart Data'!$M$2:$M$3</c:f>
              <c:numCache>
                <c:formatCode>General</c:formatCode>
                <c:ptCount val="2"/>
                <c:pt idx="0">
                  <c:v>-2.4500000000000002</c:v>
                </c:pt>
                <c:pt idx="1">
                  <c:v>2.4500000000000002</c:v>
                </c:pt>
              </c:numCache>
            </c:numRef>
          </c:xVal>
          <c:yVal>
            <c:numRef>
              <c:f>'Chart Data'!$N$2:$N$3</c:f>
              <c:numCache>
                <c:formatCode>0.##</c:formatCode>
                <c:ptCount val="2"/>
                <c:pt idx="0">
                  <c:v>3.45</c:v>
                </c:pt>
                <c:pt idx="1">
                  <c:v>-1.45</c:v>
                </c:pt>
              </c:numCache>
            </c:numRef>
          </c:yVal>
          <c:smooth val="0"/>
          <c:extLst>
            <c:ext xmlns:c16="http://schemas.microsoft.com/office/drawing/2014/chart" uri="{C3380CC4-5D6E-409C-BE32-E72D297353CC}">
              <c16:uniqueId val="{00000006-B7F5-4E24-93A6-5F6C322D5CB1}"/>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6"/>
          <c:order val="6"/>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D2D3-4F3C-B9A2-0A07014EAFA7}"/>
            </c:ext>
          </c:extLst>
        </c:ser>
        <c:ser>
          <c:idx val="0"/>
          <c:order val="0"/>
          <c:tx>
            <c:v>Residual 1</c:v>
          </c:tx>
          <c:spPr>
            <a:ln w="19050">
              <a:solidFill>
                <a:srgbClr val="C45C28"/>
              </a:solidFill>
            </a:ln>
          </c:spPr>
          <c:marker>
            <c:symbol val="none"/>
          </c:marker>
          <c:xVal>
            <c:numRef>
              <c:f>'Chart Data'!$C$2:$C$3</c:f>
              <c:numCache>
                <c:formatCode>General</c:formatCode>
                <c:ptCount val="2"/>
                <c:pt idx="0">
                  <c:v>-2</c:v>
                </c:pt>
                <c:pt idx="1">
                  <c:v>-2</c:v>
                </c:pt>
              </c:numCache>
            </c:numRef>
          </c:xVal>
          <c:yVal>
            <c:numRef>
              <c:f>'Chart Data'!$D$2:$D$3</c:f>
              <c:numCache>
                <c:formatCode>0.##</c:formatCode>
                <c:ptCount val="2"/>
                <c:pt idx="0">
                  <c:v>-1.5</c:v>
                </c:pt>
                <c:pt idx="1">
                  <c:v>2</c:v>
                </c:pt>
              </c:numCache>
            </c:numRef>
          </c:yVal>
          <c:smooth val="0"/>
          <c:extLst>
            <c:ext xmlns:c16="http://schemas.microsoft.com/office/drawing/2014/chart" uri="{C3380CC4-5D6E-409C-BE32-E72D297353CC}">
              <c16:uniqueId val="{00000001-D2D3-4F3C-B9A2-0A07014EAFA7}"/>
            </c:ext>
          </c:extLst>
        </c:ser>
        <c:ser>
          <c:idx val="1"/>
          <c:order val="1"/>
          <c:tx>
            <c:v>Residual 2</c:v>
          </c:tx>
          <c:spPr>
            <a:ln w="19050">
              <a:solidFill>
                <a:srgbClr val="C45C28"/>
              </a:solidFill>
            </a:ln>
          </c:spPr>
          <c:marker>
            <c:symbol val="none"/>
          </c:marker>
          <c:xVal>
            <c:numRef>
              <c:f>'Chart Data'!$E$2:$E$3</c:f>
              <c:numCache>
                <c:formatCode>General</c:formatCode>
                <c:ptCount val="2"/>
                <c:pt idx="0">
                  <c:v>-1</c:v>
                </c:pt>
                <c:pt idx="1">
                  <c:v>-1</c:v>
                </c:pt>
              </c:numCache>
            </c:numRef>
          </c:xVal>
          <c:yVal>
            <c:numRef>
              <c:f>'Chart Data'!$F$2:$F$3</c:f>
              <c:numCache>
                <c:formatCode>0.##</c:formatCode>
                <c:ptCount val="2"/>
                <c:pt idx="0">
                  <c:v>0.5</c:v>
                </c:pt>
                <c:pt idx="1">
                  <c:v>2</c:v>
                </c:pt>
              </c:numCache>
            </c:numRef>
          </c:yVal>
          <c:smooth val="0"/>
          <c:extLst>
            <c:ext xmlns:c16="http://schemas.microsoft.com/office/drawing/2014/chart" uri="{C3380CC4-5D6E-409C-BE32-E72D297353CC}">
              <c16:uniqueId val="{00000002-D2D3-4F3C-B9A2-0A07014EAFA7}"/>
            </c:ext>
          </c:extLst>
        </c:ser>
        <c:ser>
          <c:idx val="2"/>
          <c:order val="2"/>
          <c:tx>
            <c:v>Residual 3</c:v>
          </c:tx>
          <c:spPr>
            <a:ln w="19050">
              <a:solidFill>
                <a:srgbClr val="C45C28"/>
              </a:solidFill>
            </a:ln>
          </c:spPr>
          <c:marker>
            <c:symbol val="none"/>
          </c:marker>
          <c:xVal>
            <c:numRef>
              <c:f>'Chart Data'!$G$2:$G$3</c:f>
              <c:numCache>
                <c:formatCode>General</c:formatCode>
                <c:ptCount val="2"/>
                <c:pt idx="0">
                  <c:v>0</c:v>
                </c:pt>
                <c:pt idx="1">
                  <c:v>0</c:v>
                </c:pt>
              </c:numCache>
            </c:numRef>
          </c:xVal>
          <c:yVal>
            <c:numRef>
              <c:f>'Chart Data'!$H$2:$H$3</c:f>
              <c:numCache>
                <c:formatCode>0.##</c:formatCode>
                <c:ptCount val="2"/>
                <c:pt idx="0">
                  <c:v>1</c:v>
                </c:pt>
                <c:pt idx="1">
                  <c:v>2</c:v>
                </c:pt>
              </c:numCache>
            </c:numRef>
          </c:yVal>
          <c:smooth val="0"/>
          <c:extLst>
            <c:ext xmlns:c16="http://schemas.microsoft.com/office/drawing/2014/chart" uri="{C3380CC4-5D6E-409C-BE32-E72D297353CC}">
              <c16:uniqueId val="{00000003-D2D3-4F3C-B9A2-0A07014EAFA7}"/>
            </c:ext>
          </c:extLst>
        </c:ser>
        <c:ser>
          <c:idx val="3"/>
          <c:order val="3"/>
          <c:tx>
            <c:v>Residual 4</c:v>
          </c:tx>
          <c:spPr>
            <a:ln w="19050">
              <a:solidFill>
                <a:srgbClr val="C45C28"/>
              </a:solidFill>
            </a:ln>
          </c:spPr>
          <c:marker>
            <c:symbol val="none"/>
          </c:marker>
          <c:xVal>
            <c:numRef>
              <c:f>'Chart Data'!$I$2:$I$3</c:f>
              <c:numCache>
                <c:formatCode>General</c:formatCode>
                <c:ptCount val="2"/>
                <c:pt idx="0">
                  <c:v>1</c:v>
                </c:pt>
                <c:pt idx="1">
                  <c:v>1</c:v>
                </c:pt>
              </c:numCache>
            </c:numRef>
          </c:xVal>
          <c:yVal>
            <c:numRef>
              <c:f>'Chart Data'!$J$2:$J$3</c:f>
              <c:numCache>
                <c:formatCode>0.##</c:formatCode>
                <c:ptCount val="2"/>
                <c:pt idx="0">
                  <c:v>2.5</c:v>
                </c:pt>
                <c:pt idx="1">
                  <c:v>2</c:v>
                </c:pt>
              </c:numCache>
            </c:numRef>
          </c:yVal>
          <c:smooth val="0"/>
          <c:extLst>
            <c:ext xmlns:c16="http://schemas.microsoft.com/office/drawing/2014/chart" uri="{C3380CC4-5D6E-409C-BE32-E72D297353CC}">
              <c16:uniqueId val="{00000004-D2D3-4F3C-B9A2-0A07014EAFA7}"/>
            </c:ext>
          </c:extLst>
        </c:ser>
        <c:ser>
          <c:idx val="4"/>
          <c:order val="4"/>
          <c:tx>
            <c:v>Residual 5</c:v>
          </c:tx>
          <c:spPr>
            <a:ln w="19050">
              <a:solidFill>
                <a:srgbClr val="C45C28"/>
              </a:solidFill>
            </a:ln>
          </c:spPr>
          <c:marker>
            <c:symbol val="none"/>
          </c:marker>
          <c:xVal>
            <c:numRef>
              <c:f>'Chart Data'!$K$2:$K$3</c:f>
              <c:numCache>
                <c:formatCode>General</c:formatCode>
                <c:ptCount val="2"/>
                <c:pt idx="0">
                  <c:v>2</c:v>
                </c:pt>
                <c:pt idx="1">
                  <c:v>2</c:v>
                </c:pt>
              </c:numCache>
            </c:numRef>
          </c:xVal>
          <c:yVal>
            <c:numRef>
              <c:f>'Chart Data'!$L$2:$L$3</c:f>
              <c:numCache>
                <c:formatCode>0.##</c:formatCode>
                <c:ptCount val="2"/>
                <c:pt idx="0">
                  <c:v>7.5</c:v>
                </c:pt>
                <c:pt idx="1">
                  <c:v>2</c:v>
                </c:pt>
              </c:numCache>
            </c:numRef>
          </c:yVal>
          <c:smooth val="0"/>
          <c:extLst>
            <c:ext xmlns:c16="http://schemas.microsoft.com/office/drawing/2014/chart" uri="{C3380CC4-5D6E-409C-BE32-E72D297353CC}">
              <c16:uniqueId val="{00000005-D2D3-4F3C-B9A2-0A07014EAFA7}"/>
            </c:ext>
          </c:extLst>
        </c:ser>
        <c:ser>
          <c:idx val="5"/>
          <c:order val="5"/>
          <c:tx>
            <c:v>Predictor</c:v>
          </c:tx>
          <c:spPr>
            <a:ln w="28575">
              <a:solidFill>
                <a:srgbClr val="087F83"/>
              </a:solidFill>
            </a:ln>
          </c:spPr>
          <c:marker>
            <c:symbol val="none"/>
          </c:marker>
          <c:xVal>
            <c:numRef>
              <c:f>'Chart Data'!$M$2:$M$3</c:f>
              <c:numCache>
                <c:formatCode>General</c:formatCode>
                <c:ptCount val="2"/>
                <c:pt idx="0">
                  <c:v>-2.4500000000000002</c:v>
                </c:pt>
                <c:pt idx="1">
                  <c:v>2.4500000000000002</c:v>
                </c:pt>
              </c:numCache>
            </c:numRef>
          </c:xVal>
          <c:yVal>
            <c:numRef>
              <c:f>'Chart Data'!$N$2:$N$3</c:f>
              <c:numCache>
                <c:formatCode>0.##</c:formatCode>
                <c:ptCount val="2"/>
                <c:pt idx="0">
                  <c:v>2</c:v>
                </c:pt>
                <c:pt idx="1">
                  <c:v>2</c:v>
                </c:pt>
              </c:numCache>
            </c:numRef>
          </c:yVal>
          <c:smooth val="0"/>
          <c:extLst>
            <c:ext xmlns:c16="http://schemas.microsoft.com/office/drawing/2014/chart" uri="{C3380CC4-5D6E-409C-BE32-E72D297353CC}">
              <c16:uniqueId val="{00000006-D2D3-4F3C-B9A2-0A07014EAFA7}"/>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Absolute loss</c:v>
          </c:tx>
          <c:spPr>
            <a:ln w="28575">
              <a:solidFill>
                <a:srgbClr val="C45C28"/>
              </a:solidFill>
            </a:ln>
          </c:spPr>
          <c:marker>
            <c:symbol val="none"/>
          </c:marker>
          <c:xVal>
            <c:numRef>
              <c:f>'Chart Data'!$A$2:$A$82</c:f>
              <c:numCache>
                <c:formatCode>General</c:formatCode>
                <c:ptCount val="8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-1.1499999999999999</c:v>
                </c:pt>
                <c:pt idx="18">
                  <c:v>-1.1000000000000001</c:v>
                </c:pt>
                <c:pt idx="19">
                  <c:v>-1.05</c:v>
                </c:pt>
                <c:pt idx="20">
                  <c:v>-1</c:v>
                </c:pt>
                <c:pt idx="21">
                  <c:v>-0.95</c:v>
                </c:pt>
                <c:pt idx="22">
                  <c:v>-0.9</c:v>
                </c:pt>
                <c:pt idx="23">
                  <c:v>-0.85</c:v>
                </c:pt>
                <c:pt idx="24">
                  <c:v>-0.8</c:v>
                </c:pt>
                <c:pt idx="25">
                  <c:v>-0.75</c:v>
                </c:pt>
                <c:pt idx="26">
                  <c:v>-0.7</c:v>
                </c:pt>
                <c:pt idx="27">
                  <c:v>-0.65</c:v>
                </c:pt>
                <c:pt idx="28">
                  <c:v>-0.6</c:v>
                </c:pt>
                <c:pt idx="29">
                  <c:v>-0.55000000000000004</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numCache>
            </c:numRef>
          </c:xVal>
          <c:yVal>
            <c:numRef>
              <c:f>'Chart Data'!$B$2:$B$82</c:f>
              <c:numCache>
                <c:formatCode>0.##</c:formatCode>
                <c:ptCount val="8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1.1499999999999999</c:v>
                </c:pt>
                <c:pt idx="18">
                  <c:v>1.1000000000000001</c:v>
                </c:pt>
                <c:pt idx="19">
                  <c:v>1.05</c:v>
                </c:pt>
                <c:pt idx="20">
                  <c:v>1</c:v>
                </c:pt>
                <c:pt idx="21">
                  <c:v>0.95</c:v>
                </c:pt>
                <c:pt idx="22">
                  <c:v>0.9</c:v>
                </c:pt>
                <c:pt idx="23">
                  <c:v>0.85</c:v>
                </c:pt>
                <c:pt idx="24">
                  <c:v>0.8</c:v>
                </c:pt>
                <c:pt idx="25">
                  <c:v>0.75</c:v>
                </c:pt>
                <c:pt idx="26">
                  <c:v>0.7</c:v>
                </c:pt>
                <c:pt idx="27">
                  <c:v>0.65</c:v>
                </c:pt>
                <c:pt idx="28">
                  <c:v>0.6</c:v>
                </c:pt>
                <c:pt idx="29">
                  <c:v>0.55000000000000004</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numCache>
            </c:numRef>
          </c:yVal>
          <c:smooth val="0"/>
          <c:extLst>
            <c:ext xmlns:c16="http://schemas.microsoft.com/office/drawing/2014/chart" uri="{C3380CC4-5D6E-409C-BE32-E72D297353CC}">
              <c16:uniqueId val="{00000000-EC49-416D-A0D6-BDFA8458F6A2}"/>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9525">
              <a:solidFill>
                <a:srgbClr val="E8EDF2"/>
              </a:solidFill>
            </a:ln>
          </c:spPr>
        </c:majorGridlines>
        <c:title>
          <c:tx>
            <c:rich>
              <a:bodyPr/>
              <a:lstStyle/>
              <a:p>
                <a:r>
                  <a:rPr lang="it-IT">
                    <a:latin typeface="DejaVu Sans"/>
                    <a:ea typeface="DejaVu Sans"/>
                    <a:cs typeface="DejaVu Sans"/>
                  </a:rPr>
                  <a:t>Penalty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1"/>
      </c:valAx>
      <c:valAx>
        <c:axId val="48650112"/>
        <c:scaling>
          <c:orientation val="minMax"/>
          <c:max val="2"/>
          <c:min val="-2"/>
        </c:scaling>
        <c:delete val="0"/>
        <c:axPos val="b"/>
        <c:title>
          <c:tx>
            <c:rich>
              <a:bodyPr/>
              <a:lstStyle/>
              <a:p>
                <a:r>
                  <a:rPr lang="it-IT">
                    <a:latin typeface="DejaVu Sans"/>
                    <a:ea typeface="DejaVu Sans"/>
                    <a:cs typeface="DejaVu Sans"/>
                  </a:rPr>
                  <a:t>Residual</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Absolute loss</c:v>
          </c:tx>
          <c:spPr>
            <a:ln w="28575">
              <a:solidFill>
                <a:srgbClr val="C45C28"/>
              </a:solidFill>
            </a:ln>
          </c:spPr>
          <c:marker>
            <c:symbol val="none"/>
          </c:marker>
          <c:xVal>
            <c:numRef>
              <c:f>'Chart Data'!$A$2:$A$82</c:f>
              <c:numCache>
                <c:formatCode>General</c:formatCode>
                <c:ptCount val="8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-1.1499999999999999</c:v>
                </c:pt>
                <c:pt idx="18">
                  <c:v>-1.1000000000000001</c:v>
                </c:pt>
                <c:pt idx="19">
                  <c:v>-1.05</c:v>
                </c:pt>
                <c:pt idx="20">
                  <c:v>-1</c:v>
                </c:pt>
                <c:pt idx="21">
                  <c:v>-0.95</c:v>
                </c:pt>
                <c:pt idx="22">
                  <c:v>-0.9</c:v>
                </c:pt>
                <c:pt idx="23">
                  <c:v>-0.85</c:v>
                </c:pt>
                <c:pt idx="24">
                  <c:v>-0.8</c:v>
                </c:pt>
                <c:pt idx="25">
                  <c:v>-0.75</c:v>
                </c:pt>
                <c:pt idx="26">
                  <c:v>-0.7</c:v>
                </c:pt>
                <c:pt idx="27">
                  <c:v>-0.65</c:v>
                </c:pt>
                <c:pt idx="28">
                  <c:v>-0.6</c:v>
                </c:pt>
                <c:pt idx="29">
                  <c:v>-0.55000000000000004</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numCache>
            </c:numRef>
          </c:xVal>
          <c:yVal>
            <c:numRef>
              <c:f>'Chart Data'!$B$2:$B$82</c:f>
              <c:numCache>
                <c:formatCode>0.##</c:formatCode>
                <c:ptCount val="8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1.1499999999999999</c:v>
                </c:pt>
                <c:pt idx="18">
                  <c:v>1.1000000000000001</c:v>
                </c:pt>
                <c:pt idx="19">
                  <c:v>1.05</c:v>
                </c:pt>
                <c:pt idx="20">
                  <c:v>1</c:v>
                </c:pt>
                <c:pt idx="21">
                  <c:v>0.95</c:v>
                </c:pt>
                <c:pt idx="22">
                  <c:v>0.9</c:v>
                </c:pt>
                <c:pt idx="23">
                  <c:v>0.85</c:v>
                </c:pt>
                <c:pt idx="24">
                  <c:v>0.8</c:v>
                </c:pt>
                <c:pt idx="25">
                  <c:v>0.75</c:v>
                </c:pt>
                <c:pt idx="26">
                  <c:v>0.7</c:v>
                </c:pt>
                <c:pt idx="27">
                  <c:v>0.65</c:v>
                </c:pt>
                <c:pt idx="28">
                  <c:v>0.6</c:v>
                </c:pt>
                <c:pt idx="29">
                  <c:v>0.55000000000000004</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numCache>
            </c:numRef>
          </c:yVal>
          <c:smooth val="0"/>
          <c:extLst>
            <c:ext xmlns:c16="http://schemas.microsoft.com/office/drawing/2014/chart" uri="{C3380CC4-5D6E-409C-BE32-E72D297353CC}">
              <c16:uniqueId val="{00000000-2995-44D9-9EAA-EFE9B3558FA0}"/>
            </c:ext>
          </c:extLst>
        </c:ser>
        <c:ser>
          <c:idx val="1"/>
          <c:order val="1"/>
          <c:tx>
            <c:v>Squared loss</c:v>
          </c:tx>
          <c:spPr>
            <a:ln w="28575">
              <a:solidFill>
                <a:srgbClr val="087F83"/>
              </a:solidFill>
            </a:ln>
          </c:spPr>
          <c:marker>
            <c:symbol val="none"/>
          </c:marker>
          <c:xVal>
            <c:numRef>
              <c:f>'Chart Data'!$C$2:$C$82</c:f>
              <c:numCache>
                <c:formatCode>General</c:formatCode>
                <c:ptCount val="8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-1.1499999999999999</c:v>
                </c:pt>
                <c:pt idx="18">
                  <c:v>-1.1000000000000001</c:v>
                </c:pt>
                <c:pt idx="19">
                  <c:v>-1.05</c:v>
                </c:pt>
                <c:pt idx="20">
                  <c:v>-1</c:v>
                </c:pt>
                <c:pt idx="21">
                  <c:v>-0.95</c:v>
                </c:pt>
                <c:pt idx="22">
                  <c:v>-0.9</c:v>
                </c:pt>
                <c:pt idx="23">
                  <c:v>-0.85</c:v>
                </c:pt>
                <c:pt idx="24">
                  <c:v>-0.8</c:v>
                </c:pt>
                <c:pt idx="25">
                  <c:v>-0.75</c:v>
                </c:pt>
                <c:pt idx="26">
                  <c:v>-0.7</c:v>
                </c:pt>
                <c:pt idx="27">
                  <c:v>-0.65</c:v>
                </c:pt>
                <c:pt idx="28">
                  <c:v>-0.6</c:v>
                </c:pt>
                <c:pt idx="29">
                  <c:v>-0.55000000000000004</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0.55000000000000004</c:v>
                </c:pt>
                <c:pt idx="52">
                  <c:v>0.6</c:v>
                </c:pt>
                <c:pt idx="53">
                  <c:v>0.65</c:v>
                </c:pt>
                <c:pt idx="54">
                  <c:v>0.7</c:v>
                </c:pt>
                <c:pt idx="55">
                  <c:v>0.75</c:v>
                </c:pt>
                <c:pt idx="56">
                  <c:v>0.8</c:v>
                </c:pt>
                <c:pt idx="57">
                  <c:v>0.85</c:v>
                </c:pt>
                <c:pt idx="58">
                  <c:v>0.9</c:v>
                </c:pt>
                <c:pt idx="59">
                  <c:v>0.95</c:v>
                </c:pt>
                <c:pt idx="60">
                  <c:v>1</c:v>
                </c:pt>
                <c:pt idx="61">
                  <c:v>1.05</c:v>
                </c:pt>
                <c:pt idx="62">
                  <c:v>1.1000000000000001</c:v>
                </c:pt>
                <c:pt idx="63">
                  <c:v>1.1499999999999999</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numCache>
            </c:numRef>
          </c:xVal>
          <c:yVal>
            <c:numRef>
              <c:f>'Chart Data'!$D$2:$D$82</c:f>
              <c:numCache>
                <c:formatCode>0.##</c:formatCode>
                <c:ptCount val="81"/>
                <c:pt idx="0">
                  <c:v>4</c:v>
                </c:pt>
                <c:pt idx="1">
                  <c:v>3.8025000000000002</c:v>
                </c:pt>
                <c:pt idx="2">
                  <c:v>3.61</c:v>
                </c:pt>
                <c:pt idx="3">
                  <c:v>3.4224999999999999</c:v>
                </c:pt>
                <c:pt idx="4">
                  <c:v>3.24</c:v>
                </c:pt>
                <c:pt idx="5">
                  <c:v>3.0625</c:v>
                </c:pt>
                <c:pt idx="6">
                  <c:v>2.89</c:v>
                </c:pt>
                <c:pt idx="7">
                  <c:v>2.7225000000000001</c:v>
                </c:pt>
                <c:pt idx="8">
                  <c:v>2.56</c:v>
                </c:pt>
                <c:pt idx="9">
                  <c:v>2.4024999999999999</c:v>
                </c:pt>
                <c:pt idx="10">
                  <c:v>2.25</c:v>
                </c:pt>
                <c:pt idx="11">
                  <c:v>2.1025</c:v>
                </c:pt>
                <c:pt idx="12">
                  <c:v>1.96</c:v>
                </c:pt>
                <c:pt idx="13">
                  <c:v>1.8225</c:v>
                </c:pt>
                <c:pt idx="14">
                  <c:v>1.69</c:v>
                </c:pt>
                <c:pt idx="15">
                  <c:v>1.5625</c:v>
                </c:pt>
                <c:pt idx="16">
                  <c:v>1.44</c:v>
                </c:pt>
                <c:pt idx="17">
                  <c:v>1.3225</c:v>
                </c:pt>
                <c:pt idx="18">
                  <c:v>1.21</c:v>
                </c:pt>
                <c:pt idx="19">
                  <c:v>1.1025</c:v>
                </c:pt>
                <c:pt idx="20">
                  <c:v>1</c:v>
                </c:pt>
                <c:pt idx="21">
                  <c:v>0.90249999999999997</c:v>
                </c:pt>
                <c:pt idx="22">
                  <c:v>0.81</c:v>
                </c:pt>
                <c:pt idx="23">
                  <c:v>0.72250000000000003</c:v>
                </c:pt>
                <c:pt idx="24">
                  <c:v>0.64</c:v>
                </c:pt>
                <c:pt idx="25">
                  <c:v>0.5625</c:v>
                </c:pt>
                <c:pt idx="26">
                  <c:v>0.49</c:v>
                </c:pt>
                <c:pt idx="27">
                  <c:v>0.42249999999999999</c:v>
                </c:pt>
                <c:pt idx="28">
                  <c:v>0.36</c:v>
                </c:pt>
                <c:pt idx="29">
                  <c:v>0.30249999999999999</c:v>
                </c:pt>
                <c:pt idx="30">
                  <c:v>0.25</c:v>
                </c:pt>
                <c:pt idx="31">
                  <c:v>0.20250000000000001</c:v>
                </c:pt>
                <c:pt idx="32">
                  <c:v>0.16</c:v>
                </c:pt>
                <c:pt idx="33">
                  <c:v>0.1225</c:v>
                </c:pt>
                <c:pt idx="34">
                  <c:v>0.09</c:v>
                </c:pt>
                <c:pt idx="35">
                  <c:v>6.25E-2</c:v>
                </c:pt>
                <c:pt idx="36">
                  <c:v>0.04</c:v>
                </c:pt>
                <c:pt idx="37">
                  <c:v>2.2499999999999999E-2</c:v>
                </c:pt>
                <c:pt idx="38">
                  <c:v>0.01</c:v>
                </c:pt>
                <c:pt idx="39">
                  <c:v>2.5000000000000001E-3</c:v>
                </c:pt>
                <c:pt idx="40">
                  <c:v>0</c:v>
                </c:pt>
                <c:pt idx="41">
                  <c:v>2.5000000000000001E-3</c:v>
                </c:pt>
                <c:pt idx="42">
                  <c:v>0.01</c:v>
                </c:pt>
                <c:pt idx="43">
                  <c:v>2.2499999999999999E-2</c:v>
                </c:pt>
                <c:pt idx="44">
                  <c:v>0.04</c:v>
                </c:pt>
                <c:pt idx="45">
                  <c:v>6.25E-2</c:v>
                </c:pt>
                <c:pt idx="46">
                  <c:v>0.09</c:v>
                </c:pt>
                <c:pt idx="47">
                  <c:v>0.1225</c:v>
                </c:pt>
                <c:pt idx="48">
                  <c:v>0.16</c:v>
                </c:pt>
                <c:pt idx="49">
                  <c:v>0.20250000000000001</c:v>
                </c:pt>
                <c:pt idx="50">
                  <c:v>0.25</c:v>
                </c:pt>
                <c:pt idx="51">
                  <c:v>0.30249999999999999</c:v>
                </c:pt>
                <c:pt idx="52">
                  <c:v>0.36</c:v>
                </c:pt>
                <c:pt idx="53">
                  <c:v>0.42249999999999999</c:v>
                </c:pt>
                <c:pt idx="54">
                  <c:v>0.49</c:v>
                </c:pt>
                <c:pt idx="55">
                  <c:v>0.5625</c:v>
                </c:pt>
                <c:pt idx="56">
                  <c:v>0.64</c:v>
                </c:pt>
                <c:pt idx="57">
                  <c:v>0.72250000000000003</c:v>
                </c:pt>
                <c:pt idx="58">
                  <c:v>0.81</c:v>
                </c:pt>
                <c:pt idx="59">
                  <c:v>0.90249999999999997</c:v>
                </c:pt>
                <c:pt idx="60">
                  <c:v>1</c:v>
                </c:pt>
                <c:pt idx="61">
                  <c:v>1.1025</c:v>
                </c:pt>
                <c:pt idx="62">
                  <c:v>1.21</c:v>
                </c:pt>
                <c:pt idx="63">
                  <c:v>1.3225</c:v>
                </c:pt>
                <c:pt idx="64">
                  <c:v>1.44</c:v>
                </c:pt>
                <c:pt idx="65">
                  <c:v>1.5625</c:v>
                </c:pt>
                <c:pt idx="66">
                  <c:v>1.69</c:v>
                </c:pt>
                <c:pt idx="67">
                  <c:v>1.8225</c:v>
                </c:pt>
                <c:pt idx="68">
                  <c:v>1.96</c:v>
                </c:pt>
                <c:pt idx="69">
                  <c:v>2.1025</c:v>
                </c:pt>
                <c:pt idx="70">
                  <c:v>2.25</c:v>
                </c:pt>
                <c:pt idx="71">
                  <c:v>2.4024999999999999</c:v>
                </c:pt>
                <c:pt idx="72">
                  <c:v>2.56</c:v>
                </c:pt>
                <c:pt idx="73">
                  <c:v>2.7225000000000001</c:v>
                </c:pt>
                <c:pt idx="74">
                  <c:v>2.89</c:v>
                </c:pt>
                <c:pt idx="75">
                  <c:v>3.0625</c:v>
                </c:pt>
                <c:pt idx="76">
                  <c:v>3.24</c:v>
                </c:pt>
                <c:pt idx="77">
                  <c:v>3.4224999999999999</c:v>
                </c:pt>
                <c:pt idx="78">
                  <c:v>3.61</c:v>
                </c:pt>
                <c:pt idx="79">
                  <c:v>3.8025000000000002</c:v>
                </c:pt>
                <c:pt idx="80">
                  <c:v>4</c:v>
                </c:pt>
              </c:numCache>
            </c:numRef>
          </c:yVal>
          <c:smooth val="0"/>
          <c:extLst>
            <c:ext xmlns:c16="http://schemas.microsoft.com/office/drawing/2014/chart" uri="{C3380CC4-5D6E-409C-BE32-E72D297353CC}">
              <c16:uniqueId val="{00000001-2995-44D9-9EAA-EFE9B3558FA0}"/>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9525">
              <a:solidFill>
                <a:srgbClr val="E8EDF2"/>
              </a:solidFill>
            </a:ln>
          </c:spPr>
        </c:majorGridlines>
        <c:title>
          <c:tx>
            <c:rich>
              <a:bodyPr/>
              <a:lstStyle/>
              <a:p>
                <a:r>
                  <a:rPr lang="it-IT">
                    <a:latin typeface="DejaVu Sans"/>
                    <a:ea typeface="DejaVu Sans"/>
                    <a:cs typeface="DejaVu Sans"/>
                  </a:rPr>
                  <a:t>Penalty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1"/>
      </c:valAx>
      <c:valAx>
        <c:axId val="48650112"/>
        <c:scaling>
          <c:orientation val="minMax"/>
          <c:max val="2"/>
          <c:min val="-2"/>
        </c:scaling>
        <c:delete val="0"/>
        <c:axPos val="b"/>
        <c:title>
          <c:tx>
            <c:rich>
              <a:bodyPr/>
              <a:lstStyle/>
              <a:p>
                <a:r>
                  <a:rPr lang="it-IT">
                    <a:latin typeface="DejaVu Sans"/>
                    <a:ea typeface="DejaVu Sans"/>
                    <a:cs typeface="DejaVu Sans"/>
                  </a:rPr>
                  <a:t>Residual</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E4C2-418B-8476-1D51DD1559F7}"/>
            </c:ext>
          </c:extLst>
        </c:ser>
        <c:ser>
          <c:idx val="2"/>
          <c:order val="2"/>
          <c:tx>
            <c:v>Residual 1</c:v>
          </c:tx>
          <c:spPr>
            <a:ln w="19050">
              <a:solidFill>
                <a:srgbClr val="C45C28"/>
              </a:solidFill>
            </a:ln>
          </c:spPr>
          <c:marker>
            <c:symbol val="none"/>
          </c:marker>
          <c:xVal>
            <c:numRef>
              <c:f>'Chart Data'!$E$2:$E$3</c:f>
              <c:numCache>
                <c:formatCode>General</c:formatCode>
                <c:ptCount val="2"/>
                <c:pt idx="0">
                  <c:v>-2</c:v>
                </c:pt>
                <c:pt idx="1">
                  <c:v>-2</c:v>
                </c:pt>
              </c:numCache>
            </c:numRef>
          </c:xVal>
          <c:yVal>
            <c:numRef>
              <c:f>'Chart Data'!$F$2:$F$3</c:f>
              <c:numCache>
                <c:formatCode>0.##</c:formatCode>
                <c:ptCount val="2"/>
                <c:pt idx="0">
                  <c:v>0</c:v>
                </c:pt>
                <c:pt idx="1">
                  <c:v>-1.5</c:v>
                </c:pt>
              </c:numCache>
            </c:numRef>
          </c:yVal>
          <c:smooth val="0"/>
          <c:extLst>
            <c:ext xmlns:c16="http://schemas.microsoft.com/office/drawing/2014/chart" uri="{C3380CC4-5D6E-409C-BE32-E72D297353CC}">
              <c16:uniqueId val="{00000001-E4C2-418B-8476-1D51DD1559F7}"/>
            </c:ext>
          </c:extLst>
        </c:ser>
        <c:ser>
          <c:idx val="3"/>
          <c:order val="3"/>
          <c:tx>
            <c:v>Residual 2</c:v>
          </c:tx>
          <c:spPr>
            <a:ln w="19050">
              <a:solidFill>
                <a:srgbClr val="C45C28"/>
              </a:solidFill>
            </a:ln>
          </c:spPr>
          <c:marker>
            <c:symbol val="none"/>
          </c:marker>
          <c:xVal>
            <c:numRef>
              <c:f>'Chart Data'!$G$2:$G$3</c:f>
              <c:numCache>
                <c:formatCode>General</c:formatCode>
                <c:ptCount val="2"/>
                <c:pt idx="0">
                  <c:v>-1</c:v>
                </c:pt>
                <c:pt idx="1">
                  <c:v>-1</c:v>
                </c:pt>
              </c:numCache>
            </c:numRef>
          </c:xVal>
          <c:yVal>
            <c:numRef>
              <c:f>'Chart Data'!$H$2:$H$3</c:f>
              <c:numCache>
                <c:formatCode>0.##</c:formatCode>
                <c:ptCount val="2"/>
                <c:pt idx="0">
                  <c:v>0</c:v>
                </c:pt>
                <c:pt idx="1">
                  <c:v>0.5</c:v>
                </c:pt>
              </c:numCache>
            </c:numRef>
          </c:yVal>
          <c:smooth val="0"/>
          <c:extLst>
            <c:ext xmlns:c16="http://schemas.microsoft.com/office/drawing/2014/chart" uri="{C3380CC4-5D6E-409C-BE32-E72D297353CC}">
              <c16:uniqueId val="{00000002-E4C2-418B-8476-1D51DD1559F7}"/>
            </c:ext>
          </c:extLst>
        </c:ser>
        <c:ser>
          <c:idx val="4"/>
          <c:order val="4"/>
          <c:tx>
            <c:v>Residual 3</c:v>
          </c:tx>
          <c:spPr>
            <a:ln w="19050">
              <a:solidFill>
                <a:srgbClr val="C45C28"/>
              </a:solidFill>
            </a:ln>
          </c:spPr>
          <c:marker>
            <c:symbol val="none"/>
          </c:marker>
          <c:xVal>
            <c:numRef>
              <c:f>'Chart Data'!$I$2:$I$3</c:f>
              <c:numCache>
                <c:formatCode>General</c:formatCode>
                <c:ptCount val="2"/>
                <c:pt idx="0">
                  <c:v>0</c:v>
                </c:pt>
                <c:pt idx="1">
                  <c:v>0</c:v>
                </c:pt>
              </c:numCache>
            </c:numRef>
          </c:xVal>
          <c:yVal>
            <c:numRef>
              <c:f>'Chart Data'!$J$2:$J$3</c:f>
              <c:numCache>
                <c:formatCode>0.##</c:formatCode>
                <c:ptCount val="2"/>
                <c:pt idx="0">
                  <c:v>0</c:v>
                </c:pt>
                <c:pt idx="1">
                  <c:v>1</c:v>
                </c:pt>
              </c:numCache>
            </c:numRef>
          </c:yVal>
          <c:smooth val="0"/>
          <c:extLst>
            <c:ext xmlns:c16="http://schemas.microsoft.com/office/drawing/2014/chart" uri="{C3380CC4-5D6E-409C-BE32-E72D297353CC}">
              <c16:uniqueId val="{00000003-E4C2-418B-8476-1D51DD1559F7}"/>
            </c:ext>
          </c:extLst>
        </c:ser>
        <c:ser>
          <c:idx val="5"/>
          <c:order val="5"/>
          <c:tx>
            <c:v>Residual 4</c:v>
          </c:tx>
          <c:spPr>
            <a:ln w="19050">
              <a:solidFill>
                <a:srgbClr val="C45C28"/>
              </a:solidFill>
            </a:ln>
          </c:spPr>
          <c:marker>
            <c:symbol val="none"/>
          </c:marker>
          <c:xVal>
            <c:numRef>
              <c:f>'Chart Data'!$K$2:$K$3</c:f>
              <c:numCache>
                <c:formatCode>General</c:formatCode>
                <c:ptCount val="2"/>
                <c:pt idx="0">
                  <c:v>1</c:v>
                </c:pt>
                <c:pt idx="1">
                  <c:v>1</c:v>
                </c:pt>
              </c:numCache>
            </c:numRef>
          </c:xVal>
          <c:yVal>
            <c:numRef>
              <c:f>'Chart Data'!$L$2:$L$3</c:f>
              <c:numCache>
                <c:formatCode>0.##</c:formatCode>
                <c:ptCount val="2"/>
                <c:pt idx="0">
                  <c:v>0</c:v>
                </c:pt>
                <c:pt idx="1">
                  <c:v>2.5</c:v>
                </c:pt>
              </c:numCache>
            </c:numRef>
          </c:yVal>
          <c:smooth val="0"/>
          <c:extLst>
            <c:ext xmlns:c16="http://schemas.microsoft.com/office/drawing/2014/chart" uri="{C3380CC4-5D6E-409C-BE32-E72D297353CC}">
              <c16:uniqueId val="{00000004-E4C2-418B-8476-1D51DD1559F7}"/>
            </c:ext>
          </c:extLst>
        </c:ser>
        <c:ser>
          <c:idx val="6"/>
          <c:order val="6"/>
          <c:tx>
            <c:v>Residual 5</c:v>
          </c:tx>
          <c:spPr>
            <a:ln w="19050">
              <a:solidFill>
                <a:srgbClr val="C45C28"/>
              </a:solidFill>
            </a:ln>
          </c:spPr>
          <c:marker>
            <c:symbol val="none"/>
          </c:marker>
          <c:xVal>
            <c:numRef>
              <c:f>'Chart Data'!$M$2:$M$3</c:f>
              <c:numCache>
                <c:formatCode>General</c:formatCode>
                <c:ptCount val="2"/>
                <c:pt idx="0">
                  <c:v>2</c:v>
                </c:pt>
                <c:pt idx="1">
                  <c:v>2</c:v>
                </c:pt>
              </c:numCache>
            </c:numRef>
          </c:xVal>
          <c:yVal>
            <c:numRef>
              <c:f>'Chart Data'!$N$2:$N$3</c:f>
              <c:numCache>
                <c:formatCode>0.##</c:formatCode>
                <c:ptCount val="2"/>
                <c:pt idx="0">
                  <c:v>0</c:v>
                </c:pt>
                <c:pt idx="1">
                  <c:v>7.5</c:v>
                </c:pt>
              </c:numCache>
            </c:numRef>
          </c:yVal>
          <c:smooth val="0"/>
          <c:extLst>
            <c:ext xmlns:c16="http://schemas.microsoft.com/office/drawing/2014/chart" uri="{C3380CC4-5D6E-409C-BE32-E72D297353CC}">
              <c16:uniqueId val="{00000005-E4C2-418B-8476-1D51DD1559F7}"/>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0</c:v>
                </c:pt>
                <c:pt idx="1">
                  <c:v>0</c:v>
                </c:pt>
              </c:numCache>
            </c:numRef>
          </c:yVal>
          <c:smooth val="0"/>
          <c:extLst>
            <c:ext xmlns:c16="http://schemas.microsoft.com/office/drawing/2014/chart" uri="{C3380CC4-5D6E-409C-BE32-E72D297353CC}">
              <c16:uniqueId val="{00000006-E4C2-418B-8476-1D51DD1559F7}"/>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Empirical loss</c:v>
          </c:tx>
          <c:spPr>
            <a:ln w="28575">
              <a:solidFill>
                <a:srgbClr val="087F83"/>
              </a:solidFill>
            </a:ln>
          </c:spPr>
          <c:marker>
            <c:symbol val="none"/>
          </c:marker>
          <c:xVal>
            <c:numRef>
              <c:f>'Chart Data'!$A$2:$A$62</c:f>
              <c:numCache>
                <c:formatCode>General</c:formatCode>
                <c:ptCount val="61"/>
                <c:pt idx="0">
                  <c:v>-1</c:v>
                </c:pt>
                <c:pt idx="1">
                  <c:v>-0.9</c:v>
                </c:pt>
                <c:pt idx="2">
                  <c:v>-0.8</c:v>
                </c:pt>
                <c:pt idx="3">
                  <c:v>-0.7</c:v>
                </c:pt>
                <c:pt idx="4">
                  <c:v>-0.6</c:v>
                </c:pt>
                <c:pt idx="5">
                  <c:v>-0.5</c:v>
                </c:pt>
                <c:pt idx="6">
                  <c:v>-0.4</c:v>
                </c:pt>
                <c:pt idx="7">
                  <c:v>-0.3</c:v>
                </c:pt>
                <c:pt idx="8">
                  <c:v>-0.2</c:v>
                </c:pt>
                <c:pt idx="9">
                  <c:v>-0.1</c:v>
                </c:pt>
                <c:pt idx="10">
                  <c:v>0</c:v>
                </c:pt>
                <c:pt idx="11">
                  <c:v>0.1</c:v>
                </c:pt>
                <c:pt idx="12">
                  <c:v>0.2</c:v>
                </c:pt>
                <c:pt idx="13">
                  <c:v>0.3</c:v>
                </c:pt>
                <c:pt idx="14">
                  <c:v>0.4</c:v>
                </c:pt>
                <c:pt idx="15">
                  <c:v>0.5</c:v>
                </c:pt>
                <c:pt idx="16">
                  <c:v>0.6</c:v>
                </c:pt>
                <c:pt idx="17">
                  <c:v>0.7</c:v>
                </c:pt>
                <c:pt idx="18">
                  <c:v>0.8</c:v>
                </c:pt>
                <c:pt idx="19">
                  <c:v>0.9</c:v>
                </c:pt>
                <c:pt idx="20">
                  <c:v>1</c:v>
                </c:pt>
                <c:pt idx="21">
                  <c:v>1.1000000000000001</c:v>
                </c:pt>
                <c:pt idx="22">
                  <c:v>1.2</c:v>
                </c:pt>
                <c:pt idx="23">
                  <c:v>1.3</c:v>
                </c:pt>
                <c:pt idx="24">
                  <c:v>1.4</c:v>
                </c:pt>
                <c:pt idx="25">
                  <c:v>1.5</c:v>
                </c:pt>
                <c:pt idx="26">
                  <c:v>1.6</c:v>
                </c:pt>
                <c:pt idx="27">
                  <c:v>1.7</c:v>
                </c:pt>
                <c:pt idx="28">
                  <c:v>1.8</c:v>
                </c:pt>
                <c:pt idx="29">
                  <c:v>1.9</c:v>
                </c:pt>
                <c:pt idx="30">
                  <c:v>2</c:v>
                </c:pt>
                <c:pt idx="31">
                  <c:v>2.1</c:v>
                </c:pt>
                <c:pt idx="32">
                  <c:v>2.2000000000000002</c:v>
                </c:pt>
                <c:pt idx="33">
                  <c:v>2.2999999999999998</c:v>
                </c:pt>
                <c:pt idx="34">
                  <c:v>2.4</c:v>
                </c:pt>
                <c:pt idx="35">
                  <c:v>2.5</c:v>
                </c:pt>
                <c:pt idx="36">
                  <c:v>2.6</c:v>
                </c:pt>
                <c:pt idx="37">
                  <c:v>2.7</c:v>
                </c:pt>
                <c:pt idx="38">
                  <c:v>2.8</c:v>
                </c:pt>
                <c:pt idx="39">
                  <c:v>2.9</c:v>
                </c:pt>
                <c:pt idx="40">
                  <c:v>3</c:v>
                </c:pt>
                <c:pt idx="41">
                  <c:v>3.1</c:v>
                </c:pt>
                <c:pt idx="42">
                  <c:v>3.2</c:v>
                </c:pt>
                <c:pt idx="43">
                  <c:v>3.3</c:v>
                </c:pt>
                <c:pt idx="44">
                  <c:v>3.4</c:v>
                </c:pt>
                <c:pt idx="45">
                  <c:v>3.5</c:v>
                </c:pt>
                <c:pt idx="46">
                  <c:v>3.6</c:v>
                </c:pt>
                <c:pt idx="47">
                  <c:v>3.7</c:v>
                </c:pt>
                <c:pt idx="48">
                  <c:v>3.8</c:v>
                </c:pt>
                <c:pt idx="49">
                  <c:v>3.9</c:v>
                </c:pt>
                <c:pt idx="50">
                  <c:v>4</c:v>
                </c:pt>
                <c:pt idx="51">
                  <c:v>4.0999999999999996</c:v>
                </c:pt>
                <c:pt idx="52">
                  <c:v>4.2</c:v>
                </c:pt>
                <c:pt idx="53">
                  <c:v>4.3</c:v>
                </c:pt>
                <c:pt idx="54">
                  <c:v>4.4000000000000004</c:v>
                </c:pt>
                <c:pt idx="55">
                  <c:v>4.5</c:v>
                </c:pt>
                <c:pt idx="56">
                  <c:v>4.5999999999999996</c:v>
                </c:pt>
                <c:pt idx="57">
                  <c:v>4.7</c:v>
                </c:pt>
                <c:pt idx="58">
                  <c:v>4.8</c:v>
                </c:pt>
                <c:pt idx="59">
                  <c:v>4.9000000000000004</c:v>
                </c:pt>
                <c:pt idx="60">
                  <c:v>5</c:v>
                </c:pt>
              </c:numCache>
            </c:numRef>
          </c:xVal>
          <c:yVal>
            <c:numRef>
              <c:f>'Chart Data'!$B$2:$B$62</c:f>
              <c:numCache>
                <c:formatCode>0.##</c:formatCode>
                <c:ptCount val="61"/>
                <c:pt idx="0">
                  <c:v>91</c:v>
                </c:pt>
                <c:pt idx="1">
                  <c:v>88.05</c:v>
                </c:pt>
                <c:pt idx="2">
                  <c:v>85.2</c:v>
                </c:pt>
                <c:pt idx="3">
                  <c:v>82.45</c:v>
                </c:pt>
                <c:pt idx="4">
                  <c:v>79.8</c:v>
                </c:pt>
                <c:pt idx="5">
                  <c:v>77.25</c:v>
                </c:pt>
                <c:pt idx="6">
                  <c:v>74.8</c:v>
                </c:pt>
                <c:pt idx="7">
                  <c:v>72.45</c:v>
                </c:pt>
                <c:pt idx="8">
                  <c:v>70.2</c:v>
                </c:pt>
                <c:pt idx="9">
                  <c:v>68.05</c:v>
                </c:pt>
                <c:pt idx="10">
                  <c:v>66</c:v>
                </c:pt>
                <c:pt idx="11">
                  <c:v>64.05</c:v>
                </c:pt>
                <c:pt idx="12">
                  <c:v>62.2</c:v>
                </c:pt>
                <c:pt idx="13">
                  <c:v>60.45</c:v>
                </c:pt>
                <c:pt idx="14">
                  <c:v>58.8</c:v>
                </c:pt>
                <c:pt idx="15">
                  <c:v>57.25</c:v>
                </c:pt>
                <c:pt idx="16">
                  <c:v>55.8</c:v>
                </c:pt>
                <c:pt idx="17">
                  <c:v>54.45</c:v>
                </c:pt>
                <c:pt idx="18">
                  <c:v>53.2</c:v>
                </c:pt>
                <c:pt idx="19">
                  <c:v>52.05</c:v>
                </c:pt>
                <c:pt idx="20">
                  <c:v>51</c:v>
                </c:pt>
                <c:pt idx="21">
                  <c:v>50.05</c:v>
                </c:pt>
                <c:pt idx="22">
                  <c:v>49.2</c:v>
                </c:pt>
                <c:pt idx="23">
                  <c:v>48.45</c:v>
                </c:pt>
                <c:pt idx="24">
                  <c:v>47.8</c:v>
                </c:pt>
                <c:pt idx="25">
                  <c:v>47.25</c:v>
                </c:pt>
                <c:pt idx="26">
                  <c:v>46.8</c:v>
                </c:pt>
                <c:pt idx="27">
                  <c:v>46.45</c:v>
                </c:pt>
                <c:pt idx="28">
                  <c:v>46.2</c:v>
                </c:pt>
                <c:pt idx="29">
                  <c:v>46.05</c:v>
                </c:pt>
                <c:pt idx="30">
                  <c:v>46</c:v>
                </c:pt>
                <c:pt idx="31">
                  <c:v>46.05</c:v>
                </c:pt>
                <c:pt idx="32">
                  <c:v>46.2</c:v>
                </c:pt>
                <c:pt idx="33">
                  <c:v>46.45</c:v>
                </c:pt>
                <c:pt idx="34">
                  <c:v>46.8</c:v>
                </c:pt>
                <c:pt idx="35">
                  <c:v>47.25</c:v>
                </c:pt>
                <c:pt idx="36">
                  <c:v>47.8</c:v>
                </c:pt>
                <c:pt idx="37">
                  <c:v>48.45</c:v>
                </c:pt>
                <c:pt idx="38">
                  <c:v>49.2</c:v>
                </c:pt>
                <c:pt idx="39">
                  <c:v>50.05</c:v>
                </c:pt>
                <c:pt idx="40">
                  <c:v>51</c:v>
                </c:pt>
                <c:pt idx="41">
                  <c:v>52.05</c:v>
                </c:pt>
                <c:pt idx="42">
                  <c:v>53.2</c:v>
                </c:pt>
                <c:pt idx="43">
                  <c:v>54.45</c:v>
                </c:pt>
                <c:pt idx="44">
                  <c:v>55.8</c:v>
                </c:pt>
                <c:pt idx="45">
                  <c:v>57.25</c:v>
                </c:pt>
                <c:pt idx="46">
                  <c:v>58.8</c:v>
                </c:pt>
                <c:pt idx="47">
                  <c:v>60.45</c:v>
                </c:pt>
                <c:pt idx="48">
                  <c:v>62.2</c:v>
                </c:pt>
                <c:pt idx="49">
                  <c:v>64.05</c:v>
                </c:pt>
                <c:pt idx="50">
                  <c:v>66</c:v>
                </c:pt>
                <c:pt idx="51">
                  <c:v>68.05</c:v>
                </c:pt>
                <c:pt idx="52">
                  <c:v>70.2</c:v>
                </c:pt>
                <c:pt idx="53">
                  <c:v>72.45</c:v>
                </c:pt>
                <c:pt idx="54">
                  <c:v>74.8</c:v>
                </c:pt>
                <c:pt idx="55">
                  <c:v>77.25</c:v>
                </c:pt>
                <c:pt idx="56">
                  <c:v>79.8</c:v>
                </c:pt>
                <c:pt idx="57">
                  <c:v>82.45</c:v>
                </c:pt>
                <c:pt idx="58">
                  <c:v>85.2</c:v>
                </c:pt>
                <c:pt idx="59">
                  <c:v>88.05</c:v>
                </c:pt>
                <c:pt idx="60">
                  <c:v>91</c:v>
                </c:pt>
              </c:numCache>
            </c:numRef>
          </c:yVal>
          <c:smooth val="0"/>
          <c:extLst>
            <c:ext xmlns:c16="http://schemas.microsoft.com/office/drawing/2014/chart" uri="{C3380CC4-5D6E-409C-BE32-E72D297353CC}">
              <c16:uniqueId val="{00000000-ACB7-4149-A3E6-1B546642B833}"/>
            </c:ext>
          </c:extLst>
        </c:ser>
        <c:ser>
          <c:idx val="2"/>
          <c:order val="2"/>
          <c:tx>
            <c:v>Squared loss at b = 0</c:v>
          </c:tx>
          <c:spPr>
            <a:ln w="19050">
              <a:solidFill>
                <a:srgbClr val="C45C28"/>
              </a:solidFill>
            </a:ln>
          </c:spPr>
          <c:marker>
            <c:symbol val="none"/>
          </c:marker>
          <c:xVal>
            <c:numRef>
              <c:f>'Chart Data'!$E$2:$E$3</c:f>
              <c:numCache>
                <c:formatCode>General</c:formatCode>
                <c:ptCount val="2"/>
                <c:pt idx="0">
                  <c:v>0</c:v>
                </c:pt>
                <c:pt idx="1">
                  <c:v>0</c:v>
                </c:pt>
              </c:numCache>
            </c:numRef>
          </c:xVal>
          <c:yVal>
            <c:numRef>
              <c:f>'Chart Data'!$F$2:$F$3</c:f>
              <c:numCache>
                <c:formatCode>0.##</c:formatCode>
                <c:ptCount val="2"/>
                <c:pt idx="0">
                  <c:v>0</c:v>
                </c:pt>
                <c:pt idx="1">
                  <c:v>66</c:v>
                </c:pt>
              </c:numCache>
            </c:numRef>
          </c:yVal>
          <c:smooth val="0"/>
          <c:extLst>
            <c:ext xmlns:c16="http://schemas.microsoft.com/office/drawing/2014/chart" uri="{C3380CC4-5D6E-409C-BE32-E72D297353CC}">
              <c16:uniqueId val="{00000001-ACB7-4149-A3E6-1B546642B833}"/>
            </c:ext>
          </c:extLst>
        </c:ser>
        <c:ser>
          <c:idx val="1"/>
          <c:order val="1"/>
          <c:tx>
            <c:v>Current parameter</c:v>
          </c:tx>
          <c:spPr>
            <a:ln w="0">
              <a:noFill/>
            </a:ln>
          </c:spPr>
          <c:marker>
            <c:symbol val="circle"/>
            <c:size val="10"/>
            <c:spPr>
              <a:solidFill>
                <a:srgbClr val="C45C28"/>
              </a:solidFill>
              <a:ln w="12700">
                <a:solidFill>
                  <a:srgbClr val="C45C28"/>
                </a:solidFill>
              </a:ln>
            </c:spPr>
          </c:marker>
          <c:xVal>
            <c:numRef>
              <c:f>'Chart Data'!$C$2:$C$2</c:f>
              <c:numCache>
                <c:formatCode>General</c:formatCode>
                <c:ptCount val="1"/>
                <c:pt idx="0">
                  <c:v>0</c:v>
                </c:pt>
              </c:numCache>
            </c:numRef>
          </c:xVal>
          <c:yVal>
            <c:numRef>
              <c:f>'Chart Data'!$D$2:$D$2</c:f>
              <c:numCache>
                <c:formatCode>0.##</c:formatCode>
                <c:ptCount val="1"/>
                <c:pt idx="0">
                  <c:v>66</c:v>
                </c:pt>
              </c:numCache>
            </c:numRef>
          </c:yVal>
          <c:smooth val="0"/>
          <c:extLst>
            <c:ext xmlns:c16="http://schemas.microsoft.com/office/drawing/2014/chart" uri="{C3380CC4-5D6E-409C-BE32-E72D297353CC}">
              <c16:uniqueId val="{00000002-ACB7-4149-A3E6-1B546642B833}"/>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E8EDF2"/>
              </a:solidFill>
            </a:ln>
          </c:spPr>
        </c:majorGridlines>
        <c:title>
          <c:tx>
            <c:rich>
              <a:bodyPr/>
              <a:lstStyle/>
              <a:p>
                <a:r>
                  <a:rPr lang="it-IT" sz="2000" b="0" baseline="0">
                    <a:latin typeface="Cambria Math"/>
                    <a:ea typeface="Cambria Math"/>
                    <a:cs typeface="Cambria Math"/>
                  </a:rPr>
                  <a:t>ℒ</a:t>
                </a:r>
                <a:r>
                  <a:rPr lang="it-IT" sz="2000" b="0" baseline="-25000">
                    <a:latin typeface="Cambria Math"/>
                    <a:ea typeface="Cambria Math"/>
                    <a:cs typeface="Cambria Math"/>
                  </a:rPr>
                  <a:t>sq</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0"/>
      </c:valAx>
      <c:valAx>
        <c:axId val="48650112"/>
        <c:scaling>
          <c:orientation val="minMax"/>
          <c:max val="5"/>
          <c:min val="-1"/>
        </c:scaling>
        <c:delete val="0"/>
        <c:axPos val="b"/>
        <c:title>
          <c:tx>
            <c:rich>
              <a:bodyPr/>
              <a:lstStyle/>
              <a:p>
                <a:r>
                  <a:rPr lang="it-IT">
                    <a:latin typeface="DejaVu Sans"/>
                    <a:ea typeface="DejaVu Sans"/>
                    <a:cs typeface="DejaVu Sans"/>
                  </a:rPr>
                  <a:t>Parameter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D6CD-43CD-8D4A-161DD9942C72}"/>
            </c:ext>
          </c:extLst>
        </c:ser>
        <c:ser>
          <c:idx val="2"/>
          <c:order val="2"/>
          <c:tx>
            <c:v>Residual 1</c:v>
          </c:tx>
          <c:spPr>
            <a:ln w="19050">
              <a:solidFill>
                <a:srgbClr val="C45C28"/>
              </a:solidFill>
            </a:ln>
          </c:spPr>
          <c:marker>
            <c:symbol val="none"/>
          </c:marker>
          <c:xVal>
            <c:numRef>
              <c:f>'Chart Data'!$E$2:$E$3</c:f>
              <c:numCache>
                <c:formatCode>General</c:formatCode>
                <c:ptCount val="2"/>
                <c:pt idx="0">
                  <c:v>-2</c:v>
                </c:pt>
                <c:pt idx="1">
                  <c:v>-2</c:v>
                </c:pt>
              </c:numCache>
            </c:numRef>
          </c:xVal>
          <c:yVal>
            <c:numRef>
              <c:f>'Chart Data'!$F$2:$F$3</c:f>
              <c:numCache>
                <c:formatCode>0.##</c:formatCode>
                <c:ptCount val="2"/>
                <c:pt idx="0">
                  <c:v>0</c:v>
                </c:pt>
                <c:pt idx="1">
                  <c:v>-1.5</c:v>
                </c:pt>
              </c:numCache>
            </c:numRef>
          </c:yVal>
          <c:smooth val="0"/>
          <c:extLst>
            <c:ext xmlns:c16="http://schemas.microsoft.com/office/drawing/2014/chart" uri="{C3380CC4-5D6E-409C-BE32-E72D297353CC}">
              <c16:uniqueId val="{00000001-D6CD-43CD-8D4A-161DD9942C72}"/>
            </c:ext>
          </c:extLst>
        </c:ser>
        <c:ser>
          <c:idx val="3"/>
          <c:order val="3"/>
          <c:tx>
            <c:v>Residual 2</c:v>
          </c:tx>
          <c:spPr>
            <a:ln w="19050">
              <a:solidFill>
                <a:srgbClr val="C45C28"/>
              </a:solidFill>
            </a:ln>
          </c:spPr>
          <c:marker>
            <c:symbol val="none"/>
          </c:marker>
          <c:xVal>
            <c:numRef>
              <c:f>'Chart Data'!$G$2:$G$3</c:f>
              <c:numCache>
                <c:formatCode>General</c:formatCode>
                <c:ptCount val="2"/>
                <c:pt idx="0">
                  <c:v>-1</c:v>
                </c:pt>
                <c:pt idx="1">
                  <c:v>-1</c:v>
                </c:pt>
              </c:numCache>
            </c:numRef>
          </c:xVal>
          <c:yVal>
            <c:numRef>
              <c:f>'Chart Data'!$H$2:$H$3</c:f>
              <c:numCache>
                <c:formatCode>0.##</c:formatCode>
                <c:ptCount val="2"/>
                <c:pt idx="0">
                  <c:v>0</c:v>
                </c:pt>
                <c:pt idx="1">
                  <c:v>0.5</c:v>
                </c:pt>
              </c:numCache>
            </c:numRef>
          </c:yVal>
          <c:smooth val="0"/>
          <c:extLst>
            <c:ext xmlns:c16="http://schemas.microsoft.com/office/drawing/2014/chart" uri="{C3380CC4-5D6E-409C-BE32-E72D297353CC}">
              <c16:uniqueId val="{00000002-D6CD-43CD-8D4A-161DD9942C72}"/>
            </c:ext>
          </c:extLst>
        </c:ser>
        <c:ser>
          <c:idx val="4"/>
          <c:order val="4"/>
          <c:tx>
            <c:v>Residual 3</c:v>
          </c:tx>
          <c:spPr>
            <a:ln w="19050">
              <a:solidFill>
                <a:srgbClr val="C45C28"/>
              </a:solidFill>
            </a:ln>
          </c:spPr>
          <c:marker>
            <c:symbol val="none"/>
          </c:marker>
          <c:xVal>
            <c:numRef>
              <c:f>'Chart Data'!$I$2:$I$3</c:f>
              <c:numCache>
                <c:formatCode>General</c:formatCode>
                <c:ptCount val="2"/>
                <c:pt idx="0">
                  <c:v>0</c:v>
                </c:pt>
                <c:pt idx="1">
                  <c:v>0</c:v>
                </c:pt>
              </c:numCache>
            </c:numRef>
          </c:xVal>
          <c:yVal>
            <c:numRef>
              <c:f>'Chart Data'!$J$2:$J$3</c:f>
              <c:numCache>
                <c:formatCode>0.##</c:formatCode>
                <c:ptCount val="2"/>
                <c:pt idx="0">
                  <c:v>0</c:v>
                </c:pt>
                <c:pt idx="1">
                  <c:v>1</c:v>
                </c:pt>
              </c:numCache>
            </c:numRef>
          </c:yVal>
          <c:smooth val="0"/>
          <c:extLst>
            <c:ext xmlns:c16="http://schemas.microsoft.com/office/drawing/2014/chart" uri="{C3380CC4-5D6E-409C-BE32-E72D297353CC}">
              <c16:uniqueId val="{00000003-D6CD-43CD-8D4A-161DD9942C72}"/>
            </c:ext>
          </c:extLst>
        </c:ser>
        <c:ser>
          <c:idx val="5"/>
          <c:order val="5"/>
          <c:tx>
            <c:v>Residual 4</c:v>
          </c:tx>
          <c:spPr>
            <a:ln w="19050">
              <a:solidFill>
                <a:srgbClr val="C45C28"/>
              </a:solidFill>
            </a:ln>
          </c:spPr>
          <c:marker>
            <c:symbol val="none"/>
          </c:marker>
          <c:xVal>
            <c:numRef>
              <c:f>'Chart Data'!$K$2:$K$3</c:f>
              <c:numCache>
                <c:formatCode>General</c:formatCode>
                <c:ptCount val="2"/>
                <c:pt idx="0">
                  <c:v>1</c:v>
                </c:pt>
                <c:pt idx="1">
                  <c:v>1</c:v>
                </c:pt>
              </c:numCache>
            </c:numRef>
          </c:xVal>
          <c:yVal>
            <c:numRef>
              <c:f>'Chart Data'!$L$2:$L$3</c:f>
              <c:numCache>
                <c:formatCode>0.##</c:formatCode>
                <c:ptCount val="2"/>
                <c:pt idx="0">
                  <c:v>0</c:v>
                </c:pt>
                <c:pt idx="1">
                  <c:v>2.5</c:v>
                </c:pt>
              </c:numCache>
            </c:numRef>
          </c:yVal>
          <c:smooth val="0"/>
          <c:extLst>
            <c:ext xmlns:c16="http://schemas.microsoft.com/office/drawing/2014/chart" uri="{C3380CC4-5D6E-409C-BE32-E72D297353CC}">
              <c16:uniqueId val="{00000004-D6CD-43CD-8D4A-161DD9942C72}"/>
            </c:ext>
          </c:extLst>
        </c:ser>
        <c:ser>
          <c:idx val="6"/>
          <c:order val="6"/>
          <c:tx>
            <c:v>Residual 5</c:v>
          </c:tx>
          <c:spPr>
            <a:ln w="19050">
              <a:solidFill>
                <a:srgbClr val="C45C28"/>
              </a:solidFill>
            </a:ln>
          </c:spPr>
          <c:marker>
            <c:symbol val="none"/>
          </c:marker>
          <c:xVal>
            <c:numRef>
              <c:f>'Chart Data'!$M$2:$M$3</c:f>
              <c:numCache>
                <c:formatCode>General</c:formatCode>
                <c:ptCount val="2"/>
                <c:pt idx="0">
                  <c:v>2</c:v>
                </c:pt>
                <c:pt idx="1">
                  <c:v>2</c:v>
                </c:pt>
              </c:numCache>
            </c:numRef>
          </c:xVal>
          <c:yVal>
            <c:numRef>
              <c:f>'Chart Data'!$N$2:$N$3</c:f>
              <c:numCache>
                <c:formatCode>0.##</c:formatCode>
                <c:ptCount val="2"/>
                <c:pt idx="0">
                  <c:v>0</c:v>
                </c:pt>
                <c:pt idx="1">
                  <c:v>7.5</c:v>
                </c:pt>
              </c:numCache>
            </c:numRef>
          </c:yVal>
          <c:smooth val="0"/>
          <c:extLst>
            <c:ext xmlns:c16="http://schemas.microsoft.com/office/drawing/2014/chart" uri="{C3380CC4-5D6E-409C-BE32-E72D297353CC}">
              <c16:uniqueId val="{00000005-D6CD-43CD-8D4A-161DD9942C72}"/>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0</c:v>
                </c:pt>
                <c:pt idx="1">
                  <c:v>0</c:v>
                </c:pt>
              </c:numCache>
            </c:numRef>
          </c:yVal>
          <c:smooth val="0"/>
          <c:extLst>
            <c:ext xmlns:c16="http://schemas.microsoft.com/office/drawing/2014/chart" uri="{C3380CC4-5D6E-409C-BE32-E72D297353CC}">
              <c16:uniqueId val="{00000006-D6CD-43CD-8D4A-161DD9942C72}"/>
            </c:ext>
          </c:extLst>
        </c:ser>
        <c:ser>
          <c:idx val="7"/>
          <c:order val="7"/>
          <c:tx>
            <c:v>Best constant</c:v>
          </c:tx>
          <c:spPr>
            <a:ln w="28575">
              <a:solidFill>
                <a:srgbClr val="7543A0"/>
              </a:solidFill>
            </a:ln>
          </c:spPr>
          <c:marker>
            <c:symbol val="none"/>
          </c:marker>
          <c:dLbls>
            <c:dLbl>
              <c:idx val="1"/>
              <c:tx>
                <c:rich>
                  <a:bodyPr/>
                  <a:lstStyle/>
                  <a:p>
                    <a:r>
                      <a:rPr lang="en-US" sz="1800" b="0" i="1" baseline="0">
                        <a:solidFill>
                          <a:srgbClr val="7543A0"/>
                        </a:solidFill>
                        <a:latin typeface="Cambria Math"/>
                        <a:ea typeface="Cambria Math"/>
                        <a:cs typeface="Cambria Math"/>
                      </a:rPr>
                      <a:t>b</a:t>
                    </a:r>
                    <a:r>
                      <a:rPr lang="en-US" sz="1800" b="0" i="0" baseline="30000">
                        <a:solidFill>
                          <a:srgbClr val="7543A0"/>
                        </a:solidFill>
                        <a:latin typeface="Cambria Math"/>
                        <a:ea typeface="Cambria Math"/>
                        <a:cs typeface="Cambria Math"/>
                      </a:rPr>
                      <a:t>∗</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6CD-43CD-8D4A-161DD9942C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Data'!$O$2:$O$3</c:f>
              <c:numCache>
                <c:formatCode>General</c:formatCode>
                <c:ptCount val="2"/>
                <c:pt idx="0">
                  <c:v>-2.4500000000000002</c:v>
                </c:pt>
                <c:pt idx="1">
                  <c:v>2.4500000000000002</c:v>
                </c:pt>
              </c:numCache>
            </c:numRef>
          </c:xVal>
          <c:yVal>
            <c:numRef>
              <c:f>'Chart Data'!$P$2:$P$3</c:f>
              <c:numCache>
                <c:formatCode>0.##</c:formatCode>
                <c:ptCount val="2"/>
                <c:pt idx="0">
                  <c:v>2</c:v>
                </c:pt>
                <c:pt idx="1">
                  <c:v>2</c:v>
                </c:pt>
              </c:numCache>
            </c:numRef>
          </c:yVal>
          <c:smooth val="0"/>
          <c:extLst>
            <c:ext xmlns:c16="http://schemas.microsoft.com/office/drawing/2014/chart" uri="{C3380CC4-5D6E-409C-BE32-E72D297353CC}">
              <c16:uniqueId val="{00000008-D6CD-43CD-8D4A-161DD9942C72}"/>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Empirical loss</c:v>
          </c:tx>
          <c:spPr>
            <a:ln w="28575">
              <a:solidFill>
                <a:srgbClr val="087F83"/>
              </a:solidFill>
            </a:ln>
          </c:spPr>
          <c:marker>
            <c:symbol val="none"/>
          </c:marker>
          <c:xVal>
            <c:numRef>
              <c:f>'Chart Data'!$A$2:$A$62</c:f>
              <c:numCache>
                <c:formatCode>General</c:formatCode>
                <c:ptCount val="61"/>
                <c:pt idx="0">
                  <c:v>-1</c:v>
                </c:pt>
                <c:pt idx="1">
                  <c:v>-0.9</c:v>
                </c:pt>
                <c:pt idx="2">
                  <c:v>-0.8</c:v>
                </c:pt>
                <c:pt idx="3">
                  <c:v>-0.7</c:v>
                </c:pt>
                <c:pt idx="4">
                  <c:v>-0.6</c:v>
                </c:pt>
                <c:pt idx="5">
                  <c:v>-0.5</c:v>
                </c:pt>
                <c:pt idx="6">
                  <c:v>-0.4</c:v>
                </c:pt>
                <c:pt idx="7">
                  <c:v>-0.3</c:v>
                </c:pt>
                <c:pt idx="8">
                  <c:v>-0.2</c:v>
                </c:pt>
                <c:pt idx="9">
                  <c:v>-0.1</c:v>
                </c:pt>
                <c:pt idx="10">
                  <c:v>0</c:v>
                </c:pt>
                <c:pt idx="11">
                  <c:v>0.1</c:v>
                </c:pt>
                <c:pt idx="12">
                  <c:v>0.2</c:v>
                </c:pt>
                <c:pt idx="13">
                  <c:v>0.3</c:v>
                </c:pt>
                <c:pt idx="14">
                  <c:v>0.4</c:v>
                </c:pt>
                <c:pt idx="15">
                  <c:v>0.5</c:v>
                </c:pt>
                <c:pt idx="16">
                  <c:v>0.6</c:v>
                </c:pt>
                <c:pt idx="17">
                  <c:v>0.7</c:v>
                </c:pt>
                <c:pt idx="18">
                  <c:v>0.8</c:v>
                </c:pt>
                <c:pt idx="19">
                  <c:v>0.9</c:v>
                </c:pt>
                <c:pt idx="20">
                  <c:v>1</c:v>
                </c:pt>
                <c:pt idx="21">
                  <c:v>1.1000000000000001</c:v>
                </c:pt>
                <c:pt idx="22">
                  <c:v>1.2</c:v>
                </c:pt>
                <c:pt idx="23">
                  <c:v>1.3</c:v>
                </c:pt>
                <c:pt idx="24">
                  <c:v>1.4</c:v>
                </c:pt>
                <c:pt idx="25">
                  <c:v>1.5</c:v>
                </c:pt>
                <c:pt idx="26">
                  <c:v>1.6</c:v>
                </c:pt>
                <c:pt idx="27">
                  <c:v>1.7</c:v>
                </c:pt>
                <c:pt idx="28">
                  <c:v>1.8</c:v>
                </c:pt>
                <c:pt idx="29">
                  <c:v>1.9</c:v>
                </c:pt>
                <c:pt idx="30">
                  <c:v>2</c:v>
                </c:pt>
                <c:pt idx="31">
                  <c:v>2.1</c:v>
                </c:pt>
                <c:pt idx="32">
                  <c:v>2.2000000000000002</c:v>
                </c:pt>
                <c:pt idx="33">
                  <c:v>2.2999999999999998</c:v>
                </c:pt>
                <c:pt idx="34">
                  <c:v>2.4</c:v>
                </c:pt>
                <c:pt idx="35">
                  <c:v>2.5</c:v>
                </c:pt>
                <c:pt idx="36">
                  <c:v>2.6</c:v>
                </c:pt>
                <c:pt idx="37">
                  <c:v>2.7</c:v>
                </c:pt>
                <c:pt idx="38">
                  <c:v>2.8</c:v>
                </c:pt>
                <c:pt idx="39">
                  <c:v>2.9</c:v>
                </c:pt>
                <c:pt idx="40">
                  <c:v>3</c:v>
                </c:pt>
                <c:pt idx="41">
                  <c:v>3.1</c:v>
                </c:pt>
                <c:pt idx="42">
                  <c:v>3.2</c:v>
                </c:pt>
                <c:pt idx="43">
                  <c:v>3.3</c:v>
                </c:pt>
                <c:pt idx="44">
                  <c:v>3.4</c:v>
                </c:pt>
                <c:pt idx="45">
                  <c:v>3.5</c:v>
                </c:pt>
                <c:pt idx="46">
                  <c:v>3.6</c:v>
                </c:pt>
                <c:pt idx="47">
                  <c:v>3.7</c:v>
                </c:pt>
                <c:pt idx="48">
                  <c:v>3.8</c:v>
                </c:pt>
                <c:pt idx="49">
                  <c:v>3.9</c:v>
                </c:pt>
                <c:pt idx="50">
                  <c:v>4</c:v>
                </c:pt>
                <c:pt idx="51">
                  <c:v>4.0999999999999996</c:v>
                </c:pt>
                <c:pt idx="52">
                  <c:v>4.2</c:v>
                </c:pt>
                <c:pt idx="53">
                  <c:v>4.3</c:v>
                </c:pt>
                <c:pt idx="54">
                  <c:v>4.4000000000000004</c:v>
                </c:pt>
                <c:pt idx="55">
                  <c:v>4.5</c:v>
                </c:pt>
                <c:pt idx="56">
                  <c:v>4.5999999999999996</c:v>
                </c:pt>
                <c:pt idx="57">
                  <c:v>4.7</c:v>
                </c:pt>
                <c:pt idx="58">
                  <c:v>4.8</c:v>
                </c:pt>
                <c:pt idx="59">
                  <c:v>4.9000000000000004</c:v>
                </c:pt>
                <c:pt idx="60">
                  <c:v>5</c:v>
                </c:pt>
              </c:numCache>
            </c:numRef>
          </c:xVal>
          <c:yVal>
            <c:numRef>
              <c:f>'Chart Data'!$B$2:$B$62</c:f>
              <c:numCache>
                <c:formatCode>0.##</c:formatCode>
                <c:ptCount val="61"/>
                <c:pt idx="0">
                  <c:v>91</c:v>
                </c:pt>
                <c:pt idx="1">
                  <c:v>88.05</c:v>
                </c:pt>
                <c:pt idx="2">
                  <c:v>85.2</c:v>
                </c:pt>
                <c:pt idx="3">
                  <c:v>82.45</c:v>
                </c:pt>
                <c:pt idx="4">
                  <c:v>79.8</c:v>
                </c:pt>
                <c:pt idx="5">
                  <c:v>77.25</c:v>
                </c:pt>
                <c:pt idx="6">
                  <c:v>74.8</c:v>
                </c:pt>
                <c:pt idx="7">
                  <c:v>72.45</c:v>
                </c:pt>
                <c:pt idx="8">
                  <c:v>70.2</c:v>
                </c:pt>
                <c:pt idx="9">
                  <c:v>68.05</c:v>
                </c:pt>
                <c:pt idx="10">
                  <c:v>66</c:v>
                </c:pt>
                <c:pt idx="11">
                  <c:v>64.05</c:v>
                </c:pt>
                <c:pt idx="12">
                  <c:v>62.2</c:v>
                </c:pt>
                <c:pt idx="13">
                  <c:v>60.45</c:v>
                </c:pt>
                <c:pt idx="14">
                  <c:v>58.8</c:v>
                </c:pt>
                <c:pt idx="15">
                  <c:v>57.25</c:v>
                </c:pt>
                <c:pt idx="16">
                  <c:v>55.8</c:v>
                </c:pt>
                <c:pt idx="17">
                  <c:v>54.45</c:v>
                </c:pt>
                <c:pt idx="18">
                  <c:v>53.2</c:v>
                </c:pt>
                <c:pt idx="19">
                  <c:v>52.05</c:v>
                </c:pt>
                <c:pt idx="20">
                  <c:v>51</c:v>
                </c:pt>
                <c:pt idx="21">
                  <c:v>50.05</c:v>
                </c:pt>
                <c:pt idx="22">
                  <c:v>49.2</c:v>
                </c:pt>
                <c:pt idx="23">
                  <c:v>48.45</c:v>
                </c:pt>
                <c:pt idx="24">
                  <c:v>47.8</c:v>
                </c:pt>
                <c:pt idx="25">
                  <c:v>47.25</c:v>
                </c:pt>
                <c:pt idx="26">
                  <c:v>46.8</c:v>
                </c:pt>
                <c:pt idx="27">
                  <c:v>46.45</c:v>
                </c:pt>
                <c:pt idx="28">
                  <c:v>46.2</c:v>
                </c:pt>
                <c:pt idx="29">
                  <c:v>46.05</c:v>
                </c:pt>
                <c:pt idx="30">
                  <c:v>46</c:v>
                </c:pt>
                <c:pt idx="31">
                  <c:v>46.05</c:v>
                </c:pt>
                <c:pt idx="32">
                  <c:v>46.2</c:v>
                </c:pt>
                <c:pt idx="33">
                  <c:v>46.45</c:v>
                </c:pt>
                <c:pt idx="34">
                  <c:v>46.8</c:v>
                </c:pt>
                <c:pt idx="35">
                  <c:v>47.25</c:v>
                </c:pt>
                <c:pt idx="36">
                  <c:v>47.8</c:v>
                </c:pt>
                <c:pt idx="37">
                  <c:v>48.45</c:v>
                </c:pt>
                <c:pt idx="38">
                  <c:v>49.2</c:v>
                </c:pt>
                <c:pt idx="39">
                  <c:v>50.05</c:v>
                </c:pt>
                <c:pt idx="40">
                  <c:v>51</c:v>
                </c:pt>
                <c:pt idx="41">
                  <c:v>52.05</c:v>
                </c:pt>
                <c:pt idx="42">
                  <c:v>53.2</c:v>
                </c:pt>
                <c:pt idx="43">
                  <c:v>54.45</c:v>
                </c:pt>
                <c:pt idx="44">
                  <c:v>55.8</c:v>
                </c:pt>
                <c:pt idx="45">
                  <c:v>57.25</c:v>
                </c:pt>
                <c:pt idx="46">
                  <c:v>58.8</c:v>
                </c:pt>
                <c:pt idx="47">
                  <c:v>60.45</c:v>
                </c:pt>
                <c:pt idx="48">
                  <c:v>62.2</c:v>
                </c:pt>
                <c:pt idx="49">
                  <c:v>64.05</c:v>
                </c:pt>
                <c:pt idx="50">
                  <c:v>66</c:v>
                </c:pt>
                <c:pt idx="51">
                  <c:v>68.05</c:v>
                </c:pt>
                <c:pt idx="52">
                  <c:v>70.2</c:v>
                </c:pt>
                <c:pt idx="53">
                  <c:v>72.45</c:v>
                </c:pt>
                <c:pt idx="54">
                  <c:v>74.8</c:v>
                </c:pt>
                <c:pt idx="55">
                  <c:v>77.25</c:v>
                </c:pt>
                <c:pt idx="56">
                  <c:v>79.8</c:v>
                </c:pt>
                <c:pt idx="57">
                  <c:v>82.45</c:v>
                </c:pt>
                <c:pt idx="58">
                  <c:v>85.2</c:v>
                </c:pt>
                <c:pt idx="59">
                  <c:v>88.05</c:v>
                </c:pt>
                <c:pt idx="60">
                  <c:v>91</c:v>
                </c:pt>
              </c:numCache>
            </c:numRef>
          </c:yVal>
          <c:smooth val="0"/>
          <c:extLst>
            <c:ext xmlns:c16="http://schemas.microsoft.com/office/drawing/2014/chart" uri="{C3380CC4-5D6E-409C-BE32-E72D297353CC}">
              <c16:uniqueId val="{00000000-F833-4631-945B-D18009209104}"/>
            </c:ext>
          </c:extLst>
        </c:ser>
        <c:ser>
          <c:idx val="2"/>
          <c:order val="2"/>
          <c:tx>
            <c:v>Squared loss at b = 0</c:v>
          </c:tx>
          <c:spPr>
            <a:ln w="19050">
              <a:solidFill>
                <a:srgbClr val="C45C28"/>
              </a:solidFill>
            </a:ln>
          </c:spPr>
          <c:marker>
            <c:symbol val="none"/>
          </c:marker>
          <c:xVal>
            <c:numRef>
              <c:f>'Chart Data'!$E$2:$E$3</c:f>
              <c:numCache>
                <c:formatCode>General</c:formatCode>
                <c:ptCount val="2"/>
                <c:pt idx="0">
                  <c:v>0</c:v>
                </c:pt>
                <c:pt idx="1">
                  <c:v>0</c:v>
                </c:pt>
              </c:numCache>
            </c:numRef>
          </c:xVal>
          <c:yVal>
            <c:numRef>
              <c:f>'Chart Data'!$F$2:$F$3</c:f>
              <c:numCache>
                <c:formatCode>0.##</c:formatCode>
                <c:ptCount val="2"/>
                <c:pt idx="0">
                  <c:v>0</c:v>
                </c:pt>
                <c:pt idx="1">
                  <c:v>66</c:v>
                </c:pt>
              </c:numCache>
            </c:numRef>
          </c:yVal>
          <c:smooth val="0"/>
          <c:extLst>
            <c:ext xmlns:c16="http://schemas.microsoft.com/office/drawing/2014/chart" uri="{C3380CC4-5D6E-409C-BE32-E72D297353CC}">
              <c16:uniqueId val="{00000001-F833-4631-945B-D18009209104}"/>
            </c:ext>
          </c:extLst>
        </c:ser>
        <c:ser>
          <c:idx val="1"/>
          <c:order val="1"/>
          <c:tx>
            <c:v>Current parameter</c:v>
          </c:tx>
          <c:spPr>
            <a:ln w="0">
              <a:noFill/>
            </a:ln>
          </c:spPr>
          <c:marker>
            <c:symbol val="circle"/>
            <c:size val="10"/>
            <c:spPr>
              <a:solidFill>
                <a:srgbClr val="C45C28"/>
              </a:solidFill>
              <a:ln w="12700">
                <a:solidFill>
                  <a:srgbClr val="C45C28"/>
                </a:solidFill>
              </a:ln>
            </c:spPr>
          </c:marker>
          <c:xVal>
            <c:numRef>
              <c:f>'Chart Data'!$C$2:$C$2</c:f>
              <c:numCache>
                <c:formatCode>General</c:formatCode>
                <c:ptCount val="1"/>
                <c:pt idx="0">
                  <c:v>0</c:v>
                </c:pt>
              </c:numCache>
            </c:numRef>
          </c:xVal>
          <c:yVal>
            <c:numRef>
              <c:f>'Chart Data'!$D$2:$D$2</c:f>
              <c:numCache>
                <c:formatCode>0.##</c:formatCode>
                <c:ptCount val="1"/>
                <c:pt idx="0">
                  <c:v>66</c:v>
                </c:pt>
              </c:numCache>
            </c:numRef>
          </c:yVal>
          <c:smooth val="0"/>
          <c:extLst>
            <c:ext xmlns:c16="http://schemas.microsoft.com/office/drawing/2014/chart" uri="{C3380CC4-5D6E-409C-BE32-E72D297353CC}">
              <c16:uniqueId val="{00000002-F833-4631-945B-D18009209104}"/>
            </c:ext>
          </c:extLst>
        </c:ser>
        <c:ser>
          <c:idx val="3"/>
          <c:order val="3"/>
          <c:tx>
            <c:v>Minimum loss height</c:v>
          </c:tx>
          <c:spPr>
            <a:ln w="28575">
              <a:solidFill>
                <a:srgbClr val="7543A0"/>
              </a:solidFill>
            </a:ln>
          </c:spPr>
          <c:marker>
            <c:symbol val="none"/>
          </c:marker>
          <c:xVal>
            <c:numRef>
              <c:f>'Chart Data'!$G$2:$G$3</c:f>
              <c:numCache>
                <c:formatCode>General</c:formatCode>
                <c:ptCount val="2"/>
                <c:pt idx="0">
                  <c:v>2</c:v>
                </c:pt>
                <c:pt idx="1">
                  <c:v>2</c:v>
                </c:pt>
              </c:numCache>
            </c:numRef>
          </c:xVal>
          <c:yVal>
            <c:numRef>
              <c:f>'Chart Data'!$H$2:$H$3</c:f>
              <c:numCache>
                <c:formatCode>0.##</c:formatCode>
                <c:ptCount val="2"/>
                <c:pt idx="0">
                  <c:v>0</c:v>
                </c:pt>
                <c:pt idx="1">
                  <c:v>46</c:v>
                </c:pt>
              </c:numCache>
            </c:numRef>
          </c:yVal>
          <c:smooth val="0"/>
          <c:extLst>
            <c:ext xmlns:c16="http://schemas.microsoft.com/office/drawing/2014/chart" uri="{C3380CC4-5D6E-409C-BE32-E72D297353CC}">
              <c16:uniqueId val="{00000003-F833-4631-945B-D18009209104}"/>
            </c:ext>
          </c:extLst>
        </c:ser>
        <c:ser>
          <c:idx val="4"/>
          <c:order val="4"/>
          <c:tx>
            <c:v>Minimum</c:v>
          </c:tx>
          <c:spPr>
            <a:ln w="0">
              <a:noFill/>
            </a:ln>
          </c:spPr>
          <c:marker>
            <c:symbol val="circle"/>
            <c:size val="10"/>
            <c:spPr>
              <a:solidFill>
                <a:srgbClr val="7543A0"/>
              </a:solidFill>
              <a:ln w="12700">
                <a:solidFill>
                  <a:srgbClr val="7543A0"/>
                </a:solidFill>
              </a:ln>
            </c:spPr>
          </c:marker>
          <c:dLbls>
            <c:dLbl>
              <c:idx val="0"/>
              <c:tx>
                <c:rich>
                  <a:bodyPr/>
                  <a:lstStyle/>
                  <a:p>
                    <a:r>
                      <a:rPr lang="en-US" sz="1800" b="0" i="1" baseline="0">
                        <a:solidFill>
                          <a:srgbClr val="7543A0"/>
                        </a:solidFill>
                        <a:latin typeface="Cambria Math"/>
                        <a:ea typeface="Cambria Math"/>
                        <a:cs typeface="Cambria Math"/>
                      </a:rPr>
                      <a:t>b</a:t>
                    </a:r>
                    <a:r>
                      <a:rPr lang="en-US" sz="1800" b="0" i="0" baseline="30000">
                        <a:solidFill>
                          <a:srgbClr val="7543A0"/>
                        </a:solidFill>
                        <a:latin typeface="Cambria Math"/>
                        <a:ea typeface="Cambria Math"/>
                        <a:cs typeface="Cambria Math"/>
                      </a:rPr>
                      <a:t>∗</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833-4631-945B-D180092091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Data'!$I$2:$I$2</c:f>
              <c:numCache>
                <c:formatCode>General</c:formatCode>
                <c:ptCount val="1"/>
                <c:pt idx="0">
                  <c:v>2</c:v>
                </c:pt>
              </c:numCache>
            </c:numRef>
          </c:xVal>
          <c:yVal>
            <c:numRef>
              <c:f>'Chart Data'!$J$2:$J$2</c:f>
              <c:numCache>
                <c:formatCode>0.##</c:formatCode>
                <c:ptCount val="1"/>
                <c:pt idx="0">
                  <c:v>46</c:v>
                </c:pt>
              </c:numCache>
            </c:numRef>
          </c:yVal>
          <c:smooth val="0"/>
          <c:extLst>
            <c:ext xmlns:c16="http://schemas.microsoft.com/office/drawing/2014/chart" uri="{C3380CC4-5D6E-409C-BE32-E72D297353CC}">
              <c16:uniqueId val="{00000005-F833-4631-945B-D18009209104}"/>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E8EDF2"/>
              </a:solidFill>
            </a:ln>
          </c:spPr>
        </c:majorGridlines>
        <c:title>
          <c:tx>
            <c:rich>
              <a:bodyPr/>
              <a:lstStyle/>
              <a:p>
                <a:r>
                  <a:rPr lang="it-IT" sz="2000" b="0" baseline="0">
                    <a:latin typeface="Cambria Math"/>
                    <a:ea typeface="Cambria Math"/>
                    <a:cs typeface="Cambria Math"/>
                  </a:rPr>
                  <a:t>ℒ</a:t>
                </a:r>
                <a:r>
                  <a:rPr lang="it-IT" sz="2000" b="0" baseline="-25000">
                    <a:latin typeface="Cambria Math"/>
                    <a:ea typeface="Cambria Math"/>
                    <a:cs typeface="Cambria Math"/>
                  </a:rPr>
                  <a:t>sq</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0"/>
      </c:valAx>
      <c:valAx>
        <c:axId val="48650112"/>
        <c:scaling>
          <c:orientation val="minMax"/>
          <c:max val="5"/>
          <c:min val="-1"/>
        </c:scaling>
        <c:delete val="0"/>
        <c:axPos val="b"/>
        <c:title>
          <c:tx>
            <c:rich>
              <a:bodyPr/>
              <a:lstStyle/>
              <a:p>
                <a:r>
                  <a:rPr lang="it-IT">
                    <a:latin typeface="DejaVu Sans"/>
                    <a:ea typeface="DejaVu Sans"/>
                    <a:cs typeface="DejaVu Sans"/>
                  </a:rPr>
                  <a:t>Parameter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Empirical loss</c:v>
          </c:tx>
          <c:spPr>
            <a:ln w="28575">
              <a:solidFill>
                <a:srgbClr val="087F83"/>
              </a:solidFill>
            </a:ln>
          </c:spPr>
          <c:marker>
            <c:symbol val="none"/>
          </c:marker>
          <c:xVal>
            <c:numRef>
              <c:f>'Chart Data'!$A$2:$A$62</c:f>
              <c:numCache>
                <c:formatCode>General</c:formatCode>
                <c:ptCount val="61"/>
                <c:pt idx="0">
                  <c:v>-1</c:v>
                </c:pt>
                <c:pt idx="1">
                  <c:v>-0.9</c:v>
                </c:pt>
                <c:pt idx="2">
                  <c:v>-0.8</c:v>
                </c:pt>
                <c:pt idx="3">
                  <c:v>-0.7</c:v>
                </c:pt>
                <c:pt idx="4">
                  <c:v>-0.6</c:v>
                </c:pt>
                <c:pt idx="5">
                  <c:v>-0.5</c:v>
                </c:pt>
                <c:pt idx="6">
                  <c:v>-0.4</c:v>
                </c:pt>
                <c:pt idx="7">
                  <c:v>-0.3</c:v>
                </c:pt>
                <c:pt idx="8">
                  <c:v>-0.2</c:v>
                </c:pt>
                <c:pt idx="9">
                  <c:v>-0.1</c:v>
                </c:pt>
                <c:pt idx="10">
                  <c:v>0</c:v>
                </c:pt>
                <c:pt idx="11">
                  <c:v>0.1</c:v>
                </c:pt>
                <c:pt idx="12">
                  <c:v>0.2</c:v>
                </c:pt>
                <c:pt idx="13">
                  <c:v>0.3</c:v>
                </c:pt>
                <c:pt idx="14">
                  <c:v>0.4</c:v>
                </c:pt>
                <c:pt idx="15">
                  <c:v>0.5</c:v>
                </c:pt>
                <c:pt idx="16">
                  <c:v>0.6</c:v>
                </c:pt>
                <c:pt idx="17">
                  <c:v>0.7</c:v>
                </c:pt>
                <c:pt idx="18">
                  <c:v>0.8</c:v>
                </c:pt>
                <c:pt idx="19">
                  <c:v>0.9</c:v>
                </c:pt>
                <c:pt idx="20">
                  <c:v>1</c:v>
                </c:pt>
                <c:pt idx="21">
                  <c:v>1.1000000000000001</c:v>
                </c:pt>
                <c:pt idx="22">
                  <c:v>1.2</c:v>
                </c:pt>
                <c:pt idx="23">
                  <c:v>1.3</c:v>
                </c:pt>
                <c:pt idx="24">
                  <c:v>1.4</c:v>
                </c:pt>
                <c:pt idx="25">
                  <c:v>1.5</c:v>
                </c:pt>
                <c:pt idx="26">
                  <c:v>1.6</c:v>
                </c:pt>
                <c:pt idx="27">
                  <c:v>1.7</c:v>
                </c:pt>
                <c:pt idx="28">
                  <c:v>1.8</c:v>
                </c:pt>
                <c:pt idx="29">
                  <c:v>1.9</c:v>
                </c:pt>
                <c:pt idx="30">
                  <c:v>2</c:v>
                </c:pt>
                <c:pt idx="31">
                  <c:v>2.1</c:v>
                </c:pt>
                <c:pt idx="32">
                  <c:v>2.2000000000000002</c:v>
                </c:pt>
                <c:pt idx="33">
                  <c:v>2.2999999999999998</c:v>
                </c:pt>
                <c:pt idx="34">
                  <c:v>2.4</c:v>
                </c:pt>
                <c:pt idx="35">
                  <c:v>2.5</c:v>
                </c:pt>
                <c:pt idx="36">
                  <c:v>2.6</c:v>
                </c:pt>
                <c:pt idx="37">
                  <c:v>2.7</c:v>
                </c:pt>
                <c:pt idx="38">
                  <c:v>2.8</c:v>
                </c:pt>
                <c:pt idx="39">
                  <c:v>2.9</c:v>
                </c:pt>
                <c:pt idx="40">
                  <c:v>3</c:v>
                </c:pt>
                <c:pt idx="41">
                  <c:v>3.1</c:v>
                </c:pt>
                <c:pt idx="42">
                  <c:v>3.2</c:v>
                </c:pt>
                <c:pt idx="43">
                  <c:v>3.3</c:v>
                </c:pt>
                <c:pt idx="44">
                  <c:v>3.4</c:v>
                </c:pt>
                <c:pt idx="45">
                  <c:v>3.5</c:v>
                </c:pt>
                <c:pt idx="46">
                  <c:v>3.6</c:v>
                </c:pt>
                <c:pt idx="47">
                  <c:v>3.7</c:v>
                </c:pt>
                <c:pt idx="48">
                  <c:v>3.8</c:v>
                </c:pt>
                <c:pt idx="49">
                  <c:v>3.9</c:v>
                </c:pt>
                <c:pt idx="50">
                  <c:v>4</c:v>
                </c:pt>
                <c:pt idx="51">
                  <c:v>4.0999999999999996</c:v>
                </c:pt>
                <c:pt idx="52">
                  <c:v>4.2</c:v>
                </c:pt>
                <c:pt idx="53">
                  <c:v>4.3</c:v>
                </c:pt>
                <c:pt idx="54">
                  <c:v>4.4000000000000004</c:v>
                </c:pt>
                <c:pt idx="55">
                  <c:v>4.5</c:v>
                </c:pt>
                <c:pt idx="56">
                  <c:v>4.5999999999999996</c:v>
                </c:pt>
                <c:pt idx="57">
                  <c:v>4.7</c:v>
                </c:pt>
                <c:pt idx="58">
                  <c:v>4.8</c:v>
                </c:pt>
                <c:pt idx="59">
                  <c:v>4.9000000000000004</c:v>
                </c:pt>
                <c:pt idx="60">
                  <c:v>5</c:v>
                </c:pt>
              </c:numCache>
            </c:numRef>
          </c:xVal>
          <c:yVal>
            <c:numRef>
              <c:f>'Chart Data'!$B$2:$B$62</c:f>
              <c:numCache>
                <c:formatCode>0.##</c:formatCode>
                <c:ptCount val="61"/>
                <c:pt idx="0">
                  <c:v>91</c:v>
                </c:pt>
                <c:pt idx="1">
                  <c:v>88.05</c:v>
                </c:pt>
                <c:pt idx="2">
                  <c:v>85.2</c:v>
                </c:pt>
                <c:pt idx="3">
                  <c:v>82.45</c:v>
                </c:pt>
                <c:pt idx="4">
                  <c:v>79.8</c:v>
                </c:pt>
                <c:pt idx="5">
                  <c:v>77.25</c:v>
                </c:pt>
                <c:pt idx="6">
                  <c:v>74.8</c:v>
                </c:pt>
                <c:pt idx="7">
                  <c:v>72.45</c:v>
                </c:pt>
                <c:pt idx="8">
                  <c:v>70.2</c:v>
                </c:pt>
                <c:pt idx="9">
                  <c:v>68.05</c:v>
                </c:pt>
                <c:pt idx="10">
                  <c:v>66</c:v>
                </c:pt>
                <c:pt idx="11">
                  <c:v>64.05</c:v>
                </c:pt>
                <c:pt idx="12">
                  <c:v>62.2</c:v>
                </c:pt>
                <c:pt idx="13">
                  <c:v>60.45</c:v>
                </c:pt>
                <c:pt idx="14">
                  <c:v>58.8</c:v>
                </c:pt>
                <c:pt idx="15">
                  <c:v>57.25</c:v>
                </c:pt>
                <c:pt idx="16">
                  <c:v>55.8</c:v>
                </c:pt>
                <c:pt idx="17">
                  <c:v>54.45</c:v>
                </c:pt>
                <c:pt idx="18">
                  <c:v>53.2</c:v>
                </c:pt>
                <c:pt idx="19">
                  <c:v>52.05</c:v>
                </c:pt>
                <c:pt idx="20">
                  <c:v>51</c:v>
                </c:pt>
                <c:pt idx="21">
                  <c:v>50.05</c:v>
                </c:pt>
                <c:pt idx="22">
                  <c:v>49.2</c:v>
                </c:pt>
                <c:pt idx="23">
                  <c:v>48.45</c:v>
                </c:pt>
                <c:pt idx="24">
                  <c:v>47.8</c:v>
                </c:pt>
                <c:pt idx="25">
                  <c:v>47.25</c:v>
                </c:pt>
                <c:pt idx="26">
                  <c:v>46.8</c:v>
                </c:pt>
                <c:pt idx="27">
                  <c:v>46.45</c:v>
                </c:pt>
                <c:pt idx="28">
                  <c:v>46.2</c:v>
                </c:pt>
                <c:pt idx="29">
                  <c:v>46.05</c:v>
                </c:pt>
                <c:pt idx="30">
                  <c:v>46</c:v>
                </c:pt>
                <c:pt idx="31">
                  <c:v>46.05</c:v>
                </c:pt>
                <c:pt idx="32">
                  <c:v>46.2</c:v>
                </c:pt>
                <c:pt idx="33">
                  <c:v>46.45</c:v>
                </c:pt>
                <c:pt idx="34">
                  <c:v>46.8</c:v>
                </c:pt>
                <c:pt idx="35">
                  <c:v>47.25</c:v>
                </c:pt>
                <c:pt idx="36">
                  <c:v>47.8</c:v>
                </c:pt>
                <c:pt idx="37">
                  <c:v>48.45</c:v>
                </c:pt>
                <c:pt idx="38">
                  <c:v>49.2</c:v>
                </c:pt>
                <c:pt idx="39">
                  <c:v>50.05</c:v>
                </c:pt>
                <c:pt idx="40">
                  <c:v>51</c:v>
                </c:pt>
                <c:pt idx="41">
                  <c:v>52.05</c:v>
                </c:pt>
                <c:pt idx="42">
                  <c:v>53.2</c:v>
                </c:pt>
                <c:pt idx="43">
                  <c:v>54.45</c:v>
                </c:pt>
                <c:pt idx="44">
                  <c:v>55.8</c:v>
                </c:pt>
                <c:pt idx="45">
                  <c:v>57.25</c:v>
                </c:pt>
                <c:pt idx="46">
                  <c:v>58.8</c:v>
                </c:pt>
                <c:pt idx="47">
                  <c:v>60.45</c:v>
                </c:pt>
                <c:pt idx="48">
                  <c:v>62.2</c:v>
                </c:pt>
                <c:pt idx="49">
                  <c:v>64.05</c:v>
                </c:pt>
                <c:pt idx="50">
                  <c:v>66</c:v>
                </c:pt>
                <c:pt idx="51">
                  <c:v>68.05</c:v>
                </c:pt>
                <c:pt idx="52">
                  <c:v>70.2</c:v>
                </c:pt>
                <c:pt idx="53">
                  <c:v>72.45</c:v>
                </c:pt>
                <c:pt idx="54">
                  <c:v>74.8</c:v>
                </c:pt>
                <c:pt idx="55">
                  <c:v>77.25</c:v>
                </c:pt>
                <c:pt idx="56">
                  <c:v>79.8</c:v>
                </c:pt>
                <c:pt idx="57">
                  <c:v>82.45</c:v>
                </c:pt>
                <c:pt idx="58">
                  <c:v>85.2</c:v>
                </c:pt>
                <c:pt idx="59">
                  <c:v>88.05</c:v>
                </c:pt>
                <c:pt idx="60">
                  <c:v>91</c:v>
                </c:pt>
              </c:numCache>
            </c:numRef>
          </c:yVal>
          <c:smooth val="0"/>
          <c:extLst>
            <c:ext xmlns:c16="http://schemas.microsoft.com/office/drawing/2014/chart" uri="{C3380CC4-5D6E-409C-BE32-E72D297353CC}">
              <c16:uniqueId val="{00000000-1AE5-4D29-9D65-7694055A61CA}"/>
            </c:ext>
          </c:extLst>
        </c:ser>
        <c:ser>
          <c:idx val="2"/>
          <c:order val="2"/>
          <c:tx>
            <c:v>Squared loss at b = 0</c:v>
          </c:tx>
          <c:spPr>
            <a:ln w="19050">
              <a:solidFill>
                <a:srgbClr val="C45C28"/>
              </a:solidFill>
            </a:ln>
          </c:spPr>
          <c:marker>
            <c:symbol val="none"/>
          </c:marker>
          <c:xVal>
            <c:numRef>
              <c:f>'Chart Data'!$E$2:$E$3</c:f>
              <c:numCache>
                <c:formatCode>General</c:formatCode>
                <c:ptCount val="2"/>
                <c:pt idx="0">
                  <c:v>0</c:v>
                </c:pt>
                <c:pt idx="1">
                  <c:v>0</c:v>
                </c:pt>
              </c:numCache>
            </c:numRef>
          </c:xVal>
          <c:yVal>
            <c:numRef>
              <c:f>'Chart Data'!$F$2:$F$3</c:f>
              <c:numCache>
                <c:formatCode>0.##</c:formatCode>
                <c:ptCount val="2"/>
                <c:pt idx="0">
                  <c:v>0</c:v>
                </c:pt>
                <c:pt idx="1">
                  <c:v>66</c:v>
                </c:pt>
              </c:numCache>
            </c:numRef>
          </c:yVal>
          <c:smooth val="0"/>
          <c:extLst>
            <c:ext xmlns:c16="http://schemas.microsoft.com/office/drawing/2014/chart" uri="{C3380CC4-5D6E-409C-BE32-E72D297353CC}">
              <c16:uniqueId val="{00000001-1AE5-4D29-9D65-7694055A61CA}"/>
            </c:ext>
          </c:extLst>
        </c:ser>
        <c:ser>
          <c:idx val="1"/>
          <c:order val="1"/>
          <c:tx>
            <c:v>Current parameter</c:v>
          </c:tx>
          <c:spPr>
            <a:ln w="0">
              <a:noFill/>
            </a:ln>
          </c:spPr>
          <c:marker>
            <c:symbol val="circle"/>
            <c:size val="10"/>
            <c:spPr>
              <a:solidFill>
                <a:srgbClr val="C45C28"/>
              </a:solidFill>
              <a:ln w="12700">
                <a:solidFill>
                  <a:srgbClr val="C45C28"/>
                </a:solidFill>
              </a:ln>
            </c:spPr>
          </c:marker>
          <c:xVal>
            <c:numRef>
              <c:f>'Chart Data'!$C$2:$C$2</c:f>
              <c:numCache>
                <c:formatCode>General</c:formatCode>
                <c:ptCount val="1"/>
                <c:pt idx="0">
                  <c:v>0</c:v>
                </c:pt>
              </c:numCache>
            </c:numRef>
          </c:xVal>
          <c:yVal>
            <c:numRef>
              <c:f>'Chart Data'!$D$2:$D$2</c:f>
              <c:numCache>
                <c:formatCode>0.##</c:formatCode>
                <c:ptCount val="1"/>
                <c:pt idx="0">
                  <c:v>66</c:v>
                </c:pt>
              </c:numCache>
            </c:numRef>
          </c:yVal>
          <c:smooth val="0"/>
          <c:extLst>
            <c:ext xmlns:c16="http://schemas.microsoft.com/office/drawing/2014/chart" uri="{C3380CC4-5D6E-409C-BE32-E72D297353CC}">
              <c16:uniqueId val="{00000002-1AE5-4D29-9D65-7694055A61CA}"/>
            </c:ext>
          </c:extLst>
        </c:ser>
        <c:ser>
          <c:idx val="3"/>
          <c:order val="3"/>
          <c:tx>
            <c:v>Minimum loss height</c:v>
          </c:tx>
          <c:spPr>
            <a:ln w="28575">
              <a:solidFill>
                <a:srgbClr val="7543A0"/>
              </a:solidFill>
            </a:ln>
          </c:spPr>
          <c:marker>
            <c:symbol val="none"/>
          </c:marker>
          <c:xVal>
            <c:numRef>
              <c:f>'Chart Data'!$G$2:$G$3</c:f>
              <c:numCache>
                <c:formatCode>General</c:formatCode>
                <c:ptCount val="2"/>
                <c:pt idx="0">
                  <c:v>2</c:v>
                </c:pt>
                <c:pt idx="1">
                  <c:v>2</c:v>
                </c:pt>
              </c:numCache>
            </c:numRef>
          </c:xVal>
          <c:yVal>
            <c:numRef>
              <c:f>'Chart Data'!$H$2:$H$3</c:f>
              <c:numCache>
                <c:formatCode>0.##</c:formatCode>
                <c:ptCount val="2"/>
                <c:pt idx="0">
                  <c:v>0</c:v>
                </c:pt>
                <c:pt idx="1">
                  <c:v>46</c:v>
                </c:pt>
              </c:numCache>
            </c:numRef>
          </c:yVal>
          <c:smooth val="0"/>
          <c:extLst>
            <c:ext xmlns:c16="http://schemas.microsoft.com/office/drawing/2014/chart" uri="{C3380CC4-5D6E-409C-BE32-E72D297353CC}">
              <c16:uniqueId val="{00000003-1AE5-4D29-9D65-7694055A61CA}"/>
            </c:ext>
          </c:extLst>
        </c:ser>
        <c:ser>
          <c:idx val="4"/>
          <c:order val="4"/>
          <c:tx>
            <c:v>Minimum</c:v>
          </c:tx>
          <c:spPr>
            <a:ln w="0">
              <a:noFill/>
            </a:ln>
          </c:spPr>
          <c:marker>
            <c:symbol val="circle"/>
            <c:size val="10"/>
            <c:spPr>
              <a:solidFill>
                <a:srgbClr val="7543A0"/>
              </a:solidFill>
              <a:ln w="12700">
                <a:solidFill>
                  <a:srgbClr val="7543A0"/>
                </a:solidFill>
              </a:ln>
            </c:spPr>
          </c:marker>
          <c:dLbls>
            <c:dLbl>
              <c:idx val="0"/>
              <c:tx>
                <c:rich>
                  <a:bodyPr/>
                  <a:lstStyle/>
                  <a:p>
                    <a:r>
                      <a:rPr lang="en-US" sz="1800" b="0" i="1" baseline="0">
                        <a:solidFill>
                          <a:srgbClr val="7543A0"/>
                        </a:solidFill>
                        <a:latin typeface="Cambria Math"/>
                        <a:ea typeface="Cambria Math"/>
                        <a:cs typeface="Cambria Math"/>
                      </a:rPr>
                      <a:t>b</a:t>
                    </a:r>
                    <a:r>
                      <a:rPr lang="en-US" sz="1800" b="0" i="0" baseline="30000">
                        <a:solidFill>
                          <a:srgbClr val="7543A0"/>
                        </a:solidFill>
                        <a:latin typeface="Cambria Math"/>
                        <a:ea typeface="Cambria Math"/>
                        <a:cs typeface="Cambria Math"/>
                      </a:rPr>
                      <a:t>∗</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AE5-4D29-9D65-7694055A61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Data'!$I$2:$I$2</c:f>
              <c:numCache>
                <c:formatCode>General</c:formatCode>
                <c:ptCount val="1"/>
                <c:pt idx="0">
                  <c:v>2</c:v>
                </c:pt>
              </c:numCache>
            </c:numRef>
          </c:xVal>
          <c:yVal>
            <c:numRef>
              <c:f>'Chart Data'!$J$2:$J$2</c:f>
              <c:numCache>
                <c:formatCode>0.##</c:formatCode>
                <c:ptCount val="1"/>
                <c:pt idx="0">
                  <c:v>46</c:v>
                </c:pt>
              </c:numCache>
            </c:numRef>
          </c:yVal>
          <c:smooth val="0"/>
          <c:extLst>
            <c:ext xmlns:c16="http://schemas.microsoft.com/office/drawing/2014/chart" uri="{C3380CC4-5D6E-409C-BE32-E72D297353CC}">
              <c16:uniqueId val="{00000005-1AE5-4D29-9D65-7694055A61CA}"/>
            </c:ext>
          </c:extLst>
        </c:ser>
        <c:ser>
          <c:idx val="5"/>
          <c:order val="5"/>
          <c:tx>
            <c:v>Horizontal tangent</c:v>
          </c:tx>
          <c:spPr>
            <a:ln w="28575">
              <a:solidFill>
                <a:srgbClr val="7543A0"/>
              </a:solidFill>
              <a:prstDash val="dash"/>
            </a:ln>
          </c:spPr>
          <c:marker>
            <c:symbol val="none"/>
          </c:marker>
          <c:xVal>
            <c:numRef>
              <c:f>'Chart Data'!$K$2:$K$3</c:f>
              <c:numCache>
                <c:formatCode>General</c:formatCode>
                <c:ptCount val="2"/>
                <c:pt idx="0">
                  <c:v>0.45</c:v>
                </c:pt>
                <c:pt idx="1">
                  <c:v>3.55</c:v>
                </c:pt>
              </c:numCache>
            </c:numRef>
          </c:xVal>
          <c:yVal>
            <c:numRef>
              <c:f>'Chart Data'!$L$2:$L$3</c:f>
              <c:numCache>
                <c:formatCode>0.##</c:formatCode>
                <c:ptCount val="2"/>
                <c:pt idx="0">
                  <c:v>46</c:v>
                </c:pt>
                <c:pt idx="1">
                  <c:v>46</c:v>
                </c:pt>
              </c:numCache>
            </c:numRef>
          </c:yVal>
          <c:smooth val="0"/>
          <c:extLst>
            <c:ext xmlns:c16="http://schemas.microsoft.com/office/drawing/2014/chart" uri="{C3380CC4-5D6E-409C-BE32-E72D297353CC}">
              <c16:uniqueId val="{00000006-1AE5-4D29-9D65-7694055A61CA}"/>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E8EDF2"/>
              </a:solidFill>
            </a:ln>
          </c:spPr>
        </c:majorGridlines>
        <c:title>
          <c:tx>
            <c:rich>
              <a:bodyPr/>
              <a:lstStyle/>
              <a:p>
                <a:r>
                  <a:rPr lang="it-IT" sz="2000" b="0" baseline="0">
                    <a:latin typeface="Cambria Math"/>
                    <a:ea typeface="Cambria Math"/>
                    <a:cs typeface="Cambria Math"/>
                  </a:rPr>
                  <a:t>ℒ</a:t>
                </a:r>
                <a:r>
                  <a:rPr lang="it-IT" sz="2000" b="0" baseline="-25000">
                    <a:latin typeface="Cambria Math"/>
                    <a:ea typeface="Cambria Math"/>
                    <a:cs typeface="Cambria Math"/>
                  </a:rPr>
                  <a:t>sq</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0"/>
      </c:valAx>
      <c:valAx>
        <c:axId val="48650112"/>
        <c:scaling>
          <c:orientation val="minMax"/>
          <c:max val="5"/>
          <c:min val="-1"/>
        </c:scaling>
        <c:delete val="0"/>
        <c:axPos val="b"/>
        <c:title>
          <c:tx>
            <c:rich>
              <a:bodyPr/>
              <a:lstStyle/>
              <a:p>
                <a:r>
                  <a:rPr lang="it-IT">
                    <a:latin typeface="DejaVu Sans"/>
                    <a:ea typeface="DejaVu Sans"/>
                    <a:cs typeface="DejaVu Sans"/>
                  </a:rPr>
                  <a:t>Parameter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0C32-462D-8932-1D606567C431}"/>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c:v>
                </c:pt>
                <c:pt idx="1">
                  <c:v>2</c:v>
                </c:pt>
              </c:numCache>
            </c:numRef>
          </c:yVal>
          <c:smooth val="0"/>
          <c:extLst>
            <c:ext xmlns:c16="http://schemas.microsoft.com/office/drawing/2014/chart" uri="{C3380CC4-5D6E-409C-BE32-E72D297353CC}">
              <c16:uniqueId val="{00000001-0C32-462D-8932-1D606567C431}"/>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87C2-4481-9FC1-B9CF44A8F3DD}"/>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-4.9000000000000004</c:v>
                </c:pt>
                <c:pt idx="1">
                  <c:v>4.9000000000000004</c:v>
                </c:pt>
              </c:numCache>
            </c:numRef>
          </c:yVal>
          <c:smooth val="0"/>
          <c:extLst>
            <c:ext xmlns:c16="http://schemas.microsoft.com/office/drawing/2014/chart" uri="{C3380CC4-5D6E-409C-BE32-E72D297353CC}">
              <c16:uniqueId val="{00000001-87C2-4481-9FC1-B9CF44A8F3DD}"/>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BD12-4A6D-BA4A-049441393D13}"/>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-4.9000000000000004</c:v>
                </c:pt>
                <c:pt idx="1">
                  <c:v>4.9000000000000004</c:v>
                </c:pt>
              </c:numCache>
            </c:numRef>
          </c:yVal>
          <c:smooth val="0"/>
          <c:extLst>
            <c:ext xmlns:c16="http://schemas.microsoft.com/office/drawing/2014/chart" uri="{C3380CC4-5D6E-409C-BE32-E72D297353CC}">
              <c16:uniqueId val="{00000001-BD12-4A6D-BA4A-049441393D13}"/>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36E3-4B69-BD9C-EBD4B92BAA15}"/>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-2.9</c:v>
                </c:pt>
                <c:pt idx="1">
                  <c:v>6.9</c:v>
                </c:pt>
              </c:numCache>
            </c:numRef>
          </c:yVal>
          <c:smooth val="0"/>
          <c:extLst>
            <c:ext xmlns:c16="http://schemas.microsoft.com/office/drawing/2014/chart" uri="{C3380CC4-5D6E-409C-BE32-E72D297353CC}">
              <c16:uniqueId val="{00000001-36E3-4B69-BD9C-EBD4B92BAA15}"/>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1"/>
          <c:order val="1"/>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36E3-4B69-BD9C-EBD4B92BAA15}"/>
            </c:ext>
          </c:extLst>
        </c:ser>
        <c:ser>
          <c:idx val="0"/>
          <c:order val="0"/>
          <c:tx>
            <c:v>Predictor</c:v>
          </c:tx>
          <c:spPr>
            <a:ln w="28575">
              <a:solidFill>
                <a:srgbClr val="087F83"/>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-2.9</c:v>
                </c:pt>
                <c:pt idx="1">
                  <c:v>6.9</c:v>
                </c:pt>
              </c:numCache>
            </c:numRef>
          </c:yVal>
          <c:smooth val="0"/>
          <c:extLst>
            <c:ext xmlns:c16="http://schemas.microsoft.com/office/drawing/2014/chart" uri="{C3380CC4-5D6E-409C-BE32-E72D297353CC}">
              <c16:uniqueId val="{00000001-36E3-4B69-BD9C-EBD4B92BAA15}"/>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2"/>
          <c:order val="2"/>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8077199C-9177-47B6-8961-176CA1D82C98}"/>
            </c:ext>
          </c:extLst>
        </c:ser>
        <c:ser>
          <c:idx val="0"/>
          <c:order val="0"/>
          <c:tx>
            <c:v>Optimal line</c:v>
          </c:tx>
          <c:spPr>
            <a:ln w="28575">
              <a:solidFill>
                <a:srgbClr val="DAE5EE"/>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-2.9</c:v>
                </c:pt>
                <c:pt idx="1">
                  <c:v>6.9</c:v>
                </c:pt>
              </c:numCache>
            </c:numRef>
          </c:yVal>
          <c:smooth val="0"/>
          <c:extLst>
            <c:ext xmlns:c16="http://schemas.microsoft.com/office/drawing/2014/chart" uri="{C3380CC4-5D6E-409C-BE32-E72D297353CC}">
              <c16:uniqueId val="{EF391AFE-F35D-442D-A56E-4B82E999805E}"/>
            </c:ext>
          </c:extLst>
        </c:ser>
        <c:ser>
          <c:idx val="1"/>
          <c:order val="1"/>
          <c:tx>
            <c:v>Predictor</c:v>
          </c:tx>
          <c:spPr>
            <a:ln w="28575">
              <a:solidFill>
                <a:srgbClr val="087F83"/>
              </a:solidFill>
            </a:ln>
          </c:spPr>
          <c:marker>
            <c:symbol val="none"/>
          </c:marker>
          <c:xVal>
            <c:numRef>
              <c:f>'Chart Data'!$E$2:$E$3</c:f>
              <c:numCache>
                <c:formatCode>General</c:formatCode>
                <c:ptCount val="2"/>
                <c:pt idx="0">
                  <c:v>-2.4500000000000002</c:v>
                </c:pt>
                <c:pt idx="1">
                  <c:v>2.4500000000000002</c:v>
                </c:pt>
              </c:numCache>
            </c:numRef>
          </c:xVal>
          <c:yVal>
            <c:numRef>
              <c:f>'Chart Data'!$F$2:$F$3</c:f>
              <c:numCache>
                <c:formatCode>0.##</c:formatCode>
                <c:ptCount val="2"/>
                <c:pt idx="0">
                  <c:v>0</c:v>
                </c:pt>
                <c:pt idx="1">
                  <c:v>0</c:v>
                </c:pt>
              </c:numCache>
            </c:numRef>
          </c:yVal>
          <c:smooth val="0"/>
          <c:extLst>
            <c:ext xmlns:c16="http://schemas.microsoft.com/office/drawing/2014/chart" uri="{C3380CC4-5D6E-409C-BE32-E72D297353CC}">
              <c16:uniqueId val="{18F62A47-F25D-4EEF-8328-8C6F5B84B05B}"/>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Loss 8</c:v>
          </c:tx>
          <c:spPr>
            <a:ln w="14288">
              <a:solidFill>
                <a:srgbClr val="DAE5EE"/>
              </a:solidFill>
            </a:ln>
          </c:spPr>
          <c:marker>
            <c:symbol val="none"/>
          </c:marker>
          <c:xVal>
            <c:numRef>
              <c:f>'Chart Data'!$A$2:$A$98</c:f>
              <c:numCache>
                <c:formatCode>General</c:formatCode>
                <c:ptCount val="97"/>
                <c:pt idx="0">
                  <c:v>2.6324555320299998</c:v>
                </c:pt>
                <c:pt idx="1">
                  <c:v>2.6311013961900001</c:v>
                </c:pt>
                <c:pt idx="2">
                  <c:v>2.62704478728</c:v>
                </c:pt>
                <c:pt idx="3">
                  <c:v>2.6203030763299999</c:v>
                </c:pt>
                <c:pt idx="4">
                  <c:v>2.6109051323700001</c:v>
                </c:pt>
                <c:pt idx="5">
                  <c:v>2.5988911988500001</c:v>
                </c:pt>
                <c:pt idx="6">
                  <c:v>2.5843127212699999</c:v>
                </c:pt>
                <c:pt idx="7">
                  <c:v>2.56723212691</c:v>
                </c:pt>
                <c:pt idx="8">
                  <c:v>2.5477225575100002</c:v>
                </c:pt>
                <c:pt idx="9">
                  <c:v>2.5258675560200001</c:v>
                </c:pt>
                <c:pt idx="10">
                  <c:v>2.50176070892</c:v>
                </c:pt>
                <c:pt idx="11">
                  <c:v>2.4755052454399999</c:v>
                </c:pt>
                <c:pt idx="12">
                  <c:v>2.4472135955000001</c:v>
                </c:pt>
                <c:pt idx="13">
                  <c:v>2.4170069082799999</c:v>
                </c:pt>
                <c:pt idx="14">
                  <c:v>2.3850145334700001</c:v>
                </c:pt>
                <c:pt idx="15">
                  <c:v>2.3513734673100002</c:v>
                </c:pt>
                <c:pt idx="16">
                  <c:v>2.3162277660199999</c:v>
                </c:pt>
                <c:pt idx="17">
                  <c:v>2.2797279288799999</c:v>
                </c:pt>
                <c:pt idx="18">
                  <c:v>2.2420302538199999</c:v>
                </c:pt>
                <c:pt idx="19">
                  <c:v>2.2032961680400001</c:v>
                </c:pt>
                <c:pt idx="20">
                  <c:v>2.16369153687</c:v>
                </c:pt>
                <c:pt idx="21">
                  <c:v>2.1233859534100001</c:v>
                </c:pt>
                <c:pt idx="22">
                  <c:v>2.0825520123399999</c:v>
                </c:pt>
                <c:pt idx="23">
                  <c:v>2.0413645708899999</c:v>
                </c:pt>
                <c:pt idx="24">
                  <c:v>2</c:v>
                </c:pt>
                <c:pt idx="25">
                  <c:v>1.9586354291100001</c:v>
                </c:pt>
                <c:pt idx="26">
                  <c:v>1.9174479876599999</c:v>
                </c:pt>
                <c:pt idx="27">
                  <c:v>1.8766140465900001</c:v>
                </c:pt>
                <c:pt idx="28">
                  <c:v>1.83630846313</c:v>
                </c:pt>
                <c:pt idx="29">
                  <c:v>1.7967038319599999</c:v>
                </c:pt>
                <c:pt idx="30">
                  <c:v>1.7579697461799999</c:v>
                </c:pt>
                <c:pt idx="31">
                  <c:v>1.7202720711199999</c:v>
                </c:pt>
                <c:pt idx="32">
                  <c:v>1.6837722339800001</c:v>
                </c:pt>
                <c:pt idx="33">
                  <c:v>1.64862653269</c:v>
                </c:pt>
                <c:pt idx="34">
                  <c:v>1.6149854665300001</c:v>
                </c:pt>
                <c:pt idx="35">
                  <c:v>1.5829930917199999</c:v>
                </c:pt>
                <c:pt idx="36">
                  <c:v>1.5527864044999999</c:v>
                </c:pt>
                <c:pt idx="37">
                  <c:v>1.5244947545600001</c:v>
                </c:pt>
                <c:pt idx="38">
                  <c:v>1.49823929108</c:v>
                </c:pt>
                <c:pt idx="39">
                  <c:v>1.4741324439800001</c:v>
                </c:pt>
                <c:pt idx="40">
                  <c:v>1.45227744249</c:v>
                </c:pt>
                <c:pt idx="41">
                  <c:v>1.43276787309</c:v>
                </c:pt>
                <c:pt idx="42">
                  <c:v>1.4156872787300001</c:v>
                </c:pt>
                <c:pt idx="43">
                  <c:v>1.4011088011499999</c:v>
                </c:pt>
                <c:pt idx="44">
                  <c:v>1.3890948676299999</c:v>
                </c:pt>
                <c:pt idx="45">
                  <c:v>1.3796969236700001</c:v>
                </c:pt>
                <c:pt idx="46">
                  <c:v>1.37295521272</c:v>
                </c:pt>
                <c:pt idx="47">
                  <c:v>1.3688986038099999</c:v>
                </c:pt>
                <c:pt idx="48">
                  <c:v>1.36754446797</c:v>
                </c:pt>
                <c:pt idx="49">
                  <c:v>1.3688986038099999</c:v>
                </c:pt>
                <c:pt idx="50">
                  <c:v>1.37295521272</c:v>
                </c:pt>
                <c:pt idx="51">
                  <c:v>1.3796969236700001</c:v>
                </c:pt>
                <c:pt idx="52">
                  <c:v>1.3890948676299999</c:v>
                </c:pt>
                <c:pt idx="53">
                  <c:v>1.4011088011499999</c:v>
                </c:pt>
                <c:pt idx="54">
                  <c:v>1.4156872787300001</c:v>
                </c:pt>
                <c:pt idx="55">
                  <c:v>1.43276787309</c:v>
                </c:pt>
                <c:pt idx="56">
                  <c:v>1.45227744249</c:v>
                </c:pt>
                <c:pt idx="57">
                  <c:v>1.4741324439800001</c:v>
                </c:pt>
                <c:pt idx="58">
                  <c:v>1.49823929108</c:v>
                </c:pt>
                <c:pt idx="59">
                  <c:v>1.5244947545600001</c:v>
                </c:pt>
                <c:pt idx="60">
                  <c:v>1.5527864044999999</c:v>
                </c:pt>
                <c:pt idx="61">
                  <c:v>1.5829930917199999</c:v>
                </c:pt>
                <c:pt idx="62">
                  <c:v>1.6149854665300001</c:v>
                </c:pt>
                <c:pt idx="63">
                  <c:v>1.64862653269</c:v>
                </c:pt>
                <c:pt idx="64">
                  <c:v>1.6837722339800001</c:v>
                </c:pt>
                <c:pt idx="65">
                  <c:v>1.7202720711199999</c:v>
                </c:pt>
                <c:pt idx="66">
                  <c:v>1.7579697461799999</c:v>
                </c:pt>
                <c:pt idx="67">
                  <c:v>1.7967038319599999</c:v>
                </c:pt>
                <c:pt idx="68">
                  <c:v>1.83630846313</c:v>
                </c:pt>
                <c:pt idx="69">
                  <c:v>1.8766140465900001</c:v>
                </c:pt>
                <c:pt idx="70">
                  <c:v>1.9174479876599999</c:v>
                </c:pt>
                <c:pt idx="71">
                  <c:v>1.9586354291100001</c:v>
                </c:pt>
                <c:pt idx="72">
                  <c:v>2</c:v>
                </c:pt>
                <c:pt idx="73">
                  <c:v>2.0413645708899999</c:v>
                </c:pt>
                <c:pt idx="74">
                  <c:v>2.0825520123399999</c:v>
                </c:pt>
                <c:pt idx="75">
                  <c:v>2.1233859534100001</c:v>
                </c:pt>
                <c:pt idx="76">
                  <c:v>2.16369153687</c:v>
                </c:pt>
                <c:pt idx="77">
                  <c:v>2.2032961680400001</c:v>
                </c:pt>
                <c:pt idx="78">
                  <c:v>2.2420302538199999</c:v>
                </c:pt>
                <c:pt idx="79">
                  <c:v>2.2797279288799999</c:v>
                </c:pt>
                <c:pt idx="80">
                  <c:v>2.3162277660199999</c:v>
                </c:pt>
                <c:pt idx="81">
                  <c:v>2.3513734673100002</c:v>
                </c:pt>
                <c:pt idx="82">
                  <c:v>2.3850145334700001</c:v>
                </c:pt>
                <c:pt idx="83">
                  <c:v>2.4170069082799999</c:v>
                </c:pt>
                <c:pt idx="84">
                  <c:v>2.4472135955000001</c:v>
                </c:pt>
                <c:pt idx="85">
                  <c:v>2.4755052454399999</c:v>
                </c:pt>
                <c:pt idx="86">
                  <c:v>2.50176070892</c:v>
                </c:pt>
                <c:pt idx="87">
                  <c:v>2.5258675560200001</c:v>
                </c:pt>
                <c:pt idx="88">
                  <c:v>2.5477225575100002</c:v>
                </c:pt>
                <c:pt idx="89">
                  <c:v>2.56723212691</c:v>
                </c:pt>
                <c:pt idx="90">
                  <c:v>2.5843127212699999</c:v>
                </c:pt>
                <c:pt idx="91">
                  <c:v>2.5988911988500001</c:v>
                </c:pt>
                <c:pt idx="92">
                  <c:v>2.6109051323700001</c:v>
                </c:pt>
                <c:pt idx="93">
                  <c:v>2.6203030763299999</c:v>
                </c:pt>
                <c:pt idx="94">
                  <c:v>2.62704478728</c:v>
                </c:pt>
                <c:pt idx="95">
                  <c:v>2.6311013961900001</c:v>
                </c:pt>
                <c:pt idx="96">
                  <c:v>2.6324555320299998</c:v>
                </c:pt>
              </c:numCache>
            </c:numRef>
          </c:xVal>
          <c:yVal>
            <c:numRef>
              <c:f>'Chart Data'!$B$2:$B$98</c:f>
              <c:numCache>
                <c:formatCode>0.##</c:formatCode>
                <c:ptCount val="97"/>
                <c:pt idx="0">
                  <c:v>2</c:v>
                </c:pt>
                <c:pt idx="1">
                  <c:v>2.0292491685799998</c:v>
                </c:pt>
                <c:pt idx="2">
                  <c:v>2.0583730877300002</c:v>
                </c:pt>
                <c:pt idx="3">
                  <c:v>2.0872470443600002</c:v>
                </c:pt>
                <c:pt idx="4">
                  <c:v>2.1157473957400001</c:v>
                </c:pt>
                <c:pt idx="5">
                  <c:v>2.1437520990099999</c:v>
                </c:pt>
                <c:pt idx="6">
                  <c:v>2.1711412337299998</c:v>
                </c:pt>
                <c:pt idx="7">
                  <c:v>2.1977975154</c:v>
                </c:pt>
                <c:pt idx="8">
                  <c:v>2.22360679775</c:v>
                </c:pt>
                <c:pt idx="9">
                  <c:v>2.2484585614600001</c:v>
                </c:pt>
                <c:pt idx="10">
                  <c:v>2.2722463874700001</c:v>
                </c:pt>
                <c:pt idx="11">
                  <c:v>2.2948684126500001</c:v>
                </c:pt>
                <c:pt idx="12">
                  <c:v>2.3162277660199999</c:v>
                </c:pt>
                <c:pt idx="13">
                  <c:v>2.33623298354</c:v>
                </c:pt>
                <c:pt idx="14">
                  <c:v>2.3547983998099999</c:v>
                </c:pt>
                <c:pt idx="15">
                  <c:v>2.3718445148699998</c:v>
                </c:pt>
                <c:pt idx="16">
                  <c:v>2.3872983346200001</c:v>
                </c:pt>
                <c:pt idx="17">
                  <c:v>2.4010936834500001</c:v>
                </c:pt>
                <c:pt idx="18">
                  <c:v>2.4131714875400001</c:v>
                </c:pt>
                <c:pt idx="19">
                  <c:v>2.4234800279000002</c:v>
                </c:pt>
                <c:pt idx="20">
                  <c:v>2.4319751617600001</c:v>
                </c:pt>
                <c:pt idx="21">
                  <c:v>2.4386205116599999</c:v>
                </c:pt>
                <c:pt idx="22">
                  <c:v>2.4433876211899999</c:v>
                </c:pt>
                <c:pt idx="23">
                  <c:v>2.4462560768600001</c:v>
                </c:pt>
                <c:pt idx="24">
                  <c:v>2.4472135955000001</c:v>
                </c:pt>
                <c:pt idx="25">
                  <c:v>2.4462560768600001</c:v>
                </c:pt>
                <c:pt idx="26">
                  <c:v>2.4433876211899999</c:v>
                </c:pt>
                <c:pt idx="27">
                  <c:v>2.4386205116599999</c:v>
                </c:pt>
                <c:pt idx="28">
                  <c:v>2.4319751617600001</c:v>
                </c:pt>
                <c:pt idx="29">
                  <c:v>2.4234800279000002</c:v>
                </c:pt>
                <c:pt idx="30">
                  <c:v>2.4131714875400001</c:v>
                </c:pt>
                <c:pt idx="31">
                  <c:v>2.4010936834500001</c:v>
                </c:pt>
                <c:pt idx="32">
                  <c:v>2.3872983346200001</c:v>
                </c:pt>
                <c:pt idx="33">
                  <c:v>2.3718445148699998</c:v>
                </c:pt>
                <c:pt idx="34">
                  <c:v>2.3547983998099999</c:v>
                </c:pt>
                <c:pt idx="35">
                  <c:v>2.33623298354</c:v>
                </c:pt>
                <c:pt idx="36">
                  <c:v>2.3162277660199999</c:v>
                </c:pt>
                <c:pt idx="37">
                  <c:v>2.2948684126500001</c:v>
                </c:pt>
                <c:pt idx="38">
                  <c:v>2.2722463874700001</c:v>
                </c:pt>
                <c:pt idx="39">
                  <c:v>2.2484585614600001</c:v>
                </c:pt>
                <c:pt idx="40">
                  <c:v>2.22360679775</c:v>
                </c:pt>
                <c:pt idx="41">
                  <c:v>2.1977975154</c:v>
                </c:pt>
                <c:pt idx="42">
                  <c:v>2.1711412337299998</c:v>
                </c:pt>
                <c:pt idx="43">
                  <c:v>2.1437520990099999</c:v>
                </c:pt>
                <c:pt idx="44">
                  <c:v>2.1157473957400001</c:v>
                </c:pt>
                <c:pt idx="45">
                  <c:v>2.0872470443600002</c:v>
                </c:pt>
                <c:pt idx="46">
                  <c:v>2.0583730877300002</c:v>
                </c:pt>
                <c:pt idx="47">
                  <c:v>2.0292491685799998</c:v>
                </c:pt>
                <c:pt idx="48">
                  <c:v>2</c:v>
                </c:pt>
                <c:pt idx="49">
                  <c:v>1.97075083142</c:v>
                </c:pt>
                <c:pt idx="50">
                  <c:v>1.9416269122700001</c:v>
                </c:pt>
                <c:pt idx="51">
                  <c:v>1.91275295564</c:v>
                </c:pt>
                <c:pt idx="52">
                  <c:v>1.8842526042600001</c:v>
                </c:pt>
                <c:pt idx="53">
                  <c:v>1.8562479009899999</c:v>
                </c:pt>
                <c:pt idx="54">
                  <c:v>1.82885876627</c:v>
                </c:pt>
                <c:pt idx="55">
                  <c:v>1.8022024846</c:v>
                </c:pt>
                <c:pt idx="56">
                  <c:v>1.77639320225</c:v>
                </c:pt>
                <c:pt idx="57">
                  <c:v>1.7515414385400001</c:v>
                </c:pt>
                <c:pt idx="58">
                  <c:v>1.7277536125299999</c:v>
                </c:pt>
                <c:pt idx="59">
                  <c:v>1.7051315873499999</c:v>
                </c:pt>
                <c:pt idx="60">
                  <c:v>1.6837722339800001</c:v>
                </c:pt>
                <c:pt idx="61">
                  <c:v>1.66376701646</c:v>
                </c:pt>
                <c:pt idx="62">
                  <c:v>1.6452016001900001</c:v>
                </c:pt>
                <c:pt idx="63">
                  <c:v>1.62815548513</c:v>
                </c:pt>
                <c:pt idx="64">
                  <c:v>1.6127016653799999</c:v>
                </c:pt>
                <c:pt idx="65">
                  <c:v>1.5989063165499999</c:v>
                </c:pt>
                <c:pt idx="66">
                  <c:v>1.5868285124599999</c:v>
                </c:pt>
                <c:pt idx="67">
                  <c:v>1.5765199721000001</c:v>
                </c:pt>
                <c:pt idx="68">
                  <c:v>1.5680248382399999</c:v>
                </c:pt>
                <c:pt idx="69">
                  <c:v>1.5613794883400001</c:v>
                </c:pt>
                <c:pt idx="70">
                  <c:v>1.5566123788099999</c:v>
                </c:pt>
                <c:pt idx="71">
                  <c:v>1.5537439231400001</c:v>
                </c:pt>
                <c:pt idx="72">
                  <c:v>1.5527864044999999</c:v>
                </c:pt>
                <c:pt idx="73">
                  <c:v>1.5537439231400001</c:v>
                </c:pt>
                <c:pt idx="74">
                  <c:v>1.5566123788099999</c:v>
                </c:pt>
                <c:pt idx="75">
                  <c:v>1.5613794883400001</c:v>
                </c:pt>
                <c:pt idx="76">
                  <c:v>1.5680248382399999</c:v>
                </c:pt>
                <c:pt idx="77">
                  <c:v>1.5765199721000001</c:v>
                </c:pt>
                <c:pt idx="78">
                  <c:v>1.5868285124599999</c:v>
                </c:pt>
                <c:pt idx="79">
                  <c:v>1.5989063165499999</c:v>
                </c:pt>
                <c:pt idx="80">
                  <c:v>1.6127016653799999</c:v>
                </c:pt>
                <c:pt idx="81">
                  <c:v>1.62815548513</c:v>
                </c:pt>
                <c:pt idx="82">
                  <c:v>1.6452016001900001</c:v>
                </c:pt>
                <c:pt idx="83">
                  <c:v>1.66376701646</c:v>
                </c:pt>
                <c:pt idx="84">
                  <c:v>1.6837722339800001</c:v>
                </c:pt>
                <c:pt idx="85">
                  <c:v>1.7051315873499999</c:v>
                </c:pt>
                <c:pt idx="86">
                  <c:v>1.7277536125299999</c:v>
                </c:pt>
                <c:pt idx="87">
                  <c:v>1.7515414385400001</c:v>
                </c:pt>
                <c:pt idx="88">
                  <c:v>1.77639320225</c:v>
                </c:pt>
                <c:pt idx="89">
                  <c:v>1.8022024846</c:v>
                </c:pt>
                <c:pt idx="90">
                  <c:v>1.82885876627</c:v>
                </c:pt>
                <c:pt idx="91">
                  <c:v>1.8562479009899999</c:v>
                </c:pt>
                <c:pt idx="92">
                  <c:v>1.8842526042600001</c:v>
                </c:pt>
                <c:pt idx="93">
                  <c:v>1.91275295564</c:v>
                </c:pt>
                <c:pt idx="94">
                  <c:v>1.9416269122700001</c:v>
                </c:pt>
                <c:pt idx="95">
                  <c:v>1.97075083142</c:v>
                </c:pt>
                <c:pt idx="96">
                  <c:v>2</c:v>
                </c:pt>
              </c:numCache>
            </c:numRef>
          </c:yVal>
          <c:smooth val="0"/>
          <c:extLst>
            <c:ext xmlns:c16="http://schemas.microsoft.com/office/drawing/2014/chart" uri="{C3380CC4-5D6E-409C-BE32-E72D297353CC}">
              <c16:uniqueId val="{BCB62FD8-F3B1-4245-8B79-ED4DA2585511}"/>
            </c:ext>
          </c:extLst>
        </c:ser>
        <c:ser>
          <c:idx val="1"/>
          <c:order val="1"/>
          <c:tx>
            <c:v>Loss 14</c:v>
          </c:tx>
          <c:spPr>
            <a:ln w="14288">
              <a:solidFill>
                <a:srgbClr val="DAE5EE"/>
              </a:solidFill>
            </a:ln>
          </c:spPr>
          <c:marker>
            <c:symbol val="none"/>
          </c:marker>
          <c:xVal>
            <c:numRef>
              <c:f>'Chart Data'!$C$2:$C$98</c:f>
              <c:numCache>
                <c:formatCode>General</c:formatCode>
                <c:ptCount val="97"/>
                <c:pt idx="0">
                  <c:v>3.2649110640700001</c:v>
                </c:pt>
                <c:pt idx="1">
                  <c:v>3.2622027923800001</c:v>
                </c:pt>
                <c:pt idx="2">
                  <c:v>3.25408957456</c:v>
                </c:pt>
                <c:pt idx="3">
                  <c:v>3.2406061526599999</c:v>
                </c:pt>
                <c:pt idx="4">
                  <c:v>3.2218102647400002</c:v>
                </c:pt>
                <c:pt idx="5">
                  <c:v>3.1977823977000002</c:v>
                </c:pt>
                <c:pt idx="6">
                  <c:v>3.1686254425399998</c:v>
                </c:pt>
                <c:pt idx="7">
                  <c:v>3.13446425383</c:v>
                </c:pt>
                <c:pt idx="8">
                  <c:v>3.09544511501</c:v>
                </c:pt>
                <c:pt idx="9">
                  <c:v>3.0517351120399998</c:v>
                </c:pt>
                <c:pt idx="10">
                  <c:v>3.00352141785</c:v>
                </c:pt>
                <c:pt idx="11">
                  <c:v>2.9510104908899999</c:v>
                </c:pt>
                <c:pt idx="12">
                  <c:v>2.8944271910000001</c:v>
                </c:pt>
                <c:pt idx="13">
                  <c:v>2.8340138165700002</c:v>
                </c:pt>
                <c:pt idx="14">
                  <c:v>2.7700290669299998</c:v>
                </c:pt>
                <c:pt idx="15">
                  <c:v>2.7027469346099999</c:v>
                </c:pt>
                <c:pt idx="16">
                  <c:v>2.6324555320299998</c:v>
                </c:pt>
                <c:pt idx="17">
                  <c:v>2.5594558577700002</c:v>
                </c:pt>
                <c:pt idx="18">
                  <c:v>2.4840605076300002</c:v>
                </c:pt>
                <c:pt idx="19">
                  <c:v>2.4065923360900001</c:v>
                </c:pt>
                <c:pt idx="20">
                  <c:v>2.3273830737400001</c:v>
                </c:pt>
                <c:pt idx="21">
                  <c:v>2.2467719068099998</c:v>
                </c:pt>
                <c:pt idx="22">
                  <c:v>2.1651040246900002</c:v>
                </c:pt>
                <c:pt idx="23">
                  <c:v>2.0827291417899998</c:v>
                </c:pt>
                <c:pt idx="24">
                  <c:v>2</c:v>
                </c:pt>
                <c:pt idx="25">
                  <c:v>1.91727085821</c:v>
                </c:pt>
                <c:pt idx="26">
                  <c:v>1.83489597531</c:v>
                </c:pt>
                <c:pt idx="27">
                  <c:v>1.7532280931899999</c:v>
                </c:pt>
                <c:pt idx="28">
                  <c:v>1.6726169262599999</c:v>
                </c:pt>
                <c:pt idx="29">
                  <c:v>1.5934076639100001</c:v>
                </c:pt>
                <c:pt idx="30">
                  <c:v>1.51593949237</c:v>
                </c:pt>
                <c:pt idx="31">
                  <c:v>1.44054414223</c:v>
                </c:pt>
                <c:pt idx="32">
                  <c:v>1.36754446797</c:v>
                </c:pt>
                <c:pt idx="33">
                  <c:v>1.2972530653900001</c:v>
                </c:pt>
                <c:pt idx="34">
                  <c:v>1.2299709330699999</c:v>
                </c:pt>
                <c:pt idx="35">
                  <c:v>1.16598618343</c:v>
                </c:pt>
                <c:pt idx="36">
                  <c:v>1.1055728090000001</c:v>
                </c:pt>
                <c:pt idx="37">
                  <c:v>1.0489895091100001</c:v>
                </c:pt>
                <c:pt idx="38">
                  <c:v>0.99647858215100005</c:v>
                </c:pt>
                <c:pt idx="39">
                  <c:v>0.94826488796300001</c:v>
                </c:pt>
                <c:pt idx="40">
                  <c:v>0.90455488499000003</c:v>
                </c:pt>
                <c:pt idx="41">
                  <c:v>0.86553574617499995</c:v>
                </c:pt>
                <c:pt idx="42">
                  <c:v>0.83137455746099997</c:v>
                </c:pt>
                <c:pt idx="43">
                  <c:v>0.80221760230299999</c:v>
                </c:pt>
                <c:pt idx="44">
                  <c:v>0.77818973525900004</c:v>
                </c:pt>
                <c:pt idx="45">
                  <c:v>0.75939384734399995</c:v>
                </c:pt>
                <c:pt idx="46">
                  <c:v>0.74591042543599995</c:v>
                </c:pt>
                <c:pt idx="47">
                  <c:v>0.73779720761699996</c:v>
                </c:pt>
                <c:pt idx="48">
                  <c:v>0.73508893593299995</c:v>
                </c:pt>
                <c:pt idx="49">
                  <c:v>0.73779720761699996</c:v>
                </c:pt>
                <c:pt idx="50">
                  <c:v>0.74591042543599995</c:v>
                </c:pt>
                <c:pt idx="51">
                  <c:v>0.75939384734399995</c:v>
                </c:pt>
                <c:pt idx="52">
                  <c:v>0.77818973525900004</c:v>
                </c:pt>
                <c:pt idx="53">
                  <c:v>0.80221760230299999</c:v>
                </c:pt>
                <c:pt idx="54">
                  <c:v>0.83137455746099997</c:v>
                </c:pt>
                <c:pt idx="55">
                  <c:v>0.86553574617499995</c:v>
                </c:pt>
                <c:pt idx="56">
                  <c:v>0.90455488499000003</c:v>
                </c:pt>
                <c:pt idx="57">
                  <c:v>0.94826488796300001</c:v>
                </c:pt>
                <c:pt idx="58">
                  <c:v>0.99647858215100005</c:v>
                </c:pt>
                <c:pt idx="59">
                  <c:v>1.0489895091100001</c:v>
                </c:pt>
                <c:pt idx="60">
                  <c:v>1.1055728090000001</c:v>
                </c:pt>
                <c:pt idx="61">
                  <c:v>1.16598618343</c:v>
                </c:pt>
                <c:pt idx="62">
                  <c:v>1.2299709330699999</c:v>
                </c:pt>
                <c:pt idx="63">
                  <c:v>1.2972530653900001</c:v>
                </c:pt>
                <c:pt idx="64">
                  <c:v>1.36754446797</c:v>
                </c:pt>
                <c:pt idx="65">
                  <c:v>1.44054414223</c:v>
                </c:pt>
                <c:pt idx="66">
                  <c:v>1.51593949237</c:v>
                </c:pt>
                <c:pt idx="67">
                  <c:v>1.5934076639100001</c:v>
                </c:pt>
                <c:pt idx="68">
                  <c:v>1.6726169262599999</c:v>
                </c:pt>
                <c:pt idx="69">
                  <c:v>1.7532280931899999</c:v>
                </c:pt>
                <c:pt idx="70">
                  <c:v>1.83489597531</c:v>
                </c:pt>
                <c:pt idx="71">
                  <c:v>1.91727085821</c:v>
                </c:pt>
                <c:pt idx="72">
                  <c:v>2</c:v>
                </c:pt>
                <c:pt idx="73">
                  <c:v>2.0827291417899998</c:v>
                </c:pt>
                <c:pt idx="74">
                  <c:v>2.1651040246900002</c:v>
                </c:pt>
                <c:pt idx="75">
                  <c:v>2.2467719068099998</c:v>
                </c:pt>
                <c:pt idx="76">
                  <c:v>2.3273830737400001</c:v>
                </c:pt>
                <c:pt idx="77">
                  <c:v>2.4065923360900001</c:v>
                </c:pt>
                <c:pt idx="78">
                  <c:v>2.4840605076300002</c:v>
                </c:pt>
                <c:pt idx="79">
                  <c:v>2.5594558577700002</c:v>
                </c:pt>
                <c:pt idx="80">
                  <c:v>2.6324555320299998</c:v>
                </c:pt>
                <c:pt idx="81">
                  <c:v>2.7027469346099999</c:v>
                </c:pt>
                <c:pt idx="82">
                  <c:v>2.7700290669299998</c:v>
                </c:pt>
                <c:pt idx="83">
                  <c:v>2.8340138165700002</c:v>
                </c:pt>
                <c:pt idx="84">
                  <c:v>2.8944271910000001</c:v>
                </c:pt>
                <c:pt idx="85">
                  <c:v>2.9510104908899999</c:v>
                </c:pt>
                <c:pt idx="86">
                  <c:v>3.00352141785</c:v>
                </c:pt>
                <c:pt idx="87">
                  <c:v>3.0517351120399998</c:v>
                </c:pt>
                <c:pt idx="88">
                  <c:v>3.09544511501</c:v>
                </c:pt>
                <c:pt idx="89">
                  <c:v>3.13446425383</c:v>
                </c:pt>
                <c:pt idx="90">
                  <c:v>3.1686254425399998</c:v>
                </c:pt>
                <c:pt idx="91">
                  <c:v>3.1977823977000002</c:v>
                </c:pt>
                <c:pt idx="92">
                  <c:v>3.2218102647400002</c:v>
                </c:pt>
                <c:pt idx="93">
                  <c:v>3.2406061526599999</c:v>
                </c:pt>
                <c:pt idx="94">
                  <c:v>3.25408957456</c:v>
                </c:pt>
                <c:pt idx="95">
                  <c:v>3.2622027923800001</c:v>
                </c:pt>
                <c:pt idx="96">
                  <c:v>3.2649110640700001</c:v>
                </c:pt>
              </c:numCache>
            </c:numRef>
          </c:xVal>
          <c:yVal>
            <c:numRef>
              <c:f>'Chart Data'!$D$2:$D$98</c:f>
              <c:numCache>
                <c:formatCode>0.##</c:formatCode>
                <c:ptCount val="97"/>
                <c:pt idx="0">
                  <c:v>2</c:v>
                </c:pt>
                <c:pt idx="1">
                  <c:v>2.0584983371600001</c:v>
                </c:pt>
                <c:pt idx="2">
                  <c:v>2.1167461754599999</c:v>
                </c:pt>
                <c:pt idx="3">
                  <c:v>2.1744940887099999</c:v>
                </c:pt>
                <c:pt idx="4">
                  <c:v>2.2314947914899999</c:v>
                </c:pt>
                <c:pt idx="5">
                  <c:v>2.2875041980300002</c:v>
                </c:pt>
                <c:pt idx="6">
                  <c:v>2.34228246745</c:v>
                </c:pt>
                <c:pt idx="7">
                  <c:v>2.3955950308</c:v>
                </c:pt>
                <c:pt idx="8">
                  <c:v>2.4472135955000001</c:v>
                </c:pt>
                <c:pt idx="9">
                  <c:v>2.4969171229199998</c:v>
                </c:pt>
                <c:pt idx="10">
                  <c:v>2.5444927749400001</c:v>
                </c:pt>
                <c:pt idx="11">
                  <c:v>2.5897368253000002</c:v>
                </c:pt>
                <c:pt idx="12">
                  <c:v>2.6324555320299998</c:v>
                </c:pt>
                <c:pt idx="13">
                  <c:v>2.6724659670899999</c:v>
                </c:pt>
                <c:pt idx="14">
                  <c:v>2.7095967996299999</c:v>
                </c:pt>
                <c:pt idx="15">
                  <c:v>2.7436890297300001</c:v>
                </c:pt>
                <c:pt idx="16">
                  <c:v>2.7745966692400001</c:v>
                </c:pt>
                <c:pt idx="17">
                  <c:v>2.8021873668900001</c:v>
                </c:pt>
                <c:pt idx="18">
                  <c:v>2.8263429750900002</c:v>
                </c:pt>
                <c:pt idx="19">
                  <c:v>2.8469600557999999</c:v>
                </c:pt>
                <c:pt idx="20">
                  <c:v>2.8639503235200001</c:v>
                </c:pt>
                <c:pt idx="21">
                  <c:v>2.8772410233299999</c:v>
                </c:pt>
                <c:pt idx="22">
                  <c:v>2.8867752423900002</c:v>
                </c:pt>
                <c:pt idx="23">
                  <c:v>2.8925121537299998</c:v>
                </c:pt>
                <c:pt idx="24">
                  <c:v>2.8944271910000001</c:v>
                </c:pt>
                <c:pt idx="25">
                  <c:v>2.8925121537299998</c:v>
                </c:pt>
                <c:pt idx="26">
                  <c:v>2.8867752423900002</c:v>
                </c:pt>
                <c:pt idx="27">
                  <c:v>2.8772410233299999</c:v>
                </c:pt>
                <c:pt idx="28">
                  <c:v>2.8639503235200001</c:v>
                </c:pt>
                <c:pt idx="29">
                  <c:v>2.8469600557999999</c:v>
                </c:pt>
                <c:pt idx="30">
                  <c:v>2.8263429750900002</c:v>
                </c:pt>
                <c:pt idx="31">
                  <c:v>2.8021873668900001</c:v>
                </c:pt>
                <c:pt idx="32">
                  <c:v>2.7745966692400001</c:v>
                </c:pt>
                <c:pt idx="33">
                  <c:v>2.7436890297300001</c:v>
                </c:pt>
                <c:pt idx="34">
                  <c:v>2.7095967996299999</c:v>
                </c:pt>
                <c:pt idx="35">
                  <c:v>2.6724659670899999</c:v>
                </c:pt>
                <c:pt idx="36">
                  <c:v>2.6324555320299998</c:v>
                </c:pt>
                <c:pt idx="37">
                  <c:v>2.5897368253000002</c:v>
                </c:pt>
                <c:pt idx="38">
                  <c:v>2.5444927749400001</c:v>
                </c:pt>
                <c:pt idx="39">
                  <c:v>2.4969171229199998</c:v>
                </c:pt>
                <c:pt idx="40">
                  <c:v>2.4472135955000001</c:v>
                </c:pt>
                <c:pt idx="41">
                  <c:v>2.3955950308</c:v>
                </c:pt>
                <c:pt idx="42">
                  <c:v>2.34228246745</c:v>
                </c:pt>
                <c:pt idx="43">
                  <c:v>2.2875041980300002</c:v>
                </c:pt>
                <c:pt idx="44">
                  <c:v>2.2314947914899999</c:v>
                </c:pt>
                <c:pt idx="45">
                  <c:v>2.1744940887099999</c:v>
                </c:pt>
                <c:pt idx="46">
                  <c:v>2.1167461754599999</c:v>
                </c:pt>
                <c:pt idx="47">
                  <c:v>2.0584983371600001</c:v>
                </c:pt>
                <c:pt idx="48">
                  <c:v>2</c:v>
                </c:pt>
                <c:pt idx="49">
                  <c:v>1.9415016628399999</c:v>
                </c:pt>
                <c:pt idx="50">
                  <c:v>1.8832538245399999</c:v>
                </c:pt>
                <c:pt idx="51">
                  <c:v>1.8255059112900001</c:v>
                </c:pt>
                <c:pt idx="52">
                  <c:v>1.7685052085099999</c:v>
                </c:pt>
                <c:pt idx="53">
                  <c:v>1.7124958019700001</c:v>
                </c:pt>
                <c:pt idx="54">
                  <c:v>1.65771753255</c:v>
                </c:pt>
                <c:pt idx="55">
                  <c:v>1.6044049692</c:v>
                </c:pt>
                <c:pt idx="56">
                  <c:v>1.5527864044999999</c:v>
                </c:pt>
                <c:pt idx="57">
                  <c:v>1.50308287708</c:v>
                </c:pt>
                <c:pt idx="58">
                  <c:v>1.4555072250600001</c:v>
                </c:pt>
                <c:pt idx="59">
                  <c:v>1.4102631747000001</c:v>
                </c:pt>
                <c:pt idx="60">
                  <c:v>1.36754446797</c:v>
                </c:pt>
                <c:pt idx="61">
                  <c:v>1.3275340329100001</c:v>
                </c:pt>
                <c:pt idx="62">
                  <c:v>1.2904032003699999</c:v>
                </c:pt>
                <c:pt idx="63">
                  <c:v>1.2563109702699999</c:v>
                </c:pt>
                <c:pt idx="64">
                  <c:v>1.2254033307600001</c:v>
                </c:pt>
                <c:pt idx="65">
                  <c:v>1.1978126331100001</c:v>
                </c:pt>
                <c:pt idx="66">
                  <c:v>1.17365702491</c:v>
                </c:pt>
                <c:pt idx="67">
                  <c:v>1.1530399442000001</c:v>
                </c:pt>
                <c:pt idx="68">
                  <c:v>1.1360496764800001</c:v>
                </c:pt>
                <c:pt idx="69">
                  <c:v>1.1227589766699999</c:v>
                </c:pt>
                <c:pt idx="70">
                  <c:v>1.1132247576100001</c:v>
                </c:pt>
                <c:pt idx="71">
                  <c:v>1.10748784627</c:v>
                </c:pt>
                <c:pt idx="72">
                  <c:v>1.1055728090000001</c:v>
                </c:pt>
                <c:pt idx="73">
                  <c:v>1.10748784627</c:v>
                </c:pt>
                <c:pt idx="74">
                  <c:v>1.1132247576100001</c:v>
                </c:pt>
                <c:pt idx="75">
                  <c:v>1.1227589766699999</c:v>
                </c:pt>
                <c:pt idx="76">
                  <c:v>1.1360496764800001</c:v>
                </c:pt>
                <c:pt idx="77">
                  <c:v>1.1530399442000001</c:v>
                </c:pt>
                <c:pt idx="78">
                  <c:v>1.17365702491</c:v>
                </c:pt>
                <c:pt idx="79">
                  <c:v>1.1978126331100001</c:v>
                </c:pt>
                <c:pt idx="80">
                  <c:v>1.2254033307600001</c:v>
                </c:pt>
                <c:pt idx="81">
                  <c:v>1.2563109702699999</c:v>
                </c:pt>
                <c:pt idx="82">
                  <c:v>1.2904032003699999</c:v>
                </c:pt>
                <c:pt idx="83">
                  <c:v>1.3275340329100001</c:v>
                </c:pt>
                <c:pt idx="84">
                  <c:v>1.36754446797</c:v>
                </c:pt>
                <c:pt idx="85">
                  <c:v>1.4102631747000001</c:v>
                </c:pt>
                <c:pt idx="86">
                  <c:v>1.4555072250600001</c:v>
                </c:pt>
                <c:pt idx="87">
                  <c:v>1.50308287708</c:v>
                </c:pt>
                <c:pt idx="88">
                  <c:v>1.5527864044999999</c:v>
                </c:pt>
                <c:pt idx="89">
                  <c:v>1.6044049692</c:v>
                </c:pt>
                <c:pt idx="90">
                  <c:v>1.65771753255</c:v>
                </c:pt>
                <c:pt idx="91">
                  <c:v>1.7124958019700001</c:v>
                </c:pt>
                <c:pt idx="92">
                  <c:v>1.7685052085099999</c:v>
                </c:pt>
                <c:pt idx="93">
                  <c:v>1.8255059112900001</c:v>
                </c:pt>
                <c:pt idx="94">
                  <c:v>1.8832538245399999</c:v>
                </c:pt>
                <c:pt idx="95">
                  <c:v>1.9415016628399999</c:v>
                </c:pt>
                <c:pt idx="96">
                  <c:v>2</c:v>
                </c:pt>
              </c:numCache>
            </c:numRef>
          </c:yVal>
          <c:smooth val="0"/>
          <c:extLst>
            <c:ext xmlns:c16="http://schemas.microsoft.com/office/drawing/2014/chart" uri="{C3380CC4-5D6E-409C-BE32-E72D297353CC}">
              <c16:uniqueId val="{8CAA4EA6-E77B-4106-B29F-5EB7895C4883}"/>
            </c:ext>
          </c:extLst>
        </c:ser>
        <c:ser>
          <c:idx val="2"/>
          <c:order val="2"/>
          <c:tx>
            <c:v>Loss 26</c:v>
          </c:tx>
          <c:spPr>
            <a:ln w="14288">
              <a:solidFill>
                <a:srgbClr val="DAE5EE"/>
              </a:solidFill>
            </a:ln>
          </c:spPr>
          <c:marker>
            <c:symbol val="none"/>
          </c:marker>
          <c:xVal>
            <c:numRef>
              <c:f>'Chart Data'!$E$2:$E$98</c:f>
              <c:numCache>
                <c:formatCode>General</c:formatCode>
                <c:ptCount val="97"/>
                <c:pt idx="0">
                  <c:v>4</c:v>
                </c:pt>
                <c:pt idx="1">
                  <c:v>3.9957178464799998</c:v>
                </c:pt>
                <c:pt idx="2">
                  <c:v>3.98288972275</c:v>
                </c:pt>
                <c:pt idx="3">
                  <c:v>3.9615705608099998</c:v>
                </c:pt>
                <c:pt idx="4">
                  <c:v>3.9318516525799998</c:v>
                </c:pt>
                <c:pt idx="5">
                  <c:v>3.8938602589900002</c:v>
                </c:pt>
                <c:pt idx="6">
                  <c:v>3.84775906502</c:v>
                </c:pt>
                <c:pt idx="7">
                  <c:v>3.7937454830699999</c:v>
                </c:pt>
                <c:pt idx="8">
                  <c:v>3.7320508075699999</c:v>
                </c:pt>
                <c:pt idx="9">
                  <c:v>3.6629392246100001</c:v>
                </c:pt>
                <c:pt idx="10">
                  <c:v>3.5867066805799999</c:v>
                </c:pt>
                <c:pt idx="11">
                  <c:v>3.5036796149599998</c:v>
                </c:pt>
                <c:pt idx="12">
                  <c:v>3.4142135623700001</c:v>
                </c:pt>
                <c:pt idx="13">
                  <c:v>3.3186916302</c:v>
                </c:pt>
                <c:pt idx="14">
                  <c:v>3.2175228580200002</c:v>
                </c:pt>
                <c:pt idx="15">
                  <c:v>3.1111404660400002</c:v>
                </c:pt>
                <c:pt idx="16">
                  <c:v>3</c:v>
                </c:pt>
                <c:pt idx="17">
                  <c:v>2.8845773804400001</c:v>
                </c:pt>
                <c:pt idx="18">
                  <c:v>2.7653668647299998</c:v>
                </c:pt>
                <c:pt idx="19">
                  <c:v>2.6428789306099998</c:v>
                </c:pt>
                <c:pt idx="20">
                  <c:v>2.5176380902100002</c:v>
                </c:pt>
                <c:pt idx="21">
                  <c:v>2.39018064403</c:v>
                </c:pt>
                <c:pt idx="22">
                  <c:v>2.2610523844400001</c:v>
                </c:pt>
                <c:pt idx="23">
                  <c:v>2.1308062584599998</c:v>
                </c:pt>
                <c:pt idx="24">
                  <c:v>2</c:v>
                </c:pt>
                <c:pt idx="25">
                  <c:v>1.86919374154</c:v>
                </c:pt>
                <c:pt idx="26">
                  <c:v>1.7389476155600001</c:v>
                </c:pt>
                <c:pt idx="27">
                  <c:v>1.60981935597</c:v>
                </c:pt>
                <c:pt idx="28">
                  <c:v>1.48236190979</c:v>
                </c:pt>
                <c:pt idx="29">
                  <c:v>1.35712106939</c:v>
                </c:pt>
                <c:pt idx="30">
                  <c:v>1.23463313527</c:v>
                </c:pt>
                <c:pt idx="31">
                  <c:v>1.1154226195600001</c:v>
                </c:pt>
                <c:pt idx="32">
                  <c:v>1</c:v>
                </c:pt>
                <c:pt idx="33">
                  <c:v>0.88885953396100004</c:v>
                </c:pt>
                <c:pt idx="34">
                  <c:v>0.782477141983</c:v>
                </c:pt>
                <c:pt idx="35">
                  <c:v>0.68130836979999998</c:v>
                </c:pt>
                <c:pt idx="36">
                  <c:v>0.585786437627</c:v>
                </c:pt>
                <c:pt idx="37">
                  <c:v>0.49632038504199999</c:v>
                </c:pt>
                <c:pt idx="38">
                  <c:v>0.41329331941800002</c:v>
                </c:pt>
                <c:pt idx="39">
                  <c:v>0.33706077539500001</c:v>
                </c:pt>
                <c:pt idx="40">
                  <c:v>0.26794919243100002</c:v>
                </c:pt>
                <c:pt idx="41">
                  <c:v>0.20625451693499999</c:v>
                </c:pt>
                <c:pt idx="42">
                  <c:v>0.152240934977</c:v>
                </c:pt>
                <c:pt idx="43">
                  <c:v>0.10613974101</c:v>
                </c:pt>
                <c:pt idx="44">
                  <c:v>6.8148347421899999E-2</c:v>
                </c:pt>
                <c:pt idx="45">
                  <c:v>3.8429439193499997E-2</c:v>
                </c:pt>
                <c:pt idx="46">
                  <c:v>1.71102772524E-2</c:v>
                </c:pt>
                <c:pt idx="47">
                  <c:v>4.28215352279E-3</c:v>
                </c:pt>
                <c:pt idx="48">
                  <c:v>0</c:v>
                </c:pt>
                <c:pt idx="49">
                  <c:v>4.28215352279E-3</c:v>
                </c:pt>
                <c:pt idx="50">
                  <c:v>1.71102772524E-2</c:v>
                </c:pt>
                <c:pt idx="51">
                  <c:v>3.8429439193499997E-2</c:v>
                </c:pt>
                <c:pt idx="52">
                  <c:v>6.8148347421899999E-2</c:v>
                </c:pt>
                <c:pt idx="53">
                  <c:v>0.10613974101</c:v>
                </c:pt>
                <c:pt idx="54">
                  <c:v>0.152240934977</c:v>
                </c:pt>
                <c:pt idx="55">
                  <c:v>0.20625451693499999</c:v>
                </c:pt>
                <c:pt idx="56">
                  <c:v>0.26794919243100002</c:v>
                </c:pt>
                <c:pt idx="57">
                  <c:v>0.33706077539500001</c:v>
                </c:pt>
                <c:pt idx="58">
                  <c:v>0.41329331941800002</c:v>
                </c:pt>
                <c:pt idx="59">
                  <c:v>0.49632038504199999</c:v>
                </c:pt>
                <c:pt idx="60">
                  <c:v>0.585786437627</c:v>
                </c:pt>
                <c:pt idx="61">
                  <c:v>0.68130836979999998</c:v>
                </c:pt>
                <c:pt idx="62">
                  <c:v>0.782477141983</c:v>
                </c:pt>
                <c:pt idx="63">
                  <c:v>0.88885953396100004</c:v>
                </c:pt>
                <c:pt idx="64">
                  <c:v>1</c:v>
                </c:pt>
                <c:pt idx="65">
                  <c:v>1.1154226195600001</c:v>
                </c:pt>
                <c:pt idx="66">
                  <c:v>1.23463313527</c:v>
                </c:pt>
                <c:pt idx="67">
                  <c:v>1.35712106939</c:v>
                </c:pt>
                <c:pt idx="68">
                  <c:v>1.48236190979</c:v>
                </c:pt>
                <c:pt idx="69">
                  <c:v>1.60981935597</c:v>
                </c:pt>
                <c:pt idx="70">
                  <c:v>1.7389476155600001</c:v>
                </c:pt>
                <c:pt idx="71">
                  <c:v>1.86919374154</c:v>
                </c:pt>
                <c:pt idx="72">
                  <c:v>2</c:v>
                </c:pt>
                <c:pt idx="73">
                  <c:v>2.1308062584599998</c:v>
                </c:pt>
                <c:pt idx="74">
                  <c:v>2.2610523844400001</c:v>
                </c:pt>
                <c:pt idx="75">
                  <c:v>2.39018064403</c:v>
                </c:pt>
                <c:pt idx="76">
                  <c:v>2.5176380902100002</c:v>
                </c:pt>
                <c:pt idx="77">
                  <c:v>2.6428789306099998</c:v>
                </c:pt>
                <c:pt idx="78">
                  <c:v>2.7653668647299998</c:v>
                </c:pt>
                <c:pt idx="79">
                  <c:v>2.8845773804400001</c:v>
                </c:pt>
                <c:pt idx="80">
                  <c:v>3</c:v>
                </c:pt>
                <c:pt idx="81">
                  <c:v>3.1111404660400002</c:v>
                </c:pt>
                <c:pt idx="82">
                  <c:v>3.2175228580200002</c:v>
                </c:pt>
                <c:pt idx="83">
                  <c:v>3.3186916302</c:v>
                </c:pt>
                <c:pt idx="84">
                  <c:v>3.4142135623700001</c:v>
                </c:pt>
                <c:pt idx="85">
                  <c:v>3.5036796149599998</c:v>
                </c:pt>
                <c:pt idx="86">
                  <c:v>3.5867066805799999</c:v>
                </c:pt>
                <c:pt idx="87">
                  <c:v>3.6629392246100001</c:v>
                </c:pt>
                <c:pt idx="88">
                  <c:v>3.7320508075699999</c:v>
                </c:pt>
                <c:pt idx="89">
                  <c:v>3.7937454830699999</c:v>
                </c:pt>
                <c:pt idx="90">
                  <c:v>3.84775906502</c:v>
                </c:pt>
                <c:pt idx="91">
                  <c:v>3.8938602589900002</c:v>
                </c:pt>
                <c:pt idx="92">
                  <c:v>3.9318516525799998</c:v>
                </c:pt>
                <c:pt idx="93">
                  <c:v>3.9615705608099998</c:v>
                </c:pt>
                <c:pt idx="94">
                  <c:v>3.98288972275</c:v>
                </c:pt>
                <c:pt idx="95">
                  <c:v>3.9957178464799998</c:v>
                </c:pt>
                <c:pt idx="96">
                  <c:v>4</c:v>
                </c:pt>
              </c:numCache>
            </c:numRef>
          </c:xVal>
          <c:yVal>
            <c:numRef>
              <c:f>'Chart Data'!$F$2:$F$98</c:f>
              <c:numCache>
                <c:formatCode>0.##</c:formatCode>
                <c:ptCount val="97"/>
                <c:pt idx="0">
                  <c:v>2</c:v>
                </c:pt>
                <c:pt idx="1">
                  <c:v>2.0924939923800001</c:v>
                </c:pt>
                <c:pt idx="2">
                  <c:v>2.1845919112800001</c:v>
                </c:pt>
                <c:pt idx="3">
                  <c:v>2.2758993792800002</c:v>
                </c:pt>
                <c:pt idx="4">
                  <c:v>2.3660254037800001</c:v>
                </c:pt>
                <c:pt idx="5">
                  <c:v>2.4545840513099999</c:v>
                </c:pt>
                <c:pt idx="6">
                  <c:v>2.5411961001500001</c:v>
                </c:pt>
                <c:pt idx="7">
                  <c:v>2.62549066419</c:v>
                </c:pt>
                <c:pt idx="8">
                  <c:v>2.7071067811899998</c:v>
                </c:pt>
                <c:pt idx="9">
                  <c:v>2.7856949583900001</c:v>
                </c:pt>
                <c:pt idx="10">
                  <c:v>2.8609186691500001</c:v>
                </c:pt>
                <c:pt idx="11">
                  <c:v>2.93245579401</c:v>
                </c:pt>
                <c:pt idx="12">
                  <c:v>3</c:v>
                </c:pt>
                <c:pt idx="13">
                  <c:v>3.0632620524699998</c:v>
                </c:pt>
                <c:pt idx="14">
                  <c:v>3.1219710535899998</c:v>
                </c:pt>
                <c:pt idx="15">
                  <c:v>3.1758756024200001</c:v>
                </c:pt>
                <c:pt idx="16">
                  <c:v>3.22474487139</c:v>
                </c:pt>
                <c:pt idx="17">
                  <c:v>3.2683695948000002</c:v>
                </c:pt>
                <c:pt idx="18">
                  <c:v>3.3065629648799999</c:v>
                </c:pt>
                <c:pt idx="19">
                  <c:v>3.33916143175</c:v>
                </c:pt>
                <c:pt idx="20">
                  <c:v>3.3660254037800001</c:v>
                </c:pt>
                <c:pt idx="21">
                  <c:v>3.3870398453199999</c:v>
                </c:pt>
                <c:pt idx="22">
                  <c:v>3.4021147692999998</c:v>
                </c:pt>
                <c:pt idx="23">
                  <c:v>3.4111856225800001</c:v>
                </c:pt>
                <c:pt idx="24">
                  <c:v>3.4142135623700001</c:v>
                </c:pt>
                <c:pt idx="25">
                  <c:v>3.4111856225800001</c:v>
                </c:pt>
                <c:pt idx="26">
                  <c:v>3.4021147692999998</c:v>
                </c:pt>
                <c:pt idx="27">
                  <c:v>3.3870398453199999</c:v>
                </c:pt>
                <c:pt idx="28">
                  <c:v>3.3660254037800001</c:v>
                </c:pt>
                <c:pt idx="29">
                  <c:v>3.33916143175</c:v>
                </c:pt>
                <c:pt idx="30">
                  <c:v>3.3065629648799999</c:v>
                </c:pt>
                <c:pt idx="31">
                  <c:v>3.2683695948000002</c:v>
                </c:pt>
                <c:pt idx="32">
                  <c:v>3.22474487139</c:v>
                </c:pt>
                <c:pt idx="33">
                  <c:v>3.1758756024200001</c:v>
                </c:pt>
                <c:pt idx="34">
                  <c:v>3.1219710535899998</c:v>
                </c:pt>
                <c:pt idx="35">
                  <c:v>3.0632620524699998</c:v>
                </c:pt>
                <c:pt idx="36">
                  <c:v>3</c:v>
                </c:pt>
                <c:pt idx="37">
                  <c:v>2.93245579401</c:v>
                </c:pt>
                <c:pt idx="38">
                  <c:v>2.8609186691500001</c:v>
                </c:pt>
                <c:pt idx="39">
                  <c:v>2.7856949583900001</c:v>
                </c:pt>
                <c:pt idx="40">
                  <c:v>2.7071067811899998</c:v>
                </c:pt>
                <c:pt idx="41">
                  <c:v>2.62549066419</c:v>
                </c:pt>
                <c:pt idx="42">
                  <c:v>2.5411961001500001</c:v>
                </c:pt>
                <c:pt idx="43">
                  <c:v>2.4545840513099999</c:v>
                </c:pt>
                <c:pt idx="44">
                  <c:v>2.3660254037800001</c:v>
                </c:pt>
                <c:pt idx="45">
                  <c:v>2.2758993792800002</c:v>
                </c:pt>
                <c:pt idx="46">
                  <c:v>2.1845919112800001</c:v>
                </c:pt>
                <c:pt idx="47">
                  <c:v>2.0924939923800001</c:v>
                </c:pt>
                <c:pt idx="48">
                  <c:v>2</c:v>
                </c:pt>
                <c:pt idx="49">
                  <c:v>1.9075060076200001</c:v>
                </c:pt>
                <c:pt idx="50">
                  <c:v>1.8154080887199999</c:v>
                </c:pt>
                <c:pt idx="51">
                  <c:v>1.72410062072</c:v>
                </c:pt>
                <c:pt idx="52">
                  <c:v>1.6339745962200001</c:v>
                </c:pt>
                <c:pt idx="53">
                  <c:v>1.5454159486900001</c:v>
                </c:pt>
                <c:pt idx="54">
                  <c:v>1.4588038998499999</c:v>
                </c:pt>
                <c:pt idx="55">
                  <c:v>1.37450933581</c:v>
                </c:pt>
                <c:pt idx="56">
                  <c:v>1.29289321881</c:v>
                </c:pt>
                <c:pt idx="57">
                  <c:v>1.2143050416100001</c:v>
                </c:pt>
                <c:pt idx="58">
                  <c:v>1.1390813308500001</c:v>
                </c:pt>
                <c:pt idx="59">
                  <c:v>1.06754420599</c:v>
                </c:pt>
                <c:pt idx="60">
                  <c:v>1</c:v>
                </c:pt>
                <c:pt idx="61">
                  <c:v>0.93673794753100004</c:v>
                </c:pt>
                <c:pt idx="62">
                  <c:v>0.87802894640600004</c:v>
                </c:pt>
                <c:pt idx="63">
                  <c:v>0.82412439758099998</c:v>
                </c:pt>
                <c:pt idx="64">
                  <c:v>0.77525512860800005</c:v>
                </c:pt>
                <c:pt idx="65">
                  <c:v>0.73163040520199996</c:v>
                </c:pt>
                <c:pt idx="66">
                  <c:v>0.69343703512400001</c:v>
                </c:pt>
                <c:pt idx="67">
                  <c:v>0.66083856824800002</c:v>
                </c:pt>
                <c:pt idx="68">
                  <c:v>0.63397459621600005</c:v>
                </c:pt>
                <c:pt idx="69">
                  <c:v>0.61296015467800002</c:v>
                </c:pt>
                <c:pt idx="70">
                  <c:v>0.59788523069999999</c:v>
                </c:pt>
                <c:pt idx="71">
                  <c:v>0.58881437742099996</c:v>
                </c:pt>
                <c:pt idx="72">
                  <c:v>0.585786437627</c:v>
                </c:pt>
                <c:pt idx="73">
                  <c:v>0.58881437742099996</c:v>
                </c:pt>
                <c:pt idx="74">
                  <c:v>0.59788523069999999</c:v>
                </c:pt>
                <c:pt idx="75">
                  <c:v>0.61296015467800002</c:v>
                </c:pt>
                <c:pt idx="76">
                  <c:v>0.63397459621600005</c:v>
                </c:pt>
                <c:pt idx="77">
                  <c:v>0.66083856824800002</c:v>
                </c:pt>
                <c:pt idx="78">
                  <c:v>0.69343703512400001</c:v>
                </c:pt>
                <c:pt idx="79">
                  <c:v>0.73163040520199996</c:v>
                </c:pt>
                <c:pt idx="80">
                  <c:v>0.77525512860800005</c:v>
                </c:pt>
                <c:pt idx="81">
                  <c:v>0.82412439758099998</c:v>
                </c:pt>
                <c:pt idx="82">
                  <c:v>0.87802894640600004</c:v>
                </c:pt>
                <c:pt idx="83">
                  <c:v>0.93673794753100004</c:v>
                </c:pt>
                <c:pt idx="84">
                  <c:v>1</c:v>
                </c:pt>
                <c:pt idx="85">
                  <c:v>1.06754420599</c:v>
                </c:pt>
                <c:pt idx="86">
                  <c:v>1.1390813308500001</c:v>
                </c:pt>
                <c:pt idx="87">
                  <c:v>1.2143050416100001</c:v>
                </c:pt>
                <c:pt idx="88">
                  <c:v>1.29289321881</c:v>
                </c:pt>
                <c:pt idx="89">
                  <c:v>1.37450933581</c:v>
                </c:pt>
                <c:pt idx="90">
                  <c:v>1.4588038998499999</c:v>
                </c:pt>
                <c:pt idx="91">
                  <c:v>1.5454159486900001</c:v>
                </c:pt>
                <c:pt idx="92">
                  <c:v>1.6339745962200001</c:v>
                </c:pt>
                <c:pt idx="93">
                  <c:v>1.72410062072</c:v>
                </c:pt>
                <c:pt idx="94">
                  <c:v>1.8154080887199999</c:v>
                </c:pt>
                <c:pt idx="95">
                  <c:v>1.9075060076200001</c:v>
                </c:pt>
                <c:pt idx="96">
                  <c:v>2</c:v>
                </c:pt>
              </c:numCache>
            </c:numRef>
          </c:yVal>
          <c:smooth val="0"/>
          <c:extLst>
            <c:ext xmlns:c16="http://schemas.microsoft.com/office/drawing/2014/chart" uri="{C3380CC4-5D6E-409C-BE32-E72D297353CC}">
              <c16:uniqueId val="{B47CDC88-78CC-4739-9AA4-6B4A50FACBED}"/>
            </c:ext>
          </c:extLst>
        </c:ser>
        <c:ser>
          <c:idx val="3"/>
          <c:order val="3"/>
          <c:tx>
            <c:v>Loss 46</c:v>
          </c:tx>
          <c:spPr>
            <a:ln w="14288">
              <a:solidFill>
                <a:srgbClr val="DAE5EE"/>
              </a:solidFill>
            </a:ln>
          </c:spPr>
          <c:marker>
            <c:symbol val="none"/>
          </c:marker>
          <c:xVal>
            <c:numRef>
              <c:f>'Chart Data'!$G$2:$G$98</c:f>
              <c:numCache>
                <c:formatCode>General</c:formatCode>
                <c:ptCount val="97"/>
                <c:pt idx="0">
                  <c:v>4.8284271247500001</c:v>
                </c:pt>
                <c:pt idx="1">
                  <c:v>4.8223712451600003</c:v>
                </c:pt>
                <c:pt idx="2">
                  <c:v>4.8042295385999996</c:v>
                </c:pt>
                <c:pt idx="3">
                  <c:v>4.7740796906399998</c:v>
                </c:pt>
                <c:pt idx="4">
                  <c:v>4.7320508075700003</c:v>
                </c:pt>
                <c:pt idx="5">
                  <c:v>4.6783228635</c:v>
                </c:pt>
                <c:pt idx="6">
                  <c:v>4.6131259297499998</c:v>
                </c:pt>
                <c:pt idx="7">
                  <c:v>4.5367391896000004</c:v>
                </c:pt>
                <c:pt idx="8">
                  <c:v>4.44948974278</c:v>
                </c:pt>
                <c:pt idx="9">
                  <c:v>4.3517512048400002</c:v>
                </c:pt>
                <c:pt idx="10">
                  <c:v>4.2439421071899996</c:v>
                </c:pt>
                <c:pt idx="11">
                  <c:v>4.1265241049399997</c:v>
                </c:pt>
                <c:pt idx="12">
                  <c:v>4</c:v>
                </c:pt>
                <c:pt idx="13">
                  <c:v>3.86491158802</c:v>
                </c:pt>
                <c:pt idx="14">
                  <c:v>3.7218373383099999</c:v>
                </c:pt>
                <c:pt idx="15">
                  <c:v>3.5713899167699998</c:v>
                </c:pt>
                <c:pt idx="16">
                  <c:v>3.4142135623700001</c:v>
                </c:pt>
                <c:pt idx="17">
                  <c:v>3.25098132838</c:v>
                </c:pt>
                <c:pt idx="18">
                  <c:v>3.0823922002900002</c:v>
                </c:pt>
                <c:pt idx="19">
                  <c:v>2.9091681026299998</c:v>
                </c:pt>
                <c:pt idx="20">
                  <c:v>2.7320508075699999</c:v>
                </c:pt>
                <c:pt idx="21">
                  <c:v>2.5517987585699999</c:v>
                </c:pt>
                <c:pt idx="22">
                  <c:v>2.3691838225700002</c:v>
                </c:pt>
                <c:pt idx="23">
                  <c:v>2.1849879847599998</c:v>
                </c:pt>
                <c:pt idx="24">
                  <c:v>2</c:v>
                </c:pt>
                <c:pt idx="25">
                  <c:v>1.81501201524</c:v>
                </c:pt>
                <c:pt idx="26">
                  <c:v>1.6308161774300001</c:v>
                </c:pt>
                <c:pt idx="27">
                  <c:v>1.4482012414300001</c:v>
                </c:pt>
                <c:pt idx="28">
                  <c:v>1.2679491924299999</c:v>
                </c:pt>
                <c:pt idx="29">
                  <c:v>1.09083189737</c:v>
                </c:pt>
                <c:pt idx="30">
                  <c:v>0.91760779970799999</c:v>
                </c:pt>
                <c:pt idx="31">
                  <c:v>0.749018671616</c:v>
                </c:pt>
                <c:pt idx="32">
                  <c:v>0.585786437627</c:v>
                </c:pt>
                <c:pt idx="33">
                  <c:v>0.42861008322600003</c:v>
                </c:pt>
                <c:pt idx="34">
                  <c:v>0.27816266169199999</c:v>
                </c:pt>
                <c:pt idx="35">
                  <c:v>0.13508841198300001</c:v>
                </c:pt>
                <c:pt idx="36">
                  <c:v>0</c:v>
                </c:pt>
                <c:pt idx="37">
                  <c:v>-0.126524104937</c:v>
                </c:pt>
                <c:pt idx="38">
                  <c:v>-0.243942107188</c:v>
                </c:pt>
                <c:pt idx="39">
                  <c:v>-0.35175120483900002</c:v>
                </c:pt>
                <c:pt idx="40">
                  <c:v>-0.44948974278300002</c:v>
                </c:pt>
                <c:pt idx="41">
                  <c:v>-0.53673918959699995</c:v>
                </c:pt>
                <c:pt idx="42">
                  <c:v>-0.61312592975299995</c:v>
                </c:pt>
                <c:pt idx="43">
                  <c:v>-0.67832286350299997</c:v>
                </c:pt>
                <c:pt idx="44">
                  <c:v>-0.73205080756899998</c:v>
                </c:pt>
                <c:pt idx="45">
                  <c:v>-0.77407969064399995</c:v>
                </c:pt>
                <c:pt idx="46">
                  <c:v>-0.80422953860000002</c:v>
                </c:pt>
                <c:pt idx="47">
                  <c:v>-0.82237124515799997</c:v>
                </c:pt>
                <c:pt idx="48">
                  <c:v>-0.828427124746</c:v>
                </c:pt>
                <c:pt idx="49">
                  <c:v>-0.82237124515799997</c:v>
                </c:pt>
                <c:pt idx="50">
                  <c:v>-0.80422953860000002</c:v>
                </c:pt>
                <c:pt idx="51">
                  <c:v>-0.77407969064399995</c:v>
                </c:pt>
                <c:pt idx="52">
                  <c:v>-0.73205080756899998</c:v>
                </c:pt>
                <c:pt idx="53">
                  <c:v>-0.67832286350299997</c:v>
                </c:pt>
                <c:pt idx="54">
                  <c:v>-0.61312592975299995</c:v>
                </c:pt>
                <c:pt idx="55">
                  <c:v>-0.53673918959699995</c:v>
                </c:pt>
                <c:pt idx="56">
                  <c:v>-0.44948974278300002</c:v>
                </c:pt>
                <c:pt idx="57">
                  <c:v>-0.35175120483900002</c:v>
                </c:pt>
                <c:pt idx="58">
                  <c:v>-0.243942107188</c:v>
                </c:pt>
                <c:pt idx="59">
                  <c:v>-0.126524104937</c:v>
                </c:pt>
                <c:pt idx="60">
                  <c:v>-1.3322676295499999E-15</c:v>
                </c:pt>
                <c:pt idx="61">
                  <c:v>0.13508841198300001</c:v>
                </c:pt>
                <c:pt idx="62">
                  <c:v>0.27816266169199999</c:v>
                </c:pt>
                <c:pt idx="63">
                  <c:v>0.42861008322600003</c:v>
                </c:pt>
                <c:pt idx="64">
                  <c:v>0.585786437627</c:v>
                </c:pt>
                <c:pt idx="65">
                  <c:v>0.749018671616</c:v>
                </c:pt>
                <c:pt idx="66">
                  <c:v>0.91760779970799999</c:v>
                </c:pt>
                <c:pt idx="67">
                  <c:v>1.09083189737</c:v>
                </c:pt>
                <c:pt idx="68">
                  <c:v>1.2679491924299999</c:v>
                </c:pt>
                <c:pt idx="69">
                  <c:v>1.4482012414300001</c:v>
                </c:pt>
                <c:pt idx="70">
                  <c:v>1.6308161774300001</c:v>
                </c:pt>
                <c:pt idx="71">
                  <c:v>1.81501201524</c:v>
                </c:pt>
                <c:pt idx="72">
                  <c:v>2</c:v>
                </c:pt>
                <c:pt idx="73">
                  <c:v>2.1849879847599998</c:v>
                </c:pt>
                <c:pt idx="74">
                  <c:v>2.3691838225700002</c:v>
                </c:pt>
                <c:pt idx="75">
                  <c:v>2.5517987585699999</c:v>
                </c:pt>
                <c:pt idx="76">
                  <c:v>2.7320508075699999</c:v>
                </c:pt>
                <c:pt idx="77">
                  <c:v>2.9091681026299998</c:v>
                </c:pt>
                <c:pt idx="78">
                  <c:v>3.0823922002900002</c:v>
                </c:pt>
                <c:pt idx="79">
                  <c:v>3.25098132838</c:v>
                </c:pt>
                <c:pt idx="80">
                  <c:v>3.4142135623700001</c:v>
                </c:pt>
                <c:pt idx="81">
                  <c:v>3.5713899167699998</c:v>
                </c:pt>
                <c:pt idx="82">
                  <c:v>3.7218373383099999</c:v>
                </c:pt>
                <c:pt idx="83">
                  <c:v>3.86491158802</c:v>
                </c:pt>
                <c:pt idx="84">
                  <c:v>4</c:v>
                </c:pt>
                <c:pt idx="85">
                  <c:v>4.1265241049399997</c:v>
                </c:pt>
                <c:pt idx="86">
                  <c:v>4.2439421071899996</c:v>
                </c:pt>
                <c:pt idx="87">
                  <c:v>4.3517512048400002</c:v>
                </c:pt>
                <c:pt idx="88">
                  <c:v>4.44948974278</c:v>
                </c:pt>
                <c:pt idx="89">
                  <c:v>4.5367391896000004</c:v>
                </c:pt>
                <c:pt idx="90">
                  <c:v>4.6131259297499998</c:v>
                </c:pt>
                <c:pt idx="91">
                  <c:v>4.6783228635</c:v>
                </c:pt>
                <c:pt idx="92">
                  <c:v>4.7320508075700003</c:v>
                </c:pt>
                <c:pt idx="93">
                  <c:v>4.7740796906399998</c:v>
                </c:pt>
                <c:pt idx="94">
                  <c:v>4.8042295385999996</c:v>
                </c:pt>
                <c:pt idx="95">
                  <c:v>4.8223712451600003</c:v>
                </c:pt>
                <c:pt idx="96">
                  <c:v>4.8284271247500001</c:v>
                </c:pt>
              </c:numCache>
            </c:numRef>
          </c:xVal>
          <c:yVal>
            <c:numRef>
              <c:f>'Chart Data'!$H$2:$H$98</c:f>
              <c:numCache>
                <c:formatCode>0.##</c:formatCode>
                <c:ptCount val="97"/>
                <c:pt idx="0">
                  <c:v>2</c:v>
                </c:pt>
                <c:pt idx="1">
                  <c:v>2.1308062584599998</c:v>
                </c:pt>
                <c:pt idx="2">
                  <c:v>2.2610523844400001</c:v>
                </c:pt>
                <c:pt idx="3">
                  <c:v>2.39018064403</c:v>
                </c:pt>
                <c:pt idx="4">
                  <c:v>2.5176380902100002</c:v>
                </c:pt>
                <c:pt idx="5">
                  <c:v>2.6428789306099998</c:v>
                </c:pt>
                <c:pt idx="6">
                  <c:v>2.7653668647299998</c:v>
                </c:pt>
                <c:pt idx="7">
                  <c:v>2.8845773804400001</c:v>
                </c:pt>
                <c:pt idx="8">
                  <c:v>3</c:v>
                </c:pt>
                <c:pt idx="9">
                  <c:v>3.1111404660400002</c:v>
                </c:pt>
                <c:pt idx="10">
                  <c:v>3.2175228580200002</c:v>
                </c:pt>
                <c:pt idx="11">
                  <c:v>3.3186916302</c:v>
                </c:pt>
                <c:pt idx="12">
                  <c:v>3.4142135623700001</c:v>
                </c:pt>
                <c:pt idx="13">
                  <c:v>3.5036796149599998</c:v>
                </c:pt>
                <c:pt idx="14">
                  <c:v>3.5867066805799999</c:v>
                </c:pt>
                <c:pt idx="15">
                  <c:v>3.6629392246100001</c:v>
                </c:pt>
                <c:pt idx="16">
                  <c:v>3.7320508075699999</c:v>
                </c:pt>
                <c:pt idx="17">
                  <c:v>3.7937454830699999</c:v>
                </c:pt>
                <c:pt idx="18">
                  <c:v>3.84775906502</c:v>
                </c:pt>
                <c:pt idx="19">
                  <c:v>3.8938602589900002</c:v>
                </c:pt>
                <c:pt idx="20">
                  <c:v>3.9318516525799998</c:v>
                </c:pt>
                <c:pt idx="21">
                  <c:v>3.9615705608099998</c:v>
                </c:pt>
                <c:pt idx="22">
                  <c:v>3.98288972275</c:v>
                </c:pt>
                <c:pt idx="23">
                  <c:v>3.9957178464799998</c:v>
                </c:pt>
                <c:pt idx="24">
                  <c:v>4</c:v>
                </c:pt>
                <c:pt idx="25">
                  <c:v>3.9957178464799998</c:v>
                </c:pt>
                <c:pt idx="26">
                  <c:v>3.98288972275</c:v>
                </c:pt>
                <c:pt idx="27">
                  <c:v>3.9615705608099998</c:v>
                </c:pt>
                <c:pt idx="28">
                  <c:v>3.9318516525799998</c:v>
                </c:pt>
                <c:pt idx="29">
                  <c:v>3.8938602589900002</c:v>
                </c:pt>
                <c:pt idx="30">
                  <c:v>3.84775906502</c:v>
                </c:pt>
                <c:pt idx="31">
                  <c:v>3.7937454830699999</c:v>
                </c:pt>
                <c:pt idx="32">
                  <c:v>3.7320508075699999</c:v>
                </c:pt>
                <c:pt idx="33">
                  <c:v>3.6629392246100001</c:v>
                </c:pt>
                <c:pt idx="34">
                  <c:v>3.5867066805799999</c:v>
                </c:pt>
                <c:pt idx="35">
                  <c:v>3.5036796149599998</c:v>
                </c:pt>
                <c:pt idx="36">
                  <c:v>3.4142135623700001</c:v>
                </c:pt>
                <c:pt idx="37">
                  <c:v>3.3186916302</c:v>
                </c:pt>
                <c:pt idx="38">
                  <c:v>3.2175228580200002</c:v>
                </c:pt>
                <c:pt idx="39">
                  <c:v>3.1111404660400002</c:v>
                </c:pt>
                <c:pt idx="40">
                  <c:v>3</c:v>
                </c:pt>
                <c:pt idx="41">
                  <c:v>2.8845773804400001</c:v>
                </c:pt>
                <c:pt idx="42">
                  <c:v>2.7653668647299998</c:v>
                </c:pt>
                <c:pt idx="43">
                  <c:v>2.6428789306099998</c:v>
                </c:pt>
                <c:pt idx="44">
                  <c:v>2.5176380902100002</c:v>
                </c:pt>
                <c:pt idx="45">
                  <c:v>2.39018064403</c:v>
                </c:pt>
                <c:pt idx="46">
                  <c:v>2.2610523844400001</c:v>
                </c:pt>
                <c:pt idx="47">
                  <c:v>2.1308062584599998</c:v>
                </c:pt>
                <c:pt idx="48">
                  <c:v>2</c:v>
                </c:pt>
                <c:pt idx="49">
                  <c:v>1.86919374154</c:v>
                </c:pt>
                <c:pt idx="50">
                  <c:v>1.7389476155600001</c:v>
                </c:pt>
                <c:pt idx="51">
                  <c:v>1.60981935597</c:v>
                </c:pt>
                <c:pt idx="52">
                  <c:v>1.48236190979</c:v>
                </c:pt>
                <c:pt idx="53">
                  <c:v>1.35712106939</c:v>
                </c:pt>
                <c:pt idx="54">
                  <c:v>1.23463313527</c:v>
                </c:pt>
                <c:pt idx="55">
                  <c:v>1.1154226195600001</c:v>
                </c:pt>
                <c:pt idx="56">
                  <c:v>1</c:v>
                </c:pt>
                <c:pt idx="57">
                  <c:v>0.88885953396100004</c:v>
                </c:pt>
                <c:pt idx="58">
                  <c:v>0.782477141983</c:v>
                </c:pt>
                <c:pt idx="59">
                  <c:v>0.68130836979999998</c:v>
                </c:pt>
                <c:pt idx="60">
                  <c:v>0.585786437627</c:v>
                </c:pt>
                <c:pt idx="61">
                  <c:v>0.49632038504199999</c:v>
                </c:pt>
                <c:pt idx="62">
                  <c:v>0.41329331941800002</c:v>
                </c:pt>
                <c:pt idx="63">
                  <c:v>0.33706077539500001</c:v>
                </c:pt>
                <c:pt idx="64">
                  <c:v>0.26794919243100002</c:v>
                </c:pt>
                <c:pt idx="65">
                  <c:v>0.20625451693499999</c:v>
                </c:pt>
                <c:pt idx="66">
                  <c:v>0.152240934977</c:v>
                </c:pt>
                <c:pt idx="67">
                  <c:v>0.10613974101</c:v>
                </c:pt>
                <c:pt idx="68">
                  <c:v>6.8148347421899999E-2</c:v>
                </c:pt>
                <c:pt idx="69">
                  <c:v>3.8429439193499997E-2</c:v>
                </c:pt>
                <c:pt idx="70">
                  <c:v>1.71102772524E-2</c:v>
                </c:pt>
                <c:pt idx="71">
                  <c:v>4.28215352279E-3</c:v>
                </c:pt>
                <c:pt idx="72">
                  <c:v>0</c:v>
                </c:pt>
                <c:pt idx="73">
                  <c:v>4.28215352279E-3</c:v>
                </c:pt>
                <c:pt idx="74">
                  <c:v>1.71102772524E-2</c:v>
                </c:pt>
                <c:pt idx="75">
                  <c:v>3.8429439193499997E-2</c:v>
                </c:pt>
                <c:pt idx="76">
                  <c:v>6.8148347421899999E-2</c:v>
                </c:pt>
                <c:pt idx="77">
                  <c:v>0.10613974101</c:v>
                </c:pt>
                <c:pt idx="78">
                  <c:v>0.152240934977</c:v>
                </c:pt>
                <c:pt idx="79">
                  <c:v>0.20625451693499999</c:v>
                </c:pt>
                <c:pt idx="80">
                  <c:v>0.26794919243100002</c:v>
                </c:pt>
                <c:pt idx="81">
                  <c:v>0.33706077539500001</c:v>
                </c:pt>
                <c:pt idx="82">
                  <c:v>0.41329331941800002</c:v>
                </c:pt>
                <c:pt idx="83">
                  <c:v>0.49632038504199999</c:v>
                </c:pt>
                <c:pt idx="84">
                  <c:v>0.585786437627</c:v>
                </c:pt>
                <c:pt idx="85">
                  <c:v>0.68130836979999998</c:v>
                </c:pt>
                <c:pt idx="86">
                  <c:v>0.782477141983</c:v>
                </c:pt>
                <c:pt idx="87">
                  <c:v>0.88885953396100004</c:v>
                </c:pt>
                <c:pt idx="88">
                  <c:v>1</c:v>
                </c:pt>
                <c:pt idx="89">
                  <c:v>1.1154226195600001</c:v>
                </c:pt>
                <c:pt idx="90">
                  <c:v>1.23463313527</c:v>
                </c:pt>
                <c:pt idx="91">
                  <c:v>1.35712106939</c:v>
                </c:pt>
                <c:pt idx="92">
                  <c:v>1.48236190979</c:v>
                </c:pt>
                <c:pt idx="93">
                  <c:v>1.60981935597</c:v>
                </c:pt>
                <c:pt idx="94">
                  <c:v>1.7389476155600001</c:v>
                </c:pt>
                <c:pt idx="95">
                  <c:v>1.86919374154</c:v>
                </c:pt>
                <c:pt idx="96">
                  <c:v>2</c:v>
                </c:pt>
              </c:numCache>
            </c:numRef>
          </c:yVal>
          <c:smooth val="0"/>
          <c:extLst>
            <c:ext xmlns:c16="http://schemas.microsoft.com/office/drawing/2014/chart" uri="{C3380CC4-5D6E-409C-BE32-E72D297353CC}">
              <c16:uniqueId val="{390D0202-0A4F-4A03-8CAD-BFF66FB8241B}"/>
            </c:ext>
          </c:extLst>
        </c:ser>
        <c:ser>
          <c:idx val="4"/>
          <c:order val="4"/>
          <c:tx>
            <c:v>Loss 66</c:v>
          </c:tx>
          <c:spPr>
            <a:ln w="14288">
              <a:solidFill>
                <a:srgbClr val="DAE5EE"/>
              </a:solidFill>
            </a:ln>
          </c:spPr>
          <c:marker>
            <c:symbol val="none"/>
          </c:marker>
          <c:xVal>
            <c:numRef>
              <c:f>'Chart Data'!$I$2:$I$98</c:f>
              <c:numCache>
                <c:formatCode>General</c:formatCode>
                <c:ptCount val="97"/>
                <c:pt idx="0">
                  <c:v>5.4641016151399997</c:v>
                </c:pt>
                <c:pt idx="1">
                  <c:v>5.45668470767</c:v>
                </c:pt>
                <c:pt idx="2">
                  <c:v>5.4344657456099998</c:v>
                </c:pt>
                <c:pt idx="3">
                  <c:v>5.3975398739499996</c:v>
                </c:pt>
                <c:pt idx="4">
                  <c:v>5.3460652149500003</c:v>
                </c:pt>
                <c:pt idx="5">
                  <c:v>5.2802621910100003</c:v>
                </c:pt>
                <c:pt idx="6">
                  <c:v>5.2004125807700001</c:v>
                </c:pt>
                <c:pt idx="7">
                  <c:v>5.10685831252</c:v>
                </c:pt>
                <c:pt idx="8">
                  <c:v>5</c:v>
                </c:pt>
                <c:pt idx="9">
                  <c:v>4.8802952269200004</c:v>
                </c:pt>
                <c:pt idx="10">
                  <c:v>4.7482565874800002</c:v>
                </c:pt>
                <c:pt idx="11">
                  <c:v>4.6044494914099996</c:v>
                </c:pt>
                <c:pt idx="12">
                  <c:v>4.44948974278</c:v>
                </c:pt>
                <c:pt idx="13">
                  <c:v>4.2840409030200002</c:v>
                </c:pt>
                <c:pt idx="14">
                  <c:v>4.1088114494600001</c:v>
                </c:pt>
                <c:pt idx="15">
                  <c:v>3.9245517415300002</c:v>
                </c:pt>
                <c:pt idx="16">
                  <c:v>3.7320508075699999</c:v>
                </c:pt>
                <c:pt idx="17">
                  <c:v>3.5321329661399998</c:v>
                </c:pt>
                <c:pt idx="18">
                  <c:v>3.3256542961400002</c:v>
                </c:pt>
                <c:pt idx="19">
                  <c:v>3.1134989709299998</c:v>
                </c:pt>
                <c:pt idx="20">
                  <c:v>2.8965754721699999</c:v>
                </c:pt>
                <c:pt idx="21">
                  <c:v>2.6758126995899998</c:v>
                </c:pt>
                <c:pt idx="22">
                  <c:v>2.4521559932899999</c:v>
                </c:pt>
                <c:pt idx="23">
                  <c:v>2.2265630856</c:v>
                </c:pt>
                <c:pt idx="24">
                  <c:v>2</c:v>
                </c:pt>
                <c:pt idx="25">
                  <c:v>1.7734369144</c:v>
                </c:pt>
                <c:pt idx="26">
                  <c:v>1.5478440067100001</c:v>
                </c:pt>
                <c:pt idx="27">
                  <c:v>1.32418730041</c:v>
                </c:pt>
                <c:pt idx="28">
                  <c:v>1.1034245278299999</c:v>
                </c:pt>
                <c:pt idx="29">
                  <c:v>0.88650102907399997</c:v>
                </c:pt>
                <c:pt idx="30">
                  <c:v>0.67434570385799997</c:v>
                </c:pt>
                <c:pt idx="31">
                  <c:v>0.467867033855</c:v>
                </c:pt>
                <c:pt idx="32">
                  <c:v>0.26794919243100002</c:v>
                </c:pt>
                <c:pt idx="33">
                  <c:v>7.5448258474300006E-2</c:v>
                </c:pt>
                <c:pt idx="34">
                  <c:v>-0.108811449463</c:v>
                </c:pt>
                <c:pt idx="35">
                  <c:v>-0.28404090302200002</c:v>
                </c:pt>
                <c:pt idx="36">
                  <c:v>-0.44948974278300002</c:v>
                </c:pt>
                <c:pt idx="37">
                  <c:v>-0.60444949141299997</c:v>
                </c:pt>
                <c:pt idx="38">
                  <c:v>-0.74825658747799995</c:v>
                </c:pt>
                <c:pt idx="39">
                  <c:v>-0.88029522691499995</c:v>
                </c:pt>
                <c:pt idx="40">
                  <c:v>-1</c:v>
                </c:pt>
                <c:pt idx="41">
                  <c:v>-1.10685831252</c:v>
                </c:pt>
                <c:pt idx="42">
                  <c:v>-1.2004125807699999</c:v>
                </c:pt>
                <c:pt idx="43">
                  <c:v>-1.2802621910100001</c:v>
                </c:pt>
                <c:pt idx="44">
                  <c:v>-1.3460652149500001</c:v>
                </c:pt>
                <c:pt idx="45">
                  <c:v>-1.39753987395</c:v>
                </c:pt>
                <c:pt idx="46">
                  <c:v>-1.4344657456100001</c:v>
                </c:pt>
                <c:pt idx="47">
                  <c:v>-1.45668470767</c:v>
                </c:pt>
                <c:pt idx="48">
                  <c:v>-1.4641016151399999</c:v>
                </c:pt>
                <c:pt idx="49">
                  <c:v>-1.45668470767</c:v>
                </c:pt>
                <c:pt idx="50">
                  <c:v>-1.4344657456100001</c:v>
                </c:pt>
                <c:pt idx="51">
                  <c:v>-1.39753987395</c:v>
                </c:pt>
                <c:pt idx="52">
                  <c:v>-1.3460652149500001</c:v>
                </c:pt>
                <c:pt idx="53">
                  <c:v>-1.2802621910100001</c:v>
                </c:pt>
                <c:pt idx="54">
                  <c:v>-1.2004125807699999</c:v>
                </c:pt>
                <c:pt idx="55">
                  <c:v>-1.10685831252</c:v>
                </c:pt>
                <c:pt idx="56">
                  <c:v>-1</c:v>
                </c:pt>
                <c:pt idx="57">
                  <c:v>-0.88029522691499995</c:v>
                </c:pt>
                <c:pt idx="58">
                  <c:v>-0.74825658747799995</c:v>
                </c:pt>
                <c:pt idx="59">
                  <c:v>-0.60444949141299997</c:v>
                </c:pt>
                <c:pt idx="60">
                  <c:v>-0.44948974278300002</c:v>
                </c:pt>
                <c:pt idx="61">
                  <c:v>-0.28404090302200002</c:v>
                </c:pt>
                <c:pt idx="62">
                  <c:v>-0.108811449463</c:v>
                </c:pt>
                <c:pt idx="63">
                  <c:v>7.5448258474300006E-2</c:v>
                </c:pt>
                <c:pt idx="64">
                  <c:v>0.26794919243100002</c:v>
                </c:pt>
                <c:pt idx="65">
                  <c:v>0.467867033855</c:v>
                </c:pt>
                <c:pt idx="66">
                  <c:v>0.67434570385799997</c:v>
                </c:pt>
                <c:pt idx="67">
                  <c:v>0.88650102907399997</c:v>
                </c:pt>
                <c:pt idx="68">
                  <c:v>1.1034245278299999</c:v>
                </c:pt>
                <c:pt idx="69">
                  <c:v>1.32418730041</c:v>
                </c:pt>
                <c:pt idx="70">
                  <c:v>1.5478440067100001</c:v>
                </c:pt>
                <c:pt idx="71">
                  <c:v>1.7734369144</c:v>
                </c:pt>
                <c:pt idx="72">
                  <c:v>2</c:v>
                </c:pt>
                <c:pt idx="73">
                  <c:v>2.2265630856</c:v>
                </c:pt>
                <c:pt idx="74">
                  <c:v>2.4521559932899999</c:v>
                </c:pt>
                <c:pt idx="75">
                  <c:v>2.6758126995899998</c:v>
                </c:pt>
                <c:pt idx="76">
                  <c:v>2.8965754721699999</c:v>
                </c:pt>
                <c:pt idx="77">
                  <c:v>3.1134989709299998</c:v>
                </c:pt>
                <c:pt idx="78">
                  <c:v>3.3256542961400002</c:v>
                </c:pt>
                <c:pt idx="79">
                  <c:v>3.5321329661399998</c:v>
                </c:pt>
                <c:pt idx="80">
                  <c:v>3.7320508075699999</c:v>
                </c:pt>
                <c:pt idx="81">
                  <c:v>3.9245517415300002</c:v>
                </c:pt>
                <c:pt idx="82">
                  <c:v>4.1088114494600001</c:v>
                </c:pt>
                <c:pt idx="83">
                  <c:v>4.2840409030200002</c:v>
                </c:pt>
                <c:pt idx="84">
                  <c:v>4.44948974278</c:v>
                </c:pt>
                <c:pt idx="85">
                  <c:v>4.6044494914099996</c:v>
                </c:pt>
                <c:pt idx="86">
                  <c:v>4.7482565874800002</c:v>
                </c:pt>
                <c:pt idx="87">
                  <c:v>4.8802952269200004</c:v>
                </c:pt>
                <c:pt idx="88">
                  <c:v>5</c:v>
                </c:pt>
                <c:pt idx="89">
                  <c:v>5.10685831252</c:v>
                </c:pt>
                <c:pt idx="90">
                  <c:v>5.2004125807700001</c:v>
                </c:pt>
                <c:pt idx="91">
                  <c:v>5.2802621910100003</c:v>
                </c:pt>
                <c:pt idx="92">
                  <c:v>5.3460652149500003</c:v>
                </c:pt>
                <c:pt idx="93">
                  <c:v>5.3975398739499996</c:v>
                </c:pt>
                <c:pt idx="94">
                  <c:v>5.4344657456099998</c:v>
                </c:pt>
                <c:pt idx="95">
                  <c:v>5.45668470767</c:v>
                </c:pt>
                <c:pt idx="96">
                  <c:v>5.4641016151399997</c:v>
                </c:pt>
              </c:numCache>
            </c:numRef>
          </c:xVal>
          <c:yVal>
            <c:numRef>
              <c:f>'Chart Data'!$J$2:$J$98</c:f>
              <c:numCache>
                <c:formatCode>0.##</c:formatCode>
                <c:ptCount val="97"/>
                <c:pt idx="0">
                  <c:v>2</c:v>
                </c:pt>
                <c:pt idx="1">
                  <c:v>2.1602042942000002</c:v>
                </c:pt>
                <c:pt idx="2">
                  <c:v>2.3197225690100001</c:v>
                </c:pt>
                <c:pt idx="3">
                  <c:v>2.4778717426900001</c:v>
                </c:pt>
                <c:pt idx="4">
                  <c:v>2.6339745962199999</c:v>
                </c:pt>
                <c:pt idx="5">
                  <c:v>2.7873626731900001</c:v>
                </c:pt>
                <c:pt idx="6">
                  <c:v>2.9373791423100002</c:v>
                </c:pt>
                <c:pt idx="7">
                  <c:v>3.08338161004</c:v>
                </c:pt>
                <c:pt idx="8">
                  <c:v>3.22474487139</c:v>
                </c:pt>
                <c:pt idx="9">
                  <c:v>3.3608635871799999</c:v>
                </c:pt>
                <c:pt idx="10">
                  <c:v>3.49115487616</c:v>
                </c:pt>
                <c:pt idx="11">
                  <c:v>3.6150608110300002</c:v>
                </c:pt>
                <c:pt idx="12">
                  <c:v>3.7320508075699999</c:v>
                </c:pt>
                <c:pt idx="13">
                  <c:v>3.8416238966399998</c:v>
                </c:pt>
                <c:pt idx="14">
                  <c:v>3.9433108694499999</c:v>
                </c:pt>
                <c:pt idx="15">
                  <c:v>4.0366762867699997</c:v>
                </c:pt>
                <c:pt idx="16">
                  <c:v>4.1213203435599999</c:v>
                </c:pt>
                <c:pt idx="17">
                  <c:v>4.1968805809700003</c:v>
                </c:pt>
                <c:pt idx="18">
                  <c:v>4.2630334384499999</c:v>
                </c:pt>
                <c:pt idx="19">
                  <c:v>4.3194956393300004</c:v>
                </c:pt>
                <c:pt idx="20">
                  <c:v>4.3660254037800001</c:v>
                </c:pt>
                <c:pt idx="21">
                  <c:v>4.4024234842199998</c:v>
                </c:pt>
                <c:pt idx="22">
                  <c:v>4.4285340184699997</c:v>
                </c:pt>
                <c:pt idx="23">
                  <c:v>4.4442451972199999</c:v>
                </c:pt>
                <c:pt idx="24">
                  <c:v>4.44948974278</c:v>
                </c:pt>
                <c:pt idx="25">
                  <c:v>4.4442451972199999</c:v>
                </c:pt>
                <c:pt idx="26">
                  <c:v>4.4285340184699997</c:v>
                </c:pt>
                <c:pt idx="27">
                  <c:v>4.4024234842199998</c:v>
                </c:pt>
                <c:pt idx="28">
                  <c:v>4.3660254037800001</c:v>
                </c:pt>
                <c:pt idx="29">
                  <c:v>4.3194956393300004</c:v>
                </c:pt>
                <c:pt idx="30">
                  <c:v>4.2630334384499999</c:v>
                </c:pt>
                <c:pt idx="31">
                  <c:v>4.1968805809700003</c:v>
                </c:pt>
                <c:pt idx="32">
                  <c:v>4.1213203435599999</c:v>
                </c:pt>
                <c:pt idx="33">
                  <c:v>4.0366762867699997</c:v>
                </c:pt>
                <c:pt idx="34">
                  <c:v>3.9433108694499999</c:v>
                </c:pt>
                <c:pt idx="35">
                  <c:v>3.8416238966399998</c:v>
                </c:pt>
                <c:pt idx="36">
                  <c:v>3.7320508075699999</c:v>
                </c:pt>
                <c:pt idx="37">
                  <c:v>3.6150608110300002</c:v>
                </c:pt>
                <c:pt idx="38">
                  <c:v>3.49115487616</c:v>
                </c:pt>
                <c:pt idx="39">
                  <c:v>3.3608635871799999</c:v>
                </c:pt>
                <c:pt idx="40">
                  <c:v>3.22474487139</c:v>
                </c:pt>
                <c:pt idx="41">
                  <c:v>3.08338161004</c:v>
                </c:pt>
                <c:pt idx="42">
                  <c:v>2.9373791423100002</c:v>
                </c:pt>
                <c:pt idx="43">
                  <c:v>2.7873626731900001</c:v>
                </c:pt>
                <c:pt idx="44">
                  <c:v>2.6339745962199999</c:v>
                </c:pt>
                <c:pt idx="45">
                  <c:v>2.4778717426900001</c:v>
                </c:pt>
                <c:pt idx="46">
                  <c:v>2.3197225690100001</c:v>
                </c:pt>
                <c:pt idx="47">
                  <c:v>2.1602042942000002</c:v>
                </c:pt>
                <c:pt idx="48">
                  <c:v>2</c:v>
                </c:pt>
                <c:pt idx="49">
                  <c:v>1.8397957058000001</c:v>
                </c:pt>
                <c:pt idx="50">
                  <c:v>1.6802774309899999</c:v>
                </c:pt>
                <c:pt idx="51">
                  <c:v>1.5221282573099999</c:v>
                </c:pt>
                <c:pt idx="52">
                  <c:v>1.3660254037799999</c:v>
                </c:pt>
                <c:pt idx="53">
                  <c:v>1.2126373268099999</c:v>
                </c:pt>
                <c:pt idx="54">
                  <c:v>1.06262085769</c:v>
                </c:pt>
                <c:pt idx="55">
                  <c:v>0.91661838996</c:v>
                </c:pt>
                <c:pt idx="56">
                  <c:v>0.77525512860800005</c:v>
                </c:pt>
                <c:pt idx="57">
                  <c:v>0.63913641282300004</c:v>
                </c:pt>
                <c:pt idx="58">
                  <c:v>0.508845123841</c:v>
                </c:pt>
                <c:pt idx="59">
                  <c:v>0.38493918896500001</c:v>
                </c:pt>
                <c:pt idx="60">
                  <c:v>0.26794919243100002</c:v>
                </c:pt>
                <c:pt idx="61">
                  <c:v>0.15837610336399999</c:v>
                </c:pt>
                <c:pt idx="62">
                  <c:v>5.6689130553800003E-2</c:v>
                </c:pt>
                <c:pt idx="63">
                  <c:v>-3.6676286771000002E-2</c:v>
                </c:pt>
                <c:pt idx="64">
                  <c:v>-0.12132034356</c:v>
                </c:pt>
                <c:pt idx="65">
                  <c:v>-0.196880580966</c:v>
                </c:pt>
                <c:pt idx="66">
                  <c:v>-0.26303343845400001</c:v>
                </c:pt>
                <c:pt idx="67">
                  <c:v>-0.319495639331</c:v>
                </c:pt>
                <c:pt idx="68">
                  <c:v>-0.366025403784</c:v>
                </c:pt>
                <c:pt idx="69">
                  <c:v>-0.40242348422000002</c:v>
                </c:pt>
                <c:pt idx="70">
                  <c:v>-0.42853401847</c:v>
                </c:pt>
                <c:pt idx="71">
                  <c:v>-0.44424519721799999</c:v>
                </c:pt>
                <c:pt idx="72">
                  <c:v>-0.44948974278300002</c:v>
                </c:pt>
                <c:pt idx="73">
                  <c:v>-0.44424519721799999</c:v>
                </c:pt>
                <c:pt idx="74">
                  <c:v>-0.42853401847</c:v>
                </c:pt>
                <c:pt idx="75">
                  <c:v>-0.40242348422000002</c:v>
                </c:pt>
                <c:pt idx="76">
                  <c:v>-0.366025403784</c:v>
                </c:pt>
                <c:pt idx="77">
                  <c:v>-0.319495639331</c:v>
                </c:pt>
                <c:pt idx="78">
                  <c:v>-0.26303343845400001</c:v>
                </c:pt>
                <c:pt idx="79">
                  <c:v>-0.196880580966</c:v>
                </c:pt>
                <c:pt idx="80">
                  <c:v>-0.12132034356</c:v>
                </c:pt>
                <c:pt idx="81">
                  <c:v>-3.6676286771000002E-2</c:v>
                </c:pt>
                <c:pt idx="82">
                  <c:v>5.6689130553800003E-2</c:v>
                </c:pt>
                <c:pt idx="83">
                  <c:v>0.15837610336399999</c:v>
                </c:pt>
                <c:pt idx="84">
                  <c:v>0.26794919243100002</c:v>
                </c:pt>
                <c:pt idx="85">
                  <c:v>0.38493918896500001</c:v>
                </c:pt>
                <c:pt idx="86">
                  <c:v>0.508845123841</c:v>
                </c:pt>
                <c:pt idx="87">
                  <c:v>0.63913641282300004</c:v>
                </c:pt>
                <c:pt idx="88">
                  <c:v>0.77525512860800005</c:v>
                </c:pt>
                <c:pt idx="89">
                  <c:v>0.91661838996</c:v>
                </c:pt>
                <c:pt idx="90">
                  <c:v>1.06262085769</c:v>
                </c:pt>
                <c:pt idx="91">
                  <c:v>1.2126373268099999</c:v>
                </c:pt>
                <c:pt idx="92">
                  <c:v>1.3660254037799999</c:v>
                </c:pt>
                <c:pt idx="93">
                  <c:v>1.5221282573099999</c:v>
                </c:pt>
                <c:pt idx="94">
                  <c:v>1.6802774309899999</c:v>
                </c:pt>
                <c:pt idx="95">
                  <c:v>1.8397957058000001</c:v>
                </c:pt>
                <c:pt idx="96">
                  <c:v>2</c:v>
                </c:pt>
              </c:numCache>
            </c:numRef>
          </c:yVal>
          <c:smooth val="0"/>
          <c:extLst>
            <c:ext xmlns:c16="http://schemas.microsoft.com/office/drawing/2014/chart" uri="{C3380CC4-5D6E-409C-BE32-E72D297353CC}">
              <c16:uniqueId val="{BB31554A-FC0D-4381-BDF5-6824082CC5ED}"/>
            </c:ext>
          </c:extLst>
        </c:ser>
        <c:ser>
          <c:idx val="5"/>
          <c:order val="5"/>
          <c:tx>
            <c:v>Iterates</c:v>
          </c:tx>
          <c:spPr>
            <a:ln w="28575">
              <a:solidFill>
                <a:srgbClr val="C45C28"/>
              </a:solidFill>
            </a:ln>
          </c:spPr>
          <c:marker>
            <c:symbol val="none"/>
          </c:marker>
          <c:xVal>
            <c:numRef>
              <c:f>'Chart Data'!$K$2:$K$2</c:f>
              <c:numCache>
                <c:formatCode>General</c:formatCode>
                <c:ptCount val="1"/>
                <c:pt idx="0">
                  <c:v>0</c:v>
                </c:pt>
              </c:numCache>
            </c:numRef>
          </c:xVal>
          <c:yVal>
            <c:numRef>
              <c:f>'Chart Data'!$L$2:$L$2</c:f>
              <c:numCache>
                <c:formatCode>0.##</c:formatCode>
                <c:ptCount val="1"/>
                <c:pt idx="0">
                  <c:v>0</c:v>
                </c:pt>
              </c:numCache>
            </c:numRef>
          </c:yVal>
          <c:smooth val="0"/>
          <c:extLst>
            <c:ext xmlns:c16="http://schemas.microsoft.com/office/drawing/2014/chart" uri="{C3380CC4-5D6E-409C-BE32-E72D297353CC}">
              <c16:uniqueId val="{5AECFC90-D6FF-4F30-B1F0-C8084DD2753A}"/>
            </c:ext>
          </c:extLst>
        </c:ser>
        <c:ser>
          <c:idx val="6"/>
          <c:order val="6"/>
          <c:tx>
            <c:v>Previous iterates</c:v>
          </c:tx>
          <c:spPr>
            <a:ln w="0">
              <a:noFill/>
            </a:ln>
          </c:spPr>
          <c:marker>
            <c:symbol val="circle"/>
            <c:size val="6"/>
            <c:spPr>
              <a:solidFill>
                <a:srgbClr val="C45C28"/>
              </a:solidFill>
              <a:ln w="12700">
                <a:solidFill>
                  <a:srgbClr val="C45C28"/>
                </a:solidFill>
              </a:ln>
            </c:spPr>
          </c:marker>
          <c:xVal>
            <c:numRef>
              <c:f>'Chart Data'!$M$2:$M$2</c:f>
              <c:numCache>
                <c:formatCode>General</c:formatCode>
                <c:ptCount val="1"/>
                <c:pt idx="0">
                  <c:v>0</c:v>
                </c:pt>
              </c:numCache>
            </c:numRef>
          </c:xVal>
          <c:yVal>
            <c:numRef>
              <c:f>'Chart Data'!$N$2:$N$2</c:f>
              <c:numCache>
                <c:formatCode>0.##</c:formatCode>
                <c:ptCount val="1"/>
                <c:pt idx="0">
                  <c:v>0</c:v>
                </c:pt>
              </c:numCache>
            </c:numRef>
          </c:yVal>
          <c:smooth val="0"/>
          <c:extLst>
            <c:ext xmlns:c16="http://schemas.microsoft.com/office/drawing/2014/chart" uri="{C3380CC4-5D6E-409C-BE32-E72D297353CC}">
              <c16:uniqueId val="{A47C5D4D-4CBB-40D2-B61A-42BC561DE3B5}"/>
            </c:ext>
          </c:extLst>
        </c:ser>
        <c:ser>
          <c:idx val="7"/>
          <c:order val="7"/>
          <c:tx>
            <c:v>Minimum</c:v>
          </c:tx>
          <c:spPr>
            <a:ln w="0">
              <a:noFill/>
            </a:ln>
          </c:spPr>
          <c:marker>
            <c:symbol val="circle"/>
            <c:size val="10"/>
            <c:spPr>
              <a:solidFill>
                <a:srgbClr val="087F83"/>
              </a:solidFill>
              <a:ln w="12700">
                <a:solidFill>
                  <a:srgbClr val="087F83"/>
                </a:solidFill>
              </a:ln>
            </c:spPr>
          </c:marker>
          <c:xVal>
            <c:numRef>
              <c:f>'Chart Data'!$O$2:$O$2</c:f>
              <c:numCache>
                <c:formatCode>General</c:formatCode>
                <c:ptCount val="1"/>
                <c:pt idx="0">
                  <c:v>2</c:v>
                </c:pt>
              </c:numCache>
            </c:numRef>
          </c:xVal>
          <c:yVal>
            <c:numRef>
              <c:f>'Chart Data'!$P$2:$P$2</c:f>
              <c:numCache>
                <c:formatCode>0.##</c:formatCode>
                <c:ptCount val="1"/>
                <c:pt idx="0">
                  <c:v>2</c:v>
                </c:pt>
              </c:numCache>
            </c:numRef>
          </c:yVal>
          <c:smooth val="0"/>
          <c:extLst>
            <c:ext xmlns:c16="http://schemas.microsoft.com/office/drawing/2014/chart" uri="{C3380CC4-5D6E-409C-BE32-E72D297353CC}">
              <c16:uniqueId val="{3708F0E3-AD93-4798-A7DA-9B72F4C1540A}"/>
            </c:ext>
          </c:extLst>
        </c:ser>
        <c:ser>
          <c:idx val="8"/>
          <c:order val="8"/>
          <c:tx>
            <c:v>Current iterate</c:v>
          </c:tx>
          <c:spPr>
            <a:ln w="0">
              <a:noFill/>
            </a:ln>
          </c:spPr>
          <c:marker>
            <c:symbol val="circle"/>
            <c:size val="11"/>
            <c:spPr>
              <a:solidFill>
                <a:srgbClr val="C45C28"/>
              </a:solidFill>
              <a:ln w="12700">
                <a:solidFill>
                  <a:srgbClr val="C45C28"/>
                </a:solidFill>
              </a:ln>
            </c:spPr>
          </c:marker>
          <c:xVal>
            <c:numRef>
              <c:f>'Chart Data'!$Q$2:$Q$2</c:f>
              <c:numCache>
                <c:formatCode>General</c:formatCode>
                <c:ptCount val="1"/>
                <c:pt idx="0">
                  <c:v>0</c:v>
                </c:pt>
              </c:numCache>
            </c:numRef>
          </c:xVal>
          <c:yVal>
            <c:numRef>
              <c:f>'Chart Data'!$R$2:$R$2</c:f>
              <c:numCache>
                <c:formatCode>0.##</c:formatCode>
                <c:ptCount val="1"/>
                <c:pt idx="0">
                  <c:v>0</c:v>
                </c:pt>
              </c:numCache>
            </c:numRef>
          </c:yVal>
          <c:smooth val="0"/>
          <c:extLst>
            <c:ext xmlns:c16="http://schemas.microsoft.com/office/drawing/2014/chart" uri="{C3380CC4-5D6E-409C-BE32-E72D297353CC}">
              <c16:uniqueId val="{E824B672-82A7-47FC-9FC5-7CF5944B7BC7}"/>
            </c:ext>
          </c:extLst>
        </c:ser>
        <c:dLbls>
          <c:showLegendKey val="0"/>
          <c:showVal val="0"/>
          <c:showCatName val="0"/>
          <c:showSerName val="0"/>
          <c:showPercent val="0"/>
          <c:showBubbleSize val="0"/>
        </c:dLbls>
        <c:axId val="48650112"/>
        <c:axId val="48672768"/>
      </c:scatterChart>
      <c:valAx>
        <c:axId val="48672768"/>
        <c:scaling>
          <c:orientation val="minMax"/>
          <c:max val="3.5"/>
          <c:min val="-0.5"/>
        </c:scaling>
        <c:delete val="0"/>
        <c:axPos val="l"/>
        <c:majorGridlines>
          <c:spPr>
            <a:ln w="9525">
              <a:solidFill>
                <a:srgbClr val="E8EDF2"/>
              </a:solidFill>
            </a:ln>
          </c:spPr>
        </c:majorGridlines>
        <c:title>
          <c:tx>
            <c:rich>
              <a:bodyPr/>
              <a:lstStyle/>
              <a:p>
                <a:r>
                  <a:rPr lang="it-IT">
                    <a:latin typeface="DejaVu Sans"/>
                    <a:ea typeface="DejaVu Sans"/>
                    <a:cs typeface="DejaVu Sans"/>
                  </a:rPr>
                  <a:t>Slope a</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1"/>
      </c:valAx>
      <c:valAx>
        <c:axId val="48650112"/>
        <c:scaling>
          <c:orientation val="minMax"/>
          <c:max val="4.5"/>
          <c:min val="-0.5"/>
        </c:scaling>
        <c:delete val="0"/>
        <c:axPos val="b"/>
        <c:title>
          <c:tx>
            <c:rich>
              <a:bodyPr/>
              <a:lstStyle/>
              <a:p>
                <a:r>
                  <a:rPr lang="it-IT">
                    <a:latin typeface="DejaVu Sans"/>
                    <a:ea typeface="DejaVu Sans"/>
                    <a:cs typeface="DejaVu Sans"/>
                  </a:rPr>
                  <a:t>Intercept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2"/>
          <c:order val="2"/>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0429-446F-8DDC-0CD65FDC366F}"/>
            </c:ext>
          </c:extLst>
        </c:ser>
        <c:ser>
          <c:idx val="0"/>
          <c:order val="0"/>
          <c:tx>
            <c:v>Optimal line</c:v>
          </c:tx>
          <c:spPr>
            <a:ln w="28575">
              <a:solidFill>
                <a:srgbClr val="DAE5EE"/>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-2.9</c:v>
                </c:pt>
                <c:pt idx="1">
                  <c:v>6.9</c:v>
                </c:pt>
              </c:numCache>
            </c:numRef>
          </c:yVal>
          <c:smooth val="0"/>
          <c:extLst>
            <c:ext xmlns:c16="http://schemas.microsoft.com/office/drawing/2014/chart" uri="{C3380CC4-5D6E-409C-BE32-E72D297353CC}">
              <c16:uniqueId val="{00000001-0429-446F-8DDC-0CD65FDC366F}"/>
            </c:ext>
          </c:extLst>
        </c:ser>
        <c:ser>
          <c:idx val="1"/>
          <c:order val="1"/>
          <c:tx>
            <c:v>Predictor</c:v>
          </c:tx>
          <c:spPr>
            <a:ln w="28575">
              <a:solidFill>
                <a:srgbClr val="087F83"/>
              </a:solidFill>
            </a:ln>
          </c:spPr>
          <c:marker>
            <c:symbol val="none"/>
          </c:marker>
          <c:xVal>
            <c:numRef>
              <c:f>'Chart Data'!$E$2:$E$3</c:f>
              <c:numCache>
                <c:formatCode>General</c:formatCode>
                <c:ptCount val="2"/>
                <c:pt idx="0">
                  <c:v>-2.4500000000000002</c:v>
                </c:pt>
                <c:pt idx="1">
                  <c:v>2.4500000000000002</c:v>
                </c:pt>
              </c:numCache>
            </c:numRef>
          </c:xVal>
          <c:yVal>
            <c:numRef>
              <c:f>'Chart Data'!$F$2:$F$3</c:f>
              <c:numCache>
                <c:formatCode>0.##</c:formatCode>
                <c:ptCount val="2"/>
                <c:pt idx="0">
                  <c:v>-3.12</c:v>
                </c:pt>
                <c:pt idx="1">
                  <c:v>4.72</c:v>
                </c:pt>
              </c:numCache>
            </c:numRef>
          </c:yVal>
          <c:smooth val="0"/>
          <c:extLst>
            <c:ext xmlns:c16="http://schemas.microsoft.com/office/drawing/2014/chart" uri="{C3380CC4-5D6E-409C-BE32-E72D297353CC}">
              <c16:uniqueId val="{00000002-0429-446F-8DDC-0CD65FDC366F}"/>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Loss 8</c:v>
          </c:tx>
          <c:spPr>
            <a:ln w="14288">
              <a:solidFill>
                <a:srgbClr val="DAE5EE"/>
              </a:solidFill>
            </a:ln>
          </c:spPr>
          <c:marker>
            <c:symbol val="none"/>
          </c:marker>
          <c:xVal>
            <c:numRef>
              <c:f>'Chart Data'!$A$2:$A$98</c:f>
              <c:numCache>
                <c:formatCode>General</c:formatCode>
                <c:ptCount val="97"/>
                <c:pt idx="0">
                  <c:v>2.6324555320299998</c:v>
                </c:pt>
                <c:pt idx="1">
                  <c:v>2.6311013961900001</c:v>
                </c:pt>
                <c:pt idx="2">
                  <c:v>2.62704478728</c:v>
                </c:pt>
                <c:pt idx="3">
                  <c:v>2.6203030763299999</c:v>
                </c:pt>
                <c:pt idx="4">
                  <c:v>2.6109051323700001</c:v>
                </c:pt>
                <c:pt idx="5">
                  <c:v>2.5988911988500001</c:v>
                </c:pt>
                <c:pt idx="6">
                  <c:v>2.5843127212699999</c:v>
                </c:pt>
                <c:pt idx="7">
                  <c:v>2.56723212691</c:v>
                </c:pt>
                <c:pt idx="8">
                  <c:v>2.5477225575100002</c:v>
                </c:pt>
                <c:pt idx="9">
                  <c:v>2.5258675560200001</c:v>
                </c:pt>
                <c:pt idx="10">
                  <c:v>2.50176070892</c:v>
                </c:pt>
                <c:pt idx="11">
                  <c:v>2.4755052454399999</c:v>
                </c:pt>
                <c:pt idx="12">
                  <c:v>2.4472135955000001</c:v>
                </c:pt>
                <c:pt idx="13">
                  <c:v>2.4170069082799999</c:v>
                </c:pt>
                <c:pt idx="14">
                  <c:v>2.3850145334700001</c:v>
                </c:pt>
                <c:pt idx="15">
                  <c:v>2.3513734673100002</c:v>
                </c:pt>
                <c:pt idx="16">
                  <c:v>2.3162277660199999</c:v>
                </c:pt>
                <c:pt idx="17">
                  <c:v>2.2797279288799999</c:v>
                </c:pt>
                <c:pt idx="18">
                  <c:v>2.2420302538199999</c:v>
                </c:pt>
                <c:pt idx="19">
                  <c:v>2.2032961680400001</c:v>
                </c:pt>
                <c:pt idx="20">
                  <c:v>2.16369153687</c:v>
                </c:pt>
                <c:pt idx="21">
                  <c:v>2.1233859534100001</c:v>
                </c:pt>
                <c:pt idx="22">
                  <c:v>2.0825520123399999</c:v>
                </c:pt>
                <c:pt idx="23">
                  <c:v>2.0413645708899999</c:v>
                </c:pt>
                <c:pt idx="24">
                  <c:v>2</c:v>
                </c:pt>
                <c:pt idx="25">
                  <c:v>1.9586354291100001</c:v>
                </c:pt>
                <c:pt idx="26">
                  <c:v>1.9174479876599999</c:v>
                </c:pt>
                <c:pt idx="27">
                  <c:v>1.8766140465900001</c:v>
                </c:pt>
                <c:pt idx="28">
                  <c:v>1.83630846313</c:v>
                </c:pt>
                <c:pt idx="29">
                  <c:v>1.7967038319599999</c:v>
                </c:pt>
                <c:pt idx="30">
                  <c:v>1.7579697461799999</c:v>
                </c:pt>
                <c:pt idx="31">
                  <c:v>1.7202720711199999</c:v>
                </c:pt>
                <c:pt idx="32">
                  <c:v>1.6837722339800001</c:v>
                </c:pt>
                <c:pt idx="33">
                  <c:v>1.64862653269</c:v>
                </c:pt>
                <c:pt idx="34">
                  <c:v>1.6149854665300001</c:v>
                </c:pt>
                <c:pt idx="35">
                  <c:v>1.5829930917199999</c:v>
                </c:pt>
                <c:pt idx="36">
                  <c:v>1.5527864044999999</c:v>
                </c:pt>
                <c:pt idx="37">
                  <c:v>1.5244947545600001</c:v>
                </c:pt>
                <c:pt idx="38">
                  <c:v>1.49823929108</c:v>
                </c:pt>
                <c:pt idx="39">
                  <c:v>1.4741324439800001</c:v>
                </c:pt>
                <c:pt idx="40">
                  <c:v>1.45227744249</c:v>
                </c:pt>
                <c:pt idx="41">
                  <c:v>1.43276787309</c:v>
                </c:pt>
                <c:pt idx="42">
                  <c:v>1.4156872787300001</c:v>
                </c:pt>
                <c:pt idx="43">
                  <c:v>1.4011088011499999</c:v>
                </c:pt>
                <c:pt idx="44">
                  <c:v>1.3890948676299999</c:v>
                </c:pt>
                <c:pt idx="45">
                  <c:v>1.3796969236700001</c:v>
                </c:pt>
                <c:pt idx="46">
                  <c:v>1.37295521272</c:v>
                </c:pt>
                <c:pt idx="47">
                  <c:v>1.3688986038099999</c:v>
                </c:pt>
                <c:pt idx="48">
                  <c:v>1.36754446797</c:v>
                </c:pt>
                <c:pt idx="49">
                  <c:v>1.3688986038099999</c:v>
                </c:pt>
                <c:pt idx="50">
                  <c:v>1.37295521272</c:v>
                </c:pt>
                <c:pt idx="51">
                  <c:v>1.3796969236700001</c:v>
                </c:pt>
                <c:pt idx="52">
                  <c:v>1.3890948676299999</c:v>
                </c:pt>
                <c:pt idx="53">
                  <c:v>1.4011088011499999</c:v>
                </c:pt>
                <c:pt idx="54">
                  <c:v>1.4156872787300001</c:v>
                </c:pt>
                <c:pt idx="55">
                  <c:v>1.43276787309</c:v>
                </c:pt>
                <c:pt idx="56">
                  <c:v>1.45227744249</c:v>
                </c:pt>
                <c:pt idx="57">
                  <c:v>1.4741324439800001</c:v>
                </c:pt>
                <c:pt idx="58">
                  <c:v>1.49823929108</c:v>
                </c:pt>
                <c:pt idx="59">
                  <c:v>1.5244947545600001</c:v>
                </c:pt>
                <c:pt idx="60">
                  <c:v>1.5527864044999999</c:v>
                </c:pt>
                <c:pt idx="61">
                  <c:v>1.5829930917199999</c:v>
                </c:pt>
                <c:pt idx="62">
                  <c:v>1.6149854665300001</c:v>
                </c:pt>
                <c:pt idx="63">
                  <c:v>1.64862653269</c:v>
                </c:pt>
                <c:pt idx="64">
                  <c:v>1.6837722339800001</c:v>
                </c:pt>
                <c:pt idx="65">
                  <c:v>1.7202720711199999</c:v>
                </c:pt>
                <c:pt idx="66">
                  <c:v>1.7579697461799999</c:v>
                </c:pt>
                <c:pt idx="67">
                  <c:v>1.7967038319599999</c:v>
                </c:pt>
                <c:pt idx="68">
                  <c:v>1.83630846313</c:v>
                </c:pt>
                <c:pt idx="69">
                  <c:v>1.8766140465900001</c:v>
                </c:pt>
                <c:pt idx="70">
                  <c:v>1.9174479876599999</c:v>
                </c:pt>
                <c:pt idx="71">
                  <c:v>1.9586354291100001</c:v>
                </c:pt>
                <c:pt idx="72">
                  <c:v>2</c:v>
                </c:pt>
                <c:pt idx="73">
                  <c:v>2.0413645708899999</c:v>
                </c:pt>
                <c:pt idx="74">
                  <c:v>2.0825520123399999</c:v>
                </c:pt>
                <c:pt idx="75">
                  <c:v>2.1233859534100001</c:v>
                </c:pt>
                <c:pt idx="76">
                  <c:v>2.16369153687</c:v>
                </c:pt>
                <c:pt idx="77">
                  <c:v>2.2032961680400001</c:v>
                </c:pt>
                <c:pt idx="78">
                  <c:v>2.2420302538199999</c:v>
                </c:pt>
                <c:pt idx="79">
                  <c:v>2.2797279288799999</c:v>
                </c:pt>
                <c:pt idx="80">
                  <c:v>2.3162277660199999</c:v>
                </c:pt>
                <c:pt idx="81">
                  <c:v>2.3513734673100002</c:v>
                </c:pt>
                <c:pt idx="82">
                  <c:v>2.3850145334700001</c:v>
                </c:pt>
                <c:pt idx="83">
                  <c:v>2.4170069082799999</c:v>
                </c:pt>
                <c:pt idx="84">
                  <c:v>2.4472135955000001</c:v>
                </c:pt>
                <c:pt idx="85">
                  <c:v>2.4755052454399999</c:v>
                </c:pt>
                <c:pt idx="86">
                  <c:v>2.50176070892</c:v>
                </c:pt>
                <c:pt idx="87">
                  <c:v>2.5258675560200001</c:v>
                </c:pt>
                <c:pt idx="88">
                  <c:v>2.5477225575100002</c:v>
                </c:pt>
                <c:pt idx="89">
                  <c:v>2.56723212691</c:v>
                </c:pt>
                <c:pt idx="90">
                  <c:v>2.5843127212699999</c:v>
                </c:pt>
                <c:pt idx="91">
                  <c:v>2.5988911988500001</c:v>
                </c:pt>
                <c:pt idx="92">
                  <c:v>2.6109051323700001</c:v>
                </c:pt>
                <c:pt idx="93">
                  <c:v>2.6203030763299999</c:v>
                </c:pt>
                <c:pt idx="94">
                  <c:v>2.62704478728</c:v>
                </c:pt>
                <c:pt idx="95">
                  <c:v>2.6311013961900001</c:v>
                </c:pt>
                <c:pt idx="96">
                  <c:v>2.6324555320299998</c:v>
                </c:pt>
              </c:numCache>
            </c:numRef>
          </c:xVal>
          <c:yVal>
            <c:numRef>
              <c:f>'Chart Data'!$B$2:$B$98</c:f>
              <c:numCache>
                <c:formatCode>0.##</c:formatCode>
                <c:ptCount val="97"/>
                <c:pt idx="0">
                  <c:v>2</c:v>
                </c:pt>
                <c:pt idx="1">
                  <c:v>2.0292491685799998</c:v>
                </c:pt>
                <c:pt idx="2">
                  <c:v>2.0583730877300002</c:v>
                </c:pt>
                <c:pt idx="3">
                  <c:v>2.0872470443600002</c:v>
                </c:pt>
                <c:pt idx="4">
                  <c:v>2.1157473957400001</c:v>
                </c:pt>
                <c:pt idx="5">
                  <c:v>2.1437520990099999</c:v>
                </c:pt>
                <c:pt idx="6">
                  <c:v>2.1711412337299998</c:v>
                </c:pt>
                <c:pt idx="7">
                  <c:v>2.1977975154</c:v>
                </c:pt>
                <c:pt idx="8">
                  <c:v>2.22360679775</c:v>
                </c:pt>
                <c:pt idx="9">
                  <c:v>2.2484585614600001</c:v>
                </c:pt>
                <c:pt idx="10">
                  <c:v>2.2722463874700001</c:v>
                </c:pt>
                <c:pt idx="11">
                  <c:v>2.2948684126500001</c:v>
                </c:pt>
                <c:pt idx="12">
                  <c:v>2.3162277660199999</c:v>
                </c:pt>
                <c:pt idx="13">
                  <c:v>2.33623298354</c:v>
                </c:pt>
                <c:pt idx="14">
                  <c:v>2.3547983998099999</c:v>
                </c:pt>
                <c:pt idx="15">
                  <c:v>2.3718445148699998</c:v>
                </c:pt>
                <c:pt idx="16">
                  <c:v>2.3872983346200001</c:v>
                </c:pt>
                <c:pt idx="17">
                  <c:v>2.4010936834500001</c:v>
                </c:pt>
                <c:pt idx="18">
                  <c:v>2.4131714875400001</c:v>
                </c:pt>
                <c:pt idx="19">
                  <c:v>2.4234800279000002</c:v>
                </c:pt>
                <c:pt idx="20">
                  <c:v>2.4319751617600001</c:v>
                </c:pt>
                <c:pt idx="21">
                  <c:v>2.4386205116599999</c:v>
                </c:pt>
                <c:pt idx="22">
                  <c:v>2.4433876211899999</c:v>
                </c:pt>
                <c:pt idx="23">
                  <c:v>2.4462560768600001</c:v>
                </c:pt>
                <c:pt idx="24">
                  <c:v>2.4472135955000001</c:v>
                </c:pt>
                <c:pt idx="25">
                  <c:v>2.4462560768600001</c:v>
                </c:pt>
                <c:pt idx="26">
                  <c:v>2.4433876211899999</c:v>
                </c:pt>
                <c:pt idx="27">
                  <c:v>2.4386205116599999</c:v>
                </c:pt>
                <c:pt idx="28">
                  <c:v>2.4319751617600001</c:v>
                </c:pt>
                <c:pt idx="29">
                  <c:v>2.4234800279000002</c:v>
                </c:pt>
                <c:pt idx="30">
                  <c:v>2.4131714875400001</c:v>
                </c:pt>
                <c:pt idx="31">
                  <c:v>2.4010936834500001</c:v>
                </c:pt>
                <c:pt idx="32">
                  <c:v>2.3872983346200001</c:v>
                </c:pt>
                <c:pt idx="33">
                  <c:v>2.3718445148699998</c:v>
                </c:pt>
                <c:pt idx="34">
                  <c:v>2.3547983998099999</c:v>
                </c:pt>
                <c:pt idx="35">
                  <c:v>2.33623298354</c:v>
                </c:pt>
                <c:pt idx="36">
                  <c:v>2.3162277660199999</c:v>
                </c:pt>
                <c:pt idx="37">
                  <c:v>2.2948684126500001</c:v>
                </c:pt>
                <c:pt idx="38">
                  <c:v>2.2722463874700001</c:v>
                </c:pt>
                <c:pt idx="39">
                  <c:v>2.2484585614600001</c:v>
                </c:pt>
                <c:pt idx="40">
                  <c:v>2.22360679775</c:v>
                </c:pt>
                <c:pt idx="41">
                  <c:v>2.1977975154</c:v>
                </c:pt>
                <c:pt idx="42">
                  <c:v>2.1711412337299998</c:v>
                </c:pt>
                <c:pt idx="43">
                  <c:v>2.1437520990099999</c:v>
                </c:pt>
                <c:pt idx="44">
                  <c:v>2.1157473957400001</c:v>
                </c:pt>
                <c:pt idx="45">
                  <c:v>2.0872470443600002</c:v>
                </c:pt>
                <c:pt idx="46">
                  <c:v>2.0583730877300002</c:v>
                </c:pt>
                <c:pt idx="47">
                  <c:v>2.0292491685799998</c:v>
                </c:pt>
                <c:pt idx="48">
                  <c:v>2</c:v>
                </c:pt>
                <c:pt idx="49">
                  <c:v>1.97075083142</c:v>
                </c:pt>
                <c:pt idx="50">
                  <c:v>1.9416269122700001</c:v>
                </c:pt>
                <c:pt idx="51">
                  <c:v>1.91275295564</c:v>
                </c:pt>
                <c:pt idx="52">
                  <c:v>1.8842526042600001</c:v>
                </c:pt>
                <c:pt idx="53">
                  <c:v>1.8562479009899999</c:v>
                </c:pt>
                <c:pt idx="54">
                  <c:v>1.82885876627</c:v>
                </c:pt>
                <c:pt idx="55">
                  <c:v>1.8022024846</c:v>
                </c:pt>
                <c:pt idx="56">
                  <c:v>1.77639320225</c:v>
                </c:pt>
                <c:pt idx="57">
                  <c:v>1.7515414385400001</c:v>
                </c:pt>
                <c:pt idx="58">
                  <c:v>1.7277536125299999</c:v>
                </c:pt>
                <c:pt idx="59">
                  <c:v>1.7051315873499999</c:v>
                </c:pt>
                <c:pt idx="60">
                  <c:v>1.6837722339800001</c:v>
                </c:pt>
                <c:pt idx="61">
                  <c:v>1.66376701646</c:v>
                </c:pt>
                <c:pt idx="62">
                  <c:v>1.6452016001900001</c:v>
                </c:pt>
                <c:pt idx="63">
                  <c:v>1.62815548513</c:v>
                </c:pt>
                <c:pt idx="64">
                  <c:v>1.6127016653799999</c:v>
                </c:pt>
                <c:pt idx="65">
                  <c:v>1.5989063165499999</c:v>
                </c:pt>
                <c:pt idx="66">
                  <c:v>1.5868285124599999</c:v>
                </c:pt>
                <c:pt idx="67">
                  <c:v>1.5765199721000001</c:v>
                </c:pt>
                <c:pt idx="68">
                  <c:v>1.5680248382399999</c:v>
                </c:pt>
                <c:pt idx="69">
                  <c:v>1.5613794883400001</c:v>
                </c:pt>
                <c:pt idx="70">
                  <c:v>1.5566123788099999</c:v>
                </c:pt>
                <c:pt idx="71">
                  <c:v>1.5537439231400001</c:v>
                </c:pt>
                <c:pt idx="72">
                  <c:v>1.5527864044999999</c:v>
                </c:pt>
                <c:pt idx="73">
                  <c:v>1.5537439231400001</c:v>
                </c:pt>
                <c:pt idx="74">
                  <c:v>1.5566123788099999</c:v>
                </c:pt>
                <c:pt idx="75">
                  <c:v>1.5613794883400001</c:v>
                </c:pt>
                <c:pt idx="76">
                  <c:v>1.5680248382399999</c:v>
                </c:pt>
                <c:pt idx="77">
                  <c:v>1.5765199721000001</c:v>
                </c:pt>
                <c:pt idx="78">
                  <c:v>1.5868285124599999</c:v>
                </c:pt>
                <c:pt idx="79">
                  <c:v>1.5989063165499999</c:v>
                </c:pt>
                <c:pt idx="80">
                  <c:v>1.6127016653799999</c:v>
                </c:pt>
                <c:pt idx="81">
                  <c:v>1.62815548513</c:v>
                </c:pt>
                <c:pt idx="82">
                  <c:v>1.6452016001900001</c:v>
                </c:pt>
                <c:pt idx="83">
                  <c:v>1.66376701646</c:v>
                </c:pt>
                <c:pt idx="84">
                  <c:v>1.6837722339800001</c:v>
                </c:pt>
                <c:pt idx="85">
                  <c:v>1.7051315873499999</c:v>
                </c:pt>
                <c:pt idx="86">
                  <c:v>1.7277536125299999</c:v>
                </c:pt>
                <c:pt idx="87">
                  <c:v>1.7515414385400001</c:v>
                </c:pt>
                <c:pt idx="88">
                  <c:v>1.77639320225</c:v>
                </c:pt>
                <c:pt idx="89">
                  <c:v>1.8022024846</c:v>
                </c:pt>
                <c:pt idx="90">
                  <c:v>1.82885876627</c:v>
                </c:pt>
                <c:pt idx="91">
                  <c:v>1.8562479009899999</c:v>
                </c:pt>
                <c:pt idx="92">
                  <c:v>1.8842526042600001</c:v>
                </c:pt>
                <c:pt idx="93">
                  <c:v>1.91275295564</c:v>
                </c:pt>
                <c:pt idx="94">
                  <c:v>1.9416269122700001</c:v>
                </c:pt>
                <c:pt idx="95">
                  <c:v>1.97075083142</c:v>
                </c:pt>
                <c:pt idx="96">
                  <c:v>2</c:v>
                </c:pt>
              </c:numCache>
            </c:numRef>
          </c:yVal>
          <c:smooth val="0"/>
          <c:extLst>
            <c:ext xmlns:c16="http://schemas.microsoft.com/office/drawing/2014/chart" uri="{C3380CC4-5D6E-409C-BE32-E72D297353CC}">
              <c16:uniqueId val="{00000000-DA24-4889-803E-94440B99C4ED}"/>
            </c:ext>
          </c:extLst>
        </c:ser>
        <c:ser>
          <c:idx val="1"/>
          <c:order val="1"/>
          <c:tx>
            <c:v>Loss 14</c:v>
          </c:tx>
          <c:spPr>
            <a:ln w="14288">
              <a:solidFill>
                <a:srgbClr val="DAE5EE"/>
              </a:solidFill>
            </a:ln>
          </c:spPr>
          <c:marker>
            <c:symbol val="none"/>
          </c:marker>
          <c:xVal>
            <c:numRef>
              <c:f>'Chart Data'!$C$2:$C$98</c:f>
              <c:numCache>
                <c:formatCode>General</c:formatCode>
                <c:ptCount val="97"/>
                <c:pt idx="0">
                  <c:v>3.2649110640700001</c:v>
                </c:pt>
                <c:pt idx="1">
                  <c:v>3.2622027923800001</c:v>
                </c:pt>
                <c:pt idx="2">
                  <c:v>3.25408957456</c:v>
                </c:pt>
                <c:pt idx="3">
                  <c:v>3.2406061526599999</c:v>
                </c:pt>
                <c:pt idx="4">
                  <c:v>3.2218102647400002</c:v>
                </c:pt>
                <c:pt idx="5">
                  <c:v>3.1977823977000002</c:v>
                </c:pt>
                <c:pt idx="6">
                  <c:v>3.1686254425399998</c:v>
                </c:pt>
                <c:pt idx="7">
                  <c:v>3.13446425383</c:v>
                </c:pt>
                <c:pt idx="8">
                  <c:v>3.09544511501</c:v>
                </c:pt>
                <c:pt idx="9">
                  <c:v>3.0517351120399998</c:v>
                </c:pt>
                <c:pt idx="10">
                  <c:v>3.00352141785</c:v>
                </c:pt>
                <c:pt idx="11">
                  <c:v>2.9510104908899999</c:v>
                </c:pt>
                <c:pt idx="12">
                  <c:v>2.8944271910000001</c:v>
                </c:pt>
                <c:pt idx="13">
                  <c:v>2.8340138165700002</c:v>
                </c:pt>
                <c:pt idx="14">
                  <c:v>2.7700290669299998</c:v>
                </c:pt>
                <c:pt idx="15">
                  <c:v>2.7027469346099999</c:v>
                </c:pt>
                <c:pt idx="16">
                  <c:v>2.6324555320299998</c:v>
                </c:pt>
                <c:pt idx="17">
                  <c:v>2.5594558577700002</c:v>
                </c:pt>
                <c:pt idx="18">
                  <c:v>2.4840605076300002</c:v>
                </c:pt>
                <c:pt idx="19">
                  <c:v>2.4065923360900001</c:v>
                </c:pt>
                <c:pt idx="20">
                  <c:v>2.3273830737400001</c:v>
                </c:pt>
                <c:pt idx="21">
                  <c:v>2.2467719068099998</c:v>
                </c:pt>
                <c:pt idx="22">
                  <c:v>2.1651040246900002</c:v>
                </c:pt>
                <c:pt idx="23">
                  <c:v>2.0827291417899998</c:v>
                </c:pt>
                <c:pt idx="24">
                  <c:v>2</c:v>
                </c:pt>
                <c:pt idx="25">
                  <c:v>1.91727085821</c:v>
                </c:pt>
                <c:pt idx="26">
                  <c:v>1.83489597531</c:v>
                </c:pt>
                <c:pt idx="27">
                  <c:v>1.7532280931899999</c:v>
                </c:pt>
                <c:pt idx="28">
                  <c:v>1.6726169262599999</c:v>
                </c:pt>
                <c:pt idx="29">
                  <c:v>1.5934076639100001</c:v>
                </c:pt>
                <c:pt idx="30">
                  <c:v>1.51593949237</c:v>
                </c:pt>
                <c:pt idx="31">
                  <c:v>1.44054414223</c:v>
                </c:pt>
                <c:pt idx="32">
                  <c:v>1.36754446797</c:v>
                </c:pt>
                <c:pt idx="33">
                  <c:v>1.2972530653900001</c:v>
                </c:pt>
                <c:pt idx="34">
                  <c:v>1.2299709330699999</c:v>
                </c:pt>
                <c:pt idx="35">
                  <c:v>1.16598618343</c:v>
                </c:pt>
                <c:pt idx="36">
                  <c:v>1.1055728090000001</c:v>
                </c:pt>
                <c:pt idx="37">
                  <c:v>1.0489895091100001</c:v>
                </c:pt>
                <c:pt idx="38">
                  <c:v>0.99647858215100005</c:v>
                </c:pt>
                <c:pt idx="39">
                  <c:v>0.94826488796300001</c:v>
                </c:pt>
                <c:pt idx="40">
                  <c:v>0.90455488499000003</c:v>
                </c:pt>
                <c:pt idx="41">
                  <c:v>0.86553574617499995</c:v>
                </c:pt>
                <c:pt idx="42">
                  <c:v>0.83137455746099997</c:v>
                </c:pt>
                <c:pt idx="43">
                  <c:v>0.80221760230299999</c:v>
                </c:pt>
                <c:pt idx="44">
                  <c:v>0.77818973525900004</c:v>
                </c:pt>
                <c:pt idx="45">
                  <c:v>0.75939384734399995</c:v>
                </c:pt>
                <c:pt idx="46">
                  <c:v>0.74591042543599995</c:v>
                </c:pt>
                <c:pt idx="47">
                  <c:v>0.73779720761699996</c:v>
                </c:pt>
                <c:pt idx="48">
                  <c:v>0.73508893593299995</c:v>
                </c:pt>
                <c:pt idx="49">
                  <c:v>0.73779720761699996</c:v>
                </c:pt>
                <c:pt idx="50">
                  <c:v>0.74591042543599995</c:v>
                </c:pt>
                <c:pt idx="51">
                  <c:v>0.75939384734399995</c:v>
                </c:pt>
                <c:pt idx="52">
                  <c:v>0.77818973525900004</c:v>
                </c:pt>
                <c:pt idx="53">
                  <c:v>0.80221760230299999</c:v>
                </c:pt>
                <c:pt idx="54">
                  <c:v>0.83137455746099997</c:v>
                </c:pt>
                <c:pt idx="55">
                  <c:v>0.86553574617499995</c:v>
                </c:pt>
                <c:pt idx="56">
                  <c:v>0.90455488499000003</c:v>
                </c:pt>
                <c:pt idx="57">
                  <c:v>0.94826488796300001</c:v>
                </c:pt>
                <c:pt idx="58">
                  <c:v>0.99647858215100005</c:v>
                </c:pt>
                <c:pt idx="59">
                  <c:v>1.0489895091100001</c:v>
                </c:pt>
                <c:pt idx="60">
                  <c:v>1.1055728090000001</c:v>
                </c:pt>
                <c:pt idx="61">
                  <c:v>1.16598618343</c:v>
                </c:pt>
                <c:pt idx="62">
                  <c:v>1.2299709330699999</c:v>
                </c:pt>
                <c:pt idx="63">
                  <c:v>1.2972530653900001</c:v>
                </c:pt>
                <c:pt idx="64">
                  <c:v>1.36754446797</c:v>
                </c:pt>
                <c:pt idx="65">
                  <c:v>1.44054414223</c:v>
                </c:pt>
                <c:pt idx="66">
                  <c:v>1.51593949237</c:v>
                </c:pt>
                <c:pt idx="67">
                  <c:v>1.5934076639100001</c:v>
                </c:pt>
                <c:pt idx="68">
                  <c:v>1.6726169262599999</c:v>
                </c:pt>
                <c:pt idx="69">
                  <c:v>1.7532280931899999</c:v>
                </c:pt>
                <c:pt idx="70">
                  <c:v>1.83489597531</c:v>
                </c:pt>
                <c:pt idx="71">
                  <c:v>1.91727085821</c:v>
                </c:pt>
                <c:pt idx="72">
                  <c:v>2</c:v>
                </c:pt>
                <c:pt idx="73">
                  <c:v>2.0827291417899998</c:v>
                </c:pt>
                <c:pt idx="74">
                  <c:v>2.1651040246900002</c:v>
                </c:pt>
                <c:pt idx="75">
                  <c:v>2.2467719068099998</c:v>
                </c:pt>
                <c:pt idx="76">
                  <c:v>2.3273830737400001</c:v>
                </c:pt>
                <c:pt idx="77">
                  <c:v>2.4065923360900001</c:v>
                </c:pt>
                <c:pt idx="78">
                  <c:v>2.4840605076300002</c:v>
                </c:pt>
                <c:pt idx="79">
                  <c:v>2.5594558577700002</c:v>
                </c:pt>
                <c:pt idx="80">
                  <c:v>2.6324555320299998</c:v>
                </c:pt>
                <c:pt idx="81">
                  <c:v>2.7027469346099999</c:v>
                </c:pt>
                <c:pt idx="82">
                  <c:v>2.7700290669299998</c:v>
                </c:pt>
                <c:pt idx="83">
                  <c:v>2.8340138165700002</c:v>
                </c:pt>
                <c:pt idx="84">
                  <c:v>2.8944271910000001</c:v>
                </c:pt>
                <c:pt idx="85">
                  <c:v>2.9510104908899999</c:v>
                </c:pt>
                <c:pt idx="86">
                  <c:v>3.00352141785</c:v>
                </c:pt>
                <c:pt idx="87">
                  <c:v>3.0517351120399998</c:v>
                </c:pt>
                <c:pt idx="88">
                  <c:v>3.09544511501</c:v>
                </c:pt>
                <c:pt idx="89">
                  <c:v>3.13446425383</c:v>
                </c:pt>
                <c:pt idx="90">
                  <c:v>3.1686254425399998</c:v>
                </c:pt>
                <c:pt idx="91">
                  <c:v>3.1977823977000002</c:v>
                </c:pt>
                <c:pt idx="92">
                  <c:v>3.2218102647400002</c:v>
                </c:pt>
                <c:pt idx="93">
                  <c:v>3.2406061526599999</c:v>
                </c:pt>
                <c:pt idx="94">
                  <c:v>3.25408957456</c:v>
                </c:pt>
                <c:pt idx="95">
                  <c:v>3.2622027923800001</c:v>
                </c:pt>
                <c:pt idx="96">
                  <c:v>3.2649110640700001</c:v>
                </c:pt>
              </c:numCache>
            </c:numRef>
          </c:xVal>
          <c:yVal>
            <c:numRef>
              <c:f>'Chart Data'!$D$2:$D$98</c:f>
              <c:numCache>
                <c:formatCode>0.##</c:formatCode>
                <c:ptCount val="97"/>
                <c:pt idx="0">
                  <c:v>2</c:v>
                </c:pt>
                <c:pt idx="1">
                  <c:v>2.0584983371600001</c:v>
                </c:pt>
                <c:pt idx="2">
                  <c:v>2.1167461754599999</c:v>
                </c:pt>
                <c:pt idx="3">
                  <c:v>2.1744940887099999</c:v>
                </c:pt>
                <c:pt idx="4">
                  <c:v>2.2314947914899999</c:v>
                </c:pt>
                <c:pt idx="5">
                  <c:v>2.2875041980300002</c:v>
                </c:pt>
                <c:pt idx="6">
                  <c:v>2.34228246745</c:v>
                </c:pt>
                <c:pt idx="7">
                  <c:v>2.3955950308</c:v>
                </c:pt>
                <c:pt idx="8">
                  <c:v>2.4472135955000001</c:v>
                </c:pt>
                <c:pt idx="9">
                  <c:v>2.4969171229199998</c:v>
                </c:pt>
                <c:pt idx="10">
                  <c:v>2.5444927749400001</c:v>
                </c:pt>
                <c:pt idx="11">
                  <c:v>2.5897368253000002</c:v>
                </c:pt>
                <c:pt idx="12">
                  <c:v>2.6324555320299998</c:v>
                </c:pt>
                <c:pt idx="13">
                  <c:v>2.6724659670899999</c:v>
                </c:pt>
                <c:pt idx="14">
                  <c:v>2.7095967996299999</c:v>
                </c:pt>
                <c:pt idx="15">
                  <c:v>2.7436890297300001</c:v>
                </c:pt>
                <c:pt idx="16">
                  <c:v>2.7745966692400001</c:v>
                </c:pt>
                <c:pt idx="17">
                  <c:v>2.8021873668900001</c:v>
                </c:pt>
                <c:pt idx="18">
                  <c:v>2.8263429750900002</c:v>
                </c:pt>
                <c:pt idx="19">
                  <c:v>2.8469600557999999</c:v>
                </c:pt>
                <c:pt idx="20">
                  <c:v>2.8639503235200001</c:v>
                </c:pt>
                <c:pt idx="21">
                  <c:v>2.8772410233299999</c:v>
                </c:pt>
                <c:pt idx="22">
                  <c:v>2.8867752423900002</c:v>
                </c:pt>
                <c:pt idx="23">
                  <c:v>2.8925121537299998</c:v>
                </c:pt>
                <c:pt idx="24">
                  <c:v>2.8944271910000001</c:v>
                </c:pt>
                <c:pt idx="25">
                  <c:v>2.8925121537299998</c:v>
                </c:pt>
                <c:pt idx="26">
                  <c:v>2.8867752423900002</c:v>
                </c:pt>
                <c:pt idx="27">
                  <c:v>2.8772410233299999</c:v>
                </c:pt>
                <c:pt idx="28">
                  <c:v>2.8639503235200001</c:v>
                </c:pt>
                <c:pt idx="29">
                  <c:v>2.8469600557999999</c:v>
                </c:pt>
                <c:pt idx="30">
                  <c:v>2.8263429750900002</c:v>
                </c:pt>
                <c:pt idx="31">
                  <c:v>2.8021873668900001</c:v>
                </c:pt>
                <c:pt idx="32">
                  <c:v>2.7745966692400001</c:v>
                </c:pt>
                <c:pt idx="33">
                  <c:v>2.7436890297300001</c:v>
                </c:pt>
                <c:pt idx="34">
                  <c:v>2.7095967996299999</c:v>
                </c:pt>
                <c:pt idx="35">
                  <c:v>2.6724659670899999</c:v>
                </c:pt>
                <c:pt idx="36">
                  <c:v>2.6324555320299998</c:v>
                </c:pt>
                <c:pt idx="37">
                  <c:v>2.5897368253000002</c:v>
                </c:pt>
                <c:pt idx="38">
                  <c:v>2.5444927749400001</c:v>
                </c:pt>
                <c:pt idx="39">
                  <c:v>2.4969171229199998</c:v>
                </c:pt>
                <c:pt idx="40">
                  <c:v>2.4472135955000001</c:v>
                </c:pt>
                <c:pt idx="41">
                  <c:v>2.3955950308</c:v>
                </c:pt>
                <c:pt idx="42">
                  <c:v>2.34228246745</c:v>
                </c:pt>
                <c:pt idx="43">
                  <c:v>2.2875041980300002</c:v>
                </c:pt>
                <c:pt idx="44">
                  <c:v>2.2314947914899999</c:v>
                </c:pt>
                <c:pt idx="45">
                  <c:v>2.1744940887099999</c:v>
                </c:pt>
                <c:pt idx="46">
                  <c:v>2.1167461754599999</c:v>
                </c:pt>
                <c:pt idx="47">
                  <c:v>2.0584983371600001</c:v>
                </c:pt>
                <c:pt idx="48">
                  <c:v>2</c:v>
                </c:pt>
                <c:pt idx="49">
                  <c:v>1.9415016628399999</c:v>
                </c:pt>
                <c:pt idx="50">
                  <c:v>1.8832538245399999</c:v>
                </c:pt>
                <c:pt idx="51">
                  <c:v>1.8255059112900001</c:v>
                </c:pt>
                <c:pt idx="52">
                  <c:v>1.7685052085099999</c:v>
                </c:pt>
                <c:pt idx="53">
                  <c:v>1.7124958019700001</c:v>
                </c:pt>
                <c:pt idx="54">
                  <c:v>1.65771753255</c:v>
                </c:pt>
                <c:pt idx="55">
                  <c:v>1.6044049692</c:v>
                </c:pt>
                <c:pt idx="56">
                  <c:v>1.5527864044999999</c:v>
                </c:pt>
                <c:pt idx="57">
                  <c:v>1.50308287708</c:v>
                </c:pt>
                <c:pt idx="58">
                  <c:v>1.4555072250600001</c:v>
                </c:pt>
                <c:pt idx="59">
                  <c:v>1.4102631747000001</c:v>
                </c:pt>
                <c:pt idx="60">
                  <c:v>1.36754446797</c:v>
                </c:pt>
                <c:pt idx="61">
                  <c:v>1.3275340329100001</c:v>
                </c:pt>
                <c:pt idx="62">
                  <c:v>1.2904032003699999</c:v>
                </c:pt>
                <c:pt idx="63">
                  <c:v>1.2563109702699999</c:v>
                </c:pt>
                <c:pt idx="64">
                  <c:v>1.2254033307600001</c:v>
                </c:pt>
                <c:pt idx="65">
                  <c:v>1.1978126331100001</c:v>
                </c:pt>
                <c:pt idx="66">
                  <c:v>1.17365702491</c:v>
                </c:pt>
                <c:pt idx="67">
                  <c:v>1.1530399442000001</c:v>
                </c:pt>
                <c:pt idx="68">
                  <c:v>1.1360496764800001</c:v>
                </c:pt>
                <c:pt idx="69">
                  <c:v>1.1227589766699999</c:v>
                </c:pt>
                <c:pt idx="70">
                  <c:v>1.1132247576100001</c:v>
                </c:pt>
                <c:pt idx="71">
                  <c:v>1.10748784627</c:v>
                </c:pt>
                <c:pt idx="72">
                  <c:v>1.1055728090000001</c:v>
                </c:pt>
                <c:pt idx="73">
                  <c:v>1.10748784627</c:v>
                </c:pt>
                <c:pt idx="74">
                  <c:v>1.1132247576100001</c:v>
                </c:pt>
                <c:pt idx="75">
                  <c:v>1.1227589766699999</c:v>
                </c:pt>
                <c:pt idx="76">
                  <c:v>1.1360496764800001</c:v>
                </c:pt>
                <c:pt idx="77">
                  <c:v>1.1530399442000001</c:v>
                </c:pt>
                <c:pt idx="78">
                  <c:v>1.17365702491</c:v>
                </c:pt>
                <c:pt idx="79">
                  <c:v>1.1978126331100001</c:v>
                </c:pt>
                <c:pt idx="80">
                  <c:v>1.2254033307600001</c:v>
                </c:pt>
                <c:pt idx="81">
                  <c:v>1.2563109702699999</c:v>
                </c:pt>
                <c:pt idx="82">
                  <c:v>1.2904032003699999</c:v>
                </c:pt>
                <c:pt idx="83">
                  <c:v>1.3275340329100001</c:v>
                </c:pt>
                <c:pt idx="84">
                  <c:v>1.36754446797</c:v>
                </c:pt>
                <c:pt idx="85">
                  <c:v>1.4102631747000001</c:v>
                </c:pt>
                <c:pt idx="86">
                  <c:v>1.4555072250600001</c:v>
                </c:pt>
                <c:pt idx="87">
                  <c:v>1.50308287708</c:v>
                </c:pt>
                <c:pt idx="88">
                  <c:v>1.5527864044999999</c:v>
                </c:pt>
                <c:pt idx="89">
                  <c:v>1.6044049692</c:v>
                </c:pt>
                <c:pt idx="90">
                  <c:v>1.65771753255</c:v>
                </c:pt>
                <c:pt idx="91">
                  <c:v>1.7124958019700001</c:v>
                </c:pt>
                <c:pt idx="92">
                  <c:v>1.7685052085099999</c:v>
                </c:pt>
                <c:pt idx="93">
                  <c:v>1.8255059112900001</c:v>
                </c:pt>
                <c:pt idx="94">
                  <c:v>1.8832538245399999</c:v>
                </c:pt>
                <c:pt idx="95">
                  <c:v>1.9415016628399999</c:v>
                </c:pt>
                <c:pt idx="96">
                  <c:v>2</c:v>
                </c:pt>
              </c:numCache>
            </c:numRef>
          </c:yVal>
          <c:smooth val="0"/>
          <c:extLst>
            <c:ext xmlns:c16="http://schemas.microsoft.com/office/drawing/2014/chart" uri="{C3380CC4-5D6E-409C-BE32-E72D297353CC}">
              <c16:uniqueId val="{00000001-DA24-4889-803E-94440B99C4ED}"/>
            </c:ext>
          </c:extLst>
        </c:ser>
        <c:ser>
          <c:idx val="2"/>
          <c:order val="2"/>
          <c:tx>
            <c:v>Loss 26</c:v>
          </c:tx>
          <c:spPr>
            <a:ln w="14288">
              <a:solidFill>
                <a:srgbClr val="DAE5EE"/>
              </a:solidFill>
            </a:ln>
          </c:spPr>
          <c:marker>
            <c:symbol val="none"/>
          </c:marker>
          <c:xVal>
            <c:numRef>
              <c:f>'Chart Data'!$E$2:$E$98</c:f>
              <c:numCache>
                <c:formatCode>General</c:formatCode>
                <c:ptCount val="97"/>
                <c:pt idx="0">
                  <c:v>4</c:v>
                </c:pt>
                <c:pt idx="1">
                  <c:v>3.9957178464799998</c:v>
                </c:pt>
                <c:pt idx="2">
                  <c:v>3.98288972275</c:v>
                </c:pt>
                <c:pt idx="3">
                  <c:v>3.9615705608099998</c:v>
                </c:pt>
                <c:pt idx="4">
                  <c:v>3.9318516525799998</c:v>
                </c:pt>
                <c:pt idx="5">
                  <c:v>3.8938602589900002</c:v>
                </c:pt>
                <c:pt idx="6">
                  <c:v>3.84775906502</c:v>
                </c:pt>
                <c:pt idx="7">
                  <c:v>3.7937454830699999</c:v>
                </c:pt>
                <c:pt idx="8">
                  <c:v>3.7320508075699999</c:v>
                </c:pt>
                <c:pt idx="9">
                  <c:v>3.6629392246100001</c:v>
                </c:pt>
                <c:pt idx="10">
                  <c:v>3.5867066805799999</c:v>
                </c:pt>
                <c:pt idx="11">
                  <c:v>3.5036796149599998</c:v>
                </c:pt>
                <c:pt idx="12">
                  <c:v>3.4142135623700001</c:v>
                </c:pt>
                <c:pt idx="13">
                  <c:v>3.3186916302</c:v>
                </c:pt>
                <c:pt idx="14">
                  <c:v>3.2175228580200002</c:v>
                </c:pt>
                <c:pt idx="15">
                  <c:v>3.1111404660400002</c:v>
                </c:pt>
                <c:pt idx="16">
                  <c:v>3</c:v>
                </c:pt>
                <c:pt idx="17">
                  <c:v>2.8845773804400001</c:v>
                </c:pt>
                <c:pt idx="18">
                  <c:v>2.7653668647299998</c:v>
                </c:pt>
                <c:pt idx="19">
                  <c:v>2.6428789306099998</c:v>
                </c:pt>
                <c:pt idx="20">
                  <c:v>2.5176380902100002</c:v>
                </c:pt>
                <c:pt idx="21">
                  <c:v>2.39018064403</c:v>
                </c:pt>
                <c:pt idx="22">
                  <c:v>2.2610523844400001</c:v>
                </c:pt>
                <c:pt idx="23">
                  <c:v>2.1308062584599998</c:v>
                </c:pt>
                <c:pt idx="24">
                  <c:v>2</c:v>
                </c:pt>
                <c:pt idx="25">
                  <c:v>1.86919374154</c:v>
                </c:pt>
                <c:pt idx="26">
                  <c:v>1.7389476155600001</c:v>
                </c:pt>
                <c:pt idx="27">
                  <c:v>1.60981935597</c:v>
                </c:pt>
                <c:pt idx="28">
                  <c:v>1.48236190979</c:v>
                </c:pt>
                <c:pt idx="29">
                  <c:v>1.35712106939</c:v>
                </c:pt>
                <c:pt idx="30">
                  <c:v>1.23463313527</c:v>
                </c:pt>
                <c:pt idx="31">
                  <c:v>1.1154226195600001</c:v>
                </c:pt>
                <c:pt idx="32">
                  <c:v>1</c:v>
                </c:pt>
                <c:pt idx="33">
                  <c:v>0.88885953396100004</c:v>
                </c:pt>
                <c:pt idx="34">
                  <c:v>0.782477141983</c:v>
                </c:pt>
                <c:pt idx="35">
                  <c:v>0.68130836979999998</c:v>
                </c:pt>
                <c:pt idx="36">
                  <c:v>0.585786437627</c:v>
                </c:pt>
                <c:pt idx="37">
                  <c:v>0.49632038504199999</c:v>
                </c:pt>
                <c:pt idx="38">
                  <c:v>0.41329331941800002</c:v>
                </c:pt>
                <c:pt idx="39">
                  <c:v>0.33706077539500001</c:v>
                </c:pt>
                <c:pt idx="40">
                  <c:v>0.26794919243100002</c:v>
                </c:pt>
                <c:pt idx="41">
                  <c:v>0.20625451693499999</c:v>
                </c:pt>
                <c:pt idx="42">
                  <c:v>0.152240934977</c:v>
                </c:pt>
                <c:pt idx="43">
                  <c:v>0.10613974101</c:v>
                </c:pt>
                <c:pt idx="44">
                  <c:v>6.8148347421899999E-2</c:v>
                </c:pt>
                <c:pt idx="45">
                  <c:v>3.8429439193499997E-2</c:v>
                </c:pt>
                <c:pt idx="46">
                  <c:v>1.71102772524E-2</c:v>
                </c:pt>
                <c:pt idx="47">
                  <c:v>4.28215352279E-3</c:v>
                </c:pt>
                <c:pt idx="48">
                  <c:v>0</c:v>
                </c:pt>
                <c:pt idx="49">
                  <c:v>4.28215352279E-3</c:v>
                </c:pt>
                <c:pt idx="50">
                  <c:v>1.71102772524E-2</c:v>
                </c:pt>
                <c:pt idx="51">
                  <c:v>3.8429439193499997E-2</c:v>
                </c:pt>
                <c:pt idx="52">
                  <c:v>6.8148347421899999E-2</c:v>
                </c:pt>
                <c:pt idx="53">
                  <c:v>0.10613974101</c:v>
                </c:pt>
                <c:pt idx="54">
                  <c:v>0.152240934977</c:v>
                </c:pt>
                <c:pt idx="55">
                  <c:v>0.20625451693499999</c:v>
                </c:pt>
                <c:pt idx="56">
                  <c:v>0.26794919243100002</c:v>
                </c:pt>
                <c:pt idx="57">
                  <c:v>0.33706077539500001</c:v>
                </c:pt>
                <c:pt idx="58">
                  <c:v>0.41329331941800002</c:v>
                </c:pt>
                <c:pt idx="59">
                  <c:v>0.49632038504199999</c:v>
                </c:pt>
                <c:pt idx="60">
                  <c:v>0.585786437627</c:v>
                </c:pt>
                <c:pt idx="61">
                  <c:v>0.68130836979999998</c:v>
                </c:pt>
                <c:pt idx="62">
                  <c:v>0.782477141983</c:v>
                </c:pt>
                <c:pt idx="63">
                  <c:v>0.88885953396100004</c:v>
                </c:pt>
                <c:pt idx="64">
                  <c:v>1</c:v>
                </c:pt>
                <c:pt idx="65">
                  <c:v>1.1154226195600001</c:v>
                </c:pt>
                <c:pt idx="66">
                  <c:v>1.23463313527</c:v>
                </c:pt>
                <c:pt idx="67">
                  <c:v>1.35712106939</c:v>
                </c:pt>
                <c:pt idx="68">
                  <c:v>1.48236190979</c:v>
                </c:pt>
                <c:pt idx="69">
                  <c:v>1.60981935597</c:v>
                </c:pt>
                <c:pt idx="70">
                  <c:v>1.7389476155600001</c:v>
                </c:pt>
                <c:pt idx="71">
                  <c:v>1.86919374154</c:v>
                </c:pt>
                <c:pt idx="72">
                  <c:v>2</c:v>
                </c:pt>
                <c:pt idx="73">
                  <c:v>2.1308062584599998</c:v>
                </c:pt>
                <c:pt idx="74">
                  <c:v>2.2610523844400001</c:v>
                </c:pt>
                <c:pt idx="75">
                  <c:v>2.39018064403</c:v>
                </c:pt>
                <c:pt idx="76">
                  <c:v>2.5176380902100002</c:v>
                </c:pt>
                <c:pt idx="77">
                  <c:v>2.6428789306099998</c:v>
                </c:pt>
                <c:pt idx="78">
                  <c:v>2.7653668647299998</c:v>
                </c:pt>
                <c:pt idx="79">
                  <c:v>2.8845773804400001</c:v>
                </c:pt>
                <c:pt idx="80">
                  <c:v>3</c:v>
                </c:pt>
                <c:pt idx="81">
                  <c:v>3.1111404660400002</c:v>
                </c:pt>
                <c:pt idx="82">
                  <c:v>3.2175228580200002</c:v>
                </c:pt>
                <c:pt idx="83">
                  <c:v>3.3186916302</c:v>
                </c:pt>
                <c:pt idx="84">
                  <c:v>3.4142135623700001</c:v>
                </c:pt>
                <c:pt idx="85">
                  <c:v>3.5036796149599998</c:v>
                </c:pt>
                <c:pt idx="86">
                  <c:v>3.5867066805799999</c:v>
                </c:pt>
                <c:pt idx="87">
                  <c:v>3.6629392246100001</c:v>
                </c:pt>
                <c:pt idx="88">
                  <c:v>3.7320508075699999</c:v>
                </c:pt>
                <c:pt idx="89">
                  <c:v>3.7937454830699999</c:v>
                </c:pt>
                <c:pt idx="90">
                  <c:v>3.84775906502</c:v>
                </c:pt>
                <c:pt idx="91">
                  <c:v>3.8938602589900002</c:v>
                </c:pt>
                <c:pt idx="92">
                  <c:v>3.9318516525799998</c:v>
                </c:pt>
                <c:pt idx="93">
                  <c:v>3.9615705608099998</c:v>
                </c:pt>
                <c:pt idx="94">
                  <c:v>3.98288972275</c:v>
                </c:pt>
                <c:pt idx="95">
                  <c:v>3.9957178464799998</c:v>
                </c:pt>
                <c:pt idx="96">
                  <c:v>4</c:v>
                </c:pt>
              </c:numCache>
            </c:numRef>
          </c:xVal>
          <c:yVal>
            <c:numRef>
              <c:f>'Chart Data'!$F$2:$F$98</c:f>
              <c:numCache>
                <c:formatCode>0.##</c:formatCode>
                <c:ptCount val="97"/>
                <c:pt idx="0">
                  <c:v>2</c:v>
                </c:pt>
                <c:pt idx="1">
                  <c:v>2.0924939923800001</c:v>
                </c:pt>
                <c:pt idx="2">
                  <c:v>2.1845919112800001</c:v>
                </c:pt>
                <c:pt idx="3">
                  <c:v>2.2758993792800002</c:v>
                </c:pt>
                <c:pt idx="4">
                  <c:v>2.3660254037800001</c:v>
                </c:pt>
                <c:pt idx="5">
                  <c:v>2.4545840513099999</c:v>
                </c:pt>
                <c:pt idx="6">
                  <c:v>2.5411961001500001</c:v>
                </c:pt>
                <c:pt idx="7">
                  <c:v>2.62549066419</c:v>
                </c:pt>
                <c:pt idx="8">
                  <c:v>2.7071067811899998</c:v>
                </c:pt>
                <c:pt idx="9">
                  <c:v>2.7856949583900001</c:v>
                </c:pt>
                <c:pt idx="10">
                  <c:v>2.8609186691500001</c:v>
                </c:pt>
                <c:pt idx="11">
                  <c:v>2.93245579401</c:v>
                </c:pt>
                <c:pt idx="12">
                  <c:v>3</c:v>
                </c:pt>
                <c:pt idx="13">
                  <c:v>3.0632620524699998</c:v>
                </c:pt>
                <c:pt idx="14">
                  <c:v>3.1219710535899998</c:v>
                </c:pt>
                <c:pt idx="15">
                  <c:v>3.1758756024200001</c:v>
                </c:pt>
                <c:pt idx="16">
                  <c:v>3.22474487139</c:v>
                </c:pt>
                <c:pt idx="17">
                  <c:v>3.2683695948000002</c:v>
                </c:pt>
                <c:pt idx="18">
                  <c:v>3.3065629648799999</c:v>
                </c:pt>
                <c:pt idx="19">
                  <c:v>3.33916143175</c:v>
                </c:pt>
                <c:pt idx="20">
                  <c:v>3.3660254037800001</c:v>
                </c:pt>
                <c:pt idx="21">
                  <c:v>3.3870398453199999</c:v>
                </c:pt>
                <c:pt idx="22">
                  <c:v>3.4021147692999998</c:v>
                </c:pt>
                <c:pt idx="23">
                  <c:v>3.4111856225800001</c:v>
                </c:pt>
                <c:pt idx="24">
                  <c:v>3.4142135623700001</c:v>
                </c:pt>
                <c:pt idx="25">
                  <c:v>3.4111856225800001</c:v>
                </c:pt>
                <c:pt idx="26">
                  <c:v>3.4021147692999998</c:v>
                </c:pt>
                <c:pt idx="27">
                  <c:v>3.3870398453199999</c:v>
                </c:pt>
                <c:pt idx="28">
                  <c:v>3.3660254037800001</c:v>
                </c:pt>
                <c:pt idx="29">
                  <c:v>3.33916143175</c:v>
                </c:pt>
                <c:pt idx="30">
                  <c:v>3.3065629648799999</c:v>
                </c:pt>
                <c:pt idx="31">
                  <c:v>3.2683695948000002</c:v>
                </c:pt>
                <c:pt idx="32">
                  <c:v>3.22474487139</c:v>
                </c:pt>
                <c:pt idx="33">
                  <c:v>3.1758756024200001</c:v>
                </c:pt>
                <c:pt idx="34">
                  <c:v>3.1219710535899998</c:v>
                </c:pt>
                <c:pt idx="35">
                  <c:v>3.0632620524699998</c:v>
                </c:pt>
                <c:pt idx="36">
                  <c:v>3</c:v>
                </c:pt>
                <c:pt idx="37">
                  <c:v>2.93245579401</c:v>
                </c:pt>
                <c:pt idx="38">
                  <c:v>2.8609186691500001</c:v>
                </c:pt>
                <c:pt idx="39">
                  <c:v>2.7856949583900001</c:v>
                </c:pt>
                <c:pt idx="40">
                  <c:v>2.7071067811899998</c:v>
                </c:pt>
                <c:pt idx="41">
                  <c:v>2.62549066419</c:v>
                </c:pt>
                <c:pt idx="42">
                  <c:v>2.5411961001500001</c:v>
                </c:pt>
                <c:pt idx="43">
                  <c:v>2.4545840513099999</c:v>
                </c:pt>
                <c:pt idx="44">
                  <c:v>2.3660254037800001</c:v>
                </c:pt>
                <c:pt idx="45">
                  <c:v>2.2758993792800002</c:v>
                </c:pt>
                <c:pt idx="46">
                  <c:v>2.1845919112800001</c:v>
                </c:pt>
                <c:pt idx="47">
                  <c:v>2.0924939923800001</c:v>
                </c:pt>
                <c:pt idx="48">
                  <c:v>2</c:v>
                </c:pt>
                <c:pt idx="49">
                  <c:v>1.9075060076200001</c:v>
                </c:pt>
                <c:pt idx="50">
                  <c:v>1.8154080887199999</c:v>
                </c:pt>
                <c:pt idx="51">
                  <c:v>1.72410062072</c:v>
                </c:pt>
                <c:pt idx="52">
                  <c:v>1.6339745962200001</c:v>
                </c:pt>
                <c:pt idx="53">
                  <c:v>1.5454159486900001</c:v>
                </c:pt>
                <c:pt idx="54">
                  <c:v>1.4588038998499999</c:v>
                </c:pt>
                <c:pt idx="55">
                  <c:v>1.37450933581</c:v>
                </c:pt>
                <c:pt idx="56">
                  <c:v>1.29289321881</c:v>
                </c:pt>
                <c:pt idx="57">
                  <c:v>1.2143050416100001</c:v>
                </c:pt>
                <c:pt idx="58">
                  <c:v>1.1390813308500001</c:v>
                </c:pt>
                <c:pt idx="59">
                  <c:v>1.06754420599</c:v>
                </c:pt>
                <c:pt idx="60">
                  <c:v>1</c:v>
                </c:pt>
                <c:pt idx="61">
                  <c:v>0.93673794753100004</c:v>
                </c:pt>
                <c:pt idx="62">
                  <c:v>0.87802894640600004</c:v>
                </c:pt>
                <c:pt idx="63">
                  <c:v>0.82412439758099998</c:v>
                </c:pt>
                <c:pt idx="64">
                  <c:v>0.77525512860800005</c:v>
                </c:pt>
                <c:pt idx="65">
                  <c:v>0.73163040520199996</c:v>
                </c:pt>
                <c:pt idx="66">
                  <c:v>0.69343703512400001</c:v>
                </c:pt>
                <c:pt idx="67">
                  <c:v>0.66083856824800002</c:v>
                </c:pt>
                <c:pt idx="68">
                  <c:v>0.63397459621600005</c:v>
                </c:pt>
                <c:pt idx="69">
                  <c:v>0.61296015467800002</c:v>
                </c:pt>
                <c:pt idx="70">
                  <c:v>0.59788523069999999</c:v>
                </c:pt>
                <c:pt idx="71">
                  <c:v>0.58881437742099996</c:v>
                </c:pt>
                <c:pt idx="72">
                  <c:v>0.585786437627</c:v>
                </c:pt>
                <c:pt idx="73">
                  <c:v>0.58881437742099996</c:v>
                </c:pt>
                <c:pt idx="74">
                  <c:v>0.59788523069999999</c:v>
                </c:pt>
                <c:pt idx="75">
                  <c:v>0.61296015467800002</c:v>
                </c:pt>
                <c:pt idx="76">
                  <c:v>0.63397459621600005</c:v>
                </c:pt>
                <c:pt idx="77">
                  <c:v>0.66083856824800002</c:v>
                </c:pt>
                <c:pt idx="78">
                  <c:v>0.69343703512400001</c:v>
                </c:pt>
                <c:pt idx="79">
                  <c:v>0.73163040520199996</c:v>
                </c:pt>
                <c:pt idx="80">
                  <c:v>0.77525512860800005</c:v>
                </c:pt>
                <c:pt idx="81">
                  <c:v>0.82412439758099998</c:v>
                </c:pt>
                <c:pt idx="82">
                  <c:v>0.87802894640600004</c:v>
                </c:pt>
                <c:pt idx="83">
                  <c:v>0.93673794753100004</c:v>
                </c:pt>
                <c:pt idx="84">
                  <c:v>1</c:v>
                </c:pt>
                <c:pt idx="85">
                  <c:v>1.06754420599</c:v>
                </c:pt>
                <c:pt idx="86">
                  <c:v>1.1390813308500001</c:v>
                </c:pt>
                <c:pt idx="87">
                  <c:v>1.2143050416100001</c:v>
                </c:pt>
                <c:pt idx="88">
                  <c:v>1.29289321881</c:v>
                </c:pt>
                <c:pt idx="89">
                  <c:v>1.37450933581</c:v>
                </c:pt>
                <c:pt idx="90">
                  <c:v>1.4588038998499999</c:v>
                </c:pt>
                <c:pt idx="91">
                  <c:v>1.5454159486900001</c:v>
                </c:pt>
                <c:pt idx="92">
                  <c:v>1.6339745962200001</c:v>
                </c:pt>
                <c:pt idx="93">
                  <c:v>1.72410062072</c:v>
                </c:pt>
                <c:pt idx="94">
                  <c:v>1.8154080887199999</c:v>
                </c:pt>
                <c:pt idx="95">
                  <c:v>1.9075060076200001</c:v>
                </c:pt>
                <c:pt idx="96">
                  <c:v>2</c:v>
                </c:pt>
              </c:numCache>
            </c:numRef>
          </c:yVal>
          <c:smooth val="0"/>
          <c:extLst>
            <c:ext xmlns:c16="http://schemas.microsoft.com/office/drawing/2014/chart" uri="{C3380CC4-5D6E-409C-BE32-E72D297353CC}">
              <c16:uniqueId val="{00000002-DA24-4889-803E-94440B99C4ED}"/>
            </c:ext>
          </c:extLst>
        </c:ser>
        <c:ser>
          <c:idx val="3"/>
          <c:order val="3"/>
          <c:tx>
            <c:v>Loss 46</c:v>
          </c:tx>
          <c:spPr>
            <a:ln w="14288">
              <a:solidFill>
                <a:srgbClr val="DAE5EE"/>
              </a:solidFill>
            </a:ln>
          </c:spPr>
          <c:marker>
            <c:symbol val="none"/>
          </c:marker>
          <c:xVal>
            <c:numRef>
              <c:f>'Chart Data'!$G$2:$G$98</c:f>
              <c:numCache>
                <c:formatCode>General</c:formatCode>
                <c:ptCount val="97"/>
                <c:pt idx="0">
                  <c:v>4.8284271247500001</c:v>
                </c:pt>
                <c:pt idx="1">
                  <c:v>4.8223712451600003</c:v>
                </c:pt>
                <c:pt idx="2">
                  <c:v>4.8042295385999996</c:v>
                </c:pt>
                <c:pt idx="3">
                  <c:v>4.7740796906399998</c:v>
                </c:pt>
                <c:pt idx="4">
                  <c:v>4.7320508075700003</c:v>
                </c:pt>
                <c:pt idx="5">
                  <c:v>4.6783228635</c:v>
                </c:pt>
                <c:pt idx="6">
                  <c:v>4.6131259297499998</c:v>
                </c:pt>
                <c:pt idx="7">
                  <c:v>4.5367391896000004</c:v>
                </c:pt>
                <c:pt idx="8">
                  <c:v>4.44948974278</c:v>
                </c:pt>
                <c:pt idx="9">
                  <c:v>4.3517512048400002</c:v>
                </c:pt>
                <c:pt idx="10">
                  <c:v>4.2439421071899996</c:v>
                </c:pt>
                <c:pt idx="11">
                  <c:v>4.1265241049399997</c:v>
                </c:pt>
                <c:pt idx="12">
                  <c:v>4</c:v>
                </c:pt>
                <c:pt idx="13">
                  <c:v>3.86491158802</c:v>
                </c:pt>
                <c:pt idx="14">
                  <c:v>3.7218373383099999</c:v>
                </c:pt>
                <c:pt idx="15">
                  <c:v>3.5713899167699998</c:v>
                </c:pt>
                <c:pt idx="16">
                  <c:v>3.4142135623700001</c:v>
                </c:pt>
                <c:pt idx="17">
                  <c:v>3.25098132838</c:v>
                </c:pt>
                <c:pt idx="18">
                  <c:v>3.0823922002900002</c:v>
                </c:pt>
                <c:pt idx="19">
                  <c:v>2.9091681026299998</c:v>
                </c:pt>
                <c:pt idx="20">
                  <c:v>2.7320508075699999</c:v>
                </c:pt>
                <c:pt idx="21">
                  <c:v>2.5517987585699999</c:v>
                </c:pt>
                <c:pt idx="22">
                  <c:v>2.3691838225700002</c:v>
                </c:pt>
                <c:pt idx="23">
                  <c:v>2.1849879847599998</c:v>
                </c:pt>
                <c:pt idx="24">
                  <c:v>2</c:v>
                </c:pt>
                <c:pt idx="25">
                  <c:v>1.81501201524</c:v>
                </c:pt>
                <c:pt idx="26">
                  <c:v>1.6308161774300001</c:v>
                </c:pt>
                <c:pt idx="27">
                  <c:v>1.4482012414300001</c:v>
                </c:pt>
                <c:pt idx="28">
                  <c:v>1.2679491924299999</c:v>
                </c:pt>
                <c:pt idx="29">
                  <c:v>1.09083189737</c:v>
                </c:pt>
                <c:pt idx="30">
                  <c:v>0.91760779970799999</c:v>
                </c:pt>
                <c:pt idx="31">
                  <c:v>0.749018671616</c:v>
                </c:pt>
                <c:pt idx="32">
                  <c:v>0.585786437627</c:v>
                </c:pt>
                <c:pt idx="33">
                  <c:v>0.42861008322600003</c:v>
                </c:pt>
                <c:pt idx="34">
                  <c:v>0.27816266169199999</c:v>
                </c:pt>
                <c:pt idx="35">
                  <c:v>0.13508841198300001</c:v>
                </c:pt>
                <c:pt idx="36">
                  <c:v>0</c:v>
                </c:pt>
                <c:pt idx="37">
                  <c:v>-0.126524104937</c:v>
                </c:pt>
                <c:pt idx="38">
                  <c:v>-0.243942107188</c:v>
                </c:pt>
                <c:pt idx="39">
                  <c:v>-0.35175120483900002</c:v>
                </c:pt>
                <c:pt idx="40">
                  <c:v>-0.44948974278300002</c:v>
                </c:pt>
                <c:pt idx="41">
                  <c:v>-0.53673918959699995</c:v>
                </c:pt>
                <c:pt idx="42">
                  <c:v>-0.61312592975299995</c:v>
                </c:pt>
                <c:pt idx="43">
                  <c:v>-0.67832286350299997</c:v>
                </c:pt>
                <c:pt idx="44">
                  <c:v>-0.73205080756899998</c:v>
                </c:pt>
                <c:pt idx="45">
                  <c:v>-0.77407969064399995</c:v>
                </c:pt>
                <c:pt idx="46">
                  <c:v>-0.80422953860000002</c:v>
                </c:pt>
                <c:pt idx="47">
                  <c:v>-0.82237124515799997</c:v>
                </c:pt>
                <c:pt idx="48">
                  <c:v>-0.828427124746</c:v>
                </c:pt>
                <c:pt idx="49">
                  <c:v>-0.82237124515799997</c:v>
                </c:pt>
                <c:pt idx="50">
                  <c:v>-0.80422953860000002</c:v>
                </c:pt>
                <c:pt idx="51">
                  <c:v>-0.77407969064399995</c:v>
                </c:pt>
                <c:pt idx="52">
                  <c:v>-0.73205080756899998</c:v>
                </c:pt>
                <c:pt idx="53">
                  <c:v>-0.67832286350299997</c:v>
                </c:pt>
                <c:pt idx="54">
                  <c:v>-0.61312592975299995</c:v>
                </c:pt>
                <c:pt idx="55">
                  <c:v>-0.53673918959699995</c:v>
                </c:pt>
                <c:pt idx="56">
                  <c:v>-0.44948974278300002</c:v>
                </c:pt>
                <c:pt idx="57">
                  <c:v>-0.35175120483900002</c:v>
                </c:pt>
                <c:pt idx="58">
                  <c:v>-0.243942107188</c:v>
                </c:pt>
                <c:pt idx="59">
                  <c:v>-0.126524104937</c:v>
                </c:pt>
                <c:pt idx="60">
                  <c:v>-1.3322676295499999E-15</c:v>
                </c:pt>
                <c:pt idx="61">
                  <c:v>0.13508841198300001</c:v>
                </c:pt>
                <c:pt idx="62">
                  <c:v>0.27816266169199999</c:v>
                </c:pt>
                <c:pt idx="63">
                  <c:v>0.42861008322600003</c:v>
                </c:pt>
                <c:pt idx="64">
                  <c:v>0.585786437627</c:v>
                </c:pt>
                <c:pt idx="65">
                  <c:v>0.749018671616</c:v>
                </c:pt>
                <c:pt idx="66">
                  <c:v>0.91760779970799999</c:v>
                </c:pt>
                <c:pt idx="67">
                  <c:v>1.09083189737</c:v>
                </c:pt>
                <c:pt idx="68">
                  <c:v>1.2679491924299999</c:v>
                </c:pt>
                <c:pt idx="69">
                  <c:v>1.4482012414300001</c:v>
                </c:pt>
                <c:pt idx="70">
                  <c:v>1.6308161774300001</c:v>
                </c:pt>
                <c:pt idx="71">
                  <c:v>1.81501201524</c:v>
                </c:pt>
                <c:pt idx="72">
                  <c:v>2</c:v>
                </c:pt>
                <c:pt idx="73">
                  <c:v>2.1849879847599998</c:v>
                </c:pt>
                <c:pt idx="74">
                  <c:v>2.3691838225700002</c:v>
                </c:pt>
                <c:pt idx="75">
                  <c:v>2.5517987585699999</c:v>
                </c:pt>
                <c:pt idx="76">
                  <c:v>2.7320508075699999</c:v>
                </c:pt>
                <c:pt idx="77">
                  <c:v>2.9091681026299998</c:v>
                </c:pt>
                <c:pt idx="78">
                  <c:v>3.0823922002900002</c:v>
                </c:pt>
                <c:pt idx="79">
                  <c:v>3.25098132838</c:v>
                </c:pt>
                <c:pt idx="80">
                  <c:v>3.4142135623700001</c:v>
                </c:pt>
                <c:pt idx="81">
                  <c:v>3.5713899167699998</c:v>
                </c:pt>
                <c:pt idx="82">
                  <c:v>3.7218373383099999</c:v>
                </c:pt>
                <c:pt idx="83">
                  <c:v>3.86491158802</c:v>
                </c:pt>
                <c:pt idx="84">
                  <c:v>4</c:v>
                </c:pt>
                <c:pt idx="85">
                  <c:v>4.1265241049399997</c:v>
                </c:pt>
                <c:pt idx="86">
                  <c:v>4.2439421071899996</c:v>
                </c:pt>
                <c:pt idx="87">
                  <c:v>4.3517512048400002</c:v>
                </c:pt>
                <c:pt idx="88">
                  <c:v>4.44948974278</c:v>
                </c:pt>
                <c:pt idx="89">
                  <c:v>4.5367391896000004</c:v>
                </c:pt>
                <c:pt idx="90">
                  <c:v>4.6131259297499998</c:v>
                </c:pt>
                <c:pt idx="91">
                  <c:v>4.6783228635</c:v>
                </c:pt>
                <c:pt idx="92">
                  <c:v>4.7320508075700003</c:v>
                </c:pt>
                <c:pt idx="93">
                  <c:v>4.7740796906399998</c:v>
                </c:pt>
                <c:pt idx="94">
                  <c:v>4.8042295385999996</c:v>
                </c:pt>
                <c:pt idx="95">
                  <c:v>4.8223712451600003</c:v>
                </c:pt>
                <c:pt idx="96">
                  <c:v>4.8284271247500001</c:v>
                </c:pt>
              </c:numCache>
            </c:numRef>
          </c:xVal>
          <c:yVal>
            <c:numRef>
              <c:f>'Chart Data'!$H$2:$H$98</c:f>
              <c:numCache>
                <c:formatCode>0.##</c:formatCode>
                <c:ptCount val="97"/>
                <c:pt idx="0">
                  <c:v>2</c:v>
                </c:pt>
                <c:pt idx="1">
                  <c:v>2.1308062584599998</c:v>
                </c:pt>
                <c:pt idx="2">
                  <c:v>2.2610523844400001</c:v>
                </c:pt>
                <c:pt idx="3">
                  <c:v>2.39018064403</c:v>
                </c:pt>
                <c:pt idx="4">
                  <c:v>2.5176380902100002</c:v>
                </c:pt>
                <c:pt idx="5">
                  <c:v>2.6428789306099998</c:v>
                </c:pt>
                <c:pt idx="6">
                  <c:v>2.7653668647299998</c:v>
                </c:pt>
                <c:pt idx="7">
                  <c:v>2.8845773804400001</c:v>
                </c:pt>
                <c:pt idx="8">
                  <c:v>3</c:v>
                </c:pt>
                <c:pt idx="9">
                  <c:v>3.1111404660400002</c:v>
                </c:pt>
                <c:pt idx="10">
                  <c:v>3.2175228580200002</c:v>
                </c:pt>
                <c:pt idx="11">
                  <c:v>3.3186916302</c:v>
                </c:pt>
                <c:pt idx="12">
                  <c:v>3.4142135623700001</c:v>
                </c:pt>
                <c:pt idx="13">
                  <c:v>3.5036796149599998</c:v>
                </c:pt>
                <c:pt idx="14">
                  <c:v>3.5867066805799999</c:v>
                </c:pt>
                <c:pt idx="15">
                  <c:v>3.6629392246100001</c:v>
                </c:pt>
                <c:pt idx="16">
                  <c:v>3.7320508075699999</c:v>
                </c:pt>
                <c:pt idx="17">
                  <c:v>3.7937454830699999</c:v>
                </c:pt>
                <c:pt idx="18">
                  <c:v>3.84775906502</c:v>
                </c:pt>
                <c:pt idx="19">
                  <c:v>3.8938602589900002</c:v>
                </c:pt>
                <c:pt idx="20">
                  <c:v>3.9318516525799998</c:v>
                </c:pt>
                <c:pt idx="21">
                  <c:v>3.9615705608099998</c:v>
                </c:pt>
                <c:pt idx="22">
                  <c:v>3.98288972275</c:v>
                </c:pt>
                <c:pt idx="23">
                  <c:v>3.9957178464799998</c:v>
                </c:pt>
                <c:pt idx="24">
                  <c:v>4</c:v>
                </c:pt>
                <c:pt idx="25">
                  <c:v>3.9957178464799998</c:v>
                </c:pt>
                <c:pt idx="26">
                  <c:v>3.98288972275</c:v>
                </c:pt>
                <c:pt idx="27">
                  <c:v>3.9615705608099998</c:v>
                </c:pt>
                <c:pt idx="28">
                  <c:v>3.9318516525799998</c:v>
                </c:pt>
                <c:pt idx="29">
                  <c:v>3.8938602589900002</c:v>
                </c:pt>
                <c:pt idx="30">
                  <c:v>3.84775906502</c:v>
                </c:pt>
                <c:pt idx="31">
                  <c:v>3.7937454830699999</c:v>
                </c:pt>
                <c:pt idx="32">
                  <c:v>3.7320508075699999</c:v>
                </c:pt>
                <c:pt idx="33">
                  <c:v>3.6629392246100001</c:v>
                </c:pt>
                <c:pt idx="34">
                  <c:v>3.5867066805799999</c:v>
                </c:pt>
                <c:pt idx="35">
                  <c:v>3.5036796149599998</c:v>
                </c:pt>
                <c:pt idx="36">
                  <c:v>3.4142135623700001</c:v>
                </c:pt>
                <c:pt idx="37">
                  <c:v>3.3186916302</c:v>
                </c:pt>
                <c:pt idx="38">
                  <c:v>3.2175228580200002</c:v>
                </c:pt>
                <c:pt idx="39">
                  <c:v>3.1111404660400002</c:v>
                </c:pt>
                <c:pt idx="40">
                  <c:v>3</c:v>
                </c:pt>
                <c:pt idx="41">
                  <c:v>2.8845773804400001</c:v>
                </c:pt>
                <c:pt idx="42">
                  <c:v>2.7653668647299998</c:v>
                </c:pt>
                <c:pt idx="43">
                  <c:v>2.6428789306099998</c:v>
                </c:pt>
                <c:pt idx="44">
                  <c:v>2.5176380902100002</c:v>
                </c:pt>
                <c:pt idx="45">
                  <c:v>2.39018064403</c:v>
                </c:pt>
                <c:pt idx="46">
                  <c:v>2.2610523844400001</c:v>
                </c:pt>
                <c:pt idx="47">
                  <c:v>2.1308062584599998</c:v>
                </c:pt>
                <c:pt idx="48">
                  <c:v>2</c:v>
                </c:pt>
                <c:pt idx="49">
                  <c:v>1.86919374154</c:v>
                </c:pt>
                <c:pt idx="50">
                  <c:v>1.7389476155600001</c:v>
                </c:pt>
                <c:pt idx="51">
                  <c:v>1.60981935597</c:v>
                </c:pt>
                <c:pt idx="52">
                  <c:v>1.48236190979</c:v>
                </c:pt>
                <c:pt idx="53">
                  <c:v>1.35712106939</c:v>
                </c:pt>
                <c:pt idx="54">
                  <c:v>1.23463313527</c:v>
                </c:pt>
                <c:pt idx="55">
                  <c:v>1.1154226195600001</c:v>
                </c:pt>
                <c:pt idx="56">
                  <c:v>1</c:v>
                </c:pt>
                <c:pt idx="57">
                  <c:v>0.88885953396100004</c:v>
                </c:pt>
                <c:pt idx="58">
                  <c:v>0.782477141983</c:v>
                </c:pt>
                <c:pt idx="59">
                  <c:v>0.68130836979999998</c:v>
                </c:pt>
                <c:pt idx="60">
                  <c:v>0.585786437627</c:v>
                </c:pt>
                <c:pt idx="61">
                  <c:v>0.49632038504199999</c:v>
                </c:pt>
                <c:pt idx="62">
                  <c:v>0.41329331941800002</c:v>
                </c:pt>
                <c:pt idx="63">
                  <c:v>0.33706077539500001</c:v>
                </c:pt>
                <c:pt idx="64">
                  <c:v>0.26794919243100002</c:v>
                </c:pt>
                <c:pt idx="65">
                  <c:v>0.20625451693499999</c:v>
                </c:pt>
                <c:pt idx="66">
                  <c:v>0.152240934977</c:v>
                </c:pt>
                <c:pt idx="67">
                  <c:v>0.10613974101</c:v>
                </c:pt>
                <c:pt idx="68">
                  <c:v>6.8148347421899999E-2</c:v>
                </c:pt>
                <c:pt idx="69">
                  <c:v>3.8429439193499997E-2</c:v>
                </c:pt>
                <c:pt idx="70">
                  <c:v>1.71102772524E-2</c:v>
                </c:pt>
                <c:pt idx="71">
                  <c:v>4.28215352279E-3</c:v>
                </c:pt>
                <c:pt idx="72">
                  <c:v>0</c:v>
                </c:pt>
                <c:pt idx="73">
                  <c:v>4.28215352279E-3</c:v>
                </c:pt>
                <c:pt idx="74">
                  <c:v>1.71102772524E-2</c:v>
                </c:pt>
                <c:pt idx="75">
                  <c:v>3.8429439193499997E-2</c:v>
                </c:pt>
                <c:pt idx="76">
                  <c:v>6.8148347421899999E-2</c:v>
                </c:pt>
                <c:pt idx="77">
                  <c:v>0.10613974101</c:v>
                </c:pt>
                <c:pt idx="78">
                  <c:v>0.152240934977</c:v>
                </c:pt>
                <c:pt idx="79">
                  <c:v>0.20625451693499999</c:v>
                </c:pt>
                <c:pt idx="80">
                  <c:v>0.26794919243100002</c:v>
                </c:pt>
                <c:pt idx="81">
                  <c:v>0.33706077539500001</c:v>
                </c:pt>
                <c:pt idx="82">
                  <c:v>0.41329331941800002</c:v>
                </c:pt>
                <c:pt idx="83">
                  <c:v>0.49632038504199999</c:v>
                </c:pt>
                <c:pt idx="84">
                  <c:v>0.585786437627</c:v>
                </c:pt>
                <c:pt idx="85">
                  <c:v>0.68130836979999998</c:v>
                </c:pt>
                <c:pt idx="86">
                  <c:v>0.782477141983</c:v>
                </c:pt>
                <c:pt idx="87">
                  <c:v>0.88885953396100004</c:v>
                </c:pt>
                <c:pt idx="88">
                  <c:v>1</c:v>
                </c:pt>
                <c:pt idx="89">
                  <c:v>1.1154226195600001</c:v>
                </c:pt>
                <c:pt idx="90">
                  <c:v>1.23463313527</c:v>
                </c:pt>
                <c:pt idx="91">
                  <c:v>1.35712106939</c:v>
                </c:pt>
                <c:pt idx="92">
                  <c:v>1.48236190979</c:v>
                </c:pt>
                <c:pt idx="93">
                  <c:v>1.60981935597</c:v>
                </c:pt>
                <c:pt idx="94">
                  <c:v>1.7389476155600001</c:v>
                </c:pt>
                <c:pt idx="95">
                  <c:v>1.86919374154</c:v>
                </c:pt>
                <c:pt idx="96">
                  <c:v>2</c:v>
                </c:pt>
              </c:numCache>
            </c:numRef>
          </c:yVal>
          <c:smooth val="0"/>
          <c:extLst>
            <c:ext xmlns:c16="http://schemas.microsoft.com/office/drawing/2014/chart" uri="{C3380CC4-5D6E-409C-BE32-E72D297353CC}">
              <c16:uniqueId val="{00000003-DA24-4889-803E-94440B99C4ED}"/>
            </c:ext>
          </c:extLst>
        </c:ser>
        <c:ser>
          <c:idx val="4"/>
          <c:order val="4"/>
          <c:tx>
            <c:v>Loss 66</c:v>
          </c:tx>
          <c:spPr>
            <a:ln w="14288">
              <a:solidFill>
                <a:srgbClr val="DAE5EE"/>
              </a:solidFill>
            </a:ln>
          </c:spPr>
          <c:marker>
            <c:symbol val="none"/>
          </c:marker>
          <c:xVal>
            <c:numRef>
              <c:f>'Chart Data'!$I$2:$I$98</c:f>
              <c:numCache>
                <c:formatCode>General</c:formatCode>
                <c:ptCount val="97"/>
                <c:pt idx="0">
                  <c:v>5.4641016151399997</c:v>
                </c:pt>
                <c:pt idx="1">
                  <c:v>5.45668470767</c:v>
                </c:pt>
                <c:pt idx="2">
                  <c:v>5.4344657456099998</c:v>
                </c:pt>
                <c:pt idx="3">
                  <c:v>5.3975398739499996</c:v>
                </c:pt>
                <c:pt idx="4">
                  <c:v>5.3460652149500003</c:v>
                </c:pt>
                <c:pt idx="5">
                  <c:v>5.2802621910100003</c:v>
                </c:pt>
                <c:pt idx="6">
                  <c:v>5.2004125807700001</c:v>
                </c:pt>
                <c:pt idx="7">
                  <c:v>5.10685831252</c:v>
                </c:pt>
                <c:pt idx="8">
                  <c:v>5</c:v>
                </c:pt>
                <c:pt idx="9">
                  <c:v>4.8802952269200004</c:v>
                </c:pt>
                <c:pt idx="10">
                  <c:v>4.7482565874800002</c:v>
                </c:pt>
                <c:pt idx="11">
                  <c:v>4.6044494914099996</c:v>
                </c:pt>
                <c:pt idx="12">
                  <c:v>4.44948974278</c:v>
                </c:pt>
                <c:pt idx="13">
                  <c:v>4.2840409030200002</c:v>
                </c:pt>
                <c:pt idx="14">
                  <c:v>4.1088114494600001</c:v>
                </c:pt>
                <c:pt idx="15">
                  <c:v>3.9245517415300002</c:v>
                </c:pt>
                <c:pt idx="16">
                  <c:v>3.7320508075699999</c:v>
                </c:pt>
                <c:pt idx="17">
                  <c:v>3.5321329661399998</c:v>
                </c:pt>
                <c:pt idx="18">
                  <c:v>3.3256542961400002</c:v>
                </c:pt>
                <c:pt idx="19">
                  <c:v>3.1134989709299998</c:v>
                </c:pt>
                <c:pt idx="20">
                  <c:v>2.8965754721699999</c:v>
                </c:pt>
                <c:pt idx="21">
                  <c:v>2.6758126995899998</c:v>
                </c:pt>
                <c:pt idx="22">
                  <c:v>2.4521559932899999</c:v>
                </c:pt>
                <c:pt idx="23">
                  <c:v>2.2265630856</c:v>
                </c:pt>
                <c:pt idx="24">
                  <c:v>2</c:v>
                </c:pt>
                <c:pt idx="25">
                  <c:v>1.7734369144</c:v>
                </c:pt>
                <c:pt idx="26">
                  <c:v>1.5478440067100001</c:v>
                </c:pt>
                <c:pt idx="27">
                  <c:v>1.32418730041</c:v>
                </c:pt>
                <c:pt idx="28">
                  <c:v>1.1034245278299999</c:v>
                </c:pt>
                <c:pt idx="29">
                  <c:v>0.88650102907399997</c:v>
                </c:pt>
                <c:pt idx="30">
                  <c:v>0.67434570385799997</c:v>
                </c:pt>
                <c:pt idx="31">
                  <c:v>0.467867033855</c:v>
                </c:pt>
                <c:pt idx="32">
                  <c:v>0.26794919243100002</c:v>
                </c:pt>
                <c:pt idx="33">
                  <c:v>7.5448258474300006E-2</c:v>
                </c:pt>
                <c:pt idx="34">
                  <c:v>-0.108811449463</c:v>
                </c:pt>
                <c:pt idx="35">
                  <c:v>-0.28404090302200002</c:v>
                </c:pt>
                <c:pt idx="36">
                  <c:v>-0.44948974278300002</c:v>
                </c:pt>
                <c:pt idx="37">
                  <c:v>-0.60444949141299997</c:v>
                </c:pt>
                <c:pt idx="38">
                  <c:v>-0.74825658747799995</c:v>
                </c:pt>
                <c:pt idx="39">
                  <c:v>-0.88029522691499995</c:v>
                </c:pt>
                <c:pt idx="40">
                  <c:v>-1</c:v>
                </c:pt>
                <c:pt idx="41">
                  <c:v>-1.10685831252</c:v>
                </c:pt>
                <c:pt idx="42">
                  <c:v>-1.2004125807699999</c:v>
                </c:pt>
                <c:pt idx="43">
                  <c:v>-1.2802621910100001</c:v>
                </c:pt>
                <c:pt idx="44">
                  <c:v>-1.3460652149500001</c:v>
                </c:pt>
                <c:pt idx="45">
                  <c:v>-1.39753987395</c:v>
                </c:pt>
                <c:pt idx="46">
                  <c:v>-1.4344657456100001</c:v>
                </c:pt>
                <c:pt idx="47">
                  <c:v>-1.45668470767</c:v>
                </c:pt>
                <c:pt idx="48">
                  <c:v>-1.4641016151399999</c:v>
                </c:pt>
                <c:pt idx="49">
                  <c:v>-1.45668470767</c:v>
                </c:pt>
                <c:pt idx="50">
                  <c:v>-1.4344657456100001</c:v>
                </c:pt>
                <c:pt idx="51">
                  <c:v>-1.39753987395</c:v>
                </c:pt>
                <c:pt idx="52">
                  <c:v>-1.3460652149500001</c:v>
                </c:pt>
                <c:pt idx="53">
                  <c:v>-1.2802621910100001</c:v>
                </c:pt>
                <c:pt idx="54">
                  <c:v>-1.2004125807699999</c:v>
                </c:pt>
                <c:pt idx="55">
                  <c:v>-1.10685831252</c:v>
                </c:pt>
                <c:pt idx="56">
                  <c:v>-1</c:v>
                </c:pt>
                <c:pt idx="57">
                  <c:v>-0.88029522691499995</c:v>
                </c:pt>
                <c:pt idx="58">
                  <c:v>-0.74825658747799995</c:v>
                </c:pt>
                <c:pt idx="59">
                  <c:v>-0.60444949141299997</c:v>
                </c:pt>
                <c:pt idx="60">
                  <c:v>-0.44948974278300002</c:v>
                </c:pt>
                <c:pt idx="61">
                  <c:v>-0.28404090302200002</c:v>
                </c:pt>
                <c:pt idx="62">
                  <c:v>-0.108811449463</c:v>
                </c:pt>
                <c:pt idx="63">
                  <c:v>7.5448258474300006E-2</c:v>
                </c:pt>
                <c:pt idx="64">
                  <c:v>0.26794919243100002</c:v>
                </c:pt>
                <c:pt idx="65">
                  <c:v>0.467867033855</c:v>
                </c:pt>
                <c:pt idx="66">
                  <c:v>0.67434570385799997</c:v>
                </c:pt>
                <c:pt idx="67">
                  <c:v>0.88650102907399997</c:v>
                </c:pt>
                <c:pt idx="68">
                  <c:v>1.1034245278299999</c:v>
                </c:pt>
                <c:pt idx="69">
                  <c:v>1.32418730041</c:v>
                </c:pt>
                <c:pt idx="70">
                  <c:v>1.5478440067100001</c:v>
                </c:pt>
                <c:pt idx="71">
                  <c:v>1.7734369144</c:v>
                </c:pt>
                <c:pt idx="72">
                  <c:v>2</c:v>
                </c:pt>
                <c:pt idx="73">
                  <c:v>2.2265630856</c:v>
                </c:pt>
                <c:pt idx="74">
                  <c:v>2.4521559932899999</c:v>
                </c:pt>
                <c:pt idx="75">
                  <c:v>2.6758126995899998</c:v>
                </c:pt>
                <c:pt idx="76">
                  <c:v>2.8965754721699999</c:v>
                </c:pt>
                <c:pt idx="77">
                  <c:v>3.1134989709299998</c:v>
                </c:pt>
                <c:pt idx="78">
                  <c:v>3.3256542961400002</c:v>
                </c:pt>
                <c:pt idx="79">
                  <c:v>3.5321329661399998</c:v>
                </c:pt>
                <c:pt idx="80">
                  <c:v>3.7320508075699999</c:v>
                </c:pt>
                <c:pt idx="81">
                  <c:v>3.9245517415300002</c:v>
                </c:pt>
                <c:pt idx="82">
                  <c:v>4.1088114494600001</c:v>
                </c:pt>
                <c:pt idx="83">
                  <c:v>4.2840409030200002</c:v>
                </c:pt>
                <c:pt idx="84">
                  <c:v>4.44948974278</c:v>
                </c:pt>
                <c:pt idx="85">
                  <c:v>4.6044494914099996</c:v>
                </c:pt>
                <c:pt idx="86">
                  <c:v>4.7482565874800002</c:v>
                </c:pt>
                <c:pt idx="87">
                  <c:v>4.8802952269200004</c:v>
                </c:pt>
                <c:pt idx="88">
                  <c:v>5</c:v>
                </c:pt>
                <c:pt idx="89">
                  <c:v>5.10685831252</c:v>
                </c:pt>
                <c:pt idx="90">
                  <c:v>5.2004125807700001</c:v>
                </c:pt>
                <c:pt idx="91">
                  <c:v>5.2802621910100003</c:v>
                </c:pt>
                <c:pt idx="92">
                  <c:v>5.3460652149500003</c:v>
                </c:pt>
                <c:pt idx="93">
                  <c:v>5.3975398739499996</c:v>
                </c:pt>
                <c:pt idx="94">
                  <c:v>5.4344657456099998</c:v>
                </c:pt>
                <c:pt idx="95">
                  <c:v>5.45668470767</c:v>
                </c:pt>
                <c:pt idx="96">
                  <c:v>5.4641016151399997</c:v>
                </c:pt>
              </c:numCache>
            </c:numRef>
          </c:xVal>
          <c:yVal>
            <c:numRef>
              <c:f>'Chart Data'!$J$2:$J$98</c:f>
              <c:numCache>
                <c:formatCode>0.##</c:formatCode>
                <c:ptCount val="97"/>
                <c:pt idx="0">
                  <c:v>2</c:v>
                </c:pt>
                <c:pt idx="1">
                  <c:v>2.1602042942000002</c:v>
                </c:pt>
                <c:pt idx="2">
                  <c:v>2.3197225690100001</c:v>
                </c:pt>
                <c:pt idx="3">
                  <c:v>2.4778717426900001</c:v>
                </c:pt>
                <c:pt idx="4">
                  <c:v>2.6339745962199999</c:v>
                </c:pt>
                <c:pt idx="5">
                  <c:v>2.7873626731900001</c:v>
                </c:pt>
                <c:pt idx="6">
                  <c:v>2.9373791423100002</c:v>
                </c:pt>
                <c:pt idx="7">
                  <c:v>3.08338161004</c:v>
                </c:pt>
                <c:pt idx="8">
                  <c:v>3.22474487139</c:v>
                </c:pt>
                <c:pt idx="9">
                  <c:v>3.3608635871799999</c:v>
                </c:pt>
                <c:pt idx="10">
                  <c:v>3.49115487616</c:v>
                </c:pt>
                <c:pt idx="11">
                  <c:v>3.6150608110300002</c:v>
                </c:pt>
                <c:pt idx="12">
                  <c:v>3.7320508075699999</c:v>
                </c:pt>
                <c:pt idx="13">
                  <c:v>3.8416238966399998</c:v>
                </c:pt>
                <c:pt idx="14">
                  <c:v>3.9433108694499999</c:v>
                </c:pt>
                <c:pt idx="15">
                  <c:v>4.0366762867699997</c:v>
                </c:pt>
                <c:pt idx="16">
                  <c:v>4.1213203435599999</c:v>
                </c:pt>
                <c:pt idx="17">
                  <c:v>4.1968805809700003</c:v>
                </c:pt>
                <c:pt idx="18">
                  <c:v>4.2630334384499999</c:v>
                </c:pt>
                <c:pt idx="19">
                  <c:v>4.3194956393300004</c:v>
                </c:pt>
                <c:pt idx="20">
                  <c:v>4.3660254037800001</c:v>
                </c:pt>
                <c:pt idx="21">
                  <c:v>4.4024234842199998</c:v>
                </c:pt>
                <c:pt idx="22">
                  <c:v>4.4285340184699997</c:v>
                </c:pt>
                <c:pt idx="23">
                  <c:v>4.4442451972199999</c:v>
                </c:pt>
                <c:pt idx="24">
                  <c:v>4.44948974278</c:v>
                </c:pt>
                <c:pt idx="25">
                  <c:v>4.4442451972199999</c:v>
                </c:pt>
                <c:pt idx="26">
                  <c:v>4.4285340184699997</c:v>
                </c:pt>
                <c:pt idx="27">
                  <c:v>4.4024234842199998</c:v>
                </c:pt>
                <c:pt idx="28">
                  <c:v>4.3660254037800001</c:v>
                </c:pt>
                <c:pt idx="29">
                  <c:v>4.3194956393300004</c:v>
                </c:pt>
                <c:pt idx="30">
                  <c:v>4.2630334384499999</c:v>
                </c:pt>
                <c:pt idx="31">
                  <c:v>4.1968805809700003</c:v>
                </c:pt>
                <c:pt idx="32">
                  <c:v>4.1213203435599999</c:v>
                </c:pt>
                <c:pt idx="33">
                  <c:v>4.0366762867699997</c:v>
                </c:pt>
                <c:pt idx="34">
                  <c:v>3.9433108694499999</c:v>
                </c:pt>
                <c:pt idx="35">
                  <c:v>3.8416238966399998</c:v>
                </c:pt>
                <c:pt idx="36">
                  <c:v>3.7320508075699999</c:v>
                </c:pt>
                <c:pt idx="37">
                  <c:v>3.6150608110300002</c:v>
                </c:pt>
                <c:pt idx="38">
                  <c:v>3.49115487616</c:v>
                </c:pt>
                <c:pt idx="39">
                  <c:v>3.3608635871799999</c:v>
                </c:pt>
                <c:pt idx="40">
                  <c:v>3.22474487139</c:v>
                </c:pt>
                <c:pt idx="41">
                  <c:v>3.08338161004</c:v>
                </c:pt>
                <c:pt idx="42">
                  <c:v>2.9373791423100002</c:v>
                </c:pt>
                <c:pt idx="43">
                  <c:v>2.7873626731900001</c:v>
                </c:pt>
                <c:pt idx="44">
                  <c:v>2.6339745962199999</c:v>
                </c:pt>
                <c:pt idx="45">
                  <c:v>2.4778717426900001</c:v>
                </c:pt>
                <c:pt idx="46">
                  <c:v>2.3197225690100001</c:v>
                </c:pt>
                <c:pt idx="47">
                  <c:v>2.1602042942000002</c:v>
                </c:pt>
                <c:pt idx="48">
                  <c:v>2</c:v>
                </c:pt>
                <c:pt idx="49">
                  <c:v>1.8397957058000001</c:v>
                </c:pt>
                <c:pt idx="50">
                  <c:v>1.6802774309899999</c:v>
                </c:pt>
                <c:pt idx="51">
                  <c:v>1.5221282573099999</c:v>
                </c:pt>
                <c:pt idx="52">
                  <c:v>1.3660254037799999</c:v>
                </c:pt>
                <c:pt idx="53">
                  <c:v>1.2126373268099999</c:v>
                </c:pt>
                <c:pt idx="54">
                  <c:v>1.06262085769</c:v>
                </c:pt>
                <c:pt idx="55">
                  <c:v>0.91661838996</c:v>
                </c:pt>
                <c:pt idx="56">
                  <c:v>0.77525512860800005</c:v>
                </c:pt>
                <c:pt idx="57">
                  <c:v>0.63913641282300004</c:v>
                </c:pt>
                <c:pt idx="58">
                  <c:v>0.508845123841</c:v>
                </c:pt>
                <c:pt idx="59">
                  <c:v>0.38493918896500001</c:v>
                </c:pt>
                <c:pt idx="60">
                  <c:v>0.26794919243100002</c:v>
                </c:pt>
                <c:pt idx="61">
                  <c:v>0.15837610336399999</c:v>
                </c:pt>
                <c:pt idx="62">
                  <c:v>5.6689130553800003E-2</c:v>
                </c:pt>
                <c:pt idx="63">
                  <c:v>-3.6676286771000002E-2</c:v>
                </c:pt>
                <c:pt idx="64">
                  <c:v>-0.12132034356</c:v>
                </c:pt>
                <c:pt idx="65">
                  <c:v>-0.196880580966</c:v>
                </c:pt>
                <c:pt idx="66">
                  <c:v>-0.26303343845400001</c:v>
                </c:pt>
                <c:pt idx="67">
                  <c:v>-0.319495639331</c:v>
                </c:pt>
                <c:pt idx="68">
                  <c:v>-0.366025403784</c:v>
                </c:pt>
                <c:pt idx="69">
                  <c:v>-0.40242348422000002</c:v>
                </c:pt>
                <c:pt idx="70">
                  <c:v>-0.42853401847</c:v>
                </c:pt>
                <c:pt idx="71">
                  <c:v>-0.44424519721799999</c:v>
                </c:pt>
                <c:pt idx="72">
                  <c:v>-0.44948974278300002</c:v>
                </c:pt>
                <c:pt idx="73">
                  <c:v>-0.44424519721799999</c:v>
                </c:pt>
                <c:pt idx="74">
                  <c:v>-0.42853401847</c:v>
                </c:pt>
                <c:pt idx="75">
                  <c:v>-0.40242348422000002</c:v>
                </c:pt>
                <c:pt idx="76">
                  <c:v>-0.366025403784</c:v>
                </c:pt>
                <c:pt idx="77">
                  <c:v>-0.319495639331</c:v>
                </c:pt>
                <c:pt idx="78">
                  <c:v>-0.26303343845400001</c:v>
                </c:pt>
                <c:pt idx="79">
                  <c:v>-0.196880580966</c:v>
                </c:pt>
                <c:pt idx="80">
                  <c:v>-0.12132034356</c:v>
                </c:pt>
                <c:pt idx="81">
                  <c:v>-3.6676286771000002E-2</c:v>
                </c:pt>
                <c:pt idx="82">
                  <c:v>5.6689130553800003E-2</c:v>
                </c:pt>
                <c:pt idx="83">
                  <c:v>0.15837610336399999</c:v>
                </c:pt>
                <c:pt idx="84">
                  <c:v>0.26794919243100002</c:v>
                </c:pt>
                <c:pt idx="85">
                  <c:v>0.38493918896500001</c:v>
                </c:pt>
                <c:pt idx="86">
                  <c:v>0.508845123841</c:v>
                </c:pt>
                <c:pt idx="87">
                  <c:v>0.63913641282300004</c:v>
                </c:pt>
                <c:pt idx="88">
                  <c:v>0.77525512860800005</c:v>
                </c:pt>
                <c:pt idx="89">
                  <c:v>0.91661838996</c:v>
                </c:pt>
                <c:pt idx="90">
                  <c:v>1.06262085769</c:v>
                </c:pt>
                <c:pt idx="91">
                  <c:v>1.2126373268099999</c:v>
                </c:pt>
                <c:pt idx="92">
                  <c:v>1.3660254037799999</c:v>
                </c:pt>
                <c:pt idx="93">
                  <c:v>1.5221282573099999</c:v>
                </c:pt>
                <c:pt idx="94">
                  <c:v>1.6802774309899999</c:v>
                </c:pt>
                <c:pt idx="95">
                  <c:v>1.8397957058000001</c:v>
                </c:pt>
                <c:pt idx="96">
                  <c:v>2</c:v>
                </c:pt>
              </c:numCache>
            </c:numRef>
          </c:yVal>
          <c:smooth val="0"/>
          <c:extLst>
            <c:ext xmlns:c16="http://schemas.microsoft.com/office/drawing/2014/chart" uri="{C3380CC4-5D6E-409C-BE32-E72D297353CC}">
              <c16:uniqueId val="{00000004-DA24-4889-803E-94440B99C4ED}"/>
            </c:ext>
          </c:extLst>
        </c:ser>
        <c:ser>
          <c:idx val="9"/>
          <c:order val="5"/>
          <c:tx>
            <c:v>Horizontal component Δb</c:v>
          </c:tx>
          <c:spPr>
            <a:ln w="19050">
              <a:solidFill>
                <a:srgbClr val="326DB8"/>
              </a:solidFill>
              <a:prstDash val="dash"/>
            </a:ln>
          </c:spPr>
          <c:marker>
            <c:symbol val="none"/>
          </c:marker>
          <c:dLbls>
            <c:dLbl>
              <c:idx val="1"/>
              <c:tx>
                <c:rich>
                  <a:bodyPr/>
                  <a:lstStyle/>
                  <a:p>
                    <a:r>
                      <a:rPr lang="el-GR"/>
                      <a:t>Δ</a:t>
                    </a:r>
                    <a:r>
                      <a:rPr lang="en-US"/>
                      <a:t>b = 0.8</a:t>
                    </a:r>
                  </a:p>
                </c:rich>
              </c:tx>
              <c:dLblPos val="b"/>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0F9-4D40-9632-EA2F0ABCC6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Data'!$S$2:$S$4</c:f>
              <c:numCache>
                <c:formatCode>General</c:formatCode>
                <c:ptCount val="3"/>
                <c:pt idx="0">
                  <c:v>0</c:v>
                </c:pt>
                <c:pt idx="1">
                  <c:v>0.4</c:v>
                </c:pt>
                <c:pt idx="2">
                  <c:v>0.8</c:v>
                </c:pt>
              </c:numCache>
            </c:numRef>
          </c:xVal>
          <c:yVal>
            <c:numRef>
              <c:f>'Chart Data'!$T$2:$T$4</c:f>
              <c:numCache>
                <c:formatCode>General</c:formatCode>
                <c:ptCount val="3"/>
                <c:pt idx="0">
                  <c:v>0</c:v>
                </c:pt>
                <c:pt idx="1">
                  <c:v>0</c:v>
                </c:pt>
                <c:pt idx="2">
                  <c:v>0</c:v>
                </c:pt>
              </c:numCache>
            </c:numRef>
          </c:yVal>
          <c:smooth val="0"/>
          <c:extLst>
            <c:ext xmlns:c16="http://schemas.microsoft.com/office/drawing/2014/chart" uri="{C3380CC4-5D6E-409C-BE32-E72D297353CC}">
              <c16:uniqueId val="{00000001-30F9-4D40-9632-EA2F0ABCC662}"/>
            </c:ext>
          </c:extLst>
        </c:ser>
        <c:ser>
          <c:idx val="10"/>
          <c:order val="6"/>
          <c:tx>
            <c:v>Vertical component Δa</c:v>
          </c:tx>
          <c:spPr>
            <a:ln w="19050">
              <a:solidFill>
                <a:srgbClr val="326DB8"/>
              </a:solidFill>
              <a:prstDash val="dash"/>
            </a:ln>
          </c:spPr>
          <c:marker>
            <c:symbol val="none"/>
          </c:marker>
          <c:dLbls>
            <c:dLbl>
              <c:idx val="1"/>
              <c:tx>
                <c:rich>
                  <a:bodyPr/>
                  <a:lstStyle/>
                  <a:p>
                    <a:r>
                      <a:rPr lang="el-GR"/>
                      <a:t>Δ</a:t>
                    </a:r>
                    <a:r>
                      <a:rPr lang="en-US"/>
                      <a:t>a = 1.6</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0F9-4D40-9632-EA2F0ABCC6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Data'!$U$2:$U$4</c:f>
              <c:numCache>
                <c:formatCode>General</c:formatCode>
                <c:ptCount val="3"/>
                <c:pt idx="0">
                  <c:v>0.8</c:v>
                </c:pt>
                <c:pt idx="1">
                  <c:v>0.8</c:v>
                </c:pt>
                <c:pt idx="2">
                  <c:v>0.8</c:v>
                </c:pt>
              </c:numCache>
            </c:numRef>
          </c:xVal>
          <c:yVal>
            <c:numRef>
              <c:f>'Chart Data'!$V$2:$V$4</c:f>
              <c:numCache>
                <c:formatCode>General</c:formatCode>
                <c:ptCount val="3"/>
                <c:pt idx="0">
                  <c:v>0</c:v>
                </c:pt>
                <c:pt idx="1">
                  <c:v>0.8</c:v>
                </c:pt>
                <c:pt idx="2">
                  <c:v>1.6</c:v>
                </c:pt>
              </c:numCache>
            </c:numRef>
          </c:yVal>
          <c:smooth val="0"/>
          <c:extLst>
            <c:ext xmlns:c16="http://schemas.microsoft.com/office/drawing/2014/chart" uri="{C3380CC4-5D6E-409C-BE32-E72D297353CC}">
              <c16:uniqueId val="{00000003-30F9-4D40-9632-EA2F0ABCC662}"/>
            </c:ext>
          </c:extLst>
        </c:ser>
        <c:ser>
          <c:idx val="5"/>
          <c:order val="7"/>
          <c:tx>
            <c:v>Iterates</c:v>
          </c:tx>
          <c:spPr>
            <a:ln w="28575">
              <a:solidFill>
                <a:srgbClr val="C45C28"/>
              </a:solidFill>
            </a:ln>
          </c:spPr>
          <c:marker>
            <c:symbol val="none"/>
          </c:marker>
          <c:xVal>
            <c:numRef>
              <c:f>'Chart Data'!$K$2:$K$3</c:f>
              <c:numCache>
                <c:formatCode>General</c:formatCode>
                <c:ptCount val="2"/>
                <c:pt idx="0">
                  <c:v>0</c:v>
                </c:pt>
                <c:pt idx="1">
                  <c:v>0.8</c:v>
                </c:pt>
              </c:numCache>
            </c:numRef>
          </c:xVal>
          <c:yVal>
            <c:numRef>
              <c:f>'Chart Data'!$L$2:$L$3</c:f>
              <c:numCache>
                <c:formatCode>0.##</c:formatCode>
                <c:ptCount val="2"/>
                <c:pt idx="0">
                  <c:v>0</c:v>
                </c:pt>
                <c:pt idx="1">
                  <c:v>1.6</c:v>
                </c:pt>
              </c:numCache>
            </c:numRef>
          </c:yVal>
          <c:smooth val="0"/>
          <c:extLst>
            <c:ext xmlns:c16="http://schemas.microsoft.com/office/drawing/2014/chart" uri="{C3380CC4-5D6E-409C-BE32-E72D297353CC}">
              <c16:uniqueId val="{00000005-DA24-4889-803E-94440B99C4ED}"/>
            </c:ext>
          </c:extLst>
        </c:ser>
        <c:ser>
          <c:idx val="6"/>
          <c:order val="8"/>
          <c:tx>
            <c:v>Previous iterates</c:v>
          </c:tx>
          <c:spPr>
            <a:ln w="0">
              <a:noFill/>
            </a:ln>
          </c:spPr>
          <c:marker>
            <c:symbol val="circle"/>
            <c:size val="6"/>
            <c:spPr>
              <a:solidFill>
                <a:srgbClr val="C45C28"/>
              </a:solidFill>
              <a:ln w="12700">
                <a:solidFill>
                  <a:srgbClr val="C45C28"/>
                </a:solidFill>
              </a:ln>
            </c:spPr>
          </c:marker>
          <c:xVal>
            <c:numRef>
              <c:f>'Chart Data'!$M$2:$M$3</c:f>
              <c:numCache>
                <c:formatCode>General</c:formatCode>
                <c:ptCount val="2"/>
                <c:pt idx="0">
                  <c:v>0</c:v>
                </c:pt>
                <c:pt idx="1">
                  <c:v>0.8</c:v>
                </c:pt>
              </c:numCache>
            </c:numRef>
          </c:xVal>
          <c:yVal>
            <c:numRef>
              <c:f>'Chart Data'!$N$2:$N$3</c:f>
              <c:numCache>
                <c:formatCode>0.##</c:formatCode>
                <c:ptCount val="2"/>
                <c:pt idx="0">
                  <c:v>0</c:v>
                </c:pt>
                <c:pt idx="1">
                  <c:v>1.6</c:v>
                </c:pt>
              </c:numCache>
            </c:numRef>
          </c:yVal>
          <c:smooth val="0"/>
          <c:extLst>
            <c:ext xmlns:c16="http://schemas.microsoft.com/office/drawing/2014/chart" uri="{C3380CC4-5D6E-409C-BE32-E72D297353CC}">
              <c16:uniqueId val="{00000006-DA24-4889-803E-94440B99C4ED}"/>
            </c:ext>
          </c:extLst>
        </c:ser>
        <c:ser>
          <c:idx val="7"/>
          <c:order val="9"/>
          <c:tx>
            <c:v>Minimum</c:v>
          </c:tx>
          <c:spPr>
            <a:ln w="0">
              <a:noFill/>
            </a:ln>
          </c:spPr>
          <c:marker>
            <c:symbol val="circle"/>
            <c:size val="10"/>
            <c:spPr>
              <a:solidFill>
                <a:srgbClr val="087F83"/>
              </a:solidFill>
              <a:ln w="12700">
                <a:solidFill>
                  <a:srgbClr val="087F83"/>
                </a:solidFill>
              </a:ln>
            </c:spPr>
          </c:marker>
          <c:xVal>
            <c:numRef>
              <c:f>'Chart Data'!$O$2:$O$2</c:f>
              <c:numCache>
                <c:formatCode>General</c:formatCode>
                <c:ptCount val="1"/>
                <c:pt idx="0">
                  <c:v>2</c:v>
                </c:pt>
              </c:numCache>
            </c:numRef>
          </c:xVal>
          <c:yVal>
            <c:numRef>
              <c:f>'Chart Data'!$P$2:$P$2</c:f>
              <c:numCache>
                <c:formatCode>0.##</c:formatCode>
                <c:ptCount val="1"/>
                <c:pt idx="0">
                  <c:v>2</c:v>
                </c:pt>
              </c:numCache>
            </c:numRef>
          </c:yVal>
          <c:smooth val="0"/>
          <c:extLst>
            <c:ext xmlns:c16="http://schemas.microsoft.com/office/drawing/2014/chart" uri="{C3380CC4-5D6E-409C-BE32-E72D297353CC}">
              <c16:uniqueId val="{00000007-DA24-4889-803E-94440B99C4ED}"/>
            </c:ext>
          </c:extLst>
        </c:ser>
        <c:ser>
          <c:idx val="8"/>
          <c:order val="10"/>
          <c:tx>
            <c:v>Current iterate</c:v>
          </c:tx>
          <c:spPr>
            <a:ln w="0">
              <a:noFill/>
            </a:ln>
          </c:spPr>
          <c:marker>
            <c:symbol val="circle"/>
            <c:size val="7"/>
            <c:spPr>
              <a:solidFill>
                <a:srgbClr val="C45C28"/>
              </a:solidFill>
              <a:ln w="12700">
                <a:solidFill>
                  <a:srgbClr val="C45C28"/>
                </a:solidFill>
              </a:ln>
            </c:spPr>
          </c:marker>
          <c:xVal>
            <c:numRef>
              <c:f>'Chart Data'!$Q$2:$Q$2</c:f>
              <c:numCache>
                <c:formatCode>General</c:formatCode>
                <c:ptCount val="1"/>
                <c:pt idx="0">
                  <c:v>0.8</c:v>
                </c:pt>
              </c:numCache>
            </c:numRef>
          </c:xVal>
          <c:yVal>
            <c:numRef>
              <c:f>'Chart Data'!$R$2:$R$2</c:f>
              <c:numCache>
                <c:formatCode>0.##</c:formatCode>
                <c:ptCount val="1"/>
                <c:pt idx="0">
                  <c:v>1.6</c:v>
                </c:pt>
              </c:numCache>
            </c:numRef>
          </c:yVal>
          <c:smooth val="0"/>
          <c:extLst>
            <c:ext xmlns:c16="http://schemas.microsoft.com/office/drawing/2014/chart" uri="{C3380CC4-5D6E-409C-BE32-E72D297353CC}">
              <c16:uniqueId val="{00000008-DA24-4889-803E-94440B99C4ED}"/>
            </c:ext>
          </c:extLst>
        </c:ser>
        <c:ser>
          <c:idx val="11"/>
          <c:order val="11"/>
          <c:tx>
            <c:v>Negative-gradient step arrowhead</c:v>
          </c:tx>
          <c:spPr>
            <a:ln w="28575">
              <a:solidFill>
                <a:srgbClr val="C45C28"/>
              </a:solidFill>
            </a:ln>
          </c:spPr>
          <c:marker>
            <c:symbol val="none"/>
          </c:marker>
          <c:xVal>
            <c:numRef>
              <c:f>'Chart Data'!$W$2:$W$4</c:f>
              <c:numCache>
                <c:formatCode>General</c:formatCode>
                <c:ptCount val="3"/>
                <c:pt idx="0">
                  <c:v>0.55000000000000004</c:v>
                </c:pt>
                <c:pt idx="1">
                  <c:v>0.8</c:v>
                </c:pt>
                <c:pt idx="2">
                  <c:v>0.82</c:v>
                </c:pt>
              </c:numCache>
            </c:numRef>
          </c:xVal>
          <c:yVal>
            <c:numRef>
              <c:f>'Chart Data'!$X$2:$X$4</c:f>
              <c:numCache>
                <c:formatCode>General</c:formatCode>
                <c:ptCount val="3"/>
                <c:pt idx="0">
                  <c:v>1.39</c:v>
                </c:pt>
                <c:pt idx="1">
                  <c:v>1.6</c:v>
                </c:pt>
                <c:pt idx="2">
                  <c:v>1.22</c:v>
                </c:pt>
              </c:numCache>
            </c:numRef>
          </c:yVal>
          <c:smooth val="0"/>
          <c:extLst>
            <c:ext xmlns:c16="http://schemas.microsoft.com/office/drawing/2014/chart" uri="{C3380CC4-5D6E-409C-BE32-E72D297353CC}">
              <c16:uniqueId val="{00000004-30F9-4D40-9632-EA2F0ABCC662}"/>
            </c:ext>
          </c:extLst>
        </c:ser>
        <c:dLbls>
          <c:showLegendKey val="0"/>
          <c:showVal val="0"/>
          <c:showCatName val="0"/>
          <c:showSerName val="0"/>
          <c:showPercent val="0"/>
          <c:showBubbleSize val="0"/>
        </c:dLbls>
        <c:axId val="48650112"/>
        <c:axId val="48672768"/>
      </c:scatterChart>
      <c:valAx>
        <c:axId val="48672768"/>
        <c:scaling>
          <c:orientation val="minMax"/>
          <c:max val="3.5"/>
          <c:min val="-0.5"/>
        </c:scaling>
        <c:delete val="0"/>
        <c:axPos val="l"/>
        <c:majorGridlines>
          <c:spPr>
            <a:ln w="9525">
              <a:solidFill>
                <a:srgbClr val="E8EDF2"/>
              </a:solidFill>
            </a:ln>
          </c:spPr>
        </c:majorGridlines>
        <c:title>
          <c:tx>
            <c:rich>
              <a:bodyPr/>
              <a:lstStyle/>
              <a:p>
                <a:r>
                  <a:rPr lang="it-IT">
                    <a:latin typeface="DejaVu Sans"/>
                    <a:ea typeface="DejaVu Sans"/>
                    <a:cs typeface="DejaVu Sans"/>
                  </a:rPr>
                  <a:t>Slope a</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1"/>
      </c:valAx>
      <c:valAx>
        <c:axId val="48650112"/>
        <c:scaling>
          <c:orientation val="minMax"/>
          <c:max val="4.5"/>
          <c:min val="-0.5"/>
        </c:scaling>
        <c:delete val="0"/>
        <c:axPos val="b"/>
        <c:title>
          <c:tx>
            <c:rich>
              <a:bodyPr/>
              <a:lstStyle/>
              <a:p>
                <a:r>
                  <a:rPr lang="it-IT">
                    <a:latin typeface="DejaVu Sans"/>
                    <a:ea typeface="DejaVu Sans"/>
                    <a:cs typeface="DejaVu Sans"/>
                  </a:rPr>
                  <a:t>Intercept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2"/>
          <c:order val="2"/>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3356-4657-9DFD-C50BB8F4EDD5}"/>
            </c:ext>
          </c:extLst>
        </c:ser>
        <c:ser>
          <c:idx val="0"/>
          <c:order val="0"/>
          <c:tx>
            <c:v>Optimal line</c:v>
          </c:tx>
          <c:spPr>
            <a:ln w="28575">
              <a:solidFill>
                <a:srgbClr val="DAE5EE"/>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-2.9</c:v>
                </c:pt>
                <c:pt idx="1">
                  <c:v>6.9</c:v>
                </c:pt>
              </c:numCache>
            </c:numRef>
          </c:yVal>
          <c:smooth val="0"/>
          <c:extLst>
            <c:ext xmlns:c16="http://schemas.microsoft.com/office/drawing/2014/chart" uri="{C3380CC4-5D6E-409C-BE32-E72D297353CC}">
              <c16:uniqueId val="{00000001-3356-4657-9DFD-C50BB8F4EDD5}"/>
            </c:ext>
          </c:extLst>
        </c:ser>
        <c:ser>
          <c:idx val="1"/>
          <c:order val="1"/>
          <c:tx>
            <c:v>Predictor</c:v>
          </c:tx>
          <c:spPr>
            <a:ln w="28575">
              <a:solidFill>
                <a:srgbClr val="087F83"/>
              </a:solidFill>
            </a:ln>
          </c:spPr>
          <c:marker>
            <c:symbol val="none"/>
          </c:marker>
          <c:xVal>
            <c:numRef>
              <c:f>'Chart Data'!$E$2:$E$3</c:f>
              <c:numCache>
                <c:formatCode>General</c:formatCode>
                <c:ptCount val="2"/>
                <c:pt idx="0">
                  <c:v>-2.4500000000000002</c:v>
                </c:pt>
                <c:pt idx="1">
                  <c:v>2.4500000000000002</c:v>
                </c:pt>
              </c:numCache>
            </c:numRef>
          </c:xVal>
          <c:yVal>
            <c:numRef>
              <c:f>'Chart Data'!$F$2:$F$3</c:f>
              <c:numCache>
                <c:formatCode>0.##</c:formatCode>
                <c:ptCount val="2"/>
                <c:pt idx="0">
                  <c:v>-3.4239999999999999</c:v>
                </c:pt>
                <c:pt idx="1">
                  <c:v>5.984</c:v>
                </c:pt>
              </c:numCache>
            </c:numRef>
          </c:yVal>
          <c:smooth val="0"/>
          <c:extLst>
            <c:ext xmlns:c16="http://schemas.microsoft.com/office/drawing/2014/chart" uri="{C3380CC4-5D6E-409C-BE32-E72D297353CC}">
              <c16:uniqueId val="{00000002-3356-4657-9DFD-C50BB8F4EDD5}"/>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Loss 8</c:v>
          </c:tx>
          <c:spPr>
            <a:ln w="14288">
              <a:solidFill>
                <a:srgbClr val="DAE5EE"/>
              </a:solidFill>
            </a:ln>
          </c:spPr>
          <c:marker>
            <c:symbol val="none"/>
          </c:marker>
          <c:xVal>
            <c:numRef>
              <c:f>'Chart Data'!$A$2:$A$98</c:f>
              <c:numCache>
                <c:formatCode>General</c:formatCode>
                <c:ptCount val="97"/>
                <c:pt idx="0">
                  <c:v>2.6324555320299998</c:v>
                </c:pt>
                <c:pt idx="1">
                  <c:v>2.6311013961900001</c:v>
                </c:pt>
                <c:pt idx="2">
                  <c:v>2.62704478728</c:v>
                </c:pt>
                <c:pt idx="3">
                  <c:v>2.6203030763299999</c:v>
                </c:pt>
                <c:pt idx="4">
                  <c:v>2.6109051323700001</c:v>
                </c:pt>
                <c:pt idx="5">
                  <c:v>2.5988911988500001</c:v>
                </c:pt>
                <c:pt idx="6">
                  <c:v>2.5843127212699999</c:v>
                </c:pt>
                <c:pt idx="7">
                  <c:v>2.56723212691</c:v>
                </c:pt>
                <c:pt idx="8">
                  <c:v>2.5477225575100002</c:v>
                </c:pt>
                <c:pt idx="9">
                  <c:v>2.5258675560200001</c:v>
                </c:pt>
                <c:pt idx="10">
                  <c:v>2.50176070892</c:v>
                </c:pt>
                <c:pt idx="11">
                  <c:v>2.4755052454399999</c:v>
                </c:pt>
                <c:pt idx="12">
                  <c:v>2.4472135955000001</c:v>
                </c:pt>
                <c:pt idx="13">
                  <c:v>2.4170069082799999</c:v>
                </c:pt>
                <c:pt idx="14">
                  <c:v>2.3850145334700001</c:v>
                </c:pt>
                <c:pt idx="15">
                  <c:v>2.3513734673100002</c:v>
                </c:pt>
                <c:pt idx="16">
                  <c:v>2.3162277660199999</c:v>
                </c:pt>
                <c:pt idx="17">
                  <c:v>2.2797279288799999</c:v>
                </c:pt>
                <c:pt idx="18">
                  <c:v>2.2420302538199999</c:v>
                </c:pt>
                <c:pt idx="19">
                  <c:v>2.2032961680400001</c:v>
                </c:pt>
                <c:pt idx="20">
                  <c:v>2.16369153687</c:v>
                </c:pt>
                <c:pt idx="21">
                  <c:v>2.1233859534100001</c:v>
                </c:pt>
                <c:pt idx="22">
                  <c:v>2.0825520123399999</c:v>
                </c:pt>
                <c:pt idx="23">
                  <c:v>2.0413645708899999</c:v>
                </c:pt>
                <c:pt idx="24">
                  <c:v>2</c:v>
                </c:pt>
                <c:pt idx="25">
                  <c:v>1.9586354291100001</c:v>
                </c:pt>
                <c:pt idx="26">
                  <c:v>1.9174479876599999</c:v>
                </c:pt>
                <c:pt idx="27">
                  <c:v>1.8766140465900001</c:v>
                </c:pt>
                <c:pt idx="28">
                  <c:v>1.83630846313</c:v>
                </c:pt>
                <c:pt idx="29">
                  <c:v>1.7967038319599999</c:v>
                </c:pt>
                <c:pt idx="30">
                  <c:v>1.7579697461799999</c:v>
                </c:pt>
                <c:pt idx="31">
                  <c:v>1.7202720711199999</c:v>
                </c:pt>
                <c:pt idx="32">
                  <c:v>1.6837722339800001</c:v>
                </c:pt>
                <c:pt idx="33">
                  <c:v>1.64862653269</c:v>
                </c:pt>
                <c:pt idx="34">
                  <c:v>1.6149854665300001</c:v>
                </c:pt>
                <c:pt idx="35">
                  <c:v>1.5829930917199999</c:v>
                </c:pt>
                <c:pt idx="36">
                  <c:v>1.5527864044999999</c:v>
                </c:pt>
                <c:pt idx="37">
                  <c:v>1.5244947545600001</c:v>
                </c:pt>
                <c:pt idx="38">
                  <c:v>1.49823929108</c:v>
                </c:pt>
                <c:pt idx="39">
                  <c:v>1.4741324439800001</c:v>
                </c:pt>
                <c:pt idx="40">
                  <c:v>1.45227744249</c:v>
                </c:pt>
                <c:pt idx="41">
                  <c:v>1.43276787309</c:v>
                </c:pt>
                <c:pt idx="42">
                  <c:v>1.4156872787300001</c:v>
                </c:pt>
                <c:pt idx="43">
                  <c:v>1.4011088011499999</c:v>
                </c:pt>
                <c:pt idx="44">
                  <c:v>1.3890948676299999</c:v>
                </c:pt>
                <c:pt idx="45">
                  <c:v>1.3796969236700001</c:v>
                </c:pt>
                <c:pt idx="46">
                  <c:v>1.37295521272</c:v>
                </c:pt>
                <c:pt idx="47">
                  <c:v>1.3688986038099999</c:v>
                </c:pt>
                <c:pt idx="48">
                  <c:v>1.36754446797</c:v>
                </c:pt>
                <c:pt idx="49">
                  <c:v>1.3688986038099999</c:v>
                </c:pt>
                <c:pt idx="50">
                  <c:v>1.37295521272</c:v>
                </c:pt>
                <c:pt idx="51">
                  <c:v>1.3796969236700001</c:v>
                </c:pt>
                <c:pt idx="52">
                  <c:v>1.3890948676299999</c:v>
                </c:pt>
                <c:pt idx="53">
                  <c:v>1.4011088011499999</c:v>
                </c:pt>
                <c:pt idx="54">
                  <c:v>1.4156872787300001</c:v>
                </c:pt>
                <c:pt idx="55">
                  <c:v>1.43276787309</c:v>
                </c:pt>
                <c:pt idx="56">
                  <c:v>1.45227744249</c:v>
                </c:pt>
                <c:pt idx="57">
                  <c:v>1.4741324439800001</c:v>
                </c:pt>
                <c:pt idx="58">
                  <c:v>1.49823929108</c:v>
                </c:pt>
                <c:pt idx="59">
                  <c:v>1.5244947545600001</c:v>
                </c:pt>
                <c:pt idx="60">
                  <c:v>1.5527864044999999</c:v>
                </c:pt>
                <c:pt idx="61">
                  <c:v>1.5829930917199999</c:v>
                </c:pt>
                <c:pt idx="62">
                  <c:v>1.6149854665300001</c:v>
                </c:pt>
                <c:pt idx="63">
                  <c:v>1.64862653269</c:v>
                </c:pt>
                <c:pt idx="64">
                  <c:v>1.6837722339800001</c:v>
                </c:pt>
                <c:pt idx="65">
                  <c:v>1.7202720711199999</c:v>
                </c:pt>
                <c:pt idx="66">
                  <c:v>1.7579697461799999</c:v>
                </c:pt>
                <c:pt idx="67">
                  <c:v>1.7967038319599999</c:v>
                </c:pt>
                <c:pt idx="68">
                  <c:v>1.83630846313</c:v>
                </c:pt>
                <c:pt idx="69">
                  <c:v>1.8766140465900001</c:v>
                </c:pt>
                <c:pt idx="70">
                  <c:v>1.9174479876599999</c:v>
                </c:pt>
                <c:pt idx="71">
                  <c:v>1.9586354291100001</c:v>
                </c:pt>
                <c:pt idx="72">
                  <c:v>2</c:v>
                </c:pt>
                <c:pt idx="73">
                  <c:v>2.0413645708899999</c:v>
                </c:pt>
                <c:pt idx="74">
                  <c:v>2.0825520123399999</c:v>
                </c:pt>
                <c:pt idx="75">
                  <c:v>2.1233859534100001</c:v>
                </c:pt>
                <c:pt idx="76">
                  <c:v>2.16369153687</c:v>
                </c:pt>
                <c:pt idx="77">
                  <c:v>2.2032961680400001</c:v>
                </c:pt>
                <c:pt idx="78">
                  <c:v>2.2420302538199999</c:v>
                </c:pt>
                <c:pt idx="79">
                  <c:v>2.2797279288799999</c:v>
                </c:pt>
                <c:pt idx="80">
                  <c:v>2.3162277660199999</c:v>
                </c:pt>
                <c:pt idx="81">
                  <c:v>2.3513734673100002</c:v>
                </c:pt>
                <c:pt idx="82">
                  <c:v>2.3850145334700001</c:v>
                </c:pt>
                <c:pt idx="83">
                  <c:v>2.4170069082799999</c:v>
                </c:pt>
                <c:pt idx="84">
                  <c:v>2.4472135955000001</c:v>
                </c:pt>
                <c:pt idx="85">
                  <c:v>2.4755052454399999</c:v>
                </c:pt>
                <c:pt idx="86">
                  <c:v>2.50176070892</c:v>
                </c:pt>
                <c:pt idx="87">
                  <c:v>2.5258675560200001</c:v>
                </c:pt>
                <c:pt idx="88">
                  <c:v>2.5477225575100002</c:v>
                </c:pt>
                <c:pt idx="89">
                  <c:v>2.56723212691</c:v>
                </c:pt>
                <c:pt idx="90">
                  <c:v>2.5843127212699999</c:v>
                </c:pt>
                <c:pt idx="91">
                  <c:v>2.5988911988500001</c:v>
                </c:pt>
                <c:pt idx="92">
                  <c:v>2.6109051323700001</c:v>
                </c:pt>
                <c:pt idx="93">
                  <c:v>2.6203030763299999</c:v>
                </c:pt>
                <c:pt idx="94">
                  <c:v>2.62704478728</c:v>
                </c:pt>
                <c:pt idx="95">
                  <c:v>2.6311013961900001</c:v>
                </c:pt>
                <c:pt idx="96">
                  <c:v>2.6324555320299998</c:v>
                </c:pt>
              </c:numCache>
            </c:numRef>
          </c:xVal>
          <c:yVal>
            <c:numRef>
              <c:f>'Chart Data'!$B$2:$B$98</c:f>
              <c:numCache>
                <c:formatCode>0.##</c:formatCode>
                <c:ptCount val="97"/>
                <c:pt idx="0">
                  <c:v>2</c:v>
                </c:pt>
                <c:pt idx="1">
                  <c:v>2.0292491685799998</c:v>
                </c:pt>
                <c:pt idx="2">
                  <c:v>2.0583730877300002</c:v>
                </c:pt>
                <c:pt idx="3">
                  <c:v>2.0872470443600002</c:v>
                </c:pt>
                <c:pt idx="4">
                  <c:v>2.1157473957400001</c:v>
                </c:pt>
                <c:pt idx="5">
                  <c:v>2.1437520990099999</c:v>
                </c:pt>
                <c:pt idx="6">
                  <c:v>2.1711412337299998</c:v>
                </c:pt>
                <c:pt idx="7">
                  <c:v>2.1977975154</c:v>
                </c:pt>
                <c:pt idx="8">
                  <c:v>2.22360679775</c:v>
                </c:pt>
                <c:pt idx="9">
                  <c:v>2.2484585614600001</c:v>
                </c:pt>
                <c:pt idx="10">
                  <c:v>2.2722463874700001</c:v>
                </c:pt>
                <c:pt idx="11">
                  <c:v>2.2948684126500001</c:v>
                </c:pt>
                <c:pt idx="12">
                  <c:v>2.3162277660199999</c:v>
                </c:pt>
                <c:pt idx="13">
                  <c:v>2.33623298354</c:v>
                </c:pt>
                <c:pt idx="14">
                  <c:v>2.3547983998099999</c:v>
                </c:pt>
                <c:pt idx="15">
                  <c:v>2.3718445148699998</c:v>
                </c:pt>
                <c:pt idx="16">
                  <c:v>2.3872983346200001</c:v>
                </c:pt>
                <c:pt idx="17">
                  <c:v>2.4010936834500001</c:v>
                </c:pt>
                <c:pt idx="18">
                  <c:v>2.4131714875400001</c:v>
                </c:pt>
                <c:pt idx="19">
                  <c:v>2.4234800279000002</c:v>
                </c:pt>
                <c:pt idx="20">
                  <c:v>2.4319751617600001</c:v>
                </c:pt>
                <c:pt idx="21">
                  <c:v>2.4386205116599999</c:v>
                </c:pt>
                <c:pt idx="22">
                  <c:v>2.4433876211899999</c:v>
                </c:pt>
                <c:pt idx="23">
                  <c:v>2.4462560768600001</c:v>
                </c:pt>
                <c:pt idx="24">
                  <c:v>2.4472135955000001</c:v>
                </c:pt>
                <c:pt idx="25">
                  <c:v>2.4462560768600001</c:v>
                </c:pt>
                <c:pt idx="26">
                  <c:v>2.4433876211899999</c:v>
                </c:pt>
                <c:pt idx="27">
                  <c:v>2.4386205116599999</c:v>
                </c:pt>
                <c:pt idx="28">
                  <c:v>2.4319751617600001</c:v>
                </c:pt>
                <c:pt idx="29">
                  <c:v>2.4234800279000002</c:v>
                </c:pt>
                <c:pt idx="30">
                  <c:v>2.4131714875400001</c:v>
                </c:pt>
                <c:pt idx="31">
                  <c:v>2.4010936834500001</c:v>
                </c:pt>
                <c:pt idx="32">
                  <c:v>2.3872983346200001</c:v>
                </c:pt>
                <c:pt idx="33">
                  <c:v>2.3718445148699998</c:v>
                </c:pt>
                <c:pt idx="34">
                  <c:v>2.3547983998099999</c:v>
                </c:pt>
                <c:pt idx="35">
                  <c:v>2.33623298354</c:v>
                </c:pt>
                <c:pt idx="36">
                  <c:v>2.3162277660199999</c:v>
                </c:pt>
                <c:pt idx="37">
                  <c:v>2.2948684126500001</c:v>
                </c:pt>
                <c:pt idx="38">
                  <c:v>2.2722463874700001</c:v>
                </c:pt>
                <c:pt idx="39">
                  <c:v>2.2484585614600001</c:v>
                </c:pt>
                <c:pt idx="40">
                  <c:v>2.22360679775</c:v>
                </c:pt>
                <c:pt idx="41">
                  <c:v>2.1977975154</c:v>
                </c:pt>
                <c:pt idx="42">
                  <c:v>2.1711412337299998</c:v>
                </c:pt>
                <c:pt idx="43">
                  <c:v>2.1437520990099999</c:v>
                </c:pt>
                <c:pt idx="44">
                  <c:v>2.1157473957400001</c:v>
                </c:pt>
                <c:pt idx="45">
                  <c:v>2.0872470443600002</c:v>
                </c:pt>
                <c:pt idx="46">
                  <c:v>2.0583730877300002</c:v>
                </c:pt>
                <c:pt idx="47">
                  <c:v>2.0292491685799998</c:v>
                </c:pt>
                <c:pt idx="48">
                  <c:v>2</c:v>
                </c:pt>
                <c:pt idx="49">
                  <c:v>1.97075083142</c:v>
                </c:pt>
                <c:pt idx="50">
                  <c:v>1.9416269122700001</c:v>
                </c:pt>
                <c:pt idx="51">
                  <c:v>1.91275295564</c:v>
                </c:pt>
                <c:pt idx="52">
                  <c:v>1.8842526042600001</c:v>
                </c:pt>
                <c:pt idx="53">
                  <c:v>1.8562479009899999</c:v>
                </c:pt>
                <c:pt idx="54">
                  <c:v>1.82885876627</c:v>
                </c:pt>
                <c:pt idx="55">
                  <c:v>1.8022024846</c:v>
                </c:pt>
                <c:pt idx="56">
                  <c:v>1.77639320225</c:v>
                </c:pt>
                <c:pt idx="57">
                  <c:v>1.7515414385400001</c:v>
                </c:pt>
                <c:pt idx="58">
                  <c:v>1.7277536125299999</c:v>
                </c:pt>
                <c:pt idx="59">
                  <c:v>1.7051315873499999</c:v>
                </c:pt>
                <c:pt idx="60">
                  <c:v>1.6837722339800001</c:v>
                </c:pt>
                <c:pt idx="61">
                  <c:v>1.66376701646</c:v>
                </c:pt>
                <c:pt idx="62">
                  <c:v>1.6452016001900001</c:v>
                </c:pt>
                <c:pt idx="63">
                  <c:v>1.62815548513</c:v>
                </c:pt>
                <c:pt idx="64">
                  <c:v>1.6127016653799999</c:v>
                </c:pt>
                <c:pt idx="65">
                  <c:v>1.5989063165499999</c:v>
                </c:pt>
                <c:pt idx="66">
                  <c:v>1.5868285124599999</c:v>
                </c:pt>
                <c:pt idx="67">
                  <c:v>1.5765199721000001</c:v>
                </c:pt>
                <c:pt idx="68">
                  <c:v>1.5680248382399999</c:v>
                </c:pt>
                <c:pt idx="69">
                  <c:v>1.5613794883400001</c:v>
                </c:pt>
                <c:pt idx="70">
                  <c:v>1.5566123788099999</c:v>
                </c:pt>
                <c:pt idx="71">
                  <c:v>1.5537439231400001</c:v>
                </c:pt>
                <c:pt idx="72">
                  <c:v>1.5527864044999999</c:v>
                </c:pt>
                <c:pt idx="73">
                  <c:v>1.5537439231400001</c:v>
                </c:pt>
                <c:pt idx="74">
                  <c:v>1.5566123788099999</c:v>
                </c:pt>
                <c:pt idx="75">
                  <c:v>1.5613794883400001</c:v>
                </c:pt>
                <c:pt idx="76">
                  <c:v>1.5680248382399999</c:v>
                </c:pt>
                <c:pt idx="77">
                  <c:v>1.5765199721000001</c:v>
                </c:pt>
                <c:pt idx="78">
                  <c:v>1.5868285124599999</c:v>
                </c:pt>
                <c:pt idx="79">
                  <c:v>1.5989063165499999</c:v>
                </c:pt>
                <c:pt idx="80">
                  <c:v>1.6127016653799999</c:v>
                </c:pt>
                <c:pt idx="81">
                  <c:v>1.62815548513</c:v>
                </c:pt>
                <c:pt idx="82">
                  <c:v>1.6452016001900001</c:v>
                </c:pt>
                <c:pt idx="83">
                  <c:v>1.66376701646</c:v>
                </c:pt>
                <c:pt idx="84">
                  <c:v>1.6837722339800001</c:v>
                </c:pt>
                <c:pt idx="85">
                  <c:v>1.7051315873499999</c:v>
                </c:pt>
                <c:pt idx="86">
                  <c:v>1.7277536125299999</c:v>
                </c:pt>
                <c:pt idx="87">
                  <c:v>1.7515414385400001</c:v>
                </c:pt>
                <c:pt idx="88">
                  <c:v>1.77639320225</c:v>
                </c:pt>
                <c:pt idx="89">
                  <c:v>1.8022024846</c:v>
                </c:pt>
                <c:pt idx="90">
                  <c:v>1.82885876627</c:v>
                </c:pt>
                <c:pt idx="91">
                  <c:v>1.8562479009899999</c:v>
                </c:pt>
                <c:pt idx="92">
                  <c:v>1.8842526042600001</c:v>
                </c:pt>
                <c:pt idx="93">
                  <c:v>1.91275295564</c:v>
                </c:pt>
                <c:pt idx="94">
                  <c:v>1.9416269122700001</c:v>
                </c:pt>
                <c:pt idx="95">
                  <c:v>1.97075083142</c:v>
                </c:pt>
                <c:pt idx="96">
                  <c:v>2</c:v>
                </c:pt>
              </c:numCache>
            </c:numRef>
          </c:yVal>
          <c:smooth val="0"/>
          <c:extLst>
            <c:ext xmlns:c16="http://schemas.microsoft.com/office/drawing/2014/chart" uri="{C3380CC4-5D6E-409C-BE32-E72D297353CC}">
              <c16:uniqueId val="{00000000-52F4-4F69-911B-43B5EABAC322}"/>
            </c:ext>
          </c:extLst>
        </c:ser>
        <c:ser>
          <c:idx val="1"/>
          <c:order val="1"/>
          <c:tx>
            <c:v>Loss 14</c:v>
          </c:tx>
          <c:spPr>
            <a:ln w="14288">
              <a:solidFill>
                <a:srgbClr val="DAE5EE"/>
              </a:solidFill>
            </a:ln>
          </c:spPr>
          <c:marker>
            <c:symbol val="none"/>
          </c:marker>
          <c:xVal>
            <c:numRef>
              <c:f>'Chart Data'!$C$2:$C$98</c:f>
              <c:numCache>
                <c:formatCode>General</c:formatCode>
                <c:ptCount val="97"/>
                <c:pt idx="0">
                  <c:v>3.2649110640700001</c:v>
                </c:pt>
                <c:pt idx="1">
                  <c:v>3.2622027923800001</c:v>
                </c:pt>
                <c:pt idx="2">
                  <c:v>3.25408957456</c:v>
                </c:pt>
                <c:pt idx="3">
                  <c:v>3.2406061526599999</c:v>
                </c:pt>
                <c:pt idx="4">
                  <c:v>3.2218102647400002</c:v>
                </c:pt>
                <c:pt idx="5">
                  <c:v>3.1977823977000002</c:v>
                </c:pt>
                <c:pt idx="6">
                  <c:v>3.1686254425399998</c:v>
                </c:pt>
                <c:pt idx="7">
                  <c:v>3.13446425383</c:v>
                </c:pt>
                <c:pt idx="8">
                  <c:v>3.09544511501</c:v>
                </c:pt>
                <c:pt idx="9">
                  <c:v>3.0517351120399998</c:v>
                </c:pt>
                <c:pt idx="10">
                  <c:v>3.00352141785</c:v>
                </c:pt>
                <c:pt idx="11">
                  <c:v>2.9510104908899999</c:v>
                </c:pt>
                <c:pt idx="12">
                  <c:v>2.8944271910000001</c:v>
                </c:pt>
                <c:pt idx="13">
                  <c:v>2.8340138165700002</c:v>
                </c:pt>
                <c:pt idx="14">
                  <c:v>2.7700290669299998</c:v>
                </c:pt>
                <c:pt idx="15">
                  <c:v>2.7027469346099999</c:v>
                </c:pt>
                <c:pt idx="16">
                  <c:v>2.6324555320299998</c:v>
                </c:pt>
                <c:pt idx="17">
                  <c:v>2.5594558577700002</c:v>
                </c:pt>
                <c:pt idx="18">
                  <c:v>2.4840605076300002</c:v>
                </c:pt>
                <c:pt idx="19">
                  <c:v>2.4065923360900001</c:v>
                </c:pt>
                <c:pt idx="20">
                  <c:v>2.3273830737400001</c:v>
                </c:pt>
                <c:pt idx="21">
                  <c:v>2.2467719068099998</c:v>
                </c:pt>
                <c:pt idx="22">
                  <c:v>2.1651040246900002</c:v>
                </c:pt>
                <c:pt idx="23">
                  <c:v>2.0827291417899998</c:v>
                </c:pt>
                <c:pt idx="24">
                  <c:v>2</c:v>
                </c:pt>
                <c:pt idx="25">
                  <c:v>1.91727085821</c:v>
                </c:pt>
                <c:pt idx="26">
                  <c:v>1.83489597531</c:v>
                </c:pt>
                <c:pt idx="27">
                  <c:v>1.7532280931899999</c:v>
                </c:pt>
                <c:pt idx="28">
                  <c:v>1.6726169262599999</c:v>
                </c:pt>
                <c:pt idx="29">
                  <c:v>1.5934076639100001</c:v>
                </c:pt>
                <c:pt idx="30">
                  <c:v>1.51593949237</c:v>
                </c:pt>
                <c:pt idx="31">
                  <c:v>1.44054414223</c:v>
                </c:pt>
                <c:pt idx="32">
                  <c:v>1.36754446797</c:v>
                </c:pt>
                <c:pt idx="33">
                  <c:v>1.2972530653900001</c:v>
                </c:pt>
                <c:pt idx="34">
                  <c:v>1.2299709330699999</c:v>
                </c:pt>
                <c:pt idx="35">
                  <c:v>1.16598618343</c:v>
                </c:pt>
                <c:pt idx="36">
                  <c:v>1.1055728090000001</c:v>
                </c:pt>
                <c:pt idx="37">
                  <c:v>1.0489895091100001</c:v>
                </c:pt>
                <c:pt idx="38">
                  <c:v>0.99647858215100005</c:v>
                </c:pt>
                <c:pt idx="39">
                  <c:v>0.94826488796300001</c:v>
                </c:pt>
                <c:pt idx="40">
                  <c:v>0.90455488499000003</c:v>
                </c:pt>
                <c:pt idx="41">
                  <c:v>0.86553574617499995</c:v>
                </c:pt>
                <c:pt idx="42">
                  <c:v>0.83137455746099997</c:v>
                </c:pt>
                <c:pt idx="43">
                  <c:v>0.80221760230299999</c:v>
                </c:pt>
                <c:pt idx="44">
                  <c:v>0.77818973525900004</c:v>
                </c:pt>
                <c:pt idx="45">
                  <c:v>0.75939384734399995</c:v>
                </c:pt>
                <c:pt idx="46">
                  <c:v>0.74591042543599995</c:v>
                </c:pt>
                <c:pt idx="47">
                  <c:v>0.73779720761699996</c:v>
                </c:pt>
                <c:pt idx="48">
                  <c:v>0.73508893593299995</c:v>
                </c:pt>
                <c:pt idx="49">
                  <c:v>0.73779720761699996</c:v>
                </c:pt>
                <c:pt idx="50">
                  <c:v>0.74591042543599995</c:v>
                </c:pt>
                <c:pt idx="51">
                  <c:v>0.75939384734399995</c:v>
                </c:pt>
                <c:pt idx="52">
                  <c:v>0.77818973525900004</c:v>
                </c:pt>
                <c:pt idx="53">
                  <c:v>0.80221760230299999</c:v>
                </c:pt>
                <c:pt idx="54">
                  <c:v>0.83137455746099997</c:v>
                </c:pt>
                <c:pt idx="55">
                  <c:v>0.86553574617499995</c:v>
                </c:pt>
                <c:pt idx="56">
                  <c:v>0.90455488499000003</c:v>
                </c:pt>
                <c:pt idx="57">
                  <c:v>0.94826488796300001</c:v>
                </c:pt>
                <c:pt idx="58">
                  <c:v>0.99647858215100005</c:v>
                </c:pt>
                <c:pt idx="59">
                  <c:v>1.0489895091100001</c:v>
                </c:pt>
                <c:pt idx="60">
                  <c:v>1.1055728090000001</c:v>
                </c:pt>
                <c:pt idx="61">
                  <c:v>1.16598618343</c:v>
                </c:pt>
                <c:pt idx="62">
                  <c:v>1.2299709330699999</c:v>
                </c:pt>
                <c:pt idx="63">
                  <c:v>1.2972530653900001</c:v>
                </c:pt>
                <c:pt idx="64">
                  <c:v>1.36754446797</c:v>
                </c:pt>
                <c:pt idx="65">
                  <c:v>1.44054414223</c:v>
                </c:pt>
                <c:pt idx="66">
                  <c:v>1.51593949237</c:v>
                </c:pt>
                <c:pt idx="67">
                  <c:v>1.5934076639100001</c:v>
                </c:pt>
                <c:pt idx="68">
                  <c:v>1.6726169262599999</c:v>
                </c:pt>
                <c:pt idx="69">
                  <c:v>1.7532280931899999</c:v>
                </c:pt>
                <c:pt idx="70">
                  <c:v>1.83489597531</c:v>
                </c:pt>
                <c:pt idx="71">
                  <c:v>1.91727085821</c:v>
                </c:pt>
                <c:pt idx="72">
                  <c:v>2</c:v>
                </c:pt>
                <c:pt idx="73">
                  <c:v>2.0827291417899998</c:v>
                </c:pt>
                <c:pt idx="74">
                  <c:v>2.1651040246900002</c:v>
                </c:pt>
                <c:pt idx="75">
                  <c:v>2.2467719068099998</c:v>
                </c:pt>
                <c:pt idx="76">
                  <c:v>2.3273830737400001</c:v>
                </c:pt>
                <c:pt idx="77">
                  <c:v>2.4065923360900001</c:v>
                </c:pt>
                <c:pt idx="78">
                  <c:v>2.4840605076300002</c:v>
                </c:pt>
                <c:pt idx="79">
                  <c:v>2.5594558577700002</c:v>
                </c:pt>
                <c:pt idx="80">
                  <c:v>2.6324555320299998</c:v>
                </c:pt>
                <c:pt idx="81">
                  <c:v>2.7027469346099999</c:v>
                </c:pt>
                <c:pt idx="82">
                  <c:v>2.7700290669299998</c:v>
                </c:pt>
                <c:pt idx="83">
                  <c:v>2.8340138165700002</c:v>
                </c:pt>
                <c:pt idx="84">
                  <c:v>2.8944271910000001</c:v>
                </c:pt>
                <c:pt idx="85">
                  <c:v>2.9510104908899999</c:v>
                </c:pt>
                <c:pt idx="86">
                  <c:v>3.00352141785</c:v>
                </c:pt>
                <c:pt idx="87">
                  <c:v>3.0517351120399998</c:v>
                </c:pt>
                <c:pt idx="88">
                  <c:v>3.09544511501</c:v>
                </c:pt>
                <c:pt idx="89">
                  <c:v>3.13446425383</c:v>
                </c:pt>
                <c:pt idx="90">
                  <c:v>3.1686254425399998</c:v>
                </c:pt>
                <c:pt idx="91">
                  <c:v>3.1977823977000002</c:v>
                </c:pt>
                <c:pt idx="92">
                  <c:v>3.2218102647400002</c:v>
                </c:pt>
                <c:pt idx="93">
                  <c:v>3.2406061526599999</c:v>
                </c:pt>
                <c:pt idx="94">
                  <c:v>3.25408957456</c:v>
                </c:pt>
                <c:pt idx="95">
                  <c:v>3.2622027923800001</c:v>
                </c:pt>
                <c:pt idx="96">
                  <c:v>3.2649110640700001</c:v>
                </c:pt>
              </c:numCache>
            </c:numRef>
          </c:xVal>
          <c:yVal>
            <c:numRef>
              <c:f>'Chart Data'!$D$2:$D$98</c:f>
              <c:numCache>
                <c:formatCode>0.##</c:formatCode>
                <c:ptCount val="97"/>
                <c:pt idx="0">
                  <c:v>2</c:v>
                </c:pt>
                <c:pt idx="1">
                  <c:v>2.0584983371600001</c:v>
                </c:pt>
                <c:pt idx="2">
                  <c:v>2.1167461754599999</c:v>
                </c:pt>
                <c:pt idx="3">
                  <c:v>2.1744940887099999</c:v>
                </c:pt>
                <c:pt idx="4">
                  <c:v>2.2314947914899999</c:v>
                </c:pt>
                <c:pt idx="5">
                  <c:v>2.2875041980300002</c:v>
                </c:pt>
                <c:pt idx="6">
                  <c:v>2.34228246745</c:v>
                </c:pt>
                <c:pt idx="7">
                  <c:v>2.3955950308</c:v>
                </c:pt>
                <c:pt idx="8">
                  <c:v>2.4472135955000001</c:v>
                </c:pt>
                <c:pt idx="9">
                  <c:v>2.4969171229199998</c:v>
                </c:pt>
                <c:pt idx="10">
                  <c:v>2.5444927749400001</c:v>
                </c:pt>
                <c:pt idx="11">
                  <c:v>2.5897368253000002</c:v>
                </c:pt>
                <c:pt idx="12">
                  <c:v>2.6324555320299998</c:v>
                </c:pt>
                <c:pt idx="13">
                  <c:v>2.6724659670899999</c:v>
                </c:pt>
                <c:pt idx="14">
                  <c:v>2.7095967996299999</c:v>
                </c:pt>
                <c:pt idx="15">
                  <c:v>2.7436890297300001</c:v>
                </c:pt>
                <c:pt idx="16">
                  <c:v>2.7745966692400001</c:v>
                </c:pt>
                <c:pt idx="17">
                  <c:v>2.8021873668900001</c:v>
                </c:pt>
                <c:pt idx="18">
                  <c:v>2.8263429750900002</c:v>
                </c:pt>
                <c:pt idx="19">
                  <c:v>2.8469600557999999</c:v>
                </c:pt>
                <c:pt idx="20">
                  <c:v>2.8639503235200001</c:v>
                </c:pt>
                <c:pt idx="21">
                  <c:v>2.8772410233299999</c:v>
                </c:pt>
                <c:pt idx="22">
                  <c:v>2.8867752423900002</c:v>
                </c:pt>
                <c:pt idx="23">
                  <c:v>2.8925121537299998</c:v>
                </c:pt>
                <c:pt idx="24">
                  <c:v>2.8944271910000001</c:v>
                </c:pt>
                <c:pt idx="25">
                  <c:v>2.8925121537299998</c:v>
                </c:pt>
                <c:pt idx="26">
                  <c:v>2.8867752423900002</c:v>
                </c:pt>
                <c:pt idx="27">
                  <c:v>2.8772410233299999</c:v>
                </c:pt>
                <c:pt idx="28">
                  <c:v>2.8639503235200001</c:v>
                </c:pt>
                <c:pt idx="29">
                  <c:v>2.8469600557999999</c:v>
                </c:pt>
                <c:pt idx="30">
                  <c:v>2.8263429750900002</c:v>
                </c:pt>
                <c:pt idx="31">
                  <c:v>2.8021873668900001</c:v>
                </c:pt>
                <c:pt idx="32">
                  <c:v>2.7745966692400001</c:v>
                </c:pt>
                <c:pt idx="33">
                  <c:v>2.7436890297300001</c:v>
                </c:pt>
                <c:pt idx="34">
                  <c:v>2.7095967996299999</c:v>
                </c:pt>
                <c:pt idx="35">
                  <c:v>2.6724659670899999</c:v>
                </c:pt>
                <c:pt idx="36">
                  <c:v>2.6324555320299998</c:v>
                </c:pt>
                <c:pt idx="37">
                  <c:v>2.5897368253000002</c:v>
                </c:pt>
                <c:pt idx="38">
                  <c:v>2.5444927749400001</c:v>
                </c:pt>
                <c:pt idx="39">
                  <c:v>2.4969171229199998</c:v>
                </c:pt>
                <c:pt idx="40">
                  <c:v>2.4472135955000001</c:v>
                </c:pt>
                <c:pt idx="41">
                  <c:v>2.3955950308</c:v>
                </c:pt>
                <c:pt idx="42">
                  <c:v>2.34228246745</c:v>
                </c:pt>
                <c:pt idx="43">
                  <c:v>2.2875041980300002</c:v>
                </c:pt>
                <c:pt idx="44">
                  <c:v>2.2314947914899999</c:v>
                </c:pt>
                <c:pt idx="45">
                  <c:v>2.1744940887099999</c:v>
                </c:pt>
                <c:pt idx="46">
                  <c:v>2.1167461754599999</c:v>
                </c:pt>
                <c:pt idx="47">
                  <c:v>2.0584983371600001</c:v>
                </c:pt>
                <c:pt idx="48">
                  <c:v>2</c:v>
                </c:pt>
                <c:pt idx="49">
                  <c:v>1.9415016628399999</c:v>
                </c:pt>
                <c:pt idx="50">
                  <c:v>1.8832538245399999</c:v>
                </c:pt>
                <c:pt idx="51">
                  <c:v>1.8255059112900001</c:v>
                </c:pt>
                <c:pt idx="52">
                  <c:v>1.7685052085099999</c:v>
                </c:pt>
                <c:pt idx="53">
                  <c:v>1.7124958019700001</c:v>
                </c:pt>
                <c:pt idx="54">
                  <c:v>1.65771753255</c:v>
                </c:pt>
                <c:pt idx="55">
                  <c:v>1.6044049692</c:v>
                </c:pt>
                <c:pt idx="56">
                  <c:v>1.5527864044999999</c:v>
                </c:pt>
                <c:pt idx="57">
                  <c:v>1.50308287708</c:v>
                </c:pt>
                <c:pt idx="58">
                  <c:v>1.4555072250600001</c:v>
                </c:pt>
                <c:pt idx="59">
                  <c:v>1.4102631747000001</c:v>
                </c:pt>
                <c:pt idx="60">
                  <c:v>1.36754446797</c:v>
                </c:pt>
                <c:pt idx="61">
                  <c:v>1.3275340329100001</c:v>
                </c:pt>
                <c:pt idx="62">
                  <c:v>1.2904032003699999</c:v>
                </c:pt>
                <c:pt idx="63">
                  <c:v>1.2563109702699999</c:v>
                </c:pt>
                <c:pt idx="64">
                  <c:v>1.2254033307600001</c:v>
                </c:pt>
                <c:pt idx="65">
                  <c:v>1.1978126331100001</c:v>
                </c:pt>
                <c:pt idx="66">
                  <c:v>1.17365702491</c:v>
                </c:pt>
                <c:pt idx="67">
                  <c:v>1.1530399442000001</c:v>
                </c:pt>
                <c:pt idx="68">
                  <c:v>1.1360496764800001</c:v>
                </c:pt>
                <c:pt idx="69">
                  <c:v>1.1227589766699999</c:v>
                </c:pt>
                <c:pt idx="70">
                  <c:v>1.1132247576100001</c:v>
                </c:pt>
                <c:pt idx="71">
                  <c:v>1.10748784627</c:v>
                </c:pt>
                <c:pt idx="72">
                  <c:v>1.1055728090000001</c:v>
                </c:pt>
                <c:pt idx="73">
                  <c:v>1.10748784627</c:v>
                </c:pt>
                <c:pt idx="74">
                  <c:v>1.1132247576100001</c:v>
                </c:pt>
                <c:pt idx="75">
                  <c:v>1.1227589766699999</c:v>
                </c:pt>
                <c:pt idx="76">
                  <c:v>1.1360496764800001</c:v>
                </c:pt>
                <c:pt idx="77">
                  <c:v>1.1530399442000001</c:v>
                </c:pt>
                <c:pt idx="78">
                  <c:v>1.17365702491</c:v>
                </c:pt>
                <c:pt idx="79">
                  <c:v>1.1978126331100001</c:v>
                </c:pt>
                <c:pt idx="80">
                  <c:v>1.2254033307600001</c:v>
                </c:pt>
                <c:pt idx="81">
                  <c:v>1.2563109702699999</c:v>
                </c:pt>
                <c:pt idx="82">
                  <c:v>1.2904032003699999</c:v>
                </c:pt>
                <c:pt idx="83">
                  <c:v>1.3275340329100001</c:v>
                </c:pt>
                <c:pt idx="84">
                  <c:v>1.36754446797</c:v>
                </c:pt>
                <c:pt idx="85">
                  <c:v>1.4102631747000001</c:v>
                </c:pt>
                <c:pt idx="86">
                  <c:v>1.4555072250600001</c:v>
                </c:pt>
                <c:pt idx="87">
                  <c:v>1.50308287708</c:v>
                </c:pt>
                <c:pt idx="88">
                  <c:v>1.5527864044999999</c:v>
                </c:pt>
                <c:pt idx="89">
                  <c:v>1.6044049692</c:v>
                </c:pt>
                <c:pt idx="90">
                  <c:v>1.65771753255</c:v>
                </c:pt>
                <c:pt idx="91">
                  <c:v>1.7124958019700001</c:v>
                </c:pt>
                <c:pt idx="92">
                  <c:v>1.7685052085099999</c:v>
                </c:pt>
                <c:pt idx="93">
                  <c:v>1.8255059112900001</c:v>
                </c:pt>
                <c:pt idx="94">
                  <c:v>1.8832538245399999</c:v>
                </c:pt>
                <c:pt idx="95">
                  <c:v>1.9415016628399999</c:v>
                </c:pt>
                <c:pt idx="96">
                  <c:v>2</c:v>
                </c:pt>
              </c:numCache>
            </c:numRef>
          </c:yVal>
          <c:smooth val="0"/>
          <c:extLst>
            <c:ext xmlns:c16="http://schemas.microsoft.com/office/drawing/2014/chart" uri="{C3380CC4-5D6E-409C-BE32-E72D297353CC}">
              <c16:uniqueId val="{00000001-52F4-4F69-911B-43B5EABAC322}"/>
            </c:ext>
          </c:extLst>
        </c:ser>
        <c:ser>
          <c:idx val="2"/>
          <c:order val="2"/>
          <c:tx>
            <c:v>Loss 26</c:v>
          </c:tx>
          <c:spPr>
            <a:ln w="14288">
              <a:solidFill>
                <a:srgbClr val="DAE5EE"/>
              </a:solidFill>
            </a:ln>
          </c:spPr>
          <c:marker>
            <c:symbol val="none"/>
          </c:marker>
          <c:xVal>
            <c:numRef>
              <c:f>'Chart Data'!$E$2:$E$98</c:f>
              <c:numCache>
                <c:formatCode>General</c:formatCode>
                <c:ptCount val="97"/>
                <c:pt idx="0">
                  <c:v>4</c:v>
                </c:pt>
                <c:pt idx="1">
                  <c:v>3.9957178464799998</c:v>
                </c:pt>
                <c:pt idx="2">
                  <c:v>3.98288972275</c:v>
                </c:pt>
                <c:pt idx="3">
                  <c:v>3.9615705608099998</c:v>
                </c:pt>
                <c:pt idx="4">
                  <c:v>3.9318516525799998</c:v>
                </c:pt>
                <c:pt idx="5">
                  <c:v>3.8938602589900002</c:v>
                </c:pt>
                <c:pt idx="6">
                  <c:v>3.84775906502</c:v>
                </c:pt>
                <c:pt idx="7">
                  <c:v>3.7937454830699999</c:v>
                </c:pt>
                <c:pt idx="8">
                  <c:v>3.7320508075699999</c:v>
                </c:pt>
                <c:pt idx="9">
                  <c:v>3.6629392246100001</c:v>
                </c:pt>
                <c:pt idx="10">
                  <c:v>3.5867066805799999</c:v>
                </c:pt>
                <c:pt idx="11">
                  <c:v>3.5036796149599998</c:v>
                </c:pt>
                <c:pt idx="12">
                  <c:v>3.4142135623700001</c:v>
                </c:pt>
                <c:pt idx="13">
                  <c:v>3.3186916302</c:v>
                </c:pt>
                <c:pt idx="14">
                  <c:v>3.2175228580200002</c:v>
                </c:pt>
                <c:pt idx="15">
                  <c:v>3.1111404660400002</c:v>
                </c:pt>
                <c:pt idx="16">
                  <c:v>3</c:v>
                </c:pt>
                <c:pt idx="17">
                  <c:v>2.8845773804400001</c:v>
                </c:pt>
                <c:pt idx="18">
                  <c:v>2.7653668647299998</c:v>
                </c:pt>
                <c:pt idx="19">
                  <c:v>2.6428789306099998</c:v>
                </c:pt>
                <c:pt idx="20">
                  <c:v>2.5176380902100002</c:v>
                </c:pt>
                <c:pt idx="21">
                  <c:v>2.39018064403</c:v>
                </c:pt>
                <c:pt idx="22">
                  <c:v>2.2610523844400001</c:v>
                </c:pt>
                <c:pt idx="23">
                  <c:v>2.1308062584599998</c:v>
                </c:pt>
                <c:pt idx="24">
                  <c:v>2</c:v>
                </c:pt>
                <c:pt idx="25">
                  <c:v>1.86919374154</c:v>
                </c:pt>
                <c:pt idx="26">
                  <c:v>1.7389476155600001</c:v>
                </c:pt>
                <c:pt idx="27">
                  <c:v>1.60981935597</c:v>
                </c:pt>
                <c:pt idx="28">
                  <c:v>1.48236190979</c:v>
                </c:pt>
                <c:pt idx="29">
                  <c:v>1.35712106939</c:v>
                </c:pt>
                <c:pt idx="30">
                  <c:v>1.23463313527</c:v>
                </c:pt>
                <c:pt idx="31">
                  <c:v>1.1154226195600001</c:v>
                </c:pt>
                <c:pt idx="32">
                  <c:v>1</c:v>
                </c:pt>
                <c:pt idx="33">
                  <c:v>0.88885953396100004</c:v>
                </c:pt>
                <c:pt idx="34">
                  <c:v>0.782477141983</c:v>
                </c:pt>
                <c:pt idx="35">
                  <c:v>0.68130836979999998</c:v>
                </c:pt>
                <c:pt idx="36">
                  <c:v>0.585786437627</c:v>
                </c:pt>
                <c:pt idx="37">
                  <c:v>0.49632038504199999</c:v>
                </c:pt>
                <c:pt idx="38">
                  <c:v>0.41329331941800002</c:v>
                </c:pt>
                <c:pt idx="39">
                  <c:v>0.33706077539500001</c:v>
                </c:pt>
                <c:pt idx="40">
                  <c:v>0.26794919243100002</c:v>
                </c:pt>
                <c:pt idx="41">
                  <c:v>0.20625451693499999</c:v>
                </c:pt>
                <c:pt idx="42">
                  <c:v>0.152240934977</c:v>
                </c:pt>
                <c:pt idx="43">
                  <c:v>0.10613974101</c:v>
                </c:pt>
                <c:pt idx="44">
                  <c:v>6.8148347421899999E-2</c:v>
                </c:pt>
                <c:pt idx="45">
                  <c:v>3.8429439193499997E-2</c:v>
                </c:pt>
                <c:pt idx="46">
                  <c:v>1.71102772524E-2</c:v>
                </c:pt>
                <c:pt idx="47">
                  <c:v>4.28215352279E-3</c:v>
                </c:pt>
                <c:pt idx="48">
                  <c:v>0</c:v>
                </c:pt>
                <c:pt idx="49">
                  <c:v>4.28215352279E-3</c:v>
                </c:pt>
                <c:pt idx="50">
                  <c:v>1.71102772524E-2</c:v>
                </c:pt>
                <c:pt idx="51">
                  <c:v>3.8429439193499997E-2</c:v>
                </c:pt>
                <c:pt idx="52">
                  <c:v>6.8148347421899999E-2</c:v>
                </c:pt>
                <c:pt idx="53">
                  <c:v>0.10613974101</c:v>
                </c:pt>
                <c:pt idx="54">
                  <c:v>0.152240934977</c:v>
                </c:pt>
                <c:pt idx="55">
                  <c:v>0.20625451693499999</c:v>
                </c:pt>
                <c:pt idx="56">
                  <c:v>0.26794919243100002</c:v>
                </c:pt>
                <c:pt idx="57">
                  <c:v>0.33706077539500001</c:v>
                </c:pt>
                <c:pt idx="58">
                  <c:v>0.41329331941800002</c:v>
                </c:pt>
                <c:pt idx="59">
                  <c:v>0.49632038504199999</c:v>
                </c:pt>
                <c:pt idx="60">
                  <c:v>0.585786437627</c:v>
                </c:pt>
                <c:pt idx="61">
                  <c:v>0.68130836979999998</c:v>
                </c:pt>
                <c:pt idx="62">
                  <c:v>0.782477141983</c:v>
                </c:pt>
                <c:pt idx="63">
                  <c:v>0.88885953396100004</c:v>
                </c:pt>
                <c:pt idx="64">
                  <c:v>1</c:v>
                </c:pt>
                <c:pt idx="65">
                  <c:v>1.1154226195600001</c:v>
                </c:pt>
                <c:pt idx="66">
                  <c:v>1.23463313527</c:v>
                </c:pt>
                <c:pt idx="67">
                  <c:v>1.35712106939</c:v>
                </c:pt>
                <c:pt idx="68">
                  <c:v>1.48236190979</c:v>
                </c:pt>
                <c:pt idx="69">
                  <c:v>1.60981935597</c:v>
                </c:pt>
                <c:pt idx="70">
                  <c:v>1.7389476155600001</c:v>
                </c:pt>
                <c:pt idx="71">
                  <c:v>1.86919374154</c:v>
                </c:pt>
                <c:pt idx="72">
                  <c:v>2</c:v>
                </c:pt>
                <c:pt idx="73">
                  <c:v>2.1308062584599998</c:v>
                </c:pt>
                <c:pt idx="74">
                  <c:v>2.2610523844400001</c:v>
                </c:pt>
                <c:pt idx="75">
                  <c:v>2.39018064403</c:v>
                </c:pt>
                <c:pt idx="76">
                  <c:v>2.5176380902100002</c:v>
                </c:pt>
                <c:pt idx="77">
                  <c:v>2.6428789306099998</c:v>
                </c:pt>
                <c:pt idx="78">
                  <c:v>2.7653668647299998</c:v>
                </c:pt>
                <c:pt idx="79">
                  <c:v>2.8845773804400001</c:v>
                </c:pt>
                <c:pt idx="80">
                  <c:v>3</c:v>
                </c:pt>
                <c:pt idx="81">
                  <c:v>3.1111404660400002</c:v>
                </c:pt>
                <c:pt idx="82">
                  <c:v>3.2175228580200002</c:v>
                </c:pt>
                <c:pt idx="83">
                  <c:v>3.3186916302</c:v>
                </c:pt>
                <c:pt idx="84">
                  <c:v>3.4142135623700001</c:v>
                </c:pt>
                <c:pt idx="85">
                  <c:v>3.5036796149599998</c:v>
                </c:pt>
                <c:pt idx="86">
                  <c:v>3.5867066805799999</c:v>
                </c:pt>
                <c:pt idx="87">
                  <c:v>3.6629392246100001</c:v>
                </c:pt>
                <c:pt idx="88">
                  <c:v>3.7320508075699999</c:v>
                </c:pt>
                <c:pt idx="89">
                  <c:v>3.7937454830699999</c:v>
                </c:pt>
                <c:pt idx="90">
                  <c:v>3.84775906502</c:v>
                </c:pt>
                <c:pt idx="91">
                  <c:v>3.8938602589900002</c:v>
                </c:pt>
                <c:pt idx="92">
                  <c:v>3.9318516525799998</c:v>
                </c:pt>
                <c:pt idx="93">
                  <c:v>3.9615705608099998</c:v>
                </c:pt>
                <c:pt idx="94">
                  <c:v>3.98288972275</c:v>
                </c:pt>
                <c:pt idx="95">
                  <c:v>3.9957178464799998</c:v>
                </c:pt>
                <c:pt idx="96">
                  <c:v>4</c:v>
                </c:pt>
              </c:numCache>
            </c:numRef>
          </c:xVal>
          <c:yVal>
            <c:numRef>
              <c:f>'Chart Data'!$F$2:$F$98</c:f>
              <c:numCache>
                <c:formatCode>0.##</c:formatCode>
                <c:ptCount val="97"/>
                <c:pt idx="0">
                  <c:v>2</c:v>
                </c:pt>
                <c:pt idx="1">
                  <c:v>2.0924939923800001</c:v>
                </c:pt>
                <c:pt idx="2">
                  <c:v>2.1845919112800001</c:v>
                </c:pt>
                <c:pt idx="3">
                  <c:v>2.2758993792800002</c:v>
                </c:pt>
                <c:pt idx="4">
                  <c:v>2.3660254037800001</c:v>
                </c:pt>
                <c:pt idx="5">
                  <c:v>2.4545840513099999</c:v>
                </c:pt>
                <c:pt idx="6">
                  <c:v>2.5411961001500001</c:v>
                </c:pt>
                <c:pt idx="7">
                  <c:v>2.62549066419</c:v>
                </c:pt>
                <c:pt idx="8">
                  <c:v>2.7071067811899998</c:v>
                </c:pt>
                <c:pt idx="9">
                  <c:v>2.7856949583900001</c:v>
                </c:pt>
                <c:pt idx="10">
                  <c:v>2.8609186691500001</c:v>
                </c:pt>
                <c:pt idx="11">
                  <c:v>2.93245579401</c:v>
                </c:pt>
                <c:pt idx="12">
                  <c:v>3</c:v>
                </c:pt>
                <c:pt idx="13">
                  <c:v>3.0632620524699998</c:v>
                </c:pt>
                <c:pt idx="14">
                  <c:v>3.1219710535899998</c:v>
                </c:pt>
                <c:pt idx="15">
                  <c:v>3.1758756024200001</c:v>
                </c:pt>
                <c:pt idx="16">
                  <c:v>3.22474487139</c:v>
                </c:pt>
                <c:pt idx="17">
                  <c:v>3.2683695948000002</c:v>
                </c:pt>
                <c:pt idx="18">
                  <c:v>3.3065629648799999</c:v>
                </c:pt>
                <c:pt idx="19">
                  <c:v>3.33916143175</c:v>
                </c:pt>
                <c:pt idx="20">
                  <c:v>3.3660254037800001</c:v>
                </c:pt>
                <c:pt idx="21">
                  <c:v>3.3870398453199999</c:v>
                </c:pt>
                <c:pt idx="22">
                  <c:v>3.4021147692999998</c:v>
                </c:pt>
                <c:pt idx="23">
                  <c:v>3.4111856225800001</c:v>
                </c:pt>
                <c:pt idx="24">
                  <c:v>3.4142135623700001</c:v>
                </c:pt>
                <c:pt idx="25">
                  <c:v>3.4111856225800001</c:v>
                </c:pt>
                <c:pt idx="26">
                  <c:v>3.4021147692999998</c:v>
                </c:pt>
                <c:pt idx="27">
                  <c:v>3.3870398453199999</c:v>
                </c:pt>
                <c:pt idx="28">
                  <c:v>3.3660254037800001</c:v>
                </c:pt>
                <c:pt idx="29">
                  <c:v>3.33916143175</c:v>
                </c:pt>
                <c:pt idx="30">
                  <c:v>3.3065629648799999</c:v>
                </c:pt>
                <c:pt idx="31">
                  <c:v>3.2683695948000002</c:v>
                </c:pt>
                <c:pt idx="32">
                  <c:v>3.22474487139</c:v>
                </c:pt>
                <c:pt idx="33">
                  <c:v>3.1758756024200001</c:v>
                </c:pt>
                <c:pt idx="34">
                  <c:v>3.1219710535899998</c:v>
                </c:pt>
                <c:pt idx="35">
                  <c:v>3.0632620524699998</c:v>
                </c:pt>
                <c:pt idx="36">
                  <c:v>3</c:v>
                </c:pt>
                <c:pt idx="37">
                  <c:v>2.93245579401</c:v>
                </c:pt>
                <c:pt idx="38">
                  <c:v>2.8609186691500001</c:v>
                </c:pt>
                <c:pt idx="39">
                  <c:v>2.7856949583900001</c:v>
                </c:pt>
                <c:pt idx="40">
                  <c:v>2.7071067811899998</c:v>
                </c:pt>
                <c:pt idx="41">
                  <c:v>2.62549066419</c:v>
                </c:pt>
                <c:pt idx="42">
                  <c:v>2.5411961001500001</c:v>
                </c:pt>
                <c:pt idx="43">
                  <c:v>2.4545840513099999</c:v>
                </c:pt>
                <c:pt idx="44">
                  <c:v>2.3660254037800001</c:v>
                </c:pt>
                <c:pt idx="45">
                  <c:v>2.2758993792800002</c:v>
                </c:pt>
                <c:pt idx="46">
                  <c:v>2.1845919112800001</c:v>
                </c:pt>
                <c:pt idx="47">
                  <c:v>2.0924939923800001</c:v>
                </c:pt>
                <c:pt idx="48">
                  <c:v>2</c:v>
                </c:pt>
                <c:pt idx="49">
                  <c:v>1.9075060076200001</c:v>
                </c:pt>
                <c:pt idx="50">
                  <c:v>1.8154080887199999</c:v>
                </c:pt>
                <c:pt idx="51">
                  <c:v>1.72410062072</c:v>
                </c:pt>
                <c:pt idx="52">
                  <c:v>1.6339745962200001</c:v>
                </c:pt>
                <c:pt idx="53">
                  <c:v>1.5454159486900001</c:v>
                </c:pt>
                <c:pt idx="54">
                  <c:v>1.4588038998499999</c:v>
                </c:pt>
                <c:pt idx="55">
                  <c:v>1.37450933581</c:v>
                </c:pt>
                <c:pt idx="56">
                  <c:v>1.29289321881</c:v>
                </c:pt>
                <c:pt idx="57">
                  <c:v>1.2143050416100001</c:v>
                </c:pt>
                <c:pt idx="58">
                  <c:v>1.1390813308500001</c:v>
                </c:pt>
                <c:pt idx="59">
                  <c:v>1.06754420599</c:v>
                </c:pt>
                <c:pt idx="60">
                  <c:v>1</c:v>
                </c:pt>
                <c:pt idx="61">
                  <c:v>0.93673794753100004</c:v>
                </c:pt>
                <c:pt idx="62">
                  <c:v>0.87802894640600004</c:v>
                </c:pt>
                <c:pt idx="63">
                  <c:v>0.82412439758099998</c:v>
                </c:pt>
                <c:pt idx="64">
                  <c:v>0.77525512860800005</c:v>
                </c:pt>
                <c:pt idx="65">
                  <c:v>0.73163040520199996</c:v>
                </c:pt>
                <c:pt idx="66">
                  <c:v>0.69343703512400001</c:v>
                </c:pt>
                <c:pt idx="67">
                  <c:v>0.66083856824800002</c:v>
                </c:pt>
                <c:pt idx="68">
                  <c:v>0.63397459621600005</c:v>
                </c:pt>
                <c:pt idx="69">
                  <c:v>0.61296015467800002</c:v>
                </c:pt>
                <c:pt idx="70">
                  <c:v>0.59788523069999999</c:v>
                </c:pt>
                <c:pt idx="71">
                  <c:v>0.58881437742099996</c:v>
                </c:pt>
                <c:pt idx="72">
                  <c:v>0.585786437627</c:v>
                </c:pt>
                <c:pt idx="73">
                  <c:v>0.58881437742099996</c:v>
                </c:pt>
                <c:pt idx="74">
                  <c:v>0.59788523069999999</c:v>
                </c:pt>
                <c:pt idx="75">
                  <c:v>0.61296015467800002</c:v>
                </c:pt>
                <c:pt idx="76">
                  <c:v>0.63397459621600005</c:v>
                </c:pt>
                <c:pt idx="77">
                  <c:v>0.66083856824800002</c:v>
                </c:pt>
                <c:pt idx="78">
                  <c:v>0.69343703512400001</c:v>
                </c:pt>
                <c:pt idx="79">
                  <c:v>0.73163040520199996</c:v>
                </c:pt>
                <c:pt idx="80">
                  <c:v>0.77525512860800005</c:v>
                </c:pt>
                <c:pt idx="81">
                  <c:v>0.82412439758099998</c:v>
                </c:pt>
                <c:pt idx="82">
                  <c:v>0.87802894640600004</c:v>
                </c:pt>
                <c:pt idx="83">
                  <c:v>0.93673794753100004</c:v>
                </c:pt>
                <c:pt idx="84">
                  <c:v>1</c:v>
                </c:pt>
                <c:pt idx="85">
                  <c:v>1.06754420599</c:v>
                </c:pt>
                <c:pt idx="86">
                  <c:v>1.1390813308500001</c:v>
                </c:pt>
                <c:pt idx="87">
                  <c:v>1.2143050416100001</c:v>
                </c:pt>
                <c:pt idx="88">
                  <c:v>1.29289321881</c:v>
                </c:pt>
                <c:pt idx="89">
                  <c:v>1.37450933581</c:v>
                </c:pt>
                <c:pt idx="90">
                  <c:v>1.4588038998499999</c:v>
                </c:pt>
                <c:pt idx="91">
                  <c:v>1.5454159486900001</c:v>
                </c:pt>
                <c:pt idx="92">
                  <c:v>1.6339745962200001</c:v>
                </c:pt>
                <c:pt idx="93">
                  <c:v>1.72410062072</c:v>
                </c:pt>
                <c:pt idx="94">
                  <c:v>1.8154080887199999</c:v>
                </c:pt>
                <c:pt idx="95">
                  <c:v>1.9075060076200001</c:v>
                </c:pt>
                <c:pt idx="96">
                  <c:v>2</c:v>
                </c:pt>
              </c:numCache>
            </c:numRef>
          </c:yVal>
          <c:smooth val="0"/>
          <c:extLst>
            <c:ext xmlns:c16="http://schemas.microsoft.com/office/drawing/2014/chart" uri="{C3380CC4-5D6E-409C-BE32-E72D297353CC}">
              <c16:uniqueId val="{00000002-52F4-4F69-911B-43B5EABAC322}"/>
            </c:ext>
          </c:extLst>
        </c:ser>
        <c:ser>
          <c:idx val="3"/>
          <c:order val="3"/>
          <c:tx>
            <c:v>Loss 46</c:v>
          </c:tx>
          <c:spPr>
            <a:ln w="14288">
              <a:solidFill>
                <a:srgbClr val="DAE5EE"/>
              </a:solidFill>
            </a:ln>
          </c:spPr>
          <c:marker>
            <c:symbol val="none"/>
          </c:marker>
          <c:xVal>
            <c:numRef>
              <c:f>'Chart Data'!$G$2:$G$98</c:f>
              <c:numCache>
                <c:formatCode>General</c:formatCode>
                <c:ptCount val="97"/>
                <c:pt idx="0">
                  <c:v>4.8284271247500001</c:v>
                </c:pt>
                <c:pt idx="1">
                  <c:v>4.8223712451600003</c:v>
                </c:pt>
                <c:pt idx="2">
                  <c:v>4.8042295385999996</c:v>
                </c:pt>
                <c:pt idx="3">
                  <c:v>4.7740796906399998</c:v>
                </c:pt>
                <c:pt idx="4">
                  <c:v>4.7320508075700003</c:v>
                </c:pt>
                <c:pt idx="5">
                  <c:v>4.6783228635</c:v>
                </c:pt>
                <c:pt idx="6">
                  <c:v>4.6131259297499998</c:v>
                </c:pt>
                <c:pt idx="7">
                  <c:v>4.5367391896000004</c:v>
                </c:pt>
                <c:pt idx="8">
                  <c:v>4.44948974278</c:v>
                </c:pt>
                <c:pt idx="9">
                  <c:v>4.3517512048400002</c:v>
                </c:pt>
                <c:pt idx="10">
                  <c:v>4.2439421071899996</c:v>
                </c:pt>
                <c:pt idx="11">
                  <c:v>4.1265241049399997</c:v>
                </c:pt>
                <c:pt idx="12">
                  <c:v>4</c:v>
                </c:pt>
                <c:pt idx="13">
                  <c:v>3.86491158802</c:v>
                </c:pt>
                <c:pt idx="14">
                  <c:v>3.7218373383099999</c:v>
                </c:pt>
                <c:pt idx="15">
                  <c:v>3.5713899167699998</c:v>
                </c:pt>
                <c:pt idx="16">
                  <c:v>3.4142135623700001</c:v>
                </c:pt>
                <c:pt idx="17">
                  <c:v>3.25098132838</c:v>
                </c:pt>
                <c:pt idx="18">
                  <c:v>3.0823922002900002</c:v>
                </c:pt>
                <c:pt idx="19">
                  <c:v>2.9091681026299998</c:v>
                </c:pt>
                <c:pt idx="20">
                  <c:v>2.7320508075699999</c:v>
                </c:pt>
                <c:pt idx="21">
                  <c:v>2.5517987585699999</c:v>
                </c:pt>
                <c:pt idx="22">
                  <c:v>2.3691838225700002</c:v>
                </c:pt>
                <c:pt idx="23">
                  <c:v>2.1849879847599998</c:v>
                </c:pt>
                <c:pt idx="24">
                  <c:v>2</c:v>
                </c:pt>
                <c:pt idx="25">
                  <c:v>1.81501201524</c:v>
                </c:pt>
                <c:pt idx="26">
                  <c:v>1.6308161774300001</c:v>
                </c:pt>
                <c:pt idx="27">
                  <c:v>1.4482012414300001</c:v>
                </c:pt>
                <c:pt idx="28">
                  <c:v>1.2679491924299999</c:v>
                </c:pt>
                <c:pt idx="29">
                  <c:v>1.09083189737</c:v>
                </c:pt>
                <c:pt idx="30">
                  <c:v>0.91760779970799999</c:v>
                </c:pt>
                <c:pt idx="31">
                  <c:v>0.749018671616</c:v>
                </c:pt>
                <c:pt idx="32">
                  <c:v>0.585786437627</c:v>
                </c:pt>
                <c:pt idx="33">
                  <c:v>0.42861008322600003</c:v>
                </c:pt>
                <c:pt idx="34">
                  <c:v>0.27816266169199999</c:v>
                </c:pt>
                <c:pt idx="35">
                  <c:v>0.13508841198300001</c:v>
                </c:pt>
                <c:pt idx="36">
                  <c:v>0</c:v>
                </c:pt>
                <c:pt idx="37">
                  <c:v>-0.126524104937</c:v>
                </c:pt>
                <c:pt idx="38">
                  <c:v>-0.243942107188</c:v>
                </c:pt>
                <c:pt idx="39">
                  <c:v>-0.35175120483900002</c:v>
                </c:pt>
                <c:pt idx="40">
                  <c:v>-0.44948974278300002</c:v>
                </c:pt>
                <c:pt idx="41">
                  <c:v>-0.53673918959699995</c:v>
                </c:pt>
                <c:pt idx="42">
                  <c:v>-0.61312592975299995</c:v>
                </c:pt>
                <c:pt idx="43">
                  <c:v>-0.67832286350299997</c:v>
                </c:pt>
                <c:pt idx="44">
                  <c:v>-0.73205080756899998</c:v>
                </c:pt>
                <c:pt idx="45">
                  <c:v>-0.77407969064399995</c:v>
                </c:pt>
                <c:pt idx="46">
                  <c:v>-0.80422953860000002</c:v>
                </c:pt>
                <c:pt idx="47">
                  <c:v>-0.82237124515799997</c:v>
                </c:pt>
                <c:pt idx="48">
                  <c:v>-0.828427124746</c:v>
                </c:pt>
                <c:pt idx="49">
                  <c:v>-0.82237124515799997</c:v>
                </c:pt>
                <c:pt idx="50">
                  <c:v>-0.80422953860000002</c:v>
                </c:pt>
                <c:pt idx="51">
                  <c:v>-0.77407969064399995</c:v>
                </c:pt>
                <c:pt idx="52">
                  <c:v>-0.73205080756899998</c:v>
                </c:pt>
                <c:pt idx="53">
                  <c:v>-0.67832286350299997</c:v>
                </c:pt>
                <c:pt idx="54">
                  <c:v>-0.61312592975299995</c:v>
                </c:pt>
                <c:pt idx="55">
                  <c:v>-0.53673918959699995</c:v>
                </c:pt>
                <c:pt idx="56">
                  <c:v>-0.44948974278300002</c:v>
                </c:pt>
                <c:pt idx="57">
                  <c:v>-0.35175120483900002</c:v>
                </c:pt>
                <c:pt idx="58">
                  <c:v>-0.243942107188</c:v>
                </c:pt>
                <c:pt idx="59">
                  <c:v>-0.126524104937</c:v>
                </c:pt>
                <c:pt idx="60">
                  <c:v>-1.3322676295499999E-15</c:v>
                </c:pt>
                <c:pt idx="61">
                  <c:v>0.13508841198300001</c:v>
                </c:pt>
                <c:pt idx="62">
                  <c:v>0.27816266169199999</c:v>
                </c:pt>
                <c:pt idx="63">
                  <c:v>0.42861008322600003</c:v>
                </c:pt>
                <c:pt idx="64">
                  <c:v>0.585786437627</c:v>
                </c:pt>
                <c:pt idx="65">
                  <c:v>0.749018671616</c:v>
                </c:pt>
                <c:pt idx="66">
                  <c:v>0.91760779970799999</c:v>
                </c:pt>
                <c:pt idx="67">
                  <c:v>1.09083189737</c:v>
                </c:pt>
                <c:pt idx="68">
                  <c:v>1.2679491924299999</c:v>
                </c:pt>
                <c:pt idx="69">
                  <c:v>1.4482012414300001</c:v>
                </c:pt>
                <c:pt idx="70">
                  <c:v>1.6308161774300001</c:v>
                </c:pt>
                <c:pt idx="71">
                  <c:v>1.81501201524</c:v>
                </c:pt>
                <c:pt idx="72">
                  <c:v>2</c:v>
                </c:pt>
                <c:pt idx="73">
                  <c:v>2.1849879847599998</c:v>
                </c:pt>
                <c:pt idx="74">
                  <c:v>2.3691838225700002</c:v>
                </c:pt>
                <c:pt idx="75">
                  <c:v>2.5517987585699999</c:v>
                </c:pt>
                <c:pt idx="76">
                  <c:v>2.7320508075699999</c:v>
                </c:pt>
                <c:pt idx="77">
                  <c:v>2.9091681026299998</c:v>
                </c:pt>
                <c:pt idx="78">
                  <c:v>3.0823922002900002</c:v>
                </c:pt>
                <c:pt idx="79">
                  <c:v>3.25098132838</c:v>
                </c:pt>
                <c:pt idx="80">
                  <c:v>3.4142135623700001</c:v>
                </c:pt>
                <c:pt idx="81">
                  <c:v>3.5713899167699998</c:v>
                </c:pt>
                <c:pt idx="82">
                  <c:v>3.7218373383099999</c:v>
                </c:pt>
                <c:pt idx="83">
                  <c:v>3.86491158802</c:v>
                </c:pt>
                <c:pt idx="84">
                  <c:v>4</c:v>
                </c:pt>
                <c:pt idx="85">
                  <c:v>4.1265241049399997</c:v>
                </c:pt>
                <c:pt idx="86">
                  <c:v>4.2439421071899996</c:v>
                </c:pt>
                <c:pt idx="87">
                  <c:v>4.3517512048400002</c:v>
                </c:pt>
                <c:pt idx="88">
                  <c:v>4.44948974278</c:v>
                </c:pt>
                <c:pt idx="89">
                  <c:v>4.5367391896000004</c:v>
                </c:pt>
                <c:pt idx="90">
                  <c:v>4.6131259297499998</c:v>
                </c:pt>
                <c:pt idx="91">
                  <c:v>4.6783228635</c:v>
                </c:pt>
                <c:pt idx="92">
                  <c:v>4.7320508075700003</c:v>
                </c:pt>
                <c:pt idx="93">
                  <c:v>4.7740796906399998</c:v>
                </c:pt>
                <c:pt idx="94">
                  <c:v>4.8042295385999996</c:v>
                </c:pt>
                <c:pt idx="95">
                  <c:v>4.8223712451600003</c:v>
                </c:pt>
                <c:pt idx="96">
                  <c:v>4.8284271247500001</c:v>
                </c:pt>
              </c:numCache>
            </c:numRef>
          </c:xVal>
          <c:yVal>
            <c:numRef>
              <c:f>'Chart Data'!$H$2:$H$98</c:f>
              <c:numCache>
                <c:formatCode>0.##</c:formatCode>
                <c:ptCount val="97"/>
                <c:pt idx="0">
                  <c:v>2</c:v>
                </c:pt>
                <c:pt idx="1">
                  <c:v>2.1308062584599998</c:v>
                </c:pt>
                <c:pt idx="2">
                  <c:v>2.2610523844400001</c:v>
                </c:pt>
                <c:pt idx="3">
                  <c:v>2.39018064403</c:v>
                </c:pt>
                <c:pt idx="4">
                  <c:v>2.5176380902100002</c:v>
                </c:pt>
                <c:pt idx="5">
                  <c:v>2.6428789306099998</c:v>
                </c:pt>
                <c:pt idx="6">
                  <c:v>2.7653668647299998</c:v>
                </c:pt>
                <c:pt idx="7">
                  <c:v>2.8845773804400001</c:v>
                </c:pt>
                <c:pt idx="8">
                  <c:v>3</c:v>
                </c:pt>
                <c:pt idx="9">
                  <c:v>3.1111404660400002</c:v>
                </c:pt>
                <c:pt idx="10">
                  <c:v>3.2175228580200002</c:v>
                </c:pt>
                <c:pt idx="11">
                  <c:v>3.3186916302</c:v>
                </c:pt>
                <c:pt idx="12">
                  <c:v>3.4142135623700001</c:v>
                </c:pt>
                <c:pt idx="13">
                  <c:v>3.5036796149599998</c:v>
                </c:pt>
                <c:pt idx="14">
                  <c:v>3.5867066805799999</c:v>
                </c:pt>
                <c:pt idx="15">
                  <c:v>3.6629392246100001</c:v>
                </c:pt>
                <c:pt idx="16">
                  <c:v>3.7320508075699999</c:v>
                </c:pt>
                <c:pt idx="17">
                  <c:v>3.7937454830699999</c:v>
                </c:pt>
                <c:pt idx="18">
                  <c:v>3.84775906502</c:v>
                </c:pt>
                <c:pt idx="19">
                  <c:v>3.8938602589900002</c:v>
                </c:pt>
                <c:pt idx="20">
                  <c:v>3.9318516525799998</c:v>
                </c:pt>
                <c:pt idx="21">
                  <c:v>3.9615705608099998</c:v>
                </c:pt>
                <c:pt idx="22">
                  <c:v>3.98288972275</c:v>
                </c:pt>
                <c:pt idx="23">
                  <c:v>3.9957178464799998</c:v>
                </c:pt>
                <c:pt idx="24">
                  <c:v>4</c:v>
                </c:pt>
                <c:pt idx="25">
                  <c:v>3.9957178464799998</c:v>
                </c:pt>
                <c:pt idx="26">
                  <c:v>3.98288972275</c:v>
                </c:pt>
                <c:pt idx="27">
                  <c:v>3.9615705608099998</c:v>
                </c:pt>
                <c:pt idx="28">
                  <c:v>3.9318516525799998</c:v>
                </c:pt>
                <c:pt idx="29">
                  <c:v>3.8938602589900002</c:v>
                </c:pt>
                <c:pt idx="30">
                  <c:v>3.84775906502</c:v>
                </c:pt>
                <c:pt idx="31">
                  <c:v>3.7937454830699999</c:v>
                </c:pt>
                <c:pt idx="32">
                  <c:v>3.7320508075699999</c:v>
                </c:pt>
                <c:pt idx="33">
                  <c:v>3.6629392246100001</c:v>
                </c:pt>
                <c:pt idx="34">
                  <c:v>3.5867066805799999</c:v>
                </c:pt>
                <c:pt idx="35">
                  <c:v>3.5036796149599998</c:v>
                </c:pt>
                <c:pt idx="36">
                  <c:v>3.4142135623700001</c:v>
                </c:pt>
                <c:pt idx="37">
                  <c:v>3.3186916302</c:v>
                </c:pt>
                <c:pt idx="38">
                  <c:v>3.2175228580200002</c:v>
                </c:pt>
                <c:pt idx="39">
                  <c:v>3.1111404660400002</c:v>
                </c:pt>
                <c:pt idx="40">
                  <c:v>3</c:v>
                </c:pt>
                <c:pt idx="41">
                  <c:v>2.8845773804400001</c:v>
                </c:pt>
                <c:pt idx="42">
                  <c:v>2.7653668647299998</c:v>
                </c:pt>
                <c:pt idx="43">
                  <c:v>2.6428789306099998</c:v>
                </c:pt>
                <c:pt idx="44">
                  <c:v>2.5176380902100002</c:v>
                </c:pt>
                <c:pt idx="45">
                  <c:v>2.39018064403</c:v>
                </c:pt>
                <c:pt idx="46">
                  <c:v>2.2610523844400001</c:v>
                </c:pt>
                <c:pt idx="47">
                  <c:v>2.1308062584599998</c:v>
                </c:pt>
                <c:pt idx="48">
                  <c:v>2</c:v>
                </c:pt>
                <c:pt idx="49">
                  <c:v>1.86919374154</c:v>
                </c:pt>
                <c:pt idx="50">
                  <c:v>1.7389476155600001</c:v>
                </c:pt>
                <c:pt idx="51">
                  <c:v>1.60981935597</c:v>
                </c:pt>
                <c:pt idx="52">
                  <c:v>1.48236190979</c:v>
                </c:pt>
                <c:pt idx="53">
                  <c:v>1.35712106939</c:v>
                </c:pt>
                <c:pt idx="54">
                  <c:v>1.23463313527</c:v>
                </c:pt>
                <c:pt idx="55">
                  <c:v>1.1154226195600001</c:v>
                </c:pt>
                <c:pt idx="56">
                  <c:v>1</c:v>
                </c:pt>
                <c:pt idx="57">
                  <c:v>0.88885953396100004</c:v>
                </c:pt>
                <c:pt idx="58">
                  <c:v>0.782477141983</c:v>
                </c:pt>
                <c:pt idx="59">
                  <c:v>0.68130836979999998</c:v>
                </c:pt>
                <c:pt idx="60">
                  <c:v>0.585786437627</c:v>
                </c:pt>
                <c:pt idx="61">
                  <c:v>0.49632038504199999</c:v>
                </c:pt>
                <c:pt idx="62">
                  <c:v>0.41329331941800002</c:v>
                </c:pt>
                <c:pt idx="63">
                  <c:v>0.33706077539500001</c:v>
                </c:pt>
                <c:pt idx="64">
                  <c:v>0.26794919243100002</c:v>
                </c:pt>
                <c:pt idx="65">
                  <c:v>0.20625451693499999</c:v>
                </c:pt>
                <c:pt idx="66">
                  <c:v>0.152240934977</c:v>
                </c:pt>
                <c:pt idx="67">
                  <c:v>0.10613974101</c:v>
                </c:pt>
                <c:pt idx="68">
                  <c:v>6.8148347421899999E-2</c:v>
                </c:pt>
                <c:pt idx="69">
                  <c:v>3.8429439193499997E-2</c:v>
                </c:pt>
                <c:pt idx="70">
                  <c:v>1.71102772524E-2</c:v>
                </c:pt>
                <c:pt idx="71">
                  <c:v>4.28215352279E-3</c:v>
                </c:pt>
                <c:pt idx="72">
                  <c:v>0</c:v>
                </c:pt>
                <c:pt idx="73">
                  <c:v>4.28215352279E-3</c:v>
                </c:pt>
                <c:pt idx="74">
                  <c:v>1.71102772524E-2</c:v>
                </c:pt>
                <c:pt idx="75">
                  <c:v>3.8429439193499997E-2</c:v>
                </c:pt>
                <c:pt idx="76">
                  <c:v>6.8148347421899999E-2</c:v>
                </c:pt>
                <c:pt idx="77">
                  <c:v>0.10613974101</c:v>
                </c:pt>
                <c:pt idx="78">
                  <c:v>0.152240934977</c:v>
                </c:pt>
                <c:pt idx="79">
                  <c:v>0.20625451693499999</c:v>
                </c:pt>
                <c:pt idx="80">
                  <c:v>0.26794919243100002</c:v>
                </c:pt>
                <c:pt idx="81">
                  <c:v>0.33706077539500001</c:v>
                </c:pt>
                <c:pt idx="82">
                  <c:v>0.41329331941800002</c:v>
                </c:pt>
                <c:pt idx="83">
                  <c:v>0.49632038504199999</c:v>
                </c:pt>
                <c:pt idx="84">
                  <c:v>0.585786437627</c:v>
                </c:pt>
                <c:pt idx="85">
                  <c:v>0.68130836979999998</c:v>
                </c:pt>
                <c:pt idx="86">
                  <c:v>0.782477141983</c:v>
                </c:pt>
                <c:pt idx="87">
                  <c:v>0.88885953396100004</c:v>
                </c:pt>
                <c:pt idx="88">
                  <c:v>1</c:v>
                </c:pt>
                <c:pt idx="89">
                  <c:v>1.1154226195600001</c:v>
                </c:pt>
                <c:pt idx="90">
                  <c:v>1.23463313527</c:v>
                </c:pt>
                <c:pt idx="91">
                  <c:v>1.35712106939</c:v>
                </c:pt>
                <c:pt idx="92">
                  <c:v>1.48236190979</c:v>
                </c:pt>
                <c:pt idx="93">
                  <c:v>1.60981935597</c:v>
                </c:pt>
                <c:pt idx="94">
                  <c:v>1.7389476155600001</c:v>
                </c:pt>
                <c:pt idx="95">
                  <c:v>1.86919374154</c:v>
                </c:pt>
                <c:pt idx="96">
                  <c:v>2</c:v>
                </c:pt>
              </c:numCache>
            </c:numRef>
          </c:yVal>
          <c:smooth val="0"/>
          <c:extLst>
            <c:ext xmlns:c16="http://schemas.microsoft.com/office/drawing/2014/chart" uri="{C3380CC4-5D6E-409C-BE32-E72D297353CC}">
              <c16:uniqueId val="{00000003-52F4-4F69-911B-43B5EABAC322}"/>
            </c:ext>
          </c:extLst>
        </c:ser>
        <c:ser>
          <c:idx val="4"/>
          <c:order val="4"/>
          <c:tx>
            <c:v>Loss 66</c:v>
          </c:tx>
          <c:spPr>
            <a:ln w="14288">
              <a:solidFill>
                <a:srgbClr val="DAE5EE"/>
              </a:solidFill>
            </a:ln>
          </c:spPr>
          <c:marker>
            <c:symbol val="none"/>
          </c:marker>
          <c:xVal>
            <c:numRef>
              <c:f>'Chart Data'!$I$2:$I$98</c:f>
              <c:numCache>
                <c:formatCode>General</c:formatCode>
                <c:ptCount val="97"/>
                <c:pt idx="0">
                  <c:v>5.4641016151399997</c:v>
                </c:pt>
                <c:pt idx="1">
                  <c:v>5.45668470767</c:v>
                </c:pt>
                <c:pt idx="2">
                  <c:v>5.4344657456099998</c:v>
                </c:pt>
                <c:pt idx="3">
                  <c:v>5.3975398739499996</c:v>
                </c:pt>
                <c:pt idx="4">
                  <c:v>5.3460652149500003</c:v>
                </c:pt>
                <c:pt idx="5">
                  <c:v>5.2802621910100003</c:v>
                </c:pt>
                <c:pt idx="6">
                  <c:v>5.2004125807700001</c:v>
                </c:pt>
                <c:pt idx="7">
                  <c:v>5.10685831252</c:v>
                </c:pt>
                <c:pt idx="8">
                  <c:v>5</c:v>
                </c:pt>
                <c:pt idx="9">
                  <c:v>4.8802952269200004</c:v>
                </c:pt>
                <c:pt idx="10">
                  <c:v>4.7482565874800002</c:v>
                </c:pt>
                <c:pt idx="11">
                  <c:v>4.6044494914099996</c:v>
                </c:pt>
                <c:pt idx="12">
                  <c:v>4.44948974278</c:v>
                </c:pt>
                <c:pt idx="13">
                  <c:v>4.2840409030200002</c:v>
                </c:pt>
                <c:pt idx="14">
                  <c:v>4.1088114494600001</c:v>
                </c:pt>
                <c:pt idx="15">
                  <c:v>3.9245517415300002</c:v>
                </c:pt>
                <c:pt idx="16">
                  <c:v>3.7320508075699999</c:v>
                </c:pt>
                <c:pt idx="17">
                  <c:v>3.5321329661399998</c:v>
                </c:pt>
                <c:pt idx="18">
                  <c:v>3.3256542961400002</c:v>
                </c:pt>
                <c:pt idx="19">
                  <c:v>3.1134989709299998</c:v>
                </c:pt>
                <c:pt idx="20">
                  <c:v>2.8965754721699999</c:v>
                </c:pt>
                <c:pt idx="21">
                  <c:v>2.6758126995899998</c:v>
                </c:pt>
                <c:pt idx="22">
                  <c:v>2.4521559932899999</c:v>
                </c:pt>
                <c:pt idx="23">
                  <c:v>2.2265630856</c:v>
                </c:pt>
                <c:pt idx="24">
                  <c:v>2</c:v>
                </c:pt>
                <c:pt idx="25">
                  <c:v>1.7734369144</c:v>
                </c:pt>
                <c:pt idx="26">
                  <c:v>1.5478440067100001</c:v>
                </c:pt>
                <c:pt idx="27">
                  <c:v>1.32418730041</c:v>
                </c:pt>
                <c:pt idx="28">
                  <c:v>1.1034245278299999</c:v>
                </c:pt>
                <c:pt idx="29">
                  <c:v>0.88650102907399997</c:v>
                </c:pt>
                <c:pt idx="30">
                  <c:v>0.67434570385799997</c:v>
                </c:pt>
                <c:pt idx="31">
                  <c:v>0.467867033855</c:v>
                </c:pt>
                <c:pt idx="32">
                  <c:v>0.26794919243100002</c:v>
                </c:pt>
                <c:pt idx="33">
                  <c:v>7.5448258474300006E-2</c:v>
                </c:pt>
                <c:pt idx="34">
                  <c:v>-0.108811449463</c:v>
                </c:pt>
                <c:pt idx="35">
                  <c:v>-0.28404090302200002</c:v>
                </c:pt>
                <c:pt idx="36">
                  <c:v>-0.44948974278300002</c:v>
                </c:pt>
                <c:pt idx="37">
                  <c:v>-0.60444949141299997</c:v>
                </c:pt>
                <c:pt idx="38">
                  <c:v>-0.74825658747799995</c:v>
                </c:pt>
                <c:pt idx="39">
                  <c:v>-0.88029522691499995</c:v>
                </c:pt>
                <c:pt idx="40">
                  <c:v>-1</c:v>
                </c:pt>
                <c:pt idx="41">
                  <c:v>-1.10685831252</c:v>
                </c:pt>
                <c:pt idx="42">
                  <c:v>-1.2004125807699999</c:v>
                </c:pt>
                <c:pt idx="43">
                  <c:v>-1.2802621910100001</c:v>
                </c:pt>
                <c:pt idx="44">
                  <c:v>-1.3460652149500001</c:v>
                </c:pt>
                <c:pt idx="45">
                  <c:v>-1.39753987395</c:v>
                </c:pt>
                <c:pt idx="46">
                  <c:v>-1.4344657456100001</c:v>
                </c:pt>
                <c:pt idx="47">
                  <c:v>-1.45668470767</c:v>
                </c:pt>
                <c:pt idx="48">
                  <c:v>-1.4641016151399999</c:v>
                </c:pt>
                <c:pt idx="49">
                  <c:v>-1.45668470767</c:v>
                </c:pt>
                <c:pt idx="50">
                  <c:v>-1.4344657456100001</c:v>
                </c:pt>
                <c:pt idx="51">
                  <c:v>-1.39753987395</c:v>
                </c:pt>
                <c:pt idx="52">
                  <c:v>-1.3460652149500001</c:v>
                </c:pt>
                <c:pt idx="53">
                  <c:v>-1.2802621910100001</c:v>
                </c:pt>
                <c:pt idx="54">
                  <c:v>-1.2004125807699999</c:v>
                </c:pt>
                <c:pt idx="55">
                  <c:v>-1.10685831252</c:v>
                </c:pt>
                <c:pt idx="56">
                  <c:v>-1</c:v>
                </c:pt>
                <c:pt idx="57">
                  <c:v>-0.88029522691499995</c:v>
                </c:pt>
                <c:pt idx="58">
                  <c:v>-0.74825658747799995</c:v>
                </c:pt>
                <c:pt idx="59">
                  <c:v>-0.60444949141299997</c:v>
                </c:pt>
                <c:pt idx="60">
                  <c:v>-0.44948974278300002</c:v>
                </c:pt>
                <c:pt idx="61">
                  <c:v>-0.28404090302200002</c:v>
                </c:pt>
                <c:pt idx="62">
                  <c:v>-0.108811449463</c:v>
                </c:pt>
                <c:pt idx="63">
                  <c:v>7.5448258474300006E-2</c:v>
                </c:pt>
                <c:pt idx="64">
                  <c:v>0.26794919243100002</c:v>
                </c:pt>
                <c:pt idx="65">
                  <c:v>0.467867033855</c:v>
                </c:pt>
                <c:pt idx="66">
                  <c:v>0.67434570385799997</c:v>
                </c:pt>
                <c:pt idx="67">
                  <c:v>0.88650102907399997</c:v>
                </c:pt>
                <c:pt idx="68">
                  <c:v>1.1034245278299999</c:v>
                </c:pt>
                <c:pt idx="69">
                  <c:v>1.32418730041</c:v>
                </c:pt>
                <c:pt idx="70">
                  <c:v>1.5478440067100001</c:v>
                </c:pt>
                <c:pt idx="71">
                  <c:v>1.7734369144</c:v>
                </c:pt>
                <c:pt idx="72">
                  <c:v>2</c:v>
                </c:pt>
                <c:pt idx="73">
                  <c:v>2.2265630856</c:v>
                </c:pt>
                <c:pt idx="74">
                  <c:v>2.4521559932899999</c:v>
                </c:pt>
                <c:pt idx="75">
                  <c:v>2.6758126995899998</c:v>
                </c:pt>
                <c:pt idx="76">
                  <c:v>2.8965754721699999</c:v>
                </c:pt>
                <c:pt idx="77">
                  <c:v>3.1134989709299998</c:v>
                </c:pt>
                <c:pt idx="78">
                  <c:v>3.3256542961400002</c:v>
                </c:pt>
                <c:pt idx="79">
                  <c:v>3.5321329661399998</c:v>
                </c:pt>
                <c:pt idx="80">
                  <c:v>3.7320508075699999</c:v>
                </c:pt>
                <c:pt idx="81">
                  <c:v>3.9245517415300002</c:v>
                </c:pt>
                <c:pt idx="82">
                  <c:v>4.1088114494600001</c:v>
                </c:pt>
                <c:pt idx="83">
                  <c:v>4.2840409030200002</c:v>
                </c:pt>
                <c:pt idx="84">
                  <c:v>4.44948974278</c:v>
                </c:pt>
                <c:pt idx="85">
                  <c:v>4.6044494914099996</c:v>
                </c:pt>
                <c:pt idx="86">
                  <c:v>4.7482565874800002</c:v>
                </c:pt>
                <c:pt idx="87">
                  <c:v>4.8802952269200004</c:v>
                </c:pt>
                <c:pt idx="88">
                  <c:v>5</c:v>
                </c:pt>
                <c:pt idx="89">
                  <c:v>5.10685831252</c:v>
                </c:pt>
                <c:pt idx="90">
                  <c:v>5.2004125807700001</c:v>
                </c:pt>
                <c:pt idx="91">
                  <c:v>5.2802621910100003</c:v>
                </c:pt>
                <c:pt idx="92">
                  <c:v>5.3460652149500003</c:v>
                </c:pt>
                <c:pt idx="93">
                  <c:v>5.3975398739499996</c:v>
                </c:pt>
                <c:pt idx="94">
                  <c:v>5.4344657456099998</c:v>
                </c:pt>
                <c:pt idx="95">
                  <c:v>5.45668470767</c:v>
                </c:pt>
                <c:pt idx="96">
                  <c:v>5.4641016151399997</c:v>
                </c:pt>
              </c:numCache>
            </c:numRef>
          </c:xVal>
          <c:yVal>
            <c:numRef>
              <c:f>'Chart Data'!$J$2:$J$98</c:f>
              <c:numCache>
                <c:formatCode>0.##</c:formatCode>
                <c:ptCount val="97"/>
                <c:pt idx="0">
                  <c:v>2</c:v>
                </c:pt>
                <c:pt idx="1">
                  <c:v>2.1602042942000002</c:v>
                </c:pt>
                <c:pt idx="2">
                  <c:v>2.3197225690100001</c:v>
                </c:pt>
                <c:pt idx="3">
                  <c:v>2.4778717426900001</c:v>
                </c:pt>
                <c:pt idx="4">
                  <c:v>2.6339745962199999</c:v>
                </c:pt>
                <c:pt idx="5">
                  <c:v>2.7873626731900001</c:v>
                </c:pt>
                <c:pt idx="6">
                  <c:v>2.9373791423100002</c:v>
                </c:pt>
                <c:pt idx="7">
                  <c:v>3.08338161004</c:v>
                </c:pt>
                <c:pt idx="8">
                  <c:v>3.22474487139</c:v>
                </c:pt>
                <c:pt idx="9">
                  <c:v>3.3608635871799999</c:v>
                </c:pt>
                <c:pt idx="10">
                  <c:v>3.49115487616</c:v>
                </c:pt>
                <c:pt idx="11">
                  <c:v>3.6150608110300002</c:v>
                </c:pt>
                <c:pt idx="12">
                  <c:v>3.7320508075699999</c:v>
                </c:pt>
                <c:pt idx="13">
                  <c:v>3.8416238966399998</c:v>
                </c:pt>
                <c:pt idx="14">
                  <c:v>3.9433108694499999</c:v>
                </c:pt>
                <c:pt idx="15">
                  <c:v>4.0366762867699997</c:v>
                </c:pt>
                <c:pt idx="16">
                  <c:v>4.1213203435599999</c:v>
                </c:pt>
                <c:pt idx="17">
                  <c:v>4.1968805809700003</c:v>
                </c:pt>
                <c:pt idx="18">
                  <c:v>4.2630334384499999</c:v>
                </c:pt>
                <c:pt idx="19">
                  <c:v>4.3194956393300004</c:v>
                </c:pt>
                <c:pt idx="20">
                  <c:v>4.3660254037800001</c:v>
                </c:pt>
                <c:pt idx="21">
                  <c:v>4.4024234842199998</c:v>
                </c:pt>
                <c:pt idx="22">
                  <c:v>4.4285340184699997</c:v>
                </c:pt>
                <c:pt idx="23">
                  <c:v>4.4442451972199999</c:v>
                </c:pt>
                <c:pt idx="24">
                  <c:v>4.44948974278</c:v>
                </c:pt>
                <c:pt idx="25">
                  <c:v>4.4442451972199999</c:v>
                </c:pt>
                <c:pt idx="26">
                  <c:v>4.4285340184699997</c:v>
                </c:pt>
                <c:pt idx="27">
                  <c:v>4.4024234842199998</c:v>
                </c:pt>
                <c:pt idx="28">
                  <c:v>4.3660254037800001</c:v>
                </c:pt>
                <c:pt idx="29">
                  <c:v>4.3194956393300004</c:v>
                </c:pt>
                <c:pt idx="30">
                  <c:v>4.2630334384499999</c:v>
                </c:pt>
                <c:pt idx="31">
                  <c:v>4.1968805809700003</c:v>
                </c:pt>
                <c:pt idx="32">
                  <c:v>4.1213203435599999</c:v>
                </c:pt>
                <c:pt idx="33">
                  <c:v>4.0366762867699997</c:v>
                </c:pt>
                <c:pt idx="34">
                  <c:v>3.9433108694499999</c:v>
                </c:pt>
                <c:pt idx="35">
                  <c:v>3.8416238966399998</c:v>
                </c:pt>
                <c:pt idx="36">
                  <c:v>3.7320508075699999</c:v>
                </c:pt>
                <c:pt idx="37">
                  <c:v>3.6150608110300002</c:v>
                </c:pt>
                <c:pt idx="38">
                  <c:v>3.49115487616</c:v>
                </c:pt>
                <c:pt idx="39">
                  <c:v>3.3608635871799999</c:v>
                </c:pt>
                <c:pt idx="40">
                  <c:v>3.22474487139</c:v>
                </c:pt>
                <c:pt idx="41">
                  <c:v>3.08338161004</c:v>
                </c:pt>
                <c:pt idx="42">
                  <c:v>2.9373791423100002</c:v>
                </c:pt>
                <c:pt idx="43">
                  <c:v>2.7873626731900001</c:v>
                </c:pt>
                <c:pt idx="44">
                  <c:v>2.6339745962199999</c:v>
                </c:pt>
                <c:pt idx="45">
                  <c:v>2.4778717426900001</c:v>
                </c:pt>
                <c:pt idx="46">
                  <c:v>2.3197225690100001</c:v>
                </c:pt>
                <c:pt idx="47">
                  <c:v>2.1602042942000002</c:v>
                </c:pt>
                <c:pt idx="48">
                  <c:v>2</c:v>
                </c:pt>
                <c:pt idx="49">
                  <c:v>1.8397957058000001</c:v>
                </c:pt>
                <c:pt idx="50">
                  <c:v>1.6802774309899999</c:v>
                </c:pt>
                <c:pt idx="51">
                  <c:v>1.5221282573099999</c:v>
                </c:pt>
                <c:pt idx="52">
                  <c:v>1.3660254037799999</c:v>
                </c:pt>
                <c:pt idx="53">
                  <c:v>1.2126373268099999</c:v>
                </c:pt>
                <c:pt idx="54">
                  <c:v>1.06262085769</c:v>
                </c:pt>
                <c:pt idx="55">
                  <c:v>0.91661838996</c:v>
                </c:pt>
                <c:pt idx="56">
                  <c:v>0.77525512860800005</c:v>
                </c:pt>
                <c:pt idx="57">
                  <c:v>0.63913641282300004</c:v>
                </c:pt>
                <c:pt idx="58">
                  <c:v>0.508845123841</c:v>
                </c:pt>
                <c:pt idx="59">
                  <c:v>0.38493918896500001</c:v>
                </c:pt>
                <c:pt idx="60">
                  <c:v>0.26794919243100002</c:v>
                </c:pt>
                <c:pt idx="61">
                  <c:v>0.15837610336399999</c:v>
                </c:pt>
                <c:pt idx="62">
                  <c:v>5.6689130553800003E-2</c:v>
                </c:pt>
                <c:pt idx="63">
                  <c:v>-3.6676286771000002E-2</c:v>
                </c:pt>
                <c:pt idx="64">
                  <c:v>-0.12132034356</c:v>
                </c:pt>
                <c:pt idx="65">
                  <c:v>-0.196880580966</c:v>
                </c:pt>
                <c:pt idx="66">
                  <c:v>-0.26303343845400001</c:v>
                </c:pt>
                <c:pt idx="67">
                  <c:v>-0.319495639331</c:v>
                </c:pt>
                <c:pt idx="68">
                  <c:v>-0.366025403784</c:v>
                </c:pt>
                <c:pt idx="69">
                  <c:v>-0.40242348422000002</c:v>
                </c:pt>
                <c:pt idx="70">
                  <c:v>-0.42853401847</c:v>
                </c:pt>
                <c:pt idx="71">
                  <c:v>-0.44424519721799999</c:v>
                </c:pt>
                <c:pt idx="72">
                  <c:v>-0.44948974278300002</c:v>
                </c:pt>
                <c:pt idx="73">
                  <c:v>-0.44424519721799999</c:v>
                </c:pt>
                <c:pt idx="74">
                  <c:v>-0.42853401847</c:v>
                </c:pt>
                <c:pt idx="75">
                  <c:v>-0.40242348422000002</c:v>
                </c:pt>
                <c:pt idx="76">
                  <c:v>-0.366025403784</c:v>
                </c:pt>
                <c:pt idx="77">
                  <c:v>-0.319495639331</c:v>
                </c:pt>
                <c:pt idx="78">
                  <c:v>-0.26303343845400001</c:v>
                </c:pt>
                <c:pt idx="79">
                  <c:v>-0.196880580966</c:v>
                </c:pt>
                <c:pt idx="80">
                  <c:v>-0.12132034356</c:v>
                </c:pt>
                <c:pt idx="81">
                  <c:v>-3.6676286771000002E-2</c:v>
                </c:pt>
                <c:pt idx="82">
                  <c:v>5.6689130553800003E-2</c:v>
                </c:pt>
                <c:pt idx="83">
                  <c:v>0.15837610336399999</c:v>
                </c:pt>
                <c:pt idx="84">
                  <c:v>0.26794919243100002</c:v>
                </c:pt>
                <c:pt idx="85">
                  <c:v>0.38493918896500001</c:v>
                </c:pt>
                <c:pt idx="86">
                  <c:v>0.508845123841</c:v>
                </c:pt>
                <c:pt idx="87">
                  <c:v>0.63913641282300004</c:v>
                </c:pt>
                <c:pt idx="88">
                  <c:v>0.77525512860800005</c:v>
                </c:pt>
                <c:pt idx="89">
                  <c:v>0.91661838996</c:v>
                </c:pt>
                <c:pt idx="90">
                  <c:v>1.06262085769</c:v>
                </c:pt>
                <c:pt idx="91">
                  <c:v>1.2126373268099999</c:v>
                </c:pt>
                <c:pt idx="92">
                  <c:v>1.3660254037799999</c:v>
                </c:pt>
                <c:pt idx="93">
                  <c:v>1.5221282573099999</c:v>
                </c:pt>
                <c:pt idx="94">
                  <c:v>1.6802774309899999</c:v>
                </c:pt>
                <c:pt idx="95">
                  <c:v>1.8397957058000001</c:v>
                </c:pt>
                <c:pt idx="96">
                  <c:v>2</c:v>
                </c:pt>
              </c:numCache>
            </c:numRef>
          </c:yVal>
          <c:smooth val="0"/>
          <c:extLst>
            <c:ext xmlns:c16="http://schemas.microsoft.com/office/drawing/2014/chart" uri="{C3380CC4-5D6E-409C-BE32-E72D297353CC}">
              <c16:uniqueId val="{00000004-52F4-4F69-911B-43B5EABAC322}"/>
            </c:ext>
          </c:extLst>
        </c:ser>
        <c:ser>
          <c:idx val="5"/>
          <c:order val="5"/>
          <c:tx>
            <c:v>Iterates</c:v>
          </c:tx>
          <c:spPr>
            <a:ln w="28575">
              <a:solidFill>
                <a:srgbClr val="C45C28"/>
              </a:solidFill>
            </a:ln>
          </c:spPr>
          <c:marker>
            <c:symbol val="none"/>
          </c:marker>
          <c:xVal>
            <c:numRef>
              <c:f>'Chart Data'!$K$2:$K$4</c:f>
              <c:numCache>
                <c:formatCode>General</c:formatCode>
                <c:ptCount val="3"/>
                <c:pt idx="0">
                  <c:v>0</c:v>
                </c:pt>
                <c:pt idx="1">
                  <c:v>0.8</c:v>
                </c:pt>
                <c:pt idx="2">
                  <c:v>1.28</c:v>
                </c:pt>
              </c:numCache>
            </c:numRef>
          </c:xVal>
          <c:yVal>
            <c:numRef>
              <c:f>'Chart Data'!$L$2:$L$4</c:f>
              <c:numCache>
                <c:formatCode>0.##</c:formatCode>
                <c:ptCount val="3"/>
                <c:pt idx="0">
                  <c:v>0</c:v>
                </c:pt>
                <c:pt idx="1">
                  <c:v>1.6</c:v>
                </c:pt>
                <c:pt idx="2">
                  <c:v>1.92</c:v>
                </c:pt>
              </c:numCache>
            </c:numRef>
          </c:yVal>
          <c:smooth val="0"/>
          <c:extLst>
            <c:ext xmlns:c16="http://schemas.microsoft.com/office/drawing/2014/chart" uri="{C3380CC4-5D6E-409C-BE32-E72D297353CC}">
              <c16:uniqueId val="{00000005-52F4-4F69-911B-43B5EABAC322}"/>
            </c:ext>
          </c:extLst>
        </c:ser>
        <c:ser>
          <c:idx val="6"/>
          <c:order val="6"/>
          <c:tx>
            <c:v>Previous iterates</c:v>
          </c:tx>
          <c:spPr>
            <a:ln w="0">
              <a:noFill/>
            </a:ln>
          </c:spPr>
          <c:marker>
            <c:symbol val="circle"/>
            <c:size val="6"/>
            <c:spPr>
              <a:solidFill>
                <a:srgbClr val="C45C28"/>
              </a:solidFill>
              <a:ln w="12700">
                <a:solidFill>
                  <a:srgbClr val="C45C28"/>
                </a:solidFill>
              </a:ln>
            </c:spPr>
          </c:marker>
          <c:xVal>
            <c:numRef>
              <c:f>'Chart Data'!$M$2:$M$4</c:f>
              <c:numCache>
                <c:formatCode>General</c:formatCode>
                <c:ptCount val="3"/>
                <c:pt idx="0">
                  <c:v>0</c:v>
                </c:pt>
                <c:pt idx="1">
                  <c:v>0.8</c:v>
                </c:pt>
                <c:pt idx="2">
                  <c:v>1.28</c:v>
                </c:pt>
              </c:numCache>
            </c:numRef>
          </c:xVal>
          <c:yVal>
            <c:numRef>
              <c:f>'Chart Data'!$N$2:$N$4</c:f>
              <c:numCache>
                <c:formatCode>0.##</c:formatCode>
                <c:ptCount val="3"/>
                <c:pt idx="0">
                  <c:v>0</c:v>
                </c:pt>
                <c:pt idx="1">
                  <c:v>1.6</c:v>
                </c:pt>
                <c:pt idx="2">
                  <c:v>1.92</c:v>
                </c:pt>
              </c:numCache>
            </c:numRef>
          </c:yVal>
          <c:smooth val="0"/>
          <c:extLst>
            <c:ext xmlns:c16="http://schemas.microsoft.com/office/drawing/2014/chart" uri="{C3380CC4-5D6E-409C-BE32-E72D297353CC}">
              <c16:uniqueId val="{00000006-52F4-4F69-911B-43B5EABAC322}"/>
            </c:ext>
          </c:extLst>
        </c:ser>
        <c:ser>
          <c:idx val="7"/>
          <c:order val="7"/>
          <c:tx>
            <c:v>Minimum</c:v>
          </c:tx>
          <c:spPr>
            <a:ln w="0">
              <a:noFill/>
            </a:ln>
          </c:spPr>
          <c:marker>
            <c:symbol val="circle"/>
            <c:size val="10"/>
            <c:spPr>
              <a:solidFill>
                <a:srgbClr val="087F83"/>
              </a:solidFill>
              <a:ln w="12700">
                <a:solidFill>
                  <a:srgbClr val="087F83"/>
                </a:solidFill>
              </a:ln>
            </c:spPr>
          </c:marker>
          <c:xVal>
            <c:numRef>
              <c:f>'Chart Data'!$O$2:$O$2</c:f>
              <c:numCache>
                <c:formatCode>General</c:formatCode>
                <c:ptCount val="1"/>
                <c:pt idx="0">
                  <c:v>2</c:v>
                </c:pt>
              </c:numCache>
            </c:numRef>
          </c:xVal>
          <c:yVal>
            <c:numRef>
              <c:f>'Chart Data'!$P$2:$P$2</c:f>
              <c:numCache>
                <c:formatCode>0.##</c:formatCode>
                <c:ptCount val="1"/>
                <c:pt idx="0">
                  <c:v>2</c:v>
                </c:pt>
              </c:numCache>
            </c:numRef>
          </c:yVal>
          <c:smooth val="0"/>
          <c:extLst>
            <c:ext xmlns:c16="http://schemas.microsoft.com/office/drawing/2014/chart" uri="{C3380CC4-5D6E-409C-BE32-E72D297353CC}">
              <c16:uniqueId val="{00000007-52F4-4F69-911B-43B5EABAC322}"/>
            </c:ext>
          </c:extLst>
        </c:ser>
        <c:ser>
          <c:idx val="8"/>
          <c:order val="8"/>
          <c:tx>
            <c:v>Current iterate</c:v>
          </c:tx>
          <c:spPr>
            <a:ln w="0">
              <a:noFill/>
            </a:ln>
          </c:spPr>
          <c:marker>
            <c:symbol val="circle"/>
            <c:size val="11"/>
            <c:spPr>
              <a:solidFill>
                <a:srgbClr val="C45C28"/>
              </a:solidFill>
              <a:ln w="12700">
                <a:solidFill>
                  <a:srgbClr val="C45C28"/>
                </a:solidFill>
              </a:ln>
            </c:spPr>
          </c:marker>
          <c:xVal>
            <c:numRef>
              <c:f>'Chart Data'!$Q$2:$Q$2</c:f>
              <c:numCache>
                <c:formatCode>General</c:formatCode>
                <c:ptCount val="1"/>
                <c:pt idx="0">
                  <c:v>1.28</c:v>
                </c:pt>
              </c:numCache>
            </c:numRef>
          </c:xVal>
          <c:yVal>
            <c:numRef>
              <c:f>'Chart Data'!$R$2:$R$2</c:f>
              <c:numCache>
                <c:formatCode>0.##</c:formatCode>
                <c:ptCount val="1"/>
                <c:pt idx="0">
                  <c:v>1.92</c:v>
                </c:pt>
              </c:numCache>
            </c:numRef>
          </c:yVal>
          <c:smooth val="0"/>
          <c:extLst>
            <c:ext xmlns:c16="http://schemas.microsoft.com/office/drawing/2014/chart" uri="{C3380CC4-5D6E-409C-BE32-E72D297353CC}">
              <c16:uniqueId val="{00000008-52F4-4F69-911B-43B5EABAC322}"/>
            </c:ext>
          </c:extLst>
        </c:ser>
        <c:dLbls>
          <c:showLegendKey val="0"/>
          <c:showVal val="0"/>
          <c:showCatName val="0"/>
          <c:showSerName val="0"/>
          <c:showPercent val="0"/>
          <c:showBubbleSize val="0"/>
        </c:dLbls>
        <c:axId val="48650112"/>
        <c:axId val="48672768"/>
      </c:scatterChart>
      <c:valAx>
        <c:axId val="48672768"/>
        <c:scaling>
          <c:orientation val="minMax"/>
          <c:max val="3.5"/>
          <c:min val="-0.5"/>
        </c:scaling>
        <c:delete val="0"/>
        <c:axPos val="l"/>
        <c:majorGridlines>
          <c:spPr>
            <a:ln w="9525">
              <a:solidFill>
                <a:srgbClr val="E8EDF2"/>
              </a:solidFill>
            </a:ln>
          </c:spPr>
        </c:majorGridlines>
        <c:title>
          <c:tx>
            <c:rich>
              <a:bodyPr/>
              <a:lstStyle/>
              <a:p>
                <a:r>
                  <a:rPr lang="it-IT">
                    <a:latin typeface="DejaVu Sans"/>
                    <a:ea typeface="DejaVu Sans"/>
                    <a:cs typeface="DejaVu Sans"/>
                  </a:rPr>
                  <a:t>Slope a</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1"/>
      </c:valAx>
      <c:valAx>
        <c:axId val="48650112"/>
        <c:scaling>
          <c:orientation val="minMax"/>
          <c:max val="4.5"/>
          <c:min val="-0.5"/>
        </c:scaling>
        <c:delete val="0"/>
        <c:axPos val="b"/>
        <c:title>
          <c:tx>
            <c:rich>
              <a:bodyPr/>
              <a:lstStyle/>
              <a:p>
                <a:r>
                  <a:rPr lang="it-IT">
                    <a:latin typeface="DejaVu Sans"/>
                    <a:ea typeface="DejaVu Sans"/>
                    <a:cs typeface="DejaVu Sans"/>
                  </a:rPr>
                  <a:t>Intercept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2"/>
          <c:order val="2"/>
          <c:tx>
            <c:v>Observed data</c:v>
          </c:tx>
          <c:spPr>
            <a:ln w="0">
              <a:noFill/>
            </a:ln>
          </c:spPr>
          <c:marker>
            <c:symbol val="circle"/>
            <c:size val="9"/>
            <c:spPr>
              <a:solidFill>
                <a:srgbClr val="326CB2"/>
              </a:solidFill>
              <a:ln w="12700">
                <a:solidFill>
                  <a:srgbClr val="326CB2"/>
                </a:solidFill>
              </a:ln>
            </c:spPr>
          </c:marker>
          <c:xVal>
            <c:numRef>
              <c:f>'Chart Data'!$A$2:$A$6</c:f>
              <c:numCache>
                <c:formatCode>General</c:formatCode>
                <c:ptCount val="5"/>
                <c:pt idx="0">
                  <c:v>-2</c:v>
                </c:pt>
                <c:pt idx="1">
                  <c:v>-1</c:v>
                </c:pt>
                <c:pt idx="2">
                  <c:v>0</c:v>
                </c:pt>
                <c:pt idx="3">
                  <c:v>1</c:v>
                </c:pt>
                <c:pt idx="4">
                  <c:v>2</c:v>
                </c:pt>
              </c:numCache>
            </c:numRef>
          </c:xVal>
          <c:yVal>
            <c:numRef>
              <c:f>'Chart Data'!$B$2:$B$6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0-D387-48FC-92D0-109DA28462B5}"/>
            </c:ext>
          </c:extLst>
        </c:ser>
        <c:ser>
          <c:idx val="0"/>
          <c:order val="0"/>
          <c:tx>
            <c:v>Optimal line</c:v>
          </c:tx>
          <c:spPr>
            <a:ln w="28575">
              <a:solidFill>
                <a:srgbClr val="DAE5EE"/>
              </a:solidFill>
            </a:ln>
          </c:spPr>
          <c:marker>
            <c:symbol val="none"/>
          </c:marker>
          <c:xVal>
            <c:numRef>
              <c:f>'Chart Data'!$C$2:$C$3</c:f>
              <c:numCache>
                <c:formatCode>General</c:formatCode>
                <c:ptCount val="2"/>
                <c:pt idx="0">
                  <c:v>-2.4500000000000002</c:v>
                </c:pt>
                <c:pt idx="1">
                  <c:v>2.4500000000000002</c:v>
                </c:pt>
              </c:numCache>
            </c:numRef>
          </c:xVal>
          <c:yVal>
            <c:numRef>
              <c:f>'Chart Data'!$D$2:$D$3</c:f>
              <c:numCache>
                <c:formatCode>0.##</c:formatCode>
                <c:ptCount val="2"/>
                <c:pt idx="0">
                  <c:v>-2.9</c:v>
                </c:pt>
                <c:pt idx="1">
                  <c:v>6.9</c:v>
                </c:pt>
              </c:numCache>
            </c:numRef>
          </c:yVal>
          <c:smooth val="0"/>
          <c:extLst>
            <c:ext xmlns:c16="http://schemas.microsoft.com/office/drawing/2014/chart" uri="{C3380CC4-5D6E-409C-BE32-E72D297353CC}">
              <c16:uniqueId val="{00000001-D387-48FC-92D0-109DA28462B5}"/>
            </c:ext>
          </c:extLst>
        </c:ser>
        <c:ser>
          <c:idx val="1"/>
          <c:order val="1"/>
          <c:tx>
            <c:v>Predictor</c:v>
          </c:tx>
          <c:spPr>
            <a:ln w="28575">
              <a:solidFill>
                <a:srgbClr val="087F83"/>
              </a:solidFill>
            </a:ln>
          </c:spPr>
          <c:marker>
            <c:symbol val="none"/>
          </c:marker>
          <c:xVal>
            <c:numRef>
              <c:f>'Chart Data'!$E$2:$E$3</c:f>
              <c:numCache>
                <c:formatCode>General</c:formatCode>
                <c:ptCount val="2"/>
                <c:pt idx="0">
                  <c:v>-2.4500000000000002</c:v>
                </c:pt>
                <c:pt idx="1">
                  <c:v>2.4500000000000002</c:v>
                </c:pt>
              </c:numCache>
            </c:numRef>
          </c:xVal>
          <c:yVal>
            <c:numRef>
              <c:f>'Chart Data'!$F$2:$F$3</c:f>
              <c:numCache>
                <c:formatCode>0.##</c:formatCode>
                <c:ptCount val="2"/>
                <c:pt idx="0">
                  <c:v>-3.0539520000000002</c:v>
                </c:pt>
                <c:pt idx="1">
                  <c:v>6.7429119999999996</c:v>
                </c:pt>
              </c:numCache>
            </c:numRef>
          </c:yVal>
          <c:smooth val="0"/>
          <c:extLst>
            <c:ext xmlns:c16="http://schemas.microsoft.com/office/drawing/2014/chart" uri="{C3380CC4-5D6E-409C-BE32-E72D297353CC}">
              <c16:uniqueId val="{00000002-D387-48FC-92D0-109DA28462B5}"/>
            </c:ext>
          </c:extLst>
        </c:ser>
        <c:dLbls>
          <c:showLegendKey val="0"/>
          <c:showVal val="0"/>
          <c:showCatName val="0"/>
          <c:showSerName val="0"/>
          <c:showPercent val="0"/>
          <c:showBubbleSize val="0"/>
        </c:dLbls>
        <c:axId val="48650112"/>
        <c:axId val="48672768"/>
      </c:scatterChart>
      <c:valAx>
        <c:axId val="48672768"/>
        <c:scaling>
          <c:orientation val="minMax"/>
          <c:max val="8"/>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scatterChart>
        <c:scatterStyle val="lineMarker"/>
        <c:varyColors val="1"/>
        <c:ser>
          <c:idx val="0"/>
          <c:order val="0"/>
          <c:tx>
            <c:v>Loss 8</c:v>
          </c:tx>
          <c:spPr>
            <a:ln w="14288">
              <a:solidFill>
                <a:srgbClr val="DAE5EE"/>
              </a:solidFill>
            </a:ln>
          </c:spPr>
          <c:marker>
            <c:symbol val="none"/>
          </c:marker>
          <c:xVal>
            <c:numRef>
              <c:f>'Chart Data'!$A$2:$A$98</c:f>
              <c:numCache>
                <c:formatCode>General</c:formatCode>
                <c:ptCount val="97"/>
                <c:pt idx="0">
                  <c:v>2.6324555320299998</c:v>
                </c:pt>
                <c:pt idx="1">
                  <c:v>2.6311013961900001</c:v>
                </c:pt>
                <c:pt idx="2">
                  <c:v>2.62704478728</c:v>
                </c:pt>
                <c:pt idx="3">
                  <c:v>2.6203030763299999</c:v>
                </c:pt>
                <c:pt idx="4">
                  <c:v>2.6109051323700001</c:v>
                </c:pt>
                <c:pt idx="5">
                  <c:v>2.5988911988500001</c:v>
                </c:pt>
                <c:pt idx="6">
                  <c:v>2.5843127212699999</c:v>
                </c:pt>
                <c:pt idx="7">
                  <c:v>2.56723212691</c:v>
                </c:pt>
                <c:pt idx="8">
                  <c:v>2.5477225575100002</c:v>
                </c:pt>
                <c:pt idx="9">
                  <c:v>2.5258675560200001</c:v>
                </c:pt>
                <c:pt idx="10">
                  <c:v>2.50176070892</c:v>
                </c:pt>
                <c:pt idx="11">
                  <c:v>2.4755052454399999</c:v>
                </c:pt>
                <c:pt idx="12">
                  <c:v>2.4472135955000001</c:v>
                </c:pt>
                <c:pt idx="13">
                  <c:v>2.4170069082799999</c:v>
                </c:pt>
                <c:pt idx="14">
                  <c:v>2.3850145334700001</c:v>
                </c:pt>
                <c:pt idx="15">
                  <c:v>2.3513734673100002</c:v>
                </c:pt>
                <c:pt idx="16">
                  <c:v>2.3162277660199999</c:v>
                </c:pt>
                <c:pt idx="17">
                  <c:v>2.2797279288799999</c:v>
                </c:pt>
                <c:pt idx="18">
                  <c:v>2.2420302538199999</c:v>
                </c:pt>
                <c:pt idx="19">
                  <c:v>2.2032961680400001</c:v>
                </c:pt>
                <c:pt idx="20">
                  <c:v>2.16369153687</c:v>
                </c:pt>
                <c:pt idx="21">
                  <c:v>2.1233859534100001</c:v>
                </c:pt>
                <c:pt idx="22">
                  <c:v>2.0825520123399999</c:v>
                </c:pt>
                <c:pt idx="23">
                  <c:v>2.0413645708899999</c:v>
                </c:pt>
                <c:pt idx="24">
                  <c:v>2</c:v>
                </c:pt>
                <c:pt idx="25">
                  <c:v>1.9586354291100001</c:v>
                </c:pt>
                <c:pt idx="26">
                  <c:v>1.9174479876599999</c:v>
                </c:pt>
                <c:pt idx="27">
                  <c:v>1.8766140465900001</c:v>
                </c:pt>
                <c:pt idx="28">
                  <c:v>1.83630846313</c:v>
                </c:pt>
                <c:pt idx="29">
                  <c:v>1.7967038319599999</c:v>
                </c:pt>
                <c:pt idx="30">
                  <c:v>1.7579697461799999</c:v>
                </c:pt>
                <c:pt idx="31">
                  <c:v>1.7202720711199999</c:v>
                </c:pt>
                <c:pt idx="32">
                  <c:v>1.6837722339800001</c:v>
                </c:pt>
                <c:pt idx="33">
                  <c:v>1.64862653269</c:v>
                </c:pt>
                <c:pt idx="34">
                  <c:v>1.6149854665300001</c:v>
                </c:pt>
                <c:pt idx="35">
                  <c:v>1.5829930917199999</c:v>
                </c:pt>
                <c:pt idx="36">
                  <c:v>1.5527864044999999</c:v>
                </c:pt>
                <c:pt idx="37">
                  <c:v>1.5244947545600001</c:v>
                </c:pt>
                <c:pt idx="38">
                  <c:v>1.49823929108</c:v>
                </c:pt>
                <c:pt idx="39">
                  <c:v>1.4741324439800001</c:v>
                </c:pt>
                <c:pt idx="40">
                  <c:v>1.45227744249</c:v>
                </c:pt>
                <c:pt idx="41">
                  <c:v>1.43276787309</c:v>
                </c:pt>
                <c:pt idx="42">
                  <c:v>1.4156872787300001</c:v>
                </c:pt>
                <c:pt idx="43">
                  <c:v>1.4011088011499999</c:v>
                </c:pt>
                <c:pt idx="44">
                  <c:v>1.3890948676299999</c:v>
                </c:pt>
                <c:pt idx="45">
                  <c:v>1.3796969236700001</c:v>
                </c:pt>
                <c:pt idx="46">
                  <c:v>1.37295521272</c:v>
                </c:pt>
                <c:pt idx="47">
                  <c:v>1.3688986038099999</c:v>
                </c:pt>
                <c:pt idx="48">
                  <c:v>1.36754446797</c:v>
                </c:pt>
                <c:pt idx="49">
                  <c:v>1.3688986038099999</c:v>
                </c:pt>
                <c:pt idx="50">
                  <c:v>1.37295521272</c:v>
                </c:pt>
                <c:pt idx="51">
                  <c:v>1.3796969236700001</c:v>
                </c:pt>
                <c:pt idx="52">
                  <c:v>1.3890948676299999</c:v>
                </c:pt>
                <c:pt idx="53">
                  <c:v>1.4011088011499999</c:v>
                </c:pt>
                <c:pt idx="54">
                  <c:v>1.4156872787300001</c:v>
                </c:pt>
                <c:pt idx="55">
                  <c:v>1.43276787309</c:v>
                </c:pt>
                <c:pt idx="56">
                  <c:v>1.45227744249</c:v>
                </c:pt>
                <c:pt idx="57">
                  <c:v>1.4741324439800001</c:v>
                </c:pt>
                <c:pt idx="58">
                  <c:v>1.49823929108</c:v>
                </c:pt>
                <c:pt idx="59">
                  <c:v>1.5244947545600001</c:v>
                </c:pt>
                <c:pt idx="60">
                  <c:v>1.5527864044999999</c:v>
                </c:pt>
                <c:pt idx="61">
                  <c:v>1.5829930917199999</c:v>
                </c:pt>
                <c:pt idx="62">
                  <c:v>1.6149854665300001</c:v>
                </c:pt>
                <c:pt idx="63">
                  <c:v>1.64862653269</c:v>
                </c:pt>
                <c:pt idx="64">
                  <c:v>1.6837722339800001</c:v>
                </c:pt>
                <c:pt idx="65">
                  <c:v>1.7202720711199999</c:v>
                </c:pt>
                <c:pt idx="66">
                  <c:v>1.7579697461799999</c:v>
                </c:pt>
                <c:pt idx="67">
                  <c:v>1.7967038319599999</c:v>
                </c:pt>
                <c:pt idx="68">
                  <c:v>1.83630846313</c:v>
                </c:pt>
                <c:pt idx="69">
                  <c:v>1.8766140465900001</c:v>
                </c:pt>
                <c:pt idx="70">
                  <c:v>1.9174479876599999</c:v>
                </c:pt>
                <c:pt idx="71">
                  <c:v>1.9586354291100001</c:v>
                </c:pt>
                <c:pt idx="72">
                  <c:v>2</c:v>
                </c:pt>
                <c:pt idx="73">
                  <c:v>2.0413645708899999</c:v>
                </c:pt>
                <c:pt idx="74">
                  <c:v>2.0825520123399999</c:v>
                </c:pt>
                <c:pt idx="75">
                  <c:v>2.1233859534100001</c:v>
                </c:pt>
                <c:pt idx="76">
                  <c:v>2.16369153687</c:v>
                </c:pt>
                <c:pt idx="77">
                  <c:v>2.2032961680400001</c:v>
                </c:pt>
                <c:pt idx="78">
                  <c:v>2.2420302538199999</c:v>
                </c:pt>
                <c:pt idx="79">
                  <c:v>2.2797279288799999</c:v>
                </c:pt>
                <c:pt idx="80">
                  <c:v>2.3162277660199999</c:v>
                </c:pt>
                <c:pt idx="81">
                  <c:v>2.3513734673100002</c:v>
                </c:pt>
                <c:pt idx="82">
                  <c:v>2.3850145334700001</c:v>
                </c:pt>
                <c:pt idx="83">
                  <c:v>2.4170069082799999</c:v>
                </c:pt>
                <c:pt idx="84">
                  <c:v>2.4472135955000001</c:v>
                </c:pt>
                <c:pt idx="85">
                  <c:v>2.4755052454399999</c:v>
                </c:pt>
                <c:pt idx="86">
                  <c:v>2.50176070892</c:v>
                </c:pt>
                <c:pt idx="87">
                  <c:v>2.5258675560200001</c:v>
                </c:pt>
                <c:pt idx="88">
                  <c:v>2.5477225575100002</c:v>
                </c:pt>
                <c:pt idx="89">
                  <c:v>2.56723212691</c:v>
                </c:pt>
                <c:pt idx="90">
                  <c:v>2.5843127212699999</c:v>
                </c:pt>
                <c:pt idx="91">
                  <c:v>2.5988911988500001</c:v>
                </c:pt>
                <c:pt idx="92">
                  <c:v>2.6109051323700001</c:v>
                </c:pt>
                <c:pt idx="93">
                  <c:v>2.6203030763299999</c:v>
                </c:pt>
                <c:pt idx="94">
                  <c:v>2.62704478728</c:v>
                </c:pt>
                <c:pt idx="95">
                  <c:v>2.6311013961900001</c:v>
                </c:pt>
                <c:pt idx="96">
                  <c:v>2.6324555320299998</c:v>
                </c:pt>
              </c:numCache>
            </c:numRef>
          </c:xVal>
          <c:yVal>
            <c:numRef>
              <c:f>'Chart Data'!$B$2:$B$98</c:f>
              <c:numCache>
                <c:formatCode>0.##</c:formatCode>
                <c:ptCount val="97"/>
                <c:pt idx="0">
                  <c:v>2</c:v>
                </c:pt>
                <c:pt idx="1">
                  <c:v>2.0292491685799998</c:v>
                </c:pt>
                <c:pt idx="2">
                  <c:v>2.0583730877300002</c:v>
                </c:pt>
                <c:pt idx="3">
                  <c:v>2.0872470443600002</c:v>
                </c:pt>
                <c:pt idx="4">
                  <c:v>2.1157473957400001</c:v>
                </c:pt>
                <c:pt idx="5">
                  <c:v>2.1437520990099999</c:v>
                </c:pt>
                <c:pt idx="6">
                  <c:v>2.1711412337299998</c:v>
                </c:pt>
                <c:pt idx="7">
                  <c:v>2.1977975154</c:v>
                </c:pt>
                <c:pt idx="8">
                  <c:v>2.22360679775</c:v>
                </c:pt>
                <c:pt idx="9">
                  <c:v>2.2484585614600001</c:v>
                </c:pt>
                <c:pt idx="10">
                  <c:v>2.2722463874700001</c:v>
                </c:pt>
                <c:pt idx="11">
                  <c:v>2.2948684126500001</c:v>
                </c:pt>
                <c:pt idx="12">
                  <c:v>2.3162277660199999</c:v>
                </c:pt>
                <c:pt idx="13">
                  <c:v>2.33623298354</c:v>
                </c:pt>
                <c:pt idx="14">
                  <c:v>2.3547983998099999</c:v>
                </c:pt>
                <c:pt idx="15">
                  <c:v>2.3718445148699998</c:v>
                </c:pt>
                <c:pt idx="16">
                  <c:v>2.3872983346200001</c:v>
                </c:pt>
                <c:pt idx="17">
                  <c:v>2.4010936834500001</c:v>
                </c:pt>
                <c:pt idx="18">
                  <c:v>2.4131714875400001</c:v>
                </c:pt>
                <c:pt idx="19">
                  <c:v>2.4234800279000002</c:v>
                </c:pt>
                <c:pt idx="20">
                  <c:v>2.4319751617600001</c:v>
                </c:pt>
                <c:pt idx="21">
                  <c:v>2.4386205116599999</c:v>
                </c:pt>
                <c:pt idx="22">
                  <c:v>2.4433876211899999</c:v>
                </c:pt>
                <c:pt idx="23">
                  <c:v>2.4462560768600001</c:v>
                </c:pt>
                <c:pt idx="24">
                  <c:v>2.4472135955000001</c:v>
                </c:pt>
                <c:pt idx="25">
                  <c:v>2.4462560768600001</c:v>
                </c:pt>
                <c:pt idx="26">
                  <c:v>2.4433876211899999</c:v>
                </c:pt>
                <c:pt idx="27">
                  <c:v>2.4386205116599999</c:v>
                </c:pt>
                <c:pt idx="28">
                  <c:v>2.4319751617600001</c:v>
                </c:pt>
                <c:pt idx="29">
                  <c:v>2.4234800279000002</c:v>
                </c:pt>
                <c:pt idx="30">
                  <c:v>2.4131714875400001</c:v>
                </c:pt>
                <c:pt idx="31">
                  <c:v>2.4010936834500001</c:v>
                </c:pt>
                <c:pt idx="32">
                  <c:v>2.3872983346200001</c:v>
                </c:pt>
                <c:pt idx="33">
                  <c:v>2.3718445148699998</c:v>
                </c:pt>
                <c:pt idx="34">
                  <c:v>2.3547983998099999</c:v>
                </c:pt>
                <c:pt idx="35">
                  <c:v>2.33623298354</c:v>
                </c:pt>
                <c:pt idx="36">
                  <c:v>2.3162277660199999</c:v>
                </c:pt>
                <c:pt idx="37">
                  <c:v>2.2948684126500001</c:v>
                </c:pt>
                <c:pt idx="38">
                  <c:v>2.2722463874700001</c:v>
                </c:pt>
                <c:pt idx="39">
                  <c:v>2.2484585614600001</c:v>
                </c:pt>
                <c:pt idx="40">
                  <c:v>2.22360679775</c:v>
                </c:pt>
                <c:pt idx="41">
                  <c:v>2.1977975154</c:v>
                </c:pt>
                <c:pt idx="42">
                  <c:v>2.1711412337299998</c:v>
                </c:pt>
                <c:pt idx="43">
                  <c:v>2.1437520990099999</c:v>
                </c:pt>
                <c:pt idx="44">
                  <c:v>2.1157473957400001</c:v>
                </c:pt>
                <c:pt idx="45">
                  <c:v>2.0872470443600002</c:v>
                </c:pt>
                <c:pt idx="46">
                  <c:v>2.0583730877300002</c:v>
                </c:pt>
                <c:pt idx="47">
                  <c:v>2.0292491685799998</c:v>
                </c:pt>
                <c:pt idx="48">
                  <c:v>2</c:v>
                </c:pt>
                <c:pt idx="49">
                  <c:v>1.97075083142</c:v>
                </c:pt>
                <c:pt idx="50">
                  <c:v>1.9416269122700001</c:v>
                </c:pt>
                <c:pt idx="51">
                  <c:v>1.91275295564</c:v>
                </c:pt>
                <c:pt idx="52">
                  <c:v>1.8842526042600001</c:v>
                </c:pt>
                <c:pt idx="53">
                  <c:v>1.8562479009899999</c:v>
                </c:pt>
                <c:pt idx="54">
                  <c:v>1.82885876627</c:v>
                </c:pt>
                <c:pt idx="55">
                  <c:v>1.8022024846</c:v>
                </c:pt>
                <c:pt idx="56">
                  <c:v>1.77639320225</c:v>
                </c:pt>
                <c:pt idx="57">
                  <c:v>1.7515414385400001</c:v>
                </c:pt>
                <c:pt idx="58">
                  <c:v>1.7277536125299999</c:v>
                </c:pt>
                <c:pt idx="59">
                  <c:v>1.7051315873499999</c:v>
                </c:pt>
                <c:pt idx="60">
                  <c:v>1.6837722339800001</c:v>
                </c:pt>
                <c:pt idx="61">
                  <c:v>1.66376701646</c:v>
                </c:pt>
                <c:pt idx="62">
                  <c:v>1.6452016001900001</c:v>
                </c:pt>
                <c:pt idx="63">
                  <c:v>1.62815548513</c:v>
                </c:pt>
                <c:pt idx="64">
                  <c:v>1.6127016653799999</c:v>
                </c:pt>
                <c:pt idx="65">
                  <c:v>1.5989063165499999</c:v>
                </c:pt>
                <c:pt idx="66">
                  <c:v>1.5868285124599999</c:v>
                </c:pt>
                <c:pt idx="67">
                  <c:v>1.5765199721000001</c:v>
                </c:pt>
                <c:pt idx="68">
                  <c:v>1.5680248382399999</c:v>
                </c:pt>
                <c:pt idx="69">
                  <c:v>1.5613794883400001</c:v>
                </c:pt>
                <c:pt idx="70">
                  <c:v>1.5566123788099999</c:v>
                </c:pt>
                <c:pt idx="71">
                  <c:v>1.5537439231400001</c:v>
                </c:pt>
                <c:pt idx="72">
                  <c:v>1.5527864044999999</c:v>
                </c:pt>
                <c:pt idx="73">
                  <c:v>1.5537439231400001</c:v>
                </c:pt>
                <c:pt idx="74">
                  <c:v>1.5566123788099999</c:v>
                </c:pt>
                <c:pt idx="75">
                  <c:v>1.5613794883400001</c:v>
                </c:pt>
                <c:pt idx="76">
                  <c:v>1.5680248382399999</c:v>
                </c:pt>
                <c:pt idx="77">
                  <c:v>1.5765199721000001</c:v>
                </c:pt>
                <c:pt idx="78">
                  <c:v>1.5868285124599999</c:v>
                </c:pt>
                <c:pt idx="79">
                  <c:v>1.5989063165499999</c:v>
                </c:pt>
                <c:pt idx="80">
                  <c:v>1.6127016653799999</c:v>
                </c:pt>
                <c:pt idx="81">
                  <c:v>1.62815548513</c:v>
                </c:pt>
                <c:pt idx="82">
                  <c:v>1.6452016001900001</c:v>
                </c:pt>
                <c:pt idx="83">
                  <c:v>1.66376701646</c:v>
                </c:pt>
                <c:pt idx="84">
                  <c:v>1.6837722339800001</c:v>
                </c:pt>
                <c:pt idx="85">
                  <c:v>1.7051315873499999</c:v>
                </c:pt>
                <c:pt idx="86">
                  <c:v>1.7277536125299999</c:v>
                </c:pt>
                <c:pt idx="87">
                  <c:v>1.7515414385400001</c:v>
                </c:pt>
                <c:pt idx="88">
                  <c:v>1.77639320225</c:v>
                </c:pt>
                <c:pt idx="89">
                  <c:v>1.8022024846</c:v>
                </c:pt>
                <c:pt idx="90">
                  <c:v>1.82885876627</c:v>
                </c:pt>
                <c:pt idx="91">
                  <c:v>1.8562479009899999</c:v>
                </c:pt>
                <c:pt idx="92">
                  <c:v>1.8842526042600001</c:v>
                </c:pt>
                <c:pt idx="93">
                  <c:v>1.91275295564</c:v>
                </c:pt>
                <c:pt idx="94">
                  <c:v>1.9416269122700001</c:v>
                </c:pt>
                <c:pt idx="95">
                  <c:v>1.97075083142</c:v>
                </c:pt>
                <c:pt idx="96">
                  <c:v>2</c:v>
                </c:pt>
              </c:numCache>
            </c:numRef>
          </c:yVal>
          <c:smooth val="0"/>
          <c:extLst>
            <c:ext xmlns:c16="http://schemas.microsoft.com/office/drawing/2014/chart" uri="{C3380CC4-5D6E-409C-BE32-E72D297353CC}">
              <c16:uniqueId val="{00000000-5A8A-4B5D-910B-659EE69D6078}"/>
            </c:ext>
          </c:extLst>
        </c:ser>
        <c:ser>
          <c:idx val="1"/>
          <c:order val="1"/>
          <c:tx>
            <c:v>Loss 14</c:v>
          </c:tx>
          <c:spPr>
            <a:ln w="14288">
              <a:solidFill>
                <a:srgbClr val="DAE5EE"/>
              </a:solidFill>
            </a:ln>
          </c:spPr>
          <c:marker>
            <c:symbol val="none"/>
          </c:marker>
          <c:xVal>
            <c:numRef>
              <c:f>'Chart Data'!$C$2:$C$98</c:f>
              <c:numCache>
                <c:formatCode>General</c:formatCode>
                <c:ptCount val="97"/>
                <c:pt idx="0">
                  <c:v>3.2649110640700001</c:v>
                </c:pt>
                <c:pt idx="1">
                  <c:v>3.2622027923800001</c:v>
                </c:pt>
                <c:pt idx="2">
                  <c:v>3.25408957456</c:v>
                </c:pt>
                <c:pt idx="3">
                  <c:v>3.2406061526599999</c:v>
                </c:pt>
                <c:pt idx="4">
                  <c:v>3.2218102647400002</c:v>
                </c:pt>
                <c:pt idx="5">
                  <c:v>3.1977823977000002</c:v>
                </c:pt>
                <c:pt idx="6">
                  <c:v>3.1686254425399998</c:v>
                </c:pt>
                <c:pt idx="7">
                  <c:v>3.13446425383</c:v>
                </c:pt>
                <c:pt idx="8">
                  <c:v>3.09544511501</c:v>
                </c:pt>
                <c:pt idx="9">
                  <c:v>3.0517351120399998</c:v>
                </c:pt>
                <c:pt idx="10">
                  <c:v>3.00352141785</c:v>
                </c:pt>
                <c:pt idx="11">
                  <c:v>2.9510104908899999</c:v>
                </c:pt>
                <c:pt idx="12">
                  <c:v>2.8944271910000001</c:v>
                </c:pt>
                <c:pt idx="13">
                  <c:v>2.8340138165700002</c:v>
                </c:pt>
                <c:pt idx="14">
                  <c:v>2.7700290669299998</c:v>
                </c:pt>
                <c:pt idx="15">
                  <c:v>2.7027469346099999</c:v>
                </c:pt>
                <c:pt idx="16">
                  <c:v>2.6324555320299998</c:v>
                </c:pt>
                <c:pt idx="17">
                  <c:v>2.5594558577700002</c:v>
                </c:pt>
                <c:pt idx="18">
                  <c:v>2.4840605076300002</c:v>
                </c:pt>
                <c:pt idx="19">
                  <c:v>2.4065923360900001</c:v>
                </c:pt>
                <c:pt idx="20">
                  <c:v>2.3273830737400001</c:v>
                </c:pt>
                <c:pt idx="21">
                  <c:v>2.2467719068099998</c:v>
                </c:pt>
                <c:pt idx="22">
                  <c:v>2.1651040246900002</c:v>
                </c:pt>
                <c:pt idx="23">
                  <c:v>2.0827291417899998</c:v>
                </c:pt>
                <c:pt idx="24">
                  <c:v>2</c:v>
                </c:pt>
                <c:pt idx="25">
                  <c:v>1.91727085821</c:v>
                </c:pt>
                <c:pt idx="26">
                  <c:v>1.83489597531</c:v>
                </c:pt>
                <c:pt idx="27">
                  <c:v>1.7532280931899999</c:v>
                </c:pt>
                <c:pt idx="28">
                  <c:v>1.6726169262599999</c:v>
                </c:pt>
                <c:pt idx="29">
                  <c:v>1.5934076639100001</c:v>
                </c:pt>
                <c:pt idx="30">
                  <c:v>1.51593949237</c:v>
                </c:pt>
                <c:pt idx="31">
                  <c:v>1.44054414223</c:v>
                </c:pt>
                <c:pt idx="32">
                  <c:v>1.36754446797</c:v>
                </c:pt>
                <c:pt idx="33">
                  <c:v>1.2972530653900001</c:v>
                </c:pt>
                <c:pt idx="34">
                  <c:v>1.2299709330699999</c:v>
                </c:pt>
                <c:pt idx="35">
                  <c:v>1.16598618343</c:v>
                </c:pt>
                <c:pt idx="36">
                  <c:v>1.1055728090000001</c:v>
                </c:pt>
                <c:pt idx="37">
                  <c:v>1.0489895091100001</c:v>
                </c:pt>
                <c:pt idx="38">
                  <c:v>0.99647858215100005</c:v>
                </c:pt>
                <c:pt idx="39">
                  <c:v>0.94826488796300001</c:v>
                </c:pt>
                <c:pt idx="40">
                  <c:v>0.90455488499000003</c:v>
                </c:pt>
                <c:pt idx="41">
                  <c:v>0.86553574617499995</c:v>
                </c:pt>
                <c:pt idx="42">
                  <c:v>0.83137455746099997</c:v>
                </c:pt>
                <c:pt idx="43">
                  <c:v>0.80221760230299999</c:v>
                </c:pt>
                <c:pt idx="44">
                  <c:v>0.77818973525900004</c:v>
                </c:pt>
                <c:pt idx="45">
                  <c:v>0.75939384734399995</c:v>
                </c:pt>
                <c:pt idx="46">
                  <c:v>0.74591042543599995</c:v>
                </c:pt>
                <c:pt idx="47">
                  <c:v>0.73779720761699996</c:v>
                </c:pt>
                <c:pt idx="48">
                  <c:v>0.73508893593299995</c:v>
                </c:pt>
                <c:pt idx="49">
                  <c:v>0.73779720761699996</c:v>
                </c:pt>
                <c:pt idx="50">
                  <c:v>0.74591042543599995</c:v>
                </c:pt>
                <c:pt idx="51">
                  <c:v>0.75939384734399995</c:v>
                </c:pt>
                <c:pt idx="52">
                  <c:v>0.77818973525900004</c:v>
                </c:pt>
                <c:pt idx="53">
                  <c:v>0.80221760230299999</c:v>
                </c:pt>
                <c:pt idx="54">
                  <c:v>0.83137455746099997</c:v>
                </c:pt>
                <c:pt idx="55">
                  <c:v>0.86553574617499995</c:v>
                </c:pt>
                <c:pt idx="56">
                  <c:v>0.90455488499000003</c:v>
                </c:pt>
                <c:pt idx="57">
                  <c:v>0.94826488796300001</c:v>
                </c:pt>
                <c:pt idx="58">
                  <c:v>0.99647858215100005</c:v>
                </c:pt>
                <c:pt idx="59">
                  <c:v>1.0489895091100001</c:v>
                </c:pt>
                <c:pt idx="60">
                  <c:v>1.1055728090000001</c:v>
                </c:pt>
                <c:pt idx="61">
                  <c:v>1.16598618343</c:v>
                </c:pt>
                <c:pt idx="62">
                  <c:v>1.2299709330699999</c:v>
                </c:pt>
                <c:pt idx="63">
                  <c:v>1.2972530653900001</c:v>
                </c:pt>
                <c:pt idx="64">
                  <c:v>1.36754446797</c:v>
                </c:pt>
                <c:pt idx="65">
                  <c:v>1.44054414223</c:v>
                </c:pt>
                <c:pt idx="66">
                  <c:v>1.51593949237</c:v>
                </c:pt>
                <c:pt idx="67">
                  <c:v>1.5934076639100001</c:v>
                </c:pt>
                <c:pt idx="68">
                  <c:v>1.6726169262599999</c:v>
                </c:pt>
                <c:pt idx="69">
                  <c:v>1.7532280931899999</c:v>
                </c:pt>
                <c:pt idx="70">
                  <c:v>1.83489597531</c:v>
                </c:pt>
                <c:pt idx="71">
                  <c:v>1.91727085821</c:v>
                </c:pt>
                <c:pt idx="72">
                  <c:v>2</c:v>
                </c:pt>
                <c:pt idx="73">
                  <c:v>2.0827291417899998</c:v>
                </c:pt>
                <c:pt idx="74">
                  <c:v>2.1651040246900002</c:v>
                </c:pt>
                <c:pt idx="75">
                  <c:v>2.2467719068099998</c:v>
                </c:pt>
                <c:pt idx="76">
                  <c:v>2.3273830737400001</c:v>
                </c:pt>
                <c:pt idx="77">
                  <c:v>2.4065923360900001</c:v>
                </c:pt>
                <c:pt idx="78">
                  <c:v>2.4840605076300002</c:v>
                </c:pt>
                <c:pt idx="79">
                  <c:v>2.5594558577700002</c:v>
                </c:pt>
                <c:pt idx="80">
                  <c:v>2.6324555320299998</c:v>
                </c:pt>
                <c:pt idx="81">
                  <c:v>2.7027469346099999</c:v>
                </c:pt>
                <c:pt idx="82">
                  <c:v>2.7700290669299998</c:v>
                </c:pt>
                <c:pt idx="83">
                  <c:v>2.8340138165700002</c:v>
                </c:pt>
                <c:pt idx="84">
                  <c:v>2.8944271910000001</c:v>
                </c:pt>
                <c:pt idx="85">
                  <c:v>2.9510104908899999</c:v>
                </c:pt>
                <c:pt idx="86">
                  <c:v>3.00352141785</c:v>
                </c:pt>
                <c:pt idx="87">
                  <c:v>3.0517351120399998</c:v>
                </c:pt>
                <c:pt idx="88">
                  <c:v>3.09544511501</c:v>
                </c:pt>
                <c:pt idx="89">
                  <c:v>3.13446425383</c:v>
                </c:pt>
                <c:pt idx="90">
                  <c:v>3.1686254425399998</c:v>
                </c:pt>
                <c:pt idx="91">
                  <c:v>3.1977823977000002</c:v>
                </c:pt>
                <c:pt idx="92">
                  <c:v>3.2218102647400002</c:v>
                </c:pt>
                <c:pt idx="93">
                  <c:v>3.2406061526599999</c:v>
                </c:pt>
                <c:pt idx="94">
                  <c:v>3.25408957456</c:v>
                </c:pt>
                <c:pt idx="95">
                  <c:v>3.2622027923800001</c:v>
                </c:pt>
                <c:pt idx="96">
                  <c:v>3.2649110640700001</c:v>
                </c:pt>
              </c:numCache>
            </c:numRef>
          </c:xVal>
          <c:yVal>
            <c:numRef>
              <c:f>'Chart Data'!$D$2:$D$98</c:f>
              <c:numCache>
                <c:formatCode>0.##</c:formatCode>
                <c:ptCount val="97"/>
                <c:pt idx="0">
                  <c:v>2</c:v>
                </c:pt>
                <c:pt idx="1">
                  <c:v>2.0584983371600001</c:v>
                </c:pt>
                <c:pt idx="2">
                  <c:v>2.1167461754599999</c:v>
                </c:pt>
                <c:pt idx="3">
                  <c:v>2.1744940887099999</c:v>
                </c:pt>
                <c:pt idx="4">
                  <c:v>2.2314947914899999</c:v>
                </c:pt>
                <c:pt idx="5">
                  <c:v>2.2875041980300002</c:v>
                </c:pt>
                <c:pt idx="6">
                  <c:v>2.34228246745</c:v>
                </c:pt>
                <c:pt idx="7">
                  <c:v>2.3955950308</c:v>
                </c:pt>
                <c:pt idx="8">
                  <c:v>2.4472135955000001</c:v>
                </c:pt>
                <c:pt idx="9">
                  <c:v>2.4969171229199998</c:v>
                </c:pt>
                <c:pt idx="10">
                  <c:v>2.5444927749400001</c:v>
                </c:pt>
                <c:pt idx="11">
                  <c:v>2.5897368253000002</c:v>
                </c:pt>
                <c:pt idx="12">
                  <c:v>2.6324555320299998</c:v>
                </c:pt>
                <c:pt idx="13">
                  <c:v>2.6724659670899999</c:v>
                </c:pt>
                <c:pt idx="14">
                  <c:v>2.7095967996299999</c:v>
                </c:pt>
                <c:pt idx="15">
                  <c:v>2.7436890297300001</c:v>
                </c:pt>
                <c:pt idx="16">
                  <c:v>2.7745966692400001</c:v>
                </c:pt>
                <c:pt idx="17">
                  <c:v>2.8021873668900001</c:v>
                </c:pt>
                <c:pt idx="18">
                  <c:v>2.8263429750900002</c:v>
                </c:pt>
                <c:pt idx="19">
                  <c:v>2.8469600557999999</c:v>
                </c:pt>
                <c:pt idx="20">
                  <c:v>2.8639503235200001</c:v>
                </c:pt>
                <c:pt idx="21">
                  <c:v>2.8772410233299999</c:v>
                </c:pt>
                <c:pt idx="22">
                  <c:v>2.8867752423900002</c:v>
                </c:pt>
                <c:pt idx="23">
                  <c:v>2.8925121537299998</c:v>
                </c:pt>
                <c:pt idx="24">
                  <c:v>2.8944271910000001</c:v>
                </c:pt>
                <c:pt idx="25">
                  <c:v>2.8925121537299998</c:v>
                </c:pt>
                <c:pt idx="26">
                  <c:v>2.8867752423900002</c:v>
                </c:pt>
                <c:pt idx="27">
                  <c:v>2.8772410233299999</c:v>
                </c:pt>
                <c:pt idx="28">
                  <c:v>2.8639503235200001</c:v>
                </c:pt>
                <c:pt idx="29">
                  <c:v>2.8469600557999999</c:v>
                </c:pt>
                <c:pt idx="30">
                  <c:v>2.8263429750900002</c:v>
                </c:pt>
                <c:pt idx="31">
                  <c:v>2.8021873668900001</c:v>
                </c:pt>
                <c:pt idx="32">
                  <c:v>2.7745966692400001</c:v>
                </c:pt>
                <c:pt idx="33">
                  <c:v>2.7436890297300001</c:v>
                </c:pt>
                <c:pt idx="34">
                  <c:v>2.7095967996299999</c:v>
                </c:pt>
                <c:pt idx="35">
                  <c:v>2.6724659670899999</c:v>
                </c:pt>
                <c:pt idx="36">
                  <c:v>2.6324555320299998</c:v>
                </c:pt>
                <c:pt idx="37">
                  <c:v>2.5897368253000002</c:v>
                </c:pt>
                <c:pt idx="38">
                  <c:v>2.5444927749400001</c:v>
                </c:pt>
                <c:pt idx="39">
                  <c:v>2.4969171229199998</c:v>
                </c:pt>
                <c:pt idx="40">
                  <c:v>2.4472135955000001</c:v>
                </c:pt>
                <c:pt idx="41">
                  <c:v>2.3955950308</c:v>
                </c:pt>
                <c:pt idx="42">
                  <c:v>2.34228246745</c:v>
                </c:pt>
                <c:pt idx="43">
                  <c:v>2.2875041980300002</c:v>
                </c:pt>
                <c:pt idx="44">
                  <c:v>2.2314947914899999</c:v>
                </c:pt>
                <c:pt idx="45">
                  <c:v>2.1744940887099999</c:v>
                </c:pt>
                <c:pt idx="46">
                  <c:v>2.1167461754599999</c:v>
                </c:pt>
                <c:pt idx="47">
                  <c:v>2.0584983371600001</c:v>
                </c:pt>
                <c:pt idx="48">
                  <c:v>2</c:v>
                </c:pt>
                <c:pt idx="49">
                  <c:v>1.9415016628399999</c:v>
                </c:pt>
                <c:pt idx="50">
                  <c:v>1.8832538245399999</c:v>
                </c:pt>
                <c:pt idx="51">
                  <c:v>1.8255059112900001</c:v>
                </c:pt>
                <c:pt idx="52">
                  <c:v>1.7685052085099999</c:v>
                </c:pt>
                <c:pt idx="53">
                  <c:v>1.7124958019700001</c:v>
                </c:pt>
                <c:pt idx="54">
                  <c:v>1.65771753255</c:v>
                </c:pt>
                <c:pt idx="55">
                  <c:v>1.6044049692</c:v>
                </c:pt>
                <c:pt idx="56">
                  <c:v>1.5527864044999999</c:v>
                </c:pt>
                <c:pt idx="57">
                  <c:v>1.50308287708</c:v>
                </c:pt>
                <c:pt idx="58">
                  <c:v>1.4555072250600001</c:v>
                </c:pt>
                <c:pt idx="59">
                  <c:v>1.4102631747000001</c:v>
                </c:pt>
                <c:pt idx="60">
                  <c:v>1.36754446797</c:v>
                </c:pt>
                <c:pt idx="61">
                  <c:v>1.3275340329100001</c:v>
                </c:pt>
                <c:pt idx="62">
                  <c:v>1.2904032003699999</c:v>
                </c:pt>
                <c:pt idx="63">
                  <c:v>1.2563109702699999</c:v>
                </c:pt>
                <c:pt idx="64">
                  <c:v>1.2254033307600001</c:v>
                </c:pt>
                <c:pt idx="65">
                  <c:v>1.1978126331100001</c:v>
                </c:pt>
                <c:pt idx="66">
                  <c:v>1.17365702491</c:v>
                </c:pt>
                <c:pt idx="67">
                  <c:v>1.1530399442000001</c:v>
                </c:pt>
                <c:pt idx="68">
                  <c:v>1.1360496764800001</c:v>
                </c:pt>
                <c:pt idx="69">
                  <c:v>1.1227589766699999</c:v>
                </c:pt>
                <c:pt idx="70">
                  <c:v>1.1132247576100001</c:v>
                </c:pt>
                <c:pt idx="71">
                  <c:v>1.10748784627</c:v>
                </c:pt>
                <c:pt idx="72">
                  <c:v>1.1055728090000001</c:v>
                </c:pt>
                <c:pt idx="73">
                  <c:v>1.10748784627</c:v>
                </c:pt>
                <c:pt idx="74">
                  <c:v>1.1132247576100001</c:v>
                </c:pt>
                <c:pt idx="75">
                  <c:v>1.1227589766699999</c:v>
                </c:pt>
                <c:pt idx="76">
                  <c:v>1.1360496764800001</c:v>
                </c:pt>
                <c:pt idx="77">
                  <c:v>1.1530399442000001</c:v>
                </c:pt>
                <c:pt idx="78">
                  <c:v>1.17365702491</c:v>
                </c:pt>
                <c:pt idx="79">
                  <c:v>1.1978126331100001</c:v>
                </c:pt>
                <c:pt idx="80">
                  <c:v>1.2254033307600001</c:v>
                </c:pt>
                <c:pt idx="81">
                  <c:v>1.2563109702699999</c:v>
                </c:pt>
                <c:pt idx="82">
                  <c:v>1.2904032003699999</c:v>
                </c:pt>
                <c:pt idx="83">
                  <c:v>1.3275340329100001</c:v>
                </c:pt>
                <c:pt idx="84">
                  <c:v>1.36754446797</c:v>
                </c:pt>
                <c:pt idx="85">
                  <c:v>1.4102631747000001</c:v>
                </c:pt>
                <c:pt idx="86">
                  <c:v>1.4555072250600001</c:v>
                </c:pt>
                <c:pt idx="87">
                  <c:v>1.50308287708</c:v>
                </c:pt>
                <c:pt idx="88">
                  <c:v>1.5527864044999999</c:v>
                </c:pt>
                <c:pt idx="89">
                  <c:v>1.6044049692</c:v>
                </c:pt>
                <c:pt idx="90">
                  <c:v>1.65771753255</c:v>
                </c:pt>
                <c:pt idx="91">
                  <c:v>1.7124958019700001</c:v>
                </c:pt>
                <c:pt idx="92">
                  <c:v>1.7685052085099999</c:v>
                </c:pt>
                <c:pt idx="93">
                  <c:v>1.8255059112900001</c:v>
                </c:pt>
                <c:pt idx="94">
                  <c:v>1.8832538245399999</c:v>
                </c:pt>
                <c:pt idx="95">
                  <c:v>1.9415016628399999</c:v>
                </c:pt>
                <c:pt idx="96">
                  <c:v>2</c:v>
                </c:pt>
              </c:numCache>
            </c:numRef>
          </c:yVal>
          <c:smooth val="0"/>
          <c:extLst>
            <c:ext xmlns:c16="http://schemas.microsoft.com/office/drawing/2014/chart" uri="{C3380CC4-5D6E-409C-BE32-E72D297353CC}">
              <c16:uniqueId val="{00000001-5A8A-4B5D-910B-659EE69D6078}"/>
            </c:ext>
          </c:extLst>
        </c:ser>
        <c:ser>
          <c:idx val="2"/>
          <c:order val="2"/>
          <c:tx>
            <c:v>Loss 26</c:v>
          </c:tx>
          <c:spPr>
            <a:ln w="14288">
              <a:solidFill>
                <a:srgbClr val="DAE5EE"/>
              </a:solidFill>
            </a:ln>
          </c:spPr>
          <c:marker>
            <c:symbol val="none"/>
          </c:marker>
          <c:xVal>
            <c:numRef>
              <c:f>'Chart Data'!$E$2:$E$98</c:f>
              <c:numCache>
                <c:formatCode>General</c:formatCode>
                <c:ptCount val="97"/>
                <c:pt idx="0">
                  <c:v>4</c:v>
                </c:pt>
                <c:pt idx="1">
                  <c:v>3.9957178464799998</c:v>
                </c:pt>
                <c:pt idx="2">
                  <c:v>3.98288972275</c:v>
                </c:pt>
                <c:pt idx="3">
                  <c:v>3.9615705608099998</c:v>
                </c:pt>
                <c:pt idx="4">
                  <c:v>3.9318516525799998</c:v>
                </c:pt>
                <c:pt idx="5">
                  <c:v>3.8938602589900002</c:v>
                </c:pt>
                <c:pt idx="6">
                  <c:v>3.84775906502</c:v>
                </c:pt>
                <c:pt idx="7">
                  <c:v>3.7937454830699999</c:v>
                </c:pt>
                <c:pt idx="8">
                  <c:v>3.7320508075699999</c:v>
                </c:pt>
                <c:pt idx="9">
                  <c:v>3.6629392246100001</c:v>
                </c:pt>
                <c:pt idx="10">
                  <c:v>3.5867066805799999</c:v>
                </c:pt>
                <c:pt idx="11">
                  <c:v>3.5036796149599998</c:v>
                </c:pt>
                <c:pt idx="12">
                  <c:v>3.4142135623700001</c:v>
                </c:pt>
                <c:pt idx="13">
                  <c:v>3.3186916302</c:v>
                </c:pt>
                <c:pt idx="14">
                  <c:v>3.2175228580200002</c:v>
                </c:pt>
                <c:pt idx="15">
                  <c:v>3.1111404660400002</c:v>
                </c:pt>
                <c:pt idx="16">
                  <c:v>3</c:v>
                </c:pt>
                <c:pt idx="17">
                  <c:v>2.8845773804400001</c:v>
                </c:pt>
                <c:pt idx="18">
                  <c:v>2.7653668647299998</c:v>
                </c:pt>
                <c:pt idx="19">
                  <c:v>2.6428789306099998</c:v>
                </c:pt>
                <c:pt idx="20">
                  <c:v>2.5176380902100002</c:v>
                </c:pt>
                <c:pt idx="21">
                  <c:v>2.39018064403</c:v>
                </c:pt>
                <c:pt idx="22">
                  <c:v>2.2610523844400001</c:v>
                </c:pt>
                <c:pt idx="23">
                  <c:v>2.1308062584599998</c:v>
                </c:pt>
                <c:pt idx="24">
                  <c:v>2</c:v>
                </c:pt>
                <c:pt idx="25">
                  <c:v>1.86919374154</c:v>
                </c:pt>
                <c:pt idx="26">
                  <c:v>1.7389476155600001</c:v>
                </c:pt>
                <c:pt idx="27">
                  <c:v>1.60981935597</c:v>
                </c:pt>
                <c:pt idx="28">
                  <c:v>1.48236190979</c:v>
                </c:pt>
                <c:pt idx="29">
                  <c:v>1.35712106939</c:v>
                </c:pt>
                <c:pt idx="30">
                  <c:v>1.23463313527</c:v>
                </c:pt>
                <c:pt idx="31">
                  <c:v>1.1154226195600001</c:v>
                </c:pt>
                <c:pt idx="32">
                  <c:v>1</c:v>
                </c:pt>
                <c:pt idx="33">
                  <c:v>0.88885953396100004</c:v>
                </c:pt>
                <c:pt idx="34">
                  <c:v>0.782477141983</c:v>
                </c:pt>
                <c:pt idx="35">
                  <c:v>0.68130836979999998</c:v>
                </c:pt>
                <c:pt idx="36">
                  <c:v>0.585786437627</c:v>
                </c:pt>
                <c:pt idx="37">
                  <c:v>0.49632038504199999</c:v>
                </c:pt>
                <c:pt idx="38">
                  <c:v>0.41329331941800002</c:v>
                </c:pt>
                <c:pt idx="39">
                  <c:v>0.33706077539500001</c:v>
                </c:pt>
                <c:pt idx="40">
                  <c:v>0.26794919243100002</c:v>
                </c:pt>
                <c:pt idx="41">
                  <c:v>0.20625451693499999</c:v>
                </c:pt>
                <c:pt idx="42">
                  <c:v>0.152240934977</c:v>
                </c:pt>
                <c:pt idx="43">
                  <c:v>0.10613974101</c:v>
                </c:pt>
                <c:pt idx="44">
                  <c:v>6.8148347421899999E-2</c:v>
                </c:pt>
                <c:pt idx="45">
                  <c:v>3.8429439193499997E-2</c:v>
                </c:pt>
                <c:pt idx="46">
                  <c:v>1.71102772524E-2</c:v>
                </c:pt>
                <c:pt idx="47">
                  <c:v>4.28215352279E-3</c:v>
                </c:pt>
                <c:pt idx="48">
                  <c:v>0</c:v>
                </c:pt>
                <c:pt idx="49">
                  <c:v>4.28215352279E-3</c:v>
                </c:pt>
                <c:pt idx="50">
                  <c:v>1.71102772524E-2</c:v>
                </c:pt>
                <c:pt idx="51">
                  <c:v>3.8429439193499997E-2</c:v>
                </c:pt>
                <c:pt idx="52">
                  <c:v>6.8148347421899999E-2</c:v>
                </c:pt>
                <c:pt idx="53">
                  <c:v>0.10613974101</c:v>
                </c:pt>
                <c:pt idx="54">
                  <c:v>0.152240934977</c:v>
                </c:pt>
                <c:pt idx="55">
                  <c:v>0.20625451693499999</c:v>
                </c:pt>
                <c:pt idx="56">
                  <c:v>0.26794919243100002</c:v>
                </c:pt>
                <c:pt idx="57">
                  <c:v>0.33706077539500001</c:v>
                </c:pt>
                <c:pt idx="58">
                  <c:v>0.41329331941800002</c:v>
                </c:pt>
                <c:pt idx="59">
                  <c:v>0.49632038504199999</c:v>
                </c:pt>
                <c:pt idx="60">
                  <c:v>0.585786437627</c:v>
                </c:pt>
                <c:pt idx="61">
                  <c:v>0.68130836979999998</c:v>
                </c:pt>
                <c:pt idx="62">
                  <c:v>0.782477141983</c:v>
                </c:pt>
                <c:pt idx="63">
                  <c:v>0.88885953396100004</c:v>
                </c:pt>
                <c:pt idx="64">
                  <c:v>1</c:v>
                </c:pt>
                <c:pt idx="65">
                  <c:v>1.1154226195600001</c:v>
                </c:pt>
                <c:pt idx="66">
                  <c:v>1.23463313527</c:v>
                </c:pt>
                <c:pt idx="67">
                  <c:v>1.35712106939</c:v>
                </c:pt>
                <c:pt idx="68">
                  <c:v>1.48236190979</c:v>
                </c:pt>
                <c:pt idx="69">
                  <c:v>1.60981935597</c:v>
                </c:pt>
                <c:pt idx="70">
                  <c:v>1.7389476155600001</c:v>
                </c:pt>
                <c:pt idx="71">
                  <c:v>1.86919374154</c:v>
                </c:pt>
                <c:pt idx="72">
                  <c:v>2</c:v>
                </c:pt>
                <c:pt idx="73">
                  <c:v>2.1308062584599998</c:v>
                </c:pt>
                <c:pt idx="74">
                  <c:v>2.2610523844400001</c:v>
                </c:pt>
                <c:pt idx="75">
                  <c:v>2.39018064403</c:v>
                </c:pt>
                <c:pt idx="76">
                  <c:v>2.5176380902100002</c:v>
                </c:pt>
                <c:pt idx="77">
                  <c:v>2.6428789306099998</c:v>
                </c:pt>
                <c:pt idx="78">
                  <c:v>2.7653668647299998</c:v>
                </c:pt>
                <c:pt idx="79">
                  <c:v>2.8845773804400001</c:v>
                </c:pt>
                <c:pt idx="80">
                  <c:v>3</c:v>
                </c:pt>
                <c:pt idx="81">
                  <c:v>3.1111404660400002</c:v>
                </c:pt>
                <c:pt idx="82">
                  <c:v>3.2175228580200002</c:v>
                </c:pt>
                <c:pt idx="83">
                  <c:v>3.3186916302</c:v>
                </c:pt>
                <c:pt idx="84">
                  <c:v>3.4142135623700001</c:v>
                </c:pt>
                <c:pt idx="85">
                  <c:v>3.5036796149599998</c:v>
                </c:pt>
                <c:pt idx="86">
                  <c:v>3.5867066805799999</c:v>
                </c:pt>
                <c:pt idx="87">
                  <c:v>3.6629392246100001</c:v>
                </c:pt>
                <c:pt idx="88">
                  <c:v>3.7320508075699999</c:v>
                </c:pt>
                <c:pt idx="89">
                  <c:v>3.7937454830699999</c:v>
                </c:pt>
                <c:pt idx="90">
                  <c:v>3.84775906502</c:v>
                </c:pt>
                <c:pt idx="91">
                  <c:v>3.8938602589900002</c:v>
                </c:pt>
                <c:pt idx="92">
                  <c:v>3.9318516525799998</c:v>
                </c:pt>
                <c:pt idx="93">
                  <c:v>3.9615705608099998</c:v>
                </c:pt>
                <c:pt idx="94">
                  <c:v>3.98288972275</c:v>
                </c:pt>
                <c:pt idx="95">
                  <c:v>3.9957178464799998</c:v>
                </c:pt>
                <c:pt idx="96">
                  <c:v>4</c:v>
                </c:pt>
              </c:numCache>
            </c:numRef>
          </c:xVal>
          <c:yVal>
            <c:numRef>
              <c:f>'Chart Data'!$F$2:$F$98</c:f>
              <c:numCache>
                <c:formatCode>0.##</c:formatCode>
                <c:ptCount val="97"/>
                <c:pt idx="0">
                  <c:v>2</c:v>
                </c:pt>
                <c:pt idx="1">
                  <c:v>2.0924939923800001</c:v>
                </c:pt>
                <c:pt idx="2">
                  <c:v>2.1845919112800001</c:v>
                </c:pt>
                <c:pt idx="3">
                  <c:v>2.2758993792800002</c:v>
                </c:pt>
                <c:pt idx="4">
                  <c:v>2.3660254037800001</c:v>
                </c:pt>
                <c:pt idx="5">
                  <c:v>2.4545840513099999</c:v>
                </c:pt>
                <c:pt idx="6">
                  <c:v>2.5411961001500001</c:v>
                </c:pt>
                <c:pt idx="7">
                  <c:v>2.62549066419</c:v>
                </c:pt>
                <c:pt idx="8">
                  <c:v>2.7071067811899998</c:v>
                </c:pt>
                <c:pt idx="9">
                  <c:v>2.7856949583900001</c:v>
                </c:pt>
                <c:pt idx="10">
                  <c:v>2.8609186691500001</c:v>
                </c:pt>
                <c:pt idx="11">
                  <c:v>2.93245579401</c:v>
                </c:pt>
                <c:pt idx="12">
                  <c:v>3</c:v>
                </c:pt>
                <c:pt idx="13">
                  <c:v>3.0632620524699998</c:v>
                </c:pt>
                <c:pt idx="14">
                  <c:v>3.1219710535899998</c:v>
                </c:pt>
                <c:pt idx="15">
                  <c:v>3.1758756024200001</c:v>
                </c:pt>
                <c:pt idx="16">
                  <c:v>3.22474487139</c:v>
                </c:pt>
                <c:pt idx="17">
                  <c:v>3.2683695948000002</c:v>
                </c:pt>
                <c:pt idx="18">
                  <c:v>3.3065629648799999</c:v>
                </c:pt>
                <c:pt idx="19">
                  <c:v>3.33916143175</c:v>
                </c:pt>
                <c:pt idx="20">
                  <c:v>3.3660254037800001</c:v>
                </c:pt>
                <c:pt idx="21">
                  <c:v>3.3870398453199999</c:v>
                </c:pt>
                <c:pt idx="22">
                  <c:v>3.4021147692999998</c:v>
                </c:pt>
                <c:pt idx="23">
                  <c:v>3.4111856225800001</c:v>
                </c:pt>
                <c:pt idx="24">
                  <c:v>3.4142135623700001</c:v>
                </c:pt>
                <c:pt idx="25">
                  <c:v>3.4111856225800001</c:v>
                </c:pt>
                <c:pt idx="26">
                  <c:v>3.4021147692999998</c:v>
                </c:pt>
                <c:pt idx="27">
                  <c:v>3.3870398453199999</c:v>
                </c:pt>
                <c:pt idx="28">
                  <c:v>3.3660254037800001</c:v>
                </c:pt>
                <c:pt idx="29">
                  <c:v>3.33916143175</c:v>
                </c:pt>
                <c:pt idx="30">
                  <c:v>3.3065629648799999</c:v>
                </c:pt>
                <c:pt idx="31">
                  <c:v>3.2683695948000002</c:v>
                </c:pt>
                <c:pt idx="32">
                  <c:v>3.22474487139</c:v>
                </c:pt>
                <c:pt idx="33">
                  <c:v>3.1758756024200001</c:v>
                </c:pt>
                <c:pt idx="34">
                  <c:v>3.1219710535899998</c:v>
                </c:pt>
                <c:pt idx="35">
                  <c:v>3.0632620524699998</c:v>
                </c:pt>
                <c:pt idx="36">
                  <c:v>3</c:v>
                </c:pt>
                <c:pt idx="37">
                  <c:v>2.93245579401</c:v>
                </c:pt>
                <c:pt idx="38">
                  <c:v>2.8609186691500001</c:v>
                </c:pt>
                <c:pt idx="39">
                  <c:v>2.7856949583900001</c:v>
                </c:pt>
                <c:pt idx="40">
                  <c:v>2.7071067811899998</c:v>
                </c:pt>
                <c:pt idx="41">
                  <c:v>2.62549066419</c:v>
                </c:pt>
                <c:pt idx="42">
                  <c:v>2.5411961001500001</c:v>
                </c:pt>
                <c:pt idx="43">
                  <c:v>2.4545840513099999</c:v>
                </c:pt>
                <c:pt idx="44">
                  <c:v>2.3660254037800001</c:v>
                </c:pt>
                <c:pt idx="45">
                  <c:v>2.2758993792800002</c:v>
                </c:pt>
                <c:pt idx="46">
                  <c:v>2.1845919112800001</c:v>
                </c:pt>
                <c:pt idx="47">
                  <c:v>2.0924939923800001</c:v>
                </c:pt>
                <c:pt idx="48">
                  <c:v>2</c:v>
                </c:pt>
                <c:pt idx="49">
                  <c:v>1.9075060076200001</c:v>
                </c:pt>
                <c:pt idx="50">
                  <c:v>1.8154080887199999</c:v>
                </c:pt>
                <c:pt idx="51">
                  <c:v>1.72410062072</c:v>
                </c:pt>
                <c:pt idx="52">
                  <c:v>1.6339745962200001</c:v>
                </c:pt>
                <c:pt idx="53">
                  <c:v>1.5454159486900001</c:v>
                </c:pt>
                <c:pt idx="54">
                  <c:v>1.4588038998499999</c:v>
                </c:pt>
                <c:pt idx="55">
                  <c:v>1.37450933581</c:v>
                </c:pt>
                <c:pt idx="56">
                  <c:v>1.29289321881</c:v>
                </c:pt>
                <c:pt idx="57">
                  <c:v>1.2143050416100001</c:v>
                </c:pt>
                <c:pt idx="58">
                  <c:v>1.1390813308500001</c:v>
                </c:pt>
                <c:pt idx="59">
                  <c:v>1.06754420599</c:v>
                </c:pt>
                <c:pt idx="60">
                  <c:v>1</c:v>
                </c:pt>
                <c:pt idx="61">
                  <c:v>0.93673794753100004</c:v>
                </c:pt>
                <c:pt idx="62">
                  <c:v>0.87802894640600004</c:v>
                </c:pt>
                <c:pt idx="63">
                  <c:v>0.82412439758099998</c:v>
                </c:pt>
                <c:pt idx="64">
                  <c:v>0.77525512860800005</c:v>
                </c:pt>
                <c:pt idx="65">
                  <c:v>0.73163040520199996</c:v>
                </c:pt>
                <c:pt idx="66">
                  <c:v>0.69343703512400001</c:v>
                </c:pt>
                <c:pt idx="67">
                  <c:v>0.66083856824800002</c:v>
                </c:pt>
                <c:pt idx="68">
                  <c:v>0.63397459621600005</c:v>
                </c:pt>
                <c:pt idx="69">
                  <c:v>0.61296015467800002</c:v>
                </c:pt>
                <c:pt idx="70">
                  <c:v>0.59788523069999999</c:v>
                </c:pt>
                <c:pt idx="71">
                  <c:v>0.58881437742099996</c:v>
                </c:pt>
                <c:pt idx="72">
                  <c:v>0.585786437627</c:v>
                </c:pt>
                <c:pt idx="73">
                  <c:v>0.58881437742099996</c:v>
                </c:pt>
                <c:pt idx="74">
                  <c:v>0.59788523069999999</c:v>
                </c:pt>
                <c:pt idx="75">
                  <c:v>0.61296015467800002</c:v>
                </c:pt>
                <c:pt idx="76">
                  <c:v>0.63397459621600005</c:v>
                </c:pt>
                <c:pt idx="77">
                  <c:v>0.66083856824800002</c:v>
                </c:pt>
                <c:pt idx="78">
                  <c:v>0.69343703512400001</c:v>
                </c:pt>
                <c:pt idx="79">
                  <c:v>0.73163040520199996</c:v>
                </c:pt>
                <c:pt idx="80">
                  <c:v>0.77525512860800005</c:v>
                </c:pt>
                <c:pt idx="81">
                  <c:v>0.82412439758099998</c:v>
                </c:pt>
                <c:pt idx="82">
                  <c:v>0.87802894640600004</c:v>
                </c:pt>
                <c:pt idx="83">
                  <c:v>0.93673794753100004</c:v>
                </c:pt>
                <c:pt idx="84">
                  <c:v>1</c:v>
                </c:pt>
                <c:pt idx="85">
                  <c:v>1.06754420599</c:v>
                </c:pt>
                <c:pt idx="86">
                  <c:v>1.1390813308500001</c:v>
                </c:pt>
                <c:pt idx="87">
                  <c:v>1.2143050416100001</c:v>
                </c:pt>
                <c:pt idx="88">
                  <c:v>1.29289321881</c:v>
                </c:pt>
                <c:pt idx="89">
                  <c:v>1.37450933581</c:v>
                </c:pt>
                <c:pt idx="90">
                  <c:v>1.4588038998499999</c:v>
                </c:pt>
                <c:pt idx="91">
                  <c:v>1.5454159486900001</c:v>
                </c:pt>
                <c:pt idx="92">
                  <c:v>1.6339745962200001</c:v>
                </c:pt>
                <c:pt idx="93">
                  <c:v>1.72410062072</c:v>
                </c:pt>
                <c:pt idx="94">
                  <c:v>1.8154080887199999</c:v>
                </c:pt>
                <c:pt idx="95">
                  <c:v>1.9075060076200001</c:v>
                </c:pt>
                <c:pt idx="96">
                  <c:v>2</c:v>
                </c:pt>
              </c:numCache>
            </c:numRef>
          </c:yVal>
          <c:smooth val="0"/>
          <c:extLst>
            <c:ext xmlns:c16="http://schemas.microsoft.com/office/drawing/2014/chart" uri="{C3380CC4-5D6E-409C-BE32-E72D297353CC}">
              <c16:uniqueId val="{00000002-5A8A-4B5D-910B-659EE69D6078}"/>
            </c:ext>
          </c:extLst>
        </c:ser>
        <c:ser>
          <c:idx val="3"/>
          <c:order val="3"/>
          <c:tx>
            <c:v>Loss 46</c:v>
          </c:tx>
          <c:spPr>
            <a:ln w="14288">
              <a:solidFill>
                <a:srgbClr val="DAE5EE"/>
              </a:solidFill>
            </a:ln>
          </c:spPr>
          <c:marker>
            <c:symbol val="none"/>
          </c:marker>
          <c:xVal>
            <c:numRef>
              <c:f>'Chart Data'!$G$2:$G$98</c:f>
              <c:numCache>
                <c:formatCode>General</c:formatCode>
                <c:ptCount val="97"/>
                <c:pt idx="0">
                  <c:v>4.8284271247500001</c:v>
                </c:pt>
                <c:pt idx="1">
                  <c:v>4.8223712451600003</c:v>
                </c:pt>
                <c:pt idx="2">
                  <c:v>4.8042295385999996</c:v>
                </c:pt>
                <c:pt idx="3">
                  <c:v>4.7740796906399998</c:v>
                </c:pt>
                <c:pt idx="4">
                  <c:v>4.7320508075700003</c:v>
                </c:pt>
                <c:pt idx="5">
                  <c:v>4.6783228635</c:v>
                </c:pt>
                <c:pt idx="6">
                  <c:v>4.6131259297499998</c:v>
                </c:pt>
                <c:pt idx="7">
                  <c:v>4.5367391896000004</c:v>
                </c:pt>
                <c:pt idx="8">
                  <c:v>4.44948974278</c:v>
                </c:pt>
                <c:pt idx="9">
                  <c:v>4.3517512048400002</c:v>
                </c:pt>
                <c:pt idx="10">
                  <c:v>4.2439421071899996</c:v>
                </c:pt>
                <c:pt idx="11">
                  <c:v>4.1265241049399997</c:v>
                </c:pt>
                <c:pt idx="12">
                  <c:v>4</c:v>
                </c:pt>
                <c:pt idx="13">
                  <c:v>3.86491158802</c:v>
                </c:pt>
                <c:pt idx="14">
                  <c:v>3.7218373383099999</c:v>
                </c:pt>
                <c:pt idx="15">
                  <c:v>3.5713899167699998</c:v>
                </c:pt>
                <c:pt idx="16">
                  <c:v>3.4142135623700001</c:v>
                </c:pt>
                <c:pt idx="17">
                  <c:v>3.25098132838</c:v>
                </c:pt>
                <c:pt idx="18">
                  <c:v>3.0823922002900002</c:v>
                </c:pt>
                <c:pt idx="19">
                  <c:v>2.9091681026299998</c:v>
                </c:pt>
                <c:pt idx="20">
                  <c:v>2.7320508075699999</c:v>
                </c:pt>
                <c:pt idx="21">
                  <c:v>2.5517987585699999</c:v>
                </c:pt>
                <c:pt idx="22">
                  <c:v>2.3691838225700002</c:v>
                </c:pt>
                <c:pt idx="23">
                  <c:v>2.1849879847599998</c:v>
                </c:pt>
                <c:pt idx="24">
                  <c:v>2</c:v>
                </c:pt>
                <c:pt idx="25">
                  <c:v>1.81501201524</c:v>
                </c:pt>
                <c:pt idx="26">
                  <c:v>1.6308161774300001</c:v>
                </c:pt>
                <c:pt idx="27">
                  <c:v>1.4482012414300001</c:v>
                </c:pt>
                <c:pt idx="28">
                  <c:v>1.2679491924299999</c:v>
                </c:pt>
                <c:pt idx="29">
                  <c:v>1.09083189737</c:v>
                </c:pt>
                <c:pt idx="30">
                  <c:v>0.91760779970799999</c:v>
                </c:pt>
                <c:pt idx="31">
                  <c:v>0.749018671616</c:v>
                </c:pt>
                <c:pt idx="32">
                  <c:v>0.585786437627</c:v>
                </c:pt>
                <c:pt idx="33">
                  <c:v>0.42861008322600003</c:v>
                </c:pt>
                <c:pt idx="34">
                  <c:v>0.27816266169199999</c:v>
                </c:pt>
                <c:pt idx="35">
                  <c:v>0.13508841198300001</c:v>
                </c:pt>
                <c:pt idx="36">
                  <c:v>0</c:v>
                </c:pt>
                <c:pt idx="37">
                  <c:v>-0.126524104937</c:v>
                </c:pt>
                <c:pt idx="38">
                  <c:v>-0.243942107188</c:v>
                </c:pt>
                <c:pt idx="39">
                  <c:v>-0.35175120483900002</c:v>
                </c:pt>
                <c:pt idx="40">
                  <c:v>-0.44948974278300002</c:v>
                </c:pt>
                <c:pt idx="41">
                  <c:v>-0.53673918959699995</c:v>
                </c:pt>
                <c:pt idx="42">
                  <c:v>-0.61312592975299995</c:v>
                </c:pt>
                <c:pt idx="43">
                  <c:v>-0.67832286350299997</c:v>
                </c:pt>
                <c:pt idx="44">
                  <c:v>-0.73205080756899998</c:v>
                </c:pt>
                <c:pt idx="45">
                  <c:v>-0.77407969064399995</c:v>
                </c:pt>
                <c:pt idx="46">
                  <c:v>-0.80422953860000002</c:v>
                </c:pt>
                <c:pt idx="47">
                  <c:v>-0.82237124515799997</c:v>
                </c:pt>
                <c:pt idx="48">
                  <c:v>-0.828427124746</c:v>
                </c:pt>
                <c:pt idx="49">
                  <c:v>-0.82237124515799997</c:v>
                </c:pt>
                <c:pt idx="50">
                  <c:v>-0.80422953860000002</c:v>
                </c:pt>
                <c:pt idx="51">
                  <c:v>-0.77407969064399995</c:v>
                </c:pt>
                <c:pt idx="52">
                  <c:v>-0.73205080756899998</c:v>
                </c:pt>
                <c:pt idx="53">
                  <c:v>-0.67832286350299997</c:v>
                </c:pt>
                <c:pt idx="54">
                  <c:v>-0.61312592975299995</c:v>
                </c:pt>
                <c:pt idx="55">
                  <c:v>-0.53673918959699995</c:v>
                </c:pt>
                <c:pt idx="56">
                  <c:v>-0.44948974278300002</c:v>
                </c:pt>
                <c:pt idx="57">
                  <c:v>-0.35175120483900002</c:v>
                </c:pt>
                <c:pt idx="58">
                  <c:v>-0.243942107188</c:v>
                </c:pt>
                <c:pt idx="59">
                  <c:v>-0.126524104937</c:v>
                </c:pt>
                <c:pt idx="60">
                  <c:v>-1.3322676295499999E-15</c:v>
                </c:pt>
                <c:pt idx="61">
                  <c:v>0.13508841198300001</c:v>
                </c:pt>
                <c:pt idx="62">
                  <c:v>0.27816266169199999</c:v>
                </c:pt>
                <c:pt idx="63">
                  <c:v>0.42861008322600003</c:v>
                </c:pt>
                <c:pt idx="64">
                  <c:v>0.585786437627</c:v>
                </c:pt>
                <c:pt idx="65">
                  <c:v>0.749018671616</c:v>
                </c:pt>
                <c:pt idx="66">
                  <c:v>0.91760779970799999</c:v>
                </c:pt>
                <c:pt idx="67">
                  <c:v>1.09083189737</c:v>
                </c:pt>
                <c:pt idx="68">
                  <c:v>1.2679491924299999</c:v>
                </c:pt>
                <c:pt idx="69">
                  <c:v>1.4482012414300001</c:v>
                </c:pt>
                <c:pt idx="70">
                  <c:v>1.6308161774300001</c:v>
                </c:pt>
                <c:pt idx="71">
                  <c:v>1.81501201524</c:v>
                </c:pt>
                <c:pt idx="72">
                  <c:v>2</c:v>
                </c:pt>
                <c:pt idx="73">
                  <c:v>2.1849879847599998</c:v>
                </c:pt>
                <c:pt idx="74">
                  <c:v>2.3691838225700002</c:v>
                </c:pt>
                <c:pt idx="75">
                  <c:v>2.5517987585699999</c:v>
                </c:pt>
                <c:pt idx="76">
                  <c:v>2.7320508075699999</c:v>
                </c:pt>
                <c:pt idx="77">
                  <c:v>2.9091681026299998</c:v>
                </c:pt>
                <c:pt idx="78">
                  <c:v>3.0823922002900002</c:v>
                </c:pt>
                <c:pt idx="79">
                  <c:v>3.25098132838</c:v>
                </c:pt>
                <c:pt idx="80">
                  <c:v>3.4142135623700001</c:v>
                </c:pt>
                <c:pt idx="81">
                  <c:v>3.5713899167699998</c:v>
                </c:pt>
                <c:pt idx="82">
                  <c:v>3.7218373383099999</c:v>
                </c:pt>
                <c:pt idx="83">
                  <c:v>3.86491158802</c:v>
                </c:pt>
                <c:pt idx="84">
                  <c:v>4</c:v>
                </c:pt>
                <c:pt idx="85">
                  <c:v>4.1265241049399997</c:v>
                </c:pt>
                <c:pt idx="86">
                  <c:v>4.2439421071899996</c:v>
                </c:pt>
                <c:pt idx="87">
                  <c:v>4.3517512048400002</c:v>
                </c:pt>
                <c:pt idx="88">
                  <c:v>4.44948974278</c:v>
                </c:pt>
                <c:pt idx="89">
                  <c:v>4.5367391896000004</c:v>
                </c:pt>
                <c:pt idx="90">
                  <c:v>4.6131259297499998</c:v>
                </c:pt>
                <c:pt idx="91">
                  <c:v>4.6783228635</c:v>
                </c:pt>
                <c:pt idx="92">
                  <c:v>4.7320508075700003</c:v>
                </c:pt>
                <c:pt idx="93">
                  <c:v>4.7740796906399998</c:v>
                </c:pt>
                <c:pt idx="94">
                  <c:v>4.8042295385999996</c:v>
                </c:pt>
                <c:pt idx="95">
                  <c:v>4.8223712451600003</c:v>
                </c:pt>
                <c:pt idx="96">
                  <c:v>4.8284271247500001</c:v>
                </c:pt>
              </c:numCache>
            </c:numRef>
          </c:xVal>
          <c:yVal>
            <c:numRef>
              <c:f>'Chart Data'!$H$2:$H$98</c:f>
              <c:numCache>
                <c:formatCode>0.##</c:formatCode>
                <c:ptCount val="97"/>
                <c:pt idx="0">
                  <c:v>2</c:v>
                </c:pt>
                <c:pt idx="1">
                  <c:v>2.1308062584599998</c:v>
                </c:pt>
                <c:pt idx="2">
                  <c:v>2.2610523844400001</c:v>
                </c:pt>
                <c:pt idx="3">
                  <c:v>2.39018064403</c:v>
                </c:pt>
                <c:pt idx="4">
                  <c:v>2.5176380902100002</c:v>
                </c:pt>
                <c:pt idx="5">
                  <c:v>2.6428789306099998</c:v>
                </c:pt>
                <c:pt idx="6">
                  <c:v>2.7653668647299998</c:v>
                </c:pt>
                <c:pt idx="7">
                  <c:v>2.8845773804400001</c:v>
                </c:pt>
                <c:pt idx="8">
                  <c:v>3</c:v>
                </c:pt>
                <c:pt idx="9">
                  <c:v>3.1111404660400002</c:v>
                </c:pt>
                <c:pt idx="10">
                  <c:v>3.2175228580200002</c:v>
                </c:pt>
                <c:pt idx="11">
                  <c:v>3.3186916302</c:v>
                </c:pt>
                <c:pt idx="12">
                  <c:v>3.4142135623700001</c:v>
                </c:pt>
                <c:pt idx="13">
                  <c:v>3.5036796149599998</c:v>
                </c:pt>
                <c:pt idx="14">
                  <c:v>3.5867066805799999</c:v>
                </c:pt>
                <c:pt idx="15">
                  <c:v>3.6629392246100001</c:v>
                </c:pt>
                <c:pt idx="16">
                  <c:v>3.7320508075699999</c:v>
                </c:pt>
                <c:pt idx="17">
                  <c:v>3.7937454830699999</c:v>
                </c:pt>
                <c:pt idx="18">
                  <c:v>3.84775906502</c:v>
                </c:pt>
                <c:pt idx="19">
                  <c:v>3.8938602589900002</c:v>
                </c:pt>
                <c:pt idx="20">
                  <c:v>3.9318516525799998</c:v>
                </c:pt>
                <c:pt idx="21">
                  <c:v>3.9615705608099998</c:v>
                </c:pt>
                <c:pt idx="22">
                  <c:v>3.98288972275</c:v>
                </c:pt>
                <c:pt idx="23">
                  <c:v>3.9957178464799998</c:v>
                </c:pt>
                <c:pt idx="24">
                  <c:v>4</c:v>
                </c:pt>
                <c:pt idx="25">
                  <c:v>3.9957178464799998</c:v>
                </c:pt>
                <c:pt idx="26">
                  <c:v>3.98288972275</c:v>
                </c:pt>
                <c:pt idx="27">
                  <c:v>3.9615705608099998</c:v>
                </c:pt>
                <c:pt idx="28">
                  <c:v>3.9318516525799998</c:v>
                </c:pt>
                <c:pt idx="29">
                  <c:v>3.8938602589900002</c:v>
                </c:pt>
                <c:pt idx="30">
                  <c:v>3.84775906502</c:v>
                </c:pt>
                <c:pt idx="31">
                  <c:v>3.7937454830699999</c:v>
                </c:pt>
                <c:pt idx="32">
                  <c:v>3.7320508075699999</c:v>
                </c:pt>
                <c:pt idx="33">
                  <c:v>3.6629392246100001</c:v>
                </c:pt>
                <c:pt idx="34">
                  <c:v>3.5867066805799999</c:v>
                </c:pt>
                <c:pt idx="35">
                  <c:v>3.5036796149599998</c:v>
                </c:pt>
                <c:pt idx="36">
                  <c:v>3.4142135623700001</c:v>
                </c:pt>
                <c:pt idx="37">
                  <c:v>3.3186916302</c:v>
                </c:pt>
                <c:pt idx="38">
                  <c:v>3.2175228580200002</c:v>
                </c:pt>
                <c:pt idx="39">
                  <c:v>3.1111404660400002</c:v>
                </c:pt>
                <c:pt idx="40">
                  <c:v>3</c:v>
                </c:pt>
                <c:pt idx="41">
                  <c:v>2.8845773804400001</c:v>
                </c:pt>
                <c:pt idx="42">
                  <c:v>2.7653668647299998</c:v>
                </c:pt>
                <c:pt idx="43">
                  <c:v>2.6428789306099998</c:v>
                </c:pt>
                <c:pt idx="44">
                  <c:v>2.5176380902100002</c:v>
                </c:pt>
                <c:pt idx="45">
                  <c:v>2.39018064403</c:v>
                </c:pt>
                <c:pt idx="46">
                  <c:v>2.2610523844400001</c:v>
                </c:pt>
                <c:pt idx="47">
                  <c:v>2.1308062584599998</c:v>
                </c:pt>
                <c:pt idx="48">
                  <c:v>2</c:v>
                </c:pt>
                <c:pt idx="49">
                  <c:v>1.86919374154</c:v>
                </c:pt>
                <c:pt idx="50">
                  <c:v>1.7389476155600001</c:v>
                </c:pt>
                <c:pt idx="51">
                  <c:v>1.60981935597</c:v>
                </c:pt>
                <c:pt idx="52">
                  <c:v>1.48236190979</c:v>
                </c:pt>
                <c:pt idx="53">
                  <c:v>1.35712106939</c:v>
                </c:pt>
                <c:pt idx="54">
                  <c:v>1.23463313527</c:v>
                </c:pt>
                <c:pt idx="55">
                  <c:v>1.1154226195600001</c:v>
                </c:pt>
                <c:pt idx="56">
                  <c:v>1</c:v>
                </c:pt>
                <c:pt idx="57">
                  <c:v>0.88885953396100004</c:v>
                </c:pt>
                <c:pt idx="58">
                  <c:v>0.782477141983</c:v>
                </c:pt>
                <c:pt idx="59">
                  <c:v>0.68130836979999998</c:v>
                </c:pt>
                <c:pt idx="60">
                  <c:v>0.585786437627</c:v>
                </c:pt>
                <c:pt idx="61">
                  <c:v>0.49632038504199999</c:v>
                </c:pt>
                <c:pt idx="62">
                  <c:v>0.41329331941800002</c:v>
                </c:pt>
                <c:pt idx="63">
                  <c:v>0.33706077539500001</c:v>
                </c:pt>
                <c:pt idx="64">
                  <c:v>0.26794919243100002</c:v>
                </c:pt>
                <c:pt idx="65">
                  <c:v>0.20625451693499999</c:v>
                </c:pt>
                <c:pt idx="66">
                  <c:v>0.152240934977</c:v>
                </c:pt>
                <c:pt idx="67">
                  <c:v>0.10613974101</c:v>
                </c:pt>
                <c:pt idx="68">
                  <c:v>6.8148347421899999E-2</c:v>
                </c:pt>
                <c:pt idx="69">
                  <c:v>3.8429439193499997E-2</c:v>
                </c:pt>
                <c:pt idx="70">
                  <c:v>1.71102772524E-2</c:v>
                </c:pt>
                <c:pt idx="71">
                  <c:v>4.28215352279E-3</c:v>
                </c:pt>
                <c:pt idx="72">
                  <c:v>0</c:v>
                </c:pt>
                <c:pt idx="73">
                  <c:v>4.28215352279E-3</c:v>
                </c:pt>
                <c:pt idx="74">
                  <c:v>1.71102772524E-2</c:v>
                </c:pt>
                <c:pt idx="75">
                  <c:v>3.8429439193499997E-2</c:v>
                </c:pt>
                <c:pt idx="76">
                  <c:v>6.8148347421899999E-2</c:v>
                </c:pt>
                <c:pt idx="77">
                  <c:v>0.10613974101</c:v>
                </c:pt>
                <c:pt idx="78">
                  <c:v>0.152240934977</c:v>
                </c:pt>
                <c:pt idx="79">
                  <c:v>0.20625451693499999</c:v>
                </c:pt>
                <c:pt idx="80">
                  <c:v>0.26794919243100002</c:v>
                </c:pt>
                <c:pt idx="81">
                  <c:v>0.33706077539500001</c:v>
                </c:pt>
                <c:pt idx="82">
                  <c:v>0.41329331941800002</c:v>
                </c:pt>
                <c:pt idx="83">
                  <c:v>0.49632038504199999</c:v>
                </c:pt>
                <c:pt idx="84">
                  <c:v>0.585786437627</c:v>
                </c:pt>
                <c:pt idx="85">
                  <c:v>0.68130836979999998</c:v>
                </c:pt>
                <c:pt idx="86">
                  <c:v>0.782477141983</c:v>
                </c:pt>
                <c:pt idx="87">
                  <c:v>0.88885953396100004</c:v>
                </c:pt>
                <c:pt idx="88">
                  <c:v>1</c:v>
                </c:pt>
                <c:pt idx="89">
                  <c:v>1.1154226195600001</c:v>
                </c:pt>
                <c:pt idx="90">
                  <c:v>1.23463313527</c:v>
                </c:pt>
                <c:pt idx="91">
                  <c:v>1.35712106939</c:v>
                </c:pt>
                <c:pt idx="92">
                  <c:v>1.48236190979</c:v>
                </c:pt>
                <c:pt idx="93">
                  <c:v>1.60981935597</c:v>
                </c:pt>
                <c:pt idx="94">
                  <c:v>1.7389476155600001</c:v>
                </c:pt>
                <c:pt idx="95">
                  <c:v>1.86919374154</c:v>
                </c:pt>
                <c:pt idx="96">
                  <c:v>2</c:v>
                </c:pt>
              </c:numCache>
            </c:numRef>
          </c:yVal>
          <c:smooth val="0"/>
          <c:extLst>
            <c:ext xmlns:c16="http://schemas.microsoft.com/office/drawing/2014/chart" uri="{C3380CC4-5D6E-409C-BE32-E72D297353CC}">
              <c16:uniqueId val="{00000003-5A8A-4B5D-910B-659EE69D6078}"/>
            </c:ext>
          </c:extLst>
        </c:ser>
        <c:ser>
          <c:idx val="4"/>
          <c:order val="4"/>
          <c:tx>
            <c:v>Loss 66</c:v>
          </c:tx>
          <c:spPr>
            <a:ln w="14288">
              <a:solidFill>
                <a:srgbClr val="DAE5EE"/>
              </a:solidFill>
            </a:ln>
          </c:spPr>
          <c:marker>
            <c:symbol val="none"/>
          </c:marker>
          <c:xVal>
            <c:numRef>
              <c:f>'Chart Data'!$I$2:$I$98</c:f>
              <c:numCache>
                <c:formatCode>General</c:formatCode>
                <c:ptCount val="97"/>
                <c:pt idx="0">
                  <c:v>5.4641016151399997</c:v>
                </c:pt>
                <c:pt idx="1">
                  <c:v>5.45668470767</c:v>
                </c:pt>
                <c:pt idx="2">
                  <c:v>5.4344657456099998</c:v>
                </c:pt>
                <c:pt idx="3">
                  <c:v>5.3975398739499996</c:v>
                </c:pt>
                <c:pt idx="4">
                  <c:v>5.3460652149500003</c:v>
                </c:pt>
                <c:pt idx="5">
                  <c:v>5.2802621910100003</c:v>
                </c:pt>
                <c:pt idx="6">
                  <c:v>5.2004125807700001</c:v>
                </c:pt>
                <c:pt idx="7">
                  <c:v>5.10685831252</c:v>
                </c:pt>
                <c:pt idx="8">
                  <c:v>5</c:v>
                </c:pt>
                <c:pt idx="9">
                  <c:v>4.8802952269200004</c:v>
                </c:pt>
                <c:pt idx="10">
                  <c:v>4.7482565874800002</c:v>
                </c:pt>
                <c:pt idx="11">
                  <c:v>4.6044494914099996</c:v>
                </c:pt>
                <c:pt idx="12">
                  <c:v>4.44948974278</c:v>
                </c:pt>
                <c:pt idx="13">
                  <c:v>4.2840409030200002</c:v>
                </c:pt>
                <c:pt idx="14">
                  <c:v>4.1088114494600001</c:v>
                </c:pt>
                <c:pt idx="15">
                  <c:v>3.9245517415300002</c:v>
                </c:pt>
                <c:pt idx="16">
                  <c:v>3.7320508075699999</c:v>
                </c:pt>
                <c:pt idx="17">
                  <c:v>3.5321329661399998</c:v>
                </c:pt>
                <c:pt idx="18">
                  <c:v>3.3256542961400002</c:v>
                </c:pt>
                <c:pt idx="19">
                  <c:v>3.1134989709299998</c:v>
                </c:pt>
                <c:pt idx="20">
                  <c:v>2.8965754721699999</c:v>
                </c:pt>
                <c:pt idx="21">
                  <c:v>2.6758126995899998</c:v>
                </c:pt>
                <c:pt idx="22">
                  <c:v>2.4521559932899999</c:v>
                </c:pt>
                <c:pt idx="23">
                  <c:v>2.2265630856</c:v>
                </c:pt>
                <c:pt idx="24">
                  <c:v>2</c:v>
                </c:pt>
                <c:pt idx="25">
                  <c:v>1.7734369144</c:v>
                </c:pt>
                <c:pt idx="26">
                  <c:v>1.5478440067100001</c:v>
                </c:pt>
                <c:pt idx="27">
                  <c:v>1.32418730041</c:v>
                </c:pt>
                <c:pt idx="28">
                  <c:v>1.1034245278299999</c:v>
                </c:pt>
                <c:pt idx="29">
                  <c:v>0.88650102907399997</c:v>
                </c:pt>
                <c:pt idx="30">
                  <c:v>0.67434570385799997</c:v>
                </c:pt>
                <c:pt idx="31">
                  <c:v>0.467867033855</c:v>
                </c:pt>
                <c:pt idx="32">
                  <c:v>0.26794919243100002</c:v>
                </c:pt>
                <c:pt idx="33">
                  <c:v>7.5448258474300006E-2</c:v>
                </c:pt>
                <c:pt idx="34">
                  <c:v>-0.108811449463</c:v>
                </c:pt>
                <c:pt idx="35">
                  <c:v>-0.28404090302200002</c:v>
                </c:pt>
                <c:pt idx="36">
                  <c:v>-0.44948974278300002</c:v>
                </c:pt>
                <c:pt idx="37">
                  <c:v>-0.60444949141299997</c:v>
                </c:pt>
                <c:pt idx="38">
                  <c:v>-0.74825658747799995</c:v>
                </c:pt>
                <c:pt idx="39">
                  <c:v>-0.88029522691499995</c:v>
                </c:pt>
                <c:pt idx="40">
                  <c:v>-1</c:v>
                </c:pt>
                <c:pt idx="41">
                  <c:v>-1.10685831252</c:v>
                </c:pt>
                <c:pt idx="42">
                  <c:v>-1.2004125807699999</c:v>
                </c:pt>
                <c:pt idx="43">
                  <c:v>-1.2802621910100001</c:v>
                </c:pt>
                <c:pt idx="44">
                  <c:v>-1.3460652149500001</c:v>
                </c:pt>
                <c:pt idx="45">
                  <c:v>-1.39753987395</c:v>
                </c:pt>
                <c:pt idx="46">
                  <c:v>-1.4344657456100001</c:v>
                </c:pt>
                <c:pt idx="47">
                  <c:v>-1.45668470767</c:v>
                </c:pt>
                <c:pt idx="48">
                  <c:v>-1.4641016151399999</c:v>
                </c:pt>
                <c:pt idx="49">
                  <c:v>-1.45668470767</c:v>
                </c:pt>
                <c:pt idx="50">
                  <c:v>-1.4344657456100001</c:v>
                </c:pt>
                <c:pt idx="51">
                  <c:v>-1.39753987395</c:v>
                </c:pt>
                <c:pt idx="52">
                  <c:v>-1.3460652149500001</c:v>
                </c:pt>
                <c:pt idx="53">
                  <c:v>-1.2802621910100001</c:v>
                </c:pt>
                <c:pt idx="54">
                  <c:v>-1.2004125807699999</c:v>
                </c:pt>
                <c:pt idx="55">
                  <c:v>-1.10685831252</c:v>
                </c:pt>
                <c:pt idx="56">
                  <c:v>-1</c:v>
                </c:pt>
                <c:pt idx="57">
                  <c:v>-0.88029522691499995</c:v>
                </c:pt>
                <c:pt idx="58">
                  <c:v>-0.74825658747799995</c:v>
                </c:pt>
                <c:pt idx="59">
                  <c:v>-0.60444949141299997</c:v>
                </c:pt>
                <c:pt idx="60">
                  <c:v>-0.44948974278300002</c:v>
                </c:pt>
                <c:pt idx="61">
                  <c:v>-0.28404090302200002</c:v>
                </c:pt>
                <c:pt idx="62">
                  <c:v>-0.108811449463</c:v>
                </c:pt>
                <c:pt idx="63">
                  <c:v>7.5448258474300006E-2</c:v>
                </c:pt>
                <c:pt idx="64">
                  <c:v>0.26794919243100002</c:v>
                </c:pt>
                <c:pt idx="65">
                  <c:v>0.467867033855</c:v>
                </c:pt>
                <c:pt idx="66">
                  <c:v>0.67434570385799997</c:v>
                </c:pt>
                <c:pt idx="67">
                  <c:v>0.88650102907399997</c:v>
                </c:pt>
                <c:pt idx="68">
                  <c:v>1.1034245278299999</c:v>
                </c:pt>
                <c:pt idx="69">
                  <c:v>1.32418730041</c:v>
                </c:pt>
                <c:pt idx="70">
                  <c:v>1.5478440067100001</c:v>
                </c:pt>
                <c:pt idx="71">
                  <c:v>1.7734369144</c:v>
                </c:pt>
                <c:pt idx="72">
                  <c:v>2</c:v>
                </c:pt>
                <c:pt idx="73">
                  <c:v>2.2265630856</c:v>
                </c:pt>
                <c:pt idx="74">
                  <c:v>2.4521559932899999</c:v>
                </c:pt>
                <c:pt idx="75">
                  <c:v>2.6758126995899998</c:v>
                </c:pt>
                <c:pt idx="76">
                  <c:v>2.8965754721699999</c:v>
                </c:pt>
                <c:pt idx="77">
                  <c:v>3.1134989709299998</c:v>
                </c:pt>
                <c:pt idx="78">
                  <c:v>3.3256542961400002</c:v>
                </c:pt>
                <c:pt idx="79">
                  <c:v>3.5321329661399998</c:v>
                </c:pt>
                <c:pt idx="80">
                  <c:v>3.7320508075699999</c:v>
                </c:pt>
                <c:pt idx="81">
                  <c:v>3.9245517415300002</c:v>
                </c:pt>
                <c:pt idx="82">
                  <c:v>4.1088114494600001</c:v>
                </c:pt>
                <c:pt idx="83">
                  <c:v>4.2840409030200002</c:v>
                </c:pt>
                <c:pt idx="84">
                  <c:v>4.44948974278</c:v>
                </c:pt>
                <c:pt idx="85">
                  <c:v>4.6044494914099996</c:v>
                </c:pt>
                <c:pt idx="86">
                  <c:v>4.7482565874800002</c:v>
                </c:pt>
                <c:pt idx="87">
                  <c:v>4.8802952269200004</c:v>
                </c:pt>
                <c:pt idx="88">
                  <c:v>5</c:v>
                </c:pt>
                <c:pt idx="89">
                  <c:v>5.10685831252</c:v>
                </c:pt>
                <c:pt idx="90">
                  <c:v>5.2004125807700001</c:v>
                </c:pt>
                <c:pt idx="91">
                  <c:v>5.2802621910100003</c:v>
                </c:pt>
                <c:pt idx="92">
                  <c:v>5.3460652149500003</c:v>
                </c:pt>
                <c:pt idx="93">
                  <c:v>5.3975398739499996</c:v>
                </c:pt>
                <c:pt idx="94">
                  <c:v>5.4344657456099998</c:v>
                </c:pt>
                <c:pt idx="95">
                  <c:v>5.45668470767</c:v>
                </c:pt>
                <c:pt idx="96">
                  <c:v>5.4641016151399997</c:v>
                </c:pt>
              </c:numCache>
            </c:numRef>
          </c:xVal>
          <c:yVal>
            <c:numRef>
              <c:f>'Chart Data'!$J$2:$J$98</c:f>
              <c:numCache>
                <c:formatCode>0.##</c:formatCode>
                <c:ptCount val="97"/>
                <c:pt idx="0">
                  <c:v>2</c:v>
                </c:pt>
                <c:pt idx="1">
                  <c:v>2.1602042942000002</c:v>
                </c:pt>
                <c:pt idx="2">
                  <c:v>2.3197225690100001</c:v>
                </c:pt>
                <c:pt idx="3">
                  <c:v>2.4778717426900001</c:v>
                </c:pt>
                <c:pt idx="4">
                  <c:v>2.6339745962199999</c:v>
                </c:pt>
                <c:pt idx="5">
                  <c:v>2.7873626731900001</c:v>
                </c:pt>
                <c:pt idx="6">
                  <c:v>2.9373791423100002</c:v>
                </c:pt>
                <c:pt idx="7">
                  <c:v>3.08338161004</c:v>
                </c:pt>
                <c:pt idx="8">
                  <c:v>3.22474487139</c:v>
                </c:pt>
                <c:pt idx="9">
                  <c:v>3.3608635871799999</c:v>
                </c:pt>
                <c:pt idx="10">
                  <c:v>3.49115487616</c:v>
                </c:pt>
                <c:pt idx="11">
                  <c:v>3.6150608110300002</c:v>
                </c:pt>
                <c:pt idx="12">
                  <c:v>3.7320508075699999</c:v>
                </c:pt>
                <c:pt idx="13">
                  <c:v>3.8416238966399998</c:v>
                </c:pt>
                <c:pt idx="14">
                  <c:v>3.9433108694499999</c:v>
                </c:pt>
                <c:pt idx="15">
                  <c:v>4.0366762867699997</c:v>
                </c:pt>
                <c:pt idx="16">
                  <c:v>4.1213203435599999</c:v>
                </c:pt>
                <c:pt idx="17">
                  <c:v>4.1968805809700003</c:v>
                </c:pt>
                <c:pt idx="18">
                  <c:v>4.2630334384499999</c:v>
                </c:pt>
                <c:pt idx="19">
                  <c:v>4.3194956393300004</c:v>
                </c:pt>
                <c:pt idx="20">
                  <c:v>4.3660254037800001</c:v>
                </c:pt>
                <c:pt idx="21">
                  <c:v>4.4024234842199998</c:v>
                </c:pt>
                <c:pt idx="22">
                  <c:v>4.4285340184699997</c:v>
                </c:pt>
                <c:pt idx="23">
                  <c:v>4.4442451972199999</c:v>
                </c:pt>
                <c:pt idx="24">
                  <c:v>4.44948974278</c:v>
                </c:pt>
                <c:pt idx="25">
                  <c:v>4.4442451972199999</c:v>
                </c:pt>
                <c:pt idx="26">
                  <c:v>4.4285340184699997</c:v>
                </c:pt>
                <c:pt idx="27">
                  <c:v>4.4024234842199998</c:v>
                </c:pt>
                <c:pt idx="28">
                  <c:v>4.3660254037800001</c:v>
                </c:pt>
                <c:pt idx="29">
                  <c:v>4.3194956393300004</c:v>
                </c:pt>
                <c:pt idx="30">
                  <c:v>4.2630334384499999</c:v>
                </c:pt>
                <c:pt idx="31">
                  <c:v>4.1968805809700003</c:v>
                </c:pt>
                <c:pt idx="32">
                  <c:v>4.1213203435599999</c:v>
                </c:pt>
                <c:pt idx="33">
                  <c:v>4.0366762867699997</c:v>
                </c:pt>
                <c:pt idx="34">
                  <c:v>3.9433108694499999</c:v>
                </c:pt>
                <c:pt idx="35">
                  <c:v>3.8416238966399998</c:v>
                </c:pt>
                <c:pt idx="36">
                  <c:v>3.7320508075699999</c:v>
                </c:pt>
                <c:pt idx="37">
                  <c:v>3.6150608110300002</c:v>
                </c:pt>
                <c:pt idx="38">
                  <c:v>3.49115487616</c:v>
                </c:pt>
                <c:pt idx="39">
                  <c:v>3.3608635871799999</c:v>
                </c:pt>
                <c:pt idx="40">
                  <c:v>3.22474487139</c:v>
                </c:pt>
                <c:pt idx="41">
                  <c:v>3.08338161004</c:v>
                </c:pt>
                <c:pt idx="42">
                  <c:v>2.9373791423100002</c:v>
                </c:pt>
                <c:pt idx="43">
                  <c:v>2.7873626731900001</c:v>
                </c:pt>
                <c:pt idx="44">
                  <c:v>2.6339745962199999</c:v>
                </c:pt>
                <c:pt idx="45">
                  <c:v>2.4778717426900001</c:v>
                </c:pt>
                <c:pt idx="46">
                  <c:v>2.3197225690100001</c:v>
                </c:pt>
                <c:pt idx="47">
                  <c:v>2.1602042942000002</c:v>
                </c:pt>
                <c:pt idx="48">
                  <c:v>2</c:v>
                </c:pt>
                <c:pt idx="49">
                  <c:v>1.8397957058000001</c:v>
                </c:pt>
                <c:pt idx="50">
                  <c:v>1.6802774309899999</c:v>
                </c:pt>
                <c:pt idx="51">
                  <c:v>1.5221282573099999</c:v>
                </c:pt>
                <c:pt idx="52">
                  <c:v>1.3660254037799999</c:v>
                </c:pt>
                <c:pt idx="53">
                  <c:v>1.2126373268099999</c:v>
                </c:pt>
                <c:pt idx="54">
                  <c:v>1.06262085769</c:v>
                </c:pt>
                <c:pt idx="55">
                  <c:v>0.91661838996</c:v>
                </c:pt>
                <c:pt idx="56">
                  <c:v>0.77525512860800005</c:v>
                </c:pt>
                <c:pt idx="57">
                  <c:v>0.63913641282300004</c:v>
                </c:pt>
                <c:pt idx="58">
                  <c:v>0.508845123841</c:v>
                </c:pt>
                <c:pt idx="59">
                  <c:v>0.38493918896500001</c:v>
                </c:pt>
                <c:pt idx="60">
                  <c:v>0.26794919243100002</c:v>
                </c:pt>
                <c:pt idx="61">
                  <c:v>0.15837610336399999</c:v>
                </c:pt>
                <c:pt idx="62">
                  <c:v>5.6689130553800003E-2</c:v>
                </c:pt>
                <c:pt idx="63">
                  <c:v>-3.6676286771000002E-2</c:v>
                </c:pt>
                <c:pt idx="64">
                  <c:v>-0.12132034356</c:v>
                </c:pt>
                <c:pt idx="65">
                  <c:v>-0.196880580966</c:v>
                </c:pt>
                <c:pt idx="66">
                  <c:v>-0.26303343845400001</c:v>
                </c:pt>
                <c:pt idx="67">
                  <c:v>-0.319495639331</c:v>
                </c:pt>
                <c:pt idx="68">
                  <c:v>-0.366025403784</c:v>
                </c:pt>
                <c:pt idx="69">
                  <c:v>-0.40242348422000002</c:v>
                </c:pt>
                <c:pt idx="70">
                  <c:v>-0.42853401847</c:v>
                </c:pt>
                <c:pt idx="71">
                  <c:v>-0.44424519721799999</c:v>
                </c:pt>
                <c:pt idx="72">
                  <c:v>-0.44948974278300002</c:v>
                </c:pt>
                <c:pt idx="73">
                  <c:v>-0.44424519721799999</c:v>
                </c:pt>
                <c:pt idx="74">
                  <c:v>-0.42853401847</c:v>
                </c:pt>
                <c:pt idx="75">
                  <c:v>-0.40242348422000002</c:v>
                </c:pt>
                <c:pt idx="76">
                  <c:v>-0.366025403784</c:v>
                </c:pt>
                <c:pt idx="77">
                  <c:v>-0.319495639331</c:v>
                </c:pt>
                <c:pt idx="78">
                  <c:v>-0.26303343845400001</c:v>
                </c:pt>
                <c:pt idx="79">
                  <c:v>-0.196880580966</c:v>
                </c:pt>
                <c:pt idx="80">
                  <c:v>-0.12132034356</c:v>
                </c:pt>
                <c:pt idx="81">
                  <c:v>-3.6676286771000002E-2</c:v>
                </c:pt>
                <c:pt idx="82">
                  <c:v>5.6689130553800003E-2</c:v>
                </c:pt>
                <c:pt idx="83">
                  <c:v>0.15837610336399999</c:v>
                </c:pt>
                <c:pt idx="84">
                  <c:v>0.26794919243100002</c:v>
                </c:pt>
                <c:pt idx="85">
                  <c:v>0.38493918896500001</c:v>
                </c:pt>
                <c:pt idx="86">
                  <c:v>0.508845123841</c:v>
                </c:pt>
                <c:pt idx="87">
                  <c:v>0.63913641282300004</c:v>
                </c:pt>
                <c:pt idx="88">
                  <c:v>0.77525512860800005</c:v>
                </c:pt>
                <c:pt idx="89">
                  <c:v>0.91661838996</c:v>
                </c:pt>
                <c:pt idx="90">
                  <c:v>1.06262085769</c:v>
                </c:pt>
                <c:pt idx="91">
                  <c:v>1.2126373268099999</c:v>
                </c:pt>
                <c:pt idx="92">
                  <c:v>1.3660254037799999</c:v>
                </c:pt>
                <c:pt idx="93">
                  <c:v>1.5221282573099999</c:v>
                </c:pt>
                <c:pt idx="94">
                  <c:v>1.6802774309899999</c:v>
                </c:pt>
                <c:pt idx="95">
                  <c:v>1.8397957058000001</c:v>
                </c:pt>
                <c:pt idx="96">
                  <c:v>2</c:v>
                </c:pt>
              </c:numCache>
            </c:numRef>
          </c:yVal>
          <c:smooth val="0"/>
          <c:extLst>
            <c:ext xmlns:c16="http://schemas.microsoft.com/office/drawing/2014/chart" uri="{C3380CC4-5D6E-409C-BE32-E72D297353CC}">
              <c16:uniqueId val="{00000004-5A8A-4B5D-910B-659EE69D6078}"/>
            </c:ext>
          </c:extLst>
        </c:ser>
        <c:ser>
          <c:idx val="5"/>
          <c:order val="5"/>
          <c:tx>
            <c:v>Iterates</c:v>
          </c:tx>
          <c:spPr>
            <a:ln w="28575">
              <a:solidFill>
                <a:srgbClr val="C45C28"/>
              </a:solidFill>
            </a:ln>
          </c:spPr>
          <c:marker>
            <c:symbol val="none"/>
          </c:marker>
          <c:xVal>
            <c:numRef>
              <c:f>'Chart Data'!$K$2:$K$7</c:f>
              <c:numCache>
                <c:formatCode>General</c:formatCode>
                <c:ptCount val="6"/>
                <c:pt idx="0">
                  <c:v>0</c:v>
                </c:pt>
                <c:pt idx="1">
                  <c:v>0.8</c:v>
                </c:pt>
                <c:pt idx="2">
                  <c:v>1.28</c:v>
                </c:pt>
                <c:pt idx="3">
                  <c:v>1.5680000000000001</c:v>
                </c:pt>
                <c:pt idx="4">
                  <c:v>1.7407999999999999</c:v>
                </c:pt>
                <c:pt idx="5">
                  <c:v>1.8444799999999999</c:v>
                </c:pt>
              </c:numCache>
            </c:numRef>
          </c:xVal>
          <c:yVal>
            <c:numRef>
              <c:f>'Chart Data'!$L$2:$L$7</c:f>
              <c:numCache>
                <c:formatCode>0.##</c:formatCode>
                <c:ptCount val="6"/>
                <c:pt idx="0">
                  <c:v>0</c:v>
                </c:pt>
                <c:pt idx="1">
                  <c:v>1.6</c:v>
                </c:pt>
                <c:pt idx="2">
                  <c:v>1.92</c:v>
                </c:pt>
                <c:pt idx="3">
                  <c:v>1.984</c:v>
                </c:pt>
                <c:pt idx="4">
                  <c:v>1.9967999999999999</c:v>
                </c:pt>
                <c:pt idx="5">
                  <c:v>1.99936</c:v>
                </c:pt>
              </c:numCache>
            </c:numRef>
          </c:yVal>
          <c:smooth val="0"/>
          <c:extLst>
            <c:ext xmlns:c16="http://schemas.microsoft.com/office/drawing/2014/chart" uri="{C3380CC4-5D6E-409C-BE32-E72D297353CC}">
              <c16:uniqueId val="{00000005-5A8A-4B5D-910B-659EE69D6078}"/>
            </c:ext>
          </c:extLst>
        </c:ser>
        <c:ser>
          <c:idx val="6"/>
          <c:order val="6"/>
          <c:tx>
            <c:v>Previous iterates</c:v>
          </c:tx>
          <c:spPr>
            <a:ln w="0">
              <a:noFill/>
            </a:ln>
          </c:spPr>
          <c:marker>
            <c:symbol val="circle"/>
            <c:size val="6"/>
            <c:spPr>
              <a:solidFill>
                <a:srgbClr val="C45C28"/>
              </a:solidFill>
              <a:ln w="12700">
                <a:solidFill>
                  <a:srgbClr val="C45C28"/>
                </a:solidFill>
              </a:ln>
            </c:spPr>
          </c:marker>
          <c:xVal>
            <c:numRef>
              <c:f>'Chart Data'!$M$2:$M$7</c:f>
              <c:numCache>
                <c:formatCode>General</c:formatCode>
                <c:ptCount val="6"/>
                <c:pt idx="0">
                  <c:v>0</c:v>
                </c:pt>
                <c:pt idx="1">
                  <c:v>0.8</c:v>
                </c:pt>
                <c:pt idx="2">
                  <c:v>1.28</c:v>
                </c:pt>
                <c:pt idx="3">
                  <c:v>1.5680000000000001</c:v>
                </c:pt>
                <c:pt idx="4">
                  <c:v>1.7407999999999999</c:v>
                </c:pt>
                <c:pt idx="5">
                  <c:v>1.8444799999999999</c:v>
                </c:pt>
              </c:numCache>
            </c:numRef>
          </c:xVal>
          <c:yVal>
            <c:numRef>
              <c:f>'Chart Data'!$N$2:$N$7</c:f>
              <c:numCache>
                <c:formatCode>0.##</c:formatCode>
                <c:ptCount val="6"/>
                <c:pt idx="0">
                  <c:v>0</c:v>
                </c:pt>
                <c:pt idx="1">
                  <c:v>1.6</c:v>
                </c:pt>
                <c:pt idx="2">
                  <c:v>1.92</c:v>
                </c:pt>
                <c:pt idx="3">
                  <c:v>1.984</c:v>
                </c:pt>
                <c:pt idx="4">
                  <c:v>1.9967999999999999</c:v>
                </c:pt>
                <c:pt idx="5">
                  <c:v>1.99936</c:v>
                </c:pt>
              </c:numCache>
            </c:numRef>
          </c:yVal>
          <c:smooth val="0"/>
          <c:extLst>
            <c:ext xmlns:c16="http://schemas.microsoft.com/office/drawing/2014/chart" uri="{C3380CC4-5D6E-409C-BE32-E72D297353CC}">
              <c16:uniqueId val="{00000006-5A8A-4B5D-910B-659EE69D6078}"/>
            </c:ext>
          </c:extLst>
        </c:ser>
        <c:ser>
          <c:idx val="7"/>
          <c:order val="7"/>
          <c:tx>
            <c:v>Minimum</c:v>
          </c:tx>
          <c:spPr>
            <a:ln w="0">
              <a:noFill/>
            </a:ln>
          </c:spPr>
          <c:marker>
            <c:symbol val="circle"/>
            <c:size val="10"/>
            <c:spPr>
              <a:solidFill>
                <a:srgbClr val="087F83"/>
              </a:solidFill>
              <a:ln w="12700">
                <a:solidFill>
                  <a:srgbClr val="087F83"/>
                </a:solidFill>
              </a:ln>
            </c:spPr>
          </c:marker>
          <c:xVal>
            <c:numRef>
              <c:f>'Chart Data'!$O$2:$O$2</c:f>
              <c:numCache>
                <c:formatCode>General</c:formatCode>
                <c:ptCount val="1"/>
                <c:pt idx="0">
                  <c:v>2</c:v>
                </c:pt>
              </c:numCache>
            </c:numRef>
          </c:xVal>
          <c:yVal>
            <c:numRef>
              <c:f>'Chart Data'!$P$2:$P$2</c:f>
              <c:numCache>
                <c:formatCode>0.##</c:formatCode>
                <c:ptCount val="1"/>
                <c:pt idx="0">
                  <c:v>2</c:v>
                </c:pt>
              </c:numCache>
            </c:numRef>
          </c:yVal>
          <c:smooth val="0"/>
          <c:extLst>
            <c:ext xmlns:c16="http://schemas.microsoft.com/office/drawing/2014/chart" uri="{C3380CC4-5D6E-409C-BE32-E72D297353CC}">
              <c16:uniqueId val="{00000007-5A8A-4B5D-910B-659EE69D6078}"/>
            </c:ext>
          </c:extLst>
        </c:ser>
        <c:ser>
          <c:idx val="8"/>
          <c:order val="8"/>
          <c:tx>
            <c:v>Current iterate</c:v>
          </c:tx>
          <c:spPr>
            <a:ln w="0">
              <a:noFill/>
            </a:ln>
          </c:spPr>
          <c:marker>
            <c:symbol val="circle"/>
            <c:size val="11"/>
            <c:spPr>
              <a:solidFill>
                <a:srgbClr val="C45C28"/>
              </a:solidFill>
              <a:ln w="12700">
                <a:solidFill>
                  <a:srgbClr val="C45C28"/>
                </a:solidFill>
              </a:ln>
            </c:spPr>
          </c:marker>
          <c:xVal>
            <c:numRef>
              <c:f>'Chart Data'!$Q$2:$Q$2</c:f>
              <c:numCache>
                <c:formatCode>General</c:formatCode>
                <c:ptCount val="1"/>
                <c:pt idx="0">
                  <c:v>1.8444799999999999</c:v>
                </c:pt>
              </c:numCache>
            </c:numRef>
          </c:xVal>
          <c:yVal>
            <c:numRef>
              <c:f>'Chart Data'!$R$2:$R$2</c:f>
              <c:numCache>
                <c:formatCode>0.##</c:formatCode>
                <c:ptCount val="1"/>
                <c:pt idx="0">
                  <c:v>1.99936</c:v>
                </c:pt>
              </c:numCache>
            </c:numRef>
          </c:yVal>
          <c:smooth val="0"/>
          <c:extLst>
            <c:ext xmlns:c16="http://schemas.microsoft.com/office/drawing/2014/chart" uri="{C3380CC4-5D6E-409C-BE32-E72D297353CC}">
              <c16:uniqueId val="{00000008-5A8A-4B5D-910B-659EE69D6078}"/>
            </c:ext>
          </c:extLst>
        </c:ser>
        <c:dLbls>
          <c:showLegendKey val="0"/>
          <c:showVal val="0"/>
          <c:showCatName val="0"/>
          <c:showSerName val="0"/>
          <c:showPercent val="0"/>
          <c:showBubbleSize val="0"/>
        </c:dLbls>
        <c:axId val="48650112"/>
        <c:axId val="48672768"/>
      </c:scatterChart>
      <c:valAx>
        <c:axId val="48672768"/>
        <c:scaling>
          <c:orientation val="minMax"/>
          <c:max val="3.5"/>
          <c:min val="-0.5"/>
        </c:scaling>
        <c:delete val="0"/>
        <c:axPos val="l"/>
        <c:majorGridlines>
          <c:spPr>
            <a:ln w="9525">
              <a:solidFill>
                <a:srgbClr val="E8EDF2"/>
              </a:solidFill>
            </a:ln>
          </c:spPr>
        </c:majorGridlines>
        <c:title>
          <c:tx>
            <c:rich>
              <a:bodyPr/>
              <a:lstStyle/>
              <a:p>
                <a:r>
                  <a:rPr lang="it-IT">
                    <a:latin typeface="DejaVu Sans"/>
                    <a:ea typeface="DejaVu Sans"/>
                    <a:cs typeface="DejaVu Sans"/>
                  </a:rPr>
                  <a:t>Slope a</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1"/>
      </c:valAx>
      <c:valAx>
        <c:axId val="48650112"/>
        <c:scaling>
          <c:orientation val="minMax"/>
          <c:max val="4.5"/>
          <c:min val="-0.5"/>
        </c:scaling>
        <c:delete val="0"/>
        <c:axPos val="b"/>
        <c:title>
          <c:tx>
            <c:rich>
              <a:bodyPr/>
              <a:lstStyle/>
              <a:p>
                <a:r>
                  <a:rPr lang="it-IT">
                    <a:latin typeface="DejaVu Sans"/>
                    <a:ea typeface="DejaVu Sans"/>
                    <a:cs typeface="DejaVu Sans"/>
                  </a:rPr>
                  <a:t>Intercept b</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5302300447738149"/>
          <c:y val="5.0186526684164477E-2"/>
          <c:w val="0.81998193608151926"/>
          <c:h val="0.71636185476815395"/>
        </c:manualLayout>
      </c:layout>
      <c:scatterChart>
        <c:scatterStyle val="lineMarker"/>
        <c:varyColors val="1"/>
        <c:ser>
          <c:idx val="1"/>
          <c:order val="1"/>
          <c:tx>
            <c:v>Fitted quadratic</c:v>
          </c:tx>
          <c:spPr>
            <a:ln w="28575">
              <a:solidFill>
                <a:srgbClr val="087F83"/>
              </a:solidFill>
            </a:ln>
          </c:spPr>
          <c:marker>
            <c:symbol val="none"/>
          </c:marker>
          <c:xVal>
            <c:numRef>
              <c:f>'Chart Data'!$A$2:$A$62</c:f>
              <c:numCache>
                <c:formatCode>General</c:formatCode>
                <c:ptCount val="61"/>
                <c:pt idx="0">
                  <c:v>-2.4500000000000002</c:v>
                </c:pt>
                <c:pt idx="1">
                  <c:v>-2.3683333333299998</c:v>
                </c:pt>
                <c:pt idx="2">
                  <c:v>-2.28666666667</c:v>
                </c:pt>
                <c:pt idx="3">
                  <c:v>-2.2050000000000001</c:v>
                </c:pt>
                <c:pt idx="4">
                  <c:v>-2.1233333333300002</c:v>
                </c:pt>
                <c:pt idx="5">
                  <c:v>-2.0416666666699999</c:v>
                </c:pt>
                <c:pt idx="6">
                  <c:v>-1.96</c:v>
                </c:pt>
                <c:pt idx="7">
                  <c:v>-1.8783333333300001</c:v>
                </c:pt>
                <c:pt idx="8">
                  <c:v>-1.79666666667</c:v>
                </c:pt>
                <c:pt idx="9">
                  <c:v>-1.7150000000000001</c:v>
                </c:pt>
                <c:pt idx="10">
                  <c:v>-1.63333333333</c:v>
                </c:pt>
                <c:pt idx="11">
                  <c:v>-1.5516666666700001</c:v>
                </c:pt>
                <c:pt idx="12">
                  <c:v>-1.47</c:v>
                </c:pt>
                <c:pt idx="13">
                  <c:v>-1.3883333333300001</c:v>
                </c:pt>
                <c:pt idx="14">
                  <c:v>-1.30666666667</c:v>
                </c:pt>
                <c:pt idx="15">
                  <c:v>-1.2250000000000001</c:v>
                </c:pt>
                <c:pt idx="16">
                  <c:v>-1.14333333333</c:v>
                </c:pt>
                <c:pt idx="17">
                  <c:v>-1.0616666666700001</c:v>
                </c:pt>
                <c:pt idx="18">
                  <c:v>-0.98</c:v>
                </c:pt>
                <c:pt idx="19">
                  <c:v>-0.89833333333300003</c:v>
                </c:pt>
                <c:pt idx="20">
                  <c:v>-0.81666666666700005</c:v>
                </c:pt>
                <c:pt idx="21">
                  <c:v>-0.73499999999999999</c:v>
                </c:pt>
                <c:pt idx="22">
                  <c:v>-0.65333333333300003</c:v>
                </c:pt>
                <c:pt idx="23">
                  <c:v>-0.57166666666699995</c:v>
                </c:pt>
                <c:pt idx="24">
                  <c:v>-0.49</c:v>
                </c:pt>
                <c:pt idx="25">
                  <c:v>-0.40833333333299998</c:v>
                </c:pt>
                <c:pt idx="26">
                  <c:v>-0.32666666666700001</c:v>
                </c:pt>
                <c:pt idx="27">
                  <c:v>-0.245</c:v>
                </c:pt>
                <c:pt idx="28">
                  <c:v>-0.16333333333300001</c:v>
                </c:pt>
                <c:pt idx="29">
                  <c:v>-8.16666666667E-2</c:v>
                </c:pt>
                <c:pt idx="30">
                  <c:v>0</c:v>
                </c:pt>
                <c:pt idx="31">
                  <c:v>8.16666666667E-2</c:v>
                </c:pt>
                <c:pt idx="32">
                  <c:v>0.16333333333300001</c:v>
                </c:pt>
                <c:pt idx="33">
                  <c:v>0.245</c:v>
                </c:pt>
                <c:pt idx="34">
                  <c:v>0.32666666666700001</c:v>
                </c:pt>
                <c:pt idx="35">
                  <c:v>0.40833333333299998</c:v>
                </c:pt>
                <c:pt idx="36">
                  <c:v>0.49</c:v>
                </c:pt>
                <c:pt idx="37">
                  <c:v>0.57166666666699995</c:v>
                </c:pt>
                <c:pt idx="38">
                  <c:v>0.65333333333300003</c:v>
                </c:pt>
                <c:pt idx="39">
                  <c:v>0.73499999999999999</c:v>
                </c:pt>
                <c:pt idx="40">
                  <c:v>0.81666666666700005</c:v>
                </c:pt>
                <c:pt idx="41">
                  <c:v>0.89833333333300003</c:v>
                </c:pt>
                <c:pt idx="42">
                  <c:v>0.98</c:v>
                </c:pt>
                <c:pt idx="43">
                  <c:v>1.0616666666700001</c:v>
                </c:pt>
                <c:pt idx="44">
                  <c:v>1.14333333333</c:v>
                </c:pt>
                <c:pt idx="45">
                  <c:v>1.2250000000000001</c:v>
                </c:pt>
                <c:pt idx="46">
                  <c:v>1.30666666667</c:v>
                </c:pt>
                <c:pt idx="47">
                  <c:v>1.3883333333300001</c:v>
                </c:pt>
                <c:pt idx="48">
                  <c:v>1.47</c:v>
                </c:pt>
                <c:pt idx="49">
                  <c:v>1.5516666666700001</c:v>
                </c:pt>
                <c:pt idx="50">
                  <c:v>1.63333333333</c:v>
                </c:pt>
                <c:pt idx="51">
                  <c:v>1.7150000000000001</c:v>
                </c:pt>
                <c:pt idx="52">
                  <c:v>1.79666666667</c:v>
                </c:pt>
                <c:pt idx="53">
                  <c:v>1.8783333333300001</c:v>
                </c:pt>
                <c:pt idx="54">
                  <c:v>1.96</c:v>
                </c:pt>
                <c:pt idx="55">
                  <c:v>2.0416666666699999</c:v>
                </c:pt>
                <c:pt idx="56">
                  <c:v>2.1233333333300002</c:v>
                </c:pt>
                <c:pt idx="57">
                  <c:v>2.2050000000000001</c:v>
                </c:pt>
                <c:pt idx="58">
                  <c:v>2.28666666667</c:v>
                </c:pt>
                <c:pt idx="59">
                  <c:v>2.3683333333299998</c:v>
                </c:pt>
                <c:pt idx="60">
                  <c:v>2.4500000000000002</c:v>
                </c:pt>
              </c:numCache>
            </c:numRef>
          </c:xVal>
          <c:yVal>
            <c:numRef>
              <c:f>'Chart Data'!$B$2:$B$62</c:f>
              <c:numCache>
                <c:formatCode>0.##</c:formatCode>
                <c:ptCount val="61"/>
                <c:pt idx="0">
                  <c:v>-0.89875000000000005</c:v>
                </c:pt>
                <c:pt idx="1">
                  <c:v>-0.93216527777799996</c:v>
                </c:pt>
                <c:pt idx="2">
                  <c:v>-0.95891111111100003</c:v>
                </c:pt>
                <c:pt idx="3">
                  <c:v>-0.97898750000000001</c:v>
                </c:pt>
                <c:pt idx="4">
                  <c:v>-0.99239444444400005</c:v>
                </c:pt>
                <c:pt idx="5">
                  <c:v>-0.999131944444</c:v>
                </c:pt>
                <c:pt idx="6">
                  <c:v>-0.99919999999999998</c:v>
                </c:pt>
                <c:pt idx="7">
                  <c:v>-0.99259861111100001</c:v>
                </c:pt>
                <c:pt idx="8">
                  <c:v>-0.97932777777799995</c:v>
                </c:pt>
                <c:pt idx="9">
                  <c:v>-0.95938749999999995</c:v>
                </c:pt>
                <c:pt idx="10">
                  <c:v>-0.93277777777799997</c:v>
                </c:pt>
                <c:pt idx="11">
                  <c:v>-0.89949861111100005</c:v>
                </c:pt>
                <c:pt idx="12">
                  <c:v>-0.85955000000000004</c:v>
                </c:pt>
                <c:pt idx="13">
                  <c:v>-0.81293194444399997</c:v>
                </c:pt>
                <c:pt idx="14">
                  <c:v>-0.75964444444400003</c:v>
                </c:pt>
                <c:pt idx="15">
                  <c:v>-0.69968750000000002</c:v>
                </c:pt>
                <c:pt idx="16">
                  <c:v>-0.63306111111100005</c:v>
                </c:pt>
                <c:pt idx="17">
                  <c:v>-0.559765277778</c:v>
                </c:pt>
                <c:pt idx="18">
                  <c:v>-0.4798</c:v>
                </c:pt>
                <c:pt idx="19">
                  <c:v>-0.39316527777799998</c:v>
                </c:pt>
                <c:pt idx="20">
                  <c:v>-0.299861111111</c:v>
                </c:pt>
                <c:pt idx="21">
                  <c:v>-0.1998875</c:v>
                </c:pt>
                <c:pt idx="22">
                  <c:v>-9.3244444444399999E-2</c:v>
                </c:pt>
                <c:pt idx="23">
                  <c:v>2.0068055555600001E-2</c:v>
                </c:pt>
                <c:pt idx="24">
                  <c:v>0.14005000000000001</c:v>
                </c:pt>
                <c:pt idx="25">
                  <c:v>0.26670138888900002</c:v>
                </c:pt>
                <c:pt idx="26">
                  <c:v>0.40002222222200001</c:v>
                </c:pt>
                <c:pt idx="27">
                  <c:v>0.54001250000000001</c:v>
                </c:pt>
                <c:pt idx="28">
                  <c:v>0.68667222222199997</c:v>
                </c:pt>
                <c:pt idx="29">
                  <c:v>0.840001388889</c:v>
                </c:pt>
                <c:pt idx="30">
                  <c:v>1</c:v>
                </c:pt>
                <c:pt idx="31">
                  <c:v>1.16666805556</c:v>
                </c:pt>
                <c:pt idx="32">
                  <c:v>1.3400055555599999</c:v>
                </c:pt>
                <c:pt idx="33">
                  <c:v>1.5200125</c:v>
                </c:pt>
                <c:pt idx="34">
                  <c:v>1.70668888889</c:v>
                </c:pt>
                <c:pt idx="35">
                  <c:v>1.90003472222</c:v>
                </c:pt>
                <c:pt idx="36">
                  <c:v>2.10005</c:v>
                </c:pt>
                <c:pt idx="37">
                  <c:v>2.3067347222199999</c:v>
                </c:pt>
                <c:pt idx="38">
                  <c:v>2.5200888888900002</c:v>
                </c:pt>
                <c:pt idx="39">
                  <c:v>2.7401125</c:v>
                </c:pt>
                <c:pt idx="40">
                  <c:v>2.9668055555600001</c:v>
                </c:pt>
                <c:pt idx="41">
                  <c:v>3.2001680555599998</c:v>
                </c:pt>
                <c:pt idx="42">
                  <c:v>3.4401999999999999</c:v>
                </c:pt>
                <c:pt idx="43">
                  <c:v>3.68690138889</c:v>
                </c:pt>
                <c:pt idx="44">
                  <c:v>3.94027222222</c:v>
                </c:pt>
                <c:pt idx="45">
                  <c:v>4.2003124999999999</c:v>
                </c:pt>
                <c:pt idx="46">
                  <c:v>4.4670222222199998</c:v>
                </c:pt>
                <c:pt idx="47">
                  <c:v>4.7404013888899996</c:v>
                </c:pt>
                <c:pt idx="48">
                  <c:v>5.0204500000000003</c:v>
                </c:pt>
                <c:pt idx="49">
                  <c:v>5.30716805556</c:v>
                </c:pt>
                <c:pt idx="50">
                  <c:v>5.6005555555599997</c:v>
                </c:pt>
                <c:pt idx="51">
                  <c:v>5.9006125000000003</c:v>
                </c:pt>
                <c:pt idx="52">
                  <c:v>6.2073388888899999</c:v>
                </c:pt>
                <c:pt idx="53">
                  <c:v>6.5207347222200003</c:v>
                </c:pt>
                <c:pt idx="54">
                  <c:v>6.8407999999999998</c:v>
                </c:pt>
                <c:pt idx="55">
                  <c:v>7.1675347222200001</c:v>
                </c:pt>
                <c:pt idx="56">
                  <c:v>7.5009388888900004</c:v>
                </c:pt>
                <c:pt idx="57">
                  <c:v>7.8410124999999997</c:v>
                </c:pt>
                <c:pt idx="58">
                  <c:v>8.1877555555600008</c:v>
                </c:pt>
                <c:pt idx="59">
                  <c:v>8.54116805556</c:v>
                </c:pt>
                <c:pt idx="60">
                  <c:v>8.9012499999999992</c:v>
                </c:pt>
              </c:numCache>
            </c:numRef>
          </c:yVal>
          <c:smooth val="0"/>
          <c:extLst>
            <c:ext xmlns:c16="http://schemas.microsoft.com/office/drawing/2014/chart" uri="{C3380CC4-5D6E-409C-BE32-E72D297353CC}">
              <c16:uniqueId val="{00000000-87F8-47C4-BFE1-76705DBCFEC9}"/>
            </c:ext>
          </c:extLst>
        </c:ser>
        <c:ser>
          <c:idx val="2"/>
          <c:order val="2"/>
          <c:tx>
            <c:v>Observed data</c:v>
          </c:tx>
          <c:spPr>
            <a:ln w="0">
              <a:noFill/>
            </a:ln>
          </c:spPr>
          <c:marker>
            <c:symbol val="circle"/>
            <c:size val="9"/>
            <c:spPr>
              <a:solidFill>
                <a:srgbClr val="326CB2"/>
              </a:solidFill>
              <a:ln w="12700">
                <a:solidFill>
                  <a:srgbClr val="326CB2"/>
                </a:solidFill>
              </a:ln>
            </c:spPr>
          </c:marker>
          <c:xVal>
            <c:numRef>
              <c:f>'Chart Data'!$C$2:$C$6</c:f>
              <c:numCache>
                <c:formatCode>General</c:formatCode>
                <c:ptCount val="5"/>
                <c:pt idx="0">
                  <c:v>-2</c:v>
                </c:pt>
                <c:pt idx="1">
                  <c:v>-1</c:v>
                </c:pt>
                <c:pt idx="2">
                  <c:v>0</c:v>
                </c:pt>
                <c:pt idx="3">
                  <c:v>1</c:v>
                </c:pt>
                <c:pt idx="4">
                  <c:v>2</c:v>
                </c:pt>
              </c:numCache>
            </c:numRef>
          </c:xVal>
          <c:yVal>
            <c:numRef>
              <c:f>'Chart Data'!$D$2:$D$6</c:f>
              <c:numCache>
                <c:formatCode>0.##</c:formatCode>
                <c:ptCount val="5"/>
                <c:pt idx="0">
                  <c:v>-1.5</c:v>
                </c:pt>
                <c:pt idx="1">
                  <c:v>0.5</c:v>
                </c:pt>
                <c:pt idx="2">
                  <c:v>1</c:v>
                </c:pt>
                <c:pt idx="3">
                  <c:v>2.5</c:v>
                </c:pt>
                <c:pt idx="4">
                  <c:v>7.5</c:v>
                </c:pt>
              </c:numCache>
            </c:numRef>
          </c:yVal>
          <c:smooth val="0"/>
          <c:extLst>
            <c:ext xmlns:c16="http://schemas.microsoft.com/office/drawing/2014/chart" uri="{C3380CC4-5D6E-409C-BE32-E72D297353CC}">
              <c16:uniqueId val="{00000001-87F8-47C4-BFE1-76705DBCFEC9}"/>
            </c:ext>
          </c:extLst>
        </c:ser>
        <c:ser>
          <c:idx val="0"/>
          <c:order val="0"/>
          <c:tx>
            <c:v>Fitted line</c:v>
          </c:tx>
          <c:spPr>
            <a:ln w="28575">
              <a:solidFill>
                <a:srgbClr val="526276"/>
              </a:solidFill>
            </a:ln>
          </c:spPr>
          <c:marker>
            <c:symbol val="none"/>
          </c:marker>
          <c:xVal>
            <c:numRef>
              <c:f>'Chart Data'!$E$2:$E$3</c:f>
              <c:numCache>
                <c:formatCode>General</c:formatCode>
                <c:ptCount val="2"/>
                <c:pt idx="0">
                  <c:v>-2.4500000000000002</c:v>
                </c:pt>
                <c:pt idx="1">
                  <c:v>2.4500000000000002</c:v>
                </c:pt>
              </c:numCache>
            </c:numRef>
          </c:xVal>
          <c:yVal>
            <c:numRef>
              <c:f>'Chart Data'!$F$2:$F$3</c:f>
              <c:numCache>
                <c:formatCode>0.##</c:formatCode>
                <c:ptCount val="2"/>
                <c:pt idx="0">
                  <c:v>-2.9</c:v>
                </c:pt>
                <c:pt idx="1">
                  <c:v>6.9</c:v>
                </c:pt>
              </c:numCache>
            </c:numRef>
          </c:yVal>
          <c:smooth val="0"/>
          <c:extLst>
            <c:ext xmlns:c16="http://schemas.microsoft.com/office/drawing/2014/chart" uri="{C3380CC4-5D6E-409C-BE32-E72D297353CC}">
              <c16:uniqueId val="{00000002-87F8-47C4-BFE1-76705DBCFEC9}"/>
            </c:ext>
          </c:extLst>
        </c:ser>
        <c:dLbls>
          <c:showLegendKey val="0"/>
          <c:showVal val="0"/>
          <c:showCatName val="0"/>
          <c:showSerName val="0"/>
          <c:showPercent val="0"/>
          <c:showBubbleSize val="0"/>
        </c:dLbls>
        <c:axId val="48650112"/>
        <c:axId val="48672768"/>
      </c:scatterChart>
      <c:valAx>
        <c:axId val="48672768"/>
        <c:scaling>
          <c:orientation val="minMax"/>
          <c:max val="10"/>
          <c:min val="-4"/>
        </c:scaling>
        <c:delete val="0"/>
        <c:axPos val="l"/>
        <c:majorGridlines>
          <c:spPr>
            <a:ln w="9525">
              <a:solidFill>
                <a:srgbClr val="E8EDF2"/>
              </a:solidFill>
            </a:ln>
          </c:spPr>
        </c:majorGridlines>
        <c:title>
          <c:tx>
            <c:rich>
              <a:bodyPr/>
              <a:lstStyle/>
              <a:p>
                <a:r>
                  <a:rPr lang="it-IT">
                    <a:latin typeface="DejaVu Sans"/>
                    <a:ea typeface="DejaVu Sans"/>
                    <a:cs typeface="DejaVu Sans"/>
                  </a:rPr>
                  <a:t>y</a:t>
                </a:r>
              </a:p>
            </c:rich>
          </c:tx>
          <c:overlay val="0"/>
        </c:title>
        <c:numFmt formatCode="0.##"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50112"/>
        <c:crosses val="min"/>
        <c:crossBetween val="midCat"/>
        <c:majorUnit val="2"/>
      </c:valAx>
      <c:valAx>
        <c:axId val="48650112"/>
        <c:scaling>
          <c:orientation val="minMax"/>
          <c:max val="3"/>
          <c:min val="-3"/>
        </c:scaling>
        <c:delete val="0"/>
        <c:axPos val="b"/>
        <c:title>
          <c:tx>
            <c:rich>
              <a:bodyPr/>
              <a:lstStyle/>
              <a:p>
                <a:r>
                  <a:rPr lang="it-IT">
                    <a:latin typeface="DejaVu Sans"/>
                    <a:ea typeface="DejaVu Sans"/>
                    <a:cs typeface="DejaVu Sans"/>
                  </a:rPr>
                  <a:t>x</a:t>
                </a:r>
              </a:p>
            </c:rich>
          </c:tx>
          <c:overlay val="0"/>
        </c:title>
        <c:numFmt formatCode="General" sourceLinked="1"/>
        <c:majorTickMark val="none"/>
        <c:minorTickMark val="none"/>
        <c:tickLblPos val="low"/>
        <c:spPr>
          <a:ln w="9525">
            <a:solidFill>
              <a:srgbClr val="A8B6C4"/>
            </a:solidFill>
          </a:ln>
        </c:spPr>
        <c:txPr>
          <a:bodyPr anchorCtr="1"/>
          <a:lstStyle/>
          <a:p>
            <a:pPr>
              <a:defRPr sz="1500">
                <a:solidFill>
                  <a:srgbClr val="526276"/>
                </a:solidFill>
                <a:latin typeface="DejaVu Sans"/>
                <a:ea typeface="DejaVu Sans"/>
                <a:cs typeface="DejaVu Sans"/>
              </a:defRPr>
            </a:pPr>
            <a:endParaRPr lang="it-IT"/>
          </a:p>
        </c:txPr>
        <c:crossAx val="48672768"/>
        <c:crosses val="min"/>
        <c:crossBetween val="midCat"/>
        <c:majorUnit val="1"/>
      </c:valAx>
      <c:spPr>
        <a:solidFill>
          <a:srgbClr val="FFFFFF"/>
        </a:solidFill>
        <a:ln w="0">
          <a:noFill/>
        </a:ln>
      </c:spPr>
    </c:plotArea>
    <c:plotVisOnly val="1"/>
    <c:dispBlanksAs val="gap"/>
    <c:showDLblsOverMax val="1"/>
  </c:chart>
  <c:spPr>
    <a:solidFill>
      <a:srgbClr val="FFFFFF"/>
    </a:solidFill>
    <a:ln w="0">
      <a:noFill/>
    </a:ln>
  </c:spPr>
  <c:externalData r:id="rId1">
    <c:autoUpdate val="0"/>
  </c:externalData>
</c:chartSpace>
</file>

<file path=ppt/drawings/_rels/drawing1.xml.rels><?xml version="1.0" encoding="UTF-8" standalone="yes"?>
<Relationships xmlns="http://schemas.openxmlformats.org/package/2006/relationships"><Relationship Id="rId1" Type="http://schemas.openxmlformats.org/officeDocument/2006/relationships/image" Target="../media/image10.png"/></Relationships>
</file>

<file path=ppt/drawings/drawing1.xml><?xml version="1.0" encoding="utf-8"?>
<c:userShapes xmlns:c="http://schemas.openxmlformats.org/drawingml/2006/chart">
  <cdr:relSizeAnchor xmlns:cdr="http://schemas.openxmlformats.org/drawingml/2006/chartDrawing">
    <cdr:from>
      <cdr:x>0.80595</cdr:x>
      <cdr:y>0.24865</cdr:y>
    </cdr:from>
    <cdr:to>
      <cdr:x>0.92337</cdr:x>
      <cdr:y>0.38012</cdr:y>
    </cdr:to>
    <cdr:pic>
      <cdr:nvPicPr>
        <cdr:cNvPr id="2" name="chart">
          <a:extLst xmlns:a="http://schemas.openxmlformats.org/drawingml/2006/main">
            <a:ext uri="{FF2B5EF4-FFF2-40B4-BE49-F238E27FC236}">
              <a16:creationId xmlns:a16="http://schemas.microsoft.com/office/drawing/2014/main" id="{72AD0D07-69C6-F9FC-31C7-69962FA2F6D2}"/>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104987" y="876300"/>
          <a:ext cx="743776" cy="463336"/>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2: Linear regression. From a prediction problem and empirical loss to least squares, feature expansion and gradient descent.</a:t>
            </a:r>
          </a:p>
          <a:p>
            <a:r>
              <a:t>Visual sources: University of Bristol official logo, https://www.bristol.ac.uk/assets/responsive-web-project/2.7.4/images/logos/uob-logo.svg (downloaded 21 September 2026). Fry Building atrium photograph, WilkinsonEyre, https://wilkinsoneyre.com/projects/university-of-bristol-fry-building ; original image https://wilkinsoneyre.com/images/containers/assets/projects/fry-building/834_n91_16-10-2.jpg/a034f46f36b4bd9bff159b579cfb2daf/834_n91_16-10-2.webp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observations generated from a smooth unknown relationship with additive noise. The curve is drawn only to explain the modelling assumption and is not known to the learner. Initially the scatter plot is visible. One click reveals the true relationship, vertical noise segments, the additive-noise equation and the unknown-quantity statement. For this schematic, f(x)=0.65x²+0.55x+0.4. Each vertical segment joins (x_i,f(x_i)) to (x_i,y_i). Noise is y_i-f(x_i), with both signs. These illustrative data are separate from the five-point numerical example used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single input feature displayed in the two-dimensional (x,y) plane. The line shown is a candidate, not a known true generating line.</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Residual sign convention throughout: prediction minus target. Orange segments show residual magnitude.</a:t>
            </a:r>
          </a:p>
          <a:p>
            <a:r>
              <a:t>Source: SEMTM0051_week2_linear_regression_final (2)(1).tex, supplied by Roberto Colomboni.</a:t>
            </a:r>
          </a:p>
          <a:p>
            <a:r>
              <a:t>All three candidates f(x)=1+2x, g(x)=1−x, and h(x)=2 are compared on the same five observations. Each orange segment joins the target to its prediction. Residual means prediction minus target.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penalties are valid. Choice of loss should reflect the application. Squared loss is differentiable everywhere, absolute loss has a corner at zero.</a:t>
            </a:r>
          </a:p>
          <a:p>
            <a:r>
              <a:t>Source: SEMTM0051_week2_linear_regression_final (2)(1).tex, supplied by Roberto Colomboni.</a:t>
            </a:r>
          </a:p>
          <a:p>
            <a:r>
              <a:t>Click sequence: 1 absolute-loss formula; 2 absolute-loss curve only; 3 squared-loss formula; 4 the squared-loss curve is added to the same axes and both comments appear. Squared loss has derivative 2r and constant second derivative 2 with respect to the residual r. With predictors affine in their parameters, the empirical squared loss is a convex quadratic, and stationarity gives linear normal equations. Absolute loss is also convex; convexity alone does not distinguish the two. Squaring gives larger errors more influence and increases sensitivity to outliers, so this is a modelling choice rather than a universal advantage.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parameter vector is a column. Empirical losses below use sums, matching the notes. Introduce the generic family notation before minimisation.</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Absolute loss is convex and useful but nonsmooth. Do not imply that smoothness makes squared loss universally preferable. Empirical fit is distinct from generalisation.</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a:p>
            <a:r>
              <a:t>Third candidate h(x)=2: residuals (3.5,1.5,1,−0.5,−5.5), squared loss 46. The losses of f,g,h are 11,101,46 respectively, so f is preferred among these three. Later, h is identified as the optimal constant predictor.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Fermat applies since these are differentiable polynomials on an unconstrained Euclidean parameter space. Stationarity alone is not sufficient for a general function.</a:t>
            </a:r>
          </a:p>
          <a:p>
            <a:r>
              <a:t>Source: SEMTM0051_week2_linear_regression_final (2)(1).tex, supplied by Roberto Colomboni.</a:t>
            </a:r>
          </a:p>
          <a:p>
            <a:r>
              <a:t>Figure source: FigPredictorFamilies in the supplied lecture notes. Original graph definitions, colours, ranges and labels reproduced from the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the input coordinate x in the left plot from parameter b in the right plot. The illustrated b=0 has loss 66.</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 the loss explicitly as a sum of squared residuals. Define each residual and note that its derivative is one because the target is fixed. Apply the chain rule to each squared residual, then collect the terms in b.</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Absolute-loss exercise answer: the unique median is b=1 and absolute empirical loss is 11. Leave this answer off the visible slide.</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 the empirical squared loss explicitly, then define the residual as a function of the slope. Its derivative is the fixed input x_i. Apply the chain rule to each squared residual, substitute, and collect the terms in a.</a:t>
            </a:r>
          </a:p>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every x_i is zero, the objective is independent of a. The formula requiring a positive denominator does not apply.</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the intercept b and the slope a are adjustable. The line in the chart is one member of this family. The loss is a function of the parameter pair, with the observations held fixed.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 the affine empirical squared loss explicitly and then as a sum of squared residuals. Hold a fixed and differentiate with respect to b. Apply the chain rule to every squared residual, substitute the residual derivative, and collect the terms. The observations are fixed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 the affine empirical squared loss explicitly and then as a sum of squared residuals. Hold b fixed and differentiate with respect to a. Apply the chain rule to every squared residual, substitute the residual derivative, and collect the terms. The observations are fixed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1950-206F-CE4A-3C72-CCFA57DD3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C3365-6AFF-9B49-DDC7-CBB2FE449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8C9D4-2A46-0C0C-FCA8-00394BF5022F}"/>
              </a:ext>
            </a:extLst>
          </p:cNvPr>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a:extLst>
              <a:ext uri="{FF2B5EF4-FFF2-40B4-BE49-F238E27FC236}">
                <a16:creationId xmlns:a16="http://schemas.microsoft.com/office/drawing/2014/main" id="{3B94646B-8677-83B6-23D4-0ECEA8E8A68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392396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18FDC-2195-17F9-CB17-9BAF44B5B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67FA0-6B87-44D8-6109-B7022BEBB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166A2-73EE-BF97-F4CF-C46FA9E27FA4}"/>
              </a:ext>
            </a:extLst>
          </p:cNvPr>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a:extLst>
              <a:ext uri="{FF2B5EF4-FFF2-40B4-BE49-F238E27FC236}">
                <a16:creationId xmlns:a16="http://schemas.microsoft.com/office/drawing/2014/main" id="{A9FA454F-017E-7608-27F3-3E2AE08FDD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369050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Assume the inputs are not all equal, so the denominator is positive. The normal equations have a unique solution. The next two slides prove that this stationary point is a global minimum by expanding the squared residuals, without appealing to convexity.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residuals at the stationary point. The two zero-gradient equations give sum_i r_i*=0 and sum_i x_i r_i*=0. Now compare the stationary point with any other parameter pair by writing the change in intercept as u and the change in slope as v. The new residual is r_i*+u+v x_i. Both u and v are arbitrary real numbers.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Expand each square. The cross terms are 2u times sum_i r_i* and 2v times sum_i x_i r_i*, so both vanish by stationarity. The remaining difference in loss is sum_i (u+v x_i)^2, which is nonnegative for every u and v. Hence the stationary point is a global minimiser. Equality requires u+v x_i=0 for every i. If two inputs differ, subtract their equations to obtain v=0, then u=0. The minimiser is therefore unique under the stated assumption.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five observations, x-bar = 0 and y-bar = 2. The normal equations give a-star = 2 and b-star = 2. Predictions are (-2,0,2,4,6), signed residuals are (-0.5,-0.5,1,1.5,-1.5), and squared residuals are (0.25,0.25,1,2.25,2.25). Their sum is 6. Compare the minimum 26 for the slope-only family and 46 for the constant family. The fitted affine line need not pass through an observation.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two-parameter model, the exact solution is easy to compute. The purpose of gradient descent here is to learn an iterative method that also applies to more complex models. All subsequent calculations in this section use the affine loss as a function of b and a. No matrix notation is needed yet.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Overflow="overflow"/>
          <a:lstStyle/>
          <a:p>
            <a:pPr algn="ctr"/>
            <a:r>
              <a:rPr sz="2100"/>
              <a:t>For this affine model an explicit solution is available. More complex models may have no explicit solution, but we can still use gradients to improve an initial guess. Introduce the sequence of parameter vectors, then connect it to the local approximation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local linear approximation motivates choosing each increment as a negative multiple of the corresponding partial derivative. With eta positive, the first-order change is minus eta times the sum of the squared partials. If either partial is nonzero, sufficiently small positive eta decreases the loss. The following slides write the iterative updates and identify their vector form as gradient descent.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 partial derivatives form the gradient in parameter order (b, a). The simultaneous scalar updates are exactly a step of minus eta times that gradient. For positive eta the step points opposite to the gradient. The preceding slide explains why sufficiently small steps decrease the loss.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0. The initial coefficients are b=0 and a=0, so every prediction is zero. The point in parameter space is the origin. The sum of squared residuals is 66. The next slide shows the first update with learning rate 0.04.</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Overflow="overflow"/>
          <a:lstStyle/>
          <a:p>
            <a:pPr algn="ctr"/>
            <a:r>
              <a:rPr sz="2100"/>
              <a:t>For these five observations, sum y_i = 10 and sum x_i y_i = 20. At b = a = 0, the gradient is (-20,-40)^T. With eta = 0.04, update both coefficients simultaneously to obtain b = 0.8 and a = 1.6. Reveal the two derivatives separately, followed by the update and its predictor.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1. The data-space graph and the parameter-space point correspond to the same coefficients. The pale ellipses are level sets of the empirical loss. All numeric results use a sum of squares, not its mean.</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2. The data-space graph and the parameter-space point correspond to the same coefficients. The pale ellipses are level sets of the empirical loss. All numeric results use a sum of squares, not its mean.</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Iteration 5. The data-space graph and the parameter-space point correspond to the same coefficients. The pale ellipses are level sets of the empirical loss. All numeric results use a sum of squares, not its mean.</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Extensions. First allow a nonlinear dependence on one scalar input by using fixed features. Then allow several input variables, using salary prediction as the example. State the explicit solution and gradient-descent update in each case, without additional derivations.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of Phi correspond to observations and columns to fixed features. For the quadratic example, choose phi_1(x)=1, phi_2(x)=x, phi_3(x)=x^2. The coefficients are the only quantities being fitted. No derivation is needed for the formulas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fixed nonlinear feature map extends the model while keeping it linear in its coefficients. The constant feature represents the bias. The next slide shows the quadratic fit on exactly the same five observations.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both results without derivation. The explicit inverse requires full column rank. The gradient is 2 Phi^T(Phi w-y), so the iteration is the same gradient-descent rule used for the affine model. A sufficient constant step-size condition, when Phi is nonzero, is 0 &lt; eta &lt; 1/lambda_max(Phi^T Phi). This condition is not needed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Results only from this point through fixed-feature linear regression, as requested. Input rows and weight columns follow the course notation.</a:t>
            </a: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 SEMTM0051_week2_linear_regression_final (2)(1).tex, supplied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both results without derivation. These are the same formulas as for fixed feature expansion, with X in place of Phi and theta in place of w. The first coefficient is the intercept. The inverse requires independent columns. For a nonzero design matrix, 0 &lt; eta &lt; 1/lambda_max(X^T X) ensures convergence of gradient descent for this sum-of-squares convention.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materials: https://github.com/semtm0051/2026_27. The lecture notes cover today's material in more detail and include exercises. Each week, the lecturer will post the exercise solutions before the next lecture. The visible link and QR code point to the same course repository. Wording and publication schedule supplied by the lecturer.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chart" Target="../charts/chart2.xml"/><Relationship Id="rId10" Type="http://schemas.openxmlformats.org/officeDocument/2006/relationships/image" Target="../media/image8.png"/><Relationship Id="rId4" Type="http://schemas.openxmlformats.org/officeDocument/2006/relationships/chart" Target="../charts/chart1.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chart" Target="../charts/chart9.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8" Type="http://schemas.openxmlformats.org/officeDocument/2006/relationships/chart" Target="../charts/chart13.xml"/><Relationship Id="rId3" Type="http://schemas.openxmlformats.org/officeDocument/2006/relationships/image" Target="../media/image32.png"/><Relationship Id="rId7" Type="http://schemas.openxmlformats.org/officeDocument/2006/relationships/chart" Target="../charts/chart12.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hart" Target="../charts/chart11.xml"/><Relationship Id="rId11" Type="http://schemas.openxmlformats.org/officeDocument/2006/relationships/image" Target="../media/image33.png"/><Relationship Id="rId5" Type="http://schemas.openxmlformats.org/officeDocument/2006/relationships/chart" Target="../charts/chart10.xm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chart" Target="../charts/char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FixedFormula0" Type="http://schemas.openxmlformats.org/officeDocument/2006/relationships/image" Target="../media/lesson2_fixed_formula00.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12.png"/><Relationship Id="rId5" Type="http://schemas.openxmlformats.org/officeDocument/2006/relationships/image" Target="../media/image46.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chart" Target="../charts/chart16.xml"/><Relationship Id="rId5" Type="http://schemas.openxmlformats.org/officeDocument/2006/relationships/image" Target="../media/image42.png"/><Relationship Id="rId4" Type="http://schemas.openxmlformats.org/officeDocument/2006/relationships/image" Target="../media/image380.png"/></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chart" Target="../charts/chart17.xml"/><Relationship Id="rId7" Type="http://schemas.openxmlformats.org/officeDocument/2006/relationships/image" Target="../media/image6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chart" Target="../charts/chart18.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66.png"/><Relationship Id="rId7"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5.png"/><Relationship Id="rId4" Type="http://schemas.openxmlformats.org/officeDocument/2006/relationships/image" Target="../media/image67.png"/></Relationships>
</file>

<file path=ppt/slides/_rels/slide2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311.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82.png"/><Relationship Id="rId4" Type="http://schemas.openxmlformats.org/officeDocument/2006/relationships/image" Target="../media/image81.png"/></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84.png"/><Relationship Id="rId4" Type="http://schemas.openxmlformats.org/officeDocument/2006/relationships/image" Target="../media/image83.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1.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2.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chart" Target="../charts/chart19.xml"/><Relationship Id="rId7"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 Id="rId9" Type="http://schemas.openxmlformats.org/officeDocument/2006/relationships/image" Target="../media/image10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FixedFormula2" Type="http://schemas.openxmlformats.org/officeDocument/2006/relationships/image" Target="../media/lesson2_fixed_formula0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080.png"/><Relationship Id="rId7" Type="http://schemas.openxmlformats.org/officeDocument/2006/relationships/image" Target="../media/image106.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08.png"/></Relationships>
</file>

<file path=ppt/slides/_rels/slide3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chart" Target="../charts/chart21.xml"/><Relationship Id="rId4" Type="http://schemas.openxmlformats.org/officeDocument/2006/relationships/chart" Target="../charts/chart20.xml"/></Relationships>
</file>

<file path=ppt/slides/_rels/slide38.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471.png"/><Relationship Id="rId7" Type="http://schemas.openxmlformats.org/officeDocument/2006/relationships/image" Target="../media/image100.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70.png"/><Relationship Id="rId5" Type="http://schemas.openxmlformats.org/officeDocument/2006/relationships/image" Target="../media/image440.png"/><Relationship Id="rId4" Type="http://schemas.openxmlformats.org/officeDocument/2006/relationships/image" Target="../media/image420.png"/></Relationships>
</file>

<file path=ppt/slides/_rels/slide3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100.png"/><Relationship Id="rId5" Type="http://schemas.openxmlformats.org/officeDocument/2006/relationships/chart" Target="../charts/chart23.xml"/><Relationship Id="rId4" Type="http://schemas.openxmlformats.org/officeDocument/2006/relationships/chart" Target="../charts/chart22.xml"/></Relationships>
</file>

<file path=ppt/slides/_rels/slide4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11.png"/><Relationship Id="rId5" Type="http://schemas.openxmlformats.org/officeDocument/2006/relationships/chart" Target="../charts/chart25.xml"/><Relationship Id="rId4" Type="http://schemas.openxmlformats.org/officeDocument/2006/relationships/chart" Target="../charts/chart24.xml"/></Relationships>
</file>

<file path=ppt/slides/_rels/slide4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12.png"/><Relationship Id="rId5" Type="http://schemas.openxmlformats.org/officeDocument/2006/relationships/chart" Target="../charts/chart27.xml"/><Relationship Id="rId4" Type="http://schemas.openxmlformats.org/officeDocument/2006/relationships/chart" Target="../charts/char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0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890.png"/><Relationship Id="rId4" Type="http://schemas.openxmlformats.org/officeDocument/2006/relationships/image" Target="../media/image650.png"/></Relationships>
</file>

<file path=ppt/slides/_rels/slide44.xml.rels><?xml version="1.0" encoding="UTF-8" standalone="yes"?>
<Relationships xmlns="http://schemas.openxmlformats.org/package/2006/relationships"><Relationship Id="rId3" Type="http://schemas.openxmlformats.org/officeDocument/2006/relationships/chart" Target="../charts/chart28.xml"/><Relationship Id="rId7" Type="http://schemas.openxmlformats.org/officeDocument/2006/relationships/image" Target="../media/image1130.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0.png"/><Relationship Id="rId4" Type="http://schemas.openxmlformats.org/officeDocument/2006/relationships/image" Target="../media/image500.png"/></Relationships>
</file>

<file path=ppt/slides/_rels/slide4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5.png"/></Relationships>
</file>

<file path=ppt/slides/_rels/slide46.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2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220.png"/><Relationship Id="rId5" Type="http://schemas.openxmlformats.org/officeDocument/2006/relationships/image" Target="../media/image119.png"/><Relationship Id="rId4" Type="http://schemas.openxmlformats.org/officeDocument/2006/relationships/image" Target="../media/image123.png"/></Relationships>
</file>

<file path=ppt/slides/_rels/slide4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21.png"/></Relationships>
</file>

<file path=ppt/slides/_rels/slide49.xml.rels><?xml version="1.0" encoding="UTF-8" standalone="yes"?>
<Relationships xmlns="http://schemas.openxmlformats.org/package/2006/relationships"><Relationship Id="rId3" Type="http://schemas.openxmlformats.org/officeDocument/2006/relationships/image" Target="../media/image1230.png"/><Relationship Id="rId7" Type="http://schemas.openxmlformats.org/officeDocument/2006/relationships/image" Target="../media/image126.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260.png"/><Relationship Id="rId5" Type="http://schemas.openxmlformats.org/officeDocument/2006/relationships/image" Target="../media/image125.png"/><Relationship Id="rId4" Type="http://schemas.openxmlformats.org/officeDocument/2006/relationships/image" Target="../media/image124.png"/></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semtm0051/2026_27" TargetMode="External"/><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1" name="Immagine 10"/>
          <p:cNvPicPr>
            <a:picLocks noChangeAspect="1"/>
          </p:cNvPicPr>
          <p:nvPr/>
        </p:nvPicPr>
        <p:blipFill>
          <a:blip r:embed="rId3"/>
          <a:srcRect l="19828" r="19828"/>
          <a:stretch>
            <a:fillRect/>
          </a:stretch>
        </p:blipFill>
        <p:spPr>
          <a:xfrm>
            <a:off x="6858000" y="1333500"/>
            <a:ext cx="5334000" cy="5524500"/>
          </a:xfrm>
          <a:prstGeom prst="rect">
            <a:avLst/>
          </a:prstGeom>
        </p:spPr>
      </p:pic>
      <p:sp>
        <p:nvSpPr>
          <p:cNvPr id="2" name="cover_image_blend">
            <a:extLst>
              <a:ext uri="{FF2B5EF4-FFF2-40B4-BE49-F238E27FC236}">
                <a16:creationId xmlns:a16="http://schemas.microsoft.com/office/drawing/2014/main" id="{BB7EBBA9-F38C-4EF5-A56F-E15174676376}"/>
              </a:ext>
            </a:extLst>
          </p:cNvPr>
          <p:cNvSpPr>
            <a:spLocks noGrp="1"/>
          </p:cNvSpPr>
          <p:nvPr/>
        </p:nvSpPr>
        <p:spPr>
          <a:xfrm>
            <a:off x="6705600" y="1333500"/>
            <a:ext cx="685800" cy="5524500"/>
          </a:xfrm>
          <a:prstGeom prst="rect">
            <a:avLst/>
          </a:prstGeom>
          <a:gradFill>
            <a:gsLst>
              <a:gs pos="0">
                <a:srgbClr val="182D45"/>
              </a:gs>
              <a:gs pos="100000">
                <a:srgbClr val="182D45">
                  <a:alpha val="0"/>
                </a:srgbClr>
              </a:gs>
            </a:gsLst>
            <a:lin ang="0"/>
          </a:gradFill>
          <a:ln w="0">
            <a:noFill/>
          </a:ln>
        </p:spPr>
        <p:txBody>
          <a:bodyPr/>
          <a:lstStyle/>
          <a:p>
            <a:endParaRPr lang="it-IT"/>
          </a:p>
        </p:txBody>
      </p:sp>
      <p:sp>
        <p:nvSpPr>
          <p:cNvPr id="3" name="university_header">
            <a:extLst>
              <a:ext uri="{FF2B5EF4-FFF2-40B4-BE49-F238E27FC236}">
                <a16:creationId xmlns:a16="http://schemas.microsoft.com/office/drawing/2014/main" id="{7EB572E9-FE21-4C15-B6F0-77754B113C52}"/>
              </a:ext>
            </a:extLst>
          </p:cNvPr>
          <p:cNvSpPr>
            <a:spLocks noGrp="1"/>
          </p:cNvSpPr>
          <p:nvPr/>
        </p:nvSpPr>
        <p:spPr>
          <a:xfrm>
            <a:off x="0" y="0"/>
            <a:ext cx="12192000" cy="1333500"/>
          </a:xfrm>
          <a:prstGeom prst="rect">
            <a:avLst/>
          </a:prstGeom>
          <a:solidFill>
            <a:srgbClr val="FFFFFF"/>
          </a:solidFill>
          <a:ln w="0">
            <a:noFill/>
          </a:ln>
        </p:spPr>
        <p:txBody>
          <a:bodyPr/>
          <a:lstStyle/>
          <a:p>
            <a:endParaRPr lang="it-IT"/>
          </a:p>
        </p:txBody>
      </p:sp>
      <p:pic>
        <p:nvPicPr>
          <p:cNvPr id="14" name="Immagine 13"/>
          <p:cNvPicPr>
            <a:picLocks noChangeAspect="1"/>
          </p:cNvPicPr>
          <p:nvPr/>
        </p:nvPicPr>
        <p:blipFill>
          <a:blip r:embed="rId4"/>
          <a:stretch/>
        </p:blipFill>
        <p:spPr>
          <a:xfrm>
            <a:off x="609600" y="285950"/>
            <a:ext cx="2724150" cy="787795"/>
          </a:xfrm>
          <a:prstGeom prst="rect">
            <a:avLst/>
          </a:prstGeom>
        </p:spPr>
      </p:pic>
      <p:sp>
        <p:nvSpPr>
          <p:cNvPr id="6" name="lecture_number">
            <a:extLst>
              <a:ext uri="{FF2B5EF4-FFF2-40B4-BE49-F238E27FC236}">
                <a16:creationId xmlns:a16="http://schemas.microsoft.com/office/drawing/2014/main" id="{32C96DD1-00F3-4AFB-96A6-3D1001E20900}"/>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algn="l">
              <a:defRPr sz="1875" b="1">
                <a:solidFill>
                  <a:srgbClr val="86D2CE"/>
                </a:solidFill>
                <a:latin typeface="DejaVu Sans"/>
                <a:ea typeface="DejaVu Sans"/>
                <a:cs typeface="DejaVu Sans"/>
              </a:defRPr>
            </a:pPr>
            <a:r>
              <a:rPr sz="1875" b="1">
                <a:solidFill>
                  <a:srgbClr val="86D2CE"/>
                </a:solidFill>
                <a:latin typeface="DejaVu Sans"/>
                <a:ea typeface="DejaVu Sans"/>
                <a:cs typeface="DejaVu Sans"/>
              </a:rPr>
              <a:t>LECTURE 2</a:t>
            </a:r>
          </a:p>
        </p:txBody>
      </p:sp>
      <p:sp>
        <p:nvSpPr>
          <p:cNvPr id="7" name="lecture_title">
            <a:extLst>
              <a:ext uri="{FF2B5EF4-FFF2-40B4-BE49-F238E27FC236}">
                <a16:creationId xmlns:a16="http://schemas.microsoft.com/office/drawing/2014/main" id="{4049F7DC-3E66-44DF-9614-4F35C5E4A546}"/>
              </a:ext>
            </a:extLst>
          </p:cNvPr>
          <p:cNvSpPr>
            <a:spLocks noGrp="1"/>
          </p:cNvSpPr>
          <p:nvPr/>
        </p:nvSpPr>
        <p:spPr>
          <a:xfrm>
            <a:off x="609600" y="2505075"/>
            <a:ext cx="6000750" cy="1562100"/>
          </a:xfrm>
          <a:prstGeom prst="rect">
            <a:avLst/>
          </a:prstGeom>
          <a:noFill/>
          <a:ln w="0">
            <a:noFill/>
          </a:ln>
        </p:spPr>
        <p:txBody>
          <a:bodyPr wrap="square" lIns="0" tIns="0" rIns="0" bIns="0" anchor="t">
            <a:noAutofit/>
          </a:bodyPr>
          <a:lstStyle/>
          <a:p>
            <a:pPr algn="l">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Linear</a:t>
            </a:r>
          </a:p>
          <a:p>
            <a:pPr algn="l">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regression</a:t>
            </a:r>
          </a:p>
        </p:txBody>
      </p:sp>
      <p:sp>
        <p:nvSpPr>
          <p:cNvPr id="8" name="course_name">
            <a:extLst>
              <a:ext uri="{FF2B5EF4-FFF2-40B4-BE49-F238E27FC236}">
                <a16:creationId xmlns:a16="http://schemas.microsoft.com/office/drawing/2014/main" id="{67055BC4-1D98-4015-9CD2-2CAE975C3020}"/>
              </a:ext>
            </a:extLst>
          </p:cNvPr>
          <p:cNvSpPr>
            <a:spLocks noGrp="1"/>
          </p:cNvSpPr>
          <p:nvPr/>
        </p:nvSpPr>
        <p:spPr>
          <a:xfrm>
            <a:off x="609600" y="4362450"/>
            <a:ext cx="5981700" cy="476250"/>
          </a:xfrm>
          <a:prstGeom prst="rect">
            <a:avLst/>
          </a:prstGeom>
          <a:noFill/>
          <a:ln w="0">
            <a:noFill/>
          </a:ln>
        </p:spPr>
        <p:txBody>
          <a:bodyPr wrap="square" lIns="0" tIns="0" rIns="0" bIns="0" anchor="t">
            <a:noAutofit/>
          </a:bodyPr>
          <a:lstStyle/>
          <a:p>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Foundations of Artificial Intelligence</a:t>
            </a:r>
          </a:p>
        </p:txBody>
      </p:sp>
      <p:sp>
        <p:nvSpPr>
          <p:cNvPr id="9" name="course_code_year">
            <a:extLst>
              <a:ext uri="{FF2B5EF4-FFF2-40B4-BE49-F238E27FC236}">
                <a16:creationId xmlns:a16="http://schemas.microsoft.com/office/drawing/2014/main" id="{EE4785DE-EB17-46FD-B476-1B3728C0BBA3}"/>
              </a:ext>
            </a:extLst>
          </p:cNvPr>
          <p:cNvSpPr>
            <a:spLocks noGrp="1"/>
          </p:cNvSpPr>
          <p:nvPr/>
        </p:nvSpPr>
        <p:spPr>
          <a:xfrm>
            <a:off x="609600" y="4857750"/>
            <a:ext cx="5981700" cy="381000"/>
          </a:xfrm>
          <a:prstGeom prst="rect">
            <a:avLst/>
          </a:prstGeom>
          <a:noFill/>
          <a:ln w="0">
            <a:noFill/>
          </a:ln>
        </p:spPr>
        <p:txBody>
          <a:bodyPr wrap="square" lIns="0" tIns="0" rIns="0" bIns="0" anchor="t">
            <a:noAutofit/>
          </a:bodyPr>
          <a:lstStyle/>
          <a:p>
            <a:pPr algn="l">
              <a:defRPr sz="1725" b="0">
                <a:solidFill>
                  <a:srgbClr val="C7D7E7"/>
                </a:solidFill>
                <a:latin typeface="DejaVu Sans"/>
                <a:ea typeface="DejaVu Sans"/>
                <a:cs typeface="DejaVu Sans"/>
              </a:defRPr>
            </a:pPr>
            <a:r>
              <a:rPr sz="1725" b="0">
                <a:solidFill>
                  <a:srgbClr val="C7D7E7"/>
                </a:solidFill>
                <a:latin typeface="DejaVu Sans"/>
                <a:ea typeface="DejaVu Sans"/>
                <a:cs typeface="DejaVu Sans"/>
              </a:rPr>
              <a:t>SEMTM0051   ·   2026/27</a:t>
            </a:r>
          </a:p>
        </p:txBody>
      </p:sp>
      <p:sp>
        <p:nvSpPr>
          <p:cNvPr id="10" name="lecturer">
            <a:extLst>
              <a:ext uri="{FF2B5EF4-FFF2-40B4-BE49-F238E27FC236}">
                <a16:creationId xmlns:a16="http://schemas.microsoft.com/office/drawing/2014/main" id="{0A545F5F-B01D-42B3-B46A-7BA9B86254BD}"/>
              </a:ext>
            </a:extLst>
          </p:cNvPr>
          <p:cNvSpPr>
            <a:spLocks noGrp="1"/>
          </p:cNvSpPr>
          <p:nvPr/>
        </p:nvSpPr>
        <p:spPr>
          <a:xfrm>
            <a:off x="609600" y="6076950"/>
            <a:ext cx="5981700" cy="419100"/>
          </a:xfrm>
          <a:prstGeom prst="rect">
            <a:avLst/>
          </a:prstGeom>
          <a:noFill/>
          <a:ln w="0">
            <a:noFill/>
          </a:ln>
        </p:spPr>
        <p:txBody>
          <a:bodyPr wrap="square" lIns="0" tIns="0" rIns="0" bIns="0" anchor="t">
            <a:noAutofit/>
          </a:bodyPr>
          <a:lstStyle/>
          <a:p>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Lecturer: Dr Roberto Colomboni</a:t>
            </a:r>
          </a:p>
        </p:txBody>
      </p:sp>
    </p:spTree>
    <p:extLst>
      <p:ext uri="{BB962C8B-B14F-4D97-AF65-F5344CB8AC3E}">
        <p14:creationId xmlns:p14="http://schemas.microsoft.com/office/powerpoint/2010/main" val="1259475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0227DEEC-4978-4328-B9AB-FA722BDEB0B7}"/>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5BA764DC-760B-419F-B5D1-DE7FEC4A7B8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00</a:t>
            </a:r>
          </a:p>
        </p:txBody>
      </p:sp>
      <p:sp>
        <p:nvSpPr>
          <p:cNvPr id="3" name="txt_1">
            <a:extLst>
              <a:ext uri="{FF2B5EF4-FFF2-40B4-BE49-F238E27FC236}">
                <a16:creationId xmlns:a16="http://schemas.microsoft.com/office/drawing/2014/main" id="{F1D627A4-0627-4C23-8EA3-4CABE2A56EC3}"/>
              </a:ext>
            </a:extLst>
          </p:cNvPr>
          <p:cNvSpPr>
            <a:spLocks noGrp="1"/>
          </p:cNvSpPr>
          <p:nvPr/>
        </p:nvSpPr>
        <p:spPr>
          <a:xfrm>
            <a:off x="914400" y="185737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182D45"/>
                </a:solidFill>
                <a:latin typeface="DejaVu Sans"/>
                <a:ea typeface="DejaVu Sans"/>
                <a:cs typeface="DejaVu Sans"/>
              </a:defRPr>
            </a:pPr>
            <a:r>
              <a:rPr lang="en-GB" sz="2700" b="0" i="0" dirty="0">
                <a:solidFill>
                  <a:srgbClr val="182D45"/>
                </a:solidFill>
                <a:latin typeface="DejaVu Sans"/>
                <a:ea typeface="DejaVu Sans"/>
                <a:cs typeface="DejaVu Sans"/>
              </a:rPr>
              <a:t>Regression and loss functions</a:t>
            </a:r>
          </a:p>
        </p:txBody>
      </p:sp>
      <p:sp>
        <p:nvSpPr>
          <p:cNvPr id="4" name="txt_2">
            <a:extLst>
              <a:ext uri="{FF2B5EF4-FFF2-40B4-BE49-F238E27FC236}">
                <a16:creationId xmlns:a16="http://schemas.microsoft.com/office/drawing/2014/main" id="{33F75E37-39A9-47F2-8D8C-B67AB0B74CB3}"/>
              </a:ext>
            </a:extLst>
          </p:cNvPr>
          <p:cNvSpPr>
            <a:spLocks noGrp="1"/>
          </p:cNvSpPr>
          <p:nvPr/>
        </p:nvSpPr>
        <p:spPr>
          <a:xfrm>
            <a:off x="914400" y="281940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182D45"/>
                </a:solidFill>
                <a:latin typeface="DejaVu Sans"/>
                <a:ea typeface="DejaVu Sans"/>
                <a:cs typeface="DejaVu Sans"/>
              </a:defRPr>
            </a:pPr>
            <a:r>
              <a:rPr lang="en-GB" sz="2700" b="0" i="0" dirty="0">
                <a:solidFill>
                  <a:srgbClr val="182D45"/>
                </a:solidFill>
                <a:latin typeface="DejaVu Sans"/>
                <a:ea typeface="DejaVu Sans"/>
                <a:cs typeface="DejaVu Sans"/>
              </a:rPr>
              <a:t>Least-squares fitting</a:t>
            </a:r>
          </a:p>
        </p:txBody>
      </p:sp>
      <p:sp>
        <p:nvSpPr>
          <p:cNvPr id="5" name="txt_3">
            <a:extLst>
              <a:ext uri="{FF2B5EF4-FFF2-40B4-BE49-F238E27FC236}">
                <a16:creationId xmlns:a16="http://schemas.microsoft.com/office/drawing/2014/main" id="{FCCFB31E-8FA2-4414-9D46-F6BED2B6AA70}"/>
              </a:ext>
            </a:extLst>
          </p:cNvPr>
          <p:cNvSpPr>
            <a:spLocks noGrp="1"/>
          </p:cNvSpPr>
          <p:nvPr/>
        </p:nvSpPr>
        <p:spPr>
          <a:xfrm>
            <a:off x="914400" y="378142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182D45"/>
                </a:solidFill>
                <a:latin typeface="DejaVu Sans"/>
                <a:ea typeface="DejaVu Sans"/>
                <a:cs typeface="DejaVu Sans"/>
              </a:defRPr>
            </a:pPr>
            <a:r>
              <a:rPr lang="en-GB" sz="2700" b="0" i="0" dirty="0">
                <a:solidFill>
                  <a:srgbClr val="182D45"/>
                </a:solidFill>
                <a:latin typeface="DejaVu Sans"/>
                <a:ea typeface="DejaVu Sans"/>
                <a:cs typeface="DejaVu Sans"/>
              </a:rPr>
              <a:t>Gradient descent</a:t>
            </a:r>
          </a:p>
        </p:txBody>
      </p:sp>
      <p:sp>
        <p:nvSpPr>
          <p:cNvPr id="7" name="agenda_extensions">
            <a:extLst>
              <a:ext uri="{FF2B5EF4-FFF2-40B4-BE49-F238E27FC236}">
                <a16:creationId xmlns:a16="http://schemas.microsoft.com/office/drawing/2014/main" id="{D1265D18-FAE2-4A66-A60F-F71764F47F25}"/>
              </a:ext>
            </a:extLst>
          </p:cNvPr>
          <p:cNvSpPr>
            <a:spLocks noGrp="1"/>
          </p:cNvSpPr>
          <p:nvPr/>
        </p:nvSpPr>
        <p:spPr>
          <a:xfrm>
            <a:off x="914400" y="474345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182D45"/>
                </a:solidFill>
                <a:latin typeface="DejaVu Sans"/>
                <a:ea typeface="DejaVu Sans"/>
                <a:cs typeface="DejaVu Sans"/>
              </a:defRPr>
            </a:pPr>
            <a:r>
              <a:rPr lang="en-GB" sz="2700" b="0" i="0" dirty="0">
                <a:solidFill>
                  <a:srgbClr val="182D45"/>
                </a:solidFill>
                <a:latin typeface="DejaVu Sans"/>
                <a:ea typeface="DejaVu Sans"/>
                <a:cs typeface="DejaVu Sans"/>
              </a:rPr>
              <a:t>Extensions</a:t>
            </a:r>
          </a:p>
        </p:txBody>
      </p:sp>
    </p:spTree>
    <p:extLst>
      <p:ext uri="{BB962C8B-B14F-4D97-AF65-F5344CB8AC3E}">
        <p14:creationId xmlns:p14="http://schemas.microsoft.com/office/powerpoint/2010/main" val="1058271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CD3278F-4ECB-45EF-AE10-4B550FF1D1F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CFB3E756-426D-445A-B9F3-49153FB8665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01</a:t>
            </a:r>
          </a:p>
        </p:txBody>
      </p:sp>
      <p:sp>
        <p:nvSpPr>
          <p:cNvPr id="3" name="txt_1">
            <a:extLst>
              <a:ext uri="{FF2B5EF4-FFF2-40B4-BE49-F238E27FC236}">
                <a16:creationId xmlns:a16="http://schemas.microsoft.com/office/drawing/2014/main" id="{9D97B446-E91C-4DAB-B475-2394E3D01366}"/>
              </a:ext>
            </a:extLst>
          </p:cNvPr>
          <p:cNvSpPr>
            <a:spLocks noGrp="1"/>
          </p:cNvSpPr>
          <p:nvPr/>
        </p:nvSpPr>
        <p:spPr>
          <a:xfrm>
            <a:off x="914400" y="1857375"/>
            <a:ext cx="10287000" cy="571500"/>
          </a:xfrm>
          <a:prstGeom prst="rect">
            <a:avLst/>
          </a:prstGeom>
          <a:noFill/>
          <a:ln w="0">
            <a:noFill/>
          </a:ln>
        </p:spPr>
        <p:txBody>
          <a:bodyPr wrap="square" lIns="0" tIns="0" rIns="0" bIns="0" anchor="ctr">
            <a:noAutofit/>
          </a:bodyPr>
          <a:lstStyle/>
          <a:p>
            <a:pPr marL="0" marR="0" indent="0" algn="l">
              <a:defRPr lang="en-GB" sz="2700" b="1" i="0" dirty="0">
                <a:solidFill>
                  <a:srgbClr val="00858A"/>
                </a:solidFill>
                <a:latin typeface="DejaVu Sans"/>
                <a:ea typeface="DejaVu Sans"/>
                <a:cs typeface="DejaVu Sans"/>
              </a:defRPr>
            </a:pPr>
            <a:r>
              <a:rPr lang="en-GB" sz="2700" b="1" i="0" dirty="0">
                <a:solidFill>
                  <a:srgbClr val="00858A"/>
                </a:solidFill>
                <a:latin typeface="DejaVu Sans"/>
                <a:ea typeface="DejaVu Sans"/>
                <a:cs typeface="DejaVu Sans"/>
              </a:rPr>
              <a:t>Regression and loss functions</a:t>
            </a:r>
          </a:p>
        </p:txBody>
      </p:sp>
      <p:sp>
        <p:nvSpPr>
          <p:cNvPr id="4" name="txt_2">
            <a:extLst>
              <a:ext uri="{FF2B5EF4-FFF2-40B4-BE49-F238E27FC236}">
                <a16:creationId xmlns:a16="http://schemas.microsoft.com/office/drawing/2014/main" id="{28E722A9-7EC7-4F5F-87D3-7475C21CC95A}"/>
              </a:ext>
            </a:extLst>
          </p:cNvPr>
          <p:cNvSpPr>
            <a:spLocks noGrp="1"/>
          </p:cNvSpPr>
          <p:nvPr/>
        </p:nvSpPr>
        <p:spPr>
          <a:xfrm>
            <a:off x="914400" y="281940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Least-squares fitting</a:t>
            </a:r>
          </a:p>
        </p:txBody>
      </p:sp>
      <p:sp>
        <p:nvSpPr>
          <p:cNvPr id="5" name="txt_3">
            <a:extLst>
              <a:ext uri="{FF2B5EF4-FFF2-40B4-BE49-F238E27FC236}">
                <a16:creationId xmlns:a16="http://schemas.microsoft.com/office/drawing/2014/main" id="{979B206B-F896-4E38-83F3-85A35432C7C2}"/>
              </a:ext>
            </a:extLst>
          </p:cNvPr>
          <p:cNvSpPr>
            <a:spLocks noGrp="1"/>
          </p:cNvSpPr>
          <p:nvPr/>
        </p:nvSpPr>
        <p:spPr>
          <a:xfrm>
            <a:off x="914400" y="378142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Gradient descent</a:t>
            </a:r>
          </a:p>
        </p:txBody>
      </p:sp>
      <p:sp>
        <p:nvSpPr>
          <p:cNvPr id="7" name="agenda_extensions">
            <a:extLst>
              <a:ext uri="{FF2B5EF4-FFF2-40B4-BE49-F238E27FC236}">
                <a16:creationId xmlns:a16="http://schemas.microsoft.com/office/drawing/2014/main" id="{FCEC60DF-C193-42F9-9D8B-415E596EEB18}"/>
              </a:ext>
            </a:extLst>
          </p:cNvPr>
          <p:cNvSpPr>
            <a:spLocks noGrp="1"/>
          </p:cNvSpPr>
          <p:nvPr/>
        </p:nvSpPr>
        <p:spPr>
          <a:xfrm>
            <a:off x="914400" y="474345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Extensions</a:t>
            </a:r>
          </a:p>
        </p:txBody>
      </p:sp>
    </p:spTree>
    <p:extLst>
      <p:ext uri="{BB962C8B-B14F-4D97-AF65-F5344CB8AC3E}">
        <p14:creationId xmlns:p14="http://schemas.microsoft.com/office/powerpoint/2010/main" val="166416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4A0D0063-F190-4EEC-B52A-4FEE1D11871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Regression: predicting a numerical outcome</a:t>
            </a:r>
          </a:p>
        </p:txBody>
      </p:sp>
      <p:sp>
        <p:nvSpPr>
          <p:cNvPr id="2" name="page_number">
            <a:extLst>
              <a:ext uri="{FF2B5EF4-FFF2-40B4-BE49-F238E27FC236}">
                <a16:creationId xmlns:a16="http://schemas.microsoft.com/office/drawing/2014/main" id="{883C330E-46AC-49C6-8526-33C4075A108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02</a:t>
            </a:r>
          </a:p>
        </p:txBody>
      </p:sp>
      <mc:AlternateContent xmlns:mc="http://schemas.openxmlformats.org/markup-compatibility/2006" xmlns:a14="http://schemas.microsoft.com/office/drawing/2010/main">
        <mc:Choice Requires="a14">
          <p:sp>
            <p:nvSpPr>
              <p:cNvPr id="3" name="observation_statement">
                <a:extLst>
                  <a:ext uri="{FF2B5EF4-FFF2-40B4-BE49-F238E27FC236}">
                    <a16:creationId xmlns:a16="http://schemas.microsoft.com/office/drawing/2014/main" id="{7DC1481A-B1B7-49DE-84E1-65551FD281EA}"/>
                  </a:ext>
                </a:extLst>
              </p:cNvPr>
              <p:cNvSpPr txBox="1">
                <a:spLocks noGrp="1"/>
              </p:cNvSpPr>
              <p:nvPr/>
            </p:nvSpPr>
            <p:spPr>
              <a:xfrm>
                <a:off x="609600" y="1257300"/>
                <a:ext cx="10953750" cy="6667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We observe </a:t>
                </a:r>
                <a14:m>
                  <m:oMath xmlns:m="http://schemas.openxmlformats.org/officeDocument/2006/math">
                    <m:r>
                      <a:rPr lang="en-GB" sz="2100" b="0" dirty="0">
                        <a:solidFill>
                          <a:srgbClr val="182D45"/>
                        </a:solidFill>
                        <a:latin typeface="Cambria Math"/>
                        <a:ea typeface="Cambria Math"/>
                        <a:cs typeface="Cambria Math"/>
                      </a:rPr>
                      <m:t>𝑁</m:t>
                    </m:r>
                  </m:oMath>
                </a14:m>
                <a:r>
                  <a:rPr lang="en-GB" sz="2100" b="0" i="0" dirty="0">
                    <a:solidFill>
                      <a:srgbClr val="182D45"/>
                    </a:solidFill>
                    <a:latin typeface="DejaVu Sans"/>
                    <a:ea typeface="DejaVu Sans"/>
                    <a:cs typeface="DejaVu Sans"/>
                  </a:rPr>
                  <a:t> input–target pairs </a:t>
                </a:r>
                <a14:m>
                  <m:oMath xmlns:m="http://schemas.openxmlformats.org/officeDocument/2006/math">
                    <m:d>
                      <m:dPr>
                        <m:ctrlPr>
                          <a:rPr lang="en-GB" sz="2100" b="0" i="1" dirty="0">
                            <a:solidFill>
                              <a:srgbClr val="182D45"/>
                            </a:solidFill>
                            <a:latin typeface="Cambria Math" panose="02040503050406030204" pitchFamily="18" charset="0"/>
                            <a:ea typeface="Cambria Math"/>
                            <a:cs typeface="Cambria Math"/>
                          </a:rPr>
                        </m:ctrlPr>
                      </m:dPr>
                      <m:e>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𝑥</m:t>
                            </m:r>
                          </m:e>
                          <m:sub>
                            <m:r>
                              <a:rPr lang="en-GB" sz="2100" b="0" dirty="0">
                                <a:solidFill>
                                  <a:srgbClr val="182D45"/>
                                </a:solidFill>
                                <a:latin typeface="Cambria Math"/>
                                <a:ea typeface="Cambria Math"/>
                                <a:cs typeface="Cambria Math"/>
                              </a:rPr>
                              <m:t>1</m:t>
                            </m:r>
                          </m:sub>
                        </m:sSub>
                        <m:r>
                          <a:rPr lang="en-GB" sz="2100" b="0" dirty="0">
                            <a:solidFill>
                              <a:srgbClr val="182D45"/>
                            </a:solidFill>
                            <a:latin typeface="Cambria Math"/>
                            <a:ea typeface="Cambria Math"/>
                            <a:cs typeface="Cambria Math"/>
                          </a:rPr>
                          <m:t>,</m:t>
                        </m:r>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𝑦</m:t>
                            </m:r>
                          </m:e>
                          <m:sub>
                            <m:r>
                              <a:rPr lang="en-GB" sz="2100" b="0" dirty="0">
                                <a:solidFill>
                                  <a:srgbClr val="182D45"/>
                                </a:solidFill>
                                <a:latin typeface="Cambria Math"/>
                                <a:ea typeface="Cambria Math"/>
                                <a:cs typeface="Cambria Math"/>
                              </a:rPr>
                              <m:t>1</m:t>
                            </m:r>
                          </m:sub>
                        </m:sSub>
                      </m:e>
                    </m:d>
                    <m:r>
                      <a:rPr lang="en-GB" sz="2100" b="0" dirty="0">
                        <a:solidFill>
                          <a:srgbClr val="182D45"/>
                        </a:solidFill>
                        <a:latin typeface="Cambria Math"/>
                        <a:ea typeface="Cambria Math"/>
                        <a:cs typeface="Cambria Math"/>
                      </a:rPr>
                      <m:t>,…,</m:t>
                    </m:r>
                    <m:d>
                      <m:dPr>
                        <m:ctrlPr>
                          <a:rPr lang="en-GB" sz="2100" b="0" i="1" dirty="0">
                            <a:solidFill>
                              <a:srgbClr val="182D45"/>
                            </a:solidFill>
                            <a:latin typeface="Cambria Math" panose="02040503050406030204" pitchFamily="18" charset="0"/>
                            <a:ea typeface="Cambria Math"/>
                            <a:cs typeface="Cambria Math"/>
                          </a:rPr>
                        </m:ctrlPr>
                      </m:dPr>
                      <m:e>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𝑥</m:t>
                            </m:r>
                          </m:e>
                          <m:sub>
                            <m:r>
                              <a:rPr lang="en-GB" sz="2100" b="0" dirty="0">
                                <a:solidFill>
                                  <a:srgbClr val="182D45"/>
                                </a:solidFill>
                                <a:latin typeface="Cambria Math"/>
                                <a:ea typeface="Cambria Math"/>
                                <a:cs typeface="Cambria Math"/>
                              </a:rPr>
                              <m:t>𝑁</m:t>
                            </m:r>
                          </m:sub>
                        </m:sSub>
                        <m:r>
                          <a:rPr lang="en-GB" sz="2100" b="0" dirty="0">
                            <a:solidFill>
                              <a:srgbClr val="182D45"/>
                            </a:solidFill>
                            <a:latin typeface="Cambria Math"/>
                            <a:ea typeface="Cambria Math"/>
                            <a:cs typeface="Cambria Math"/>
                          </a:rPr>
                          <m:t>,</m:t>
                        </m:r>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𝑦</m:t>
                            </m:r>
                          </m:e>
                          <m:sub>
                            <m:r>
                              <a:rPr lang="en-GB" sz="2100" b="0" dirty="0">
                                <a:solidFill>
                                  <a:srgbClr val="182D45"/>
                                </a:solidFill>
                                <a:latin typeface="Cambria Math"/>
                                <a:ea typeface="Cambria Math"/>
                                <a:cs typeface="Cambria Math"/>
                              </a:rPr>
                              <m:t>𝑁</m:t>
                            </m:r>
                          </m:sub>
                        </m:sSub>
                      </m:e>
                    </m:d>
                    <m:r>
                      <a:rPr lang="it-IT" sz="2100" b="0" i="1" dirty="0" smtClean="0">
                        <a:solidFill>
                          <a:srgbClr val="182D45"/>
                        </a:solidFill>
                        <a:latin typeface="Cambria Math" panose="02040503050406030204" pitchFamily="18" charset="0"/>
                        <a:ea typeface="Cambria Math"/>
                        <a:cs typeface="Cambria Math"/>
                      </a:rPr>
                      <m:t>∈</m:t>
                    </m:r>
                    <m:sSup>
                      <m:sSupPr>
                        <m:ctrlPr>
                          <a:rPr lang="it-IT" sz="2100" b="0" i="1" dirty="0" smtClean="0">
                            <a:solidFill>
                              <a:srgbClr val="182D45"/>
                            </a:solidFill>
                            <a:latin typeface="Cambria Math" panose="02040503050406030204" pitchFamily="18" charset="0"/>
                            <a:ea typeface="Cambria Math"/>
                            <a:cs typeface="Cambria Math"/>
                          </a:rPr>
                        </m:ctrlPr>
                      </m:sSupPr>
                      <m:e>
                        <m:r>
                          <a:rPr lang="it-IT" sz="2100" b="0" i="1" dirty="0" smtClean="0">
                            <a:solidFill>
                              <a:srgbClr val="182D45"/>
                            </a:solidFill>
                            <a:latin typeface="Cambria Math" panose="02040503050406030204" pitchFamily="18" charset="0"/>
                            <a:ea typeface="Cambria Math"/>
                            <a:cs typeface="Cambria Math"/>
                          </a:rPr>
                          <m:t>ℝ</m:t>
                        </m:r>
                      </m:e>
                      <m:sup>
                        <m:r>
                          <a:rPr lang="it-IT" sz="2100" b="0" i="1" dirty="0" smtClean="0">
                            <a:solidFill>
                              <a:srgbClr val="182D45"/>
                            </a:solidFill>
                            <a:latin typeface="Cambria Math" panose="02040503050406030204" pitchFamily="18" charset="0"/>
                            <a:ea typeface="Cambria Math"/>
                            <a:cs typeface="Cambria Math"/>
                          </a:rPr>
                          <m:t>2</m:t>
                        </m:r>
                      </m:sup>
                    </m:sSup>
                  </m:oMath>
                </a14:m>
                <a:r>
                  <a:rPr lang="en-GB" sz="2100" b="0" i="0" dirty="0">
                    <a:solidFill>
                      <a:srgbClr val="182D45"/>
                    </a:solidFill>
                    <a:latin typeface="DejaVu Sans"/>
                    <a:ea typeface="DejaVu Sans"/>
                    <a:cs typeface="DejaVu Sans"/>
                  </a:rPr>
                  <a:t>.</a:t>
                </a:r>
              </a:p>
            </p:txBody>
          </p:sp>
        </mc:Choice>
        <mc:Fallback xmlns="">
          <p:sp>
            <p:nvSpPr>
              <p:cNvPr id="3" name="observation_statement">
                <a:extLst>
                  <a:ext uri="{FF2B5EF4-FFF2-40B4-BE49-F238E27FC236}">
                    <a16:creationId xmlns:a16="http://schemas.microsoft.com/office/drawing/2014/main" id="{7DC1481A-B1B7-49DE-84E1-65551FD281EA}"/>
                  </a:ext>
                </a:extLst>
              </p:cNvPr>
              <p:cNvSpPr txBox="1">
                <a:spLocks noGrp="1" noRot="1" noChangeAspect="1" noMove="1" noResize="1" noEditPoints="1" noAdjustHandles="1" noChangeArrowheads="1" noChangeShapeType="1" noTextEdit="1"/>
              </p:cNvSpPr>
              <p:nvPr/>
            </p:nvSpPr>
            <p:spPr>
              <a:xfrm>
                <a:off x="609600" y="1257300"/>
                <a:ext cx="10953750" cy="666750"/>
              </a:xfrm>
              <a:prstGeom prst="rect">
                <a:avLst/>
              </a:prstGeom>
              <a:blipFill>
                <a:blip r:embed="rId3"/>
                <a:stretch>
                  <a:fillRect t="-12727"/>
                </a:stretch>
              </a:blipFill>
              <a:ln w="0">
                <a:noFill/>
              </a:ln>
            </p:spPr>
            <p:txBody>
              <a:bodyPr/>
              <a:lstStyle/>
              <a:p>
                <a:r>
                  <a:rPr lang="it-IT">
                    <a:noFill/>
                  </a:rPr>
                  <a:t> </a:t>
                </a:r>
              </a:p>
            </p:txBody>
          </p:sp>
        </mc:Fallback>
      </mc:AlternateContent>
      <p:graphicFrame>
        <p:nvGraphicFramePr>
          <p:cNvPr id="16" name="cloud_chart"/>
          <p:cNvGraphicFramePr/>
          <p:nvPr/>
        </p:nvGraphicFramePr>
        <p:xfrm>
          <a:off x="609600" y="2190750"/>
          <a:ext cx="7096125" cy="3714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model_chart"/>
          <p:cNvGraphicFramePr/>
          <p:nvPr/>
        </p:nvGraphicFramePr>
        <p:xfrm>
          <a:off x="609600" y="2190750"/>
          <a:ext cx="7096125" cy="3714750"/>
        </p:xfrm>
        <a:graphic>
          <a:graphicData uri="http://schemas.openxmlformats.org/drawingml/2006/chart">
            <c:chart xmlns:c="http://schemas.openxmlformats.org/drawingml/2006/chart" xmlns:r="http://schemas.openxmlformats.org/officeDocument/2006/relationships" r:id="rId5"/>
          </a:graphicData>
        </a:graphic>
      </p:graphicFrame>
      <p:sp>
        <p:nvSpPr>
          <p:cNvPr id="6" name="model_statement">
            <a:extLst>
              <a:ext uri="{FF2B5EF4-FFF2-40B4-BE49-F238E27FC236}">
                <a16:creationId xmlns:a16="http://schemas.microsoft.com/office/drawing/2014/main" id="{8012E265-A81E-467A-840C-D53ACC890ECD}"/>
              </a:ext>
            </a:extLst>
          </p:cNvPr>
          <p:cNvSpPr>
            <a:spLocks noGrp="1"/>
          </p:cNvSpPr>
          <p:nvPr/>
        </p:nvSpPr>
        <p:spPr>
          <a:xfrm>
            <a:off x="7934324" y="2457450"/>
            <a:ext cx="3762375" cy="1190625"/>
          </a:xfrm>
          <a:prstGeom prst="rect">
            <a:avLst/>
          </a:prstGeom>
          <a:noFill/>
          <a:ln w="0">
            <a:noFill/>
          </a:ln>
        </p:spPr>
        <p:txBody>
          <a:bodyPr wrap="square" lIns="0" tIns="0" rIns="0" bIns="0" anchor="t">
            <a:noAutofit/>
          </a:bodyPr>
          <a:lstStyle/>
          <a:p>
            <a:pPr marL="0" marR="0" indent="0" algn="l">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We model each outcome as a relationship plus noise.</a:t>
            </a:r>
          </a:p>
        </p:txBody>
      </p:sp>
      <mc:AlternateContent xmlns:mc="http://schemas.openxmlformats.org/markup-compatibility/2006" xmlns:a14="http://schemas.microsoft.com/office/drawing/2010/main">
        <mc:Choice Requires="a14">
          <p:sp>
            <p:nvSpPr>
              <p:cNvPr id="7" name="model_equation">
                <a:extLst>
                  <a:ext uri="{FF2B5EF4-FFF2-40B4-BE49-F238E27FC236}">
                    <a16:creationId xmlns:a16="http://schemas.microsoft.com/office/drawing/2014/main" id="{8146C8E2-4B5E-43A8-A5B9-A6182D62330C}"/>
                  </a:ext>
                </a:extLst>
              </p:cNvPr>
              <p:cNvSpPr txBox="1">
                <a:spLocks noGrp="1"/>
              </p:cNvSpPr>
              <p:nvPr/>
            </p:nvSpPr>
            <p:spPr>
              <a:xfrm>
                <a:off x="7810500" y="3924300"/>
                <a:ext cx="3762375" cy="666750"/>
              </a:xfrm>
              <a:prstGeom prst="rect">
                <a:avLst/>
              </a:prstGeom>
              <a:noFill/>
              <a:ln w="0">
                <a:noFill/>
              </a:ln>
            </p:spPr>
            <p:txBody>
              <a:bodyPr vertOverflow="overflow" wrap="none" lIns="0" tIns="0" rIns="0" bIns="0" anchor="t">
                <a:noAutofit/>
              </a:bodyPr>
              <a:lstStyle/>
              <a:p>
                <a:pPr marL="0" marR="0" indent="0" algn="ctr">
                  <a:defRPr lang="en-GB" sz="2400" b="0" i="0" dirty="0">
                    <a:solidFill>
                      <a:srgbClr val="087F83"/>
                    </a:solidFill>
                    <a:latin typeface="Cambria Math"/>
                    <a:ea typeface="Cambria Math"/>
                    <a:cs typeface="Cambria Math"/>
                  </a:defRPr>
                </a:pPr>
                <a14:m>
                  <m:oMathPara xmlns:m="http://schemas.openxmlformats.org/officeDocument/2006/math">
                    <m:oMath>
                      <m:sSub>
                        <m:sSubPr>
                          <m:ctrlPr>
                            <a:rPr lang="en-GB" sz="2400" b="0" dirty="0">
                              <a:solidFill>
                                <a:srgbClr val="087F83"/>
                              </a:solidFill>
                              <a:latin typeface="Cambria Math"/>
                              <a:ea typeface="Cambria Math"/>
                              <a:cs typeface="Cambria Math"/>
                            </a:rPr>
                          </m:ctrlPr>
                        </m:sSubPr>
                        <m:e>
                          <m:r>
                            <a:rPr lang="en-GB" sz="2400" b="0" dirty="0">
                              <a:solidFill>
                                <a:srgbClr val="087F83"/>
                              </a:solidFill>
                              <a:latin typeface="Cambria Math"/>
                              <a:ea typeface="Cambria Math"/>
                              <a:cs typeface="Cambria Math"/>
                            </a:rPr>
                            <m:t>𝑦</m:t>
                          </m:r>
                        </m:e>
                        <m:sub>
                          <m:r>
                            <a:rPr lang="en-GB" sz="2400" b="0" dirty="0">
                              <a:solidFill>
                                <a:srgbClr val="087F83"/>
                              </a:solidFill>
                              <a:latin typeface="Cambria Math"/>
                              <a:ea typeface="Cambria Math"/>
                              <a:cs typeface="Cambria Math"/>
                            </a:rPr>
                            <m:t>𝑖</m:t>
                          </m:r>
                        </m:sub>
                      </m:sSub>
                      <m:r>
                        <a:rPr lang="en-GB" sz="2400" b="0" dirty="0">
                          <a:solidFill>
                            <a:srgbClr val="087F83"/>
                          </a:solidFill>
                          <a:latin typeface="Cambria Math"/>
                          <a:ea typeface="Cambria Math"/>
                          <a:cs typeface="Cambria Math"/>
                        </a:rPr>
                        <m:t>=</m:t>
                      </m:r>
                      <m:sSub>
                        <m:sSubPr>
                          <m:ctrlPr>
                            <a:rPr lang="en-GB" sz="2400" b="0" dirty="0">
                              <a:solidFill>
                                <a:srgbClr val="087F83"/>
                              </a:solidFill>
                              <a:latin typeface="Cambria Math"/>
                              <a:ea typeface="Cambria Math"/>
                              <a:cs typeface="Cambria Math"/>
                            </a:rPr>
                          </m:ctrlPr>
                        </m:sSubPr>
                        <m:e>
                          <m:r>
                            <a:rPr lang="en-GB" sz="2400" b="0" dirty="0">
                              <a:solidFill>
                                <a:srgbClr val="087F83"/>
                              </a:solidFill>
                              <a:latin typeface="Cambria Math"/>
                              <a:ea typeface="Cambria Math"/>
                              <a:cs typeface="Cambria Math"/>
                            </a:rPr>
                            <m:t>𝑓</m:t>
                          </m:r>
                        </m:e>
                        <m:sub>
                          <m:r>
                            <m:rPr>
                              <m:sty m:val="p"/>
                            </m:rPr>
                            <a:rPr lang="en-GB" sz="2400" b="0" dirty="0">
                              <a:solidFill>
                                <a:srgbClr val="087F83"/>
                              </a:solidFill>
                              <a:latin typeface="Cambria Math"/>
                              <a:ea typeface="Cambria Math"/>
                              <a:cs typeface="Cambria Math"/>
                            </a:rPr>
                            <m:t>true</m:t>
                          </m:r>
                        </m:sub>
                      </m:sSub>
                      <m:d>
                        <m:dPr>
                          <m:ctrlPr>
                            <a:rPr lang="en-GB" sz="2400" b="0" i="1" dirty="0">
                              <a:solidFill>
                                <a:srgbClr val="087F83"/>
                              </a:solidFill>
                              <a:latin typeface="Cambria Math" panose="02040503050406030204" pitchFamily="18" charset="0"/>
                              <a:ea typeface="Cambria Math"/>
                              <a:cs typeface="Cambria Math"/>
                            </a:rPr>
                          </m:ctrlPr>
                        </m:dPr>
                        <m:e>
                          <m:sSub>
                            <m:sSubPr>
                              <m:ctrlPr>
                                <a:rPr lang="en-GB" sz="2400" b="0" dirty="0">
                                  <a:solidFill>
                                    <a:srgbClr val="087F83"/>
                                  </a:solidFill>
                                  <a:latin typeface="Cambria Math"/>
                                  <a:ea typeface="Cambria Math"/>
                                  <a:cs typeface="Cambria Math"/>
                                </a:rPr>
                              </m:ctrlPr>
                            </m:sSubPr>
                            <m:e>
                              <m:r>
                                <a:rPr lang="en-GB" sz="2400" b="0" dirty="0">
                                  <a:solidFill>
                                    <a:srgbClr val="087F83"/>
                                  </a:solidFill>
                                  <a:latin typeface="Cambria Math"/>
                                  <a:ea typeface="Cambria Math"/>
                                  <a:cs typeface="Cambria Math"/>
                                </a:rPr>
                                <m:t>𝑥</m:t>
                              </m:r>
                            </m:e>
                            <m:sub>
                              <m:r>
                                <a:rPr lang="en-GB" sz="2400" b="0" dirty="0">
                                  <a:solidFill>
                                    <a:srgbClr val="087F83"/>
                                  </a:solidFill>
                                  <a:latin typeface="Cambria Math"/>
                                  <a:ea typeface="Cambria Math"/>
                                  <a:cs typeface="Cambria Math"/>
                                </a:rPr>
                                <m:t>𝑖</m:t>
                              </m:r>
                            </m:sub>
                          </m:sSub>
                        </m:e>
                      </m:d>
                      <m:r>
                        <a:rPr lang="en-GB" sz="2400" b="0" dirty="0">
                          <a:solidFill>
                            <a:srgbClr val="087F83"/>
                          </a:solidFill>
                          <a:latin typeface="Cambria Math"/>
                          <a:ea typeface="Cambria Math"/>
                          <a:cs typeface="Cambria Math"/>
                        </a:rPr>
                        <m:t>+</m:t>
                      </m:r>
                      <m:sSub>
                        <m:sSubPr>
                          <m:ctrlPr>
                            <a:rPr lang="en-GB" sz="2400" b="0" dirty="0">
                              <a:solidFill>
                                <a:srgbClr val="087F83"/>
                              </a:solidFill>
                              <a:latin typeface="Cambria Math"/>
                              <a:ea typeface="Cambria Math"/>
                              <a:cs typeface="Cambria Math"/>
                            </a:rPr>
                          </m:ctrlPr>
                        </m:sSubPr>
                        <m:e>
                          <m:r>
                            <a:rPr lang="en-GB" sz="2400" b="0" dirty="0">
                              <a:solidFill>
                                <a:srgbClr val="087F83"/>
                              </a:solidFill>
                              <a:latin typeface="Cambria Math"/>
                              <a:ea typeface="Cambria Math"/>
                              <a:cs typeface="Cambria Math"/>
                            </a:rPr>
                            <m:t>𝜀</m:t>
                          </m:r>
                        </m:e>
                        <m:sub>
                          <m:r>
                            <a:rPr lang="en-GB" sz="2400" b="0" dirty="0">
                              <a:solidFill>
                                <a:srgbClr val="087F83"/>
                              </a:solidFill>
                              <a:latin typeface="Cambria Math"/>
                              <a:ea typeface="Cambria Math"/>
                              <a:cs typeface="Cambria Math"/>
                            </a:rPr>
                            <m:t>𝑖</m:t>
                          </m:r>
                        </m:sub>
                      </m:sSub>
                    </m:oMath>
                  </m:oMathPara>
                </a14:m>
                <a:endParaRPr lang="en-GB" sz="2400" b="0" i="0" dirty="0">
                  <a:solidFill>
                    <a:srgbClr val="087F83"/>
                  </a:solidFill>
                  <a:latin typeface="Cambria Math"/>
                  <a:ea typeface="Cambria Math"/>
                  <a:cs typeface="Cambria Math"/>
                </a:endParaRPr>
              </a:p>
            </p:txBody>
          </p:sp>
        </mc:Choice>
        <mc:Fallback xmlns="">
          <p:sp>
            <p:nvSpPr>
              <p:cNvPr id="7" name="model_equation">
                <a:extLst>
                  <a:ext uri="{FF2B5EF4-FFF2-40B4-BE49-F238E27FC236}">
                    <a16:creationId xmlns:a16="http://schemas.microsoft.com/office/drawing/2014/main" id="{8146C8E2-4B5E-43A8-A5B9-A6182D62330C}"/>
                  </a:ext>
                </a:extLst>
              </p:cNvPr>
              <p:cNvSpPr txBox="1">
                <a:spLocks noGrp="1" noRot="1" noChangeAspect="1" noMove="1" noResize="1" noEditPoints="1" noAdjustHandles="1" noChangeArrowheads="1" noChangeShapeType="1" noTextEdit="1"/>
              </p:cNvSpPr>
              <p:nvPr/>
            </p:nvSpPr>
            <p:spPr>
              <a:xfrm>
                <a:off x="7810500" y="3924300"/>
                <a:ext cx="3762375" cy="6667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model_indices">
                <a:extLst>
                  <a:ext uri="{FF2B5EF4-FFF2-40B4-BE49-F238E27FC236}">
                    <a16:creationId xmlns:a16="http://schemas.microsoft.com/office/drawing/2014/main" id="{F16E7058-88DF-4632-A49C-0DE1E5E655C6}"/>
                  </a:ext>
                </a:extLst>
              </p:cNvPr>
              <p:cNvSpPr txBox="1">
                <a:spLocks noGrp="1"/>
              </p:cNvSpPr>
              <p:nvPr/>
            </p:nvSpPr>
            <p:spPr>
              <a:xfrm>
                <a:off x="8096250" y="4572000"/>
                <a:ext cx="3143250" cy="495300"/>
              </a:xfrm>
              <a:prstGeom prst="rect">
                <a:avLst/>
              </a:prstGeom>
              <a:noFill/>
              <a:ln w="0">
                <a:noFill/>
              </a:ln>
            </p:spPr>
            <p:txBody>
              <a:bodyPr vertOverflow="overflow" wrap="none" lIns="0" tIns="0" rIns="0" bIns="0" anchor="t">
                <a:noAutofit/>
              </a:bodyPr>
              <a:lstStyle/>
              <a:p>
                <a:pPr marL="0" marR="0" indent="0" algn="ctr">
                  <a:defRPr lang="en-GB" sz="2025" b="0" i="0" dirty="0">
                    <a:solidFill>
                      <a:srgbClr val="182D45"/>
                    </a:solidFill>
                    <a:latin typeface="Cambria Math"/>
                    <a:ea typeface="Cambria Math"/>
                    <a:cs typeface="Cambria Math"/>
                  </a:defRPr>
                </a:pPr>
                <a14:m>
                  <m:oMathPara xmlns:m="http://schemas.openxmlformats.org/officeDocument/2006/math">
                    <m:oMath>
                      <m:r>
                        <a:rPr lang="en-GB" sz="2025" b="0" dirty="0">
                          <a:solidFill>
                            <a:srgbClr val="182D45"/>
                          </a:solidFill>
                          <a:latin typeface="Cambria Math"/>
                          <a:ea typeface="Cambria Math"/>
                          <a:cs typeface="Cambria Math"/>
                        </a:rPr>
                        <m:t>𝑖</m:t>
                      </m:r>
                      <m:r>
                        <a:rPr lang="en-GB" sz="2025" b="0" dirty="0">
                          <a:solidFill>
                            <a:srgbClr val="182D45"/>
                          </a:solidFill>
                          <a:latin typeface="Cambria Math"/>
                          <a:ea typeface="Cambria Math"/>
                          <a:cs typeface="Cambria Math"/>
                        </a:rPr>
                        <m:t>=1,…,</m:t>
                      </m:r>
                      <m:r>
                        <a:rPr lang="en-GB" sz="2025" b="0" dirty="0">
                          <a:solidFill>
                            <a:srgbClr val="182D45"/>
                          </a:solidFill>
                          <a:latin typeface="Cambria Math"/>
                          <a:ea typeface="Cambria Math"/>
                          <a:cs typeface="Cambria Math"/>
                        </a:rPr>
                        <m:t>𝑁</m:t>
                      </m:r>
                    </m:oMath>
                  </m:oMathPara>
                </a14:m>
                <a:endParaRPr lang="en-GB" sz="2025" b="0" i="0" dirty="0">
                  <a:solidFill>
                    <a:srgbClr val="182D45"/>
                  </a:solidFill>
                  <a:latin typeface="Cambria Math"/>
                  <a:ea typeface="Cambria Math"/>
                  <a:cs typeface="Cambria Math"/>
                </a:endParaRPr>
              </a:p>
            </p:txBody>
          </p:sp>
        </mc:Choice>
        <mc:Fallback xmlns="">
          <p:sp>
            <p:nvSpPr>
              <p:cNvPr id="8" name="model_indices">
                <a:extLst>
                  <a:ext uri="{FF2B5EF4-FFF2-40B4-BE49-F238E27FC236}">
                    <a16:creationId xmlns:a16="http://schemas.microsoft.com/office/drawing/2014/main" id="{F16E7058-88DF-4632-A49C-0DE1E5E655C6}"/>
                  </a:ext>
                </a:extLst>
              </p:cNvPr>
              <p:cNvSpPr txBox="1">
                <a:spLocks noGrp="1" noRot="1" noChangeAspect="1" noMove="1" noResize="1" noEditPoints="1" noAdjustHandles="1" noChangeArrowheads="1" noChangeShapeType="1" noTextEdit="1"/>
              </p:cNvSpPr>
              <p:nvPr/>
            </p:nvSpPr>
            <p:spPr>
              <a:xfrm>
                <a:off x="8096250" y="4572000"/>
                <a:ext cx="3143250" cy="4953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noise_explanation">
                <a:extLst>
                  <a:ext uri="{FF2B5EF4-FFF2-40B4-BE49-F238E27FC236}">
                    <a16:creationId xmlns:a16="http://schemas.microsoft.com/office/drawing/2014/main" id="{05B60717-5834-402E-9364-8B645680095A}"/>
                  </a:ext>
                </a:extLst>
              </p:cNvPr>
              <p:cNvSpPr txBox="1">
                <a:spLocks noGrp="1"/>
              </p:cNvSpPr>
              <p:nvPr/>
            </p:nvSpPr>
            <p:spPr>
              <a:xfrm>
                <a:off x="8058150" y="5267325"/>
                <a:ext cx="3514725" cy="895350"/>
              </a:xfrm>
              <a:prstGeom prst="rect">
                <a:avLst/>
              </a:prstGeom>
              <a:noFill/>
              <a:ln w="0">
                <a:noFill/>
              </a:ln>
            </p:spPr>
            <p:txBody>
              <a:bodyPr vertOverflow="overflow" wrap="square" lIns="0" tIns="0" rIns="0" bIns="0" anchor="t">
                <a:noAutofit/>
              </a:bodyPr>
              <a:lstStyle/>
              <a:p>
                <a:pPr marL="0" marR="0" indent="0" algn="l">
                  <a:defRPr lang="en-GB" sz="1725" b="0" i="0" dirty="0">
                    <a:solidFill>
                      <a:srgbClr val="C45C28"/>
                    </a:solidFill>
                    <a:latin typeface="DejaVu Sans"/>
                    <a:ea typeface="DejaVu Sans"/>
                    <a:cs typeface="DejaVu Sans"/>
                  </a:defRPr>
                </a:pPr>
                <a:r>
                  <a:rPr lang="en-GB" sz="1725" b="0" i="0" dirty="0">
                    <a:solidFill>
                      <a:srgbClr val="C45C28"/>
                    </a:solidFill>
                    <a:latin typeface="DejaVu Sans"/>
                    <a:ea typeface="DejaVu Sans"/>
                    <a:cs typeface="DejaVu Sans"/>
                  </a:rPr>
                  <a:t>The vertical segments represent the noise terms </a:t>
                </a:r>
                <a14:m>
                  <m:oMath xmlns:m="http://schemas.openxmlformats.org/officeDocument/2006/math">
                    <m:sSub>
                      <m:sSubPr>
                        <m:ctrlPr>
                          <a:rPr lang="en-GB" sz="1725" b="0" dirty="0">
                            <a:solidFill>
                              <a:srgbClr val="C45C28"/>
                            </a:solidFill>
                            <a:latin typeface="Cambria Math"/>
                            <a:ea typeface="Cambria Math"/>
                            <a:cs typeface="Cambria Math"/>
                          </a:rPr>
                        </m:ctrlPr>
                      </m:sSubPr>
                      <m:e>
                        <m:r>
                          <a:rPr lang="en-GB" sz="1725" b="0" dirty="0">
                            <a:solidFill>
                              <a:srgbClr val="C45C28"/>
                            </a:solidFill>
                            <a:latin typeface="Cambria Math"/>
                            <a:ea typeface="Cambria Math"/>
                            <a:cs typeface="Cambria Math"/>
                          </a:rPr>
                          <m:t>𝜀</m:t>
                        </m:r>
                      </m:e>
                      <m:sub>
                        <m:r>
                          <a:rPr lang="en-GB" sz="1725" b="0" dirty="0">
                            <a:solidFill>
                              <a:srgbClr val="C45C28"/>
                            </a:solidFill>
                            <a:latin typeface="Cambria Math"/>
                            <a:ea typeface="Cambria Math"/>
                            <a:cs typeface="Cambria Math"/>
                          </a:rPr>
                          <m:t>𝑖</m:t>
                        </m:r>
                      </m:sub>
                    </m:sSub>
                  </m:oMath>
                </a14:m>
                <a:r>
                  <a:rPr lang="en-GB" sz="1725" b="0" i="0" dirty="0">
                    <a:solidFill>
                      <a:srgbClr val="C45C28"/>
                    </a:solidFill>
                    <a:latin typeface="DejaVu Sans"/>
                    <a:ea typeface="DejaVu Sans"/>
                    <a:cs typeface="DejaVu Sans"/>
                  </a:rPr>
                  <a:t>.</a:t>
                </a:r>
              </a:p>
            </p:txBody>
          </p:sp>
        </mc:Choice>
        <mc:Fallback xmlns="">
          <p:sp>
            <p:nvSpPr>
              <p:cNvPr id="9" name="noise_explanation">
                <a:extLst>
                  <a:ext uri="{FF2B5EF4-FFF2-40B4-BE49-F238E27FC236}">
                    <a16:creationId xmlns:a16="http://schemas.microsoft.com/office/drawing/2014/main" id="{05B60717-5834-402E-9364-8B645680095A}"/>
                  </a:ext>
                </a:extLst>
              </p:cNvPr>
              <p:cNvSpPr txBox="1">
                <a:spLocks noGrp="1" noRot="1" noChangeAspect="1" noMove="1" noResize="1" noEditPoints="1" noAdjustHandles="1" noChangeArrowheads="1" noChangeShapeType="1" noTextEdit="1"/>
              </p:cNvSpPr>
              <p:nvPr/>
            </p:nvSpPr>
            <p:spPr>
              <a:xfrm>
                <a:off x="8058150" y="5267325"/>
                <a:ext cx="3514725" cy="895350"/>
              </a:xfrm>
              <a:prstGeom prst="rect">
                <a:avLst/>
              </a:prstGeom>
              <a:blipFill>
                <a:blip r:embed="rId8"/>
                <a:stretch>
                  <a:fillRect l="-3819" t="-680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urve_label">
                <a:extLst>
                  <a:ext uri="{FF2B5EF4-FFF2-40B4-BE49-F238E27FC236}">
                    <a16:creationId xmlns:a16="http://schemas.microsoft.com/office/drawing/2014/main" id="{C6374086-9BA5-4D7D-AA5C-52B987B63754}"/>
                  </a:ext>
                </a:extLst>
              </p:cNvPr>
              <p:cNvSpPr txBox="1">
                <a:spLocks noGrp="1"/>
              </p:cNvSpPr>
              <p:nvPr/>
            </p:nvSpPr>
            <p:spPr>
              <a:xfrm>
                <a:off x="6183249" y="3648075"/>
                <a:ext cx="904875" cy="495300"/>
              </a:xfrm>
              <a:prstGeom prst="rect">
                <a:avLst/>
              </a:prstGeom>
              <a:noFill/>
              <a:ln w="0">
                <a:noFill/>
              </a:ln>
            </p:spPr>
            <p:txBody>
              <a:bodyPr vertOverflow="overflow" wrap="none" lIns="0" tIns="0" rIns="0" bIns="0" anchor="t">
                <a:noAutofit/>
              </a:bodyPr>
              <a:lstStyle/>
              <a:p>
                <a:pPr marL="0" marR="0" indent="0" algn="ctr">
                  <a:defRPr lang="en-GB" sz="2250" b="0" i="0" dirty="0">
                    <a:solidFill>
                      <a:srgbClr val="087F83"/>
                    </a:solidFill>
                    <a:latin typeface="Cambria Math"/>
                    <a:ea typeface="Cambria Math"/>
                    <a:cs typeface="Cambria Math"/>
                  </a:defRPr>
                </a:pPr>
                <a14:m>
                  <m:oMathPara xmlns:m="http://schemas.openxmlformats.org/officeDocument/2006/math">
                    <m:oMath>
                      <m:sSub>
                        <m:sSubPr>
                          <m:ctrlPr>
                            <a:rPr lang="en-GB" sz="2250" b="0" dirty="0">
                              <a:solidFill>
                                <a:srgbClr val="087F83"/>
                              </a:solidFill>
                              <a:latin typeface="Cambria Math"/>
                              <a:ea typeface="Cambria Math"/>
                              <a:cs typeface="Cambria Math"/>
                            </a:rPr>
                          </m:ctrlPr>
                        </m:sSubPr>
                        <m:e>
                          <m:r>
                            <a:rPr lang="en-GB" sz="2250" b="0" dirty="0">
                              <a:solidFill>
                                <a:srgbClr val="087F83"/>
                              </a:solidFill>
                              <a:latin typeface="Cambria Math"/>
                              <a:ea typeface="Cambria Math"/>
                              <a:cs typeface="Cambria Math"/>
                            </a:rPr>
                            <m:t>𝑓</m:t>
                          </m:r>
                        </m:e>
                        <m:sub>
                          <m:r>
                            <m:rPr>
                              <m:sty m:val="p"/>
                            </m:rPr>
                            <a:rPr lang="en-GB" sz="2250" b="0" dirty="0">
                              <a:solidFill>
                                <a:srgbClr val="087F83"/>
                              </a:solidFill>
                              <a:latin typeface="Cambria Math"/>
                              <a:ea typeface="Cambria Math"/>
                              <a:cs typeface="Cambria Math"/>
                            </a:rPr>
                            <m:t>true</m:t>
                          </m:r>
                        </m:sub>
                      </m:sSub>
                    </m:oMath>
                  </m:oMathPara>
                </a14:m>
                <a:endParaRPr lang="en-GB" sz="2250" b="0" i="0" dirty="0">
                  <a:solidFill>
                    <a:srgbClr val="087F83"/>
                  </a:solidFill>
                  <a:latin typeface="Cambria Math"/>
                  <a:ea typeface="Cambria Math"/>
                  <a:cs typeface="Cambria Math"/>
                </a:endParaRPr>
              </a:p>
            </p:txBody>
          </p:sp>
        </mc:Choice>
        <mc:Fallback xmlns="">
          <p:sp>
            <p:nvSpPr>
              <p:cNvPr id="10" name="curve_label">
                <a:extLst>
                  <a:ext uri="{FF2B5EF4-FFF2-40B4-BE49-F238E27FC236}">
                    <a16:creationId xmlns:a16="http://schemas.microsoft.com/office/drawing/2014/main" id="{C6374086-9BA5-4D7D-AA5C-52B987B63754}"/>
                  </a:ext>
                </a:extLst>
              </p:cNvPr>
              <p:cNvSpPr txBox="1">
                <a:spLocks noGrp="1" noRot="1" noChangeAspect="1" noMove="1" noResize="1" noEditPoints="1" noAdjustHandles="1" noChangeArrowheads="1" noChangeShapeType="1" noTextEdit="1"/>
              </p:cNvSpPr>
              <p:nvPr/>
            </p:nvSpPr>
            <p:spPr>
              <a:xfrm>
                <a:off x="6183249" y="3648075"/>
                <a:ext cx="904875" cy="495300"/>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noise_label">
                <a:extLst>
                  <a:ext uri="{FF2B5EF4-FFF2-40B4-BE49-F238E27FC236}">
                    <a16:creationId xmlns:a16="http://schemas.microsoft.com/office/drawing/2014/main" id="{12C2DA17-D84D-4066-8488-5589CD818D10}"/>
                  </a:ext>
                </a:extLst>
              </p:cNvPr>
              <p:cNvSpPr txBox="1">
                <a:spLocks noGrp="1"/>
              </p:cNvSpPr>
              <p:nvPr/>
            </p:nvSpPr>
            <p:spPr>
              <a:xfrm>
                <a:off x="4055364" y="4348162"/>
                <a:ext cx="523875" cy="447675"/>
              </a:xfrm>
              <a:prstGeom prst="rect">
                <a:avLst/>
              </a:prstGeom>
              <a:noFill/>
              <a:ln w="0">
                <a:noFill/>
              </a:ln>
            </p:spPr>
            <p:txBody>
              <a:bodyPr vertOverflow="overflow" wrap="none" lIns="0" tIns="0" rIns="0" bIns="0" anchor="t">
                <a:noAutofit/>
              </a:bodyPr>
              <a:lstStyle/>
              <a:p>
                <a:pPr marL="0" marR="0" indent="0" algn="ctr">
                  <a:defRPr lang="en-GB" sz="2025" b="0" i="0" dirty="0">
                    <a:solidFill>
                      <a:srgbClr val="C45C28"/>
                    </a:solidFill>
                    <a:latin typeface="Cambria Math"/>
                    <a:ea typeface="Cambria Math"/>
                    <a:cs typeface="Cambria Math"/>
                  </a:defRPr>
                </a:pPr>
                <a14:m>
                  <m:oMathPara xmlns:m="http://schemas.openxmlformats.org/officeDocument/2006/math">
                    <m:oMath>
                      <m:sSub>
                        <m:sSubPr>
                          <m:ctrlPr>
                            <a:rPr lang="en-GB" sz="2025" b="0" dirty="0">
                              <a:solidFill>
                                <a:srgbClr val="C45C28"/>
                              </a:solidFill>
                              <a:latin typeface="Cambria Math"/>
                              <a:ea typeface="Cambria Math"/>
                              <a:cs typeface="Cambria Math"/>
                            </a:rPr>
                          </m:ctrlPr>
                        </m:sSubPr>
                        <m:e>
                          <m:r>
                            <a:rPr lang="en-GB" sz="2025" b="0" dirty="0">
                              <a:solidFill>
                                <a:srgbClr val="C45C28"/>
                              </a:solidFill>
                              <a:latin typeface="Cambria Math"/>
                              <a:ea typeface="Cambria Math"/>
                              <a:cs typeface="Cambria Math"/>
                            </a:rPr>
                            <m:t>𝜀</m:t>
                          </m:r>
                        </m:e>
                        <m:sub>
                          <m:r>
                            <a:rPr lang="en-GB" sz="2025" b="0" dirty="0">
                              <a:solidFill>
                                <a:srgbClr val="C45C28"/>
                              </a:solidFill>
                              <a:latin typeface="Cambria Math"/>
                              <a:ea typeface="Cambria Math"/>
                              <a:cs typeface="Cambria Math"/>
                            </a:rPr>
                            <m:t>𝑖</m:t>
                          </m:r>
                        </m:sub>
                      </m:sSub>
                    </m:oMath>
                  </m:oMathPara>
                </a14:m>
                <a:endParaRPr lang="en-GB" sz="2025" b="0" i="0" dirty="0">
                  <a:solidFill>
                    <a:srgbClr val="C45C28"/>
                  </a:solidFill>
                  <a:latin typeface="Cambria Math"/>
                  <a:ea typeface="Cambria Math"/>
                  <a:cs typeface="Cambria Math"/>
                </a:endParaRPr>
              </a:p>
            </p:txBody>
          </p:sp>
        </mc:Choice>
        <mc:Fallback xmlns="">
          <p:sp>
            <p:nvSpPr>
              <p:cNvPr id="11" name="noise_label">
                <a:extLst>
                  <a:ext uri="{FF2B5EF4-FFF2-40B4-BE49-F238E27FC236}">
                    <a16:creationId xmlns:a16="http://schemas.microsoft.com/office/drawing/2014/main" id="{12C2DA17-D84D-4066-8488-5589CD818D10}"/>
                  </a:ext>
                </a:extLst>
              </p:cNvPr>
              <p:cNvSpPr txBox="1">
                <a:spLocks noGrp="1" noRot="1" noChangeAspect="1" noMove="1" noResize="1" noEditPoints="1" noAdjustHandles="1" noChangeArrowheads="1" noChangeShapeType="1" noTextEdit="1"/>
              </p:cNvSpPr>
              <p:nvPr/>
            </p:nvSpPr>
            <p:spPr>
              <a:xfrm>
                <a:off x="4055364" y="4348162"/>
                <a:ext cx="523875" cy="447675"/>
              </a:xfrm>
              <a:prstGeom prst="rect">
                <a:avLst/>
              </a:prstGeom>
              <a:blipFill>
                <a:blip r:embed="rId1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unknown_statement">
                <a:extLst>
                  <a:ext uri="{FF2B5EF4-FFF2-40B4-BE49-F238E27FC236}">
                    <a16:creationId xmlns:a16="http://schemas.microsoft.com/office/drawing/2014/main" id="{94A6185D-7687-4684-B5BA-4E70996F60DE}"/>
                  </a:ext>
                </a:extLst>
              </p:cNvPr>
              <p:cNvSpPr txBox="1">
                <a:spLocks noGrp="1"/>
              </p:cNvSpPr>
              <p:nvPr/>
            </p:nvSpPr>
            <p:spPr>
              <a:xfrm>
                <a:off x="609600" y="6057900"/>
                <a:ext cx="10953750" cy="457200"/>
              </a:xfrm>
              <a:prstGeom prst="rect">
                <a:avLst/>
              </a:prstGeom>
              <a:noFill/>
              <a:ln w="0">
                <a:noFill/>
              </a:ln>
            </p:spPr>
            <p:txBody>
              <a:bodyPr vertOverflow="overflow" wrap="square" lIns="0" tIns="0" rIns="0" bIns="0" anchor="t">
                <a:noAutofit/>
              </a:bodyPr>
              <a:lstStyle/>
              <a:p>
                <a:pPr marL="0" marR="0" indent="0" algn="l">
                  <a:defRPr lang="en-GB" sz="1725" b="0" i="0" dirty="0">
                    <a:solidFill>
                      <a:srgbClr val="526276"/>
                    </a:solidFill>
                    <a:latin typeface="DejaVu Sans"/>
                    <a:ea typeface="DejaVu Sans"/>
                    <a:cs typeface="DejaVu Sans"/>
                  </a:defRPr>
                </a:pPr>
                <a:r>
                  <a:rPr lang="en-GB" sz="1725" b="0" i="0" dirty="0">
                    <a:solidFill>
                      <a:srgbClr val="526276"/>
                    </a:solidFill>
                    <a:latin typeface="DejaVu Sans"/>
                    <a:ea typeface="DejaVu Sans"/>
                    <a:cs typeface="DejaVu Sans"/>
                  </a:rPr>
                  <a:t>The relationship </a:t>
                </a:r>
                <a14:m>
                  <m:oMath xmlns:m="http://schemas.openxmlformats.org/officeDocument/2006/math">
                    <m:sSub>
                      <m:sSubPr>
                        <m:ctrlPr>
                          <a:rPr lang="en-GB" sz="1725" b="0" dirty="0">
                            <a:solidFill>
                              <a:srgbClr val="526276"/>
                            </a:solidFill>
                            <a:latin typeface="Cambria Math"/>
                            <a:ea typeface="Cambria Math"/>
                            <a:cs typeface="Cambria Math"/>
                          </a:rPr>
                        </m:ctrlPr>
                      </m:sSubPr>
                      <m:e>
                        <m:r>
                          <a:rPr lang="en-GB" sz="1725" b="0" dirty="0">
                            <a:solidFill>
                              <a:srgbClr val="526276"/>
                            </a:solidFill>
                            <a:latin typeface="Cambria Math"/>
                            <a:ea typeface="Cambria Math"/>
                            <a:cs typeface="Cambria Math"/>
                          </a:rPr>
                          <m:t>𝑓</m:t>
                        </m:r>
                      </m:e>
                      <m:sub>
                        <m:r>
                          <m:rPr>
                            <m:sty m:val="p"/>
                          </m:rPr>
                          <a:rPr lang="en-GB" sz="1725" b="0" dirty="0">
                            <a:solidFill>
                              <a:srgbClr val="526276"/>
                            </a:solidFill>
                            <a:latin typeface="Cambria Math"/>
                            <a:ea typeface="Cambria Math"/>
                            <a:cs typeface="Cambria Math"/>
                          </a:rPr>
                          <m:t>true</m:t>
                        </m:r>
                      </m:sub>
                    </m:sSub>
                  </m:oMath>
                </a14:m>
                <a:r>
                  <a:rPr lang="en-GB" sz="1725" b="0" i="0" dirty="0">
                    <a:solidFill>
                      <a:srgbClr val="526276"/>
                    </a:solidFill>
                    <a:latin typeface="DejaVu Sans"/>
                    <a:ea typeface="DejaVu Sans"/>
                    <a:cs typeface="DejaVu Sans"/>
                  </a:rPr>
                  <a:t> and the noise terms </a:t>
                </a:r>
                <a14:m>
                  <m:oMath xmlns:m="http://schemas.openxmlformats.org/officeDocument/2006/math">
                    <m:sSub>
                      <m:sSubPr>
                        <m:ctrlPr>
                          <a:rPr lang="en-GB" sz="1725" b="0" dirty="0">
                            <a:solidFill>
                              <a:srgbClr val="526276"/>
                            </a:solidFill>
                            <a:latin typeface="Cambria Math"/>
                            <a:ea typeface="Cambria Math"/>
                            <a:cs typeface="Cambria Math"/>
                          </a:rPr>
                        </m:ctrlPr>
                      </m:sSubPr>
                      <m:e>
                        <m:r>
                          <a:rPr lang="en-GB" sz="1725" b="0" dirty="0">
                            <a:solidFill>
                              <a:srgbClr val="526276"/>
                            </a:solidFill>
                            <a:latin typeface="Cambria Math"/>
                            <a:ea typeface="Cambria Math"/>
                            <a:cs typeface="Cambria Math"/>
                          </a:rPr>
                          <m:t>𝜀</m:t>
                        </m:r>
                      </m:e>
                      <m:sub>
                        <m:r>
                          <a:rPr lang="en-GB" sz="1725" b="0" dirty="0">
                            <a:solidFill>
                              <a:srgbClr val="526276"/>
                            </a:solidFill>
                            <a:latin typeface="Cambria Math"/>
                            <a:ea typeface="Cambria Math"/>
                            <a:cs typeface="Cambria Math"/>
                          </a:rPr>
                          <m:t>𝑖</m:t>
                        </m:r>
                      </m:sub>
                    </m:sSub>
                  </m:oMath>
                </a14:m>
                <a:r>
                  <a:rPr lang="en-GB" sz="1725" b="0" i="0" dirty="0">
                    <a:solidFill>
                      <a:srgbClr val="526276"/>
                    </a:solidFill>
                    <a:latin typeface="DejaVu Sans"/>
                    <a:ea typeface="DejaVu Sans"/>
                    <a:cs typeface="DejaVu Sans"/>
                  </a:rPr>
                  <a:t> are </a:t>
                </a:r>
                <a:r>
                  <a:rPr lang="en-GB" sz="1725" b="0" i="0" dirty="0">
                    <a:solidFill>
                      <a:srgbClr val="FF0000"/>
                    </a:solidFill>
                    <a:latin typeface="DejaVu Sans"/>
                    <a:ea typeface="DejaVu Sans"/>
                    <a:cs typeface="DejaVu Sans"/>
                  </a:rPr>
                  <a:t>unknown</a:t>
                </a:r>
                <a:r>
                  <a:rPr lang="en-GB" sz="1725" b="0" i="0" dirty="0">
                    <a:solidFill>
                      <a:srgbClr val="526276"/>
                    </a:solidFill>
                    <a:latin typeface="DejaVu Sans"/>
                    <a:ea typeface="DejaVu Sans"/>
                    <a:cs typeface="DejaVu Sans"/>
                  </a:rPr>
                  <a:t>.</a:t>
                </a:r>
              </a:p>
            </p:txBody>
          </p:sp>
        </mc:Choice>
        <mc:Fallback xmlns="">
          <p:sp>
            <p:nvSpPr>
              <p:cNvPr id="12" name="unknown_statement">
                <a:extLst>
                  <a:ext uri="{FF2B5EF4-FFF2-40B4-BE49-F238E27FC236}">
                    <a16:creationId xmlns:a16="http://schemas.microsoft.com/office/drawing/2014/main" id="{94A6185D-7687-4684-B5BA-4E70996F60DE}"/>
                  </a:ext>
                </a:extLst>
              </p:cNvPr>
              <p:cNvSpPr txBox="1">
                <a:spLocks noGrp="1" noRot="1" noChangeAspect="1" noMove="1" noResize="1" noEditPoints="1" noAdjustHandles="1" noChangeArrowheads="1" noChangeShapeType="1" noTextEdit="1"/>
              </p:cNvSpPr>
              <p:nvPr/>
            </p:nvSpPr>
            <p:spPr>
              <a:xfrm>
                <a:off x="609600" y="6057900"/>
                <a:ext cx="10953750" cy="457200"/>
              </a:xfrm>
              <a:prstGeom prst="rect">
                <a:avLst/>
              </a:prstGeom>
              <a:blipFill>
                <a:blip r:embed="rId11"/>
                <a:stretch>
                  <a:fillRect l="-1224" t="-14667"/>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16808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61B8593-1715-47B3-8ED5-3E7727FC5AB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An affine relationship</a:t>
            </a:r>
          </a:p>
        </p:txBody>
      </p:sp>
      <p:sp>
        <p:nvSpPr>
          <p:cNvPr id="2" name="page_number">
            <a:extLst>
              <a:ext uri="{FF2B5EF4-FFF2-40B4-BE49-F238E27FC236}">
                <a16:creationId xmlns:a16="http://schemas.microsoft.com/office/drawing/2014/main" id="{30E73ABD-B850-4FE5-8C02-8D53E70F8F5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03</a:t>
            </a:r>
          </a:p>
        </p:txBody>
      </p:sp>
      <p:sp>
        <p:nvSpPr>
          <p:cNvPr id="3" name="txt_9">
            <a:extLst>
              <a:ext uri="{FF2B5EF4-FFF2-40B4-BE49-F238E27FC236}">
                <a16:creationId xmlns:a16="http://schemas.microsoft.com/office/drawing/2014/main" id="{6F5341C4-FFEA-42E5-92FE-27A82D7FF82E}"/>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As a first special case, suppose the unknown relationship is </a:t>
            </a:r>
            <a:r>
              <a:rPr lang="en-GB" sz="2100" b="0" i="0" dirty="0">
                <a:solidFill>
                  <a:srgbClr val="FF0000"/>
                </a:solidFill>
                <a:latin typeface="DejaVu Sans"/>
                <a:ea typeface="DejaVu Sans"/>
                <a:cs typeface="DejaVu Sans"/>
              </a:rPr>
              <a:t>affine</a:t>
            </a:r>
            <a:r>
              <a:rPr lang="en-GB" sz="2100" b="0" i="0" dirty="0">
                <a:solidFill>
                  <a:srgbClr val="182D45"/>
                </a:solidFill>
                <a:latin typeface="DejaVu Sans"/>
                <a:ea typeface="DejaVu Sans"/>
                <a:cs typeface="DejaVu Sans"/>
              </a:rPr>
              <a:t>.</a:t>
            </a:r>
          </a:p>
        </p:txBody>
      </p:sp>
      <p:graphicFrame>
        <p:nvGraphicFramePr>
          <p:cNvPr id="12" name="Chart"/>
          <p:cNvGraphicFramePr/>
          <p:nvPr>
            <p:extLst>
              <p:ext uri="{D42A27DB-BD31-4B8C-83A1-F6EECF244321}">
                <p14:modId xmlns:p14="http://schemas.microsoft.com/office/powerpoint/2010/main" val="3111452434"/>
              </p:ext>
            </p:extLst>
          </p:nvPr>
        </p:nvGraphicFramePr>
        <p:xfrm>
          <a:off x="609600" y="2171700"/>
          <a:ext cx="6334125" cy="352425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5" name="eq_10">
                <a:extLst>
                  <a:ext uri="{FF2B5EF4-FFF2-40B4-BE49-F238E27FC236}">
                    <a16:creationId xmlns:a16="http://schemas.microsoft.com/office/drawing/2014/main" id="{5250EFD1-68E5-448F-A463-957583FD7562}"/>
                  </a:ext>
                </a:extLst>
              </p:cNvPr>
              <p:cNvSpPr txBox="1">
                <a:spLocks noGrp="1"/>
              </p:cNvSpPr>
              <p:nvPr/>
            </p:nvSpPr>
            <p:spPr>
              <a:xfrm>
                <a:off x="7239000" y="2381250"/>
                <a:ext cx="4324350" cy="666750"/>
              </a:xfrm>
              <a:prstGeom prst="rect">
                <a:avLst/>
              </a:prstGeom>
              <a:noFill/>
              <a:ln w="0">
                <a:noFill/>
              </a:ln>
            </p:spPr>
            <p:txBody>
              <a:bodyPr vertOverflow="overflow" wrap="none" lIns="0" tIns="0" rIns="0" bIns="0" anchor="t">
                <a:noAutofit/>
              </a:bodyPr>
              <a:lstStyle/>
              <a:p>
                <a:pPr marL="0" marR="0" indent="0" algn="ctr">
                  <a:defRPr lang="en-GB" sz="2475" b="0" i="0" dirty="0">
                    <a:solidFill>
                      <a:srgbClr val="182D45"/>
                    </a:solidFill>
                    <a:latin typeface="Cambria Math"/>
                    <a:ea typeface="Cambria Math"/>
                    <a:cs typeface="Cambria Math"/>
                  </a:defRPr>
                </a:pPr>
                <a14:m>
                  <m:oMathPara xmlns:m="http://schemas.openxmlformats.org/officeDocument/2006/math">
                    <m:oMath>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𝑓</m:t>
                          </m:r>
                        </m:e>
                        <m:sub>
                          <m:r>
                            <m:rPr>
                              <m:sty m:val="p"/>
                            </m:rPr>
                            <a:rPr lang="en-GB" sz="2475" b="0" dirty="0">
                              <a:solidFill>
                                <a:srgbClr val="182D45"/>
                              </a:solidFill>
                              <a:latin typeface="Cambria Math"/>
                              <a:ea typeface="Cambria Math"/>
                              <a:cs typeface="Cambria Math"/>
                            </a:rPr>
                            <m:t>true</m:t>
                          </m:r>
                        </m:sub>
                      </m:sSub>
                      <m:d>
                        <m:dPr>
                          <m:ctrlPr>
                            <a:rPr lang="en-GB" sz="2475" b="0" dirty="0">
                              <a:solidFill>
                                <a:srgbClr val="182D45"/>
                              </a:solidFill>
                              <a:latin typeface="Cambria Math"/>
                              <a:ea typeface="Cambria Math"/>
                              <a:cs typeface="Cambria Math"/>
                            </a:rPr>
                          </m:ctrlPr>
                        </m:dPr>
                        <m:e>
                          <m:r>
                            <a:rPr lang="en-GB" sz="2475" b="0" dirty="0">
                              <a:solidFill>
                                <a:srgbClr val="182D45"/>
                              </a:solidFill>
                              <a:latin typeface="Cambria Math"/>
                              <a:ea typeface="Cambria Math"/>
                              <a:cs typeface="Cambria Math"/>
                            </a:rPr>
                            <m:t>𝑥</m:t>
                          </m:r>
                        </m:e>
                      </m:d>
                      <m:r>
                        <a:rPr lang="en-GB" sz="2475" b="0" dirty="0">
                          <a:solidFill>
                            <a:srgbClr val="182D45"/>
                          </a:solidFill>
                          <a:latin typeface="Cambria Math"/>
                          <a:ea typeface="Cambria Math"/>
                          <a:cs typeface="Cambria Math"/>
                        </a:rPr>
                        <m:t>=</m:t>
                      </m:r>
                      <m:r>
                        <a:rPr lang="en-GB" sz="2475" b="0" dirty="0">
                          <a:solidFill>
                            <a:srgbClr val="182D45"/>
                          </a:solidFill>
                          <a:latin typeface="Cambria Math"/>
                          <a:ea typeface="Cambria Math"/>
                          <a:cs typeface="Cambria Math"/>
                        </a:rPr>
                        <m:t>𝑎𝑥</m:t>
                      </m:r>
                      <m:r>
                        <a:rPr lang="en-GB" sz="2475" b="0" dirty="0">
                          <a:solidFill>
                            <a:srgbClr val="182D45"/>
                          </a:solidFill>
                          <a:latin typeface="Cambria Math"/>
                          <a:ea typeface="Cambria Math"/>
                          <a:cs typeface="Cambria Math"/>
                        </a:rPr>
                        <m:t>+</m:t>
                      </m:r>
                      <m:r>
                        <a:rPr lang="en-GB" sz="2475" b="0" dirty="0">
                          <a:solidFill>
                            <a:srgbClr val="182D45"/>
                          </a:solidFill>
                          <a:latin typeface="Cambria Math"/>
                          <a:ea typeface="Cambria Math"/>
                          <a:cs typeface="Cambria Math"/>
                        </a:rPr>
                        <m:t>𝑏</m:t>
                      </m:r>
                    </m:oMath>
                  </m:oMathPara>
                </a14:m>
                <a:endParaRPr lang="en-GB" sz="2475" b="0" i="0" dirty="0">
                  <a:solidFill>
                    <a:srgbClr val="182D45"/>
                  </a:solidFill>
                  <a:latin typeface="Cambria Math"/>
                  <a:ea typeface="Cambria Math"/>
                  <a:cs typeface="Cambria Math"/>
                </a:endParaRPr>
              </a:p>
            </p:txBody>
          </p:sp>
        </mc:Choice>
        <mc:Fallback xmlns="">
          <p:sp>
            <p:nvSpPr>
              <p:cNvPr id="5" name="eq_10">
                <a:extLst>
                  <a:ext uri="{FF2B5EF4-FFF2-40B4-BE49-F238E27FC236}">
                    <a16:creationId xmlns:a16="http://schemas.microsoft.com/office/drawing/2014/main" id="{5250EFD1-68E5-448F-A463-957583FD7562}"/>
                  </a:ext>
                </a:extLst>
              </p:cNvPr>
              <p:cNvSpPr txBox="1">
                <a:spLocks noGrp="1" noRot="1" noChangeAspect="1" noMove="1" noResize="1" noEditPoints="1" noAdjustHandles="1" noChangeArrowheads="1" noChangeShapeType="1" noTextEdit="1"/>
              </p:cNvSpPr>
              <p:nvPr/>
            </p:nvSpPr>
            <p:spPr>
              <a:xfrm>
                <a:off x="7239000" y="2381250"/>
                <a:ext cx="4324350" cy="6667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11">
                <a:extLst>
                  <a:ext uri="{FF2B5EF4-FFF2-40B4-BE49-F238E27FC236}">
                    <a16:creationId xmlns:a16="http://schemas.microsoft.com/office/drawing/2014/main" id="{F77EC25F-9CED-47F4-AF8E-C1DD5E547B14}"/>
                  </a:ext>
                </a:extLst>
              </p:cNvPr>
              <p:cNvSpPr txBox="1">
                <a:spLocks noGrp="1"/>
              </p:cNvSpPr>
              <p:nvPr/>
            </p:nvSpPr>
            <p:spPr>
              <a:xfrm>
                <a:off x="7239000" y="3333750"/>
                <a:ext cx="4324350" cy="742950"/>
              </a:xfrm>
              <a:prstGeom prst="rect">
                <a:avLst/>
              </a:prstGeom>
              <a:noFill/>
              <a:ln w="0">
                <a:noFill/>
              </a:ln>
            </p:spPr>
            <p:txBody>
              <a:bodyPr vertOverflow="overflow" wrap="none" lIns="0" tIns="0" rIns="0" bIns="0" anchor="t">
                <a:noAutofit/>
              </a:bodyPr>
              <a:lstStyle/>
              <a:p>
                <a:pPr marL="0" marR="0" indent="0" algn="ctr">
                  <a:defRPr lang="en-GB" sz="2400" b="0" i="0" dirty="0">
                    <a:solidFill>
                      <a:srgbClr val="182D45"/>
                    </a:solidFill>
                    <a:latin typeface="Cambria Math"/>
                    <a:ea typeface="Cambria Math"/>
                    <a:cs typeface="Cambria Math"/>
                  </a:defRPr>
                </a:pPr>
                <a14:m>
                  <m:oMathPara xmlns:m="http://schemas.openxmlformats.org/officeDocument/2006/math">
                    <m:oMath>
                      <m:sSub>
                        <m:sSubPr>
                          <m:ctrlPr>
                            <a:rPr lang="en-GB" sz="2400" b="0" dirty="0">
                              <a:solidFill>
                                <a:srgbClr val="182D45"/>
                              </a:solidFill>
                              <a:latin typeface="Cambria Math"/>
                              <a:ea typeface="Cambria Math"/>
                              <a:cs typeface="Cambria Math"/>
                            </a:rPr>
                          </m:ctrlPr>
                        </m:sSubPr>
                        <m:e>
                          <m:r>
                            <a:rPr lang="en-GB" sz="2400" b="0" dirty="0">
                              <a:solidFill>
                                <a:srgbClr val="182D45"/>
                              </a:solidFill>
                              <a:latin typeface="Cambria Math"/>
                              <a:ea typeface="Cambria Math"/>
                              <a:cs typeface="Cambria Math"/>
                            </a:rPr>
                            <m:t>𝑦</m:t>
                          </m:r>
                        </m:e>
                        <m:sub>
                          <m:r>
                            <a:rPr lang="en-GB" sz="2400" b="0" dirty="0">
                              <a:solidFill>
                                <a:srgbClr val="182D45"/>
                              </a:solidFill>
                              <a:latin typeface="Cambria Math"/>
                              <a:ea typeface="Cambria Math"/>
                              <a:cs typeface="Cambria Math"/>
                            </a:rPr>
                            <m:t>𝑖</m:t>
                          </m:r>
                        </m:sub>
                      </m:sSub>
                      <m:r>
                        <a:rPr lang="en-GB" sz="2400" b="0" dirty="0">
                          <a:solidFill>
                            <a:srgbClr val="182D45"/>
                          </a:solidFill>
                          <a:latin typeface="Cambria Math"/>
                          <a:ea typeface="Cambria Math"/>
                          <a:cs typeface="Cambria Math"/>
                        </a:rPr>
                        <m:t>=</m:t>
                      </m:r>
                      <m:r>
                        <a:rPr lang="en-GB" sz="2400" b="0" dirty="0">
                          <a:solidFill>
                            <a:srgbClr val="182D45"/>
                          </a:solidFill>
                          <a:latin typeface="Cambria Math"/>
                          <a:ea typeface="Cambria Math"/>
                          <a:cs typeface="Cambria Math"/>
                        </a:rPr>
                        <m:t>𝑎</m:t>
                      </m:r>
                      <m:sSub>
                        <m:sSubPr>
                          <m:ctrlPr>
                            <a:rPr lang="en-GB" sz="2400" b="0" dirty="0">
                              <a:solidFill>
                                <a:srgbClr val="182D45"/>
                              </a:solidFill>
                              <a:latin typeface="Cambria Math"/>
                              <a:ea typeface="Cambria Math"/>
                              <a:cs typeface="Cambria Math"/>
                            </a:rPr>
                          </m:ctrlPr>
                        </m:sSubPr>
                        <m:e>
                          <m:r>
                            <a:rPr lang="en-GB" sz="2400" b="0" dirty="0">
                              <a:solidFill>
                                <a:srgbClr val="182D45"/>
                              </a:solidFill>
                              <a:latin typeface="Cambria Math"/>
                              <a:ea typeface="Cambria Math"/>
                              <a:cs typeface="Cambria Math"/>
                            </a:rPr>
                            <m:t>𝑥</m:t>
                          </m:r>
                        </m:e>
                        <m:sub>
                          <m:r>
                            <a:rPr lang="en-GB" sz="2400" b="0" dirty="0">
                              <a:solidFill>
                                <a:srgbClr val="182D45"/>
                              </a:solidFill>
                              <a:latin typeface="Cambria Math"/>
                              <a:ea typeface="Cambria Math"/>
                              <a:cs typeface="Cambria Math"/>
                            </a:rPr>
                            <m:t>𝑖</m:t>
                          </m:r>
                        </m:sub>
                      </m:sSub>
                      <m:r>
                        <a:rPr lang="en-GB" sz="2400" b="0" dirty="0">
                          <a:solidFill>
                            <a:srgbClr val="182D45"/>
                          </a:solidFill>
                          <a:latin typeface="Cambria Math"/>
                          <a:ea typeface="Cambria Math"/>
                          <a:cs typeface="Cambria Math"/>
                        </a:rPr>
                        <m:t>+</m:t>
                      </m:r>
                      <m:r>
                        <a:rPr lang="en-GB" sz="2400" b="0" dirty="0">
                          <a:solidFill>
                            <a:srgbClr val="182D45"/>
                          </a:solidFill>
                          <a:latin typeface="Cambria Math"/>
                          <a:ea typeface="Cambria Math"/>
                          <a:cs typeface="Cambria Math"/>
                        </a:rPr>
                        <m:t>𝑏</m:t>
                      </m:r>
                      <m:r>
                        <a:rPr lang="en-GB" sz="2400" b="0" dirty="0">
                          <a:solidFill>
                            <a:srgbClr val="182D45"/>
                          </a:solidFill>
                          <a:latin typeface="Cambria Math"/>
                          <a:ea typeface="Cambria Math"/>
                          <a:cs typeface="Cambria Math"/>
                        </a:rPr>
                        <m:t>+</m:t>
                      </m:r>
                      <m:sSub>
                        <m:sSubPr>
                          <m:ctrlPr>
                            <a:rPr lang="en-GB" sz="2400" b="0" dirty="0">
                              <a:solidFill>
                                <a:srgbClr val="182D45"/>
                              </a:solidFill>
                              <a:latin typeface="Cambria Math"/>
                              <a:ea typeface="Cambria Math"/>
                              <a:cs typeface="Cambria Math"/>
                            </a:rPr>
                          </m:ctrlPr>
                        </m:sSubPr>
                        <m:e>
                          <m:r>
                            <a:rPr lang="en-GB" sz="2400" b="0" dirty="0">
                              <a:solidFill>
                                <a:srgbClr val="182D45"/>
                              </a:solidFill>
                              <a:latin typeface="Cambria Math"/>
                              <a:ea typeface="Cambria Math"/>
                              <a:cs typeface="Cambria Math"/>
                            </a:rPr>
                            <m:t>𝜀</m:t>
                          </m:r>
                        </m:e>
                        <m:sub>
                          <m:r>
                            <a:rPr lang="en-GB" sz="2400" b="0" dirty="0">
                              <a:solidFill>
                                <a:srgbClr val="182D45"/>
                              </a:solidFill>
                              <a:latin typeface="Cambria Math"/>
                              <a:ea typeface="Cambria Math"/>
                              <a:cs typeface="Cambria Math"/>
                            </a:rPr>
                            <m:t>𝑖</m:t>
                          </m:r>
                        </m:sub>
                      </m:sSub>
                    </m:oMath>
                  </m:oMathPara>
                </a14:m>
                <a:endParaRPr lang="en-GB" sz="2400" b="0" i="0" dirty="0">
                  <a:solidFill>
                    <a:srgbClr val="182D45"/>
                  </a:solidFill>
                  <a:latin typeface="Cambria Math"/>
                  <a:ea typeface="Cambria Math"/>
                  <a:cs typeface="Cambria Math"/>
                </a:endParaRPr>
              </a:p>
            </p:txBody>
          </p:sp>
        </mc:Choice>
        <mc:Fallback xmlns="">
          <p:sp>
            <p:nvSpPr>
              <p:cNvPr id="6" name="eq_11">
                <a:extLst>
                  <a:ext uri="{FF2B5EF4-FFF2-40B4-BE49-F238E27FC236}">
                    <a16:creationId xmlns:a16="http://schemas.microsoft.com/office/drawing/2014/main" id="{F77EC25F-9CED-47F4-AF8E-C1DD5E547B14}"/>
                  </a:ext>
                </a:extLst>
              </p:cNvPr>
              <p:cNvSpPr txBox="1">
                <a:spLocks noGrp="1" noRot="1" noChangeAspect="1" noMove="1" noResize="1" noEditPoints="1" noAdjustHandles="1" noChangeArrowheads="1" noChangeShapeType="1" noTextEdit="1"/>
              </p:cNvSpPr>
              <p:nvPr/>
            </p:nvSpPr>
            <p:spPr>
              <a:xfrm>
                <a:off x="7239000" y="3333750"/>
                <a:ext cx="4324350" cy="7429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xt_12">
                <a:extLst>
                  <a:ext uri="{FF2B5EF4-FFF2-40B4-BE49-F238E27FC236}">
                    <a16:creationId xmlns:a16="http://schemas.microsoft.com/office/drawing/2014/main" id="{190404F9-A27A-48BA-830E-20118F6D23D8}"/>
                  </a:ext>
                </a:extLst>
              </p:cNvPr>
              <p:cNvSpPr txBox="1">
                <a:spLocks noGrp="1"/>
              </p:cNvSpPr>
              <p:nvPr/>
            </p:nvSpPr>
            <p:spPr>
              <a:xfrm>
                <a:off x="7524750" y="4476750"/>
                <a:ext cx="4048125" cy="1095375"/>
              </a:xfrm>
              <a:prstGeom prst="rect">
                <a:avLst/>
              </a:prstGeom>
              <a:noFill/>
              <a:ln w="0">
                <a:noFill/>
              </a:ln>
            </p:spPr>
            <p:txBody>
              <a:bodyPr vertOverflow="overflow" wrap="square" lIns="0" tIns="0" rIns="0" bIns="0" anchor="t">
                <a:noAutofit/>
              </a:bodyPr>
              <a:lstStyle/>
              <a:p>
                <a:pPr marL="0" marR="0" indent="0" algn="l">
                  <a:defRPr lang="en-GB" sz="2025" b="0" i="0" dirty="0">
                    <a:solidFill>
                      <a:srgbClr val="182D45"/>
                    </a:solidFill>
                    <a:latin typeface="DejaVu Sans"/>
                    <a:ea typeface="DejaVu Sans"/>
                    <a:cs typeface="DejaVu Sans"/>
                  </a:defRPr>
                </a:pPr>
                <a14:m>
                  <m:oMath xmlns:m="http://schemas.openxmlformats.org/officeDocument/2006/math">
                    <m:r>
                      <a:rPr lang="en-GB" sz="2025" b="0" dirty="0">
                        <a:solidFill>
                          <a:srgbClr val="182D45"/>
                        </a:solidFill>
                        <a:latin typeface="Cambria Math"/>
                        <a:ea typeface="Cambria Math"/>
                        <a:cs typeface="Cambria Math"/>
                      </a:rPr>
                      <m:t>𝑎</m:t>
                    </m:r>
                  </m:oMath>
                </a14:m>
                <a:r>
                  <a:rPr lang="en-GB" sz="2025" b="0" i="0" dirty="0">
                    <a:solidFill>
                      <a:srgbClr val="182D45"/>
                    </a:solidFill>
                    <a:latin typeface="DejaVu Sans"/>
                    <a:ea typeface="DejaVu Sans"/>
                    <a:cs typeface="DejaVu Sans"/>
                  </a:rPr>
                  <a:t>: slope</a:t>
                </a:r>
              </a:p>
              <a:p>
                <a:pPr marL="0" marR="0" indent="0" algn="l">
                  <a:defRPr lang="en-GB" sz="2025" b="0" i="0" dirty="0">
                    <a:solidFill>
                      <a:srgbClr val="182D45"/>
                    </a:solidFill>
                    <a:latin typeface="DejaVu Sans"/>
                    <a:ea typeface="DejaVu Sans"/>
                    <a:cs typeface="DejaVu Sans"/>
                  </a:defRPr>
                </a:pPr>
                <a14:m>
                  <m:oMath xmlns:m="http://schemas.openxmlformats.org/officeDocument/2006/math">
                    <m:r>
                      <a:rPr lang="en-GB" sz="2025" b="0" dirty="0">
                        <a:solidFill>
                          <a:srgbClr val="182D45"/>
                        </a:solidFill>
                        <a:latin typeface="Cambria Math"/>
                        <a:ea typeface="Cambria Math"/>
                        <a:cs typeface="Cambria Math"/>
                      </a:rPr>
                      <m:t>𝑏</m:t>
                    </m:r>
                  </m:oMath>
                </a14:m>
                <a:r>
                  <a:rPr lang="en-GB" sz="2025" b="0" i="0" dirty="0">
                    <a:solidFill>
                      <a:srgbClr val="182D45"/>
                    </a:solidFill>
                    <a:latin typeface="DejaVu Sans"/>
                    <a:ea typeface="DejaVu Sans"/>
                    <a:cs typeface="DejaVu Sans"/>
                  </a:rPr>
                  <a:t>: intercept (also called </a:t>
                </a:r>
                <a:r>
                  <a:rPr lang="en-GB" sz="2025" b="0" i="0" dirty="0">
                    <a:solidFill>
                      <a:srgbClr val="FF0000"/>
                    </a:solidFill>
                    <a:latin typeface="DejaVu Sans"/>
                    <a:ea typeface="DejaVu Sans"/>
                    <a:cs typeface="DejaVu Sans"/>
                  </a:rPr>
                  <a:t>bias</a:t>
                </a:r>
                <a:r>
                  <a:rPr lang="en-GB" sz="2025" b="0" i="0" dirty="0">
                    <a:solidFill>
                      <a:srgbClr val="182D45"/>
                    </a:solidFill>
                    <a:latin typeface="DejaVu Sans"/>
                    <a:ea typeface="DejaVu Sans"/>
                    <a:cs typeface="DejaVu Sans"/>
                  </a:rPr>
                  <a:t>)</a:t>
                </a:r>
              </a:p>
            </p:txBody>
          </p:sp>
        </mc:Choice>
        <mc:Fallback xmlns="">
          <p:sp>
            <p:nvSpPr>
              <p:cNvPr id="7" name="txt_12">
                <a:extLst>
                  <a:ext uri="{FF2B5EF4-FFF2-40B4-BE49-F238E27FC236}">
                    <a16:creationId xmlns:a16="http://schemas.microsoft.com/office/drawing/2014/main" id="{190404F9-A27A-48BA-830E-20118F6D23D8}"/>
                  </a:ext>
                </a:extLst>
              </p:cNvPr>
              <p:cNvSpPr txBox="1">
                <a:spLocks noGrp="1" noRot="1" noChangeAspect="1" noMove="1" noResize="1" noEditPoints="1" noAdjustHandles="1" noChangeArrowheads="1" noChangeShapeType="1" noTextEdit="1"/>
              </p:cNvSpPr>
              <p:nvPr/>
            </p:nvSpPr>
            <p:spPr>
              <a:xfrm>
                <a:off x="7524750" y="4476750"/>
                <a:ext cx="4048125" cy="1095375"/>
              </a:xfrm>
              <a:prstGeom prst="rect">
                <a:avLst/>
              </a:prstGeom>
              <a:blipFill>
                <a:blip r:embed="rId6"/>
                <a:stretch>
                  <a:fillRect l="-2259" t="-722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xt_13">
                <a:extLst>
                  <a:ext uri="{FF2B5EF4-FFF2-40B4-BE49-F238E27FC236}">
                    <a16:creationId xmlns:a16="http://schemas.microsoft.com/office/drawing/2014/main" id="{D743401D-DD74-4C2F-89CB-CE3030337EB6}"/>
                  </a:ext>
                </a:extLst>
              </p:cNvPr>
              <p:cNvSpPr txBox="1">
                <a:spLocks noGrp="1"/>
              </p:cNvSpPr>
              <p:nvPr/>
            </p:nvSpPr>
            <p:spPr>
              <a:xfrm>
                <a:off x="619125" y="5981700"/>
                <a:ext cx="10953750" cy="495300"/>
              </a:xfrm>
              <a:prstGeom prst="rect">
                <a:avLst/>
              </a:prstGeom>
              <a:noFill/>
              <a:ln w="0">
                <a:noFill/>
              </a:ln>
            </p:spPr>
            <p:txBody>
              <a:bodyPr vertOverflow="overflow" wrap="square" lIns="0" tIns="0" rIns="0" bIns="0" anchor="t">
                <a:noAutofit/>
              </a:bodyPr>
              <a:lstStyle/>
              <a:p>
                <a:pPr algn="ctr">
                  <a:defRPr lang="en-GB" sz="1725" b="0" i="0" dirty="0">
                    <a:solidFill>
                      <a:srgbClr val="526276"/>
                    </a:solidFill>
                    <a:latin typeface="DejaVu Sans"/>
                    <a:ea typeface="DejaVu Sans"/>
                    <a:cs typeface="DejaVu Sans"/>
                  </a:defRPr>
                </a:pPr>
                <a:r>
                  <a:rPr lang="en-GB" b="0" i="0" dirty="0">
                    <a:solidFill>
                      <a:srgbClr val="526276"/>
                    </a:solidFill>
                    <a:latin typeface="DejaVu Sans"/>
                    <a:ea typeface="DejaVu Sans"/>
                    <a:cs typeface="DejaVu Sans"/>
                  </a:rPr>
                  <a:t>The observed points </a:t>
                </a:r>
                <a:r>
                  <a:rPr lang="en-GB" b="0" i="0" dirty="0">
                    <a:solidFill>
                      <a:srgbClr val="FF0000"/>
                    </a:solidFill>
                    <a:latin typeface="DejaVu Sans"/>
                    <a:ea typeface="DejaVu Sans"/>
                    <a:cs typeface="DejaVu Sans"/>
                  </a:rPr>
                  <a:t>need not</a:t>
                </a:r>
                <a:r>
                  <a:rPr lang="en-GB" b="0" i="0" dirty="0">
                    <a:solidFill>
                      <a:srgbClr val="526276"/>
                    </a:solidFill>
                    <a:latin typeface="DejaVu Sans"/>
                    <a:ea typeface="DejaVu Sans"/>
                    <a:cs typeface="DejaVu Sans"/>
                  </a:rPr>
                  <a:t> lie exactly on the unknown line because of the </a:t>
                </a:r>
                <a14:m>
                  <m:oMath xmlns:m="http://schemas.openxmlformats.org/officeDocument/2006/math">
                    <m:sSub>
                      <m:sSubPr>
                        <m:ctrlPr>
                          <a:rPr lang="en-GB" dirty="0">
                            <a:solidFill>
                              <a:srgbClr val="182D45"/>
                            </a:solidFill>
                            <a:latin typeface="Cambria Math"/>
                            <a:ea typeface="Cambria Math"/>
                            <a:cs typeface="Cambria Math"/>
                          </a:rPr>
                        </m:ctrlPr>
                      </m:sSubPr>
                      <m:e>
                        <m:r>
                          <a:rPr lang="en-GB" dirty="0">
                            <a:solidFill>
                              <a:srgbClr val="182D45"/>
                            </a:solidFill>
                            <a:latin typeface="Cambria Math"/>
                            <a:ea typeface="Cambria Math"/>
                            <a:cs typeface="Cambria Math"/>
                          </a:rPr>
                          <m:t>𝜀</m:t>
                        </m:r>
                      </m:e>
                      <m:sub>
                        <m:r>
                          <a:rPr lang="en-GB" dirty="0">
                            <a:solidFill>
                              <a:srgbClr val="182D45"/>
                            </a:solidFill>
                            <a:latin typeface="Cambria Math"/>
                            <a:ea typeface="Cambria Math"/>
                            <a:cs typeface="Cambria Math"/>
                          </a:rPr>
                          <m:t>𝑖</m:t>
                        </m:r>
                      </m:sub>
                    </m:sSub>
                  </m:oMath>
                </a14:m>
                <a:r>
                  <a:rPr lang="en-GB" b="0" i="0" dirty="0">
                    <a:solidFill>
                      <a:srgbClr val="526276"/>
                    </a:solidFill>
                    <a:latin typeface="DejaVu Sans"/>
                    <a:ea typeface="DejaVu Sans"/>
                    <a:cs typeface="DejaVu Sans"/>
                  </a:rPr>
                  <a:t> </a:t>
                </a:r>
              </a:p>
            </p:txBody>
          </p:sp>
        </mc:Choice>
        <mc:Fallback xmlns="">
          <p:sp>
            <p:nvSpPr>
              <p:cNvPr id="8" name="txt_13">
                <a:extLst>
                  <a:ext uri="{FF2B5EF4-FFF2-40B4-BE49-F238E27FC236}">
                    <a16:creationId xmlns:a16="http://schemas.microsoft.com/office/drawing/2014/main" id="{D743401D-DD74-4C2F-89CB-CE3030337EB6}"/>
                  </a:ext>
                </a:extLst>
              </p:cNvPr>
              <p:cNvSpPr txBox="1">
                <a:spLocks noGrp="1" noRot="1" noChangeAspect="1" noMove="1" noResize="1" noEditPoints="1" noAdjustHandles="1" noChangeArrowheads="1" noChangeShapeType="1" noTextEdit="1"/>
              </p:cNvSpPr>
              <p:nvPr/>
            </p:nvSpPr>
            <p:spPr>
              <a:xfrm>
                <a:off x="619125" y="5981700"/>
                <a:ext cx="10953750" cy="495300"/>
              </a:xfrm>
              <a:prstGeom prst="rect">
                <a:avLst/>
              </a:prstGeom>
              <a:blipFill>
                <a:blip r:embed="rId7"/>
                <a:stretch>
                  <a:fillRect t="-1341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325068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FF0AF8D-D940-42F5-85A2-D7F3AD3D3C8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Several possible prediction lines</a:t>
            </a:r>
          </a:p>
        </p:txBody>
      </p:sp>
      <p:sp>
        <p:nvSpPr>
          <p:cNvPr id="2" name="page_number">
            <a:extLst>
              <a:ext uri="{FF2B5EF4-FFF2-40B4-BE49-F238E27FC236}">
                <a16:creationId xmlns:a16="http://schemas.microsoft.com/office/drawing/2014/main" id="{5F7C857F-21DB-4278-AB47-FE88215F7C81}"/>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04</a:t>
            </a:r>
          </a:p>
        </p:txBody>
      </p:sp>
      <mc:AlternateContent xmlns:mc="http://schemas.openxmlformats.org/markup-compatibility/2006" xmlns:a14="http://schemas.microsoft.com/office/drawing/2010/main">
        <mc:Choice Requires="a14">
          <p:sp>
            <p:nvSpPr>
              <p:cNvPr id="3" name="txt_14">
                <a:extLst>
                  <a:ext uri="{FF2B5EF4-FFF2-40B4-BE49-F238E27FC236}">
                    <a16:creationId xmlns:a16="http://schemas.microsoft.com/office/drawing/2014/main" id="{9557B9DA-AE73-4DCD-9B32-C24FEA93D9C0}"/>
                  </a:ext>
                </a:extLst>
              </p:cNvPr>
              <p:cNvSpPr txBox="1">
                <a:spLocks noGrp="1"/>
              </p:cNvSpPr>
              <p:nvPr/>
            </p:nvSpPr>
            <p:spPr>
              <a:xfrm>
                <a:off x="609600" y="1257300"/>
                <a:ext cx="10953750" cy="1019556"/>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We do not know the true slope or intercept of </a:t>
                </a:r>
                <a14:m>
                  <m:oMath xmlns:m="http://schemas.openxmlformats.org/officeDocument/2006/math">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𝑓</m:t>
                        </m:r>
                      </m:e>
                      <m:sub>
                        <m:r>
                          <m:rPr>
                            <m:sty m:val="p"/>
                          </m:rPr>
                          <a:rPr lang="en-GB" sz="2100" b="0" dirty="0">
                            <a:solidFill>
                              <a:srgbClr val="182D45"/>
                            </a:solidFill>
                            <a:latin typeface="Cambria Math"/>
                            <a:ea typeface="Cambria Math"/>
                            <a:cs typeface="Cambria Math"/>
                          </a:rPr>
                          <m:t>true</m:t>
                        </m:r>
                      </m:sub>
                    </m:sSub>
                  </m:oMath>
                </a14:m>
                <a:r>
                  <a:rPr lang="en-GB" sz="2100" b="0" i="0" dirty="0">
                    <a:solidFill>
                      <a:srgbClr val="182D45"/>
                    </a:solidFill>
                    <a:latin typeface="DejaVu Sans"/>
                    <a:ea typeface="DejaVu Sans"/>
                    <a:cs typeface="DejaVu Sans"/>
                  </a:rPr>
                  <a:t>.</a:t>
                </a:r>
              </a:p>
              <a:p>
                <a:pPr marL="0" marR="0" indent="0" algn="ctr">
                  <a:defRPr lang="en-GB" sz="2100" b="0" i="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In general, there won’t be any straight line that passes through all points.</a:t>
                </a:r>
                <a:endParaRPr lang="en-GB" sz="2100" b="0" i="0" dirty="0">
                  <a:solidFill>
                    <a:srgbClr val="182D45"/>
                  </a:solidFill>
                  <a:latin typeface="DejaVu Sans"/>
                  <a:ea typeface="DejaVu Sans"/>
                  <a:cs typeface="DejaVu Sans"/>
                </a:endParaRPr>
              </a:p>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So… which line should we use as our estimate?</a:t>
                </a:r>
              </a:p>
            </p:txBody>
          </p:sp>
        </mc:Choice>
        <mc:Fallback xmlns="">
          <p:sp>
            <p:nvSpPr>
              <p:cNvPr id="3" name="txt_14">
                <a:extLst>
                  <a:ext uri="{FF2B5EF4-FFF2-40B4-BE49-F238E27FC236}">
                    <a16:creationId xmlns:a16="http://schemas.microsoft.com/office/drawing/2014/main" id="{9557B9DA-AE73-4DCD-9B32-C24FEA93D9C0}"/>
                  </a:ext>
                </a:extLst>
              </p:cNvPr>
              <p:cNvSpPr txBox="1">
                <a:spLocks noGrp="1" noRot="1" noChangeAspect="1" noMove="1" noResize="1" noEditPoints="1" noAdjustHandles="1" noChangeArrowheads="1" noChangeShapeType="1" noTextEdit="1"/>
              </p:cNvSpPr>
              <p:nvPr/>
            </p:nvSpPr>
            <p:spPr>
              <a:xfrm>
                <a:off x="609600" y="1257300"/>
                <a:ext cx="10953750" cy="1019556"/>
              </a:xfrm>
              <a:prstGeom prst="rect">
                <a:avLst/>
              </a:prstGeom>
              <a:blipFill>
                <a:blip r:embed="rId3"/>
                <a:stretch>
                  <a:fillRect t="-8333" b="-9524"/>
                </a:stretch>
              </a:blipFill>
              <a:ln w="0">
                <a:noFill/>
              </a:ln>
            </p:spPr>
            <p:txBody>
              <a:bodyPr/>
              <a:lstStyle/>
              <a:p>
                <a:r>
                  <a:rPr lang="it-IT">
                    <a:noFill/>
                  </a:rPr>
                  <a:t> </a:t>
                </a:r>
              </a:p>
            </p:txBody>
          </p:sp>
        </mc:Fallback>
      </mc:AlternateContent>
      <p:graphicFrame>
        <p:nvGraphicFramePr>
          <p:cNvPr id="11" name="Chart"/>
          <p:cNvGraphicFramePr/>
          <p:nvPr>
            <p:extLst>
              <p:ext uri="{D42A27DB-BD31-4B8C-83A1-F6EECF244321}">
                <p14:modId xmlns:p14="http://schemas.microsoft.com/office/powerpoint/2010/main" val="610909359"/>
              </p:ext>
            </p:extLst>
          </p:nvPr>
        </p:nvGraphicFramePr>
        <p:xfrm>
          <a:off x="609600" y="2571750"/>
          <a:ext cx="6905625" cy="371475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5" name="eq_15">
                <a:extLst>
                  <a:ext uri="{FF2B5EF4-FFF2-40B4-BE49-F238E27FC236}">
                    <a16:creationId xmlns:a16="http://schemas.microsoft.com/office/drawing/2014/main" id="{7FB34DA1-0D17-46FE-95E1-D373D1FBB0E4}"/>
                  </a:ext>
                </a:extLst>
              </p:cNvPr>
              <p:cNvSpPr txBox="1">
                <a:spLocks noGrp="1"/>
              </p:cNvSpPr>
              <p:nvPr/>
            </p:nvSpPr>
            <p:spPr>
              <a:xfrm>
                <a:off x="7848600" y="2571750"/>
                <a:ext cx="3429000" cy="666750"/>
              </a:xfrm>
              <a:prstGeom prst="rect">
                <a:avLst/>
              </a:prstGeom>
              <a:noFill/>
              <a:ln w="0">
                <a:noFill/>
              </a:ln>
            </p:spPr>
            <p:txBody>
              <a:bodyPr vertOverflow="overflow" wrap="none" lIns="0" tIns="0" rIns="0" bIns="0" anchor="t">
                <a:noAutofit/>
              </a:bodyPr>
              <a:lstStyle/>
              <a:p>
                <a:pPr marL="0" marR="0" indent="0" algn="ctr">
                  <a:defRPr lang="en-GB" sz="2475" b="0" i="0" dirty="0">
                    <a:solidFill>
                      <a:srgbClr val="087F83"/>
                    </a:solidFill>
                    <a:latin typeface="Cambria Math"/>
                    <a:ea typeface="Cambria Math"/>
                    <a:cs typeface="Cambria Math"/>
                  </a:defRPr>
                </a:pPr>
                <a14:m>
                  <m:oMathPara xmlns:m="http://schemas.openxmlformats.org/officeDocument/2006/math">
                    <m:oMath>
                      <m:r>
                        <a:rPr lang="en-GB" sz="2475" b="0" dirty="0">
                          <a:solidFill>
                            <a:srgbClr val="087F83"/>
                          </a:solidFill>
                          <a:latin typeface="Cambria Math"/>
                          <a:ea typeface="Cambria Math"/>
                          <a:cs typeface="Cambria Math"/>
                        </a:rPr>
                        <m:t>𝑓</m:t>
                      </m:r>
                      <m:d>
                        <m:dPr>
                          <m:ctrlPr>
                            <a:rPr lang="en-GB" sz="2475" b="0" dirty="0">
                              <a:solidFill>
                                <a:srgbClr val="087F83"/>
                              </a:solidFill>
                              <a:latin typeface="Cambria Math"/>
                              <a:ea typeface="Cambria Math"/>
                              <a:cs typeface="Cambria Math"/>
                            </a:rPr>
                          </m:ctrlPr>
                        </m:dPr>
                        <m:e>
                          <m:r>
                            <a:rPr lang="en-GB" sz="2475" b="0" dirty="0">
                              <a:solidFill>
                                <a:srgbClr val="087F83"/>
                              </a:solidFill>
                              <a:latin typeface="Cambria Math"/>
                              <a:ea typeface="Cambria Math"/>
                              <a:cs typeface="Cambria Math"/>
                            </a:rPr>
                            <m:t>𝑥</m:t>
                          </m:r>
                        </m:e>
                      </m:d>
                      <m:r>
                        <a:rPr lang="en-GB" sz="2475" b="0" dirty="0">
                          <a:solidFill>
                            <a:srgbClr val="087F83"/>
                          </a:solidFill>
                          <a:latin typeface="Cambria Math"/>
                          <a:ea typeface="Cambria Math"/>
                          <a:cs typeface="Cambria Math"/>
                        </a:rPr>
                        <m:t>=1+2</m:t>
                      </m:r>
                      <m:r>
                        <a:rPr lang="en-GB" sz="2475" b="0" dirty="0">
                          <a:solidFill>
                            <a:srgbClr val="087F83"/>
                          </a:solidFill>
                          <a:latin typeface="Cambria Math"/>
                          <a:ea typeface="Cambria Math"/>
                          <a:cs typeface="Cambria Math"/>
                        </a:rPr>
                        <m:t>𝑥</m:t>
                      </m:r>
                    </m:oMath>
                  </m:oMathPara>
                </a14:m>
                <a:endParaRPr lang="en-GB" sz="2475" b="0" i="0" dirty="0">
                  <a:solidFill>
                    <a:srgbClr val="087F83"/>
                  </a:solidFill>
                  <a:latin typeface="Cambria Math"/>
                  <a:ea typeface="Cambria Math"/>
                  <a:cs typeface="Cambria Math"/>
                </a:endParaRPr>
              </a:p>
            </p:txBody>
          </p:sp>
        </mc:Choice>
        <mc:Fallback xmlns="">
          <p:sp>
            <p:nvSpPr>
              <p:cNvPr id="5" name="eq_15">
                <a:extLst>
                  <a:ext uri="{FF2B5EF4-FFF2-40B4-BE49-F238E27FC236}">
                    <a16:creationId xmlns:a16="http://schemas.microsoft.com/office/drawing/2014/main" id="{7FB34DA1-0D17-46FE-95E1-D373D1FBB0E4}"/>
                  </a:ext>
                </a:extLst>
              </p:cNvPr>
              <p:cNvSpPr txBox="1">
                <a:spLocks noGrp="1" noRot="1" noChangeAspect="1" noMove="1" noResize="1" noEditPoints="1" noAdjustHandles="1" noChangeArrowheads="1" noChangeShapeType="1" noTextEdit="1"/>
              </p:cNvSpPr>
              <p:nvPr/>
            </p:nvSpPr>
            <p:spPr>
              <a:xfrm>
                <a:off x="7848600" y="2571750"/>
                <a:ext cx="3429000" cy="6667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16">
                <a:extLst>
                  <a:ext uri="{FF2B5EF4-FFF2-40B4-BE49-F238E27FC236}">
                    <a16:creationId xmlns:a16="http://schemas.microsoft.com/office/drawing/2014/main" id="{E9FD8DA6-5985-4131-BDFB-7A53C73BA01E}"/>
                  </a:ext>
                </a:extLst>
              </p:cNvPr>
              <p:cNvSpPr txBox="1">
                <a:spLocks noGrp="1"/>
              </p:cNvSpPr>
              <p:nvPr/>
            </p:nvSpPr>
            <p:spPr>
              <a:xfrm>
                <a:off x="7848600" y="3667125"/>
                <a:ext cx="3429000" cy="666750"/>
              </a:xfrm>
              <a:prstGeom prst="rect">
                <a:avLst/>
              </a:prstGeom>
              <a:noFill/>
              <a:ln w="0">
                <a:noFill/>
              </a:ln>
            </p:spPr>
            <p:txBody>
              <a:bodyPr vertOverflow="overflow" wrap="none" lIns="0" tIns="0" rIns="0" bIns="0" anchor="t">
                <a:noAutofit/>
              </a:bodyPr>
              <a:lstStyle/>
              <a:p>
                <a:pPr marL="0" marR="0" indent="0" algn="ctr">
                  <a:defRPr lang="en-GB" sz="2475" b="0" i="0" dirty="0">
                    <a:solidFill>
                      <a:srgbClr val="C45C28"/>
                    </a:solidFill>
                    <a:latin typeface="Cambria Math"/>
                    <a:ea typeface="Cambria Math"/>
                    <a:cs typeface="Cambria Math"/>
                  </a:defRPr>
                </a:pPr>
                <a14:m>
                  <m:oMathPara xmlns:m="http://schemas.openxmlformats.org/officeDocument/2006/math">
                    <m:oMath>
                      <m:r>
                        <a:rPr lang="en-GB" sz="2475" b="0" dirty="0">
                          <a:solidFill>
                            <a:srgbClr val="C45C28"/>
                          </a:solidFill>
                          <a:latin typeface="Cambria Math"/>
                          <a:ea typeface="Cambria Math"/>
                          <a:cs typeface="Cambria Math"/>
                        </a:rPr>
                        <m:t>𝑔</m:t>
                      </m:r>
                      <m:d>
                        <m:dPr>
                          <m:ctrlPr>
                            <a:rPr lang="en-GB" sz="2475" b="0" dirty="0">
                              <a:solidFill>
                                <a:srgbClr val="C45C28"/>
                              </a:solidFill>
                              <a:latin typeface="Cambria Math"/>
                              <a:ea typeface="Cambria Math"/>
                              <a:cs typeface="Cambria Math"/>
                            </a:rPr>
                          </m:ctrlPr>
                        </m:dPr>
                        <m:e>
                          <m:r>
                            <a:rPr lang="en-GB" sz="2475" b="0" dirty="0">
                              <a:solidFill>
                                <a:srgbClr val="C45C28"/>
                              </a:solidFill>
                              <a:latin typeface="Cambria Math"/>
                              <a:ea typeface="Cambria Math"/>
                              <a:cs typeface="Cambria Math"/>
                            </a:rPr>
                            <m:t>𝑥</m:t>
                          </m:r>
                        </m:e>
                      </m:d>
                      <m:r>
                        <a:rPr lang="en-GB" sz="2475" b="0" dirty="0">
                          <a:solidFill>
                            <a:srgbClr val="C45C28"/>
                          </a:solidFill>
                          <a:latin typeface="Cambria Math"/>
                          <a:ea typeface="Cambria Math"/>
                          <a:cs typeface="Cambria Math"/>
                        </a:rPr>
                        <m:t>=1−</m:t>
                      </m:r>
                      <m:r>
                        <a:rPr lang="en-GB" sz="2475" b="0" dirty="0">
                          <a:solidFill>
                            <a:srgbClr val="C45C28"/>
                          </a:solidFill>
                          <a:latin typeface="Cambria Math"/>
                          <a:ea typeface="Cambria Math"/>
                          <a:cs typeface="Cambria Math"/>
                        </a:rPr>
                        <m:t>𝑥</m:t>
                      </m:r>
                    </m:oMath>
                  </m:oMathPara>
                </a14:m>
                <a:endParaRPr lang="en-GB" sz="2475" b="0" i="0" dirty="0">
                  <a:solidFill>
                    <a:srgbClr val="C45C28"/>
                  </a:solidFill>
                  <a:latin typeface="Cambria Math"/>
                  <a:ea typeface="Cambria Math"/>
                  <a:cs typeface="Cambria Math"/>
                </a:endParaRPr>
              </a:p>
            </p:txBody>
          </p:sp>
        </mc:Choice>
        <mc:Fallback xmlns="">
          <p:sp>
            <p:nvSpPr>
              <p:cNvPr id="6" name="eq_16">
                <a:extLst>
                  <a:ext uri="{FF2B5EF4-FFF2-40B4-BE49-F238E27FC236}">
                    <a16:creationId xmlns:a16="http://schemas.microsoft.com/office/drawing/2014/main" id="{E9FD8DA6-5985-4131-BDFB-7A53C73BA01E}"/>
                  </a:ext>
                </a:extLst>
              </p:cNvPr>
              <p:cNvSpPr txBox="1">
                <a:spLocks noGrp="1" noRot="1" noChangeAspect="1" noMove="1" noResize="1" noEditPoints="1" noAdjustHandles="1" noChangeArrowheads="1" noChangeShapeType="1" noTextEdit="1"/>
              </p:cNvSpPr>
              <p:nvPr/>
            </p:nvSpPr>
            <p:spPr>
              <a:xfrm>
                <a:off x="7848600" y="3667125"/>
                <a:ext cx="3429000" cy="6667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_17">
                <a:extLst>
                  <a:ext uri="{FF2B5EF4-FFF2-40B4-BE49-F238E27FC236}">
                    <a16:creationId xmlns:a16="http://schemas.microsoft.com/office/drawing/2014/main" id="{49977924-2FA0-4209-9C4F-A3C3320A86DB}"/>
                  </a:ext>
                </a:extLst>
              </p:cNvPr>
              <p:cNvSpPr txBox="1">
                <a:spLocks noGrp="1"/>
              </p:cNvSpPr>
              <p:nvPr/>
            </p:nvSpPr>
            <p:spPr>
              <a:xfrm>
                <a:off x="7848600" y="4762500"/>
                <a:ext cx="3429000" cy="666750"/>
              </a:xfrm>
              <a:prstGeom prst="rect">
                <a:avLst/>
              </a:prstGeom>
              <a:noFill/>
              <a:ln w="0">
                <a:noFill/>
              </a:ln>
            </p:spPr>
            <p:txBody>
              <a:bodyPr vertOverflow="overflow" wrap="none" lIns="0" tIns="0" rIns="0" bIns="0" anchor="t">
                <a:noAutofit/>
              </a:bodyPr>
              <a:lstStyle/>
              <a:p>
                <a:pPr marL="0" marR="0" indent="0" algn="ctr">
                  <a:defRPr lang="en-GB" sz="2475" b="0" i="0" dirty="0">
                    <a:solidFill>
                      <a:srgbClr val="526276"/>
                    </a:solidFill>
                    <a:latin typeface="Cambria Math"/>
                    <a:ea typeface="Cambria Math"/>
                    <a:cs typeface="Cambria Math"/>
                  </a:defRPr>
                </a:pPr>
                <a14:m>
                  <m:oMathPara xmlns:m="http://schemas.openxmlformats.org/officeDocument/2006/math">
                    <m:oMath>
                      <m:r>
                        <a:rPr lang="en-GB" sz="2475" b="0" dirty="0">
                          <a:solidFill>
                            <a:srgbClr val="526276"/>
                          </a:solidFill>
                          <a:latin typeface="Cambria Math"/>
                          <a:ea typeface="Cambria Math"/>
                          <a:cs typeface="Cambria Math"/>
                        </a:rPr>
                        <m:t>ℎ</m:t>
                      </m:r>
                      <m:d>
                        <m:dPr>
                          <m:ctrlPr>
                            <a:rPr lang="en-GB" sz="2475" b="0" dirty="0">
                              <a:solidFill>
                                <a:srgbClr val="526276"/>
                              </a:solidFill>
                              <a:latin typeface="Cambria Math"/>
                              <a:ea typeface="Cambria Math"/>
                              <a:cs typeface="Cambria Math"/>
                            </a:rPr>
                          </m:ctrlPr>
                        </m:dPr>
                        <m:e>
                          <m:r>
                            <a:rPr lang="en-GB" sz="2475" b="0" dirty="0">
                              <a:solidFill>
                                <a:srgbClr val="526276"/>
                              </a:solidFill>
                              <a:latin typeface="Cambria Math"/>
                              <a:ea typeface="Cambria Math"/>
                              <a:cs typeface="Cambria Math"/>
                            </a:rPr>
                            <m:t>𝑥</m:t>
                          </m:r>
                        </m:e>
                      </m:d>
                      <m:r>
                        <a:rPr lang="en-GB" sz="2475" b="0" dirty="0">
                          <a:solidFill>
                            <a:srgbClr val="526276"/>
                          </a:solidFill>
                          <a:latin typeface="Cambria Math"/>
                          <a:ea typeface="Cambria Math"/>
                          <a:cs typeface="Cambria Math"/>
                        </a:rPr>
                        <m:t>=2</m:t>
                      </m:r>
                    </m:oMath>
                  </m:oMathPara>
                </a14:m>
                <a:endParaRPr lang="en-GB" sz="2475" b="0" i="0" dirty="0">
                  <a:solidFill>
                    <a:srgbClr val="526276"/>
                  </a:solidFill>
                  <a:latin typeface="Cambria Math"/>
                  <a:ea typeface="Cambria Math"/>
                  <a:cs typeface="Cambria Math"/>
                </a:endParaRPr>
              </a:p>
            </p:txBody>
          </p:sp>
        </mc:Choice>
        <mc:Fallback xmlns="">
          <p:sp>
            <p:nvSpPr>
              <p:cNvPr id="7" name="eq_17">
                <a:extLst>
                  <a:ext uri="{FF2B5EF4-FFF2-40B4-BE49-F238E27FC236}">
                    <a16:creationId xmlns:a16="http://schemas.microsoft.com/office/drawing/2014/main" id="{49977924-2FA0-4209-9C4F-A3C3320A86DB}"/>
                  </a:ext>
                </a:extLst>
              </p:cNvPr>
              <p:cNvSpPr txBox="1">
                <a:spLocks noGrp="1" noRot="1" noChangeAspect="1" noMove="1" noResize="1" noEditPoints="1" noAdjustHandles="1" noChangeArrowheads="1" noChangeShapeType="1" noTextEdit="1"/>
              </p:cNvSpPr>
              <p:nvPr/>
            </p:nvSpPr>
            <p:spPr>
              <a:xfrm>
                <a:off x="7848600" y="4762500"/>
                <a:ext cx="3429000" cy="666750"/>
              </a:xfrm>
              <a:prstGeom prst="rect">
                <a:avLst/>
              </a:prstGeom>
              <a:blipFill>
                <a:blip r:embed="rId7"/>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978409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6AC9E10-C3B7-43D4-BFF6-22A78F17221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Comparing prediction errors</a:t>
            </a:r>
          </a:p>
        </p:txBody>
      </p:sp>
      <p:sp>
        <p:nvSpPr>
          <p:cNvPr id="2" name="page_number">
            <a:extLst>
              <a:ext uri="{FF2B5EF4-FFF2-40B4-BE49-F238E27FC236}">
                <a16:creationId xmlns:a16="http://schemas.microsoft.com/office/drawing/2014/main" id="{4CC47FDA-632F-4100-8573-F6068DA1DE56}"/>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05</a:t>
            </a:r>
          </a:p>
        </p:txBody>
      </p:sp>
      <p:sp>
        <p:nvSpPr>
          <p:cNvPr id="3" name="txt_18">
            <a:extLst>
              <a:ext uri="{FF2B5EF4-FFF2-40B4-BE49-F238E27FC236}">
                <a16:creationId xmlns:a16="http://schemas.microsoft.com/office/drawing/2014/main" id="{8622974E-96B4-4D51-A9A5-3C6ACC06C23B}"/>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The vertical segments join each observation to its prediction.</a:t>
            </a:r>
          </a:p>
        </p:txBody>
      </p:sp>
      <mc:AlternateContent xmlns:mc="http://schemas.openxmlformats.org/markup-compatibility/2006" xmlns:a14="http://schemas.microsoft.com/office/drawing/2010/main">
        <mc:Choice Requires="a14">
          <p:sp>
            <p:nvSpPr>
              <p:cNvPr id="4" name="eq_19">
                <a:extLst>
                  <a:ext uri="{FF2B5EF4-FFF2-40B4-BE49-F238E27FC236}">
                    <a16:creationId xmlns:a16="http://schemas.microsoft.com/office/drawing/2014/main" id="{6A7B7724-C18D-4310-82F0-E41D60AB4BF6}"/>
                  </a:ext>
                </a:extLst>
              </p:cNvPr>
              <p:cNvSpPr txBox="1">
                <a:spLocks noGrp="1"/>
              </p:cNvSpPr>
              <p:nvPr/>
            </p:nvSpPr>
            <p:spPr>
              <a:xfrm>
                <a:off x="609600" y="1924050"/>
                <a:ext cx="3486150" cy="571500"/>
              </a:xfrm>
              <a:prstGeom prst="rect">
                <a:avLst/>
              </a:prstGeom>
              <a:noFill/>
              <a:ln w="0">
                <a:noFill/>
              </a:ln>
            </p:spPr>
            <p:txBody>
              <a:bodyPr vertOverflow="overflow" wrap="none" lIns="0" tIns="0" rIns="0" bIns="0" anchor="t">
                <a:noAutofit/>
              </a:bodyPr>
              <a:lstStyle/>
              <a:p>
                <a:pPr marL="0" marR="0" indent="0" algn="ctr">
                  <a:defRPr lang="en-GB" sz="2400" b="0" i="0" dirty="0">
                    <a:solidFill>
                      <a:srgbClr val="087F83"/>
                    </a:solidFill>
                    <a:latin typeface="DejaVu Sans"/>
                    <a:ea typeface="DejaVu Sans"/>
                    <a:cs typeface="DejaVu Sans"/>
                  </a:defRPr>
                </a:pPr>
                <a14:m>
                  <m:oMathPara xmlns:m="http://schemas.openxmlformats.org/officeDocument/2006/math">
                    <m:oMath>
                      <m:r>
                        <a:rPr lang="en-GB" sz="2400" b="0" dirty="0">
                          <a:solidFill>
                            <a:srgbClr val="087F83"/>
                          </a:solidFill>
                          <a:latin typeface="Cambria Math"/>
                          <a:ea typeface="Cambria Math"/>
                          <a:cs typeface="Cambria Math"/>
                        </a:rPr>
                        <m:t>𝑓</m:t>
                      </m:r>
                      <m:d>
                        <m:dPr>
                          <m:ctrlPr>
                            <a:rPr lang="en-GB" sz="2400" b="0" dirty="0">
                              <a:solidFill>
                                <a:srgbClr val="087F83"/>
                              </a:solidFill>
                              <a:latin typeface="Cambria Math"/>
                              <a:ea typeface="Cambria Math"/>
                              <a:cs typeface="Cambria Math"/>
                            </a:rPr>
                          </m:ctrlPr>
                        </m:dPr>
                        <m:e>
                          <m:r>
                            <a:rPr lang="en-GB" sz="2400" b="0" dirty="0">
                              <a:solidFill>
                                <a:srgbClr val="087F83"/>
                              </a:solidFill>
                              <a:latin typeface="Cambria Math"/>
                              <a:ea typeface="Cambria Math"/>
                              <a:cs typeface="Cambria Math"/>
                            </a:rPr>
                            <m:t>𝑥</m:t>
                          </m:r>
                        </m:e>
                      </m:d>
                      <m:r>
                        <a:rPr lang="en-GB" sz="2400" b="0" dirty="0">
                          <a:solidFill>
                            <a:srgbClr val="087F83"/>
                          </a:solidFill>
                          <a:latin typeface="Cambria Math"/>
                          <a:ea typeface="Cambria Math"/>
                          <a:cs typeface="Cambria Math"/>
                        </a:rPr>
                        <m:t>=1+2</m:t>
                      </m:r>
                      <m:r>
                        <a:rPr lang="en-GB" sz="2400" b="0" dirty="0">
                          <a:solidFill>
                            <a:srgbClr val="087F83"/>
                          </a:solidFill>
                          <a:latin typeface="Cambria Math"/>
                          <a:ea typeface="Cambria Math"/>
                          <a:cs typeface="Cambria Math"/>
                        </a:rPr>
                        <m:t>𝑥</m:t>
                      </m:r>
                    </m:oMath>
                  </m:oMathPara>
                </a14:m>
                <a:endParaRPr lang="en-GB" sz="2400" b="0" i="0" dirty="0">
                  <a:solidFill>
                    <a:srgbClr val="087F83"/>
                  </a:solidFill>
                  <a:latin typeface="DejaVu Sans"/>
                  <a:ea typeface="DejaVu Sans"/>
                  <a:cs typeface="DejaVu Sans"/>
                </a:endParaRPr>
              </a:p>
            </p:txBody>
          </p:sp>
        </mc:Choice>
        <mc:Fallback xmlns="">
          <p:sp>
            <p:nvSpPr>
              <p:cNvPr id="4" name="eq_19">
                <a:extLst>
                  <a:ext uri="{FF2B5EF4-FFF2-40B4-BE49-F238E27FC236}">
                    <a16:creationId xmlns:a16="http://schemas.microsoft.com/office/drawing/2014/main" id="{6A7B7724-C18D-4310-82F0-E41D60AB4BF6}"/>
                  </a:ext>
                </a:extLst>
              </p:cNvPr>
              <p:cNvSpPr txBox="1">
                <a:spLocks noGrp="1" noRot="1" noChangeAspect="1" noMove="1" noResize="1" noEditPoints="1" noAdjustHandles="1" noChangeArrowheads="1" noChangeShapeType="1" noTextEdit="1"/>
              </p:cNvSpPr>
              <p:nvPr/>
            </p:nvSpPr>
            <p:spPr>
              <a:xfrm>
                <a:off x="609600" y="1924050"/>
                <a:ext cx="3486150" cy="5715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20">
                <a:extLst>
                  <a:ext uri="{FF2B5EF4-FFF2-40B4-BE49-F238E27FC236}">
                    <a16:creationId xmlns:a16="http://schemas.microsoft.com/office/drawing/2014/main" id="{5D74C522-55B7-4494-B8B1-61014C4B83D4}"/>
                  </a:ext>
                </a:extLst>
              </p:cNvPr>
              <p:cNvSpPr txBox="1">
                <a:spLocks noGrp="1"/>
              </p:cNvSpPr>
              <p:nvPr/>
            </p:nvSpPr>
            <p:spPr>
              <a:xfrm>
                <a:off x="4343400" y="1924050"/>
                <a:ext cx="3486150" cy="571500"/>
              </a:xfrm>
              <a:prstGeom prst="rect">
                <a:avLst/>
              </a:prstGeom>
              <a:noFill/>
              <a:ln w="0">
                <a:noFill/>
              </a:ln>
            </p:spPr>
            <p:txBody>
              <a:bodyPr vertOverflow="overflow" wrap="none" lIns="0" tIns="0" rIns="0" bIns="0" anchor="t">
                <a:noAutofit/>
              </a:bodyPr>
              <a:lstStyle/>
              <a:p>
                <a:pPr marL="0" marR="0" indent="0" algn="ctr">
                  <a:defRPr lang="en-GB" sz="2400" b="0" i="0" dirty="0">
                    <a:solidFill>
                      <a:srgbClr val="087F83"/>
                    </a:solidFill>
                    <a:latin typeface="DejaVu Sans"/>
                    <a:ea typeface="DejaVu Sans"/>
                    <a:cs typeface="DejaVu Sans"/>
                  </a:defRPr>
                </a:pPr>
                <a14:m>
                  <m:oMathPara xmlns:m="http://schemas.openxmlformats.org/officeDocument/2006/math">
                    <m:oMath>
                      <m:r>
                        <a:rPr lang="en-GB" sz="2400" b="0" dirty="0">
                          <a:solidFill>
                            <a:srgbClr val="087F83"/>
                          </a:solidFill>
                          <a:latin typeface="Cambria Math"/>
                          <a:ea typeface="Cambria Math"/>
                          <a:cs typeface="Cambria Math"/>
                        </a:rPr>
                        <m:t>𝑔</m:t>
                      </m:r>
                      <m:d>
                        <m:dPr>
                          <m:ctrlPr>
                            <a:rPr lang="en-GB" sz="2400" b="0" dirty="0">
                              <a:solidFill>
                                <a:srgbClr val="087F83"/>
                              </a:solidFill>
                              <a:latin typeface="Cambria Math"/>
                              <a:ea typeface="Cambria Math"/>
                              <a:cs typeface="Cambria Math"/>
                            </a:rPr>
                          </m:ctrlPr>
                        </m:dPr>
                        <m:e>
                          <m:r>
                            <a:rPr lang="en-GB" sz="2400" b="0" dirty="0">
                              <a:solidFill>
                                <a:srgbClr val="087F83"/>
                              </a:solidFill>
                              <a:latin typeface="Cambria Math"/>
                              <a:ea typeface="Cambria Math"/>
                              <a:cs typeface="Cambria Math"/>
                            </a:rPr>
                            <m:t>𝑥</m:t>
                          </m:r>
                        </m:e>
                      </m:d>
                      <m:r>
                        <a:rPr lang="en-GB" sz="2400" b="0" dirty="0">
                          <a:solidFill>
                            <a:srgbClr val="087F83"/>
                          </a:solidFill>
                          <a:latin typeface="Cambria Math"/>
                          <a:ea typeface="Cambria Math"/>
                          <a:cs typeface="Cambria Math"/>
                        </a:rPr>
                        <m:t>=1−</m:t>
                      </m:r>
                      <m:r>
                        <a:rPr lang="en-GB" sz="2400" b="0" dirty="0">
                          <a:solidFill>
                            <a:srgbClr val="087F83"/>
                          </a:solidFill>
                          <a:latin typeface="Cambria Math"/>
                          <a:ea typeface="Cambria Math"/>
                          <a:cs typeface="Cambria Math"/>
                        </a:rPr>
                        <m:t>𝑥</m:t>
                      </m:r>
                    </m:oMath>
                  </m:oMathPara>
                </a14:m>
                <a:endParaRPr lang="en-GB" sz="2400" b="0" i="0" dirty="0">
                  <a:solidFill>
                    <a:srgbClr val="087F83"/>
                  </a:solidFill>
                  <a:latin typeface="DejaVu Sans"/>
                  <a:ea typeface="DejaVu Sans"/>
                  <a:cs typeface="DejaVu Sans"/>
                </a:endParaRPr>
              </a:p>
            </p:txBody>
          </p:sp>
        </mc:Choice>
        <mc:Fallback xmlns="">
          <p:sp>
            <p:nvSpPr>
              <p:cNvPr id="5" name="eq_20">
                <a:extLst>
                  <a:ext uri="{FF2B5EF4-FFF2-40B4-BE49-F238E27FC236}">
                    <a16:creationId xmlns:a16="http://schemas.microsoft.com/office/drawing/2014/main" id="{5D74C522-55B7-4494-B8B1-61014C4B83D4}"/>
                  </a:ext>
                </a:extLst>
              </p:cNvPr>
              <p:cNvSpPr txBox="1">
                <a:spLocks noGrp="1" noRot="1" noChangeAspect="1" noMove="1" noResize="1" noEditPoints="1" noAdjustHandles="1" noChangeArrowheads="1" noChangeShapeType="1" noTextEdit="1"/>
              </p:cNvSpPr>
              <p:nvPr/>
            </p:nvSpPr>
            <p:spPr>
              <a:xfrm>
                <a:off x="4343400" y="1924050"/>
                <a:ext cx="3486150" cy="571500"/>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4" name="Chart"/>
          <p:cNvGraphicFramePr/>
          <p:nvPr/>
        </p:nvGraphicFramePr>
        <p:xfrm>
          <a:off x="609600" y="2514600"/>
          <a:ext cx="3486150" cy="32194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p:cNvGraphicFramePr/>
          <p:nvPr/>
        </p:nvGraphicFramePr>
        <p:xfrm>
          <a:off x="4343400" y="2514600"/>
          <a:ext cx="3486150" cy="3219450"/>
        </p:xfrm>
        <a:graphic>
          <a:graphicData uri="http://schemas.openxmlformats.org/drawingml/2006/chart">
            <c:chart xmlns:c="http://schemas.openxmlformats.org/drawingml/2006/chart" xmlns:r="http://schemas.openxmlformats.org/officeDocument/2006/relationships" r:id="rId6"/>
          </a:graphicData>
        </a:graphic>
      </p:graphicFrame>
      <p:sp>
        <p:nvSpPr>
          <p:cNvPr id="8" name="eq_21">
            <a:extLst>
              <a:ext uri="{FF2B5EF4-FFF2-40B4-BE49-F238E27FC236}">
                <a16:creationId xmlns:a16="http://schemas.microsoft.com/office/drawing/2014/main" id="{A5620CB8-9055-4ED4-82D1-11E6E16EA7AB}"/>
              </a:ext>
            </a:extLst>
          </p:cNvPr>
          <p:cNvSpPr>
            <a:spLocks noGrp="1"/>
          </p:cNvSpPr>
          <p:nvPr/>
        </p:nvSpPr>
        <p:spPr>
          <a:xfrm>
            <a:off x="609600" y="5848350"/>
            <a:ext cx="10953750" cy="523875"/>
          </a:xfrm>
          <a:prstGeom prst="rect">
            <a:avLst/>
          </a:prstGeom>
          <a:noFill/>
          <a:ln w="0">
            <a:noFill/>
          </a:ln>
        </p:spPr>
        <p:txBody>
          <a:bodyPr wrap="square" lIns="0" tIns="0" rIns="0" bIns="0" anchor="t">
            <a:noAutofit/>
          </a:bodyPr>
          <a:lstStyle/>
          <a:p>
            <a:pPr marL="0" marR="0" indent="0" algn="ctr">
              <a:defRPr lang="en-GB" sz="2100" b="0" i="0" dirty="0">
                <a:solidFill>
                  <a:srgbClr val="526276"/>
                </a:solidFill>
                <a:latin typeface="DejaVu Sans"/>
                <a:ea typeface="DejaVu Sans"/>
                <a:cs typeface="DejaVu Sans"/>
              </a:defRPr>
            </a:pPr>
            <a:r>
              <a:rPr lang="en-GB" sz="2100" b="0" i="0" dirty="0">
                <a:latin typeface="DejaVu Sans"/>
                <a:ea typeface="DejaVu Sans"/>
                <a:cs typeface="DejaVu Sans"/>
              </a:rPr>
              <a:t>We look at the </a:t>
            </a:r>
            <a:r>
              <a:rPr lang="en-GB" sz="2100" dirty="0">
                <a:latin typeface="DejaVu Sans"/>
                <a:ea typeface="DejaVu Sans"/>
                <a:cs typeface="DejaVu Sans"/>
              </a:rPr>
              <a:t>residuals: </a:t>
            </a:r>
            <a:r>
              <a:rPr lang="en-GB" sz="2100" b="0" i="0" dirty="0">
                <a:solidFill>
                  <a:srgbClr val="FF0000"/>
                </a:solidFill>
                <a:latin typeface="DejaVu Sans"/>
                <a:ea typeface="DejaVu Sans"/>
                <a:cs typeface="DejaVu Sans"/>
              </a:rPr>
              <a:t>residual = prediction − target</a:t>
            </a:r>
          </a:p>
        </p:txBody>
      </p:sp>
      <mc:AlternateContent xmlns:mc="http://schemas.openxmlformats.org/markup-compatibility/2006" xmlns:a14="http://schemas.microsoft.com/office/drawing/2010/main">
        <mc:Choice Requires="a14">
          <p:sp>
            <p:nvSpPr>
              <p:cNvPr id="16" name="eq_h_comparison">
                <a:extLst>
                  <a:ext uri="{FF2B5EF4-FFF2-40B4-BE49-F238E27FC236}">
                    <a16:creationId xmlns:a16="http://schemas.microsoft.com/office/drawing/2014/main" id="{6A7B7724-C18D-4310-82F0-E41D60AB4BF6}"/>
                  </a:ext>
                </a:extLst>
              </p:cNvPr>
              <p:cNvSpPr txBox="1">
                <a:spLocks noGrp="1"/>
              </p:cNvSpPr>
              <p:nvPr/>
            </p:nvSpPr>
            <p:spPr>
              <a:xfrm>
                <a:off x="8077200" y="1924050"/>
                <a:ext cx="3486150" cy="571500"/>
              </a:xfrm>
              <a:prstGeom prst="rect">
                <a:avLst/>
              </a:prstGeom>
              <a:noFill/>
              <a:ln w="0">
                <a:noFill/>
              </a:ln>
            </p:spPr>
            <p:txBody>
              <a:bodyPr vertOverflow="overflow" wrap="none" lIns="0" tIns="0" rIns="0" bIns="0" anchor="t">
                <a:noAutofit/>
              </a:bodyPr>
              <a:lstStyle/>
              <a:p>
                <a:pPr marL="0" marR="0" indent="0" algn="ctr">
                  <a:defRPr lang="en-GB" sz="2400" b="0" i="0" dirty="0">
                    <a:solidFill>
                      <a:srgbClr val="087F83"/>
                    </a:solidFill>
                    <a:latin typeface="DejaVu Sans"/>
                    <a:ea typeface="DejaVu Sans"/>
                    <a:cs typeface="DejaVu Sans"/>
                  </a:defRPr>
                </a:pPr>
                <a14:m>
                  <m:oMathPara xmlns:m="http://schemas.openxmlformats.org/officeDocument/2006/math">
                    <m:oMath>
                      <m:r>
                        <a:rPr lang="en-GB" sz="2400" b="0" dirty="0">
                          <a:solidFill>
                            <a:srgbClr val="087F83"/>
                          </a:solidFill>
                          <a:latin typeface="Cambria Math"/>
                          <a:ea typeface="Cambria Math"/>
                          <a:cs typeface="Cambria Math"/>
                        </a:rPr>
                        <m:t>ℎ</m:t>
                      </m:r>
                      <m:d>
                        <m:dPr>
                          <m:ctrlPr>
                            <a:rPr lang="en-GB" sz="2400" b="0" dirty="0">
                              <a:solidFill>
                                <a:srgbClr val="087F83"/>
                              </a:solidFill>
                              <a:latin typeface="Cambria Math"/>
                              <a:ea typeface="Cambria Math"/>
                              <a:cs typeface="Cambria Math"/>
                            </a:rPr>
                          </m:ctrlPr>
                        </m:dPr>
                        <m:e>
                          <m:r>
                            <a:rPr lang="en-GB" sz="2400" b="0" dirty="0">
                              <a:solidFill>
                                <a:srgbClr val="087F83"/>
                              </a:solidFill>
                              <a:latin typeface="Cambria Math"/>
                              <a:ea typeface="Cambria Math"/>
                              <a:cs typeface="Cambria Math"/>
                            </a:rPr>
                            <m:t>𝑥</m:t>
                          </m:r>
                        </m:e>
                      </m:d>
                      <m:r>
                        <a:rPr lang="en-GB" sz="2400" b="0" dirty="0">
                          <a:solidFill>
                            <a:srgbClr val="087F83"/>
                          </a:solidFill>
                          <a:latin typeface="Cambria Math"/>
                          <a:ea typeface="Cambria Math"/>
                          <a:cs typeface="Cambria Math"/>
                        </a:rPr>
                        <m:t>=2</m:t>
                      </m:r>
                    </m:oMath>
                  </m:oMathPara>
                </a14:m>
                <a:endParaRPr lang="en-GB" sz="2400" b="0" i="0" dirty="0">
                  <a:solidFill>
                    <a:srgbClr val="087F83"/>
                  </a:solidFill>
                  <a:latin typeface="DejaVu Sans"/>
                  <a:ea typeface="DejaVu Sans"/>
                  <a:cs typeface="DejaVu Sans"/>
                </a:endParaRPr>
              </a:p>
            </p:txBody>
          </p:sp>
        </mc:Choice>
        <mc:Fallback xmlns="">
          <p:sp>
            <p:nvSpPr>
              <p:cNvPr id="16" name="eq_h_comparison">
                <a:extLst>
                  <a:ext uri="{FF2B5EF4-FFF2-40B4-BE49-F238E27FC236}">
                    <a16:creationId xmlns:a16="http://schemas.microsoft.com/office/drawing/2014/main" id="{6A7B7724-C18D-4310-82F0-E41D60AB4BF6}"/>
                  </a:ext>
                </a:extLst>
              </p:cNvPr>
              <p:cNvSpPr txBox="1">
                <a:spLocks noGrp="1" noRot="1" noChangeAspect="1" noMove="1" noResize="1" noEditPoints="1" noAdjustHandles="1" noChangeArrowheads="1" noChangeShapeType="1" noTextEdit="1"/>
              </p:cNvSpPr>
              <p:nvPr/>
            </p:nvSpPr>
            <p:spPr>
              <a:xfrm>
                <a:off x="8077200" y="1924050"/>
                <a:ext cx="3486150" cy="571500"/>
              </a:xfrm>
              <a:prstGeom prst="rect">
                <a:avLst/>
              </a:prstGeom>
              <a:blipFill>
                <a:blip r:embed="rId7"/>
                <a:stretch>
                  <a:fillRect/>
                </a:stretch>
              </a:blipFill>
              <a:ln w="0">
                <a:noFill/>
              </a:ln>
            </p:spPr>
            <p:txBody>
              <a:bodyPr/>
              <a:lstStyle/>
              <a:p>
                <a:r>
                  <a:rPr lang="it-IT">
                    <a:noFill/>
                  </a:rPr>
                  <a:t> </a:t>
                </a:r>
              </a:p>
            </p:txBody>
          </p:sp>
        </mc:Fallback>
      </mc:AlternateContent>
      <p:graphicFrame>
        <p:nvGraphicFramePr>
          <p:cNvPr id="17" name="Chart h"/>
          <p:cNvGraphicFramePr/>
          <p:nvPr/>
        </p:nvGraphicFramePr>
        <p:xfrm>
          <a:off x="8077200" y="2514600"/>
          <a:ext cx="3486150" cy="321945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548249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A7161BB-D3A3-4729-8DB5-A4AB1958CAD2}"/>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Loss functions</a:t>
            </a:r>
          </a:p>
        </p:txBody>
      </p:sp>
      <p:sp>
        <p:nvSpPr>
          <p:cNvPr id="2" name="page_number">
            <a:extLst>
              <a:ext uri="{FF2B5EF4-FFF2-40B4-BE49-F238E27FC236}">
                <a16:creationId xmlns:a16="http://schemas.microsoft.com/office/drawing/2014/main" id="{661ECFD0-A264-463D-B447-11A06D17137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06</a:t>
            </a:r>
          </a:p>
        </p:txBody>
      </p:sp>
      <mc:AlternateContent xmlns:mc="http://schemas.openxmlformats.org/markup-compatibility/2006" xmlns:a14="http://schemas.microsoft.com/office/drawing/2010/main">
        <mc:Choice Requires="a14">
          <p:sp>
            <p:nvSpPr>
              <p:cNvPr id="3" name="txt_22">
                <a:extLst>
                  <a:ext uri="{FF2B5EF4-FFF2-40B4-BE49-F238E27FC236}">
                    <a16:creationId xmlns:a16="http://schemas.microsoft.com/office/drawing/2014/main" id="{F6C81F26-B6CF-49FC-9998-D2BD65F84BAD}"/>
                  </a:ext>
                </a:extLst>
              </p:cNvPr>
              <p:cNvSpPr txBox="1">
                <a:spLocks noGrp="1"/>
              </p:cNvSpPr>
              <p:nvPr/>
            </p:nvSpPr>
            <p:spPr>
              <a:xfrm>
                <a:off x="609600" y="1257300"/>
                <a:ext cx="10953750" cy="762000"/>
              </a:xfrm>
              <a:prstGeom prst="rect">
                <a:avLst/>
              </a:prstGeom>
              <a:noFill/>
              <a:ln w="0">
                <a:noFill/>
              </a:ln>
            </p:spPr>
            <p:txBody>
              <a:bodyPr vertOverflow="overflow" wrap="square" lIns="0" tIns="0" rIns="0" bIns="0" anchor="t">
                <a:noAutofit/>
              </a:bodyPr>
              <a:lstStyle/>
              <a:p>
                <a:pPr marL="0" marR="0" indent="0" algn="l">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A </a:t>
                </a:r>
                <a:r>
                  <a:rPr lang="en-GB" sz="2100" b="0" i="0" dirty="0">
                    <a:solidFill>
                      <a:srgbClr val="FF0000"/>
                    </a:solidFill>
                    <a:latin typeface="DejaVu Sans"/>
                    <a:ea typeface="DejaVu Sans"/>
                    <a:cs typeface="DejaVu Sans"/>
                  </a:rPr>
                  <a:t>loss</a:t>
                </a:r>
                <a:r>
                  <a:rPr lang="en-GB" sz="2100" b="0" i="0" dirty="0">
                    <a:solidFill>
                      <a:srgbClr val="182D45"/>
                    </a:solidFill>
                    <a:latin typeface="DejaVu Sans"/>
                    <a:ea typeface="DejaVu Sans"/>
                    <a:cs typeface="DejaVu Sans"/>
                  </a:rPr>
                  <a:t> assigns a </a:t>
                </a:r>
                <a:r>
                  <a:rPr lang="en-GB" sz="2100" b="0" i="0" dirty="0">
                    <a:solidFill>
                      <a:srgbClr val="FF0000"/>
                    </a:solidFill>
                    <a:latin typeface="DejaVu Sans"/>
                    <a:ea typeface="DejaVu Sans"/>
                    <a:cs typeface="DejaVu Sans"/>
                  </a:rPr>
                  <a:t>penalty</a:t>
                </a:r>
                <a:r>
                  <a:rPr lang="en-GB" sz="2100" b="0" i="0" dirty="0">
                    <a:solidFill>
                      <a:srgbClr val="182D45"/>
                    </a:solidFill>
                    <a:latin typeface="DejaVu Sans"/>
                    <a:ea typeface="DejaVu Sans"/>
                    <a:cs typeface="DejaVu Sans"/>
                  </a:rPr>
                  <a:t> to one prediction </a:t>
                </a:r>
                <a14:m>
                  <m:oMath xmlns:m="http://schemas.openxmlformats.org/officeDocument/2006/math">
                    <m:acc>
                      <m:accPr>
                        <m:chr m:val="̂"/>
                        <m:ctrlPr>
                          <a:rPr lang="en-GB" sz="2100" b="0" dirty="0">
                            <a:solidFill>
                              <a:srgbClr val="182D45"/>
                            </a:solidFill>
                            <a:latin typeface="Cambria Math"/>
                            <a:ea typeface="Cambria Math"/>
                            <a:cs typeface="Cambria Math"/>
                          </a:rPr>
                        </m:ctrlPr>
                      </m:accPr>
                      <m:e>
                        <m:r>
                          <a:rPr lang="en-GB" sz="2100" b="0" dirty="0">
                            <a:solidFill>
                              <a:srgbClr val="182D45"/>
                            </a:solidFill>
                            <a:latin typeface="Cambria Math"/>
                            <a:ea typeface="Cambria Math"/>
                            <a:cs typeface="Cambria Math"/>
                          </a:rPr>
                          <m:t>𝑦</m:t>
                        </m:r>
                      </m:e>
                    </m:acc>
                  </m:oMath>
                </a14:m>
                <a:r>
                  <a:rPr lang="en-GB" sz="2100" b="0" i="0" dirty="0">
                    <a:solidFill>
                      <a:srgbClr val="182D45"/>
                    </a:solidFill>
                    <a:latin typeface="DejaVu Sans"/>
                    <a:ea typeface="DejaVu Sans"/>
                    <a:cs typeface="DejaVu Sans"/>
                  </a:rPr>
                  <a:t> and its target </a:t>
                </a:r>
                <a14:m>
                  <m:oMath xmlns:m="http://schemas.openxmlformats.org/officeDocument/2006/math">
                    <m:r>
                      <a:rPr lang="en-GB" sz="2100" b="0" dirty="0">
                        <a:solidFill>
                          <a:srgbClr val="182D45"/>
                        </a:solidFill>
                        <a:latin typeface="Cambria Math"/>
                        <a:ea typeface="Cambria Math"/>
                        <a:cs typeface="Cambria Math"/>
                      </a:rPr>
                      <m:t>𝑦</m:t>
                    </m:r>
                  </m:oMath>
                </a14:m>
                <a:r>
                  <a:rPr lang="en-GB" sz="2100" b="0" i="0" dirty="0">
                    <a:solidFill>
                      <a:srgbClr val="182D45"/>
                    </a:solidFill>
                    <a:latin typeface="DejaVu Sans"/>
                    <a:ea typeface="DejaVu Sans"/>
                    <a:cs typeface="DejaVu Sans"/>
                  </a:rPr>
                  <a:t>.</a:t>
                </a:r>
              </a:p>
            </p:txBody>
          </p:sp>
        </mc:Choice>
        <mc:Fallback xmlns="">
          <p:sp>
            <p:nvSpPr>
              <p:cNvPr id="3" name="txt_22">
                <a:extLst>
                  <a:ext uri="{FF2B5EF4-FFF2-40B4-BE49-F238E27FC236}">
                    <a16:creationId xmlns:a16="http://schemas.microsoft.com/office/drawing/2014/main" id="{F6C81F26-B6CF-49FC-9998-D2BD65F84BAD}"/>
                  </a:ext>
                </a:extLst>
              </p:cNvPr>
              <p:cNvSpPr txBox="1">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l="-1503" t="-11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23">
                <a:extLst>
                  <a:ext uri="{FF2B5EF4-FFF2-40B4-BE49-F238E27FC236}">
                    <a16:creationId xmlns:a16="http://schemas.microsoft.com/office/drawing/2014/main" id="{668A01ED-25F5-4BC3-9F39-24BC7B767F0F}"/>
                  </a:ext>
                </a:extLst>
              </p:cNvPr>
              <p:cNvSpPr txBox="1">
                <a:spLocks noGrp="1"/>
              </p:cNvSpPr>
              <p:nvPr/>
            </p:nvSpPr>
            <p:spPr>
              <a:xfrm>
                <a:off x="609600" y="2133600"/>
                <a:ext cx="6000750" cy="714375"/>
              </a:xfrm>
              <a:prstGeom prst="rect">
                <a:avLst/>
              </a:prstGeom>
              <a:noFill/>
              <a:ln w="0">
                <a:noFill/>
              </a:ln>
            </p:spPr>
            <p:txBody>
              <a:bodyPr vertOverflow="overflow" wrap="none" lIns="0" tIns="0" rIns="0" bIns="0" anchor="t">
                <a:noAutofit/>
              </a:bodyPr>
              <a:lstStyle/>
              <a:p>
                <a:pPr marL="0" marR="0" indent="0" algn="ctr">
                  <a:defRPr lang="en-GB" sz="2550" b="0" i="0" dirty="0">
                    <a:solidFill>
                      <a:srgbClr val="C45C28"/>
                    </a:solidFill>
                    <a:latin typeface="Cambria Math"/>
                    <a:ea typeface="Cambria Math"/>
                    <a:cs typeface="Cambria Math"/>
                  </a:defRPr>
                </a:pPr>
                <a14:m>
                  <m:oMathPara xmlns:m="http://schemas.openxmlformats.org/officeDocument/2006/math">
                    <m:oMath>
                      <m:sSub>
                        <m:sSubPr>
                          <m:ctrlPr>
                            <a:rPr lang="en-GB" sz="2550" b="0" dirty="0">
                              <a:solidFill>
                                <a:srgbClr val="C45C28"/>
                              </a:solidFill>
                              <a:latin typeface="Cambria Math"/>
                              <a:ea typeface="Cambria Math"/>
                              <a:cs typeface="Cambria Math"/>
                            </a:rPr>
                          </m:ctrlPr>
                        </m:sSubPr>
                        <m:e>
                          <m:r>
                            <m:rPr>
                              <m:sty m:val="p"/>
                            </m:rPr>
                            <a:rPr lang="en-GB" sz="2550" b="0" dirty="0">
                              <a:solidFill>
                                <a:srgbClr val="C45C28"/>
                              </a:solidFill>
                              <a:latin typeface="Cambria Math"/>
                              <a:ea typeface="Cambria Math"/>
                              <a:cs typeface="Cambria Math"/>
                            </a:rPr>
                            <m:t>ℓ</m:t>
                          </m:r>
                        </m:e>
                        <m:sub>
                          <m:r>
                            <m:rPr>
                              <m:sty m:val="p"/>
                            </m:rPr>
                            <a:rPr lang="en-GB" sz="2550" b="0" dirty="0">
                              <a:solidFill>
                                <a:srgbClr val="C45C28"/>
                              </a:solidFill>
                              <a:latin typeface="Cambria Math"/>
                              <a:ea typeface="Cambria Math"/>
                              <a:cs typeface="Cambria Math"/>
                            </a:rPr>
                            <m:t>abs</m:t>
                          </m:r>
                        </m:sub>
                      </m:sSub>
                      <m:d>
                        <m:dPr>
                          <m:ctrlPr>
                            <a:rPr lang="en-GB" sz="2550" b="0" i="1" dirty="0">
                              <a:solidFill>
                                <a:srgbClr val="C45C28"/>
                              </a:solidFill>
                              <a:latin typeface="Cambria Math" panose="02040503050406030204" pitchFamily="18" charset="0"/>
                              <a:ea typeface="Cambria Math"/>
                              <a:cs typeface="Cambria Math"/>
                            </a:rPr>
                          </m:ctrlPr>
                        </m:dPr>
                        <m:e>
                          <m:acc>
                            <m:accPr>
                              <m:chr m:val="̂"/>
                              <m:ctrlPr>
                                <a:rPr lang="en-GB" sz="2550" b="0" dirty="0">
                                  <a:solidFill>
                                    <a:srgbClr val="C45C28"/>
                                  </a:solidFill>
                                  <a:latin typeface="Cambria Math"/>
                                  <a:ea typeface="Cambria Math"/>
                                  <a:cs typeface="Cambria Math"/>
                                </a:rPr>
                              </m:ctrlPr>
                            </m:accPr>
                            <m:e>
                              <m:r>
                                <a:rPr lang="en-GB" sz="2550" b="0" dirty="0">
                                  <a:solidFill>
                                    <a:srgbClr val="C45C28"/>
                                  </a:solidFill>
                                  <a:latin typeface="Cambria Math"/>
                                  <a:ea typeface="Cambria Math"/>
                                  <a:cs typeface="Cambria Math"/>
                                </a:rPr>
                                <m:t>𝑦</m:t>
                              </m:r>
                            </m:e>
                          </m:acc>
                          <m:r>
                            <a:rPr lang="en-GB" sz="2550" b="0" dirty="0">
                              <a:solidFill>
                                <a:srgbClr val="C45C28"/>
                              </a:solidFill>
                              <a:latin typeface="Cambria Math"/>
                              <a:ea typeface="Cambria Math"/>
                              <a:cs typeface="Cambria Math"/>
                            </a:rPr>
                            <m:t>,</m:t>
                          </m:r>
                          <m:r>
                            <a:rPr lang="en-GB" sz="2550" b="0" dirty="0">
                              <a:solidFill>
                                <a:srgbClr val="C45C28"/>
                              </a:solidFill>
                              <a:latin typeface="Cambria Math"/>
                              <a:ea typeface="Cambria Math"/>
                              <a:cs typeface="Cambria Math"/>
                            </a:rPr>
                            <m:t>𝑦</m:t>
                          </m:r>
                        </m:e>
                      </m:d>
                      <m:r>
                        <a:rPr lang="en-GB" sz="2550" b="0" dirty="0">
                          <a:solidFill>
                            <a:srgbClr val="C45C28"/>
                          </a:solidFill>
                          <a:latin typeface="Cambria Math"/>
                          <a:ea typeface="Cambria Math"/>
                          <a:cs typeface="Cambria Math"/>
                        </a:rPr>
                        <m:t>=</m:t>
                      </m:r>
                      <m:d>
                        <m:dPr>
                          <m:begChr m:val="|"/>
                          <m:endChr m:val="|"/>
                          <m:ctrlPr>
                            <a:rPr lang="en-GB" sz="2550" b="0" i="1" dirty="0">
                              <a:solidFill>
                                <a:srgbClr val="C45C28"/>
                              </a:solidFill>
                              <a:latin typeface="Cambria Math" panose="02040503050406030204" pitchFamily="18" charset="0"/>
                              <a:ea typeface="Cambria Math"/>
                              <a:cs typeface="Cambria Math"/>
                            </a:rPr>
                          </m:ctrlPr>
                        </m:dPr>
                        <m:e>
                          <m:acc>
                            <m:accPr>
                              <m:chr m:val="̂"/>
                              <m:ctrlPr>
                                <a:rPr lang="en-GB" sz="2550" b="0" dirty="0">
                                  <a:solidFill>
                                    <a:srgbClr val="C45C28"/>
                                  </a:solidFill>
                                  <a:latin typeface="Cambria Math"/>
                                  <a:ea typeface="Cambria Math"/>
                                  <a:cs typeface="Cambria Math"/>
                                </a:rPr>
                              </m:ctrlPr>
                            </m:accPr>
                            <m:e>
                              <m:r>
                                <a:rPr lang="en-GB" sz="2550" b="0" dirty="0">
                                  <a:solidFill>
                                    <a:srgbClr val="C45C28"/>
                                  </a:solidFill>
                                  <a:latin typeface="Cambria Math"/>
                                  <a:ea typeface="Cambria Math"/>
                                  <a:cs typeface="Cambria Math"/>
                                </a:rPr>
                                <m:t>𝑦</m:t>
                              </m:r>
                            </m:e>
                          </m:acc>
                          <m:r>
                            <a:rPr lang="en-GB" sz="2550" b="0" dirty="0">
                              <a:solidFill>
                                <a:srgbClr val="C45C28"/>
                              </a:solidFill>
                              <a:latin typeface="Cambria Math"/>
                              <a:ea typeface="Cambria Math"/>
                              <a:cs typeface="Cambria Math"/>
                            </a:rPr>
                            <m:t>−</m:t>
                          </m:r>
                          <m:r>
                            <a:rPr lang="en-GB" sz="2550" b="0" dirty="0">
                              <a:solidFill>
                                <a:srgbClr val="C45C28"/>
                              </a:solidFill>
                              <a:latin typeface="Cambria Math"/>
                              <a:ea typeface="Cambria Math"/>
                              <a:cs typeface="Cambria Math"/>
                            </a:rPr>
                            <m:t>𝑦</m:t>
                          </m:r>
                        </m:e>
                      </m:d>
                    </m:oMath>
                  </m:oMathPara>
                </a14:m>
                <a:endParaRPr lang="en-GB" sz="2550" b="0" i="0" dirty="0">
                  <a:solidFill>
                    <a:srgbClr val="C45C28"/>
                  </a:solidFill>
                  <a:latin typeface="Cambria Math"/>
                  <a:ea typeface="Cambria Math"/>
                  <a:cs typeface="Cambria Math"/>
                </a:endParaRPr>
              </a:p>
            </p:txBody>
          </p:sp>
        </mc:Choice>
        <mc:Fallback xmlns="">
          <p:sp>
            <p:nvSpPr>
              <p:cNvPr id="4" name="eq_23">
                <a:extLst>
                  <a:ext uri="{FF2B5EF4-FFF2-40B4-BE49-F238E27FC236}">
                    <a16:creationId xmlns:a16="http://schemas.microsoft.com/office/drawing/2014/main" id="{668A01ED-25F5-4BC3-9F39-24BC7B767F0F}"/>
                  </a:ext>
                </a:extLst>
              </p:cNvPr>
              <p:cNvSpPr txBox="1">
                <a:spLocks noGrp="1" noRot="1" noChangeAspect="1" noMove="1" noResize="1" noEditPoints="1" noAdjustHandles="1" noChangeArrowheads="1" noChangeShapeType="1" noTextEdit="1"/>
              </p:cNvSpPr>
              <p:nvPr/>
            </p:nvSpPr>
            <p:spPr>
              <a:xfrm>
                <a:off x="609600" y="2133600"/>
                <a:ext cx="6000750" cy="7143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24">
                <a:extLst>
                  <a:ext uri="{FF2B5EF4-FFF2-40B4-BE49-F238E27FC236}">
                    <a16:creationId xmlns:a16="http://schemas.microsoft.com/office/drawing/2014/main" id="{13BD13FC-2247-4A43-B289-04F169E331D4}"/>
                  </a:ext>
                </a:extLst>
              </p:cNvPr>
              <p:cNvSpPr txBox="1">
                <a:spLocks noGrp="1"/>
              </p:cNvSpPr>
              <p:nvPr/>
            </p:nvSpPr>
            <p:spPr>
              <a:xfrm>
                <a:off x="609600" y="3314700"/>
                <a:ext cx="6000750" cy="714375"/>
              </a:xfrm>
              <a:prstGeom prst="rect">
                <a:avLst/>
              </a:prstGeom>
              <a:noFill/>
              <a:ln w="0">
                <a:noFill/>
              </a:ln>
            </p:spPr>
            <p:txBody>
              <a:bodyPr vertOverflow="overflow" wrap="none" lIns="0" tIns="0" rIns="0" bIns="0" anchor="t">
                <a:noAutofit/>
              </a:bodyPr>
              <a:lstStyle/>
              <a:p>
                <a:pPr marL="0" marR="0" indent="0" algn="ctr">
                  <a:defRPr lang="en-GB" sz="2550" b="0" i="0" dirty="0">
                    <a:solidFill>
                      <a:srgbClr val="087F83"/>
                    </a:solidFill>
                    <a:latin typeface="Cambria Math"/>
                    <a:ea typeface="Cambria Math"/>
                    <a:cs typeface="Cambria Math"/>
                  </a:defRPr>
                </a:pPr>
                <a14:m>
                  <m:oMathPara xmlns:m="http://schemas.openxmlformats.org/officeDocument/2006/math">
                    <m:oMath>
                      <m:sSub>
                        <m:sSubPr>
                          <m:ctrlPr>
                            <a:rPr lang="en-GB" sz="2550" b="0" dirty="0">
                              <a:solidFill>
                                <a:srgbClr val="087F83"/>
                              </a:solidFill>
                              <a:latin typeface="Cambria Math"/>
                              <a:ea typeface="Cambria Math"/>
                              <a:cs typeface="Cambria Math"/>
                            </a:rPr>
                          </m:ctrlPr>
                        </m:sSubPr>
                        <m:e>
                          <m:r>
                            <m:rPr>
                              <m:sty m:val="p"/>
                            </m:rPr>
                            <a:rPr lang="en-GB" sz="2550" b="0" dirty="0">
                              <a:solidFill>
                                <a:srgbClr val="087F83"/>
                              </a:solidFill>
                              <a:latin typeface="Cambria Math"/>
                              <a:ea typeface="Cambria Math"/>
                              <a:cs typeface="Cambria Math"/>
                            </a:rPr>
                            <m:t>ℓ</m:t>
                          </m:r>
                        </m:e>
                        <m:sub>
                          <m:r>
                            <m:rPr>
                              <m:sty m:val="p"/>
                            </m:rPr>
                            <a:rPr lang="en-GB" sz="2550" b="0" dirty="0">
                              <a:solidFill>
                                <a:srgbClr val="087F83"/>
                              </a:solidFill>
                              <a:latin typeface="Cambria Math"/>
                              <a:ea typeface="Cambria Math"/>
                              <a:cs typeface="Cambria Math"/>
                            </a:rPr>
                            <m:t>sq</m:t>
                          </m:r>
                        </m:sub>
                      </m:sSub>
                      <m:d>
                        <m:dPr>
                          <m:ctrlPr>
                            <a:rPr lang="en-GB" sz="2550" b="0" i="1" dirty="0">
                              <a:solidFill>
                                <a:srgbClr val="087F83"/>
                              </a:solidFill>
                              <a:latin typeface="Cambria Math" panose="02040503050406030204" pitchFamily="18" charset="0"/>
                              <a:ea typeface="Cambria Math"/>
                              <a:cs typeface="Cambria Math"/>
                            </a:rPr>
                          </m:ctrlPr>
                        </m:dPr>
                        <m:e>
                          <m:acc>
                            <m:accPr>
                              <m:chr m:val="̂"/>
                              <m:ctrlPr>
                                <a:rPr lang="en-GB" sz="2550" b="0" dirty="0">
                                  <a:solidFill>
                                    <a:srgbClr val="087F83"/>
                                  </a:solidFill>
                                  <a:latin typeface="Cambria Math"/>
                                  <a:ea typeface="Cambria Math"/>
                                  <a:cs typeface="Cambria Math"/>
                                </a:rPr>
                              </m:ctrlPr>
                            </m:accPr>
                            <m:e>
                              <m:r>
                                <a:rPr lang="en-GB" sz="2550" b="0" dirty="0">
                                  <a:solidFill>
                                    <a:srgbClr val="087F83"/>
                                  </a:solidFill>
                                  <a:latin typeface="Cambria Math"/>
                                  <a:ea typeface="Cambria Math"/>
                                  <a:cs typeface="Cambria Math"/>
                                </a:rPr>
                                <m:t>𝑦</m:t>
                              </m:r>
                            </m:e>
                          </m:acc>
                          <m:r>
                            <a:rPr lang="en-GB" sz="2550" b="0" dirty="0">
                              <a:solidFill>
                                <a:srgbClr val="087F83"/>
                              </a:solidFill>
                              <a:latin typeface="Cambria Math"/>
                              <a:ea typeface="Cambria Math"/>
                              <a:cs typeface="Cambria Math"/>
                            </a:rPr>
                            <m:t>,</m:t>
                          </m:r>
                          <m:r>
                            <a:rPr lang="en-GB" sz="2550" b="0" dirty="0">
                              <a:solidFill>
                                <a:srgbClr val="087F83"/>
                              </a:solidFill>
                              <a:latin typeface="Cambria Math"/>
                              <a:ea typeface="Cambria Math"/>
                              <a:cs typeface="Cambria Math"/>
                            </a:rPr>
                            <m:t>𝑦</m:t>
                          </m:r>
                        </m:e>
                      </m:d>
                      <m:r>
                        <a:rPr lang="en-GB" sz="2550" b="0" dirty="0">
                          <a:solidFill>
                            <a:srgbClr val="087F83"/>
                          </a:solidFill>
                          <a:latin typeface="Cambria Math"/>
                          <a:ea typeface="Cambria Math"/>
                          <a:cs typeface="Cambria Math"/>
                        </a:rPr>
                        <m:t>=</m:t>
                      </m:r>
                      <m:sSup>
                        <m:sSupPr>
                          <m:ctrlPr>
                            <a:rPr lang="en-GB" sz="2550" b="0" i="1" dirty="0">
                              <a:solidFill>
                                <a:srgbClr val="087F83"/>
                              </a:solidFill>
                              <a:latin typeface="Cambria Math" panose="02040503050406030204" pitchFamily="18" charset="0"/>
                              <a:ea typeface="Cambria Math"/>
                              <a:cs typeface="Cambria Math"/>
                            </a:rPr>
                          </m:ctrlPr>
                        </m:sSupPr>
                        <m:e>
                          <m:d>
                            <m:dPr>
                              <m:ctrlPr>
                                <a:rPr lang="en-GB" sz="2550" b="0" i="1" dirty="0">
                                  <a:solidFill>
                                    <a:srgbClr val="087F83"/>
                                  </a:solidFill>
                                  <a:latin typeface="Cambria Math" panose="02040503050406030204" pitchFamily="18" charset="0"/>
                                  <a:ea typeface="Cambria Math"/>
                                  <a:cs typeface="Cambria Math"/>
                                </a:rPr>
                              </m:ctrlPr>
                            </m:dPr>
                            <m:e>
                              <m:acc>
                                <m:accPr>
                                  <m:chr m:val="̂"/>
                                  <m:ctrlPr>
                                    <a:rPr lang="en-GB" sz="2550" b="0" dirty="0">
                                      <a:solidFill>
                                        <a:srgbClr val="087F83"/>
                                      </a:solidFill>
                                      <a:latin typeface="Cambria Math"/>
                                      <a:ea typeface="Cambria Math"/>
                                      <a:cs typeface="Cambria Math"/>
                                    </a:rPr>
                                  </m:ctrlPr>
                                </m:accPr>
                                <m:e>
                                  <m:r>
                                    <a:rPr lang="en-GB" sz="2550" b="0" dirty="0">
                                      <a:solidFill>
                                        <a:srgbClr val="087F83"/>
                                      </a:solidFill>
                                      <a:latin typeface="Cambria Math"/>
                                      <a:ea typeface="Cambria Math"/>
                                      <a:cs typeface="Cambria Math"/>
                                    </a:rPr>
                                    <m:t>𝑦</m:t>
                                  </m:r>
                                </m:e>
                              </m:acc>
                              <m:r>
                                <a:rPr lang="en-GB" sz="2550" b="0" dirty="0">
                                  <a:solidFill>
                                    <a:srgbClr val="087F83"/>
                                  </a:solidFill>
                                  <a:latin typeface="Cambria Math"/>
                                  <a:ea typeface="Cambria Math"/>
                                  <a:cs typeface="Cambria Math"/>
                                </a:rPr>
                                <m:t>−</m:t>
                              </m:r>
                              <m:r>
                                <a:rPr lang="en-GB" sz="2550" b="0" dirty="0">
                                  <a:solidFill>
                                    <a:srgbClr val="087F83"/>
                                  </a:solidFill>
                                  <a:latin typeface="Cambria Math"/>
                                  <a:ea typeface="Cambria Math"/>
                                  <a:cs typeface="Cambria Math"/>
                                </a:rPr>
                                <m:t>𝑦</m:t>
                              </m:r>
                            </m:e>
                          </m:d>
                        </m:e>
                        <m:sup>
                          <m:r>
                            <a:rPr lang="en-GB" sz="2550" b="0" dirty="0">
                              <a:solidFill>
                                <a:srgbClr val="087F83"/>
                              </a:solidFill>
                              <a:latin typeface="Cambria Math"/>
                              <a:ea typeface="Cambria Math"/>
                              <a:cs typeface="Cambria Math"/>
                            </a:rPr>
                            <m:t>2</m:t>
                          </m:r>
                        </m:sup>
                      </m:sSup>
                    </m:oMath>
                  </m:oMathPara>
                </a14:m>
                <a:endParaRPr lang="en-GB" sz="2550" b="0" i="0" dirty="0">
                  <a:solidFill>
                    <a:srgbClr val="087F83"/>
                  </a:solidFill>
                  <a:latin typeface="Cambria Math"/>
                  <a:ea typeface="Cambria Math"/>
                  <a:cs typeface="Cambria Math"/>
                </a:endParaRPr>
              </a:p>
            </p:txBody>
          </p:sp>
        </mc:Choice>
        <mc:Fallback xmlns="">
          <p:sp>
            <p:nvSpPr>
              <p:cNvPr id="5" name="eq_24">
                <a:extLst>
                  <a:ext uri="{FF2B5EF4-FFF2-40B4-BE49-F238E27FC236}">
                    <a16:creationId xmlns:a16="http://schemas.microsoft.com/office/drawing/2014/main" id="{13BD13FC-2247-4A43-B289-04F169E331D4}"/>
                  </a:ext>
                </a:extLst>
              </p:cNvPr>
              <p:cNvSpPr txBox="1">
                <a:spLocks noGrp="1" noRot="1" noChangeAspect="1" noMove="1" noResize="1" noEditPoints="1" noAdjustHandles="1" noChangeArrowheads="1" noChangeShapeType="1" noTextEdit="1"/>
              </p:cNvSpPr>
              <p:nvPr/>
            </p:nvSpPr>
            <p:spPr>
              <a:xfrm>
                <a:off x="609600" y="3314700"/>
                <a:ext cx="6000750" cy="714375"/>
              </a:xfrm>
              <a:prstGeom prst="rect">
                <a:avLst/>
              </a:prstGeom>
              <a:blipFill>
                <a:blip r:embed="rId5"/>
                <a:stretch>
                  <a:fillRect/>
                </a:stretch>
              </a:blipFill>
              <a:ln w="0">
                <a:noFill/>
              </a:ln>
            </p:spPr>
            <p:txBody>
              <a:bodyPr/>
              <a:lstStyle/>
              <a:p>
                <a:r>
                  <a:rPr lang="it-IT">
                    <a:noFill/>
                  </a:rPr>
                  <a:t> </a:t>
                </a:r>
              </a:p>
            </p:txBody>
          </p:sp>
        </mc:Fallback>
      </mc:AlternateContent>
      <p:graphicFrame>
        <p:nvGraphicFramePr>
          <p:cNvPr id="14" name="Absolute loss curve"/>
          <p:cNvGraphicFramePr/>
          <p:nvPr/>
        </p:nvGraphicFramePr>
        <p:xfrm>
          <a:off x="7096125" y="2124075"/>
          <a:ext cx="4476750" cy="357187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3" name="Chart"/>
          <p:cNvGraphicFramePr/>
          <p:nvPr/>
        </p:nvGraphicFramePr>
        <p:xfrm>
          <a:off x="7096125" y="2124075"/>
          <a:ext cx="4476750" cy="3571875"/>
        </p:xfrm>
        <a:graphic>
          <a:graphicData uri="http://schemas.openxmlformats.org/drawingml/2006/chart">
            <c:chart xmlns:c="http://schemas.openxmlformats.org/drawingml/2006/chart" xmlns:r="http://schemas.openxmlformats.org/officeDocument/2006/relationships" r:id="rId7"/>
          </a:graphicData>
        </a:graphic>
      </p:graphicFrame>
      <p:sp>
        <p:nvSpPr>
          <p:cNvPr id="7" name="txt_25">
            <a:extLst>
              <a:ext uri="{FF2B5EF4-FFF2-40B4-BE49-F238E27FC236}">
                <a16:creationId xmlns:a16="http://schemas.microsoft.com/office/drawing/2014/main" id="{33EC2666-430D-41A9-9DED-1899A527849E}"/>
              </a:ext>
            </a:extLst>
          </p:cNvPr>
          <p:cNvSpPr>
            <a:spLocks noGrp="1"/>
          </p:cNvSpPr>
          <p:nvPr/>
        </p:nvSpPr>
        <p:spPr>
          <a:xfrm>
            <a:off x="609600" y="5886450"/>
            <a:ext cx="10953750" cy="495300"/>
          </a:xfrm>
          <a:prstGeom prst="rect">
            <a:avLst/>
          </a:prstGeom>
          <a:noFill/>
          <a:ln w="0">
            <a:noFill/>
          </a:ln>
        </p:spPr>
        <p:txBody>
          <a:bodyPr wrap="square" lIns="0" tIns="0" rIns="0" bIns="0" anchor="t">
            <a:noAutofit/>
          </a:bodyPr>
          <a:lstStyle/>
          <a:p>
            <a:pPr marL="0" marR="0" indent="0" algn="ctr">
              <a:defRPr lang="en-GB" sz="1725" b="0" i="0" dirty="0">
                <a:solidFill>
                  <a:srgbClr val="526276"/>
                </a:solidFill>
                <a:latin typeface="DejaVu Sans"/>
                <a:ea typeface="DejaVu Sans"/>
                <a:cs typeface="DejaVu Sans"/>
              </a:defRPr>
            </a:pPr>
            <a:r>
              <a:rPr lang="en-GB" sz="1725" b="0" i="0" dirty="0">
                <a:solidFill>
                  <a:srgbClr val="526276"/>
                </a:solidFill>
                <a:latin typeface="DejaVu Sans"/>
                <a:ea typeface="DejaVu Sans"/>
                <a:cs typeface="DejaVu Sans"/>
              </a:rPr>
              <a:t>Doubling the error doubles its absolute penalty and quadruples its squared penalty.</a:t>
            </a:r>
          </a:p>
        </p:txBody>
      </p:sp>
      <p:sp>
        <p:nvSpPr>
          <p:cNvPr id="15" name="loss_smoothness_comment">
            <a:extLst>
              <a:ext uri="{FF2B5EF4-FFF2-40B4-BE49-F238E27FC236}">
                <a16:creationId xmlns:a16="http://schemas.microsoft.com/office/drawing/2014/main" id="{2E710BEB-43C5-4D44-96DC-A9AE35BB2308}"/>
              </a:ext>
            </a:extLst>
          </p:cNvPr>
          <p:cNvSpPr>
            <a:spLocks noGrp="1"/>
          </p:cNvSpPr>
          <p:nvPr/>
        </p:nvSpPr>
        <p:spPr>
          <a:xfrm>
            <a:off x="609600" y="4410075"/>
            <a:ext cx="6143625" cy="1200150"/>
          </a:xfrm>
          <a:prstGeom prst="rect">
            <a:avLst/>
          </a:prstGeom>
          <a:noFill/>
          <a:ln w="0">
            <a:noFill/>
          </a:ln>
        </p:spPr>
        <p:txBody>
          <a:bodyPr wrap="square" lIns="0" tIns="0" rIns="0" bIns="0" anchor="t">
            <a:noAutofit/>
          </a:bodyPr>
          <a:lstStyle/>
          <a:p>
            <a:pPr marL="0" marR="0" indent="0" algn="l">
              <a:lnSpc>
                <a:spcPct val="118000"/>
              </a:lnSpc>
              <a:defRPr lang="en-GB" sz="1875" b="0" i="0" dirty="0">
                <a:solidFill>
                  <a:srgbClr val="526276"/>
                </a:solidFill>
                <a:latin typeface="DejaVu Sans"/>
                <a:ea typeface="DejaVu Sans"/>
                <a:cs typeface="DejaVu Sans"/>
              </a:defRPr>
            </a:pPr>
            <a:r>
              <a:rPr lang="en-GB" sz="1875" b="0" i="0" dirty="0">
                <a:solidFill>
                  <a:srgbClr val="526276"/>
                </a:solidFill>
                <a:latin typeface="DejaVu Sans"/>
                <a:ea typeface="DejaVu Sans"/>
                <a:cs typeface="DejaVu Sans"/>
              </a:rPr>
              <a:t>Squared loss is </a:t>
            </a:r>
            <a:r>
              <a:rPr lang="en-GB" sz="1875" b="0" i="0" dirty="0">
                <a:solidFill>
                  <a:srgbClr val="FF0000"/>
                </a:solidFill>
                <a:latin typeface="DejaVu Sans"/>
                <a:ea typeface="DejaVu Sans"/>
                <a:cs typeface="DejaVu Sans"/>
              </a:rPr>
              <a:t>differentiable</a:t>
            </a:r>
            <a:r>
              <a:rPr lang="en-GB" sz="1875" b="0" i="0" dirty="0">
                <a:solidFill>
                  <a:srgbClr val="526276"/>
                </a:solidFill>
                <a:latin typeface="DejaVu Sans"/>
                <a:ea typeface="DejaVu Sans"/>
                <a:cs typeface="DejaVu Sans"/>
              </a:rPr>
              <a:t> everywhere:</a:t>
            </a:r>
          </a:p>
          <a:p>
            <a:pPr marL="0" marR="0" indent="0" algn="l">
              <a:lnSpc>
                <a:spcPct val="118000"/>
              </a:lnSpc>
              <a:defRPr lang="en-GB" sz="1875" b="0" i="0" dirty="0">
                <a:solidFill>
                  <a:srgbClr val="526276"/>
                </a:solidFill>
                <a:latin typeface="DejaVu Sans"/>
                <a:ea typeface="DejaVu Sans"/>
                <a:cs typeface="DejaVu Sans"/>
              </a:defRPr>
            </a:pPr>
            <a:r>
              <a:rPr lang="en-GB" sz="1875" b="0" i="0" dirty="0">
                <a:solidFill>
                  <a:srgbClr val="526276"/>
                </a:solidFill>
                <a:latin typeface="DejaVu Sans"/>
                <a:ea typeface="DejaVu Sans"/>
                <a:cs typeface="DejaVu Sans"/>
              </a:rPr>
              <a:t>we can use differential calculus directly.</a:t>
            </a:r>
          </a:p>
          <a:p>
            <a:pPr marL="0" marR="0" indent="0" algn="l">
              <a:lnSpc>
                <a:spcPct val="118000"/>
              </a:lnSpc>
              <a:defRPr lang="en-GB" sz="1875" b="0" i="0" dirty="0">
                <a:solidFill>
                  <a:srgbClr val="526276"/>
                </a:solidFill>
                <a:latin typeface="DejaVu Sans"/>
                <a:ea typeface="DejaVu Sans"/>
                <a:cs typeface="DejaVu Sans"/>
              </a:defRPr>
            </a:pPr>
            <a:r>
              <a:rPr lang="en-GB" sz="1875" b="0" i="0" dirty="0">
                <a:solidFill>
                  <a:srgbClr val="526276"/>
                </a:solidFill>
                <a:latin typeface="DejaVu Sans"/>
                <a:ea typeface="DejaVu Sans"/>
                <a:cs typeface="DejaVu Sans"/>
              </a:rPr>
              <a:t>Absolute loss has a </a:t>
            </a:r>
            <a:r>
              <a:rPr lang="en-GB" sz="1875" b="0" i="0" dirty="0">
                <a:solidFill>
                  <a:srgbClr val="FF0000"/>
                </a:solidFill>
                <a:latin typeface="DejaVu Sans"/>
                <a:ea typeface="DejaVu Sans"/>
                <a:cs typeface="DejaVu Sans"/>
              </a:rPr>
              <a:t>kink</a:t>
            </a:r>
            <a:r>
              <a:rPr lang="en-GB" sz="1875" b="0" i="0" dirty="0">
                <a:solidFill>
                  <a:srgbClr val="526276"/>
                </a:solidFill>
                <a:latin typeface="DejaVu Sans"/>
                <a:ea typeface="DejaVu Sans"/>
                <a:cs typeface="DejaVu Sans"/>
              </a:rPr>
              <a:t> at zero.</a:t>
            </a:r>
          </a:p>
        </p:txBody>
      </p:sp>
    </p:spTree>
    <p:extLst>
      <p:ext uri="{BB962C8B-B14F-4D97-AF65-F5344CB8AC3E}">
        <p14:creationId xmlns:p14="http://schemas.microsoft.com/office/powerpoint/2010/main" val="95025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7" grpId="0" build="allAtOnce" animBg="1"/>
      <p:bldP spid="15" grpId="0" build="allAtOnce"/>
      <p:bldP spid="15"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B6DB1DD6-3825-4159-AD18-01FD3A1CC3E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Empirical loss</a:t>
            </a:r>
          </a:p>
        </p:txBody>
      </p:sp>
      <p:sp>
        <p:nvSpPr>
          <p:cNvPr id="2" name="page_number">
            <a:extLst>
              <a:ext uri="{FF2B5EF4-FFF2-40B4-BE49-F238E27FC236}">
                <a16:creationId xmlns:a16="http://schemas.microsoft.com/office/drawing/2014/main" id="{F02BED6E-10EA-4B5F-BCC2-8AE178908A4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07</a:t>
            </a:r>
          </a:p>
        </p:txBody>
      </p:sp>
      <mc:AlternateContent xmlns:mc="http://schemas.openxmlformats.org/markup-compatibility/2006" xmlns:a14="http://schemas.microsoft.com/office/drawing/2010/main">
        <mc:Choice Requires="a14">
          <p:sp>
            <p:nvSpPr>
              <p:cNvPr id="3" name="txt_26">
                <a:extLst>
                  <a:ext uri="{FF2B5EF4-FFF2-40B4-BE49-F238E27FC236}">
                    <a16:creationId xmlns:a16="http://schemas.microsoft.com/office/drawing/2014/main" id="{AB4E1587-348F-4074-9AAE-C63D5864A855}"/>
                  </a:ext>
                </a:extLst>
              </p:cNvPr>
              <p:cNvSpPr txBox="1">
                <a:spLocks noGrp="1"/>
              </p:cNvSpPr>
              <p:nvPr/>
            </p:nvSpPr>
            <p:spPr>
              <a:xfrm>
                <a:off x="609600" y="1257300"/>
                <a:ext cx="10953750" cy="76200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Let </a:t>
                </a:r>
                <a14:m>
                  <m:oMath xmlns:m="http://schemas.openxmlformats.org/officeDocument/2006/math">
                    <m:r>
                      <a:rPr lang="en-GB" sz="2100" b="0" dirty="0">
                        <a:solidFill>
                          <a:srgbClr val="182D45"/>
                        </a:solidFill>
                        <a:latin typeface="Cambria Math"/>
                        <a:ea typeface="Cambria Math"/>
                        <a:cs typeface="Cambria Math"/>
                      </a:rPr>
                      <m:t>𝛉</m:t>
                    </m:r>
                  </m:oMath>
                </a14:m>
                <a:r>
                  <a:rPr lang="en-GB" sz="2100" b="0" i="0" dirty="0">
                    <a:solidFill>
                      <a:srgbClr val="182D45"/>
                    </a:solidFill>
                    <a:latin typeface="DejaVu Sans"/>
                    <a:ea typeface="DejaVu Sans"/>
                    <a:cs typeface="DejaVu Sans"/>
                  </a:rPr>
                  <a:t> collect the parameters of the predictor </a:t>
                </a:r>
                <a14:m>
                  <m:oMath xmlns:m="http://schemas.openxmlformats.org/officeDocument/2006/math">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𝑓</m:t>
                        </m:r>
                      </m:e>
                      <m:sub>
                        <m:r>
                          <a:rPr lang="en-GB" sz="2100" b="0" dirty="0">
                            <a:solidFill>
                              <a:srgbClr val="182D45"/>
                            </a:solidFill>
                            <a:latin typeface="Cambria Math"/>
                            <a:ea typeface="Cambria Math"/>
                            <a:cs typeface="Cambria Math"/>
                          </a:rPr>
                          <m:t>𝛉</m:t>
                        </m:r>
                      </m:sub>
                    </m:sSub>
                  </m:oMath>
                </a14:m>
                <a:r>
                  <a:rPr lang="en-GB" sz="2100" b="0" i="0" dirty="0">
                    <a:solidFill>
                      <a:srgbClr val="182D45"/>
                    </a:solidFill>
                    <a:latin typeface="DejaVu Sans"/>
                    <a:ea typeface="DejaVu Sans"/>
                    <a:cs typeface="DejaVu Sans"/>
                  </a:rPr>
                  <a:t>.</a:t>
                </a:r>
              </a:p>
              <a:p>
                <a:pPr marL="0" marR="0" indent="0" algn="ctr">
                  <a:defRPr lang="en-GB" sz="2100" b="0" i="0" dirty="0">
                    <a:solidFill>
                      <a:srgbClr val="182D45"/>
                    </a:solidFill>
                    <a:latin typeface="DejaVu Sans"/>
                    <a:ea typeface="DejaVu Sans"/>
                    <a:cs typeface="DejaVu Sans"/>
                  </a:defRPr>
                </a:pPr>
                <a:endParaRPr lang="en-GB" sz="2100" b="0" i="0" dirty="0">
                  <a:solidFill>
                    <a:srgbClr val="182D45"/>
                  </a:solidFill>
                  <a:latin typeface="DejaVu Sans"/>
                  <a:ea typeface="DejaVu Sans"/>
                  <a:cs typeface="DejaVu Sans"/>
                </a:endParaRPr>
              </a:p>
              <a:p>
                <a:pPr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We add the losses over all observed pairs </a:t>
                </a:r>
                <a14:m>
                  <m:oMath xmlns:m="http://schemas.openxmlformats.org/officeDocument/2006/math">
                    <m:d>
                      <m:dPr>
                        <m:ctrlPr>
                          <a:rPr lang="en-GB" sz="2100" i="1" dirty="0">
                            <a:solidFill>
                              <a:srgbClr val="182D45"/>
                            </a:solidFill>
                            <a:latin typeface="Cambria Math" panose="02040503050406030204" pitchFamily="18" charset="0"/>
                            <a:ea typeface="Cambria Math"/>
                            <a:cs typeface="Cambria Math"/>
                          </a:rPr>
                        </m:ctrlPr>
                      </m:dPr>
                      <m:e>
                        <m:sSub>
                          <m:sSubPr>
                            <m:ctrlPr>
                              <a:rPr lang="en-GB" sz="2100" dirty="0">
                                <a:solidFill>
                                  <a:srgbClr val="182D45"/>
                                </a:solidFill>
                                <a:latin typeface="Cambria Math"/>
                                <a:ea typeface="Cambria Math"/>
                                <a:cs typeface="Cambria Math"/>
                              </a:rPr>
                            </m:ctrlPr>
                          </m:sSubPr>
                          <m:e>
                            <m:r>
                              <a:rPr lang="en-GB" sz="2100" dirty="0">
                                <a:solidFill>
                                  <a:srgbClr val="182D45"/>
                                </a:solidFill>
                                <a:latin typeface="Cambria Math"/>
                                <a:ea typeface="Cambria Math"/>
                                <a:cs typeface="Cambria Math"/>
                              </a:rPr>
                              <m:t>𝑥</m:t>
                            </m:r>
                          </m:e>
                          <m:sub>
                            <m:r>
                              <a:rPr lang="en-GB" sz="2100" dirty="0">
                                <a:solidFill>
                                  <a:srgbClr val="182D45"/>
                                </a:solidFill>
                                <a:latin typeface="Cambria Math"/>
                                <a:ea typeface="Cambria Math"/>
                                <a:cs typeface="Cambria Math"/>
                              </a:rPr>
                              <m:t>1</m:t>
                            </m:r>
                          </m:sub>
                        </m:sSub>
                        <m:r>
                          <a:rPr lang="en-GB" sz="2100" dirty="0">
                            <a:solidFill>
                              <a:srgbClr val="182D45"/>
                            </a:solidFill>
                            <a:latin typeface="Cambria Math"/>
                            <a:ea typeface="Cambria Math"/>
                            <a:cs typeface="Cambria Math"/>
                          </a:rPr>
                          <m:t>,</m:t>
                        </m:r>
                        <m:sSub>
                          <m:sSubPr>
                            <m:ctrlPr>
                              <a:rPr lang="en-GB" sz="2100" dirty="0">
                                <a:solidFill>
                                  <a:srgbClr val="182D45"/>
                                </a:solidFill>
                                <a:latin typeface="Cambria Math"/>
                                <a:ea typeface="Cambria Math"/>
                                <a:cs typeface="Cambria Math"/>
                              </a:rPr>
                            </m:ctrlPr>
                          </m:sSubPr>
                          <m:e>
                            <m:r>
                              <a:rPr lang="en-GB" sz="2100" dirty="0">
                                <a:solidFill>
                                  <a:srgbClr val="182D45"/>
                                </a:solidFill>
                                <a:latin typeface="Cambria Math"/>
                                <a:ea typeface="Cambria Math"/>
                                <a:cs typeface="Cambria Math"/>
                              </a:rPr>
                              <m:t>𝑦</m:t>
                            </m:r>
                          </m:e>
                          <m:sub>
                            <m:r>
                              <a:rPr lang="en-GB" sz="2100" dirty="0">
                                <a:solidFill>
                                  <a:srgbClr val="182D45"/>
                                </a:solidFill>
                                <a:latin typeface="Cambria Math"/>
                                <a:ea typeface="Cambria Math"/>
                                <a:cs typeface="Cambria Math"/>
                              </a:rPr>
                              <m:t>1</m:t>
                            </m:r>
                          </m:sub>
                        </m:sSub>
                      </m:e>
                    </m:d>
                    <m:r>
                      <a:rPr lang="en-GB" sz="2100" dirty="0">
                        <a:solidFill>
                          <a:srgbClr val="182D45"/>
                        </a:solidFill>
                        <a:latin typeface="Cambria Math"/>
                        <a:ea typeface="Cambria Math"/>
                        <a:cs typeface="Cambria Math"/>
                      </a:rPr>
                      <m:t>,…,</m:t>
                    </m:r>
                    <m:d>
                      <m:dPr>
                        <m:ctrlPr>
                          <a:rPr lang="en-GB" sz="2100" i="1" dirty="0">
                            <a:solidFill>
                              <a:srgbClr val="182D45"/>
                            </a:solidFill>
                            <a:latin typeface="Cambria Math" panose="02040503050406030204" pitchFamily="18" charset="0"/>
                            <a:ea typeface="Cambria Math"/>
                            <a:cs typeface="Cambria Math"/>
                          </a:rPr>
                        </m:ctrlPr>
                      </m:dPr>
                      <m:e>
                        <m:sSub>
                          <m:sSubPr>
                            <m:ctrlPr>
                              <a:rPr lang="en-GB" sz="2100" dirty="0">
                                <a:solidFill>
                                  <a:srgbClr val="182D45"/>
                                </a:solidFill>
                                <a:latin typeface="Cambria Math"/>
                                <a:ea typeface="Cambria Math"/>
                                <a:cs typeface="Cambria Math"/>
                              </a:rPr>
                            </m:ctrlPr>
                          </m:sSubPr>
                          <m:e>
                            <m:r>
                              <a:rPr lang="en-GB" sz="2100" dirty="0">
                                <a:solidFill>
                                  <a:srgbClr val="182D45"/>
                                </a:solidFill>
                                <a:latin typeface="Cambria Math"/>
                                <a:ea typeface="Cambria Math"/>
                                <a:cs typeface="Cambria Math"/>
                              </a:rPr>
                              <m:t>𝑥</m:t>
                            </m:r>
                          </m:e>
                          <m:sub>
                            <m:r>
                              <a:rPr lang="en-GB" sz="2100" dirty="0">
                                <a:solidFill>
                                  <a:srgbClr val="182D45"/>
                                </a:solidFill>
                                <a:latin typeface="Cambria Math"/>
                                <a:ea typeface="Cambria Math"/>
                                <a:cs typeface="Cambria Math"/>
                              </a:rPr>
                              <m:t>𝑁</m:t>
                            </m:r>
                          </m:sub>
                        </m:sSub>
                        <m:r>
                          <a:rPr lang="en-GB" sz="2100" dirty="0">
                            <a:solidFill>
                              <a:srgbClr val="182D45"/>
                            </a:solidFill>
                            <a:latin typeface="Cambria Math"/>
                            <a:ea typeface="Cambria Math"/>
                            <a:cs typeface="Cambria Math"/>
                          </a:rPr>
                          <m:t>,</m:t>
                        </m:r>
                        <m:sSub>
                          <m:sSubPr>
                            <m:ctrlPr>
                              <a:rPr lang="en-GB" sz="2100" dirty="0">
                                <a:solidFill>
                                  <a:srgbClr val="182D45"/>
                                </a:solidFill>
                                <a:latin typeface="Cambria Math"/>
                                <a:ea typeface="Cambria Math"/>
                                <a:cs typeface="Cambria Math"/>
                              </a:rPr>
                            </m:ctrlPr>
                          </m:sSubPr>
                          <m:e>
                            <m:r>
                              <a:rPr lang="en-GB" sz="2100" dirty="0">
                                <a:solidFill>
                                  <a:srgbClr val="182D45"/>
                                </a:solidFill>
                                <a:latin typeface="Cambria Math"/>
                                <a:ea typeface="Cambria Math"/>
                                <a:cs typeface="Cambria Math"/>
                              </a:rPr>
                              <m:t>𝑦</m:t>
                            </m:r>
                          </m:e>
                          <m:sub>
                            <m:r>
                              <a:rPr lang="en-GB" sz="2100" dirty="0">
                                <a:solidFill>
                                  <a:srgbClr val="182D45"/>
                                </a:solidFill>
                                <a:latin typeface="Cambria Math"/>
                                <a:ea typeface="Cambria Math"/>
                                <a:cs typeface="Cambria Math"/>
                              </a:rPr>
                              <m:t>𝑁</m:t>
                            </m:r>
                          </m:sub>
                        </m:sSub>
                      </m:e>
                    </m:d>
                  </m:oMath>
                </a14:m>
                <a:r>
                  <a:rPr lang="en-GB" sz="2100" b="0" i="0" dirty="0">
                    <a:solidFill>
                      <a:srgbClr val="182D45"/>
                    </a:solidFill>
                    <a:latin typeface="DejaVu Sans"/>
                    <a:ea typeface="DejaVu Sans"/>
                    <a:cs typeface="DejaVu Sans"/>
                  </a:rPr>
                  <a:t>.</a:t>
                </a:r>
              </a:p>
            </p:txBody>
          </p:sp>
        </mc:Choice>
        <mc:Fallback xmlns="">
          <p:sp>
            <p:nvSpPr>
              <p:cNvPr id="3" name="txt_26">
                <a:extLst>
                  <a:ext uri="{FF2B5EF4-FFF2-40B4-BE49-F238E27FC236}">
                    <a16:creationId xmlns:a16="http://schemas.microsoft.com/office/drawing/2014/main" id="{AB4E1587-348F-4074-9AAE-C63D5864A855}"/>
                  </a:ext>
                </a:extLst>
              </p:cNvPr>
              <p:cNvSpPr txBox="1">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b="-47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27">
                <a:extLst>
                  <a:ext uri="{FF2B5EF4-FFF2-40B4-BE49-F238E27FC236}">
                    <a16:creationId xmlns:a16="http://schemas.microsoft.com/office/drawing/2014/main" id="{8FDB07FB-3BA1-435C-8D49-02E7C28319F1}"/>
                  </a:ext>
                </a:extLst>
              </p:cNvPr>
              <p:cNvSpPr txBox="1">
                <a:spLocks noGrp="1"/>
              </p:cNvSpPr>
              <p:nvPr/>
            </p:nvSpPr>
            <p:spPr>
              <a:xfrm>
                <a:off x="609600" y="2533650"/>
                <a:ext cx="10953750" cy="1095375"/>
              </a:xfrm>
              <a:prstGeom prst="rect">
                <a:avLst/>
              </a:prstGeom>
              <a:noFill/>
              <a:ln w="0">
                <a:noFill/>
              </a:ln>
            </p:spPr>
            <p:txBody>
              <a:bodyPr vertOverflow="overflow" wrap="none" lIns="0" tIns="0" rIns="0" bIns="0" anchor="t">
                <a:noAutofit/>
              </a:bodyPr>
              <a:lstStyle/>
              <a:p>
                <a:pPr algn="ctr">
                  <a:defRPr lang="en-GB" sz="2700" b="0" i="0" dirty="0">
                    <a:solidFill>
                      <a:srgbClr val="C45C28"/>
                    </a:solidFill>
                    <a:latin typeface="Cambria Math"/>
                    <a:ea typeface="Cambria Math"/>
                    <a:cs typeface="Cambria Math"/>
                  </a:defRPr>
                </a:pPr>
                <a14:m>
                  <m:oMathPara xmlns:m="http://schemas.openxmlformats.org/officeDocument/2006/math">
                    <m:oMath>
                      <m:sSub>
                        <m:sSubPr>
                          <m:ctrlPr>
                            <a:rPr lang="en-GB" sz="2700" b="0" dirty="0">
                              <a:solidFill>
                                <a:srgbClr val="C45C28"/>
                              </a:solidFill>
                              <a:latin typeface="Cambria Math"/>
                              <a:ea typeface="Cambria Math"/>
                              <a:cs typeface="Cambria Math"/>
                            </a:rPr>
                          </m:ctrlPr>
                        </m:sSubPr>
                        <m:e>
                          <m:r>
                            <a:rPr lang="en-GB" sz="2700" b="0" dirty="0">
                              <a:solidFill>
                                <a:srgbClr val="C45C28"/>
                              </a:solidFill>
                              <a:latin typeface="Cambria Math"/>
                              <a:ea typeface="Cambria Math"/>
                              <a:cs typeface="Cambria Math"/>
                            </a:rPr>
                            <m:t>ℒ</m:t>
                          </m:r>
                        </m:e>
                        <m:sub>
                          <m:r>
                            <m:rPr>
                              <m:sty m:val="p"/>
                            </m:rPr>
                            <a:rPr lang="en-GB" sz="2700" b="0" dirty="0">
                              <a:solidFill>
                                <a:srgbClr val="C45C28"/>
                              </a:solidFill>
                              <a:latin typeface="Cambria Math"/>
                              <a:ea typeface="Cambria Math"/>
                              <a:cs typeface="Cambria Math"/>
                            </a:rPr>
                            <m:t>abs</m:t>
                          </m:r>
                        </m:sub>
                      </m:sSub>
                      <m:d>
                        <m:dPr>
                          <m:ctrlPr>
                            <a:rPr lang="en-GB" sz="2700" b="0" dirty="0">
                              <a:solidFill>
                                <a:srgbClr val="C45C28"/>
                              </a:solidFill>
                              <a:latin typeface="Cambria Math"/>
                              <a:ea typeface="Cambria Math"/>
                              <a:cs typeface="Cambria Math"/>
                            </a:rPr>
                          </m:ctrlPr>
                        </m:dPr>
                        <m:e>
                          <m:r>
                            <a:rPr lang="en-GB" sz="2700" b="0" dirty="0">
                              <a:solidFill>
                                <a:srgbClr val="C45C28"/>
                              </a:solidFill>
                              <a:latin typeface="Cambria Math"/>
                              <a:ea typeface="Cambria Math"/>
                              <a:cs typeface="Cambria Math"/>
                            </a:rPr>
                            <m:t>𝛉</m:t>
                          </m:r>
                        </m:e>
                      </m:d>
                      <m:r>
                        <a:rPr lang="en-GB" sz="2700" b="0" dirty="0">
                          <a:solidFill>
                            <a:srgbClr val="C45C28"/>
                          </a:solidFill>
                          <a:latin typeface="Cambria Math"/>
                          <a:ea typeface="Cambria Math"/>
                          <a:cs typeface="Cambria Math"/>
                        </a:rPr>
                        <m:t>=</m:t>
                      </m:r>
                      <m:nary>
                        <m:naryPr>
                          <m:chr m:val="∑"/>
                          <m:limLoc m:val="undOvr"/>
                          <m:ctrlPr>
                            <a:rPr lang="en-GB" sz="2700" dirty="0">
                              <a:solidFill>
                                <a:srgbClr val="C45C28"/>
                              </a:solidFill>
                              <a:latin typeface="Cambria Math"/>
                              <a:ea typeface="Cambria Math"/>
                              <a:cs typeface="Cambria Math"/>
                            </a:rPr>
                          </m:ctrlPr>
                        </m:naryPr>
                        <m:sub>
                          <m:r>
                            <a:rPr lang="en-GB" sz="2700" dirty="0">
                              <a:solidFill>
                                <a:srgbClr val="C45C28"/>
                              </a:solidFill>
                              <a:latin typeface="Cambria Math"/>
                              <a:ea typeface="Cambria Math"/>
                              <a:cs typeface="Cambria Math"/>
                            </a:rPr>
                            <m:t>𝑖</m:t>
                          </m:r>
                          <m:r>
                            <a:rPr lang="en-GB" sz="2700" dirty="0">
                              <a:solidFill>
                                <a:srgbClr val="C45C28"/>
                              </a:solidFill>
                              <a:latin typeface="Cambria Math"/>
                              <a:ea typeface="Cambria Math"/>
                              <a:cs typeface="Cambria Math"/>
                            </a:rPr>
                            <m:t>=1</m:t>
                          </m:r>
                        </m:sub>
                        <m:sup>
                          <m:r>
                            <a:rPr lang="en-GB" sz="2700" dirty="0">
                              <a:solidFill>
                                <a:srgbClr val="C45C28"/>
                              </a:solidFill>
                              <a:latin typeface="Cambria Math"/>
                              <a:ea typeface="Cambria Math"/>
                              <a:cs typeface="Cambria Math"/>
                            </a:rPr>
                            <m:t>𝑁</m:t>
                          </m:r>
                        </m:sup>
                        <m:e>
                          <m:sSub>
                            <m:sSubPr>
                              <m:ctrlPr>
                                <a:rPr lang="en-GB" sz="2800" dirty="0">
                                  <a:solidFill>
                                    <a:srgbClr val="C45C28"/>
                                  </a:solidFill>
                                  <a:latin typeface="Cambria Math"/>
                                  <a:ea typeface="Cambria Math"/>
                                  <a:cs typeface="Cambria Math"/>
                                </a:rPr>
                              </m:ctrlPr>
                            </m:sSubPr>
                            <m:e>
                              <m:r>
                                <m:rPr>
                                  <m:sty m:val="p"/>
                                </m:rPr>
                                <a:rPr lang="en-GB" sz="2800" dirty="0">
                                  <a:solidFill>
                                    <a:srgbClr val="C45C28"/>
                                  </a:solidFill>
                                  <a:latin typeface="Cambria Math"/>
                                  <a:ea typeface="Cambria Math"/>
                                  <a:cs typeface="Cambria Math"/>
                                </a:rPr>
                                <m:t>ℓ</m:t>
                              </m:r>
                            </m:e>
                            <m:sub>
                              <m:r>
                                <m:rPr>
                                  <m:sty m:val="p"/>
                                </m:rPr>
                                <a:rPr lang="en-GB" sz="2800" dirty="0">
                                  <a:solidFill>
                                    <a:srgbClr val="C45C28"/>
                                  </a:solidFill>
                                  <a:latin typeface="Cambria Math"/>
                                  <a:ea typeface="Cambria Math"/>
                                  <a:cs typeface="Cambria Math"/>
                                </a:rPr>
                                <m:t>abs</m:t>
                              </m:r>
                            </m:sub>
                          </m:sSub>
                          <m:d>
                            <m:dPr>
                              <m:ctrlPr>
                                <a:rPr lang="en-GB" sz="2800" i="1" dirty="0">
                                  <a:solidFill>
                                    <a:srgbClr val="C45C28"/>
                                  </a:solidFill>
                                  <a:latin typeface="Cambria Math" panose="02040503050406030204" pitchFamily="18" charset="0"/>
                                  <a:ea typeface="Cambria Math"/>
                                  <a:cs typeface="Cambria Math"/>
                                </a:rPr>
                              </m:ctrlPr>
                            </m:dPr>
                            <m:e>
                              <m:sSub>
                                <m:sSubPr>
                                  <m:ctrlPr>
                                    <a:rPr lang="en-GB" sz="2800" dirty="0">
                                      <a:solidFill>
                                        <a:srgbClr val="C45C28"/>
                                      </a:solidFill>
                                      <a:latin typeface="Cambria Math"/>
                                      <a:ea typeface="Cambria Math"/>
                                      <a:cs typeface="Cambria Math"/>
                                    </a:rPr>
                                  </m:ctrlPr>
                                </m:sSubPr>
                                <m:e>
                                  <m:r>
                                    <a:rPr lang="en-GB" sz="2800" dirty="0">
                                      <a:solidFill>
                                        <a:srgbClr val="C45C28"/>
                                      </a:solidFill>
                                      <a:latin typeface="Cambria Math"/>
                                      <a:ea typeface="Cambria Math"/>
                                      <a:cs typeface="Cambria Math"/>
                                    </a:rPr>
                                    <m:t>𝑓</m:t>
                                  </m:r>
                                </m:e>
                                <m:sub>
                                  <m:r>
                                    <a:rPr lang="en-GB" sz="2800" dirty="0">
                                      <a:solidFill>
                                        <a:srgbClr val="C45C28"/>
                                      </a:solidFill>
                                      <a:latin typeface="Cambria Math"/>
                                      <a:ea typeface="Cambria Math"/>
                                      <a:cs typeface="Cambria Math"/>
                                    </a:rPr>
                                    <m:t>𝛉</m:t>
                                  </m:r>
                                </m:sub>
                              </m:sSub>
                              <m:d>
                                <m:dPr>
                                  <m:ctrlPr>
                                    <a:rPr lang="en-GB" sz="2800" i="1" dirty="0">
                                      <a:solidFill>
                                        <a:srgbClr val="C45C28"/>
                                      </a:solidFill>
                                      <a:latin typeface="Cambria Math" panose="02040503050406030204" pitchFamily="18" charset="0"/>
                                      <a:ea typeface="Cambria Math"/>
                                      <a:cs typeface="Cambria Math"/>
                                    </a:rPr>
                                  </m:ctrlPr>
                                </m:dPr>
                                <m:e>
                                  <m:sSub>
                                    <m:sSubPr>
                                      <m:ctrlPr>
                                        <a:rPr lang="en-GB" sz="2800" dirty="0">
                                          <a:solidFill>
                                            <a:srgbClr val="C45C28"/>
                                          </a:solidFill>
                                          <a:latin typeface="Cambria Math"/>
                                          <a:ea typeface="Cambria Math"/>
                                          <a:cs typeface="Cambria Math"/>
                                        </a:rPr>
                                      </m:ctrlPr>
                                    </m:sSubPr>
                                    <m:e>
                                      <m:r>
                                        <a:rPr lang="en-GB" sz="2800" dirty="0">
                                          <a:solidFill>
                                            <a:srgbClr val="C45C28"/>
                                          </a:solidFill>
                                          <a:latin typeface="Cambria Math"/>
                                          <a:ea typeface="Cambria Math"/>
                                          <a:cs typeface="Cambria Math"/>
                                        </a:rPr>
                                        <m:t>𝑥</m:t>
                                      </m:r>
                                    </m:e>
                                    <m:sub>
                                      <m:r>
                                        <a:rPr lang="en-GB" sz="2800" dirty="0">
                                          <a:solidFill>
                                            <a:srgbClr val="C45C28"/>
                                          </a:solidFill>
                                          <a:latin typeface="Cambria Math"/>
                                          <a:ea typeface="Cambria Math"/>
                                          <a:cs typeface="Cambria Math"/>
                                        </a:rPr>
                                        <m:t>𝑖</m:t>
                                      </m:r>
                                    </m:sub>
                                  </m:sSub>
                                </m:e>
                              </m:d>
                              <m:r>
                                <a:rPr lang="en-GB" sz="2800" dirty="0">
                                  <a:solidFill>
                                    <a:srgbClr val="C45C28"/>
                                  </a:solidFill>
                                  <a:latin typeface="Cambria Math"/>
                                  <a:ea typeface="Cambria Math"/>
                                  <a:cs typeface="Cambria Math"/>
                                </a:rPr>
                                <m:t>,</m:t>
                              </m:r>
                              <m:sSub>
                                <m:sSubPr>
                                  <m:ctrlPr>
                                    <a:rPr lang="en-GB" sz="2800" dirty="0">
                                      <a:solidFill>
                                        <a:srgbClr val="C45C28"/>
                                      </a:solidFill>
                                      <a:latin typeface="Cambria Math"/>
                                      <a:ea typeface="Cambria Math"/>
                                      <a:cs typeface="Cambria Math"/>
                                    </a:rPr>
                                  </m:ctrlPr>
                                </m:sSubPr>
                                <m:e>
                                  <m:r>
                                    <a:rPr lang="en-GB" sz="2800" dirty="0">
                                      <a:solidFill>
                                        <a:srgbClr val="C45C28"/>
                                      </a:solidFill>
                                      <a:latin typeface="Cambria Math"/>
                                      <a:ea typeface="Cambria Math"/>
                                      <a:cs typeface="Cambria Math"/>
                                    </a:rPr>
                                    <m:t>𝑦</m:t>
                                  </m:r>
                                </m:e>
                                <m:sub>
                                  <m:r>
                                    <a:rPr lang="en-GB" sz="2800" dirty="0">
                                      <a:solidFill>
                                        <a:srgbClr val="C45C28"/>
                                      </a:solidFill>
                                      <a:latin typeface="Cambria Math"/>
                                      <a:ea typeface="Cambria Math"/>
                                      <a:cs typeface="Cambria Math"/>
                                    </a:rPr>
                                    <m:t>𝑖</m:t>
                                  </m:r>
                                </m:sub>
                              </m:sSub>
                            </m:e>
                          </m:d>
                        </m:e>
                      </m:nary>
                      <m:r>
                        <a:rPr lang="it-IT" sz="2700" b="0" i="1" dirty="0" smtClean="0">
                          <a:solidFill>
                            <a:srgbClr val="C45C28"/>
                          </a:solidFill>
                          <a:latin typeface="Cambria Math" panose="02040503050406030204" pitchFamily="18" charset="0"/>
                          <a:ea typeface="Cambria Math"/>
                          <a:cs typeface="Cambria Math"/>
                        </a:rPr>
                        <m:t>=</m:t>
                      </m:r>
                      <m:nary>
                        <m:naryPr>
                          <m:chr m:val="∑"/>
                          <m:limLoc m:val="undOvr"/>
                          <m:ctrlPr>
                            <a:rPr lang="en-GB" sz="2700" b="0" dirty="0">
                              <a:solidFill>
                                <a:srgbClr val="C45C28"/>
                              </a:solidFill>
                              <a:latin typeface="Cambria Math"/>
                              <a:ea typeface="Cambria Math"/>
                              <a:cs typeface="Cambria Math"/>
                            </a:rPr>
                          </m:ctrlPr>
                        </m:naryPr>
                        <m:sub>
                          <m:r>
                            <a:rPr lang="en-GB" sz="2700" b="0" dirty="0">
                              <a:solidFill>
                                <a:srgbClr val="C45C28"/>
                              </a:solidFill>
                              <a:latin typeface="Cambria Math"/>
                              <a:ea typeface="Cambria Math"/>
                              <a:cs typeface="Cambria Math"/>
                            </a:rPr>
                            <m:t>𝑖</m:t>
                          </m:r>
                          <m:r>
                            <a:rPr lang="en-GB" sz="2700" b="0" dirty="0">
                              <a:solidFill>
                                <a:srgbClr val="C45C28"/>
                              </a:solidFill>
                              <a:latin typeface="Cambria Math"/>
                              <a:ea typeface="Cambria Math"/>
                              <a:cs typeface="Cambria Math"/>
                            </a:rPr>
                            <m:t>=1</m:t>
                          </m:r>
                        </m:sub>
                        <m:sup>
                          <m:r>
                            <a:rPr lang="en-GB" sz="2700" b="0" dirty="0">
                              <a:solidFill>
                                <a:srgbClr val="C45C28"/>
                              </a:solidFill>
                              <a:latin typeface="Cambria Math"/>
                              <a:ea typeface="Cambria Math"/>
                              <a:cs typeface="Cambria Math"/>
                            </a:rPr>
                            <m:t>𝑁</m:t>
                          </m:r>
                        </m:sup>
                        <m:e>
                          <m:d>
                            <m:dPr>
                              <m:begChr m:val="|"/>
                              <m:endChr m:val="|"/>
                              <m:ctrlPr>
                                <a:rPr lang="en-GB" sz="2700" b="0" i="1" dirty="0">
                                  <a:solidFill>
                                    <a:srgbClr val="C45C28"/>
                                  </a:solidFill>
                                  <a:latin typeface="Cambria Math" panose="02040503050406030204" pitchFamily="18" charset="0"/>
                                  <a:ea typeface="Cambria Math"/>
                                  <a:cs typeface="Cambria Math"/>
                                </a:rPr>
                              </m:ctrlPr>
                            </m:dPr>
                            <m:e>
                              <m:sSub>
                                <m:sSubPr>
                                  <m:ctrlPr>
                                    <a:rPr lang="en-GB" sz="2700" b="0" dirty="0">
                                      <a:solidFill>
                                        <a:srgbClr val="C45C28"/>
                                      </a:solidFill>
                                      <a:latin typeface="Cambria Math"/>
                                      <a:ea typeface="Cambria Math"/>
                                      <a:cs typeface="Cambria Math"/>
                                    </a:rPr>
                                  </m:ctrlPr>
                                </m:sSubPr>
                                <m:e>
                                  <m:r>
                                    <a:rPr lang="en-GB" sz="2700" b="0" dirty="0">
                                      <a:solidFill>
                                        <a:srgbClr val="C45C28"/>
                                      </a:solidFill>
                                      <a:latin typeface="Cambria Math"/>
                                      <a:ea typeface="Cambria Math"/>
                                      <a:cs typeface="Cambria Math"/>
                                    </a:rPr>
                                    <m:t>𝑓</m:t>
                                  </m:r>
                                </m:e>
                                <m:sub>
                                  <m:r>
                                    <a:rPr lang="en-GB" sz="2700" b="0" dirty="0">
                                      <a:solidFill>
                                        <a:srgbClr val="C45C28"/>
                                      </a:solidFill>
                                      <a:latin typeface="Cambria Math"/>
                                      <a:ea typeface="Cambria Math"/>
                                      <a:cs typeface="Cambria Math"/>
                                    </a:rPr>
                                    <m:t>𝛉</m:t>
                                  </m:r>
                                </m:sub>
                              </m:sSub>
                              <m:d>
                                <m:dPr>
                                  <m:ctrlPr>
                                    <a:rPr lang="en-GB" sz="2700" b="0" i="1" dirty="0">
                                      <a:solidFill>
                                        <a:srgbClr val="C45C28"/>
                                      </a:solidFill>
                                      <a:latin typeface="Cambria Math" panose="02040503050406030204" pitchFamily="18" charset="0"/>
                                      <a:ea typeface="Cambria Math"/>
                                      <a:cs typeface="Cambria Math"/>
                                    </a:rPr>
                                  </m:ctrlPr>
                                </m:dPr>
                                <m:e>
                                  <m:sSub>
                                    <m:sSubPr>
                                      <m:ctrlPr>
                                        <a:rPr lang="en-GB" sz="2700" b="0" dirty="0">
                                          <a:solidFill>
                                            <a:srgbClr val="C45C28"/>
                                          </a:solidFill>
                                          <a:latin typeface="Cambria Math"/>
                                          <a:ea typeface="Cambria Math"/>
                                          <a:cs typeface="Cambria Math"/>
                                        </a:rPr>
                                      </m:ctrlPr>
                                    </m:sSubPr>
                                    <m:e>
                                      <m:r>
                                        <a:rPr lang="en-GB" sz="2700" b="0" dirty="0">
                                          <a:solidFill>
                                            <a:srgbClr val="C45C28"/>
                                          </a:solidFill>
                                          <a:latin typeface="Cambria Math"/>
                                          <a:ea typeface="Cambria Math"/>
                                          <a:cs typeface="Cambria Math"/>
                                        </a:rPr>
                                        <m:t>𝑥</m:t>
                                      </m:r>
                                    </m:e>
                                    <m:sub>
                                      <m:r>
                                        <a:rPr lang="en-GB" sz="2700" b="0" dirty="0">
                                          <a:solidFill>
                                            <a:srgbClr val="C45C28"/>
                                          </a:solidFill>
                                          <a:latin typeface="Cambria Math"/>
                                          <a:ea typeface="Cambria Math"/>
                                          <a:cs typeface="Cambria Math"/>
                                        </a:rPr>
                                        <m:t>𝑖</m:t>
                                      </m:r>
                                    </m:sub>
                                  </m:sSub>
                                </m:e>
                              </m:d>
                              <m:r>
                                <a:rPr lang="en-GB" sz="2700" b="0" dirty="0">
                                  <a:solidFill>
                                    <a:srgbClr val="C45C28"/>
                                  </a:solidFill>
                                  <a:latin typeface="Cambria Math"/>
                                  <a:ea typeface="Cambria Math"/>
                                  <a:cs typeface="Cambria Math"/>
                                </a:rPr>
                                <m:t>−</m:t>
                              </m:r>
                              <m:sSub>
                                <m:sSubPr>
                                  <m:ctrlPr>
                                    <a:rPr lang="en-GB" sz="2700" b="0" dirty="0">
                                      <a:solidFill>
                                        <a:srgbClr val="C45C28"/>
                                      </a:solidFill>
                                      <a:latin typeface="Cambria Math"/>
                                      <a:ea typeface="Cambria Math"/>
                                      <a:cs typeface="Cambria Math"/>
                                    </a:rPr>
                                  </m:ctrlPr>
                                </m:sSubPr>
                                <m:e>
                                  <m:r>
                                    <a:rPr lang="en-GB" sz="2700" b="0" dirty="0">
                                      <a:solidFill>
                                        <a:srgbClr val="C45C28"/>
                                      </a:solidFill>
                                      <a:latin typeface="Cambria Math"/>
                                      <a:ea typeface="Cambria Math"/>
                                      <a:cs typeface="Cambria Math"/>
                                    </a:rPr>
                                    <m:t>𝑦</m:t>
                                  </m:r>
                                </m:e>
                                <m:sub>
                                  <m:r>
                                    <a:rPr lang="en-GB" sz="2700" b="0" dirty="0">
                                      <a:solidFill>
                                        <a:srgbClr val="C45C28"/>
                                      </a:solidFill>
                                      <a:latin typeface="Cambria Math"/>
                                      <a:ea typeface="Cambria Math"/>
                                      <a:cs typeface="Cambria Math"/>
                                    </a:rPr>
                                    <m:t>𝑖</m:t>
                                  </m:r>
                                </m:sub>
                              </m:sSub>
                            </m:e>
                          </m:d>
                        </m:e>
                      </m:nary>
                    </m:oMath>
                  </m:oMathPara>
                </a14:m>
                <a:endParaRPr lang="en-GB" sz="2700" b="0" i="0" dirty="0">
                  <a:solidFill>
                    <a:srgbClr val="C45C28"/>
                  </a:solidFill>
                  <a:latin typeface="Cambria Math"/>
                  <a:ea typeface="Cambria Math"/>
                  <a:cs typeface="Cambria Math"/>
                </a:endParaRPr>
              </a:p>
            </p:txBody>
          </p:sp>
        </mc:Choice>
        <mc:Fallback xmlns="">
          <p:sp>
            <p:nvSpPr>
              <p:cNvPr id="4" name="eq_27">
                <a:extLst>
                  <a:ext uri="{FF2B5EF4-FFF2-40B4-BE49-F238E27FC236}">
                    <a16:creationId xmlns:a16="http://schemas.microsoft.com/office/drawing/2014/main" id="{8FDB07FB-3BA1-435C-8D49-02E7C28319F1}"/>
                  </a:ext>
                </a:extLst>
              </p:cNvPr>
              <p:cNvSpPr txBox="1">
                <a:spLocks noGrp="1" noRot="1" noChangeAspect="1" noMove="1" noResize="1" noEditPoints="1" noAdjustHandles="1" noChangeArrowheads="1" noChangeShapeType="1" noTextEdit="1"/>
              </p:cNvSpPr>
              <p:nvPr/>
            </p:nvSpPr>
            <p:spPr>
              <a:xfrm>
                <a:off x="609600" y="2533650"/>
                <a:ext cx="10953750" cy="1095375"/>
              </a:xfrm>
              <a:prstGeom prst="rect">
                <a:avLst/>
              </a:prstGeom>
              <a:blipFill>
                <a:blip r:embed="rId4"/>
                <a:stretch>
                  <a:fillRect b="-558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28">
                <a:extLst>
                  <a:ext uri="{FF2B5EF4-FFF2-40B4-BE49-F238E27FC236}">
                    <a16:creationId xmlns:a16="http://schemas.microsoft.com/office/drawing/2014/main" id="{48AA8324-291B-4123-A4AF-DA3298C8CECD}"/>
                  </a:ext>
                </a:extLst>
              </p:cNvPr>
              <p:cNvSpPr txBox="1">
                <a:spLocks noGrp="1"/>
              </p:cNvSpPr>
              <p:nvPr/>
            </p:nvSpPr>
            <p:spPr>
              <a:xfrm>
                <a:off x="609600" y="4010025"/>
                <a:ext cx="10953750" cy="1095375"/>
              </a:xfrm>
              <a:prstGeom prst="rect">
                <a:avLst/>
              </a:prstGeom>
              <a:noFill/>
              <a:ln w="0">
                <a:noFill/>
              </a:ln>
            </p:spPr>
            <p:txBody>
              <a:bodyPr vertOverflow="overflow" wrap="none" lIns="0" tIns="0" rIns="0" bIns="0" anchor="t">
                <a:noAutofit/>
              </a:bodyPr>
              <a:lstStyle/>
              <a:p>
                <a:pPr algn="ctr">
                  <a:defRPr lang="en-GB" sz="2700" b="0" i="0" dirty="0">
                    <a:solidFill>
                      <a:srgbClr val="087F83"/>
                    </a:solidFill>
                    <a:latin typeface="Cambria Math"/>
                    <a:ea typeface="Cambria Math"/>
                    <a:cs typeface="Cambria Math"/>
                  </a:defRPr>
                </a:pPr>
                <a14:m>
                  <m:oMathPara xmlns:m="http://schemas.openxmlformats.org/officeDocument/2006/math">
                    <m:oMath>
                      <m:r>
                        <a:rPr lang="it-IT" sz="2700" b="0" i="1" dirty="0" smtClean="0">
                          <a:solidFill>
                            <a:srgbClr val="087F83"/>
                          </a:solidFill>
                          <a:latin typeface="Cambria Math" panose="02040503050406030204" pitchFamily="18" charset="0"/>
                          <a:ea typeface="Cambria Math"/>
                          <a:cs typeface="Cambria Math"/>
                        </a:rPr>
                        <m:t>   </m:t>
                      </m:r>
                      <m:sSub>
                        <m:sSubPr>
                          <m:ctrlPr>
                            <a:rPr lang="en-GB" sz="2700" b="0" dirty="0">
                              <a:solidFill>
                                <a:srgbClr val="087F83"/>
                              </a:solidFill>
                              <a:latin typeface="Cambria Math"/>
                              <a:ea typeface="Cambria Math"/>
                              <a:cs typeface="Cambria Math"/>
                            </a:rPr>
                          </m:ctrlPr>
                        </m:sSubPr>
                        <m:e>
                          <m:r>
                            <a:rPr lang="en-GB" sz="2700" b="0" dirty="0">
                              <a:solidFill>
                                <a:srgbClr val="087F83"/>
                              </a:solidFill>
                              <a:latin typeface="Cambria Math"/>
                              <a:ea typeface="Cambria Math"/>
                              <a:cs typeface="Cambria Math"/>
                            </a:rPr>
                            <m:t>ℒ</m:t>
                          </m:r>
                        </m:e>
                        <m:sub>
                          <m:r>
                            <m:rPr>
                              <m:sty m:val="p"/>
                            </m:rPr>
                            <a:rPr lang="en-GB" sz="2700" b="0" dirty="0">
                              <a:solidFill>
                                <a:srgbClr val="087F83"/>
                              </a:solidFill>
                              <a:latin typeface="Cambria Math"/>
                              <a:ea typeface="Cambria Math"/>
                              <a:cs typeface="Cambria Math"/>
                            </a:rPr>
                            <m:t>sq</m:t>
                          </m:r>
                        </m:sub>
                      </m:sSub>
                      <m:d>
                        <m:dPr>
                          <m:ctrlPr>
                            <a:rPr lang="en-GB" sz="2700" b="0" dirty="0">
                              <a:solidFill>
                                <a:srgbClr val="087F83"/>
                              </a:solidFill>
                              <a:latin typeface="Cambria Math"/>
                              <a:ea typeface="Cambria Math"/>
                              <a:cs typeface="Cambria Math"/>
                            </a:rPr>
                          </m:ctrlPr>
                        </m:dPr>
                        <m:e>
                          <m:r>
                            <a:rPr lang="en-GB" sz="2700" b="0" dirty="0">
                              <a:solidFill>
                                <a:srgbClr val="087F83"/>
                              </a:solidFill>
                              <a:latin typeface="Cambria Math"/>
                              <a:ea typeface="Cambria Math"/>
                              <a:cs typeface="Cambria Math"/>
                            </a:rPr>
                            <m:t>𝛉</m:t>
                          </m:r>
                        </m:e>
                      </m:d>
                      <m:r>
                        <a:rPr lang="en-GB" sz="2700" b="0" dirty="0">
                          <a:solidFill>
                            <a:srgbClr val="087F83"/>
                          </a:solidFill>
                          <a:latin typeface="Cambria Math"/>
                          <a:ea typeface="Cambria Math"/>
                          <a:cs typeface="Cambria Math"/>
                        </a:rPr>
                        <m:t>=</m:t>
                      </m:r>
                      <m:nary>
                        <m:naryPr>
                          <m:chr m:val="∑"/>
                          <m:ctrlPr>
                            <a:rPr lang="it-IT" sz="2700" b="0" i="1" dirty="0" smtClean="0">
                              <a:solidFill>
                                <a:srgbClr val="087F83"/>
                              </a:solidFill>
                              <a:latin typeface="Cambria Math" panose="02040503050406030204" pitchFamily="18" charset="0"/>
                              <a:ea typeface="Cambria Math"/>
                              <a:cs typeface="Cambria Math"/>
                            </a:rPr>
                          </m:ctrlPr>
                        </m:naryPr>
                        <m:sub>
                          <m:r>
                            <a:rPr lang="it-IT" sz="2700" b="0" i="1" dirty="0" smtClean="0">
                              <a:solidFill>
                                <a:srgbClr val="087F83"/>
                              </a:solidFill>
                              <a:latin typeface="Cambria Math" panose="02040503050406030204" pitchFamily="18" charset="0"/>
                              <a:ea typeface="Cambria Math"/>
                              <a:cs typeface="Cambria Math"/>
                            </a:rPr>
                            <m:t>𝑖</m:t>
                          </m:r>
                          <m:r>
                            <a:rPr lang="it-IT" sz="2700" b="0" i="1" dirty="0" smtClean="0">
                              <a:solidFill>
                                <a:srgbClr val="087F83"/>
                              </a:solidFill>
                              <a:latin typeface="Cambria Math" panose="02040503050406030204" pitchFamily="18" charset="0"/>
                              <a:ea typeface="Cambria Math"/>
                              <a:cs typeface="Cambria Math"/>
                            </a:rPr>
                            <m:t>=1</m:t>
                          </m:r>
                        </m:sub>
                        <m:sup>
                          <m:r>
                            <a:rPr lang="it-IT" sz="2700" b="0" i="1" dirty="0" smtClean="0">
                              <a:solidFill>
                                <a:srgbClr val="087F83"/>
                              </a:solidFill>
                              <a:latin typeface="Cambria Math" panose="02040503050406030204" pitchFamily="18" charset="0"/>
                              <a:ea typeface="Cambria Math"/>
                              <a:cs typeface="Cambria Math"/>
                            </a:rPr>
                            <m:t>𝑁</m:t>
                          </m:r>
                        </m:sup>
                        <m:e>
                          <m:sSub>
                            <m:sSubPr>
                              <m:ctrlPr>
                                <a:rPr lang="en-GB" sz="2800" dirty="0">
                                  <a:solidFill>
                                    <a:srgbClr val="087F83"/>
                                  </a:solidFill>
                                  <a:latin typeface="Cambria Math"/>
                                  <a:ea typeface="Cambria Math"/>
                                  <a:cs typeface="Cambria Math"/>
                                </a:rPr>
                              </m:ctrlPr>
                            </m:sSubPr>
                            <m:e>
                              <m:r>
                                <m:rPr>
                                  <m:sty m:val="p"/>
                                </m:rPr>
                                <a:rPr lang="en-GB" sz="2800" dirty="0">
                                  <a:solidFill>
                                    <a:srgbClr val="087F83"/>
                                  </a:solidFill>
                                  <a:latin typeface="Cambria Math"/>
                                  <a:ea typeface="Cambria Math"/>
                                  <a:cs typeface="Cambria Math"/>
                                </a:rPr>
                                <m:t>ℓ</m:t>
                              </m:r>
                            </m:e>
                            <m:sub>
                              <m:r>
                                <m:rPr>
                                  <m:sty m:val="p"/>
                                </m:rPr>
                                <a:rPr lang="en-GB" sz="2800" dirty="0">
                                  <a:solidFill>
                                    <a:srgbClr val="087F83"/>
                                  </a:solidFill>
                                  <a:latin typeface="Cambria Math"/>
                                  <a:ea typeface="Cambria Math"/>
                                  <a:cs typeface="Cambria Math"/>
                                </a:rPr>
                                <m:t>sq</m:t>
                              </m:r>
                            </m:sub>
                          </m:sSub>
                          <m:d>
                            <m:dPr>
                              <m:ctrlPr>
                                <a:rPr lang="en-GB" sz="2800" i="1" dirty="0">
                                  <a:solidFill>
                                    <a:srgbClr val="087F83"/>
                                  </a:solidFill>
                                  <a:latin typeface="Cambria Math" panose="02040503050406030204" pitchFamily="18" charset="0"/>
                                  <a:ea typeface="Cambria Math"/>
                                  <a:cs typeface="Cambria Math"/>
                                </a:rPr>
                              </m:ctrlPr>
                            </m:dPr>
                            <m:e>
                              <m:sSub>
                                <m:sSubPr>
                                  <m:ctrlPr>
                                    <a:rPr lang="en-GB" sz="2800" dirty="0">
                                      <a:solidFill>
                                        <a:srgbClr val="087F83"/>
                                      </a:solidFill>
                                      <a:latin typeface="Cambria Math"/>
                                      <a:ea typeface="Cambria Math"/>
                                      <a:cs typeface="Cambria Math"/>
                                    </a:rPr>
                                  </m:ctrlPr>
                                </m:sSubPr>
                                <m:e>
                                  <m:r>
                                    <a:rPr lang="en-GB" sz="2800" dirty="0">
                                      <a:solidFill>
                                        <a:srgbClr val="087F83"/>
                                      </a:solidFill>
                                      <a:latin typeface="Cambria Math"/>
                                      <a:ea typeface="Cambria Math"/>
                                      <a:cs typeface="Cambria Math"/>
                                    </a:rPr>
                                    <m:t>𝑓</m:t>
                                  </m:r>
                                </m:e>
                                <m:sub>
                                  <m:r>
                                    <a:rPr lang="en-GB" sz="2800" dirty="0">
                                      <a:solidFill>
                                        <a:srgbClr val="087F83"/>
                                      </a:solidFill>
                                      <a:latin typeface="Cambria Math"/>
                                      <a:ea typeface="Cambria Math"/>
                                      <a:cs typeface="Cambria Math"/>
                                    </a:rPr>
                                    <m:t>𝛉</m:t>
                                  </m:r>
                                </m:sub>
                              </m:sSub>
                              <m:d>
                                <m:dPr>
                                  <m:ctrlPr>
                                    <a:rPr lang="en-GB" sz="2800" i="1" dirty="0">
                                      <a:solidFill>
                                        <a:srgbClr val="087F83"/>
                                      </a:solidFill>
                                      <a:latin typeface="Cambria Math" panose="02040503050406030204" pitchFamily="18" charset="0"/>
                                      <a:ea typeface="Cambria Math"/>
                                      <a:cs typeface="Cambria Math"/>
                                    </a:rPr>
                                  </m:ctrlPr>
                                </m:dPr>
                                <m:e>
                                  <m:sSub>
                                    <m:sSubPr>
                                      <m:ctrlPr>
                                        <a:rPr lang="en-GB" sz="2800" dirty="0">
                                          <a:solidFill>
                                            <a:srgbClr val="087F83"/>
                                          </a:solidFill>
                                          <a:latin typeface="Cambria Math"/>
                                          <a:ea typeface="Cambria Math"/>
                                          <a:cs typeface="Cambria Math"/>
                                        </a:rPr>
                                      </m:ctrlPr>
                                    </m:sSubPr>
                                    <m:e>
                                      <m:r>
                                        <a:rPr lang="en-GB" sz="2800" dirty="0">
                                          <a:solidFill>
                                            <a:srgbClr val="087F83"/>
                                          </a:solidFill>
                                          <a:latin typeface="Cambria Math"/>
                                          <a:ea typeface="Cambria Math"/>
                                          <a:cs typeface="Cambria Math"/>
                                        </a:rPr>
                                        <m:t>𝑥</m:t>
                                      </m:r>
                                    </m:e>
                                    <m:sub>
                                      <m:r>
                                        <a:rPr lang="en-GB" sz="2800" dirty="0">
                                          <a:solidFill>
                                            <a:srgbClr val="087F83"/>
                                          </a:solidFill>
                                          <a:latin typeface="Cambria Math"/>
                                          <a:ea typeface="Cambria Math"/>
                                          <a:cs typeface="Cambria Math"/>
                                        </a:rPr>
                                        <m:t>𝑖</m:t>
                                      </m:r>
                                    </m:sub>
                                  </m:sSub>
                                </m:e>
                              </m:d>
                              <m:r>
                                <a:rPr lang="en-GB" sz="2800" dirty="0">
                                  <a:solidFill>
                                    <a:srgbClr val="087F83"/>
                                  </a:solidFill>
                                  <a:latin typeface="Cambria Math"/>
                                  <a:ea typeface="Cambria Math"/>
                                  <a:cs typeface="Cambria Math"/>
                                </a:rPr>
                                <m:t>,</m:t>
                              </m:r>
                              <m:sSub>
                                <m:sSubPr>
                                  <m:ctrlPr>
                                    <a:rPr lang="en-GB" sz="2800" dirty="0">
                                      <a:solidFill>
                                        <a:srgbClr val="087F83"/>
                                      </a:solidFill>
                                      <a:latin typeface="Cambria Math"/>
                                      <a:ea typeface="Cambria Math"/>
                                      <a:cs typeface="Cambria Math"/>
                                    </a:rPr>
                                  </m:ctrlPr>
                                </m:sSubPr>
                                <m:e>
                                  <m:r>
                                    <a:rPr lang="en-GB" sz="2800" dirty="0">
                                      <a:solidFill>
                                        <a:srgbClr val="087F83"/>
                                      </a:solidFill>
                                      <a:latin typeface="Cambria Math"/>
                                      <a:ea typeface="Cambria Math"/>
                                      <a:cs typeface="Cambria Math"/>
                                    </a:rPr>
                                    <m:t>𝑦</m:t>
                                  </m:r>
                                </m:e>
                                <m:sub>
                                  <m:r>
                                    <a:rPr lang="en-GB" sz="2800" dirty="0">
                                      <a:solidFill>
                                        <a:srgbClr val="087F83"/>
                                      </a:solidFill>
                                      <a:latin typeface="Cambria Math"/>
                                      <a:ea typeface="Cambria Math"/>
                                      <a:cs typeface="Cambria Math"/>
                                    </a:rPr>
                                    <m:t>𝑖</m:t>
                                  </m:r>
                                </m:sub>
                              </m:sSub>
                            </m:e>
                          </m:d>
                        </m:e>
                      </m:nary>
                      <m:r>
                        <a:rPr lang="it-IT" sz="2700" b="0" i="1" dirty="0" smtClean="0">
                          <a:solidFill>
                            <a:srgbClr val="087F83"/>
                          </a:solidFill>
                          <a:latin typeface="Cambria Math" panose="02040503050406030204" pitchFamily="18" charset="0"/>
                          <a:ea typeface="Cambria Math"/>
                          <a:cs typeface="Cambria Math"/>
                        </a:rPr>
                        <m:t>=</m:t>
                      </m:r>
                      <m:nary>
                        <m:naryPr>
                          <m:chr m:val="∑"/>
                          <m:limLoc m:val="undOvr"/>
                          <m:ctrlPr>
                            <a:rPr lang="en-GB" sz="2700" b="0" dirty="0">
                              <a:solidFill>
                                <a:srgbClr val="087F83"/>
                              </a:solidFill>
                              <a:latin typeface="Cambria Math"/>
                              <a:ea typeface="Cambria Math"/>
                              <a:cs typeface="Cambria Math"/>
                            </a:rPr>
                          </m:ctrlPr>
                        </m:naryPr>
                        <m:sub>
                          <m:r>
                            <a:rPr lang="en-GB" sz="2700" b="0" dirty="0">
                              <a:solidFill>
                                <a:srgbClr val="087F83"/>
                              </a:solidFill>
                              <a:latin typeface="Cambria Math"/>
                              <a:ea typeface="Cambria Math"/>
                              <a:cs typeface="Cambria Math"/>
                            </a:rPr>
                            <m:t>𝑖</m:t>
                          </m:r>
                          <m:r>
                            <a:rPr lang="en-GB" sz="2700" b="0" dirty="0">
                              <a:solidFill>
                                <a:srgbClr val="087F83"/>
                              </a:solidFill>
                              <a:latin typeface="Cambria Math"/>
                              <a:ea typeface="Cambria Math"/>
                              <a:cs typeface="Cambria Math"/>
                            </a:rPr>
                            <m:t>=1</m:t>
                          </m:r>
                        </m:sub>
                        <m:sup>
                          <m:r>
                            <a:rPr lang="en-GB" sz="2700" b="0" dirty="0">
                              <a:solidFill>
                                <a:srgbClr val="087F83"/>
                              </a:solidFill>
                              <a:latin typeface="Cambria Math"/>
                              <a:ea typeface="Cambria Math"/>
                              <a:cs typeface="Cambria Math"/>
                            </a:rPr>
                            <m:t>𝑁</m:t>
                          </m:r>
                        </m:sup>
                        <m:e>
                          <m:sSup>
                            <m:sSupPr>
                              <m:ctrlPr>
                                <a:rPr lang="en-GB" sz="2700" b="0" i="1" dirty="0">
                                  <a:solidFill>
                                    <a:srgbClr val="087F83"/>
                                  </a:solidFill>
                                  <a:latin typeface="Cambria Math" panose="02040503050406030204" pitchFamily="18" charset="0"/>
                                  <a:ea typeface="Cambria Math"/>
                                  <a:cs typeface="Cambria Math"/>
                                </a:rPr>
                              </m:ctrlPr>
                            </m:sSupPr>
                            <m:e>
                              <m:d>
                                <m:dPr>
                                  <m:ctrlPr>
                                    <a:rPr lang="en-GB" sz="2700" b="0" i="1" dirty="0">
                                      <a:solidFill>
                                        <a:srgbClr val="087F83"/>
                                      </a:solidFill>
                                      <a:latin typeface="Cambria Math" panose="02040503050406030204" pitchFamily="18" charset="0"/>
                                      <a:ea typeface="Cambria Math"/>
                                      <a:cs typeface="Cambria Math"/>
                                    </a:rPr>
                                  </m:ctrlPr>
                                </m:dPr>
                                <m:e>
                                  <m:sSub>
                                    <m:sSubPr>
                                      <m:ctrlPr>
                                        <a:rPr lang="en-GB" sz="2700" b="0" dirty="0">
                                          <a:solidFill>
                                            <a:srgbClr val="087F83"/>
                                          </a:solidFill>
                                          <a:latin typeface="Cambria Math"/>
                                          <a:ea typeface="Cambria Math"/>
                                          <a:cs typeface="Cambria Math"/>
                                        </a:rPr>
                                      </m:ctrlPr>
                                    </m:sSubPr>
                                    <m:e>
                                      <m:r>
                                        <a:rPr lang="en-GB" sz="2700" b="0" dirty="0">
                                          <a:solidFill>
                                            <a:srgbClr val="087F83"/>
                                          </a:solidFill>
                                          <a:latin typeface="Cambria Math"/>
                                          <a:ea typeface="Cambria Math"/>
                                          <a:cs typeface="Cambria Math"/>
                                        </a:rPr>
                                        <m:t>𝑓</m:t>
                                      </m:r>
                                    </m:e>
                                    <m:sub>
                                      <m:r>
                                        <a:rPr lang="en-GB" sz="2700" b="0" dirty="0">
                                          <a:solidFill>
                                            <a:srgbClr val="087F83"/>
                                          </a:solidFill>
                                          <a:latin typeface="Cambria Math"/>
                                          <a:ea typeface="Cambria Math"/>
                                          <a:cs typeface="Cambria Math"/>
                                        </a:rPr>
                                        <m:t>𝛉</m:t>
                                      </m:r>
                                    </m:sub>
                                  </m:sSub>
                                  <m:d>
                                    <m:dPr>
                                      <m:ctrlPr>
                                        <a:rPr lang="en-GB" sz="2700" b="0" i="1" dirty="0">
                                          <a:solidFill>
                                            <a:srgbClr val="087F83"/>
                                          </a:solidFill>
                                          <a:latin typeface="Cambria Math" panose="02040503050406030204" pitchFamily="18" charset="0"/>
                                          <a:ea typeface="Cambria Math"/>
                                          <a:cs typeface="Cambria Math"/>
                                        </a:rPr>
                                      </m:ctrlPr>
                                    </m:dPr>
                                    <m:e>
                                      <m:sSub>
                                        <m:sSubPr>
                                          <m:ctrlPr>
                                            <a:rPr lang="en-GB" sz="2700" b="0" dirty="0">
                                              <a:solidFill>
                                                <a:srgbClr val="087F83"/>
                                              </a:solidFill>
                                              <a:latin typeface="Cambria Math"/>
                                              <a:ea typeface="Cambria Math"/>
                                              <a:cs typeface="Cambria Math"/>
                                            </a:rPr>
                                          </m:ctrlPr>
                                        </m:sSubPr>
                                        <m:e>
                                          <m:r>
                                            <a:rPr lang="en-GB" sz="2700" b="0" dirty="0">
                                              <a:solidFill>
                                                <a:srgbClr val="087F83"/>
                                              </a:solidFill>
                                              <a:latin typeface="Cambria Math"/>
                                              <a:ea typeface="Cambria Math"/>
                                              <a:cs typeface="Cambria Math"/>
                                            </a:rPr>
                                            <m:t>𝑥</m:t>
                                          </m:r>
                                        </m:e>
                                        <m:sub>
                                          <m:r>
                                            <a:rPr lang="en-GB" sz="2700" b="0" dirty="0">
                                              <a:solidFill>
                                                <a:srgbClr val="087F83"/>
                                              </a:solidFill>
                                              <a:latin typeface="Cambria Math"/>
                                              <a:ea typeface="Cambria Math"/>
                                              <a:cs typeface="Cambria Math"/>
                                            </a:rPr>
                                            <m:t>𝑖</m:t>
                                          </m:r>
                                        </m:sub>
                                      </m:sSub>
                                    </m:e>
                                  </m:d>
                                  <m:r>
                                    <a:rPr lang="en-GB" sz="2700" b="0" dirty="0">
                                      <a:solidFill>
                                        <a:srgbClr val="087F83"/>
                                      </a:solidFill>
                                      <a:latin typeface="Cambria Math"/>
                                      <a:ea typeface="Cambria Math"/>
                                      <a:cs typeface="Cambria Math"/>
                                    </a:rPr>
                                    <m:t>−</m:t>
                                  </m:r>
                                  <m:sSub>
                                    <m:sSubPr>
                                      <m:ctrlPr>
                                        <a:rPr lang="en-GB" sz="2700" b="0" dirty="0">
                                          <a:solidFill>
                                            <a:srgbClr val="087F83"/>
                                          </a:solidFill>
                                          <a:latin typeface="Cambria Math"/>
                                          <a:ea typeface="Cambria Math"/>
                                          <a:cs typeface="Cambria Math"/>
                                        </a:rPr>
                                      </m:ctrlPr>
                                    </m:sSubPr>
                                    <m:e>
                                      <m:r>
                                        <a:rPr lang="en-GB" sz="2700" b="0" dirty="0">
                                          <a:solidFill>
                                            <a:srgbClr val="087F83"/>
                                          </a:solidFill>
                                          <a:latin typeface="Cambria Math"/>
                                          <a:ea typeface="Cambria Math"/>
                                          <a:cs typeface="Cambria Math"/>
                                        </a:rPr>
                                        <m:t>𝑦</m:t>
                                      </m:r>
                                    </m:e>
                                    <m:sub>
                                      <m:r>
                                        <a:rPr lang="en-GB" sz="2700" b="0" dirty="0">
                                          <a:solidFill>
                                            <a:srgbClr val="087F83"/>
                                          </a:solidFill>
                                          <a:latin typeface="Cambria Math"/>
                                          <a:ea typeface="Cambria Math"/>
                                          <a:cs typeface="Cambria Math"/>
                                        </a:rPr>
                                        <m:t>𝑖</m:t>
                                      </m:r>
                                    </m:sub>
                                  </m:sSub>
                                </m:e>
                              </m:d>
                            </m:e>
                            <m:sup>
                              <m:r>
                                <a:rPr lang="en-GB" sz="2700" b="0" dirty="0">
                                  <a:solidFill>
                                    <a:srgbClr val="087F83"/>
                                  </a:solidFill>
                                  <a:latin typeface="Cambria Math"/>
                                  <a:ea typeface="Cambria Math"/>
                                  <a:cs typeface="Cambria Math"/>
                                </a:rPr>
                                <m:t>2</m:t>
                              </m:r>
                            </m:sup>
                          </m:sSup>
                        </m:e>
                      </m:nary>
                    </m:oMath>
                  </m:oMathPara>
                </a14:m>
                <a:endParaRPr lang="en-GB" sz="2700" b="0" i="0" dirty="0">
                  <a:solidFill>
                    <a:srgbClr val="087F83"/>
                  </a:solidFill>
                  <a:latin typeface="Cambria Math"/>
                  <a:ea typeface="Cambria Math"/>
                  <a:cs typeface="Cambria Math"/>
                </a:endParaRPr>
              </a:p>
            </p:txBody>
          </p:sp>
        </mc:Choice>
        <mc:Fallback xmlns="">
          <p:sp>
            <p:nvSpPr>
              <p:cNvPr id="5" name="eq_28">
                <a:extLst>
                  <a:ext uri="{FF2B5EF4-FFF2-40B4-BE49-F238E27FC236}">
                    <a16:creationId xmlns:a16="http://schemas.microsoft.com/office/drawing/2014/main" id="{48AA8324-291B-4123-A4AF-DA3298C8CECD}"/>
                  </a:ext>
                </a:extLst>
              </p:cNvPr>
              <p:cNvSpPr txBox="1">
                <a:spLocks noGrp="1" noRot="1" noChangeAspect="1" noMove="1" noResize="1" noEditPoints="1" noAdjustHandles="1" noChangeArrowheads="1" noChangeShapeType="1" noTextEdit="1"/>
              </p:cNvSpPr>
              <p:nvPr/>
            </p:nvSpPr>
            <p:spPr>
              <a:xfrm>
                <a:off x="609600" y="4010025"/>
                <a:ext cx="10953750" cy="1095375"/>
              </a:xfrm>
              <a:prstGeom prst="rect">
                <a:avLst/>
              </a:prstGeom>
              <a:blipFill>
                <a:blip r:embed="rId5"/>
                <a:stretch>
                  <a:fillRect b="-5556"/>
                </a:stretch>
              </a:blipFill>
              <a:ln w="0">
                <a:noFill/>
              </a:ln>
            </p:spPr>
            <p:txBody>
              <a:bodyPr/>
              <a:lstStyle/>
              <a:p>
                <a:r>
                  <a:rPr lang="it-IT">
                    <a:noFill/>
                  </a:rPr>
                  <a:t> </a:t>
                </a:r>
              </a:p>
            </p:txBody>
          </p:sp>
        </mc:Fallback>
      </mc:AlternateContent>
      <p:sp>
        <p:nvSpPr>
          <p:cNvPr id="6" name="txt_29">
            <a:extLst>
              <a:ext uri="{FF2B5EF4-FFF2-40B4-BE49-F238E27FC236}">
                <a16:creationId xmlns:a16="http://schemas.microsoft.com/office/drawing/2014/main" id="{71400E3F-EEDE-446F-9269-1B709FF89528}"/>
              </a:ext>
            </a:extLst>
          </p:cNvPr>
          <p:cNvSpPr>
            <a:spLocks noGrp="1"/>
          </p:cNvSpPr>
          <p:nvPr/>
        </p:nvSpPr>
        <p:spPr>
          <a:xfrm>
            <a:off x="609600" y="5810250"/>
            <a:ext cx="10953750" cy="495300"/>
          </a:xfrm>
          <a:prstGeom prst="rect">
            <a:avLst/>
          </a:prstGeom>
          <a:noFill/>
          <a:ln w="0">
            <a:noFill/>
          </a:ln>
        </p:spPr>
        <p:txBody>
          <a:bodyPr wrap="square" lIns="0" tIns="0" rIns="0" bIns="0" anchor="t">
            <a:noAutofit/>
          </a:bodyPr>
          <a:lstStyle/>
          <a:p>
            <a:pPr marL="0" marR="0" indent="0" algn="ctr">
              <a:defRPr lang="en-GB" sz="2100" b="1" i="0" dirty="0">
                <a:solidFill>
                  <a:srgbClr val="526276"/>
                </a:solidFill>
                <a:latin typeface="DejaVu Sans"/>
                <a:ea typeface="DejaVu Sans"/>
                <a:cs typeface="DejaVu Sans"/>
              </a:defRPr>
            </a:pPr>
            <a:r>
              <a:rPr lang="en-GB" sz="2100" b="1" i="0" dirty="0">
                <a:solidFill>
                  <a:srgbClr val="526276"/>
                </a:solidFill>
                <a:latin typeface="DejaVu Sans"/>
                <a:ea typeface="DejaVu Sans"/>
                <a:cs typeface="DejaVu Sans"/>
              </a:rPr>
              <a:t>The data stay fixed. The parameters vary.</a:t>
            </a:r>
          </a:p>
        </p:txBody>
      </p:sp>
    </p:spTree>
    <p:extLst>
      <p:ext uri="{BB962C8B-B14F-4D97-AF65-F5344CB8AC3E}">
        <p14:creationId xmlns:p14="http://schemas.microsoft.com/office/powerpoint/2010/main" val="724106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A5C2207F-D0F5-4E8F-BE55-116D832734B4}"/>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Choosing the loss</a:t>
            </a:r>
          </a:p>
        </p:txBody>
      </p:sp>
      <p:sp>
        <p:nvSpPr>
          <p:cNvPr id="2" name="page_number">
            <a:extLst>
              <a:ext uri="{FF2B5EF4-FFF2-40B4-BE49-F238E27FC236}">
                <a16:creationId xmlns:a16="http://schemas.microsoft.com/office/drawing/2014/main" id="{11EB52B0-7659-41B9-9D86-CFDF9B54BFFC}"/>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08</a:t>
            </a:r>
          </a:p>
        </p:txBody>
      </p:sp>
      <p:sp>
        <p:nvSpPr>
          <p:cNvPr id="3" name="txt_30">
            <a:extLst>
              <a:ext uri="{FF2B5EF4-FFF2-40B4-BE49-F238E27FC236}">
                <a16:creationId xmlns:a16="http://schemas.microsoft.com/office/drawing/2014/main" id="{A8B9A167-78F7-4D3E-823F-BC87F4693CCF}"/>
              </a:ext>
            </a:extLst>
          </p:cNvPr>
          <p:cNvSpPr>
            <a:spLocks noGrp="1"/>
          </p:cNvSpPr>
          <p:nvPr/>
        </p:nvSpPr>
        <p:spPr>
          <a:xfrm>
            <a:off x="609600" y="1438275"/>
            <a:ext cx="10953750" cy="571500"/>
          </a:xfrm>
          <a:prstGeom prst="rect">
            <a:avLst/>
          </a:prstGeom>
          <a:noFill/>
          <a:ln w="0">
            <a:noFill/>
          </a:ln>
        </p:spPr>
        <p:txBody>
          <a:bodyPr wrap="square" lIns="0" tIns="0" rIns="0" bIns="0" anchor="t">
            <a:noAutofit/>
          </a:bodyPr>
          <a:lstStyle/>
          <a:p>
            <a:pPr marL="0" marR="0" indent="0" algn="ctr">
              <a:defRPr lang="en-GB" sz="2325" b="1" i="0" dirty="0">
                <a:solidFill>
                  <a:srgbClr val="087F83"/>
                </a:solidFill>
                <a:latin typeface="DejaVu Sans"/>
                <a:ea typeface="DejaVu Sans"/>
                <a:cs typeface="DejaVu Sans"/>
              </a:defRPr>
            </a:pPr>
            <a:r>
              <a:rPr lang="en-GB" sz="2325" b="1" i="0" dirty="0">
                <a:solidFill>
                  <a:srgbClr val="087F83"/>
                </a:solidFill>
                <a:latin typeface="DejaVu Sans"/>
                <a:ea typeface="DejaVu Sans"/>
                <a:cs typeface="DejaVu Sans"/>
              </a:rPr>
              <a:t>The loss should reflect the </a:t>
            </a:r>
            <a:r>
              <a:rPr lang="en-GB" sz="2325" b="1" i="0" dirty="0">
                <a:solidFill>
                  <a:srgbClr val="FF0000"/>
                </a:solidFill>
                <a:latin typeface="DejaVu Sans"/>
                <a:ea typeface="DejaVu Sans"/>
                <a:cs typeface="DejaVu Sans"/>
              </a:rPr>
              <a:t>goal of the application</a:t>
            </a:r>
            <a:r>
              <a:rPr lang="en-GB" sz="2325" b="1" i="0" dirty="0">
                <a:solidFill>
                  <a:srgbClr val="087F83"/>
                </a:solidFill>
                <a:latin typeface="DejaVu Sans"/>
                <a:ea typeface="DejaVu Sans"/>
                <a:cs typeface="DejaVu Sans"/>
              </a:rPr>
              <a:t>.</a:t>
            </a:r>
          </a:p>
        </p:txBody>
      </p:sp>
      <p:sp>
        <p:nvSpPr>
          <p:cNvPr id="4" name="txt_31">
            <a:extLst>
              <a:ext uri="{FF2B5EF4-FFF2-40B4-BE49-F238E27FC236}">
                <a16:creationId xmlns:a16="http://schemas.microsoft.com/office/drawing/2014/main" id="{79FD6C60-D218-4841-B0F1-BAB9C1B0BFF2}"/>
              </a:ext>
            </a:extLst>
          </p:cNvPr>
          <p:cNvSpPr>
            <a:spLocks noGrp="1"/>
          </p:cNvSpPr>
          <p:nvPr/>
        </p:nvSpPr>
        <p:spPr>
          <a:xfrm>
            <a:off x="609600" y="2428875"/>
            <a:ext cx="10953750" cy="914400"/>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Squared loss is </a:t>
            </a:r>
            <a:r>
              <a:rPr lang="en-GB" sz="2100" b="0" i="0" dirty="0">
                <a:solidFill>
                  <a:srgbClr val="FF0000"/>
                </a:solidFill>
                <a:latin typeface="DejaVu Sans"/>
                <a:ea typeface="DejaVu Sans"/>
                <a:cs typeface="DejaVu Sans"/>
              </a:rPr>
              <a:t>smooth</a:t>
            </a:r>
            <a:r>
              <a:rPr lang="en-GB" sz="2100" b="0" i="0" dirty="0">
                <a:solidFill>
                  <a:srgbClr val="182D45"/>
                </a:solidFill>
                <a:latin typeface="DejaVu Sans"/>
                <a:ea typeface="DejaVu Sans"/>
                <a:cs typeface="DejaVu Sans"/>
              </a:rPr>
              <a:t> and convenient for differentiation.</a:t>
            </a:r>
          </a:p>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It also gives large errors more influence.</a:t>
            </a:r>
          </a:p>
        </p:txBody>
      </p:sp>
      <p:sp>
        <p:nvSpPr>
          <p:cNvPr id="5" name="txt_32">
            <a:extLst>
              <a:ext uri="{FF2B5EF4-FFF2-40B4-BE49-F238E27FC236}">
                <a16:creationId xmlns:a16="http://schemas.microsoft.com/office/drawing/2014/main" id="{00C0A118-AEE8-48FF-A8F9-A2A5A94DFD39}"/>
              </a:ext>
            </a:extLst>
          </p:cNvPr>
          <p:cNvSpPr>
            <a:spLocks noGrp="1"/>
          </p:cNvSpPr>
          <p:nvPr/>
        </p:nvSpPr>
        <p:spPr>
          <a:xfrm>
            <a:off x="609600" y="3781425"/>
            <a:ext cx="10953750" cy="904875"/>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Absolute loss is a valid alternative.</a:t>
            </a:r>
          </a:p>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Its </a:t>
            </a:r>
            <a:r>
              <a:rPr lang="en-GB" sz="2100" b="0" i="0" dirty="0">
                <a:solidFill>
                  <a:srgbClr val="FF0000"/>
                </a:solidFill>
                <a:latin typeface="DejaVu Sans"/>
                <a:ea typeface="DejaVu Sans"/>
                <a:cs typeface="DejaVu Sans"/>
              </a:rPr>
              <a:t>corner at zero</a:t>
            </a:r>
            <a:r>
              <a:rPr lang="en-GB" sz="2100" b="0" i="0" dirty="0">
                <a:solidFill>
                  <a:srgbClr val="182D45"/>
                </a:solidFill>
                <a:latin typeface="DejaVu Sans"/>
                <a:ea typeface="DejaVu Sans"/>
                <a:cs typeface="DejaVu Sans"/>
              </a:rPr>
              <a:t> needs a different treatment in some optimisation arguments.</a:t>
            </a:r>
          </a:p>
        </p:txBody>
      </p:sp>
      <p:sp>
        <p:nvSpPr>
          <p:cNvPr id="6" name="txt_33">
            <a:extLst>
              <a:ext uri="{FF2B5EF4-FFF2-40B4-BE49-F238E27FC236}">
                <a16:creationId xmlns:a16="http://schemas.microsoft.com/office/drawing/2014/main" id="{28F88F24-F51F-4D59-B96D-B60E3D65FFD6}"/>
              </a:ext>
            </a:extLst>
          </p:cNvPr>
          <p:cNvSpPr>
            <a:spLocks noGrp="1"/>
          </p:cNvSpPr>
          <p:nvPr/>
        </p:nvSpPr>
        <p:spPr>
          <a:xfrm>
            <a:off x="609600" y="5286375"/>
            <a:ext cx="10953750" cy="571500"/>
          </a:xfrm>
          <a:prstGeom prst="rect">
            <a:avLst/>
          </a:prstGeom>
          <a:noFill/>
          <a:ln w="0">
            <a:noFill/>
          </a:ln>
        </p:spPr>
        <p:txBody>
          <a:bodyPr wrap="square" lIns="0" tIns="0" rIns="0" bIns="0" anchor="t">
            <a:noAutofit/>
          </a:bodyPr>
          <a:lstStyle/>
          <a:p>
            <a:pPr marL="0" marR="0" indent="0" algn="ctr">
              <a:defRPr lang="en-GB" sz="2325" b="1" i="0" dirty="0">
                <a:solidFill>
                  <a:srgbClr val="182D45"/>
                </a:solidFill>
                <a:latin typeface="DejaVu Sans"/>
                <a:ea typeface="DejaVu Sans"/>
                <a:cs typeface="DejaVu Sans"/>
              </a:defRPr>
            </a:pPr>
            <a:r>
              <a:rPr lang="en-GB" sz="2325" b="1" i="0" dirty="0">
                <a:solidFill>
                  <a:srgbClr val="182D45"/>
                </a:solidFill>
                <a:latin typeface="DejaVu Sans"/>
                <a:ea typeface="DejaVu Sans"/>
                <a:cs typeface="DejaVu Sans"/>
              </a:rPr>
              <a:t>We focus on </a:t>
            </a:r>
            <a:r>
              <a:rPr lang="en-GB" sz="2325" b="1" i="0" dirty="0">
                <a:solidFill>
                  <a:srgbClr val="FF0000"/>
                </a:solidFill>
                <a:latin typeface="DejaVu Sans"/>
                <a:ea typeface="DejaVu Sans"/>
                <a:cs typeface="DejaVu Sans"/>
              </a:rPr>
              <a:t>squared loss</a:t>
            </a:r>
            <a:r>
              <a:rPr lang="en-GB" sz="2325" b="1" i="0" dirty="0">
                <a:solidFill>
                  <a:srgbClr val="182D45"/>
                </a:solidFill>
                <a:latin typeface="DejaVu Sans"/>
                <a:ea typeface="DejaVu Sans"/>
                <a:cs typeface="DejaVu Sans"/>
              </a:rPr>
              <a:t> in this lecture.</a:t>
            </a:r>
          </a:p>
        </p:txBody>
      </p:sp>
    </p:spTree>
    <p:extLst>
      <p:ext uri="{BB962C8B-B14F-4D97-AF65-F5344CB8AC3E}">
        <p14:creationId xmlns:p14="http://schemas.microsoft.com/office/powerpoint/2010/main" val="437100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26B4E39E-5BE0-4C0B-A5A1-5123FAB69D2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Comparing the candidates numerically</a:t>
            </a:r>
          </a:p>
        </p:txBody>
      </p:sp>
      <p:sp>
        <p:nvSpPr>
          <p:cNvPr id="2" name="page_number">
            <a:extLst>
              <a:ext uri="{FF2B5EF4-FFF2-40B4-BE49-F238E27FC236}">
                <a16:creationId xmlns:a16="http://schemas.microsoft.com/office/drawing/2014/main" id="{3445B6D4-E73B-4EC3-997C-0EF38A5C6ED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09</a:t>
            </a:r>
          </a:p>
        </p:txBody>
      </p:sp>
      <mc:AlternateContent xmlns:mc="http://schemas.openxmlformats.org/markup-compatibility/2006" xmlns:a14="http://schemas.microsoft.com/office/drawing/2010/main">
        <mc:Choice Requires="a14">
          <p:sp>
            <p:nvSpPr>
              <p:cNvPr id="3" name="eq_34">
                <a:extLst>
                  <a:ext uri="{FF2B5EF4-FFF2-40B4-BE49-F238E27FC236}">
                    <a16:creationId xmlns:a16="http://schemas.microsoft.com/office/drawing/2014/main" id="{79CE17E8-D006-40A0-842F-BE3DB90C253A}"/>
                  </a:ext>
                </a:extLst>
              </p:cNvPr>
              <p:cNvSpPr txBox="1">
                <a:spLocks noGrp="1"/>
              </p:cNvSpPr>
              <p:nvPr/>
            </p:nvSpPr>
            <p:spPr>
              <a:xfrm>
                <a:off x="609600" y="1428750"/>
                <a:ext cx="10953750" cy="619125"/>
              </a:xfrm>
              <a:prstGeom prst="rect">
                <a:avLst/>
              </a:prstGeom>
              <a:noFill/>
              <a:ln w="0">
                <a:noFill/>
              </a:ln>
            </p:spPr>
            <p:txBody>
              <a:bodyPr vertOverflow="overflow" wrap="none" lIns="0" tIns="0" rIns="0" bIns="0" anchor="t">
                <a:noAutofit/>
              </a:bodyPr>
              <a:lstStyle/>
              <a:p>
                <a:pPr marL="0" marR="0" indent="0" algn="ctr">
                  <a:defRPr lang="en-GB" sz="2475" b="0" i="0" dirty="0">
                    <a:solidFill>
                      <a:srgbClr val="182D45"/>
                    </a:solidFill>
                    <a:latin typeface="DejaVu Sans"/>
                    <a:ea typeface="DejaVu Sans"/>
                    <a:cs typeface="DejaVu Sans"/>
                  </a:defRPr>
                </a:pPr>
                <a14:m>
                  <m:oMathPara xmlns:m="http://schemas.openxmlformats.org/officeDocument/2006/math">
                    <m:oMath>
                      <m:r>
                        <a:rPr lang="en-GB" sz="2475" b="0" dirty="0">
                          <a:solidFill>
                            <a:srgbClr val="182D45"/>
                          </a:solidFill>
                          <a:latin typeface="Cambria Math"/>
                          <a:ea typeface="Cambria Math"/>
                          <a:cs typeface="Cambria Math"/>
                        </a:rPr>
                        <m:t>𝑓</m:t>
                      </m:r>
                      <m:d>
                        <m:dPr>
                          <m:ctrlPr>
                            <a:rPr lang="en-GB" sz="2475" b="0" dirty="0">
                              <a:solidFill>
                                <a:srgbClr val="182D45"/>
                              </a:solidFill>
                              <a:latin typeface="Cambria Math"/>
                              <a:ea typeface="Cambria Math"/>
                              <a:cs typeface="Cambria Math"/>
                            </a:rPr>
                          </m:ctrlPr>
                        </m:dPr>
                        <m:e>
                          <m:r>
                            <a:rPr lang="en-GB" sz="2475" b="0" dirty="0">
                              <a:solidFill>
                                <a:srgbClr val="182D45"/>
                              </a:solidFill>
                              <a:latin typeface="Cambria Math"/>
                              <a:ea typeface="Cambria Math"/>
                              <a:cs typeface="Cambria Math"/>
                            </a:rPr>
                            <m:t>𝑥</m:t>
                          </m:r>
                        </m:e>
                      </m:d>
                      <m:r>
                        <a:rPr lang="en-GB" sz="2475" b="0" dirty="0">
                          <a:solidFill>
                            <a:srgbClr val="182D45"/>
                          </a:solidFill>
                          <a:latin typeface="Cambria Math"/>
                          <a:ea typeface="Cambria Math"/>
                          <a:cs typeface="Cambria Math"/>
                        </a:rPr>
                        <m:t>=1+2</m:t>
                      </m:r>
                      <m:r>
                        <a:rPr lang="en-GB" sz="2475" b="0" dirty="0">
                          <a:solidFill>
                            <a:srgbClr val="182D45"/>
                          </a:solidFill>
                          <a:latin typeface="Cambria Math"/>
                          <a:ea typeface="Cambria Math"/>
                          <a:cs typeface="Cambria Math"/>
                        </a:rPr>
                        <m:t>𝑥</m:t>
                      </m:r>
                      <m:r>
                        <a:rPr lang="en-GB" sz="2475" b="0" dirty="0">
                          <a:solidFill>
                            <a:srgbClr val="182D45"/>
                          </a:solidFill>
                          <a:latin typeface="Cambria Math"/>
                          <a:ea typeface="Cambria Math"/>
                          <a:cs typeface="Cambria Math"/>
                        </a:rPr>
                        <m:t>,  </m:t>
                      </m:r>
                      <m:r>
                        <a:rPr lang="en-GB" sz="2475" b="0" dirty="0">
                          <a:solidFill>
                            <a:srgbClr val="182D45"/>
                          </a:solidFill>
                          <a:latin typeface="Cambria Math"/>
                          <a:ea typeface="Cambria Math"/>
                          <a:cs typeface="Cambria Math"/>
                        </a:rPr>
                        <m:t>𝑔</m:t>
                      </m:r>
                      <m:d>
                        <m:dPr>
                          <m:ctrlPr>
                            <a:rPr lang="en-GB" sz="2475" b="0" dirty="0">
                              <a:solidFill>
                                <a:srgbClr val="182D45"/>
                              </a:solidFill>
                              <a:latin typeface="Cambria Math"/>
                              <a:ea typeface="Cambria Math"/>
                              <a:cs typeface="Cambria Math"/>
                            </a:rPr>
                          </m:ctrlPr>
                        </m:dPr>
                        <m:e>
                          <m:r>
                            <a:rPr lang="en-GB" sz="2475" b="0" dirty="0">
                              <a:solidFill>
                                <a:srgbClr val="182D45"/>
                              </a:solidFill>
                              <a:latin typeface="Cambria Math"/>
                              <a:ea typeface="Cambria Math"/>
                              <a:cs typeface="Cambria Math"/>
                            </a:rPr>
                            <m:t>𝑥</m:t>
                          </m:r>
                        </m:e>
                      </m:d>
                      <m:r>
                        <a:rPr lang="en-GB" sz="2475" b="0" dirty="0">
                          <a:solidFill>
                            <a:srgbClr val="182D45"/>
                          </a:solidFill>
                          <a:latin typeface="Cambria Math"/>
                          <a:ea typeface="Cambria Math"/>
                          <a:cs typeface="Cambria Math"/>
                        </a:rPr>
                        <m:t>=1−</m:t>
                      </m:r>
                      <m:r>
                        <a:rPr lang="en-GB" sz="2475" b="0" dirty="0">
                          <a:solidFill>
                            <a:srgbClr val="182D45"/>
                          </a:solidFill>
                          <a:latin typeface="Cambria Math"/>
                          <a:ea typeface="Cambria Math"/>
                          <a:cs typeface="Cambria Math"/>
                        </a:rPr>
                        <m:t>𝑥</m:t>
                      </m:r>
                      <m:r>
                        <a:rPr lang="en-GB" sz="2475" b="0" dirty="0">
                          <a:solidFill>
                            <a:srgbClr val="182D45"/>
                          </a:solidFill>
                          <a:latin typeface="Cambria Math"/>
                          <a:ea typeface="Cambria Math"/>
                          <a:cs typeface="Cambria Math"/>
                        </a:rPr>
                        <m:t>,  </m:t>
                      </m:r>
                      <m:r>
                        <a:rPr lang="en-GB" sz="2475" b="0" dirty="0">
                          <a:solidFill>
                            <a:srgbClr val="182D45"/>
                          </a:solidFill>
                          <a:latin typeface="Cambria Math"/>
                          <a:ea typeface="Cambria Math"/>
                          <a:cs typeface="Cambria Math"/>
                        </a:rPr>
                        <m:t>ℎ</m:t>
                      </m:r>
                      <m:d>
                        <m:dPr>
                          <m:ctrlPr>
                            <a:rPr lang="en-GB" sz="2475" b="0" dirty="0">
                              <a:solidFill>
                                <a:srgbClr val="182D45"/>
                              </a:solidFill>
                              <a:latin typeface="Cambria Math"/>
                              <a:ea typeface="Cambria Math"/>
                              <a:cs typeface="Cambria Math"/>
                            </a:rPr>
                          </m:ctrlPr>
                        </m:dPr>
                        <m:e>
                          <m:r>
                            <a:rPr lang="en-GB" sz="2475" b="0" dirty="0">
                              <a:solidFill>
                                <a:srgbClr val="182D45"/>
                              </a:solidFill>
                              <a:latin typeface="Cambria Math"/>
                              <a:ea typeface="Cambria Math"/>
                              <a:cs typeface="Cambria Math"/>
                            </a:rPr>
                            <m:t>𝑥</m:t>
                          </m:r>
                        </m:e>
                      </m:d>
                      <m:r>
                        <a:rPr lang="en-GB" sz="2475" b="0" dirty="0">
                          <a:solidFill>
                            <a:srgbClr val="182D45"/>
                          </a:solidFill>
                          <a:latin typeface="Cambria Math"/>
                          <a:ea typeface="Cambria Math"/>
                          <a:cs typeface="Cambria Math"/>
                        </a:rPr>
                        <m:t>=2</m:t>
                      </m:r>
                    </m:oMath>
                  </m:oMathPara>
                </a14:m>
                <a:endParaRPr lang="en-GB" sz="2475" b="0" i="0" dirty="0">
                  <a:solidFill>
                    <a:srgbClr val="182D45"/>
                  </a:solidFill>
                  <a:latin typeface="DejaVu Sans"/>
                  <a:ea typeface="DejaVu Sans"/>
                  <a:cs typeface="DejaVu Sans"/>
                </a:endParaRPr>
              </a:p>
            </p:txBody>
          </p:sp>
        </mc:Choice>
        <mc:Fallback xmlns="">
          <p:sp>
            <p:nvSpPr>
              <p:cNvPr id="3" name="eq_34">
                <a:extLst>
                  <a:ext uri="{FF2B5EF4-FFF2-40B4-BE49-F238E27FC236}">
                    <a16:creationId xmlns:a16="http://schemas.microsoft.com/office/drawing/2014/main" id="{79CE17E8-D006-40A0-842F-BE3DB90C253A}"/>
                  </a:ext>
                </a:extLst>
              </p:cNvPr>
              <p:cNvSpPr txBox="1">
                <a:spLocks noGrp="1" noRot="1" noChangeAspect="1" noMove="1" noResize="1" noEditPoints="1" noAdjustHandles="1" noChangeArrowheads="1" noChangeShapeType="1" noTextEdit="1"/>
              </p:cNvSpPr>
              <p:nvPr/>
            </p:nvSpPr>
            <p:spPr>
              <a:xfrm>
                <a:off x="609600" y="1428750"/>
                <a:ext cx="10953750" cy="61912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graphicFrame>
            <p:nvGraphicFramePr>
              <p:cNvPr id="10" name="Tabella 9"/>
              <p:cNvGraphicFramePr/>
              <p:nvPr>
                <p:extLst>
                  <p:ext uri="{D42A27DB-BD31-4B8C-83A1-F6EECF244321}">
                    <p14:modId xmlns:p14="http://schemas.microsoft.com/office/powerpoint/2010/main" val="4117723021"/>
                  </p:ext>
                </p:extLst>
              </p:nvPr>
            </p:nvGraphicFramePr>
            <p:xfrm>
              <a:off x="609600" y="2228850"/>
              <a:ext cx="10001250" cy="2971800"/>
            </p:xfrm>
            <a:graphic>
              <a:graphicData uri="http://schemas.openxmlformats.org/drawingml/2006/table">
                <a:tbl>
                  <a:tblPr/>
                  <a:tblGrid>
                    <a:gridCol w="19812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gridCol w="1352550">
                      <a:extLst>
                        <a:ext uri="{9D8B030D-6E8A-4147-A177-3AD203B41FA5}">
                          <a16:colId xmlns:a16="http://schemas.microsoft.com/office/drawing/2014/main" val="20006"/>
                        </a:ext>
                      </a:extLst>
                    </a:gridCol>
                  </a:tblGrid>
                  <a:tr h="495300">
                    <a:tc>
                      <a:txBody>
                        <a:bodyPr/>
                        <a:lstStyle/>
                        <a:p>
                          <a:pPr algn="l"/>
                          <a:r>
                            <a:rPr sz="1800" b="1" dirty="0">
                              <a:solidFill>
                                <a:srgbClr val="182D45"/>
                              </a:solidFill>
                              <a:latin typeface="DejaVu Sans"/>
                              <a:ea typeface="DejaVu Sans"/>
                              <a:cs typeface="DejaVu Sans"/>
                            </a:rPr>
                            <a:t>Observation</a:t>
                          </a:r>
                        </a:p>
                      </a:txBody>
                      <a:tcPr anchor="ctr">
                        <a:solidFill>
                          <a:srgbClr val="F0F5F8"/>
                        </a:solidFill>
                      </a:tcPr>
                    </a:tc>
                    <a:tc>
                      <a:txBody>
                        <a:bodyPr/>
                        <a:lstStyle/>
                        <a:p>
                          <a:pPr algn="ctr"/>
                          <a:r>
                            <a:rPr sz="1800" b="1">
                              <a:solidFill>
                                <a:srgbClr val="182D45"/>
                              </a:solidFill>
                              <a:latin typeface="DejaVu Sans"/>
                              <a:ea typeface="DejaVu Sans"/>
                              <a:cs typeface="DejaVu Sans"/>
                            </a:rPr>
                            <a:t>1</a:t>
                          </a:r>
                        </a:p>
                      </a:txBody>
                      <a:tcPr anchor="ctr">
                        <a:solidFill>
                          <a:srgbClr val="F0F5F8"/>
                        </a:solidFill>
                      </a:tcPr>
                    </a:tc>
                    <a:tc>
                      <a:txBody>
                        <a:bodyPr/>
                        <a:lstStyle/>
                        <a:p>
                          <a:pPr algn="ctr"/>
                          <a:r>
                            <a:rPr sz="1800" b="1">
                              <a:solidFill>
                                <a:srgbClr val="182D45"/>
                              </a:solidFill>
                              <a:latin typeface="DejaVu Sans"/>
                              <a:ea typeface="DejaVu Sans"/>
                              <a:cs typeface="DejaVu Sans"/>
                            </a:rPr>
                            <a:t>2</a:t>
                          </a:r>
                        </a:p>
                      </a:txBody>
                      <a:tcPr anchor="ctr">
                        <a:solidFill>
                          <a:srgbClr val="F0F5F8"/>
                        </a:solidFill>
                      </a:tcPr>
                    </a:tc>
                    <a:tc>
                      <a:txBody>
                        <a:bodyPr/>
                        <a:lstStyle/>
                        <a:p>
                          <a:pPr algn="ctr"/>
                          <a:r>
                            <a:rPr sz="1800" b="1">
                              <a:solidFill>
                                <a:srgbClr val="182D45"/>
                              </a:solidFill>
                              <a:latin typeface="DejaVu Sans"/>
                              <a:ea typeface="DejaVu Sans"/>
                              <a:cs typeface="DejaVu Sans"/>
                            </a:rPr>
                            <a:t>3</a:t>
                          </a:r>
                        </a:p>
                      </a:txBody>
                      <a:tcPr anchor="ctr">
                        <a:solidFill>
                          <a:srgbClr val="F0F5F8"/>
                        </a:solidFill>
                      </a:tcPr>
                    </a:tc>
                    <a:tc>
                      <a:txBody>
                        <a:bodyPr/>
                        <a:lstStyle/>
                        <a:p>
                          <a:pPr algn="ctr"/>
                          <a:r>
                            <a:rPr sz="1800" b="1">
                              <a:solidFill>
                                <a:srgbClr val="182D45"/>
                              </a:solidFill>
                              <a:latin typeface="DejaVu Sans"/>
                              <a:ea typeface="DejaVu Sans"/>
                              <a:cs typeface="DejaVu Sans"/>
                            </a:rPr>
                            <a:t>4</a:t>
                          </a:r>
                        </a:p>
                      </a:txBody>
                      <a:tcPr anchor="ctr">
                        <a:solidFill>
                          <a:srgbClr val="F0F5F8"/>
                        </a:solidFill>
                      </a:tcPr>
                    </a:tc>
                    <a:tc>
                      <a:txBody>
                        <a:bodyPr/>
                        <a:lstStyle/>
                        <a:p>
                          <a:pPr algn="ctr"/>
                          <a:r>
                            <a:rPr sz="1800" b="1">
                              <a:solidFill>
                                <a:srgbClr val="182D45"/>
                              </a:solidFill>
                              <a:latin typeface="DejaVu Sans"/>
                              <a:ea typeface="DejaVu Sans"/>
                              <a:cs typeface="DejaVu Sans"/>
                            </a:rPr>
                            <a:t>5</a:t>
                          </a:r>
                        </a:p>
                      </a:txBody>
                      <a:tcPr anchor="ctr">
                        <a:solidFill>
                          <a:srgbClr val="F0F5F8"/>
                        </a:solidFill>
                      </a:tcPr>
                    </a:tc>
                    <a:tc>
                      <a:txBody>
                        <a:bodyPr/>
                        <a:lstStyle/>
                        <a:p>
                          <a:pPr algn="ctr"/>
                          <a:r>
                            <a:rPr lang="en-GB" sz="2200" b="0" i="0" baseline="0" dirty="0">
                              <a:solidFill>
                                <a:srgbClr val="182D45"/>
                              </a:solidFill>
                              <a:latin typeface="Cambria Math"/>
                              <a:ea typeface="Cambria Math"/>
                              <a:cs typeface="Cambria Math"/>
                            </a:rPr>
                            <a:t>ℒ</a:t>
                          </a:r>
                          <a:r>
                            <a:rPr lang="en-GB" sz="2200" b="0" i="0" baseline="-25000" dirty="0">
                              <a:solidFill>
                                <a:srgbClr val="182D45"/>
                              </a:solidFill>
                              <a:latin typeface="Cambria Math"/>
                              <a:ea typeface="Cambria Math"/>
                              <a:cs typeface="Cambria Math"/>
                            </a:rPr>
                            <a:t>sq</a:t>
                          </a:r>
                        </a:p>
                      </a:txBody>
                      <a:tcPr anchor="ctr">
                        <a:solidFill>
                          <a:srgbClr val="F0F5F8"/>
                        </a:solidFill>
                      </a:tcPr>
                    </a:tc>
                    <a:extLst>
                      <a:ext uri="{0D108BD9-81ED-4DB2-BD59-A6C34878D82A}">
                        <a16:rowId xmlns:a16="http://schemas.microsoft.com/office/drawing/2014/main" val="10000"/>
                      </a:ext>
                    </a:extLst>
                  </a:tr>
                  <a:tr h="495300">
                    <a:tc>
                      <a:txBody>
                        <a:bodyPr/>
                        <a:lstStyle/>
                        <a:p>
                          <a:pPr algn="l"/>
                          <a:r>
                            <a:rPr sz="1800" b="0">
                              <a:solidFill>
                                <a:srgbClr val="182D45"/>
                              </a:solidFill>
                              <a:latin typeface="DejaVu Sans"/>
                              <a:ea typeface="DejaVu Sans"/>
                              <a:cs typeface="DejaVu Sans"/>
                            </a:rPr>
                            <a:t>Input</a:t>
                          </a:r>
                        </a:p>
                      </a:txBody>
                      <a:tcPr anchor="ctr">
                        <a:solidFill>
                          <a:srgbClr val="FFFFFF"/>
                        </a:solidFill>
                      </a:tcPr>
                    </a:tc>
                    <a:tc>
                      <a:txBody>
                        <a:bodyPr/>
                        <a:lstStyle/>
                        <a:p>
                          <a:pPr algn="ctr"/>
                          <a:r>
                            <a:rPr sz="1800" b="0">
                              <a:solidFill>
                                <a:srgbClr val="182D45"/>
                              </a:solidFill>
                              <a:latin typeface="DejaVu Sans"/>
                              <a:ea typeface="DejaVu Sans"/>
                              <a:cs typeface="DejaVu Sans"/>
                            </a:rPr>
                            <a:t>−2</a:t>
                          </a:r>
                        </a:p>
                      </a:txBody>
                      <a:tcPr anchor="ctr">
                        <a:solidFill>
                          <a:srgbClr val="FFFFFF"/>
                        </a:solidFill>
                      </a:tcPr>
                    </a:tc>
                    <a:tc>
                      <a:txBody>
                        <a:bodyPr/>
                        <a:lstStyle/>
                        <a:p>
                          <a:pPr algn="ctr"/>
                          <a:r>
                            <a:rPr sz="1800" b="0" dirty="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0</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2</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495300">
                    <a:tc>
                      <a:txBody>
                        <a:bodyPr/>
                        <a:lstStyle/>
                        <a:p>
                          <a:pPr algn="l"/>
                          <a:r>
                            <a:rPr sz="18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0.5</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2.5</a:t>
                          </a:r>
                        </a:p>
                      </a:txBody>
                      <a:tcPr anchor="ctr">
                        <a:solidFill>
                          <a:srgbClr val="FFFFFF"/>
                        </a:solidFill>
                      </a:tcPr>
                    </a:tc>
                    <a:tc>
                      <a:txBody>
                        <a:bodyPr/>
                        <a:lstStyle/>
                        <a:p>
                          <a:pPr algn="ctr"/>
                          <a:r>
                            <a:rPr sz="1800" b="0" dirty="0">
                              <a:solidFill>
                                <a:srgbClr val="182D45"/>
                              </a:solidFill>
                              <a:latin typeface="DejaVu Sans"/>
                              <a:ea typeface="DejaVu Sans"/>
                              <a:cs typeface="DejaVu Sans"/>
                            </a:rPr>
                            <a:t>7.5</a:t>
                          </a:r>
                        </a:p>
                      </a:txBody>
                      <a:tcPr anchor="ctr">
                        <a:solidFill>
                          <a:srgbClr val="FFFFFF"/>
                        </a:solidFill>
                      </a:tcPr>
                    </a:tc>
                    <a:tc>
                      <a:txBody>
                        <a:bodyPr/>
                        <a:lstStyle/>
                        <a:p>
                          <a:endParaRPr dirty="0"/>
                        </a:p>
                      </a:txBody>
                      <a:tcPr anchor="ctr">
                        <a:solidFill>
                          <a:srgbClr val="FFFFFF"/>
                        </a:solidFill>
                      </a:tcPr>
                    </a:tc>
                    <a:extLst>
                      <a:ext uri="{0D108BD9-81ED-4DB2-BD59-A6C34878D82A}">
                        <a16:rowId xmlns:a16="http://schemas.microsoft.com/office/drawing/2014/main" val="10002"/>
                      </a:ext>
                    </a:extLst>
                  </a:tr>
                  <a:tr h="495300">
                    <a:tc>
                      <a:txBody>
                        <a:bodyPr/>
                        <a:lstStyle/>
                        <a:p>
                          <a:pPr algn="l"/>
                          <a:r>
                            <a:rPr sz="1800" b="0" dirty="0">
                              <a:solidFill>
                                <a:srgbClr val="182D45"/>
                              </a:solidFill>
                              <a:latin typeface="DejaVu Sans"/>
                              <a:ea typeface="DejaVu Sans"/>
                              <a:cs typeface="DejaVu Sans"/>
                            </a:rPr>
                            <a:t>Residual (</a:t>
                          </a:r>
                          <a14:m>
                            <m:oMath xmlns:m="http://schemas.openxmlformats.org/officeDocument/2006/math">
                              <m:r>
                                <a:rPr lang="it-IT" sz="1800" b="0" i="1" dirty="0" smtClean="0">
                                  <a:solidFill>
                                    <a:srgbClr val="182D45"/>
                                  </a:solidFill>
                                  <a:latin typeface="Cambria Math" panose="02040503050406030204" pitchFamily="18" charset="0"/>
                                  <a:ea typeface="DejaVu Sans"/>
                                  <a:cs typeface="DejaVu Sans"/>
                                </a:rPr>
                                <m:t>𝑓</m:t>
                              </m:r>
                            </m:oMath>
                          </a14:m>
                          <a:r>
                            <a:rPr sz="1800" b="0" dirty="0">
                              <a:solidFill>
                                <a:srgbClr val="182D45"/>
                              </a:solidFill>
                              <a:latin typeface="DejaVu Sans"/>
                              <a:ea typeface="DejaVu Sans"/>
                              <a:cs typeface="DejaVu Sans"/>
                            </a:rPr>
                            <a:t>)</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0</a:t>
                          </a:r>
                        </a:p>
                      </a:txBody>
                      <a:tcPr anchor="ctr">
                        <a:solidFill>
                          <a:srgbClr val="FFFFFF"/>
                        </a:solidFill>
                      </a:tcPr>
                    </a:tc>
                    <a:tc>
                      <a:txBody>
                        <a:bodyPr/>
                        <a:lstStyle/>
                        <a:p>
                          <a:pPr algn="ctr"/>
                          <a:r>
                            <a:rPr sz="1800" b="0">
                              <a:solidFill>
                                <a:srgbClr val="182D45"/>
                              </a:solidFill>
                              <a:latin typeface="DejaVu Sans"/>
                              <a:ea typeface="DejaVu Sans"/>
                              <a:cs typeface="DejaVu Sans"/>
                            </a:rPr>
                            <a:t>0.5</a:t>
                          </a:r>
                        </a:p>
                      </a:txBody>
                      <a:tcPr anchor="ctr">
                        <a:solidFill>
                          <a:srgbClr val="FFFFFF"/>
                        </a:solidFill>
                      </a:tcPr>
                    </a:tc>
                    <a:tc>
                      <a:txBody>
                        <a:bodyPr/>
                        <a:lstStyle/>
                        <a:p>
                          <a:pPr algn="ctr"/>
                          <a:r>
                            <a:rPr sz="1800" b="0">
                              <a:solidFill>
                                <a:srgbClr val="182D45"/>
                              </a:solidFill>
                              <a:latin typeface="DejaVu Sans"/>
                              <a:ea typeface="DejaVu Sans"/>
                              <a:cs typeface="DejaVu Sans"/>
                            </a:rPr>
                            <a:t>−2.5</a:t>
                          </a:r>
                        </a:p>
                      </a:txBody>
                      <a:tcPr anchor="ctr">
                        <a:solidFill>
                          <a:srgbClr val="FFFFFF"/>
                        </a:solidFill>
                      </a:tcPr>
                    </a:tc>
                    <a:tc>
                      <a:txBody>
                        <a:bodyPr/>
                        <a:lstStyle/>
                        <a:p>
                          <a:pPr algn="ctr"/>
                          <a:r>
                            <a:rPr sz="1800" b="0" dirty="0">
                              <a:solidFill>
                                <a:srgbClr val="182D45"/>
                              </a:solidFill>
                              <a:latin typeface="DejaVu Sans"/>
                              <a:ea typeface="DejaVu Sans"/>
                              <a:cs typeface="DejaVu Sans"/>
                            </a:rPr>
                            <a:t>11</a:t>
                          </a:r>
                        </a:p>
                      </a:txBody>
                      <a:tcPr anchor="ctr">
                        <a:solidFill>
                          <a:srgbClr val="FFFFFF"/>
                        </a:solidFill>
                      </a:tcPr>
                    </a:tc>
                    <a:extLst>
                      <a:ext uri="{0D108BD9-81ED-4DB2-BD59-A6C34878D82A}">
                        <a16:rowId xmlns:a16="http://schemas.microsoft.com/office/drawing/2014/main" val="10003"/>
                      </a:ext>
                    </a:extLst>
                  </a:tr>
                  <a:tr h="495300">
                    <a:tc>
                      <a:txBody>
                        <a:bodyPr/>
                        <a:lstStyle/>
                        <a:p>
                          <a:pPr algn="l"/>
                          <a:r>
                            <a:rPr sz="1800" b="0" dirty="0">
                              <a:solidFill>
                                <a:srgbClr val="182D45"/>
                              </a:solidFill>
                              <a:latin typeface="DejaVu Sans"/>
                              <a:ea typeface="DejaVu Sans"/>
                              <a:cs typeface="DejaVu Sans"/>
                            </a:rPr>
                            <a:t>Residual (</a:t>
                          </a:r>
                          <a14:m>
                            <m:oMath xmlns:m="http://schemas.openxmlformats.org/officeDocument/2006/math">
                              <m:r>
                                <a:rPr lang="it-IT" sz="1800" b="0" i="1" dirty="0" smtClean="0">
                                  <a:solidFill>
                                    <a:srgbClr val="182D45"/>
                                  </a:solidFill>
                                  <a:latin typeface="Cambria Math" panose="02040503050406030204" pitchFamily="18" charset="0"/>
                                  <a:ea typeface="DejaVu Sans"/>
                                  <a:cs typeface="DejaVu Sans"/>
                                </a:rPr>
                                <m:t>𝑔</m:t>
                              </m:r>
                            </m:oMath>
                          </a14:m>
                          <a:r>
                            <a:rPr sz="1800" b="0" dirty="0">
                              <a:solidFill>
                                <a:srgbClr val="182D45"/>
                              </a:solidFill>
                              <a:latin typeface="DejaVu Sans"/>
                              <a:ea typeface="DejaVu Sans"/>
                              <a:cs typeface="DejaVu Sans"/>
                            </a:rPr>
                            <a:t>)</a:t>
                          </a:r>
                        </a:p>
                      </a:txBody>
                      <a:tcPr anchor="ctr">
                        <a:solidFill>
                          <a:srgbClr val="FFFFFF"/>
                        </a:solidFill>
                      </a:tcPr>
                    </a:tc>
                    <a:tc>
                      <a:txBody>
                        <a:bodyPr/>
                        <a:lstStyle/>
                        <a:p>
                          <a:pPr algn="ctr"/>
                          <a:r>
                            <a:rPr sz="1800" b="0">
                              <a:solidFill>
                                <a:srgbClr val="182D45"/>
                              </a:solidFill>
                              <a:latin typeface="DejaVu Sans"/>
                              <a:ea typeface="DejaVu Sans"/>
                              <a:cs typeface="DejaVu Sans"/>
                            </a:rPr>
                            <a:t>4.5</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0</a:t>
                          </a:r>
                        </a:p>
                      </a:txBody>
                      <a:tcPr anchor="ctr">
                        <a:solidFill>
                          <a:srgbClr val="FFFFFF"/>
                        </a:solidFill>
                      </a:tcPr>
                    </a:tc>
                    <a:tc>
                      <a:txBody>
                        <a:bodyPr/>
                        <a:lstStyle/>
                        <a:p>
                          <a:pPr algn="ctr"/>
                          <a:r>
                            <a:rPr sz="1800" b="0">
                              <a:solidFill>
                                <a:srgbClr val="182D45"/>
                              </a:solidFill>
                              <a:latin typeface="DejaVu Sans"/>
                              <a:ea typeface="DejaVu Sans"/>
                              <a:cs typeface="DejaVu Sans"/>
                            </a:rPr>
                            <a:t>−2.5</a:t>
                          </a:r>
                        </a:p>
                      </a:txBody>
                      <a:tcPr anchor="ctr">
                        <a:solidFill>
                          <a:srgbClr val="FFFFFF"/>
                        </a:solidFill>
                      </a:tcPr>
                    </a:tc>
                    <a:tc>
                      <a:txBody>
                        <a:bodyPr/>
                        <a:lstStyle/>
                        <a:p>
                          <a:pPr algn="ctr"/>
                          <a:r>
                            <a:rPr sz="1800" b="0">
                              <a:solidFill>
                                <a:srgbClr val="182D45"/>
                              </a:solidFill>
                              <a:latin typeface="DejaVu Sans"/>
                              <a:ea typeface="DejaVu Sans"/>
                              <a:cs typeface="DejaVu Sans"/>
                            </a:rPr>
                            <a:t>−8.5</a:t>
                          </a:r>
                        </a:p>
                      </a:txBody>
                      <a:tcPr anchor="ctr">
                        <a:solidFill>
                          <a:srgbClr val="FFFFFF"/>
                        </a:solidFill>
                      </a:tcPr>
                    </a:tc>
                    <a:tc>
                      <a:txBody>
                        <a:bodyPr/>
                        <a:lstStyle/>
                        <a:p>
                          <a:pPr algn="ctr"/>
                          <a:r>
                            <a:rPr sz="1800" b="0">
                              <a:solidFill>
                                <a:srgbClr val="182D45"/>
                              </a:solidFill>
                              <a:latin typeface="DejaVu Sans"/>
                              <a:ea typeface="DejaVu Sans"/>
                              <a:cs typeface="DejaVu Sans"/>
                            </a:rPr>
                            <a:t>101</a:t>
                          </a:r>
                        </a:p>
                      </a:txBody>
                      <a:tcPr anchor="ctr">
                        <a:solidFill>
                          <a:srgbClr val="FFFFFF"/>
                        </a:solidFill>
                      </a:tcPr>
                    </a:tc>
                    <a:extLst>
                      <a:ext uri="{0D108BD9-81ED-4DB2-BD59-A6C34878D82A}">
                        <a16:rowId xmlns:a16="http://schemas.microsoft.com/office/drawing/2014/main" val="10004"/>
                      </a:ext>
                    </a:extLst>
                  </a:tr>
                  <a:tr h="495300">
                    <a:tc>
                      <a:txBody>
                        <a:bodyPr/>
                        <a:lstStyle/>
                        <a:p>
                          <a:pPr algn="l"/>
                          <a:r>
                            <a:rPr sz="1800" b="0" dirty="0">
                              <a:solidFill>
                                <a:srgbClr val="182D45"/>
                              </a:solidFill>
                              <a:latin typeface="DejaVu Sans"/>
                              <a:ea typeface="DejaVu Sans"/>
                              <a:cs typeface="DejaVu Sans"/>
                            </a:rPr>
                            <a:t>Residual (</a:t>
                          </a:r>
                          <a14:m>
                            <m:oMath xmlns:m="http://schemas.openxmlformats.org/officeDocument/2006/math">
                              <m:r>
                                <a:rPr lang="it-IT" sz="1800" b="0" i="1" dirty="0" smtClean="0">
                                  <a:solidFill>
                                    <a:srgbClr val="182D45"/>
                                  </a:solidFill>
                                  <a:latin typeface="Cambria Math" panose="02040503050406030204" pitchFamily="18" charset="0"/>
                                  <a:ea typeface="DejaVu Sans"/>
                                  <a:cs typeface="DejaVu Sans"/>
                                </a:rPr>
                                <m:t>ℎ</m:t>
                              </m:r>
                            </m:oMath>
                          </a14:m>
                          <a:r>
                            <a:rPr sz="1800" b="0" dirty="0">
                              <a:solidFill>
                                <a:srgbClr val="182D45"/>
                              </a:solidFill>
                              <a:latin typeface="DejaVu Sans"/>
                              <a:ea typeface="DejaVu Sans"/>
                              <a:cs typeface="DejaVu Sans"/>
                            </a:rPr>
                            <a:t>)</a:t>
                          </a:r>
                        </a:p>
                      </a:txBody>
                      <a:tcPr anchor="ctr">
                        <a:solidFill>
                          <a:srgbClr val="FFFFFF"/>
                        </a:solidFill>
                      </a:tcPr>
                    </a:tc>
                    <a:tc>
                      <a:txBody>
                        <a:bodyPr/>
                        <a:lstStyle/>
                        <a:p>
                          <a:pPr algn="ctr"/>
                          <a:r>
                            <a:rPr sz="1800" b="0">
                              <a:solidFill>
                                <a:srgbClr val="182D45"/>
                              </a:solidFill>
                              <a:latin typeface="DejaVu Sans"/>
                              <a:ea typeface="DejaVu Sans"/>
                              <a:cs typeface="DejaVu Sans"/>
                            </a:rPr>
                            <a:t>3.5</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−0.5</a:t>
                          </a:r>
                        </a:p>
                      </a:txBody>
                      <a:tcPr anchor="ctr">
                        <a:solidFill>
                          <a:srgbClr val="FFFFFF"/>
                        </a:solidFill>
                      </a:tcPr>
                    </a:tc>
                    <a:tc>
                      <a:txBody>
                        <a:bodyPr/>
                        <a:lstStyle/>
                        <a:p>
                          <a:pPr algn="ctr"/>
                          <a:r>
                            <a:rPr sz="1800" b="0">
                              <a:solidFill>
                                <a:srgbClr val="182D45"/>
                              </a:solidFill>
                              <a:latin typeface="DejaVu Sans"/>
                              <a:ea typeface="DejaVu Sans"/>
                              <a:cs typeface="DejaVu Sans"/>
                            </a:rPr>
                            <a:t>−5.5</a:t>
                          </a:r>
                        </a:p>
                      </a:txBody>
                      <a:tcPr anchor="ctr">
                        <a:solidFill>
                          <a:srgbClr val="FFFFFF"/>
                        </a:solidFill>
                      </a:tcPr>
                    </a:tc>
                    <a:tc>
                      <a:txBody>
                        <a:bodyPr/>
                        <a:lstStyle/>
                        <a:p>
                          <a:pPr algn="ctr"/>
                          <a:r>
                            <a:rPr sz="1800" b="0" dirty="0">
                              <a:solidFill>
                                <a:srgbClr val="182D45"/>
                              </a:solidFill>
                              <a:latin typeface="DejaVu Sans"/>
                              <a:ea typeface="DejaVu Sans"/>
                              <a:cs typeface="DejaVu Sans"/>
                            </a:rPr>
                            <a:t>46</a:t>
                          </a:r>
                        </a:p>
                      </a:txBody>
                      <a:tcPr anchor="ctr">
                        <a:solidFill>
                          <a:srgbClr val="FFFFFF"/>
                        </a:solidFill>
                      </a:tcPr>
                    </a:tc>
                    <a:extLst>
                      <a:ext uri="{0D108BD9-81ED-4DB2-BD59-A6C34878D82A}">
                        <a16:rowId xmlns:a16="http://schemas.microsoft.com/office/drawing/2014/main" val="10005"/>
                      </a:ext>
                    </a:extLst>
                  </a:tr>
                </a:tbl>
              </a:graphicData>
            </a:graphic>
          </p:graphicFrame>
        </mc:Choice>
        <mc:Fallback xmlns="">
          <p:graphicFrame>
            <p:nvGraphicFramePr>
              <p:cNvPr id="10" name="Tabella 9"/>
              <p:cNvGraphicFramePr/>
              <p:nvPr>
                <p:extLst>
                  <p:ext uri="{D42A27DB-BD31-4B8C-83A1-F6EECF244321}">
                    <p14:modId xmlns:p14="http://schemas.microsoft.com/office/powerpoint/2010/main" val="4117723021"/>
                  </p:ext>
                </p:extLst>
              </p:nvPr>
            </p:nvGraphicFramePr>
            <p:xfrm>
              <a:off x="609600" y="2228850"/>
              <a:ext cx="10001250" cy="2971800"/>
            </p:xfrm>
            <a:graphic>
              <a:graphicData uri="http://schemas.openxmlformats.org/drawingml/2006/table">
                <a:tbl>
                  <a:tblPr/>
                  <a:tblGrid>
                    <a:gridCol w="19812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gridCol w="1352550">
                      <a:extLst>
                        <a:ext uri="{9D8B030D-6E8A-4147-A177-3AD203B41FA5}">
                          <a16:colId xmlns:a16="http://schemas.microsoft.com/office/drawing/2014/main" val="20006"/>
                        </a:ext>
                      </a:extLst>
                    </a:gridCol>
                  </a:tblGrid>
                  <a:tr h="495300">
                    <a:tc>
                      <a:txBody>
                        <a:bodyPr/>
                        <a:lstStyle/>
                        <a:p>
                          <a:pPr algn="l"/>
                          <a:r>
                            <a:rPr sz="1800" b="1" dirty="0">
                              <a:solidFill>
                                <a:srgbClr val="182D45"/>
                              </a:solidFill>
                              <a:latin typeface="DejaVu Sans"/>
                              <a:ea typeface="DejaVu Sans"/>
                              <a:cs typeface="DejaVu Sans"/>
                            </a:rPr>
                            <a:t>Observation</a:t>
                          </a:r>
                        </a:p>
                      </a:txBody>
                      <a:tcPr anchor="ctr">
                        <a:solidFill>
                          <a:srgbClr val="F0F5F8"/>
                        </a:solidFill>
                      </a:tcPr>
                    </a:tc>
                    <a:tc>
                      <a:txBody>
                        <a:bodyPr/>
                        <a:lstStyle/>
                        <a:p>
                          <a:pPr algn="ctr"/>
                          <a:r>
                            <a:rPr sz="1800" b="1">
                              <a:solidFill>
                                <a:srgbClr val="182D45"/>
                              </a:solidFill>
                              <a:latin typeface="DejaVu Sans"/>
                              <a:ea typeface="DejaVu Sans"/>
                              <a:cs typeface="DejaVu Sans"/>
                            </a:rPr>
                            <a:t>1</a:t>
                          </a:r>
                        </a:p>
                      </a:txBody>
                      <a:tcPr anchor="ctr">
                        <a:solidFill>
                          <a:srgbClr val="F0F5F8"/>
                        </a:solidFill>
                      </a:tcPr>
                    </a:tc>
                    <a:tc>
                      <a:txBody>
                        <a:bodyPr/>
                        <a:lstStyle/>
                        <a:p>
                          <a:pPr algn="ctr"/>
                          <a:r>
                            <a:rPr sz="1800" b="1">
                              <a:solidFill>
                                <a:srgbClr val="182D45"/>
                              </a:solidFill>
                              <a:latin typeface="DejaVu Sans"/>
                              <a:ea typeface="DejaVu Sans"/>
                              <a:cs typeface="DejaVu Sans"/>
                            </a:rPr>
                            <a:t>2</a:t>
                          </a:r>
                        </a:p>
                      </a:txBody>
                      <a:tcPr anchor="ctr">
                        <a:solidFill>
                          <a:srgbClr val="F0F5F8"/>
                        </a:solidFill>
                      </a:tcPr>
                    </a:tc>
                    <a:tc>
                      <a:txBody>
                        <a:bodyPr/>
                        <a:lstStyle/>
                        <a:p>
                          <a:pPr algn="ctr"/>
                          <a:r>
                            <a:rPr sz="1800" b="1">
                              <a:solidFill>
                                <a:srgbClr val="182D45"/>
                              </a:solidFill>
                              <a:latin typeface="DejaVu Sans"/>
                              <a:ea typeface="DejaVu Sans"/>
                              <a:cs typeface="DejaVu Sans"/>
                            </a:rPr>
                            <a:t>3</a:t>
                          </a:r>
                        </a:p>
                      </a:txBody>
                      <a:tcPr anchor="ctr">
                        <a:solidFill>
                          <a:srgbClr val="F0F5F8"/>
                        </a:solidFill>
                      </a:tcPr>
                    </a:tc>
                    <a:tc>
                      <a:txBody>
                        <a:bodyPr/>
                        <a:lstStyle/>
                        <a:p>
                          <a:pPr algn="ctr"/>
                          <a:r>
                            <a:rPr sz="1800" b="1">
                              <a:solidFill>
                                <a:srgbClr val="182D45"/>
                              </a:solidFill>
                              <a:latin typeface="DejaVu Sans"/>
                              <a:ea typeface="DejaVu Sans"/>
                              <a:cs typeface="DejaVu Sans"/>
                            </a:rPr>
                            <a:t>4</a:t>
                          </a:r>
                        </a:p>
                      </a:txBody>
                      <a:tcPr anchor="ctr">
                        <a:solidFill>
                          <a:srgbClr val="F0F5F8"/>
                        </a:solidFill>
                      </a:tcPr>
                    </a:tc>
                    <a:tc>
                      <a:txBody>
                        <a:bodyPr/>
                        <a:lstStyle/>
                        <a:p>
                          <a:pPr algn="ctr"/>
                          <a:r>
                            <a:rPr sz="1800" b="1">
                              <a:solidFill>
                                <a:srgbClr val="182D45"/>
                              </a:solidFill>
                              <a:latin typeface="DejaVu Sans"/>
                              <a:ea typeface="DejaVu Sans"/>
                              <a:cs typeface="DejaVu Sans"/>
                            </a:rPr>
                            <a:t>5</a:t>
                          </a:r>
                        </a:p>
                      </a:txBody>
                      <a:tcPr anchor="ctr">
                        <a:solidFill>
                          <a:srgbClr val="F0F5F8"/>
                        </a:solidFill>
                      </a:tcPr>
                    </a:tc>
                    <a:tc>
                      <a:txBody>
                        <a:bodyPr/>
                        <a:lstStyle/>
                        <a:p>
                          <a:pPr algn="ctr"/>
                          <a:r>
                            <a:rPr lang="en-GB" sz="2200" b="0" i="0" baseline="0" dirty="0">
                              <a:solidFill>
                                <a:srgbClr val="182D45"/>
                              </a:solidFill>
                              <a:latin typeface="Cambria Math"/>
                              <a:ea typeface="Cambria Math"/>
                              <a:cs typeface="Cambria Math"/>
                            </a:rPr>
                            <a:t>ℒ</a:t>
                          </a:r>
                          <a:r>
                            <a:rPr lang="en-GB" sz="2200" b="0" i="0" baseline="-25000" dirty="0">
                              <a:solidFill>
                                <a:srgbClr val="182D45"/>
                              </a:solidFill>
                              <a:latin typeface="Cambria Math"/>
                              <a:ea typeface="Cambria Math"/>
                              <a:cs typeface="Cambria Math"/>
                            </a:rPr>
                            <a:t>sq</a:t>
                          </a:r>
                        </a:p>
                      </a:txBody>
                      <a:tcPr anchor="ctr">
                        <a:solidFill>
                          <a:srgbClr val="F0F5F8"/>
                        </a:solidFill>
                      </a:tcPr>
                    </a:tc>
                    <a:extLst>
                      <a:ext uri="{0D108BD9-81ED-4DB2-BD59-A6C34878D82A}">
                        <a16:rowId xmlns:a16="http://schemas.microsoft.com/office/drawing/2014/main" val="10000"/>
                      </a:ext>
                    </a:extLst>
                  </a:tr>
                  <a:tr h="495300">
                    <a:tc>
                      <a:txBody>
                        <a:bodyPr/>
                        <a:lstStyle/>
                        <a:p>
                          <a:pPr algn="l"/>
                          <a:r>
                            <a:rPr sz="1800" b="0">
                              <a:solidFill>
                                <a:srgbClr val="182D45"/>
                              </a:solidFill>
                              <a:latin typeface="DejaVu Sans"/>
                              <a:ea typeface="DejaVu Sans"/>
                              <a:cs typeface="DejaVu Sans"/>
                            </a:rPr>
                            <a:t>Input</a:t>
                          </a:r>
                        </a:p>
                      </a:txBody>
                      <a:tcPr anchor="ctr">
                        <a:solidFill>
                          <a:srgbClr val="FFFFFF"/>
                        </a:solidFill>
                      </a:tcPr>
                    </a:tc>
                    <a:tc>
                      <a:txBody>
                        <a:bodyPr/>
                        <a:lstStyle/>
                        <a:p>
                          <a:pPr algn="ctr"/>
                          <a:r>
                            <a:rPr sz="1800" b="0">
                              <a:solidFill>
                                <a:srgbClr val="182D45"/>
                              </a:solidFill>
                              <a:latin typeface="DejaVu Sans"/>
                              <a:ea typeface="DejaVu Sans"/>
                              <a:cs typeface="DejaVu Sans"/>
                            </a:rPr>
                            <a:t>−2</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0</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2</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495300">
                    <a:tc>
                      <a:txBody>
                        <a:bodyPr/>
                        <a:lstStyle/>
                        <a:p>
                          <a:pPr algn="l"/>
                          <a:r>
                            <a:rPr sz="18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0.5</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2.5</a:t>
                          </a:r>
                        </a:p>
                      </a:txBody>
                      <a:tcPr anchor="ctr">
                        <a:solidFill>
                          <a:srgbClr val="FFFFFF"/>
                        </a:solidFill>
                      </a:tcPr>
                    </a:tc>
                    <a:tc>
                      <a:txBody>
                        <a:bodyPr/>
                        <a:lstStyle/>
                        <a:p>
                          <a:pPr algn="ctr"/>
                          <a:r>
                            <a:rPr sz="1800" b="0">
                              <a:solidFill>
                                <a:srgbClr val="182D45"/>
                              </a:solidFill>
                              <a:latin typeface="DejaVu Sans"/>
                              <a:ea typeface="DejaVu Sans"/>
                              <a:cs typeface="DejaVu Sans"/>
                            </a:rPr>
                            <a:t>7.5</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2"/>
                      </a:ext>
                    </a:extLst>
                  </a:tr>
                  <a:tr h="495300">
                    <a:tc>
                      <a:txBody>
                        <a:bodyPr/>
                        <a:lstStyle/>
                        <a:p>
                          <a:endParaRPr lang="it-IT"/>
                        </a:p>
                      </a:txBody>
                      <a:tcPr anchor="ctr">
                        <a:blipFill>
                          <a:blip r:embed="rId4"/>
                          <a:stretch>
                            <a:fillRect l="-615" t="-303704" r="-405538" b="-206173"/>
                          </a:stretch>
                        </a:blip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0</a:t>
                          </a:r>
                        </a:p>
                      </a:txBody>
                      <a:tcPr anchor="ctr">
                        <a:solidFill>
                          <a:srgbClr val="FFFFFF"/>
                        </a:solidFill>
                      </a:tcPr>
                    </a:tc>
                    <a:tc>
                      <a:txBody>
                        <a:bodyPr/>
                        <a:lstStyle/>
                        <a:p>
                          <a:pPr algn="ctr"/>
                          <a:r>
                            <a:rPr sz="1800" b="0">
                              <a:solidFill>
                                <a:srgbClr val="182D45"/>
                              </a:solidFill>
                              <a:latin typeface="DejaVu Sans"/>
                              <a:ea typeface="DejaVu Sans"/>
                              <a:cs typeface="DejaVu Sans"/>
                            </a:rPr>
                            <a:t>0.5</a:t>
                          </a:r>
                        </a:p>
                      </a:txBody>
                      <a:tcPr anchor="ctr">
                        <a:solidFill>
                          <a:srgbClr val="FFFFFF"/>
                        </a:solidFill>
                      </a:tcPr>
                    </a:tc>
                    <a:tc>
                      <a:txBody>
                        <a:bodyPr/>
                        <a:lstStyle/>
                        <a:p>
                          <a:pPr algn="ctr"/>
                          <a:r>
                            <a:rPr sz="1800" b="0">
                              <a:solidFill>
                                <a:srgbClr val="182D45"/>
                              </a:solidFill>
                              <a:latin typeface="DejaVu Sans"/>
                              <a:ea typeface="DejaVu Sans"/>
                              <a:cs typeface="DejaVu Sans"/>
                            </a:rPr>
                            <a:t>−2.5</a:t>
                          </a:r>
                        </a:p>
                      </a:txBody>
                      <a:tcPr anchor="ctr">
                        <a:solidFill>
                          <a:srgbClr val="FFFFFF"/>
                        </a:solidFill>
                      </a:tcPr>
                    </a:tc>
                    <a:tc>
                      <a:txBody>
                        <a:bodyPr/>
                        <a:lstStyle/>
                        <a:p>
                          <a:pPr algn="ctr"/>
                          <a:r>
                            <a:rPr sz="1800" b="0" dirty="0">
                              <a:solidFill>
                                <a:srgbClr val="182D45"/>
                              </a:solidFill>
                              <a:latin typeface="DejaVu Sans"/>
                              <a:ea typeface="DejaVu Sans"/>
                              <a:cs typeface="DejaVu Sans"/>
                            </a:rPr>
                            <a:t>11</a:t>
                          </a:r>
                        </a:p>
                      </a:txBody>
                      <a:tcPr anchor="ctr">
                        <a:solidFill>
                          <a:srgbClr val="FFFFFF"/>
                        </a:solidFill>
                      </a:tcPr>
                    </a:tc>
                    <a:extLst>
                      <a:ext uri="{0D108BD9-81ED-4DB2-BD59-A6C34878D82A}">
                        <a16:rowId xmlns:a16="http://schemas.microsoft.com/office/drawing/2014/main" val="10003"/>
                      </a:ext>
                    </a:extLst>
                  </a:tr>
                  <a:tr h="495300">
                    <a:tc>
                      <a:txBody>
                        <a:bodyPr/>
                        <a:lstStyle/>
                        <a:p>
                          <a:endParaRPr lang="it-IT"/>
                        </a:p>
                      </a:txBody>
                      <a:tcPr anchor="ctr">
                        <a:blipFill>
                          <a:blip r:embed="rId4"/>
                          <a:stretch>
                            <a:fillRect l="-615" t="-398780" r="-405538" b="-103659"/>
                          </a:stretch>
                        </a:blipFill>
                      </a:tcPr>
                    </a:tc>
                    <a:tc>
                      <a:txBody>
                        <a:bodyPr/>
                        <a:lstStyle/>
                        <a:p>
                          <a:pPr algn="ctr"/>
                          <a:r>
                            <a:rPr sz="1800" b="0">
                              <a:solidFill>
                                <a:srgbClr val="182D45"/>
                              </a:solidFill>
                              <a:latin typeface="DejaVu Sans"/>
                              <a:ea typeface="DejaVu Sans"/>
                              <a:cs typeface="DejaVu Sans"/>
                            </a:rPr>
                            <a:t>4.5</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0</a:t>
                          </a:r>
                        </a:p>
                      </a:txBody>
                      <a:tcPr anchor="ctr">
                        <a:solidFill>
                          <a:srgbClr val="FFFFFF"/>
                        </a:solidFill>
                      </a:tcPr>
                    </a:tc>
                    <a:tc>
                      <a:txBody>
                        <a:bodyPr/>
                        <a:lstStyle/>
                        <a:p>
                          <a:pPr algn="ctr"/>
                          <a:r>
                            <a:rPr sz="1800" b="0">
                              <a:solidFill>
                                <a:srgbClr val="182D45"/>
                              </a:solidFill>
                              <a:latin typeface="DejaVu Sans"/>
                              <a:ea typeface="DejaVu Sans"/>
                              <a:cs typeface="DejaVu Sans"/>
                            </a:rPr>
                            <a:t>−2.5</a:t>
                          </a:r>
                        </a:p>
                      </a:txBody>
                      <a:tcPr anchor="ctr">
                        <a:solidFill>
                          <a:srgbClr val="FFFFFF"/>
                        </a:solidFill>
                      </a:tcPr>
                    </a:tc>
                    <a:tc>
                      <a:txBody>
                        <a:bodyPr/>
                        <a:lstStyle/>
                        <a:p>
                          <a:pPr algn="ctr"/>
                          <a:r>
                            <a:rPr sz="1800" b="0">
                              <a:solidFill>
                                <a:srgbClr val="182D45"/>
                              </a:solidFill>
                              <a:latin typeface="DejaVu Sans"/>
                              <a:ea typeface="DejaVu Sans"/>
                              <a:cs typeface="DejaVu Sans"/>
                            </a:rPr>
                            <a:t>−8.5</a:t>
                          </a:r>
                        </a:p>
                      </a:txBody>
                      <a:tcPr anchor="ctr">
                        <a:solidFill>
                          <a:srgbClr val="FFFFFF"/>
                        </a:solidFill>
                      </a:tcPr>
                    </a:tc>
                    <a:tc>
                      <a:txBody>
                        <a:bodyPr/>
                        <a:lstStyle/>
                        <a:p>
                          <a:pPr algn="ctr"/>
                          <a:r>
                            <a:rPr sz="1800" b="0">
                              <a:solidFill>
                                <a:srgbClr val="182D45"/>
                              </a:solidFill>
                              <a:latin typeface="DejaVu Sans"/>
                              <a:ea typeface="DejaVu Sans"/>
                              <a:cs typeface="DejaVu Sans"/>
                            </a:rPr>
                            <a:t>101</a:t>
                          </a:r>
                        </a:p>
                      </a:txBody>
                      <a:tcPr anchor="ctr">
                        <a:solidFill>
                          <a:srgbClr val="FFFFFF"/>
                        </a:solidFill>
                      </a:tcPr>
                    </a:tc>
                    <a:extLst>
                      <a:ext uri="{0D108BD9-81ED-4DB2-BD59-A6C34878D82A}">
                        <a16:rowId xmlns:a16="http://schemas.microsoft.com/office/drawing/2014/main" val="10004"/>
                      </a:ext>
                    </a:extLst>
                  </a:tr>
                  <a:tr h="495300">
                    <a:tc>
                      <a:txBody>
                        <a:bodyPr/>
                        <a:lstStyle/>
                        <a:p>
                          <a:endParaRPr lang="it-IT"/>
                        </a:p>
                      </a:txBody>
                      <a:tcPr anchor="ctr">
                        <a:blipFill>
                          <a:blip r:embed="rId4"/>
                          <a:stretch>
                            <a:fillRect l="-615" t="-504938" r="-405538" b="-4938"/>
                          </a:stretch>
                        </a:blipFill>
                      </a:tcPr>
                    </a:tc>
                    <a:tc>
                      <a:txBody>
                        <a:bodyPr/>
                        <a:lstStyle/>
                        <a:p>
                          <a:pPr algn="ctr"/>
                          <a:r>
                            <a:rPr sz="1800" b="0">
                              <a:solidFill>
                                <a:srgbClr val="182D45"/>
                              </a:solidFill>
                              <a:latin typeface="DejaVu Sans"/>
                              <a:ea typeface="DejaVu Sans"/>
                              <a:cs typeface="DejaVu Sans"/>
                            </a:rPr>
                            <a:t>3.5</a:t>
                          </a:r>
                        </a:p>
                      </a:txBody>
                      <a:tcPr anchor="ctr">
                        <a:solidFill>
                          <a:srgbClr val="FFFFFF"/>
                        </a:solidFill>
                      </a:tcPr>
                    </a:tc>
                    <a:tc>
                      <a:txBody>
                        <a:bodyPr/>
                        <a:lstStyle/>
                        <a:p>
                          <a:pPr algn="ctr"/>
                          <a:r>
                            <a:rPr sz="1800" b="0">
                              <a:solidFill>
                                <a:srgbClr val="182D45"/>
                              </a:solidFill>
                              <a:latin typeface="DejaVu Sans"/>
                              <a:ea typeface="DejaVu Sans"/>
                              <a:cs typeface="DejaVu Sans"/>
                            </a:rPr>
                            <a:t>1.5</a:t>
                          </a:r>
                        </a:p>
                      </a:txBody>
                      <a:tcPr anchor="ctr">
                        <a:solidFill>
                          <a:srgbClr val="FFFFFF"/>
                        </a:solidFill>
                      </a:tcPr>
                    </a:tc>
                    <a:tc>
                      <a:txBody>
                        <a:bodyPr/>
                        <a:lstStyle/>
                        <a:p>
                          <a:pPr algn="ctr"/>
                          <a:r>
                            <a:rPr sz="1800" b="0">
                              <a:solidFill>
                                <a:srgbClr val="182D45"/>
                              </a:solidFill>
                              <a:latin typeface="DejaVu Sans"/>
                              <a:ea typeface="DejaVu Sans"/>
                              <a:cs typeface="DejaVu Sans"/>
                            </a:rPr>
                            <a:t>1</a:t>
                          </a:r>
                        </a:p>
                      </a:txBody>
                      <a:tcPr anchor="ctr">
                        <a:solidFill>
                          <a:srgbClr val="FFFFFF"/>
                        </a:solidFill>
                      </a:tcPr>
                    </a:tc>
                    <a:tc>
                      <a:txBody>
                        <a:bodyPr/>
                        <a:lstStyle/>
                        <a:p>
                          <a:pPr algn="ctr"/>
                          <a:r>
                            <a:rPr sz="1800" b="0">
                              <a:solidFill>
                                <a:srgbClr val="182D45"/>
                              </a:solidFill>
                              <a:latin typeface="DejaVu Sans"/>
                              <a:ea typeface="DejaVu Sans"/>
                              <a:cs typeface="DejaVu Sans"/>
                            </a:rPr>
                            <a:t>−0.5</a:t>
                          </a:r>
                        </a:p>
                      </a:txBody>
                      <a:tcPr anchor="ctr">
                        <a:solidFill>
                          <a:srgbClr val="FFFFFF"/>
                        </a:solidFill>
                      </a:tcPr>
                    </a:tc>
                    <a:tc>
                      <a:txBody>
                        <a:bodyPr/>
                        <a:lstStyle/>
                        <a:p>
                          <a:pPr algn="ctr"/>
                          <a:r>
                            <a:rPr sz="1800" b="0">
                              <a:solidFill>
                                <a:srgbClr val="182D45"/>
                              </a:solidFill>
                              <a:latin typeface="DejaVu Sans"/>
                              <a:ea typeface="DejaVu Sans"/>
                              <a:cs typeface="DejaVu Sans"/>
                            </a:rPr>
                            <a:t>−5.5</a:t>
                          </a:r>
                        </a:p>
                      </a:txBody>
                      <a:tcPr anchor="ctr">
                        <a:solidFill>
                          <a:srgbClr val="FFFFFF"/>
                        </a:solidFill>
                      </a:tcPr>
                    </a:tc>
                    <a:tc>
                      <a:txBody>
                        <a:bodyPr/>
                        <a:lstStyle/>
                        <a:p>
                          <a:pPr algn="ctr"/>
                          <a:r>
                            <a:rPr sz="1800" b="0" dirty="0">
                              <a:solidFill>
                                <a:srgbClr val="182D45"/>
                              </a:solidFill>
                              <a:latin typeface="DejaVu Sans"/>
                              <a:ea typeface="DejaVu Sans"/>
                              <a:cs typeface="DejaVu Sans"/>
                            </a:rPr>
                            <a:t>46</a:t>
                          </a:r>
                        </a:p>
                      </a:txBody>
                      <a:tcPr anchor="ctr">
                        <a:solidFill>
                          <a:srgbClr val="FFFFFF"/>
                        </a:solidFill>
                      </a:tcPr>
                    </a:tc>
                    <a:extLst>
                      <a:ext uri="{0D108BD9-81ED-4DB2-BD59-A6C34878D82A}">
                        <a16:rowId xmlns:a16="http://schemas.microsoft.com/office/drawing/2014/main" val="10005"/>
                      </a:ext>
                    </a:extLst>
                  </a:tr>
                </a:tbl>
              </a:graphicData>
            </a:graphic>
          </p:graphicFrame>
        </mc:Fallback>
      </mc:AlternateContent>
      <p:sp>
        <p:nvSpPr>
          <p:cNvPr id="5" name="txt_35">
            <a:extLst>
              <a:ext uri="{FF2B5EF4-FFF2-40B4-BE49-F238E27FC236}">
                <a16:creationId xmlns:a16="http://schemas.microsoft.com/office/drawing/2014/main" id="{9FB0FF0A-D088-4076-BB10-EC85FB2366AE}"/>
              </a:ext>
            </a:extLst>
          </p:cNvPr>
          <p:cNvSpPr>
            <a:spLocks noGrp="1"/>
          </p:cNvSpPr>
          <p:nvPr/>
        </p:nvSpPr>
        <p:spPr>
          <a:xfrm>
            <a:off x="609600" y="5467350"/>
            <a:ext cx="10953750" cy="457200"/>
          </a:xfrm>
          <a:prstGeom prst="rect">
            <a:avLst/>
          </a:prstGeom>
          <a:noFill/>
          <a:ln w="0">
            <a:noFill/>
          </a:ln>
        </p:spPr>
        <p:txBody>
          <a:bodyPr wrap="square" lIns="0" tIns="0" rIns="0" bIns="0" anchor="t">
            <a:noAutofit/>
          </a:bodyPr>
          <a:lstStyle/>
          <a:p>
            <a:pPr marL="0" marR="0" indent="0" algn="ctr">
              <a:defRPr lang="en-GB" sz="2175" b="0" i="0" dirty="0">
                <a:solidFill>
                  <a:srgbClr val="087F83"/>
                </a:solidFill>
                <a:latin typeface="DejaVu Sans"/>
                <a:ea typeface="DejaVu Sans"/>
                <a:cs typeface="DejaVu Sans"/>
              </a:defRPr>
            </a:pPr>
            <a:r>
              <a:rPr lang="en-GB" sz="2175" b="0" i="0" dirty="0">
                <a:solidFill>
                  <a:srgbClr val="087F83"/>
                </a:solidFill>
                <a:latin typeface="DejaVu Sans"/>
                <a:ea typeface="DejaVu Sans"/>
                <a:cs typeface="DejaVu Sans"/>
              </a:rPr>
              <a:t>The squared-error criterion prefers the first candidate.</a:t>
            </a:r>
          </a:p>
        </p:txBody>
      </p:sp>
      <p:sp>
        <p:nvSpPr>
          <p:cNvPr id="6" name="txt_36">
            <a:extLst>
              <a:ext uri="{FF2B5EF4-FFF2-40B4-BE49-F238E27FC236}">
                <a16:creationId xmlns:a16="http://schemas.microsoft.com/office/drawing/2014/main" id="{4CCE2981-B623-4DC8-A521-38449E413224}"/>
              </a:ext>
            </a:extLst>
          </p:cNvPr>
          <p:cNvSpPr>
            <a:spLocks noGrp="1"/>
          </p:cNvSpPr>
          <p:nvPr/>
        </p:nvSpPr>
        <p:spPr>
          <a:xfrm>
            <a:off x="609600" y="6111430"/>
            <a:ext cx="10953750" cy="495300"/>
          </a:xfrm>
          <a:prstGeom prst="rect">
            <a:avLst/>
          </a:prstGeom>
          <a:noFill/>
          <a:ln w="0">
            <a:noFill/>
          </a:ln>
        </p:spPr>
        <p:txBody>
          <a:bodyPr wrap="square" lIns="0" tIns="0" rIns="0" bIns="0" anchor="t">
            <a:noAutofit/>
          </a:bodyPr>
          <a:lstStyle/>
          <a:p>
            <a:pPr marL="0" marR="0" indent="0" algn="ctr">
              <a:defRPr lang="en-GB" sz="1650" b="0" i="0" dirty="0">
                <a:solidFill>
                  <a:srgbClr val="526276"/>
                </a:solidFill>
                <a:latin typeface="DejaVu Sans"/>
                <a:ea typeface="DejaVu Sans"/>
                <a:cs typeface="DejaVu Sans"/>
              </a:defRPr>
            </a:pPr>
            <a:r>
              <a:rPr lang="en-GB" sz="1650" b="0" i="0" dirty="0">
                <a:solidFill>
                  <a:srgbClr val="526276"/>
                </a:solidFill>
                <a:latin typeface="DejaVu Sans"/>
                <a:ea typeface="DejaVu Sans"/>
                <a:cs typeface="DejaVu Sans"/>
              </a:rPr>
              <a:t>This comparison does not yet identify the best line among all possible lines.</a:t>
            </a:r>
          </a:p>
        </p:txBody>
      </p:sp>
    </p:spTree>
    <p:extLst>
      <p:ext uri="{BB962C8B-B14F-4D97-AF65-F5344CB8AC3E}">
        <p14:creationId xmlns:p14="http://schemas.microsoft.com/office/powerpoint/2010/main" val="138101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3503DEA-6A31-43E7-8C13-E31F65F94B1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BDD8DFA5-B7DA-48B4-8A50-A2C27E3D5B1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10</a:t>
            </a:r>
          </a:p>
        </p:txBody>
      </p:sp>
      <p:sp>
        <p:nvSpPr>
          <p:cNvPr id="3" name="txt_1">
            <a:extLst>
              <a:ext uri="{FF2B5EF4-FFF2-40B4-BE49-F238E27FC236}">
                <a16:creationId xmlns:a16="http://schemas.microsoft.com/office/drawing/2014/main" id="{BB08DB10-0458-4205-A55F-3D95590C0BDA}"/>
              </a:ext>
            </a:extLst>
          </p:cNvPr>
          <p:cNvSpPr>
            <a:spLocks noGrp="1"/>
          </p:cNvSpPr>
          <p:nvPr/>
        </p:nvSpPr>
        <p:spPr>
          <a:xfrm>
            <a:off x="914400" y="185737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Regression and loss functions</a:t>
            </a:r>
          </a:p>
        </p:txBody>
      </p:sp>
      <p:sp>
        <p:nvSpPr>
          <p:cNvPr id="4" name="txt_2">
            <a:extLst>
              <a:ext uri="{FF2B5EF4-FFF2-40B4-BE49-F238E27FC236}">
                <a16:creationId xmlns:a16="http://schemas.microsoft.com/office/drawing/2014/main" id="{54E2B9EC-3F6A-48CB-B3CD-2BAB8ED3BDED}"/>
              </a:ext>
            </a:extLst>
          </p:cNvPr>
          <p:cNvSpPr>
            <a:spLocks noGrp="1"/>
          </p:cNvSpPr>
          <p:nvPr/>
        </p:nvSpPr>
        <p:spPr>
          <a:xfrm>
            <a:off x="914400" y="2819400"/>
            <a:ext cx="10287000" cy="571500"/>
          </a:xfrm>
          <a:prstGeom prst="rect">
            <a:avLst/>
          </a:prstGeom>
          <a:noFill/>
          <a:ln w="0">
            <a:noFill/>
          </a:ln>
        </p:spPr>
        <p:txBody>
          <a:bodyPr wrap="square" lIns="0" tIns="0" rIns="0" bIns="0" anchor="ctr">
            <a:noAutofit/>
          </a:bodyPr>
          <a:lstStyle/>
          <a:p>
            <a:pPr marL="0" marR="0" indent="0" algn="l">
              <a:defRPr lang="en-GB" sz="2700" b="1" i="0" dirty="0">
                <a:solidFill>
                  <a:srgbClr val="00858A"/>
                </a:solidFill>
                <a:latin typeface="DejaVu Sans"/>
                <a:ea typeface="DejaVu Sans"/>
                <a:cs typeface="DejaVu Sans"/>
              </a:defRPr>
            </a:pPr>
            <a:r>
              <a:rPr lang="en-GB" sz="2700" b="1" i="0" dirty="0">
                <a:solidFill>
                  <a:srgbClr val="00858A"/>
                </a:solidFill>
                <a:latin typeface="DejaVu Sans"/>
                <a:ea typeface="DejaVu Sans"/>
                <a:cs typeface="DejaVu Sans"/>
              </a:rPr>
              <a:t>Least-squares fitting</a:t>
            </a:r>
          </a:p>
        </p:txBody>
      </p:sp>
      <p:sp>
        <p:nvSpPr>
          <p:cNvPr id="5" name="txt_3">
            <a:extLst>
              <a:ext uri="{FF2B5EF4-FFF2-40B4-BE49-F238E27FC236}">
                <a16:creationId xmlns:a16="http://schemas.microsoft.com/office/drawing/2014/main" id="{6E26742F-ADF8-4A56-81BD-95FBBFE5AE8E}"/>
              </a:ext>
            </a:extLst>
          </p:cNvPr>
          <p:cNvSpPr>
            <a:spLocks noGrp="1"/>
          </p:cNvSpPr>
          <p:nvPr/>
        </p:nvSpPr>
        <p:spPr>
          <a:xfrm>
            <a:off x="914400" y="378142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Gradient descent</a:t>
            </a:r>
          </a:p>
        </p:txBody>
      </p:sp>
      <p:sp>
        <p:nvSpPr>
          <p:cNvPr id="7" name="agenda_extensions">
            <a:extLst>
              <a:ext uri="{FF2B5EF4-FFF2-40B4-BE49-F238E27FC236}">
                <a16:creationId xmlns:a16="http://schemas.microsoft.com/office/drawing/2014/main" id="{A2A54576-D2E2-450D-9FCF-4DF898131C4D}"/>
              </a:ext>
            </a:extLst>
          </p:cNvPr>
          <p:cNvSpPr>
            <a:spLocks noGrp="1"/>
          </p:cNvSpPr>
          <p:nvPr/>
        </p:nvSpPr>
        <p:spPr>
          <a:xfrm>
            <a:off x="914400" y="474345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Extensions</a:t>
            </a:r>
          </a:p>
        </p:txBody>
      </p:sp>
    </p:spTree>
    <p:extLst>
      <p:ext uri="{BB962C8B-B14F-4D97-AF65-F5344CB8AC3E}">
        <p14:creationId xmlns:p14="http://schemas.microsoft.com/office/powerpoint/2010/main" val="3082542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825A3EEF-7660-4DF7-9074-44F8653FAE35}"/>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Finding a minimum</a:t>
            </a:r>
          </a:p>
        </p:txBody>
      </p:sp>
      <p:sp>
        <p:nvSpPr>
          <p:cNvPr id="2" name="page_number">
            <a:extLst>
              <a:ext uri="{FF2B5EF4-FFF2-40B4-BE49-F238E27FC236}">
                <a16:creationId xmlns:a16="http://schemas.microsoft.com/office/drawing/2014/main" id="{AB4DA9C2-3BA6-4EF7-92E3-984F32FABC43}"/>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11</a:t>
            </a:r>
          </a:p>
        </p:txBody>
      </p:sp>
      <p:sp>
        <p:nvSpPr>
          <p:cNvPr id="3" name="txt_37">
            <a:extLst>
              <a:ext uri="{FF2B5EF4-FFF2-40B4-BE49-F238E27FC236}">
                <a16:creationId xmlns:a16="http://schemas.microsoft.com/office/drawing/2014/main" id="{645ADD3C-CBE5-48A0-9FBC-B16FA782C28D}"/>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Fermat’s theorem: minima are </a:t>
            </a:r>
            <a:r>
              <a:rPr lang="en-GB" sz="2100" b="0" i="0" dirty="0">
                <a:solidFill>
                  <a:srgbClr val="FF0000"/>
                </a:solidFill>
                <a:latin typeface="DejaVu Sans"/>
                <a:ea typeface="DejaVu Sans"/>
                <a:cs typeface="DejaVu Sans"/>
              </a:rPr>
              <a:t>stationary</a:t>
            </a:r>
            <a:r>
              <a:rPr lang="en-GB" sz="2100" b="0" i="0" dirty="0">
                <a:solidFill>
                  <a:srgbClr val="182D45"/>
                </a:solidFill>
                <a:latin typeface="DejaVu Sans"/>
                <a:ea typeface="DejaVu Sans"/>
                <a:cs typeface="DejaVu Sans"/>
              </a:rPr>
              <a:t> points.</a:t>
            </a:r>
          </a:p>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A differentiable objective has zero gradient at a local minimum.</a:t>
            </a:r>
          </a:p>
        </p:txBody>
      </p:sp>
      <mc:AlternateContent xmlns:mc="http://schemas.openxmlformats.org/markup-compatibility/2006" xmlns:a14="http://schemas.microsoft.com/office/drawing/2010/main">
        <mc:Choice Requires="a14">
          <p:sp>
            <p:nvSpPr>
              <p:cNvPr id="4" name="eq_38">
                <a:extLst>
                  <a:ext uri="{FF2B5EF4-FFF2-40B4-BE49-F238E27FC236}">
                    <a16:creationId xmlns:a16="http://schemas.microsoft.com/office/drawing/2014/main" id="{F5A360ED-1305-4FE5-BDDA-530ECFAAEE5C}"/>
                  </a:ext>
                </a:extLst>
              </p:cNvPr>
              <p:cNvSpPr txBox="1">
                <a:spLocks noGrp="1"/>
              </p:cNvSpPr>
              <p:nvPr/>
            </p:nvSpPr>
            <p:spPr>
              <a:xfrm>
                <a:off x="649224" y="2052637"/>
                <a:ext cx="10953750" cy="809625"/>
              </a:xfrm>
              <a:prstGeom prst="rect">
                <a:avLst/>
              </a:prstGeom>
              <a:noFill/>
              <a:ln w="0">
                <a:noFill/>
              </a:ln>
            </p:spPr>
            <p:txBody>
              <a:bodyPr vertOverflow="overflow" wrap="none" lIns="0" tIns="0" rIns="0" bIns="0" anchor="t">
                <a:noAutofit/>
              </a:bodyPr>
              <a:lstStyle/>
              <a:p>
                <a:pPr marL="0" marR="0" indent="0" algn="ctr">
                  <a:defRPr lang="en-GB" sz="3150" b="0" i="0" dirty="0">
                    <a:solidFill>
                      <a:srgbClr val="087F83"/>
                    </a:solidFill>
                    <a:latin typeface="Cambria Math"/>
                    <a:ea typeface="Cambria Math"/>
                    <a:cs typeface="Cambria Math"/>
                  </a:defRPr>
                </a:pPr>
                <a14:m>
                  <m:oMathPara xmlns:m="http://schemas.openxmlformats.org/officeDocument/2006/math">
                    <m:oMath>
                      <m:r>
                        <m:rPr>
                          <m:sty m:val="p"/>
                        </m:rPr>
                        <a:rPr lang="en-GB" sz="3150" b="0" dirty="0">
                          <a:solidFill>
                            <a:srgbClr val="087F83"/>
                          </a:solidFill>
                          <a:latin typeface="Cambria Math"/>
                          <a:ea typeface="Cambria Math"/>
                          <a:cs typeface="Cambria Math"/>
                        </a:rPr>
                        <m:t>∇</m:t>
                      </m:r>
                      <m:sSub>
                        <m:sSubPr>
                          <m:ctrlPr>
                            <a:rPr lang="en-GB" sz="3150" b="0" dirty="0">
                              <a:solidFill>
                                <a:srgbClr val="087F83"/>
                              </a:solidFill>
                              <a:latin typeface="Cambria Math"/>
                              <a:ea typeface="Cambria Math"/>
                              <a:cs typeface="Cambria Math"/>
                            </a:rPr>
                          </m:ctrlPr>
                        </m:sSubPr>
                        <m:e>
                          <m:r>
                            <a:rPr lang="en-GB" sz="3150" b="0" dirty="0">
                              <a:solidFill>
                                <a:srgbClr val="087F83"/>
                              </a:solidFill>
                              <a:latin typeface="Cambria Math"/>
                              <a:ea typeface="Cambria Math"/>
                              <a:cs typeface="Cambria Math"/>
                            </a:rPr>
                            <m:t>ℒ</m:t>
                          </m:r>
                        </m:e>
                        <m:sub>
                          <m:r>
                            <m:rPr>
                              <m:sty m:val="p"/>
                            </m:rPr>
                            <a:rPr lang="en-GB" sz="3150" b="0" dirty="0">
                              <a:solidFill>
                                <a:srgbClr val="087F83"/>
                              </a:solidFill>
                              <a:latin typeface="Cambria Math"/>
                              <a:ea typeface="Cambria Math"/>
                              <a:cs typeface="Cambria Math"/>
                            </a:rPr>
                            <m:t>sq</m:t>
                          </m:r>
                        </m:sub>
                      </m:sSub>
                      <m:d>
                        <m:dPr>
                          <m:ctrlPr>
                            <a:rPr lang="en-GB" sz="3150" b="0" dirty="0">
                              <a:solidFill>
                                <a:srgbClr val="087F83"/>
                              </a:solidFill>
                              <a:latin typeface="Cambria Math"/>
                              <a:ea typeface="Cambria Math"/>
                              <a:cs typeface="Cambria Math"/>
                            </a:rPr>
                          </m:ctrlPr>
                        </m:dPr>
                        <m:e>
                          <m:r>
                            <a:rPr lang="en-GB" sz="3150" b="0" dirty="0">
                              <a:solidFill>
                                <a:srgbClr val="087F83"/>
                              </a:solidFill>
                              <a:latin typeface="Cambria Math"/>
                              <a:ea typeface="Cambria Math"/>
                              <a:cs typeface="Cambria Math"/>
                            </a:rPr>
                            <m:t>𝛉</m:t>
                          </m:r>
                        </m:e>
                      </m:d>
                      <m:r>
                        <a:rPr lang="en-GB" sz="3150" b="0" dirty="0">
                          <a:solidFill>
                            <a:srgbClr val="087F83"/>
                          </a:solidFill>
                          <a:latin typeface="Cambria Math"/>
                          <a:ea typeface="Cambria Math"/>
                          <a:cs typeface="Cambria Math"/>
                        </a:rPr>
                        <m:t>=</m:t>
                      </m:r>
                      <m:r>
                        <a:rPr lang="en-GB" sz="3150" b="0" dirty="0">
                          <a:solidFill>
                            <a:srgbClr val="087F83"/>
                          </a:solidFill>
                          <a:latin typeface="Cambria Math"/>
                          <a:ea typeface="Cambria Math"/>
                          <a:cs typeface="Cambria Math"/>
                        </a:rPr>
                        <m:t>𝟎</m:t>
                      </m:r>
                    </m:oMath>
                  </m:oMathPara>
                </a14:m>
                <a:endParaRPr lang="en-GB" sz="3150" b="0" i="0" dirty="0">
                  <a:solidFill>
                    <a:srgbClr val="087F83"/>
                  </a:solidFill>
                  <a:latin typeface="Cambria Math"/>
                  <a:ea typeface="Cambria Math"/>
                  <a:cs typeface="Cambria Math"/>
                </a:endParaRPr>
              </a:p>
            </p:txBody>
          </p:sp>
        </mc:Choice>
        <mc:Fallback xmlns="">
          <p:sp>
            <p:nvSpPr>
              <p:cNvPr id="4" name="eq_38">
                <a:extLst>
                  <a:ext uri="{FF2B5EF4-FFF2-40B4-BE49-F238E27FC236}">
                    <a16:creationId xmlns:a16="http://schemas.microsoft.com/office/drawing/2014/main" id="{F5A360ED-1305-4FE5-BDDA-530ECFAAEE5C}"/>
                  </a:ext>
                </a:extLst>
              </p:cNvPr>
              <p:cNvSpPr txBox="1">
                <a:spLocks noGrp="1" noRot="1" noChangeAspect="1" noMove="1" noResize="1" noEditPoints="1" noAdjustHandles="1" noChangeArrowheads="1" noChangeShapeType="1" noTextEdit="1"/>
              </p:cNvSpPr>
              <p:nvPr/>
            </p:nvSpPr>
            <p:spPr>
              <a:xfrm>
                <a:off x="649224" y="2052637"/>
                <a:ext cx="10953750" cy="809625"/>
              </a:xfrm>
              <a:prstGeom prst="rect">
                <a:avLst/>
              </a:prstGeom>
              <a:blipFill>
                <a:blip r:embed="rId3"/>
                <a:stretch>
                  <a:fillRect/>
                </a:stretch>
              </a:blipFill>
              <a:ln w="0">
                <a:noFill/>
              </a:ln>
            </p:spPr>
            <p:txBody>
              <a:bodyPr/>
              <a:lstStyle/>
              <a:p>
                <a:r>
                  <a:rPr lang="it-IT">
                    <a:noFill/>
                  </a:rPr>
                  <a:t> </a:t>
                </a:r>
              </a:p>
            </p:txBody>
          </p:sp>
        </mc:Fallback>
      </mc:AlternateContent>
      <p:sp>
        <p:nvSpPr>
          <p:cNvPr id="5" name="txt_39">
            <a:extLst>
              <a:ext uri="{FF2B5EF4-FFF2-40B4-BE49-F238E27FC236}">
                <a16:creationId xmlns:a16="http://schemas.microsoft.com/office/drawing/2014/main" id="{91DC0355-B1CA-4EE8-8247-4971D0894596}"/>
              </a:ext>
            </a:extLst>
          </p:cNvPr>
          <p:cNvSpPr>
            <a:spLocks noGrp="1"/>
          </p:cNvSpPr>
          <p:nvPr/>
        </p:nvSpPr>
        <p:spPr>
          <a:xfrm>
            <a:off x="609600" y="2705100"/>
            <a:ext cx="10953750" cy="762000"/>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We first find the stationary points, then check whether they are minima.</a:t>
            </a:r>
          </a:p>
        </p:txBody>
      </p:sp>
      <p:pic>
        <p:nvPicPr>
          <p:cNvPr id="9" name="predictor_families_source_figure" descr="Original three predictor-family graphs from the lecture notes: five constant functions, five slopes through the origin, and five affine functions."/>
          <p:cNvPicPr>
            <a:picLocks noChangeAspect="1"/>
          </p:cNvPicPr>
          <p:nvPr/>
        </p:nvPicPr>
        <p:blipFill>
          <a:blip>
            <a:extLst>
              <a:ext uri="{96DAC541-7B7A-43D3-8B79-37D633B846F1}">
                <asvg:svgBlip xmlns:asvg="http://schemas.microsoft.com/office/drawing/2016/SVG/main" r:embed="rId4"/>
              </a:ext>
            </a:extLst>
          </a:blip>
          <a:stretch/>
        </p:blipFill>
        <p:spPr>
          <a:xfrm>
            <a:off x="762000" y="3143250"/>
            <a:ext cx="10668000" cy="3239894"/>
          </a:xfrm>
          <a:prstGeom prst="rect">
            <a:avLst/>
          </a:prstGeom>
        </p:spPr>
      </p:pic>
    </p:spTree>
    <p:extLst>
      <p:ext uri="{BB962C8B-B14F-4D97-AF65-F5344CB8AC3E}">
        <p14:creationId xmlns:p14="http://schemas.microsoft.com/office/powerpoint/2010/main" val="6541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BDA101F-1989-4DEF-BC30-52C8E0C7B1AC}"/>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 constant predictor</a:t>
            </a:r>
          </a:p>
        </p:txBody>
      </p:sp>
      <p:sp>
        <p:nvSpPr>
          <p:cNvPr id="2" name="page_number">
            <a:extLst>
              <a:ext uri="{FF2B5EF4-FFF2-40B4-BE49-F238E27FC236}">
                <a16:creationId xmlns:a16="http://schemas.microsoft.com/office/drawing/2014/main" id="{75A90941-374F-4564-9881-2BAF03620686}"/>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12</a:t>
            </a:r>
          </a:p>
        </p:txBody>
      </p:sp>
      <mc:AlternateContent xmlns:mc="http://schemas.openxmlformats.org/markup-compatibility/2006" xmlns:a14="http://schemas.microsoft.com/office/drawing/2010/main">
        <mc:Choice Requires="a14">
          <p:sp>
            <p:nvSpPr>
              <p:cNvPr id="3" name="txt_42">
                <a:extLst>
                  <a:ext uri="{FF2B5EF4-FFF2-40B4-BE49-F238E27FC236}">
                    <a16:creationId xmlns:a16="http://schemas.microsoft.com/office/drawing/2014/main" id="{9651D23C-F9A3-4248-ACE8-9FBFC9692B6D}"/>
                  </a:ext>
                </a:extLst>
              </p:cNvPr>
              <p:cNvSpPr txBox="1">
                <a:spLocks noGrp="1"/>
              </p:cNvSpPr>
              <p:nvPr/>
            </p:nvSpPr>
            <p:spPr>
              <a:xfrm>
                <a:off x="609600" y="1257300"/>
                <a:ext cx="10953750" cy="76200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Set </a:t>
                </a:r>
                <a14:m>
                  <m:oMath xmlns:m="http://schemas.openxmlformats.org/officeDocument/2006/math">
                    <m:r>
                      <a:rPr lang="en-GB" sz="2100" b="0" dirty="0">
                        <a:solidFill>
                          <a:srgbClr val="182D45"/>
                        </a:solidFill>
                        <a:latin typeface="Cambria Math"/>
                        <a:ea typeface="Cambria Math"/>
                        <a:cs typeface="Cambria Math"/>
                      </a:rPr>
                      <m:t>𝑎</m:t>
                    </m:r>
                    <m:r>
                      <a:rPr lang="en-GB" sz="2100" b="0" dirty="0">
                        <a:solidFill>
                          <a:srgbClr val="182D45"/>
                        </a:solidFill>
                        <a:latin typeface="Cambria Math"/>
                        <a:ea typeface="Cambria Math"/>
                        <a:cs typeface="Cambria Math"/>
                      </a:rPr>
                      <m:t>=0</m:t>
                    </m:r>
                  </m:oMath>
                </a14:m>
                <a:r>
                  <a:rPr lang="en-GB" sz="2100" b="0" i="0" dirty="0">
                    <a:solidFill>
                      <a:srgbClr val="182D45"/>
                    </a:solidFill>
                    <a:latin typeface="DejaVu Sans"/>
                    <a:ea typeface="DejaVu Sans"/>
                    <a:cs typeface="DejaVu Sans"/>
                  </a:rPr>
                  <a:t>. The predictor returns the same value </a:t>
                </a:r>
                <a14:m>
                  <m:oMath xmlns:m="http://schemas.openxmlformats.org/officeDocument/2006/math">
                    <m:r>
                      <a:rPr lang="en-GB" sz="2100" b="0" dirty="0">
                        <a:solidFill>
                          <a:srgbClr val="182D45"/>
                        </a:solidFill>
                        <a:latin typeface="Cambria Math"/>
                        <a:ea typeface="Cambria Math"/>
                        <a:cs typeface="Cambria Math"/>
                      </a:rPr>
                      <m:t>𝑏</m:t>
                    </m:r>
                  </m:oMath>
                </a14:m>
                <a:r>
                  <a:rPr lang="en-GB" sz="2100" b="0" i="0" dirty="0">
                    <a:solidFill>
                      <a:srgbClr val="182D45"/>
                    </a:solidFill>
                    <a:latin typeface="DejaVu Sans"/>
                    <a:ea typeface="DejaVu Sans"/>
                    <a:cs typeface="DejaVu Sans"/>
                  </a:rPr>
                  <a:t> at every input.</a:t>
                </a:r>
              </a:p>
            </p:txBody>
          </p:sp>
        </mc:Choice>
        <mc:Fallback xmlns="">
          <p:sp>
            <p:nvSpPr>
              <p:cNvPr id="3" name="txt_42">
                <a:extLst>
                  <a:ext uri="{FF2B5EF4-FFF2-40B4-BE49-F238E27FC236}">
                    <a16:creationId xmlns:a16="http://schemas.microsoft.com/office/drawing/2014/main" id="{9651D23C-F9A3-4248-ACE8-9FBFC9692B6D}"/>
                  </a:ext>
                </a:extLst>
              </p:cNvPr>
              <p:cNvSpPr txBox="1">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43">
                <a:extLst>
                  <a:ext uri="{FF2B5EF4-FFF2-40B4-BE49-F238E27FC236}">
                    <a16:creationId xmlns:a16="http://schemas.microsoft.com/office/drawing/2014/main" id="{D6F19CF5-3E20-4D26-9F32-D3D293472E8F}"/>
                  </a:ext>
                </a:extLst>
              </p:cNvPr>
              <p:cNvSpPr txBox="1">
                <a:spLocks noGrp="1"/>
              </p:cNvSpPr>
              <p:nvPr/>
            </p:nvSpPr>
            <p:spPr>
              <a:xfrm>
                <a:off x="609600" y="1933575"/>
                <a:ext cx="10953750" cy="1152525"/>
              </a:xfrm>
              <a:prstGeom prst="rect">
                <a:avLst/>
              </a:prstGeom>
              <a:noFill/>
              <a:ln w="0">
                <a:noFill/>
              </a:ln>
            </p:spPr>
            <p:txBody>
              <a:bodyPr vertOverflow="overflow" wrap="none" lIns="0" tIns="0" rIns="0" bIns="0" anchor="t">
                <a:noAutofit/>
              </a:bodyPr>
              <a:lstStyle/>
              <a:p>
                <a:pPr algn="ctr">
                  <a:defRPr lang="en-GB" sz="2550" b="0" i="0" dirty="0">
                    <a:solidFill>
                      <a:srgbClr val="182D45"/>
                    </a:solidFill>
                    <a:latin typeface="Cambria Math"/>
                    <a:ea typeface="Cambria Math"/>
                    <a:cs typeface="Cambria Math"/>
                  </a:defRPr>
                </a:pPr>
                <a14:m>
                  <m:oMathPara xmlns:m="http://schemas.openxmlformats.org/officeDocument/2006/math">
                    <m:oMath>
                      <m:sSubSup>
                        <m:sSubSupPr>
                          <m:ctrlPr>
                            <a:rPr lang="en-GB" sz="2550" b="0" dirty="0" smtClean="0">
                              <a:solidFill>
                                <a:srgbClr val="182D45"/>
                              </a:solidFill>
                              <a:latin typeface="Cambria Math"/>
                              <a:ea typeface="Cambria Math"/>
                              <a:cs typeface="Cambria Math"/>
                            </a:rPr>
                          </m:ctrlPr>
                        </m:sSubSupPr>
                        <m:e>
                          <m:r>
                            <a:rPr lang="en-GB" sz="2550" b="0" dirty="0" smtClean="0">
                              <a:solidFill>
                                <a:srgbClr val="182D45"/>
                              </a:solidFill>
                              <a:latin typeface="Cambria Math"/>
                              <a:ea typeface="Cambria Math"/>
                              <a:cs typeface="Cambria Math"/>
                            </a:rPr>
                            <m:t>𝑓</m:t>
                          </m:r>
                        </m:e>
                        <m:sub>
                          <m:r>
                            <a:rPr lang="en-GB" sz="2550" b="0" dirty="0">
                              <a:solidFill>
                                <a:srgbClr val="182D45"/>
                              </a:solidFill>
                              <a:latin typeface="Cambria Math"/>
                              <a:ea typeface="Cambria Math"/>
                              <a:cs typeface="Cambria Math"/>
                            </a:rPr>
                            <m:t>𝑏</m:t>
                          </m:r>
                        </m:sub>
                        <m:sup>
                          <m:r>
                            <m:rPr>
                              <m:sty m:val="p"/>
                            </m:rPr>
                            <a:rPr lang="it-IT" sz="2550" b="0" i="0" dirty="0" smtClean="0">
                              <a:solidFill>
                                <a:srgbClr val="182D45"/>
                              </a:solidFill>
                              <a:latin typeface="Cambria Math" panose="02040503050406030204" pitchFamily="18" charset="0"/>
                              <a:ea typeface="Cambria Math"/>
                              <a:cs typeface="Cambria Math"/>
                            </a:rPr>
                            <m:t>const</m:t>
                          </m:r>
                        </m:sup>
                      </m:sSubSup>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𝑥</m:t>
                          </m:r>
                        </m:e>
                      </m:d>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,  </m:t>
                      </m:r>
                      <m:sSubSup>
                        <m:sSubSupPr>
                          <m:ctrlPr>
                            <a:rPr lang="en-GB" sz="2550" b="0" dirty="0">
                              <a:solidFill>
                                <a:srgbClr val="182D45"/>
                              </a:solidFill>
                              <a:latin typeface="Cambria Math"/>
                              <a:ea typeface="Cambria Math"/>
                              <a:cs typeface="Cambria Math"/>
                            </a:rPr>
                          </m:ctrlPr>
                        </m:sSubSupPr>
                        <m:e>
                          <m:r>
                            <a:rPr lang="en-GB" sz="2550" b="0" dirty="0">
                              <a:solidFill>
                                <a:srgbClr val="182D45"/>
                              </a:solidFill>
                              <a:latin typeface="Cambria Math"/>
                              <a:ea typeface="Cambria Math"/>
                              <a:cs typeface="Cambria Math"/>
                            </a:rPr>
                            <m:t>ℒ</m:t>
                          </m:r>
                        </m:e>
                        <m:sub>
                          <m:r>
                            <m:rPr>
                              <m:sty m:val="p"/>
                            </m:rPr>
                            <a:rPr lang="en-GB" sz="2550" b="0" dirty="0">
                              <a:solidFill>
                                <a:srgbClr val="182D45"/>
                              </a:solidFill>
                              <a:latin typeface="Cambria Math"/>
                              <a:ea typeface="Cambria Math"/>
                              <a:cs typeface="Cambria Math"/>
                            </a:rPr>
                            <m:t>sq</m:t>
                          </m:r>
                        </m:sub>
                        <m:sup>
                          <m:r>
                            <m:rPr>
                              <m:sty m:val="p"/>
                            </m:rPr>
                            <a:rPr lang="it-IT" sz="2550" b="0" i="0" dirty="0" smtClean="0">
                              <a:solidFill>
                                <a:srgbClr val="182D45"/>
                              </a:solidFill>
                              <a:latin typeface="Cambria Math" panose="02040503050406030204" pitchFamily="18" charset="0"/>
                              <a:ea typeface="Cambria Math"/>
                              <a:cs typeface="Cambria Math"/>
                            </a:rPr>
                            <m:t>const</m:t>
                          </m:r>
                        </m:sup>
                      </m:sSubSup>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e>
                      </m:d>
                      <m:r>
                        <a:rPr lang="en-GB" sz="2550" b="0" dirty="0">
                          <a:solidFill>
                            <a:srgbClr val="182D45"/>
                          </a:solidFill>
                          <a:latin typeface="Cambria Math"/>
                          <a:ea typeface="Cambria Math"/>
                          <a:cs typeface="Cambria Math"/>
                        </a:rPr>
                        <m:t>=</m:t>
                      </m:r>
                      <m:nary>
                        <m:naryPr>
                          <m:chr m:val="∑"/>
                          <m:limLoc m:val="undOvr"/>
                          <m:ctrlPr>
                            <a:rPr lang="en-GB" sz="2550" dirty="0">
                              <a:solidFill>
                                <a:srgbClr val="182D45"/>
                              </a:solidFill>
                              <a:latin typeface="Cambria Math"/>
                              <a:ea typeface="Cambria Math"/>
                              <a:cs typeface="Cambria Math"/>
                            </a:rPr>
                          </m:ctrlPr>
                        </m:naryPr>
                        <m:sub>
                          <m:r>
                            <a:rPr lang="en-GB" sz="2550" dirty="0">
                              <a:solidFill>
                                <a:srgbClr val="182D45"/>
                              </a:solidFill>
                              <a:latin typeface="Cambria Math"/>
                              <a:ea typeface="Cambria Math"/>
                              <a:cs typeface="Cambria Math"/>
                            </a:rPr>
                            <m:t>𝑖</m:t>
                          </m:r>
                          <m:r>
                            <a:rPr lang="en-GB" sz="2550" dirty="0">
                              <a:solidFill>
                                <a:srgbClr val="182D45"/>
                              </a:solidFill>
                              <a:latin typeface="Cambria Math"/>
                              <a:ea typeface="Cambria Math"/>
                              <a:cs typeface="Cambria Math"/>
                            </a:rPr>
                            <m:t>=1</m:t>
                          </m:r>
                        </m:sub>
                        <m:sup>
                          <m:r>
                            <a:rPr lang="en-GB" sz="2550" dirty="0">
                              <a:solidFill>
                                <a:srgbClr val="182D45"/>
                              </a:solidFill>
                              <a:latin typeface="Cambria Math"/>
                              <a:ea typeface="Cambria Math"/>
                              <a:cs typeface="Cambria Math"/>
                            </a:rPr>
                            <m:t>𝑁</m:t>
                          </m:r>
                        </m:sup>
                        <m:e>
                          <m:sSub>
                            <m:sSubPr>
                              <m:ctrlPr>
                                <a:rPr lang="it-IT" sz="2550" b="0" i="1" dirty="0" smtClean="0">
                                  <a:solidFill>
                                    <a:srgbClr val="182D45"/>
                                  </a:solidFill>
                                  <a:latin typeface="Cambria Math" panose="02040503050406030204" pitchFamily="18" charset="0"/>
                                  <a:ea typeface="Cambria Math"/>
                                  <a:cs typeface="Cambria Math"/>
                                </a:rPr>
                              </m:ctrlPr>
                            </m:sSubPr>
                            <m:e>
                              <m:r>
                                <m:rPr>
                                  <m:sty m:val="p"/>
                                </m:rPr>
                                <a:rPr lang="it-IT" sz="2550" b="0" i="1" dirty="0" smtClean="0">
                                  <a:solidFill>
                                    <a:srgbClr val="182D45"/>
                                  </a:solidFill>
                                  <a:latin typeface="Cambria Math" panose="02040503050406030204" pitchFamily="18" charset="0"/>
                                  <a:ea typeface="Cambria Math"/>
                                  <a:cs typeface="Cambria Math"/>
                                </a:rPr>
                                <m:t>ℓ</m:t>
                              </m:r>
                            </m:e>
                            <m:sub>
                              <m:r>
                                <m:rPr>
                                  <m:sty m:val="p"/>
                                </m:rPr>
                                <a:rPr lang="it-IT" sz="2550" b="0" i="0" dirty="0" smtClean="0">
                                  <a:solidFill>
                                    <a:srgbClr val="182D45"/>
                                  </a:solidFill>
                                  <a:latin typeface="Cambria Math" panose="02040503050406030204" pitchFamily="18" charset="0"/>
                                  <a:ea typeface="Cambria Math"/>
                                  <a:cs typeface="Cambria Math"/>
                                </a:rPr>
                                <m:t>sq</m:t>
                              </m:r>
                            </m:sub>
                          </m:sSub>
                          <m:d>
                            <m:dPr>
                              <m:ctrlPr>
                                <a:rPr lang="en-GB" sz="2550" i="1" dirty="0">
                                  <a:solidFill>
                                    <a:srgbClr val="182D45"/>
                                  </a:solidFill>
                                  <a:latin typeface="Cambria Math" panose="02040503050406030204" pitchFamily="18" charset="0"/>
                                  <a:ea typeface="Cambria Math"/>
                                  <a:cs typeface="Cambria Math"/>
                                </a:rPr>
                              </m:ctrlPr>
                            </m:dPr>
                            <m:e>
                              <m:sSubSup>
                                <m:sSubSupPr>
                                  <m:ctrlPr>
                                    <a:rPr lang="en-GB" sz="2550" dirty="0">
                                      <a:solidFill>
                                        <a:srgbClr val="182D45"/>
                                      </a:solidFill>
                                      <a:latin typeface="Cambria Math"/>
                                      <a:ea typeface="Cambria Math"/>
                                      <a:cs typeface="Cambria Math"/>
                                    </a:rPr>
                                  </m:ctrlPr>
                                </m:sSubSupPr>
                                <m:e>
                                  <m:r>
                                    <a:rPr lang="en-GB" sz="2550" dirty="0">
                                      <a:solidFill>
                                        <a:srgbClr val="182D45"/>
                                      </a:solidFill>
                                      <a:latin typeface="Cambria Math"/>
                                      <a:ea typeface="Cambria Math"/>
                                      <a:cs typeface="Cambria Math"/>
                                    </a:rPr>
                                    <m:t>𝑓</m:t>
                                  </m:r>
                                </m:e>
                                <m:sub>
                                  <m:r>
                                    <a:rPr lang="en-GB" sz="2550" dirty="0">
                                      <a:solidFill>
                                        <a:srgbClr val="182D45"/>
                                      </a:solidFill>
                                      <a:latin typeface="Cambria Math"/>
                                      <a:ea typeface="Cambria Math"/>
                                      <a:cs typeface="Cambria Math"/>
                                    </a:rPr>
                                    <m:t>𝑏</m:t>
                                  </m:r>
                                </m:sub>
                                <m:sup>
                                  <m:r>
                                    <m:rPr>
                                      <m:sty m:val="p"/>
                                    </m:rPr>
                                    <a:rPr lang="it-IT" sz="2550" dirty="0">
                                      <a:solidFill>
                                        <a:srgbClr val="182D45"/>
                                      </a:solidFill>
                                      <a:latin typeface="Cambria Math" panose="02040503050406030204" pitchFamily="18" charset="0"/>
                                      <a:ea typeface="Cambria Math"/>
                                      <a:cs typeface="Cambria Math"/>
                                    </a:rPr>
                                    <m:t>const</m:t>
                                  </m:r>
                                </m:sup>
                              </m:sSubSup>
                              <m:d>
                                <m:dPr>
                                  <m:ctrlPr>
                                    <a:rPr lang="it-IT" sz="2550" b="0" i="1" dirty="0" smtClean="0">
                                      <a:solidFill>
                                        <a:srgbClr val="182D45"/>
                                      </a:solidFill>
                                      <a:latin typeface="Cambria Math" panose="02040503050406030204" pitchFamily="18" charset="0"/>
                                      <a:ea typeface="Cambria Math"/>
                                      <a:cs typeface="Cambria Math"/>
                                    </a:rPr>
                                  </m:ctrlPr>
                                </m:dPr>
                                <m:e>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𝑥</m:t>
                                      </m:r>
                                    </m:e>
                                    <m:sub>
                                      <m:r>
                                        <a:rPr lang="it-IT" sz="2550" b="0" i="1" dirty="0" smtClean="0">
                                          <a:solidFill>
                                            <a:srgbClr val="182D45"/>
                                          </a:solidFill>
                                          <a:latin typeface="Cambria Math" panose="02040503050406030204" pitchFamily="18" charset="0"/>
                                          <a:ea typeface="Cambria Math"/>
                                          <a:cs typeface="Cambria Math"/>
                                        </a:rPr>
                                        <m:t>𝑖</m:t>
                                      </m:r>
                                    </m:sub>
                                  </m:sSub>
                                </m:e>
                              </m:d>
                              <m:r>
                                <a:rPr lang="it-IT" sz="2550" b="0" i="1" dirty="0" smtClean="0">
                                  <a:solidFill>
                                    <a:srgbClr val="182D45"/>
                                  </a:solidFill>
                                  <a:latin typeface="Cambria Math" panose="02040503050406030204" pitchFamily="18" charset="0"/>
                                  <a:ea typeface="Cambria Math"/>
                                  <a:cs typeface="Cambria Math"/>
                                </a:rPr>
                                <m:t>,</m:t>
                              </m:r>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𝑦</m:t>
                                  </m:r>
                                </m:e>
                                <m:sub>
                                  <m:r>
                                    <a:rPr lang="it-IT" sz="2550" b="0" i="1" dirty="0" smtClean="0">
                                      <a:solidFill>
                                        <a:srgbClr val="182D45"/>
                                      </a:solidFill>
                                      <a:latin typeface="Cambria Math" panose="02040503050406030204" pitchFamily="18" charset="0"/>
                                      <a:ea typeface="Cambria Math"/>
                                      <a:cs typeface="Cambria Math"/>
                                    </a:rPr>
                                    <m:t>𝑖</m:t>
                                  </m:r>
                                </m:sub>
                              </m:sSub>
                            </m:e>
                          </m:d>
                        </m:e>
                      </m:nary>
                      <m:r>
                        <a:rPr lang="it-IT" sz="2550" b="0" i="1" dirty="0" smtClean="0">
                          <a:solidFill>
                            <a:srgbClr val="182D45"/>
                          </a:solidFill>
                          <a:latin typeface="Cambria Math" panose="02040503050406030204" pitchFamily="18" charset="0"/>
                          <a:ea typeface="Cambria Math"/>
                          <a:cs typeface="Cambria Math"/>
                        </a:rPr>
                        <m:t>=</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p>
                            <m:sSupPr>
                              <m:ctrlPr>
                                <a:rPr lang="en-GB" sz="2550" b="0" i="1" dirty="0">
                                  <a:solidFill>
                                    <a:srgbClr val="182D45"/>
                                  </a:solidFill>
                                  <a:latin typeface="Cambria Math" panose="02040503050406030204" pitchFamily="18" charset="0"/>
                                  <a:ea typeface="Cambria Math"/>
                                  <a:cs typeface="Cambria Math"/>
                                </a:rPr>
                              </m:ctrlPr>
                            </m:sSupPr>
                            <m:e>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𝑦</m:t>
                                      </m:r>
                                    </m:e>
                                    <m:sub>
                                      <m:r>
                                        <a:rPr lang="en-GB" sz="2550" b="0" dirty="0">
                                          <a:solidFill>
                                            <a:srgbClr val="182D45"/>
                                          </a:solidFill>
                                          <a:latin typeface="Cambria Math"/>
                                          <a:ea typeface="Cambria Math"/>
                                          <a:cs typeface="Cambria Math"/>
                                        </a:rPr>
                                        <m:t>𝑖</m:t>
                                      </m:r>
                                    </m:sub>
                                  </m:sSub>
                                </m:e>
                              </m:d>
                            </m:e>
                            <m:sup>
                              <m:r>
                                <a:rPr lang="en-GB" sz="2550" b="0" dirty="0">
                                  <a:solidFill>
                                    <a:srgbClr val="182D45"/>
                                  </a:solidFill>
                                  <a:latin typeface="Cambria Math"/>
                                  <a:ea typeface="Cambria Math"/>
                                  <a:cs typeface="Cambria Math"/>
                                </a:rPr>
                                <m:t>2</m:t>
                              </m:r>
                            </m:sup>
                          </m:sSup>
                        </m:e>
                      </m:nary>
                    </m:oMath>
                  </m:oMathPara>
                </a14:m>
                <a:endParaRPr lang="en-GB" sz="2550" b="0" i="0" dirty="0">
                  <a:solidFill>
                    <a:srgbClr val="182D45"/>
                  </a:solidFill>
                  <a:latin typeface="Cambria Math"/>
                  <a:ea typeface="Cambria Math"/>
                  <a:cs typeface="Cambria Math"/>
                </a:endParaRPr>
              </a:p>
            </p:txBody>
          </p:sp>
        </mc:Choice>
        <mc:Fallback xmlns="">
          <p:sp>
            <p:nvSpPr>
              <p:cNvPr id="4" name="eq_43">
                <a:extLst>
                  <a:ext uri="{FF2B5EF4-FFF2-40B4-BE49-F238E27FC236}">
                    <a16:creationId xmlns:a16="http://schemas.microsoft.com/office/drawing/2014/main" id="{D6F19CF5-3E20-4D26-9F32-D3D293472E8F}"/>
                  </a:ext>
                </a:extLst>
              </p:cNvPr>
              <p:cNvSpPr txBox="1">
                <a:spLocks noGrp="1" noRot="1" noChangeAspect="1" noMove="1" noResize="1" noEditPoints="1" noAdjustHandles="1" noChangeArrowheads="1" noChangeShapeType="1" noTextEdit="1"/>
              </p:cNvSpPr>
              <p:nvPr/>
            </p:nvSpPr>
            <p:spPr>
              <a:xfrm>
                <a:off x="609600" y="1933575"/>
                <a:ext cx="10953750" cy="1152525"/>
              </a:xfrm>
              <a:prstGeom prst="rect">
                <a:avLst/>
              </a:prstGeom>
              <a:blipFill>
                <a:blip r:embed="rId4"/>
                <a:stretch>
                  <a:fillRect/>
                </a:stretch>
              </a:blipFill>
              <a:ln w="0">
                <a:noFill/>
              </a:ln>
            </p:spPr>
            <p:txBody>
              <a:bodyPr/>
              <a:lstStyle/>
              <a:p>
                <a:r>
                  <a:rPr lang="it-IT">
                    <a:noFill/>
                  </a:rPr>
                  <a:t> </a:t>
                </a:r>
              </a:p>
            </p:txBody>
          </p:sp>
        </mc:Fallback>
      </mc:AlternateContent>
      <p:sp>
        <p:nvSpPr>
          <p:cNvPr id="5" name="txt_44">
            <a:extLst>
              <a:ext uri="{FF2B5EF4-FFF2-40B4-BE49-F238E27FC236}">
                <a16:creationId xmlns:a16="http://schemas.microsoft.com/office/drawing/2014/main" id="{3F770AF6-17E6-4EF5-A6C0-C8A7D68F8163}"/>
              </a:ext>
            </a:extLst>
          </p:cNvPr>
          <p:cNvSpPr>
            <a:spLocks noGrp="1"/>
          </p:cNvSpPr>
          <p:nvPr/>
        </p:nvSpPr>
        <p:spPr>
          <a:xfrm>
            <a:off x="609600" y="3143250"/>
            <a:ext cx="5238750" cy="400050"/>
          </a:xfrm>
          <a:prstGeom prst="rect">
            <a:avLst/>
          </a:prstGeom>
          <a:noFill/>
          <a:ln w="0">
            <a:noFill/>
          </a:ln>
        </p:spPr>
        <p:txBody>
          <a:bodyPr wrap="square" lIns="0" tIns="0" rIns="0" bIns="0" anchor="t">
            <a:noAutofit/>
          </a:bodyPr>
          <a:lstStyle/>
          <a:p>
            <a:pPr marL="0" marR="0" indent="0" algn="l">
              <a:defRPr lang="en-GB" sz="1800" b="1" i="0" dirty="0">
                <a:solidFill>
                  <a:srgbClr val="326CB2"/>
                </a:solidFill>
                <a:latin typeface="DejaVu Sans"/>
                <a:ea typeface="DejaVu Sans"/>
                <a:cs typeface="DejaVu Sans"/>
              </a:defRPr>
            </a:pPr>
            <a:r>
              <a:rPr lang="en-GB" sz="1800" b="1" i="0" dirty="0">
                <a:solidFill>
                  <a:srgbClr val="326CB2"/>
                </a:solidFill>
                <a:latin typeface="DejaVu Sans"/>
                <a:ea typeface="DejaVu Sans"/>
                <a:cs typeface="DejaVu Sans"/>
              </a:rPr>
              <a:t>Prediction as a function of input</a:t>
            </a:r>
          </a:p>
        </p:txBody>
      </p:sp>
      <p:sp>
        <p:nvSpPr>
          <p:cNvPr id="6" name="txt_45">
            <a:extLst>
              <a:ext uri="{FF2B5EF4-FFF2-40B4-BE49-F238E27FC236}">
                <a16:creationId xmlns:a16="http://schemas.microsoft.com/office/drawing/2014/main" id="{97404B21-31DD-4327-A614-7723ED541EE7}"/>
              </a:ext>
            </a:extLst>
          </p:cNvPr>
          <p:cNvSpPr>
            <a:spLocks noGrp="1"/>
          </p:cNvSpPr>
          <p:nvPr/>
        </p:nvSpPr>
        <p:spPr>
          <a:xfrm>
            <a:off x="6343650" y="3143250"/>
            <a:ext cx="5219700" cy="400050"/>
          </a:xfrm>
          <a:prstGeom prst="rect">
            <a:avLst/>
          </a:prstGeom>
          <a:noFill/>
          <a:ln w="0">
            <a:noFill/>
          </a:ln>
        </p:spPr>
        <p:txBody>
          <a:bodyPr wrap="square" lIns="0" tIns="0" rIns="0" bIns="0" anchor="t">
            <a:noAutofit/>
          </a:bodyPr>
          <a:lstStyle/>
          <a:p>
            <a:pPr marL="0" marR="0" indent="0" algn="l">
              <a:defRPr lang="en-GB" sz="1800" b="1" i="0" dirty="0">
                <a:solidFill>
                  <a:srgbClr val="087F83"/>
                </a:solidFill>
                <a:latin typeface="DejaVu Sans"/>
                <a:ea typeface="DejaVu Sans"/>
                <a:cs typeface="DejaVu Sans"/>
              </a:defRPr>
            </a:pPr>
            <a:r>
              <a:rPr lang="en-GB" sz="1800" b="1" i="0" dirty="0">
                <a:solidFill>
                  <a:srgbClr val="087F83"/>
                </a:solidFill>
                <a:latin typeface="DejaVu Sans"/>
                <a:ea typeface="DejaVu Sans"/>
                <a:cs typeface="DejaVu Sans"/>
              </a:rPr>
              <a:t>Loss as a function of the parameter</a:t>
            </a:r>
          </a:p>
        </p:txBody>
      </p:sp>
      <p:graphicFrame>
        <p:nvGraphicFramePr>
          <p:cNvPr id="15" name="Chart"/>
          <p:cNvGraphicFramePr/>
          <p:nvPr/>
        </p:nvGraphicFramePr>
        <p:xfrm>
          <a:off x="609600" y="3600450"/>
          <a:ext cx="5238750" cy="2362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p:cNvGraphicFramePr/>
          <p:nvPr/>
        </p:nvGraphicFramePr>
        <p:xfrm>
          <a:off x="6343650" y="3600450"/>
          <a:ext cx="5219700" cy="23622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7" name="constant_best_predictor"/>
          <p:cNvGraphicFramePr/>
          <p:nvPr/>
        </p:nvGraphicFramePr>
        <p:xfrm>
          <a:off x="609600" y="3600450"/>
          <a:ext cx="5238750" cy="23622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8" name="constant_minimum_point"/>
          <p:cNvGraphicFramePr/>
          <p:nvPr/>
        </p:nvGraphicFramePr>
        <p:xfrm>
          <a:off x="6343650" y="3600450"/>
          <a:ext cx="5219700" cy="23622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9" name="constant_minimum_tangent"/>
          <p:cNvGraphicFramePr/>
          <p:nvPr/>
        </p:nvGraphicFramePr>
        <p:xfrm>
          <a:off x="6343650" y="3600450"/>
          <a:ext cx="5219700" cy="2362200"/>
        </p:xfrm>
        <a:graphic>
          <a:graphicData uri="http://schemas.openxmlformats.org/drawingml/2006/chart">
            <c:chart xmlns:c="http://schemas.openxmlformats.org/drawingml/2006/chart" xmlns:r="http://schemas.openxmlformats.org/officeDocument/2006/relationships" r:id="rId9"/>
          </a:graphicData>
        </a:graphic>
      </p:graphicFrame>
      <mc:AlternateContent xmlns:mc="http://schemas.openxmlformats.org/markup-compatibility/2006" xmlns:a14="http://schemas.microsoft.com/office/drawing/2010/main">
        <mc:Choice Requires="a14">
          <p:sp>
            <p:nvSpPr>
              <p:cNvPr id="20" name="minimum_question">
                <a:extLst>
                  <a:ext uri="{FF2B5EF4-FFF2-40B4-BE49-F238E27FC236}">
                    <a16:creationId xmlns:a16="http://schemas.microsoft.com/office/drawing/2014/main" id="{AA2EA6DA-0861-4FF6-ADA2-A3A7CB26D1EC}"/>
                  </a:ext>
                </a:extLst>
              </p:cNvPr>
              <p:cNvSpPr txBox="1">
                <a:spLocks noGrp="1"/>
              </p:cNvSpPr>
              <p:nvPr/>
            </p:nvSpPr>
            <p:spPr>
              <a:xfrm>
                <a:off x="609600" y="6115050"/>
                <a:ext cx="4000500" cy="3619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How do we find </a:t>
                </a:r>
                <a14:m>
                  <m:oMath xmlns:m="http://schemas.openxmlformats.org/officeDocument/2006/math">
                    <m:sSup>
                      <m:sSupPr>
                        <m:ctrlPr>
                          <a:rPr lang="en-GB" sz="2100" b="0" dirty="0">
                            <a:solidFill>
                              <a:srgbClr val="182D45"/>
                            </a:solidFill>
                            <a:latin typeface="Cambria Math"/>
                            <a:ea typeface="Cambria Math"/>
                            <a:cs typeface="Cambria Math"/>
                          </a:rPr>
                        </m:ctrlPr>
                      </m:sSupPr>
                      <m:e>
                        <m:r>
                          <a:rPr lang="en-GB" sz="2100" b="0" dirty="0">
                            <a:solidFill>
                              <a:srgbClr val="182D45"/>
                            </a:solidFill>
                            <a:latin typeface="Cambria Math"/>
                            <a:ea typeface="Cambria Math"/>
                            <a:cs typeface="Cambria Math"/>
                          </a:rPr>
                          <m:t>𝑏</m:t>
                        </m:r>
                      </m:e>
                      <m:sup>
                        <m:r>
                          <a:rPr lang="en-GB" sz="2100" b="0" dirty="0">
                            <a:solidFill>
                              <a:srgbClr val="182D45"/>
                            </a:solidFill>
                            <a:latin typeface="Cambria Math"/>
                            <a:ea typeface="Cambria Math"/>
                            <a:cs typeface="Cambria Math"/>
                          </a:rPr>
                          <m:t>∗</m:t>
                        </m:r>
                      </m:sup>
                    </m:sSup>
                  </m:oMath>
                </a14:m>
                <a:r>
                  <a:rPr lang="en-GB" sz="2100" b="0" i="0" dirty="0">
                    <a:solidFill>
                      <a:srgbClr val="182D45"/>
                    </a:solidFill>
                    <a:latin typeface="DejaVu Sans"/>
                    <a:ea typeface="DejaVu Sans"/>
                    <a:cs typeface="DejaVu Sans"/>
                  </a:rPr>
                  <a:t>?</a:t>
                </a:r>
              </a:p>
            </p:txBody>
          </p:sp>
        </mc:Choice>
        <mc:Fallback xmlns="">
          <p:sp>
            <p:nvSpPr>
              <p:cNvPr id="20" name="minimum_question">
                <a:extLst>
                  <a:ext uri="{FF2B5EF4-FFF2-40B4-BE49-F238E27FC236}">
                    <a16:creationId xmlns:a16="http://schemas.microsoft.com/office/drawing/2014/main" id="{AA2EA6DA-0861-4FF6-ADA2-A3A7CB26D1EC}"/>
                  </a:ext>
                </a:extLst>
              </p:cNvPr>
              <p:cNvSpPr txBox="1">
                <a:spLocks noGrp="1" noRot="1" noChangeAspect="1" noMove="1" noResize="1" noEditPoints="1" noAdjustHandles="1" noChangeArrowheads="1" noChangeShapeType="1" noTextEdit="1"/>
              </p:cNvSpPr>
              <p:nvPr/>
            </p:nvSpPr>
            <p:spPr>
              <a:xfrm>
                <a:off x="609600" y="6115050"/>
                <a:ext cx="4000500" cy="361950"/>
              </a:xfrm>
              <a:prstGeom prst="rect">
                <a:avLst/>
              </a:prstGeom>
              <a:blipFill>
                <a:blip r:embed="rId10"/>
                <a:stretch>
                  <a:fillRect t="-25000" b="-3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stationary_point_comment">
                <a:extLst>
                  <a:ext uri="{FF2B5EF4-FFF2-40B4-BE49-F238E27FC236}">
                    <a16:creationId xmlns:a16="http://schemas.microsoft.com/office/drawing/2014/main" id="{0C83D367-4599-4968-BAFE-9282F82CCAF4}"/>
                  </a:ext>
                </a:extLst>
              </p:cNvPr>
              <p:cNvSpPr txBox="1">
                <a:spLocks noGrp="1"/>
              </p:cNvSpPr>
              <p:nvPr/>
            </p:nvSpPr>
            <p:spPr>
              <a:xfrm>
                <a:off x="6821424" y="6115050"/>
                <a:ext cx="4741926" cy="3619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7543A0"/>
                    </a:solidFill>
                    <a:latin typeface="DejaVu Sans"/>
                    <a:ea typeface="DejaVu Sans"/>
                    <a:cs typeface="DejaVu Sans"/>
                  </a:defRPr>
                </a:pPr>
                <a14:m>
                  <m:oMath xmlns:m="http://schemas.openxmlformats.org/officeDocument/2006/math">
                    <m:sSup>
                      <m:sSupPr>
                        <m:ctrlPr>
                          <a:rPr lang="en-GB" sz="2100" b="0" dirty="0">
                            <a:solidFill>
                              <a:srgbClr val="7543A0"/>
                            </a:solidFill>
                            <a:latin typeface="Cambria Math"/>
                            <a:ea typeface="Cambria Math"/>
                            <a:cs typeface="Cambria Math"/>
                          </a:rPr>
                        </m:ctrlPr>
                      </m:sSupPr>
                      <m:e>
                        <m:r>
                          <a:rPr lang="en-GB" sz="2100" b="0" dirty="0">
                            <a:solidFill>
                              <a:srgbClr val="7543A0"/>
                            </a:solidFill>
                            <a:latin typeface="Cambria Math"/>
                            <a:ea typeface="Cambria Math"/>
                            <a:cs typeface="Cambria Math"/>
                          </a:rPr>
                          <m:t>𝑏</m:t>
                        </m:r>
                      </m:e>
                      <m:sup>
                        <m:r>
                          <a:rPr lang="en-GB" sz="2100" b="0" dirty="0">
                            <a:solidFill>
                              <a:srgbClr val="7543A0"/>
                            </a:solidFill>
                            <a:latin typeface="Cambria Math"/>
                            <a:ea typeface="Cambria Math"/>
                            <a:cs typeface="Cambria Math"/>
                          </a:rPr>
                          <m:t>∗</m:t>
                        </m:r>
                      </m:sup>
                    </m:sSup>
                  </m:oMath>
                </a14:m>
                <a:r>
                  <a:rPr lang="en-GB" sz="2100" b="0" i="0" dirty="0">
                    <a:solidFill>
                      <a:srgbClr val="7543A0"/>
                    </a:solidFill>
                    <a:latin typeface="DejaVu Sans"/>
                    <a:ea typeface="DejaVu Sans"/>
                    <a:cs typeface="DejaVu Sans"/>
                  </a:rPr>
                  <a:t> is a stationary point of </a:t>
                </a:r>
                <a14:m>
                  <m:oMath xmlns:m="http://schemas.openxmlformats.org/officeDocument/2006/math">
                    <m:sSubSup>
                      <m:sSubSupPr>
                        <m:ctrlPr>
                          <a:rPr lang="en-GB" sz="2100" b="0" dirty="0">
                            <a:solidFill>
                              <a:srgbClr val="7543A0"/>
                            </a:solidFill>
                            <a:latin typeface="Cambria Math"/>
                            <a:ea typeface="Cambria Math"/>
                            <a:cs typeface="Cambria Math"/>
                          </a:rPr>
                        </m:ctrlPr>
                      </m:sSubSupPr>
                      <m:e>
                        <m:r>
                          <a:rPr lang="en-GB" sz="2100" b="0" dirty="0">
                            <a:solidFill>
                              <a:srgbClr val="7543A0"/>
                            </a:solidFill>
                            <a:latin typeface="Cambria Math"/>
                            <a:ea typeface="Cambria Math"/>
                            <a:cs typeface="Cambria Math"/>
                          </a:rPr>
                          <m:t>ℒ</m:t>
                        </m:r>
                      </m:e>
                      <m:sub>
                        <m:r>
                          <m:rPr>
                            <m:sty m:val="p"/>
                          </m:rPr>
                          <a:rPr lang="en-GB" sz="2100" b="0" dirty="0">
                            <a:solidFill>
                              <a:srgbClr val="7543A0"/>
                            </a:solidFill>
                            <a:latin typeface="Cambria Math"/>
                            <a:ea typeface="Cambria Math"/>
                            <a:cs typeface="Cambria Math"/>
                          </a:rPr>
                          <m:t>sq</m:t>
                        </m:r>
                      </m:sub>
                      <m:sup>
                        <m:r>
                          <m:rPr>
                            <m:sty m:val="p"/>
                          </m:rPr>
                          <a:rPr lang="it-IT" sz="2100" b="0" i="0" dirty="0" smtClean="0">
                            <a:solidFill>
                              <a:srgbClr val="7543A0"/>
                            </a:solidFill>
                            <a:latin typeface="Cambria Math" panose="02040503050406030204" pitchFamily="18" charset="0"/>
                            <a:ea typeface="Cambria Math"/>
                            <a:cs typeface="Cambria Math"/>
                          </a:rPr>
                          <m:t>const</m:t>
                        </m:r>
                      </m:sup>
                    </m:sSubSup>
                  </m:oMath>
                </a14:m>
                <a:r>
                  <a:rPr lang="en-GB" sz="2100" b="0" i="0" dirty="0">
                    <a:solidFill>
                      <a:srgbClr val="7543A0"/>
                    </a:solidFill>
                    <a:latin typeface="DejaVu Sans"/>
                    <a:ea typeface="DejaVu Sans"/>
                    <a:cs typeface="DejaVu Sans"/>
                  </a:rPr>
                  <a:t>!</a:t>
                </a:r>
              </a:p>
            </p:txBody>
          </p:sp>
        </mc:Choice>
        <mc:Fallback xmlns="">
          <p:sp>
            <p:nvSpPr>
              <p:cNvPr id="21" name="stationary_point_comment">
                <a:extLst>
                  <a:ext uri="{FF2B5EF4-FFF2-40B4-BE49-F238E27FC236}">
                    <a16:creationId xmlns:a16="http://schemas.microsoft.com/office/drawing/2014/main" id="{0C83D367-4599-4968-BAFE-9282F82CCAF4}"/>
                  </a:ext>
                </a:extLst>
              </p:cNvPr>
              <p:cNvSpPr txBox="1">
                <a:spLocks noGrp="1" noRot="1" noChangeAspect="1" noMove="1" noResize="1" noEditPoints="1" noAdjustHandles="1" noChangeArrowheads="1" noChangeShapeType="1" noTextEdit="1"/>
              </p:cNvSpPr>
              <p:nvPr/>
            </p:nvSpPr>
            <p:spPr>
              <a:xfrm>
                <a:off x="6821424" y="6115050"/>
                <a:ext cx="4741926" cy="361950"/>
              </a:xfrm>
              <a:prstGeom prst="rect">
                <a:avLst/>
              </a:prstGeom>
              <a:blipFill>
                <a:blip r:embed="rId11"/>
                <a:stretch>
                  <a:fillRect t="-26667" b="-3000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96228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6"/>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8"/>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20" grpId="0" build="allAtOnce" animBg="1"/>
      <p:bldP spid="21" grpId="0"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A1D14993-10C0-4D51-86CA-B4BA3905D31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Differentiating the constant-predictor loss</a:t>
            </a:r>
          </a:p>
        </p:txBody>
      </p:sp>
      <p:sp>
        <p:nvSpPr>
          <p:cNvPr id="2" name="page_number">
            <a:extLst>
              <a:ext uri="{FF2B5EF4-FFF2-40B4-BE49-F238E27FC236}">
                <a16:creationId xmlns:a16="http://schemas.microsoft.com/office/drawing/2014/main" id="{C10D2C8D-16DD-4583-903D-1C1FF2081873}"/>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13</a:t>
            </a:r>
          </a:p>
        </p:txBody>
      </p:sp>
      <mc:AlternateContent xmlns:mc="http://schemas.openxmlformats.org/markup-compatibility/2006" xmlns:a14="http://schemas.microsoft.com/office/drawing/2010/main">
        <mc:Choice Requires="a14">
          <p:sp>
            <p:nvSpPr>
              <p:cNvPr id="3" name="eq_46">
                <a:extLst>
                  <a:ext uri="{FF2B5EF4-FFF2-40B4-BE49-F238E27FC236}">
                    <a16:creationId xmlns:a16="http://schemas.microsoft.com/office/drawing/2014/main" id="{C71BE365-8B48-42D1-9681-32852E4E53E9}"/>
                  </a:ext>
                </a:extLst>
              </p:cNvPr>
              <p:cNvSpPr txBox="1">
                <a:spLocks noGrp="1"/>
              </p:cNvSpPr>
              <p:nvPr/>
            </p:nvSpPr>
            <p:spPr>
              <a:xfrm>
                <a:off x="485775" y="1028700"/>
                <a:ext cx="10953750" cy="1104900"/>
              </a:xfrm>
              <a:prstGeom prst="rect">
                <a:avLst/>
              </a:prstGeom>
              <a:noFill/>
              <a:ln w="0">
                <a:noFill/>
              </a:ln>
            </p:spPr>
            <p:txBody>
              <a:bodyPr vertOverflow="overflow" wrap="none" lIns="0" tIns="0" rIns="0" bIns="0" anchor="ctr">
                <a:noAutofit/>
              </a:bodyPr>
              <a:lstStyle/>
              <a:p>
                <a:pPr algn="ctr">
                  <a:defRPr lang="en-GB" sz="2625" b="0" i="0" dirty="0">
                    <a:solidFill>
                      <a:srgbClr val="182D45"/>
                    </a:solidFill>
                    <a:latin typeface="DejaVu Sans"/>
                    <a:ea typeface="DejaVu Sans"/>
                    <a:cs typeface="DejaVu Sans"/>
                  </a:defRPr>
                </a:pPr>
                <a14:m>
                  <m:oMathPara xmlns:m="http://schemas.openxmlformats.org/officeDocument/2006/math">
                    <m:oMath>
                      <m:sSubSup>
                        <m:sSubSupPr>
                          <m:ctrlPr>
                            <a:rPr lang="en-GB" sz="2625" b="0" dirty="0">
                              <a:solidFill>
                                <a:srgbClr val="182D45"/>
                              </a:solidFill>
                              <a:latin typeface="Cambria Math"/>
                              <a:ea typeface="Cambria Math"/>
                              <a:cs typeface="Cambria Math"/>
                            </a:rPr>
                          </m:ctrlPr>
                        </m:sSubSupPr>
                        <m:e>
                          <m:r>
                            <a:rPr lang="en-GB" sz="2625" b="0" dirty="0">
                              <a:solidFill>
                                <a:srgbClr val="182D45"/>
                              </a:solidFill>
                              <a:latin typeface="Cambria Math"/>
                              <a:ea typeface="Cambria Math"/>
                              <a:cs typeface="Cambria Math"/>
                            </a:rPr>
                            <m:t>ℒ</m:t>
                          </m:r>
                        </m:e>
                        <m:sub>
                          <m:r>
                            <m:rPr>
                              <m:sty m:val="p"/>
                            </m:rPr>
                            <a:rPr lang="en-GB" sz="2625" b="0" dirty="0">
                              <a:solidFill>
                                <a:srgbClr val="182D45"/>
                              </a:solidFill>
                              <a:latin typeface="Cambria Math"/>
                              <a:ea typeface="Cambria Math"/>
                              <a:cs typeface="Cambria Math"/>
                            </a:rPr>
                            <m:t>sq</m:t>
                          </m:r>
                        </m:sub>
                        <m:sup>
                          <m:r>
                            <m:rPr>
                              <m:sty m:val="p"/>
                            </m:rPr>
                            <a:rPr lang="it-IT" sz="2625" dirty="0">
                              <a:solidFill>
                                <a:srgbClr val="182D45"/>
                              </a:solidFill>
                              <a:latin typeface="Cambria Math" panose="02040503050406030204" pitchFamily="18" charset="0"/>
                              <a:ea typeface="Cambria Math"/>
                              <a:cs typeface="Cambria Math"/>
                            </a:rPr>
                            <m:t>const</m:t>
                          </m:r>
                        </m:sup>
                      </m:sSubSup>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𝑏</m:t>
                          </m:r>
                        </m:e>
                      </m:d>
                      <m:r>
                        <a:rPr lang="en-GB" sz="2625" b="0" dirty="0">
                          <a:solidFill>
                            <a:srgbClr val="182D45"/>
                          </a:solidFill>
                          <a:latin typeface="Cambria Math"/>
                          <a:ea typeface="Cambria Math"/>
                          <a:cs typeface="Cambria Math"/>
                        </a:rPr>
                        <m:t>=</m:t>
                      </m:r>
                      <m:nary>
                        <m:naryPr>
                          <m:chr m:val="∑"/>
                          <m:limLoc m:val="undOvr"/>
                          <m:ctrlPr>
                            <a:rPr lang="en-GB" sz="2625" b="0" dirty="0">
                              <a:solidFill>
                                <a:srgbClr val="182D45"/>
                              </a:solidFill>
                              <a:latin typeface="Cambria Math"/>
                              <a:ea typeface="Cambria Math"/>
                              <a:cs typeface="Cambria Math"/>
                            </a:rPr>
                          </m:ctrlPr>
                        </m:naryPr>
                        <m:sub>
                          <m:r>
                            <a:rPr lang="en-GB" sz="2625" b="0" dirty="0">
                              <a:solidFill>
                                <a:srgbClr val="182D45"/>
                              </a:solidFill>
                              <a:latin typeface="Cambria Math"/>
                              <a:ea typeface="Cambria Math"/>
                              <a:cs typeface="Cambria Math"/>
                            </a:rPr>
                            <m:t>𝑖</m:t>
                          </m:r>
                          <m:r>
                            <a:rPr lang="en-GB" sz="2625" b="0" dirty="0">
                              <a:solidFill>
                                <a:srgbClr val="182D45"/>
                              </a:solidFill>
                              <a:latin typeface="Cambria Math"/>
                              <a:ea typeface="Cambria Math"/>
                              <a:cs typeface="Cambria Math"/>
                            </a:rPr>
                            <m:t>=1</m:t>
                          </m:r>
                        </m:sub>
                        <m:sup>
                          <m:r>
                            <a:rPr lang="en-GB" sz="2625" b="0" dirty="0">
                              <a:solidFill>
                                <a:srgbClr val="182D45"/>
                              </a:solidFill>
                              <a:latin typeface="Cambria Math"/>
                              <a:ea typeface="Cambria Math"/>
                              <a:cs typeface="Cambria Math"/>
                            </a:rPr>
                            <m:t>𝑁</m:t>
                          </m:r>
                        </m:sup>
                        <m:e>
                          <m:sSup>
                            <m:sSupPr>
                              <m:ctrlPr>
                                <a:rPr lang="en-GB" sz="2625" b="0" i="1" dirty="0">
                                  <a:solidFill>
                                    <a:srgbClr val="182D45"/>
                                  </a:solidFill>
                                  <a:latin typeface="Cambria Math" panose="02040503050406030204" pitchFamily="18" charset="0"/>
                                  <a:ea typeface="Cambria Math"/>
                                  <a:cs typeface="Cambria Math"/>
                                </a:rPr>
                              </m:ctrlPr>
                            </m:sSupPr>
                            <m:e>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𝑏</m:t>
                                  </m:r>
                                  <m:r>
                                    <a:rPr lang="en-GB" sz="2625" b="0" dirty="0">
                                      <a:solidFill>
                                        <a:srgbClr val="182D45"/>
                                      </a:solidFill>
                                      <a:latin typeface="Cambria Math"/>
                                      <a:ea typeface="Cambria Math"/>
                                      <a:cs typeface="Cambria Math"/>
                                    </a:rPr>
                                    <m:t>−</m:t>
                                  </m:r>
                                  <m:sSub>
                                    <m:sSubPr>
                                      <m:ctrlPr>
                                        <a:rPr lang="en-GB" sz="2625" b="0" dirty="0">
                                          <a:solidFill>
                                            <a:srgbClr val="182D45"/>
                                          </a:solidFill>
                                          <a:latin typeface="Cambria Math"/>
                                          <a:ea typeface="Cambria Math"/>
                                          <a:cs typeface="Cambria Math"/>
                                        </a:rPr>
                                      </m:ctrlPr>
                                    </m:sSubPr>
                                    <m:e>
                                      <m:r>
                                        <a:rPr lang="en-GB" sz="2625" b="0" dirty="0">
                                          <a:solidFill>
                                            <a:srgbClr val="182D45"/>
                                          </a:solidFill>
                                          <a:latin typeface="Cambria Math"/>
                                          <a:ea typeface="Cambria Math"/>
                                          <a:cs typeface="Cambria Math"/>
                                        </a:rPr>
                                        <m:t>𝑦</m:t>
                                      </m:r>
                                    </m:e>
                                    <m:sub>
                                      <m:r>
                                        <a:rPr lang="en-GB" sz="2625" b="0" dirty="0">
                                          <a:solidFill>
                                            <a:srgbClr val="182D45"/>
                                          </a:solidFill>
                                          <a:latin typeface="Cambria Math"/>
                                          <a:ea typeface="Cambria Math"/>
                                          <a:cs typeface="Cambria Math"/>
                                        </a:rPr>
                                        <m:t>𝑖</m:t>
                                      </m:r>
                                    </m:sub>
                                  </m:sSub>
                                </m:e>
                              </m:d>
                            </m:e>
                            <m:sup>
                              <m:r>
                                <a:rPr lang="en-GB" sz="2625" b="0" dirty="0">
                                  <a:solidFill>
                                    <a:srgbClr val="182D45"/>
                                  </a:solidFill>
                                  <a:latin typeface="Cambria Math"/>
                                  <a:ea typeface="Cambria Math"/>
                                  <a:cs typeface="Cambria Math"/>
                                </a:rPr>
                                <m:t>2</m:t>
                              </m:r>
                            </m:sup>
                          </m:sSup>
                        </m:e>
                      </m:nary>
                      <m:r>
                        <a:rPr lang="en-GB" sz="2625" b="0" dirty="0">
                          <a:solidFill>
                            <a:srgbClr val="182D45"/>
                          </a:solidFill>
                          <a:latin typeface="Cambria Math"/>
                          <a:ea typeface="Cambria Math"/>
                          <a:cs typeface="Cambria Math"/>
                        </a:rPr>
                        <m:t>=</m:t>
                      </m:r>
                      <m:nary>
                        <m:naryPr>
                          <m:chr m:val="∑"/>
                          <m:limLoc m:val="undOvr"/>
                          <m:ctrlPr>
                            <a:rPr lang="en-GB" sz="2625" b="0" dirty="0">
                              <a:solidFill>
                                <a:srgbClr val="182D45"/>
                              </a:solidFill>
                              <a:latin typeface="Cambria Math"/>
                              <a:ea typeface="Cambria Math"/>
                              <a:cs typeface="Cambria Math"/>
                            </a:rPr>
                          </m:ctrlPr>
                        </m:naryPr>
                        <m:sub>
                          <m:r>
                            <a:rPr lang="en-GB" sz="2625" b="0" dirty="0">
                              <a:solidFill>
                                <a:srgbClr val="182D45"/>
                              </a:solidFill>
                              <a:latin typeface="Cambria Math"/>
                              <a:ea typeface="Cambria Math"/>
                              <a:cs typeface="Cambria Math"/>
                            </a:rPr>
                            <m:t>𝑖</m:t>
                          </m:r>
                          <m:r>
                            <a:rPr lang="en-GB" sz="2625" b="0" dirty="0">
                              <a:solidFill>
                                <a:srgbClr val="182D45"/>
                              </a:solidFill>
                              <a:latin typeface="Cambria Math"/>
                              <a:ea typeface="Cambria Math"/>
                              <a:cs typeface="Cambria Math"/>
                            </a:rPr>
                            <m:t>=1</m:t>
                          </m:r>
                        </m:sub>
                        <m:sup>
                          <m:r>
                            <a:rPr lang="en-GB" sz="2625" b="0" dirty="0">
                              <a:solidFill>
                                <a:srgbClr val="182D45"/>
                              </a:solidFill>
                              <a:latin typeface="Cambria Math"/>
                              <a:ea typeface="Cambria Math"/>
                              <a:cs typeface="Cambria Math"/>
                            </a:rPr>
                            <m:t>𝑁</m:t>
                          </m:r>
                        </m:sup>
                        <m:e>
                          <m:sSup>
                            <m:sSupPr>
                              <m:ctrlPr>
                                <a:rPr lang="en-GB" sz="2625" i="1" dirty="0">
                                  <a:solidFill>
                                    <a:srgbClr val="182D45"/>
                                  </a:solidFill>
                                  <a:latin typeface="Cambria Math" panose="02040503050406030204" pitchFamily="18" charset="0"/>
                                  <a:ea typeface="Cambria Math"/>
                                  <a:cs typeface="Cambria Math"/>
                                </a:rPr>
                              </m:ctrlPr>
                            </m:sSupPr>
                            <m:e>
                              <m:d>
                                <m:dPr>
                                  <m:ctrlPr>
                                    <a:rPr lang="en-GB" sz="2625" i="1" dirty="0">
                                      <a:solidFill>
                                        <a:srgbClr val="182D45"/>
                                      </a:solidFill>
                                      <a:latin typeface="Cambria Math" panose="02040503050406030204" pitchFamily="18" charset="0"/>
                                      <a:ea typeface="Cambria Math"/>
                                      <a:cs typeface="Cambria Math"/>
                                    </a:rPr>
                                  </m:ctrlPr>
                                </m:dPr>
                                <m:e>
                                  <m:sSub>
                                    <m:sSubPr>
                                      <m:ctrlPr>
                                        <a:rPr lang="en-GB" sz="2625" dirty="0">
                                          <a:solidFill>
                                            <a:srgbClr val="182D45"/>
                                          </a:solidFill>
                                          <a:latin typeface="Cambria Math"/>
                                          <a:ea typeface="Cambria Math"/>
                                          <a:cs typeface="Cambria Math"/>
                                        </a:rPr>
                                      </m:ctrlPr>
                                    </m:sSubPr>
                                    <m:e>
                                      <m:r>
                                        <a:rPr lang="en-GB" sz="2625" dirty="0">
                                          <a:solidFill>
                                            <a:srgbClr val="182D45"/>
                                          </a:solidFill>
                                          <a:latin typeface="Cambria Math"/>
                                          <a:ea typeface="Cambria Math"/>
                                          <a:cs typeface="Cambria Math"/>
                                        </a:rPr>
                                        <m:t>𝑟</m:t>
                                      </m:r>
                                    </m:e>
                                    <m:sub>
                                      <m:r>
                                        <a:rPr lang="en-GB" sz="2625" dirty="0">
                                          <a:solidFill>
                                            <a:srgbClr val="182D45"/>
                                          </a:solidFill>
                                          <a:latin typeface="Cambria Math"/>
                                          <a:ea typeface="Cambria Math"/>
                                          <a:cs typeface="Cambria Math"/>
                                        </a:rPr>
                                        <m:t>𝑖</m:t>
                                      </m:r>
                                    </m:sub>
                                  </m:sSub>
                                  <m:d>
                                    <m:dPr>
                                      <m:ctrlPr>
                                        <a:rPr lang="en-GB" sz="2625" dirty="0">
                                          <a:solidFill>
                                            <a:srgbClr val="182D45"/>
                                          </a:solidFill>
                                          <a:latin typeface="Cambria Math"/>
                                          <a:ea typeface="Cambria Math"/>
                                          <a:cs typeface="Cambria Math"/>
                                        </a:rPr>
                                      </m:ctrlPr>
                                    </m:dPr>
                                    <m:e>
                                      <m:r>
                                        <a:rPr lang="en-GB" sz="2625" dirty="0">
                                          <a:solidFill>
                                            <a:srgbClr val="182D45"/>
                                          </a:solidFill>
                                          <a:latin typeface="Cambria Math"/>
                                          <a:ea typeface="Cambria Math"/>
                                          <a:cs typeface="Cambria Math"/>
                                        </a:rPr>
                                        <m:t>𝑏</m:t>
                                      </m:r>
                                    </m:e>
                                  </m:d>
                                </m:e>
                              </m:d>
                            </m:e>
                            <m:sup>
                              <m:r>
                                <a:rPr lang="it-IT" sz="2625" i="1" dirty="0">
                                  <a:solidFill>
                                    <a:srgbClr val="182D45"/>
                                  </a:solidFill>
                                  <a:latin typeface="Cambria Math" panose="02040503050406030204" pitchFamily="18" charset="0"/>
                                  <a:ea typeface="Cambria Math"/>
                                  <a:cs typeface="Cambria Math"/>
                                </a:rPr>
                                <m:t>2</m:t>
                              </m:r>
                            </m:sup>
                          </m:sSup>
                        </m:e>
                      </m:nary>
                    </m:oMath>
                  </m:oMathPara>
                </a14:m>
                <a:endParaRPr lang="en-GB" sz="2625" b="0" i="0" dirty="0">
                  <a:solidFill>
                    <a:srgbClr val="182D45"/>
                  </a:solidFill>
                  <a:latin typeface="DejaVu Sans"/>
                  <a:ea typeface="DejaVu Sans"/>
                  <a:cs typeface="DejaVu Sans"/>
                </a:endParaRPr>
              </a:p>
            </p:txBody>
          </p:sp>
        </mc:Choice>
        <mc:Fallback xmlns="">
          <p:sp>
            <p:nvSpPr>
              <p:cNvPr id="3" name="eq_46">
                <a:extLst>
                  <a:ext uri="{FF2B5EF4-FFF2-40B4-BE49-F238E27FC236}">
                    <a16:creationId xmlns:a16="http://schemas.microsoft.com/office/drawing/2014/main" id="{C71BE365-8B48-42D1-9681-32852E4E53E9}"/>
                  </a:ext>
                </a:extLst>
              </p:cNvPr>
              <p:cNvSpPr txBox="1">
                <a:spLocks noGrp="1" noRot="1" noChangeAspect="1" noMove="1" noResize="1" noEditPoints="1" noAdjustHandles="1" noChangeArrowheads="1" noChangeShapeType="1" noTextEdit="1"/>
              </p:cNvSpPr>
              <p:nvPr/>
            </p:nvSpPr>
            <p:spPr>
              <a:xfrm>
                <a:off x="485775" y="1028700"/>
                <a:ext cx="10953750" cy="1104900"/>
              </a:xfrm>
              <a:prstGeom prst="rect">
                <a:avLst/>
              </a:prstGeom>
              <a:blipFill>
                <a:blip r:embed="rId3"/>
                <a:stretch>
                  <a:fillRect b="-110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47">
                <a:extLst>
                  <a:ext uri="{FF2B5EF4-FFF2-40B4-BE49-F238E27FC236}">
                    <a16:creationId xmlns:a16="http://schemas.microsoft.com/office/drawing/2014/main" id="{1029C98F-45B6-4F74-AF0D-721410C2CD03}"/>
                  </a:ext>
                </a:extLst>
              </p:cNvPr>
              <p:cNvSpPr txBox="1">
                <a:spLocks noGrp="1"/>
              </p:cNvSpPr>
              <p:nvPr/>
            </p:nvSpPr>
            <p:spPr>
              <a:xfrm>
                <a:off x="305562" y="2314575"/>
                <a:ext cx="10953750" cy="428625"/>
              </a:xfrm>
              <a:prstGeom prst="rect">
                <a:avLst/>
              </a:prstGeom>
              <a:noFill/>
              <a:ln w="0">
                <a:noFill/>
              </a:ln>
            </p:spPr>
            <p:txBody>
              <a:bodyPr vertOverflow="overflow" wrap="square" lIns="0" tIns="0" rIns="0" bIns="0" anchor="ctr">
                <a:noAutofit/>
              </a:bodyPr>
              <a:lstStyle/>
              <a:p>
                <a:pPr marL="0" marR="0" indent="0" algn="ctr">
                  <a:defRPr lang="en-GB" sz="2250" b="0" i="0" dirty="0">
                    <a:solidFill>
                      <a:srgbClr val="326CB2"/>
                    </a:solidFill>
                    <a:latin typeface="DejaVu Sans"/>
                    <a:ea typeface="DejaVu Sans"/>
                    <a:cs typeface="DejaVu Sans"/>
                  </a:defRPr>
                </a:pPr>
                <a:r>
                  <a:rPr lang="en-GB" sz="2250" b="0" i="0" dirty="0">
                    <a:solidFill>
                      <a:srgbClr val="326CB2"/>
                    </a:solidFill>
                    <a:latin typeface="DejaVu Sans"/>
                    <a:ea typeface="DejaVu Sans"/>
                    <a:cs typeface="DejaVu Sans"/>
                  </a:rPr>
                  <a:t>where </a:t>
                </a:r>
                <a14:m>
                  <m:oMath xmlns:m="http://schemas.openxmlformats.org/officeDocument/2006/math">
                    <m:sSub>
                      <m:sSubPr>
                        <m:ctrlPr>
                          <a:rPr lang="en-GB" sz="2250" b="0" dirty="0">
                            <a:solidFill>
                              <a:srgbClr val="326CB2"/>
                            </a:solidFill>
                            <a:latin typeface="Cambria Math"/>
                            <a:ea typeface="Cambria Math"/>
                            <a:cs typeface="Cambria Math"/>
                          </a:rPr>
                        </m:ctrlPr>
                      </m:sSubPr>
                      <m:e>
                        <m:r>
                          <a:rPr lang="en-GB" sz="2250" b="0" dirty="0">
                            <a:solidFill>
                              <a:srgbClr val="326CB2"/>
                            </a:solidFill>
                            <a:latin typeface="Cambria Math"/>
                            <a:ea typeface="Cambria Math"/>
                            <a:cs typeface="Cambria Math"/>
                          </a:rPr>
                          <m:t>𝑟</m:t>
                        </m:r>
                      </m:e>
                      <m:sub>
                        <m:r>
                          <a:rPr lang="en-GB" sz="2250" b="0" dirty="0">
                            <a:solidFill>
                              <a:srgbClr val="326CB2"/>
                            </a:solidFill>
                            <a:latin typeface="Cambria Math"/>
                            <a:ea typeface="Cambria Math"/>
                            <a:cs typeface="Cambria Math"/>
                          </a:rPr>
                          <m:t>𝑖</m:t>
                        </m:r>
                      </m:sub>
                    </m:sSub>
                    <m:d>
                      <m:dPr>
                        <m:ctrlPr>
                          <a:rPr lang="en-GB" sz="2250" b="0" dirty="0">
                            <a:solidFill>
                              <a:srgbClr val="326CB2"/>
                            </a:solidFill>
                            <a:latin typeface="Cambria Math"/>
                            <a:ea typeface="Cambria Math"/>
                            <a:cs typeface="Cambria Math"/>
                          </a:rPr>
                        </m:ctrlPr>
                      </m:dPr>
                      <m:e>
                        <m:r>
                          <a:rPr lang="en-GB" sz="2250" b="0" dirty="0">
                            <a:solidFill>
                              <a:srgbClr val="326CB2"/>
                            </a:solidFill>
                            <a:latin typeface="Cambria Math"/>
                            <a:ea typeface="Cambria Math"/>
                            <a:cs typeface="Cambria Math"/>
                          </a:rPr>
                          <m:t>𝑏</m:t>
                        </m:r>
                      </m:e>
                    </m:d>
                    <m:r>
                      <a:rPr lang="en-GB" sz="2250" b="0" dirty="0">
                        <a:solidFill>
                          <a:srgbClr val="326CB2"/>
                        </a:solidFill>
                        <a:latin typeface="Cambria Math"/>
                        <a:ea typeface="Cambria Math"/>
                        <a:cs typeface="Cambria Math"/>
                      </a:rPr>
                      <m:t>=</m:t>
                    </m:r>
                    <m:r>
                      <a:rPr lang="en-GB" sz="2250" b="0" dirty="0">
                        <a:solidFill>
                          <a:srgbClr val="326CB2"/>
                        </a:solidFill>
                        <a:latin typeface="Cambria Math"/>
                        <a:ea typeface="Cambria Math"/>
                        <a:cs typeface="Cambria Math"/>
                      </a:rPr>
                      <m:t>𝑏</m:t>
                    </m:r>
                    <m:r>
                      <a:rPr lang="en-GB" sz="2250" b="0" dirty="0">
                        <a:solidFill>
                          <a:srgbClr val="326CB2"/>
                        </a:solidFill>
                        <a:latin typeface="Cambria Math"/>
                        <a:ea typeface="Cambria Math"/>
                        <a:cs typeface="Cambria Math"/>
                      </a:rPr>
                      <m:t>−</m:t>
                    </m:r>
                    <m:sSub>
                      <m:sSubPr>
                        <m:ctrlPr>
                          <a:rPr lang="en-GB" sz="2250" b="0" dirty="0">
                            <a:solidFill>
                              <a:srgbClr val="326CB2"/>
                            </a:solidFill>
                            <a:latin typeface="Cambria Math"/>
                            <a:ea typeface="Cambria Math"/>
                            <a:cs typeface="Cambria Math"/>
                          </a:rPr>
                        </m:ctrlPr>
                      </m:sSubPr>
                      <m:e>
                        <m:r>
                          <a:rPr lang="en-GB" sz="2250" b="0" dirty="0">
                            <a:solidFill>
                              <a:srgbClr val="326CB2"/>
                            </a:solidFill>
                            <a:latin typeface="Cambria Math"/>
                            <a:ea typeface="Cambria Math"/>
                            <a:cs typeface="Cambria Math"/>
                          </a:rPr>
                          <m:t>𝑦</m:t>
                        </m:r>
                      </m:e>
                      <m:sub>
                        <m:r>
                          <a:rPr lang="en-GB" sz="2250" b="0" dirty="0">
                            <a:solidFill>
                              <a:srgbClr val="326CB2"/>
                            </a:solidFill>
                            <a:latin typeface="Cambria Math"/>
                            <a:ea typeface="Cambria Math"/>
                            <a:cs typeface="Cambria Math"/>
                          </a:rPr>
                          <m:t>𝑖</m:t>
                        </m:r>
                      </m:sub>
                    </m:sSub>
                  </m:oMath>
                </a14:m>
                <a:r>
                  <a:rPr lang="en-GB" sz="2250" b="0" i="0" dirty="0">
                    <a:solidFill>
                      <a:srgbClr val="326CB2"/>
                    </a:solidFill>
                    <a:latin typeface="DejaVu Sans"/>
                    <a:ea typeface="DejaVu Sans"/>
                    <a:cs typeface="DejaVu Sans"/>
                  </a:rPr>
                  <a:t> is the </a:t>
                </a:r>
                <a:r>
                  <a:rPr lang="en-GB" sz="2250" b="0" i="0" dirty="0" err="1">
                    <a:solidFill>
                      <a:srgbClr val="326CB2"/>
                    </a:solidFill>
                    <a:latin typeface="DejaVu Sans"/>
                    <a:ea typeface="DejaVu Sans"/>
                    <a:cs typeface="DejaVu Sans"/>
                  </a:rPr>
                  <a:t>i-th</a:t>
                </a:r>
                <a:r>
                  <a:rPr lang="en-GB" sz="2250" b="0" i="0" dirty="0">
                    <a:solidFill>
                      <a:srgbClr val="326CB2"/>
                    </a:solidFill>
                    <a:latin typeface="DejaVu Sans"/>
                    <a:ea typeface="DejaVu Sans"/>
                    <a:cs typeface="DejaVu Sans"/>
                  </a:rPr>
                  <a:t> residual, so </a:t>
                </a:r>
                <a14:m>
                  <m:oMath xmlns:m="http://schemas.openxmlformats.org/officeDocument/2006/math">
                    <m:sSubSup>
                      <m:sSubSupPr>
                        <m:ctrlPr>
                          <a:rPr lang="en-GB" sz="2250" b="0" dirty="0">
                            <a:solidFill>
                              <a:srgbClr val="326CB2"/>
                            </a:solidFill>
                            <a:latin typeface="Cambria Math"/>
                            <a:ea typeface="Cambria Math"/>
                            <a:cs typeface="Cambria Math"/>
                          </a:rPr>
                        </m:ctrlPr>
                      </m:sSubSupPr>
                      <m:e>
                        <m:r>
                          <a:rPr lang="en-GB" sz="2250" b="0" dirty="0">
                            <a:solidFill>
                              <a:srgbClr val="326CB2"/>
                            </a:solidFill>
                            <a:latin typeface="Cambria Math"/>
                            <a:ea typeface="Cambria Math"/>
                            <a:cs typeface="Cambria Math"/>
                          </a:rPr>
                          <m:t>𝑟</m:t>
                        </m:r>
                      </m:e>
                      <m:sub>
                        <m:r>
                          <a:rPr lang="en-GB" sz="2250" b="0" dirty="0">
                            <a:solidFill>
                              <a:srgbClr val="326CB2"/>
                            </a:solidFill>
                            <a:latin typeface="Cambria Math"/>
                            <a:ea typeface="Cambria Math"/>
                            <a:cs typeface="Cambria Math"/>
                          </a:rPr>
                          <m:t>𝑖</m:t>
                        </m:r>
                      </m:sub>
                      <m:sup>
                        <m:r>
                          <a:rPr lang="en-GB" sz="2250" b="0" dirty="0">
                            <a:solidFill>
                              <a:srgbClr val="326CB2"/>
                            </a:solidFill>
                            <a:latin typeface="Cambria Math"/>
                            <a:ea typeface="Cambria Math"/>
                            <a:cs typeface="Cambria Math"/>
                          </a:rPr>
                          <m:t>′</m:t>
                        </m:r>
                      </m:sup>
                    </m:sSubSup>
                    <m:d>
                      <m:dPr>
                        <m:ctrlPr>
                          <a:rPr lang="en-GB" sz="2250" b="0" dirty="0">
                            <a:solidFill>
                              <a:srgbClr val="326CB2"/>
                            </a:solidFill>
                            <a:latin typeface="Cambria Math"/>
                            <a:ea typeface="Cambria Math"/>
                            <a:cs typeface="Cambria Math"/>
                          </a:rPr>
                        </m:ctrlPr>
                      </m:dPr>
                      <m:e>
                        <m:r>
                          <a:rPr lang="en-GB" sz="2250" b="0" dirty="0">
                            <a:solidFill>
                              <a:srgbClr val="326CB2"/>
                            </a:solidFill>
                            <a:latin typeface="Cambria Math"/>
                            <a:ea typeface="Cambria Math"/>
                            <a:cs typeface="Cambria Math"/>
                          </a:rPr>
                          <m:t>𝑏</m:t>
                        </m:r>
                      </m:e>
                    </m:d>
                    <m:r>
                      <a:rPr lang="en-GB" sz="2250" b="0" dirty="0">
                        <a:solidFill>
                          <a:srgbClr val="326CB2"/>
                        </a:solidFill>
                        <a:latin typeface="Cambria Math"/>
                        <a:ea typeface="Cambria Math"/>
                        <a:cs typeface="Cambria Math"/>
                      </a:rPr>
                      <m:t>=1</m:t>
                    </m:r>
                  </m:oMath>
                </a14:m>
                <a:r>
                  <a:rPr lang="en-GB" sz="2250" b="0" i="0" dirty="0">
                    <a:solidFill>
                      <a:srgbClr val="326CB2"/>
                    </a:solidFill>
                    <a:latin typeface="DejaVu Sans"/>
                    <a:ea typeface="DejaVu Sans"/>
                    <a:cs typeface="DejaVu Sans"/>
                  </a:rPr>
                  <a:t>.</a:t>
                </a:r>
              </a:p>
            </p:txBody>
          </p:sp>
        </mc:Choice>
        <mc:Fallback xmlns="">
          <p:sp>
            <p:nvSpPr>
              <p:cNvPr id="4" name="eq_47">
                <a:extLst>
                  <a:ext uri="{FF2B5EF4-FFF2-40B4-BE49-F238E27FC236}">
                    <a16:creationId xmlns:a16="http://schemas.microsoft.com/office/drawing/2014/main" id="{1029C98F-45B6-4F74-AF0D-721410C2CD03}"/>
                  </a:ext>
                </a:extLst>
              </p:cNvPr>
              <p:cNvSpPr txBox="1">
                <a:spLocks noGrp="1" noRot="1" noChangeAspect="1" noMove="1" noResize="1" noEditPoints="1" noAdjustHandles="1" noChangeArrowheads="1" noChangeShapeType="1" noTextEdit="1"/>
              </p:cNvSpPr>
              <p:nvPr/>
            </p:nvSpPr>
            <p:spPr>
              <a:xfrm>
                <a:off x="305562" y="2314575"/>
                <a:ext cx="10953750" cy="428625"/>
              </a:xfrm>
              <a:prstGeom prst="rect">
                <a:avLst/>
              </a:prstGeom>
              <a:blipFill>
                <a:blip r:embed="rId4"/>
                <a:stretch>
                  <a:fillRect t="-12857" b="-28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48">
                <a:extLst>
                  <a:ext uri="{FF2B5EF4-FFF2-40B4-BE49-F238E27FC236}">
                    <a16:creationId xmlns:a16="http://schemas.microsoft.com/office/drawing/2014/main" id="{5B08C179-8BEB-4CC5-A3A8-30138A5CE07A}"/>
                  </a:ext>
                </a:extLst>
              </p:cNvPr>
              <p:cNvSpPr txBox="1">
                <a:spLocks noGrp="1"/>
              </p:cNvSpPr>
              <p:nvPr/>
            </p:nvSpPr>
            <p:spPr>
              <a:xfrm>
                <a:off x="609600" y="3390900"/>
                <a:ext cx="10953750" cy="2667000"/>
              </a:xfrm>
              <a:prstGeom prst="rect">
                <a:avLst/>
              </a:prstGeom>
              <a:noFill/>
              <a:ln w="0">
                <a:noFill/>
              </a:ln>
            </p:spPr>
            <p:txBody>
              <a:bodyPr vertOverflow="overflow" wrap="none" lIns="0" tIns="0" rIns="0" bIns="0" anchor="ctr">
                <a:noAutofit/>
              </a:bodyPr>
              <a:lstStyle/>
              <a:p>
                <a:pPr algn="ctr">
                  <a:defRPr lang="en-GB" sz="2625" b="0" i="0" dirty="0">
                    <a:solidFill>
                      <a:srgbClr val="182D45"/>
                    </a:solidFill>
                    <a:latin typeface="DejaVu Sans"/>
                    <a:ea typeface="DejaVu Sans"/>
                    <a:cs typeface="DejaVu Sans"/>
                  </a:defRPr>
                </a:pPr>
                <a14:m>
                  <m:oMathPara xmlns:m="http://schemas.openxmlformats.org/officeDocument/2006/math">
                    <m:oMath>
                      <m:sSup>
                        <m:sSupPr>
                          <m:ctrlPr>
                            <a:rPr lang="en-GB" sz="2625" i="1" dirty="0">
                              <a:solidFill>
                                <a:srgbClr val="182D45"/>
                              </a:solidFill>
                              <a:latin typeface="Cambria Math" panose="02040503050406030204" pitchFamily="18" charset="0"/>
                              <a:ea typeface="Cambria Math"/>
                              <a:cs typeface="Cambria Math"/>
                            </a:rPr>
                          </m:ctrlPr>
                        </m:sSupPr>
                        <m:e>
                          <m:d>
                            <m:dPr>
                              <m:ctrlPr>
                                <a:rPr lang="en-GB" sz="2625" i="1" dirty="0">
                                  <a:solidFill>
                                    <a:srgbClr val="182D45"/>
                                  </a:solidFill>
                                  <a:latin typeface="Cambria Math" panose="02040503050406030204" pitchFamily="18" charset="0"/>
                                  <a:ea typeface="Cambria Math"/>
                                  <a:cs typeface="Cambria Math"/>
                                </a:rPr>
                              </m:ctrlPr>
                            </m:dPr>
                            <m:e>
                              <m:sSubSup>
                                <m:sSubSupPr>
                                  <m:ctrlPr>
                                    <a:rPr lang="en-GB" sz="2625" dirty="0">
                                      <a:solidFill>
                                        <a:srgbClr val="182D45"/>
                                      </a:solidFill>
                                      <a:latin typeface="Cambria Math"/>
                                      <a:ea typeface="Cambria Math"/>
                                      <a:cs typeface="Cambria Math"/>
                                    </a:rPr>
                                  </m:ctrlPr>
                                </m:sSubSupPr>
                                <m:e>
                                  <m:r>
                                    <a:rPr lang="en-GB" sz="2625" dirty="0">
                                      <a:solidFill>
                                        <a:srgbClr val="182D45"/>
                                      </a:solidFill>
                                      <a:latin typeface="Cambria Math"/>
                                      <a:ea typeface="Cambria Math"/>
                                      <a:cs typeface="Cambria Math"/>
                                    </a:rPr>
                                    <m:t>ℒ</m:t>
                                  </m:r>
                                </m:e>
                                <m:sub>
                                  <m:r>
                                    <m:rPr>
                                      <m:sty m:val="p"/>
                                    </m:rPr>
                                    <a:rPr lang="en-GB" sz="2625" dirty="0">
                                      <a:solidFill>
                                        <a:srgbClr val="182D45"/>
                                      </a:solidFill>
                                      <a:latin typeface="Cambria Math"/>
                                      <a:ea typeface="Cambria Math"/>
                                      <a:cs typeface="Cambria Math"/>
                                    </a:rPr>
                                    <m:t>sq</m:t>
                                  </m:r>
                                </m:sub>
                                <m:sup>
                                  <m:r>
                                    <m:rPr>
                                      <m:sty m:val="p"/>
                                    </m:rPr>
                                    <a:rPr lang="it-IT" sz="2625" dirty="0">
                                      <a:solidFill>
                                        <a:srgbClr val="182D45"/>
                                      </a:solidFill>
                                      <a:latin typeface="Cambria Math" panose="02040503050406030204" pitchFamily="18" charset="0"/>
                                      <a:ea typeface="Cambria Math"/>
                                      <a:cs typeface="Cambria Math"/>
                                    </a:rPr>
                                    <m:t>const</m:t>
                                  </m:r>
                                </m:sup>
                              </m:sSubSup>
                            </m:e>
                          </m:d>
                        </m:e>
                        <m:sup>
                          <m:r>
                            <a:rPr lang="it-IT" sz="2625" b="0" i="1" dirty="0" smtClean="0">
                              <a:solidFill>
                                <a:srgbClr val="182D45"/>
                              </a:solidFill>
                              <a:latin typeface="Cambria Math" panose="02040503050406030204" pitchFamily="18" charset="0"/>
                              <a:ea typeface="Cambria Math"/>
                              <a:cs typeface="Cambria Math"/>
                            </a:rPr>
                            <m:t>′</m:t>
                          </m:r>
                        </m:sup>
                      </m:sSup>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𝑏</m:t>
                          </m:r>
                        </m:e>
                      </m:d>
                      <m:r>
                        <a:rPr lang="it-IT" sz="2625" b="0" i="1" dirty="0" smtClean="0">
                          <a:solidFill>
                            <a:srgbClr val="182D45"/>
                          </a:solidFill>
                          <a:latin typeface="Cambria Math" panose="02040503050406030204" pitchFamily="18" charset="0"/>
                          <a:ea typeface="Cambria Math"/>
                          <a:cs typeface="Cambria Math"/>
                        </a:rPr>
                        <m:t>=</m:t>
                      </m:r>
                      <m:f>
                        <m:fPr>
                          <m:ctrlPr>
                            <a:rPr lang="it-IT" sz="2625" b="0" i="0" dirty="0" smtClean="0">
                              <a:solidFill>
                                <a:srgbClr val="182D45"/>
                              </a:solidFill>
                              <a:latin typeface="Cambria Math" panose="02040503050406030204" pitchFamily="18" charset="0"/>
                              <a:ea typeface="Cambria Math"/>
                            </a:rPr>
                          </m:ctrlPr>
                        </m:fPr>
                        <m:num>
                          <m:r>
                            <m:rPr>
                              <m:sty m:val="p"/>
                            </m:rPr>
                            <a:rPr lang="it-IT" sz="2625" b="0" i="0" dirty="0" smtClean="0">
                              <a:solidFill>
                                <a:srgbClr val="182D45"/>
                              </a:solidFill>
                              <a:latin typeface="Cambria Math" panose="02040503050406030204" pitchFamily="18" charset="0"/>
                              <a:ea typeface="Cambria Math"/>
                            </a:rPr>
                            <m:t>d</m:t>
                          </m:r>
                        </m:num>
                        <m:den>
                          <m:r>
                            <m:rPr>
                              <m:sty m:val="p"/>
                            </m:rPr>
                            <a:rPr lang="it-IT" sz="2625" b="0" i="0" dirty="0" smtClean="0">
                              <a:solidFill>
                                <a:srgbClr val="182D45"/>
                              </a:solidFill>
                              <a:latin typeface="Cambria Math" panose="02040503050406030204" pitchFamily="18" charset="0"/>
                              <a:ea typeface="Cambria Math"/>
                            </a:rPr>
                            <m:t>d</m:t>
                          </m:r>
                          <m:r>
                            <a:rPr lang="it-IT" sz="2625" b="0" i="1" dirty="0" smtClean="0">
                              <a:solidFill>
                                <a:srgbClr val="182D45"/>
                              </a:solidFill>
                              <a:latin typeface="Cambria Math" panose="02040503050406030204" pitchFamily="18" charset="0"/>
                              <a:ea typeface="Cambria Math"/>
                            </a:rPr>
                            <m:t>𝑏</m:t>
                          </m:r>
                        </m:den>
                      </m:f>
                      <m:nary>
                        <m:naryPr>
                          <m:chr m:val="∑"/>
                          <m:limLoc m:val="undOvr"/>
                          <m:ctrlPr>
                            <a:rPr lang="en-GB" sz="2625" dirty="0">
                              <a:solidFill>
                                <a:srgbClr val="182D45"/>
                              </a:solidFill>
                              <a:latin typeface="Cambria Math"/>
                              <a:ea typeface="Cambria Math"/>
                              <a:cs typeface="Cambria Math"/>
                            </a:rPr>
                          </m:ctrlPr>
                        </m:naryPr>
                        <m:sub>
                          <m:r>
                            <a:rPr lang="en-GB" sz="2625" dirty="0">
                              <a:solidFill>
                                <a:srgbClr val="182D45"/>
                              </a:solidFill>
                              <a:latin typeface="Cambria Math"/>
                              <a:ea typeface="Cambria Math"/>
                              <a:cs typeface="Cambria Math"/>
                            </a:rPr>
                            <m:t>𝑖</m:t>
                          </m:r>
                          <m:r>
                            <a:rPr lang="en-GB" sz="2625" dirty="0">
                              <a:solidFill>
                                <a:srgbClr val="182D45"/>
                              </a:solidFill>
                              <a:latin typeface="Cambria Math"/>
                              <a:ea typeface="Cambria Math"/>
                              <a:cs typeface="Cambria Math"/>
                            </a:rPr>
                            <m:t>=1</m:t>
                          </m:r>
                        </m:sub>
                        <m:sup>
                          <m:r>
                            <a:rPr lang="en-GB" sz="2625" dirty="0">
                              <a:solidFill>
                                <a:srgbClr val="182D45"/>
                              </a:solidFill>
                              <a:latin typeface="Cambria Math"/>
                              <a:ea typeface="Cambria Math"/>
                              <a:cs typeface="Cambria Math"/>
                            </a:rPr>
                            <m:t>𝑁</m:t>
                          </m:r>
                        </m:sup>
                        <m:e>
                          <m:sSup>
                            <m:sSupPr>
                              <m:ctrlPr>
                                <a:rPr lang="en-GB" sz="2625" i="1" dirty="0">
                                  <a:solidFill>
                                    <a:srgbClr val="182D45"/>
                                  </a:solidFill>
                                  <a:latin typeface="Cambria Math" panose="02040503050406030204" pitchFamily="18" charset="0"/>
                                  <a:ea typeface="Cambria Math"/>
                                  <a:cs typeface="Cambria Math"/>
                                </a:rPr>
                              </m:ctrlPr>
                            </m:sSupPr>
                            <m:e>
                              <m:d>
                                <m:dPr>
                                  <m:ctrlPr>
                                    <a:rPr lang="en-GB" sz="2625" i="1" dirty="0">
                                      <a:solidFill>
                                        <a:srgbClr val="182D45"/>
                                      </a:solidFill>
                                      <a:latin typeface="Cambria Math" panose="02040503050406030204" pitchFamily="18" charset="0"/>
                                      <a:ea typeface="Cambria Math"/>
                                      <a:cs typeface="Cambria Math"/>
                                    </a:rPr>
                                  </m:ctrlPr>
                                </m:dPr>
                                <m:e>
                                  <m:sSub>
                                    <m:sSubPr>
                                      <m:ctrlPr>
                                        <a:rPr lang="en-GB" sz="2625" dirty="0">
                                          <a:solidFill>
                                            <a:srgbClr val="182D45"/>
                                          </a:solidFill>
                                          <a:latin typeface="Cambria Math"/>
                                          <a:ea typeface="Cambria Math"/>
                                          <a:cs typeface="Cambria Math"/>
                                        </a:rPr>
                                      </m:ctrlPr>
                                    </m:sSubPr>
                                    <m:e>
                                      <m:r>
                                        <a:rPr lang="en-GB" sz="2625" dirty="0">
                                          <a:solidFill>
                                            <a:srgbClr val="182D45"/>
                                          </a:solidFill>
                                          <a:latin typeface="Cambria Math"/>
                                          <a:ea typeface="Cambria Math"/>
                                          <a:cs typeface="Cambria Math"/>
                                        </a:rPr>
                                        <m:t>𝑟</m:t>
                                      </m:r>
                                    </m:e>
                                    <m:sub>
                                      <m:r>
                                        <a:rPr lang="en-GB" sz="2625" dirty="0">
                                          <a:solidFill>
                                            <a:srgbClr val="182D45"/>
                                          </a:solidFill>
                                          <a:latin typeface="Cambria Math"/>
                                          <a:ea typeface="Cambria Math"/>
                                          <a:cs typeface="Cambria Math"/>
                                        </a:rPr>
                                        <m:t>𝑖</m:t>
                                      </m:r>
                                    </m:sub>
                                  </m:sSub>
                                  <m:d>
                                    <m:dPr>
                                      <m:ctrlPr>
                                        <a:rPr lang="en-GB" sz="2625" dirty="0">
                                          <a:solidFill>
                                            <a:srgbClr val="182D45"/>
                                          </a:solidFill>
                                          <a:latin typeface="Cambria Math"/>
                                          <a:ea typeface="Cambria Math"/>
                                          <a:cs typeface="Cambria Math"/>
                                        </a:rPr>
                                      </m:ctrlPr>
                                    </m:dPr>
                                    <m:e>
                                      <m:r>
                                        <a:rPr lang="en-GB" sz="2625" dirty="0">
                                          <a:solidFill>
                                            <a:srgbClr val="182D45"/>
                                          </a:solidFill>
                                          <a:latin typeface="Cambria Math"/>
                                          <a:ea typeface="Cambria Math"/>
                                          <a:cs typeface="Cambria Math"/>
                                        </a:rPr>
                                        <m:t>𝑏</m:t>
                                      </m:r>
                                    </m:e>
                                  </m:d>
                                </m:e>
                              </m:d>
                            </m:e>
                            <m:sup>
                              <m:r>
                                <a:rPr lang="it-IT" sz="2625" i="1" dirty="0">
                                  <a:solidFill>
                                    <a:srgbClr val="182D45"/>
                                  </a:solidFill>
                                  <a:latin typeface="Cambria Math" panose="02040503050406030204" pitchFamily="18" charset="0"/>
                                  <a:ea typeface="Cambria Math"/>
                                  <a:cs typeface="Cambria Math"/>
                                </a:rPr>
                                <m:t>2</m:t>
                              </m:r>
                            </m:sup>
                          </m:sSup>
                        </m:e>
                      </m:nary>
                      <m:r>
                        <a:rPr lang="it-IT" sz="2625" b="0" i="1" dirty="0" smtClean="0">
                          <a:solidFill>
                            <a:srgbClr val="182D45"/>
                          </a:solidFill>
                          <a:latin typeface="Cambria Math" panose="02040503050406030204" pitchFamily="18" charset="0"/>
                          <a:ea typeface="Cambria Math"/>
                          <a:cs typeface="Cambria Math"/>
                        </a:rPr>
                        <m:t>=</m:t>
                      </m:r>
                      <m:nary>
                        <m:naryPr>
                          <m:chr m:val="∑"/>
                          <m:limLoc m:val="undOvr"/>
                          <m:ctrlPr>
                            <a:rPr lang="en-GB" sz="2625" dirty="0">
                              <a:solidFill>
                                <a:srgbClr val="182D45"/>
                              </a:solidFill>
                              <a:latin typeface="Cambria Math"/>
                              <a:ea typeface="Cambria Math"/>
                              <a:cs typeface="Cambria Math"/>
                            </a:rPr>
                          </m:ctrlPr>
                        </m:naryPr>
                        <m:sub>
                          <m:r>
                            <a:rPr lang="en-GB" sz="2625" dirty="0">
                              <a:solidFill>
                                <a:srgbClr val="182D45"/>
                              </a:solidFill>
                              <a:latin typeface="Cambria Math"/>
                              <a:ea typeface="Cambria Math"/>
                              <a:cs typeface="Cambria Math"/>
                            </a:rPr>
                            <m:t>𝑖</m:t>
                          </m:r>
                          <m:r>
                            <a:rPr lang="en-GB" sz="2625" dirty="0">
                              <a:solidFill>
                                <a:srgbClr val="182D45"/>
                              </a:solidFill>
                              <a:latin typeface="Cambria Math"/>
                              <a:ea typeface="Cambria Math"/>
                              <a:cs typeface="Cambria Math"/>
                            </a:rPr>
                            <m:t>=1</m:t>
                          </m:r>
                        </m:sub>
                        <m:sup>
                          <m:r>
                            <a:rPr lang="en-GB" sz="2625" dirty="0">
                              <a:solidFill>
                                <a:srgbClr val="182D45"/>
                              </a:solidFill>
                              <a:latin typeface="Cambria Math"/>
                              <a:ea typeface="Cambria Math"/>
                              <a:cs typeface="Cambria Math"/>
                            </a:rPr>
                            <m:t>𝑁</m:t>
                          </m:r>
                        </m:sup>
                        <m:e>
                          <m:f>
                            <m:fPr>
                              <m:ctrlPr>
                                <a:rPr lang="it-IT" sz="2625" dirty="0">
                                  <a:solidFill>
                                    <a:srgbClr val="182D45"/>
                                  </a:solidFill>
                                  <a:latin typeface="Cambria Math" panose="02040503050406030204" pitchFamily="18" charset="0"/>
                                  <a:ea typeface="Cambria Math"/>
                                </a:rPr>
                              </m:ctrlPr>
                            </m:fPr>
                            <m:num>
                              <m:r>
                                <m:rPr>
                                  <m:sty m:val="p"/>
                                </m:rPr>
                                <a:rPr lang="it-IT" sz="2625" dirty="0">
                                  <a:solidFill>
                                    <a:srgbClr val="182D45"/>
                                  </a:solidFill>
                                  <a:latin typeface="Cambria Math" panose="02040503050406030204" pitchFamily="18" charset="0"/>
                                  <a:ea typeface="Cambria Math"/>
                                </a:rPr>
                                <m:t>d</m:t>
                              </m:r>
                            </m:num>
                            <m:den>
                              <m:r>
                                <m:rPr>
                                  <m:sty m:val="p"/>
                                </m:rPr>
                                <a:rPr lang="it-IT" sz="2625" dirty="0">
                                  <a:solidFill>
                                    <a:srgbClr val="182D45"/>
                                  </a:solidFill>
                                  <a:latin typeface="Cambria Math" panose="02040503050406030204" pitchFamily="18" charset="0"/>
                                  <a:ea typeface="Cambria Math"/>
                                </a:rPr>
                                <m:t>d</m:t>
                              </m:r>
                              <m:r>
                                <a:rPr lang="it-IT" sz="2625" i="1" dirty="0">
                                  <a:solidFill>
                                    <a:srgbClr val="182D45"/>
                                  </a:solidFill>
                                  <a:latin typeface="Cambria Math" panose="02040503050406030204" pitchFamily="18" charset="0"/>
                                  <a:ea typeface="Cambria Math"/>
                                </a:rPr>
                                <m:t>𝑏</m:t>
                              </m:r>
                            </m:den>
                          </m:f>
                          <m:sSup>
                            <m:sSupPr>
                              <m:ctrlPr>
                                <a:rPr lang="en-GB" sz="2625" i="1" dirty="0">
                                  <a:solidFill>
                                    <a:srgbClr val="182D45"/>
                                  </a:solidFill>
                                  <a:latin typeface="Cambria Math" panose="02040503050406030204" pitchFamily="18" charset="0"/>
                                  <a:ea typeface="Cambria Math"/>
                                  <a:cs typeface="Cambria Math"/>
                                </a:rPr>
                              </m:ctrlPr>
                            </m:sSupPr>
                            <m:e>
                              <m:d>
                                <m:dPr>
                                  <m:ctrlPr>
                                    <a:rPr lang="en-GB" sz="2625" i="1" dirty="0">
                                      <a:solidFill>
                                        <a:srgbClr val="182D45"/>
                                      </a:solidFill>
                                      <a:latin typeface="Cambria Math" panose="02040503050406030204" pitchFamily="18" charset="0"/>
                                      <a:ea typeface="Cambria Math"/>
                                      <a:cs typeface="Cambria Math"/>
                                    </a:rPr>
                                  </m:ctrlPr>
                                </m:dPr>
                                <m:e>
                                  <m:sSub>
                                    <m:sSubPr>
                                      <m:ctrlPr>
                                        <a:rPr lang="en-GB" sz="2625" dirty="0">
                                          <a:solidFill>
                                            <a:srgbClr val="182D45"/>
                                          </a:solidFill>
                                          <a:latin typeface="Cambria Math"/>
                                          <a:ea typeface="Cambria Math"/>
                                          <a:cs typeface="Cambria Math"/>
                                        </a:rPr>
                                      </m:ctrlPr>
                                    </m:sSubPr>
                                    <m:e>
                                      <m:r>
                                        <a:rPr lang="en-GB" sz="2625" dirty="0">
                                          <a:solidFill>
                                            <a:srgbClr val="182D45"/>
                                          </a:solidFill>
                                          <a:latin typeface="Cambria Math"/>
                                          <a:ea typeface="Cambria Math"/>
                                          <a:cs typeface="Cambria Math"/>
                                        </a:rPr>
                                        <m:t>𝑟</m:t>
                                      </m:r>
                                    </m:e>
                                    <m:sub>
                                      <m:r>
                                        <a:rPr lang="en-GB" sz="2625" dirty="0">
                                          <a:solidFill>
                                            <a:srgbClr val="182D45"/>
                                          </a:solidFill>
                                          <a:latin typeface="Cambria Math"/>
                                          <a:ea typeface="Cambria Math"/>
                                          <a:cs typeface="Cambria Math"/>
                                        </a:rPr>
                                        <m:t>𝑖</m:t>
                                      </m:r>
                                    </m:sub>
                                  </m:sSub>
                                  <m:d>
                                    <m:dPr>
                                      <m:ctrlPr>
                                        <a:rPr lang="en-GB" sz="2625" dirty="0">
                                          <a:solidFill>
                                            <a:srgbClr val="182D45"/>
                                          </a:solidFill>
                                          <a:latin typeface="Cambria Math"/>
                                          <a:ea typeface="Cambria Math"/>
                                          <a:cs typeface="Cambria Math"/>
                                        </a:rPr>
                                      </m:ctrlPr>
                                    </m:dPr>
                                    <m:e>
                                      <m:r>
                                        <a:rPr lang="en-GB" sz="2625" dirty="0">
                                          <a:solidFill>
                                            <a:srgbClr val="182D45"/>
                                          </a:solidFill>
                                          <a:latin typeface="Cambria Math"/>
                                          <a:ea typeface="Cambria Math"/>
                                          <a:cs typeface="Cambria Math"/>
                                        </a:rPr>
                                        <m:t>𝑏</m:t>
                                      </m:r>
                                    </m:e>
                                  </m:d>
                                </m:e>
                              </m:d>
                            </m:e>
                            <m:sup>
                              <m:r>
                                <a:rPr lang="it-IT" sz="2625" i="1" dirty="0">
                                  <a:solidFill>
                                    <a:srgbClr val="182D45"/>
                                  </a:solidFill>
                                  <a:latin typeface="Cambria Math" panose="02040503050406030204" pitchFamily="18" charset="0"/>
                                  <a:ea typeface="Cambria Math"/>
                                  <a:cs typeface="Cambria Math"/>
                                </a:rPr>
                                <m:t>2</m:t>
                              </m:r>
                            </m:sup>
                          </m:sSup>
                        </m:e>
                      </m:nary>
                      <m:r>
                        <a:rPr lang="en-GB" sz="2625" b="0" dirty="0">
                          <a:solidFill>
                            <a:srgbClr val="182D45"/>
                          </a:solidFill>
                          <a:latin typeface="Cambria Math"/>
                          <a:ea typeface="Cambria Math"/>
                          <a:cs typeface="Cambria Math"/>
                        </a:rPr>
                        <m:t>=</m:t>
                      </m:r>
                      <m:nary>
                        <m:naryPr>
                          <m:chr m:val="∑"/>
                          <m:limLoc m:val="undOvr"/>
                          <m:ctrlPr>
                            <a:rPr lang="en-GB" sz="2625" dirty="0">
                              <a:solidFill>
                                <a:srgbClr val="182D45"/>
                              </a:solidFill>
                              <a:latin typeface="Cambria Math"/>
                              <a:ea typeface="Cambria Math"/>
                              <a:cs typeface="Cambria Math"/>
                            </a:rPr>
                          </m:ctrlPr>
                        </m:naryPr>
                        <m:sub>
                          <m:r>
                            <a:rPr lang="en-GB" sz="2625" dirty="0">
                              <a:solidFill>
                                <a:srgbClr val="182D45"/>
                              </a:solidFill>
                              <a:latin typeface="Cambria Math"/>
                              <a:ea typeface="Cambria Math"/>
                              <a:cs typeface="Cambria Math"/>
                            </a:rPr>
                            <m:t>𝑖</m:t>
                          </m:r>
                          <m:r>
                            <a:rPr lang="en-GB" sz="2625" dirty="0">
                              <a:solidFill>
                                <a:srgbClr val="182D45"/>
                              </a:solidFill>
                              <a:latin typeface="Cambria Math"/>
                              <a:ea typeface="Cambria Math"/>
                              <a:cs typeface="Cambria Math"/>
                            </a:rPr>
                            <m:t>=1</m:t>
                          </m:r>
                        </m:sub>
                        <m:sup>
                          <m:r>
                            <a:rPr lang="en-GB" sz="2625" dirty="0">
                              <a:solidFill>
                                <a:srgbClr val="182D45"/>
                              </a:solidFill>
                              <a:latin typeface="Cambria Math"/>
                              <a:ea typeface="Cambria Math"/>
                              <a:cs typeface="Cambria Math"/>
                            </a:rPr>
                            <m:t>𝑁</m:t>
                          </m:r>
                        </m:sup>
                        <m:e>
                          <m:sSup>
                            <m:sSupPr>
                              <m:ctrlPr>
                                <a:rPr lang="it-IT" sz="2625" b="0" i="1" dirty="0" smtClean="0">
                                  <a:solidFill>
                                    <a:srgbClr val="182D45"/>
                                  </a:solidFill>
                                  <a:latin typeface="Cambria Math" panose="02040503050406030204" pitchFamily="18" charset="0"/>
                                  <a:ea typeface="Cambria Math"/>
                                  <a:cs typeface="Cambria Math"/>
                                </a:rPr>
                              </m:ctrlPr>
                            </m:sSupPr>
                            <m:e>
                              <m:r>
                                <a:rPr lang="it-IT" sz="2625" b="0" i="1" dirty="0" smtClean="0">
                                  <a:solidFill>
                                    <a:srgbClr val="182D45"/>
                                  </a:solidFill>
                                  <a:latin typeface="Cambria Math" panose="02040503050406030204" pitchFamily="18" charset="0"/>
                                  <a:ea typeface="Cambria Math"/>
                                  <a:cs typeface="Cambria Math"/>
                                </a:rPr>
                                <m:t>𝑢</m:t>
                              </m:r>
                            </m:e>
                            <m:sup>
                              <m:r>
                                <a:rPr lang="it-IT" sz="2625" b="0" i="1" dirty="0" smtClean="0">
                                  <a:solidFill>
                                    <a:srgbClr val="182D45"/>
                                  </a:solidFill>
                                  <a:latin typeface="Cambria Math" panose="02040503050406030204" pitchFamily="18" charset="0"/>
                                  <a:ea typeface="Cambria Math"/>
                                  <a:cs typeface="Cambria Math"/>
                                </a:rPr>
                                <m:t>′</m:t>
                              </m:r>
                            </m:sup>
                          </m:sSup>
                          <m:d>
                            <m:dPr>
                              <m:ctrlPr>
                                <a:rPr lang="it-IT" sz="2625" b="0" i="1" dirty="0" smtClean="0">
                                  <a:solidFill>
                                    <a:srgbClr val="182D45"/>
                                  </a:solidFill>
                                  <a:latin typeface="Cambria Math" panose="02040503050406030204" pitchFamily="18" charset="0"/>
                                  <a:ea typeface="Cambria Math"/>
                                  <a:cs typeface="Cambria Math"/>
                                </a:rPr>
                              </m:ctrlPr>
                            </m:dPr>
                            <m:e>
                              <m:sSub>
                                <m:sSubPr>
                                  <m:ctrlPr>
                                    <a:rPr lang="it-IT" sz="2625" b="0" i="1" dirty="0" smtClean="0">
                                      <a:solidFill>
                                        <a:srgbClr val="182D45"/>
                                      </a:solidFill>
                                      <a:latin typeface="Cambria Math" panose="02040503050406030204" pitchFamily="18" charset="0"/>
                                      <a:ea typeface="Cambria Math"/>
                                      <a:cs typeface="Cambria Math"/>
                                    </a:rPr>
                                  </m:ctrlPr>
                                </m:sSubPr>
                                <m:e>
                                  <m:r>
                                    <a:rPr lang="it-IT" sz="2625" b="0" i="1" dirty="0" smtClean="0">
                                      <a:solidFill>
                                        <a:srgbClr val="182D45"/>
                                      </a:solidFill>
                                      <a:latin typeface="Cambria Math" panose="02040503050406030204" pitchFamily="18" charset="0"/>
                                      <a:ea typeface="Cambria Math"/>
                                      <a:cs typeface="Cambria Math"/>
                                    </a:rPr>
                                    <m:t>𝑟</m:t>
                                  </m:r>
                                </m:e>
                                <m:sub>
                                  <m:r>
                                    <a:rPr lang="it-IT" sz="2625" b="0" i="1" dirty="0" smtClean="0">
                                      <a:solidFill>
                                        <a:srgbClr val="182D45"/>
                                      </a:solidFill>
                                      <a:latin typeface="Cambria Math" panose="02040503050406030204" pitchFamily="18" charset="0"/>
                                      <a:ea typeface="Cambria Math"/>
                                      <a:cs typeface="Cambria Math"/>
                                    </a:rPr>
                                    <m:t>𝑖</m:t>
                                  </m:r>
                                </m:sub>
                              </m:sSub>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𝑏</m:t>
                                  </m:r>
                                </m:e>
                              </m:d>
                            </m:e>
                          </m:d>
                          <m:sSubSup>
                            <m:sSubSupPr>
                              <m:ctrlPr>
                                <a:rPr lang="it-IT" sz="2625" b="0" i="1" dirty="0" smtClean="0">
                                  <a:solidFill>
                                    <a:srgbClr val="182D45"/>
                                  </a:solidFill>
                                  <a:latin typeface="Cambria Math" panose="02040503050406030204" pitchFamily="18" charset="0"/>
                                  <a:ea typeface="Cambria Math"/>
                                  <a:cs typeface="Cambria Math"/>
                                </a:rPr>
                              </m:ctrlPr>
                            </m:sSubSupPr>
                            <m:e>
                              <m:r>
                                <a:rPr lang="it-IT" sz="2625" b="0" i="1" dirty="0" smtClean="0">
                                  <a:solidFill>
                                    <a:srgbClr val="182D45"/>
                                  </a:solidFill>
                                  <a:latin typeface="Cambria Math" panose="02040503050406030204" pitchFamily="18" charset="0"/>
                                  <a:ea typeface="Cambria Math"/>
                                  <a:cs typeface="Cambria Math"/>
                                </a:rPr>
                                <m:t>𝑟</m:t>
                              </m:r>
                            </m:e>
                            <m:sub>
                              <m:r>
                                <a:rPr lang="it-IT" sz="2625" b="0" i="1" dirty="0" smtClean="0">
                                  <a:solidFill>
                                    <a:srgbClr val="182D45"/>
                                  </a:solidFill>
                                  <a:latin typeface="Cambria Math" panose="02040503050406030204" pitchFamily="18" charset="0"/>
                                  <a:ea typeface="Cambria Math"/>
                                  <a:cs typeface="Cambria Math"/>
                                </a:rPr>
                                <m:t>𝑖</m:t>
                              </m:r>
                            </m:sub>
                            <m:sup>
                              <m:r>
                                <a:rPr lang="it-IT" sz="2625" b="0" i="1" dirty="0" smtClean="0">
                                  <a:solidFill>
                                    <a:srgbClr val="182D45"/>
                                  </a:solidFill>
                                  <a:latin typeface="Cambria Math" panose="02040503050406030204" pitchFamily="18" charset="0"/>
                                  <a:ea typeface="Cambria Math"/>
                                  <a:cs typeface="Cambria Math"/>
                                </a:rPr>
                                <m:t>′</m:t>
                              </m:r>
                            </m:sup>
                          </m:sSubSup>
                          <m:d>
                            <m:dPr>
                              <m:ctrlPr>
                                <a:rPr lang="it-IT" sz="2625" b="0" i="1" dirty="0" smtClean="0">
                                  <a:solidFill>
                                    <a:srgbClr val="182D45"/>
                                  </a:solidFill>
                                  <a:latin typeface="Cambria Math" panose="02040503050406030204" pitchFamily="18" charset="0"/>
                                  <a:ea typeface="Cambria Math"/>
                                  <a:cs typeface="Cambria Math"/>
                                </a:rPr>
                              </m:ctrlPr>
                            </m:dPr>
                            <m:e>
                              <m:r>
                                <a:rPr lang="it-IT" sz="2625" b="0" i="1" dirty="0" smtClean="0">
                                  <a:solidFill>
                                    <a:srgbClr val="182D45"/>
                                  </a:solidFill>
                                  <a:latin typeface="Cambria Math" panose="02040503050406030204" pitchFamily="18" charset="0"/>
                                  <a:ea typeface="Cambria Math"/>
                                  <a:cs typeface="Cambria Math"/>
                                </a:rPr>
                                <m:t>𝑏</m:t>
                              </m:r>
                            </m:e>
                          </m:d>
                        </m:e>
                      </m:nary>
                    </m:oMath>
                  </m:oMathPara>
                </a14:m>
                <a:endParaRPr lang="it-IT" sz="2625" b="0" i="1" dirty="0">
                  <a:solidFill>
                    <a:srgbClr val="182D45"/>
                  </a:solidFill>
                  <a:latin typeface="Cambria Math" panose="02040503050406030204" pitchFamily="18" charset="0"/>
                  <a:ea typeface="Cambria Math"/>
                  <a:cs typeface="Cambria Math"/>
                </a:endParaRPr>
              </a:p>
              <a:p>
                <a:pPr algn="ctr">
                  <a:defRPr lang="en-GB" sz="2625" b="0" i="0" dirty="0">
                    <a:solidFill>
                      <a:srgbClr val="182D45"/>
                    </a:solidFill>
                    <a:latin typeface="DejaVu Sans"/>
                    <a:ea typeface="DejaVu Sans"/>
                    <a:cs typeface="DejaVu Sans"/>
                  </a:defRPr>
                </a:pPr>
                <a14:m>
                  <m:oMathPara xmlns:m="http://schemas.openxmlformats.org/officeDocument/2006/math">
                    <m:oMath>
                      <m:r>
                        <a:rPr lang="it-IT" sz="2625" i="1" dirty="0">
                          <a:solidFill>
                            <a:srgbClr val="182D45"/>
                          </a:solidFill>
                          <a:latin typeface="Cambria Math" panose="02040503050406030204" pitchFamily="18" charset="0"/>
                          <a:ea typeface="Cambria Math"/>
                          <a:cs typeface="Cambria Math"/>
                        </a:rPr>
                        <m:t>=</m:t>
                      </m:r>
                      <m:nary>
                        <m:naryPr>
                          <m:chr m:val="∑"/>
                          <m:limLoc m:val="undOvr"/>
                          <m:ctrlPr>
                            <a:rPr lang="en-GB" sz="2625" dirty="0">
                              <a:solidFill>
                                <a:srgbClr val="182D45"/>
                              </a:solidFill>
                              <a:latin typeface="Cambria Math"/>
                              <a:ea typeface="Cambria Math"/>
                              <a:cs typeface="Cambria Math"/>
                            </a:rPr>
                          </m:ctrlPr>
                        </m:naryPr>
                        <m:sub>
                          <m:r>
                            <a:rPr lang="en-GB" sz="2625" dirty="0">
                              <a:solidFill>
                                <a:srgbClr val="182D45"/>
                              </a:solidFill>
                              <a:latin typeface="Cambria Math"/>
                              <a:ea typeface="Cambria Math"/>
                              <a:cs typeface="Cambria Math"/>
                            </a:rPr>
                            <m:t>𝑖</m:t>
                          </m:r>
                          <m:r>
                            <a:rPr lang="en-GB" sz="2625" dirty="0">
                              <a:solidFill>
                                <a:srgbClr val="182D45"/>
                              </a:solidFill>
                              <a:latin typeface="Cambria Math"/>
                              <a:ea typeface="Cambria Math"/>
                              <a:cs typeface="Cambria Math"/>
                            </a:rPr>
                            <m:t>=1</m:t>
                          </m:r>
                        </m:sub>
                        <m:sup>
                          <m:r>
                            <a:rPr lang="en-GB" sz="2625" dirty="0">
                              <a:solidFill>
                                <a:srgbClr val="182D45"/>
                              </a:solidFill>
                              <a:latin typeface="Cambria Math"/>
                              <a:ea typeface="Cambria Math"/>
                              <a:cs typeface="Cambria Math"/>
                            </a:rPr>
                            <m:t>𝑁</m:t>
                          </m:r>
                        </m:sup>
                        <m:e>
                          <m:r>
                            <a:rPr lang="en-GB" sz="2625" dirty="0">
                              <a:solidFill>
                                <a:srgbClr val="182D45"/>
                              </a:solidFill>
                              <a:latin typeface="Cambria Math"/>
                              <a:ea typeface="Cambria Math"/>
                              <a:cs typeface="Cambria Math"/>
                            </a:rPr>
                            <m:t>2</m:t>
                          </m:r>
                          <m:sSub>
                            <m:sSubPr>
                              <m:ctrlPr>
                                <a:rPr lang="en-GB" sz="2625" dirty="0">
                                  <a:solidFill>
                                    <a:srgbClr val="182D45"/>
                                  </a:solidFill>
                                  <a:latin typeface="Cambria Math"/>
                                  <a:ea typeface="Cambria Math"/>
                                  <a:cs typeface="Cambria Math"/>
                                </a:rPr>
                              </m:ctrlPr>
                            </m:sSubPr>
                            <m:e>
                              <m:r>
                                <a:rPr lang="en-GB" sz="2625" dirty="0">
                                  <a:solidFill>
                                    <a:srgbClr val="182D45"/>
                                  </a:solidFill>
                                  <a:latin typeface="Cambria Math"/>
                                  <a:ea typeface="Cambria Math"/>
                                  <a:cs typeface="Cambria Math"/>
                                </a:rPr>
                                <m:t>𝑟</m:t>
                              </m:r>
                            </m:e>
                            <m:sub>
                              <m:r>
                                <a:rPr lang="en-GB" sz="2625" dirty="0">
                                  <a:solidFill>
                                    <a:srgbClr val="182D45"/>
                                  </a:solidFill>
                                  <a:latin typeface="Cambria Math"/>
                                  <a:ea typeface="Cambria Math"/>
                                  <a:cs typeface="Cambria Math"/>
                                </a:rPr>
                                <m:t>𝑖</m:t>
                              </m:r>
                            </m:sub>
                          </m:sSub>
                          <m:d>
                            <m:dPr>
                              <m:ctrlPr>
                                <a:rPr lang="en-GB" sz="2625" dirty="0">
                                  <a:solidFill>
                                    <a:srgbClr val="182D45"/>
                                  </a:solidFill>
                                  <a:latin typeface="Cambria Math"/>
                                  <a:ea typeface="Cambria Math"/>
                                  <a:cs typeface="Cambria Math"/>
                                </a:rPr>
                              </m:ctrlPr>
                            </m:dPr>
                            <m:e>
                              <m:r>
                                <a:rPr lang="en-GB" sz="2625" dirty="0">
                                  <a:solidFill>
                                    <a:srgbClr val="182D45"/>
                                  </a:solidFill>
                                  <a:latin typeface="Cambria Math"/>
                                  <a:ea typeface="Cambria Math"/>
                                  <a:cs typeface="Cambria Math"/>
                                </a:rPr>
                                <m:t>𝑏</m:t>
                              </m:r>
                            </m:e>
                          </m:d>
                          <m:sSubSup>
                            <m:sSubSupPr>
                              <m:ctrlPr>
                                <a:rPr lang="en-GB" sz="2625" dirty="0">
                                  <a:solidFill>
                                    <a:srgbClr val="182D45"/>
                                  </a:solidFill>
                                  <a:latin typeface="Cambria Math"/>
                                  <a:ea typeface="Cambria Math"/>
                                  <a:cs typeface="Cambria Math"/>
                                </a:rPr>
                              </m:ctrlPr>
                            </m:sSubSupPr>
                            <m:e>
                              <m:r>
                                <a:rPr lang="en-GB" sz="2625" dirty="0">
                                  <a:solidFill>
                                    <a:srgbClr val="182D45"/>
                                  </a:solidFill>
                                  <a:latin typeface="Cambria Math"/>
                                  <a:ea typeface="Cambria Math"/>
                                  <a:cs typeface="Cambria Math"/>
                                </a:rPr>
                                <m:t>𝑟</m:t>
                              </m:r>
                            </m:e>
                            <m:sub>
                              <m:r>
                                <a:rPr lang="en-GB" sz="2625" dirty="0">
                                  <a:solidFill>
                                    <a:srgbClr val="182D45"/>
                                  </a:solidFill>
                                  <a:latin typeface="Cambria Math"/>
                                  <a:ea typeface="Cambria Math"/>
                                  <a:cs typeface="Cambria Math"/>
                                </a:rPr>
                                <m:t>𝑖</m:t>
                              </m:r>
                            </m:sub>
                            <m:sup>
                              <m:r>
                                <a:rPr lang="en-GB" sz="2625" dirty="0">
                                  <a:solidFill>
                                    <a:srgbClr val="182D45"/>
                                  </a:solidFill>
                                  <a:latin typeface="Cambria Math"/>
                                  <a:ea typeface="Cambria Math"/>
                                  <a:cs typeface="Cambria Math"/>
                                </a:rPr>
                                <m:t>′</m:t>
                              </m:r>
                            </m:sup>
                          </m:sSubSup>
                          <m:d>
                            <m:dPr>
                              <m:ctrlPr>
                                <a:rPr lang="en-GB" sz="2625" dirty="0">
                                  <a:solidFill>
                                    <a:srgbClr val="182D45"/>
                                  </a:solidFill>
                                  <a:latin typeface="Cambria Math"/>
                                  <a:ea typeface="Cambria Math"/>
                                  <a:cs typeface="Cambria Math"/>
                                </a:rPr>
                              </m:ctrlPr>
                            </m:dPr>
                            <m:e>
                              <m:r>
                                <a:rPr lang="en-GB" sz="2625" dirty="0">
                                  <a:solidFill>
                                    <a:srgbClr val="182D45"/>
                                  </a:solidFill>
                                  <a:latin typeface="Cambria Math"/>
                                  <a:ea typeface="Cambria Math"/>
                                  <a:cs typeface="Cambria Math"/>
                                </a:rPr>
                                <m:t>𝑏</m:t>
                              </m:r>
                            </m:e>
                          </m:d>
                        </m:e>
                      </m:nary>
                      <m:r>
                        <a:rPr lang="en-GB" sz="2625" dirty="0">
                          <a:solidFill>
                            <a:srgbClr val="182D45"/>
                          </a:solidFill>
                          <a:latin typeface="Cambria Math"/>
                          <a:ea typeface="Cambria Math"/>
                          <a:cs typeface="Cambria Math"/>
                        </a:rPr>
                        <m:t> </m:t>
                      </m:r>
                      <m:r>
                        <a:rPr lang="it-IT" sz="2625" b="0" i="1" dirty="0" smtClean="0">
                          <a:solidFill>
                            <a:srgbClr val="182D45"/>
                          </a:solidFill>
                          <a:latin typeface="Cambria Math" panose="02040503050406030204" pitchFamily="18" charset="0"/>
                          <a:ea typeface="Cambria Math"/>
                          <a:cs typeface="Cambria Math"/>
                        </a:rPr>
                        <m:t>=</m:t>
                      </m:r>
                      <m:r>
                        <a:rPr lang="en-GB" sz="2625" dirty="0" smtClean="0">
                          <a:solidFill>
                            <a:schemeClr val="tx1"/>
                          </a:solidFill>
                          <a:latin typeface="Cambria Math"/>
                          <a:ea typeface="Cambria Math"/>
                          <a:cs typeface="Cambria Math"/>
                        </a:rPr>
                        <m:t>2</m:t>
                      </m:r>
                      <m:nary>
                        <m:naryPr>
                          <m:chr m:val="∑"/>
                          <m:limLoc m:val="undOvr"/>
                          <m:ctrlPr>
                            <a:rPr lang="en-GB" sz="2625" dirty="0">
                              <a:solidFill>
                                <a:schemeClr val="tx1"/>
                              </a:solidFill>
                              <a:latin typeface="Cambria Math"/>
                              <a:ea typeface="Cambria Math"/>
                              <a:cs typeface="Cambria Math"/>
                            </a:rPr>
                          </m:ctrlPr>
                        </m:naryPr>
                        <m:sub>
                          <m:r>
                            <a:rPr lang="en-GB" sz="2625" dirty="0">
                              <a:solidFill>
                                <a:schemeClr val="tx1"/>
                              </a:solidFill>
                              <a:latin typeface="Cambria Math"/>
                              <a:ea typeface="Cambria Math"/>
                              <a:cs typeface="Cambria Math"/>
                            </a:rPr>
                            <m:t>𝑖</m:t>
                          </m:r>
                          <m:r>
                            <a:rPr lang="en-GB" sz="2625" dirty="0">
                              <a:solidFill>
                                <a:schemeClr val="tx1"/>
                              </a:solidFill>
                              <a:latin typeface="Cambria Math"/>
                              <a:ea typeface="Cambria Math"/>
                              <a:cs typeface="Cambria Math"/>
                            </a:rPr>
                            <m:t>=1</m:t>
                          </m:r>
                        </m:sub>
                        <m:sup>
                          <m:r>
                            <a:rPr lang="en-GB" sz="2625" dirty="0">
                              <a:solidFill>
                                <a:schemeClr val="tx1"/>
                              </a:solidFill>
                              <a:latin typeface="Cambria Math"/>
                              <a:ea typeface="Cambria Math"/>
                              <a:cs typeface="Cambria Math"/>
                            </a:rPr>
                            <m:t>𝑁</m:t>
                          </m:r>
                        </m:sup>
                        <m:e>
                          <m:d>
                            <m:dPr>
                              <m:ctrlPr>
                                <a:rPr lang="en-GB" sz="2625" dirty="0">
                                  <a:solidFill>
                                    <a:schemeClr val="tx1"/>
                                  </a:solidFill>
                                  <a:latin typeface="Cambria Math"/>
                                  <a:ea typeface="Cambria Math"/>
                                  <a:cs typeface="Cambria Math"/>
                                </a:rPr>
                              </m:ctrlPr>
                            </m:dPr>
                            <m:e>
                              <m:r>
                                <a:rPr lang="en-GB" sz="2625" dirty="0">
                                  <a:solidFill>
                                    <a:schemeClr val="tx1"/>
                                  </a:solidFill>
                                  <a:latin typeface="Cambria Math"/>
                                  <a:ea typeface="Cambria Math"/>
                                  <a:cs typeface="Cambria Math"/>
                                </a:rPr>
                                <m:t>𝑏</m:t>
                              </m:r>
                              <m:r>
                                <a:rPr lang="en-GB" sz="2625" dirty="0">
                                  <a:solidFill>
                                    <a:schemeClr val="tx1"/>
                                  </a:solidFill>
                                  <a:latin typeface="Cambria Math"/>
                                  <a:ea typeface="Cambria Math"/>
                                  <a:cs typeface="Cambria Math"/>
                                </a:rPr>
                                <m:t>−</m:t>
                              </m:r>
                              <m:sSub>
                                <m:sSubPr>
                                  <m:ctrlPr>
                                    <a:rPr lang="en-GB" sz="2625" dirty="0">
                                      <a:solidFill>
                                        <a:schemeClr val="tx1"/>
                                      </a:solidFill>
                                      <a:latin typeface="Cambria Math"/>
                                      <a:ea typeface="Cambria Math"/>
                                      <a:cs typeface="Cambria Math"/>
                                    </a:rPr>
                                  </m:ctrlPr>
                                </m:sSubPr>
                                <m:e>
                                  <m:r>
                                    <a:rPr lang="en-GB" sz="2625" dirty="0">
                                      <a:solidFill>
                                        <a:schemeClr val="tx1"/>
                                      </a:solidFill>
                                      <a:latin typeface="Cambria Math"/>
                                      <a:ea typeface="Cambria Math"/>
                                      <a:cs typeface="Cambria Math"/>
                                    </a:rPr>
                                    <m:t>𝑦</m:t>
                                  </m:r>
                                </m:e>
                                <m:sub>
                                  <m:r>
                                    <a:rPr lang="en-GB" sz="2625" dirty="0">
                                      <a:solidFill>
                                        <a:schemeClr val="tx1"/>
                                      </a:solidFill>
                                      <a:latin typeface="Cambria Math"/>
                                      <a:ea typeface="Cambria Math"/>
                                      <a:cs typeface="Cambria Math"/>
                                    </a:rPr>
                                    <m:t>𝑖</m:t>
                                  </m:r>
                                </m:sub>
                              </m:sSub>
                            </m:e>
                          </m:d>
                        </m:e>
                      </m:nary>
                      <m:r>
                        <a:rPr lang="en-GB" sz="2625" dirty="0">
                          <a:solidFill>
                            <a:schemeClr val="tx1"/>
                          </a:solidFill>
                          <a:latin typeface="Cambria Math"/>
                          <a:ea typeface="Cambria Math"/>
                          <a:cs typeface="Cambria Math"/>
                        </a:rPr>
                        <m:t>=2</m:t>
                      </m:r>
                      <m:d>
                        <m:dPr>
                          <m:ctrlPr>
                            <a:rPr lang="en-GB" sz="2625" dirty="0">
                              <a:solidFill>
                                <a:schemeClr val="tx1"/>
                              </a:solidFill>
                              <a:latin typeface="Cambria Math"/>
                              <a:ea typeface="Cambria Math"/>
                              <a:cs typeface="Cambria Math"/>
                            </a:rPr>
                          </m:ctrlPr>
                        </m:dPr>
                        <m:e>
                          <m:r>
                            <a:rPr lang="en-GB" sz="2625" dirty="0">
                              <a:solidFill>
                                <a:schemeClr val="tx1"/>
                              </a:solidFill>
                              <a:latin typeface="Cambria Math"/>
                              <a:ea typeface="Cambria Math"/>
                              <a:cs typeface="Cambria Math"/>
                            </a:rPr>
                            <m:t>𝑁𝑏</m:t>
                          </m:r>
                          <m:r>
                            <a:rPr lang="en-GB" sz="2625" dirty="0">
                              <a:solidFill>
                                <a:schemeClr val="tx1"/>
                              </a:solidFill>
                              <a:latin typeface="Cambria Math"/>
                              <a:ea typeface="Cambria Math"/>
                              <a:cs typeface="Cambria Math"/>
                            </a:rPr>
                            <m:t>−</m:t>
                          </m:r>
                          <m:nary>
                            <m:naryPr>
                              <m:chr m:val="∑"/>
                              <m:limLoc m:val="undOvr"/>
                              <m:ctrlPr>
                                <a:rPr lang="en-GB" sz="2625" dirty="0">
                                  <a:solidFill>
                                    <a:schemeClr val="tx1"/>
                                  </a:solidFill>
                                  <a:latin typeface="Cambria Math"/>
                                  <a:ea typeface="Cambria Math"/>
                                  <a:cs typeface="Cambria Math"/>
                                </a:rPr>
                              </m:ctrlPr>
                            </m:naryPr>
                            <m:sub>
                              <m:r>
                                <a:rPr lang="en-GB" sz="2625" dirty="0">
                                  <a:solidFill>
                                    <a:schemeClr val="tx1"/>
                                  </a:solidFill>
                                  <a:latin typeface="Cambria Math"/>
                                  <a:ea typeface="Cambria Math"/>
                                  <a:cs typeface="Cambria Math"/>
                                </a:rPr>
                                <m:t>𝑖</m:t>
                              </m:r>
                              <m:r>
                                <a:rPr lang="en-GB" sz="2625" dirty="0">
                                  <a:solidFill>
                                    <a:schemeClr val="tx1"/>
                                  </a:solidFill>
                                  <a:latin typeface="Cambria Math"/>
                                  <a:ea typeface="Cambria Math"/>
                                  <a:cs typeface="Cambria Math"/>
                                </a:rPr>
                                <m:t>=1</m:t>
                              </m:r>
                            </m:sub>
                            <m:sup>
                              <m:r>
                                <a:rPr lang="en-GB" sz="2625" dirty="0">
                                  <a:solidFill>
                                    <a:schemeClr val="tx1"/>
                                  </a:solidFill>
                                  <a:latin typeface="Cambria Math"/>
                                  <a:ea typeface="Cambria Math"/>
                                  <a:cs typeface="Cambria Math"/>
                                </a:rPr>
                                <m:t>𝑁</m:t>
                              </m:r>
                            </m:sup>
                            <m:e>
                              <m:sSub>
                                <m:sSubPr>
                                  <m:ctrlPr>
                                    <a:rPr lang="en-GB" sz="2625" dirty="0">
                                      <a:solidFill>
                                        <a:schemeClr val="tx1"/>
                                      </a:solidFill>
                                      <a:latin typeface="Cambria Math"/>
                                      <a:ea typeface="Cambria Math"/>
                                      <a:cs typeface="Cambria Math"/>
                                    </a:rPr>
                                  </m:ctrlPr>
                                </m:sSubPr>
                                <m:e>
                                  <m:r>
                                    <a:rPr lang="en-GB" sz="2625" dirty="0">
                                      <a:solidFill>
                                        <a:schemeClr val="tx1"/>
                                      </a:solidFill>
                                      <a:latin typeface="Cambria Math"/>
                                      <a:ea typeface="Cambria Math"/>
                                      <a:cs typeface="Cambria Math"/>
                                    </a:rPr>
                                    <m:t>𝑦</m:t>
                                  </m:r>
                                </m:e>
                                <m:sub>
                                  <m:r>
                                    <a:rPr lang="en-GB" sz="2625" dirty="0">
                                      <a:solidFill>
                                        <a:schemeClr val="tx1"/>
                                      </a:solidFill>
                                      <a:latin typeface="Cambria Math"/>
                                      <a:ea typeface="Cambria Math"/>
                                      <a:cs typeface="Cambria Math"/>
                                    </a:rPr>
                                    <m:t>𝑖</m:t>
                                  </m:r>
                                </m:sub>
                              </m:sSub>
                            </m:e>
                          </m:nary>
                        </m:e>
                      </m:d>
                    </m:oMath>
                  </m:oMathPara>
                </a14:m>
                <a:endParaRPr lang="en-GB" sz="2625" dirty="0">
                  <a:solidFill>
                    <a:srgbClr val="087F83"/>
                  </a:solidFill>
                  <a:latin typeface="Cambria Math"/>
                  <a:ea typeface="Cambria Math"/>
                  <a:cs typeface="Cambria Math"/>
                </a:endParaRPr>
              </a:p>
            </p:txBody>
          </p:sp>
        </mc:Choice>
        <mc:Fallback xmlns="">
          <p:pic>
            <p:nvPicPr>
              <p:cNvPr id="5" name="eq_48" descr="\begin{aligned}&#10; (\mathcal L_{\mathrm{sq}}^{\mathrm{const}})'(b)&#10; &amp;=\frac{\mathrm d}{\mathrm db}\sum_{i=1}^{N}(r_i(b))^2&#10; =\sum_{i=1}^{N}\frac{\mathrm d}{\mathrm db}(r_i(b))^2&#10; =\sum_{i=1}^{N}u'(r_i(b))r_i'(b)\\[4pt]&#10; &amp;=\sum_{i=1}^{N}2r_i(b)r_i'(b)&#10; =2\sum_{i=1}^{N}(b-y_i)&#10; =2\left(Nb-\sum_{i=1}^{N}y_i\right)&#10; \end{aligned}"/>
              <p:cNvPicPr>
                <a:picLocks noChangeAspect="1"/>
              </p:cNvPicPr>
              <p:nvPr/>
            </p:nvPicPr>
            <p:blipFill>
              <a:blip r:embed="rIdFixedFormula0"/>
              <a:stretch>
                <a:fillRect/>
              </a:stretch>
            </p:blipFill>
            <p:spPr>
              <a:xfrm>
                <a:off x="1972799" y="3390900"/>
                <a:ext cx="8227352" cy="1415923"/>
              </a:xfrm>
              <a:prstGeom prst="rect">
                <a:avLst/>
              </a:prstGeom>
            </p:spPr>
          </p:pic>
        </mc:Fallback>
      </mc:AlternateContent>
      <p:sp>
        <p:nvSpPr>
          <p:cNvPr id="6" name="eq_49">
            <a:extLst>
              <a:ext uri="{FF2B5EF4-FFF2-40B4-BE49-F238E27FC236}">
                <a16:creationId xmlns:a16="http://schemas.microsoft.com/office/drawing/2014/main" id="{CE996B59-E385-4F04-87C3-E760771C333E}"/>
              </a:ext>
            </a:extLst>
          </p:cNvPr>
          <p:cNvSpPr>
            <a:spLocks noGrp="1"/>
          </p:cNvSpPr>
          <p:nvPr/>
        </p:nvSpPr>
        <p:spPr>
          <a:xfrm>
            <a:off x="609600" y="4686300"/>
            <a:ext cx="10953750" cy="1219200"/>
          </a:xfrm>
          <a:prstGeom prst="rect">
            <a:avLst/>
          </a:prstGeom>
          <a:noFill/>
          <a:ln w="0">
            <a:noFill/>
          </a:ln>
        </p:spPr>
        <p:txBody>
          <a:bodyPr wrap="square" lIns="0" tIns="0" rIns="0" bIns="0" anchor="t">
            <a:noAutofit/>
          </a:bodyPr>
          <a:lstStyle/>
          <a:p>
            <a:pPr marL="0" marR="0" indent="0" algn="ctr">
              <a:defRPr lang="en-GB" sz="2625" b="0" i="0" dirty="0">
                <a:solidFill>
                  <a:srgbClr val="087F83"/>
                </a:solidFill>
                <a:latin typeface="Cambria Math"/>
                <a:ea typeface="Cambria Math"/>
                <a:cs typeface="Cambria Math"/>
              </a:defRPr>
            </a:pPr>
            <a:endParaRPr lang="en-GB" sz="2625" b="0" i="0" dirty="0">
              <a:solidFill>
                <a:srgbClr val="087F83"/>
              </a:solidFill>
              <a:latin typeface="Cambria Math"/>
              <a:ea typeface="Cambria Math"/>
              <a:cs typeface="Cambria Math"/>
            </a:endParaRPr>
          </a:p>
        </p:txBody>
      </p:sp>
      <mc:AlternateContent xmlns:mc="http://schemas.openxmlformats.org/markup-compatibility/2006" xmlns:a14="http://schemas.microsoft.com/office/drawing/2010/main">
        <mc:Choice Requires="a14">
          <p:sp>
            <p:nvSpPr>
              <p:cNvPr id="7" name="txt_50">
                <a:extLst>
                  <a:ext uri="{FF2B5EF4-FFF2-40B4-BE49-F238E27FC236}">
                    <a16:creationId xmlns:a16="http://schemas.microsoft.com/office/drawing/2014/main" id="{34861549-0F52-43F7-9F89-E29EF3E73C41}"/>
                  </a:ext>
                </a:extLst>
              </p:cNvPr>
              <p:cNvSpPr txBox="1">
                <a:spLocks noGrp="1"/>
              </p:cNvSpPr>
              <p:nvPr/>
            </p:nvSpPr>
            <p:spPr>
              <a:xfrm>
                <a:off x="591693" y="6200775"/>
                <a:ext cx="10953750" cy="495300"/>
              </a:xfrm>
              <a:prstGeom prst="rect">
                <a:avLst/>
              </a:prstGeom>
              <a:noFill/>
              <a:ln w="0">
                <a:noFill/>
              </a:ln>
            </p:spPr>
            <p:txBody>
              <a:bodyPr vertOverflow="overflow" wrap="square" lIns="0" tIns="0" rIns="0" bIns="0" anchor="t">
                <a:noAutofit/>
              </a:bodyPr>
              <a:lstStyle/>
              <a:p>
                <a:pPr marL="0" marR="0" indent="0" algn="ctr">
                  <a:defRPr lang="en-GB" sz="1725" b="0" i="0" dirty="0">
                    <a:solidFill>
                      <a:srgbClr val="526276"/>
                    </a:solidFill>
                    <a:latin typeface="DejaVu Sans"/>
                    <a:ea typeface="DejaVu Sans"/>
                    <a:cs typeface="DejaVu Sans"/>
                  </a:defRPr>
                </a:pPr>
                <a:r>
                  <a:rPr lang="en-GB" sz="1725" b="0" i="0" dirty="0">
                    <a:solidFill>
                      <a:srgbClr val="526276"/>
                    </a:solidFill>
                    <a:latin typeface="DejaVu Sans"/>
                    <a:ea typeface="DejaVu Sans"/>
                    <a:cs typeface="DejaVu Sans"/>
                  </a:rPr>
                  <a:t>The targets </a:t>
                </a:r>
                <a14:m>
                  <m:oMath xmlns:m="http://schemas.openxmlformats.org/officeDocument/2006/math">
                    <m:sSub>
                      <m:sSubPr>
                        <m:ctrlPr>
                          <a:rPr lang="en-GB" sz="1725" b="0" dirty="0">
                            <a:solidFill>
                              <a:srgbClr val="526276"/>
                            </a:solidFill>
                            <a:latin typeface="Cambria Math"/>
                            <a:ea typeface="Cambria Math"/>
                            <a:cs typeface="Cambria Math"/>
                          </a:rPr>
                        </m:ctrlPr>
                      </m:sSubPr>
                      <m:e>
                        <m:r>
                          <a:rPr lang="en-GB" sz="1725" b="0" dirty="0">
                            <a:solidFill>
                              <a:srgbClr val="526276"/>
                            </a:solidFill>
                            <a:latin typeface="Cambria Math"/>
                            <a:ea typeface="Cambria Math"/>
                            <a:cs typeface="Cambria Math"/>
                          </a:rPr>
                          <m:t>𝑦</m:t>
                        </m:r>
                      </m:e>
                      <m:sub>
                        <m:r>
                          <a:rPr lang="en-GB" sz="1725" b="0" dirty="0">
                            <a:solidFill>
                              <a:srgbClr val="526276"/>
                            </a:solidFill>
                            <a:latin typeface="Cambria Math"/>
                            <a:ea typeface="Cambria Math"/>
                            <a:cs typeface="Cambria Math"/>
                          </a:rPr>
                          <m:t>𝑖</m:t>
                        </m:r>
                      </m:sub>
                    </m:sSub>
                  </m:oMath>
                </a14:m>
                <a:r>
                  <a:rPr lang="en-GB" sz="1725" b="0" i="0" dirty="0">
                    <a:solidFill>
                      <a:srgbClr val="526276"/>
                    </a:solidFill>
                    <a:latin typeface="DejaVu Sans"/>
                    <a:ea typeface="DejaVu Sans"/>
                    <a:cs typeface="DejaVu Sans"/>
                  </a:rPr>
                  <a:t> are fixed. The parameter </a:t>
                </a:r>
                <a14:m>
                  <m:oMath xmlns:m="http://schemas.openxmlformats.org/officeDocument/2006/math">
                    <m:r>
                      <a:rPr lang="en-GB" sz="1725" b="0" dirty="0">
                        <a:solidFill>
                          <a:srgbClr val="526276"/>
                        </a:solidFill>
                        <a:latin typeface="Cambria Math"/>
                        <a:ea typeface="Cambria Math"/>
                        <a:cs typeface="Cambria Math"/>
                      </a:rPr>
                      <m:t>𝑏</m:t>
                    </m:r>
                  </m:oMath>
                </a14:m>
                <a:r>
                  <a:rPr lang="en-GB" sz="1725" b="0" i="0" dirty="0">
                    <a:solidFill>
                      <a:srgbClr val="526276"/>
                    </a:solidFill>
                    <a:latin typeface="DejaVu Sans"/>
                    <a:ea typeface="DejaVu Sans"/>
                    <a:cs typeface="DejaVu Sans"/>
                  </a:rPr>
                  <a:t> does not depend on </a:t>
                </a:r>
                <a14:m>
                  <m:oMath xmlns:m="http://schemas.openxmlformats.org/officeDocument/2006/math">
                    <m:r>
                      <a:rPr lang="en-GB" sz="1725" b="0" dirty="0">
                        <a:solidFill>
                          <a:srgbClr val="526276"/>
                        </a:solidFill>
                        <a:latin typeface="Cambria Math"/>
                        <a:ea typeface="Cambria Math"/>
                        <a:cs typeface="Cambria Math"/>
                      </a:rPr>
                      <m:t>𝑖</m:t>
                    </m:r>
                  </m:oMath>
                </a14:m>
                <a:r>
                  <a:rPr lang="en-GB" sz="1725" b="0" i="0" dirty="0">
                    <a:solidFill>
                      <a:srgbClr val="526276"/>
                    </a:solidFill>
                    <a:latin typeface="DejaVu Sans"/>
                    <a:ea typeface="DejaVu Sans"/>
                    <a:cs typeface="DejaVu Sans"/>
                  </a:rPr>
                  <a:t>.</a:t>
                </a:r>
              </a:p>
            </p:txBody>
          </p:sp>
        </mc:Choice>
        <mc:Fallback xmlns="">
          <p:sp>
            <p:nvSpPr>
              <p:cNvPr id="7" name="txt_50">
                <a:extLst>
                  <a:ext uri="{FF2B5EF4-FFF2-40B4-BE49-F238E27FC236}">
                    <a16:creationId xmlns:a16="http://schemas.microsoft.com/office/drawing/2014/main" id="{34861549-0F52-43F7-9F89-E29EF3E73C41}"/>
                  </a:ext>
                </a:extLst>
              </p:cNvPr>
              <p:cNvSpPr txBox="1">
                <a:spLocks noGrp="1" noRot="1" noChangeAspect="1" noMove="1" noResize="1" noEditPoints="1" noAdjustHandles="1" noChangeArrowheads="1" noChangeShapeType="1" noTextEdit="1"/>
              </p:cNvSpPr>
              <p:nvPr/>
            </p:nvSpPr>
            <p:spPr>
              <a:xfrm>
                <a:off x="591693" y="6200775"/>
                <a:ext cx="10953750" cy="495300"/>
              </a:xfrm>
              <a:prstGeom prst="rect">
                <a:avLst/>
              </a:prstGeom>
              <a:blipFill>
                <a:blip r:embed="rId6"/>
                <a:stretch>
                  <a:fillRect t="-1358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hain_rule_lead">
                <a:extLst>
                  <a:ext uri="{FF2B5EF4-FFF2-40B4-BE49-F238E27FC236}">
                    <a16:creationId xmlns:a16="http://schemas.microsoft.com/office/drawing/2014/main" id="{6D49C219-6D52-4BC8-A8D8-68781AB404CE}"/>
                  </a:ext>
                </a:extLst>
              </p:cNvPr>
              <p:cNvSpPr txBox="1">
                <a:spLocks noGrp="1"/>
              </p:cNvSpPr>
              <p:nvPr/>
            </p:nvSpPr>
            <p:spPr>
              <a:xfrm>
                <a:off x="609600" y="2971800"/>
                <a:ext cx="10953750" cy="323850"/>
              </a:xfrm>
              <a:prstGeom prst="rect">
                <a:avLst/>
              </a:prstGeom>
              <a:noFill/>
              <a:ln w="0">
                <a:noFill/>
              </a:ln>
            </p:spPr>
            <p:txBody>
              <a:bodyPr vertOverflow="overflow" wrap="square" lIns="0" tIns="0" rIns="0" bIns="0" anchor="t">
                <a:noAutofit/>
              </a:bodyPr>
              <a:lstStyle/>
              <a:p>
                <a:pPr algn="ctr">
                  <a:defRPr lang="en-GB" sz="2250" b="0" i="0" dirty="0">
                    <a:solidFill>
                      <a:srgbClr val="182D45"/>
                    </a:solidFill>
                    <a:latin typeface="DejaVu Sans"/>
                    <a:ea typeface="DejaVu Sans"/>
                    <a:cs typeface="DejaVu Sans"/>
                  </a:defRPr>
                </a:pPr>
                <a:r>
                  <a:rPr lang="en-GB" sz="2250" dirty="0">
                    <a:solidFill>
                      <a:srgbClr val="182D45"/>
                    </a:solidFill>
                    <a:latin typeface="DejaVu Sans"/>
                    <a:ea typeface="DejaVu Sans"/>
                    <a:cs typeface="DejaVu Sans"/>
                  </a:rPr>
                  <a:t>T</a:t>
                </a:r>
                <a:r>
                  <a:rPr lang="en-GB" sz="2250" b="0" i="0" dirty="0">
                    <a:solidFill>
                      <a:srgbClr val="182D45"/>
                    </a:solidFill>
                    <a:latin typeface="DejaVu Sans"/>
                    <a:ea typeface="DejaVu Sans"/>
                    <a:cs typeface="DejaVu Sans"/>
                  </a:rPr>
                  <a:t>he </a:t>
                </a:r>
                <a:r>
                  <a:rPr lang="en-GB" sz="2250" b="0" i="0" dirty="0">
                    <a:solidFill>
                      <a:srgbClr val="FF0000"/>
                    </a:solidFill>
                    <a:latin typeface="DejaVu Sans"/>
                    <a:ea typeface="DejaVu Sans"/>
                    <a:cs typeface="DejaVu Sans"/>
                  </a:rPr>
                  <a:t>chain rule</a:t>
                </a:r>
                <a:r>
                  <a:rPr lang="en-GB" sz="2250" b="0" i="0" dirty="0">
                    <a:solidFill>
                      <a:srgbClr val="182D45"/>
                    </a:solidFill>
                    <a:latin typeface="DejaVu Sans"/>
                    <a:ea typeface="DejaVu Sans"/>
                    <a:cs typeface="DejaVu Sans"/>
                  </a:rPr>
                  <a:t>, with outer function </a:t>
                </a:r>
                <a14:m>
                  <m:oMath xmlns:m="http://schemas.openxmlformats.org/officeDocument/2006/math">
                    <m:r>
                      <a:rPr lang="it-IT" sz="2250" b="0" i="1" smtClean="0">
                        <a:solidFill>
                          <a:srgbClr val="182D45"/>
                        </a:solidFill>
                        <a:latin typeface="Cambria Math" panose="02040503050406030204" pitchFamily="18" charset="0"/>
                        <a:ea typeface="DejaVu Sans"/>
                        <a:cs typeface="DejaVu Sans"/>
                      </a:rPr>
                      <m:t>𝑢</m:t>
                    </m:r>
                    <m:d>
                      <m:dPr>
                        <m:ctrlPr>
                          <a:rPr lang="it-IT" sz="2250" b="0" i="1" smtClean="0">
                            <a:solidFill>
                              <a:srgbClr val="182D45"/>
                            </a:solidFill>
                            <a:latin typeface="Cambria Math" panose="02040503050406030204" pitchFamily="18" charset="0"/>
                            <a:ea typeface="DejaVu Sans"/>
                            <a:cs typeface="DejaVu Sans"/>
                          </a:rPr>
                        </m:ctrlPr>
                      </m:dPr>
                      <m:e>
                        <m:r>
                          <a:rPr lang="it-IT" sz="2250" b="0" i="1" smtClean="0">
                            <a:solidFill>
                              <a:srgbClr val="182D45"/>
                            </a:solidFill>
                            <a:latin typeface="Cambria Math" panose="02040503050406030204" pitchFamily="18" charset="0"/>
                            <a:ea typeface="DejaVu Sans"/>
                            <a:cs typeface="DejaVu Sans"/>
                          </a:rPr>
                          <m:t>𝑟</m:t>
                        </m:r>
                      </m:e>
                    </m:d>
                    <m:r>
                      <a:rPr lang="it-IT" sz="2250" b="0" i="1" smtClean="0">
                        <a:solidFill>
                          <a:srgbClr val="182D45"/>
                        </a:solidFill>
                        <a:latin typeface="Cambria Math" panose="02040503050406030204" pitchFamily="18" charset="0"/>
                        <a:ea typeface="DejaVu Sans"/>
                        <a:cs typeface="DejaVu Sans"/>
                      </a:rPr>
                      <m:t>=</m:t>
                    </m:r>
                    <m:sSup>
                      <m:sSupPr>
                        <m:ctrlPr>
                          <a:rPr lang="it-IT" sz="2250" b="0" i="1" smtClean="0">
                            <a:solidFill>
                              <a:srgbClr val="182D45"/>
                            </a:solidFill>
                            <a:latin typeface="Cambria Math" panose="02040503050406030204" pitchFamily="18" charset="0"/>
                            <a:ea typeface="DejaVu Sans"/>
                            <a:cs typeface="DejaVu Sans"/>
                          </a:rPr>
                        </m:ctrlPr>
                      </m:sSupPr>
                      <m:e>
                        <m:r>
                          <a:rPr lang="it-IT" sz="2250" b="0" i="1" smtClean="0">
                            <a:solidFill>
                              <a:srgbClr val="182D45"/>
                            </a:solidFill>
                            <a:latin typeface="Cambria Math" panose="02040503050406030204" pitchFamily="18" charset="0"/>
                            <a:ea typeface="DejaVu Sans"/>
                            <a:cs typeface="DejaVu Sans"/>
                          </a:rPr>
                          <m:t>𝑟</m:t>
                        </m:r>
                      </m:e>
                      <m:sup>
                        <m:r>
                          <a:rPr lang="it-IT" sz="2250" b="0" i="1" smtClean="0">
                            <a:solidFill>
                              <a:srgbClr val="182D45"/>
                            </a:solidFill>
                            <a:latin typeface="Cambria Math" panose="02040503050406030204" pitchFamily="18" charset="0"/>
                            <a:ea typeface="DejaVu Sans"/>
                            <a:cs typeface="DejaVu Sans"/>
                          </a:rPr>
                          <m:t>2</m:t>
                        </m:r>
                      </m:sup>
                    </m:sSup>
                  </m:oMath>
                </a14:m>
                <a:r>
                  <a:rPr lang="en-GB" sz="2250" b="0" i="0" dirty="0">
                    <a:solidFill>
                      <a:srgbClr val="182D45"/>
                    </a:solidFill>
                    <a:latin typeface="DejaVu Sans"/>
                    <a:ea typeface="DejaVu Sans"/>
                    <a:cs typeface="DejaVu Sans"/>
                  </a:rPr>
                  <a:t>, and inner functions </a:t>
                </a:r>
                <a14:m>
                  <m:oMath xmlns:m="http://schemas.openxmlformats.org/officeDocument/2006/math">
                    <m:sSub>
                      <m:sSubPr>
                        <m:ctrlPr>
                          <a:rPr lang="it-IT" sz="2250" i="1">
                            <a:solidFill>
                              <a:srgbClr val="182D45"/>
                            </a:solidFill>
                            <a:latin typeface="Cambria Math" panose="02040503050406030204" pitchFamily="18" charset="0"/>
                            <a:ea typeface="DejaVu Sans"/>
                            <a:cs typeface="DejaVu Sans"/>
                          </a:rPr>
                        </m:ctrlPr>
                      </m:sSubPr>
                      <m:e>
                        <m:r>
                          <a:rPr lang="it-IT" sz="2250" i="1">
                            <a:solidFill>
                              <a:srgbClr val="182D45"/>
                            </a:solidFill>
                            <a:latin typeface="Cambria Math" panose="02040503050406030204" pitchFamily="18" charset="0"/>
                            <a:ea typeface="DejaVu Sans"/>
                            <a:cs typeface="DejaVu Sans"/>
                          </a:rPr>
                          <m:t>𝑟</m:t>
                        </m:r>
                      </m:e>
                      <m:sub>
                        <m:r>
                          <a:rPr lang="it-IT" sz="2250" b="0" i="1" smtClean="0">
                            <a:solidFill>
                              <a:srgbClr val="182D45"/>
                            </a:solidFill>
                            <a:latin typeface="Cambria Math" panose="02040503050406030204" pitchFamily="18" charset="0"/>
                            <a:ea typeface="DejaVu Sans"/>
                            <a:cs typeface="DejaVu Sans"/>
                          </a:rPr>
                          <m:t>𝑖</m:t>
                        </m:r>
                      </m:sub>
                    </m:sSub>
                  </m:oMath>
                </a14:m>
                <a:r>
                  <a:rPr lang="en-GB" sz="2250" b="0" i="0" dirty="0">
                    <a:solidFill>
                      <a:srgbClr val="182D45"/>
                    </a:solidFill>
                    <a:latin typeface="DejaVu Sans"/>
                    <a:ea typeface="DejaVu Sans"/>
                    <a:cs typeface="DejaVu Sans"/>
                  </a:rPr>
                  <a:t> gives</a:t>
                </a:r>
              </a:p>
            </p:txBody>
          </p:sp>
        </mc:Choice>
        <mc:Fallback xmlns="">
          <p:sp>
            <p:nvSpPr>
              <p:cNvPr id="9" name="chain_rule_lead">
                <a:extLst>
                  <a:ext uri="{FF2B5EF4-FFF2-40B4-BE49-F238E27FC236}">
                    <a16:creationId xmlns:a16="http://schemas.microsoft.com/office/drawing/2014/main" id="{6D49C219-6D52-4BC8-A8D8-68781AB404CE}"/>
                  </a:ext>
                </a:extLst>
              </p:cNvPr>
              <p:cNvSpPr txBox="1">
                <a:spLocks noGrp="1" noRot="1" noChangeAspect="1" noMove="1" noResize="1" noEditPoints="1" noAdjustHandles="1" noChangeArrowheads="1" noChangeShapeType="1" noTextEdit="1"/>
              </p:cNvSpPr>
              <p:nvPr/>
            </p:nvSpPr>
            <p:spPr>
              <a:xfrm>
                <a:off x="609600" y="2971800"/>
                <a:ext cx="10953750" cy="323850"/>
              </a:xfrm>
              <a:prstGeom prst="rect">
                <a:avLst/>
              </a:prstGeom>
              <a:blipFill>
                <a:blip r:embed="rId7"/>
                <a:stretch>
                  <a:fillRect t="-28302" b="-58491"/>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5513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p:bldP spid="6" grpId="0" build="allAtOnce" animBg="1"/>
      <p:bldP spid="7" grpId="0" build="allAtOnce" animBg="1"/>
      <p:bldP spid="9"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0CDB7655-9084-439B-8987-D2E758D6675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best constant is the sample mean</a:t>
            </a:r>
          </a:p>
        </p:txBody>
      </p:sp>
      <p:sp>
        <p:nvSpPr>
          <p:cNvPr id="2" name="page_number">
            <a:extLst>
              <a:ext uri="{FF2B5EF4-FFF2-40B4-BE49-F238E27FC236}">
                <a16:creationId xmlns:a16="http://schemas.microsoft.com/office/drawing/2014/main" id="{4103CF8B-CC9F-44BB-8E98-1C043E5154C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14</a:t>
            </a:r>
          </a:p>
        </p:txBody>
      </p:sp>
      <mc:AlternateContent xmlns:mc="http://schemas.openxmlformats.org/markup-compatibility/2006" xmlns:a14="http://schemas.microsoft.com/office/drawing/2010/main">
        <mc:Choice Requires="a14">
          <p:sp>
            <p:nvSpPr>
              <p:cNvPr id="3" name="eq_51">
                <a:extLst>
                  <a:ext uri="{FF2B5EF4-FFF2-40B4-BE49-F238E27FC236}">
                    <a16:creationId xmlns:a16="http://schemas.microsoft.com/office/drawing/2014/main" id="{676219A3-737E-4852-B46D-907EAB5DF3A1}"/>
                  </a:ext>
                </a:extLst>
              </p:cNvPr>
              <p:cNvSpPr txBox="1">
                <a:spLocks noGrp="1"/>
              </p:cNvSpPr>
              <p:nvPr/>
            </p:nvSpPr>
            <p:spPr>
              <a:xfrm>
                <a:off x="609600" y="1095375"/>
                <a:ext cx="10953750" cy="1219200"/>
              </a:xfrm>
              <a:prstGeom prst="rect">
                <a:avLst/>
              </a:prstGeom>
              <a:noFill/>
              <a:ln w="0">
                <a:noFill/>
              </a:ln>
            </p:spPr>
            <p:txBody>
              <a:bodyPr vertOverflow="overflow" wrap="none" lIns="0" tIns="0" rIns="0" bIns="0" anchor="t">
                <a:noAutofit/>
              </a:bodyPr>
              <a:lstStyle/>
              <a:p>
                <a:pPr algn="ctr">
                  <a:defRPr lang="en-GB" sz="2625" b="0" i="0" dirty="0">
                    <a:solidFill>
                      <a:srgbClr val="182D45"/>
                    </a:solidFill>
                    <a:latin typeface="Cambria Math"/>
                    <a:ea typeface="Cambria Math"/>
                    <a:cs typeface="Cambria Math"/>
                  </a:defRPr>
                </a:pPr>
                <a14:m>
                  <m:oMathPara xmlns:m="http://schemas.openxmlformats.org/officeDocument/2006/math">
                    <m:oMath>
                      <m:sSup>
                        <m:sSupPr>
                          <m:ctrlPr>
                            <a:rPr lang="en-GB" sz="2625" i="1" dirty="0">
                              <a:solidFill>
                                <a:srgbClr val="182D45"/>
                              </a:solidFill>
                              <a:latin typeface="Cambria Math" panose="02040503050406030204" pitchFamily="18" charset="0"/>
                              <a:ea typeface="Cambria Math"/>
                              <a:cs typeface="Cambria Math"/>
                            </a:rPr>
                          </m:ctrlPr>
                        </m:sSupPr>
                        <m:e>
                          <m:d>
                            <m:dPr>
                              <m:ctrlPr>
                                <a:rPr lang="en-GB" sz="2625" i="1" dirty="0">
                                  <a:solidFill>
                                    <a:srgbClr val="182D45"/>
                                  </a:solidFill>
                                  <a:latin typeface="Cambria Math" panose="02040503050406030204" pitchFamily="18" charset="0"/>
                                  <a:ea typeface="Cambria Math"/>
                                  <a:cs typeface="Cambria Math"/>
                                </a:rPr>
                              </m:ctrlPr>
                            </m:dPr>
                            <m:e>
                              <m:sSubSup>
                                <m:sSubSupPr>
                                  <m:ctrlPr>
                                    <a:rPr lang="en-GB" sz="2625" dirty="0">
                                      <a:solidFill>
                                        <a:srgbClr val="182D45"/>
                                      </a:solidFill>
                                      <a:latin typeface="Cambria Math"/>
                                      <a:ea typeface="Cambria Math"/>
                                      <a:cs typeface="Cambria Math"/>
                                    </a:rPr>
                                  </m:ctrlPr>
                                </m:sSubSupPr>
                                <m:e>
                                  <m:r>
                                    <a:rPr lang="en-GB" sz="2625" dirty="0">
                                      <a:solidFill>
                                        <a:srgbClr val="182D45"/>
                                      </a:solidFill>
                                      <a:latin typeface="Cambria Math"/>
                                      <a:ea typeface="Cambria Math"/>
                                      <a:cs typeface="Cambria Math"/>
                                    </a:rPr>
                                    <m:t>ℒ</m:t>
                                  </m:r>
                                </m:e>
                                <m:sub>
                                  <m:r>
                                    <m:rPr>
                                      <m:sty m:val="p"/>
                                    </m:rPr>
                                    <a:rPr lang="en-GB" sz="2625" dirty="0">
                                      <a:solidFill>
                                        <a:srgbClr val="182D45"/>
                                      </a:solidFill>
                                      <a:latin typeface="Cambria Math"/>
                                      <a:ea typeface="Cambria Math"/>
                                      <a:cs typeface="Cambria Math"/>
                                    </a:rPr>
                                    <m:t>sq</m:t>
                                  </m:r>
                                </m:sub>
                                <m:sup>
                                  <m:r>
                                    <m:rPr>
                                      <m:sty m:val="p"/>
                                    </m:rPr>
                                    <a:rPr lang="it-IT" sz="2625" dirty="0">
                                      <a:solidFill>
                                        <a:srgbClr val="182D45"/>
                                      </a:solidFill>
                                      <a:latin typeface="Cambria Math" panose="02040503050406030204" pitchFamily="18" charset="0"/>
                                      <a:ea typeface="Cambria Math"/>
                                      <a:cs typeface="Cambria Math"/>
                                    </a:rPr>
                                    <m:t>const</m:t>
                                  </m:r>
                                </m:sup>
                              </m:sSubSup>
                            </m:e>
                          </m:d>
                        </m:e>
                        <m:sup>
                          <m:r>
                            <a:rPr lang="it-IT" sz="2625" i="1" dirty="0">
                              <a:solidFill>
                                <a:srgbClr val="182D45"/>
                              </a:solidFill>
                              <a:latin typeface="Cambria Math" panose="02040503050406030204" pitchFamily="18" charset="0"/>
                              <a:ea typeface="Cambria Math"/>
                              <a:cs typeface="Cambria Math"/>
                            </a:rPr>
                            <m:t>′</m:t>
                          </m:r>
                        </m:sup>
                      </m:sSup>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𝑏</m:t>
                          </m:r>
                        </m:e>
                      </m:d>
                      <m:r>
                        <a:rPr lang="en-GB" sz="2625" b="0" dirty="0">
                          <a:solidFill>
                            <a:srgbClr val="182D45"/>
                          </a:solidFill>
                          <a:latin typeface="Cambria Math"/>
                          <a:ea typeface="Cambria Math"/>
                          <a:cs typeface="Cambria Math"/>
                        </a:rPr>
                        <m:t>=0 ⇔ </m:t>
                      </m:r>
                      <m:r>
                        <a:rPr lang="en-GB" sz="2625" b="0" dirty="0">
                          <a:solidFill>
                            <a:srgbClr val="182D45"/>
                          </a:solidFill>
                          <a:latin typeface="Cambria Math"/>
                          <a:ea typeface="Cambria Math"/>
                          <a:cs typeface="Cambria Math"/>
                        </a:rPr>
                        <m:t>𝑁𝑏</m:t>
                      </m:r>
                      <m:r>
                        <a:rPr lang="en-GB" sz="2625" b="0" dirty="0">
                          <a:solidFill>
                            <a:srgbClr val="182D45"/>
                          </a:solidFill>
                          <a:latin typeface="Cambria Math"/>
                          <a:ea typeface="Cambria Math"/>
                          <a:cs typeface="Cambria Math"/>
                        </a:rPr>
                        <m:t>=</m:t>
                      </m:r>
                      <m:nary>
                        <m:naryPr>
                          <m:chr m:val="∑"/>
                          <m:limLoc m:val="undOvr"/>
                          <m:ctrlPr>
                            <a:rPr lang="en-GB" sz="2625" b="0" dirty="0">
                              <a:solidFill>
                                <a:srgbClr val="182D45"/>
                              </a:solidFill>
                              <a:latin typeface="Cambria Math"/>
                              <a:ea typeface="Cambria Math"/>
                              <a:cs typeface="Cambria Math"/>
                            </a:rPr>
                          </m:ctrlPr>
                        </m:naryPr>
                        <m:sub>
                          <m:r>
                            <a:rPr lang="en-GB" sz="2625" b="0" dirty="0">
                              <a:solidFill>
                                <a:srgbClr val="182D45"/>
                              </a:solidFill>
                              <a:latin typeface="Cambria Math"/>
                              <a:ea typeface="Cambria Math"/>
                              <a:cs typeface="Cambria Math"/>
                            </a:rPr>
                            <m:t>𝑖</m:t>
                          </m:r>
                          <m:r>
                            <a:rPr lang="en-GB" sz="2625" b="0" dirty="0">
                              <a:solidFill>
                                <a:srgbClr val="182D45"/>
                              </a:solidFill>
                              <a:latin typeface="Cambria Math"/>
                              <a:ea typeface="Cambria Math"/>
                              <a:cs typeface="Cambria Math"/>
                            </a:rPr>
                            <m:t>=1</m:t>
                          </m:r>
                        </m:sub>
                        <m:sup>
                          <m:r>
                            <a:rPr lang="en-GB" sz="2625" b="0" dirty="0">
                              <a:solidFill>
                                <a:srgbClr val="182D45"/>
                              </a:solidFill>
                              <a:latin typeface="Cambria Math"/>
                              <a:ea typeface="Cambria Math"/>
                              <a:cs typeface="Cambria Math"/>
                            </a:rPr>
                            <m:t>𝑁</m:t>
                          </m:r>
                        </m:sup>
                        <m:e>
                          <m:sSub>
                            <m:sSubPr>
                              <m:ctrlPr>
                                <a:rPr lang="en-GB" sz="2625" b="0" dirty="0">
                                  <a:solidFill>
                                    <a:srgbClr val="182D45"/>
                                  </a:solidFill>
                                  <a:latin typeface="Cambria Math"/>
                                  <a:ea typeface="Cambria Math"/>
                                  <a:cs typeface="Cambria Math"/>
                                </a:rPr>
                              </m:ctrlPr>
                            </m:sSubPr>
                            <m:e>
                              <m:r>
                                <a:rPr lang="en-GB" sz="2625" b="0" dirty="0">
                                  <a:solidFill>
                                    <a:srgbClr val="182D45"/>
                                  </a:solidFill>
                                  <a:latin typeface="Cambria Math"/>
                                  <a:ea typeface="Cambria Math"/>
                                  <a:cs typeface="Cambria Math"/>
                                </a:rPr>
                                <m:t>𝑦</m:t>
                              </m:r>
                            </m:e>
                            <m:sub>
                              <m:r>
                                <a:rPr lang="en-GB" sz="2625" b="0" dirty="0">
                                  <a:solidFill>
                                    <a:srgbClr val="182D45"/>
                                  </a:solidFill>
                                  <a:latin typeface="Cambria Math"/>
                                  <a:ea typeface="Cambria Math"/>
                                  <a:cs typeface="Cambria Math"/>
                                </a:rPr>
                                <m:t>𝑖</m:t>
                              </m:r>
                            </m:sub>
                          </m:sSub>
                        </m:e>
                      </m:nary>
                    </m:oMath>
                  </m:oMathPara>
                </a14:m>
                <a:endParaRPr lang="en-GB" sz="2625" b="0" i="0" dirty="0">
                  <a:solidFill>
                    <a:srgbClr val="182D45"/>
                  </a:solidFill>
                  <a:latin typeface="Cambria Math"/>
                  <a:ea typeface="Cambria Math"/>
                  <a:cs typeface="Cambria Math"/>
                </a:endParaRPr>
              </a:p>
            </p:txBody>
          </p:sp>
        </mc:Choice>
        <mc:Fallback xmlns="">
          <p:sp>
            <p:nvSpPr>
              <p:cNvPr id="3" name="eq_51">
                <a:extLst>
                  <a:ext uri="{FF2B5EF4-FFF2-40B4-BE49-F238E27FC236}">
                    <a16:creationId xmlns:a16="http://schemas.microsoft.com/office/drawing/2014/main" id="{676219A3-737E-4852-B46D-907EAB5DF3A1}"/>
                  </a:ext>
                </a:extLst>
              </p:cNvPr>
              <p:cNvSpPr txBox="1">
                <a:spLocks noGrp="1" noRot="1" noChangeAspect="1" noMove="1" noResize="1" noEditPoints="1" noAdjustHandles="1" noChangeArrowheads="1" noChangeShapeType="1" noTextEdit="1"/>
              </p:cNvSpPr>
              <p:nvPr/>
            </p:nvSpPr>
            <p:spPr>
              <a:xfrm>
                <a:off x="609600" y="1095375"/>
                <a:ext cx="10953750" cy="12192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52">
                <a:extLst>
                  <a:ext uri="{FF2B5EF4-FFF2-40B4-BE49-F238E27FC236}">
                    <a16:creationId xmlns:a16="http://schemas.microsoft.com/office/drawing/2014/main" id="{0E73E7B1-718E-44FA-99FA-962179EB0387}"/>
                  </a:ext>
                </a:extLst>
              </p:cNvPr>
              <p:cNvSpPr txBox="1">
                <a:spLocks noGrp="1"/>
              </p:cNvSpPr>
              <p:nvPr/>
            </p:nvSpPr>
            <p:spPr>
              <a:xfrm>
                <a:off x="541020" y="2328863"/>
                <a:ext cx="10953750" cy="1238250"/>
              </a:xfrm>
              <a:prstGeom prst="rect">
                <a:avLst/>
              </a:prstGeom>
              <a:noFill/>
              <a:ln w="0">
                <a:noFill/>
              </a:ln>
            </p:spPr>
            <p:txBody>
              <a:bodyPr vertOverflow="overflow" wrap="none" lIns="0" tIns="0" rIns="0" bIns="0" anchor="t">
                <a:noAutofit/>
              </a:bodyPr>
              <a:lstStyle/>
              <a:p>
                <a:pPr algn="ctr">
                  <a:defRPr lang="en-GB" sz="3225" b="0" i="0" dirty="0">
                    <a:solidFill>
                      <a:srgbClr val="087F83"/>
                    </a:solidFill>
                    <a:latin typeface="Cambria Math"/>
                    <a:ea typeface="Cambria Math"/>
                    <a:cs typeface="Cambria Math"/>
                  </a:defRPr>
                </a:pPr>
                <a14:m>
                  <m:oMathPara xmlns:m="http://schemas.openxmlformats.org/officeDocument/2006/math">
                    <m:oMath>
                      <m:sSup>
                        <m:sSupPr>
                          <m:ctrlPr>
                            <a:rPr lang="en-GB" sz="3000" b="0" dirty="0">
                              <a:solidFill>
                                <a:srgbClr val="087F83"/>
                              </a:solidFill>
                              <a:latin typeface="Cambria Math"/>
                              <a:ea typeface="Cambria Math"/>
                              <a:cs typeface="Cambria Math"/>
                            </a:rPr>
                          </m:ctrlPr>
                        </m:sSupPr>
                        <m:e>
                          <m:r>
                            <a:rPr lang="en-GB" sz="3000" b="0" dirty="0">
                              <a:solidFill>
                                <a:srgbClr val="087F83"/>
                              </a:solidFill>
                              <a:latin typeface="Cambria Math"/>
                              <a:ea typeface="Cambria Math"/>
                              <a:cs typeface="Cambria Math"/>
                            </a:rPr>
                            <m:t>𝑏</m:t>
                          </m:r>
                        </m:e>
                        <m:sup>
                          <m:r>
                            <a:rPr lang="en-GB" sz="3000" b="0" dirty="0">
                              <a:solidFill>
                                <a:srgbClr val="087F83"/>
                              </a:solidFill>
                              <a:latin typeface="Cambria Math"/>
                              <a:ea typeface="Cambria Math"/>
                              <a:cs typeface="Cambria Math"/>
                            </a:rPr>
                            <m:t>∗</m:t>
                          </m:r>
                        </m:sup>
                      </m:sSup>
                      <m:r>
                        <a:rPr lang="en-GB" sz="3000" b="0" dirty="0">
                          <a:solidFill>
                            <a:srgbClr val="087F83"/>
                          </a:solidFill>
                          <a:latin typeface="Cambria Math"/>
                          <a:ea typeface="Cambria Math"/>
                          <a:cs typeface="Cambria Math"/>
                        </a:rPr>
                        <m:t>=</m:t>
                      </m:r>
                      <m:f>
                        <m:fPr>
                          <m:ctrlPr>
                            <a:rPr lang="en-GB" sz="3000" b="0" dirty="0">
                              <a:solidFill>
                                <a:srgbClr val="087F83"/>
                              </a:solidFill>
                              <a:latin typeface="Cambria Math"/>
                              <a:ea typeface="Cambria Math"/>
                              <a:cs typeface="Cambria Math"/>
                            </a:rPr>
                          </m:ctrlPr>
                        </m:fPr>
                        <m:num>
                          <m:r>
                            <a:rPr lang="en-GB" sz="3000" b="0" dirty="0">
                              <a:solidFill>
                                <a:srgbClr val="087F83"/>
                              </a:solidFill>
                              <a:latin typeface="Cambria Math"/>
                              <a:ea typeface="Cambria Math"/>
                              <a:cs typeface="Cambria Math"/>
                            </a:rPr>
                            <m:t>1</m:t>
                          </m:r>
                        </m:num>
                        <m:den>
                          <m:r>
                            <a:rPr lang="en-GB" sz="3000" b="0" dirty="0">
                              <a:solidFill>
                                <a:srgbClr val="087F83"/>
                              </a:solidFill>
                              <a:latin typeface="Cambria Math"/>
                              <a:ea typeface="Cambria Math"/>
                              <a:cs typeface="Cambria Math"/>
                            </a:rPr>
                            <m:t>𝑁</m:t>
                          </m:r>
                        </m:den>
                      </m:f>
                      <m:nary>
                        <m:naryPr>
                          <m:chr m:val="∑"/>
                          <m:limLoc m:val="undOvr"/>
                          <m:ctrlPr>
                            <a:rPr lang="en-GB" sz="3000" b="0" dirty="0">
                              <a:solidFill>
                                <a:srgbClr val="087F83"/>
                              </a:solidFill>
                              <a:latin typeface="Cambria Math"/>
                              <a:ea typeface="Cambria Math"/>
                              <a:cs typeface="Cambria Math"/>
                            </a:rPr>
                          </m:ctrlPr>
                        </m:naryPr>
                        <m:sub>
                          <m:r>
                            <a:rPr lang="en-GB" sz="3000" b="0" dirty="0">
                              <a:solidFill>
                                <a:srgbClr val="087F83"/>
                              </a:solidFill>
                              <a:latin typeface="Cambria Math"/>
                              <a:ea typeface="Cambria Math"/>
                              <a:cs typeface="Cambria Math"/>
                            </a:rPr>
                            <m:t>𝑖</m:t>
                          </m:r>
                          <m:r>
                            <a:rPr lang="en-GB" sz="3000" b="0" dirty="0">
                              <a:solidFill>
                                <a:srgbClr val="087F83"/>
                              </a:solidFill>
                              <a:latin typeface="Cambria Math"/>
                              <a:ea typeface="Cambria Math"/>
                              <a:cs typeface="Cambria Math"/>
                            </a:rPr>
                            <m:t>=1</m:t>
                          </m:r>
                        </m:sub>
                        <m:sup>
                          <m:r>
                            <a:rPr lang="en-GB" sz="3000" b="0" dirty="0">
                              <a:solidFill>
                                <a:srgbClr val="087F83"/>
                              </a:solidFill>
                              <a:latin typeface="Cambria Math"/>
                              <a:ea typeface="Cambria Math"/>
                              <a:cs typeface="Cambria Math"/>
                            </a:rPr>
                            <m:t>𝑁</m:t>
                          </m:r>
                        </m:sup>
                        <m:e>
                          <m:sSub>
                            <m:sSubPr>
                              <m:ctrlPr>
                                <a:rPr lang="en-GB" sz="3000" b="0" dirty="0">
                                  <a:solidFill>
                                    <a:srgbClr val="087F83"/>
                                  </a:solidFill>
                                  <a:latin typeface="Cambria Math"/>
                                  <a:ea typeface="Cambria Math"/>
                                  <a:cs typeface="Cambria Math"/>
                                </a:rPr>
                              </m:ctrlPr>
                            </m:sSubPr>
                            <m:e>
                              <m:r>
                                <a:rPr lang="en-GB" sz="3000" b="0" dirty="0">
                                  <a:solidFill>
                                    <a:srgbClr val="087F83"/>
                                  </a:solidFill>
                                  <a:latin typeface="Cambria Math"/>
                                  <a:ea typeface="Cambria Math"/>
                                  <a:cs typeface="Cambria Math"/>
                                </a:rPr>
                                <m:t>𝑦</m:t>
                              </m:r>
                            </m:e>
                            <m:sub>
                              <m:r>
                                <a:rPr lang="en-GB" sz="3000" b="0" dirty="0">
                                  <a:solidFill>
                                    <a:srgbClr val="087F83"/>
                                  </a:solidFill>
                                  <a:latin typeface="Cambria Math"/>
                                  <a:ea typeface="Cambria Math"/>
                                  <a:cs typeface="Cambria Math"/>
                                </a:rPr>
                                <m:t>𝑖</m:t>
                              </m:r>
                            </m:sub>
                          </m:sSub>
                        </m:e>
                      </m:nary>
                      <m:r>
                        <a:rPr lang="it-IT" sz="3000" b="0" i="1" dirty="0" smtClean="0">
                          <a:solidFill>
                            <a:srgbClr val="087F83"/>
                          </a:solidFill>
                          <a:latin typeface="Cambria Math" panose="02040503050406030204" pitchFamily="18" charset="0"/>
                          <a:ea typeface="Cambria Math"/>
                          <a:cs typeface="Cambria Math"/>
                        </a:rPr>
                        <m:t>=</m:t>
                      </m:r>
                      <m:bar>
                        <m:barPr>
                          <m:pos m:val="top"/>
                          <m:ctrlPr>
                            <a:rPr lang="en-GB" sz="3000" dirty="0">
                              <a:solidFill>
                                <a:srgbClr val="087F83"/>
                              </a:solidFill>
                              <a:latin typeface="Cambria Math"/>
                              <a:ea typeface="Cambria Math"/>
                              <a:cs typeface="Cambria Math"/>
                            </a:rPr>
                          </m:ctrlPr>
                        </m:barPr>
                        <m:e>
                          <m:r>
                            <a:rPr lang="en-GB" sz="3000" dirty="0">
                              <a:solidFill>
                                <a:srgbClr val="087F83"/>
                              </a:solidFill>
                              <a:latin typeface="Cambria Math"/>
                              <a:ea typeface="Cambria Math"/>
                              <a:cs typeface="Cambria Math"/>
                            </a:rPr>
                            <m:t>𝑦</m:t>
                          </m:r>
                        </m:e>
                      </m:bar>
                    </m:oMath>
                  </m:oMathPara>
                </a14:m>
                <a:endParaRPr lang="en-GB" sz="3000" b="0" i="0" dirty="0">
                  <a:solidFill>
                    <a:srgbClr val="087F83"/>
                  </a:solidFill>
                  <a:latin typeface="Cambria Math"/>
                  <a:ea typeface="Cambria Math"/>
                  <a:cs typeface="Cambria Math"/>
                </a:endParaRPr>
              </a:p>
            </p:txBody>
          </p:sp>
        </mc:Choice>
        <mc:Fallback xmlns="">
          <p:sp>
            <p:nvSpPr>
              <p:cNvPr id="4" name="eq_52">
                <a:extLst>
                  <a:ext uri="{FF2B5EF4-FFF2-40B4-BE49-F238E27FC236}">
                    <a16:creationId xmlns:a16="http://schemas.microsoft.com/office/drawing/2014/main" id="{0E73E7B1-718E-44FA-99FA-962179EB0387}"/>
                  </a:ext>
                </a:extLst>
              </p:cNvPr>
              <p:cNvSpPr txBox="1">
                <a:spLocks noGrp="1" noRot="1" noChangeAspect="1" noMove="1" noResize="1" noEditPoints="1" noAdjustHandles="1" noChangeArrowheads="1" noChangeShapeType="1" noTextEdit="1"/>
              </p:cNvSpPr>
              <p:nvPr/>
            </p:nvSpPr>
            <p:spPr>
              <a:xfrm>
                <a:off x="541020" y="2328863"/>
                <a:ext cx="10953750" cy="1238250"/>
              </a:xfrm>
              <a:prstGeom prst="rect">
                <a:avLst/>
              </a:prstGeom>
              <a:blipFill>
                <a:blip r:embed="rId4"/>
                <a:stretch>
                  <a:fillRect b="-394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txt_53">
                <a:extLst>
                  <a:ext uri="{FF2B5EF4-FFF2-40B4-BE49-F238E27FC236}">
                    <a16:creationId xmlns:a16="http://schemas.microsoft.com/office/drawing/2014/main" id="{AAB73D82-E8F9-4982-8A83-7A10069D0B75}"/>
                  </a:ext>
                </a:extLst>
              </p:cNvPr>
              <p:cNvSpPr txBox="1">
                <a:spLocks noGrp="1"/>
              </p:cNvSpPr>
              <p:nvPr/>
            </p:nvSpPr>
            <p:spPr>
              <a:xfrm>
                <a:off x="609600" y="4062412"/>
                <a:ext cx="10953750" cy="923925"/>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The loss is a quadratic in </a:t>
                </a:r>
                <a14:m>
                  <m:oMath xmlns:m="http://schemas.openxmlformats.org/officeDocument/2006/math">
                    <m:r>
                      <a:rPr lang="en-GB" sz="2100" b="0" dirty="0">
                        <a:solidFill>
                          <a:srgbClr val="182D45"/>
                        </a:solidFill>
                        <a:latin typeface="Cambria Math"/>
                        <a:ea typeface="Cambria Math"/>
                        <a:cs typeface="Cambria Math"/>
                      </a:rPr>
                      <m:t>𝑏</m:t>
                    </m:r>
                  </m:oMath>
                </a14:m>
                <a:r>
                  <a:rPr lang="en-GB" sz="2100" b="0" i="0" dirty="0">
                    <a:solidFill>
                      <a:srgbClr val="182D45"/>
                    </a:solidFill>
                    <a:latin typeface="DejaVu Sans"/>
                    <a:ea typeface="DejaVu Sans"/>
                    <a:cs typeface="DejaVu Sans"/>
                  </a:rPr>
                  <a:t> with positive leading coefficient </a:t>
                </a:r>
                <a14:m>
                  <m:oMath xmlns:m="http://schemas.openxmlformats.org/officeDocument/2006/math">
                    <m:r>
                      <a:rPr lang="en-GB" sz="2100" b="0" dirty="0">
                        <a:solidFill>
                          <a:srgbClr val="182D45"/>
                        </a:solidFill>
                        <a:latin typeface="Cambria Math"/>
                        <a:ea typeface="Cambria Math"/>
                        <a:cs typeface="Cambria Math"/>
                      </a:rPr>
                      <m:t>𝑁</m:t>
                    </m:r>
                  </m:oMath>
                </a14:m>
                <a:r>
                  <a:rPr lang="en-GB" sz="2100" b="0" i="0" dirty="0">
                    <a:solidFill>
                      <a:srgbClr val="182D45"/>
                    </a:solidFill>
                    <a:latin typeface="DejaVu Sans"/>
                    <a:ea typeface="DejaVu Sans"/>
                    <a:cs typeface="DejaVu Sans"/>
                  </a:rPr>
                  <a:t>.</a:t>
                </a:r>
              </a:p>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Its graph is an upward-opening parabola, so a global minimum exists.</a:t>
                </a:r>
              </a:p>
            </p:txBody>
          </p:sp>
        </mc:Choice>
        <mc:Fallback xmlns="">
          <p:sp>
            <p:nvSpPr>
              <p:cNvPr id="5" name="txt_53">
                <a:extLst>
                  <a:ext uri="{FF2B5EF4-FFF2-40B4-BE49-F238E27FC236}">
                    <a16:creationId xmlns:a16="http://schemas.microsoft.com/office/drawing/2014/main" id="{AAB73D82-E8F9-4982-8A83-7A10069D0B75}"/>
                  </a:ext>
                </a:extLst>
              </p:cNvPr>
              <p:cNvSpPr txBox="1">
                <a:spLocks noGrp="1" noRot="1" noChangeAspect="1" noMove="1" noResize="1" noEditPoints="1" noAdjustHandles="1" noChangeArrowheads="1" noChangeShapeType="1" noTextEdit="1"/>
              </p:cNvSpPr>
              <p:nvPr/>
            </p:nvSpPr>
            <p:spPr>
              <a:xfrm>
                <a:off x="609600" y="4062412"/>
                <a:ext cx="10953750" cy="923925"/>
              </a:xfrm>
              <a:prstGeom prst="rect">
                <a:avLst/>
              </a:prstGeom>
              <a:blipFill>
                <a:blip r:embed="rId5"/>
                <a:stretch>
                  <a:fillRect t="-9211"/>
                </a:stretch>
              </a:blipFill>
              <a:ln w="0">
                <a:noFill/>
              </a:ln>
            </p:spPr>
            <p:txBody>
              <a:bodyPr/>
              <a:lstStyle/>
              <a:p>
                <a:r>
                  <a:rPr lang="it-IT">
                    <a:noFill/>
                  </a:rPr>
                  <a:t> </a:t>
                </a:r>
              </a:p>
            </p:txBody>
          </p:sp>
        </mc:Fallback>
      </mc:AlternateContent>
      <p:sp>
        <p:nvSpPr>
          <p:cNvPr id="6" name="txt_54">
            <a:extLst>
              <a:ext uri="{FF2B5EF4-FFF2-40B4-BE49-F238E27FC236}">
                <a16:creationId xmlns:a16="http://schemas.microsoft.com/office/drawing/2014/main" id="{CD4DB360-4997-4BA8-B7E8-6EAA8E8E4ECF}"/>
              </a:ext>
            </a:extLst>
          </p:cNvPr>
          <p:cNvSpPr txBox="1">
            <a:spLocks noGrp="1"/>
          </p:cNvSpPr>
          <p:nvPr/>
        </p:nvSpPr>
        <p:spPr>
          <a:xfrm>
            <a:off x="609600" y="4986337"/>
            <a:ext cx="10953750" cy="1000125"/>
          </a:xfrm>
          <a:prstGeom prst="rect">
            <a:avLst/>
          </a:prstGeom>
          <a:noFill/>
          <a:ln w="0">
            <a:noFill/>
          </a:ln>
        </p:spPr>
        <p:txBody>
          <a:bodyPr vertOverflow="overflow" wrap="square" lIns="0" tIns="0" rIns="0" bIns="0" anchor="t">
            <a:noAutofit/>
          </a:bodyPr>
          <a:lstStyle/>
          <a:p>
            <a:pPr algn="ctr"/>
            <a:r>
              <a:rPr lang="en-GB" sz="2100" b="0" i="0" dirty="0">
                <a:solidFill>
                  <a:srgbClr val="182D45"/>
                </a:solidFill>
                <a:latin typeface="DejaVu Sans"/>
                <a:ea typeface="DejaVu Sans"/>
                <a:cs typeface="DejaVu Sans"/>
              </a:rPr>
              <a:t>By Fermat, every minimiser must be stationary.</a:t>
            </a:r>
          </a:p>
          <a:p>
            <a:pPr algn="ctr"/>
            <a:r>
              <a:rPr lang="en-GB" sz="2100" b="0" i="0" dirty="0">
                <a:solidFill>
                  <a:srgbClr val="182D45"/>
                </a:solidFill>
                <a:latin typeface="DejaVu Sans"/>
                <a:ea typeface="DejaVu Sans"/>
                <a:cs typeface="DejaVu Sans"/>
              </a:rPr>
              <a:t>There is only one stationary point, so it is the unique global minimiser.</a:t>
            </a:r>
          </a:p>
        </p:txBody>
      </p:sp>
    </p:spTree>
    <p:extLst>
      <p:ext uri="{BB962C8B-B14F-4D97-AF65-F5344CB8AC3E}">
        <p14:creationId xmlns:p14="http://schemas.microsoft.com/office/powerpoint/2010/main" val="32211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AE63D950-B8FB-4869-95EB-7C9B672162A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constant fit on our data</a:t>
            </a:r>
          </a:p>
        </p:txBody>
      </p:sp>
      <p:sp>
        <p:nvSpPr>
          <p:cNvPr id="2" name="page_number">
            <a:extLst>
              <a:ext uri="{FF2B5EF4-FFF2-40B4-BE49-F238E27FC236}">
                <a16:creationId xmlns:a16="http://schemas.microsoft.com/office/drawing/2014/main" id="{C7097B26-DDA8-4130-8C4F-0ADACCCF25D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15</a:t>
            </a:r>
          </a:p>
        </p:txBody>
      </p:sp>
      <p:graphicFrame>
        <p:nvGraphicFramePr>
          <p:cNvPr id="9" name="Chart"/>
          <p:cNvGraphicFramePr/>
          <p:nvPr>
            <p:extLst>
              <p:ext uri="{D42A27DB-BD31-4B8C-83A1-F6EECF244321}">
                <p14:modId xmlns:p14="http://schemas.microsoft.com/office/powerpoint/2010/main" val="368316639"/>
              </p:ext>
            </p:extLst>
          </p:nvPr>
        </p:nvGraphicFramePr>
        <p:xfrm>
          <a:off x="291078" y="2124837"/>
          <a:ext cx="6019800" cy="33528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a14="http://schemas.microsoft.com/office/drawing/2010/main" Requires="a14">
          <p:sp>
            <p:nvSpPr>
              <p:cNvPr id="4" name="eq_55">
                <a:extLst>
                  <a:ext uri="{FF2B5EF4-FFF2-40B4-BE49-F238E27FC236}">
                    <a16:creationId xmlns:a16="http://schemas.microsoft.com/office/drawing/2014/main" id="{A58A4EE6-5C3A-49EF-9CD7-A784251B6C4C}"/>
                  </a:ext>
                </a:extLst>
              </p:cNvPr>
              <p:cNvSpPr txBox="1">
                <a:spLocks noGrp="1"/>
              </p:cNvSpPr>
              <p:nvPr/>
            </p:nvSpPr>
            <p:spPr>
              <a:xfrm>
                <a:off x="7003159" y="3790950"/>
                <a:ext cx="4636391" cy="1028700"/>
              </a:xfrm>
              <a:prstGeom prst="rect">
                <a:avLst/>
              </a:prstGeom>
              <a:noFill/>
              <a:ln w="0">
                <a:noFill/>
              </a:ln>
            </p:spPr>
            <p:txBody>
              <a:bodyPr vertOverflow="overflow" wrap="none" lIns="0" tIns="0" rIns="0" bIns="0" anchor="t">
                <a:noAutofit/>
              </a:bodyPr>
              <a:lstStyle/>
              <a:p>
                <a:pPr marL="0" marR="0" indent="0" algn="ctr">
                  <a:defRPr lang="en-GB" sz="2175" b="0" i="0" dirty="0">
                    <a:solidFill>
                      <a:srgbClr val="182D45"/>
                    </a:solidFill>
                    <a:latin typeface="Cambria Math"/>
                    <a:ea typeface="Cambria Math"/>
                    <a:cs typeface="Cambria Math"/>
                  </a:defRPr>
                </a:pPr>
                <a14:m>
                  <m:oMathPara xmlns:m="http://schemas.openxmlformats.org/officeDocument/2006/math">
                    <m:oMath>
                      <m:sSup>
                        <m:sSupPr>
                          <m:ctrlPr>
                            <a:rPr lang="en-GB" sz="2100" b="0" dirty="0">
                              <a:solidFill>
                                <a:srgbClr val="182D45"/>
                              </a:solidFill>
                              <a:latin typeface="Cambria Math"/>
                              <a:ea typeface="Cambria Math"/>
                              <a:cs typeface="Cambria Math"/>
                            </a:rPr>
                          </m:ctrlPr>
                        </m:sSupPr>
                        <m:e>
                          <m:r>
                            <a:rPr lang="en-GB" sz="2100" b="0" dirty="0">
                              <a:solidFill>
                                <a:srgbClr val="182D45"/>
                              </a:solidFill>
                              <a:latin typeface="Cambria Math"/>
                              <a:ea typeface="Cambria Math"/>
                              <a:cs typeface="Cambria Math"/>
                            </a:rPr>
                            <m:t>𝑏</m:t>
                          </m:r>
                        </m:e>
                        <m:sup>
                          <m:r>
                            <a:rPr lang="en-GB" sz="2100" b="0" dirty="0">
                              <a:solidFill>
                                <a:srgbClr val="182D45"/>
                              </a:solidFill>
                              <a:latin typeface="Cambria Math"/>
                              <a:ea typeface="Cambria Math"/>
                              <a:cs typeface="Cambria Math"/>
                            </a:rPr>
                            <m:t>∗</m:t>
                          </m:r>
                        </m:sup>
                      </m:sSup>
                      <m:r>
                        <a:rPr lang="en-GB" sz="2100" b="0" dirty="0">
                          <a:solidFill>
                            <a:srgbClr val="182D45"/>
                          </a:solidFill>
                          <a:latin typeface="Cambria Math"/>
                          <a:ea typeface="Cambria Math"/>
                          <a:cs typeface="Cambria Math"/>
                        </a:rPr>
                        <m:t>=</m:t>
                      </m:r>
                      <m:f>
                        <m:fPr>
                          <m:ctrlPr>
                            <a:rPr lang="en-GB" sz="2100" b="0" dirty="0">
                              <a:solidFill>
                                <a:srgbClr val="182D45"/>
                              </a:solidFill>
                              <a:latin typeface="Cambria Math"/>
                              <a:ea typeface="Cambria Math"/>
                              <a:cs typeface="Cambria Math"/>
                            </a:rPr>
                          </m:ctrlPr>
                        </m:fPr>
                        <m:num>
                          <m:r>
                            <a:rPr lang="en-GB" sz="2100" b="0" dirty="0">
                              <a:solidFill>
                                <a:srgbClr val="182D45"/>
                              </a:solidFill>
                              <a:latin typeface="Cambria Math"/>
                              <a:ea typeface="Cambria Math"/>
                              <a:cs typeface="Cambria Math"/>
                            </a:rPr>
                            <m:t>−1.5+0.5+1+2.5+7.5</m:t>
                          </m:r>
                        </m:num>
                        <m:den>
                          <m:r>
                            <a:rPr lang="en-GB" sz="2100" b="0" dirty="0">
                              <a:solidFill>
                                <a:srgbClr val="182D45"/>
                              </a:solidFill>
                              <a:latin typeface="Cambria Math"/>
                              <a:ea typeface="Cambria Math"/>
                              <a:cs typeface="Cambria Math"/>
                            </a:rPr>
                            <m:t>5</m:t>
                          </m:r>
                        </m:den>
                      </m:f>
                      <m:r>
                        <a:rPr lang="en-GB" sz="2100" b="0" dirty="0">
                          <a:solidFill>
                            <a:srgbClr val="182D45"/>
                          </a:solidFill>
                          <a:latin typeface="Cambria Math"/>
                          <a:ea typeface="Cambria Math"/>
                          <a:cs typeface="Cambria Math"/>
                        </a:rPr>
                        <m:t>=2</m:t>
                      </m:r>
                    </m:oMath>
                  </m:oMathPara>
                </a14:m>
                <a:endParaRPr lang="en-GB" sz="2100" b="0" i="0" dirty="0">
                  <a:solidFill>
                    <a:srgbClr val="182D45"/>
                  </a:solidFill>
                  <a:latin typeface="Cambria Math"/>
                  <a:ea typeface="Cambria Math"/>
                  <a:cs typeface="Cambria Math"/>
                </a:endParaRPr>
              </a:p>
            </p:txBody>
          </p:sp>
        </mc:Choice>
        <mc:Fallback>
          <p:sp>
            <p:nvSpPr>
              <p:cNvPr id="4" name="eq_55">
                <a:extLst>
                  <a:ext uri="{FF2B5EF4-FFF2-40B4-BE49-F238E27FC236}">
                    <a16:creationId xmlns:a16="http://schemas.microsoft.com/office/drawing/2014/main" id="{A58A4EE6-5C3A-49EF-9CD7-A784251B6C4C}"/>
                  </a:ext>
                </a:extLst>
              </p:cNvPr>
              <p:cNvSpPr txBox="1">
                <a:spLocks noGrp="1" noRot="1" noChangeAspect="1" noMove="1" noResize="1" noEditPoints="1" noAdjustHandles="1" noChangeArrowheads="1" noChangeShapeType="1" noTextEdit="1"/>
              </p:cNvSpPr>
              <p:nvPr/>
            </p:nvSpPr>
            <p:spPr>
              <a:xfrm>
                <a:off x="7003159" y="3790950"/>
                <a:ext cx="4636391" cy="10287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56">
                <a:extLst>
                  <a:ext uri="{FF2B5EF4-FFF2-40B4-BE49-F238E27FC236}">
                    <a16:creationId xmlns:a16="http://schemas.microsoft.com/office/drawing/2014/main" id="{7D75BEAB-DE77-48FB-860D-3021DE8A522E}"/>
                  </a:ext>
                </a:extLst>
              </p:cNvPr>
              <p:cNvSpPr txBox="1">
                <a:spLocks noGrp="1"/>
              </p:cNvSpPr>
              <p:nvPr/>
            </p:nvSpPr>
            <p:spPr>
              <a:xfrm>
                <a:off x="6848473" y="4819650"/>
                <a:ext cx="4675632" cy="762000"/>
              </a:xfrm>
              <a:prstGeom prst="rect">
                <a:avLst/>
              </a:prstGeom>
              <a:noFill/>
              <a:ln w="0">
                <a:noFill/>
              </a:ln>
            </p:spPr>
            <p:txBody>
              <a:bodyPr vertOverflow="overflow" wrap="none" lIns="0" tIns="0" rIns="0" bIns="0" anchor="t">
                <a:noAutofit/>
              </a:bodyPr>
              <a:lstStyle/>
              <a:p>
                <a:pPr algn="ctr">
                  <a:defRPr lang="en-GB" sz="2550" b="0" i="0" dirty="0">
                    <a:solidFill>
                      <a:srgbClr val="087F83"/>
                    </a:solidFill>
                    <a:latin typeface="Cambria Math"/>
                    <a:ea typeface="Cambria Math"/>
                    <a:cs typeface="Cambria Math"/>
                  </a:defRPr>
                </a:pPr>
                <a14:m>
                  <m:oMathPara xmlns:m="http://schemas.openxmlformats.org/officeDocument/2006/math">
                    <m:oMath>
                      <m:sSubSup>
                        <m:sSubSupPr>
                          <m:ctrlPr>
                            <a:rPr lang="en-GB" sz="2400" dirty="0">
                              <a:solidFill>
                                <a:schemeClr val="accent1"/>
                              </a:solidFill>
                              <a:latin typeface="Cambria Math"/>
                              <a:ea typeface="Cambria Math"/>
                              <a:cs typeface="Cambria Math"/>
                            </a:rPr>
                          </m:ctrlPr>
                        </m:sSubSupPr>
                        <m:e>
                          <m:r>
                            <a:rPr lang="en-GB" sz="2400" dirty="0">
                              <a:solidFill>
                                <a:schemeClr val="accent1"/>
                              </a:solidFill>
                              <a:latin typeface="Cambria Math"/>
                              <a:ea typeface="Cambria Math"/>
                              <a:cs typeface="Cambria Math"/>
                            </a:rPr>
                            <m:t>ℒ</m:t>
                          </m:r>
                        </m:e>
                        <m:sub>
                          <m:r>
                            <m:rPr>
                              <m:sty m:val="p"/>
                            </m:rPr>
                            <a:rPr lang="en-GB" sz="2400" dirty="0">
                              <a:solidFill>
                                <a:schemeClr val="accent1"/>
                              </a:solidFill>
                              <a:latin typeface="Cambria Math"/>
                              <a:ea typeface="Cambria Math"/>
                              <a:cs typeface="Cambria Math"/>
                            </a:rPr>
                            <m:t>sq</m:t>
                          </m:r>
                        </m:sub>
                        <m:sup>
                          <m:r>
                            <m:rPr>
                              <m:sty m:val="p"/>
                            </m:rPr>
                            <a:rPr lang="it-IT" sz="2400" dirty="0">
                              <a:solidFill>
                                <a:schemeClr val="accent1"/>
                              </a:solidFill>
                              <a:latin typeface="Cambria Math" panose="02040503050406030204" pitchFamily="18" charset="0"/>
                              <a:ea typeface="Cambria Math"/>
                              <a:cs typeface="Cambria Math"/>
                            </a:rPr>
                            <m:t>const</m:t>
                          </m:r>
                        </m:sup>
                      </m:sSubSup>
                      <m:d>
                        <m:dPr>
                          <m:ctrlPr>
                            <a:rPr lang="it-IT" sz="2400" b="0" i="1" dirty="0" smtClean="0">
                              <a:solidFill>
                                <a:srgbClr val="087F83"/>
                              </a:solidFill>
                              <a:latin typeface="Cambria Math" panose="02040503050406030204" pitchFamily="18" charset="0"/>
                              <a:ea typeface="Cambria Math"/>
                              <a:cs typeface="Cambria Math"/>
                            </a:rPr>
                          </m:ctrlPr>
                        </m:dPr>
                        <m:e>
                          <m:sSup>
                            <m:sSupPr>
                              <m:ctrlPr>
                                <a:rPr lang="it-IT" sz="2400" b="0" i="1" dirty="0" smtClean="0">
                                  <a:solidFill>
                                    <a:srgbClr val="087F83"/>
                                  </a:solidFill>
                                  <a:latin typeface="Cambria Math" panose="02040503050406030204" pitchFamily="18" charset="0"/>
                                  <a:ea typeface="Cambria Math"/>
                                  <a:cs typeface="Cambria Math"/>
                                </a:rPr>
                              </m:ctrlPr>
                            </m:sSupPr>
                            <m:e>
                              <m:r>
                                <a:rPr lang="it-IT" sz="2400" b="0" i="1" dirty="0" smtClean="0">
                                  <a:solidFill>
                                    <a:srgbClr val="087F83"/>
                                  </a:solidFill>
                                  <a:latin typeface="Cambria Math" panose="02040503050406030204" pitchFamily="18" charset="0"/>
                                  <a:ea typeface="Cambria Math"/>
                                  <a:cs typeface="Cambria Math"/>
                                </a:rPr>
                                <m:t>𝑏</m:t>
                              </m:r>
                            </m:e>
                            <m:sup>
                              <m:r>
                                <a:rPr lang="it-IT" sz="2400" b="0" i="1" dirty="0" smtClean="0">
                                  <a:solidFill>
                                    <a:srgbClr val="087F83"/>
                                  </a:solidFill>
                                  <a:latin typeface="Cambria Math" panose="02040503050406030204" pitchFamily="18" charset="0"/>
                                  <a:ea typeface="Cambria Math"/>
                                  <a:cs typeface="Cambria Math"/>
                                </a:rPr>
                                <m:t>∗</m:t>
                              </m:r>
                            </m:sup>
                          </m:sSup>
                        </m:e>
                      </m:d>
                      <m:r>
                        <a:rPr lang="en-GB" sz="2400" dirty="0">
                          <a:solidFill>
                            <a:srgbClr val="087F83"/>
                          </a:solidFill>
                          <a:latin typeface="Cambria Math"/>
                          <a:ea typeface="Cambria Math"/>
                          <a:cs typeface="Cambria Math"/>
                        </a:rPr>
                        <m:t>=</m:t>
                      </m:r>
                      <m:r>
                        <m:rPr>
                          <m:nor/>
                        </m:rPr>
                        <a:rPr lang="en-GB" sz="2400" i="0" dirty="0">
                          <a:solidFill>
                            <a:srgbClr val="087F83"/>
                          </a:solidFill>
                          <a:latin typeface="Cambria Math"/>
                          <a:ea typeface="Cambria Math"/>
                          <a:cs typeface="Cambria Math"/>
                        </a:rPr>
                        <m:t>46</m:t>
                      </m:r>
                    </m:oMath>
                  </m:oMathPara>
                </a14:m>
                <a:endParaRPr lang="en-GB" sz="2400" b="0" i="0" dirty="0">
                  <a:solidFill>
                    <a:srgbClr val="087F83"/>
                  </a:solidFill>
                  <a:latin typeface="Cambria Math"/>
                  <a:ea typeface="Cambria Math"/>
                  <a:cs typeface="Cambria Math"/>
                </a:endParaRPr>
              </a:p>
            </p:txBody>
          </p:sp>
        </mc:Choice>
        <mc:Fallback xmlns="">
          <p:sp>
            <p:nvSpPr>
              <p:cNvPr id="5" name="eq_56">
                <a:extLst>
                  <a:ext uri="{FF2B5EF4-FFF2-40B4-BE49-F238E27FC236}">
                    <a16:creationId xmlns:a16="http://schemas.microsoft.com/office/drawing/2014/main" id="{7D75BEAB-DE77-48FB-860D-3021DE8A522E}"/>
                  </a:ext>
                </a:extLst>
              </p:cNvPr>
              <p:cNvSpPr txBox="1">
                <a:spLocks noGrp="1" noRot="1" noChangeAspect="1" noMove="1" noResize="1" noEditPoints="1" noAdjustHandles="1" noChangeArrowheads="1" noChangeShapeType="1" noTextEdit="1"/>
              </p:cNvSpPr>
              <p:nvPr/>
            </p:nvSpPr>
            <p:spPr>
              <a:xfrm>
                <a:off x="6848473" y="4819650"/>
                <a:ext cx="4675632" cy="762000"/>
              </a:xfrm>
              <a:prstGeom prst="rect">
                <a:avLst/>
              </a:prstGeom>
              <a:blipFill>
                <a:blip r:embed="rId5"/>
                <a:stretch>
                  <a:fillRect/>
                </a:stretch>
              </a:blipFill>
              <a:ln w="0">
                <a:noFill/>
              </a:ln>
            </p:spPr>
            <p:txBody>
              <a:bodyPr/>
              <a:lstStyle/>
              <a:p>
                <a:r>
                  <a:rPr lang="it-IT">
                    <a:noFill/>
                  </a:rPr>
                  <a:t> </a:t>
                </a:r>
              </a:p>
            </p:txBody>
          </p:sp>
        </mc:Fallback>
      </mc:AlternateContent>
      <p:sp>
        <p:nvSpPr>
          <p:cNvPr id="6" name="txt_57">
            <a:extLst>
              <a:ext uri="{FF2B5EF4-FFF2-40B4-BE49-F238E27FC236}">
                <a16:creationId xmlns:a16="http://schemas.microsoft.com/office/drawing/2014/main" id="{C6040839-B16F-4F28-8183-618B5A603F62}"/>
              </a:ext>
            </a:extLst>
          </p:cNvPr>
          <p:cNvSpPr>
            <a:spLocks noGrp="1"/>
          </p:cNvSpPr>
          <p:nvPr/>
        </p:nvSpPr>
        <p:spPr>
          <a:xfrm>
            <a:off x="609600" y="5581650"/>
            <a:ext cx="10953750" cy="771525"/>
          </a:xfrm>
          <a:prstGeom prst="rect">
            <a:avLst/>
          </a:prstGeom>
          <a:noFill/>
          <a:ln w="0">
            <a:noFill/>
          </a:ln>
        </p:spPr>
        <p:txBody>
          <a:bodyPr wrap="square" lIns="0" tIns="0" rIns="0" bIns="0" anchor="t">
            <a:noAutofit/>
          </a:bodyPr>
          <a:lstStyle/>
          <a:p>
            <a:pPr marL="0" marR="0" indent="0" algn="ctr">
              <a:defRPr lang="en-GB" sz="1950" b="1" i="0" dirty="0">
                <a:solidFill>
                  <a:srgbClr val="087F83"/>
                </a:solidFill>
                <a:latin typeface="DejaVu Sans"/>
                <a:ea typeface="DejaVu Sans"/>
                <a:cs typeface="DejaVu Sans"/>
              </a:defRPr>
            </a:pPr>
            <a:r>
              <a:rPr lang="en-GB" sz="1950" b="1" i="0" dirty="0">
                <a:solidFill>
                  <a:srgbClr val="087F83"/>
                </a:solidFill>
                <a:latin typeface="DejaVu Sans"/>
                <a:ea typeface="DejaVu Sans"/>
                <a:cs typeface="DejaVu Sans"/>
              </a:rPr>
              <a:t>Exercise: keep the constant family and replace squared loss with</a:t>
            </a:r>
          </a:p>
          <a:p>
            <a:pPr marL="0" marR="0" indent="0" algn="ctr">
              <a:defRPr lang="en-GB" sz="1950" b="1" i="0" dirty="0">
                <a:solidFill>
                  <a:srgbClr val="087F83"/>
                </a:solidFill>
                <a:latin typeface="DejaVu Sans"/>
                <a:ea typeface="DejaVu Sans"/>
                <a:cs typeface="DejaVu Sans"/>
              </a:defRPr>
            </a:pPr>
            <a:r>
              <a:rPr lang="en-GB" sz="1950" b="1" i="0" dirty="0">
                <a:solidFill>
                  <a:srgbClr val="FF0000"/>
                </a:solidFill>
                <a:latin typeface="DejaVu Sans"/>
                <a:ea typeface="DejaVu Sans"/>
                <a:cs typeface="DejaVu Sans"/>
              </a:rPr>
              <a:t>absolute loss</a:t>
            </a:r>
          </a:p>
          <a:p>
            <a:pPr marL="0" marR="0" indent="0" algn="ctr">
              <a:defRPr lang="en-GB" sz="1950" b="1" i="0" dirty="0">
                <a:solidFill>
                  <a:srgbClr val="087F83"/>
                </a:solidFill>
                <a:latin typeface="DejaVu Sans"/>
                <a:ea typeface="DejaVu Sans"/>
                <a:cs typeface="DejaVu Sans"/>
              </a:defRPr>
            </a:pPr>
            <a:r>
              <a:rPr lang="en-GB" sz="1950" b="1" i="0" dirty="0">
                <a:solidFill>
                  <a:srgbClr val="087F83"/>
                </a:solidFill>
                <a:latin typeface="DejaVu Sans"/>
                <a:ea typeface="DejaVu Sans"/>
                <a:cs typeface="DejaVu Sans"/>
              </a:rPr>
              <a:t>Which constant minimises the empirical loss?</a:t>
            </a:r>
          </a:p>
        </p:txBody>
      </p:sp>
      <mc:AlternateContent xmlns:mc="http://schemas.openxmlformats.org/markup-compatibility/2006" xmlns:a14="http://schemas.microsoft.com/office/drawing/2010/main">
        <mc:Choice Requires="a14">
          <p:graphicFrame>
            <p:nvGraphicFramePr>
              <p:cNvPr id="3" name="Tabella 2">
                <a:extLst>
                  <a:ext uri="{FF2B5EF4-FFF2-40B4-BE49-F238E27FC236}">
                    <a16:creationId xmlns:a16="http://schemas.microsoft.com/office/drawing/2014/main" id="{292C83C4-1A9F-98E6-5537-000FB28DDFDA}"/>
                  </a:ext>
                </a:extLst>
              </p:cNvPr>
              <p:cNvGraphicFramePr>
                <a:graphicFrameLocks noGrp="1"/>
              </p:cNvGraphicFramePr>
              <p:nvPr>
                <p:extLst>
                  <p:ext uri="{D42A27DB-BD31-4B8C-83A1-F6EECF244321}">
                    <p14:modId xmlns:p14="http://schemas.microsoft.com/office/powerpoint/2010/main" val="3771010688"/>
                  </p:ext>
                </p:extLst>
              </p:nvPr>
            </p:nvGraphicFramePr>
            <p:xfrm>
              <a:off x="6096000" y="1276446"/>
              <a:ext cx="5955788" cy="2163508"/>
            </p:xfrm>
            <a:graphic>
              <a:graphicData uri="http://schemas.openxmlformats.org/drawingml/2006/table">
                <a:tbl>
                  <a:tblPr/>
                  <a:tblGrid>
                    <a:gridCol w="1184475">
                      <a:extLst>
                        <a:ext uri="{9D8B030D-6E8A-4147-A177-3AD203B41FA5}">
                          <a16:colId xmlns:a16="http://schemas.microsoft.com/office/drawing/2014/main" val="2362854992"/>
                        </a:ext>
                      </a:extLst>
                    </a:gridCol>
                    <a:gridCol w="797242">
                      <a:extLst>
                        <a:ext uri="{9D8B030D-6E8A-4147-A177-3AD203B41FA5}">
                          <a16:colId xmlns:a16="http://schemas.microsoft.com/office/drawing/2014/main" val="669850203"/>
                        </a:ext>
                      </a:extLst>
                    </a:gridCol>
                    <a:gridCol w="797242">
                      <a:extLst>
                        <a:ext uri="{9D8B030D-6E8A-4147-A177-3AD203B41FA5}">
                          <a16:colId xmlns:a16="http://schemas.microsoft.com/office/drawing/2014/main" val="951708791"/>
                        </a:ext>
                      </a:extLst>
                    </a:gridCol>
                    <a:gridCol w="797242">
                      <a:extLst>
                        <a:ext uri="{9D8B030D-6E8A-4147-A177-3AD203B41FA5}">
                          <a16:colId xmlns:a16="http://schemas.microsoft.com/office/drawing/2014/main" val="2096207023"/>
                        </a:ext>
                      </a:extLst>
                    </a:gridCol>
                    <a:gridCol w="797242">
                      <a:extLst>
                        <a:ext uri="{9D8B030D-6E8A-4147-A177-3AD203B41FA5}">
                          <a16:colId xmlns:a16="http://schemas.microsoft.com/office/drawing/2014/main" val="667122023"/>
                        </a:ext>
                      </a:extLst>
                    </a:gridCol>
                    <a:gridCol w="797242">
                      <a:extLst>
                        <a:ext uri="{9D8B030D-6E8A-4147-A177-3AD203B41FA5}">
                          <a16:colId xmlns:a16="http://schemas.microsoft.com/office/drawing/2014/main" val="1216145221"/>
                        </a:ext>
                      </a:extLst>
                    </a:gridCol>
                    <a:gridCol w="785103">
                      <a:extLst>
                        <a:ext uri="{9D8B030D-6E8A-4147-A177-3AD203B41FA5}">
                          <a16:colId xmlns:a16="http://schemas.microsoft.com/office/drawing/2014/main" val="836618976"/>
                        </a:ext>
                      </a:extLst>
                    </a:gridCol>
                  </a:tblGrid>
                  <a:tr h="628847">
                    <a:tc>
                      <a:txBody>
                        <a:bodyPr/>
                        <a:lstStyle/>
                        <a:p>
                          <a:pPr algn="l"/>
                          <a:r>
                            <a:rPr sz="1600" b="1" dirty="0" err="1">
                              <a:solidFill>
                                <a:srgbClr val="182D45"/>
                              </a:solidFill>
                              <a:latin typeface="DejaVu Sans"/>
                              <a:ea typeface="DejaVu Sans"/>
                              <a:cs typeface="DejaVu Sans"/>
                            </a:rPr>
                            <a:t>Obs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tc>
                      <a:txBody>
                        <a:bodyPr/>
                        <a:lstStyle/>
                        <a:p>
                          <a:pPr algn="ctr"/>
                          <a14:m>
                            <m:oMathPara xmlns:m="http://schemas.openxmlformats.org/officeDocument/2006/math">
                              <m:oMath>
                                <m:sSubSup>
                                  <m:sSubSupPr>
                                    <m:ctrlPr>
                                      <a:rPr lang="en-GB" sz="1800" dirty="0">
                                        <a:solidFill>
                                          <a:srgbClr val="182D45"/>
                                        </a:solidFill>
                                        <a:latin typeface="Cambria Math"/>
                                        <a:ea typeface="Cambria Math"/>
                                        <a:cs typeface="Cambria Math"/>
                                      </a:rPr>
                                    </m:ctrlPr>
                                  </m:sSubSupPr>
                                  <m:e>
                                    <m:r>
                                      <a:rPr lang="en-GB" sz="1800" dirty="0">
                                        <a:solidFill>
                                          <a:srgbClr val="182D45"/>
                                        </a:solidFill>
                                        <a:latin typeface="Cambria Math"/>
                                        <a:ea typeface="Cambria Math"/>
                                        <a:cs typeface="Cambria Math"/>
                                      </a:rPr>
                                      <m:t>ℒ</m:t>
                                    </m:r>
                                  </m:e>
                                  <m:sub>
                                    <m:r>
                                      <m:rPr>
                                        <m:sty m:val="p"/>
                                      </m:rPr>
                                      <a:rPr lang="en-GB" sz="1800" dirty="0">
                                        <a:solidFill>
                                          <a:srgbClr val="182D45"/>
                                        </a:solidFill>
                                        <a:latin typeface="Cambria Math"/>
                                        <a:ea typeface="Cambria Math"/>
                                        <a:cs typeface="Cambria Math"/>
                                      </a:rPr>
                                      <m:t>sq</m:t>
                                    </m:r>
                                  </m:sub>
                                  <m:sup>
                                    <m:r>
                                      <m:rPr>
                                        <m:sty m:val="p"/>
                                      </m:rPr>
                                      <a:rPr lang="it-IT" sz="1800" dirty="0">
                                        <a:solidFill>
                                          <a:srgbClr val="182D45"/>
                                        </a:solidFill>
                                        <a:latin typeface="Cambria Math" panose="02040503050406030204" pitchFamily="18" charset="0"/>
                                        <a:ea typeface="Cambria Math"/>
                                        <a:cs typeface="Cambria Math"/>
                                      </a:rPr>
                                      <m:t>const</m:t>
                                    </m:r>
                                  </m:sup>
                                </m:sSubSup>
                              </m:oMath>
                            </m:oMathPara>
                          </a14:m>
                          <a:endParaRPr lang="en-GB" sz="1800" b="0" i="0" baseline="-25000" dirty="0">
                            <a:solidFill>
                              <a:srgbClr val="182D45"/>
                            </a:solidFill>
                            <a:latin typeface="Cambria Math"/>
                            <a:ea typeface="Cambria Math"/>
                            <a:cs typeface="Cambria Math"/>
                          </a:endParaRPr>
                        </a:p>
                      </a:txBody>
                      <a:tcPr anchor="ctr">
                        <a:solidFill>
                          <a:srgbClr val="F0F5F8"/>
                        </a:solidFill>
                      </a:tcPr>
                    </a:tc>
                    <a:extLst>
                      <a:ext uri="{0D108BD9-81ED-4DB2-BD59-A6C34878D82A}">
                        <a16:rowId xmlns:a16="http://schemas.microsoft.com/office/drawing/2014/main" val="986434405"/>
                      </a:ext>
                    </a:extLst>
                  </a:tr>
                  <a:tr h="399715">
                    <a:tc>
                      <a:txBody>
                        <a:bodyPr/>
                        <a:lstStyle/>
                        <a:p>
                          <a:pPr algn="l"/>
                          <a:r>
                            <a:rPr sz="1600" b="0" dirty="0">
                              <a:solidFill>
                                <a:srgbClr val="182D45"/>
                              </a:solidFill>
                              <a:latin typeface="DejaVu Sans"/>
                              <a:ea typeface="DejaVu Sans"/>
                              <a:cs typeface="DejaVu Sans"/>
                            </a:rPr>
                            <a:t>Input</a:t>
                          </a:r>
                        </a:p>
                      </a:txBody>
                      <a:tcPr anchor="ctr">
                        <a:solidFill>
                          <a:srgbClr val="FFFFFF"/>
                        </a:solidFill>
                      </a:tcPr>
                    </a:tc>
                    <a:tc>
                      <a:txBody>
                        <a:bodyPr/>
                        <a:lstStyle/>
                        <a:p>
                          <a:pPr algn="ctr"/>
                          <a:r>
                            <a:rPr sz="1600" b="0">
                              <a:solidFill>
                                <a:srgbClr val="182D45"/>
                              </a:solidFill>
                              <a:latin typeface="DejaVu Sans"/>
                              <a:ea typeface="DejaVu Sans"/>
                              <a:cs typeface="DejaVu Sans"/>
                            </a:rPr>
                            <a:t>−2</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endParaRPr sz="1600" dirty="0"/>
                        </a:p>
                      </a:txBody>
                      <a:tcPr anchor="ctr">
                        <a:solidFill>
                          <a:srgbClr val="FFFFFF"/>
                        </a:solidFill>
                      </a:tcPr>
                    </a:tc>
                    <a:extLst>
                      <a:ext uri="{0D108BD9-81ED-4DB2-BD59-A6C34878D82A}">
                        <a16:rowId xmlns:a16="http://schemas.microsoft.com/office/drawing/2014/main" val="1420119408"/>
                      </a:ext>
                    </a:extLst>
                  </a:tr>
                  <a:tr h="506099">
                    <a:tc>
                      <a:txBody>
                        <a:bodyPr/>
                        <a:lstStyle/>
                        <a:p>
                          <a:pPr algn="l"/>
                          <a:r>
                            <a:rPr sz="16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600" b="0" dirty="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tc>
                      <a:txBody>
                        <a:bodyPr/>
                        <a:lstStyle/>
                        <a:p>
                          <a:endParaRPr sz="1600"/>
                        </a:p>
                      </a:txBody>
                      <a:tcPr anchor="ctr">
                        <a:solidFill>
                          <a:srgbClr val="FFFFFF"/>
                        </a:solidFill>
                      </a:tcPr>
                    </a:tc>
                    <a:extLst>
                      <a:ext uri="{0D108BD9-81ED-4DB2-BD59-A6C34878D82A}">
                        <a16:rowId xmlns:a16="http://schemas.microsoft.com/office/drawing/2014/main" val="1134578397"/>
                      </a:ext>
                    </a:extLst>
                  </a:tr>
                  <a:tr h="628847">
                    <a:tc>
                      <a:txBody>
                        <a:bodyPr/>
                        <a:lstStyle/>
                        <a:p>
                          <a:pPr algn="l"/>
                          <a:r>
                            <a:rPr sz="1600" b="0" dirty="0">
                              <a:solidFill>
                                <a:srgbClr val="182D45"/>
                              </a:solidFill>
                              <a:latin typeface="DejaVu Sans"/>
                              <a:ea typeface="DejaVu Sans"/>
                              <a:cs typeface="DejaVu Sans"/>
                            </a:rPr>
                            <a:t>Squared residual</a:t>
                          </a: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30.25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46</a:t>
                          </a:r>
                        </a:p>
                      </a:txBody>
                      <a:tcPr anchor="ctr">
                        <a:solidFill>
                          <a:srgbClr val="FFFFFF"/>
                        </a:solidFill>
                      </a:tcPr>
                    </a:tc>
                    <a:extLst>
                      <a:ext uri="{0D108BD9-81ED-4DB2-BD59-A6C34878D82A}">
                        <a16:rowId xmlns:a16="http://schemas.microsoft.com/office/drawing/2014/main" val="1090811800"/>
                      </a:ext>
                    </a:extLst>
                  </a:tr>
                </a:tbl>
              </a:graphicData>
            </a:graphic>
          </p:graphicFrame>
        </mc:Choice>
        <mc:Fallback xmlns="">
          <p:graphicFrame>
            <p:nvGraphicFramePr>
              <p:cNvPr id="3" name="Tabella 2">
                <a:extLst>
                  <a:ext uri="{FF2B5EF4-FFF2-40B4-BE49-F238E27FC236}">
                    <a16:creationId xmlns:a16="http://schemas.microsoft.com/office/drawing/2014/main" id="{292C83C4-1A9F-98E6-5537-000FB28DDFDA}"/>
                  </a:ext>
                </a:extLst>
              </p:cNvPr>
              <p:cNvGraphicFramePr>
                <a:graphicFrameLocks noGrp="1"/>
              </p:cNvGraphicFramePr>
              <p:nvPr>
                <p:extLst>
                  <p:ext uri="{D42A27DB-BD31-4B8C-83A1-F6EECF244321}">
                    <p14:modId xmlns:p14="http://schemas.microsoft.com/office/powerpoint/2010/main" val="3771010688"/>
                  </p:ext>
                </p:extLst>
              </p:nvPr>
            </p:nvGraphicFramePr>
            <p:xfrm>
              <a:off x="6096000" y="1276446"/>
              <a:ext cx="5955788" cy="2163508"/>
            </p:xfrm>
            <a:graphic>
              <a:graphicData uri="http://schemas.openxmlformats.org/drawingml/2006/table">
                <a:tbl>
                  <a:tblPr/>
                  <a:tblGrid>
                    <a:gridCol w="1184475">
                      <a:extLst>
                        <a:ext uri="{9D8B030D-6E8A-4147-A177-3AD203B41FA5}">
                          <a16:colId xmlns:a16="http://schemas.microsoft.com/office/drawing/2014/main" val="2362854992"/>
                        </a:ext>
                      </a:extLst>
                    </a:gridCol>
                    <a:gridCol w="797242">
                      <a:extLst>
                        <a:ext uri="{9D8B030D-6E8A-4147-A177-3AD203B41FA5}">
                          <a16:colId xmlns:a16="http://schemas.microsoft.com/office/drawing/2014/main" val="669850203"/>
                        </a:ext>
                      </a:extLst>
                    </a:gridCol>
                    <a:gridCol w="797242">
                      <a:extLst>
                        <a:ext uri="{9D8B030D-6E8A-4147-A177-3AD203B41FA5}">
                          <a16:colId xmlns:a16="http://schemas.microsoft.com/office/drawing/2014/main" val="951708791"/>
                        </a:ext>
                      </a:extLst>
                    </a:gridCol>
                    <a:gridCol w="797242">
                      <a:extLst>
                        <a:ext uri="{9D8B030D-6E8A-4147-A177-3AD203B41FA5}">
                          <a16:colId xmlns:a16="http://schemas.microsoft.com/office/drawing/2014/main" val="2096207023"/>
                        </a:ext>
                      </a:extLst>
                    </a:gridCol>
                    <a:gridCol w="797242">
                      <a:extLst>
                        <a:ext uri="{9D8B030D-6E8A-4147-A177-3AD203B41FA5}">
                          <a16:colId xmlns:a16="http://schemas.microsoft.com/office/drawing/2014/main" val="667122023"/>
                        </a:ext>
                      </a:extLst>
                    </a:gridCol>
                    <a:gridCol w="797242">
                      <a:extLst>
                        <a:ext uri="{9D8B030D-6E8A-4147-A177-3AD203B41FA5}">
                          <a16:colId xmlns:a16="http://schemas.microsoft.com/office/drawing/2014/main" val="1216145221"/>
                        </a:ext>
                      </a:extLst>
                    </a:gridCol>
                    <a:gridCol w="785103">
                      <a:extLst>
                        <a:ext uri="{9D8B030D-6E8A-4147-A177-3AD203B41FA5}">
                          <a16:colId xmlns:a16="http://schemas.microsoft.com/office/drawing/2014/main" val="836618976"/>
                        </a:ext>
                      </a:extLst>
                    </a:gridCol>
                  </a:tblGrid>
                  <a:tr h="628847">
                    <a:tc>
                      <a:txBody>
                        <a:bodyPr/>
                        <a:lstStyle/>
                        <a:p>
                          <a:pPr algn="l"/>
                          <a:r>
                            <a:rPr sz="1600" b="1" dirty="0" err="1">
                              <a:solidFill>
                                <a:srgbClr val="182D45"/>
                              </a:solidFill>
                              <a:latin typeface="DejaVu Sans"/>
                              <a:ea typeface="DejaVu Sans"/>
                              <a:cs typeface="DejaVu Sans"/>
                            </a:rPr>
                            <a:t>Obs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tc>
                      <a:txBody>
                        <a:bodyPr/>
                        <a:lstStyle/>
                        <a:p>
                          <a:endParaRPr lang="it-IT"/>
                        </a:p>
                      </a:txBody>
                      <a:tcPr anchor="ctr">
                        <a:blipFill>
                          <a:blip r:embed="rId6"/>
                          <a:stretch>
                            <a:fillRect l="-658915" t="-971" r="-2326" b="-253398"/>
                          </a:stretch>
                        </a:blipFill>
                      </a:tcPr>
                    </a:tc>
                    <a:extLst>
                      <a:ext uri="{0D108BD9-81ED-4DB2-BD59-A6C34878D82A}">
                        <a16:rowId xmlns:a16="http://schemas.microsoft.com/office/drawing/2014/main" val="986434405"/>
                      </a:ext>
                    </a:extLst>
                  </a:tr>
                  <a:tr h="399715">
                    <a:tc>
                      <a:txBody>
                        <a:bodyPr/>
                        <a:lstStyle/>
                        <a:p>
                          <a:pPr algn="l"/>
                          <a:r>
                            <a:rPr sz="1600" b="0" dirty="0">
                              <a:solidFill>
                                <a:srgbClr val="182D45"/>
                              </a:solidFill>
                              <a:latin typeface="DejaVu Sans"/>
                              <a:ea typeface="DejaVu Sans"/>
                              <a:cs typeface="DejaVu Sans"/>
                            </a:rPr>
                            <a:t>Input</a:t>
                          </a:r>
                        </a:p>
                      </a:txBody>
                      <a:tcPr anchor="ctr">
                        <a:solidFill>
                          <a:srgbClr val="FFFFFF"/>
                        </a:solidFill>
                      </a:tcPr>
                    </a:tc>
                    <a:tc>
                      <a:txBody>
                        <a:bodyPr/>
                        <a:lstStyle/>
                        <a:p>
                          <a:pPr algn="ctr"/>
                          <a:r>
                            <a:rPr sz="1600" b="0">
                              <a:solidFill>
                                <a:srgbClr val="182D45"/>
                              </a:solidFill>
                              <a:latin typeface="DejaVu Sans"/>
                              <a:ea typeface="DejaVu Sans"/>
                              <a:cs typeface="DejaVu Sans"/>
                            </a:rPr>
                            <a:t>−2</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endParaRPr sz="1600" dirty="0"/>
                        </a:p>
                      </a:txBody>
                      <a:tcPr anchor="ctr">
                        <a:solidFill>
                          <a:srgbClr val="FFFFFF"/>
                        </a:solidFill>
                      </a:tcPr>
                    </a:tc>
                    <a:extLst>
                      <a:ext uri="{0D108BD9-81ED-4DB2-BD59-A6C34878D82A}">
                        <a16:rowId xmlns:a16="http://schemas.microsoft.com/office/drawing/2014/main" val="1420119408"/>
                      </a:ext>
                    </a:extLst>
                  </a:tr>
                  <a:tr h="506099">
                    <a:tc>
                      <a:txBody>
                        <a:bodyPr/>
                        <a:lstStyle/>
                        <a:p>
                          <a:pPr algn="l"/>
                          <a:r>
                            <a:rPr sz="16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600" b="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tc>
                      <a:txBody>
                        <a:bodyPr/>
                        <a:lstStyle/>
                        <a:p>
                          <a:endParaRPr sz="1600"/>
                        </a:p>
                      </a:txBody>
                      <a:tcPr anchor="ctr">
                        <a:solidFill>
                          <a:srgbClr val="FFFFFF"/>
                        </a:solidFill>
                      </a:tcPr>
                    </a:tc>
                    <a:extLst>
                      <a:ext uri="{0D108BD9-81ED-4DB2-BD59-A6C34878D82A}">
                        <a16:rowId xmlns:a16="http://schemas.microsoft.com/office/drawing/2014/main" val="1134578397"/>
                      </a:ext>
                    </a:extLst>
                  </a:tr>
                  <a:tr h="628847">
                    <a:tc>
                      <a:txBody>
                        <a:bodyPr/>
                        <a:lstStyle/>
                        <a:p>
                          <a:pPr algn="l"/>
                          <a:r>
                            <a:rPr sz="1600" b="0" dirty="0">
                              <a:solidFill>
                                <a:srgbClr val="182D45"/>
                              </a:solidFill>
                              <a:latin typeface="DejaVu Sans"/>
                              <a:ea typeface="DejaVu Sans"/>
                              <a:cs typeface="DejaVu Sans"/>
                            </a:rPr>
                            <a:t>Squared residual</a:t>
                          </a: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30.25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46</a:t>
                          </a:r>
                        </a:p>
                      </a:txBody>
                      <a:tcPr anchor="ctr">
                        <a:solidFill>
                          <a:srgbClr val="FFFFFF"/>
                        </a:solidFill>
                      </a:tcPr>
                    </a:tc>
                    <a:extLst>
                      <a:ext uri="{0D108BD9-81ED-4DB2-BD59-A6C34878D82A}">
                        <a16:rowId xmlns:a16="http://schemas.microsoft.com/office/drawing/2014/main" val="1090811800"/>
                      </a:ext>
                    </a:extLst>
                  </a:tr>
                </a:tbl>
              </a:graphicData>
            </a:graphic>
          </p:graphicFrame>
        </mc:Fallback>
      </mc:AlternateContent>
    </p:spTree>
    <p:extLst>
      <p:ext uri="{BB962C8B-B14F-4D97-AF65-F5344CB8AC3E}">
        <p14:creationId xmlns:p14="http://schemas.microsoft.com/office/powerpoint/2010/main" val="1363087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E5A087B3-75DC-43BB-8EEB-42FD598D5B22}"/>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 line through the origin</a:t>
            </a:r>
          </a:p>
        </p:txBody>
      </p:sp>
      <p:sp>
        <p:nvSpPr>
          <p:cNvPr id="2" name="page_number">
            <a:extLst>
              <a:ext uri="{FF2B5EF4-FFF2-40B4-BE49-F238E27FC236}">
                <a16:creationId xmlns:a16="http://schemas.microsoft.com/office/drawing/2014/main" id="{2D8F63E2-EA51-458F-A63C-E93059B9642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16</a:t>
            </a:r>
          </a:p>
        </p:txBody>
      </p:sp>
      <mc:AlternateContent xmlns:mc="http://schemas.openxmlformats.org/markup-compatibility/2006" xmlns:a14="http://schemas.microsoft.com/office/drawing/2010/main">
        <mc:Choice Requires="a14">
          <p:sp>
            <p:nvSpPr>
              <p:cNvPr id="3" name="txt_58">
                <a:extLst>
                  <a:ext uri="{FF2B5EF4-FFF2-40B4-BE49-F238E27FC236}">
                    <a16:creationId xmlns:a16="http://schemas.microsoft.com/office/drawing/2014/main" id="{31CAE739-8B0F-4153-9927-52463D79296C}"/>
                  </a:ext>
                </a:extLst>
              </p:cNvPr>
              <p:cNvSpPr txBox="1">
                <a:spLocks noGrp="1"/>
              </p:cNvSpPr>
              <p:nvPr/>
            </p:nvSpPr>
            <p:spPr>
              <a:xfrm>
                <a:off x="609600" y="1257300"/>
                <a:ext cx="10953750" cy="76200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Set </a:t>
                </a:r>
                <a14:m>
                  <m:oMath xmlns:m="http://schemas.openxmlformats.org/officeDocument/2006/math">
                    <m:r>
                      <a:rPr lang="en-GB" sz="2100" b="0" dirty="0">
                        <a:solidFill>
                          <a:srgbClr val="182D45"/>
                        </a:solidFill>
                        <a:latin typeface="Cambria Math"/>
                        <a:ea typeface="Cambria Math"/>
                        <a:cs typeface="Cambria Math"/>
                      </a:rPr>
                      <m:t>𝑏</m:t>
                    </m:r>
                    <m:r>
                      <a:rPr lang="en-GB" sz="2100" b="0" dirty="0">
                        <a:solidFill>
                          <a:srgbClr val="182D45"/>
                        </a:solidFill>
                        <a:latin typeface="Cambria Math"/>
                        <a:ea typeface="Cambria Math"/>
                        <a:cs typeface="Cambria Math"/>
                      </a:rPr>
                      <m:t>=0</m:t>
                    </m:r>
                  </m:oMath>
                </a14:m>
                <a:r>
                  <a:rPr lang="en-GB" sz="2100" b="0" i="0" dirty="0">
                    <a:solidFill>
                      <a:srgbClr val="182D45"/>
                    </a:solidFill>
                    <a:latin typeface="DejaVu Sans"/>
                    <a:ea typeface="DejaVu Sans"/>
                    <a:cs typeface="DejaVu Sans"/>
                  </a:rPr>
                  <a:t>. The only adjustable parameter is the slope </a:t>
                </a:r>
                <a14:m>
                  <m:oMath xmlns:m="http://schemas.openxmlformats.org/officeDocument/2006/math">
                    <m:r>
                      <a:rPr lang="en-GB" sz="2100" b="0" dirty="0">
                        <a:solidFill>
                          <a:srgbClr val="182D45"/>
                        </a:solidFill>
                        <a:latin typeface="Cambria Math"/>
                        <a:ea typeface="Cambria Math"/>
                        <a:cs typeface="Cambria Math"/>
                      </a:rPr>
                      <m:t>𝑎</m:t>
                    </m:r>
                  </m:oMath>
                </a14:m>
                <a:r>
                  <a:rPr lang="en-GB" sz="2100" b="0" i="0" dirty="0">
                    <a:solidFill>
                      <a:srgbClr val="182D45"/>
                    </a:solidFill>
                    <a:latin typeface="DejaVu Sans"/>
                    <a:ea typeface="DejaVu Sans"/>
                    <a:cs typeface="DejaVu Sans"/>
                  </a:rPr>
                  <a:t>.</a:t>
                </a:r>
              </a:p>
            </p:txBody>
          </p:sp>
        </mc:Choice>
        <mc:Fallback xmlns="">
          <p:sp>
            <p:nvSpPr>
              <p:cNvPr id="3" name="txt_58">
                <a:extLst>
                  <a:ext uri="{FF2B5EF4-FFF2-40B4-BE49-F238E27FC236}">
                    <a16:creationId xmlns:a16="http://schemas.microsoft.com/office/drawing/2014/main" id="{31CAE739-8B0F-4153-9927-52463D79296C}"/>
                  </a:ext>
                </a:extLst>
              </p:cNvPr>
              <p:cNvSpPr txBox="1">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t="-11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59">
                <a:extLst>
                  <a:ext uri="{FF2B5EF4-FFF2-40B4-BE49-F238E27FC236}">
                    <a16:creationId xmlns:a16="http://schemas.microsoft.com/office/drawing/2014/main" id="{C5468A34-8DC0-4B91-831D-C5B2F6E4D149}"/>
                  </a:ext>
                </a:extLst>
              </p:cNvPr>
              <p:cNvSpPr txBox="1">
                <a:spLocks noGrp="1"/>
              </p:cNvSpPr>
              <p:nvPr/>
            </p:nvSpPr>
            <p:spPr>
              <a:xfrm>
                <a:off x="609600" y="2162175"/>
                <a:ext cx="5238750" cy="685800"/>
              </a:xfrm>
              <a:prstGeom prst="rect">
                <a:avLst/>
              </a:prstGeom>
              <a:noFill/>
              <a:ln w="0">
                <a:noFill/>
              </a:ln>
            </p:spPr>
            <p:txBody>
              <a:bodyPr vertOverflow="overflow" wrap="none" lIns="0" tIns="0" rIns="0" bIns="0" anchor="t">
                <a:noAutofit/>
              </a:bodyPr>
              <a:lstStyle/>
              <a:p>
                <a:pPr marL="0" marR="0" indent="0" algn="ctr">
                  <a:defRPr lang="en-GB" sz="3075" b="0" i="0" dirty="0">
                    <a:solidFill>
                      <a:srgbClr val="087F83"/>
                    </a:solidFill>
                    <a:latin typeface="Cambria Math"/>
                    <a:ea typeface="Cambria Math"/>
                    <a:cs typeface="Cambria Math"/>
                  </a:defRPr>
                </a:pPr>
                <a14:m>
                  <m:oMathPara xmlns:m="http://schemas.openxmlformats.org/officeDocument/2006/math">
                    <m:oMath>
                      <m:sSubSup>
                        <m:sSubSupPr>
                          <m:ctrlPr>
                            <a:rPr lang="en-GB" sz="3075" b="0" dirty="0">
                              <a:solidFill>
                                <a:srgbClr val="087F83"/>
                              </a:solidFill>
                              <a:latin typeface="Cambria Math"/>
                              <a:ea typeface="Cambria Math"/>
                              <a:cs typeface="Cambria Math"/>
                            </a:rPr>
                          </m:ctrlPr>
                        </m:sSubSupPr>
                        <m:e>
                          <m:r>
                            <a:rPr lang="en-GB" sz="3075" b="0" dirty="0">
                              <a:solidFill>
                                <a:srgbClr val="087F83"/>
                              </a:solidFill>
                              <a:latin typeface="Cambria Math"/>
                              <a:ea typeface="Cambria Math"/>
                              <a:cs typeface="Cambria Math"/>
                            </a:rPr>
                            <m:t>𝑓</m:t>
                          </m:r>
                        </m:e>
                        <m:sub>
                          <m:r>
                            <a:rPr lang="en-GB" sz="3075" b="0" dirty="0">
                              <a:solidFill>
                                <a:srgbClr val="087F83"/>
                              </a:solidFill>
                              <a:latin typeface="Cambria Math"/>
                              <a:ea typeface="Cambria Math"/>
                              <a:cs typeface="Cambria Math"/>
                            </a:rPr>
                            <m:t>𝑎</m:t>
                          </m:r>
                        </m:sub>
                        <m:sup>
                          <m:r>
                            <m:rPr>
                              <m:sty m:val="p"/>
                            </m:rPr>
                            <a:rPr lang="it-IT" sz="3075" b="0" i="0" dirty="0" smtClean="0">
                              <a:solidFill>
                                <a:srgbClr val="087F83"/>
                              </a:solidFill>
                              <a:latin typeface="Cambria Math" panose="02040503050406030204" pitchFamily="18" charset="0"/>
                              <a:ea typeface="Cambria Math"/>
                              <a:cs typeface="Cambria Math"/>
                            </a:rPr>
                            <m:t>slope</m:t>
                          </m:r>
                        </m:sup>
                      </m:sSubSup>
                      <m:d>
                        <m:dPr>
                          <m:ctrlPr>
                            <a:rPr lang="en-GB" sz="3075" b="0" dirty="0">
                              <a:solidFill>
                                <a:srgbClr val="087F83"/>
                              </a:solidFill>
                              <a:latin typeface="Cambria Math"/>
                              <a:ea typeface="Cambria Math"/>
                              <a:cs typeface="Cambria Math"/>
                            </a:rPr>
                          </m:ctrlPr>
                        </m:dPr>
                        <m:e>
                          <m:r>
                            <a:rPr lang="en-GB" sz="3075" b="0" dirty="0">
                              <a:solidFill>
                                <a:srgbClr val="087F83"/>
                              </a:solidFill>
                              <a:latin typeface="Cambria Math"/>
                              <a:ea typeface="Cambria Math"/>
                              <a:cs typeface="Cambria Math"/>
                            </a:rPr>
                            <m:t>𝑥</m:t>
                          </m:r>
                        </m:e>
                      </m:d>
                      <m:r>
                        <a:rPr lang="en-GB" sz="3075" b="0" dirty="0">
                          <a:solidFill>
                            <a:srgbClr val="087F83"/>
                          </a:solidFill>
                          <a:latin typeface="Cambria Math"/>
                          <a:ea typeface="Cambria Math"/>
                          <a:cs typeface="Cambria Math"/>
                        </a:rPr>
                        <m:t>=</m:t>
                      </m:r>
                      <m:r>
                        <a:rPr lang="en-GB" sz="3075" b="0" dirty="0">
                          <a:solidFill>
                            <a:srgbClr val="087F83"/>
                          </a:solidFill>
                          <a:latin typeface="Cambria Math"/>
                          <a:ea typeface="Cambria Math"/>
                          <a:cs typeface="Cambria Math"/>
                        </a:rPr>
                        <m:t>𝑎𝑥</m:t>
                      </m:r>
                    </m:oMath>
                  </m:oMathPara>
                </a14:m>
                <a:endParaRPr lang="en-GB" sz="3075" b="0" i="0" dirty="0">
                  <a:solidFill>
                    <a:srgbClr val="087F83"/>
                  </a:solidFill>
                  <a:latin typeface="Cambria Math"/>
                  <a:ea typeface="Cambria Math"/>
                  <a:cs typeface="Cambria Math"/>
                </a:endParaRPr>
              </a:p>
            </p:txBody>
          </p:sp>
        </mc:Choice>
        <mc:Fallback xmlns="">
          <p:sp>
            <p:nvSpPr>
              <p:cNvPr id="4" name="eq_59">
                <a:extLst>
                  <a:ext uri="{FF2B5EF4-FFF2-40B4-BE49-F238E27FC236}">
                    <a16:creationId xmlns:a16="http://schemas.microsoft.com/office/drawing/2014/main" id="{C5468A34-8DC0-4B91-831D-C5B2F6E4D149}"/>
                  </a:ext>
                </a:extLst>
              </p:cNvPr>
              <p:cNvSpPr txBox="1">
                <a:spLocks noGrp="1" noRot="1" noChangeAspect="1" noMove="1" noResize="1" noEditPoints="1" noAdjustHandles="1" noChangeArrowheads="1" noChangeShapeType="1" noTextEdit="1"/>
              </p:cNvSpPr>
              <p:nvPr/>
            </p:nvSpPr>
            <p:spPr>
              <a:xfrm>
                <a:off x="609600" y="2162175"/>
                <a:ext cx="5238750" cy="6858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60">
                <a:extLst>
                  <a:ext uri="{FF2B5EF4-FFF2-40B4-BE49-F238E27FC236}">
                    <a16:creationId xmlns:a16="http://schemas.microsoft.com/office/drawing/2014/main" id="{F65FE1C6-DB9B-4FD8-8EC8-BB1C316A1208}"/>
                  </a:ext>
                </a:extLst>
              </p:cNvPr>
              <p:cNvSpPr txBox="1">
                <a:spLocks noGrp="1"/>
              </p:cNvSpPr>
              <p:nvPr/>
            </p:nvSpPr>
            <p:spPr>
              <a:xfrm>
                <a:off x="1028700" y="3518534"/>
                <a:ext cx="5905500" cy="1876425"/>
              </a:xfrm>
              <a:prstGeom prst="rect">
                <a:avLst/>
              </a:prstGeom>
              <a:noFill/>
              <a:ln w="0">
                <a:noFill/>
              </a:ln>
            </p:spPr>
            <p:txBody>
              <a:bodyPr vertOverflow="overflow" wrap="none" lIns="0" tIns="0" rIns="0" bIns="0" anchor="t">
                <a:noAutofit/>
              </a:bodyPr>
              <a:lstStyle/>
              <a:p>
                <a:pPr algn="ctr">
                  <a:defRPr lang="en-GB" sz="2550" b="0" i="0" dirty="0">
                    <a:solidFill>
                      <a:srgbClr val="182D45"/>
                    </a:solidFill>
                    <a:latin typeface="Cambria Math"/>
                    <a:ea typeface="Cambria Math"/>
                    <a:cs typeface="Cambria Math"/>
                  </a:defRPr>
                </a:pPr>
                <a14:m>
                  <m:oMath xmlns:m="http://schemas.openxmlformats.org/officeDocument/2006/math">
                    <m:sSubSup>
                      <m:sSubSupPr>
                        <m:ctrlPr>
                          <a:rPr lang="en-GB" sz="2800" b="0" dirty="0">
                            <a:solidFill>
                              <a:srgbClr val="182D45"/>
                            </a:solidFill>
                            <a:latin typeface="Cambria Math"/>
                            <a:ea typeface="Cambria Math"/>
                            <a:cs typeface="Cambria Math"/>
                          </a:rPr>
                        </m:ctrlPr>
                      </m:sSubSupPr>
                      <m:e>
                        <m:r>
                          <a:rPr lang="en-GB" sz="2800" b="0" dirty="0">
                            <a:solidFill>
                              <a:srgbClr val="182D45"/>
                            </a:solidFill>
                            <a:latin typeface="Cambria Math"/>
                            <a:ea typeface="Cambria Math"/>
                            <a:cs typeface="Cambria Math"/>
                          </a:rPr>
                          <m:t>ℒ</m:t>
                        </m:r>
                      </m:e>
                      <m:sub>
                        <m:r>
                          <m:rPr>
                            <m:sty m:val="p"/>
                          </m:rPr>
                          <a:rPr lang="en-GB" sz="2800" b="0" dirty="0">
                            <a:solidFill>
                              <a:srgbClr val="182D45"/>
                            </a:solidFill>
                            <a:latin typeface="Cambria Math"/>
                            <a:ea typeface="Cambria Math"/>
                            <a:cs typeface="Cambria Math"/>
                          </a:rPr>
                          <m:t>sq</m:t>
                        </m:r>
                      </m:sub>
                      <m:sup>
                        <m:r>
                          <m:rPr>
                            <m:sty m:val="p"/>
                          </m:rPr>
                          <a:rPr lang="it-IT" sz="2800" dirty="0">
                            <a:solidFill>
                              <a:srgbClr val="182D45"/>
                            </a:solidFill>
                            <a:latin typeface="Cambria Math" panose="02040503050406030204" pitchFamily="18" charset="0"/>
                            <a:ea typeface="Cambria Math"/>
                            <a:cs typeface="Cambria Math"/>
                          </a:rPr>
                          <m:t>sl</m:t>
                        </m:r>
                        <m:r>
                          <m:rPr>
                            <m:sty m:val="p"/>
                          </m:rPr>
                          <a:rPr lang="it-IT" sz="2800" b="0" i="0" dirty="0" smtClean="0">
                            <a:solidFill>
                              <a:srgbClr val="182D45"/>
                            </a:solidFill>
                            <a:latin typeface="Cambria Math" panose="02040503050406030204" pitchFamily="18" charset="0"/>
                            <a:ea typeface="Cambria Math"/>
                            <a:cs typeface="Cambria Math"/>
                          </a:rPr>
                          <m:t>o</m:t>
                        </m:r>
                        <m:r>
                          <m:rPr>
                            <m:sty m:val="p"/>
                          </m:rPr>
                          <a:rPr lang="it-IT" sz="2800" dirty="0">
                            <a:solidFill>
                              <a:srgbClr val="182D45"/>
                            </a:solidFill>
                            <a:latin typeface="Cambria Math" panose="02040503050406030204" pitchFamily="18" charset="0"/>
                            <a:ea typeface="Cambria Math"/>
                            <a:cs typeface="Cambria Math"/>
                          </a:rPr>
                          <m:t>pe</m:t>
                        </m:r>
                      </m:sup>
                    </m:sSubSup>
                    <m:d>
                      <m:dPr>
                        <m:ctrlPr>
                          <a:rPr lang="en-GB" sz="2800" b="0" dirty="0">
                            <a:solidFill>
                              <a:srgbClr val="182D45"/>
                            </a:solidFill>
                            <a:latin typeface="Cambria Math"/>
                            <a:ea typeface="Cambria Math"/>
                            <a:cs typeface="Cambria Math"/>
                          </a:rPr>
                        </m:ctrlPr>
                      </m:dPr>
                      <m:e>
                        <m:r>
                          <a:rPr lang="en-GB" sz="2800" b="0" dirty="0">
                            <a:solidFill>
                              <a:srgbClr val="182D45"/>
                            </a:solidFill>
                            <a:latin typeface="Cambria Math"/>
                            <a:ea typeface="Cambria Math"/>
                            <a:cs typeface="Cambria Math"/>
                          </a:rPr>
                          <m:t>𝑎</m:t>
                        </m:r>
                      </m:e>
                    </m:d>
                    <m:r>
                      <a:rPr lang="en-GB" sz="2800" b="0" dirty="0">
                        <a:solidFill>
                          <a:srgbClr val="182D45"/>
                        </a:solidFill>
                        <a:latin typeface="Cambria Math"/>
                        <a:ea typeface="Cambria Math"/>
                        <a:cs typeface="Cambria Math"/>
                      </a:rPr>
                      <m:t>=</m:t>
                    </m:r>
                    <m:nary>
                      <m:naryPr>
                        <m:chr m:val="∑"/>
                        <m:limLoc m:val="undOvr"/>
                        <m:ctrlPr>
                          <a:rPr lang="en-GB" sz="2800" dirty="0">
                            <a:solidFill>
                              <a:srgbClr val="182D45"/>
                            </a:solidFill>
                            <a:latin typeface="Cambria Math"/>
                            <a:ea typeface="Cambria Math"/>
                            <a:cs typeface="Cambria Math"/>
                          </a:rPr>
                        </m:ctrlPr>
                      </m:naryPr>
                      <m:sub>
                        <m:r>
                          <a:rPr lang="en-GB" sz="2800" dirty="0">
                            <a:solidFill>
                              <a:srgbClr val="182D45"/>
                            </a:solidFill>
                            <a:latin typeface="Cambria Math"/>
                            <a:ea typeface="Cambria Math"/>
                            <a:cs typeface="Cambria Math"/>
                          </a:rPr>
                          <m:t>𝑖</m:t>
                        </m:r>
                        <m:r>
                          <a:rPr lang="en-GB" sz="2800" dirty="0">
                            <a:solidFill>
                              <a:srgbClr val="182D45"/>
                            </a:solidFill>
                            <a:latin typeface="Cambria Math"/>
                            <a:ea typeface="Cambria Math"/>
                            <a:cs typeface="Cambria Math"/>
                          </a:rPr>
                          <m:t>=1</m:t>
                        </m:r>
                      </m:sub>
                      <m:sup>
                        <m:r>
                          <a:rPr lang="en-GB" sz="2800" dirty="0">
                            <a:solidFill>
                              <a:srgbClr val="182D45"/>
                            </a:solidFill>
                            <a:latin typeface="Cambria Math"/>
                            <a:ea typeface="Cambria Math"/>
                            <a:cs typeface="Cambria Math"/>
                          </a:rPr>
                          <m:t>𝑁</m:t>
                        </m:r>
                      </m:sup>
                      <m:e>
                        <m:sSub>
                          <m:sSubPr>
                            <m:ctrlPr>
                              <a:rPr lang="it-IT" sz="2800" i="1" dirty="0">
                                <a:solidFill>
                                  <a:srgbClr val="182D45"/>
                                </a:solidFill>
                                <a:latin typeface="Cambria Math" panose="02040503050406030204" pitchFamily="18" charset="0"/>
                                <a:ea typeface="Cambria Math"/>
                                <a:cs typeface="Cambria Math"/>
                              </a:rPr>
                            </m:ctrlPr>
                          </m:sSubPr>
                          <m:e>
                            <m:r>
                              <m:rPr>
                                <m:sty m:val="p"/>
                              </m:rPr>
                              <a:rPr lang="it-IT" sz="2800" i="1" dirty="0">
                                <a:solidFill>
                                  <a:srgbClr val="182D45"/>
                                </a:solidFill>
                                <a:latin typeface="Cambria Math" panose="02040503050406030204" pitchFamily="18" charset="0"/>
                                <a:ea typeface="Cambria Math"/>
                                <a:cs typeface="Cambria Math"/>
                              </a:rPr>
                              <m:t>ℓ</m:t>
                            </m:r>
                          </m:e>
                          <m:sub>
                            <m:r>
                              <m:rPr>
                                <m:sty m:val="p"/>
                              </m:rPr>
                              <a:rPr lang="it-IT" sz="2800" dirty="0">
                                <a:solidFill>
                                  <a:srgbClr val="182D45"/>
                                </a:solidFill>
                                <a:latin typeface="Cambria Math" panose="02040503050406030204" pitchFamily="18" charset="0"/>
                                <a:ea typeface="Cambria Math"/>
                                <a:cs typeface="Cambria Math"/>
                              </a:rPr>
                              <m:t>sq</m:t>
                            </m:r>
                          </m:sub>
                        </m:sSub>
                        <m:d>
                          <m:dPr>
                            <m:ctrlPr>
                              <a:rPr lang="it-IT" sz="2800" i="1" dirty="0">
                                <a:solidFill>
                                  <a:srgbClr val="182D45"/>
                                </a:solidFill>
                                <a:latin typeface="Cambria Math" panose="02040503050406030204" pitchFamily="18" charset="0"/>
                                <a:ea typeface="Cambria Math"/>
                                <a:cs typeface="Cambria Math"/>
                              </a:rPr>
                            </m:ctrlPr>
                          </m:dPr>
                          <m:e>
                            <m:sSubSup>
                              <m:sSubSupPr>
                                <m:ctrlPr>
                                  <a:rPr lang="it-IT" sz="2800" i="1" dirty="0">
                                    <a:solidFill>
                                      <a:srgbClr val="182D45"/>
                                    </a:solidFill>
                                    <a:latin typeface="Cambria Math" panose="02040503050406030204" pitchFamily="18" charset="0"/>
                                    <a:ea typeface="Cambria Math"/>
                                    <a:cs typeface="Cambria Math"/>
                                  </a:rPr>
                                </m:ctrlPr>
                              </m:sSubSupPr>
                              <m:e>
                                <m:r>
                                  <a:rPr lang="it-IT" sz="2800" i="1" dirty="0">
                                    <a:solidFill>
                                      <a:srgbClr val="182D45"/>
                                    </a:solidFill>
                                    <a:latin typeface="Cambria Math" panose="02040503050406030204" pitchFamily="18" charset="0"/>
                                    <a:ea typeface="Cambria Math"/>
                                    <a:cs typeface="Cambria Math"/>
                                  </a:rPr>
                                  <m:t>𝑓</m:t>
                                </m:r>
                              </m:e>
                              <m:sub>
                                <m:r>
                                  <a:rPr lang="it-IT" sz="2800" b="0" i="1" dirty="0" smtClean="0">
                                    <a:solidFill>
                                      <a:srgbClr val="182D45"/>
                                    </a:solidFill>
                                    <a:latin typeface="Cambria Math" panose="02040503050406030204" pitchFamily="18" charset="0"/>
                                    <a:ea typeface="Cambria Math"/>
                                    <a:cs typeface="Cambria Math"/>
                                  </a:rPr>
                                  <m:t>𝑎</m:t>
                                </m:r>
                              </m:sub>
                              <m:sup>
                                <m:r>
                                  <m:rPr>
                                    <m:sty m:val="p"/>
                                  </m:rPr>
                                  <a:rPr lang="it-IT" sz="2800" b="0" i="0" dirty="0" smtClean="0">
                                    <a:solidFill>
                                      <a:srgbClr val="182D45"/>
                                    </a:solidFill>
                                    <a:latin typeface="Cambria Math" panose="02040503050406030204" pitchFamily="18" charset="0"/>
                                    <a:ea typeface="Cambria Math"/>
                                    <a:cs typeface="Cambria Math"/>
                                  </a:rPr>
                                  <m:t>slope</m:t>
                                </m:r>
                              </m:sup>
                            </m:sSubSup>
                            <m:d>
                              <m:dPr>
                                <m:ctrlPr>
                                  <a:rPr lang="it-IT" sz="2800" i="1" dirty="0">
                                    <a:solidFill>
                                      <a:srgbClr val="182D45"/>
                                    </a:solidFill>
                                    <a:latin typeface="Cambria Math" panose="02040503050406030204" pitchFamily="18" charset="0"/>
                                    <a:ea typeface="Cambria Math"/>
                                    <a:cs typeface="Cambria Math"/>
                                  </a:rPr>
                                </m:ctrlPr>
                              </m:dPr>
                              <m:e>
                                <m:sSub>
                                  <m:sSubPr>
                                    <m:ctrlPr>
                                      <a:rPr lang="it-IT" sz="2800" i="1" dirty="0">
                                        <a:solidFill>
                                          <a:srgbClr val="182D45"/>
                                        </a:solidFill>
                                        <a:latin typeface="Cambria Math" panose="02040503050406030204" pitchFamily="18" charset="0"/>
                                        <a:ea typeface="Cambria Math"/>
                                        <a:cs typeface="Cambria Math"/>
                                      </a:rPr>
                                    </m:ctrlPr>
                                  </m:sSubPr>
                                  <m:e>
                                    <m:r>
                                      <a:rPr lang="it-IT" sz="2800" i="1" dirty="0">
                                        <a:solidFill>
                                          <a:srgbClr val="182D45"/>
                                        </a:solidFill>
                                        <a:latin typeface="Cambria Math" panose="02040503050406030204" pitchFamily="18" charset="0"/>
                                        <a:ea typeface="Cambria Math"/>
                                        <a:cs typeface="Cambria Math"/>
                                      </a:rPr>
                                      <m:t>𝑥</m:t>
                                    </m:r>
                                  </m:e>
                                  <m:sub>
                                    <m:r>
                                      <a:rPr lang="it-IT" sz="2800" i="1" dirty="0">
                                        <a:solidFill>
                                          <a:srgbClr val="182D45"/>
                                        </a:solidFill>
                                        <a:latin typeface="Cambria Math" panose="02040503050406030204" pitchFamily="18" charset="0"/>
                                        <a:ea typeface="Cambria Math"/>
                                        <a:cs typeface="Cambria Math"/>
                                      </a:rPr>
                                      <m:t>𝑖</m:t>
                                    </m:r>
                                  </m:sub>
                                </m:sSub>
                              </m:e>
                            </m:d>
                            <m:r>
                              <a:rPr lang="it-IT" sz="2800" i="1" dirty="0">
                                <a:solidFill>
                                  <a:srgbClr val="182D45"/>
                                </a:solidFill>
                                <a:latin typeface="Cambria Math" panose="02040503050406030204" pitchFamily="18" charset="0"/>
                                <a:ea typeface="Cambria Math"/>
                                <a:cs typeface="Cambria Math"/>
                              </a:rPr>
                              <m:t>,</m:t>
                            </m:r>
                            <m:sSub>
                              <m:sSubPr>
                                <m:ctrlPr>
                                  <a:rPr lang="it-IT" sz="2800" i="1" dirty="0">
                                    <a:solidFill>
                                      <a:srgbClr val="182D45"/>
                                    </a:solidFill>
                                    <a:latin typeface="Cambria Math" panose="02040503050406030204" pitchFamily="18" charset="0"/>
                                    <a:ea typeface="Cambria Math"/>
                                    <a:cs typeface="Cambria Math"/>
                                  </a:rPr>
                                </m:ctrlPr>
                              </m:sSubPr>
                              <m:e>
                                <m:r>
                                  <a:rPr lang="it-IT" sz="2800" i="1" dirty="0">
                                    <a:solidFill>
                                      <a:srgbClr val="182D45"/>
                                    </a:solidFill>
                                    <a:latin typeface="Cambria Math" panose="02040503050406030204" pitchFamily="18" charset="0"/>
                                    <a:ea typeface="Cambria Math"/>
                                    <a:cs typeface="Cambria Math"/>
                                  </a:rPr>
                                  <m:t>𝑦</m:t>
                                </m:r>
                              </m:e>
                              <m:sub>
                                <m:r>
                                  <a:rPr lang="it-IT" sz="2800" i="1" dirty="0">
                                    <a:solidFill>
                                      <a:srgbClr val="182D45"/>
                                    </a:solidFill>
                                    <a:latin typeface="Cambria Math" panose="02040503050406030204" pitchFamily="18" charset="0"/>
                                    <a:ea typeface="Cambria Math"/>
                                    <a:cs typeface="Cambria Math"/>
                                  </a:rPr>
                                  <m:t>𝑖</m:t>
                                </m:r>
                              </m:sub>
                            </m:sSub>
                          </m:e>
                        </m:d>
                      </m:e>
                    </m:nary>
                  </m:oMath>
                </a14:m>
                <a:r>
                  <a:rPr lang="it-IT" sz="2800" i="1" dirty="0">
                    <a:solidFill>
                      <a:srgbClr val="182D45"/>
                    </a:solidFill>
                    <a:latin typeface="Cambria Math" panose="02040503050406030204" pitchFamily="18" charset="0"/>
                    <a:ea typeface="Cambria Math"/>
                    <a:cs typeface="Cambria Math"/>
                  </a:rPr>
                  <a:t> </a:t>
                </a:r>
              </a:p>
              <a:p>
                <a:pPr algn="ctr">
                  <a:defRPr lang="en-GB" sz="2550" b="0" i="0" dirty="0">
                    <a:solidFill>
                      <a:srgbClr val="182D45"/>
                    </a:solidFill>
                    <a:latin typeface="Cambria Math"/>
                    <a:ea typeface="Cambria Math"/>
                    <a:cs typeface="Cambria Math"/>
                  </a:defRPr>
                </a:pPr>
                <a:r>
                  <a:rPr lang="it-IT" sz="2800" b="0" dirty="0">
                    <a:solidFill>
                      <a:srgbClr val="182D45"/>
                    </a:solidFill>
                    <a:ea typeface="Cambria Math"/>
                    <a:cs typeface="Cambria Math"/>
                  </a:rPr>
                  <a:t>       </a:t>
                </a:r>
                <a:endParaRPr lang="it-IT" sz="2800" b="0" i="0" dirty="0">
                  <a:solidFill>
                    <a:srgbClr val="182D45"/>
                  </a:solidFill>
                  <a:latin typeface="Cambria Math" panose="02040503050406030204" pitchFamily="18" charset="0"/>
                  <a:ea typeface="Cambria Math"/>
                  <a:cs typeface="Cambria Math"/>
                </a:endParaRPr>
              </a:p>
              <a:p>
                <a:pPr algn="ctr">
                  <a:defRPr lang="en-GB" sz="2550" b="0" i="0" dirty="0">
                    <a:solidFill>
                      <a:srgbClr val="182D45"/>
                    </a:solidFill>
                    <a:latin typeface="Cambria Math"/>
                    <a:ea typeface="Cambria Math"/>
                    <a:cs typeface="Cambria Math"/>
                  </a:defRPr>
                </a:pPr>
                <a14:m>
                  <m:oMath xmlns:m="http://schemas.openxmlformats.org/officeDocument/2006/math">
                    <m:r>
                      <a:rPr lang="it-IT" sz="2800" b="0" i="0" dirty="0" smtClean="0">
                        <a:solidFill>
                          <a:srgbClr val="182D45"/>
                        </a:solidFill>
                        <a:latin typeface="Cambria Math" panose="02040503050406030204" pitchFamily="18" charset="0"/>
                        <a:ea typeface="Cambria Math"/>
                        <a:cs typeface="Cambria Math"/>
                      </a:rPr>
                      <m:t>       =</m:t>
                    </m:r>
                    <m:nary>
                      <m:naryPr>
                        <m:chr m:val="∑"/>
                        <m:limLoc m:val="undOvr"/>
                        <m:ctrlPr>
                          <a:rPr lang="en-GB" sz="2800" b="0" dirty="0">
                            <a:solidFill>
                              <a:srgbClr val="182D45"/>
                            </a:solidFill>
                            <a:latin typeface="Cambria Math"/>
                            <a:ea typeface="Cambria Math"/>
                            <a:cs typeface="Cambria Math"/>
                          </a:rPr>
                        </m:ctrlPr>
                      </m:naryPr>
                      <m:sub>
                        <m:r>
                          <a:rPr lang="en-GB" sz="2800" b="0" dirty="0">
                            <a:solidFill>
                              <a:srgbClr val="182D45"/>
                            </a:solidFill>
                            <a:latin typeface="Cambria Math"/>
                            <a:ea typeface="Cambria Math"/>
                            <a:cs typeface="Cambria Math"/>
                          </a:rPr>
                          <m:t>𝑖</m:t>
                        </m:r>
                        <m:r>
                          <a:rPr lang="en-GB" sz="2800" b="0" dirty="0">
                            <a:solidFill>
                              <a:srgbClr val="182D45"/>
                            </a:solidFill>
                            <a:latin typeface="Cambria Math"/>
                            <a:ea typeface="Cambria Math"/>
                            <a:cs typeface="Cambria Math"/>
                          </a:rPr>
                          <m:t>=1</m:t>
                        </m:r>
                      </m:sub>
                      <m:sup>
                        <m:r>
                          <a:rPr lang="en-GB" sz="2800" b="0" dirty="0">
                            <a:solidFill>
                              <a:srgbClr val="182D45"/>
                            </a:solidFill>
                            <a:latin typeface="Cambria Math"/>
                            <a:ea typeface="Cambria Math"/>
                            <a:cs typeface="Cambria Math"/>
                          </a:rPr>
                          <m:t>𝑁</m:t>
                        </m:r>
                      </m:sup>
                      <m:e>
                        <m:sSup>
                          <m:sSupPr>
                            <m:ctrlPr>
                              <a:rPr lang="en-GB" sz="2800" b="0" i="1" dirty="0">
                                <a:solidFill>
                                  <a:srgbClr val="182D45"/>
                                </a:solidFill>
                                <a:latin typeface="Cambria Math" panose="02040503050406030204" pitchFamily="18" charset="0"/>
                                <a:ea typeface="Cambria Math"/>
                                <a:cs typeface="Cambria Math"/>
                              </a:rPr>
                            </m:ctrlPr>
                          </m:sSupPr>
                          <m:e>
                            <m:d>
                              <m:dPr>
                                <m:ctrlPr>
                                  <a:rPr lang="en-GB" sz="2800" b="0" dirty="0">
                                    <a:solidFill>
                                      <a:srgbClr val="182D45"/>
                                    </a:solidFill>
                                    <a:latin typeface="Cambria Math"/>
                                    <a:ea typeface="Cambria Math"/>
                                    <a:cs typeface="Cambria Math"/>
                                  </a:rPr>
                                </m:ctrlPr>
                              </m:dPr>
                              <m:e>
                                <m:r>
                                  <a:rPr lang="en-GB" sz="2800" b="0" dirty="0">
                                    <a:solidFill>
                                      <a:srgbClr val="182D45"/>
                                    </a:solidFill>
                                    <a:latin typeface="Cambria Math"/>
                                    <a:ea typeface="Cambria Math"/>
                                    <a:cs typeface="Cambria Math"/>
                                  </a:rPr>
                                  <m:t>𝑎</m:t>
                                </m:r>
                                <m:sSub>
                                  <m:sSubPr>
                                    <m:ctrlPr>
                                      <a:rPr lang="en-GB" sz="2800" b="0" dirty="0">
                                        <a:solidFill>
                                          <a:srgbClr val="182D45"/>
                                        </a:solidFill>
                                        <a:latin typeface="Cambria Math"/>
                                        <a:ea typeface="Cambria Math"/>
                                        <a:cs typeface="Cambria Math"/>
                                      </a:rPr>
                                    </m:ctrlPr>
                                  </m:sSubPr>
                                  <m:e>
                                    <m:r>
                                      <a:rPr lang="en-GB" sz="2800" b="0" dirty="0">
                                        <a:solidFill>
                                          <a:srgbClr val="182D45"/>
                                        </a:solidFill>
                                        <a:latin typeface="Cambria Math"/>
                                        <a:ea typeface="Cambria Math"/>
                                        <a:cs typeface="Cambria Math"/>
                                      </a:rPr>
                                      <m:t>𝑥</m:t>
                                    </m:r>
                                  </m:e>
                                  <m:sub>
                                    <m:r>
                                      <a:rPr lang="en-GB" sz="2800" b="0" dirty="0">
                                        <a:solidFill>
                                          <a:srgbClr val="182D45"/>
                                        </a:solidFill>
                                        <a:latin typeface="Cambria Math"/>
                                        <a:ea typeface="Cambria Math"/>
                                        <a:cs typeface="Cambria Math"/>
                                      </a:rPr>
                                      <m:t>𝑖</m:t>
                                    </m:r>
                                  </m:sub>
                                </m:sSub>
                                <m:r>
                                  <a:rPr lang="en-GB" sz="2800" b="0" dirty="0">
                                    <a:solidFill>
                                      <a:srgbClr val="182D45"/>
                                    </a:solidFill>
                                    <a:latin typeface="Cambria Math"/>
                                    <a:ea typeface="Cambria Math"/>
                                    <a:cs typeface="Cambria Math"/>
                                  </a:rPr>
                                  <m:t>−</m:t>
                                </m:r>
                                <m:sSub>
                                  <m:sSubPr>
                                    <m:ctrlPr>
                                      <a:rPr lang="en-GB" sz="2800" b="0" dirty="0">
                                        <a:solidFill>
                                          <a:srgbClr val="182D45"/>
                                        </a:solidFill>
                                        <a:latin typeface="Cambria Math"/>
                                        <a:ea typeface="Cambria Math"/>
                                        <a:cs typeface="Cambria Math"/>
                                      </a:rPr>
                                    </m:ctrlPr>
                                  </m:sSubPr>
                                  <m:e>
                                    <m:r>
                                      <a:rPr lang="en-GB" sz="2800" b="0" dirty="0">
                                        <a:solidFill>
                                          <a:srgbClr val="182D45"/>
                                        </a:solidFill>
                                        <a:latin typeface="Cambria Math"/>
                                        <a:ea typeface="Cambria Math"/>
                                        <a:cs typeface="Cambria Math"/>
                                      </a:rPr>
                                      <m:t>𝑦</m:t>
                                    </m:r>
                                  </m:e>
                                  <m:sub>
                                    <m:r>
                                      <a:rPr lang="en-GB" sz="2800" b="0" dirty="0">
                                        <a:solidFill>
                                          <a:srgbClr val="182D45"/>
                                        </a:solidFill>
                                        <a:latin typeface="Cambria Math"/>
                                        <a:ea typeface="Cambria Math"/>
                                        <a:cs typeface="Cambria Math"/>
                                      </a:rPr>
                                      <m:t>𝑖</m:t>
                                    </m:r>
                                  </m:sub>
                                </m:sSub>
                              </m:e>
                            </m:d>
                          </m:e>
                          <m:sup>
                            <m:r>
                              <a:rPr lang="en-GB" sz="2800" b="0" dirty="0">
                                <a:solidFill>
                                  <a:srgbClr val="182D45"/>
                                </a:solidFill>
                                <a:latin typeface="Cambria Math"/>
                                <a:ea typeface="Cambria Math"/>
                                <a:cs typeface="Cambria Math"/>
                              </a:rPr>
                              <m:t>2</m:t>
                            </m:r>
                          </m:sup>
                        </m:sSup>
                      </m:e>
                    </m:nary>
                  </m:oMath>
                </a14:m>
                <a:r>
                  <a:rPr lang="en-GB" sz="2800" b="0" i="0" dirty="0">
                    <a:solidFill>
                      <a:srgbClr val="182D45"/>
                    </a:solidFill>
                    <a:latin typeface="Cambria Math"/>
                    <a:ea typeface="Cambria Math"/>
                    <a:cs typeface="Cambria Math"/>
                  </a:rPr>
                  <a:t>    </a:t>
                </a:r>
              </a:p>
            </p:txBody>
          </p:sp>
        </mc:Choice>
        <mc:Fallback xmlns="">
          <p:sp>
            <p:nvSpPr>
              <p:cNvPr id="5" name="eq_60">
                <a:extLst>
                  <a:ext uri="{FF2B5EF4-FFF2-40B4-BE49-F238E27FC236}">
                    <a16:creationId xmlns:a16="http://schemas.microsoft.com/office/drawing/2014/main" id="{F65FE1C6-DB9B-4FD8-8EC8-BB1C316A1208}"/>
                  </a:ext>
                </a:extLst>
              </p:cNvPr>
              <p:cNvSpPr txBox="1">
                <a:spLocks noGrp="1" noRot="1" noChangeAspect="1" noMove="1" noResize="1" noEditPoints="1" noAdjustHandles="1" noChangeArrowheads="1" noChangeShapeType="1" noTextEdit="1"/>
              </p:cNvSpPr>
              <p:nvPr/>
            </p:nvSpPr>
            <p:spPr>
              <a:xfrm>
                <a:off x="1028700" y="3518534"/>
                <a:ext cx="5905500" cy="1876425"/>
              </a:xfrm>
              <a:prstGeom prst="rect">
                <a:avLst/>
              </a:prstGeom>
              <a:blipFill>
                <a:blip r:embed="rId5"/>
                <a:stretch>
                  <a:fillRect/>
                </a:stretch>
              </a:blipFill>
              <a:ln w="0">
                <a:noFill/>
              </a:ln>
            </p:spPr>
            <p:txBody>
              <a:bodyPr/>
              <a:lstStyle/>
              <a:p>
                <a:r>
                  <a:rPr lang="it-IT">
                    <a:noFill/>
                  </a:rPr>
                  <a:t> </a:t>
                </a:r>
              </a:p>
            </p:txBody>
          </p:sp>
        </mc:Fallback>
      </mc:AlternateContent>
      <p:graphicFrame>
        <p:nvGraphicFramePr>
          <p:cNvPr id="13" name="Chart"/>
          <p:cNvGraphicFramePr/>
          <p:nvPr/>
        </p:nvGraphicFramePr>
        <p:xfrm>
          <a:off x="6934200" y="2190750"/>
          <a:ext cx="4619625" cy="3409950"/>
        </p:xfrm>
        <a:graphic>
          <a:graphicData uri="http://schemas.openxmlformats.org/drawingml/2006/chart">
            <c:chart xmlns:c="http://schemas.openxmlformats.org/drawingml/2006/chart" xmlns:r="http://schemas.openxmlformats.org/officeDocument/2006/relationships" r:id="rId6"/>
          </a:graphicData>
        </a:graphic>
      </p:graphicFrame>
      <p:sp>
        <p:nvSpPr>
          <p:cNvPr id="7" name="txt_61">
            <a:extLst>
              <a:ext uri="{FF2B5EF4-FFF2-40B4-BE49-F238E27FC236}">
                <a16:creationId xmlns:a16="http://schemas.microsoft.com/office/drawing/2014/main" id="{C5434432-C409-4C4D-A29C-A5F6E8E1DFF4}"/>
              </a:ext>
            </a:extLst>
          </p:cNvPr>
          <p:cNvSpPr>
            <a:spLocks noGrp="1"/>
          </p:cNvSpPr>
          <p:nvPr/>
        </p:nvSpPr>
        <p:spPr>
          <a:xfrm>
            <a:off x="609600" y="5857875"/>
            <a:ext cx="10953750" cy="495300"/>
          </a:xfrm>
          <a:prstGeom prst="rect">
            <a:avLst/>
          </a:prstGeom>
          <a:noFill/>
          <a:ln w="0">
            <a:noFill/>
          </a:ln>
        </p:spPr>
        <p:txBody>
          <a:bodyPr wrap="square" lIns="0" tIns="0" rIns="0" bIns="0" anchor="t">
            <a:noAutofit/>
          </a:bodyPr>
          <a:lstStyle/>
          <a:p>
            <a:pPr marL="0" marR="0" indent="0" algn="ctr">
              <a:defRPr lang="en-GB" sz="1725" b="0" i="0" dirty="0">
                <a:solidFill>
                  <a:srgbClr val="526276"/>
                </a:solidFill>
                <a:latin typeface="DejaVu Sans"/>
                <a:ea typeface="DejaVu Sans"/>
                <a:cs typeface="DejaVu Sans"/>
              </a:defRPr>
            </a:pPr>
            <a:r>
              <a:rPr lang="en-GB" sz="1725" b="0" i="0" dirty="0">
                <a:solidFill>
                  <a:srgbClr val="526276"/>
                </a:solidFill>
                <a:latin typeface="DejaVu Sans"/>
                <a:ea typeface="DejaVu Sans"/>
                <a:cs typeface="DejaVu Sans"/>
              </a:rPr>
              <a:t>Every predictor in this family passes through the origin.</a:t>
            </a:r>
          </a:p>
        </p:txBody>
      </p:sp>
    </p:spTree>
    <p:extLst>
      <p:ext uri="{BB962C8B-B14F-4D97-AF65-F5344CB8AC3E}">
        <p14:creationId xmlns:p14="http://schemas.microsoft.com/office/powerpoint/2010/main" val="1188719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5CD3337D-6351-4100-8524-D6D3324A5B1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Differentiating with respect to the slope</a:t>
            </a:r>
          </a:p>
        </p:txBody>
      </p:sp>
      <p:sp>
        <p:nvSpPr>
          <p:cNvPr id="2" name="page_number">
            <a:extLst>
              <a:ext uri="{FF2B5EF4-FFF2-40B4-BE49-F238E27FC236}">
                <a16:creationId xmlns:a16="http://schemas.microsoft.com/office/drawing/2014/main" id="{CFDC0F1E-11DB-4FD3-91F1-E3C83F9BF1F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17</a:t>
            </a:r>
          </a:p>
        </p:txBody>
      </p:sp>
      <mc:AlternateContent xmlns:mc="http://schemas.openxmlformats.org/markup-compatibility/2006" xmlns:a14="http://schemas.microsoft.com/office/drawing/2010/main">
        <mc:Choice Requires="a14">
          <p:sp>
            <p:nvSpPr>
              <p:cNvPr id="3" name="eq_62">
                <a:extLst>
                  <a:ext uri="{FF2B5EF4-FFF2-40B4-BE49-F238E27FC236}">
                    <a16:creationId xmlns:a16="http://schemas.microsoft.com/office/drawing/2014/main" id="{0B11A194-9C25-4332-B721-091CA06F0C70}"/>
                  </a:ext>
                </a:extLst>
              </p:cNvPr>
              <p:cNvSpPr txBox="1">
                <a:spLocks noGrp="1"/>
              </p:cNvSpPr>
              <p:nvPr/>
            </p:nvSpPr>
            <p:spPr>
              <a:xfrm>
                <a:off x="609600" y="1314450"/>
                <a:ext cx="10953750" cy="1104900"/>
              </a:xfrm>
              <a:prstGeom prst="rect">
                <a:avLst/>
              </a:prstGeom>
              <a:noFill/>
              <a:ln w="0">
                <a:noFill/>
              </a:ln>
            </p:spPr>
            <p:txBody>
              <a:bodyPr vertOverflow="overflow" wrap="none" lIns="0" tIns="0" rIns="0" bIns="0" anchor="ctr">
                <a:noAutofit/>
              </a:bodyPr>
              <a:lstStyle/>
              <a:p>
                <a:pPr algn="ctr">
                  <a:defRPr lang="en-GB" sz="2625" b="0" i="0" dirty="0">
                    <a:solidFill>
                      <a:srgbClr val="182D45"/>
                    </a:solidFill>
                    <a:latin typeface="DejaVu Sans"/>
                    <a:ea typeface="DejaVu Sans"/>
                    <a:cs typeface="DejaVu Sans"/>
                  </a:defRPr>
                </a:pPr>
                <a14:m>
                  <m:oMathPara xmlns:m="http://schemas.openxmlformats.org/officeDocument/2006/math">
                    <m:oMath>
                      <m:sSubSup>
                        <m:sSubSupPr>
                          <m:ctrlPr>
                            <a:rPr lang="en-GB" sz="2800" dirty="0">
                              <a:solidFill>
                                <a:srgbClr val="182D45"/>
                              </a:solidFill>
                              <a:latin typeface="Cambria Math"/>
                              <a:ea typeface="Cambria Math"/>
                              <a:cs typeface="Cambria Math"/>
                            </a:rPr>
                          </m:ctrlPr>
                        </m:sSubSupPr>
                        <m:e>
                          <m:r>
                            <a:rPr lang="en-GB" sz="2800" dirty="0">
                              <a:solidFill>
                                <a:srgbClr val="182D45"/>
                              </a:solidFill>
                              <a:latin typeface="Cambria Math"/>
                              <a:ea typeface="Cambria Math"/>
                              <a:cs typeface="Cambria Math"/>
                            </a:rPr>
                            <m:t>ℒ</m:t>
                          </m:r>
                        </m:e>
                        <m:sub>
                          <m:r>
                            <m:rPr>
                              <m:sty m:val="p"/>
                            </m:rPr>
                            <a:rPr lang="en-GB" sz="2800" dirty="0">
                              <a:solidFill>
                                <a:srgbClr val="182D45"/>
                              </a:solidFill>
                              <a:latin typeface="Cambria Math"/>
                              <a:ea typeface="Cambria Math"/>
                              <a:cs typeface="Cambria Math"/>
                            </a:rPr>
                            <m:t>sq</m:t>
                          </m:r>
                        </m:sub>
                        <m:sup>
                          <m:r>
                            <m:rPr>
                              <m:sty m:val="p"/>
                            </m:rPr>
                            <a:rPr lang="it-IT" sz="2800" dirty="0">
                              <a:solidFill>
                                <a:srgbClr val="182D45"/>
                              </a:solidFill>
                              <a:latin typeface="Cambria Math" panose="02040503050406030204" pitchFamily="18" charset="0"/>
                              <a:ea typeface="Cambria Math"/>
                              <a:cs typeface="Cambria Math"/>
                            </a:rPr>
                            <m:t>slope</m:t>
                          </m:r>
                        </m:sup>
                      </m:sSubSup>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𝑎</m:t>
                          </m:r>
                        </m:e>
                      </m:d>
                      <m:r>
                        <a:rPr lang="en-GB" sz="2625" b="0" dirty="0">
                          <a:solidFill>
                            <a:srgbClr val="182D45"/>
                          </a:solidFill>
                          <a:latin typeface="Cambria Math"/>
                          <a:ea typeface="Cambria Math"/>
                          <a:cs typeface="Cambria Math"/>
                        </a:rPr>
                        <m:t>=</m:t>
                      </m:r>
                      <m:nary>
                        <m:naryPr>
                          <m:chr m:val="∑"/>
                          <m:limLoc m:val="undOvr"/>
                          <m:ctrlPr>
                            <a:rPr lang="en-GB" sz="2625" b="0" dirty="0">
                              <a:solidFill>
                                <a:srgbClr val="182D45"/>
                              </a:solidFill>
                              <a:latin typeface="Cambria Math"/>
                              <a:ea typeface="Cambria Math"/>
                              <a:cs typeface="Cambria Math"/>
                            </a:rPr>
                          </m:ctrlPr>
                        </m:naryPr>
                        <m:sub>
                          <m:r>
                            <a:rPr lang="en-GB" sz="2625" b="0" dirty="0">
                              <a:solidFill>
                                <a:srgbClr val="182D45"/>
                              </a:solidFill>
                              <a:latin typeface="Cambria Math"/>
                              <a:ea typeface="Cambria Math"/>
                              <a:cs typeface="Cambria Math"/>
                            </a:rPr>
                            <m:t>𝑖</m:t>
                          </m:r>
                          <m:r>
                            <a:rPr lang="en-GB" sz="2625" b="0" dirty="0">
                              <a:solidFill>
                                <a:srgbClr val="182D45"/>
                              </a:solidFill>
                              <a:latin typeface="Cambria Math"/>
                              <a:ea typeface="Cambria Math"/>
                              <a:cs typeface="Cambria Math"/>
                            </a:rPr>
                            <m:t>=1</m:t>
                          </m:r>
                        </m:sub>
                        <m:sup>
                          <m:r>
                            <a:rPr lang="en-GB" sz="2625" b="0" dirty="0">
                              <a:solidFill>
                                <a:srgbClr val="182D45"/>
                              </a:solidFill>
                              <a:latin typeface="Cambria Math"/>
                              <a:ea typeface="Cambria Math"/>
                              <a:cs typeface="Cambria Math"/>
                            </a:rPr>
                            <m:t>𝑁</m:t>
                          </m:r>
                        </m:sup>
                        <m:e>
                          <m:sSup>
                            <m:sSupPr>
                              <m:ctrlPr>
                                <a:rPr lang="en-GB" sz="2625" b="0" i="1" dirty="0">
                                  <a:solidFill>
                                    <a:srgbClr val="182D45"/>
                                  </a:solidFill>
                                  <a:latin typeface="Cambria Math" panose="02040503050406030204" pitchFamily="18" charset="0"/>
                                  <a:ea typeface="Cambria Math"/>
                                  <a:cs typeface="Cambria Math"/>
                                </a:rPr>
                              </m:ctrlPr>
                            </m:sSupPr>
                            <m:e>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𝑎</m:t>
                                  </m:r>
                                  <m:sSub>
                                    <m:sSubPr>
                                      <m:ctrlPr>
                                        <a:rPr lang="en-GB" sz="2625" b="0" dirty="0">
                                          <a:solidFill>
                                            <a:srgbClr val="182D45"/>
                                          </a:solidFill>
                                          <a:latin typeface="Cambria Math"/>
                                          <a:ea typeface="Cambria Math"/>
                                          <a:cs typeface="Cambria Math"/>
                                        </a:rPr>
                                      </m:ctrlPr>
                                    </m:sSubPr>
                                    <m:e>
                                      <m:r>
                                        <a:rPr lang="en-GB" sz="2625" b="0" dirty="0">
                                          <a:solidFill>
                                            <a:srgbClr val="182D45"/>
                                          </a:solidFill>
                                          <a:latin typeface="Cambria Math"/>
                                          <a:ea typeface="Cambria Math"/>
                                          <a:cs typeface="Cambria Math"/>
                                        </a:rPr>
                                        <m:t>𝑥</m:t>
                                      </m:r>
                                    </m:e>
                                    <m:sub>
                                      <m:r>
                                        <a:rPr lang="en-GB" sz="2625" b="0" dirty="0">
                                          <a:solidFill>
                                            <a:srgbClr val="182D45"/>
                                          </a:solidFill>
                                          <a:latin typeface="Cambria Math"/>
                                          <a:ea typeface="Cambria Math"/>
                                          <a:cs typeface="Cambria Math"/>
                                        </a:rPr>
                                        <m:t>𝑖</m:t>
                                      </m:r>
                                    </m:sub>
                                  </m:sSub>
                                  <m:r>
                                    <a:rPr lang="en-GB" sz="2625" b="0" dirty="0">
                                      <a:solidFill>
                                        <a:srgbClr val="182D45"/>
                                      </a:solidFill>
                                      <a:latin typeface="Cambria Math"/>
                                      <a:ea typeface="Cambria Math"/>
                                      <a:cs typeface="Cambria Math"/>
                                    </a:rPr>
                                    <m:t>−</m:t>
                                  </m:r>
                                  <m:sSub>
                                    <m:sSubPr>
                                      <m:ctrlPr>
                                        <a:rPr lang="en-GB" sz="2625" b="0" dirty="0">
                                          <a:solidFill>
                                            <a:srgbClr val="182D45"/>
                                          </a:solidFill>
                                          <a:latin typeface="Cambria Math"/>
                                          <a:ea typeface="Cambria Math"/>
                                          <a:cs typeface="Cambria Math"/>
                                        </a:rPr>
                                      </m:ctrlPr>
                                    </m:sSubPr>
                                    <m:e>
                                      <m:r>
                                        <a:rPr lang="en-GB" sz="2625" b="0" dirty="0">
                                          <a:solidFill>
                                            <a:srgbClr val="182D45"/>
                                          </a:solidFill>
                                          <a:latin typeface="Cambria Math"/>
                                          <a:ea typeface="Cambria Math"/>
                                          <a:cs typeface="Cambria Math"/>
                                        </a:rPr>
                                        <m:t>𝑦</m:t>
                                      </m:r>
                                    </m:e>
                                    <m:sub>
                                      <m:r>
                                        <a:rPr lang="en-GB" sz="2625" b="0" dirty="0">
                                          <a:solidFill>
                                            <a:srgbClr val="182D45"/>
                                          </a:solidFill>
                                          <a:latin typeface="Cambria Math"/>
                                          <a:ea typeface="Cambria Math"/>
                                          <a:cs typeface="Cambria Math"/>
                                        </a:rPr>
                                        <m:t>𝑖</m:t>
                                      </m:r>
                                    </m:sub>
                                  </m:sSub>
                                </m:e>
                              </m:d>
                            </m:e>
                            <m:sup>
                              <m:r>
                                <a:rPr lang="en-GB" sz="2625" b="0" dirty="0">
                                  <a:solidFill>
                                    <a:srgbClr val="182D45"/>
                                  </a:solidFill>
                                  <a:latin typeface="Cambria Math"/>
                                  <a:ea typeface="Cambria Math"/>
                                  <a:cs typeface="Cambria Math"/>
                                </a:rPr>
                                <m:t>2</m:t>
                              </m:r>
                            </m:sup>
                          </m:sSup>
                        </m:e>
                      </m:nary>
                      <m:r>
                        <a:rPr lang="en-GB" sz="2625" b="0" dirty="0">
                          <a:solidFill>
                            <a:srgbClr val="182D45"/>
                          </a:solidFill>
                          <a:latin typeface="Cambria Math"/>
                          <a:ea typeface="Cambria Math"/>
                          <a:cs typeface="Cambria Math"/>
                        </a:rPr>
                        <m:t>=</m:t>
                      </m:r>
                      <m:nary>
                        <m:naryPr>
                          <m:chr m:val="∑"/>
                          <m:limLoc m:val="undOvr"/>
                          <m:ctrlPr>
                            <a:rPr lang="en-GB" sz="2625" b="0" dirty="0">
                              <a:solidFill>
                                <a:srgbClr val="182D45"/>
                              </a:solidFill>
                              <a:latin typeface="Cambria Math"/>
                              <a:ea typeface="Cambria Math"/>
                              <a:cs typeface="Cambria Math"/>
                            </a:rPr>
                          </m:ctrlPr>
                        </m:naryPr>
                        <m:sub>
                          <m:r>
                            <a:rPr lang="en-GB" sz="2625" b="0" dirty="0">
                              <a:solidFill>
                                <a:srgbClr val="182D45"/>
                              </a:solidFill>
                              <a:latin typeface="Cambria Math"/>
                              <a:ea typeface="Cambria Math"/>
                              <a:cs typeface="Cambria Math"/>
                            </a:rPr>
                            <m:t>𝑖</m:t>
                          </m:r>
                          <m:r>
                            <a:rPr lang="en-GB" sz="2625" b="0" dirty="0">
                              <a:solidFill>
                                <a:srgbClr val="182D45"/>
                              </a:solidFill>
                              <a:latin typeface="Cambria Math"/>
                              <a:ea typeface="Cambria Math"/>
                              <a:cs typeface="Cambria Math"/>
                            </a:rPr>
                            <m:t>=1</m:t>
                          </m:r>
                        </m:sub>
                        <m:sup>
                          <m:r>
                            <a:rPr lang="en-GB" sz="2625" b="0" dirty="0">
                              <a:solidFill>
                                <a:srgbClr val="182D45"/>
                              </a:solidFill>
                              <a:latin typeface="Cambria Math"/>
                              <a:ea typeface="Cambria Math"/>
                              <a:cs typeface="Cambria Math"/>
                            </a:rPr>
                            <m:t>𝑁</m:t>
                          </m:r>
                        </m:sup>
                        <m:e>
                          <m:sSub>
                            <m:sSubPr>
                              <m:ctrlPr>
                                <a:rPr lang="en-GB" sz="2625" b="0" dirty="0">
                                  <a:solidFill>
                                    <a:srgbClr val="182D45"/>
                                  </a:solidFill>
                                  <a:latin typeface="Cambria Math"/>
                                  <a:ea typeface="Cambria Math"/>
                                  <a:cs typeface="Cambria Math"/>
                                </a:rPr>
                              </m:ctrlPr>
                            </m:sSubPr>
                            <m:e>
                              <m:r>
                                <a:rPr lang="en-GB" sz="2625" b="0" dirty="0">
                                  <a:solidFill>
                                    <a:srgbClr val="182D45"/>
                                  </a:solidFill>
                                  <a:latin typeface="Cambria Math"/>
                                  <a:ea typeface="Cambria Math"/>
                                  <a:cs typeface="Cambria Math"/>
                                </a:rPr>
                                <m:t>𝑟</m:t>
                              </m:r>
                            </m:e>
                            <m:sub>
                              <m:r>
                                <a:rPr lang="en-GB" sz="2625" b="0" dirty="0">
                                  <a:solidFill>
                                    <a:srgbClr val="182D45"/>
                                  </a:solidFill>
                                  <a:latin typeface="Cambria Math"/>
                                  <a:ea typeface="Cambria Math"/>
                                  <a:cs typeface="Cambria Math"/>
                                </a:rPr>
                                <m:t>𝑖</m:t>
                              </m:r>
                            </m:sub>
                          </m:sSub>
                        </m:e>
                      </m:nary>
                      <m:sSup>
                        <m:sSupPr>
                          <m:ctrlPr>
                            <a:rPr lang="en-GB" sz="2625" b="0" i="1" dirty="0">
                              <a:solidFill>
                                <a:srgbClr val="182D45"/>
                              </a:solidFill>
                              <a:latin typeface="Cambria Math" panose="02040503050406030204" pitchFamily="18" charset="0"/>
                              <a:ea typeface="Cambria Math"/>
                              <a:cs typeface="Cambria Math"/>
                            </a:rPr>
                          </m:ctrlPr>
                        </m:sSupPr>
                        <m:e>
                          <m:d>
                            <m:dPr>
                              <m:ctrlPr>
                                <a:rPr lang="en-GB" sz="2625" b="0" dirty="0">
                                  <a:solidFill>
                                    <a:srgbClr val="182D45"/>
                                  </a:solidFill>
                                  <a:latin typeface="Cambria Math"/>
                                  <a:ea typeface="Cambria Math"/>
                                  <a:cs typeface="Cambria Math"/>
                                </a:rPr>
                              </m:ctrlPr>
                            </m:dPr>
                            <m:e>
                              <m:r>
                                <a:rPr lang="en-GB" sz="2625" b="0" dirty="0">
                                  <a:solidFill>
                                    <a:srgbClr val="182D45"/>
                                  </a:solidFill>
                                  <a:latin typeface="Cambria Math"/>
                                  <a:ea typeface="Cambria Math"/>
                                  <a:cs typeface="Cambria Math"/>
                                </a:rPr>
                                <m:t>𝑎</m:t>
                              </m:r>
                            </m:e>
                          </m:d>
                        </m:e>
                        <m:sup>
                          <m:r>
                            <a:rPr lang="en-GB" sz="2625" b="0" dirty="0">
                              <a:solidFill>
                                <a:srgbClr val="182D45"/>
                              </a:solidFill>
                              <a:latin typeface="Cambria Math"/>
                              <a:ea typeface="Cambria Math"/>
                              <a:cs typeface="Cambria Math"/>
                            </a:rPr>
                            <m:t>2</m:t>
                          </m:r>
                        </m:sup>
                      </m:sSup>
                    </m:oMath>
                  </m:oMathPara>
                </a14:m>
                <a:endParaRPr lang="en-GB" sz="2625" b="0" i="0" dirty="0">
                  <a:solidFill>
                    <a:srgbClr val="182D45"/>
                  </a:solidFill>
                  <a:latin typeface="DejaVu Sans"/>
                  <a:ea typeface="DejaVu Sans"/>
                  <a:cs typeface="DejaVu Sans"/>
                </a:endParaRPr>
              </a:p>
            </p:txBody>
          </p:sp>
        </mc:Choice>
        <mc:Fallback xmlns="">
          <p:sp>
            <p:nvSpPr>
              <p:cNvPr id="3" name="eq_62">
                <a:extLst>
                  <a:ext uri="{FF2B5EF4-FFF2-40B4-BE49-F238E27FC236}">
                    <a16:creationId xmlns:a16="http://schemas.microsoft.com/office/drawing/2014/main" id="{0B11A194-9C25-4332-B721-091CA06F0C70}"/>
                  </a:ext>
                </a:extLst>
              </p:cNvPr>
              <p:cNvSpPr txBox="1">
                <a:spLocks noGrp="1" noRot="1" noChangeAspect="1" noMove="1" noResize="1" noEditPoints="1" noAdjustHandles="1" noChangeArrowheads="1" noChangeShapeType="1" noTextEdit="1"/>
              </p:cNvSpPr>
              <p:nvPr/>
            </p:nvSpPr>
            <p:spPr>
              <a:xfrm>
                <a:off x="609600" y="1314450"/>
                <a:ext cx="10953750" cy="1104900"/>
              </a:xfrm>
              <a:prstGeom prst="rect">
                <a:avLst/>
              </a:prstGeom>
              <a:blipFill>
                <a:blip r:embed="rId3"/>
                <a:stretch>
                  <a:fillRect b="-221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63">
                <a:extLst>
                  <a:ext uri="{FF2B5EF4-FFF2-40B4-BE49-F238E27FC236}">
                    <a16:creationId xmlns:a16="http://schemas.microsoft.com/office/drawing/2014/main" id="{5CBC30E7-D9E3-4CEC-86B0-A5DAD74872F2}"/>
                  </a:ext>
                </a:extLst>
              </p:cNvPr>
              <p:cNvSpPr txBox="1">
                <a:spLocks noGrp="1"/>
              </p:cNvSpPr>
              <p:nvPr/>
            </p:nvSpPr>
            <p:spPr>
              <a:xfrm>
                <a:off x="609600" y="2533650"/>
                <a:ext cx="10953750" cy="428625"/>
              </a:xfrm>
              <a:prstGeom prst="rect">
                <a:avLst/>
              </a:prstGeom>
              <a:noFill/>
              <a:ln w="0">
                <a:noFill/>
              </a:ln>
            </p:spPr>
            <p:txBody>
              <a:bodyPr vertOverflow="overflow" wrap="square" lIns="0" tIns="0" rIns="0" bIns="0" anchor="ctr">
                <a:noAutofit/>
              </a:bodyPr>
              <a:lstStyle/>
              <a:p>
                <a:pPr marL="0" marR="0" indent="0" algn="ctr">
                  <a:defRPr lang="en-GB" sz="2250" b="0" i="0" dirty="0">
                    <a:solidFill>
                      <a:srgbClr val="326CB2"/>
                    </a:solidFill>
                    <a:latin typeface="DejaVu Sans"/>
                    <a:ea typeface="DejaVu Sans"/>
                    <a:cs typeface="DejaVu Sans"/>
                  </a:defRPr>
                </a:pPr>
                <a:r>
                  <a:rPr lang="en-GB" sz="2250" b="0" i="0" dirty="0">
                    <a:solidFill>
                      <a:srgbClr val="326CB2"/>
                    </a:solidFill>
                    <a:latin typeface="DejaVu Sans"/>
                    <a:ea typeface="DejaVu Sans"/>
                    <a:cs typeface="DejaVu Sans"/>
                  </a:rPr>
                  <a:t>where </a:t>
                </a:r>
                <a14:m>
                  <m:oMath xmlns:m="http://schemas.openxmlformats.org/officeDocument/2006/math">
                    <m:sSub>
                      <m:sSubPr>
                        <m:ctrlPr>
                          <a:rPr lang="en-GB" sz="2250" b="0" dirty="0">
                            <a:solidFill>
                              <a:srgbClr val="326CB2"/>
                            </a:solidFill>
                            <a:latin typeface="Cambria Math"/>
                            <a:ea typeface="Cambria Math"/>
                            <a:cs typeface="Cambria Math"/>
                          </a:rPr>
                        </m:ctrlPr>
                      </m:sSubPr>
                      <m:e>
                        <m:r>
                          <a:rPr lang="en-GB" sz="2250" b="0" dirty="0">
                            <a:solidFill>
                              <a:srgbClr val="326CB2"/>
                            </a:solidFill>
                            <a:latin typeface="Cambria Math"/>
                            <a:ea typeface="Cambria Math"/>
                            <a:cs typeface="Cambria Math"/>
                          </a:rPr>
                          <m:t>𝑟</m:t>
                        </m:r>
                      </m:e>
                      <m:sub>
                        <m:r>
                          <a:rPr lang="en-GB" sz="2250" b="0" dirty="0">
                            <a:solidFill>
                              <a:srgbClr val="326CB2"/>
                            </a:solidFill>
                            <a:latin typeface="Cambria Math"/>
                            <a:ea typeface="Cambria Math"/>
                            <a:cs typeface="Cambria Math"/>
                          </a:rPr>
                          <m:t>𝑖</m:t>
                        </m:r>
                      </m:sub>
                    </m:sSub>
                    <m:d>
                      <m:dPr>
                        <m:ctrlPr>
                          <a:rPr lang="en-GB" sz="2250" b="0" dirty="0">
                            <a:solidFill>
                              <a:srgbClr val="326CB2"/>
                            </a:solidFill>
                            <a:latin typeface="Cambria Math"/>
                            <a:ea typeface="Cambria Math"/>
                            <a:cs typeface="Cambria Math"/>
                          </a:rPr>
                        </m:ctrlPr>
                      </m:dPr>
                      <m:e>
                        <m:r>
                          <a:rPr lang="en-GB" sz="2250" b="0" dirty="0">
                            <a:solidFill>
                              <a:srgbClr val="326CB2"/>
                            </a:solidFill>
                            <a:latin typeface="Cambria Math"/>
                            <a:ea typeface="Cambria Math"/>
                            <a:cs typeface="Cambria Math"/>
                          </a:rPr>
                          <m:t>𝑎</m:t>
                        </m:r>
                      </m:e>
                    </m:d>
                    <m:r>
                      <a:rPr lang="en-GB" sz="2250" b="0" dirty="0">
                        <a:solidFill>
                          <a:srgbClr val="326CB2"/>
                        </a:solidFill>
                        <a:latin typeface="Cambria Math"/>
                        <a:ea typeface="Cambria Math"/>
                        <a:cs typeface="Cambria Math"/>
                      </a:rPr>
                      <m:t>=</m:t>
                    </m:r>
                    <m:r>
                      <a:rPr lang="en-GB" sz="2250" b="0" dirty="0">
                        <a:solidFill>
                          <a:srgbClr val="326CB2"/>
                        </a:solidFill>
                        <a:latin typeface="Cambria Math"/>
                        <a:ea typeface="Cambria Math"/>
                        <a:cs typeface="Cambria Math"/>
                      </a:rPr>
                      <m:t>𝑎</m:t>
                    </m:r>
                    <m:sSub>
                      <m:sSubPr>
                        <m:ctrlPr>
                          <a:rPr lang="en-GB" sz="2250" b="0" dirty="0">
                            <a:solidFill>
                              <a:srgbClr val="326CB2"/>
                            </a:solidFill>
                            <a:latin typeface="Cambria Math"/>
                            <a:ea typeface="Cambria Math"/>
                            <a:cs typeface="Cambria Math"/>
                          </a:rPr>
                        </m:ctrlPr>
                      </m:sSubPr>
                      <m:e>
                        <m:r>
                          <a:rPr lang="en-GB" sz="2250" b="0" dirty="0">
                            <a:solidFill>
                              <a:srgbClr val="326CB2"/>
                            </a:solidFill>
                            <a:latin typeface="Cambria Math"/>
                            <a:ea typeface="Cambria Math"/>
                            <a:cs typeface="Cambria Math"/>
                          </a:rPr>
                          <m:t>𝑥</m:t>
                        </m:r>
                      </m:e>
                      <m:sub>
                        <m:r>
                          <a:rPr lang="en-GB" sz="2250" b="0" dirty="0">
                            <a:solidFill>
                              <a:srgbClr val="326CB2"/>
                            </a:solidFill>
                            <a:latin typeface="Cambria Math"/>
                            <a:ea typeface="Cambria Math"/>
                            <a:cs typeface="Cambria Math"/>
                          </a:rPr>
                          <m:t>𝑖</m:t>
                        </m:r>
                      </m:sub>
                    </m:sSub>
                    <m:r>
                      <a:rPr lang="en-GB" sz="2250" b="0" dirty="0">
                        <a:solidFill>
                          <a:srgbClr val="326CB2"/>
                        </a:solidFill>
                        <a:latin typeface="Cambria Math"/>
                        <a:ea typeface="Cambria Math"/>
                        <a:cs typeface="Cambria Math"/>
                      </a:rPr>
                      <m:t>−</m:t>
                    </m:r>
                    <m:sSub>
                      <m:sSubPr>
                        <m:ctrlPr>
                          <a:rPr lang="en-GB" sz="2250" b="0" dirty="0">
                            <a:solidFill>
                              <a:srgbClr val="326CB2"/>
                            </a:solidFill>
                            <a:latin typeface="Cambria Math"/>
                            <a:ea typeface="Cambria Math"/>
                            <a:cs typeface="Cambria Math"/>
                          </a:rPr>
                        </m:ctrlPr>
                      </m:sSubPr>
                      <m:e>
                        <m:r>
                          <a:rPr lang="en-GB" sz="2250" b="0" dirty="0">
                            <a:solidFill>
                              <a:srgbClr val="326CB2"/>
                            </a:solidFill>
                            <a:latin typeface="Cambria Math"/>
                            <a:ea typeface="Cambria Math"/>
                            <a:cs typeface="Cambria Math"/>
                          </a:rPr>
                          <m:t>𝑦</m:t>
                        </m:r>
                      </m:e>
                      <m:sub>
                        <m:r>
                          <a:rPr lang="en-GB" sz="2250" b="0" dirty="0">
                            <a:solidFill>
                              <a:srgbClr val="326CB2"/>
                            </a:solidFill>
                            <a:latin typeface="Cambria Math"/>
                            <a:ea typeface="Cambria Math"/>
                            <a:cs typeface="Cambria Math"/>
                          </a:rPr>
                          <m:t>𝑖</m:t>
                        </m:r>
                      </m:sub>
                    </m:sSub>
                  </m:oMath>
                </a14:m>
                <a:r>
                  <a:rPr lang="en-GB" sz="2250" b="0" i="0" dirty="0">
                    <a:solidFill>
                      <a:srgbClr val="326CB2"/>
                    </a:solidFill>
                    <a:latin typeface="DejaVu Sans"/>
                    <a:ea typeface="DejaVu Sans"/>
                    <a:cs typeface="DejaVu Sans"/>
                  </a:rPr>
                  <a:t> is the </a:t>
                </a:r>
                <a:r>
                  <a:rPr lang="en-GB" sz="2250" b="0" i="0" dirty="0" err="1">
                    <a:solidFill>
                      <a:srgbClr val="326CB2"/>
                    </a:solidFill>
                    <a:latin typeface="DejaVu Sans"/>
                    <a:ea typeface="DejaVu Sans"/>
                    <a:cs typeface="DejaVu Sans"/>
                  </a:rPr>
                  <a:t>i-th</a:t>
                </a:r>
                <a:r>
                  <a:rPr lang="en-GB" sz="2250" b="0" i="0" dirty="0">
                    <a:solidFill>
                      <a:srgbClr val="326CB2"/>
                    </a:solidFill>
                    <a:latin typeface="DejaVu Sans"/>
                    <a:ea typeface="DejaVu Sans"/>
                    <a:cs typeface="DejaVu Sans"/>
                  </a:rPr>
                  <a:t> residual, so </a:t>
                </a:r>
                <a14:m>
                  <m:oMath xmlns:m="http://schemas.openxmlformats.org/officeDocument/2006/math">
                    <m:sSubSup>
                      <m:sSubSupPr>
                        <m:ctrlPr>
                          <a:rPr lang="en-GB" sz="2250" b="0" dirty="0">
                            <a:solidFill>
                              <a:srgbClr val="326CB2"/>
                            </a:solidFill>
                            <a:latin typeface="Cambria Math"/>
                            <a:ea typeface="Cambria Math"/>
                            <a:cs typeface="Cambria Math"/>
                          </a:rPr>
                        </m:ctrlPr>
                      </m:sSubSupPr>
                      <m:e>
                        <m:r>
                          <a:rPr lang="en-GB" sz="2250" b="0" dirty="0">
                            <a:solidFill>
                              <a:srgbClr val="326CB2"/>
                            </a:solidFill>
                            <a:latin typeface="Cambria Math"/>
                            <a:ea typeface="Cambria Math"/>
                            <a:cs typeface="Cambria Math"/>
                          </a:rPr>
                          <m:t>𝑟</m:t>
                        </m:r>
                      </m:e>
                      <m:sub>
                        <m:r>
                          <a:rPr lang="en-GB" sz="2250" b="0" dirty="0">
                            <a:solidFill>
                              <a:srgbClr val="326CB2"/>
                            </a:solidFill>
                            <a:latin typeface="Cambria Math"/>
                            <a:ea typeface="Cambria Math"/>
                            <a:cs typeface="Cambria Math"/>
                          </a:rPr>
                          <m:t>𝑖</m:t>
                        </m:r>
                      </m:sub>
                      <m:sup>
                        <m:r>
                          <a:rPr lang="en-GB" sz="2250" b="0" dirty="0">
                            <a:solidFill>
                              <a:srgbClr val="326CB2"/>
                            </a:solidFill>
                            <a:latin typeface="Cambria Math"/>
                            <a:ea typeface="Cambria Math"/>
                            <a:cs typeface="Cambria Math"/>
                          </a:rPr>
                          <m:t>′</m:t>
                        </m:r>
                      </m:sup>
                    </m:sSubSup>
                    <m:d>
                      <m:dPr>
                        <m:ctrlPr>
                          <a:rPr lang="en-GB" sz="2250" b="0" dirty="0">
                            <a:solidFill>
                              <a:srgbClr val="326CB2"/>
                            </a:solidFill>
                            <a:latin typeface="Cambria Math"/>
                            <a:ea typeface="Cambria Math"/>
                            <a:cs typeface="Cambria Math"/>
                          </a:rPr>
                        </m:ctrlPr>
                      </m:dPr>
                      <m:e>
                        <m:r>
                          <a:rPr lang="en-GB" sz="2250" b="0" dirty="0">
                            <a:solidFill>
                              <a:srgbClr val="326CB2"/>
                            </a:solidFill>
                            <a:latin typeface="Cambria Math"/>
                            <a:ea typeface="Cambria Math"/>
                            <a:cs typeface="Cambria Math"/>
                          </a:rPr>
                          <m:t>𝑎</m:t>
                        </m:r>
                      </m:e>
                    </m:d>
                    <m:r>
                      <a:rPr lang="en-GB" sz="2250" b="0" dirty="0">
                        <a:solidFill>
                          <a:srgbClr val="326CB2"/>
                        </a:solidFill>
                        <a:latin typeface="Cambria Math"/>
                        <a:ea typeface="Cambria Math"/>
                        <a:cs typeface="Cambria Math"/>
                      </a:rPr>
                      <m:t>=</m:t>
                    </m:r>
                    <m:sSub>
                      <m:sSubPr>
                        <m:ctrlPr>
                          <a:rPr lang="en-GB" sz="2250" b="0" dirty="0">
                            <a:solidFill>
                              <a:srgbClr val="326CB2"/>
                            </a:solidFill>
                            <a:latin typeface="Cambria Math"/>
                            <a:ea typeface="Cambria Math"/>
                            <a:cs typeface="Cambria Math"/>
                          </a:rPr>
                        </m:ctrlPr>
                      </m:sSubPr>
                      <m:e>
                        <m:r>
                          <a:rPr lang="en-GB" sz="2250" b="0" dirty="0">
                            <a:solidFill>
                              <a:srgbClr val="326CB2"/>
                            </a:solidFill>
                            <a:latin typeface="Cambria Math"/>
                            <a:ea typeface="Cambria Math"/>
                            <a:cs typeface="Cambria Math"/>
                          </a:rPr>
                          <m:t>𝑥</m:t>
                        </m:r>
                      </m:e>
                      <m:sub>
                        <m:r>
                          <a:rPr lang="en-GB" sz="2250" b="0" dirty="0">
                            <a:solidFill>
                              <a:srgbClr val="326CB2"/>
                            </a:solidFill>
                            <a:latin typeface="Cambria Math"/>
                            <a:ea typeface="Cambria Math"/>
                            <a:cs typeface="Cambria Math"/>
                          </a:rPr>
                          <m:t>𝑖</m:t>
                        </m:r>
                      </m:sub>
                    </m:sSub>
                  </m:oMath>
                </a14:m>
                <a:r>
                  <a:rPr lang="en-GB" sz="2250" b="0" i="0" dirty="0">
                    <a:solidFill>
                      <a:srgbClr val="326CB2"/>
                    </a:solidFill>
                    <a:latin typeface="DejaVu Sans"/>
                    <a:ea typeface="DejaVu Sans"/>
                    <a:cs typeface="DejaVu Sans"/>
                  </a:rPr>
                  <a:t>.</a:t>
                </a:r>
              </a:p>
            </p:txBody>
          </p:sp>
        </mc:Choice>
        <mc:Fallback xmlns="">
          <p:sp>
            <p:nvSpPr>
              <p:cNvPr id="4" name="eq_63">
                <a:extLst>
                  <a:ext uri="{FF2B5EF4-FFF2-40B4-BE49-F238E27FC236}">
                    <a16:creationId xmlns:a16="http://schemas.microsoft.com/office/drawing/2014/main" id="{5CBC30E7-D9E3-4CEC-86B0-A5DAD74872F2}"/>
                  </a:ext>
                </a:extLst>
              </p:cNvPr>
              <p:cNvSpPr txBox="1">
                <a:spLocks noGrp="1" noRot="1" noChangeAspect="1" noMove="1" noResize="1" noEditPoints="1" noAdjustHandles="1" noChangeArrowheads="1" noChangeShapeType="1" noTextEdit="1"/>
              </p:cNvSpPr>
              <p:nvPr/>
            </p:nvSpPr>
            <p:spPr>
              <a:xfrm>
                <a:off x="609600" y="2533650"/>
                <a:ext cx="10953750" cy="428625"/>
              </a:xfrm>
              <a:prstGeom prst="rect">
                <a:avLst/>
              </a:prstGeom>
              <a:blipFill>
                <a:blip r:embed="rId4"/>
                <a:stretch>
                  <a:fillRect t="-12857" b="-28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64">
                <a:extLst>
                  <a:ext uri="{FF2B5EF4-FFF2-40B4-BE49-F238E27FC236}">
                    <a16:creationId xmlns:a16="http://schemas.microsoft.com/office/drawing/2014/main" id="{42D060FD-762E-45FB-B441-5A77FFFEFC0F}"/>
                  </a:ext>
                </a:extLst>
              </p:cNvPr>
              <p:cNvSpPr txBox="1">
                <a:spLocks noGrp="1"/>
              </p:cNvSpPr>
              <p:nvPr/>
            </p:nvSpPr>
            <p:spPr>
              <a:xfrm>
                <a:off x="609600" y="3514725"/>
                <a:ext cx="10953750" cy="1114425"/>
              </a:xfrm>
              <a:prstGeom prst="rect">
                <a:avLst/>
              </a:prstGeom>
              <a:noFill/>
              <a:ln w="0">
                <a:noFill/>
              </a:ln>
            </p:spPr>
            <p:txBody>
              <a:bodyPr vertOverflow="overflow" wrap="none" lIns="0" tIns="0" rIns="0" bIns="0" anchor="ctr">
                <a:noAutofit/>
              </a:bodyPr>
              <a:lstStyle/>
              <a:p>
                <a:pPr algn="ctr">
                  <a:defRPr lang="en-GB" sz="2400" b="0" i="0" dirty="0">
                    <a:solidFill>
                      <a:srgbClr val="182D45"/>
                    </a:solidFill>
                    <a:latin typeface="DejaVu Sans"/>
                    <a:ea typeface="DejaVu Sans"/>
                    <a:cs typeface="DejaVu Sans"/>
                  </a:defRPr>
                </a:pPr>
                <a14:m>
                  <m:oMathPara xmlns:m="http://schemas.openxmlformats.org/officeDocument/2006/math">
                    <m:oMath>
                      <m:sSup>
                        <m:sSupPr>
                          <m:ctrlPr>
                            <a:rPr lang="en-GB" sz="2400" i="1" dirty="0">
                              <a:solidFill>
                                <a:srgbClr val="182D45"/>
                              </a:solidFill>
                              <a:latin typeface="Cambria Math" panose="02040503050406030204" pitchFamily="18" charset="0"/>
                              <a:ea typeface="Cambria Math"/>
                              <a:cs typeface="Cambria Math"/>
                            </a:rPr>
                          </m:ctrlPr>
                        </m:sSupPr>
                        <m:e>
                          <m:d>
                            <m:dPr>
                              <m:ctrlPr>
                                <a:rPr lang="en-GB" sz="2400" i="1" dirty="0">
                                  <a:solidFill>
                                    <a:srgbClr val="182D45"/>
                                  </a:solidFill>
                                  <a:latin typeface="Cambria Math" panose="02040503050406030204" pitchFamily="18" charset="0"/>
                                  <a:ea typeface="Cambria Math"/>
                                  <a:cs typeface="Cambria Math"/>
                                </a:rPr>
                              </m:ctrlPr>
                            </m:dPr>
                            <m:e>
                              <m:sSubSup>
                                <m:sSubSupPr>
                                  <m:ctrlPr>
                                    <a:rPr lang="en-GB" sz="2400" dirty="0">
                                      <a:solidFill>
                                        <a:srgbClr val="182D45"/>
                                      </a:solidFill>
                                      <a:latin typeface="Cambria Math"/>
                                      <a:ea typeface="Cambria Math"/>
                                      <a:cs typeface="Cambria Math"/>
                                    </a:rPr>
                                  </m:ctrlPr>
                                </m:sSubSupPr>
                                <m:e>
                                  <m:r>
                                    <a:rPr lang="en-GB" sz="2400" dirty="0">
                                      <a:solidFill>
                                        <a:srgbClr val="182D45"/>
                                      </a:solidFill>
                                      <a:latin typeface="Cambria Math"/>
                                      <a:ea typeface="Cambria Math"/>
                                      <a:cs typeface="Cambria Math"/>
                                    </a:rPr>
                                    <m:t>ℒ</m:t>
                                  </m:r>
                                </m:e>
                                <m:sub>
                                  <m:r>
                                    <m:rPr>
                                      <m:sty m:val="p"/>
                                    </m:rPr>
                                    <a:rPr lang="en-GB" sz="2400" dirty="0">
                                      <a:solidFill>
                                        <a:srgbClr val="182D45"/>
                                      </a:solidFill>
                                      <a:latin typeface="Cambria Math"/>
                                      <a:ea typeface="Cambria Math"/>
                                      <a:cs typeface="Cambria Math"/>
                                    </a:rPr>
                                    <m:t>sq</m:t>
                                  </m:r>
                                </m:sub>
                                <m:sup>
                                  <m:r>
                                    <m:rPr>
                                      <m:sty m:val="p"/>
                                    </m:rPr>
                                    <a:rPr lang="it-IT" sz="2400" dirty="0">
                                      <a:solidFill>
                                        <a:srgbClr val="182D45"/>
                                      </a:solidFill>
                                      <a:latin typeface="Cambria Math" panose="02040503050406030204" pitchFamily="18" charset="0"/>
                                      <a:ea typeface="Cambria Math"/>
                                      <a:cs typeface="Cambria Math"/>
                                    </a:rPr>
                                    <m:t>slope</m:t>
                                  </m:r>
                                </m:sup>
                              </m:sSubSup>
                            </m:e>
                          </m:d>
                        </m:e>
                        <m:sup>
                          <m:r>
                            <a:rPr lang="it-IT" sz="2400" b="0" i="1" dirty="0" smtClean="0">
                              <a:solidFill>
                                <a:srgbClr val="182D45"/>
                              </a:solidFill>
                              <a:latin typeface="Cambria Math" panose="02040503050406030204" pitchFamily="18" charset="0"/>
                              <a:ea typeface="Cambria Math"/>
                              <a:cs typeface="Cambria Math"/>
                            </a:rPr>
                            <m:t>′</m:t>
                          </m:r>
                        </m:sup>
                      </m:sSup>
                      <m:d>
                        <m:dPr>
                          <m:ctrlPr>
                            <a:rPr lang="en-GB" sz="2400" b="0" dirty="0">
                              <a:solidFill>
                                <a:srgbClr val="182D45"/>
                              </a:solidFill>
                              <a:latin typeface="Cambria Math"/>
                              <a:ea typeface="Cambria Math"/>
                              <a:cs typeface="Cambria Math"/>
                            </a:rPr>
                          </m:ctrlPr>
                        </m:dPr>
                        <m:e>
                          <m:r>
                            <a:rPr lang="en-GB" sz="2400" b="0" dirty="0">
                              <a:solidFill>
                                <a:srgbClr val="182D45"/>
                              </a:solidFill>
                              <a:latin typeface="Cambria Math"/>
                              <a:ea typeface="Cambria Math"/>
                              <a:cs typeface="Cambria Math"/>
                            </a:rPr>
                            <m:t>𝑎</m:t>
                          </m:r>
                        </m:e>
                      </m:d>
                      <m:r>
                        <a:rPr lang="en-GB" sz="2400" b="0" dirty="0">
                          <a:solidFill>
                            <a:srgbClr val="182D45"/>
                          </a:solidFill>
                          <a:latin typeface="Cambria Math"/>
                          <a:ea typeface="Cambria Math"/>
                          <a:cs typeface="Cambria Math"/>
                        </a:rPr>
                        <m:t>=</m:t>
                      </m:r>
                      <m:f>
                        <m:fPr>
                          <m:ctrlPr>
                            <a:rPr lang="it-IT" sz="2400" dirty="0">
                              <a:solidFill>
                                <a:srgbClr val="182D45"/>
                              </a:solidFill>
                              <a:latin typeface="Cambria Math" panose="02040503050406030204" pitchFamily="18" charset="0"/>
                              <a:ea typeface="Cambria Math"/>
                            </a:rPr>
                          </m:ctrlPr>
                        </m:fPr>
                        <m:num>
                          <m:r>
                            <m:rPr>
                              <m:sty m:val="p"/>
                            </m:rPr>
                            <a:rPr lang="it-IT" sz="2400" dirty="0">
                              <a:solidFill>
                                <a:srgbClr val="182D45"/>
                              </a:solidFill>
                              <a:latin typeface="Cambria Math" panose="02040503050406030204" pitchFamily="18" charset="0"/>
                              <a:ea typeface="Cambria Math"/>
                            </a:rPr>
                            <m:t>d</m:t>
                          </m:r>
                        </m:num>
                        <m:den>
                          <m:r>
                            <m:rPr>
                              <m:sty m:val="p"/>
                            </m:rPr>
                            <a:rPr lang="it-IT" sz="2400" dirty="0">
                              <a:solidFill>
                                <a:srgbClr val="182D45"/>
                              </a:solidFill>
                              <a:latin typeface="Cambria Math" panose="02040503050406030204" pitchFamily="18" charset="0"/>
                              <a:ea typeface="Cambria Math"/>
                            </a:rPr>
                            <m:t>d</m:t>
                          </m:r>
                          <m:r>
                            <a:rPr lang="it-IT" sz="2400" b="0" i="1" dirty="0" smtClean="0">
                              <a:solidFill>
                                <a:srgbClr val="182D45"/>
                              </a:solidFill>
                              <a:latin typeface="Cambria Math" panose="02040503050406030204" pitchFamily="18" charset="0"/>
                              <a:ea typeface="Cambria Math"/>
                            </a:rPr>
                            <m:t>𝑎</m:t>
                          </m:r>
                        </m:den>
                      </m:f>
                      <m:nary>
                        <m:naryPr>
                          <m:chr m:val="∑"/>
                          <m:limLoc m:val="undOvr"/>
                          <m:ctrlPr>
                            <a:rPr lang="en-GB" sz="2400" dirty="0">
                              <a:solidFill>
                                <a:srgbClr val="182D45"/>
                              </a:solidFill>
                              <a:latin typeface="Cambria Math"/>
                              <a:ea typeface="Cambria Math"/>
                              <a:cs typeface="Cambria Math"/>
                            </a:rPr>
                          </m:ctrlPr>
                        </m:naryPr>
                        <m:sub>
                          <m:r>
                            <a:rPr lang="en-GB" sz="2400" dirty="0">
                              <a:solidFill>
                                <a:srgbClr val="182D45"/>
                              </a:solidFill>
                              <a:latin typeface="Cambria Math"/>
                              <a:ea typeface="Cambria Math"/>
                              <a:cs typeface="Cambria Math"/>
                            </a:rPr>
                            <m:t>𝑖</m:t>
                          </m:r>
                          <m:r>
                            <a:rPr lang="en-GB" sz="2400" dirty="0">
                              <a:solidFill>
                                <a:srgbClr val="182D45"/>
                              </a:solidFill>
                              <a:latin typeface="Cambria Math"/>
                              <a:ea typeface="Cambria Math"/>
                              <a:cs typeface="Cambria Math"/>
                            </a:rPr>
                            <m:t>=1</m:t>
                          </m:r>
                        </m:sub>
                        <m:sup>
                          <m:r>
                            <a:rPr lang="en-GB" sz="2400" dirty="0">
                              <a:solidFill>
                                <a:srgbClr val="182D45"/>
                              </a:solidFill>
                              <a:latin typeface="Cambria Math"/>
                              <a:ea typeface="Cambria Math"/>
                              <a:cs typeface="Cambria Math"/>
                            </a:rPr>
                            <m:t>𝑁</m:t>
                          </m:r>
                        </m:sup>
                        <m:e>
                          <m:sSup>
                            <m:sSupPr>
                              <m:ctrlPr>
                                <a:rPr lang="en-GB" sz="2400" i="1" dirty="0">
                                  <a:solidFill>
                                    <a:srgbClr val="182D45"/>
                                  </a:solidFill>
                                  <a:latin typeface="Cambria Math" panose="02040503050406030204" pitchFamily="18" charset="0"/>
                                  <a:ea typeface="Cambria Math"/>
                                  <a:cs typeface="Cambria Math"/>
                                </a:rPr>
                              </m:ctrlPr>
                            </m:sSupPr>
                            <m:e>
                              <m:d>
                                <m:dPr>
                                  <m:ctrlPr>
                                    <a:rPr lang="en-GB" sz="2400" i="1" dirty="0">
                                      <a:solidFill>
                                        <a:srgbClr val="182D45"/>
                                      </a:solidFill>
                                      <a:latin typeface="Cambria Math" panose="02040503050406030204" pitchFamily="18" charset="0"/>
                                      <a:ea typeface="Cambria Math"/>
                                      <a:cs typeface="Cambria Math"/>
                                    </a:rPr>
                                  </m:ctrlPr>
                                </m:dPr>
                                <m:e>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𝑟</m:t>
                                      </m:r>
                                    </m:e>
                                    <m:sub>
                                      <m:r>
                                        <a:rPr lang="en-GB" sz="2400" dirty="0">
                                          <a:solidFill>
                                            <a:srgbClr val="182D45"/>
                                          </a:solidFill>
                                          <a:latin typeface="Cambria Math"/>
                                          <a:ea typeface="Cambria Math"/>
                                          <a:cs typeface="Cambria Math"/>
                                        </a:rPr>
                                        <m:t>𝑖</m:t>
                                      </m:r>
                                    </m:sub>
                                  </m:sSub>
                                  <m:d>
                                    <m:dPr>
                                      <m:ctrlPr>
                                        <a:rPr lang="it-IT" sz="2400" b="0" i="1" dirty="0" smtClean="0">
                                          <a:solidFill>
                                            <a:srgbClr val="182D45"/>
                                          </a:solidFill>
                                          <a:latin typeface="Cambria Math" panose="02040503050406030204" pitchFamily="18" charset="0"/>
                                          <a:ea typeface="Cambria Math"/>
                                          <a:cs typeface="Cambria Math"/>
                                        </a:rPr>
                                      </m:ctrlPr>
                                    </m:dPr>
                                    <m:e>
                                      <m:r>
                                        <a:rPr lang="it-IT" sz="2400" b="0" i="1" dirty="0" smtClean="0">
                                          <a:solidFill>
                                            <a:srgbClr val="182D45"/>
                                          </a:solidFill>
                                          <a:latin typeface="Cambria Math" panose="02040503050406030204" pitchFamily="18" charset="0"/>
                                          <a:ea typeface="Cambria Math"/>
                                          <a:cs typeface="Cambria Math"/>
                                        </a:rPr>
                                        <m:t>𝑎</m:t>
                                      </m:r>
                                    </m:e>
                                  </m:d>
                                </m:e>
                              </m:d>
                            </m:e>
                            <m:sup>
                              <m:r>
                                <a:rPr lang="it-IT" sz="2400" i="1" dirty="0">
                                  <a:solidFill>
                                    <a:srgbClr val="182D45"/>
                                  </a:solidFill>
                                  <a:latin typeface="Cambria Math" panose="02040503050406030204" pitchFamily="18" charset="0"/>
                                  <a:ea typeface="Cambria Math"/>
                                  <a:cs typeface="Cambria Math"/>
                                </a:rPr>
                                <m:t>2</m:t>
                              </m:r>
                            </m:sup>
                          </m:sSup>
                        </m:e>
                      </m:nary>
                      <m:r>
                        <a:rPr lang="it-IT" sz="2400" i="1" dirty="0">
                          <a:solidFill>
                            <a:srgbClr val="182D45"/>
                          </a:solidFill>
                          <a:latin typeface="Cambria Math" panose="02040503050406030204" pitchFamily="18" charset="0"/>
                          <a:ea typeface="Cambria Math"/>
                          <a:cs typeface="Cambria Math"/>
                        </a:rPr>
                        <m:t>=</m:t>
                      </m:r>
                      <m:nary>
                        <m:naryPr>
                          <m:chr m:val="∑"/>
                          <m:limLoc m:val="undOvr"/>
                          <m:ctrlPr>
                            <a:rPr lang="en-GB" sz="2400" dirty="0">
                              <a:solidFill>
                                <a:srgbClr val="182D45"/>
                              </a:solidFill>
                              <a:latin typeface="Cambria Math"/>
                              <a:ea typeface="Cambria Math"/>
                              <a:cs typeface="Cambria Math"/>
                            </a:rPr>
                          </m:ctrlPr>
                        </m:naryPr>
                        <m:sub>
                          <m:r>
                            <a:rPr lang="en-GB" sz="2400" dirty="0">
                              <a:solidFill>
                                <a:srgbClr val="182D45"/>
                              </a:solidFill>
                              <a:latin typeface="Cambria Math"/>
                              <a:ea typeface="Cambria Math"/>
                              <a:cs typeface="Cambria Math"/>
                            </a:rPr>
                            <m:t>𝑖</m:t>
                          </m:r>
                          <m:r>
                            <a:rPr lang="en-GB" sz="2400" dirty="0">
                              <a:solidFill>
                                <a:srgbClr val="182D45"/>
                              </a:solidFill>
                              <a:latin typeface="Cambria Math"/>
                              <a:ea typeface="Cambria Math"/>
                              <a:cs typeface="Cambria Math"/>
                            </a:rPr>
                            <m:t>=1</m:t>
                          </m:r>
                        </m:sub>
                        <m:sup>
                          <m:r>
                            <a:rPr lang="en-GB" sz="2400" dirty="0">
                              <a:solidFill>
                                <a:srgbClr val="182D45"/>
                              </a:solidFill>
                              <a:latin typeface="Cambria Math"/>
                              <a:ea typeface="Cambria Math"/>
                              <a:cs typeface="Cambria Math"/>
                            </a:rPr>
                            <m:t>𝑁</m:t>
                          </m:r>
                        </m:sup>
                        <m:e>
                          <m:f>
                            <m:fPr>
                              <m:ctrlPr>
                                <a:rPr lang="it-IT" sz="2400" dirty="0">
                                  <a:solidFill>
                                    <a:srgbClr val="182D45"/>
                                  </a:solidFill>
                                  <a:latin typeface="Cambria Math" panose="02040503050406030204" pitchFamily="18" charset="0"/>
                                  <a:ea typeface="Cambria Math"/>
                                </a:rPr>
                              </m:ctrlPr>
                            </m:fPr>
                            <m:num>
                              <m:r>
                                <m:rPr>
                                  <m:sty m:val="p"/>
                                </m:rPr>
                                <a:rPr lang="it-IT" sz="2400" dirty="0">
                                  <a:solidFill>
                                    <a:srgbClr val="182D45"/>
                                  </a:solidFill>
                                  <a:latin typeface="Cambria Math" panose="02040503050406030204" pitchFamily="18" charset="0"/>
                                  <a:ea typeface="Cambria Math"/>
                                </a:rPr>
                                <m:t>d</m:t>
                              </m:r>
                            </m:num>
                            <m:den>
                              <m:r>
                                <m:rPr>
                                  <m:sty m:val="p"/>
                                </m:rPr>
                                <a:rPr lang="it-IT" sz="2400" dirty="0">
                                  <a:solidFill>
                                    <a:srgbClr val="182D45"/>
                                  </a:solidFill>
                                  <a:latin typeface="Cambria Math" panose="02040503050406030204" pitchFamily="18" charset="0"/>
                                  <a:ea typeface="Cambria Math"/>
                                </a:rPr>
                                <m:t>d</m:t>
                              </m:r>
                              <m:r>
                                <a:rPr lang="it-IT" sz="2400" b="0" i="1" dirty="0" smtClean="0">
                                  <a:solidFill>
                                    <a:srgbClr val="182D45"/>
                                  </a:solidFill>
                                  <a:latin typeface="Cambria Math" panose="02040503050406030204" pitchFamily="18" charset="0"/>
                                  <a:ea typeface="Cambria Math"/>
                                </a:rPr>
                                <m:t>𝑎</m:t>
                              </m:r>
                            </m:den>
                          </m:f>
                          <m:sSup>
                            <m:sSupPr>
                              <m:ctrlPr>
                                <a:rPr lang="en-GB" sz="2400" i="1" dirty="0">
                                  <a:solidFill>
                                    <a:srgbClr val="182D45"/>
                                  </a:solidFill>
                                  <a:latin typeface="Cambria Math" panose="02040503050406030204" pitchFamily="18" charset="0"/>
                                  <a:ea typeface="Cambria Math"/>
                                  <a:cs typeface="Cambria Math"/>
                                </a:rPr>
                              </m:ctrlPr>
                            </m:sSupPr>
                            <m:e>
                              <m:d>
                                <m:dPr>
                                  <m:ctrlPr>
                                    <a:rPr lang="en-GB" sz="2400" i="1" dirty="0">
                                      <a:solidFill>
                                        <a:srgbClr val="182D45"/>
                                      </a:solidFill>
                                      <a:latin typeface="Cambria Math" panose="02040503050406030204" pitchFamily="18" charset="0"/>
                                      <a:ea typeface="Cambria Math"/>
                                      <a:cs typeface="Cambria Math"/>
                                    </a:rPr>
                                  </m:ctrlPr>
                                </m:dPr>
                                <m:e>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𝑟</m:t>
                                      </m:r>
                                    </m:e>
                                    <m:sub>
                                      <m:r>
                                        <a:rPr lang="en-GB" sz="2400" dirty="0">
                                          <a:solidFill>
                                            <a:srgbClr val="182D45"/>
                                          </a:solidFill>
                                          <a:latin typeface="Cambria Math"/>
                                          <a:ea typeface="Cambria Math"/>
                                          <a:cs typeface="Cambria Math"/>
                                        </a:rPr>
                                        <m:t>𝑖</m:t>
                                      </m:r>
                                    </m:sub>
                                  </m:sSub>
                                  <m:d>
                                    <m:dPr>
                                      <m:ctrlPr>
                                        <a:rPr lang="it-IT" sz="2400" b="0" i="1" dirty="0" smtClean="0">
                                          <a:solidFill>
                                            <a:srgbClr val="182D45"/>
                                          </a:solidFill>
                                          <a:latin typeface="Cambria Math" panose="02040503050406030204" pitchFamily="18" charset="0"/>
                                          <a:ea typeface="Cambria Math"/>
                                          <a:cs typeface="Cambria Math"/>
                                        </a:rPr>
                                      </m:ctrlPr>
                                    </m:dPr>
                                    <m:e>
                                      <m:r>
                                        <a:rPr lang="it-IT" sz="2400" b="0" i="1" dirty="0" smtClean="0">
                                          <a:solidFill>
                                            <a:srgbClr val="182D45"/>
                                          </a:solidFill>
                                          <a:latin typeface="Cambria Math" panose="02040503050406030204" pitchFamily="18" charset="0"/>
                                          <a:ea typeface="Cambria Math"/>
                                          <a:cs typeface="Cambria Math"/>
                                        </a:rPr>
                                        <m:t>𝑎</m:t>
                                      </m:r>
                                    </m:e>
                                  </m:d>
                                </m:e>
                              </m:d>
                            </m:e>
                            <m:sup>
                              <m:r>
                                <a:rPr lang="it-IT" sz="2400" i="1" dirty="0">
                                  <a:solidFill>
                                    <a:srgbClr val="182D45"/>
                                  </a:solidFill>
                                  <a:latin typeface="Cambria Math" panose="02040503050406030204" pitchFamily="18" charset="0"/>
                                  <a:ea typeface="Cambria Math"/>
                                  <a:cs typeface="Cambria Math"/>
                                </a:rPr>
                                <m:t>2</m:t>
                              </m:r>
                            </m:sup>
                          </m:sSup>
                        </m:e>
                      </m:nary>
                    </m:oMath>
                  </m:oMathPara>
                </a14:m>
                <a:endParaRPr lang="en-GB" sz="2400" b="0" i="0" dirty="0">
                  <a:solidFill>
                    <a:srgbClr val="182D45"/>
                  </a:solidFill>
                  <a:latin typeface="DejaVu Sans"/>
                  <a:ea typeface="DejaVu Sans"/>
                  <a:cs typeface="DejaVu Sans"/>
                </a:endParaRPr>
              </a:p>
            </p:txBody>
          </p:sp>
        </mc:Choice>
        <mc:Fallback xmlns="">
          <p:sp>
            <p:nvSpPr>
              <p:cNvPr id="5" name="eq_64">
                <a:extLst>
                  <a:ext uri="{FF2B5EF4-FFF2-40B4-BE49-F238E27FC236}">
                    <a16:creationId xmlns:a16="http://schemas.microsoft.com/office/drawing/2014/main" id="{42D060FD-762E-45FB-B441-5A77FFFEFC0F}"/>
                  </a:ext>
                </a:extLst>
              </p:cNvPr>
              <p:cNvSpPr txBox="1">
                <a:spLocks noGrp="1" noRot="1" noChangeAspect="1" noMove="1" noResize="1" noEditPoints="1" noAdjustHandles="1" noChangeArrowheads="1" noChangeShapeType="1" noTextEdit="1"/>
              </p:cNvSpPr>
              <p:nvPr/>
            </p:nvSpPr>
            <p:spPr>
              <a:xfrm>
                <a:off x="609600" y="3514725"/>
                <a:ext cx="10953750" cy="111442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65">
                <a:extLst>
                  <a:ext uri="{FF2B5EF4-FFF2-40B4-BE49-F238E27FC236}">
                    <a16:creationId xmlns:a16="http://schemas.microsoft.com/office/drawing/2014/main" id="{10A73999-06E5-443D-9B9F-5B6EB30DAB61}"/>
                  </a:ext>
                </a:extLst>
              </p:cNvPr>
              <p:cNvSpPr txBox="1">
                <a:spLocks noGrp="1"/>
              </p:cNvSpPr>
              <p:nvPr/>
            </p:nvSpPr>
            <p:spPr>
              <a:xfrm>
                <a:off x="609600" y="4657725"/>
                <a:ext cx="10953750" cy="1285875"/>
              </a:xfrm>
              <a:prstGeom prst="rect">
                <a:avLst/>
              </a:prstGeom>
              <a:noFill/>
              <a:ln w="0">
                <a:noFill/>
              </a:ln>
            </p:spPr>
            <p:txBody>
              <a:bodyPr vertOverflow="overflow" wrap="none" lIns="0" tIns="0" rIns="0" bIns="0" anchor="t">
                <a:noAutofit/>
              </a:bodyPr>
              <a:lstStyle/>
              <a:p>
                <a:pPr algn="ctr">
                  <a:defRPr lang="en-GB" sz="2850" b="0" i="0" dirty="0">
                    <a:solidFill>
                      <a:srgbClr val="087F83"/>
                    </a:solidFill>
                    <a:latin typeface="Cambria Math"/>
                    <a:ea typeface="Cambria Math"/>
                    <a:cs typeface="Cambria Math"/>
                  </a:defRPr>
                </a:pPr>
                <a14:m>
                  <m:oMathPara xmlns:m="http://schemas.openxmlformats.org/officeDocument/2006/math">
                    <m:oMath>
                      <m:r>
                        <a:rPr lang="it-IT" sz="2400" b="0" i="1" dirty="0" smtClean="0">
                          <a:solidFill>
                            <a:srgbClr val="182D45"/>
                          </a:solidFill>
                          <a:latin typeface="Cambria Math" panose="02040503050406030204" pitchFamily="18" charset="0"/>
                          <a:ea typeface="Cambria Math"/>
                          <a:cs typeface="Cambria Math"/>
                        </a:rPr>
                        <m:t>=</m:t>
                      </m:r>
                      <m:nary>
                        <m:naryPr>
                          <m:chr m:val="∑"/>
                          <m:limLoc m:val="undOvr"/>
                          <m:ctrlPr>
                            <a:rPr lang="en-GB" sz="2400" dirty="0">
                              <a:solidFill>
                                <a:srgbClr val="182D45"/>
                              </a:solidFill>
                              <a:latin typeface="Cambria Math"/>
                              <a:ea typeface="Cambria Math"/>
                              <a:cs typeface="Cambria Math"/>
                            </a:rPr>
                          </m:ctrlPr>
                        </m:naryPr>
                        <m:sub>
                          <m:r>
                            <a:rPr lang="en-GB" sz="2400" dirty="0">
                              <a:solidFill>
                                <a:srgbClr val="182D45"/>
                              </a:solidFill>
                              <a:latin typeface="Cambria Math"/>
                              <a:ea typeface="Cambria Math"/>
                              <a:cs typeface="Cambria Math"/>
                            </a:rPr>
                            <m:t>𝑖</m:t>
                          </m:r>
                          <m:r>
                            <a:rPr lang="en-GB" sz="2400" dirty="0">
                              <a:solidFill>
                                <a:srgbClr val="182D45"/>
                              </a:solidFill>
                              <a:latin typeface="Cambria Math"/>
                              <a:ea typeface="Cambria Math"/>
                              <a:cs typeface="Cambria Math"/>
                            </a:rPr>
                            <m:t>=1</m:t>
                          </m:r>
                        </m:sub>
                        <m:sup>
                          <m:r>
                            <a:rPr lang="en-GB" sz="2400" dirty="0">
                              <a:solidFill>
                                <a:srgbClr val="182D45"/>
                              </a:solidFill>
                              <a:latin typeface="Cambria Math"/>
                              <a:ea typeface="Cambria Math"/>
                              <a:cs typeface="Cambria Math"/>
                            </a:rPr>
                            <m:t>𝑁</m:t>
                          </m:r>
                        </m:sup>
                        <m:e>
                          <m:r>
                            <a:rPr lang="en-GB" sz="2400" dirty="0">
                              <a:solidFill>
                                <a:srgbClr val="182D45"/>
                              </a:solidFill>
                              <a:latin typeface="Cambria Math"/>
                              <a:ea typeface="Cambria Math"/>
                              <a:cs typeface="Cambria Math"/>
                            </a:rPr>
                            <m:t>2</m:t>
                          </m:r>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𝑟</m:t>
                              </m:r>
                            </m:e>
                            <m:sub>
                              <m:r>
                                <a:rPr lang="en-GB" sz="2400" dirty="0">
                                  <a:solidFill>
                                    <a:srgbClr val="182D45"/>
                                  </a:solidFill>
                                  <a:latin typeface="Cambria Math"/>
                                  <a:ea typeface="Cambria Math"/>
                                  <a:cs typeface="Cambria Math"/>
                                </a:rPr>
                                <m:t>𝑖</m:t>
                              </m:r>
                            </m:sub>
                          </m:sSub>
                          <m:d>
                            <m:dPr>
                              <m:ctrlPr>
                                <a:rPr lang="en-GB" sz="2400" dirty="0">
                                  <a:solidFill>
                                    <a:srgbClr val="182D45"/>
                                  </a:solidFill>
                                  <a:latin typeface="Cambria Math"/>
                                  <a:ea typeface="Cambria Math"/>
                                  <a:cs typeface="Cambria Math"/>
                                </a:rPr>
                              </m:ctrlPr>
                            </m:dPr>
                            <m:e>
                              <m:r>
                                <a:rPr lang="en-GB" sz="2400" dirty="0">
                                  <a:solidFill>
                                    <a:srgbClr val="182D45"/>
                                  </a:solidFill>
                                  <a:latin typeface="Cambria Math"/>
                                  <a:ea typeface="Cambria Math"/>
                                  <a:cs typeface="Cambria Math"/>
                                </a:rPr>
                                <m:t>𝑎</m:t>
                              </m:r>
                            </m:e>
                          </m:d>
                          <m:sSubSup>
                            <m:sSubSupPr>
                              <m:ctrlPr>
                                <a:rPr lang="en-GB" sz="2400" dirty="0">
                                  <a:solidFill>
                                    <a:srgbClr val="182D45"/>
                                  </a:solidFill>
                                  <a:latin typeface="Cambria Math"/>
                                  <a:ea typeface="Cambria Math"/>
                                  <a:cs typeface="Cambria Math"/>
                                </a:rPr>
                              </m:ctrlPr>
                            </m:sSubSupPr>
                            <m:e>
                              <m:r>
                                <a:rPr lang="en-GB" sz="2400" dirty="0">
                                  <a:solidFill>
                                    <a:srgbClr val="182D45"/>
                                  </a:solidFill>
                                  <a:latin typeface="Cambria Math"/>
                                  <a:ea typeface="Cambria Math"/>
                                  <a:cs typeface="Cambria Math"/>
                                </a:rPr>
                                <m:t>𝑟</m:t>
                              </m:r>
                            </m:e>
                            <m:sub>
                              <m:r>
                                <a:rPr lang="en-GB" sz="2400" dirty="0">
                                  <a:solidFill>
                                    <a:srgbClr val="182D45"/>
                                  </a:solidFill>
                                  <a:latin typeface="Cambria Math"/>
                                  <a:ea typeface="Cambria Math"/>
                                  <a:cs typeface="Cambria Math"/>
                                </a:rPr>
                                <m:t>𝑖</m:t>
                              </m:r>
                            </m:sub>
                            <m:sup>
                              <m:r>
                                <a:rPr lang="en-GB" sz="2400" dirty="0">
                                  <a:solidFill>
                                    <a:srgbClr val="182D45"/>
                                  </a:solidFill>
                                  <a:latin typeface="Cambria Math"/>
                                  <a:ea typeface="Cambria Math"/>
                                  <a:cs typeface="Cambria Math"/>
                                </a:rPr>
                                <m:t>′</m:t>
                              </m:r>
                            </m:sup>
                          </m:sSubSup>
                          <m:d>
                            <m:dPr>
                              <m:ctrlPr>
                                <a:rPr lang="en-GB" sz="2400" dirty="0">
                                  <a:solidFill>
                                    <a:srgbClr val="182D45"/>
                                  </a:solidFill>
                                  <a:latin typeface="Cambria Math"/>
                                  <a:ea typeface="Cambria Math"/>
                                  <a:cs typeface="Cambria Math"/>
                                </a:rPr>
                              </m:ctrlPr>
                            </m:dPr>
                            <m:e>
                              <m:r>
                                <a:rPr lang="en-GB" sz="2400" dirty="0">
                                  <a:solidFill>
                                    <a:srgbClr val="182D45"/>
                                  </a:solidFill>
                                  <a:latin typeface="Cambria Math"/>
                                  <a:ea typeface="Cambria Math"/>
                                  <a:cs typeface="Cambria Math"/>
                                </a:rPr>
                                <m:t>𝑎</m:t>
                              </m:r>
                            </m:e>
                          </m:d>
                        </m:e>
                      </m:nary>
                      <m:r>
                        <a:rPr lang="en-GB" sz="2400" dirty="0">
                          <a:solidFill>
                            <a:srgbClr val="182D45"/>
                          </a:solidFill>
                          <a:latin typeface="Cambria Math"/>
                          <a:ea typeface="Cambria Math"/>
                          <a:cs typeface="Cambria Math"/>
                        </a:rPr>
                        <m:t> =2</m:t>
                      </m:r>
                      <m:nary>
                        <m:naryPr>
                          <m:chr m:val="∑"/>
                          <m:limLoc m:val="undOvr"/>
                          <m:ctrlPr>
                            <a:rPr lang="en-GB" sz="2400" dirty="0">
                              <a:solidFill>
                                <a:srgbClr val="182D45"/>
                              </a:solidFill>
                              <a:latin typeface="Cambria Math"/>
                              <a:ea typeface="Cambria Math"/>
                              <a:cs typeface="Cambria Math"/>
                            </a:rPr>
                          </m:ctrlPr>
                        </m:naryPr>
                        <m:sub>
                          <m:r>
                            <a:rPr lang="en-GB" sz="2400" dirty="0">
                              <a:solidFill>
                                <a:srgbClr val="182D45"/>
                              </a:solidFill>
                              <a:latin typeface="Cambria Math"/>
                              <a:ea typeface="Cambria Math"/>
                              <a:cs typeface="Cambria Math"/>
                            </a:rPr>
                            <m:t>𝑖</m:t>
                          </m:r>
                          <m:r>
                            <a:rPr lang="en-GB" sz="2400" dirty="0">
                              <a:solidFill>
                                <a:srgbClr val="182D45"/>
                              </a:solidFill>
                              <a:latin typeface="Cambria Math"/>
                              <a:ea typeface="Cambria Math"/>
                              <a:cs typeface="Cambria Math"/>
                            </a:rPr>
                            <m:t>=1</m:t>
                          </m:r>
                        </m:sub>
                        <m:sup>
                          <m:r>
                            <a:rPr lang="en-GB" sz="2400" dirty="0">
                              <a:solidFill>
                                <a:srgbClr val="182D45"/>
                              </a:solidFill>
                              <a:latin typeface="Cambria Math"/>
                              <a:ea typeface="Cambria Math"/>
                              <a:cs typeface="Cambria Math"/>
                            </a:rPr>
                            <m:t>𝑁</m:t>
                          </m:r>
                        </m:sup>
                        <m:e>
                          <m:d>
                            <m:dPr>
                              <m:ctrlPr>
                                <a:rPr lang="en-GB" sz="2400" dirty="0">
                                  <a:solidFill>
                                    <a:srgbClr val="182D45"/>
                                  </a:solidFill>
                                  <a:latin typeface="Cambria Math"/>
                                  <a:ea typeface="Cambria Math"/>
                                  <a:cs typeface="Cambria Math"/>
                                </a:rPr>
                              </m:ctrlPr>
                            </m:dPr>
                            <m:e>
                              <m:r>
                                <a:rPr lang="en-GB" sz="2400" dirty="0">
                                  <a:solidFill>
                                    <a:srgbClr val="182D45"/>
                                  </a:solidFill>
                                  <a:latin typeface="Cambria Math"/>
                                  <a:ea typeface="Cambria Math"/>
                                  <a:cs typeface="Cambria Math"/>
                                </a:rPr>
                                <m:t>𝑎</m:t>
                              </m:r>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𝑥</m:t>
                                  </m:r>
                                </m:e>
                                <m:sub>
                                  <m:r>
                                    <a:rPr lang="en-GB" sz="2400" dirty="0">
                                      <a:solidFill>
                                        <a:srgbClr val="182D45"/>
                                      </a:solidFill>
                                      <a:latin typeface="Cambria Math"/>
                                      <a:ea typeface="Cambria Math"/>
                                      <a:cs typeface="Cambria Math"/>
                                    </a:rPr>
                                    <m:t>𝑖</m:t>
                                  </m:r>
                                </m:sub>
                              </m:sSub>
                              <m:r>
                                <a:rPr lang="en-GB" sz="2400" dirty="0">
                                  <a:solidFill>
                                    <a:srgbClr val="182D45"/>
                                  </a:solidFill>
                                  <a:latin typeface="Cambria Math"/>
                                  <a:ea typeface="Cambria Math"/>
                                  <a:cs typeface="Cambria Math"/>
                                </a:rPr>
                                <m:t>−</m:t>
                              </m:r>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𝑦</m:t>
                                  </m:r>
                                </m:e>
                                <m:sub>
                                  <m:r>
                                    <a:rPr lang="en-GB" sz="2400" dirty="0">
                                      <a:solidFill>
                                        <a:srgbClr val="182D45"/>
                                      </a:solidFill>
                                      <a:latin typeface="Cambria Math"/>
                                      <a:ea typeface="Cambria Math"/>
                                      <a:cs typeface="Cambria Math"/>
                                    </a:rPr>
                                    <m:t>𝑖</m:t>
                                  </m:r>
                                </m:sub>
                              </m:sSub>
                            </m:e>
                          </m:d>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𝑥</m:t>
                              </m:r>
                            </m:e>
                            <m:sub>
                              <m:r>
                                <a:rPr lang="en-GB" sz="2400" dirty="0">
                                  <a:solidFill>
                                    <a:srgbClr val="182D45"/>
                                  </a:solidFill>
                                  <a:latin typeface="Cambria Math"/>
                                  <a:ea typeface="Cambria Math"/>
                                  <a:cs typeface="Cambria Math"/>
                                </a:rPr>
                                <m:t>𝑖</m:t>
                              </m:r>
                            </m:sub>
                          </m:sSub>
                        </m:e>
                      </m:nary>
                      <m:r>
                        <a:rPr lang="en-GB" sz="2400" b="0" dirty="0" smtClean="0">
                          <a:solidFill>
                            <a:schemeClr val="tx1"/>
                          </a:solidFill>
                          <a:latin typeface="Cambria Math"/>
                          <a:ea typeface="Cambria Math"/>
                          <a:cs typeface="Cambria Math"/>
                        </a:rPr>
                        <m:t>=2</m:t>
                      </m:r>
                      <m:d>
                        <m:dPr>
                          <m:ctrlPr>
                            <a:rPr lang="en-GB" sz="2400" b="0" dirty="0">
                              <a:solidFill>
                                <a:schemeClr val="tx1"/>
                              </a:solidFill>
                              <a:latin typeface="Cambria Math"/>
                              <a:ea typeface="Cambria Math"/>
                              <a:cs typeface="Cambria Math"/>
                            </a:rPr>
                          </m:ctrlPr>
                        </m:dPr>
                        <m:e>
                          <m:r>
                            <a:rPr lang="en-GB" sz="2400" b="0" dirty="0">
                              <a:solidFill>
                                <a:schemeClr val="tx1"/>
                              </a:solidFill>
                              <a:latin typeface="Cambria Math"/>
                              <a:ea typeface="Cambria Math"/>
                              <a:cs typeface="Cambria Math"/>
                            </a:rPr>
                            <m:t>𝑎</m:t>
                          </m:r>
                          <m:nary>
                            <m:naryPr>
                              <m:chr m:val="∑"/>
                              <m:limLoc m:val="undOvr"/>
                              <m:ctrlPr>
                                <a:rPr lang="en-GB" sz="2400" b="0" dirty="0">
                                  <a:solidFill>
                                    <a:schemeClr val="tx1"/>
                                  </a:solidFill>
                                  <a:latin typeface="Cambria Math"/>
                                  <a:ea typeface="Cambria Math"/>
                                  <a:cs typeface="Cambria Math"/>
                                </a:rPr>
                              </m:ctrlPr>
                            </m:naryPr>
                            <m:sub>
                              <m:r>
                                <a:rPr lang="en-GB" sz="2400" b="0" dirty="0">
                                  <a:solidFill>
                                    <a:schemeClr val="tx1"/>
                                  </a:solidFill>
                                  <a:latin typeface="Cambria Math"/>
                                  <a:ea typeface="Cambria Math"/>
                                  <a:cs typeface="Cambria Math"/>
                                </a:rPr>
                                <m:t>𝑖</m:t>
                              </m:r>
                              <m:r>
                                <a:rPr lang="en-GB" sz="2400" b="0" dirty="0">
                                  <a:solidFill>
                                    <a:schemeClr val="tx1"/>
                                  </a:solidFill>
                                  <a:latin typeface="Cambria Math"/>
                                  <a:ea typeface="Cambria Math"/>
                                  <a:cs typeface="Cambria Math"/>
                                </a:rPr>
                                <m:t>=1</m:t>
                              </m:r>
                            </m:sub>
                            <m:sup>
                              <m:r>
                                <a:rPr lang="en-GB" sz="2400" b="0" dirty="0">
                                  <a:solidFill>
                                    <a:schemeClr val="tx1"/>
                                  </a:solidFill>
                                  <a:latin typeface="Cambria Math"/>
                                  <a:ea typeface="Cambria Math"/>
                                  <a:cs typeface="Cambria Math"/>
                                </a:rPr>
                                <m:t>𝑁</m:t>
                              </m:r>
                            </m:sup>
                            <m:e>
                              <m:sSubSup>
                                <m:sSubSupPr>
                                  <m:ctrlPr>
                                    <a:rPr lang="en-GB" sz="2400" b="0" dirty="0">
                                      <a:solidFill>
                                        <a:schemeClr val="tx1"/>
                                      </a:solidFill>
                                      <a:latin typeface="Cambria Math"/>
                                      <a:ea typeface="Cambria Math"/>
                                      <a:cs typeface="Cambria Math"/>
                                    </a:rPr>
                                  </m:ctrlPr>
                                </m:sSubSupPr>
                                <m:e>
                                  <m:r>
                                    <a:rPr lang="en-GB" sz="2400" b="0" dirty="0">
                                      <a:solidFill>
                                        <a:schemeClr val="tx1"/>
                                      </a:solidFill>
                                      <a:latin typeface="Cambria Math"/>
                                      <a:ea typeface="Cambria Math"/>
                                      <a:cs typeface="Cambria Math"/>
                                    </a:rPr>
                                    <m:t>𝑥</m:t>
                                  </m:r>
                                </m:e>
                                <m:sub>
                                  <m:r>
                                    <a:rPr lang="en-GB" sz="2400" b="0" dirty="0">
                                      <a:solidFill>
                                        <a:schemeClr val="tx1"/>
                                      </a:solidFill>
                                      <a:latin typeface="Cambria Math"/>
                                      <a:ea typeface="Cambria Math"/>
                                      <a:cs typeface="Cambria Math"/>
                                    </a:rPr>
                                    <m:t>𝑖</m:t>
                                  </m:r>
                                </m:sub>
                                <m:sup>
                                  <m:r>
                                    <a:rPr lang="en-GB" sz="2400" b="0" dirty="0">
                                      <a:solidFill>
                                        <a:schemeClr val="tx1"/>
                                      </a:solidFill>
                                      <a:latin typeface="Cambria Math"/>
                                      <a:ea typeface="Cambria Math"/>
                                      <a:cs typeface="Cambria Math"/>
                                    </a:rPr>
                                    <m:t>2</m:t>
                                  </m:r>
                                </m:sup>
                              </m:sSubSup>
                            </m:e>
                          </m:nary>
                          <m:r>
                            <a:rPr lang="en-GB" sz="2400" b="0" dirty="0">
                              <a:solidFill>
                                <a:schemeClr val="tx1"/>
                              </a:solidFill>
                              <a:latin typeface="Cambria Math"/>
                              <a:ea typeface="Cambria Math"/>
                              <a:cs typeface="Cambria Math"/>
                            </a:rPr>
                            <m:t>−</m:t>
                          </m:r>
                          <m:nary>
                            <m:naryPr>
                              <m:chr m:val="∑"/>
                              <m:limLoc m:val="undOvr"/>
                              <m:ctrlPr>
                                <a:rPr lang="en-GB" sz="2400" b="0" dirty="0">
                                  <a:solidFill>
                                    <a:schemeClr val="tx1"/>
                                  </a:solidFill>
                                  <a:latin typeface="Cambria Math"/>
                                  <a:ea typeface="Cambria Math"/>
                                  <a:cs typeface="Cambria Math"/>
                                </a:rPr>
                              </m:ctrlPr>
                            </m:naryPr>
                            <m:sub>
                              <m:r>
                                <a:rPr lang="en-GB" sz="2400" b="0" dirty="0">
                                  <a:solidFill>
                                    <a:schemeClr val="tx1"/>
                                  </a:solidFill>
                                  <a:latin typeface="Cambria Math"/>
                                  <a:ea typeface="Cambria Math"/>
                                  <a:cs typeface="Cambria Math"/>
                                </a:rPr>
                                <m:t>𝑖</m:t>
                              </m:r>
                              <m:r>
                                <a:rPr lang="en-GB" sz="2400" b="0" dirty="0">
                                  <a:solidFill>
                                    <a:schemeClr val="tx1"/>
                                  </a:solidFill>
                                  <a:latin typeface="Cambria Math"/>
                                  <a:ea typeface="Cambria Math"/>
                                  <a:cs typeface="Cambria Math"/>
                                </a:rPr>
                                <m:t>=1</m:t>
                              </m:r>
                            </m:sub>
                            <m:sup>
                              <m:r>
                                <a:rPr lang="en-GB" sz="2400" b="0" dirty="0">
                                  <a:solidFill>
                                    <a:schemeClr val="tx1"/>
                                  </a:solidFill>
                                  <a:latin typeface="Cambria Math"/>
                                  <a:ea typeface="Cambria Math"/>
                                  <a:cs typeface="Cambria Math"/>
                                </a:rPr>
                                <m:t>𝑁</m:t>
                              </m:r>
                            </m:sup>
                            <m:e>
                              <m:sSub>
                                <m:sSubPr>
                                  <m:ctrlPr>
                                    <a:rPr lang="en-GB" sz="2400" b="0" dirty="0">
                                      <a:solidFill>
                                        <a:schemeClr val="tx1"/>
                                      </a:solidFill>
                                      <a:latin typeface="Cambria Math"/>
                                      <a:ea typeface="Cambria Math"/>
                                      <a:cs typeface="Cambria Math"/>
                                    </a:rPr>
                                  </m:ctrlPr>
                                </m:sSubPr>
                                <m:e>
                                  <m:r>
                                    <a:rPr lang="en-GB" sz="2400" b="0" dirty="0">
                                      <a:solidFill>
                                        <a:schemeClr val="tx1"/>
                                      </a:solidFill>
                                      <a:latin typeface="Cambria Math"/>
                                      <a:ea typeface="Cambria Math"/>
                                      <a:cs typeface="Cambria Math"/>
                                    </a:rPr>
                                    <m:t>𝑥</m:t>
                                  </m:r>
                                </m:e>
                                <m:sub>
                                  <m:r>
                                    <a:rPr lang="en-GB" sz="2400" b="0" dirty="0">
                                      <a:solidFill>
                                        <a:schemeClr val="tx1"/>
                                      </a:solidFill>
                                      <a:latin typeface="Cambria Math"/>
                                      <a:ea typeface="Cambria Math"/>
                                      <a:cs typeface="Cambria Math"/>
                                    </a:rPr>
                                    <m:t>𝑖</m:t>
                                  </m:r>
                                </m:sub>
                              </m:sSub>
                            </m:e>
                          </m:nary>
                          <m:sSub>
                            <m:sSubPr>
                              <m:ctrlPr>
                                <a:rPr lang="en-GB" sz="2400" b="0" dirty="0">
                                  <a:solidFill>
                                    <a:schemeClr val="tx1"/>
                                  </a:solidFill>
                                  <a:latin typeface="Cambria Math"/>
                                  <a:ea typeface="Cambria Math"/>
                                  <a:cs typeface="Cambria Math"/>
                                </a:rPr>
                              </m:ctrlPr>
                            </m:sSubPr>
                            <m:e>
                              <m:r>
                                <a:rPr lang="en-GB" sz="2400" b="0" dirty="0">
                                  <a:solidFill>
                                    <a:schemeClr val="tx1"/>
                                  </a:solidFill>
                                  <a:latin typeface="Cambria Math"/>
                                  <a:ea typeface="Cambria Math"/>
                                  <a:cs typeface="Cambria Math"/>
                                </a:rPr>
                                <m:t>𝑦</m:t>
                              </m:r>
                            </m:e>
                            <m:sub>
                              <m:r>
                                <a:rPr lang="en-GB" sz="2400" b="0" dirty="0">
                                  <a:solidFill>
                                    <a:schemeClr val="tx1"/>
                                  </a:solidFill>
                                  <a:latin typeface="Cambria Math"/>
                                  <a:ea typeface="Cambria Math"/>
                                  <a:cs typeface="Cambria Math"/>
                                </a:rPr>
                                <m:t>𝑖</m:t>
                              </m:r>
                            </m:sub>
                          </m:sSub>
                        </m:e>
                      </m:d>
                    </m:oMath>
                  </m:oMathPara>
                </a14:m>
                <a:endParaRPr lang="en-GB" sz="2400" b="0" i="0" dirty="0">
                  <a:solidFill>
                    <a:srgbClr val="087F83"/>
                  </a:solidFill>
                  <a:latin typeface="Cambria Math"/>
                  <a:ea typeface="Cambria Math"/>
                  <a:cs typeface="Cambria Math"/>
                </a:endParaRPr>
              </a:p>
            </p:txBody>
          </p:sp>
        </mc:Choice>
        <mc:Fallback xmlns="">
          <p:sp>
            <p:nvSpPr>
              <p:cNvPr id="6" name="eq_65">
                <a:extLst>
                  <a:ext uri="{FF2B5EF4-FFF2-40B4-BE49-F238E27FC236}">
                    <a16:creationId xmlns:a16="http://schemas.microsoft.com/office/drawing/2014/main" id="{10A73999-06E5-443D-9B9F-5B6EB30DAB61}"/>
                  </a:ext>
                </a:extLst>
              </p:cNvPr>
              <p:cNvSpPr txBox="1">
                <a:spLocks noGrp="1" noRot="1" noChangeAspect="1" noMove="1" noResize="1" noEditPoints="1" noAdjustHandles="1" noChangeArrowheads="1" noChangeShapeType="1" noTextEdit="1"/>
              </p:cNvSpPr>
              <p:nvPr/>
            </p:nvSpPr>
            <p:spPr>
              <a:xfrm>
                <a:off x="609600" y="4657725"/>
                <a:ext cx="10953750" cy="128587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xt_66">
                <a:extLst>
                  <a:ext uri="{FF2B5EF4-FFF2-40B4-BE49-F238E27FC236}">
                    <a16:creationId xmlns:a16="http://schemas.microsoft.com/office/drawing/2014/main" id="{3CA425EE-F892-4433-9B6E-6C45C196412C}"/>
                  </a:ext>
                </a:extLst>
              </p:cNvPr>
              <p:cNvSpPr txBox="1">
                <a:spLocks noGrp="1"/>
              </p:cNvSpPr>
              <p:nvPr/>
            </p:nvSpPr>
            <p:spPr>
              <a:xfrm>
                <a:off x="609600" y="6000750"/>
                <a:ext cx="10953750" cy="495300"/>
              </a:xfrm>
              <a:prstGeom prst="rect">
                <a:avLst/>
              </a:prstGeom>
              <a:noFill/>
              <a:ln w="0">
                <a:noFill/>
              </a:ln>
            </p:spPr>
            <p:txBody>
              <a:bodyPr vertOverflow="overflow" wrap="square" lIns="0" tIns="0" rIns="0" bIns="0" anchor="t">
                <a:noAutofit/>
              </a:bodyPr>
              <a:lstStyle/>
              <a:p>
                <a:pPr marL="0" marR="0" indent="0" algn="ctr">
                  <a:defRPr lang="en-GB" sz="1725" b="0" i="0" dirty="0">
                    <a:solidFill>
                      <a:srgbClr val="526276"/>
                    </a:solidFill>
                    <a:latin typeface="DejaVu Sans"/>
                    <a:ea typeface="DejaVu Sans"/>
                    <a:cs typeface="DejaVu Sans"/>
                  </a:defRPr>
                </a:pPr>
                <a:r>
                  <a:rPr lang="en-GB" sz="1725" b="0" i="0" dirty="0">
                    <a:solidFill>
                      <a:srgbClr val="526276"/>
                    </a:solidFill>
                    <a:latin typeface="DejaVu Sans"/>
                    <a:ea typeface="DejaVu Sans"/>
                    <a:cs typeface="DejaVu Sans"/>
                  </a:rPr>
                  <a:t>Both </a:t>
                </a:r>
                <a14:m>
                  <m:oMath xmlns:m="http://schemas.openxmlformats.org/officeDocument/2006/math">
                    <m:sSub>
                      <m:sSubPr>
                        <m:ctrlPr>
                          <a:rPr lang="en-GB" sz="1725" b="0" dirty="0">
                            <a:solidFill>
                              <a:srgbClr val="526276"/>
                            </a:solidFill>
                            <a:latin typeface="Cambria Math"/>
                            <a:ea typeface="Cambria Math"/>
                            <a:cs typeface="Cambria Math"/>
                          </a:rPr>
                        </m:ctrlPr>
                      </m:sSubPr>
                      <m:e>
                        <m:r>
                          <a:rPr lang="en-GB" sz="1725" b="0" dirty="0">
                            <a:solidFill>
                              <a:srgbClr val="526276"/>
                            </a:solidFill>
                            <a:latin typeface="Cambria Math"/>
                            <a:ea typeface="Cambria Math"/>
                            <a:cs typeface="Cambria Math"/>
                          </a:rPr>
                          <m:t>𝑥</m:t>
                        </m:r>
                      </m:e>
                      <m:sub>
                        <m:r>
                          <a:rPr lang="en-GB" sz="1725" b="0" dirty="0">
                            <a:solidFill>
                              <a:srgbClr val="526276"/>
                            </a:solidFill>
                            <a:latin typeface="Cambria Math"/>
                            <a:ea typeface="Cambria Math"/>
                            <a:cs typeface="Cambria Math"/>
                          </a:rPr>
                          <m:t>𝑖</m:t>
                        </m:r>
                      </m:sub>
                    </m:sSub>
                  </m:oMath>
                </a14:m>
                <a:r>
                  <a:rPr lang="en-GB" sz="1725" b="0" i="0" dirty="0">
                    <a:solidFill>
                      <a:srgbClr val="526276"/>
                    </a:solidFill>
                    <a:latin typeface="DejaVu Sans"/>
                    <a:ea typeface="DejaVu Sans"/>
                    <a:cs typeface="DejaVu Sans"/>
                  </a:rPr>
                  <a:t> and </a:t>
                </a:r>
                <a14:m>
                  <m:oMath xmlns:m="http://schemas.openxmlformats.org/officeDocument/2006/math">
                    <m:sSub>
                      <m:sSubPr>
                        <m:ctrlPr>
                          <a:rPr lang="en-GB" sz="1725" b="0" dirty="0">
                            <a:solidFill>
                              <a:srgbClr val="526276"/>
                            </a:solidFill>
                            <a:latin typeface="Cambria Math"/>
                            <a:ea typeface="Cambria Math"/>
                            <a:cs typeface="Cambria Math"/>
                          </a:rPr>
                        </m:ctrlPr>
                      </m:sSubPr>
                      <m:e>
                        <m:r>
                          <a:rPr lang="en-GB" sz="1725" b="0" dirty="0">
                            <a:solidFill>
                              <a:srgbClr val="526276"/>
                            </a:solidFill>
                            <a:latin typeface="Cambria Math"/>
                            <a:ea typeface="Cambria Math"/>
                            <a:cs typeface="Cambria Math"/>
                          </a:rPr>
                          <m:t>𝑦</m:t>
                        </m:r>
                      </m:e>
                      <m:sub>
                        <m:r>
                          <a:rPr lang="en-GB" sz="1725" b="0" dirty="0">
                            <a:solidFill>
                              <a:srgbClr val="526276"/>
                            </a:solidFill>
                            <a:latin typeface="Cambria Math"/>
                            <a:ea typeface="Cambria Math"/>
                            <a:cs typeface="Cambria Math"/>
                          </a:rPr>
                          <m:t>𝑖</m:t>
                        </m:r>
                      </m:sub>
                    </m:sSub>
                  </m:oMath>
                </a14:m>
                <a:r>
                  <a:rPr lang="en-GB" sz="1725" b="0" i="0" dirty="0">
                    <a:solidFill>
                      <a:srgbClr val="526276"/>
                    </a:solidFill>
                    <a:latin typeface="DejaVu Sans"/>
                    <a:ea typeface="DejaVu Sans"/>
                    <a:cs typeface="DejaVu Sans"/>
                  </a:rPr>
                  <a:t> are fixed when we differentiate with respect to </a:t>
                </a:r>
                <a14:m>
                  <m:oMath xmlns:m="http://schemas.openxmlformats.org/officeDocument/2006/math">
                    <m:r>
                      <a:rPr lang="en-GB" sz="1725" b="0" dirty="0">
                        <a:solidFill>
                          <a:srgbClr val="526276"/>
                        </a:solidFill>
                        <a:latin typeface="Cambria Math"/>
                        <a:ea typeface="Cambria Math"/>
                        <a:cs typeface="Cambria Math"/>
                      </a:rPr>
                      <m:t>𝑎</m:t>
                    </m:r>
                  </m:oMath>
                </a14:m>
                <a:r>
                  <a:rPr lang="en-GB" sz="1725" b="0" i="0" dirty="0">
                    <a:solidFill>
                      <a:srgbClr val="526276"/>
                    </a:solidFill>
                    <a:latin typeface="DejaVu Sans"/>
                    <a:ea typeface="DejaVu Sans"/>
                    <a:cs typeface="DejaVu Sans"/>
                  </a:rPr>
                  <a:t>.</a:t>
                </a:r>
              </a:p>
            </p:txBody>
          </p:sp>
        </mc:Choice>
        <mc:Fallback xmlns="">
          <p:sp>
            <p:nvSpPr>
              <p:cNvPr id="7" name="txt_66">
                <a:extLst>
                  <a:ext uri="{FF2B5EF4-FFF2-40B4-BE49-F238E27FC236}">
                    <a16:creationId xmlns:a16="http://schemas.microsoft.com/office/drawing/2014/main" id="{3CA425EE-F892-4433-9B6E-6C45C196412C}"/>
                  </a:ext>
                </a:extLst>
              </p:cNvPr>
              <p:cNvSpPr txBox="1">
                <a:spLocks noGrp="1" noRot="1" noChangeAspect="1" noMove="1" noResize="1" noEditPoints="1" noAdjustHandles="1" noChangeArrowheads="1" noChangeShapeType="1" noTextEdit="1"/>
              </p:cNvSpPr>
              <p:nvPr/>
            </p:nvSpPr>
            <p:spPr>
              <a:xfrm>
                <a:off x="609600" y="6000750"/>
                <a:ext cx="10953750" cy="495300"/>
              </a:xfrm>
              <a:prstGeom prst="rect">
                <a:avLst/>
              </a:prstGeom>
              <a:blipFill>
                <a:blip r:embed="rId7"/>
                <a:stretch>
                  <a:fillRect t="-1341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hain_rule_lead">
                <a:extLst>
                  <a:ext uri="{FF2B5EF4-FFF2-40B4-BE49-F238E27FC236}">
                    <a16:creationId xmlns:a16="http://schemas.microsoft.com/office/drawing/2014/main" id="{E686221B-3981-4545-B323-3604A1CAC72C}"/>
                  </a:ext>
                </a:extLst>
              </p:cNvPr>
              <p:cNvSpPr txBox="1">
                <a:spLocks noGrp="1"/>
              </p:cNvSpPr>
              <p:nvPr/>
            </p:nvSpPr>
            <p:spPr>
              <a:xfrm>
                <a:off x="609600" y="3086100"/>
                <a:ext cx="10953750" cy="323850"/>
              </a:xfrm>
              <a:prstGeom prst="rect">
                <a:avLst/>
              </a:prstGeom>
              <a:noFill/>
              <a:ln w="0">
                <a:noFill/>
              </a:ln>
            </p:spPr>
            <p:txBody>
              <a:bodyPr vertOverflow="overflow" wrap="square" lIns="0" tIns="0" rIns="0" bIns="0" anchor="t">
                <a:noAutofit/>
              </a:bodyPr>
              <a:lstStyle/>
              <a:p>
                <a:pPr algn="ctr">
                  <a:defRPr lang="en-GB" sz="2250" b="0" i="0" dirty="0">
                    <a:solidFill>
                      <a:srgbClr val="182D45"/>
                    </a:solidFill>
                    <a:latin typeface="DejaVu Sans"/>
                    <a:ea typeface="DejaVu Sans"/>
                    <a:cs typeface="DejaVu Sans"/>
                  </a:defRPr>
                </a:pPr>
                <a:r>
                  <a:rPr lang="en-GB" sz="2250" dirty="0">
                    <a:solidFill>
                      <a:srgbClr val="182D45"/>
                    </a:solidFill>
                    <a:latin typeface="DejaVu Sans"/>
                    <a:ea typeface="DejaVu Sans"/>
                    <a:cs typeface="DejaVu Sans"/>
                  </a:rPr>
                  <a:t>The </a:t>
                </a:r>
                <a:r>
                  <a:rPr lang="en-GB" sz="2250" dirty="0">
                    <a:solidFill>
                      <a:srgbClr val="FF0000"/>
                    </a:solidFill>
                    <a:latin typeface="DejaVu Sans"/>
                    <a:ea typeface="DejaVu Sans"/>
                    <a:cs typeface="DejaVu Sans"/>
                  </a:rPr>
                  <a:t>chain rule</a:t>
                </a:r>
                <a:r>
                  <a:rPr lang="en-GB" sz="2250" dirty="0">
                    <a:solidFill>
                      <a:srgbClr val="182D45"/>
                    </a:solidFill>
                    <a:latin typeface="DejaVu Sans"/>
                    <a:ea typeface="DejaVu Sans"/>
                    <a:cs typeface="DejaVu Sans"/>
                  </a:rPr>
                  <a:t>, with outer function </a:t>
                </a:r>
                <a14:m>
                  <m:oMath xmlns:m="http://schemas.openxmlformats.org/officeDocument/2006/math">
                    <m:r>
                      <a:rPr lang="it-IT" sz="2250" i="1">
                        <a:solidFill>
                          <a:srgbClr val="182D45"/>
                        </a:solidFill>
                        <a:latin typeface="Cambria Math" panose="02040503050406030204" pitchFamily="18" charset="0"/>
                        <a:ea typeface="DejaVu Sans"/>
                        <a:cs typeface="DejaVu Sans"/>
                      </a:rPr>
                      <m:t>𝑢</m:t>
                    </m:r>
                    <m:d>
                      <m:dPr>
                        <m:ctrlPr>
                          <a:rPr lang="it-IT" sz="2250" i="1">
                            <a:solidFill>
                              <a:srgbClr val="182D45"/>
                            </a:solidFill>
                            <a:latin typeface="Cambria Math" panose="02040503050406030204" pitchFamily="18" charset="0"/>
                            <a:ea typeface="DejaVu Sans"/>
                            <a:cs typeface="DejaVu Sans"/>
                          </a:rPr>
                        </m:ctrlPr>
                      </m:dPr>
                      <m:e>
                        <m:r>
                          <a:rPr lang="it-IT" sz="2250" i="1">
                            <a:solidFill>
                              <a:srgbClr val="182D45"/>
                            </a:solidFill>
                            <a:latin typeface="Cambria Math" panose="02040503050406030204" pitchFamily="18" charset="0"/>
                            <a:ea typeface="DejaVu Sans"/>
                            <a:cs typeface="DejaVu Sans"/>
                          </a:rPr>
                          <m:t>𝑟</m:t>
                        </m:r>
                      </m:e>
                    </m:d>
                    <m:r>
                      <a:rPr lang="it-IT" sz="2250" i="1">
                        <a:solidFill>
                          <a:srgbClr val="182D45"/>
                        </a:solidFill>
                        <a:latin typeface="Cambria Math" panose="02040503050406030204" pitchFamily="18" charset="0"/>
                        <a:ea typeface="DejaVu Sans"/>
                        <a:cs typeface="DejaVu Sans"/>
                      </a:rPr>
                      <m:t>=</m:t>
                    </m:r>
                    <m:sSup>
                      <m:sSupPr>
                        <m:ctrlPr>
                          <a:rPr lang="it-IT" sz="2250" i="1">
                            <a:solidFill>
                              <a:srgbClr val="182D45"/>
                            </a:solidFill>
                            <a:latin typeface="Cambria Math" panose="02040503050406030204" pitchFamily="18" charset="0"/>
                            <a:ea typeface="DejaVu Sans"/>
                            <a:cs typeface="DejaVu Sans"/>
                          </a:rPr>
                        </m:ctrlPr>
                      </m:sSupPr>
                      <m:e>
                        <m:r>
                          <a:rPr lang="it-IT" sz="2250" i="1">
                            <a:solidFill>
                              <a:srgbClr val="182D45"/>
                            </a:solidFill>
                            <a:latin typeface="Cambria Math" panose="02040503050406030204" pitchFamily="18" charset="0"/>
                            <a:ea typeface="DejaVu Sans"/>
                            <a:cs typeface="DejaVu Sans"/>
                          </a:rPr>
                          <m:t>𝑟</m:t>
                        </m:r>
                      </m:e>
                      <m:sup>
                        <m:r>
                          <a:rPr lang="it-IT" sz="2250" i="1">
                            <a:solidFill>
                              <a:srgbClr val="182D45"/>
                            </a:solidFill>
                            <a:latin typeface="Cambria Math" panose="02040503050406030204" pitchFamily="18" charset="0"/>
                            <a:ea typeface="DejaVu Sans"/>
                            <a:cs typeface="DejaVu Sans"/>
                          </a:rPr>
                          <m:t>2</m:t>
                        </m:r>
                      </m:sup>
                    </m:sSup>
                  </m:oMath>
                </a14:m>
                <a:r>
                  <a:rPr lang="en-GB" sz="2250" dirty="0">
                    <a:solidFill>
                      <a:srgbClr val="182D45"/>
                    </a:solidFill>
                    <a:latin typeface="DejaVu Sans"/>
                    <a:ea typeface="DejaVu Sans"/>
                    <a:cs typeface="DejaVu Sans"/>
                  </a:rPr>
                  <a:t>, and inner functions </a:t>
                </a:r>
                <a14:m>
                  <m:oMath xmlns:m="http://schemas.openxmlformats.org/officeDocument/2006/math">
                    <m:sSub>
                      <m:sSubPr>
                        <m:ctrlPr>
                          <a:rPr lang="it-IT" sz="2250" i="1">
                            <a:solidFill>
                              <a:srgbClr val="182D45"/>
                            </a:solidFill>
                            <a:latin typeface="Cambria Math" panose="02040503050406030204" pitchFamily="18" charset="0"/>
                            <a:ea typeface="DejaVu Sans"/>
                            <a:cs typeface="DejaVu Sans"/>
                          </a:rPr>
                        </m:ctrlPr>
                      </m:sSubPr>
                      <m:e>
                        <m:r>
                          <a:rPr lang="it-IT" sz="2250" i="1">
                            <a:solidFill>
                              <a:srgbClr val="182D45"/>
                            </a:solidFill>
                            <a:latin typeface="Cambria Math" panose="02040503050406030204" pitchFamily="18" charset="0"/>
                            <a:ea typeface="DejaVu Sans"/>
                            <a:cs typeface="DejaVu Sans"/>
                          </a:rPr>
                          <m:t>𝑟</m:t>
                        </m:r>
                      </m:e>
                      <m:sub>
                        <m:r>
                          <a:rPr lang="it-IT" sz="2250" i="1">
                            <a:solidFill>
                              <a:srgbClr val="182D45"/>
                            </a:solidFill>
                            <a:latin typeface="Cambria Math" panose="02040503050406030204" pitchFamily="18" charset="0"/>
                            <a:ea typeface="DejaVu Sans"/>
                            <a:cs typeface="DejaVu Sans"/>
                          </a:rPr>
                          <m:t>𝑖</m:t>
                        </m:r>
                      </m:sub>
                    </m:sSub>
                  </m:oMath>
                </a14:m>
                <a:r>
                  <a:rPr lang="en-GB" sz="2250" dirty="0">
                    <a:solidFill>
                      <a:srgbClr val="182D45"/>
                    </a:solidFill>
                    <a:latin typeface="DejaVu Sans"/>
                    <a:ea typeface="DejaVu Sans"/>
                    <a:cs typeface="DejaVu Sans"/>
                  </a:rPr>
                  <a:t> gives</a:t>
                </a:r>
              </a:p>
            </p:txBody>
          </p:sp>
        </mc:Choice>
        <mc:Fallback xmlns="">
          <p:sp>
            <p:nvSpPr>
              <p:cNvPr id="9" name="chain_rule_lead">
                <a:extLst>
                  <a:ext uri="{FF2B5EF4-FFF2-40B4-BE49-F238E27FC236}">
                    <a16:creationId xmlns:a16="http://schemas.microsoft.com/office/drawing/2014/main" id="{E686221B-3981-4545-B323-3604A1CAC72C}"/>
                  </a:ext>
                </a:extLst>
              </p:cNvPr>
              <p:cNvSpPr txBox="1">
                <a:spLocks noGrp="1" noRot="1" noChangeAspect="1" noMove="1" noResize="1" noEditPoints="1" noAdjustHandles="1" noChangeArrowheads="1" noChangeShapeType="1" noTextEdit="1"/>
              </p:cNvSpPr>
              <p:nvPr/>
            </p:nvSpPr>
            <p:spPr>
              <a:xfrm>
                <a:off x="609600" y="3086100"/>
                <a:ext cx="10953750" cy="323850"/>
              </a:xfrm>
              <a:prstGeom prst="rect">
                <a:avLst/>
              </a:prstGeom>
              <a:blipFill>
                <a:blip r:embed="rId8"/>
                <a:stretch>
                  <a:fillRect t="-26415" b="-60377"/>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09485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5" grpId="1"/>
      <p:bldP spid="6" grpId="0" build="allAtOnce"/>
      <p:bldP spid="6" grpId="1"/>
      <p:bldP spid="7" grpId="0" build="allAtOnce" animBg="1"/>
      <p:bldP spid="7" grpId="1"/>
      <p:bldP spid="9" grpId="0" build="allAtOnce" animBg="1"/>
      <p:bldP spid="9" grpId="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EBB83F7-5238-427C-BD06-E8D40AFFE023}"/>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best slope</a:t>
            </a:r>
          </a:p>
        </p:txBody>
      </p:sp>
      <p:sp>
        <p:nvSpPr>
          <p:cNvPr id="2" name="page_number">
            <a:extLst>
              <a:ext uri="{FF2B5EF4-FFF2-40B4-BE49-F238E27FC236}">
                <a16:creationId xmlns:a16="http://schemas.microsoft.com/office/drawing/2014/main" id="{E739590F-A77F-452B-8E49-143F55B3FD13}"/>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18</a:t>
            </a:r>
          </a:p>
        </p:txBody>
      </p:sp>
      <mc:AlternateContent xmlns:mc="http://schemas.openxmlformats.org/markup-compatibility/2006" xmlns:a14="http://schemas.microsoft.com/office/drawing/2010/main">
        <mc:Choice Requires="a14">
          <p:sp>
            <p:nvSpPr>
              <p:cNvPr id="3" name="eq_67">
                <a:extLst>
                  <a:ext uri="{FF2B5EF4-FFF2-40B4-BE49-F238E27FC236}">
                    <a16:creationId xmlns:a16="http://schemas.microsoft.com/office/drawing/2014/main" id="{0E65067B-D54A-4287-91E7-17E481AC111B}"/>
                  </a:ext>
                </a:extLst>
              </p:cNvPr>
              <p:cNvSpPr txBox="1">
                <a:spLocks noGrp="1"/>
              </p:cNvSpPr>
              <p:nvPr/>
            </p:nvSpPr>
            <p:spPr>
              <a:xfrm>
                <a:off x="609600" y="1438275"/>
                <a:ext cx="10953750" cy="1009650"/>
              </a:xfrm>
              <a:prstGeom prst="rect">
                <a:avLst/>
              </a:prstGeom>
              <a:noFill/>
              <a:ln w="0">
                <a:noFill/>
              </a:ln>
            </p:spPr>
            <p:txBody>
              <a:bodyPr vertOverflow="overflow" wrap="none" lIns="0" tIns="0" rIns="0" bIns="0" anchor="t">
                <a:noAutofit/>
              </a:bodyPr>
              <a:lstStyle/>
              <a:p>
                <a:pPr algn="ctr">
                  <a:defRPr lang="en-GB" sz="2550" b="0" i="0" dirty="0">
                    <a:solidFill>
                      <a:srgbClr val="182D45"/>
                    </a:solidFill>
                    <a:latin typeface="Cambria Math"/>
                    <a:ea typeface="Cambria Math"/>
                    <a:cs typeface="Cambria Math"/>
                  </a:defRPr>
                </a:pPr>
                <a14:m>
                  <m:oMathPara xmlns:m="http://schemas.openxmlformats.org/officeDocument/2006/math">
                    <m:oMath>
                      <m:sSup>
                        <m:sSupPr>
                          <m:ctrlPr>
                            <a:rPr lang="en-GB" sz="2800" i="1" dirty="0">
                              <a:solidFill>
                                <a:srgbClr val="182D45"/>
                              </a:solidFill>
                              <a:latin typeface="Cambria Math" panose="02040503050406030204" pitchFamily="18" charset="0"/>
                              <a:ea typeface="Cambria Math"/>
                              <a:cs typeface="Cambria Math"/>
                            </a:rPr>
                          </m:ctrlPr>
                        </m:sSupPr>
                        <m:e>
                          <m:d>
                            <m:dPr>
                              <m:ctrlPr>
                                <a:rPr lang="en-GB" sz="2800" i="1" dirty="0">
                                  <a:solidFill>
                                    <a:srgbClr val="182D45"/>
                                  </a:solidFill>
                                  <a:latin typeface="Cambria Math" panose="02040503050406030204" pitchFamily="18" charset="0"/>
                                  <a:ea typeface="Cambria Math"/>
                                  <a:cs typeface="Cambria Math"/>
                                </a:rPr>
                              </m:ctrlPr>
                            </m:dPr>
                            <m:e>
                              <m:sSubSup>
                                <m:sSubSupPr>
                                  <m:ctrlPr>
                                    <a:rPr lang="en-GB" sz="2800" dirty="0">
                                      <a:solidFill>
                                        <a:srgbClr val="182D45"/>
                                      </a:solidFill>
                                      <a:latin typeface="Cambria Math"/>
                                      <a:ea typeface="Cambria Math"/>
                                      <a:cs typeface="Cambria Math"/>
                                    </a:rPr>
                                  </m:ctrlPr>
                                </m:sSubSupPr>
                                <m:e>
                                  <m:r>
                                    <a:rPr lang="en-GB" sz="2800" dirty="0">
                                      <a:solidFill>
                                        <a:srgbClr val="182D45"/>
                                      </a:solidFill>
                                      <a:latin typeface="Cambria Math"/>
                                      <a:ea typeface="Cambria Math"/>
                                      <a:cs typeface="Cambria Math"/>
                                    </a:rPr>
                                    <m:t>ℒ</m:t>
                                  </m:r>
                                </m:e>
                                <m:sub>
                                  <m:r>
                                    <m:rPr>
                                      <m:sty m:val="p"/>
                                    </m:rPr>
                                    <a:rPr lang="en-GB" sz="2800" dirty="0">
                                      <a:solidFill>
                                        <a:srgbClr val="182D45"/>
                                      </a:solidFill>
                                      <a:latin typeface="Cambria Math"/>
                                      <a:ea typeface="Cambria Math"/>
                                      <a:cs typeface="Cambria Math"/>
                                    </a:rPr>
                                    <m:t>sq</m:t>
                                  </m:r>
                                </m:sub>
                                <m:sup>
                                  <m:r>
                                    <m:rPr>
                                      <m:sty m:val="p"/>
                                    </m:rPr>
                                    <a:rPr lang="it-IT" sz="2800" dirty="0">
                                      <a:solidFill>
                                        <a:srgbClr val="182D45"/>
                                      </a:solidFill>
                                      <a:latin typeface="Cambria Math" panose="02040503050406030204" pitchFamily="18" charset="0"/>
                                      <a:ea typeface="Cambria Math"/>
                                      <a:cs typeface="Cambria Math"/>
                                    </a:rPr>
                                    <m:t>slope</m:t>
                                  </m:r>
                                </m:sup>
                              </m:sSubSup>
                            </m:e>
                          </m:d>
                        </m:e>
                        <m:sup>
                          <m:r>
                            <a:rPr lang="it-IT" sz="2800" b="0" i="1" dirty="0" smtClean="0">
                              <a:solidFill>
                                <a:srgbClr val="182D45"/>
                              </a:solidFill>
                              <a:latin typeface="Cambria Math" panose="02040503050406030204" pitchFamily="18" charset="0"/>
                              <a:ea typeface="Cambria Math"/>
                              <a:cs typeface="Cambria Math"/>
                            </a:rPr>
                            <m:t>′</m:t>
                          </m:r>
                        </m:sup>
                      </m:sSup>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𝑎</m:t>
                          </m:r>
                        </m:e>
                      </m:d>
                      <m:r>
                        <a:rPr lang="en-GB" sz="2550" b="0" dirty="0">
                          <a:solidFill>
                            <a:srgbClr val="182D45"/>
                          </a:solidFill>
                          <a:latin typeface="Cambria Math"/>
                          <a:ea typeface="Cambria Math"/>
                          <a:cs typeface="Cambria Math"/>
                        </a:rPr>
                        <m:t>=0 ⇔ </m:t>
                      </m:r>
                      <m:r>
                        <a:rPr lang="en-GB" sz="2550" b="0" dirty="0">
                          <a:solidFill>
                            <a:srgbClr val="182D45"/>
                          </a:solidFill>
                          <a:latin typeface="Cambria Math"/>
                          <a:ea typeface="Cambria Math"/>
                          <a:cs typeface="Cambria Math"/>
                        </a:rPr>
                        <m:t>𝑎</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bSup>
                            <m:sSubSupPr>
                              <m:ctrlPr>
                                <a:rPr lang="en-GB" sz="2550" b="0" dirty="0">
                                  <a:solidFill>
                                    <a:srgbClr val="182D45"/>
                                  </a:solidFill>
                                  <a:latin typeface="Cambria Math"/>
                                  <a:ea typeface="Cambria Math"/>
                                  <a:cs typeface="Cambria Math"/>
                                </a:rPr>
                              </m:ctrlPr>
                            </m:sSubSupPr>
                            <m:e>
                              <m:r>
                                <a:rPr lang="en-GB" sz="2550" b="0" dirty="0">
                                  <a:solidFill>
                                    <a:srgbClr val="182D45"/>
                                  </a:solidFill>
                                  <a:latin typeface="Cambria Math"/>
                                  <a:ea typeface="Cambria Math"/>
                                  <a:cs typeface="Cambria Math"/>
                                </a:rPr>
                                <m:t>𝑥</m:t>
                              </m:r>
                            </m:e>
                            <m:sub>
                              <m:r>
                                <a:rPr lang="en-GB" sz="2550" b="0" dirty="0">
                                  <a:solidFill>
                                    <a:srgbClr val="182D45"/>
                                  </a:solidFill>
                                  <a:latin typeface="Cambria Math"/>
                                  <a:ea typeface="Cambria Math"/>
                                  <a:cs typeface="Cambria Math"/>
                                </a:rPr>
                                <m:t>𝑖</m:t>
                              </m:r>
                            </m:sub>
                            <m:sup>
                              <m:r>
                                <a:rPr lang="en-GB" sz="2550" b="0" dirty="0">
                                  <a:solidFill>
                                    <a:srgbClr val="182D45"/>
                                  </a:solidFill>
                                  <a:latin typeface="Cambria Math"/>
                                  <a:ea typeface="Cambria Math"/>
                                  <a:cs typeface="Cambria Math"/>
                                </a:rPr>
                                <m:t>2</m:t>
                              </m:r>
                            </m:sup>
                          </m:sSubSup>
                        </m:e>
                      </m:nary>
                      <m:r>
                        <a:rPr lang="en-GB" sz="2550" b="0" dirty="0">
                          <a:solidFill>
                            <a:srgbClr val="182D45"/>
                          </a:solidFill>
                          <a:latin typeface="Cambria Math"/>
                          <a:ea typeface="Cambria Math"/>
                          <a:cs typeface="Cambria Math"/>
                        </a:rPr>
                        <m:t>=</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𝑥</m:t>
                              </m:r>
                            </m:e>
                            <m:sub>
                              <m:r>
                                <a:rPr lang="en-GB" sz="2550" b="0" dirty="0">
                                  <a:solidFill>
                                    <a:srgbClr val="182D45"/>
                                  </a:solidFill>
                                  <a:latin typeface="Cambria Math"/>
                                  <a:ea typeface="Cambria Math"/>
                                  <a:cs typeface="Cambria Math"/>
                                </a:rPr>
                                <m:t>𝑖</m:t>
                              </m:r>
                            </m:sub>
                          </m:sSub>
                        </m:e>
                      </m:nary>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𝑦</m:t>
                          </m:r>
                        </m:e>
                        <m:sub>
                          <m:r>
                            <a:rPr lang="en-GB" sz="2550" b="0" dirty="0">
                              <a:solidFill>
                                <a:srgbClr val="182D45"/>
                              </a:solidFill>
                              <a:latin typeface="Cambria Math"/>
                              <a:ea typeface="Cambria Math"/>
                              <a:cs typeface="Cambria Math"/>
                            </a:rPr>
                            <m:t>𝑖</m:t>
                          </m:r>
                        </m:sub>
                      </m:sSub>
                    </m:oMath>
                  </m:oMathPara>
                </a14:m>
                <a:endParaRPr lang="en-GB" sz="2550" b="0" i="0" dirty="0">
                  <a:solidFill>
                    <a:srgbClr val="182D45"/>
                  </a:solidFill>
                  <a:latin typeface="Cambria Math"/>
                  <a:ea typeface="Cambria Math"/>
                  <a:cs typeface="Cambria Math"/>
                </a:endParaRPr>
              </a:p>
            </p:txBody>
          </p:sp>
        </mc:Choice>
        <mc:Fallback xmlns="">
          <p:sp>
            <p:nvSpPr>
              <p:cNvPr id="3" name="eq_67">
                <a:extLst>
                  <a:ext uri="{FF2B5EF4-FFF2-40B4-BE49-F238E27FC236}">
                    <a16:creationId xmlns:a16="http://schemas.microsoft.com/office/drawing/2014/main" id="{0E65067B-D54A-4287-91E7-17E481AC111B}"/>
                  </a:ext>
                </a:extLst>
              </p:cNvPr>
              <p:cNvSpPr txBox="1">
                <a:spLocks noGrp="1" noRot="1" noChangeAspect="1" noMove="1" noResize="1" noEditPoints="1" noAdjustHandles="1" noChangeArrowheads="1" noChangeShapeType="1" noTextEdit="1"/>
              </p:cNvSpPr>
              <p:nvPr/>
            </p:nvSpPr>
            <p:spPr>
              <a:xfrm>
                <a:off x="609600" y="1438275"/>
                <a:ext cx="10953750" cy="1009650"/>
              </a:xfrm>
              <a:prstGeom prst="rect">
                <a:avLst/>
              </a:prstGeom>
              <a:blipFill>
                <a:blip r:embed="rId3"/>
                <a:stretch>
                  <a:fillRect b="-1144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68">
                <a:extLst>
                  <a:ext uri="{FF2B5EF4-FFF2-40B4-BE49-F238E27FC236}">
                    <a16:creationId xmlns:a16="http://schemas.microsoft.com/office/drawing/2014/main" id="{936AD73E-FECF-48F8-A45D-8E06954571B1}"/>
                  </a:ext>
                </a:extLst>
              </p:cNvPr>
              <p:cNvSpPr txBox="1">
                <a:spLocks noGrp="1"/>
              </p:cNvSpPr>
              <p:nvPr/>
            </p:nvSpPr>
            <p:spPr>
              <a:xfrm>
                <a:off x="609600" y="2847975"/>
                <a:ext cx="10953750" cy="1162050"/>
              </a:xfrm>
              <a:prstGeom prst="rect">
                <a:avLst/>
              </a:prstGeom>
              <a:noFill/>
              <a:ln w="0">
                <a:noFill/>
              </a:ln>
            </p:spPr>
            <p:txBody>
              <a:bodyPr vertOverflow="overflow" wrap="none" lIns="0" tIns="0" rIns="0" bIns="0" anchor="t">
                <a:noAutofit/>
              </a:bodyPr>
              <a:lstStyle/>
              <a:p>
                <a:pPr marL="0" marR="0" indent="0" algn="ctr">
                  <a:defRPr lang="en-GB" sz="2850" b="0" i="0" dirty="0">
                    <a:solidFill>
                      <a:srgbClr val="087F83"/>
                    </a:solidFill>
                    <a:latin typeface="Cambria Math"/>
                    <a:ea typeface="Cambria Math"/>
                    <a:cs typeface="Cambria Math"/>
                  </a:defRPr>
                </a:pPr>
                <a14:m>
                  <m:oMathPara xmlns:m="http://schemas.openxmlformats.org/officeDocument/2006/math">
                    <m:oMath>
                      <m:sSup>
                        <m:sSupPr>
                          <m:ctrlPr>
                            <a:rPr lang="en-GB" sz="2850" b="0" dirty="0">
                              <a:solidFill>
                                <a:srgbClr val="087F83"/>
                              </a:solidFill>
                              <a:latin typeface="Cambria Math"/>
                              <a:ea typeface="Cambria Math"/>
                              <a:cs typeface="Cambria Math"/>
                            </a:rPr>
                          </m:ctrlPr>
                        </m:sSupPr>
                        <m:e>
                          <m:r>
                            <a:rPr lang="en-GB" sz="2850" b="0" dirty="0">
                              <a:solidFill>
                                <a:srgbClr val="087F83"/>
                              </a:solidFill>
                              <a:latin typeface="Cambria Math"/>
                              <a:ea typeface="Cambria Math"/>
                              <a:cs typeface="Cambria Math"/>
                            </a:rPr>
                            <m:t>𝑎</m:t>
                          </m:r>
                        </m:e>
                        <m:sup>
                          <m:r>
                            <a:rPr lang="en-GB" sz="2850" b="0" dirty="0">
                              <a:solidFill>
                                <a:srgbClr val="087F83"/>
                              </a:solidFill>
                              <a:latin typeface="Cambria Math"/>
                              <a:ea typeface="Cambria Math"/>
                              <a:cs typeface="Cambria Math"/>
                            </a:rPr>
                            <m:t>∗</m:t>
                          </m:r>
                        </m:sup>
                      </m:sSup>
                      <m:r>
                        <a:rPr lang="en-GB" sz="2850" b="0" dirty="0">
                          <a:solidFill>
                            <a:srgbClr val="087F83"/>
                          </a:solidFill>
                          <a:latin typeface="Cambria Math"/>
                          <a:ea typeface="Cambria Math"/>
                          <a:cs typeface="Cambria Math"/>
                        </a:rPr>
                        <m:t>=</m:t>
                      </m:r>
                      <m:f>
                        <m:fPr>
                          <m:ctrlPr>
                            <a:rPr lang="en-GB" sz="2850" b="0" i="1" dirty="0">
                              <a:solidFill>
                                <a:srgbClr val="087F83"/>
                              </a:solidFill>
                              <a:latin typeface="Cambria Math" panose="02040503050406030204" pitchFamily="18" charset="0"/>
                              <a:ea typeface="Cambria Math"/>
                              <a:cs typeface="Cambria Math"/>
                            </a:rPr>
                          </m:ctrlPr>
                        </m:fPr>
                        <m:num>
                          <m:nary>
                            <m:naryPr>
                              <m:chr m:val="∑"/>
                              <m:limLoc m:val="undOvr"/>
                              <m:ctrlPr>
                                <a:rPr lang="en-GB" sz="2850" b="0" dirty="0">
                                  <a:solidFill>
                                    <a:srgbClr val="087F83"/>
                                  </a:solidFill>
                                  <a:latin typeface="Cambria Math"/>
                                  <a:ea typeface="Cambria Math"/>
                                  <a:cs typeface="Cambria Math"/>
                                </a:rPr>
                              </m:ctrlPr>
                            </m:naryPr>
                            <m:sub>
                              <m:r>
                                <a:rPr lang="en-GB" sz="2850" b="0" dirty="0">
                                  <a:solidFill>
                                    <a:srgbClr val="087F83"/>
                                  </a:solidFill>
                                  <a:latin typeface="Cambria Math"/>
                                  <a:ea typeface="Cambria Math"/>
                                  <a:cs typeface="Cambria Math"/>
                                </a:rPr>
                                <m:t>𝑖</m:t>
                              </m:r>
                              <m:r>
                                <a:rPr lang="en-GB" sz="2850" b="0" dirty="0">
                                  <a:solidFill>
                                    <a:srgbClr val="087F83"/>
                                  </a:solidFill>
                                  <a:latin typeface="Cambria Math"/>
                                  <a:ea typeface="Cambria Math"/>
                                  <a:cs typeface="Cambria Math"/>
                                </a:rPr>
                                <m:t>=1</m:t>
                              </m:r>
                            </m:sub>
                            <m:sup>
                              <m:r>
                                <a:rPr lang="en-GB" sz="2850" b="0" dirty="0">
                                  <a:solidFill>
                                    <a:srgbClr val="087F83"/>
                                  </a:solidFill>
                                  <a:latin typeface="Cambria Math"/>
                                  <a:ea typeface="Cambria Math"/>
                                  <a:cs typeface="Cambria Math"/>
                                </a:rPr>
                                <m:t>𝑁</m:t>
                              </m:r>
                            </m:sup>
                            <m:e>
                              <m:sSub>
                                <m:sSubPr>
                                  <m:ctrlPr>
                                    <a:rPr lang="en-GB" sz="2850" b="0" dirty="0">
                                      <a:solidFill>
                                        <a:srgbClr val="087F83"/>
                                      </a:solidFill>
                                      <a:latin typeface="Cambria Math"/>
                                      <a:ea typeface="Cambria Math"/>
                                      <a:cs typeface="Cambria Math"/>
                                    </a:rPr>
                                  </m:ctrlPr>
                                </m:sSubPr>
                                <m:e>
                                  <m:r>
                                    <a:rPr lang="en-GB" sz="2850" b="0" dirty="0">
                                      <a:solidFill>
                                        <a:srgbClr val="087F83"/>
                                      </a:solidFill>
                                      <a:latin typeface="Cambria Math"/>
                                      <a:ea typeface="Cambria Math"/>
                                      <a:cs typeface="Cambria Math"/>
                                    </a:rPr>
                                    <m:t>𝑥</m:t>
                                  </m:r>
                                </m:e>
                                <m:sub>
                                  <m:r>
                                    <a:rPr lang="en-GB" sz="2850" b="0" dirty="0">
                                      <a:solidFill>
                                        <a:srgbClr val="087F83"/>
                                      </a:solidFill>
                                      <a:latin typeface="Cambria Math"/>
                                      <a:ea typeface="Cambria Math"/>
                                      <a:cs typeface="Cambria Math"/>
                                    </a:rPr>
                                    <m:t>𝑖</m:t>
                                  </m:r>
                                </m:sub>
                              </m:sSub>
                            </m:e>
                          </m:nary>
                          <m:sSub>
                            <m:sSubPr>
                              <m:ctrlPr>
                                <a:rPr lang="en-GB" sz="2850" b="0" dirty="0">
                                  <a:solidFill>
                                    <a:srgbClr val="087F83"/>
                                  </a:solidFill>
                                  <a:latin typeface="Cambria Math"/>
                                  <a:ea typeface="Cambria Math"/>
                                  <a:cs typeface="Cambria Math"/>
                                </a:rPr>
                              </m:ctrlPr>
                            </m:sSubPr>
                            <m:e>
                              <m:r>
                                <a:rPr lang="en-GB" sz="2850" b="0" dirty="0">
                                  <a:solidFill>
                                    <a:srgbClr val="087F83"/>
                                  </a:solidFill>
                                  <a:latin typeface="Cambria Math"/>
                                  <a:ea typeface="Cambria Math"/>
                                  <a:cs typeface="Cambria Math"/>
                                </a:rPr>
                                <m:t>𝑦</m:t>
                              </m:r>
                            </m:e>
                            <m:sub>
                              <m:r>
                                <a:rPr lang="en-GB" sz="2850" b="0" dirty="0">
                                  <a:solidFill>
                                    <a:srgbClr val="087F83"/>
                                  </a:solidFill>
                                  <a:latin typeface="Cambria Math"/>
                                  <a:ea typeface="Cambria Math"/>
                                  <a:cs typeface="Cambria Math"/>
                                </a:rPr>
                                <m:t>𝑖</m:t>
                              </m:r>
                            </m:sub>
                          </m:sSub>
                        </m:num>
                        <m:den>
                          <m:nary>
                            <m:naryPr>
                              <m:chr m:val="∑"/>
                              <m:limLoc m:val="undOvr"/>
                              <m:ctrlPr>
                                <a:rPr lang="en-GB" sz="2850" b="0" dirty="0">
                                  <a:solidFill>
                                    <a:srgbClr val="087F83"/>
                                  </a:solidFill>
                                  <a:latin typeface="Cambria Math"/>
                                  <a:ea typeface="Cambria Math"/>
                                  <a:cs typeface="Cambria Math"/>
                                </a:rPr>
                              </m:ctrlPr>
                            </m:naryPr>
                            <m:sub>
                              <m:r>
                                <a:rPr lang="en-GB" sz="2850" b="0" dirty="0">
                                  <a:solidFill>
                                    <a:srgbClr val="087F83"/>
                                  </a:solidFill>
                                  <a:latin typeface="Cambria Math"/>
                                  <a:ea typeface="Cambria Math"/>
                                  <a:cs typeface="Cambria Math"/>
                                </a:rPr>
                                <m:t>𝑖</m:t>
                              </m:r>
                              <m:r>
                                <a:rPr lang="en-GB" sz="2850" b="0" dirty="0">
                                  <a:solidFill>
                                    <a:srgbClr val="087F83"/>
                                  </a:solidFill>
                                  <a:latin typeface="Cambria Math"/>
                                  <a:ea typeface="Cambria Math"/>
                                  <a:cs typeface="Cambria Math"/>
                                </a:rPr>
                                <m:t>=1</m:t>
                              </m:r>
                            </m:sub>
                            <m:sup>
                              <m:r>
                                <a:rPr lang="en-GB" sz="2850" b="0" dirty="0">
                                  <a:solidFill>
                                    <a:srgbClr val="087F83"/>
                                  </a:solidFill>
                                  <a:latin typeface="Cambria Math"/>
                                  <a:ea typeface="Cambria Math"/>
                                  <a:cs typeface="Cambria Math"/>
                                </a:rPr>
                                <m:t>𝑁</m:t>
                              </m:r>
                            </m:sup>
                            <m:e>
                              <m:sSubSup>
                                <m:sSubSupPr>
                                  <m:ctrlPr>
                                    <a:rPr lang="en-GB" sz="2850" b="0" dirty="0">
                                      <a:solidFill>
                                        <a:srgbClr val="087F83"/>
                                      </a:solidFill>
                                      <a:latin typeface="Cambria Math"/>
                                      <a:ea typeface="Cambria Math"/>
                                      <a:cs typeface="Cambria Math"/>
                                    </a:rPr>
                                  </m:ctrlPr>
                                </m:sSubSupPr>
                                <m:e>
                                  <m:r>
                                    <a:rPr lang="en-GB" sz="2850" b="0" dirty="0">
                                      <a:solidFill>
                                        <a:srgbClr val="087F83"/>
                                      </a:solidFill>
                                      <a:latin typeface="Cambria Math"/>
                                      <a:ea typeface="Cambria Math"/>
                                      <a:cs typeface="Cambria Math"/>
                                    </a:rPr>
                                    <m:t>𝑥</m:t>
                                  </m:r>
                                </m:e>
                                <m:sub>
                                  <m:r>
                                    <a:rPr lang="en-GB" sz="2850" b="0" dirty="0">
                                      <a:solidFill>
                                        <a:srgbClr val="087F83"/>
                                      </a:solidFill>
                                      <a:latin typeface="Cambria Math"/>
                                      <a:ea typeface="Cambria Math"/>
                                      <a:cs typeface="Cambria Math"/>
                                    </a:rPr>
                                    <m:t>𝑖</m:t>
                                  </m:r>
                                </m:sub>
                                <m:sup>
                                  <m:r>
                                    <a:rPr lang="en-GB" sz="2850" b="0" dirty="0">
                                      <a:solidFill>
                                        <a:srgbClr val="087F83"/>
                                      </a:solidFill>
                                      <a:latin typeface="Cambria Math"/>
                                      <a:ea typeface="Cambria Math"/>
                                      <a:cs typeface="Cambria Math"/>
                                    </a:rPr>
                                    <m:t>2</m:t>
                                  </m:r>
                                </m:sup>
                              </m:sSubSup>
                            </m:e>
                          </m:nary>
                        </m:den>
                      </m:f>
                      <m:r>
                        <a:rPr lang="en-GB" sz="2850" b="0" dirty="0">
                          <a:solidFill>
                            <a:srgbClr val="087F83"/>
                          </a:solidFill>
                          <a:latin typeface="Cambria Math"/>
                          <a:ea typeface="Cambria Math"/>
                          <a:cs typeface="Cambria Math"/>
                        </a:rPr>
                        <m:t>  </m:t>
                      </m:r>
                      <m:r>
                        <m:rPr>
                          <m:nor/>
                        </m:rPr>
                        <a:rPr lang="en-GB" sz="2850" b="0" i="0" dirty="0">
                          <a:solidFill>
                            <a:srgbClr val="087F83"/>
                          </a:solidFill>
                          <a:latin typeface="Cambria Math"/>
                          <a:ea typeface="Cambria Math"/>
                          <a:cs typeface="Cambria Math"/>
                        </a:rPr>
                        <m:t>if </m:t>
                      </m:r>
                      <m:nary>
                        <m:naryPr>
                          <m:chr m:val="∑"/>
                          <m:limLoc m:val="undOvr"/>
                          <m:ctrlPr>
                            <a:rPr lang="en-GB" sz="2850" b="0" dirty="0">
                              <a:solidFill>
                                <a:srgbClr val="087F83"/>
                              </a:solidFill>
                              <a:latin typeface="Cambria Math"/>
                              <a:ea typeface="Cambria Math"/>
                              <a:cs typeface="Cambria Math"/>
                            </a:rPr>
                          </m:ctrlPr>
                        </m:naryPr>
                        <m:sub>
                          <m:r>
                            <a:rPr lang="en-GB" sz="2850" b="0" dirty="0">
                              <a:solidFill>
                                <a:srgbClr val="087F83"/>
                              </a:solidFill>
                              <a:latin typeface="Cambria Math"/>
                              <a:ea typeface="Cambria Math"/>
                              <a:cs typeface="Cambria Math"/>
                            </a:rPr>
                            <m:t>𝑖</m:t>
                          </m:r>
                          <m:r>
                            <a:rPr lang="en-GB" sz="2850" b="0" dirty="0">
                              <a:solidFill>
                                <a:srgbClr val="087F83"/>
                              </a:solidFill>
                              <a:latin typeface="Cambria Math"/>
                              <a:ea typeface="Cambria Math"/>
                              <a:cs typeface="Cambria Math"/>
                            </a:rPr>
                            <m:t>=1</m:t>
                          </m:r>
                        </m:sub>
                        <m:sup>
                          <m:r>
                            <a:rPr lang="en-GB" sz="2850" b="0" dirty="0">
                              <a:solidFill>
                                <a:srgbClr val="087F83"/>
                              </a:solidFill>
                              <a:latin typeface="Cambria Math"/>
                              <a:ea typeface="Cambria Math"/>
                              <a:cs typeface="Cambria Math"/>
                            </a:rPr>
                            <m:t>𝑁</m:t>
                          </m:r>
                        </m:sup>
                        <m:e>
                          <m:sSubSup>
                            <m:sSubSupPr>
                              <m:ctrlPr>
                                <a:rPr lang="en-GB" sz="2850" b="0" dirty="0">
                                  <a:solidFill>
                                    <a:srgbClr val="087F83"/>
                                  </a:solidFill>
                                  <a:latin typeface="Cambria Math"/>
                                  <a:ea typeface="Cambria Math"/>
                                  <a:cs typeface="Cambria Math"/>
                                </a:rPr>
                              </m:ctrlPr>
                            </m:sSubSupPr>
                            <m:e>
                              <m:r>
                                <a:rPr lang="en-GB" sz="2850" b="0" dirty="0">
                                  <a:solidFill>
                                    <a:srgbClr val="087F83"/>
                                  </a:solidFill>
                                  <a:latin typeface="Cambria Math"/>
                                  <a:ea typeface="Cambria Math"/>
                                  <a:cs typeface="Cambria Math"/>
                                </a:rPr>
                                <m:t>𝑥</m:t>
                              </m:r>
                            </m:e>
                            <m:sub>
                              <m:r>
                                <a:rPr lang="en-GB" sz="2850" b="0" dirty="0">
                                  <a:solidFill>
                                    <a:srgbClr val="087F83"/>
                                  </a:solidFill>
                                  <a:latin typeface="Cambria Math"/>
                                  <a:ea typeface="Cambria Math"/>
                                  <a:cs typeface="Cambria Math"/>
                                </a:rPr>
                                <m:t>𝑖</m:t>
                              </m:r>
                            </m:sub>
                            <m:sup>
                              <m:r>
                                <a:rPr lang="en-GB" sz="2850" b="0" dirty="0">
                                  <a:solidFill>
                                    <a:srgbClr val="087F83"/>
                                  </a:solidFill>
                                  <a:latin typeface="Cambria Math"/>
                                  <a:ea typeface="Cambria Math"/>
                                  <a:cs typeface="Cambria Math"/>
                                </a:rPr>
                                <m:t>2</m:t>
                              </m:r>
                            </m:sup>
                          </m:sSubSup>
                        </m:e>
                      </m:nary>
                      <m:r>
                        <a:rPr lang="en-GB" sz="2850" b="0" dirty="0">
                          <a:solidFill>
                            <a:srgbClr val="087F83"/>
                          </a:solidFill>
                          <a:latin typeface="Cambria Math"/>
                          <a:ea typeface="Cambria Math"/>
                          <a:cs typeface="Cambria Math"/>
                        </a:rPr>
                        <m:t>&gt;0</m:t>
                      </m:r>
                    </m:oMath>
                  </m:oMathPara>
                </a14:m>
                <a:endParaRPr lang="en-GB" sz="2850" b="0" i="0" dirty="0">
                  <a:solidFill>
                    <a:srgbClr val="087F83"/>
                  </a:solidFill>
                  <a:latin typeface="Cambria Math"/>
                  <a:ea typeface="Cambria Math"/>
                  <a:cs typeface="Cambria Math"/>
                </a:endParaRPr>
              </a:p>
            </p:txBody>
          </p:sp>
        </mc:Choice>
        <mc:Fallback xmlns="">
          <p:sp>
            <p:nvSpPr>
              <p:cNvPr id="4" name="eq_68">
                <a:extLst>
                  <a:ext uri="{FF2B5EF4-FFF2-40B4-BE49-F238E27FC236}">
                    <a16:creationId xmlns:a16="http://schemas.microsoft.com/office/drawing/2014/main" id="{936AD73E-FECF-48F8-A45D-8E06954571B1}"/>
                  </a:ext>
                </a:extLst>
              </p:cNvPr>
              <p:cNvSpPr txBox="1">
                <a:spLocks noGrp="1" noRot="1" noChangeAspect="1" noMove="1" noResize="1" noEditPoints="1" noAdjustHandles="1" noChangeArrowheads="1" noChangeShapeType="1" noTextEdit="1"/>
              </p:cNvSpPr>
              <p:nvPr/>
            </p:nvSpPr>
            <p:spPr>
              <a:xfrm>
                <a:off x="609600" y="2847975"/>
                <a:ext cx="10953750" cy="1162050"/>
              </a:xfrm>
              <a:prstGeom prst="rect">
                <a:avLst/>
              </a:prstGeom>
              <a:blipFill>
                <a:blip r:embed="rId4"/>
                <a:stretch>
                  <a:fillRect b="-4712"/>
                </a:stretch>
              </a:blipFill>
              <a:ln w="0">
                <a:noFill/>
              </a:ln>
            </p:spPr>
            <p:txBody>
              <a:bodyPr/>
              <a:lstStyle/>
              <a:p>
                <a:r>
                  <a:rPr lang="it-IT">
                    <a:noFill/>
                  </a:rPr>
                  <a:t> </a:t>
                </a:r>
              </a:p>
            </p:txBody>
          </p:sp>
        </mc:Fallback>
      </mc:AlternateContent>
      <p:sp>
        <p:nvSpPr>
          <p:cNvPr id="5" name="txt_69">
            <a:extLst>
              <a:ext uri="{FF2B5EF4-FFF2-40B4-BE49-F238E27FC236}">
                <a16:creationId xmlns:a16="http://schemas.microsoft.com/office/drawing/2014/main" id="{B0F590B5-4A5A-4BED-81B4-A70C344567AE}"/>
              </a:ext>
            </a:extLst>
          </p:cNvPr>
          <p:cNvSpPr>
            <a:spLocks noGrp="1"/>
          </p:cNvSpPr>
          <p:nvPr/>
        </p:nvSpPr>
        <p:spPr>
          <a:xfrm>
            <a:off x="609600" y="4448175"/>
            <a:ext cx="10953750" cy="809625"/>
          </a:xfrm>
          <a:prstGeom prst="rect">
            <a:avLst/>
          </a:prstGeom>
          <a:noFill/>
          <a:ln w="0">
            <a:noFill/>
          </a:ln>
        </p:spPr>
        <p:txBody>
          <a:bodyPr vertOverflow="overflow" wrap="square" lIns="0" tIns="0" rIns="0" bIns="0" anchor="t">
            <a:noAutofit/>
          </a:bodyPr>
          <a:lstStyle/>
          <a:p>
            <a:pPr algn="ctr"/>
            <a:r>
              <a:rPr lang="en-GB" sz="2100" b="0" i="0" dirty="0">
                <a:solidFill>
                  <a:srgbClr val="182D45"/>
                </a:solidFill>
                <a:latin typeface="DejaVu Sans"/>
                <a:ea typeface="DejaVu Sans"/>
                <a:cs typeface="DejaVu Sans"/>
              </a:rPr>
              <a:t>Again, the loss is an upward-opening parabola.</a:t>
            </a:r>
          </a:p>
          <a:p>
            <a:pPr algn="ctr"/>
            <a:r>
              <a:rPr lang="en-GB" sz="2100" b="0" i="0" dirty="0">
                <a:solidFill>
                  <a:srgbClr val="182D45"/>
                </a:solidFill>
                <a:latin typeface="DejaVu Sans"/>
                <a:ea typeface="DejaVu Sans"/>
                <a:cs typeface="DejaVu Sans"/>
              </a:rPr>
              <a:t>The unique stationary point is its global minimiser.</a:t>
            </a:r>
          </a:p>
        </p:txBody>
      </p:sp>
      <mc:AlternateContent xmlns:mc="http://schemas.openxmlformats.org/markup-compatibility/2006" xmlns:a14="http://schemas.microsoft.com/office/drawing/2010/main">
        <mc:Choice Requires="a14">
          <p:sp>
            <p:nvSpPr>
              <p:cNvPr id="6" name="txt_70">
                <a:extLst>
                  <a:ext uri="{FF2B5EF4-FFF2-40B4-BE49-F238E27FC236}">
                    <a16:creationId xmlns:a16="http://schemas.microsoft.com/office/drawing/2014/main" id="{11305A59-5C9C-4E86-8353-E28474A90296}"/>
                  </a:ext>
                </a:extLst>
              </p:cNvPr>
              <p:cNvSpPr txBox="1">
                <a:spLocks noGrp="1"/>
              </p:cNvSpPr>
              <p:nvPr/>
            </p:nvSpPr>
            <p:spPr>
              <a:xfrm>
                <a:off x="609600" y="5829300"/>
                <a:ext cx="10953750" cy="495300"/>
              </a:xfrm>
              <a:prstGeom prst="rect">
                <a:avLst/>
              </a:prstGeom>
              <a:noFill/>
              <a:ln w="0">
                <a:noFill/>
              </a:ln>
            </p:spPr>
            <p:txBody>
              <a:bodyPr vertOverflow="overflow" wrap="square" lIns="0" tIns="0" rIns="0" bIns="0" anchor="t">
                <a:noAutofit/>
              </a:bodyPr>
              <a:lstStyle/>
              <a:p>
                <a:pPr marL="0" marR="0" indent="0" algn="ctr">
                  <a:defRPr lang="en-GB" sz="1725" b="0" i="0" dirty="0">
                    <a:solidFill>
                      <a:srgbClr val="526276"/>
                    </a:solidFill>
                    <a:latin typeface="DejaVu Sans"/>
                    <a:ea typeface="DejaVu Sans"/>
                    <a:cs typeface="DejaVu Sans"/>
                  </a:defRPr>
                </a:pPr>
                <a:r>
                  <a:rPr lang="en-GB" sz="1725" b="0" i="0" dirty="0">
                    <a:solidFill>
                      <a:srgbClr val="526276"/>
                    </a:solidFill>
                    <a:latin typeface="DejaVu Sans"/>
                    <a:ea typeface="DejaVu Sans"/>
                    <a:cs typeface="DejaVu Sans"/>
                  </a:rPr>
                  <a:t>If every </a:t>
                </a:r>
                <a14:m>
                  <m:oMath xmlns:m="http://schemas.openxmlformats.org/officeDocument/2006/math">
                    <m:sSub>
                      <m:sSubPr>
                        <m:ctrlPr>
                          <a:rPr lang="en-GB" sz="1725" b="0" dirty="0">
                            <a:solidFill>
                              <a:srgbClr val="526276"/>
                            </a:solidFill>
                            <a:latin typeface="Cambria Math"/>
                            <a:ea typeface="Cambria Math"/>
                            <a:cs typeface="Cambria Math"/>
                          </a:rPr>
                        </m:ctrlPr>
                      </m:sSubPr>
                      <m:e>
                        <m:r>
                          <a:rPr lang="en-GB" sz="1725" b="0" dirty="0">
                            <a:solidFill>
                              <a:srgbClr val="526276"/>
                            </a:solidFill>
                            <a:latin typeface="Cambria Math"/>
                            <a:ea typeface="Cambria Math"/>
                            <a:cs typeface="Cambria Math"/>
                          </a:rPr>
                          <m:t>𝑥</m:t>
                        </m:r>
                      </m:e>
                      <m:sub>
                        <m:r>
                          <a:rPr lang="en-GB" sz="1725" b="0" dirty="0">
                            <a:solidFill>
                              <a:srgbClr val="526276"/>
                            </a:solidFill>
                            <a:latin typeface="Cambria Math"/>
                            <a:ea typeface="Cambria Math"/>
                            <a:cs typeface="Cambria Math"/>
                          </a:rPr>
                          <m:t>𝑖</m:t>
                        </m:r>
                      </m:sub>
                    </m:sSub>
                    <m:r>
                      <a:rPr lang="en-GB" sz="1725" b="0" dirty="0">
                        <a:solidFill>
                          <a:srgbClr val="526276"/>
                        </a:solidFill>
                        <a:latin typeface="Cambria Math"/>
                        <a:ea typeface="Cambria Math"/>
                        <a:cs typeface="Cambria Math"/>
                      </a:rPr>
                      <m:t>=0</m:t>
                    </m:r>
                  </m:oMath>
                </a14:m>
                <a:r>
                  <a:rPr lang="en-GB" sz="1725" b="0" i="0" dirty="0">
                    <a:solidFill>
                      <a:srgbClr val="526276"/>
                    </a:solidFill>
                    <a:latin typeface="DejaVu Sans"/>
                    <a:ea typeface="DejaVu Sans"/>
                    <a:cs typeface="DejaVu Sans"/>
                  </a:rPr>
                  <a:t>, all slopes give the same predictions and loss.</a:t>
                </a:r>
              </a:p>
            </p:txBody>
          </p:sp>
        </mc:Choice>
        <mc:Fallback xmlns="">
          <p:sp>
            <p:nvSpPr>
              <p:cNvPr id="6" name="txt_70">
                <a:extLst>
                  <a:ext uri="{FF2B5EF4-FFF2-40B4-BE49-F238E27FC236}">
                    <a16:creationId xmlns:a16="http://schemas.microsoft.com/office/drawing/2014/main" id="{11305A59-5C9C-4E86-8353-E28474A90296}"/>
                  </a:ext>
                </a:extLst>
              </p:cNvPr>
              <p:cNvSpPr txBox="1">
                <a:spLocks noGrp="1" noRot="1" noChangeAspect="1" noMove="1" noResize="1" noEditPoints="1" noAdjustHandles="1" noChangeArrowheads="1" noChangeShapeType="1" noTextEdit="1"/>
              </p:cNvSpPr>
              <p:nvPr/>
            </p:nvSpPr>
            <p:spPr>
              <a:xfrm>
                <a:off x="609600" y="5829300"/>
                <a:ext cx="10953750" cy="495300"/>
              </a:xfrm>
              <a:prstGeom prst="rect">
                <a:avLst/>
              </a:prstGeom>
              <a:blipFill>
                <a:blip r:embed="rId5"/>
                <a:stretch>
                  <a:fillRect t="-1341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804595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5C8764CF-68AE-4C0F-B6A6-D46B330119F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fitted line through the origin</a:t>
            </a:r>
          </a:p>
        </p:txBody>
      </p:sp>
      <p:sp>
        <p:nvSpPr>
          <p:cNvPr id="2" name="page_number">
            <a:extLst>
              <a:ext uri="{FF2B5EF4-FFF2-40B4-BE49-F238E27FC236}">
                <a16:creationId xmlns:a16="http://schemas.microsoft.com/office/drawing/2014/main" id="{3930B327-404B-40C3-9621-8B7ECF6D5C2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19</a:t>
            </a:r>
          </a:p>
        </p:txBody>
      </p:sp>
      <p:graphicFrame>
        <p:nvGraphicFramePr>
          <p:cNvPr id="10" name="Chart"/>
          <p:cNvGraphicFramePr/>
          <p:nvPr/>
        </p:nvGraphicFramePr>
        <p:xfrm>
          <a:off x="291078" y="2124837"/>
          <a:ext cx="6019800" cy="33528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4" name="eq_71">
                <a:extLst>
                  <a:ext uri="{FF2B5EF4-FFF2-40B4-BE49-F238E27FC236}">
                    <a16:creationId xmlns:a16="http://schemas.microsoft.com/office/drawing/2014/main" id="{CA7E58F6-0CE3-4D46-A78D-C6E0F82B7DD9}"/>
                  </a:ext>
                </a:extLst>
              </p:cNvPr>
              <p:cNvSpPr txBox="1">
                <a:spLocks noGrp="1"/>
              </p:cNvSpPr>
              <p:nvPr/>
            </p:nvSpPr>
            <p:spPr>
              <a:xfrm>
                <a:off x="6887713" y="3801904"/>
                <a:ext cx="4636391" cy="1028700"/>
              </a:xfrm>
              <a:prstGeom prst="rect">
                <a:avLst/>
              </a:prstGeom>
              <a:noFill/>
              <a:ln w="0">
                <a:noFill/>
              </a:ln>
            </p:spPr>
            <p:txBody>
              <a:bodyPr vertOverflow="overflow" wrap="none" lIns="0" tIns="0" rIns="0" bIns="0" anchor="ctr">
                <a:noAutofit/>
              </a:bodyPr>
              <a:lstStyle/>
              <a:p>
                <a:pPr marL="0" marR="0" indent="0" algn="ctr">
                  <a:defRPr lang="en-GB" sz="2250" b="0" i="0" dirty="0">
                    <a:solidFill>
                      <a:srgbClr val="182D45"/>
                    </a:solidFill>
                    <a:latin typeface="DejaVu Sans"/>
                    <a:ea typeface="DejaVu Sans"/>
                    <a:cs typeface="DejaVu Sans"/>
                  </a:defRPr>
                </a:pPr>
                <a14:m>
                  <m:oMathPara xmlns:m="http://schemas.openxmlformats.org/officeDocument/2006/math">
                    <m:oMath>
                      <m:sSup>
                        <m:sSupPr>
                          <m:ctrlPr>
                            <a:rPr lang="en-GB" sz="2250" b="0" dirty="0">
                              <a:solidFill>
                                <a:srgbClr val="182D45"/>
                              </a:solidFill>
                              <a:latin typeface="Cambria Math"/>
                              <a:ea typeface="Cambria Math"/>
                              <a:cs typeface="Cambria Math"/>
                            </a:rPr>
                          </m:ctrlPr>
                        </m:sSupPr>
                        <m:e>
                          <m:r>
                            <a:rPr lang="en-GB" sz="2250" b="0" dirty="0">
                              <a:solidFill>
                                <a:srgbClr val="182D45"/>
                              </a:solidFill>
                              <a:latin typeface="Cambria Math"/>
                              <a:ea typeface="Cambria Math"/>
                              <a:cs typeface="Cambria Math"/>
                            </a:rPr>
                            <m:t>𝑎</m:t>
                          </m:r>
                        </m:e>
                        <m:sup>
                          <m:r>
                            <a:rPr lang="en-GB" sz="2250" b="0" dirty="0">
                              <a:solidFill>
                                <a:srgbClr val="182D45"/>
                              </a:solidFill>
                              <a:latin typeface="Cambria Math"/>
                              <a:ea typeface="Cambria Math"/>
                              <a:cs typeface="Cambria Math"/>
                            </a:rPr>
                            <m:t>∗</m:t>
                          </m:r>
                        </m:sup>
                      </m:sSup>
                      <m:r>
                        <a:rPr lang="en-GB" sz="2250" b="0" dirty="0">
                          <a:solidFill>
                            <a:srgbClr val="182D45"/>
                          </a:solidFill>
                          <a:latin typeface="Cambria Math"/>
                          <a:ea typeface="Cambria Math"/>
                          <a:cs typeface="Cambria Math"/>
                        </a:rPr>
                        <m:t>=</m:t>
                      </m:r>
                      <m:f>
                        <m:fPr>
                          <m:ctrlPr>
                            <a:rPr lang="en-GB" sz="2250" b="0" i="1" dirty="0">
                              <a:solidFill>
                                <a:srgbClr val="182D45"/>
                              </a:solidFill>
                              <a:latin typeface="Cambria Math" panose="02040503050406030204" pitchFamily="18" charset="0"/>
                              <a:ea typeface="Cambria Math"/>
                              <a:cs typeface="Cambria Math"/>
                            </a:rPr>
                          </m:ctrlPr>
                        </m:fPr>
                        <m:num>
                          <m:nary>
                            <m:naryPr>
                              <m:chr m:val="∑"/>
                              <m:limLoc m:val="undOvr"/>
                              <m:ctrlPr>
                                <a:rPr lang="en-GB" sz="2250" b="0" dirty="0">
                                  <a:solidFill>
                                    <a:srgbClr val="182D45"/>
                                  </a:solidFill>
                                  <a:latin typeface="Cambria Math"/>
                                  <a:ea typeface="Cambria Math"/>
                                  <a:cs typeface="Cambria Math"/>
                                </a:rPr>
                              </m:ctrlPr>
                            </m:naryPr>
                            <m:sub>
                              <m:r>
                                <a:rPr lang="en-GB" sz="2250" b="0" dirty="0">
                                  <a:solidFill>
                                    <a:srgbClr val="182D45"/>
                                  </a:solidFill>
                                  <a:latin typeface="Cambria Math"/>
                                  <a:ea typeface="Cambria Math"/>
                                  <a:cs typeface="Cambria Math"/>
                                </a:rPr>
                                <m:t>𝑖</m:t>
                              </m:r>
                              <m:r>
                                <a:rPr lang="en-GB" sz="2250" b="0" dirty="0">
                                  <a:solidFill>
                                    <a:srgbClr val="182D45"/>
                                  </a:solidFill>
                                  <a:latin typeface="Cambria Math"/>
                                  <a:ea typeface="Cambria Math"/>
                                  <a:cs typeface="Cambria Math"/>
                                </a:rPr>
                                <m:t>=1</m:t>
                              </m:r>
                            </m:sub>
                            <m:sup>
                              <m:r>
                                <a:rPr lang="en-GB" sz="2250" b="0" dirty="0">
                                  <a:solidFill>
                                    <a:srgbClr val="182D45"/>
                                  </a:solidFill>
                                  <a:latin typeface="Cambria Math"/>
                                  <a:ea typeface="Cambria Math"/>
                                  <a:cs typeface="Cambria Math"/>
                                </a:rPr>
                                <m:t>5</m:t>
                              </m:r>
                            </m:sup>
                            <m:e>
                              <m:sSub>
                                <m:sSubPr>
                                  <m:ctrlPr>
                                    <a:rPr lang="en-GB" sz="2250" b="0" dirty="0">
                                      <a:solidFill>
                                        <a:srgbClr val="182D45"/>
                                      </a:solidFill>
                                      <a:latin typeface="Cambria Math"/>
                                      <a:ea typeface="Cambria Math"/>
                                      <a:cs typeface="Cambria Math"/>
                                    </a:rPr>
                                  </m:ctrlPr>
                                </m:sSubPr>
                                <m:e>
                                  <m:r>
                                    <a:rPr lang="en-GB" sz="2250" b="0" dirty="0">
                                      <a:solidFill>
                                        <a:srgbClr val="182D45"/>
                                      </a:solidFill>
                                      <a:latin typeface="Cambria Math"/>
                                      <a:ea typeface="Cambria Math"/>
                                      <a:cs typeface="Cambria Math"/>
                                    </a:rPr>
                                    <m:t>𝑥</m:t>
                                  </m:r>
                                </m:e>
                                <m:sub>
                                  <m:r>
                                    <a:rPr lang="en-GB" sz="2250" b="0" dirty="0">
                                      <a:solidFill>
                                        <a:srgbClr val="182D45"/>
                                      </a:solidFill>
                                      <a:latin typeface="Cambria Math"/>
                                      <a:ea typeface="Cambria Math"/>
                                      <a:cs typeface="Cambria Math"/>
                                    </a:rPr>
                                    <m:t>𝑖</m:t>
                                  </m:r>
                                </m:sub>
                              </m:sSub>
                            </m:e>
                          </m:nary>
                          <m:sSub>
                            <m:sSubPr>
                              <m:ctrlPr>
                                <a:rPr lang="en-GB" sz="2250" b="0" dirty="0">
                                  <a:solidFill>
                                    <a:srgbClr val="182D45"/>
                                  </a:solidFill>
                                  <a:latin typeface="Cambria Math"/>
                                  <a:ea typeface="Cambria Math"/>
                                  <a:cs typeface="Cambria Math"/>
                                </a:rPr>
                              </m:ctrlPr>
                            </m:sSubPr>
                            <m:e>
                              <m:r>
                                <a:rPr lang="en-GB" sz="2250" b="0" dirty="0">
                                  <a:solidFill>
                                    <a:srgbClr val="182D45"/>
                                  </a:solidFill>
                                  <a:latin typeface="Cambria Math"/>
                                  <a:ea typeface="Cambria Math"/>
                                  <a:cs typeface="Cambria Math"/>
                                </a:rPr>
                                <m:t>𝑦</m:t>
                              </m:r>
                            </m:e>
                            <m:sub>
                              <m:r>
                                <a:rPr lang="en-GB" sz="2250" b="0" dirty="0">
                                  <a:solidFill>
                                    <a:srgbClr val="182D45"/>
                                  </a:solidFill>
                                  <a:latin typeface="Cambria Math"/>
                                  <a:ea typeface="Cambria Math"/>
                                  <a:cs typeface="Cambria Math"/>
                                </a:rPr>
                                <m:t>𝑖</m:t>
                              </m:r>
                            </m:sub>
                          </m:sSub>
                        </m:num>
                        <m:den>
                          <m:nary>
                            <m:naryPr>
                              <m:chr m:val="∑"/>
                              <m:limLoc m:val="undOvr"/>
                              <m:ctrlPr>
                                <a:rPr lang="en-GB" sz="2250" b="0" dirty="0">
                                  <a:solidFill>
                                    <a:srgbClr val="182D45"/>
                                  </a:solidFill>
                                  <a:latin typeface="Cambria Math"/>
                                  <a:ea typeface="Cambria Math"/>
                                  <a:cs typeface="Cambria Math"/>
                                </a:rPr>
                              </m:ctrlPr>
                            </m:naryPr>
                            <m:sub>
                              <m:r>
                                <a:rPr lang="en-GB" sz="2250" b="0" dirty="0">
                                  <a:solidFill>
                                    <a:srgbClr val="182D45"/>
                                  </a:solidFill>
                                  <a:latin typeface="Cambria Math"/>
                                  <a:ea typeface="Cambria Math"/>
                                  <a:cs typeface="Cambria Math"/>
                                </a:rPr>
                                <m:t>𝑖</m:t>
                              </m:r>
                              <m:r>
                                <a:rPr lang="en-GB" sz="2250" b="0" dirty="0">
                                  <a:solidFill>
                                    <a:srgbClr val="182D45"/>
                                  </a:solidFill>
                                  <a:latin typeface="Cambria Math"/>
                                  <a:ea typeface="Cambria Math"/>
                                  <a:cs typeface="Cambria Math"/>
                                </a:rPr>
                                <m:t>=1</m:t>
                              </m:r>
                            </m:sub>
                            <m:sup>
                              <m:r>
                                <a:rPr lang="en-GB" sz="2250" b="0" dirty="0">
                                  <a:solidFill>
                                    <a:srgbClr val="182D45"/>
                                  </a:solidFill>
                                  <a:latin typeface="Cambria Math"/>
                                  <a:ea typeface="Cambria Math"/>
                                  <a:cs typeface="Cambria Math"/>
                                </a:rPr>
                                <m:t>5</m:t>
                              </m:r>
                            </m:sup>
                            <m:e>
                              <m:sSubSup>
                                <m:sSubSupPr>
                                  <m:ctrlPr>
                                    <a:rPr lang="en-GB" sz="2250" b="0" dirty="0">
                                      <a:solidFill>
                                        <a:srgbClr val="182D45"/>
                                      </a:solidFill>
                                      <a:latin typeface="Cambria Math"/>
                                      <a:ea typeface="Cambria Math"/>
                                      <a:cs typeface="Cambria Math"/>
                                    </a:rPr>
                                  </m:ctrlPr>
                                </m:sSubSupPr>
                                <m:e>
                                  <m:r>
                                    <a:rPr lang="en-GB" sz="2250" b="0" dirty="0">
                                      <a:solidFill>
                                        <a:srgbClr val="182D45"/>
                                      </a:solidFill>
                                      <a:latin typeface="Cambria Math"/>
                                      <a:ea typeface="Cambria Math"/>
                                      <a:cs typeface="Cambria Math"/>
                                    </a:rPr>
                                    <m:t>𝑥</m:t>
                                  </m:r>
                                </m:e>
                                <m:sub>
                                  <m:r>
                                    <a:rPr lang="en-GB" sz="2250" b="0" dirty="0">
                                      <a:solidFill>
                                        <a:srgbClr val="182D45"/>
                                      </a:solidFill>
                                      <a:latin typeface="Cambria Math"/>
                                      <a:ea typeface="Cambria Math"/>
                                      <a:cs typeface="Cambria Math"/>
                                    </a:rPr>
                                    <m:t>𝑖</m:t>
                                  </m:r>
                                </m:sub>
                                <m:sup>
                                  <m:r>
                                    <a:rPr lang="en-GB" sz="2250" b="0" dirty="0">
                                      <a:solidFill>
                                        <a:srgbClr val="182D45"/>
                                      </a:solidFill>
                                      <a:latin typeface="Cambria Math"/>
                                      <a:ea typeface="Cambria Math"/>
                                      <a:cs typeface="Cambria Math"/>
                                    </a:rPr>
                                    <m:t>2</m:t>
                                  </m:r>
                                </m:sup>
                              </m:sSubSup>
                            </m:e>
                          </m:nary>
                        </m:den>
                      </m:f>
                      <m:r>
                        <a:rPr lang="en-GB" sz="2250" b="0" dirty="0">
                          <a:solidFill>
                            <a:srgbClr val="182D45"/>
                          </a:solidFill>
                          <a:latin typeface="Cambria Math"/>
                          <a:ea typeface="Cambria Math"/>
                          <a:cs typeface="Cambria Math"/>
                        </a:rPr>
                        <m:t>=</m:t>
                      </m:r>
                      <m:f>
                        <m:fPr>
                          <m:ctrlPr>
                            <a:rPr lang="en-GB" sz="2250" b="0" dirty="0">
                              <a:solidFill>
                                <a:srgbClr val="182D45"/>
                              </a:solidFill>
                              <a:latin typeface="Cambria Math"/>
                              <a:ea typeface="Cambria Math"/>
                              <a:cs typeface="Cambria Math"/>
                            </a:rPr>
                          </m:ctrlPr>
                        </m:fPr>
                        <m:num>
                          <m:r>
                            <a:rPr lang="en-GB" sz="2250" b="0" dirty="0">
                              <a:solidFill>
                                <a:srgbClr val="182D45"/>
                              </a:solidFill>
                              <a:latin typeface="Cambria Math"/>
                              <a:ea typeface="Cambria Math"/>
                              <a:cs typeface="Cambria Math"/>
                            </a:rPr>
                            <m:t>20</m:t>
                          </m:r>
                        </m:num>
                        <m:den>
                          <m:r>
                            <a:rPr lang="en-GB" sz="2250" b="0" dirty="0">
                              <a:solidFill>
                                <a:srgbClr val="182D45"/>
                              </a:solidFill>
                              <a:latin typeface="Cambria Math"/>
                              <a:ea typeface="Cambria Math"/>
                              <a:cs typeface="Cambria Math"/>
                            </a:rPr>
                            <m:t>10</m:t>
                          </m:r>
                        </m:den>
                      </m:f>
                      <m:r>
                        <a:rPr lang="en-GB" sz="2250" b="0" dirty="0">
                          <a:solidFill>
                            <a:srgbClr val="182D45"/>
                          </a:solidFill>
                          <a:latin typeface="Cambria Math"/>
                          <a:ea typeface="Cambria Math"/>
                          <a:cs typeface="Cambria Math"/>
                        </a:rPr>
                        <m:t>=2</m:t>
                      </m:r>
                    </m:oMath>
                  </m:oMathPara>
                </a14:m>
                <a:endParaRPr lang="en-GB" sz="2250" b="0" i="0" dirty="0">
                  <a:solidFill>
                    <a:srgbClr val="182D45"/>
                  </a:solidFill>
                  <a:latin typeface="DejaVu Sans"/>
                  <a:ea typeface="DejaVu Sans"/>
                  <a:cs typeface="DejaVu Sans"/>
                </a:endParaRPr>
              </a:p>
            </p:txBody>
          </p:sp>
        </mc:Choice>
        <mc:Fallback xmlns="">
          <p:sp>
            <p:nvSpPr>
              <p:cNvPr id="4" name="eq_71">
                <a:extLst>
                  <a:ext uri="{FF2B5EF4-FFF2-40B4-BE49-F238E27FC236}">
                    <a16:creationId xmlns:a16="http://schemas.microsoft.com/office/drawing/2014/main" id="{CA7E58F6-0CE3-4D46-A78D-C6E0F82B7DD9}"/>
                  </a:ext>
                </a:extLst>
              </p:cNvPr>
              <p:cNvSpPr txBox="1">
                <a:spLocks noGrp="1" noRot="1" noChangeAspect="1" noMove="1" noResize="1" noEditPoints="1" noAdjustHandles="1" noChangeArrowheads="1" noChangeShapeType="1" noTextEdit="1"/>
              </p:cNvSpPr>
              <p:nvPr/>
            </p:nvSpPr>
            <p:spPr>
              <a:xfrm>
                <a:off x="6887713" y="3801904"/>
                <a:ext cx="4636391" cy="10287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72">
                <a:extLst>
                  <a:ext uri="{FF2B5EF4-FFF2-40B4-BE49-F238E27FC236}">
                    <a16:creationId xmlns:a16="http://schemas.microsoft.com/office/drawing/2014/main" id="{1FAC91D0-F9C2-4FF4-A86D-1032BA5C7BC1}"/>
                  </a:ext>
                </a:extLst>
              </p:cNvPr>
              <p:cNvSpPr txBox="1">
                <a:spLocks noGrp="1"/>
              </p:cNvSpPr>
              <p:nvPr/>
            </p:nvSpPr>
            <p:spPr>
              <a:xfrm>
                <a:off x="6848473" y="4819650"/>
                <a:ext cx="4675632" cy="762000"/>
              </a:xfrm>
              <a:prstGeom prst="rect">
                <a:avLst/>
              </a:prstGeom>
              <a:noFill/>
              <a:ln w="0">
                <a:noFill/>
              </a:ln>
            </p:spPr>
            <p:txBody>
              <a:bodyPr vertOverflow="overflow" wrap="none" lIns="0" tIns="0" rIns="0" bIns="0" anchor="ctr">
                <a:noAutofit/>
              </a:bodyPr>
              <a:lstStyle/>
              <a:p>
                <a:pPr algn="ctr">
                  <a:defRPr lang="en-GB" sz="2550" b="0" i="0" dirty="0">
                    <a:solidFill>
                      <a:srgbClr val="00858A"/>
                    </a:solidFill>
                    <a:latin typeface="DejaVu Sans"/>
                    <a:ea typeface="DejaVu Sans"/>
                    <a:cs typeface="DejaVu Sans"/>
                  </a:defRPr>
                </a:pPr>
                <a14:m>
                  <m:oMathPara xmlns:m="http://schemas.openxmlformats.org/officeDocument/2006/math">
                    <m:oMath>
                      <m:sSubSup>
                        <m:sSubSupPr>
                          <m:ctrlPr>
                            <a:rPr lang="en-GB" sz="2400" dirty="0">
                              <a:solidFill>
                                <a:schemeClr val="accent1"/>
                              </a:solidFill>
                              <a:latin typeface="Cambria Math"/>
                              <a:ea typeface="Cambria Math"/>
                              <a:cs typeface="Cambria Math"/>
                            </a:rPr>
                          </m:ctrlPr>
                        </m:sSubSupPr>
                        <m:e>
                          <m:r>
                            <a:rPr lang="en-GB" sz="2400" dirty="0">
                              <a:solidFill>
                                <a:schemeClr val="accent1"/>
                              </a:solidFill>
                              <a:latin typeface="Cambria Math"/>
                              <a:ea typeface="Cambria Math"/>
                              <a:cs typeface="Cambria Math"/>
                            </a:rPr>
                            <m:t>ℒ</m:t>
                          </m:r>
                        </m:e>
                        <m:sub>
                          <m:r>
                            <m:rPr>
                              <m:sty m:val="p"/>
                            </m:rPr>
                            <a:rPr lang="en-GB" sz="2400" dirty="0">
                              <a:solidFill>
                                <a:schemeClr val="accent1"/>
                              </a:solidFill>
                              <a:latin typeface="Cambria Math"/>
                              <a:ea typeface="Cambria Math"/>
                              <a:cs typeface="Cambria Math"/>
                            </a:rPr>
                            <m:t>sq</m:t>
                          </m:r>
                        </m:sub>
                        <m:sup>
                          <m:r>
                            <m:rPr>
                              <m:sty m:val="p"/>
                            </m:rPr>
                            <a:rPr lang="it-IT" sz="2400" dirty="0">
                              <a:solidFill>
                                <a:schemeClr val="accent1"/>
                              </a:solidFill>
                              <a:latin typeface="Cambria Math" panose="02040503050406030204" pitchFamily="18" charset="0"/>
                              <a:ea typeface="Cambria Math"/>
                              <a:cs typeface="Cambria Math"/>
                            </a:rPr>
                            <m:t>slope</m:t>
                          </m:r>
                        </m:sup>
                      </m:sSubSup>
                      <m:d>
                        <m:dPr>
                          <m:ctrlPr>
                            <a:rPr lang="it-IT" sz="2550" b="0" i="1" dirty="0" smtClean="0">
                              <a:solidFill>
                                <a:srgbClr val="00858A"/>
                              </a:solidFill>
                              <a:latin typeface="Cambria Math" panose="02040503050406030204" pitchFamily="18" charset="0"/>
                              <a:ea typeface="Cambria Math"/>
                              <a:cs typeface="Cambria Math"/>
                            </a:rPr>
                          </m:ctrlPr>
                        </m:dPr>
                        <m:e>
                          <m:sSup>
                            <m:sSupPr>
                              <m:ctrlPr>
                                <a:rPr lang="it-IT" sz="2550" b="0" i="1" dirty="0" smtClean="0">
                                  <a:solidFill>
                                    <a:srgbClr val="00858A"/>
                                  </a:solidFill>
                                  <a:latin typeface="Cambria Math" panose="02040503050406030204" pitchFamily="18" charset="0"/>
                                  <a:ea typeface="Cambria Math"/>
                                  <a:cs typeface="Cambria Math"/>
                                </a:rPr>
                              </m:ctrlPr>
                            </m:sSupPr>
                            <m:e>
                              <m:r>
                                <a:rPr lang="it-IT" sz="2550" b="0" i="1" dirty="0" smtClean="0">
                                  <a:solidFill>
                                    <a:srgbClr val="00858A"/>
                                  </a:solidFill>
                                  <a:latin typeface="Cambria Math" panose="02040503050406030204" pitchFamily="18" charset="0"/>
                                  <a:ea typeface="Cambria Math"/>
                                  <a:cs typeface="Cambria Math"/>
                                </a:rPr>
                                <m:t>𝑎</m:t>
                              </m:r>
                            </m:e>
                            <m:sup>
                              <m:r>
                                <a:rPr lang="it-IT" sz="2550" b="0" i="1" dirty="0" smtClean="0">
                                  <a:solidFill>
                                    <a:srgbClr val="00858A"/>
                                  </a:solidFill>
                                  <a:latin typeface="Cambria Math" panose="02040503050406030204" pitchFamily="18" charset="0"/>
                                  <a:ea typeface="Cambria Math"/>
                                  <a:cs typeface="Cambria Math"/>
                                </a:rPr>
                                <m:t>∗</m:t>
                              </m:r>
                            </m:sup>
                          </m:sSup>
                        </m:e>
                      </m:d>
                      <m:r>
                        <a:rPr lang="en-GB" sz="2550" b="0" dirty="0">
                          <a:solidFill>
                            <a:srgbClr val="00858A"/>
                          </a:solidFill>
                          <a:latin typeface="Cambria Math"/>
                          <a:ea typeface="Cambria Math"/>
                          <a:cs typeface="Cambria Math"/>
                        </a:rPr>
                        <m:t>=26</m:t>
                      </m:r>
                    </m:oMath>
                  </m:oMathPara>
                </a14:m>
                <a:endParaRPr lang="en-GB" sz="2550" b="0" i="0" dirty="0">
                  <a:solidFill>
                    <a:srgbClr val="00858A"/>
                  </a:solidFill>
                  <a:latin typeface="DejaVu Sans"/>
                  <a:ea typeface="DejaVu Sans"/>
                  <a:cs typeface="DejaVu Sans"/>
                </a:endParaRPr>
              </a:p>
            </p:txBody>
          </p:sp>
        </mc:Choice>
        <mc:Fallback xmlns="">
          <p:sp>
            <p:nvSpPr>
              <p:cNvPr id="5" name="eq_72">
                <a:extLst>
                  <a:ext uri="{FF2B5EF4-FFF2-40B4-BE49-F238E27FC236}">
                    <a16:creationId xmlns:a16="http://schemas.microsoft.com/office/drawing/2014/main" id="{1FAC91D0-F9C2-4FF4-A86D-1032BA5C7BC1}"/>
                  </a:ext>
                </a:extLst>
              </p:cNvPr>
              <p:cNvSpPr txBox="1">
                <a:spLocks noGrp="1" noRot="1" noChangeAspect="1" noMove="1" noResize="1" noEditPoints="1" noAdjustHandles="1" noChangeArrowheads="1" noChangeShapeType="1" noTextEdit="1"/>
              </p:cNvSpPr>
              <p:nvPr/>
            </p:nvSpPr>
            <p:spPr>
              <a:xfrm>
                <a:off x="6848473" y="4819650"/>
                <a:ext cx="4675632" cy="7620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xt_74">
                <a:extLst>
                  <a:ext uri="{FF2B5EF4-FFF2-40B4-BE49-F238E27FC236}">
                    <a16:creationId xmlns:a16="http://schemas.microsoft.com/office/drawing/2014/main" id="{5E1D42C3-DA27-413F-9AAE-D8824417F4D2}"/>
                  </a:ext>
                </a:extLst>
              </p:cNvPr>
              <p:cNvSpPr txBox="1">
                <a:spLocks noGrp="1"/>
              </p:cNvSpPr>
              <p:nvPr/>
            </p:nvSpPr>
            <p:spPr>
              <a:xfrm>
                <a:off x="609600" y="5581650"/>
                <a:ext cx="11029950" cy="1028700"/>
              </a:xfrm>
              <a:prstGeom prst="rect">
                <a:avLst/>
              </a:prstGeom>
              <a:noFill/>
              <a:ln w="0">
                <a:noFill/>
              </a:ln>
            </p:spPr>
            <p:txBody>
              <a:bodyPr vertOverflow="overflow" wrap="square" lIns="0" tIns="0" rIns="0" bIns="0" anchor="ctr">
                <a:noAutofit/>
              </a:bodyPr>
              <a:lstStyle/>
              <a:p>
                <a:pPr algn="ctr">
                  <a:defRPr lang="en-GB" sz="1800" b="1" i="0" dirty="0">
                    <a:solidFill>
                      <a:srgbClr val="00858A"/>
                    </a:solidFill>
                    <a:latin typeface="DejaVu Sans"/>
                    <a:ea typeface="DejaVu Sans"/>
                    <a:cs typeface="DejaVu Sans"/>
                  </a:defRPr>
                </a:pPr>
                <a:r>
                  <a:rPr lang="en-GB" sz="1800" i="0" dirty="0">
                    <a:solidFill>
                      <a:srgbClr val="00858A"/>
                    </a:solidFill>
                    <a:latin typeface="DejaVu Sans"/>
                    <a:ea typeface="DejaVu Sans"/>
                    <a:cs typeface="DejaVu Sans"/>
                  </a:rPr>
                  <a:t>On these data, this fit improves on the best constant, for which </a:t>
                </a:r>
                <a14:m>
                  <m:oMath xmlns:m="http://schemas.openxmlformats.org/officeDocument/2006/math">
                    <m:sSubSup>
                      <m:sSubSupPr>
                        <m:ctrlPr>
                          <a:rPr lang="en-GB" b="0" dirty="0">
                            <a:solidFill>
                              <a:schemeClr val="accent1"/>
                            </a:solidFill>
                            <a:latin typeface="Cambria Math"/>
                            <a:ea typeface="Cambria Math"/>
                            <a:cs typeface="Cambria Math"/>
                          </a:rPr>
                        </m:ctrlPr>
                      </m:sSubSupPr>
                      <m:e>
                        <m:r>
                          <a:rPr lang="en-GB" b="0" dirty="0">
                            <a:solidFill>
                              <a:schemeClr val="accent1"/>
                            </a:solidFill>
                            <a:latin typeface="Cambria Math"/>
                            <a:ea typeface="Cambria Math"/>
                            <a:cs typeface="Cambria Math"/>
                          </a:rPr>
                          <m:t>ℒ</m:t>
                        </m:r>
                      </m:e>
                      <m:sub>
                        <m:r>
                          <m:rPr>
                            <m:sty m:val="p"/>
                          </m:rPr>
                          <a:rPr lang="en-GB" b="0" dirty="0">
                            <a:solidFill>
                              <a:schemeClr val="accent1"/>
                            </a:solidFill>
                            <a:latin typeface="Cambria Math"/>
                            <a:ea typeface="Cambria Math"/>
                            <a:cs typeface="Cambria Math"/>
                          </a:rPr>
                          <m:t>sq</m:t>
                        </m:r>
                      </m:sub>
                      <m:sup>
                        <m:r>
                          <m:rPr>
                            <m:sty m:val="p"/>
                          </m:rPr>
                          <a:rPr lang="it-IT" b="0" dirty="0">
                            <a:solidFill>
                              <a:schemeClr val="accent1"/>
                            </a:solidFill>
                            <a:latin typeface="Cambria Math" panose="02040503050406030204" pitchFamily="18" charset="0"/>
                            <a:ea typeface="Cambria Math"/>
                            <a:cs typeface="Cambria Math"/>
                          </a:rPr>
                          <m:t>const</m:t>
                        </m:r>
                      </m:sup>
                    </m:sSubSup>
                    <m:d>
                      <m:dPr>
                        <m:ctrlPr>
                          <a:rPr lang="it-IT" b="0" i="1" dirty="0" smtClean="0">
                            <a:solidFill>
                              <a:srgbClr val="087F83"/>
                            </a:solidFill>
                            <a:latin typeface="Cambria Math" panose="02040503050406030204" pitchFamily="18" charset="0"/>
                            <a:ea typeface="Cambria Math"/>
                            <a:cs typeface="Cambria Math"/>
                          </a:rPr>
                        </m:ctrlPr>
                      </m:dPr>
                      <m:e>
                        <m:sSup>
                          <m:sSupPr>
                            <m:ctrlPr>
                              <a:rPr lang="it-IT" b="0" i="1" dirty="0" smtClean="0">
                                <a:solidFill>
                                  <a:srgbClr val="087F83"/>
                                </a:solidFill>
                                <a:latin typeface="Cambria Math" panose="02040503050406030204" pitchFamily="18" charset="0"/>
                                <a:ea typeface="Cambria Math"/>
                                <a:cs typeface="Cambria Math"/>
                              </a:rPr>
                            </m:ctrlPr>
                          </m:sSupPr>
                          <m:e>
                            <m:r>
                              <a:rPr lang="it-IT" b="0" i="1" dirty="0" smtClean="0">
                                <a:solidFill>
                                  <a:srgbClr val="087F83"/>
                                </a:solidFill>
                                <a:latin typeface="Cambria Math" panose="02040503050406030204" pitchFamily="18" charset="0"/>
                                <a:ea typeface="Cambria Math"/>
                                <a:cs typeface="Cambria Math"/>
                              </a:rPr>
                              <m:t>𝑏</m:t>
                            </m:r>
                          </m:e>
                          <m:sup>
                            <m:r>
                              <a:rPr lang="it-IT" b="1" i="1" dirty="0" smtClean="0">
                                <a:solidFill>
                                  <a:srgbClr val="087F83"/>
                                </a:solidFill>
                                <a:latin typeface="Cambria Math" panose="02040503050406030204" pitchFamily="18" charset="0"/>
                                <a:ea typeface="Cambria Math"/>
                                <a:cs typeface="Cambria Math"/>
                              </a:rPr>
                              <m:t>∗</m:t>
                            </m:r>
                          </m:sup>
                        </m:sSup>
                      </m:e>
                    </m:d>
                    <m:r>
                      <a:rPr lang="en-GB" b="0" dirty="0">
                        <a:solidFill>
                          <a:srgbClr val="087F83"/>
                        </a:solidFill>
                        <a:latin typeface="Cambria Math"/>
                        <a:ea typeface="Cambria Math"/>
                        <a:cs typeface="Cambria Math"/>
                      </a:rPr>
                      <m:t>=</m:t>
                    </m:r>
                    <m:r>
                      <m:rPr>
                        <m:nor/>
                      </m:rPr>
                      <a:rPr lang="en-GB" i="0" dirty="0">
                        <a:solidFill>
                          <a:srgbClr val="087F83"/>
                        </a:solidFill>
                        <a:latin typeface="Cambria Math"/>
                        <a:ea typeface="Cambria Math"/>
                        <a:cs typeface="Cambria Math"/>
                      </a:rPr>
                      <m:t>46</m:t>
                    </m:r>
                    <m:r>
                      <m:rPr>
                        <m:nor/>
                      </m:rPr>
                      <a:rPr lang="it-IT" b="1" i="0" dirty="0" smtClean="0">
                        <a:solidFill>
                          <a:srgbClr val="087F83"/>
                        </a:solidFill>
                        <a:latin typeface="Cambria Math"/>
                        <a:ea typeface="Cambria Math"/>
                        <a:cs typeface="Cambria Math"/>
                      </a:rPr>
                      <m:t>.</m:t>
                    </m:r>
                  </m:oMath>
                </a14:m>
                <a:endParaRPr lang="en-GB" sz="1800" i="0" dirty="0">
                  <a:solidFill>
                    <a:srgbClr val="00858A"/>
                  </a:solidFill>
                  <a:latin typeface="DejaVu Sans"/>
                  <a:ea typeface="DejaVu Sans"/>
                  <a:cs typeface="DejaVu Sans"/>
                </a:endParaRPr>
              </a:p>
            </p:txBody>
          </p:sp>
        </mc:Choice>
        <mc:Fallback xmlns="">
          <p:sp>
            <p:nvSpPr>
              <p:cNvPr id="7" name="txt_74">
                <a:extLst>
                  <a:ext uri="{FF2B5EF4-FFF2-40B4-BE49-F238E27FC236}">
                    <a16:creationId xmlns:a16="http://schemas.microsoft.com/office/drawing/2014/main" id="{5E1D42C3-DA27-413F-9AAE-D8824417F4D2}"/>
                  </a:ext>
                </a:extLst>
              </p:cNvPr>
              <p:cNvSpPr txBox="1">
                <a:spLocks noGrp="1" noRot="1" noChangeAspect="1" noMove="1" noResize="1" noEditPoints="1" noAdjustHandles="1" noChangeArrowheads="1" noChangeShapeType="1" noTextEdit="1"/>
              </p:cNvSpPr>
              <p:nvPr/>
            </p:nvSpPr>
            <p:spPr>
              <a:xfrm>
                <a:off x="609600" y="5581650"/>
                <a:ext cx="11029950" cy="10287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graphicFrame>
            <p:nvGraphicFramePr>
              <p:cNvPr id="11" name="Slope fit data table">
                <a:extLst>
                  <a:ext uri="{FF2B5EF4-FFF2-40B4-BE49-F238E27FC236}">
                    <a16:creationId xmlns:a16="http://schemas.microsoft.com/office/drawing/2014/main" id="{0637CCCB-9483-42FC-B919-9F4EDB255B46}"/>
                  </a:ext>
                </a:extLst>
              </p:cNvPr>
              <p:cNvGraphicFramePr>
                <a:graphicFrameLocks noGrp="1"/>
              </p:cNvGraphicFramePr>
              <p:nvPr>
                <p:extLst>
                  <p:ext uri="{D42A27DB-BD31-4B8C-83A1-F6EECF244321}">
                    <p14:modId xmlns:p14="http://schemas.microsoft.com/office/powerpoint/2010/main" val="2768233683"/>
                  </p:ext>
                </p:extLst>
              </p:nvPr>
            </p:nvGraphicFramePr>
            <p:xfrm>
              <a:off x="6096000" y="1276446"/>
              <a:ext cx="5955788" cy="2163508"/>
            </p:xfrm>
            <a:graphic>
              <a:graphicData uri="http://schemas.openxmlformats.org/drawingml/2006/table">
                <a:tbl>
                  <a:tblPr/>
                  <a:tblGrid>
                    <a:gridCol w="1184475">
                      <a:extLst>
                        <a:ext uri="{9D8B030D-6E8A-4147-A177-3AD203B41FA5}">
                          <a16:colId xmlns:a16="http://schemas.microsoft.com/office/drawing/2014/main" val="2362854992"/>
                        </a:ext>
                      </a:extLst>
                    </a:gridCol>
                    <a:gridCol w="797242">
                      <a:extLst>
                        <a:ext uri="{9D8B030D-6E8A-4147-A177-3AD203B41FA5}">
                          <a16:colId xmlns:a16="http://schemas.microsoft.com/office/drawing/2014/main" val="669850203"/>
                        </a:ext>
                      </a:extLst>
                    </a:gridCol>
                    <a:gridCol w="797242">
                      <a:extLst>
                        <a:ext uri="{9D8B030D-6E8A-4147-A177-3AD203B41FA5}">
                          <a16:colId xmlns:a16="http://schemas.microsoft.com/office/drawing/2014/main" val="951708791"/>
                        </a:ext>
                      </a:extLst>
                    </a:gridCol>
                    <a:gridCol w="797242">
                      <a:extLst>
                        <a:ext uri="{9D8B030D-6E8A-4147-A177-3AD203B41FA5}">
                          <a16:colId xmlns:a16="http://schemas.microsoft.com/office/drawing/2014/main" val="2096207023"/>
                        </a:ext>
                      </a:extLst>
                    </a:gridCol>
                    <a:gridCol w="797242">
                      <a:extLst>
                        <a:ext uri="{9D8B030D-6E8A-4147-A177-3AD203B41FA5}">
                          <a16:colId xmlns:a16="http://schemas.microsoft.com/office/drawing/2014/main" val="667122023"/>
                        </a:ext>
                      </a:extLst>
                    </a:gridCol>
                    <a:gridCol w="797242">
                      <a:extLst>
                        <a:ext uri="{9D8B030D-6E8A-4147-A177-3AD203B41FA5}">
                          <a16:colId xmlns:a16="http://schemas.microsoft.com/office/drawing/2014/main" val="1216145221"/>
                        </a:ext>
                      </a:extLst>
                    </a:gridCol>
                    <a:gridCol w="785103">
                      <a:extLst>
                        <a:ext uri="{9D8B030D-6E8A-4147-A177-3AD203B41FA5}">
                          <a16:colId xmlns:a16="http://schemas.microsoft.com/office/drawing/2014/main" val="836618976"/>
                        </a:ext>
                      </a:extLst>
                    </a:gridCol>
                  </a:tblGrid>
                  <a:tr h="628847">
                    <a:tc>
                      <a:txBody>
                        <a:bodyPr/>
                        <a:lstStyle/>
                        <a:p>
                          <a:pPr algn="l"/>
                          <a:r>
                            <a:rPr sz="1600" b="1" dirty="0" err="1">
                              <a:solidFill>
                                <a:srgbClr val="182D45"/>
                              </a:solidFill>
                              <a:latin typeface="DejaVu Sans"/>
                              <a:ea typeface="DejaVu Sans"/>
                              <a:cs typeface="DejaVu Sans"/>
                            </a:rPr>
                            <a:t>Obs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tc>
                      <a:txBody>
                        <a:bodyPr/>
                        <a:lstStyle/>
                        <a:p>
                          <a:pPr algn="ctr"/>
                          <a14:m>
                            <m:oMathPara xmlns:m="http://schemas.openxmlformats.org/officeDocument/2006/math">
                              <m:oMath>
                                <m:sSubSup>
                                  <m:sSubSupPr>
                                    <m:ctrlPr>
                                      <a:rPr lang="en-GB" sz="1800" dirty="0">
                                        <a:solidFill>
                                          <a:srgbClr val="182D45"/>
                                        </a:solidFill>
                                        <a:latin typeface="Cambria Math"/>
                                        <a:ea typeface="Cambria Math"/>
                                        <a:cs typeface="Cambria Math"/>
                                      </a:rPr>
                                    </m:ctrlPr>
                                  </m:sSubSupPr>
                                  <m:e>
                                    <m:r>
                                      <a:rPr lang="en-GB" sz="1800" dirty="0">
                                        <a:solidFill>
                                          <a:srgbClr val="182D45"/>
                                        </a:solidFill>
                                        <a:latin typeface="Cambria Math"/>
                                        <a:ea typeface="Cambria Math"/>
                                        <a:cs typeface="Cambria Math"/>
                                      </a:rPr>
                                      <m:t>ℒ</m:t>
                                    </m:r>
                                  </m:e>
                                  <m:sub>
                                    <m:r>
                                      <m:rPr>
                                        <m:sty m:val="p"/>
                                      </m:rPr>
                                      <a:rPr lang="en-GB" sz="1800" dirty="0">
                                        <a:solidFill>
                                          <a:srgbClr val="182D45"/>
                                        </a:solidFill>
                                        <a:latin typeface="Cambria Math"/>
                                        <a:ea typeface="Cambria Math"/>
                                        <a:cs typeface="Cambria Math"/>
                                      </a:rPr>
                                      <m:t>sq</m:t>
                                    </m:r>
                                  </m:sub>
                                  <m:sup>
                                    <m:r>
                                      <m:rPr>
                                        <m:sty m:val="p"/>
                                      </m:rPr>
                                      <a:rPr lang="it-IT" sz="1800" dirty="0">
                                        <a:solidFill>
                                          <a:srgbClr val="182D45"/>
                                        </a:solidFill>
                                        <a:latin typeface="Cambria Math" panose="02040503050406030204" pitchFamily="18" charset="0"/>
                                        <a:ea typeface="Cambria Math"/>
                                        <a:cs typeface="Cambria Math"/>
                                      </a:rPr>
                                      <m:t>slope</m:t>
                                    </m:r>
                                  </m:sup>
                                </m:sSubSup>
                              </m:oMath>
                            </m:oMathPara>
                          </a14:m>
                          <a:endParaRPr lang="en-GB" sz="1800" b="0" i="0" baseline="-25000" dirty="0">
                            <a:solidFill>
                              <a:srgbClr val="182D45"/>
                            </a:solidFill>
                            <a:latin typeface="Cambria Math"/>
                            <a:ea typeface="Cambria Math"/>
                            <a:cs typeface="Cambria Math"/>
                          </a:endParaRPr>
                        </a:p>
                      </a:txBody>
                      <a:tcPr anchor="ctr">
                        <a:solidFill>
                          <a:srgbClr val="F0F5F8"/>
                        </a:solidFill>
                      </a:tcPr>
                    </a:tc>
                    <a:extLst>
                      <a:ext uri="{0D108BD9-81ED-4DB2-BD59-A6C34878D82A}">
                        <a16:rowId xmlns:a16="http://schemas.microsoft.com/office/drawing/2014/main" val="986434405"/>
                      </a:ext>
                    </a:extLst>
                  </a:tr>
                  <a:tr h="399715">
                    <a:tc>
                      <a:txBody>
                        <a:bodyPr/>
                        <a:lstStyle/>
                        <a:p>
                          <a:pPr algn="l"/>
                          <a:r>
                            <a:rPr sz="1600" b="0">
                              <a:solidFill>
                                <a:srgbClr val="182D45"/>
                              </a:solidFill>
                              <a:latin typeface="DejaVu Sans"/>
                              <a:ea typeface="DejaVu Sans"/>
                              <a:cs typeface="DejaVu Sans"/>
                            </a:rPr>
                            <a:t>Input</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endParaRPr sz="1600" dirty="0"/>
                        </a:p>
                      </a:txBody>
                      <a:tcPr anchor="ctr">
                        <a:solidFill>
                          <a:srgbClr val="FFFFFF"/>
                        </a:solidFill>
                      </a:tcPr>
                    </a:tc>
                    <a:extLst>
                      <a:ext uri="{0D108BD9-81ED-4DB2-BD59-A6C34878D82A}">
                        <a16:rowId xmlns:a16="http://schemas.microsoft.com/office/drawing/2014/main" val="1420119408"/>
                      </a:ext>
                    </a:extLst>
                  </a:tr>
                  <a:tr h="506099">
                    <a:tc>
                      <a:txBody>
                        <a:bodyPr/>
                        <a:lstStyle/>
                        <a:p>
                          <a:pPr algn="l"/>
                          <a:r>
                            <a:rPr sz="16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600" b="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tc>
                      <a:txBody>
                        <a:bodyPr/>
                        <a:lstStyle/>
                        <a:p>
                          <a:endParaRPr sz="1600"/>
                        </a:p>
                      </a:txBody>
                      <a:tcPr anchor="ctr">
                        <a:solidFill>
                          <a:srgbClr val="FFFFFF"/>
                        </a:solidFill>
                      </a:tcPr>
                    </a:tc>
                    <a:extLst>
                      <a:ext uri="{0D108BD9-81ED-4DB2-BD59-A6C34878D82A}">
                        <a16:rowId xmlns:a16="http://schemas.microsoft.com/office/drawing/2014/main" val="1134578397"/>
                      </a:ext>
                    </a:extLst>
                  </a:tr>
                  <a:tr h="628847">
                    <a:tc>
                      <a:txBody>
                        <a:bodyPr/>
                        <a:lstStyle/>
                        <a:p>
                          <a:pPr algn="l"/>
                          <a:r>
                            <a:rPr sz="1600" b="0" dirty="0">
                              <a:solidFill>
                                <a:srgbClr val="182D45"/>
                              </a:solidFill>
                              <a:latin typeface="DejaVu Sans"/>
                              <a:ea typeface="DejaVu Sans"/>
                              <a:cs typeface="DejaVu Sans"/>
                            </a:rPr>
                            <a:t>Squared</a:t>
                          </a:r>
                        </a:p>
                        <a:p>
                          <a:pPr algn="l"/>
                          <a:r>
                            <a:rPr sz="1600" b="0" dirty="0">
                              <a:solidFill>
                                <a:srgbClr val="182D45"/>
                              </a:solidFill>
                              <a:latin typeface="DejaVu Sans"/>
                              <a:ea typeface="DejaVu Sans"/>
                              <a:cs typeface="DejaVu Sans"/>
                            </a:rPr>
                            <a:t>residual</a:t>
                          </a: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6.25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6.25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26</a:t>
                          </a:r>
                        </a:p>
                      </a:txBody>
                      <a:tcPr anchor="ctr">
                        <a:solidFill>
                          <a:srgbClr val="FFFFFF"/>
                        </a:solidFill>
                      </a:tcPr>
                    </a:tc>
                    <a:extLst>
                      <a:ext uri="{0D108BD9-81ED-4DB2-BD59-A6C34878D82A}">
                        <a16:rowId xmlns:a16="http://schemas.microsoft.com/office/drawing/2014/main" val="1090811800"/>
                      </a:ext>
                    </a:extLst>
                  </a:tr>
                </a:tbl>
              </a:graphicData>
            </a:graphic>
          </p:graphicFrame>
        </mc:Choice>
        <mc:Fallback xmlns="">
          <p:graphicFrame>
            <p:nvGraphicFramePr>
              <p:cNvPr id="11" name="Slope fit data table">
                <a:extLst>
                  <a:ext uri="{FF2B5EF4-FFF2-40B4-BE49-F238E27FC236}">
                    <a16:creationId xmlns:a16="http://schemas.microsoft.com/office/drawing/2014/main" id="{0637CCCB-9483-42FC-B919-9F4EDB255B46}"/>
                  </a:ext>
                </a:extLst>
              </p:cNvPr>
              <p:cNvGraphicFramePr>
                <a:graphicFrameLocks noGrp="1"/>
              </p:cNvGraphicFramePr>
              <p:nvPr>
                <p:extLst>
                  <p:ext uri="{D42A27DB-BD31-4B8C-83A1-F6EECF244321}">
                    <p14:modId xmlns:p14="http://schemas.microsoft.com/office/powerpoint/2010/main" val="2768233683"/>
                  </p:ext>
                </p:extLst>
              </p:nvPr>
            </p:nvGraphicFramePr>
            <p:xfrm>
              <a:off x="6096000" y="1276446"/>
              <a:ext cx="5955788" cy="2163508"/>
            </p:xfrm>
            <a:graphic>
              <a:graphicData uri="http://schemas.openxmlformats.org/drawingml/2006/table">
                <a:tbl>
                  <a:tblPr/>
                  <a:tblGrid>
                    <a:gridCol w="1184475">
                      <a:extLst>
                        <a:ext uri="{9D8B030D-6E8A-4147-A177-3AD203B41FA5}">
                          <a16:colId xmlns:a16="http://schemas.microsoft.com/office/drawing/2014/main" val="2362854992"/>
                        </a:ext>
                      </a:extLst>
                    </a:gridCol>
                    <a:gridCol w="797242">
                      <a:extLst>
                        <a:ext uri="{9D8B030D-6E8A-4147-A177-3AD203B41FA5}">
                          <a16:colId xmlns:a16="http://schemas.microsoft.com/office/drawing/2014/main" val="669850203"/>
                        </a:ext>
                      </a:extLst>
                    </a:gridCol>
                    <a:gridCol w="797242">
                      <a:extLst>
                        <a:ext uri="{9D8B030D-6E8A-4147-A177-3AD203B41FA5}">
                          <a16:colId xmlns:a16="http://schemas.microsoft.com/office/drawing/2014/main" val="951708791"/>
                        </a:ext>
                      </a:extLst>
                    </a:gridCol>
                    <a:gridCol w="797242">
                      <a:extLst>
                        <a:ext uri="{9D8B030D-6E8A-4147-A177-3AD203B41FA5}">
                          <a16:colId xmlns:a16="http://schemas.microsoft.com/office/drawing/2014/main" val="2096207023"/>
                        </a:ext>
                      </a:extLst>
                    </a:gridCol>
                    <a:gridCol w="797242">
                      <a:extLst>
                        <a:ext uri="{9D8B030D-6E8A-4147-A177-3AD203B41FA5}">
                          <a16:colId xmlns:a16="http://schemas.microsoft.com/office/drawing/2014/main" val="667122023"/>
                        </a:ext>
                      </a:extLst>
                    </a:gridCol>
                    <a:gridCol w="797242">
                      <a:extLst>
                        <a:ext uri="{9D8B030D-6E8A-4147-A177-3AD203B41FA5}">
                          <a16:colId xmlns:a16="http://schemas.microsoft.com/office/drawing/2014/main" val="1216145221"/>
                        </a:ext>
                      </a:extLst>
                    </a:gridCol>
                    <a:gridCol w="785103">
                      <a:extLst>
                        <a:ext uri="{9D8B030D-6E8A-4147-A177-3AD203B41FA5}">
                          <a16:colId xmlns:a16="http://schemas.microsoft.com/office/drawing/2014/main" val="836618976"/>
                        </a:ext>
                      </a:extLst>
                    </a:gridCol>
                  </a:tblGrid>
                  <a:tr h="628847">
                    <a:tc>
                      <a:txBody>
                        <a:bodyPr/>
                        <a:lstStyle/>
                        <a:p>
                          <a:pPr algn="l"/>
                          <a:r>
                            <a:rPr sz="1600" b="1" dirty="0" err="1">
                              <a:solidFill>
                                <a:srgbClr val="182D45"/>
                              </a:solidFill>
                              <a:latin typeface="DejaVu Sans"/>
                              <a:ea typeface="DejaVu Sans"/>
                              <a:cs typeface="DejaVu Sans"/>
                            </a:rPr>
                            <a:t>Obs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tc>
                      <a:txBody>
                        <a:bodyPr/>
                        <a:lstStyle/>
                        <a:p>
                          <a:endParaRPr lang="it-IT"/>
                        </a:p>
                      </a:txBody>
                      <a:tcPr anchor="ctr">
                        <a:blipFill>
                          <a:blip r:embed="rId7"/>
                          <a:stretch>
                            <a:fillRect l="-658915" t="-971" r="-2326" b="-253398"/>
                          </a:stretch>
                        </a:blipFill>
                      </a:tcPr>
                    </a:tc>
                    <a:extLst>
                      <a:ext uri="{0D108BD9-81ED-4DB2-BD59-A6C34878D82A}">
                        <a16:rowId xmlns:a16="http://schemas.microsoft.com/office/drawing/2014/main" val="986434405"/>
                      </a:ext>
                    </a:extLst>
                  </a:tr>
                  <a:tr h="399715">
                    <a:tc>
                      <a:txBody>
                        <a:bodyPr/>
                        <a:lstStyle/>
                        <a:p>
                          <a:pPr algn="l"/>
                          <a:r>
                            <a:rPr sz="1600" b="0">
                              <a:solidFill>
                                <a:srgbClr val="182D45"/>
                              </a:solidFill>
                              <a:latin typeface="DejaVu Sans"/>
                              <a:ea typeface="DejaVu Sans"/>
                              <a:cs typeface="DejaVu Sans"/>
                            </a:rPr>
                            <a:t>Input</a:t>
                          </a:r>
                        </a:p>
                      </a:txBody>
                      <a:tcPr anchor="ctr">
                        <a:solidFill>
                          <a:srgbClr val="FFFFFF"/>
                        </a:solidFill>
                      </a:tcPr>
                    </a:tc>
                    <a:tc>
                      <a:txBody>
                        <a:bodyPr/>
                        <a:lstStyle/>
                        <a:p>
                          <a:pPr algn="ctr"/>
                          <a:r>
                            <a:rPr sz="1600" b="0">
                              <a:solidFill>
                                <a:srgbClr val="182D45"/>
                              </a:solidFill>
                              <a:latin typeface="DejaVu Sans"/>
                              <a:ea typeface="DejaVu Sans"/>
                              <a:cs typeface="DejaVu Sans"/>
                            </a:rPr>
                            <a:t>−2</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endParaRPr sz="1600" dirty="0"/>
                        </a:p>
                      </a:txBody>
                      <a:tcPr anchor="ctr">
                        <a:solidFill>
                          <a:srgbClr val="FFFFFF"/>
                        </a:solidFill>
                      </a:tcPr>
                    </a:tc>
                    <a:extLst>
                      <a:ext uri="{0D108BD9-81ED-4DB2-BD59-A6C34878D82A}">
                        <a16:rowId xmlns:a16="http://schemas.microsoft.com/office/drawing/2014/main" val="1420119408"/>
                      </a:ext>
                    </a:extLst>
                  </a:tr>
                  <a:tr h="506099">
                    <a:tc>
                      <a:txBody>
                        <a:bodyPr/>
                        <a:lstStyle/>
                        <a:p>
                          <a:pPr algn="l"/>
                          <a:r>
                            <a:rPr sz="16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600" b="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2.5</a:t>
                          </a:r>
                        </a:p>
                      </a:txBody>
                      <a:tcPr anchor="ctr">
                        <a:solidFill>
                          <a:srgbClr val="FFFFFF"/>
                        </a:solidFill>
                      </a:tcPr>
                    </a:tc>
                    <a:tc>
                      <a:txBody>
                        <a:bodyPr/>
                        <a:lstStyle/>
                        <a:p>
                          <a:pPr algn="ctr"/>
                          <a:r>
                            <a:rPr sz="1600" b="0">
                              <a:solidFill>
                                <a:srgbClr val="182D45"/>
                              </a:solidFill>
                              <a:latin typeface="DejaVu Sans"/>
                              <a:ea typeface="DejaVu Sans"/>
                              <a:cs typeface="DejaVu Sans"/>
                            </a:rPr>
                            <a:t>7.5</a:t>
                          </a:r>
                        </a:p>
                      </a:txBody>
                      <a:tcPr anchor="ctr">
                        <a:solidFill>
                          <a:srgbClr val="FFFFFF"/>
                        </a:solidFill>
                      </a:tcPr>
                    </a:tc>
                    <a:tc>
                      <a:txBody>
                        <a:bodyPr/>
                        <a:lstStyle/>
                        <a:p>
                          <a:endParaRPr sz="1600"/>
                        </a:p>
                      </a:txBody>
                      <a:tcPr anchor="ctr">
                        <a:solidFill>
                          <a:srgbClr val="FFFFFF"/>
                        </a:solidFill>
                      </a:tcPr>
                    </a:tc>
                    <a:extLst>
                      <a:ext uri="{0D108BD9-81ED-4DB2-BD59-A6C34878D82A}">
                        <a16:rowId xmlns:a16="http://schemas.microsoft.com/office/drawing/2014/main" val="1134578397"/>
                      </a:ext>
                    </a:extLst>
                  </a:tr>
                  <a:tr h="628847">
                    <a:tc>
                      <a:txBody>
                        <a:bodyPr/>
                        <a:lstStyle/>
                        <a:p>
                          <a:pPr algn="l"/>
                          <a:r>
                            <a:rPr sz="1600" b="0" dirty="0">
                              <a:solidFill>
                                <a:srgbClr val="182D45"/>
                              </a:solidFill>
                              <a:latin typeface="DejaVu Sans"/>
                              <a:ea typeface="DejaVu Sans"/>
                              <a:cs typeface="DejaVu Sans"/>
                            </a:rPr>
                            <a:t>Squared</a:t>
                          </a:r>
                        </a:p>
                        <a:p>
                          <a:pPr algn="l"/>
                          <a:r>
                            <a:rPr sz="1600" b="0" dirty="0">
                              <a:solidFill>
                                <a:srgbClr val="182D45"/>
                              </a:solidFill>
                              <a:latin typeface="DejaVu Sans"/>
                              <a:ea typeface="DejaVu Sans"/>
                              <a:cs typeface="DejaVu Sans"/>
                            </a:rPr>
                            <a:t>residual</a:t>
                          </a: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6.25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6.25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26</a:t>
                          </a:r>
                        </a:p>
                      </a:txBody>
                      <a:tcPr anchor="ctr">
                        <a:solidFill>
                          <a:srgbClr val="FFFFFF"/>
                        </a:solidFill>
                      </a:tcPr>
                    </a:tc>
                    <a:extLst>
                      <a:ext uri="{0D108BD9-81ED-4DB2-BD59-A6C34878D82A}">
                        <a16:rowId xmlns:a16="http://schemas.microsoft.com/office/drawing/2014/main" val="1090811800"/>
                      </a:ext>
                    </a:extLst>
                  </a:tr>
                </a:tbl>
              </a:graphicData>
            </a:graphic>
          </p:graphicFrame>
        </mc:Fallback>
      </mc:AlternateContent>
    </p:spTree>
    <p:extLst>
      <p:ext uri="{BB962C8B-B14F-4D97-AF65-F5344CB8AC3E}">
        <p14:creationId xmlns:p14="http://schemas.microsoft.com/office/powerpoint/2010/main" val="434038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F195925A-662E-4D9F-AA71-EE8E0A1A6EAE}"/>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Fitting both slope and intercept</a:t>
            </a:r>
          </a:p>
        </p:txBody>
      </p:sp>
      <p:sp>
        <p:nvSpPr>
          <p:cNvPr id="2" name="page_number">
            <a:extLst>
              <a:ext uri="{FF2B5EF4-FFF2-40B4-BE49-F238E27FC236}">
                <a16:creationId xmlns:a16="http://schemas.microsoft.com/office/drawing/2014/main" id="{33B53D53-ADED-4038-8875-1C486D11466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20</a:t>
            </a:r>
          </a:p>
        </p:txBody>
      </p:sp>
      <p:sp>
        <p:nvSpPr>
          <p:cNvPr id="3" name="txt_75">
            <a:extLst>
              <a:ext uri="{FF2B5EF4-FFF2-40B4-BE49-F238E27FC236}">
                <a16:creationId xmlns:a16="http://schemas.microsoft.com/office/drawing/2014/main" id="{B9221E6F-9997-495C-A929-1FF12B6EE396}"/>
              </a:ext>
            </a:extLst>
          </p:cNvPr>
          <p:cNvSpPr>
            <a:spLocks noGrp="1"/>
          </p:cNvSpPr>
          <p:nvPr/>
        </p:nvSpPr>
        <p:spPr>
          <a:xfrm>
            <a:off x="609600" y="1257300"/>
            <a:ext cx="10953750" cy="762000"/>
          </a:xfrm>
          <a:prstGeom prst="rect">
            <a:avLst/>
          </a:prstGeom>
          <a:noFill/>
          <a:ln w="0">
            <a:noFill/>
          </a:ln>
        </p:spPr>
        <p:txBody>
          <a:bodyPr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Now both coefficients vary. We collect them in a column vector.</a:t>
            </a:r>
          </a:p>
        </p:txBody>
      </p:sp>
      <mc:AlternateContent xmlns:mc="http://schemas.openxmlformats.org/markup-compatibility/2006" xmlns:a14="http://schemas.microsoft.com/office/drawing/2010/main">
        <mc:Choice Requires="a14">
          <p:sp>
            <p:nvSpPr>
              <p:cNvPr id="4" name="eq_76">
                <a:extLst>
                  <a:ext uri="{FF2B5EF4-FFF2-40B4-BE49-F238E27FC236}">
                    <a16:creationId xmlns:a16="http://schemas.microsoft.com/office/drawing/2014/main" id="{6AA8E87D-0883-471C-9F11-86E0EBB4F288}"/>
                  </a:ext>
                </a:extLst>
              </p:cNvPr>
              <p:cNvSpPr txBox="1">
                <a:spLocks noGrp="1"/>
              </p:cNvSpPr>
              <p:nvPr/>
            </p:nvSpPr>
            <p:spPr>
              <a:xfrm>
                <a:off x="609600" y="2095500"/>
                <a:ext cx="6096000" cy="1162050"/>
              </a:xfrm>
              <a:prstGeom prst="rect">
                <a:avLst/>
              </a:prstGeom>
              <a:noFill/>
              <a:ln w="0">
                <a:noFill/>
              </a:ln>
            </p:spPr>
            <p:txBody>
              <a:bodyPr vertOverflow="overflow" wrap="none" lIns="0" tIns="0" rIns="0" bIns="0" anchor="ctr">
                <a:noAutofit/>
              </a:bodyPr>
              <a:lstStyle/>
              <a:p>
                <a:pPr marL="0" marR="0" indent="0" algn="ctr">
                  <a:defRPr lang="en-GB" sz="2400" b="0" i="0" dirty="0">
                    <a:solidFill>
                      <a:srgbClr val="00858A"/>
                    </a:solidFill>
                    <a:latin typeface="DejaVu Sans"/>
                    <a:ea typeface="DejaVu Sans"/>
                    <a:cs typeface="DejaVu Sans"/>
                  </a:defRPr>
                </a:pPr>
                <a14:m>
                  <m:oMathPara xmlns:m="http://schemas.openxmlformats.org/officeDocument/2006/math">
                    <m:oMath>
                      <m:r>
                        <a:rPr lang="en-GB" sz="2400" b="0" dirty="0">
                          <a:solidFill>
                            <a:srgbClr val="00858A"/>
                          </a:solidFill>
                          <a:latin typeface="Cambria Math"/>
                          <a:ea typeface="Cambria Math"/>
                          <a:cs typeface="Cambria Math"/>
                        </a:rPr>
                        <m:t>𝛉</m:t>
                      </m:r>
                      <m:r>
                        <a:rPr lang="en-GB" sz="2400" b="0" dirty="0">
                          <a:solidFill>
                            <a:srgbClr val="00858A"/>
                          </a:solidFill>
                          <a:latin typeface="Cambria Math"/>
                          <a:ea typeface="Cambria Math"/>
                          <a:cs typeface="Cambria Math"/>
                        </a:rPr>
                        <m:t>=</m:t>
                      </m:r>
                      <m:d>
                        <m:dPr>
                          <m:ctrlPr>
                            <a:rPr lang="en-GB" sz="2400" b="0" i="1" dirty="0">
                              <a:solidFill>
                                <a:srgbClr val="00858A"/>
                              </a:solidFill>
                              <a:latin typeface="Cambria Math" panose="02040503050406030204" pitchFamily="18" charset="0"/>
                              <a:ea typeface="Cambria Math"/>
                              <a:cs typeface="Cambria Math"/>
                            </a:rPr>
                          </m:ctrlPr>
                        </m:dPr>
                        <m:e>
                          <m:m>
                            <m:mPr>
                              <m:plcHide m:val="on"/>
                              <m:mcs>
                                <m:mc>
                                  <m:mcPr>
                                    <m:count m:val="1"/>
                                    <m:mcJc m:val="center"/>
                                  </m:mcPr>
                                </m:mc>
                              </m:mcs>
                              <m:ctrlPr>
                                <a:rPr lang="en-GB" sz="2400" b="0" i="1" dirty="0">
                                  <a:solidFill>
                                    <a:srgbClr val="00858A"/>
                                  </a:solidFill>
                                  <a:latin typeface="Cambria Math" panose="02040503050406030204" pitchFamily="18" charset="0"/>
                                  <a:ea typeface="Cambria Math"/>
                                  <a:cs typeface="Cambria Math"/>
                                </a:rPr>
                              </m:ctrlPr>
                            </m:mPr>
                            <m:mr>
                              <m:e>
                                <m:r>
                                  <a:rPr lang="en-GB" sz="2400" b="0" dirty="0">
                                    <a:solidFill>
                                      <a:srgbClr val="00858A"/>
                                    </a:solidFill>
                                    <a:latin typeface="Cambria Math"/>
                                    <a:ea typeface="Cambria Math"/>
                                    <a:cs typeface="Cambria Math"/>
                                  </a:rPr>
                                  <m:t>𝑏</m:t>
                                </m:r>
                              </m:e>
                            </m:mr>
                            <m:mr>
                              <m:e>
                                <m:r>
                                  <a:rPr lang="en-GB" sz="2400" b="0" dirty="0">
                                    <a:solidFill>
                                      <a:srgbClr val="00858A"/>
                                    </a:solidFill>
                                    <a:latin typeface="Cambria Math"/>
                                    <a:ea typeface="Cambria Math"/>
                                    <a:cs typeface="Cambria Math"/>
                                  </a:rPr>
                                  <m:t>𝑎</m:t>
                                </m:r>
                              </m:e>
                            </m:mr>
                          </m:m>
                        </m:e>
                      </m:d>
                      <m:r>
                        <a:rPr lang="en-GB" sz="2400" b="0" dirty="0">
                          <a:solidFill>
                            <a:srgbClr val="00858A"/>
                          </a:solidFill>
                          <a:latin typeface="Cambria Math"/>
                          <a:ea typeface="Cambria Math"/>
                          <a:cs typeface="Cambria Math"/>
                        </a:rPr>
                        <m:t>,  </m:t>
                      </m:r>
                      <m:sSub>
                        <m:sSubPr>
                          <m:ctrlPr>
                            <a:rPr lang="en-GB" sz="2400" b="0" dirty="0">
                              <a:solidFill>
                                <a:srgbClr val="00858A"/>
                              </a:solidFill>
                              <a:latin typeface="Cambria Math"/>
                              <a:ea typeface="Cambria Math"/>
                              <a:cs typeface="Cambria Math"/>
                            </a:rPr>
                          </m:ctrlPr>
                        </m:sSubPr>
                        <m:e>
                          <m:r>
                            <a:rPr lang="en-GB" sz="2400" b="0" dirty="0">
                              <a:solidFill>
                                <a:srgbClr val="00858A"/>
                              </a:solidFill>
                              <a:latin typeface="Cambria Math"/>
                              <a:ea typeface="Cambria Math"/>
                              <a:cs typeface="Cambria Math"/>
                            </a:rPr>
                            <m:t>𝑓</m:t>
                          </m:r>
                        </m:e>
                        <m:sub>
                          <m:r>
                            <a:rPr lang="en-GB" sz="2400" b="0" dirty="0">
                              <a:solidFill>
                                <a:srgbClr val="00858A"/>
                              </a:solidFill>
                              <a:latin typeface="Cambria Math"/>
                              <a:ea typeface="Cambria Math"/>
                              <a:cs typeface="Cambria Math"/>
                            </a:rPr>
                            <m:t>𝛉</m:t>
                          </m:r>
                        </m:sub>
                      </m:sSub>
                      <m:d>
                        <m:dPr>
                          <m:ctrlPr>
                            <a:rPr lang="en-GB" sz="2400" b="0" dirty="0">
                              <a:solidFill>
                                <a:srgbClr val="00858A"/>
                              </a:solidFill>
                              <a:latin typeface="Cambria Math"/>
                              <a:ea typeface="Cambria Math"/>
                              <a:cs typeface="Cambria Math"/>
                            </a:rPr>
                          </m:ctrlPr>
                        </m:dPr>
                        <m:e>
                          <m:r>
                            <a:rPr lang="en-GB" sz="2400" b="0" dirty="0">
                              <a:solidFill>
                                <a:srgbClr val="00858A"/>
                              </a:solidFill>
                              <a:latin typeface="Cambria Math"/>
                              <a:ea typeface="Cambria Math"/>
                              <a:cs typeface="Cambria Math"/>
                            </a:rPr>
                            <m:t>𝑥</m:t>
                          </m:r>
                        </m:e>
                      </m:d>
                      <m:r>
                        <a:rPr lang="en-GB" sz="2400" b="0" dirty="0">
                          <a:solidFill>
                            <a:srgbClr val="00858A"/>
                          </a:solidFill>
                          <a:latin typeface="Cambria Math"/>
                          <a:ea typeface="Cambria Math"/>
                          <a:cs typeface="Cambria Math"/>
                        </a:rPr>
                        <m:t>=</m:t>
                      </m:r>
                      <m:r>
                        <a:rPr lang="en-GB" sz="2400" b="0" dirty="0">
                          <a:solidFill>
                            <a:srgbClr val="00858A"/>
                          </a:solidFill>
                          <a:latin typeface="Cambria Math"/>
                          <a:ea typeface="Cambria Math"/>
                          <a:cs typeface="Cambria Math"/>
                        </a:rPr>
                        <m:t>𝑏</m:t>
                      </m:r>
                      <m:r>
                        <a:rPr lang="en-GB" sz="2400" b="0" dirty="0">
                          <a:solidFill>
                            <a:srgbClr val="00858A"/>
                          </a:solidFill>
                          <a:latin typeface="Cambria Math"/>
                          <a:ea typeface="Cambria Math"/>
                          <a:cs typeface="Cambria Math"/>
                        </a:rPr>
                        <m:t>+</m:t>
                      </m:r>
                      <m:r>
                        <a:rPr lang="en-GB" sz="2400" b="0" dirty="0">
                          <a:solidFill>
                            <a:srgbClr val="00858A"/>
                          </a:solidFill>
                          <a:latin typeface="Cambria Math"/>
                          <a:ea typeface="Cambria Math"/>
                          <a:cs typeface="Cambria Math"/>
                        </a:rPr>
                        <m:t>𝑎𝑥</m:t>
                      </m:r>
                    </m:oMath>
                  </m:oMathPara>
                </a14:m>
                <a:endParaRPr lang="en-GB" sz="2400" b="0" i="0" dirty="0">
                  <a:solidFill>
                    <a:srgbClr val="00858A"/>
                  </a:solidFill>
                  <a:latin typeface="DejaVu Sans"/>
                  <a:ea typeface="DejaVu Sans"/>
                  <a:cs typeface="DejaVu Sans"/>
                </a:endParaRPr>
              </a:p>
            </p:txBody>
          </p:sp>
        </mc:Choice>
        <mc:Fallback xmlns="">
          <p:sp>
            <p:nvSpPr>
              <p:cNvPr id="4" name="eq_76">
                <a:extLst>
                  <a:ext uri="{FF2B5EF4-FFF2-40B4-BE49-F238E27FC236}">
                    <a16:creationId xmlns:a16="http://schemas.microsoft.com/office/drawing/2014/main" id="{6AA8E87D-0883-471C-9F11-86E0EBB4F288}"/>
                  </a:ext>
                </a:extLst>
              </p:cNvPr>
              <p:cNvSpPr txBox="1">
                <a:spLocks noGrp="1" noRot="1" noChangeAspect="1" noMove="1" noResize="1" noEditPoints="1" noAdjustHandles="1" noChangeArrowheads="1" noChangeShapeType="1" noTextEdit="1"/>
              </p:cNvSpPr>
              <p:nvPr/>
            </p:nvSpPr>
            <p:spPr>
              <a:xfrm>
                <a:off x="609600" y="2095500"/>
                <a:ext cx="6096000" cy="11620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77">
                <a:extLst>
                  <a:ext uri="{FF2B5EF4-FFF2-40B4-BE49-F238E27FC236}">
                    <a16:creationId xmlns:a16="http://schemas.microsoft.com/office/drawing/2014/main" id="{1A3F6DBE-2CE6-45D8-AAE8-CD5ACE837417}"/>
                  </a:ext>
                </a:extLst>
              </p:cNvPr>
              <p:cNvSpPr txBox="1">
                <a:spLocks noGrp="1"/>
              </p:cNvSpPr>
              <p:nvPr/>
            </p:nvSpPr>
            <p:spPr>
              <a:xfrm>
                <a:off x="609600" y="3333750"/>
                <a:ext cx="6096000" cy="2266950"/>
              </a:xfrm>
              <a:prstGeom prst="rect">
                <a:avLst/>
              </a:prstGeom>
              <a:noFill/>
              <a:ln w="0">
                <a:noFill/>
              </a:ln>
            </p:spPr>
            <p:txBody>
              <a:bodyPr vertOverflow="overflow" wrap="none" lIns="0" tIns="0" rIns="0" bIns="0" anchor="ctr">
                <a:noAutofit/>
              </a:bodyPr>
              <a:lstStyle/>
              <a:p>
                <a:pPr algn="ctr">
                  <a:defRPr lang="en-GB" sz="2400" b="0" i="0" dirty="0">
                    <a:solidFill>
                      <a:srgbClr val="182D45"/>
                    </a:solidFill>
                    <a:latin typeface="DejaVu Sans"/>
                    <a:ea typeface="DejaVu Sans"/>
                    <a:cs typeface="DejaVu Sans"/>
                  </a:defRPr>
                </a:pPr>
                <a14:m>
                  <m:oMathPara xmlns:m="http://schemas.openxmlformats.org/officeDocument/2006/math">
                    <m:oMath>
                      <m:sSubSup>
                        <m:sSubSupPr>
                          <m:ctrlPr>
                            <a:rPr lang="en-GB" sz="2400" b="0" dirty="0">
                              <a:solidFill>
                                <a:srgbClr val="182D45"/>
                              </a:solidFill>
                              <a:latin typeface="Cambria Math"/>
                              <a:ea typeface="Cambria Math"/>
                              <a:cs typeface="Cambria Math"/>
                            </a:rPr>
                          </m:ctrlPr>
                        </m:sSubSupPr>
                        <m:e>
                          <m:r>
                            <a:rPr lang="en-GB" sz="2400" b="0" dirty="0">
                              <a:solidFill>
                                <a:srgbClr val="182D45"/>
                              </a:solidFill>
                              <a:latin typeface="Cambria Math"/>
                              <a:ea typeface="Cambria Math"/>
                              <a:cs typeface="Cambria Math"/>
                            </a:rPr>
                            <m:t>ℒ</m:t>
                          </m:r>
                        </m:e>
                        <m:sub>
                          <m:r>
                            <m:rPr>
                              <m:sty m:val="p"/>
                            </m:rPr>
                            <a:rPr lang="en-GB" sz="2400" b="0" dirty="0">
                              <a:solidFill>
                                <a:srgbClr val="182D45"/>
                              </a:solidFill>
                              <a:latin typeface="Cambria Math"/>
                              <a:ea typeface="Cambria Math"/>
                              <a:cs typeface="Cambria Math"/>
                            </a:rPr>
                            <m:t>sq</m:t>
                          </m:r>
                        </m:sub>
                        <m:sup>
                          <m:r>
                            <m:rPr>
                              <m:sty m:val="p"/>
                            </m:rPr>
                            <a:rPr lang="en-GB" sz="2400" b="0" dirty="0">
                              <a:solidFill>
                                <a:srgbClr val="182D45"/>
                              </a:solidFill>
                              <a:latin typeface="Cambria Math"/>
                              <a:ea typeface="Cambria Math"/>
                              <a:cs typeface="Cambria Math"/>
                            </a:rPr>
                            <m:t>aff</m:t>
                          </m:r>
                        </m:sup>
                      </m:sSubSup>
                      <m:d>
                        <m:dPr>
                          <m:ctrlPr>
                            <a:rPr lang="en-GB" sz="2400" b="0" dirty="0">
                              <a:solidFill>
                                <a:srgbClr val="182D45"/>
                              </a:solidFill>
                              <a:latin typeface="Cambria Math"/>
                              <a:ea typeface="Cambria Math"/>
                              <a:cs typeface="Cambria Math"/>
                            </a:rPr>
                          </m:ctrlPr>
                        </m:dPr>
                        <m:e>
                          <m:r>
                            <a:rPr lang="en-GB" sz="2400" b="0" dirty="0">
                              <a:solidFill>
                                <a:srgbClr val="182D45"/>
                              </a:solidFill>
                              <a:latin typeface="Cambria Math"/>
                              <a:ea typeface="Cambria Math"/>
                              <a:cs typeface="Cambria Math"/>
                            </a:rPr>
                            <m:t>𝑏</m:t>
                          </m:r>
                          <m:r>
                            <a:rPr lang="en-GB" sz="2400" b="0" dirty="0">
                              <a:solidFill>
                                <a:srgbClr val="182D45"/>
                              </a:solidFill>
                              <a:latin typeface="Cambria Math"/>
                              <a:ea typeface="Cambria Math"/>
                              <a:cs typeface="Cambria Math"/>
                            </a:rPr>
                            <m:t>,</m:t>
                          </m:r>
                          <m:r>
                            <a:rPr lang="en-GB" sz="2400" b="0" dirty="0">
                              <a:solidFill>
                                <a:srgbClr val="182D45"/>
                              </a:solidFill>
                              <a:latin typeface="Cambria Math"/>
                              <a:ea typeface="Cambria Math"/>
                              <a:cs typeface="Cambria Math"/>
                            </a:rPr>
                            <m:t>𝑎</m:t>
                          </m:r>
                        </m:e>
                      </m:d>
                      <m:r>
                        <a:rPr lang="en-GB" sz="2400" b="0" dirty="0">
                          <a:solidFill>
                            <a:srgbClr val="182D45"/>
                          </a:solidFill>
                          <a:latin typeface="Cambria Math"/>
                          <a:ea typeface="Cambria Math"/>
                          <a:cs typeface="Cambria Math"/>
                        </a:rPr>
                        <m:t>=</m:t>
                      </m:r>
                      <m:nary>
                        <m:naryPr>
                          <m:chr m:val="∑"/>
                          <m:limLoc m:val="undOvr"/>
                          <m:ctrlPr>
                            <a:rPr lang="en-GB" sz="2400" dirty="0">
                              <a:solidFill>
                                <a:srgbClr val="182D45"/>
                              </a:solidFill>
                              <a:latin typeface="Cambria Math"/>
                              <a:ea typeface="Cambria Math"/>
                              <a:cs typeface="Cambria Math"/>
                            </a:rPr>
                          </m:ctrlPr>
                        </m:naryPr>
                        <m:sub>
                          <m:r>
                            <a:rPr lang="en-GB" sz="2400" dirty="0">
                              <a:solidFill>
                                <a:srgbClr val="182D45"/>
                              </a:solidFill>
                              <a:latin typeface="Cambria Math"/>
                              <a:ea typeface="Cambria Math"/>
                              <a:cs typeface="Cambria Math"/>
                            </a:rPr>
                            <m:t>𝑖</m:t>
                          </m:r>
                          <m:r>
                            <a:rPr lang="en-GB" sz="2400" dirty="0">
                              <a:solidFill>
                                <a:srgbClr val="182D45"/>
                              </a:solidFill>
                              <a:latin typeface="Cambria Math"/>
                              <a:ea typeface="Cambria Math"/>
                              <a:cs typeface="Cambria Math"/>
                            </a:rPr>
                            <m:t>=1</m:t>
                          </m:r>
                        </m:sub>
                        <m:sup>
                          <m:r>
                            <a:rPr lang="en-GB" sz="2400" dirty="0">
                              <a:solidFill>
                                <a:srgbClr val="182D45"/>
                              </a:solidFill>
                              <a:latin typeface="Cambria Math"/>
                              <a:ea typeface="Cambria Math"/>
                              <a:cs typeface="Cambria Math"/>
                            </a:rPr>
                            <m:t>𝑁</m:t>
                          </m:r>
                        </m:sup>
                        <m:e>
                          <m:sSub>
                            <m:sSubPr>
                              <m:ctrlPr>
                                <a:rPr lang="it-IT" sz="2400" b="0" i="1" dirty="0" smtClean="0">
                                  <a:solidFill>
                                    <a:srgbClr val="182D45"/>
                                  </a:solidFill>
                                  <a:latin typeface="Cambria Math" panose="02040503050406030204" pitchFamily="18" charset="0"/>
                                  <a:ea typeface="Cambria Math"/>
                                  <a:cs typeface="Cambria Math"/>
                                </a:rPr>
                              </m:ctrlPr>
                            </m:sSubPr>
                            <m:e>
                              <m:r>
                                <m:rPr>
                                  <m:sty m:val="p"/>
                                </m:rPr>
                                <a:rPr lang="it-IT" sz="2400" b="0" i="1" dirty="0" smtClean="0">
                                  <a:solidFill>
                                    <a:srgbClr val="182D45"/>
                                  </a:solidFill>
                                  <a:latin typeface="Cambria Math" panose="02040503050406030204" pitchFamily="18" charset="0"/>
                                  <a:ea typeface="Cambria Math"/>
                                  <a:cs typeface="Cambria Math"/>
                                </a:rPr>
                                <m:t>ℓ</m:t>
                              </m:r>
                            </m:e>
                            <m:sub>
                              <m:r>
                                <m:rPr>
                                  <m:sty m:val="p"/>
                                </m:rPr>
                                <a:rPr lang="it-IT" sz="2400" b="0" i="0" dirty="0" smtClean="0">
                                  <a:solidFill>
                                    <a:srgbClr val="182D45"/>
                                  </a:solidFill>
                                  <a:latin typeface="Cambria Math" panose="02040503050406030204" pitchFamily="18" charset="0"/>
                                  <a:ea typeface="Cambria Math"/>
                                  <a:cs typeface="Cambria Math"/>
                                </a:rPr>
                                <m:t>sq</m:t>
                              </m:r>
                            </m:sub>
                          </m:sSub>
                          <m:d>
                            <m:dPr>
                              <m:ctrlPr>
                                <a:rPr lang="it-IT" sz="2400" b="0" i="1" dirty="0" smtClean="0">
                                  <a:solidFill>
                                    <a:srgbClr val="182D45"/>
                                  </a:solidFill>
                                  <a:latin typeface="Cambria Math" panose="02040503050406030204" pitchFamily="18" charset="0"/>
                                  <a:ea typeface="Cambria Math"/>
                                  <a:cs typeface="Cambria Math"/>
                                </a:rPr>
                              </m:ctrlPr>
                            </m:dPr>
                            <m:e>
                              <m:sSub>
                                <m:sSubPr>
                                  <m:ctrlPr>
                                    <a:rPr lang="it-IT" sz="2400" b="0" i="1" dirty="0" smtClean="0">
                                      <a:solidFill>
                                        <a:srgbClr val="182D45"/>
                                      </a:solidFill>
                                      <a:latin typeface="Cambria Math" panose="02040503050406030204" pitchFamily="18" charset="0"/>
                                      <a:ea typeface="Cambria Math"/>
                                      <a:cs typeface="Cambria Math"/>
                                    </a:rPr>
                                  </m:ctrlPr>
                                </m:sSubPr>
                                <m:e>
                                  <m:r>
                                    <a:rPr lang="it-IT" sz="2400" b="0" i="1" dirty="0" smtClean="0">
                                      <a:solidFill>
                                        <a:srgbClr val="182D45"/>
                                      </a:solidFill>
                                      <a:latin typeface="Cambria Math" panose="02040503050406030204" pitchFamily="18" charset="0"/>
                                      <a:ea typeface="Cambria Math"/>
                                      <a:cs typeface="Cambria Math"/>
                                    </a:rPr>
                                    <m:t>𝑓</m:t>
                                  </m:r>
                                </m:e>
                                <m:sub>
                                  <m:r>
                                    <a:rPr lang="it-IT" sz="2400" b="1" i="0" dirty="0" smtClean="0">
                                      <a:solidFill>
                                        <a:srgbClr val="182D45"/>
                                      </a:solidFill>
                                      <a:latin typeface="Cambria Math" panose="02040503050406030204" pitchFamily="18" charset="0"/>
                                      <a:ea typeface="Cambria Math"/>
                                      <a:cs typeface="Cambria Math"/>
                                    </a:rPr>
                                    <m:t>𝛉</m:t>
                                  </m:r>
                                </m:sub>
                              </m:sSub>
                              <m:d>
                                <m:dPr>
                                  <m:ctrlPr>
                                    <a:rPr lang="it-IT" sz="2400" b="0" i="1" dirty="0" smtClean="0">
                                      <a:solidFill>
                                        <a:srgbClr val="182D45"/>
                                      </a:solidFill>
                                      <a:latin typeface="Cambria Math" panose="02040503050406030204" pitchFamily="18" charset="0"/>
                                      <a:ea typeface="Cambria Math"/>
                                      <a:cs typeface="Cambria Math"/>
                                    </a:rPr>
                                  </m:ctrlPr>
                                </m:dPr>
                                <m:e>
                                  <m:sSub>
                                    <m:sSubPr>
                                      <m:ctrlPr>
                                        <a:rPr lang="it-IT" sz="2400" b="0" i="1" dirty="0" smtClean="0">
                                          <a:solidFill>
                                            <a:srgbClr val="182D45"/>
                                          </a:solidFill>
                                          <a:latin typeface="Cambria Math" panose="02040503050406030204" pitchFamily="18" charset="0"/>
                                          <a:ea typeface="Cambria Math"/>
                                          <a:cs typeface="Cambria Math"/>
                                        </a:rPr>
                                      </m:ctrlPr>
                                    </m:sSubPr>
                                    <m:e>
                                      <m:r>
                                        <a:rPr lang="it-IT" sz="2400" b="0" i="1" dirty="0" smtClean="0">
                                          <a:solidFill>
                                            <a:srgbClr val="182D45"/>
                                          </a:solidFill>
                                          <a:latin typeface="Cambria Math" panose="02040503050406030204" pitchFamily="18" charset="0"/>
                                          <a:ea typeface="Cambria Math"/>
                                          <a:cs typeface="Cambria Math"/>
                                        </a:rPr>
                                        <m:t>𝑥</m:t>
                                      </m:r>
                                    </m:e>
                                    <m:sub>
                                      <m:r>
                                        <a:rPr lang="it-IT" sz="2400" b="0" i="1" dirty="0" smtClean="0">
                                          <a:solidFill>
                                            <a:srgbClr val="182D45"/>
                                          </a:solidFill>
                                          <a:latin typeface="Cambria Math" panose="02040503050406030204" pitchFamily="18" charset="0"/>
                                          <a:ea typeface="Cambria Math"/>
                                          <a:cs typeface="Cambria Math"/>
                                        </a:rPr>
                                        <m:t>𝑖</m:t>
                                      </m:r>
                                    </m:sub>
                                  </m:sSub>
                                </m:e>
                              </m:d>
                              <m:r>
                                <a:rPr lang="it-IT" sz="2400" b="0" i="1" dirty="0" smtClean="0">
                                  <a:solidFill>
                                    <a:srgbClr val="182D45"/>
                                  </a:solidFill>
                                  <a:latin typeface="Cambria Math" panose="02040503050406030204" pitchFamily="18" charset="0"/>
                                  <a:ea typeface="Cambria Math"/>
                                  <a:cs typeface="Cambria Math"/>
                                </a:rPr>
                                <m:t>,</m:t>
                              </m:r>
                              <m:sSub>
                                <m:sSubPr>
                                  <m:ctrlPr>
                                    <a:rPr lang="it-IT" sz="2400" b="0" i="1" dirty="0" smtClean="0">
                                      <a:solidFill>
                                        <a:srgbClr val="182D45"/>
                                      </a:solidFill>
                                      <a:latin typeface="Cambria Math" panose="02040503050406030204" pitchFamily="18" charset="0"/>
                                      <a:ea typeface="Cambria Math"/>
                                      <a:cs typeface="Cambria Math"/>
                                    </a:rPr>
                                  </m:ctrlPr>
                                </m:sSubPr>
                                <m:e>
                                  <m:r>
                                    <a:rPr lang="it-IT" sz="2400" b="0" i="1" dirty="0" smtClean="0">
                                      <a:solidFill>
                                        <a:srgbClr val="182D45"/>
                                      </a:solidFill>
                                      <a:latin typeface="Cambria Math" panose="02040503050406030204" pitchFamily="18" charset="0"/>
                                      <a:ea typeface="Cambria Math"/>
                                      <a:cs typeface="Cambria Math"/>
                                    </a:rPr>
                                    <m:t>𝑦</m:t>
                                  </m:r>
                                </m:e>
                                <m:sub>
                                  <m:r>
                                    <a:rPr lang="it-IT" sz="2400" b="0" i="1" dirty="0" smtClean="0">
                                      <a:solidFill>
                                        <a:srgbClr val="182D45"/>
                                      </a:solidFill>
                                      <a:latin typeface="Cambria Math" panose="02040503050406030204" pitchFamily="18" charset="0"/>
                                      <a:ea typeface="Cambria Math"/>
                                      <a:cs typeface="Cambria Math"/>
                                    </a:rPr>
                                    <m:t>𝑖</m:t>
                                  </m:r>
                                </m:sub>
                              </m:sSub>
                            </m:e>
                          </m:d>
                        </m:e>
                      </m:nary>
                    </m:oMath>
                  </m:oMathPara>
                </a14:m>
                <a:endParaRPr lang="it-IT" sz="2400" i="1" dirty="0">
                  <a:solidFill>
                    <a:srgbClr val="182D45"/>
                  </a:solidFill>
                  <a:latin typeface="Cambria Math" panose="02040503050406030204" pitchFamily="18" charset="0"/>
                  <a:ea typeface="Cambria Math"/>
                  <a:cs typeface="Cambria Math"/>
                </a:endParaRPr>
              </a:p>
              <a:p>
                <a:pPr algn="ctr">
                  <a:defRPr lang="en-GB" sz="2400" b="0" i="0" dirty="0">
                    <a:solidFill>
                      <a:srgbClr val="182D45"/>
                    </a:solidFill>
                    <a:latin typeface="DejaVu Sans"/>
                    <a:ea typeface="DejaVu Sans"/>
                    <a:cs typeface="DejaVu Sans"/>
                  </a:defRPr>
                </a:pPr>
                <a:endParaRPr lang="it-IT" sz="800" i="1" dirty="0">
                  <a:solidFill>
                    <a:srgbClr val="182D45"/>
                  </a:solidFill>
                  <a:latin typeface="Cambria Math" panose="02040503050406030204" pitchFamily="18" charset="0"/>
                  <a:ea typeface="Cambria Math"/>
                  <a:cs typeface="Cambria Math"/>
                </a:endParaRPr>
              </a:p>
              <a:p>
                <a:pPr algn="ctr">
                  <a:defRPr lang="en-GB" sz="2400" b="0" i="0" dirty="0">
                    <a:solidFill>
                      <a:srgbClr val="182D45"/>
                    </a:solidFill>
                    <a:latin typeface="DejaVu Sans"/>
                    <a:ea typeface="DejaVu Sans"/>
                    <a:cs typeface="DejaVu Sans"/>
                  </a:defRPr>
                </a:pPr>
                <a14:m>
                  <m:oMathPara xmlns:m="http://schemas.openxmlformats.org/officeDocument/2006/math">
                    <m:oMath>
                      <m:r>
                        <a:rPr lang="it-IT" sz="2400" b="0" i="0" dirty="0" smtClean="0">
                          <a:solidFill>
                            <a:srgbClr val="182D45"/>
                          </a:solidFill>
                          <a:latin typeface="Cambria Math" panose="02040503050406030204" pitchFamily="18" charset="0"/>
                          <a:ea typeface="Cambria Math"/>
                          <a:cs typeface="Cambria Math"/>
                        </a:rPr>
                        <m:t>                     =</m:t>
                      </m:r>
                      <m:nary>
                        <m:naryPr>
                          <m:chr m:val="∑"/>
                          <m:limLoc m:val="undOvr"/>
                          <m:ctrlPr>
                            <a:rPr lang="en-GB" sz="2400" b="0" dirty="0">
                              <a:solidFill>
                                <a:srgbClr val="182D45"/>
                              </a:solidFill>
                              <a:latin typeface="Cambria Math"/>
                              <a:ea typeface="Cambria Math"/>
                              <a:cs typeface="Cambria Math"/>
                            </a:rPr>
                          </m:ctrlPr>
                        </m:naryPr>
                        <m:sub>
                          <m:r>
                            <a:rPr lang="en-GB" sz="2400" b="0" dirty="0">
                              <a:solidFill>
                                <a:srgbClr val="182D45"/>
                              </a:solidFill>
                              <a:latin typeface="Cambria Math"/>
                              <a:ea typeface="Cambria Math"/>
                              <a:cs typeface="Cambria Math"/>
                            </a:rPr>
                            <m:t>𝑖</m:t>
                          </m:r>
                          <m:r>
                            <a:rPr lang="en-GB" sz="2400" b="0" dirty="0">
                              <a:solidFill>
                                <a:srgbClr val="182D45"/>
                              </a:solidFill>
                              <a:latin typeface="Cambria Math"/>
                              <a:ea typeface="Cambria Math"/>
                              <a:cs typeface="Cambria Math"/>
                            </a:rPr>
                            <m:t>=1</m:t>
                          </m:r>
                        </m:sub>
                        <m:sup>
                          <m:r>
                            <a:rPr lang="en-GB" sz="2400" b="0" dirty="0">
                              <a:solidFill>
                                <a:srgbClr val="182D45"/>
                              </a:solidFill>
                              <a:latin typeface="Cambria Math"/>
                              <a:ea typeface="Cambria Math"/>
                              <a:cs typeface="Cambria Math"/>
                            </a:rPr>
                            <m:t>𝑁</m:t>
                          </m:r>
                        </m:sup>
                        <m:e>
                          <m:sSup>
                            <m:sSupPr>
                              <m:ctrlPr>
                                <a:rPr lang="en-GB" sz="2400" b="0" i="1" dirty="0">
                                  <a:solidFill>
                                    <a:srgbClr val="182D45"/>
                                  </a:solidFill>
                                  <a:latin typeface="Cambria Math" panose="02040503050406030204" pitchFamily="18" charset="0"/>
                                  <a:ea typeface="Cambria Math"/>
                                  <a:cs typeface="Cambria Math"/>
                                </a:rPr>
                              </m:ctrlPr>
                            </m:sSupPr>
                            <m:e>
                              <m:d>
                                <m:dPr>
                                  <m:ctrlPr>
                                    <a:rPr lang="en-GB" sz="2400" b="0" dirty="0">
                                      <a:solidFill>
                                        <a:srgbClr val="182D45"/>
                                      </a:solidFill>
                                      <a:latin typeface="Cambria Math"/>
                                      <a:ea typeface="Cambria Math"/>
                                      <a:cs typeface="Cambria Math"/>
                                    </a:rPr>
                                  </m:ctrlPr>
                                </m:dPr>
                                <m:e>
                                  <m:r>
                                    <a:rPr lang="en-GB" sz="2400" b="0" dirty="0">
                                      <a:solidFill>
                                        <a:srgbClr val="182D45"/>
                                      </a:solidFill>
                                      <a:latin typeface="Cambria Math"/>
                                      <a:ea typeface="Cambria Math"/>
                                      <a:cs typeface="Cambria Math"/>
                                    </a:rPr>
                                    <m:t>𝑏</m:t>
                                  </m:r>
                                  <m:r>
                                    <a:rPr lang="en-GB" sz="2400" b="0" dirty="0">
                                      <a:solidFill>
                                        <a:srgbClr val="182D45"/>
                                      </a:solidFill>
                                      <a:latin typeface="Cambria Math"/>
                                      <a:ea typeface="Cambria Math"/>
                                      <a:cs typeface="Cambria Math"/>
                                    </a:rPr>
                                    <m:t>+</m:t>
                                  </m:r>
                                  <m:r>
                                    <a:rPr lang="en-GB" sz="2400" b="0" dirty="0">
                                      <a:solidFill>
                                        <a:srgbClr val="182D45"/>
                                      </a:solidFill>
                                      <a:latin typeface="Cambria Math"/>
                                      <a:ea typeface="Cambria Math"/>
                                      <a:cs typeface="Cambria Math"/>
                                    </a:rPr>
                                    <m:t>𝑎</m:t>
                                  </m:r>
                                  <m:sSub>
                                    <m:sSubPr>
                                      <m:ctrlPr>
                                        <a:rPr lang="en-GB" sz="2400" b="0" dirty="0">
                                          <a:solidFill>
                                            <a:srgbClr val="182D45"/>
                                          </a:solidFill>
                                          <a:latin typeface="Cambria Math"/>
                                          <a:ea typeface="Cambria Math"/>
                                          <a:cs typeface="Cambria Math"/>
                                        </a:rPr>
                                      </m:ctrlPr>
                                    </m:sSubPr>
                                    <m:e>
                                      <m:r>
                                        <a:rPr lang="en-GB" sz="2400" b="0" dirty="0">
                                          <a:solidFill>
                                            <a:srgbClr val="182D45"/>
                                          </a:solidFill>
                                          <a:latin typeface="Cambria Math"/>
                                          <a:ea typeface="Cambria Math"/>
                                          <a:cs typeface="Cambria Math"/>
                                        </a:rPr>
                                        <m:t>𝑥</m:t>
                                      </m:r>
                                    </m:e>
                                    <m:sub>
                                      <m:r>
                                        <a:rPr lang="en-GB" sz="2400" b="0" dirty="0">
                                          <a:solidFill>
                                            <a:srgbClr val="182D45"/>
                                          </a:solidFill>
                                          <a:latin typeface="Cambria Math"/>
                                          <a:ea typeface="Cambria Math"/>
                                          <a:cs typeface="Cambria Math"/>
                                        </a:rPr>
                                        <m:t>𝑖</m:t>
                                      </m:r>
                                    </m:sub>
                                  </m:sSub>
                                  <m:r>
                                    <a:rPr lang="en-GB" sz="2400" b="0" dirty="0">
                                      <a:solidFill>
                                        <a:srgbClr val="182D45"/>
                                      </a:solidFill>
                                      <a:latin typeface="Cambria Math"/>
                                      <a:ea typeface="Cambria Math"/>
                                      <a:cs typeface="Cambria Math"/>
                                    </a:rPr>
                                    <m:t>−</m:t>
                                  </m:r>
                                  <m:sSub>
                                    <m:sSubPr>
                                      <m:ctrlPr>
                                        <a:rPr lang="en-GB" sz="2400" b="0" dirty="0">
                                          <a:solidFill>
                                            <a:srgbClr val="182D45"/>
                                          </a:solidFill>
                                          <a:latin typeface="Cambria Math"/>
                                          <a:ea typeface="Cambria Math"/>
                                          <a:cs typeface="Cambria Math"/>
                                        </a:rPr>
                                      </m:ctrlPr>
                                    </m:sSubPr>
                                    <m:e>
                                      <m:r>
                                        <a:rPr lang="en-GB" sz="2400" b="0" dirty="0">
                                          <a:solidFill>
                                            <a:srgbClr val="182D45"/>
                                          </a:solidFill>
                                          <a:latin typeface="Cambria Math"/>
                                          <a:ea typeface="Cambria Math"/>
                                          <a:cs typeface="Cambria Math"/>
                                        </a:rPr>
                                        <m:t>𝑦</m:t>
                                      </m:r>
                                    </m:e>
                                    <m:sub>
                                      <m:r>
                                        <a:rPr lang="en-GB" sz="2400" b="0" dirty="0">
                                          <a:solidFill>
                                            <a:srgbClr val="182D45"/>
                                          </a:solidFill>
                                          <a:latin typeface="Cambria Math"/>
                                          <a:ea typeface="Cambria Math"/>
                                          <a:cs typeface="Cambria Math"/>
                                        </a:rPr>
                                        <m:t>𝑖</m:t>
                                      </m:r>
                                    </m:sub>
                                  </m:sSub>
                                </m:e>
                              </m:d>
                            </m:e>
                            <m:sup>
                              <m:r>
                                <a:rPr lang="en-GB" sz="2400" b="0" dirty="0">
                                  <a:solidFill>
                                    <a:srgbClr val="182D45"/>
                                  </a:solidFill>
                                  <a:latin typeface="Cambria Math"/>
                                  <a:ea typeface="Cambria Math"/>
                                  <a:cs typeface="Cambria Math"/>
                                </a:rPr>
                                <m:t>2</m:t>
                              </m:r>
                            </m:sup>
                          </m:sSup>
                        </m:e>
                      </m:nary>
                    </m:oMath>
                  </m:oMathPara>
                </a14:m>
                <a:endParaRPr lang="it-IT" sz="2400" b="0" i="0" dirty="0">
                  <a:solidFill>
                    <a:srgbClr val="182D45"/>
                  </a:solidFill>
                  <a:latin typeface="DejaVu Sans"/>
                  <a:ea typeface="Cambria Math"/>
                  <a:cs typeface="Cambria Math"/>
                </a:endParaRPr>
              </a:p>
            </p:txBody>
          </p:sp>
        </mc:Choice>
        <mc:Fallback xmlns="">
          <p:sp>
            <p:nvSpPr>
              <p:cNvPr id="5" name="eq_77">
                <a:extLst>
                  <a:ext uri="{FF2B5EF4-FFF2-40B4-BE49-F238E27FC236}">
                    <a16:creationId xmlns:a16="http://schemas.microsoft.com/office/drawing/2014/main" id="{1A3F6DBE-2CE6-45D8-AAE8-CD5ACE837417}"/>
                  </a:ext>
                </a:extLst>
              </p:cNvPr>
              <p:cNvSpPr txBox="1">
                <a:spLocks noGrp="1" noRot="1" noChangeAspect="1" noMove="1" noResize="1" noEditPoints="1" noAdjustHandles="1" noChangeArrowheads="1" noChangeShapeType="1" noTextEdit="1"/>
              </p:cNvSpPr>
              <p:nvPr/>
            </p:nvSpPr>
            <p:spPr>
              <a:xfrm>
                <a:off x="609600" y="3333750"/>
                <a:ext cx="6096000" cy="2266950"/>
              </a:xfrm>
              <a:prstGeom prst="rect">
                <a:avLst/>
              </a:prstGeom>
              <a:blipFill>
                <a:blip r:embed="rId4"/>
                <a:stretch>
                  <a:fillRect/>
                </a:stretch>
              </a:blipFill>
              <a:ln w="0">
                <a:noFill/>
              </a:ln>
            </p:spPr>
            <p:txBody>
              <a:bodyPr/>
              <a:lstStyle/>
              <a:p>
                <a:r>
                  <a:rPr lang="it-IT">
                    <a:noFill/>
                  </a:rPr>
                  <a:t> </a:t>
                </a:r>
              </a:p>
            </p:txBody>
          </p:sp>
        </mc:Fallback>
      </mc:AlternateContent>
      <p:sp>
        <p:nvSpPr>
          <p:cNvPr id="6" name="txt_78">
            <a:extLst>
              <a:ext uri="{FF2B5EF4-FFF2-40B4-BE49-F238E27FC236}">
                <a16:creationId xmlns:a16="http://schemas.microsoft.com/office/drawing/2014/main" id="{892C4906-9FA8-4C9E-B966-8A7AD28A5164}"/>
              </a:ext>
            </a:extLst>
          </p:cNvPr>
          <p:cNvSpPr>
            <a:spLocks noGrp="1"/>
          </p:cNvSpPr>
          <p:nvPr/>
        </p:nvSpPr>
        <p:spPr>
          <a:xfrm>
            <a:off x="609600" y="5857875"/>
            <a:ext cx="10953750" cy="495300"/>
          </a:xfrm>
          <a:prstGeom prst="rect">
            <a:avLst/>
          </a:prstGeom>
          <a:noFill/>
          <a:ln w="0">
            <a:noFill/>
          </a:ln>
        </p:spPr>
        <p:txBody>
          <a:bodyPr wrap="square" lIns="0" tIns="0" rIns="0" bIns="0" anchor="ctr">
            <a:noAutofit/>
          </a:bodyPr>
          <a:lstStyle/>
          <a:p>
            <a:pPr marL="0" marR="0" indent="0" algn="ctr">
              <a:defRPr lang="en-GB" sz="1725" b="0" i="0" dirty="0">
                <a:solidFill>
                  <a:srgbClr val="53657E"/>
                </a:solidFill>
                <a:latin typeface="DejaVu Sans"/>
                <a:ea typeface="DejaVu Sans"/>
                <a:cs typeface="DejaVu Sans"/>
              </a:defRPr>
            </a:pPr>
            <a:r>
              <a:rPr lang="en-GB" sz="1725" b="0" i="0" dirty="0">
                <a:solidFill>
                  <a:srgbClr val="53657E"/>
                </a:solidFill>
                <a:latin typeface="DejaVu Sans"/>
                <a:ea typeface="DejaVu Sans"/>
                <a:cs typeface="DejaVu Sans"/>
              </a:rPr>
              <a:t>The objective is now a function of two parameters.</a:t>
            </a:r>
          </a:p>
        </p:txBody>
      </p:sp>
      <p:graphicFrame>
        <p:nvGraphicFramePr>
          <p:cNvPr id="10" name="Affine predictor chart"/>
          <p:cNvGraphicFramePr/>
          <p:nvPr/>
        </p:nvGraphicFramePr>
        <p:xfrm>
          <a:off x="7067550" y="2190750"/>
          <a:ext cx="4429125" cy="340995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049489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4F618120-2781-44B7-9949-899942041E87}"/>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Affine loss: the intercept derivative</a:t>
            </a:r>
          </a:p>
        </p:txBody>
      </p:sp>
      <p:sp>
        <p:nvSpPr>
          <p:cNvPr id="2" name="page_number">
            <a:extLst>
              <a:ext uri="{FF2B5EF4-FFF2-40B4-BE49-F238E27FC236}">
                <a16:creationId xmlns:a16="http://schemas.microsoft.com/office/drawing/2014/main" id="{3C077623-FAEB-44AF-8437-7504BA1B7A52}"/>
              </a:ext>
            </a:extLst>
          </p:cNvPr>
          <p:cNvSpPr>
            <a:spLocks noGrp="1"/>
          </p:cNvSpPr>
          <p:nvPr/>
        </p:nvSpPr>
        <p:spPr>
          <a:xfrm>
            <a:off x="11239500" y="6457950"/>
            <a:ext cx="400050" cy="238125"/>
          </a:xfrm>
          <a:prstGeom prst="rect">
            <a:avLst/>
          </a:prstGeom>
          <a:noFill/>
          <a:ln w="0">
            <a:noFill/>
          </a:ln>
        </p:spPr>
        <p:txBody>
          <a:bodyPr wrap="square" lIns="0" tIns="0" rIns="0" bIns="0" anchor="ctr">
            <a:noAutofit/>
          </a:bodyPr>
          <a:lstStyle/>
          <a:p>
            <a:pPr marL="0" marR="0" indent="0" algn="r">
              <a:defRPr lang="en-GB" sz="1350" b="0" i="0" dirty="0">
                <a:solidFill>
                  <a:srgbClr val="53657E"/>
                </a:solidFill>
                <a:latin typeface="DejaVu Sans"/>
                <a:ea typeface="DejaVu Sans"/>
                <a:cs typeface="DejaVu Sans"/>
              </a:defRPr>
            </a:pPr>
            <a:r>
              <a:rPr sz="1300" b="0">
                <a:solidFill>
                  <a:srgbClr val="526276"/>
                </a:solidFill>
                <a:latin typeface="DejaVu Sans"/>
              </a:rPr>
              <a:t>21</a:t>
            </a:r>
          </a:p>
        </p:txBody>
      </p:sp>
      <mc:AlternateContent xmlns:mc="http://schemas.openxmlformats.org/markup-compatibility/2006" xmlns:a14="http://schemas.microsoft.com/office/drawing/2010/main">
        <mc:Choice Requires="a14">
          <p:sp>
            <p:nvSpPr>
              <p:cNvPr id="3" name="eq_62">
                <a:extLst>
                  <a:ext uri="{FF2B5EF4-FFF2-40B4-BE49-F238E27FC236}">
                    <a16:creationId xmlns:a16="http://schemas.microsoft.com/office/drawing/2014/main" id="{D9BE4C9E-9D7A-4DF7-BA88-E714C8AE03A7}"/>
                  </a:ext>
                </a:extLst>
              </p:cNvPr>
              <p:cNvSpPr txBox="1">
                <a:spLocks noGrp="1"/>
              </p:cNvSpPr>
              <p:nvPr/>
            </p:nvSpPr>
            <p:spPr>
              <a:xfrm>
                <a:off x="609600" y="1314450"/>
                <a:ext cx="10953750" cy="1104900"/>
              </a:xfrm>
              <a:prstGeom prst="rect">
                <a:avLst/>
              </a:prstGeom>
              <a:noFill/>
              <a:ln w="0">
                <a:noFill/>
              </a:ln>
            </p:spPr>
            <p:txBody>
              <a:bodyPr vertOverflow="overflow" wrap="none" lIns="0" tIns="0" rIns="0" bIns="0" anchor="ctr">
                <a:noAutofit/>
              </a:bodyPr>
              <a:lstStyle/>
              <a:p>
                <a:pPr marL="0" marR="0" indent="0" algn="ctr">
                  <a:defRPr lang="en-GB" sz="2550" b="0" i="0" dirty="0">
                    <a:solidFill>
                      <a:srgbClr val="182D45"/>
                    </a:solidFill>
                    <a:latin typeface="DejaVu Sans"/>
                    <a:ea typeface="DejaVu Sans"/>
                    <a:cs typeface="DejaVu Sans"/>
                  </a:defRPr>
                </a:pPr>
                <a14:m>
                  <m:oMathPara xmlns:m="http://schemas.openxmlformats.org/officeDocument/2006/math">
                    <m:oMath>
                      <m:sSubSup>
                        <m:sSubSupPr>
                          <m:ctrlPr>
                            <a:rPr lang="en-GB" sz="2550" b="0" dirty="0">
                              <a:solidFill>
                                <a:srgbClr val="182D45"/>
                              </a:solidFill>
                              <a:latin typeface="Cambria Math"/>
                              <a:ea typeface="Cambria Math"/>
                              <a:cs typeface="Cambria Math"/>
                            </a:rPr>
                          </m:ctrlPr>
                        </m:sSubSupPr>
                        <m:e>
                          <m:r>
                            <a:rPr lang="en-GB" sz="2550" b="0" dirty="0">
                              <a:solidFill>
                                <a:srgbClr val="182D45"/>
                              </a:solidFill>
                              <a:latin typeface="Cambria Math"/>
                              <a:ea typeface="Cambria Math"/>
                              <a:cs typeface="Cambria Math"/>
                            </a:rPr>
                            <m:t>ℒ</m:t>
                          </m:r>
                        </m:e>
                        <m:sub>
                          <m:r>
                            <m:rPr>
                              <m:sty m:val="p"/>
                            </m:rPr>
                            <a:rPr lang="en-GB" sz="2550" b="0" dirty="0">
                              <a:solidFill>
                                <a:srgbClr val="182D45"/>
                              </a:solidFill>
                              <a:latin typeface="Cambria Math"/>
                              <a:ea typeface="Cambria Math"/>
                              <a:cs typeface="Cambria Math"/>
                            </a:rPr>
                            <m:t>sq</m:t>
                          </m:r>
                        </m:sub>
                        <m:sup>
                          <m:r>
                            <m:rPr>
                              <m:sty m:val="p"/>
                            </m:rPr>
                            <a:rPr lang="en-GB" sz="2550" b="0" dirty="0">
                              <a:solidFill>
                                <a:srgbClr val="182D45"/>
                              </a:solidFill>
                              <a:latin typeface="Cambria Math"/>
                              <a:ea typeface="Cambria Math"/>
                              <a:cs typeface="Cambria Math"/>
                            </a:rPr>
                            <m:t>aff</m:t>
                          </m:r>
                        </m:sup>
                      </m:sSubSup>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𝑎</m:t>
                          </m:r>
                        </m:e>
                      </m:d>
                      <m:r>
                        <a:rPr lang="en-GB" sz="2550" b="0" dirty="0">
                          <a:solidFill>
                            <a:srgbClr val="182D45"/>
                          </a:solidFill>
                          <a:latin typeface="Cambria Math"/>
                          <a:ea typeface="Cambria Math"/>
                          <a:cs typeface="Cambria Math"/>
                        </a:rPr>
                        <m:t>=</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p>
                            <m:sSupPr>
                              <m:ctrlPr>
                                <a:rPr lang="en-GB" sz="2550" b="0" i="1" dirty="0">
                                  <a:solidFill>
                                    <a:srgbClr val="182D45"/>
                                  </a:solidFill>
                                  <a:latin typeface="Cambria Math" panose="02040503050406030204" pitchFamily="18" charset="0"/>
                                  <a:ea typeface="Cambria Math"/>
                                  <a:cs typeface="Cambria Math"/>
                                </a:rPr>
                              </m:ctrlPr>
                            </m:sSupPr>
                            <m:e>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𝑎</m:t>
                                  </m:r>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𝑥</m:t>
                                      </m:r>
                                    </m:e>
                                    <m:sub>
                                      <m:r>
                                        <a:rPr lang="en-GB" sz="2550" b="0" dirty="0">
                                          <a:solidFill>
                                            <a:srgbClr val="182D45"/>
                                          </a:solidFill>
                                          <a:latin typeface="Cambria Math"/>
                                          <a:ea typeface="Cambria Math"/>
                                          <a:cs typeface="Cambria Math"/>
                                        </a:rPr>
                                        <m:t>𝑖</m:t>
                                      </m:r>
                                    </m:sub>
                                  </m:sSub>
                                  <m:r>
                                    <a:rPr lang="en-GB" sz="2550" b="0" dirty="0">
                                      <a:solidFill>
                                        <a:srgbClr val="182D45"/>
                                      </a:solidFill>
                                      <a:latin typeface="Cambria Math"/>
                                      <a:ea typeface="Cambria Math"/>
                                      <a:cs typeface="Cambria Math"/>
                                    </a:rPr>
                                    <m:t>−</m:t>
                                  </m:r>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𝑦</m:t>
                                      </m:r>
                                    </m:e>
                                    <m:sub>
                                      <m:r>
                                        <a:rPr lang="en-GB" sz="2550" b="0" dirty="0">
                                          <a:solidFill>
                                            <a:srgbClr val="182D45"/>
                                          </a:solidFill>
                                          <a:latin typeface="Cambria Math"/>
                                          <a:ea typeface="Cambria Math"/>
                                          <a:cs typeface="Cambria Math"/>
                                        </a:rPr>
                                        <m:t>𝑖</m:t>
                                      </m:r>
                                    </m:sub>
                                  </m:sSub>
                                </m:e>
                              </m:d>
                            </m:e>
                            <m:sup>
                              <m:r>
                                <a:rPr lang="en-GB" sz="2550" b="0" dirty="0">
                                  <a:solidFill>
                                    <a:srgbClr val="182D45"/>
                                  </a:solidFill>
                                  <a:latin typeface="Cambria Math"/>
                                  <a:ea typeface="Cambria Math"/>
                                  <a:cs typeface="Cambria Math"/>
                                </a:rPr>
                                <m:t>2</m:t>
                              </m:r>
                            </m:sup>
                          </m:sSup>
                        </m:e>
                      </m:nary>
                      <m:r>
                        <a:rPr lang="en-GB" sz="2550" b="0" dirty="0">
                          <a:solidFill>
                            <a:srgbClr val="182D45"/>
                          </a:solidFill>
                          <a:latin typeface="Cambria Math"/>
                          <a:ea typeface="Cambria Math"/>
                          <a:cs typeface="Cambria Math"/>
                        </a:rPr>
                        <m:t>=</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𝑟</m:t>
                              </m:r>
                            </m:e>
                            <m:sub>
                              <m:r>
                                <a:rPr lang="en-GB" sz="2550" b="0" dirty="0">
                                  <a:solidFill>
                                    <a:srgbClr val="182D45"/>
                                  </a:solidFill>
                                  <a:latin typeface="Cambria Math"/>
                                  <a:ea typeface="Cambria Math"/>
                                  <a:cs typeface="Cambria Math"/>
                                </a:rPr>
                                <m:t>𝑖</m:t>
                              </m:r>
                            </m:sub>
                          </m:sSub>
                        </m:e>
                      </m:nary>
                      <m:sSup>
                        <m:sSupPr>
                          <m:ctrlPr>
                            <a:rPr lang="en-GB" sz="2550" b="0" i="1" dirty="0">
                              <a:solidFill>
                                <a:srgbClr val="182D45"/>
                              </a:solidFill>
                              <a:latin typeface="Cambria Math" panose="02040503050406030204" pitchFamily="18" charset="0"/>
                              <a:ea typeface="Cambria Math"/>
                              <a:cs typeface="Cambria Math"/>
                            </a:rPr>
                          </m:ctrlPr>
                        </m:sSupPr>
                        <m:e>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𝑎</m:t>
                              </m:r>
                            </m:e>
                          </m:d>
                        </m:e>
                        <m:sup>
                          <m:r>
                            <a:rPr lang="en-GB" sz="2550" b="0" dirty="0">
                              <a:solidFill>
                                <a:srgbClr val="182D45"/>
                              </a:solidFill>
                              <a:latin typeface="Cambria Math"/>
                              <a:ea typeface="Cambria Math"/>
                              <a:cs typeface="Cambria Math"/>
                            </a:rPr>
                            <m:t>2</m:t>
                          </m:r>
                        </m:sup>
                      </m:sSup>
                    </m:oMath>
                  </m:oMathPara>
                </a14:m>
                <a:endParaRPr lang="en-GB" sz="2550" b="0" i="0" dirty="0">
                  <a:solidFill>
                    <a:srgbClr val="182D45"/>
                  </a:solidFill>
                  <a:latin typeface="DejaVu Sans"/>
                  <a:ea typeface="DejaVu Sans"/>
                  <a:cs typeface="DejaVu Sans"/>
                </a:endParaRPr>
              </a:p>
            </p:txBody>
          </p:sp>
        </mc:Choice>
        <mc:Fallback xmlns="">
          <p:sp>
            <p:nvSpPr>
              <p:cNvPr id="3" name="eq_62">
                <a:extLst>
                  <a:ext uri="{FF2B5EF4-FFF2-40B4-BE49-F238E27FC236}">
                    <a16:creationId xmlns:a16="http://schemas.microsoft.com/office/drawing/2014/main" id="{D9BE4C9E-9D7A-4DF7-BA88-E714C8AE03A7}"/>
                  </a:ext>
                </a:extLst>
              </p:cNvPr>
              <p:cNvSpPr txBox="1">
                <a:spLocks noGrp="1" noRot="1" noChangeAspect="1" noMove="1" noResize="1" noEditPoints="1" noAdjustHandles="1" noChangeArrowheads="1" noChangeShapeType="1" noTextEdit="1"/>
              </p:cNvSpPr>
              <p:nvPr/>
            </p:nvSpPr>
            <p:spPr>
              <a:xfrm>
                <a:off x="609600" y="1314450"/>
                <a:ext cx="10953750" cy="11049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63">
                <a:extLst>
                  <a:ext uri="{FF2B5EF4-FFF2-40B4-BE49-F238E27FC236}">
                    <a16:creationId xmlns:a16="http://schemas.microsoft.com/office/drawing/2014/main" id="{005EAC83-4BEA-436A-A4AE-A3C03DC9A1F4}"/>
                  </a:ext>
                </a:extLst>
              </p:cNvPr>
              <p:cNvSpPr txBox="1">
                <a:spLocks noGrp="1"/>
              </p:cNvSpPr>
              <p:nvPr/>
            </p:nvSpPr>
            <p:spPr>
              <a:xfrm>
                <a:off x="609600" y="2495550"/>
                <a:ext cx="10953750" cy="581025"/>
              </a:xfrm>
              <a:prstGeom prst="rect">
                <a:avLst/>
              </a:prstGeom>
              <a:noFill/>
              <a:ln w="0">
                <a:noFill/>
              </a:ln>
            </p:spPr>
            <p:txBody>
              <a:bodyPr vertOverflow="overflow" wrap="square" lIns="0" tIns="0" rIns="0" bIns="0" anchor="ctr">
                <a:noAutofit/>
              </a:bodyPr>
              <a:lstStyle/>
              <a:p>
                <a:pPr marL="0" marR="0" indent="0" algn="ctr">
                  <a:defRPr lang="en-GB" sz="2250" b="0" i="0" dirty="0">
                    <a:solidFill>
                      <a:srgbClr val="326CB2"/>
                    </a:solidFill>
                    <a:latin typeface="DejaVu Sans"/>
                    <a:ea typeface="DejaVu Sans"/>
                    <a:cs typeface="DejaVu Sans"/>
                  </a:defRPr>
                </a:pPr>
                <a:r>
                  <a:rPr lang="en-GB" sz="2100" b="0" i="0" dirty="0">
                    <a:solidFill>
                      <a:srgbClr val="326CB2"/>
                    </a:solidFill>
                    <a:latin typeface="DejaVu Sans"/>
                    <a:ea typeface="DejaVu Sans"/>
                    <a:cs typeface="DejaVu Sans"/>
                  </a:rPr>
                  <a:t>where </a:t>
                </a:r>
                <a14:m>
                  <m:oMath xmlns:m="http://schemas.openxmlformats.org/officeDocument/2006/math">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𝑟</m:t>
                        </m:r>
                      </m:e>
                      <m:sub>
                        <m:r>
                          <a:rPr lang="en-GB" sz="2100" b="0" dirty="0">
                            <a:solidFill>
                              <a:srgbClr val="326CB2"/>
                            </a:solidFill>
                            <a:latin typeface="Cambria Math"/>
                            <a:ea typeface="Cambria Math"/>
                            <a:cs typeface="Cambria Math"/>
                          </a:rPr>
                          <m:t>𝑖</m:t>
                        </m:r>
                      </m:sub>
                    </m:sSub>
                    <m:d>
                      <m:dPr>
                        <m:ctrlPr>
                          <a:rPr lang="en-GB" sz="2100" b="0" dirty="0">
                            <a:solidFill>
                              <a:srgbClr val="326CB2"/>
                            </a:solidFill>
                            <a:latin typeface="Cambria Math"/>
                            <a:ea typeface="Cambria Math"/>
                            <a:cs typeface="Cambria Math"/>
                          </a:rPr>
                        </m:ctrlPr>
                      </m:dPr>
                      <m:e>
                        <m:r>
                          <a:rPr lang="en-GB" sz="2100" b="0" dirty="0">
                            <a:solidFill>
                              <a:srgbClr val="326CB2"/>
                            </a:solidFill>
                            <a:latin typeface="Cambria Math"/>
                            <a:ea typeface="Cambria Math"/>
                            <a:cs typeface="Cambria Math"/>
                          </a:rPr>
                          <m:t>𝑏</m:t>
                        </m:r>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e>
                    </m:d>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𝑏</m:t>
                    </m:r>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𝑥</m:t>
                        </m:r>
                      </m:e>
                      <m:sub>
                        <m:r>
                          <a:rPr lang="en-GB" sz="2100" b="0" dirty="0">
                            <a:solidFill>
                              <a:srgbClr val="326CB2"/>
                            </a:solidFill>
                            <a:latin typeface="Cambria Math"/>
                            <a:ea typeface="Cambria Math"/>
                            <a:cs typeface="Cambria Math"/>
                          </a:rPr>
                          <m:t>𝑖</m:t>
                        </m:r>
                      </m:sub>
                    </m:sSub>
                    <m:r>
                      <a:rPr lang="en-GB" sz="2100" b="0" dirty="0">
                        <a:solidFill>
                          <a:srgbClr val="326CB2"/>
                        </a:solidFill>
                        <a:latin typeface="Cambria Math"/>
                        <a:ea typeface="Cambria Math"/>
                        <a:cs typeface="Cambria Math"/>
                      </a:rPr>
                      <m:t>−</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𝑦</m:t>
                        </m:r>
                      </m:e>
                      <m:sub>
                        <m:r>
                          <a:rPr lang="en-GB" sz="2100" b="0" dirty="0">
                            <a:solidFill>
                              <a:srgbClr val="326CB2"/>
                            </a:solidFill>
                            <a:latin typeface="Cambria Math"/>
                            <a:ea typeface="Cambria Math"/>
                            <a:cs typeface="Cambria Math"/>
                          </a:rPr>
                          <m:t>𝑖</m:t>
                        </m:r>
                      </m:sub>
                    </m:sSub>
                  </m:oMath>
                </a14:m>
                <a:r>
                  <a:rPr lang="en-GB" sz="2100" b="0" i="0" dirty="0">
                    <a:solidFill>
                      <a:srgbClr val="326CB2"/>
                    </a:solidFill>
                    <a:latin typeface="DejaVu Sans"/>
                    <a:ea typeface="DejaVu Sans"/>
                    <a:cs typeface="DejaVu Sans"/>
                  </a:rPr>
                  <a:t> is the </a:t>
                </a:r>
                <a:r>
                  <a:rPr lang="en-GB" sz="2100" b="0" i="0" dirty="0" err="1">
                    <a:solidFill>
                      <a:srgbClr val="326CB2"/>
                    </a:solidFill>
                    <a:latin typeface="DejaVu Sans"/>
                    <a:ea typeface="DejaVu Sans"/>
                    <a:cs typeface="DejaVu Sans"/>
                  </a:rPr>
                  <a:t>i-th</a:t>
                </a:r>
                <a:r>
                  <a:rPr lang="en-GB" sz="2100" b="0" i="0" dirty="0">
                    <a:solidFill>
                      <a:srgbClr val="326CB2"/>
                    </a:solidFill>
                    <a:latin typeface="DejaVu Sans"/>
                    <a:ea typeface="DejaVu Sans"/>
                    <a:cs typeface="DejaVu Sans"/>
                  </a:rPr>
                  <a:t> residual, so </a:t>
                </a:r>
                <a14:m>
                  <m:oMath xmlns:m="http://schemas.openxmlformats.org/officeDocument/2006/math">
                    <m:f>
                      <m:fPr>
                        <m:ctrlPr>
                          <a:rPr lang="en-GB" sz="2100" b="0" dirty="0">
                            <a:solidFill>
                              <a:srgbClr val="326CB2"/>
                            </a:solidFill>
                            <a:latin typeface="Cambria Math"/>
                            <a:ea typeface="Cambria Math"/>
                            <a:cs typeface="Cambria Math"/>
                          </a:rPr>
                        </m:ctrlPr>
                      </m:fPr>
                      <m:num>
                        <m:r>
                          <a:rPr lang="en-GB" sz="2100" b="0" dirty="0">
                            <a:solidFill>
                              <a:srgbClr val="326CB2"/>
                            </a:solidFill>
                            <a:latin typeface="Cambria Math"/>
                            <a:ea typeface="Cambria Math"/>
                            <a:cs typeface="Cambria Math"/>
                          </a:rPr>
                          <m:t>𝜕</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𝑟</m:t>
                            </m:r>
                          </m:e>
                          <m:sub>
                            <m:r>
                              <a:rPr lang="en-GB" sz="2100" b="0" dirty="0">
                                <a:solidFill>
                                  <a:srgbClr val="326CB2"/>
                                </a:solidFill>
                                <a:latin typeface="Cambria Math"/>
                                <a:ea typeface="Cambria Math"/>
                                <a:cs typeface="Cambria Math"/>
                              </a:rPr>
                              <m:t>𝑖</m:t>
                            </m:r>
                          </m:sub>
                        </m:sSub>
                      </m:num>
                      <m:den>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𝑏</m:t>
                        </m:r>
                      </m:den>
                    </m:f>
                    <m:d>
                      <m:dPr>
                        <m:ctrlPr>
                          <a:rPr lang="en-GB" sz="2100" b="0" dirty="0">
                            <a:solidFill>
                              <a:srgbClr val="326CB2"/>
                            </a:solidFill>
                            <a:latin typeface="Cambria Math"/>
                            <a:ea typeface="Cambria Math"/>
                            <a:cs typeface="Cambria Math"/>
                          </a:rPr>
                        </m:ctrlPr>
                      </m:dPr>
                      <m:e>
                        <m:r>
                          <a:rPr lang="en-GB" sz="2100" b="0" dirty="0">
                            <a:solidFill>
                              <a:srgbClr val="326CB2"/>
                            </a:solidFill>
                            <a:latin typeface="Cambria Math"/>
                            <a:ea typeface="Cambria Math"/>
                            <a:cs typeface="Cambria Math"/>
                          </a:rPr>
                          <m:t>𝑏</m:t>
                        </m:r>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e>
                    </m:d>
                    <m:r>
                      <a:rPr lang="en-GB" sz="2100" b="0" dirty="0">
                        <a:solidFill>
                          <a:srgbClr val="326CB2"/>
                        </a:solidFill>
                        <a:latin typeface="Cambria Math"/>
                        <a:ea typeface="Cambria Math"/>
                        <a:cs typeface="Cambria Math"/>
                      </a:rPr>
                      <m:t>=1</m:t>
                    </m:r>
                  </m:oMath>
                </a14:m>
                <a:r>
                  <a:rPr lang="en-GB" sz="2100" b="0" i="0" dirty="0">
                    <a:solidFill>
                      <a:srgbClr val="326CB2"/>
                    </a:solidFill>
                    <a:latin typeface="DejaVu Sans"/>
                    <a:ea typeface="DejaVu Sans"/>
                    <a:cs typeface="DejaVu Sans"/>
                  </a:rPr>
                  <a:t>.</a:t>
                </a:r>
              </a:p>
            </p:txBody>
          </p:sp>
        </mc:Choice>
        <mc:Fallback xmlns="">
          <p:sp>
            <p:nvSpPr>
              <p:cNvPr id="4" name="eq_63">
                <a:extLst>
                  <a:ext uri="{FF2B5EF4-FFF2-40B4-BE49-F238E27FC236}">
                    <a16:creationId xmlns:a16="http://schemas.microsoft.com/office/drawing/2014/main" id="{005EAC83-4BEA-436A-A4AE-A3C03DC9A1F4}"/>
                  </a:ext>
                </a:extLst>
              </p:cNvPr>
              <p:cNvSpPr txBox="1">
                <a:spLocks noGrp="1" noRot="1" noChangeAspect="1" noMove="1" noResize="1" noEditPoints="1" noAdjustHandles="1" noChangeArrowheads="1" noChangeShapeType="1" noTextEdit="1"/>
              </p:cNvSpPr>
              <p:nvPr/>
            </p:nvSpPr>
            <p:spPr>
              <a:xfrm>
                <a:off x="609600" y="2495550"/>
                <a:ext cx="10953750" cy="581025"/>
              </a:xfrm>
              <a:prstGeom prst="rect">
                <a:avLst/>
              </a:prstGeom>
              <a:blipFill>
                <a:blip r:embed="rId4"/>
                <a:stretch>
                  <a:fillRect b="-4167"/>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eq_64">
                <a:extLst>
                  <a:ext uri="{FF2B5EF4-FFF2-40B4-BE49-F238E27FC236}">
                    <a16:creationId xmlns:a16="http://schemas.microsoft.com/office/drawing/2014/main" id="{12F86E49-78CE-4767-9B80-DF5E236C0E49}"/>
                  </a:ext>
                </a:extLst>
              </p:cNvPr>
              <p:cNvSpPr txBox="1">
                <a:spLocks noGrp="1"/>
              </p:cNvSpPr>
              <p:nvPr/>
            </p:nvSpPr>
            <p:spPr>
              <a:xfrm>
                <a:off x="609600" y="3632835"/>
                <a:ext cx="10953750" cy="1104900"/>
              </a:xfrm>
              <a:prstGeom prst="rect">
                <a:avLst/>
              </a:prstGeom>
              <a:noFill/>
              <a:ln w="0">
                <a:noFill/>
              </a:ln>
            </p:spPr>
            <p:txBody>
              <a:bodyPr vertOverflow="overflow" wrap="none" lIns="0" tIns="0" rIns="0" bIns="0" anchor="ctr">
                <a:noAutofit/>
              </a:bodyPr>
              <a:lstStyle/>
              <a:p>
                <a:pPr algn="ctr">
                  <a:defRPr lang="en-GB" sz="2325" b="0" i="0" dirty="0">
                    <a:solidFill>
                      <a:srgbClr val="182D45"/>
                    </a:solidFill>
                    <a:latin typeface="DejaVu Sans"/>
                    <a:ea typeface="DejaVu Sans"/>
                    <a:cs typeface="DejaVu Sans"/>
                  </a:defRPr>
                </a:pPr>
                <a14:m>
                  <m:oMathPara xmlns:m="http://schemas.openxmlformats.org/officeDocument/2006/math">
                    <m:oMath>
                      <m:f>
                        <m:fPr>
                          <m:ctrlPr>
                            <a:rPr lang="en-GB" sz="2325" b="0" dirty="0">
                              <a:solidFill>
                                <a:srgbClr val="182D45"/>
                              </a:solidFill>
                              <a:latin typeface="Cambria Math"/>
                              <a:ea typeface="Cambria Math"/>
                              <a:cs typeface="Cambria Math"/>
                            </a:rPr>
                          </m:ctrlPr>
                        </m:fPr>
                        <m:num>
                          <m:r>
                            <a:rPr lang="en-GB" sz="2325" b="0" dirty="0">
                              <a:solidFill>
                                <a:srgbClr val="182D45"/>
                              </a:solidFill>
                              <a:latin typeface="Cambria Math"/>
                              <a:ea typeface="Cambria Math"/>
                              <a:cs typeface="Cambria Math"/>
                            </a:rPr>
                            <m:t>𝜕</m:t>
                          </m:r>
                          <m:sSubSup>
                            <m:sSubSupPr>
                              <m:ctrlPr>
                                <a:rPr lang="en-GB" sz="2325" b="0" dirty="0">
                                  <a:solidFill>
                                    <a:srgbClr val="182D45"/>
                                  </a:solidFill>
                                  <a:latin typeface="Cambria Math"/>
                                  <a:ea typeface="Cambria Math"/>
                                  <a:cs typeface="Cambria Math"/>
                                </a:rPr>
                              </m:ctrlPr>
                            </m:sSubSupPr>
                            <m:e>
                              <m:r>
                                <a:rPr lang="en-GB" sz="2325" b="0" dirty="0">
                                  <a:solidFill>
                                    <a:srgbClr val="182D45"/>
                                  </a:solidFill>
                                  <a:latin typeface="Cambria Math"/>
                                  <a:ea typeface="Cambria Math"/>
                                  <a:cs typeface="Cambria Math"/>
                                </a:rPr>
                                <m:t>ℒ</m:t>
                              </m:r>
                            </m:e>
                            <m:sub>
                              <m:r>
                                <m:rPr>
                                  <m:sty m:val="p"/>
                                </m:rPr>
                                <a:rPr lang="en-GB" sz="2325" b="0" dirty="0">
                                  <a:solidFill>
                                    <a:srgbClr val="182D45"/>
                                  </a:solidFill>
                                  <a:latin typeface="Cambria Math"/>
                                  <a:ea typeface="Cambria Math"/>
                                  <a:cs typeface="Cambria Math"/>
                                </a:rPr>
                                <m:t>sq</m:t>
                              </m:r>
                            </m:sub>
                            <m:sup>
                              <m:r>
                                <m:rPr>
                                  <m:sty m:val="p"/>
                                </m:rPr>
                                <a:rPr lang="en-GB" sz="2325" b="0" dirty="0">
                                  <a:solidFill>
                                    <a:srgbClr val="182D45"/>
                                  </a:solidFill>
                                  <a:latin typeface="Cambria Math"/>
                                  <a:ea typeface="Cambria Math"/>
                                  <a:cs typeface="Cambria Math"/>
                                </a:rPr>
                                <m:t>aff</m:t>
                              </m:r>
                            </m:sup>
                          </m:sSubSup>
                        </m:num>
                        <m:den>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𝑏</m:t>
                          </m:r>
                        </m:den>
                      </m:f>
                      <m:d>
                        <m:dPr>
                          <m:ctrlPr>
                            <a:rPr lang="en-GB" sz="2325" b="0" dirty="0">
                              <a:solidFill>
                                <a:srgbClr val="182D45"/>
                              </a:solidFill>
                              <a:latin typeface="Cambria Math"/>
                              <a:ea typeface="Cambria Math"/>
                              <a:cs typeface="Cambria Math"/>
                            </a:rPr>
                          </m:ctrlPr>
                        </m:dPr>
                        <m:e>
                          <m:r>
                            <a:rPr lang="en-GB" sz="2325" b="0" dirty="0">
                              <a:solidFill>
                                <a:srgbClr val="182D45"/>
                              </a:solidFill>
                              <a:latin typeface="Cambria Math"/>
                              <a:ea typeface="Cambria Math"/>
                              <a:cs typeface="Cambria Math"/>
                            </a:rPr>
                            <m:t>𝑏</m:t>
                          </m:r>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𝑎</m:t>
                          </m:r>
                        </m:e>
                      </m:d>
                      <m:r>
                        <a:rPr lang="en-GB" sz="2325" b="0" dirty="0">
                          <a:solidFill>
                            <a:srgbClr val="182D45"/>
                          </a:solidFill>
                          <a:latin typeface="Cambria Math"/>
                          <a:ea typeface="Cambria Math"/>
                          <a:cs typeface="Cambria Math"/>
                        </a:rPr>
                        <m:t>=</m:t>
                      </m:r>
                      <m:nary>
                        <m:naryPr>
                          <m:chr m:val="∑"/>
                          <m:limLoc m:val="undOvr"/>
                          <m:ctrlPr>
                            <a:rPr lang="en-GB" sz="2325" b="0" dirty="0">
                              <a:solidFill>
                                <a:srgbClr val="182D45"/>
                              </a:solidFill>
                              <a:latin typeface="Cambria Math"/>
                              <a:ea typeface="Cambria Math"/>
                              <a:cs typeface="Cambria Math"/>
                            </a:rPr>
                          </m:ctrlPr>
                        </m:naryPr>
                        <m:sub>
                          <m:r>
                            <a:rPr lang="en-GB" sz="2325" b="0" dirty="0">
                              <a:solidFill>
                                <a:srgbClr val="182D45"/>
                              </a:solidFill>
                              <a:latin typeface="Cambria Math"/>
                              <a:ea typeface="Cambria Math"/>
                              <a:cs typeface="Cambria Math"/>
                            </a:rPr>
                            <m:t>𝑖</m:t>
                          </m:r>
                          <m:r>
                            <a:rPr lang="en-GB" sz="2325" b="0" dirty="0">
                              <a:solidFill>
                                <a:srgbClr val="182D45"/>
                              </a:solidFill>
                              <a:latin typeface="Cambria Math"/>
                              <a:ea typeface="Cambria Math"/>
                              <a:cs typeface="Cambria Math"/>
                            </a:rPr>
                            <m:t>=1</m:t>
                          </m:r>
                        </m:sub>
                        <m:sup>
                          <m:r>
                            <a:rPr lang="en-GB" sz="2325" b="0" dirty="0">
                              <a:solidFill>
                                <a:srgbClr val="182D45"/>
                              </a:solidFill>
                              <a:latin typeface="Cambria Math"/>
                              <a:ea typeface="Cambria Math"/>
                              <a:cs typeface="Cambria Math"/>
                            </a:rPr>
                            <m:t>𝑁</m:t>
                          </m:r>
                        </m:sup>
                        <m:e>
                          <m:f>
                            <m:fPr>
                              <m:ctrlPr>
                                <a:rPr lang="en-GB" sz="2325" b="0" dirty="0">
                                  <a:solidFill>
                                    <a:srgbClr val="182D45"/>
                                  </a:solidFill>
                                  <a:latin typeface="Cambria Math"/>
                                  <a:ea typeface="Cambria Math"/>
                                  <a:cs typeface="Cambria Math"/>
                                </a:rPr>
                              </m:ctrlPr>
                            </m:fPr>
                            <m:num>
                              <m:r>
                                <a:rPr lang="en-GB" sz="2325" b="0" dirty="0">
                                  <a:solidFill>
                                    <a:srgbClr val="182D45"/>
                                  </a:solidFill>
                                  <a:latin typeface="Cambria Math"/>
                                  <a:ea typeface="Cambria Math"/>
                                  <a:cs typeface="Cambria Math"/>
                                </a:rPr>
                                <m:t>𝜕</m:t>
                              </m:r>
                            </m:num>
                            <m:den>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𝑏</m:t>
                              </m:r>
                            </m:den>
                          </m:f>
                          <m:d>
                            <m:dPr>
                              <m:ctrlPr>
                                <a:rPr lang="en-GB" sz="2325" i="1" dirty="0">
                                  <a:solidFill>
                                    <a:srgbClr val="182D45"/>
                                  </a:solidFill>
                                  <a:latin typeface="Cambria Math" panose="02040503050406030204" pitchFamily="18" charset="0"/>
                                  <a:ea typeface="Cambria Math"/>
                                  <a:cs typeface="Cambria Math"/>
                                </a:rPr>
                              </m:ctrlPr>
                            </m:dPr>
                            <m:e>
                              <m:sSub>
                                <m:sSubPr>
                                  <m:ctrlPr>
                                    <a:rPr lang="en-GB" sz="2325" dirty="0">
                                      <a:solidFill>
                                        <a:srgbClr val="182D45"/>
                                      </a:solidFill>
                                      <a:latin typeface="Cambria Math"/>
                                      <a:ea typeface="Cambria Math"/>
                                      <a:cs typeface="Cambria Math"/>
                                    </a:rPr>
                                  </m:ctrlPr>
                                </m:sSubPr>
                                <m:e>
                                  <m:r>
                                    <a:rPr lang="en-GB" sz="2325" dirty="0">
                                      <a:solidFill>
                                        <a:srgbClr val="182D45"/>
                                      </a:solidFill>
                                      <a:latin typeface="Cambria Math"/>
                                      <a:ea typeface="Cambria Math"/>
                                      <a:cs typeface="Cambria Math"/>
                                    </a:rPr>
                                    <m:t>𝑟</m:t>
                                  </m:r>
                                </m:e>
                                <m:sub>
                                  <m:r>
                                    <a:rPr lang="en-GB" sz="2325" dirty="0">
                                      <a:solidFill>
                                        <a:srgbClr val="182D45"/>
                                      </a:solidFill>
                                      <a:latin typeface="Cambria Math"/>
                                      <a:ea typeface="Cambria Math"/>
                                      <a:cs typeface="Cambria Math"/>
                                    </a:rPr>
                                    <m:t>𝑖</m:t>
                                  </m:r>
                                </m:sub>
                              </m:sSub>
                              <m:sSup>
                                <m:sSupPr>
                                  <m:ctrlPr>
                                    <a:rPr lang="en-GB" sz="2325" i="1" dirty="0">
                                      <a:solidFill>
                                        <a:srgbClr val="182D45"/>
                                      </a:solidFill>
                                      <a:latin typeface="Cambria Math" panose="02040503050406030204" pitchFamily="18" charset="0"/>
                                      <a:ea typeface="Cambria Math"/>
                                      <a:cs typeface="Cambria Math"/>
                                    </a:rPr>
                                  </m:ctrlPr>
                                </m:sSupPr>
                                <m:e>
                                  <m:d>
                                    <m:dPr>
                                      <m:ctrlPr>
                                        <a:rPr lang="en-GB" sz="2325" dirty="0">
                                          <a:solidFill>
                                            <a:srgbClr val="182D45"/>
                                          </a:solidFill>
                                          <a:latin typeface="Cambria Math"/>
                                          <a:ea typeface="Cambria Math"/>
                                          <a:cs typeface="Cambria Math"/>
                                        </a:rPr>
                                      </m:ctrlPr>
                                    </m:dPr>
                                    <m:e>
                                      <m:r>
                                        <a:rPr lang="en-GB" sz="2325" dirty="0">
                                          <a:solidFill>
                                            <a:srgbClr val="182D45"/>
                                          </a:solidFill>
                                          <a:latin typeface="Cambria Math"/>
                                          <a:ea typeface="Cambria Math"/>
                                          <a:cs typeface="Cambria Math"/>
                                        </a:rPr>
                                        <m:t>𝑏</m:t>
                                      </m:r>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𝑎</m:t>
                                      </m:r>
                                    </m:e>
                                  </m:d>
                                </m:e>
                                <m:sup>
                                  <m:r>
                                    <a:rPr lang="en-GB" sz="2325" dirty="0">
                                      <a:solidFill>
                                        <a:srgbClr val="182D45"/>
                                      </a:solidFill>
                                      <a:latin typeface="Cambria Math"/>
                                      <a:ea typeface="Cambria Math"/>
                                      <a:cs typeface="Cambria Math"/>
                                    </a:rPr>
                                    <m:t>2</m:t>
                                  </m:r>
                                </m:sup>
                              </m:sSup>
                            </m:e>
                          </m:d>
                        </m:e>
                      </m:nary>
                      <m:r>
                        <a:rPr lang="en-GB" sz="2325" b="0" dirty="0">
                          <a:solidFill>
                            <a:srgbClr val="182D45"/>
                          </a:solidFill>
                          <a:latin typeface="Cambria Math"/>
                          <a:ea typeface="Cambria Math"/>
                          <a:cs typeface="Cambria Math"/>
                        </a:rPr>
                        <m:t>=</m:t>
                      </m:r>
                      <m:nary>
                        <m:naryPr>
                          <m:chr m:val="∑"/>
                          <m:limLoc m:val="undOvr"/>
                          <m:ctrlPr>
                            <a:rPr lang="en-GB" sz="2325" b="0" dirty="0">
                              <a:solidFill>
                                <a:srgbClr val="182D45"/>
                              </a:solidFill>
                              <a:latin typeface="Cambria Math"/>
                              <a:ea typeface="Cambria Math"/>
                              <a:cs typeface="Cambria Math"/>
                            </a:rPr>
                          </m:ctrlPr>
                        </m:naryPr>
                        <m:sub>
                          <m:r>
                            <a:rPr lang="en-GB" sz="2325" b="0" dirty="0">
                              <a:solidFill>
                                <a:srgbClr val="182D45"/>
                              </a:solidFill>
                              <a:latin typeface="Cambria Math"/>
                              <a:ea typeface="Cambria Math"/>
                              <a:cs typeface="Cambria Math"/>
                            </a:rPr>
                            <m:t>𝑖</m:t>
                          </m:r>
                          <m:r>
                            <a:rPr lang="en-GB" sz="2325" b="0" dirty="0">
                              <a:solidFill>
                                <a:srgbClr val="182D45"/>
                              </a:solidFill>
                              <a:latin typeface="Cambria Math"/>
                              <a:ea typeface="Cambria Math"/>
                              <a:cs typeface="Cambria Math"/>
                            </a:rPr>
                            <m:t>=1</m:t>
                          </m:r>
                        </m:sub>
                        <m:sup>
                          <m:r>
                            <a:rPr lang="en-GB" sz="2325" b="0" dirty="0">
                              <a:solidFill>
                                <a:srgbClr val="182D45"/>
                              </a:solidFill>
                              <a:latin typeface="Cambria Math"/>
                              <a:ea typeface="Cambria Math"/>
                              <a:cs typeface="Cambria Math"/>
                            </a:rPr>
                            <m:t>𝑁</m:t>
                          </m:r>
                        </m:sup>
                        <m:e>
                          <m:r>
                            <a:rPr lang="en-GB" sz="2325" b="0" dirty="0">
                              <a:solidFill>
                                <a:srgbClr val="182D45"/>
                              </a:solidFill>
                              <a:latin typeface="Cambria Math"/>
                              <a:ea typeface="Cambria Math"/>
                              <a:cs typeface="Cambria Math"/>
                            </a:rPr>
                            <m:t>2</m:t>
                          </m:r>
                          <m:sSub>
                            <m:sSubPr>
                              <m:ctrlPr>
                                <a:rPr lang="en-GB" sz="2325" dirty="0">
                                  <a:solidFill>
                                    <a:srgbClr val="182D45"/>
                                  </a:solidFill>
                                  <a:latin typeface="Cambria Math"/>
                                  <a:ea typeface="Cambria Math"/>
                                  <a:cs typeface="Cambria Math"/>
                                </a:rPr>
                              </m:ctrlPr>
                            </m:sSubPr>
                            <m:e>
                              <m:r>
                                <a:rPr lang="en-GB" sz="2325" dirty="0">
                                  <a:solidFill>
                                    <a:srgbClr val="182D45"/>
                                  </a:solidFill>
                                  <a:latin typeface="Cambria Math"/>
                                  <a:ea typeface="Cambria Math"/>
                                  <a:cs typeface="Cambria Math"/>
                                </a:rPr>
                                <m:t>𝑟</m:t>
                              </m:r>
                            </m:e>
                            <m:sub>
                              <m:r>
                                <a:rPr lang="en-GB" sz="2325" dirty="0">
                                  <a:solidFill>
                                    <a:srgbClr val="182D45"/>
                                  </a:solidFill>
                                  <a:latin typeface="Cambria Math"/>
                                  <a:ea typeface="Cambria Math"/>
                                  <a:cs typeface="Cambria Math"/>
                                </a:rPr>
                                <m:t>𝑖</m:t>
                              </m:r>
                            </m:sub>
                          </m:sSub>
                          <m:d>
                            <m:dPr>
                              <m:ctrlPr>
                                <a:rPr lang="en-GB" sz="2325" dirty="0">
                                  <a:solidFill>
                                    <a:srgbClr val="182D45"/>
                                  </a:solidFill>
                                  <a:latin typeface="Cambria Math"/>
                                  <a:ea typeface="Cambria Math"/>
                                  <a:cs typeface="Cambria Math"/>
                                </a:rPr>
                              </m:ctrlPr>
                            </m:dPr>
                            <m:e>
                              <m:r>
                                <a:rPr lang="en-GB" sz="2325" dirty="0">
                                  <a:solidFill>
                                    <a:srgbClr val="182D45"/>
                                  </a:solidFill>
                                  <a:latin typeface="Cambria Math"/>
                                  <a:ea typeface="Cambria Math"/>
                                  <a:cs typeface="Cambria Math"/>
                                </a:rPr>
                                <m:t>𝑏</m:t>
                              </m:r>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𝑎</m:t>
                              </m:r>
                            </m:e>
                          </m:d>
                          <m:f>
                            <m:fPr>
                              <m:ctrlPr>
                                <a:rPr lang="en-GB" sz="2325" dirty="0">
                                  <a:solidFill>
                                    <a:srgbClr val="182D45"/>
                                  </a:solidFill>
                                  <a:latin typeface="Cambria Math"/>
                                  <a:ea typeface="Cambria Math"/>
                                  <a:cs typeface="Cambria Math"/>
                                </a:rPr>
                              </m:ctrlPr>
                            </m:fPr>
                            <m:num>
                              <m:r>
                                <a:rPr lang="en-GB" sz="2325" dirty="0">
                                  <a:solidFill>
                                    <a:srgbClr val="182D45"/>
                                  </a:solidFill>
                                  <a:latin typeface="Cambria Math"/>
                                  <a:ea typeface="Cambria Math"/>
                                  <a:cs typeface="Cambria Math"/>
                                </a:rPr>
                                <m:t>𝜕</m:t>
                              </m:r>
                              <m:sSub>
                                <m:sSubPr>
                                  <m:ctrlPr>
                                    <a:rPr lang="en-GB" sz="2325" dirty="0">
                                      <a:solidFill>
                                        <a:srgbClr val="182D45"/>
                                      </a:solidFill>
                                      <a:latin typeface="Cambria Math"/>
                                      <a:ea typeface="Cambria Math"/>
                                      <a:cs typeface="Cambria Math"/>
                                    </a:rPr>
                                  </m:ctrlPr>
                                </m:sSubPr>
                                <m:e>
                                  <m:r>
                                    <a:rPr lang="en-GB" sz="2325" dirty="0">
                                      <a:solidFill>
                                        <a:srgbClr val="182D45"/>
                                      </a:solidFill>
                                      <a:latin typeface="Cambria Math"/>
                                      <a:ea typeface="Cambria Math"/>
                                      <a:cs typeface="Cambria Math"/>
                                    </a:rPr>
                                    <m:t>𝑟</m:t>
                                  </m:r>
                                </m:e>
                                <m:sub>
                                  <m:r>
                                    <a:rPr lang="en-GB" sz="2325" dirty="0">
                                      <a:solidFill>
                                        <a:srgbClr val="182D45"/>
                                      </a:solidFill>
                                      <a:latin typeface="Cambria Math"/>
                                      <a:ea typeface="Cambria Math"/>
                                      <a:cs typeface="Cambria Math"/>
                                    </a:rPr>
                                    <m:t>𝑖</m:t>
                                  </m:r>
                                </m:sub>
                              </m:sSub>
                            </m:num>
                            <m:den>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𝑏</m:t>
                              </m:r>
                            </m:den>
                          </m:f>
                          <m:d>
                            <m:dPr>
                              <m:ctrlPr>
                                <a:rPr lang="en-GB" sz="2325" dirty="0">
                                  <a:solidFill>
                                    <a:srgbClr val="182D45"/>
                                  </a:solidFill>
                                  <a:latin typeface="Cambria Math"/>
                                  <a:ea typeface="Cambria Math"/>
                                  <a:cs typeface="Cambria Math"/>
                                </a:rPr>
                              </m:ctrlPr>
                            </m:dPr>
                            <m:e>
                              <m:r>
                                <a:rPr lang="en-GB" sz="2325" dirty="0">
                                  <a:solidFill>
                                    <a:srgbClr val="182D45"/>
                                  </a:solidFill>
                                  <a:latin typeface="Cambria Math"/>
                                  <a:ea typeface="Cambria Math"/>
                                  <a:cs typeface="Cambria Math"/>
                                </a:rPr>
                                <m:t>𝑏</m:t>
                              </m:r>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𝑎</m:t>
                              </m:r>
                            </m:e>
                          </m:d>
                        </m:e>
                      </m:nary>
                    </m:oMath>
                  </m:oMathPara>
                </a14:m>
                <a:endParaRPr lang="en-GB" sz="2325" b="0" i="0" dirty="0">
                  <a:solidFill>
                    <a:srgbClr val="182D45"/>
                  </a:solidFill>
                  <a:latin typeface="DejaVu Sans"/>
                  <a:ea typeface="DejaVu Sans"/>
                  <a:cs typeface="DejaVu Sans"/>
                </a:endParaRPr>
              </a:p>
            </p:txBody>
          </p:sp>
        </mc:Choice>
        <mc:Fallback>
          <p:sp>
            <p:nvSpPr>
              <p:cNvPr id="5" name="eq_64">
                <a:extLst>
                  <a:ext uri="{FF2B5EF4-FFF2-40B4-BE49-F238E27FC236}">
                    <a16:creationId xmlns:a16="http://schemas.microsoft.com/office/drawing/2014/main" id="{12F86E49-78CE-4767-9B80-DF5E236C0E49}"/>
                  </a:ext>
                </a:extLst>
              </p:cNvPr>
              <p:cNvSpPr txBox="1">
                <a:spLocks noGrp="1" noRot="1" noChangeAspect="1" noMove="1" noResize="1" noEditPoints="1" noAdjustHandles="1" noChangeArrowheads="1" noChangeShapeType="1" noTextEdit="1"/>
              </p:cNvSpPr>
              <p:nvPr/>
            </p:nvSpPr>
            <p:spPr>
              <a:xfrm>
                <a:off x="609600" y="3632835"/>
                <a:ext cx="10953750" cy="11049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eq_65">
                <a:extLst>
                  <a:ext uri="{FF2B5EF4-FFF2-40B4-BE49-F238E27FC236}">
                    <a16:creationId xmlns:a16="http://schemas.microsoft.com/office/drawing/2014/main" id="{2A75A96F-9666-4933-AC9A-073BC94E9CEF}"/>
                  </a:ext>
                </a:extLst>
              </p:cNvPr>
              <p:cNvSpPr txBox="1">
                <a:spLocks noGrp="1"/>
              </p:cNvSpPr>
              <p:nvPr/>
            </p:nvSpPr>
            <p:spPr>
              <a:xfrm>
                <a:off x="609600" y="4728210"/>
                <a:ext cx="10953750" cy="1200150"/>
              </a:xfrm>
              <a:prstGeom prst="rect">
                <a:avLst/>
              </a:prstGeom>
              <a:noFill/>
              <a:ln w="0">
                <a:noFill/>
              </a:ln>
            </p:spPr>
            <p:txBody>
              <a:bodyPr vertOverflow="overflow" wrap="none" lIns="0" tIns="0" rIns="0" bIns="0" anchor="ctr">
                <a:noAutofit/>
              </a:bodyPr>
              <a:lstStyle/>
              <a:p>
                <a:pPr marL="0" marR="0" indent="0" algn="ctr">
                  <a:defRPr lang="en-GB" sz="2325" b="0" i="0" dirty="0">
                    <a:solidFill>
                      <a:srgbClr val="00858A"/>
                    </a:solidFill>
                    <a:latin typeface="DejaVu Sans"/>
                    <a:ea typeface="DejaVu Sans"/>
                    <a:cs typeface="DejaVu Sans"/>
                  </a:defRPr>
                </a:pPr>
                <a14:m>
                  <m:oMathPara xmlns:m="http://schemas.openxmlformats.org/officeDocument/2006/math">
                    <m:oMath>
                      <m:r>
                        <a:rPr lang="en-GB" sz="2325" b="0" dirty="0" smtClean="0">
                          <a:solidFill>
                            <a:schemeClr val="tx1"/>
                          </a:solidFill>
                          <a:latin typeface="Cambria Math"/>
                          <a:ea typeface="Cambria Math"/>
                          <a:cs typeface="Cambria Math"/>
                        </a:rPr>
                        <m:t>=2</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d>
                            <m:dPr>
                              <m:ctrlPr>
                                <a:rPr lang="en-GB" sz="2325" b="0" dirty="0">
                                  <a:solidFill>
                                    <a:schemeClr val="tx1"/>
                                  </a:solidFill>
                                  <a:latin typeface="Cambria Math"/>
                                  <a:ea typeface="Cambria Math"/>
                                  <a:cs typeface="Cambria Math"/>
                                </a:rPr>
                              </m:ctrlPr>
                            </m:dPr>
                            <m:e>
                              <m:r>
                                <a:rPr lang="en-GB" sz="2325" b="0" dirty="0">
                                  <a:solidFill>
                                    <a:schemeClr val="tx1"/>
                                  </a:solidFill>
                                  <a:latin typeface="Cambria Math"/>
                                  <a:ea typeface="Cambria Math"/>
                                  <a:cs typeface="Cambria Math"/>
                                </a:rPr>
                                <m:t>𝑏</m:t>
                              </m:r>
                              <m:r>
                                <a:rPr lang="en-GB" sz="2325" b="0" dirty="0">
                                  <a:solidFill>
                                    <a:schemeClr val="tx1"/>
                                  </a:solidFill>
                                  <a:latin typeface="Cambria Math"/>
                                  <a:ea typeface="Cambria Math"/>
                                  <a:cs typeface="Cambria Math"/>
                                </a:rPr>
                                <m:t>+</m:t>
                              </m:r>
                              <m:r>
                                <a:rPr lang="en-GB" sz="2325" b="0" dirty="0">
                                  <a:solidFill>
                                    <a:schemeClr val="tx1"/>
                                  </a:solidFill>
                                  <a:latin typeface="Cambria Math"/>
                                  <a:ea typeface="Cambria Math"/>
                                  <a:cs typeface="Cambria Math"/>
                                </a:rPr>
                                <m:t>𝑎</m:t>
                              </m:r>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Sub>
                              <m:r>
                                <a:rPr lang="en-GB" sz="2325" b="0" dirty="0">
                                  <a:solidFill>
                                    <a:schemeClr val="tx1"/>
                                  </a:solidFill>
                                  <a:latin typeface="Cambria Math"/>
                                  <a:ea typeface="Cambria Math"/>
                                  <a:cs typeface="Cambria Math"/>
                                </a:rPr>
                                <m:t>−</m:t>
                              </m:r>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𝑦</m:t>
                                  </m:r>
                                </m:e>
                                <m:sub>
                                  <m:r>
                                    <a:rPr lang="en-GB" sz="2325" b="0" dirty="0">
                                      <a:solidFill>
                                        <a:schemeClr val="tx1"/>
                                      </a:solidFill>
                                      <a:latin typeface="Cambria Math"/>
                                      <a:ea typeface="Cambria Math"/>
                                      <a:cs typeface="Cambria Math"/>
                                    </a:rPr>
                                    <m:t>𝑖</m:t>
                                  </m:r>
                                </m:sub>
                              </m:sSub>
                            </m:e>
                          </m:d>
                        </m:e>
                      </m:nary>
                      <m:r>
                        <a:rPr lang="en-GB" sz="2325" b="0" dirty="0">
                          <a:solidFill>
                            <a:schemeClr val="tx1"/>
                          </a:solidFill>
                          <a:latin typeface="Cambria Math"/>
                          <a:ea typeface="Cambria Math"/>
                          <a:cs typeface="Cambria Math"/>
                        </a:rPr>
                        <m:t>=2</m:t>
                      </m:r>
                      <m:d>
                        <m:dPr>
                          <m:ctrlPr>
                            <a:rPr lang="en-GB" sz="2325" b="0" dirty="0">
                              <a:solidFill>
                                <a:schemeClr val="tx1"/>
                              </a:solidFill>
                              <a:latin typeface="Cambria Math"/>
                              <a:ea typeface="Cambria Math"/>
                              <a:cs typeface="Cambria Math"/>
                            </a:rPr>
                          </m:ctrlPr>
                        </m:dPr>
                        <m:e>
                          <m:r>
                            <a:rPr lang="en-GB" sz="2325" b="0" dirty="0">
                              <a:solidFill>
                                <a:schemeClr val="tx1"/>
                              </a:solidFill>
                              <a:latin typeface="Cambria Math"/>
                              <a:ea typeface="Cambria Math"/>
                              <a:cs typeface="Cambria Math"/>
                            </a:rPr>
                            <m:t>𝑁𝑏</m:t>
                          </m:r>
                          <m:r>
                            <a:rPr lang="en-GB" sz="2325" b="0" dirty="0">
                              <a:solidFill>
                                <a:schemeClr val="tx1"/>
                              </a:solidFill>
                              <a:latin typeface="Cambria Math"/>
                              <a:ea typeface="Cambria Math"/>
                              <a:cs typeface="Cambria Math"/>
                            </a:rPr>
                            <m:t>+</m:t>
                          </m:r>
                          <m:r>
                            <a:rPr lang="en-GB" sz="2325" b="0" dirty="0">
                              <a:solidFill>
                                <a:schemeClr val="tx1"/>
                              </a:solidFill>
                              <a:latin typeface="Cambria Math"/>
                              <a:ea typeface="Cambria Math"/>
                              <a:cs typeface="Cambria Math"/>
                            </a:rPr>
                            <m:t>𝑎</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Sub>
                            </m:e>
                          </m:nary>
                          <m:r>
                            <a:rPr lang="en-GB" sz="2325" b="0" dirty="0">
                              <a:solidFill>
                                <a:schemeClr val="tx1"/>
                              </a:solidFill>
                              <a:latin typeface="Cambria Math"/>
                              <a:ea typeface="Cambria Math"/>
                              <a:cs typeface="Cambria Math"/>
                            </a:rPr>
                            <m:t>−</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𝑦</m:t>
                                  </m:r>
                                </m:e>
                                <m:sub>
                                  <m:r>
                                    <a:rPr lang="en-GB" sz="2325" b="0" dirty="0">
                                      <a:solidFill>
                                        <a:schemeClr val="tx1"/>
                                      </a:solidFill>
                                      <a:latin typeface="Cambria Math"/>
                                      <a:ea typeface="Cambria Math"/>
                                      <a:cs typeface="Cambria Math"/>
                                    </a:rPr>
                                    <m:t>𝑖</m:t>
                                  </m:r>
                                </m:sub>
                              </m:sSub>
                            </m:e>
                          </m:nary>
                        </m:e>
                      </m:d>
                    </m:oMath>
                  </m:oMathPara>
                </a14:m>
                <a:endParaRPr lang="en-GB" sz="2325" b="0" i="0" dirty="0">
                  <a:solidFill>
                    <a:srgbClr val="00858A"/>
                  </a:solidFill>
                  <a:latin typeface="DejaVu Sans"/>
                  <a:ea typeface="DejaVu Sans"/>
                  <a:cs typeface="DejaVu Sans"/>
                </a:endParaRPr>
              </a:p>
            </p:txBody>
          </p:sp>
        </mc:Choice>
        <mc:Fallback>
          <p:sp>
            <p:nvSpPr>
              <p:cNvPr id="6" name="eq_65">
                <a:extLst>
                  <a:ext uri="{FF2B5EF4-FFF2-40B4-BE49-F238E27FC236}">
                    <a16:creationId xmlns:a16="http://schemas.microsoft.com/office/drawing/2014/main" id="{2A75A96F-9666-4933-AC9A-073BC94E9CEF}"/>
                  </a:ext>
                </a:extLst>
              </p:cNvPr>
              <p:cNvSpPr txBox="1">
                <a:spLocks noGrp="1" noRot="1" noChangeAspect="1" noMove="1" noResize="1" noEditPoints="1" noAdjustHandles="1" noChangeArrowheads="1" noChangeShapeType="1" noTextEdit="1"/>
              </p:cNvSpPr>
              <p:nvPr/>
            </p:nvSpPr>
            <p:spPr>
              <a:xfrm>
                <a:off x="609600" y="4728210"/>
                <a:ext cx="10953750" cy="12001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 name="txt_66">
                <a:extLst>
                  <a:ext uri="{FF2B5EF4-FFF2-40B4-BE49-F238E27FC236}">
                    <a16:creationId xmlns:a16="http://schemas.microsoft.com/office/drawing/2014/main" id="{F53D1E52-6222-41EE-A673-68B1F1B4ABF1}"/>
                  </a:ext>
                </a:extLst>
              </p:cNvPr>
              <p:cNvSpPr txBox="1">
                <a:spLocks noGrp="1"/>
              </p:cNvSpPr>
              <p:nvPr/>
            </p:nvSpPr>
            <p:spPr>
              <a:xfrm>
                <a:off x="609600" y="6042660"/>
                <a:ext cx="10953750" cy="400050"/>
              </a:xfrm>
              <a:prstGeom prst="rect">
                <a:avLst/>
              </a:prstGeom>
              <a:noFill/>
              <a:ln w="0">
                <a:noFill/>
              </a:ln>
            </p:spPr>
            <p:txBody>
              <a:bodyPr vertOverflow="overflow" wrap="square" lIns="0" tIns="0" rIns="0" bIns="0" anchor="ctr">
                <a:noAutofit/>
              </a:bodyPr>
              <a:lstStyle/>
              <a:p>
                <a:pPr marL="0" marR="0" indent="0" algn="ctr">
                  <a:defRPr lang="en-GB" sz="1725" b="0" i="0" dirty="0">
                    <a:solidFill>
                      <a:srgbClr val="53657E"/>
                    </a:solidFill>
                    <a:latin typeface="DejaVu Sans"/>
                    <a:ea typeface="DejaVu Sans"/>
                    <a:cs typeface="DejaVu Sans"/>
                  </a:defRPr>
                </a:pPr>
                <a:r>
                  <a:rPr lang="en-GB" sz="1725" b="0" i="0" dirty="0">
                    <a:solidFill>
                      <a:srgbClr val="53657E"/>
                    </a:solidFill>
                    <a:latin typeface="DejaVu Sans"/>
                    <a:ea typeface="DejaVu Sans"/>
                    <a:cs typeface="DejaVu Sans"/>
                  </a:rPr>
                  <a:t>Hold </a:t>
                </a:r>
                <a14:m>
                  <m:oMath xmlns:m="http://schemas.openxmlformats.org/officeDocument/2006/math">
                    <m:r>
                      <a:rPr lang="en-GB" sz="1725" b="0" dirty="0">
                        <a:solidFill>
                          <a:srgbClr val="53657E"/>
                        </a:solidFill>
                        <a:latin typeface="Cambria Math"/>
                        <a:ea typeface="Cambria Math"/>
                        <a:cs typeface="Cambria Math"/>
                      </a:rPr>
                      <m:t>𝑎</m:t>
                    </m:r>
                  </m:oMath>
                </a14:m>
                <a:r>
                  <a:rPr lang="en-GB" sz="1725" b="0" i="0" dirty="0">
                    <a:solidFill>
                      <a:srgbClr val="53657E"/>
                    </a:solidFill>
                    <a:latin typeface="DejaVu Sans"/>
                    <a:ea typeface="DejaVu Sans"/>
                    <a:cs typeface="DejaVu Sans"/>
                  </a:rPr>
                  <a:t> fixed: only </a:t>
                </a:r>
                <a14:m>
                  <m:oMath xmlns:m="http://schemas.openxmlformats.org/officeDocument/2006/math">
                    <m:r>
                      <a:rPr lang="en-GB" sz="1725" b="0" dirty="0">
                        <a:solidFill>
                          <a:srgbClr val="53657E"/>
                        </a:solidFill>
                        <a:latin typeface="Cambria Math"/>
                        <a:ea typeface="Cambria Math"/>
                        <a:cs typeface="Cambria Math"/>
                      </a:rPr>
                      <m:t>𝑏</m:t>
                    </m:r>
                  </m:oMath>
                </a14:m>
                <a:r>
                  <a:rPr lang="en-GB" sz="1725" b="0" i="0" dirty="0">
                    <a:solidFill>
                      <a:srgbClr val="53657E"/>
                    </a:solidFill>
                    <a:latin typeface="DejaVu Sans"/>
                    <a:ea typeface="DejaVu Sans"/>
                    <a:cs typeface="DejaVu Sans"/>
                  </a:rPr>
                  <a:t> varies. The data </a:t>
                </a:r>
                <a14:m>
                  <m:oMath xmlns:m="http://schemas.openxmlformats.org/officeDocument/2006/math">
                    <m:sSub>
                      <m:sSubPr>
                        <m:ctrlPr>
                          <a:rPr lang="en-GB" sz="1725" b="0" dirty="0">
                            <a:solidFill>
                              <a:srgbClr val="53657E"/>
                            </a:solidFill>
                            <a:latin typeface="Cambria Math"/>
                            <a:ea typeface="Cambria Math"/>
                            <a:cs typeface="Cambria Math"/>
                          </a:rPr>
                        </m:ctrlPr>
                      </m:sSubPr>
                      <m:e>
                        <m:r>
                          <a:rPr lang="en-GB" sz="1725" b="0" dirty="0">
                            <a:solidFill>
                              <a:srgbClr val="53657E"/>
                            </a:solidFill>
                            <a:latin typeface="Cambria Math"/>
                            <a:ea typeface="Cambria Math"/>
                            <a:cs typeface="Cambria Math"/>
                          </a:rPr>
                          <m:t>𝑥</m:t>
                        </m:r>
                      </m:e>
                      <m:sub>
                        <m:r>
                          <a:rPr lang="en-GB" sz="1725" b="0" dirty="0">
                            <a:solidFill>
                              <a:srgbClr val="53657E"/>
                            </a:solidFill>
                            <a:latin typeface="Cambria Math"/>
                            <a:ea typeface="Cambria Math"/>
                            <a:cs typeface="Cambria Math"/>
                          </a:rPr>
                          <m:t>𝑖</m:t>
                        </m:r>
                      </m:sub>
                    </m:sSub>
                  </m:oMath>
                </a14:m>
                <a:r>
                  <a:rPr lang="en-GB" sz="1725" b="0" i="0" dirty="0">
                    <a:solidFill>
                      <a:srgbClr val="53657E"/>
                    </a:solidFill>
                    <a:latin typeface="DejaVu Sans"/>
                    <a:ea typeface="DejaVu Sans"/>
                    <a:cs typeface="DejaVu Sans"/>
                  </a:rPr>
                  <a:t> and </a:t>
                </a:r>
                <a14:m>
                  <m:oMath xmlns:m="http://schemas.openxmlformats.org/officeDocument/2006/math">
                    <m:sSub>
                      <m:sSubPr>
                        <m:ctrlPr>
                          <a:rPr lang="en-GB" sz="1725" b="0" dirty="0">
                            <a:solidFill>
                              <a:srgbClr val="53657E"/>
                            </a:solidFill>
                            <a:latin typeface="Cambria Math"/>
                            <a:ea typeface="Cambria Math"/>
                            <a:cs typeface="Cambria Math"/>
                          </a:rPr>
                        </m:ctrlPr>
                      </m:sSubPr>
                      <m:e>
                        <m:r>
                          <a:rPr lang="en-GB" sz="1725" b="0" dirty="0">
                            <a:solidFill>
                              <a:srgbClr val="53657E"/>
                            </a:solidFill>
                            <a:latin typeface="Cambria Math"/>
                            <a:ea typeface="Cambria Math"/>
                            <a:cs typeface="Cambria Math"/>
                          </a:rPr>
                          <m:t>𝑦</m:t>
                        </m:r>
                      </m:e>
                      <m:sub>
                        <m:r>
                          <a:rPr lang="en-GB" sz="1725" b="0" dirty="0">
                            <a:solidFill>
                              <a:srgbClr val="53657E"/>
                            </a:solidFill>
                            <a:latin typeface="Cambria Math"/>
                            <a:ea typeface="Cambria Math"/>
                            <a:cs typeface="Cambria Math"/>
                          </a:rPr>
                          <m:t>𝑖</m:t>
                        </m:r>
                      </m:sub>
                    </m:sSub>
                  </m:oMath>
                </a14:m>
                <a:r>
                  <a:rPr lang="en-GB" sz="1725" b="0" i="0" dirty="0">
                    <a:solidFill>
                      <a:srgbClr val="53657E"/>
                    </a:solidFill>
                    <a:latin typeface="DejaVu Sans"/>
                    <a:ea typeface="DejaVu Sans"/>
                    <a:cs typeface="DejaVu Sans"/>
                  </a:rPr>
                  <a:t> are fixed.</a:t>
                </a:r>
              </a:p>
            </p:txBody>
          </p:sp>
        </mc:Choice>
        <mc:Fallback>
          <p:sp>
            <p:nvSpPr>
              <p:cNvPr id="7" name="txt_66">
                <a:extLst>
                  <a:ext uri="{FF2B5EF4-FFF2-40B4-BE49-F238E27FC236}">
                    <a16:creationId xmlns:a16="http://schemas.microsoft.com/office/drawing/2014/main" id="{F53D1E52-6222-41EE-A673-68B1F1B4ABF1}"/>
                  </a:ext>
                </a:extLst>
              </p:cNvPr>
              <p:cNvSpPr txBox="1">
                <a:spLocks noGrp="1" noRot="1" noChangeAspect="1" noMove="1" noResize="1" noEditPoints="1" noAdjustHandles="1" noChangeArrowheads="1" noChangeShapeType="1" noTextEdit="1"/>
              </p:cNvSpPr>
              <p:nvPr/>
            </p:nvSpPr>
            <p:spPr>
              <a:xfrm>
                <a:off x="609600" y="6042660"/>
                <a:ext cx="10953750" cy="400050"/>
              </a:xfrm>
              <a:prstGeom prst="rect">
                <a:avLst/>
              </a:prstGeom>
              <a:blipFill>
                <a:blip r:embed="rId7"/>
                <a:stretch>
                  <a:fillRect b="-15152"/>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hain_rule_lead">
                <a:extLst>
                  <a:ext uri="{FF2B5EF4-FFF2-40B4-BE49-F238E27FC236}">
                    <a16:creationId xmlns:a16="http://schemas.microsoft.com/office/drawing/2014/main" id="{5D40DFB4-6DF1-4108-BB66-0F351F24CB2E}"/>
                  </a:ext>
                </a:extLst>
              </p:cNvPr>
              <p:cNvSpPr txBox="1">
                <a:spLocks noGrp="1"/>
              </p:cNvSpPr>
              <p:nvPr/>
            </p:nvSpPr>
            <p:spPr>
              <a:xfrm>
                <a:off x="609600" y="3156585"/>
                <a:ext cx="10953750" cy="428625"/>
              </a:xfrm>
              <a:prstGeom prst="rect">
                <a:avLst/>
              </a:prstGeom>
              <a:noFill/>
              <a:ln w="0">
                <a:noFill/>
              </a:ln>
            </p:spPr>
            <p:txBody>
              <a:bodyPr vertOverflow="overflow"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The </a:t>
                </a:r>
                <a:r>
                  <a:rPr lang="en-GB" sz="2100" b="0" i="0" dirty="0">
                    <a:solidFill>
                      <a:srgbClr val="FF0000"/>
                    </a:solidFill>
                    <a:latin typeface="DejaVu Sans"/>
                    <a:ea typeface="DejaVu Sans"/>
                    <a:cs typeface="DejaVu Sans"/>
                  </a:rPr>
                  <a:t>chain rule</a:t>
                </a:r>
                <a:r>
                  <a:rPr lang="en-GB" sz="2100" b="0" i="0" dirty="0">
                    <a:solidFill>
                      <a:srgbClr val="182D45"/>
                    </a:solidFill>
                    <a:latin typeface="DejaVu Sans"/>
                    <a:ea typeface="DejaVu Sans"/>
                    <a:cs typeface="DejaVu Sans"/>
                  </a:rPr>
                  <a:t>, with outer function </a:t>
                </a:r>
                <a14:m>
                  <m:oMath xmlns:m="http://schemas.openxmlformats.org/officeDocument/2006/math">
                    <m:r>
                      <a:rPr lang="en-GB" sz="2100" b="0" dirty="0">
                        <a:solidFill>
                          <a:srgbClr val="182D45"/>
                        </a:solidFill>
                        <a:latin typeface="Cambria Math"/>
                        <a:ea typeface="Cambria Math"/>
                        <a:cs typeface="Cambria Math"/>
                      </a:rPr>
                      <m:t>𝑢</m:t>
                    </m:r>
                    <m:d>
                      <m:dPr>
                        <m:ctrlPr>
                          <a:rPr lang="en-GB" sz="2100" b="0" dirty="0">
                            <a:solidFill>
                              <a:srgbClr val="182D45"/>
                            </a:solidFill>
                            <a:latin typeface="Cambria Math"/>
                            <a:ea typeface="Cambria Math"/>
                            <a:cs typeface="Cambria Math"/>
                          </a:rPr>
                        </m:ctrlPr>
                      </m:dPr>
                      <m:e>
                        <m:r>
                          <a:rPr lang="en-GB" sz="2100" b="0" dirty="0">
                            <a:solidFill>
                              <a:srgbClr val="182D45"/>
                            </a:solidFill>
                            <a:latin typeface="Cambria Math"/>
                            <a:ea typeface="Cambria Math"/>
                            <a:cs typeface="Cambria Math"/>
                          </a:rPr>
                          <m:t>𝑟</m:t>
                        </m:r>
                      </m:e>
                    </m:d>
                    <m:r>
                      <a:rPr lang="en-GB" sz="2100" b="0" dirty="0">
                        <a:solidFill>
                          <a:srgbClr val="182D45"/>
                        </a:solidFill>
                        <a:latin typeface="Cambria Math"/>
                        <a:ea typeface="Cambria Math"/>
                        <a:cs typeface="Cambria Math"/>
                      </a:rPr>
                      <m:t>=</m:t>
                    </m:r>
                    <m:sSup>
                      <m:sSupPr>
                        <m:ctrlPr>
                          <a:rPr lang="en-GB" sz="2100" b="0" dirty="0">
                            <a:solidFill>
                              <a:srgbClr val="182D45"/>
                            </a:solidFill>
                            <a:latin typeface="Cambria Math"/>
                            <a:ea typeface="Cambria Math"/>
                            <a:cs typeface="Cambria Math"/>
                          </a:rPr>
                        </m:ctrlPr>
                      </m:sSupPr>
                      <m:e>
                        <m:r>
                          <a:rPr lang="en-GB" sz="2100" b="0" dirty="0">
                            <a:solidFill>
                              <a:srgbClr val="182D45"/>
                            </a:solidFill>
                            <a:latin typeface="Cambria Math"/>
                            <a:ea typeface="Cambria Math"/>
                            <a:cs typeface="Cambria Math"/>
                          </a:rPr>
                          <m:t>𝑟</m:t>
                        </m:r>
                      </m:e>
                      <m:sup>
                        <m:r>
                          <a:rPr lang="en-GB" sz="2100" b="0" dirty="0">
                            <a:solidFill>
                              <a:srgbClr val="182D45"/>
                            </a:solidFill>
                            <a:latin typeface="Cambria Math"/>
                            <a:ea typeface="Cambria Math"/>
                            <a:cs typeface="Cambria Math"/>
                          </a:rPr>
                          <m:t>2</m:t>
                        </m:r>
                      </m:sup>
                    </m:sSup>
                  </m:oMath>
                </a14:m>
                <a:r>
                  <a:rPr lang="en-GB" sz="2100" b="0" i="0" dirty="0">
                    <a:solidFill>
                      <a:srgbClr val="182D45"/>
                    </a:solidFill>
                    <a:latin typeface="DejaVu Sans"/>
                    <a:ea typeface="DejaVu Sans"/>
                    <a:cs typeface="DejaVu Sans"/>
                  </a:rPr>
                  <a:t> and inner functions </a:t>
                </a:r>
                <a14:m>
                  <m:oMath xmlns:m="http://schemas.openxmlformats.org/officeDocument/2006/math">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𝑟</m:t>
                        </m:r>
                      </m:e>
                      <m:sub>
                        <m:r>
                          <a:rPr lang="en-GB" sz="2100" b="0" dirty="0">
                            <a:solidFill>
                              <a:srgbClr val="182D45"/>
                            </a:solidFill>
                            <a:latin typeface="Cambria Math"/>
                            <a:ea typeface="Cambria Math"/>
                            <a:cs typeface="Cambria Math"/>
                          </a:rPr>
                          <m:t>𝑖</m:t>
                        </m:r>
                      </m:sub>
                    </m:sSub>
                  </m:oMath>
                </a14:m>
                <a:r>
                  <a:rPr lang="en-GB" sz="2100" b="0" i="0" dirty="0">
                    <a:solidFill>
                      <a:srgbClr val="182D45"/>
                    </a:solidFill>
                    <a:latin typeface="DejaVu Sans"/>
                    <a:ea typeface="DejaVu Sans"/>
                    <a:cs typeface="DejaVu Sans"/>
                  </a:rPr>
                  <a:t>, gives</a:t>
                </a:r>
              </a:p>
            </p:txBody>
          </p:sp>
        </mc:Choice>
        <mc:Fallback>
          <p:sp>
            <p:nvSpPr>
              <p:cNvPr id="9" name="chain_rule_lead">
                <a:extLst>
                  <a:ext uri="{FF2B5EF4-FFF2-40B4-BE49-F238E27FC236}">
                    <a16:creationId xmlns:a16="http://schemas.microsoft.com/office/drawing/2014/main" id="{5D40DFB4-6DF1-4108-BB66-0F351F24CB2E}"/>
                  </a:ext>
                </a:extLst>
              </p:cNvPr>
              <p:cNvSpPr txBox="1">
                <a:spLocks noGrp="1" noRot="1" noChangeAspect="1" noMove="1" noResize="1" noEditPoints="1" noAdjustHandles="1" noChangeArrowheads="1" noChangeShapeType="1" noTextEdit="1"/>
              </p:cNvSpPr>
              <p:nvPr/>
            </p:nvSpPr>
            <p:spPr>
              <a:xfrm>
                <a:off x="609600" y="3156585"/>
                <a:ext cx="10953750" cy="428625"/>
              </a:xfrm>
              <a:prstGeom prst="rect">
                <a:avLst/>
              </a:prstGeom>
              <a:blipFill>
                <a:blip r:embed="rId8"/>
                <a:stretch>
                  <a:fillRect t="-8571" b="-2571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93938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5" grpId="1"/>
      <p:bldP spid="6" grpId="0" build="allAtOnce"/>
      <p:bldP spid="6" grpId="1"/>
      <p:bldP spid="7" grpId="0" build="allAtOnce" animBg="1"/>
      <p:bldP spid="7" grpId="1"/>
      <p:bldP spid="9" grpId="0" build="allAtOnce" animBg="1"/>
      <p:bldP spid="9" grpId="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7A03534-5CCE-4682-B903-10DB1266167F}"/>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Affine loss: the slope derivative</a:t>
            </a:r>
          </a:p>
        </p:txBody>
      </p:sp>
      <p:sp>
        <p:nvSpPr>
          <p:cNvPr id="2" name="page_number">
            <a:extLst>
              <a:ext uri="{FF2B5EF4-FFF2-40B4-BE49-F238E27FC236}">
                <a16:creationId xmlns:a16="http://schemas.microsoft.com/office/drawing/2014/main" id="{FE7596F9-500A-42BC-8D8C-A9D02A56EC23}"/>
              </a:ext>
            </a:extLst>
          </p:cNvPr>
          <p:cNvSpPr>
            <a:spLocks noGrp="1"/>
          </p:cNvSpPr>
          <p:nvPr/>
        </p:nvSpPr>
        <p:spPr>
          <a:xfrm>
            <a:off x="11239500" y="6457950"/>
            <a:ext cx="400050" cy="238125"/>
          </a:xfrm>
          <a:prstGeom prst="rect">
            <a:avLst/>
          </a:prstGeom>
          <a:noFill/>
          <a:ln w="0">
            <a:noFill/>
          </a:ln>
        </p:spPr>
        <p:txBody>
          <a:bodyPr wrap="square" lIns="0" tIns="0" rIns="0" bIns="0" anchor="ctr">
            <a:noAutofit/>
          </a:bodyPr>
          <a:lstStyle/>
          <a:p>
            <a:pPr marL="0" marR="0" indent="0" algn="r">
              <a:defRPr lang="en-GB" sz="1350" b="0" i="0" dirty="0">
                <a:solidFill>
                  <a:srgbClr val="53657E"/>
                </a:solidFill>
                <a:latin typeface="DejaVu Sans"/>
                <a:ea typeface="DejaVu Sans"/>
                <a:cs typeface="DejaVu Sans"/>
              </a:defRPr>
            </a:pPr>
            <a:r>
              <a:rPr sz="1300" b="0">
                <a:solidFill>
                  <a:srgbClr val="526276"/>
                </a:solidFill>
                <a:latin typeface="DejaVu Sans"/>
              </a:rPr>
              <a:t>22</a:t>
            </a:r>
          </a:p>
        </p:txBody>
      </p:sp>
      <mc:AlternateContent xmlns:mc="http://schemas.openxmlformats.org/markup-compatibility/2006" xmlns:a14="http://schemas.microsoft.com/office/drawing/2010/main">
        <mc:Choice Requires="a14">
          <p:sp>
            <p:nvSpPr>
              <p:cNvPr id="3" name="eq_62">
                <a:extLst>
                  <a:ext uri="{FF2B5EF4-FFF2-40B4-BE49-F238E27FC236}">
                    <a16:creationId xmlns:a16="http://schemas.microsoft.com/office/drawing/2014/main" id="{89EE3C35-BFB0-4EA4-94D7-5943EF12350A}"/>
                  </a:ext>
                </a:extLst>
              </p:cNvPr>
              <p:cNvSpPr txBox="1">
                <a:spLocks noGrp="1"/>
              </p:cNvSpPr>
              <p:nvPr/>
            </p:nvSpPr>
            <p:spPr>
              <a:xfrm>
                <a:off x="609600" y="1314450"/>
                <a:ext cx="10953750" cy="1104900"/>
              </a:xfrm>
              <a:prstGeom prst="rect">
                <a:avLst/>
              </a:prstGeom>
              <a:noFill/>
              <a:ln w="0">
                <a:noFill/>
              </a:ln>
            </p:spPr>
            <p:txBody>
              <a:bodyPr vertOverflow="overflow" wrap="none" lIns="0" tIns="0" rIns="0" bIns="0" anchor="ctr">
                <a:noAutofit/>
              </a:bodyPr>
              <a:lstStyle/>
              <a:p>
                <a:pPr marL="0" marR="0" indent="0" algn="ctr">
                  <a:defRPr lang="en-GB" sz="2550" b="0" i="0" dirty="0">
                    <a:solidFill>
                      <a:srgbClr val="182D45"/>
                    </a:solidFill>
                    <a:latin typeface="DejaVu Sans"/>
                    <a:ea typeface="DejaVu Sans"/>
                    <a:cs typeface="DejaVu Sans"/>
                  </a:defRPr>
                </a:pPr>
                <a14:m>
                  <m:oMathPara xmlns:m="http://schemas.openxmlformats.org/officeDocument/2006/math">
                    <m:oMath>
                      <m:sSubSup>
                        <m:sSubSupPr>
                          <m:ctrlPr>
                            <a:rPr lang="en-GB" sz="2550" b="0" dirty="0">
                              <a:solidFill>
                                <a:srgbClr val="182D45"/>
                              </a:solidFill>
                              <a:latin typeface="Cambria Math"/>
                              <a:ea typeface="Cambria Math"/>
                              <a:cs typeface="Cambria Math"/>
                            </a:rPr>
                          </m:ctrlPr>
                        </m:sSubSupPr>
                        <m:e>
                          <m:r>
                            <a:rPr lang="en-GB" sz="2550" b="0" dirty="0">
                              <a:solidFill>
                                <a:srgbClr val="182D45"/>
                              </a:solidFill>
                              <a:latin typeface="Cambria Math"/>
                              <a:ea typeface="Cambria Math"/>
                              <a:cs typeface="Cambria Math"/>
                            </a:rPr>
                            <m:t>ℒ</m:t>
                          </m:r>
                        </m:e>
                        <m:sub>
                          <m:r>
                            <m:rPr>
                              <m:sty m:val="p"/>
                            </m:rPr>
                            <a:rPr lang="en-GB" sz="2550" b="0" dirty="0">
                              <a:solidFill>
                                <a:srgbClr val="182D45"/>
                              </a:solidFill>
                              <a:latin typeface="Cambria Math"/>
                              <a:ea typeface="Cambria Math"/>
                              <a:cs typeface="Cambria Math"/>
                            </a:rPr>
                            <m:t>sq</m:t>
                          </m:r>
                        </m:sub>
                        <m:sup>
                          <m:r>
                            <m:rPr>
                              <m:sty m:val="p"/>
                            </m:rPr>
                            <a:rPr lang="en-GB" sz="2550" b="0" dirty="0">
                              <a:solidFill>
                                <a:srgbClr val="182D45"/>
                              </a:solidFill>
                              <a:latin typeface="Cambria Math"/>
                              <a:ea typeface="Cambria Math"/>
                              <a:cs typeface="Cambria Math"/>
                            </a:rPr>
                            <m:t>aff</m:t>
                          </m:r>
                        </m:sup>
                      </m:sSubSup>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𝑎</m:t>
                          </m:r>
                        </m:e>
                      </m:d>
                      <m:r>
                        <a:rPr lang="en-GB" sz="2550" b="0" dirty="0">
                          <a:solidFill>
                            <a:srgbClr val="182D45"/>
                          </a:solidFill>
                          <a:latin typeface="Cambria Math"/>
                          <a:ea typeface="Cambria Math"/>
                          <a:cs typeface="Cambria Math"/>
                        </a:rPr>
                        <m:t>=</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p>
                            <m:sSupPr>
                              <m:ctrlPr>
                                <a:rPr lang="en-GB" sz="2550" b="0" i="1" dirty="0">
                                  <a:solidFill>
                                    <a:srgbClr val="182D45"/>
                                  </a:solidFill>
                                  <a:latin typeface="Cambria Math" panose="02040503050406030204" pitchFamily="18" charset="0"/>
                                  <a:ea typeface="Cambria Math"/>
                                  <a:cs typeface="Cambria Math"/>
                                </a:rPr>
                              </m:ctrlPr>
                            </m:sSupPr>
                            <m:e>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𝑎</m:t>
                                  </m:r>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𝑥</m:t>
                                      </m:r>
                                    </m:e>
                                    <m:sub>
                                      <m:r>
                                        <a:rPr lang="en-GB" sz="2550" b="0" dirty="0">
                                          <a:solidFill>
                                            <a:srgbClr val="182D45"/>
                                          </a:solidFill>
                                          <a:latin typeface="Cambria Math"/>
                                          <a:ea typeface="Cambria Math"/>
                                          <a:cs typeface="Cambria Math"/>
                                        </a:rPr>
                                        <m:t>𝑖</m:t>
                                      </m:r>
                                    </m:sub>
                                  </m:sSub>
                                  <m:r>
                                    <a:rPr lang="en-GB" sz="2550" b="0" dirty="0">
                                      <a:solidFill>
                                        <a:srgbClr val="182D45"/>
                                      </a:solidFill>
                                      <a:latin typeface="Cambria Math"/>
                                      <a:ea typeface="Cambria Math"/>
                                      <a:cs typeface="Cambria Math"/>
                                    </a:rPr>
                                    <m:t>−</m:t>
                                  </m:r>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𝑦</m:t>
                                      </m:r>
                                    </m:e>
                                    <m:sub>
                                      <m:r>
                                        <a:rPr lang="en-GB" sz="2550" b="0" dirty="0">
                                          <a:solidFill>
                                            <a:srgbClr val="182D45"/>
                                          </a:solidFill>
                                          <a:latin typeface="Cambria Math"/>
                                          <a:ea typeface="Cambria Math"/>
                                          <a:cs typeface="Cambria Math"/>
                                        </a:rPr>
                                        <m:t>𝑖</m:t>
                                      </m:r>
                                    </m:sub>
                                  </m:sSub>
                                </m:e>
                              </m:d>
                            </m:e>
                            <m:sup>
                              <m:r>
                                <a:rPr lang="en-GB" sz="2550" b="0" dirty="0">
                                  <a:solidFill>
                                    <a:srgbClr val="182D45"/>
                                  </a:solidFill>
                                  <a:latin typeface="Cambria Math"/>
                                  <a:ea typeface="Cambria Math"/>
                                  <a:cs typeface="Cambria Math"/>
                                </a:rPr>
                                <m:t>2</m:t>
                              </m:r>
                            </m:sup>
                          </m:sSup>
                        </m:e>
                      </m:nary>
                      <m:r>
                        <a:rPr lang="en-GB" sz="2550" b="0" dirty="0">
                          <a:solidFill>
                            <a:srgbClr val="182D45"/>
                          </a:solidFill>
                          <a:latin typeface="Cambria Math"/>
                          <a:ea typeface="Cambria Math"/>
                          <a:cs typeface="Cambria Math"/>
                        </a:rPr>
                        <m:t>=</m:t>
                      </m:r>
                      <m:nary>
                        <m:naryPr>
                          <m:chr m:val="∑"/>
                          <m:limLoc m:val="undOvr"/>
                          <m:ctrlPr>
                            <a:rPr lang="en-GB" sz="2550" b="0" dirty="0">
                              <a:solidFill>
                                <a:srgbClr val="182D45"/>
                              </a:solidFill>
                              <a:latin typeface="Cambria Math"/>
                              <a:ea typeface="Cambria Math"/>
                              <a:cs typeface="Cambria Math"/>
                            </a:rPr>
                          </m:ctrlPr>
                        </m:naryPr>
                        <m:sub>
                          <m:r>
                            <a:rPr lang="en-GB" sz="2550" b="0" dirty="0">
                              <a:solidFill>
                                <a:srgbClr val="182D45"/>
                              </a:solidFill>
                              <a:latin typeface="Cambria Math"/>
                              <a:ea typeface="Cambria Math"/>
                              <a:cs typeface="Cambria Math"/>
                            </a:rPr>
                            <m:t>𝑖</m:t>
                          </m:r>
                          <m:r>
                            <a:rPr lang="en-GB" sz="2550" b="0" dirty="0">
                              <a:solidFill>
                                <a:srgbClr val="182D45"/>
                              </a:solidFill>
                              <a:latin typeface="Cambria Math"/>
                              <a:ea typeface="Cambria Math"/>
                              <a:cs typeface="Cambria Math"/>
                            </a:rPr>
                            <m:t>=1</m:t>
                          </m:r>
                        </m:sub>
                        <m:sup>
                          <m:r>
                            <a:rPr lang="en-GB" sz="2550" b="0" dirty="0">
                              <a:solidFill>
                                <a:srgbClr val="182D45"/>
                              </a:solidFill>
                              <a:latin typeface="Cambria Math"/>
                              <a:ea typeface="Cambria Math"/>
                              <a:cs typeface="Cambria Math"/>
                            </a:rPr>
                            <m:t>𝑁</m:t>
                          </m:r>
                        </m:sup>
                        <m:e>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𝑟</m:t>
                              </m:r>
                            </m:e>
                            <m:sub>
                              <m:r>
                                <a:rPr lang="en-GB" sz="2550" b="0" dirty="0">
                                  <a:solidFill>
                                    <a:srgbClr val="182D45"/>
                                  </a:solidFill>
                                  <a:latin typeface="Cambria Math"/>
                                  <a:ea typeface="Cambria Math"/>
                                  <a:cs typeface="Cambria Math"/>
                                </a:rPr>
                                <m:t>𝑖</m:t>
                              </m:r>
                            </m:sub>
                          </m:sSub>
                        </m:e>
                      </m:nary>
                      <m:sSup>
                        <m:sSupPr>
                          <m:ctrlPr>
                            <a:rPr lang="en-GB" sz="2550" b="0" i="1" dirty="0">
                              <a:solidFill>
                                <a:srgbClr val="182D45"/>
                              </a:solidFill>
                              <a:latin typeface="Cambria Math" panose="02040503050406030204" pitchFamily="18" charset="0"/>
                              <a:ea typeface="Cambria Math"/>
                              <a:cs typeface="Cambria Math"/>
                            </a:rPr>
                          </m:ctrlPr>
                        </m:sSupPr>
                        <m:e>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𝑏</m:t>
                              </m:r>
                              <m:r>
                                <a:rPr lang="en-GB" sz="2550" b="0" dirty="0">
                                  <a:solidFill>
                                    <a:srgbClr val="182D45"/>
                                  </a:solidFill>
                                  <a:latin typeface="Cambria Math"/>
                                  <a:ea typeface="Cambria Math"/>
                                  <a:cs typeface="Cambria Math"/>
                                </a:rPr>
                                <m:t>,</m:t>
                              </m:r>
                              <m:r>
                                <a:rPr lang="en-GB" sz="2550" b="0" dirty="0">
                                  <a:solidFill>
                                    <a:srgbClr val="182D45"/>
                                  </a:solidFill>
                                  <a:latin typeface="Cambria Math"/>
                                  <a:ea typeface="Cambria Math"/>
                                  <a:cs typeface="Cambria Math"/>
                                </a:rPr>
                                <m:t>𝑎</m:t>
                              </m:r>
                            </m:e>
                          </m:d>
                        </m:e>
                        <m:sup>
                          <m:r>
                            <a:rPr lang="en-GB" sz="2550" b="0" dirty="0">
                              <a:solidFill>
                                <a:srgbClr val="182D45"/>
                              </a:solidFill>
                              <a:latin typeface="Cambria Math"/>
                              <a:ea typeface="Cambria Math"/>
                              <a:cs typeface="Cambria Math"/>
                            </a:rPr>
                            <m:t>2</m:t>
                          </m:r>
                        </m:sup>
                      </m:sSup>
                    </m:oMath>
                  </m:oMathPara>
                </a14:m>
                <a:endParaRPr lang="en-GB" sz="2550" b="0" i="0" dirty="0">
                  <a:solidFill>
                    <a:srgbClr val="182D45"/>
                  </a:solidFill>
                  <a:latin typeface="DejaVu Sans"/>
                  <a:ea typeface="DejaVu Sans"/>
                  <a:cs typeface="DejaVu Sans"/>
                </a:endParaRPr>
              </a:p>
            </p:txBody>
          </p:sp>
        </mc:Choice>
        <mc:Fallback xmlns="">
          <p:sp>
            <p:nvSpPr>
              <p:cNvPr id="3" name="eq_62">
                <a:extLst>
                  <a:ext uri="{FF2B5EF4-FFF2-40B4-BE49-F238E27FC236}">
                    <a16:creationId xmlns:a16="http://schemas.microsoft.com/office/drawing/2014/main" id="{89EE3C35-BFB0-4EA4-94D7-5943EF12350A}"/>
                  </a:ext>
                </a:extLst>
              </p:cNvPr>
              <p:cNvSpPr txBox="1">
                <a:spLocks noGrp="1" noRot="1" noChangeAspect="1" noMove="1" noResize="1" noEditPoints="1" noAdjustHandles="1" noChangeArrowheads="1" noChangeShapeType="1" noTextEdit="1"/>
              </p:cNvSpPr>
              <p:nvPr/>
            </p:nvSpPr>
            <p:spPr>
              <a:xfrm>
                <a:off x="609600" y="1314450"/>
                <a:ext cx="10953750" cy="11049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63">
                <a:extLst>
                  <a:ext uri="{FF2B5EF4-FFF2-40B4-BE49-F238E27FC236}">
                    <a16:creationId xmlns:a16="http://schemas.microsoft.com/office/drawing/2014/main" id="{E9E1AFE9-FD04-4A86-BF67-75BF3FA4242D}"/>
                  </a:ext>
                </a:extLst>
              </p:cNvPr>
              <p:cNvSpPr txBox="1">
                <a:spLocks noGrp="1"/>
              </p:cNvSpPr>
              <p:nvPr/>
            </p:nvSpPr>
            <p:spPr>
              <a:xfrm>
                <a:off x="609600" y="2495550"/>
                <a:ext cx="10953750" cy="581025"/>
              </a:xfrm>
              <a:prstGeom prst="rect">
                <a:avLst/>
              </a:prstGeom>
              <a:noFill/>
              <a:ln w="0">
                <a:noFill/>
              </a:ln>
            </p:spPr>
            <p:txBody>
              <a:bodyPr vertOverflow="overflow" wrap="square" lIns="0" tIns="0" rIns="0" bIns="0" anchor="ctr">
                <a:noAutofit/>
              </a:bodyPr>
              <a:lstStyle/>
              <a:p>
                <a:pPr marL="0" marR="0" indent="0" algn="ctr">
                  <a:defRPr lang="en-GB" sz="2250" b="0" i="0" dirty="0">
                    <a:solidFill>
                      <a:srgbClr val="326CB2"/>
                    </a:solidFill>
                    <a:latin typeface="DejaVu Sans"/>
                    <a:ea typeface="DejaVu Sans"/>
                    <a:cs typeface="DejaVu Sans"/>
                  </a:defRPr>
                </a:pPr>
                <a:r>
                  <a:rPr lang="en-GB" sz="2100" b="0" i="0" dirty="0">
                    <a:solidFill>
                      <a:srgbClr val="326CB2"/>
                    </a:solidFill>
                    <a:latin typeface="DejaVu Sans"/>
                    <a:ea typeface="DejaVu Sans"/>
                    <a:cs typeface="DejaVu Sans"/>
                  </a:rPr>
                  <a:t>where </a:t>
                </a:r>
                <a14:m>
                  <m:oMath xmlns:m="http://schemas.openxmlformats.org/officeDocument/2006/math">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𝑟</m:t>
                        </m:r>
                      </m:e>
                      <m:sub>
                        <m:r>
                          <a:rPr lang="en-GB" sz="2100" b="0" dirty="0">
                            <a:solidFill>
                              <a:srgbClr val="326CB2"/>
                            </a:solidFill>
                            <a:latin typeface="Cambria Math"/>
                            <a:ea typeface="Cambria Math"/>
                            <a:cs typeface="Cambria Math"/>
                          </a:rPr>
                          <m:t>𝑖</m:t>
                        </m:r>
                      </m:sub>
                    </m:sSub>
                    <m:d>
                      <m:dPr>
                        <m:ctrlPr>
                          <a:rPr lang="en-GB" sz="2100" b="0" dirty="0">
                            <a:solidFill>
                              <a:srgbClr val="326CB2"/>
                            </a:solidFill>
                            <a:latin typeface="Cambria Math"/>
                            <a:ea typeface="Cambria Math"/>
                            <a:cs typeface="Cambria Math"/>
                          </a:rPr>
                        </m:ctrlPr>
                      </m:dPr>
                      <m:e>
                        <m:r>
                          <a:rPr lang="en-GB" sz="2100" b="0" dirty="0">
                            <a:solidFill>
                              <a:srgbClr val="326CB2"/>
                            </a:solidFill>
                            <a:latin typeface="Cambria Math"/>
                            <a:ea typeface="Cambria Math"/>
                            <a:cs typeface="Cambria Math"/>
                          </a:rPr>
                          <m:t>𝑏</m:t>
                        </m:r>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e>
                    </m:d>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𝑏</m:t>
                    </m:r>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𝑥</m:t>
                        </m:r>
                      </m:e>
                      <m:sub>
                        <m:r>
                          <a:rPr lang="en-GB" sz="2100" b="0" dirty="0">
                            <a:solidFill>
                              <a:srgbClr val="326CB2"/>
                            </a:solidFill>
                            <a:latin typeface="Cambria Math"/>
                            <a:ea typeface="Cambria Math"/>
                            <a:cs typeface="Cambria Math"/>
                          </a:rPr>
                          <m:t>𝑖</m:t>
                        </m:r>
                      </m:sub>
                    </m:sSub>
                    <m:r>
                      <a:rPr lang="en-GB" sz="2100" b="0" dirty="0">
                        <a:solidFill>
                          <a:srgbClr val="326CB2"/>
                        </a:solidFill>
                        <a:latin typeface="Cambria Math"/>
                        <a:ea typeface="Cambria Math"/>
                        <a:cs typeface="Cambria Math"/>
                      </a:rPr>
                      <m:t>−</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𝑦</m:t>
                        </m:r>
                      </m:e>
                      <m:sub>
                        <m:r>
                          <a:rPr lang="en-GB" sz="2100" b="0" dirty="0">
                            <a:solidFill>
                              <a:srgbClr val="326CB2"/>
                            </a:solidFill>
                            <a:latin typeface="Cambria Math"/>
                            <a:ea typeface="Cambria Math"/>
                            <a:cs typeface="Cambria Math"/>
                          </a:rPr>
                          <m:t>𝑖</m:t>
                        </m:r>
                      </m:sub>
                    </m:sSub>
                  </m:oMath>
                </a14:m>
                <a:r>
                  <a:rPr lang="en-GB" sz="2100" b="0" i="0" dirty="0">
                    <a:solidFill>
                      <a:srgbClr val="326CB2"/>
                    </a:solidFill>
                    <a:latin typeface="DejaVu Sans"/>
                    <a:ea typeface="DejaVu Sans"/>
                    <a:cs typeface="DejaVu Sans"/>
                  </a:rPr>
                  <a:t> is the </a:t>
                </a:r>
                <a:r>
                  <a:rPr lang="en-GB" sz="2100" b="0" i="0" dirty="0" err="1">
                    <a:solidFill>
                      <a:srgbClr val="326CB2"/>
                    </a:solidFill>
                    <a:latin typeface="DejaVu Sans"/>
                    <a:ea typeface="DejaVu Sans"/>
                    <a:cs typeface="DejaVu Sans"/>
                  </a:rPr>
                  <a:t>i-th</a:t>
                </a:r>
                <a:r>
                  <a:rPr lang="en-GB" sz="2100" b="0" i="0" dirty="0">
                    <a:solidFill>
                      <a:srgbClr val="326CB2"/>
                    </a:solidFill>
                    <a:latin typeface="DejaVu Sans"/>
                    <a:ea typeface="DejaVu Sans"/>
                    <a:cs typeface="DejaVu Sans"/>
                  </a:rPr>
                  <a:t> residual, so </a:t>
                </a:r>
                <a14:m>
                  <m:oMath xmlns:m="http://schemas.openxmlformats.org/officeDocument/2006/math">
                    <m:f>
                      <m:fPr>
                        <m:ctrlPr>
                          <a:rPr lang="en-GB" sz="2100" b="0" dirty="0">
                            <a:solidFill>
                              <a:srgbClr val="326CB2"/>
                            </a:solidFill>
                            <a:latin typeface="Cambria Math"/>
                            <a:ea typeface="Cambria Math"/>
                            <a:cs typeface="Cambria Math"/>
                          </a:rPr>
                        </m:ctrlPr>
                      </m:fPr>
                      <m:num>
                        <m:r>
                          <a:rPr lang="en-GB" sz="2100" b="0" dirty="0">
                            <a:solidFill>
                              <a:srgbClr val="326CB2"/>
                            </a:solidFill>
                            <a:latin typeface="Cambria Math"/>
                            <a:ea typeface="Cambria Math"/>
                            <a:cs typeface="Cambria Math"/>
                          </a:rPr>
                          <m:t>𝜕</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𝑟</m:t>
                            </m:r>
                          </m:e>
                          <m:sub>
                            <m:r>
                              <a:rPr lang="en-GB" sz="2100" b="0" dirty="0">
                                <a:solidFill>
                                  <a:srgbClr val="326CB2"/>
                                </a:solidFill>
                                <a:latin typeface="Cambria Math"/>
                                <a:ea typeface="Cambria Math"/>
                                <a:cs typeface="Cambria Math"/>
                              </a:rPr>
                              <m:t>𝑖</m:t>
                            </m:r>
                          </m:sub>
                        </m:sSub>
                      </m:num>
                      <m:den>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den>
                    </m:f>
                    <m:d>
                      <m:dPr>
                        <m:ctrlPr>
                          <a:rPr lang="en-GB" sz="2100" b="0" dirty="0">
                            <a:solidFill>
                              <a:srgbClr val="326CB2"/>
                            </a:solidFill>
                            <a:latin typeface="Cambria Math"/>
                            <a:ea typeface="Cambria Math"/>
                            <a:cs typeface="Cambria Math"/>
                          </a:rPr>
                        </m:ctrlPr>
                      </m:dPr>
                      <m:e>
                        <m:r>
                          <a:rPr lang="en-GB" sz="2100" b="0" dirty="0">
                            <a:solidFill>
                              <a:srgbClr val="326CB2"/>
                            </a:solidFill>
                            <a:latin typeface="Cambria Math"/>
                            <a:ea typeface="Cambria Math"/>
                            <a:cs typeface="Cambria Math"/>
                          </a:rPr>
                          <m:t>𝑏</m:t>
                        </m:r>
                        <m:r>
                          <a:rPr lang="en-GB" sz="2100" b="0" dirty="0">
                            <a:solidFill>
                              <a:srgbClr val="326CB2"/>
                            </a:solidFill>
                            <a:latin typeface="Cambria Math"/>
                            <a:ea typeface="Cambria Math"/>
                            <a:cs typeface="Cambria Math"/>
                          </a:rPr>
                          <m:t>,</m:t>
                        </m:r>
                        <m:r>
                          <a:rPr lang="en-GB" sz="2100" b="0" dirty="0">
                            <a:solidFill>
                              <a:srgbClr val="326CB2"/>
                            </a:solidFill>
                            <a:latin typeface="Cambria Math"/>
                            <a:ea typeface="Cambria Math"/>
                            <a:cs typeface="Cambria Math"/>
                          </a:rPr>
                          <m:t>𝑎</m:t>
                        </m:r>
                      </m:e>
                    </m:d>
                    <m:r>
                      <a:rPr lang="en-GB" sz="2100" b="0" dirty="0">
                        <a:solidFill>
                          <a:srgbClr val="326CB2"/>
                        </a:solidFill>
                        <a:latin typeface="Cambria Math"/>
                        <a:ea typeface="Cambria Math"/>
                        <a:cs typeface="Cambria Math"/>
                      </a:rPr>
                      <m:t>=</m:t>
                    </m:r>
                    <m:sSub>
                      <m:sSubPr>
                        <m:ctrlPr>
                          <a:rPr lang="en-GB" sz="2100" b="0" dirty="0">
                            <a:solidFill>
                              <a:srgbClr val="326CB2"/>
                            </a:solidFill>
                            <a:latin typeface="Cambria Math"/>
                            <a:ea typeface="Cambria Math"/>
                            <a:cs typeface="Cambria Math"/>
                          </a:rPr>
                        </m:ctrlPr>
                      </m:sSubPr>
                      <m:e>
                        <m:r>
                          <a:rPr lang="en-GB" sz="2100" b="0" dirty="0">
                            <a:solidFill>
                              <a:srgbClr val="326CB2"/>
                            </a:solidFill>
                            <a:latin typeface="Cambria Math"/>
                            <a:ea typeface="Cambria Math"/>
                            <a:cs typeface="Cambria Math"/>
                          </a:rPr>
                          <m:t>𝑥</m:t>
                        </m:r>
                      </m:e>
                      <m:sub>
                        <m:r>
                          <a:rPr lang="en-GB" sz="2100" b="0" dirty="0">
                            <a:solidFill>
                              <a:srgbClr val="326CB2"/>
                            </a:solidFill>
                            <a:latin typeface="Cambria Math"/>
                            <a:ea typeface="Cambria Math"/>
                            <a:cs typeface="Cambria Math"/>
                          </a:rPr>
                          <m:t>𝑖</m:t>
                        </m:r>
                      </m:sub>
                    </m:sSub>
                  </m:oMath>
                </a14:m>
                <a:r>
                  <a:rPr lang="en-GB" sz="2100" b="0" i="0" dirty="0">
                    <a:solidFill>
                      <a:srgbClr val="326CB2"/>
                    </a:solidFill>
                    <a:latin typeface="DejaVu Sans"/>
                    <a:ea typeface="DejaVu Sans"/>
                    <a:cs typeface="DejaVu Sans"/>
                  </a:rPr>
                  <a:t>.</a:t>
                </a:r>
              </a:p>
            </p:txBody>
          </p:sp>
        </mc:Choice>
        <mc:Fallback xmlns="">
          <p:sp>
            <p:nvSpPr>
              <p:cNvPr id="4" name="eq_63">
                <a:extLst>
                  <a:ext uri="{FF2B5EF4-FFF2-40B4-BE49-F238E27FC236}">
                    <a16:creationId xmlns:a16="http://schemas.microsoft.com/office/drawing/2014/main" id="{E9E1AFE9-FD04-4A86-BF67-75BF3FA4242D}"/>
                  </a:ext>
                </a:extLst>
              </p:cNvPr>
              <p:cNvSpPr txBox="1">
                <a:spLocks noGrp="1" noRot="1" noChangeAspect="1" noMove="1" noResize="1" noEditPoints="1" noAdjustHandles="1" noChangeArrowheads="1" noChangeShapeType="1" noTextEdit="1"/>
              </p:cNvSpPr>
              <p:nvPr/>
            </p:nvSpPr>
            <p:spPr>
              <a:xfrm>
                <a:off x="609600" y="2495550"/>
                <a:ext cx="10953750" cy="581025"/>
              </a:xfrm>
              <a:prstGeom prst="rect">
                <a:avLst/>
              </a:prstGeom>
              <a:blipFill>
                <a:blip r:embed="rId4"/>
                <a:stretch>
                  <a:fillRect b="-41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64">
                <a:extLst>
                  <a:ext uri="{FF2B5EF4-FFF2-40B4-BE49-F238E27FC236}">
                    <a16:creationId xmlns:a16="http://schemas.microsoft.com/office/drawing/2014/main" id="{D525E6F3-CC63-40AD-B525-C2C3F3E4393A}"/>
                  </a:ext>
                </a:extLst>
              </p:cNvPr>
              <p:cNvSpPr txBox="1">
                <a:spLocks noGrp="1"/>
              </p:cNvSpPr>
              <p:nvPr/>
            </p:nvSpPr>
            <p:spPr>
              <a:xfrm>
                <a:off x="609600" y="3609975"/>
                <a:ext cx="10953750" cy="1104900"/>
              </a:xfrm>
              <a:prstGeom prst="rect">
                <a:avLst/>
              </a:prstGeom>
              <a:noFill/>
              <a:ln w="0">
                <a:noFill/>
              </a:ln>
            </p:spPr>
            <p:txBody>
              <a:bodyPr vertOverflow="overflow" wrap="none" lIns="0" tIns="0" rIns="0" bIns="0" anchor="ctr">
                <a:noAutofit/>
              </a:bodyPr>
              <a:lstStyle/>
              <a:p>
                <a:pPr algn="ctr">
                  <a:defRPr lang="en-GB" sz="2325" b="0" i="0" dirty="0">
                    <a:solidFill>
                      <a:srgbClr val="182D45"/>
                    </a:solidFill>
                    <a:latin typeface="DejaVu Sans"/>
                    <a:ea typeface="DejaVu Sans"/>
                    <a:cs typeface="DejaVu Sans"/>
                  </a:defRPr>
                </a:pPr>
                <a14:m>
                  <m:oMathPara xmlns:m="http://schemas.openxmlformats.org/officeDocument/2006/math">
                    <m:oMath>
                      <m:f>
                        <m:fPr>
                          <m:ctrlPr>
                            <a:rPr lang="en-GB" sz="2325" b="0" dirty="0">
                              <a:solidFill>
                                <a:srgbClr val="182D45"/>
                              </a:solidFill>
                              <a:latin typeface="Cambria Math"/>
                              <a:ea typeface="Cambria Math"/>
                              <a:cs typeface="Cambria Math"/>
                            </a:rPr>
                          </m:ctrlPr>
                        </m:fPr>
                        <m:num>
                          <m:r>
                            <a:rPr lang="en-GB" sz="2325" b="0" dirty="0">
                              <a:solidFill>
                                <a:srgbClr val="182D45"/>
                              </a:solidFill>
                              <a:latin typeface="Cambria Math"/>
                              <a:ea typeface="Cambria Math"/>
                              <a:cs typeface="Cambria Math"/>
                            </a:rPr>
                            <m:t>𝜕</m:t>
                          </m:r>
                          <m:sSubSup>
                            <m:sSubSupPr>
                              <m:ctrlPr>
                                <a:rPr lang="en-GB" sz="2325" b="0" dirty="0">
                                  <a:solidFill>
                                    <a:srgbClr val="182D45"/>
                                  </a:solidFill>
                                  <a:latin typeface="Cambria Math"/>
                                  <a:ea typeface="Cambria Math"/>
                                  <a:cs typeface="Cambria Math"/>
                                </a:rPr>
                              </m:ctrlPr>
                            </m:sSubSupPr>
                            <m:e>
                              <m:r>
                                <a:rPr lang="en-GB" sz="2325" b="0" dirty="0">
                                  <a:solidFill>
                                    <a:srgbClr val="182D45"/>
                                  </a:solidFill>
                                  <a:latin typeface="Cambria Math"/>
                                  <a:ea typeface="Cambria Math"/>
                                  <a:cs typeface="Cambria Math"/>
                                </a:rPr>
                                <m:t>ℒ</m:t>
                              </m:r>
                            </m:e>
                            <m:sub>
                              <m:r>
                                <m:rPr>
                                  <m:sty m:val="p"/>
                                </m:rPr>
                                <a:rPr lang="en-GB" sz="2325" b="0" dirty="0">
                                  <a:solidFill>
                                    <a:srgbClr val="182D45"/>
                                  </a:solidFill>
                                  <a:latin typeface="Cambria Math"/>
                                  <a:ea typeface="Cambria Math"/>
                                  <a:cs typeface="Cambria Math"/>
                                </a:rPr>
                                <m:t>sq</m:t>
                              </m:r>
                            </m:sub>
                            <m:sup>
                              <m:r>
                                <m:rPr>
                                  <m:sty m:val="p"/>
                                </m:rPr>
                                <a:rPr lang="en-GB" sz="2325" b="0" dirty="0">
                                  <a:solidFill>
                                    <a:srgbClr val="182D45"/>
                                  </a:solidFill>
                                  <a:latin typeface="Cambria Math"/>
                                  <a:ea typeface="Cambria Math"/>
                                  <a:cs typeface="Cambria Math"/>
                                </a:rPr>
                                <m:t>aff</m:t>
                              </m:r>
                            </m:sup>
                          </m:sSubSup>
                        </m:num>
                        <m:den>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𝑎</m:t>
                          </m:r>
                        </m:den>
                      </m:f>
                      <m:d>
                        <m:dPr>
                          <m:ctrlPr>
                            <a:rPr lang="en-GB" sz="2325" b="0" dirty="0">
                              <a:solidFill>
                                <a:srgbClr val="182D45"/>
                              </a:solidFill>
                              <a:latin typeface="Cambria Math"/>
                              <a:ea typeface="Cambria Math"/>
                              <a:cs typeface="Cambria Math"/>
                            </a:rPr>
                          </m:ctrlPr>
                        </m:dPr>
                        <m:e>
                          <m:r>
                            <a:rPr lang="en-GB" sz="2325" b="0" dirty="0">
                              <a:solidFill>
                                <a:srgbClr val="182D45"/>
                              </a:solidFill>
                              <a:latin typeface="Cambria Math"/>
                              <a:ea typeface="Cambria Math"/>
                              <a:cs typeface="Cambria Math"/>
                            </a:rPr>
                            <m:t>𝑏</m:t>
                          </m:r>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𝑎</m:t>
                          </m:r>
                        </m:e>
                      </m:d>
                      <m:r>
                        <a:rPr lang="en-GB" sz="2325" b="0" dirty="0">
                          <a:solidFill>
                            <a:srgbClr val="182D45"/>
                          </a:solidFill>
                          <a:latin typeface="Cambria Math"/>
                          <a:ea typeface="Cambria Math"/>
                          <a:cs typeface="Cambria Math"/>
                        </a:rPr>
                        <m:t>=</m:t>
                      </m:r>
                      <m:nary>
                        <m:naryPr>
                          <m:chr m:val="∑"/>
                          <m:limLoc m:val="undOvr"/>
                          <m:ctrlPr>
                            <a:rPr lang="en-GB" sz="2325" b="0" dirty="0">
                              <a:solidFill>
                                <a:srgbClr val="182D45"/>
                              </a:solidFill>
                              <a:latin typeface="Cambria Math"/>
                              <a:ea typeface="Cambria Math"/>
                              <a:cs typeface="Cambria Math"/>
                            </a:rPr>
                          </m:ctrlPr>
                        </m:naryPr>
                        <m:sub>
                          <m:r>
                            <a:rPr lang="en-GB" sz="2325" b="0" dirty="0">
                              <a:solidFill>
                                <a:srgbClr val="182D45"/>
                              </a:solidFill>
                              <a:latin typeface="Cambria Math"/>
                              <a:ea typeface="Cambria Math"/>
                              <a:cs typeface="Cambria Math"/>
                            </a:rPr>
                            <m:t>𝑖</m:t>
                          </m:r>
                          <m:r>
                            <a:rPr lang="en-GB" sz="2325" b="0" dirty="0">
                              <a:solidFill>
                                <a:srgbClr val="182D45"/>
                              </a:solidFill>
                              <a:latin typeface="Cambria Math"/>
                              <a:ea typeface="Cambria Math"/>
                              <a:cs typeface="Cambria Math"/>
                            </a:rPr>
                            <m:t>=1</m:t>
                          </m:r>
                        </m:sub>
                        <m:sup>
                          <m:r>
                            <a:rPr lang="en-GB" sz="2325" b="0" dirty="0">
                              <a:solidFill>
                                <a:srgbClr val="182D45"/>
                              </a:solidFill>
                              <a:latin typeface="Cambria Math"/>
                              <a:ea typeface="Cambria Math"/>
                              <a:cs typeface="Cambria Math"/>
                            </a:rPr>
                            <m:t>𝑁</m:t>
                          </m:r>
                        </m:sup>
                        <m:e>
                          <m:f>
                            <m:fPr>
                              <m:ctrlPr>
                                <a:rPr lang="en-GB" sz="2325" b="0" dirty="0">
                                  <a:solidFill>
                                    <a:srgbClr val="182D45"/>
                                  </a:solidFill>
                                  <a:latin typeface="Cambria Math"/>
                                  <a:ea typeface="Cambria Math"/>
                                  <a:cs typeface="Cambria Math"/>
                                </a:rPr>
                              </m:ctrlPr>
                            </m:fPr>
                            <m:num>
                              <m:r>
                                <a:rPr lang="en-GB" sz="2325" b="0" dirty="0">
                                  <a:solidFill>
                                    <a:srgbClr val="182D45"/>
                                  </a:solidFill>
                                  <a:latin typeface="Cambria Math"/>
                                  <a:ea typeface="Cambria Math"/>
                                  <a:cs typeface="Cambria Math"/>
                                </a:rPr>
                                <m:t>𝜕</m:t>
                              </m:r>
                            </m:num>
                            <m:den>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𝑎</m:t>
                              </m:r>
                            </m:den>
                          </m:f>
                        </m:e>
                      </m:nary>
                      <m:d>
                        <m:dPr>
                          <m:ctrlPr>
                            <a:rPr lang="en-GB" sz="2325" b="0" i="1" dirty="0">
                              <a:solidFill>
                                <a:srgbClr val="182D45"/>
                              </a:solidFill>
                              <a:latin typeface="Cambria Math" panose="02040503050406030204" pitchFamily="18" charset="0"/>
                              <a:ea typeface="Cambria Math"/>
                              <a:cs typeface="Cambria Math"/>
                            </a:rPr>
                          </m:ctrlPr>
                        </m:dPr>
                        <m:e>
                          <m:sSub>
                            <m:sSubPr>
                              <m:ctrlPr>
                                <a:rPr lang="en-GB" sz="2325" b="0" dirty="0">
                                  <a:solidFill>
                                    <a:srgbClr val="182D45"/>
                                  </a:solidFill>
                                  <a:latin typeface="Cambria Math"/>
                                  <a:ea typeface="Cambria Math"/>
                                  <a:cs typeface="Cambria Math"/>
                                </a:rPr>
                              </m:ctrlPr>
                            </m:sSubPr>
                            <m:e>
                              <m:r>
                                <a:rPr lang="en-GB" sz="2325" b="0" dirty="0">
                                  <a:solidFill>
                                    <a:srgbClr val="182D45"/>
                                  </a:solidFill>
                                  <a:latin typeface="Cambria Math"/>
                                  <a:ea typeface="Cambria Math"/>
                                  <a:cs typeface="Cambria Math"/>
                                </a:rPr>
                                <m:t>𝑟</m:t>
                              </m:r>
                            </m:e>
                            <m:sub>
                              <m:r>
                                <a:rPr lang="en-GB" sz="2325" b="0" dirty="0">
                                  <a:solidFill>
                                    <a:srgbClr val="182D45"/>
                                  </a:solidFill>
                                  <a:latin typeface="Cambria Math"/>
                                  <a:ea typeface="Cambria Math"/>
                                  <a:cs typeface="Cambria Math"/>
                                </a:rPr>
                                <m:t>𝑖</m:t>
                              </m:r>
                            </m:sub>
                          </m:sSub>
                          <m:sSup>
                            <m:sSupPr>
                              <m:ctrlPr>
                                <a:rPr lang="en-GB" sz="2325" b="0" i="1" dirty="0">
                                  <a:solidFill>
                                    <a:srgbClr val="182D45"/>
                                  </a:solidFill>
                                  <a:latin typeface="Cambria Math" panose="02040503050406030204" pitchFamily="18" charset="0"/>
                                  <a:ea typeface="Cambria Math"/>
                                  <a:cs typeface="Cambria Math"/>
                                </a:rPr>
                              </m:ctrlPr>
                            </m:sSupPr>
                            <m:e>
                              <m:d>
                                <m:dPr>
                                  <m:ctrlPr>
                                    <a:rPr lang="en-GB" sz="2325" b="0" dirty="0">
                                      <a:solidFill>
                                        <a:srgbClr val="182D45"/>
                                      </a:solidFill>
                                      <a:latin typeface="Cambria Math"/>
                                      <a:ea typeface="Cambria Math"/>
                                      <a:cs typeface="Cambria Math"/>
                                    </a:rPr>
                                  </m:ctrlPr>
                                </m:dPr>
                                <m:e>
                                  <m:r>
                                    <a:rPr lang="en-GB" sz="2325" b="0" dirty="0">
                                      <a:solidFill>
                                        <a:srgbClr val="182D45"/>
                                      </a:solidFill>
                                      <a:latin typeface="Cambria Math"/>
                                      <a:ea typeface="Cambria Math"/>
                                      <a:cs typeface="Cambria Math"/>
                                    </a:rPr>
                                    <m:t>𝑏</m:t>
                                  </m:r>
                                  <m:r>
                                    <a:rPr lang="en-GB" sz="2325" b="0" dirty="0">
                                      <a:solidFill>
                                        <a:srgbClr val="182D45"/>
                                      </a:solidFill>
                                      <a:latin typeface="Cambria Math"/>
                                      <a:ea typeface="Cambria Math"/>
                                      <a:cs typeface="Cambria Math"/>
                                    </a:rPr>
                                    <m:t>,</m:t>
                                  </m:r>
                                  <m:r>
                                    <a:rPr lang="en-GB" sz="2325" b="0" dirty="0">
                                      <a:solidFill>
                                        <a:srgbClr val="182D45"/>
                                      </a:solidFill>
                                      <a:latin typeface="Cambria Math"/>
                                      <a:ea typeface="Cambria Math"/>
                                      <a:cs typeface="Cambria Math"/>
                                    </a:rPr>
                                    <m:t>𝑎</m:t>
                                  </m:r>
                                </m:e>
                              </m:d>
                            </m:e>
                            <m:sup>
                              <m:r>
                                <a:rPr lang="en-GB" sz="2325" b="0" dirty="0">
                                  <a:solidFill>
                                    <a:srgbClr val="182D45"/>
                                  </a:solidFill>
                                  <a:latin typeface="Cambria Math"/>
                                  <a:ea typeface="Cambria Math"/>
                                  <a:cs typeface="Cambria Math"/>
                                </a:rPr>
                                <m:t>2</m:t>
                              </m:r>
                            </m:sup>
                          </m:sSup>
                        </m:e>
                      </m:d>
                      <m:r>
                        <a:rPr lang="en-GB" sz="2325" b="0" dirty="0">
                          <a:solidFill>
                            <a:srgbClr val="182D45"/>
                          </a:solidFill>
                          <a:latin typeface="Cambria Math"/>
                          <a:ea typeface="Cambria Math"/>
                          <a:cs typeface="Cambria Math"/>
                        </a:rPr>
                        <m:t>=</m:t>
                      </m:r>
                      <m:nary>
                        <m:naryPr>
                          <m:chr m:val="∑"/>
                          <m:limLoc m:val="undOvr"/>
                          <m:ctrlPr>
                            <a:rPr lang="en-GB" sz="2325" b="0" dirty="0">
                              <a:solidFill>
                                <a:srgbClr val="182D45"/>
                              </a:solidFill>
                              <a:latin typeface="Cambria Math"/>
                              <a:ea typeface="Cambria Math"/>
                              <a:cs typeface="Cambria Math"/>
                            </a:rPr>
                          </m:ctrlPr>
                        </m:naryPr>
                        <m:sub>
                          <m:r>
                            <a:rPr lang="en-GB" sz="2325" b="0" dirty="0">
                              <a:solidFill>
                                <a:srgbClr val="182D45"/>
                              </a:solidFill>
                              <a:latin typeface="Cambria Math"/>
                              <a:ea typeface="Cambria Math"/>
                              <a:cs typeface="Cambria Math"/>
                            </a:rPr>
                            <m:t>𝑖</m:t>
                          </m:r>
                          <m:r>
                            <a:rPr lang="en-GB" sz="2325" b="0" dirty="0">
                              <a:solidFill>
                                <a:srgbClr val="182D45"/>
                              </a:solidFill>
                              <a:latin typeface="Cambria Math"/>
                              <a:ea typeface="Cambria Math"/>
                              <a:cs typeface="Cambria Math"/>
                            </a:rPr>
                            <m:t>=1</m:t>
                          </m:r>
                        </m:sub>
                        <m:sup>
                          <m:r>
                            <a:rPr lang="en-GB" sz="2325" b="0" dirty="0">
                              <a:solidFill>
                                <a:srgbClr val="182D45"/>
                              </a:solidFill>
                              <a:latin typeface="Cambria Math"/>
                              <a:ea typeface="Cambria Math"/>
                              <a:cs typeface="Cambria Math"/>
                            </a:rPr>
                            <m:t>𝑁</m:t>
                          </m:r>
                        </m:sup>
                        <m:e>
                          <m:r>
                            <a:rPr lang="en-GB" sz="2325" b="0" dirty="0">
                              <a:solidFill>
                                <a:srgbClr val="182D45"/>
                              </a:solidFill>
                              <a:latin typeface="Cambria Math"/>
                              <a:ea typeface="Cambria Math"/>
                              <a:cs typeface="Cambria Math"/>
                            </a:rPr>
                            <m:t>2</m:t>
                          </m:r>
                          <m:sSub>
                            <m:sSubPr>
                              <m:ctrlPr>
                                <a:rPr lang="en-GB" sz="2325" dirty="0">
                                  <a:solidFill>
                                    <a:srgbClr val="182D45"/>
                                  </a:solidFill>
                                  <a:latin typeface="Cambria Math"/>
                                  <a:ea typeface="Cambria Math"/>
                                  <a:cs typeface="Cambria Math"/>
                                </a:rPr>
                              </m:ctrlPr>
                            </m:sSubPr>
                            <m:e>
                              <m:r>
                                <a:rPr lang="en-GB" sz="2325" dirty="0">
                                  <a:solidFill>
                                    <a:srgbClr val="182D45"/>
                                  </a:solidFill>
                                  <a:latin typeface="Cambria Math"/>
                                  <a:ea typeface="Cambria Math"/>
                                  <a:cs typeface="Cambria Math"/>
                                </a:rPr>
                                <m:t>𝑟</m:t>
                              </m:r>
                            </m:e>
                            <m:sub>
                              <m:r>
                                <a:rPr lang="en-GB" sz="2325" dirty="0">
                                  <a:solidFill>
                                    <a:srgbClr val="182D45"/>
                                  </a:solidFill>
                                  <a:latin typeface="Cambria Math"/>
                                  <a:ea typeface="Cambria Math"/>
                                  <a:cs typeface="Cambria Math"/>
                                </a:rPr>
                                <m:t>𝑖</m:t>
                              </m:r>
                            </m:sub>
                          </m:sSub>
                          <m:d>
                            <m:dPr>
                              <m:ctrlPr>
                                <a:rPr lang="en-GB" sz="2325" dirty="0">
                                  <a:solidFill>
                                    <a:srgbClr val="182D45"/>
                                  </a:solidFill>
                                  <a:latin typeface="Cambria Math"/>
                                  <a:ea typeface="Cambria Math"/>
                                  <a:cs typeface="Cambria Math"/>
                                </a:rPr>
                              </m:ctrlPr>
                            </m:dPr>
                            <m:e>
                              <m:r>
                                <a:rPr lang="en-GB" sz="2325" dirty="0">
                                  <a:solidFill>
                                    <a:srgbClr val="182D45"/>
                                  </a:solidFill>
                                  <a:latin typeface="Cambria Math"/>
                                  <a:ea typeface="Cambria Math"/>
                                  <a:cs typeface="Cambria Math"/>
                                </a:rPr>
                                <m:t>𝑏</m:t>
                              </m:r>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𝑎</m:t>
                              </m:r>
                            </m:e>
                          </m:d>
                        </m:e>
                      </m:nary>
                      <m:f>
                        <m:fPr>
                          <m:ctrlPr>
                            <a:rPr lang="en-GB" sz="2325" dirty="0">
                              <a:solidFill>
                                <a:srgbClr val="182D45"/>
                              </a:solidFill>
                              <a:latin typeface="Cambria Math"/>
                              <a:ea typeface="Cambria Math"/>
                              <a:cs typeface="Cambria Math"/>
                            </a:rPr>
                          </m:ctrlPr>
                        </m:fPr>
                        <m:num>
                          <m:r>
                            <a:rPr lang="en-GB" sz="2325" dirty="0">
                              <a:solidFill>
                                <a:srgbClr val="182D45"/>
                              </a:solidFill>
                              <a:latin typeface="Cambria Math"/>
                              <a:ea typeface="Cambria Math"/>
                              <a:cs typeface="Cambria Math"/>
                            </a:rPr>
                            <m:t>𝜕</m:t>
                          </m:r>
                          <m:sSub>
                            <m:sSubPr>
                              <m:ctrlPr>
                                <a:rPr lang="en-GB" sz="2325" dirty="0">
                                  <a:solidFill>
                                    <a:srgbClr val="182D45"/>
                                  </a:solidFill>
                                  <a:latin typeface="Cambria Math"/>
                                  <a:ea typeface="Cambria Math"/>
                                  <a:cs typeface="Cambria Math"/>
                                </a:rPr>
                              </m:ctrlPr>
                            </m:sSubPr>
                            <m:e>
                              <m:r>
                                <a:rPr lang="en-GB" sz="2325" dirty="0">
                                  <a:solidFill>
                                    <a:srgbClr val="182D45"/>
                                  </a:solidFill>
                                  <a:latin typeface="Cambria Math"/>
                                  <a:ea typeface="Cambria Math"/>
                                  <a:cs typeface="Cambria Math"/>
                                </a:rPr>
                                <m:t>𝑟</m:t>
                              </m:r>
                            </m:e>
                            <m:sub>
                              <m:r>
                                <a:rPr lang="en-GB" sz="2325" dirty="0">
                                  <a:solidFill>
                                    <a:srgbClr val="182D45"/>
                                  </a:solidFill>
                                  <a:latin typeface="Cambria Math"/>
                                  <a:ea typeface="Cambria Math"/>
                                  <a:cs typeface="Cambria Math"/>
                                </a:rPr>
                                <m:t>𝑖</m:t>
                              </m:r>
                            </m:sub>
                          </m:sSub>
                        </m:num>
                        <m:den>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𝑎</m:t>
                          </m:r>
                        </m:den>
                      </m:f>
                      <m:d>
                        <m:dPr>
                          <m:ctrlPr>
                            <a:rPr lang="en-GB" sz="2325" dirty="0">
                              <a:solidFill>
                                <a:srgbClr val="182D45"/>
                              </a:solidFill>
                              <a:latin typeface="Cambria Math"/>
                              <a:ea typeface="Cambria Math"/>
                              <a:cs typeface="Cambria Math"/>
                            </a:rPr>
                          </m:ctrlPr>
                        </m:dPr>
                        <m:e>
                          <m:r>
                            <a:rPr lang="en-GB" sz="2325" dirty="0">
                              <a:solidFill>
                                <a:srgbClr val="182D45"/>
                              </a:solidFill>
                              <a:latin typeface="Cambria Math"/>
                              <a:ea typeface="Cambria Math"/>
                              <a:cs typeface="Cambria Math"/>
                            </a:rPr>
                            <m:t>𝑏</m:t>
                          </m:r>
                          <m:r>
                            <a:rPr lang="en-GB" sz="2325" dirty="0">
                              <a:solidFill>
                                <a:srgbClr val="182D45"/>
                              </a:solidFill>
                              <a:latin typeface="Cambria Math"/>
                              <a:ea typeface="Cambria Math"/>
                              <a:cs typeface="Cambria Math"/>
                            </a:rPr>
                            <m:t>,</m:t>
                          </m:r>
                          <m:r>
                            <a:rPr lang="en-GB" sz="2325" dirty="0">
                              <a:solidFill>
                                <a:srgbClr val="182D45"/>
                              </a:solidFill>
                              <a:latin typeface="Cambria Math"/>
                              <a:ea typeface="Cambria Math"/>
                              <a:cs typeface="Cambria Math"/>
                            </a:rPr>
                            <m:t>𝑎</m:t>
                          </m:r>
                        </m:e>
                      </m:d>
                    </m:oMath>
                  </m:oMathPara>
                </a14:m>
                <a:endParaRPr lang="en-GB" sz="2325" b="0" i="0" dirty="0">
                  <a:solidFill>
                    <a:srgbClr val="182D45"/>
                  </a:solidFill>
                  <a:latin typeface="DejaVu Sans"/>
                  <a:ea typeface="DejaVu Sans"/>
                  <a:cs typeface="DejaVu Sans"/>
                </a:endParaRPr>
              </a:p>
            </p:txBody>
          </p:sp>
        </mc:Choice>
        <mc:Fallback xmlns="">
          <p:sp>
            <p:nvSpPr>
              <p:cNvPr id="5" name="eq_64">
                <a:extLst>
                  <a:ext uri="{FF2B5EF4-FFF2-40B4-BE49-F238E27FC236}">
                    <a16:creationId xmlns:a16="http://schemas.microsoft.com/office/drawing/2014/main" id="{D525E6F3-CC63-40AD-B525-C2C3F3E4393A}"/>
                  </a:ext>
                </a:extLst>
              </p:cNvPr>
              <p:cNvSpPr txBox="1">
                <a:spLocks noGrp="1" noRot="1" noChangeAspect="1" noMove="1" noResize="1" noEditPoints="1" noAdjustHandles="1" noChangeArrowheads="1" noChangeShapeType="1" noTextEdit="1"/>
              </p:cNvSpPr>
              <p:nvPr/>
            </p:nvSpPr>
            <p:spPr>
              <a:xfrm>
                <a:off x="609600" y="3609975"/>
                <a:ext cx="10953750" cy="11049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65">
                <a:extLst>
                  <a:ext uri="{FF2B5EF4-FFF2-40B4-BE49-F238E27FC236}">
                    <a16:creationId xmlns:a16="http://schemas.microsoft.com/office/drawing/2014/main" id="{CE4C0F32-40DF-4A15-93AA-2D95BFBB1991}"/>
                  </a:ext>
                </a:extLst>
              </p:cNvPr>
              <p:cNvSpPr txBox="1">
                <a:spLocks noGrp="1"/>
              </p:cNvSpPr>
              <p:nvPr/>
            </p:nvSpPr>
            <p:spPr>
              <a:xfrm>
                <a:off x="609600" y="4705350"/>
                <a:ext cx="10953750" cy="1200150"/>
              </a:xfrm>
              <a:prstGeom prst="rect">
                <a:avLst/>
              </a:prstGeom>
              <a:noFill/>
              <a:ln w="0">
                <a:noFill/>
              </a:ln>
            </p:spPr>
            <p:txBody>
              <a:bodyPr vertOverflow="overflow" wrap="none" lIns="0" tIns="0" rIns="0" bIns="0" anchor="ctr">
                <a:noAutofit/>
              </a:bodyPr>
              <a:lstStyle/>
              <a:p>
                <a:pPr marL="0" marR="0" indent="0" algn="ctr">
                  <a:defRPr lang="en-GB" sz="2325" b="0" i="0" dirty="0">
                    <a:solidFill>
                      <a:srgbClr val="00858A"/>
                    </a:solidFill>
                    <a:latin typeface="DejaVu Sans"/>
                    <a:ea typeface="DejaVu Sans"/>
                    <a:cs typeface="DejaVu Sans"/>
                  </a:defRPr>
                </a:pPr>
                <a14:m>
                  <m:oMathPara xmlns:m="http://schemas.openxmlformats.org/officeDocument/2006/math">
                    <m:oMath>
                      <m:r>
                        <a:rPr lang="en-GB" sz="2325" b="0" dirty="0" smtClean="0">
                          <a:solidFill>
                            <a:schemeClr val="tx1"/>
                          </a:solidFill>
                          <a:latin typeface="Cambria Math"/>
                          <a:ea typeface="Cambria Math"/>
                          <a:cs typeface="Cambria Math"/>
                        </a:rPr>
                        <m:t>=2</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Sub>
                        </m:e>
                      </m:nary>
                      <m:d>
                        <m:dPr>
                          <m:ctrlPr>
                            <a:rPr lang="en-GB" sz="2325" b="0" dirty="0">
                              <a:solidFill>
                                <a:schemeClr val="tx1"/>
                              </a:solidFill>
                              <a:latin typeface="Cambria Math"/>
                              <a:ea typeface="Cambria Math"/>
                              <a:cs typeface="Cambria Math"/>
                            </a:rPr>
                          </m:ctrlPr>
                        </m:dPr>
                        <m:e>
                          <m:r>
                            <a:rPr lang="en-GB" sz="2325" b="0" dirty="0">
                              <a:solidFill>
                                <a:schemeClr val="tx1"/>
                              </a:solidFill>
                              <a:latin typeface="Cambria Math"/>
                              <a:ea typeface="Cambria Math"/>
                              <a:cs typeface="Cambria Math"/>
                            </a:rPr>
                            <m:t>𝑏</m:t>
                          </m:r>
                          <m:r>
                            <a:rPr lang="en-GB" sz="2325" b="0" dirty="0">
                              <a:solidFill>
                                <a:schemeClr val="tx1"/>
                              </a:solidFill>
                              <a:latin typeface="Cambria Math"/>
                              <a:ea typeface="Cambria Math"/>
                              <a:cs typeface="Cambria Math"/>
                            </a:rPr>
                            <m:t>+</m:t>
                          </m:r>
                          <m:r>
                            <a:rPr lang="en-GB" sz="2325" b="0" dirty="0">
                              <a:solidFill>
                                <a:schemeClr val="tx1"/>
                              </a:solidFill>
                              <a:latin typeface="Cambria Math"/>
                              <a:ea typeface="Cambria Math"/>
                              <a:cs typeface="Cambria Math"/>
                            </a:rPr>
                            <m:t>𝑎</m:t>
                          </m:r>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Sub>
                          <m:r>
                            <a:rPr lang="en-GB" sz="2325" b="0" dirty="0">
                              <a:solidFill>
                                <a:schemeClr val="tx1"/>
                              </a:solidFill>
                              <a:latin typeface="Cambria Math"/>
                              <a:ea typeface="Cambria Math"/>
                              <a:cs typeface="Cambria Math"/>
                            </a:rPr>
                            <m:t>−</m:t>
                          </m:r>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𝑦</m:t>
                              </m:r>
                            </m:e>
                            <m:sub>
                              <m:r>
                                <a:rPr lang="en-GB" sz="2325" b="0" dirty="0">
                                  <a:solidFill>
                                    <a:schemeClr val="tx1"/>
                                  </a:solidFill>
                                  <a:latin typeface="Cambria Math"/>
                                  <a:ea typeface="Cambria Math"/>
                                  <a:cs typeface="Cambria Math"/>
                                </a:rPr>
                                <m:t>𝑖</m:t>
                              </m:r>
                            </m:sub>
                          </m:sSub>
                        </m:e>
                      </m:d>
                      <m:r>
                        <a:rPr lang="en-GB" sz="2325" b="0" dirty="0">
                          <a:solidFill>
                            <a:schemeClr val="tx1"/>
                          </a:solidFill>
                          <a:latin typeface="Cambria Math"/>
                          <a:ea typeface="Cambria Math"/>
                          <a:cs typeface="Cambria Math"/>
                        </a:rPr>
                        <m:t>=2</m:t>
                      </m:r>
                      <m:d>
                        <m:dPr>
                          <m:ctrlPr>
                            <a:rPr lang="en-GB" sz="2325" b="0" dirty="0">
                              <a:solidFill>
                                <a:schemeClr val="tx1"/>
                              </a:solidFill>
                              <a:latin typeface="Cambria Math"/>
                              <a:ea typeface="Cambria Math"/>
                              <a:cs typeface="Cambria Math"/>
                            </a:rPr>
                          </m:ctrlPr>
                        </m:dPr>
                        <m:e>
                          <m:r>
                            <a:rPr lang="en-GB" sz="2325" b="0" dirty="0">
                              <a:solidFill>
                                <a:schemeClr val="tx1"/>
                              </a:solidFill>
                              <a:latin typeface="Cambria Math"/>
                              <a:ea typeface="Cambria Math"/>
                              <a:cs typeface="Cambria Math"/>
                            </a:rPr>
                            <m:t>𝑏</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Sub>
                            </m:e>
                          </m:nary>
                          <m:r>
                            <a:rPr lang="en-GB" sz="2325" b="0" dirty="0">
                              <a:solidFill>
                                <a:schemeClr val="tx1"/>
                              </a:solidFill>
                              <a:latin typeface="Cambria Math"/>
                              <a:ea typeface="Cambria Math"/>
                              <a:cs typeface="Cambria Math"/>
                            </a:rPr>
                            <m:t>+</m:t>
                          </m:r>
                          <m:r>
                            <a:rPr lang="en-GB" sz="2325" b="0" dirty="0">
                              <a:solidFill>
                                <a:schemeClr val="tx1"/>
                              </a:solidFill>
                              <a:latin typeface="Cambria Math"/>
                              <a:ea typeface="Cambria Math"/>
                              <a:cs typeface="Cambria Math"/>
                            </a:rPr>
                            <m:t>𝑎</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sSubSup>
                                <m:sSubSupPr>
                                  <m:ctrlPr>
                                    <a:rPr lang="en-GB" sz="2325" b="0" dirty="0">
                                      <a:solidFill>
                                        <a:schemeClr val="tx1"/>
                                      </a:solidFill>
                                      <a:latin typeface="Cambria Math"/>
                                      <a:ea typeface="Cambria Math"/>
                                      <a:cs typeface="Cambria Math"/>
                                    </a:rPr>
                                  </m:ctrlPr>
                                </m:sSubSup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up>
                                  <m:r>
                                    <a:rPr lang="en-GB" sz="2325" b="0" dirty="0">
                                      <a:solidFill>
                                        <a:schemeClr val="tx1"/>
                                      </a:solidFill>
                                      <a:latin typeface="Cambria Math"/>
                                      <a:ea typeface="Cambria Math"/>
                                      <a:cs typeface="Cambria Math"/>
                                    </a:rPr>
                                    <m:t>2</m:t>
                                  </m:r>
                                </m:sup>
                              </m:sSubSup>
                            </m:e>
                          </m:nary>
                          <m:r>
                            <a:rPr lang="en-GB" sz="2325" b="0" dirty="0">
                              <a:solidFill>
                                <a:schemeClr val="tx1"/>
                              </a:solidFill>
                              <a:latin typeface="Cambria Math"/>
                              <a:ea typeface="Cambria Math"/>
                              <a:cs typeface="Cambria Math"/>
                            </a:rPr>
                            <m:t>−</m:t>
                          </m:r>
                          <m:nary>
                            <m:naryPr>
                              <m:chr m:val="∑"/>
                              <m:limLoc m:val="undOvr"/>
                              <m:ctrlPr>
                                <a:rPr lang="en-GB" sz="2325" b="0" dirty="0">
                                  <a:solidFill>
                                    <a:schemeClr val="tx1"/>
                                  </a:solidFill>
                                  <a:latin typeface="Cambria Math"/>
                                  <a:ea typeface="Cambria Math"/>
                                  <a:cs typeface="Cambria Math"/>
                                </a:rPr>
                              </m:ctrlPr>
                            </m:naryPr>
                            <m:sub>
                              <m:r>
                                <a:rPr lang="en-GB" sz="2325" b="0" dirty="0">
                                  <a:solidFill>
                                    <a:schemeClr val="tx1"/>
                                  </a:solidFill>
                                  <a:latin typeface="Cambria Math"/>
                                  <a:ea typeface="Cambria Math"/>
                                  <a:cs typeface="Cambria Math"/>
                                </a:rPr>
                                <m:t>𝑖</m:t>
                              </m:r>
                              <m:r>
                                <a:rPr lang="en-GB" sz="2325" b="0" dirty="0">
                                  <a:solidFill>
                                    <a:schemeClr val="tx1"/>
                                  </a:solidFill>
                                  <a:latin typeface="Cambria Math"/>
                                  <a:ea typeface="Cambria Math"/>
                                  <a:cs typeface="Cambria Math"/>
                                </a:rPr>
                                <m:t>=1</m:t>
                              </m:r>
                            </m:sub>
                            <m:sup>
                              <m:r>
                                <a:rPr lang="en-GB" sz="2325" b="0" dirty="0">
                                  <a:solidFill>
                                    <a:schemeClr val="tx1"/>
                                  </a:solidFill>
                                  <a:latin typeface="Cambria Math"/>
                                  <a:ea typeface="Cambria Math"/>
                                  <a:cs typeface="Cambria Math"/>
                                </a:rPr>
                                <m:t>𝑁</m:t>
                              </m:r>
                            </m:sup>
                            <m:e>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𝑥</m:t>
                                  </m:r>
                                </m:e>
                                <m:sub>
                                  <m:r>
                                    <a:rPr lang="en-GB" sz="2325" b="0" dirty="0">
                                      <a:solidFill>
                                        <a:schemeClr val="tx1"/>
                                      </a:solidFill>
                                      <a:latin typeface="Cambria Math"/>
                                      <a:ea typeface="Cambria Math"/>
                                      <a:cs typeface="Cambria Math"/>
                                    </a:rPr>
                                    <m:t>𝑖</m:t>
                                  </m:r>
                                </m:sub>
                              </m:sSub>
                            </m:e>
                          </m:nary>
                          <m:sSub>
                            <m:sSubPr>
                              <m:ctrlPr>
                                <a:rPr lang="en-GB" sz="2325" b="0" dirty="0">
                                  <a:solidFill>
                                    <a:schemeClr val="tx1"/>
                                  </a:solidFill>
                                  <a:latin typeface="Cambria Math"/>
                                  <a:ea typeface="Cambria Math"/>
                                  <a:cs typeface="Cambria Math"/>
                                </a:rPr>
                              </m:ctrlPr>
                            </m:sSubPr>
                            <m:e>
                              <m:r>
                                <a:rPr lang="en-GB" sz="2325" b="0" dirty="0">
                                  <a:solidFill>
                                    <a:schemeClr val="tx1"/>
                                  </a:solidFill>
                                  <a:latin typeface="Cambria Math"/>
                                  <a:ea typeface="Cambria Math"/>
                                  <a:cs typeface="Cambria Math"/>
                                </a:rPr>
                                <m:t>𝑦</m:t>
                              </m:r>
                            </m:e>
                            <m:sub>
                              <m:r>
                                <a:rPr lang="en-GB" sz="2325" b="0" dirty="0">
                                  <a:solidFill>
                                    <a:schemeClr val="tx1"/>
                                  </a:solidFill>
                                  <a:latin typeface="Cambria Math"/>
                                  <a:ea typeface="Cambria Math"/>
                                  <a:cs typeface="Cambria Math"/>
                                </a:rPr>
                                <m:t>𝑖</m:t>
                              </m:r>
                            </m:sub>
                          </m:sSub>
                        </m:e>
                      </m:d>
                    </m:oMath>
                  </m:oMathPara>
                </a14:m>
                <a:endParaRPr lang="en-GB" sz="2325" b="0" i="0" dirty="0">
                  <a:solidFill>
                    <a:srgbClr val="00858A"/>
                  </a:solidFill>
                  <a:latin typeface="DejaVu Sans"/>
                  <a:ea typeface="DejaVu Sans"/>
                  <a:cs typeface="DejaVu Sans"/>
                </a:endParaRPr>
              </a:p>
            </p:txBody>
          </p:sp>
        </mc:Choice>
        <mc:Fallback xmlns="">
          <p:sp>
            <p:nvSpPr>
              <p:cNvPr id="6" name="eq_65">
                <a:extLst>
                  <a:ext uri="{FF2B5EF4-FFF2-40B4-BE49-F238E27FC236}">
                    <a16:creationId xmlns:a16="http://schemas.microsoft.com/office/drawing/2014/main" id="{CE4C0F32-40DF-4A15-93AA-2D95BFBB1991}"/>
                  </a:ext>
                </a:extLst>
              </p:cNvPr>
              <p:cNvSpPr txBox="1">
                <a:spLocks noGrp="1" noRot="1" noChangeAspect="1" noMove="1" noResize="1" noEditPoints="1" noAdjustHandles="1" noChangeArrowheads="1" noChangeShapeType="1" noTextEdit="1"/>
              </p:cNvSpPr>
              <p:nvPr/>
            </p:nvSpPr>
            <p:spPr>
              <a:xfrm>
                <a:off x="609600" y="4705350"/>
                <a:ext cx="10953750" cy="12001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xt_66">
                <a:extLst>
                  <a:ext uri="{FF2B5EF4-FFF2-40B4-BE49-F238E27FC236}">
                    <a16:creationId xmlns:a16="http://schemas.microsoft.com/office/drawing/2014/main" id="{B8E94260-BB69-4D72-9499-533AEA98AAA8}"/>
                  </a:ext>
                </a:extLst>
              </p:cNvPr>
              <p:cNvSpPr txBox="1">
                <a:spLocks noGrp="1"/>
              </p:cNvSpPr>
              <p:nvPr/>
            </p:nvSpPr>
            <p:spPr>
              <a:xfrm>
                <a:off x="609600" y="6019800"/>
                <a:ext cx="10953750" cy="400050"/>
              </a:xfrm>
              <a:prstGeom prst="rect">
                <a:avLst/>
              </a:prstGeom>
              <a:noFill/>
              <a:ln w="0">
                <a:noFill/>
              </a:ln>
            </p:spPr>
            <p:txBody>
              <a:bodyPr vertOverflow="overflow" wrap="square" lIns="0" tIns="0" rIns="0" bIns="0" anchor="ctr">
                <a:noAutofit/>
              </a:bodyPr>
              <a:lstStyle/>
              <a:p>
                <a:pPr marL="0" marR="0" indent="0" algn="ctr">
                  <a:defRPr lang="en-GB" sz="1725" b="0" i="0" dirty="0">
                    <a:solidFill>
                      <a:srgbClr val="53657E"/>
                    </a:solidFill>
                    <a:latin typeface="DejaVu Sans"/>
                    <a:ea typeface="DejaVu Sans"/>
                    <a:cs typeface="DejaVu Sans"/>
                  </a:defRPr>
                </a:pPr>
                <a:r>
                  <a:rPr lang="en-GB" sz="2000" b="0" i="0" dirty="0">
                    <a:solidFill>
                      <a:srgbClr val="53657E"/>
                    </a:solidFill>
                    <a:latin typeface="DejaVu Sans"/>
                    <a:ea typeface="DejaVu Sans"/>
                    <a:cs typeface="DejaVu Sans"/>
                  </a:rPr>
                  <a:t>Hold </a:t>
                </a:r>
                <a14:m>
                  <m:oMath xmlns:m="http://schemas.openxmlformats.org/officeDocument/2006/math">
                    <m:r>
                      <a:rPr lang="en-GB" sz="2000" b="0" dirty="0">
                        <a:solidFill>
                          <a:srgbClr val="53657E"/>
                        </a:solidFill>
                        <a:latin typeface="Cambria Math"/>
                        <a:ea typeface="Cambria Math"/>
                        <a:cs typeface="Cambria Math"/>
                      </a:rPr>
                      <m:t>𝑏</m:t>
                    </m:r>
                  </m:oMath>
                </a14:m>
                <a:r>
                  <a:rPr lang="en-GB" sz="2000" b="0" i="0" dirty="0">
                    <a:solidFill>
                      <a:srgbClr val="53657E"/>
                    </a:solidFill>
                    <a:latin typeface="DejaVu Sans"/>
                    <a:ea typeface="DejaVu Sans"/>
                    <a:cs typeface="DejaVu Sans"/>
                  </a:rPr>
                  <a:t> fixed: only </a:t>
                </a:r>
                <a14:m>
                  <m:oMath xmlns:m="http://schemas.openxmlformats.org/officeDocument/2006/math">
                    <m:r>
                      <a:rPr lang="en-GB" sz="2000" b="0" dirty="0">
                        <a:solidFill>
                          <a:srgbClr val="53657E"/>
                        </a:solidFill>
                        <a:latin typeface="Cambria Math"/>
                        <a:ea typeface="Cambria Math"/>
                        <a:cs typeface="Cambria Math"/>
                      </a:rPr>
                      <m:t>𝑎</m:t>
                    </m:r>
                  </m:oMath>
                </a14:m>
                <a:r>
                  <a:rPr lang="en-GB" sz="2000" b="0" i="0" dirty="0">
                    <a:solidFill>
                      <a:srgbClr val="53657E"/>
                    </a:solidFill>
                    <a:latin typeface="DejaVu Sans"/>
                    <a:ea typeface="DejaVu Sans"/>
                    <a:cs typeface="DejaVu Sans"/>
                  </a:rPr>
                  <a:t> varies. The data </a:t>
                </a:r>
                <a14:m>
                  <m:oMath xmlns:m="http://schemas.openxmlformats.org/officeDocument/2006/math">
                    <m:sSub>
                      <m:sSubPr>
                        <m:ctrlPr>
                          <a:rPr lang="en-GB" sz="2000" b="0" dirty="0">
                            <a:solidFill>
                              <a:srgbClr val="53657E"/>
                            </a:solidFill>
                            <a:latin typeface="Cambria Math"/>
                            <a:ea typeface="Cambria Math"/>
                            <a:cs typeface="Cambria Math"/>
                          </a:rPr>
                        </m:ctrlPr>
                      </m:sSubPr>
                      <m:e>
                        <m:r>
                          <a:rPr lang="en-GB" sz="2000" b="0" dirty="0">
                            <a:solidFill>
                              <a:srgbClr val="53657E"/>
                            </a:solidFill>
                            <a:latin typeface="Cambria Math"/>
                            <a:ea typeface="Cambria Math"/>
                            <a:cs typeface="Cambria Math"/>
                          </a:rPr>
                          <m:t>𝑥</m:t>
                        </m:r>
                      </m:e>
                      <m:sub>
                        <m:r>
                          <a:rPr lang="en-GB" sz="2000" b="0" dirty="0">
                            <a:solidFill>
                              <a:srgbClr val="53657E"/>
                            </a:solidFill>
                            <a:latin typeface="Cambria Math"/>
                            <a:ea typeface="Cambria Math"/>
                            <a:cs typeface="Cambria Math"/>
                          </a:rPr>
                          <m:t>𝑖</m:t>
                        </m:r>
                      </m:sub>
                    </m:sSub>
                  </m:oMath>
                </a14:m>
                <a:r>
                  <a:rPr lang="en-GB" sz="2000" b="0" i="0" dirty="0">
                    <a:solidFill>
                      <a:srgbClr val="53657E"/>
                    </a:solidFill>
                    <a:latin typeface="DejaVu Sans"/>
                    <a:ea typeface="DejaVu Sans"/>
                    <a:cs typeface="DejaVu Sans"/>
                  </a:rPr>
                  <a:t> and </a:t>
                </a:r>
                <a14:m>
                  <m:oMath xmlns:m="http://schemas.openxmlformats.org/officeDocument/2006/math">
                    <m:sSub>
                      <m:sSubPr>
                        <m:ctrlPr>
                          <a:rPr lang="en-GB" sz="2000" b="0" dirty="0">
                            <a:solidFill>
                              <a:srgbClr val="53657E"/>
                            </a:solidFill>
                            <a:latin typeface="Cambria Math"/>
                            <a:ea typeface="Cambria Math"/>
                            <a:cs typeface="Cambria Math"/>
                          </a:rPr>
                        </m:ctrlPr>
                      </m:sSubPr>
                      <m:e>
                        <m:r>
                          <a:rPr lang="en-GB" sz="2000" b="0" dirty="0">
                            <a:solidFill>
                              <a:srgbClr val="53657E"/>
                            </a:solidFill>
                            <a:latin typeface="Cambria Math"/>
                            <a:ea typeface="Cambria Math"/>
                            <a:cs typeface="Cambria Math"/>
                          </a:rPr>
                          <m:t>𝑦</m:t>
                        </m:r>
                      </m:e>
                      <m:sub>
                        <m:r>
                          <a:rPr lang="en-GB" sz="2000" b="0" dirty="0">
                            <a:solidFill>
                              <a:srgbClr val="53657E"/>
                            </a:solidFill>
                            <a:latin typeface="Cambria Math"/>
                            <a:ea typeface="Cambria Math"/>
                            <a:cs typeface="Cambria Math"/>
                          </a:rPr>
                          <m:t>𝑖</m:t>
                        </m:r>
                      </m:sub>
                    </m:sSub>
                  </m:oMath>
                </a14:m>
                <a:r>
                  <a:rPr lang="en-GB" sz="2000" b="0" i="0" dirty="0">
                    <a:solidFill>
                      <a:srgbClr val="53657E"/>
                    </a:solidFill>
                    <a:latin typeface="DejaVu Sans"/>
                    <a:ea typeface="DejaVu Sans"/>
                    <a:cs typeface="DejaVu Sans"/>
                  </a:rPr>
                  <a:t> are fixed.</a:t>
                </a:r>
              </a:p>
            </p:txBody>
          </p:sp>
        </mc:Choice>
        <mc:Fallback xmlns="">
          <p:sp>
            <p:nvSpPr>
              <p:cNvPr id="7" name="txt_66">
                <a:extLst>
                  <a:ext uri="{FF2B5EF4-FFF2-40B4-BE49-F238E27FC236}">
                    <a16:creationId xmlns:a16="http://schemas.microsoft.com/office/drawing/2014/main" id="{B8E94260-BB69-4D72-9499-533AEA98AAA8}"/>
                  </a:ext>
                </a:extLst>
              </p:cNvPr>
              <p:cNvSpPr txBox="1">
                <a:spLocks noGrp="1" noRot="1" noChangeAspect="1" noMove="1" noResize="1" noEditPoints="1" noAdjustHandles="1" noChangeArrowheads="1" noChangeShapeType="1" noTextEdit="1"/>
              </p:cNvSpPr>
              <p:nvPr/>
            </p:nvSpPr>
            <p:spPr>
              <a:xfrm>
                <a:off x="609600" y="6019800"/>
                <a:ext cx="10953750" cy="400050"/>
              </a:xfrm>
              <a:prstGeom prst="rect">
                <a:avLst/>
              </a:prstGeom>
              <a:blipFill>
                <a:blip r:embed="rId7"/>
                <a:stretch>
                  <a:fillRect t="-9231" b="-2769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hain_rule_lead">
                <a:extLst>
                  <a:ext uri="{FF2B5EF4-FFF2-40B4-BE49-F238E27FC236}">
                    <a16:creationId xmlns:a16="http://schemas.microsoft.com/office/drawing/2014/main" id="{22324833-743F-4977-B787-CD90F7B581EA}"/>
                  </a:ext>
                </a:extLst>
              </p:cNvPr>
              <p:cNvSpPr txBox="1">
                <a:spLocks noGrp="1"/>
              </p:cNvSpPr>
              <p:nvPr/>
            </p:nvSpPr>
            <p:spPr>
              <a:xfrm>
                <a:off x="609600" y="3133725"/>
                <a:ext cx="10953750" cy="428625"/>
              </a:xfrm>
              <a:prstGeom prst="rect">
                <a:avLst/>
              </a:prstGeom>
              <a:noFill/>
              <a:ln w="0">
                <a:noFill/>
              </a:ln>
            </p:spPr>
            <p:txBody>
              <a:bodyPr vertOverflow="overflow"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The </a:t>
                </a:r>
                <a:r>
                  <a:rPr lang="en-GB" sz="2100" b="0" i="0" dirty="0">
                    <a:solidFill>
                      <a:srgbClr val="FF0000"/>
                    </a:solidFill>
                    <a:latin typeface="DejaVu Sans"/>
                    <a:ea typeface="DejaVu Sans"/>
                    <a:cs typeface="DejaVu Sans"/>
                  </a:rPr>
                  <a:t>chain rule</a:t>
                </a:r>
                <a:r>
                  <a:rPr lang="en-GB" sz="2100" b="0" i="0" dirty="0">
                    <a:solidFill>
                      <a:srgbClr val="182D45"/>
                    </a:solidFill>
                    <a:latin typeface="DejaVu Sans"/>
                    <a:ea typeface="DejaVu Sans"/>
                    <a:cs typeface="DejaVu Sans"/>
                  </a:rPr>
                  <a:t>, with outer function </a:t>
                </a:r>
                <a14:m>
                  <m:oMath xmlns:m="http://schemas.openxmlformats.org/officeDocument/2006/math">
                    <m:r>
                      <a:rPr lang="en-GB" sz="2100" b="0" dirty="0">
                        <a:solidFill>
                          <a:srgbClr val="182D45"/>
                        </a:solidFill>
                        <a:latin typeface="Cambria Math"/>
                        <a:ea typeface="Cambria Math"/>
                        <a:cs typeface="Cambria Math"/>
                      </a:rPr>
                      <m:t>𝑢</m:t>
                    </m:r>
                    <m:d>
                      <m:dPr>
                        <m:ctrlPr>
                          <a:rPr lang="en-GB" sz="2100" b="0" dirty="0">
                            <a:solidFill>
                              <a:srgbClr val="182D45"/>
                            </a:solidFill>
                            <a:latin typeface="Cambria Math"/>
                            <a:ea typeface="Cambria Math"/>
                            <a:cs typeface="Cambria Math"/>
                          </a:rPr>
                        </m:ctrlPr>
                      </m:dPr>
                      <m:e>
                        <m:r>
                          <a:rPr lang="en-GB" sz="2100" b="0" dirty="0">
                            <a:solidFill>
                              <a:srgbClr val="182D45"/>
                            </a:solidFill>
                            <a:latin typeface="Cambria Math"/>
                            <a:ea typeface="Cambria Math"/>
                            <a:cs typeface="Cambria Math"/>
                          </a:rPr>
                          <m:t>𝑟</m:t>
                        </m:r>
                      </m:e>
                    </m:d>
                    <m:r>
                      <a:rPr lang="en-GB" sz="2100" b="0" dirty="0">
                        <a:solidFill>
                          <a:srgbClr val="182D45"/>
                        </a:solidFill>
                        <a:latin typeface="Cambria Math"/>
                        <a:ea typeface="Cambria Math"/>
                        <a:cs typeface="Cambria Math"/>
                      </a:rPr>
                      <m:t>=</m:t>
                    </m:r>
                    <m:sSup>
                      <m:sSupPr>
                        <m:ctrlPr>
                          <a:rPr lang="en-GB" sz="2100" b="0" dirty="0">
                            <a:solidFill>
                              <a:srgbClr val="182D45"/>
                            </a:solidFill>
                            <a:latin typeface="Cambria Math"/>
                            <a:ea typeface="Cambria Math"/>
                            <a:cs typeface="Cambria Math"/>
                          </a:rPr>
                        </m:ctrlPr>
                      </m:sSupPr>
                      <m:e>
                        <m:r>
                          <a:rPr lang="en-GB" sz="2100" b="0" dirty="0">
                            <a:solidFill>
                              <a:srgbClr val="182D45"/>
                            </a:solidFill>
                            <a:latin typeface="Cambria Math"/>
                            <a:ea typeface="Cambria Math"/>
                            <a:cs typeface="Cambria Math"/>
                          </a:rPr>
                          <m:t>𝑟</m:t>
                        </m:r>
                      </m:e>
                      <m:sup>
                        <m:r>
                          <a:rPr lang="en-GB" sz="2100" b="0" dirty="0">
                            <a:solidFill>
                              <a:srgbClr val="182D45"/>
                            </a:solidFill>
                            <a:latin typeface="Cambria Math"/>
                            <a:ea typeface="Cambria Math"/>
                            <a:cs typeface="Cambria Math"/>
                          </a:rPr>
                          <m:t>2</m:t>
                        </m:r>
                      </m:sup>
                    </m:sSup>
                  </m:oMath>
                </a14:m>
                <a:r>
                  <a:rPr lang="en-GB" sz="2100" b="0" i="0" dirty="0">
                    <a:solidFill>
                      <a:srgbClr val="182D45"/>
                    </a:solidFill>
                    <a:latin typeface="DejaVu Sans"/>
                    <a:ea typeface="DejaVu Sans"/>
                    <a:cs typeface="DejaVu Sans"/>
                  </a:rPr>
                  <a:t> and inner functions </a:t>
                </a:r>
                <a14:m>
                  <m:oMath xmlns:m="http://schemas.openxmlformats.org/officeDocument/2006/math">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𝑟</m:t>
                        </m:r>
                      </m:e>
                      <m:sub>
                        <m:r>
                          <a:rPr lang="en-GB" sz="2100" b="0" dirty="0">
                            <a:solidFill>
                              <a:srgbClr val="182D45"/>
                            </a:solidFill>
                            <a:latin typeface="Cambria Math"/>
                            <a:ea typeface="Cambria Math"/>
                            <a:cs typeface="Cambria Math"/>
                          </a:rPr>
                          <m:t>𝑖</m:t>
                        </m:r>
                      </m:sub>
                    </m:sSub>
                  </m:oMath>
                </a14:m>
                <a:r>
                  <a:rPr lang="en-GB" sz="2100" b="0" i="0" dirty="0">
                    <a:solidFill>
                      <a:srgbClr val="182D45"/>
                    </a:solidFill>
                    <a:latin typeface="DejaVu Sans"/>
                    <a:ea typeface="DejaVu Sans"/>
                    <a:cs typeface="DejaVu Sans"/>
                  </a:rPr>
                  <a:t>, gives</a:t>
                </a:r>
              </a:p>
            </p:txBody>
          </p:sp>
        </mc:Choice>
        <mc:Fallback xmlns="">
          <p:sp>
            <p:nvSpPr>
              <p:cNvPr id="9" name="chain_rule_lead">
                <a:extLst>
                  <a:ext uri="{FF2B5EF4-FFF2-40B4-BE49-F238E27FC236}">
                    <a16:creationId xmlns:a16="http://schemas.microsoft.com/office/drawing/2014/main" id="{22324833-743F-4977-B787-CD90F7B581EA}"/>
                  </a:ext>
                </a:extLst>
              </p:cNvPr>
              <p:cNvSpPr txBox="1">
                <a:spLocks noGrp="1" noRot="1" noChangeAspect="1" noMove="1" noResize="1" noEditPoints="1" noAdjustHandles="1" noChangeArrowheads="1" noChangeShapeType="1" noTextEdit="1"/>
              </p:cNvSpPr>
              <p:nvPr/>
            </p:nvSpPr>
            <p:spPr>
              <a:xfrm>
                <a:off x="609600" y="3133725"/>
                <a:ext cx="10953750" cy="428625"/>
              </a:xfrm>
              <a:prstGeom prst="rect">
                <a:avLst/>
              </a:prstGeom>
              <a:blipFill>
                <a:blip r:embed="rId8"/>
                <a:stretch>
                  <a:fillRect t="-8571" b="-2571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00020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5" grpId="1"/>
      <p:bldP spid="6" grpId="0" build="allAtOnce"/>
      <p:bldP spid="6" grpId="1"/>
      <p:bldP spid="7" grpId="0" build="allAtOnce" animBg="1"/>
      <p:bldP spid="7" grpId="1"/>
      <p:bldP spid="9" grpId="0" build="allAtOnce" animBg="1"/>
      <p:bldP spid="9" grpId="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247F6944-380E-4C08-A158-B62F397BA68B}"/>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stationarity equations</a:t>
            </a:r>
          </a:p>
        </p:txBody>
      </p:sp>
      <p:sp>
        <p:nvSpPr>
          <p:cNvPr id="2" name="page_number">
            <a:extLst>
              <a:ext uri="{FF2B5EF4-FFF2-40B4-BE49-F238E27FC236}">
                <a16:creationId xmlns:a16="http://schemas.microsoft.com/office/drawing/2014/main" id="{A1CEDAED-CAA1-4128-A591-A6B81B496B5C}"/>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23</a:t>
            </a:r>
          </a:p>
        </p:txBody>
      </p:sp>
      <mc:AlternateContent xmlns:mc="http://schemas.openxmlformats.org/markup-compatibility/2006" xmlns:a14="http://schemas.microsoft.com/office/drawing/2010/main">
        <mc:Choice Requires="a14">
          <p:sp>
            <p:nvSpPr>
              <p:cNvPr id="3" name="txt_84">
                <a:extLst>
                  <a:ext uri="{FF2B5EF4-FFF2-40B4-BE49-F238E27FC236}">
                    <a16:creationId xmlns:a16="http://schemas.microsoft.com/office/drawing/2014/main" id="{21D96CE4-A310-4B10-84AC-47FCFB5E4EC6}"/>
                  </a:ext>
                </a:extLst>
              </p:cNvPr>
              <p:cNvSpPr txBox="1">
                <a:spLocks noGrp="1"/>
              </p:cNvSpPr>
              <p:nvPr/>
            </p:nvSpPr>
            <p:spPr>
              <a:xfrm>
                <a:off x="609600" y="1257300"/>
                <a:ext cx="10953750" cy="762000"/>
              </a:xfrm>
              <a:prstGeom prst="rect">
                <a:avLst/>
              </a:prstGeom>
              <a:noFill/>
              <a:ln w="0">
                <a:noFill/>
              </a:ln>
            </p:spPr>
            <p:txBody>
              <a:bodyPr vertOverflow="overflow"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400" b="0" i="0" dirty="0">
                    <a:solidFill>
                      <a:srgbClr val="182D45"/>
                    </a:solidFill>
                    <a:latin typeface="DejaVu Sans"/>
                    <a:ea typeface="DejaVu Sans"/>
                    <a:cs typeface="DejaVu Sans"/>
                  </a:rPr>
                  <a:t>Set both partial derivatives of </a:t>
                </a:r>
                <a14:m>
                  <m:oMath xmlns:m="http://schemas.openxmlformats.org/officeDocument/2006/math">
                    <m:sSubSup>
                      <m:sSubSupPr>
                        <m:ctrlPr>
                          <a:rPr lang="en-GB" sz="2400" b="0" dirty="0">
                            <a:solidFill>
                              <a:srgbClr val="182D45"/>
                            </a:solidFill>
                            <a:latin typeface="Cambria Math"/>
                            <a:ea typeface="Cambria Math"/>
                            <a:cs typeface="Cambria Math"/>
                          </a:rPr>
                        </m:ctrlPr>
                      </m:sSubSupPr>
                      <m:e>
                        <m:r>
                          <a:rPr lang="en-GB" sz="2400" b="0" dirty="0">
                            <a:solidFill>
                              <a:srgbClr val="182D45"/>
                            </a:solidFill>
                            <a:latin typeface="Cambria Math"/>
                            <a:ea typeface="Cambria Math"/>
                            <a:cs typeface="Cambria Math"/>
                          </a:rPr>
                          <m:t>ℒ</m:t>
                        </m:r>
                      </m:e>
                      <m:sub>
                        <m:r>
                          <m:rPr>
                            <m:sty m:val="p"/>
                          </m:rPr>
                          <a:rPr lang="en-GB" sz="2400" b="0" dirty="0">
                            <a:solidFill>
                              <a:srgbClr val="182D45"/>
                            </a:solidFill>
                            <a:latin typeface="Cambria Math"/>
                            <a:ea typeface="Cambria Math"/>
                            <a:cs typeface="Cambria Math"/>
                          </a:rPr>
                          <m:t>sq</m:t>
                        </m:r>
                      </m:sub>
                      <m:sup>
                        <m:r>
                          <m:rPr>
                            <m:sty m:val="p"/>
                          </m:rPr>
                          <a:rPr lang="en-GB" sz="2400" b="0" dirty="0">
                            <a:solidFill>
                              <a:srgbClr val="182D45"/>
                            </a:solidFill>
                            <a:latin typeface="Cambria Math"/>
                            <a:ea typeface="Cambria Math"/>
                            <a:cs typeface="Cambria Math"/>
                          </a:rPr>
                          <m:t>aff</m:t>
                        </m:r>
                      </m:sup>
                    </m:sSubSup>
                  </m:oMath>
                </a14:m>
                <a:r>
                  <a:rPr lang="en-GB" sz="2400" b="0" i="0" dirty="0">
                    <a:solidFill>
                      <a:srgbClr val="182D45"/>
                    </a:solidFill>
                    <a:latin typeface="DejaVu Sans"/>
                    <a:ea typeface="DejaVu Sans"/>
                    <a:cs typeface="DejaVu Sans"/>
                  </a:rPr>
                  <a:t> to zero and divide by two.</a:t>
                </a:r>
              </a:p>
            </p:txBody>
          </p:sp>
        </mc:Choice>
        <mc:Fallback xmlns="">
          <p:sp>
            <p:nvSpPr>
              <p:cNvPr id="3" name="txt_84">
                <a:extLst>
                  <a:ext uri="{FF2B5EF4-FFF2-40B4-BE49-F238E27FC236}">
                    <a16:creationId xmlns:a16="http://schemas.microsoft.com/office/drawing/2014/main" id="{21D96CE4-A310-4B10-84AC-47FCFB5E4EC6}"/>
                  </a:ext>
                </a:extLst>
              </p:cNvPr>
              <p:cNvSpPr txBox="1">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85">
                <a:extLst>
                  <a:ext uri="{FF2B5EF4-FFF2-40B4-BE49-F238E27FC236}">
                    <a16:creationId xmlns:a16="http://schemas.microsoft.com/office/drawing/2014/main" id="{73D88A87-C454-4C0B-96DC-F14F7AC2ABB7}"/>
                  </a:ext>
                </a:extLst>
              </p:cNvPr>
              <p:cNvSpPr txBox="1">
                <a:spLocks noGrp="1"/>
              </p:cNvSpPr>
              <p:nvPr/>
            </p:nvSpPr>
            <p:spPr>
              <a:xfrm>
                <a:off x="609600" y="2352675"/>
                <a:ext cx="10953750" cy="1219200"/>
              </a:xfrm>
              <a:prstGeom prst="rect">
                <a:avLst/>
              </a:prstGeom>
              <a:noFill/>
              <a:ln w="0">
                <a:noFill/>
              </a:ln>
            </p:spPr>
            <p:txBody>
              <a:bodyPr vertOverflow="overflow" wrap="none" lIns="0" tIns="0" rIns="0" bIns="0" anchor="t">
                <a:noAutofit/>
              </a:bodyPr>
              <a:lstStyle/>
              <a:p>
                <a:pPr algn="ctr">
                  <a:defRPr lang="en-GB" sz="2925" b="0" i="0" dirty="0">
                    <a:solidFill>
                      <a:srgbClr val="087F83"/>
                    </a:solidFill>
                    <a:latin typeface="Cambria Math"/>
                    <a:ea typeface="Cambria Math"/>
                    <a:cs typeface="Cambria Math"/>
                  </a:defRPr>
                </a:pPr>
                <a14:m>
                  <m:oMathPara xmlns:m="http://schemas.openxmlformats.org/officeDocument/2006/math">
                    <m:oMath>
                      <m:f>
                        <m:fPr>
                          <m:ctrlPr>
                            <a:rPr lang="en-GB" sz="3200" dirty="0">
                              <a:solidFill>
                                <a:srgbClr val="3E797B"/>
                              </a:solidFill>
                              <a:latin typeface="Cambria Math"/>
                              <a:ea typeface="Cambria Math"/>
                              <a:cs typeface="Cambria Math"/>
                            </a:rPr>
                          </m:ctrlPr>
                        </m:fPr>
                        <m:num>
                          <m:r>
                            <a:rPr lang="en-GB" sz="3200" dirty="0">
                              <a:solidFill>
                                <a:srgbClr val="3E797B"/>
                              </a:solidFill>
                              <a:latin typeface="Cambria Math"/>
                              <a:ea typeface="Cambria Math"/>
                              <a:cs typeface="Cambria Math"/>
                            </a:rPr>
                            <m:t>𝜕</m:t>
                          </m:r>
                          <m:sSubSup>
                            <m:sSubSupPr>
                              <m:ctrlPr>
                                <a:rPr lang="en-GB" sz="3200" dirty="0">
                                  <a:solidFill>
                                    <a:srgbClr val="3E797B"/>
                                  </a:solidFill>
                                  <a:latin typeface="Cambria Math"/>
                                  <a:ea typeface="Cambria Math"/>
                                  <a:cs typeface="Cambria Math"/>
                                </a:rPr>
                              </m:ctrlPr>
                            </m:sSubSupPr>
                            <m:e>
                              <m:r>
                                <a:rPr lang="en-GB" sz="3200" dirty="0">
                                  <a:solidFill>
                                    <a:srgbClr val="3E797B"/>
                                  </a:solidFill>
                                  <a:latin typeface="Cambria Math"/>
                                  <a:ea typeface="Cambria Math"/>
                                  <a:cs typeface="Cambria Math"/>
                                </a:rPr>
                                <m:t>ℒ</m:t>
                              </m:r>
                            </m:e>
                            <m:sub>
                              <m:r>
                                <m:rPr>
                                  <m:sty m:val="p"/>
                                </m:rPr>
                                <a:rPr lang="en-GB" sz="3200" dirty="0">
                                  <a:solidFill>
                                    <a:srgbClr val="3E797B"/>
                                  </a:solidFill>
                                  <a:latin typeface="Cambria Math"/>
                                  <a:ea typeface="Cambria Math"/>
                                  <a:cs typeface="Cambria Math"/>
                                </a:rPr>
                                <m:t>sq</m:t>
                              </m:r>
                            </m:sub>
                            <m:sup>
                              <m:r>
                                <m:rPr>
                                  <m:sty m:val="p"/>
                                </m:rPr>
                                <a:rPr lang="en-GB" sz="3200" dirty="0">
                                  <a:solidFill>
                                    <a:srgbClr val="3E797B"/>
                                  </a:solidFill>
                                  <a:latin typeface="Cambria Math"/>
                                  <a:ea typeface="Cambria Math"/>
                                  <a:cs typeface="Cambria Math"/>
                                </a:rPr>
                                <m:t>aff</m:t>
                              </m:r>
                            </m:sup>
                          </m:sSubSup>
                        </m:num>
                        <m:den>
                          <m:r>
                            <a:rPr lang="en-GB" sz="3200" dirty="0">
                              <a:solidFill>
                                <a:srgbClr val="3E797B"/>
                              </a:solidFill>
                              <a:latin typeface="Cambria Math"/>
                              <a:ea typeface="Cambria Math"/>
                              <a:cs typeface="Cambria Math"/>
                            </a:rPr>
                            <m:t>𝜕</m:t>
                          </m:r>
                          <m:r>
                            <a:rPr lang="en-GB" sz="3200" dirty="0">
                              <a:solidFill>
                                <a:srgbClr val="3E797B"/>
                              </a:solidFill>
                              <a:latin typeface="Cambria Math"/>
                              <a:ea typeface="Cambria Math"/>
                              <a:cs typeface="Cambria Math"/>
                            </a:rPr>
                            <m:t>𝑏</m:t>
                          </m:r>
                        </m:den>
                      </m:f>
                      <m:d>
                        <m:dPr>
                          <m:ctrlPr>
                            <a:rPr lang="en-GB" sz="3200" dirty="0">
                              <a:solidFill>
                                <a:srgbClr val="3E797B"/>
                              </a:solidFill>
                              <a:latin typeface="Cambria Math"/>
                              <a:ea typeface="Cambria Math"/>
                              <a:cs typeface="Cambria Math"/>
                            </a:rPr>
                          </m:ctrlPr>
                        </m:dPr>
                        <m:e>
                          <m:r>
                            <a:rPr lang="en-GB" sz="3200" dirty="0">
                              <a:solidFill>
                                <a:srgbClr val="3E797B"/>
                              </a:solidFill>
                              <a:latin typeface="Cambria Math"/>
                              <a:ea typeface="Cambria Math"/>
                              <a:cs typeface="Cambria Math"/>
                            </a:rPr>
                            <m:t>𝑏</m:t>
                          </m:r>
                          <m:r>
                            <a:rPr lang="en-GB" sz="3200" dirty="0">
                              <a:solidFill>
                                <a:srgbClr val="3E797B"/>
                              </a:solidFill>
                              <a:latin typeface="Cambria Math"/>
                              <a:ea typeface="Cambria Math"/>
                              <a:cs typeface="Cambria Math"/>
                            </a:rPr>
                            <m:t>,</m:t>
                          </m:r>
                          <m:r>
                            <a:rPr lang="en-GB" sz="3200" dirty="0">
                              <a:solidFill>
                                <a:srgbClr val="3E797B"/>
                              </a:solidFill>
                              <a:latin typeface="Cambria Math"/>
                              <a:ea typeface="Cambria Math"/>
                              <a:cs typeface="Cambria Math"/>
                            </a:rPr>
                            <m:t>𝑎</m:t>
                          </m:r>
                        </m:e>
                      </m:d>
                      <m:r>
                        <a:rPr lang="it-IT" sz="3200" b="0" i="1" dirty="0" smtClean="0">
                          <a:solidFill>
                            <a:srgbClr val="3E797B"/>
                          </a:solidFill>
                          <a:latin typeface="Cambria Math" panose="02040503050406030204" pitchFamily="18" charset="0"/>
                          <a:ea typeface="Cambria Math"/>
                          <a:cs typeface="Cambria Math"/>
                        </a:rPr>
                        <m:t>=0  </m:t>
                      </m:r>
                      <m:r>
                        <a:rPr lang="it-IT" sz="2925" i="1" dirty="0" smtClean="0">
                          <a:solidFill>
                            <a:srgbClr val="087F83"/>
                          </a:solidFill>
                          <a:latin typeface="Cambria Math"/>
                        </a:rPr>
                        <m:t>⇔</m:t>
                      </m:r>
                      <m:r>
                        <a:rPr lang="it-IT" sz="2925" b="0" i="1" dirty="0" smtClean="0">
                          <a:solidFill>
                            <a:srgbClr val="087F83"/>
                          </a:solidFill>
                          <a:latin typeface="Cambria Math" panose="02040503050406030204" pitchFamily="18" charset="0"/>
                        </a:rPr>
                        <m:t>  </m:t>
                      </m:r>
                      <m:r>
                        <a:rPr lang="en-GB" sz="2925" b="0" dirty="0" smtClean="0">
                          <a:solidFill>
                            <a:srgbClr val="3E797B"/>
                          </a:solidFill>
                          <a:latin typeface="Cambria Math"/>
                          <a:ea typeface="Cambria Math"/>
                          <a:cs typeface="Cambria Math"/>
                        </a:rPr>
                        <m:t>𝑁</m:t>
                      </m:r>
                      <m:r>
                        <a:rPr lang="en-GB" sz="2925" b="0" dirty="0" smtClean="0">
                          <a:solidFill>
                            <a:srgbClr val="FF0000"/>
                          </a:solidFill>
                          <a:latin typeface="Cambria Math"/>
                          <a:ea typeface="Cambria Math"/>
                          <a:cs typeface="Cambria Math"/>
                        </a:rPr>
                        <m:t>𝑏</m:t>
                      </m:r>
                      <m:r>
                        <a:rPr lang="en-GB" sz="2925" b="0" dirty="0" smtClean="0">
                          <a:solidFill>
                            <a:srgbClr val="3E797B"/>
                          </a:solidFill>
                          <a:latin typeface="Cambria Math"/>
                          <a:ea typeface="Cambria Math"/>
                          <a:cs typeface="Cambria Math"/>
                        </a:rPr>
                        <m:t>+</m:t>
                      </m:r>
                      <m:r>
                        <a:rPr lang="en-GB" sz="2925" b="0" dirty="0" smtClean="0">
                          <a:solidFill>
                            <a:srgbClr val="FF0000"/>
                          </a:solidFill>
                          <a:latin typeface="Cambria Math"/>
                          <a:ea typeface="Cambria Math"/>
                          <a:cs typeface="Cambria Math"/>
                        </a:rPr>
                        <m:t>𝑎</m:t>
                      </m:r>
                      <m:nary>
                        <m:naryPr>
                          <m:chr m:val="∑"/>
                          <m:limLoc m:val="undOvr"/>
                          <m:ctrlPr>
                            <a:rPr lang="en-GB" sz="2925" b="0" dirty="0">
                              <a:solidFill>
                                <a:srgbClr val="3E797B"/>
                              </a:solidFill>
                              <a:latin typeface="Cambria Math"/>
                              <a:ea typeface="Cambria Math"/>
                              <a:cs typeface="Cambria Math"/>
                            </a:rPr>
                          </m:ctrlPr>
                        </m:naryPr>
                        <m:sub>
                          <m:r>
                            <a:rPr lang="en-GB" sz="2925" b="0" dirty="0">
                              <a:solidFill>
                                <a:srgbClr val="3E797B"/>
                              </a:solidFill>
                              <a:latin typeface="Cambria Math"/>
                              <a:ea typeface="Cambria Math"/>
                              <a:cs typeface="Cambria Math"/>
                            </a:rPr>
                            <m:t>𝑖</m:t>
                          </m:r>
                          <m:r>
                            <a:rPr lang="en-GB" sz="2925" b="0" dirty="0">
                              <a:solidFill>
                                <a:srgbClr val="3E797B"/>
                              </a:solidFill>
                              <a:latin typeface="Cambria Math"/>
                              <a:ea typeface="Cambria Math"/>
                              <a:cs typeface="Cambria Math"/>
                            </a:rPr>
                            <m:t>=1</m:t>
                          </m:r>
                        </m:sub>
                        <m:sup>
                          <m:r>
                            <a:rPr lang="en-GB" sz="2925" b="0" dirty="0">
                              <a:solidFill>
                                <a:srgbClr val="3E797B"/>
                              </a:solidFill>
                              <a:latin typeface="Cambria Math"/>
                              <a:ea typeface="Cambria Math"/>
                              <a:cs typeface="Cambria Math"/>
                            </a:rPr>
                            <m:t>𝑁</m:t>
                          </m:r>
                        </m:sup>
                        <m:e>
                          <m:sSub>
                            <m:sSubPr>
                              <m:ctrlPr>
                                <a:rPr lang="en-GB" sz="2925" b="0" dirty="0">
                                  <a:solidFill>
                                    <a:srgbClr val="3E797B"/>
                                  </a:solidFill>
                                  <a:latin typeface="Cambria Math"/>
                                  <a:ea typeface="Cambria Math"/>
                                  <a:cs typeface="Cambria Math"/>
                                </a:rPr>
                              </m:ctrlPr>
                            </m:sSubPr>
                            <m:e>
                              <m:r>
                                <a:rPr lang="en-GB" sz="2925" b="0" dirty="0">
                                  <a:solidFill>
                                    <a:srgbClr val="3E797B"/>
                                  </a:solidFill>
                                  <a:latin typeface="Cambria Math"/>
                                  <a:ea typeface="Cambria Math"/>
                                  <a:cs typeface="Cambria Math"/>
                                </a:rPr>
                                <m:t>𝑥</m:t>
                              </m:r>
                            </m:e>
                            <m:sub>
                              <m:r>
                                <a:rPr lang="en-GB" sz="2925" b="0" dirty="0">
                                  <a:solidFill>
                                    <a:srgbClr val="3E797B"/>
                                  </a:solidFill>
                                  <a:latin typeface="Cambria Math"/>
                                  <a:ea typeface="Cambria Math"/>
                                  <a:cs typeface="Cambria Math"/>
                                </a:rPr>
                                <m:t>𝑖</m:t>
                              </m:r>
                            </m:sub>
                          </m:sSub>
                        </m:e>
                      </m:nary>
                      <m:r>
                        <a:rPr lang="en-GB" sz="2925" b="0" dirty="0">
                          <a:solidFill>
                            <a:srgbClr val="087F83"/>
                          </a:solidFill>
                          <a:latin typeface="Cambria Math"/>
                          <a:ea typeface="Cambria Math"/>
                          <a:cs typeface="Cambria Math"/>
                        </a:rPr>
                        <m:t>=</m:t>
                      </m:r>
                      <m:nary>
                        <m:naryPr>
                          <m:chr m:val="∑"/>
                          <m:limLoc m:val="undOvr"/>
                          <m:ctrlPr>
                            <a:rPr lang="en-GB" sz="2925" b="0" dirty="0">
                              <a:solidFill>
                                <a:srgbClr val="087F83"/>
                              </a:solidFill>
                              <a:latin typeface="Cambria Math"/>
                              <a:ea typeface="Cambria Math"/>
                              <a:cs typeface="Cambria Math"/>
                            </a:rPr>
                          </m:ctrlPr>
                        </m:naryPr>
                        <m:sub>
                          <m:r>
                            <a:rPr lang="en-GB" sz="2925" b="0" dirty="0">
                              <a:solidFill>
                                <a:srgbClr val="087F83"/>
                              </a:solidFill>
                              <a:latin typeface="Cambria Math"/>
                              <a:ea typeface="Cambria Math"/>
                              <a:cs typeface="Cambria Math"/>
                            </a:rPr>
                            <m:t>𝑖</m:t>
                          </m:r>
                          <m:r>
                            <a:rPr lang="en-GB" sz="2925" b="0" dirty="0">
                              <a:solidFill>
                                <a:srgbClr val="087F83"/>
                              </a:solidFill>
                              <a:latin typeface="Cambria Math"/>
                              <a:ea typeface="Cambria Math"/>
                              <a:cs typeface="Cambria Math"/>
                            </a:rPr>
                            <m:t>=1</m:t>
                          </m:r>
                        </m:sub>
                        <m:sup>
                          <m:r>
                            <a:rPr lang="en-GB" sz="2925" b="0" dirty="0">
                              <a:solidFill>
                                <a:srgbClr val="087F83"/>
                              </a:solidFill>
                              <a:latin typeface="Cambria Math"/>
                              <a:ea typeface="Cambria Math"/>
                              <a:cs typeface="Cambria Math"/>
                            </a:rPr>
                            <m:t>𝑁</m:t>
                          </m:r>
                        </m:sup>
                        <m:e>
                          <m:sSub>
                            <m:sSubPr>
                              <m:ctrlPr>
                                <a:rPr lang="en-GB" sz="2925" b="0" dirty="0">
                                  <a:solidFill>
                                    <a:srgbClr val="087F83"/>
                                  </a:solidFill>
                                  <a:latin typeface="Cambria Math"/>
                                  <a:ea typeface="Cambria Math"/>
                                  <a:cs typeface="Cambria Math"/>
                                </a:rPr>
                              </m:ctrlPr>
                            </m:sSubPr>
                            <m:e>
                              <m:r>
                                <a:rPr lang="en-GB" sz="2925" b="0" dirty="0">
                                  <a:solidFill>
                                    <a:srgbClr val="087F83"/>
                                  </a:solidFill>
                                  <a:latin typeface="Cambria Math"/>
                                  <a:ea typeface="Cambria Math"/>
                                  <a:cs typeface="Cambria Math"/>
                                </a:rPr>
                                <m:t>𝑦</m:t>
                              </m:r>
                            </m:e>
                            <m:sub>
                              <m:r>
                                <a:rPr lang="en-GB" sz="2925" b="0" dirty="0">
                                  <a:solidFill>
                                    <a:srgbClr val="087F83"/>
                                  </a:solidFill>
                                  <a:latin typeface="Cambria Math"/>
                                  <a:ea typeface="Cambria Math"/>
                                  <a:cs typeface="Cambria Math"/>
                                </a:rPr>
                                <m:t>𝑖</m:t>
                              </m:r>
                            </m:sub>
                          </m:sSub>
                        </m:e>
                      </m:nary>
                      <m:r>
                        <a:rPr lang="it-IT" sz="2925" b="0" i="1" dirty="0" smtClean="0">
                          <a:solidFill>
                            <a:srgbClr val="087F83"/>
                          </a:solidFill>
                          <a:latin typeface="Cambria Math" panose="02040503050406030204" pitchFamily="18" charset="0"/>
                          <a:ea typeface="Cambria Math"/>
                          <a:cs typeface="Cambria Math"/>
                        </a:rPr>
                        <m:t>              </m:t>
                      </m:r>
                    </m:oMath>
                  </m:oMathPara>
                </a14:m>
                <a:endParaRPr lang="en-GB" sz="2925" b="0" i="0" dirty="0">
                  <a:solidFill>
                    <a:srgbClr val="087F83"/>
                  </a:solidFill>
                  <a:latin typeface="Cambria Math"/>
                  <a:ea typeface="Cambria Math"/>
                  <a:cs typeface="Cambria Math"/>
                </a:endParaRPr>
              </a:p>
            </p:txBody>
          </p:sp>
        </mc:Choice>
        <mc:Fallback xmlns="">
          <p:sp>
            <p:nvSpPr>
              <p:cNvPr id="4" name="eq_85">
                <a:extLst>
                  <a:ext uri="{FF2B5EF4-FFF2-40B4-BE49-F238E27FC236}">
                    <a16:creationId xmlns:a16="http://schemas.microsoft.com/office/drawing/2014/main" id="{73D88A87-C454-4C0B-96DC-F14F7AC2ABB7}"/>
                  </a:ext>
                </a:extLst>
              </p:cNvPr>
              <p:cNvSpPr txBox="1">
                <a:spLocks noGrp="1" noRot="1" noChangeAspect="1" noMove="1" noResize="1" noEditPoints="1" noAdjustHandles="1" noChangeArrowheads="1" noChangeShapeType="1" noTextEdit="1"/>
              </p:cNvSpPr>
              <p:nvPr/>
            </p:nvSpPr>
            <p:spPr>
              <a:xfrm>
                <a:off x="609600" y="2352675"/>
                <a:ext cx="10953750" cy="1219200"/>
              </a:xfrm>
              <a:prstGeom prst="rect">
                <a:avLst/>
              </a:prstGeom>
              <a:blipFill>
                <a:blip r:embed="rId4"/>
                <a:stretch>
                  <a:fillRect b="-65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86">
                <a:extLst>
                  <a:ext uri="{FF2B5EF4-FFF2-40B4-BE49-F238E27FC236}">
                    <a16:creationId xmlns:a16="http://schemas.microsoft.com/office/drawing/2014/main" id="{29E4EF07-980A-484E-B41E-FF9610EA884F}"/>
                  </a:ext>
                </a:extLst>
              </p:cNvPr>
              <p:cNvSpPr txBox="1">
                <a:spLocks noGrp="1"/>
              </p:cNvSpPr>
              <p:nvPr/>
            </p:nvSpPr>
            <p:spPr>
              <a:xfrm>
                <a:off x="609600" y="3962400"/>
                <a:ext cx="10953750" cy="1219200"/>
              </a:xfrm>
              <a:prstGeom prst="rect">
                <a:avLst/>
              </a:prstGeom>
              <a:noFill/>
              <a:ln w="0">
                <a:noFill/>
              </a:ln>
            </p:spPr>
            <p:txBody>
              <a:bodyPr vertOverflow="overflow" wrap="none" lIns="0" tIns="0" rIns="0" bIns="0" anchor="t">
                <a:noAutofit/>
              </a:bodyPr>
              <a:lstStyle/>
              <a:p>
                <a:pPr algn="ctr">
                  <a:defRPr lang="en-GB" sz="2925" b="0" i="0" dirty="0">
                    <a:solidFill>
                      <a:srgbClr val="326CB2"/>
                    </a:solidFill>
                    <a:latin typeface="Cambria Math"/>
                    <a:ea typeface="Cambria Math"/>
                    <a:cs typeface="Cambria Math"/>
                  </a:defRPr>
                </a:pPr>
                <a14:m>
                  <m:oMathPara xmlns:m="http://schemas.openxmlformats.org/officeDocument/2006/math">
                    <m:oMath>
                      <m:f>
                        <m:fPr>
                          <m:ctrlPr>
                            <a:rPr lang="en-GB" sz="3200" dirty="0">
                              <a:solidFill>
                                <a:srgbClr val="5885B9"/>
                              </a:solidFill>
                              <a:latin typeface="Cambria Math"/>
                              <a:ea typeface="Cambria Math"/>
                              <a:cs typeface="Cambria Math"/>
                            </a:rPr>
                          </m:ctrlPr>
                        </m:fPr>
                        <m:num>
                          <m:r>
                            <a:rPr lang="en-GB" sz="3200" dirty="0">
                              <a:solidFill>
                                <a:srgbClr val="5885B9"/>
                              </a:solidFill>
                              <a:latin typeface="Cambria Math"/>
                              <a:ea typeface="Cambria Math"/>
                              <a:cs typeface="Cambria Math"/>
                            </a:rPr>
                            <m:t>𝜕</m:t>
                          </m:r>
                          <m:sSubSup>
                            <m:sSubSupPr>
                              <m:ctrlPr>
                                <a:rPr lang="en-GB" sz="3200" dirty="0">
                                  <a:solidFill>
                                    <a:srgbClr val="5885B9"/>
                                  </a:solidFill>
                                  <a:latin typeface="Cambria Math"/>
                                  <a:ea typeface="Cambria Math"/>
                                  <a:cs typeface="Cambria Math"/>
                                </a:rPr>
                              </m:ctrlPr>
                            </m:sSubSupPr>
                            <m:e>
                              <m:r>
                                <a:rPr lang="en-GB" sz="3200" dirty="0">
                                  <a:solidFill>
                                    <a:srgbClr val="5885B9"/>
                                  </a:solidFill>
                                  <a:latin typeface="Cambria Math"/>
                                  <a:ea typeface="Cambria Math"/>
                                  <a:cs typeface="Cambria Math"/>
                                </a:rPr>
                                <m:t>ℒ</m:t>
                              </m:r>
                            </m:e>
                            <m:sub>
                              <m:r>
                                <m:rPr>
                                  <m:sty m:val="p"/>
                                </m:rPr>
                                <a:rPr lang="en-GB" sz="3200" dirty="0">
                                  <a:solidFill>
                                    <a:srgbClr val="5885B9"/>
                                  </a:solidFill>
                                  <a:latin typeface="Cambria Math"/>
                                  <a:ea typeface="Cambria Math"/>
                                  <a:cs typeface="Cambria Math"/>
                                </a:rPr>
                                <m:t>sq</m:t>
                              </m:r>
                            </m:sub>
                            <m:sup>
                              <m:r>
                                <m:rPr>
                                  <m:sty m:val="p"/>
                                </m:rPr>
                                <a:rPr lang="en-GB" sz="3200" dirty="0">
                                  <a:solidFill>
                                    <a:srgbClr val="5885B9"/>
                                  </a:solidFill>
                                  <a:latin typeface="Cambria Math"/>
                                  <a:ea typeface="Cambria Math"/>
                                  <a:cs typeface="Cambria Math"/>
                                </a:rPr>
                                <m:t>aff</m:t>
                              </m:r>
                            </m:sup>
                          </m:sSubSup>
                        </m:num>
                        <m:den>
                          <m:r>
                            <a:rPr lang="en-GB" sz="3200" dirty="0">
                              <a:solidFill>
                                <a:srgbClr val="5885B9"/>
                              </a:solidFill>
                              <a:latin typeface="Cambria Math"/>
                              <a:ea typeface="Cambria Math"/>
                              <a:cs typeface="Cambria Math"/>
                            </a:rPr>
                            <m:t>𝜕</m:t>
                          </m:r>
                          <m:r>
                            <a:rPr lang="en-GB" sz="3200" dirty="0">
                              <a:solidFill>
                                <a:srgbClr val="5885B9"/>
                              </a:solidFill>
                              <a:latin typeface="Cambria Math"/>
                              <a:ea typeface="Cambria Math"/>
                              <a:cs typeface="Cambria Math"/>
                            </a:rPr>
                            <m:t>𝑎</m:t>
                          </m:r>
                        </m:den>
                      </m:f>
                      <m:d>
                        <m:dPr>
                          <m:ctrlPr>
                            <a:rPr lang="en-GB" sz="3200" dirty="0">
                              <a:solidFill>
                                <a:srgbClr val="5885B9"/>
                              </a:solidFill>
                              <a:latin typeface="Cambria Math"/>
                              <a:ea typeface="Cambria Math"/>
                              <a:cs typeface="Cambria Math"/>
                            </a:rPr>
                          </m:ctrlPr>
                        </m:dPr>
                        <m:e>
                          <m:r>
                            <a:rPr lang="en-GB" sz="3200" dirty="0">
                              <a:solidFill>
                                <a:srgbClr val="5885B9"/>
                              </a:solidFill>
                              <a:latin typeface="Cambria Math"/>
                              <a:ea typeface="Cambria Math"/>
                              <a:cs typeface="Cambria Math"/>
                            </a:rPr>
                            <m:t>𝑏</m:t>
                          </m:r>
                          <m:r>
                            <a:rPr lang="en-GB" sz="3200" dirty="0">
                              <a:solidFill>
                                <a:srgbClr val="5885B9"/>
                              </a:solidFill>
                              <a:latin typeface="Cambria Math"/>
                              <a:ea typeface="Cambria Math"/>
                              <a:cs typeface="Cambria Math"/>
                            </a:rPr>
                            <m:t>,</m:t>
                          </m:r>
                          <m:r>
                            <a:rPr lang="en-GB" sz="3200" dirty="0">
                              <a:solidFill>
                                <a:srgbClr val="5885B9"/>
                              </a:solidFill>
                              <a:latin typeface="Cambria Math"/>
                              <a:ea typeface="Cambria Math"/>
                              <a:cs typeface="Cambria Math"/>
                            </a:rPr>
                            <m:t>𝑎</m:t>
                          </m:r>
                        </m:e>
                      </m:d>
                      <m:r>
                        <a:rPr lang="it-IT" sz="3200" b="0" i="1" dirty="0" smtClean="0">
                          <a:solidFill>
                            <a:srgbClr val="5885B9"/>
                          </a:solidFill>
                          <a:latin typeface="Cambria Math" panose="02040503050406030204" pitchFamily="18" charset="0"/>
                          <a:ea typeface="Cambria Math"/>
                          <a:cs typeface="Cambria Math"/>
                        </a:rPr>
                        <m:t>=0  </m:t>
                      </m:r>
                      <m:r>
                        <a:rPr lang="it-IT" sz="3200" i="1" dirty="0">
                          <a:solidFill>
                            <a:srgbClr val="5885B9"/>
                          </a:solidFill>
                          <a:latin typeface="Cambria Math"/>
                        </a:rPr>
                        <m:t>⇔</m:t>
                      </m:r>
                      <m:r>
                        <a:rPr lang="it-IT" sz="3200" b="0" i="0" dirty="0" smtClean="0">
                          <a:solidFill>
                            <a:srgbClr val="5885B9"/>
                          </a:solidFill>
                          <a:latin typeface="Cambria Math" panose="02040503050406030204" pitchFamily="18" charset="0"/>
                        </a:rPr>
                        <m:t>  </m:t>
                      </m:r>
                      <m:r>
                        <a:rPr lang="en-GB" sz="2925" b="0" dirty="0" smtClean="0">
                          <a:solidFill>
                            <a:srgbClr val="FF0000"/>
                          </a:solidFill>
                          <a:latin typeface="Cambria Math"/>
                          <a:ea typeface="Cambria Math"/>
                          <a:cs typeface="Cambria Math"/>
                        </a:rPr>
                        <m:t>𝑏</m:t>
                      </m:r>
                      <m:nary>
                        <m:naryPr>
                          <m:chr m:val="∑"/>
                          <m:limLoc m:val="undOvr"/>
                          <m:ctrlPr>
                            <a:rPr lang="en-GB" sz="2925" b="0" dirty="0">
                              <a:solidFill>
                                <a:srgbClr val="326CB2"/>
                              </a:solidFill>
                              <a:latin typeface="Cambria Math"/>
                              <a:ea typeface="Cambria Math"/>
                              <a:cs typeface="Cambria Math"/>
                            </a:rPr>
                          </m:ctrlPr>
                        </m:naryPr>
                        <m:sub>
                          <m:r>
                            <a:rPr lang="en-GB" sz="2925" b="0" dirty="0">
                              <a:solidFill>
                                <a:srgbClr val="326CB2"/>
                              </a:solidFill>
                              <a:latin typeface="Cambria Math"/>
                              <a:ea typeface="Cambria Math"/>
                              <a:cs typeface="Cambria Math"/>
                            </a:rPr>
                            <m:t>𝑖</m:t>
                          </m:r>
                          <m:r>
                            <a:rPr lang="en-GB" sz="2925" b="0" dirty="0">
                              <a:solidFill>
                                <a:srgbClr val="326CB2"/>
                              </a:solidFill>
                              <a:latin typeface="Cambria Math"/>
                              <a:ea typeface="Cambria Math"/>
                              <a:cs typeface="Cambria Math"/>
                            </a:rPr>
                            <m:t>=1</m:t>
                          </m:r>
                        </m:sub>
                        <m:sup>
                          <m:r>
                            <a:rPr lang="en-GB" sz="2925" b="0" dirty="0">
                              <a:solidFill>
                                <a:srgbClr val="326CB2"/>
                              </a:solidFill>
                              <a:latin typeface="Cambria Math"/>
                              <a:ea typeface="Cambria Math"/>
                              <a:cs typeface="Cambria Math"/>
                            </a:rPr>
                            <m:t>𝑁</m:t>
                          </m:r>
                        </m:sup>
                        <m:e>
                          <m:sSub>
                            <m:sSubPr>
                              <m:ctrlPr>
                                <a:rPr lang="en-GB" sz="2925" b="0" dirty="0">
                                  <a:solidFill>
                                    <a:srgbClr val="326CB2"/>
                                  </a:solidFill>
                                  <a:latin typeface="Cambria Math"/>
                                  <a:ea typeface="Cambria Math"/>
                                  <a:cs typeface="Cambria Math"/>
                                </a:rPr>
                              </m:ctrlPr>
                            </m:sSubPr>
                            <m:e>
                              <m:r>
                                <a:rPr lang="en-GB" sz="2925" b="0" dirty="0">
                                  <a:solidFill>
                                    <a:srgbClr val="326CB2"/>
                                  </a:solidFill>
                                  <a:latin typeface="Cambria Math"/>
                                  <a:ea typeface="Cambria Math"/>
                                  <a:cs typeface="Cambria Math"/>
                                </a:rPr>
                                <m:t>𝑥</m:t>
                              </m:r>
                            </m:e>
                            <m:sub>
                              <m:r>
                                <a:rPr lang="en-GB" sz="2925" b="0" dirty="0">
                                  <a:solidFill>
                                    <a:srgbClr val="326CB2"/>
                                  </a:solidFill>
                                  <a:latin typeface="Cambria Math"/>
                                  <a:ea typeface="Cambria Math"/>
                                  <a:cs typeface="Cambria Math"/>
                                </a:rPr>
                                <m:t>𝑖</m:t>
                              </m:r>
                            </m:sub>
                          </m:sSub>
                        </m:e>
                      </m:nary>
                      <m:r>
                        <a:rPr lang="en-GB" sz="2925" b="0" dirty="0">
                          <a:solidFill>
                            <a:srgbClr val="326CB2"/>
                          </a:solidFill>
                          <a:latin typeface="Cambria Math"/>
                          <a:ea typeface="Cambria Math"/>
                          <a:cs typeface="Cambria Math"/>
                        </a:rPr>
                        <m:t>+</m:t>
                      </m:r>
                      <m:r>
                        <a:rPr lang="en-GB" sz="2925" b="0" dirty="0" smtClean="0">
                          <a:solidFill>
                            <a:srgbClr val="FF0000"/>
                          </a:solidFill>
                          <a:latin typeface="Cambria Math"/>
                          <a:ea typeface="Cambria Math"/>
                          <a:cs typeface="Cambria Math"/>
                        </a:rPr>
                        <m:t>𝑎</m:t>
                      </m:r>
                      <m:nary>
                        <m:naryPr>
                          <m:chr m:val="∑"/>
                          <m:limLoc m:val="undOvr"/>
                          <m:ctrlPr>
                            <a:rPr lang="en-GB" sz="2925" b="0" dirty="0">
                              <a:solidFill>
                                <a:srgbClr val="326CB2"/>
                              </a:solidFill>
                              <a:latin typeface="Cambria Math"/>
                              <a:ea typeface="Cambria Math"/>
                              <a:cs typeface="Cambria Math"/>
                            </a:rPr>
                          </m:ctrlPr>
                        </m:naryPr>
                        <m:sub>
                          <m:r>
                            <a:rPr lang="en-GB" sz="2925" b="0" dirty="0">
                              <a:solidFill>
                                <a:srgbClr val="326CB2"/>
                              </a:solidFill>
                              <a:latin typeface="Cambria Math"/>
                              <a:ea typeface="Cambria Math"/>
                              <a:cs typeface="Cambria Math"/>
                            </a:rPr>
                            <m:t>𝑖</m:t>
                          </m:r>
                          <m:r>
                            <a:rPr lang="en-GB" sz="2925" b="0" dirty="0">
                              <a:solidFill>
                                <a:srgbClr val="326CB2"/>
                              </a:solidFill>
                              <a:latin typeface="Cambria Math"/>
                              <a:ea typeface="Cambria Math"/>
                              <a:cs typeface="Cambria Math"/>
                            </a:rPr>
                            <m:t>=1</m:t>
                          </m:r>
                        </m:sub>
                        <m:sup>
                          <m:r>
                            <a:rPr lang="en-GB" sz="2925" b="0" dirty="0">
                              <a:solidFill>
                                <a:srgbClr val="326CB2"/>
                              </a:solidFill>
                              <a:latin typeface="Cambria Math"/>
                              <a:ea typeface="Cambria Math"/>
                              <a:cs typeface="Cambria Math"/>
                            </a:rPr>
                            <m:t>𝑁</m:t>
                          </m:r>
                        </m:sup>
                        <m:e>
                          <m:sSubSup>
                            <m:sSubSupPr>
                              <m:ctrlPr>
                                <a:rPr lang="en-GB" sz="2925" b="0" dirty="0">
                                  <a:solidFill>
                                    <a:srgbClr val="326CB2"/>
                                  </a:solidFill>
                                  <a:latin typeface="Cambria Math"/>
                                  <a:ea typeface="Cambria Math"/>
                                  <a:cs typeface="Cambria Math"/>
                                </a:rPr>
                              </m:ctrlPr>
                            </m:sSubSupPr>
                            <m:e>
                              <m:r>
                                <a:rPr lang="en-GB" sz="2925" b="0" dirty="0">
                                  <a:solidFill>
                                    <a:srgbClr val="326CB2"/>
                                  </a:solidFill>
                                  <a:latin typeface="Cambria Math"/>
                                  <a:ea typeface="Cambria Math"/>
                                  <a:cs typeface="Cambria Math"/>
                                </a:rPr>
                                <m:t>𝑥</m:t>
                              </m:r>
                            </m:e>
                            <m:sub>
                              <m:r>
                                <a:rPr lang="en-GB" sz="2925" b="0" dirty="0">
                                  <a:solidFill>
                                    <a:srgbClr val="326CB2"/>
                                  </a:solidFill>
                                  <a:latin typeface="Cambria Math"/>
                                  <a:ea typeface="Cambria Math"/>
                                  <a:cs typeface="Cambria Math"/>
                                </a:rPr>
                                <m:t>𝑖</m:t>
                              </m:r>
                            </m:sub>
                            <m:sup>
                              <m:r>
                                <a:rPr lang="en-GB" sz="2925" b="0" dirty="0">
                                  <a:solidFill>
                                    <a:srgbClr val="326CB2"/>
                                  </a:solidFill>
                                  <a:latin typeface="Cambria Math"/>
                                  <a:ea typeface="Cambria Math"/>
                                  <a:cs typeface="Cambria Math"/>
                                </a:rPr>
                                <m:t>2</m:t>
                              </m:r>
                            </m:sup>
                          </m:sSubSup>
                        </m:e>
                      </m:nary>
                      <m:r>
                        <a:rPr lang="en-GB" sz="2925" b="0" dirty="0">
                          <a:solidFill>
                            <a:srgbClr val="326CB2"/>
                          </a:solidFill>
                          <a:latin typeface="Cambria Math"/>
                          <a:ea typeface="Cambria Math"/>
                          <a:cs typeface="Cambria Math"/>
                        </a:rPr>
                        <m:t>=</m:t>
                      </m:r>
                      <m:nary>
                        <m:naryPr>
                          <m:chr m:val="∑"/>
                          <m:limLoc m:val="undOvr"/>
                          <m:ctrlPr>
                            <a:rPr lang="en-GB" sz="2925" b="0" dirty="0">
                              <a:solidFill>
                                <a:srgbClr val="326CB2"/>
                              </a:solidFill>
                              <a:latin typeface="Cambria Math"/>
                              <a:ea typeface="Cambria Math"/>
                              <a:cs typeface="Cambria Math"/>
                            </a:rPr>
                          </m:ctrlPr>
                        </m:naryPr>
                        <m:sub>
                          <m:r>
                            <a:rPr lang="en-GB" sz="2925" b="0" dirty="0">
                              <a:solidFill>
                                <a:srgbClr val="326CB2"/>
                              </a:solidFill>
                              <a:latin typeface="Cambria Math"/>
                              <a:ea typeface="Cambria Math"/>
                              <a:cs typeface="Cambria Math"/>
                            </a:rPr>
                            <m:t>𝑖</m:t>
                          </m:r>
                          <m:r>
                            <a:rPr lang="en-GB" sz="2925" b="0" dirty="0">
                              <a:solidFill>
                                <a:srgbClr val="326CB2"/>
                              </a:solidFill>
                              <a:latin typeface="Cambria Math"/>
                              <a:ea typeface="Cambria Math"/>
                              <a:cs typeface="Cambria Math"/>
                            </a:rPr>
                            <m:t>=1</m:t>
                          </m:r>
                        </m:sub>
                        <m:sup>
                          <m:r>
                            <a:rPr lang="en-GB" sz="2925" b="0" dirty="0">
                              <a:solidFill>
                                <a:srgbClr val="326CB2"/>
                              </a:solidFill>
                              <a:latin typeface="Cambria Math"/>
                              <a:ea typeface="Cambria Math"/>
                              <a:cs typeface="Cambria Math"/>
                            </a:rPr>
                            <m:t>𝑁</m:t>
                          </m:r>
                        </m:sup>
                        <m:e>
                          <m:sSub>
                            <m:sSubPr>
                              <m:ctrlPr>
                                <a:rPr lang="en-GB" sz="2925" b="0" dirty="0">
                                  <a:solidFill>
                                    <a:srgbClr val="326CB2"/>
                                  </a:solidFill>
                                  <a:latin typeface="Cambria Math"/>
                                  <a:ea typeface="Cambria Math"/>
                                  <a:cs typeface="Cambria Math"/>
                                </a:rPr>
                              </m:ctrlPr>
                            </m:sSubPr>
                            <m:e>
                              <m:r>
                                <a:rPr lang="en-GB" sz="2925" b="0" dirty="0">
                                  <a:solidFill>
                                    <a:srgbClr val="326CB2"/>
                                  </a:solidFill>
                                  <a:latin typeface="Cambria Math"/>
                                  <a:ea typeface="Cambria Math"/>
                                  <a:cs typeface="Cambria Math"/>
                                </a:rPr>
                                <m:t>𝑥</m:t>
                              </m:r>
                            </m:e>
                            <m:sub>
                              <m:r>
                                <a:rPr lang="en-GB" sz="2925" b="0" dirty="0">
                                  <a:solidFill>
                                    <a:srgbClr val="326CB2"/>
                                  </a:solidFill>
                                  <a:latin typeface="Cambria Math"/>
                                  <a:ea typeface="Cambria Math"/>
                                  <a:cs typeface="Cambria Math"/>
                                </a:rPr>
                                <m:t>𝑖</m:t>
                              </m:r>
                            </m:sub>
                          </m:sSub>
                          <m:sSub>
                            <m:sSubPr>
                              <m:ctrlPr>
                                <a:rPr lang="en-GB" sz="2925" dirty="0">
                                  <a:solidFill>
                                    <a:srgbClr val="326CB2"/>
                                  </a:solidFill>
                                  <a:latin typeface="Cambria Math"/>
                                  <a:ea typeface="Cambria Math"/>
                                  <a:cs typeface="Cambria Math"/>
                                </a:rPr>
                              </m:ctrlPr>
                            </m:sSubPr>
                            <m:e>
                              <m:r>
                                <a:rPr lang="en-GB" sz="2925" dirty="0">
                                  <a:solidFill>
                                    <a:srgbClr val="326CB2"/>
                                  </a:solidFill>
                                  <a:latin typeface="Cambria Math"/>
                                  <a:ea typeface="Cambria Math"/>
                                  <a:cs typeface="Cambria Math"/>
                                </a:rPr>
                                <m:t>𝑦</m:t>
                              </m:r>
                            </m:e>
                            <m:sub>
                              <m:r>
                                <a:rPr lang="en-GB" sz="2925" dirty="0">
                                  <a:solidFill>
                                    <a:srgbClr val="326CB2"/>
                                  </a:solidFill>
                                  <a:latin typeface="Cambria Math"/>
                                  <a:ea typeface="Cambria Math"/>
                                  <a:cs typeface="Cambria Math"/>
                                </a:rPr>
                                <m:t>𝑖</m:t>
                              </m:r>
                            </m:sub>
                          </m:sSub>
                        </m:e>
                      </m:nary>
                      <m:r>
                        <a:rPr lang="it-IT" sz="2925" b="0" i="1" dirty="0" smtClean="0">
                          <a:solidFill>
                            <a:srgbClr val="326CB2"/>
                          </a:solidFill>
                          <a:latin typeface="Cambria Math" panose="02040503050406030204" pitchFamily="18" charset="0"/>
                          <a:ea typeface="Cambria Math"/>
                          <a:cs typeface="Cambria Math"/>
                        </a:rPr>
                        <m:t> </m:t>
                      </m:r>
                    </m:oMath>
                  </m:oMathPara>
                </a14:m>
                <a:endParaRPr lang="en-GB" sz="2925" b="0" i="0" dirty="0">
                  <a:solidFill>
                    <a:srgbClr val="326CB2"/>
                  </a:solidFill>
                  <a:latin typeface="Cambria Math"/>
                  <a:ea typeface="Cambria Math"/>
                  <a:cs typeface="Cambria Math"/>
                </a:endParaRPr>
              </a:p>
            </p:txBody>
          </p:sp>
        </mc:Choice>
        <mc:Fallback xmlns="">
          <p:sp>
            <p:nvSpPr>
              <p:cNvPr id="5" name="eq_86">
                <a:extLst>
                  <a:ext uri="{FF2B5EF4-FFF2-40B4-BE49-F238E27FC236}">
                    <a16:creationId xmlns:a16="http://schemas.microsoft.com/office/drawing/2014/main" id="{29E4EF07-980A-484E-B41E-FF9610EA884F}"/>
                  </a:ext>
                </a:extLst>
              </p:cNvPr>
              <p:cNvSpPr txBox="1">
                <a:spLocks noGrp="1" noRot="1" noChangeAspect="1" noMove="1" noResize="1" noEditPoints="1" noAdjustHandles="1" noChangeArrowheads="1" noChangeShapeType="1" noTextEdit="1"/>
              </p:cNvSpPr>
              <p:nvPr/>
            </p:nvSpPr>
            <p:spPr>
              <a:xfrm>
                <a:off x="609600" y="3962400"/>
                <a:ext cx="10953750" cy="1219200"/>
              </a:xfrm>
              <a:prstGeom prst="rect">
                <a:avLst/>
              </a:prstGeom>
              <a:blipFill>
                <a:blip r:embed="rId5"/>
                <a:stretch>
                  <a:fillRect b="-65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xt_87">
                <a:extLst>
                  <a:ext uri="{FF2B5EF4-FFF2-40B4-BE49-F238E27FC236}">
                    <a16:creationId xmlns:a16="http://schemas.microsoft.com/office/drawing/2014/main" id="{F6BFA5C3-F770-4CDA-AA35-C49304AD3A59}"/>
                  </a:ext>
                </a:extLst>
              </p:cNvPr>
              <p:cNvSpPr txBox="1">
                <a:spLocks noGrp="1"/>
              </p:cNvSpPr>
              <p:nvPr/>
            </p:nvSpPr>
            <p:spPr>
              <a:xfrm>
                <a:off x="609600" y="5819775"/>
                <a:ext cx="10953750" cy="49530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526276"/>
                    </a:solidFill>
                    <a:latin typeface="DejaVu Sans"/>
                    <a:ea typeface="DejaVu Sans"/>
                    <a:cs typeface="DejaVu Sans"/>
                  </a:defRPr>
                </a:pPr>
                <a:r>
                  <a:rPr lang="en-GB" sz="2100" b="0" i="0" dirty="0">
                    <a:solidFill>
                      <a:srgbClr val="526276"/>
                    </a:solidFill>
                    <a:latin typeface="DejaVu Sans"/>
                    <a:ea typeface="DejaVu Sans"/>
                    <a:cs typeface="DejaVu Sans"/>
                  </a:rPr>
                  <a:t>This is a </a:t>
                </a:r>
                <a:r>
                  <a:rPr lang="en-GB" sz="2100" b="0" i="0" dirty="0">
                    <a:solidFill>
                      <a:srgbClr val="FF0000"/>
                    </a:solidFill>
                    <a:latin typeface="DejaVu Sans"/>
                    <a:ea typeface="DejaVu Sans"/>
                    <a:cs typeface="DejaVu Sans"/>
                  </a:rPr>
                  <a:t>linear system</a:t>
                </a:r>
                <a:r>
                  <a:rPr lang="en-GB" sz="2100" b="0" i="0" dirty="0">
                    <a:solidFill>
                      <a:srgbClr val="526276"/>
                    </a:solidFill>
                    <a:latin typeface="DejaVu Sans"/>
                    <a:ea typeface="DejaVu Sans"/>
                    <a:cs typeface="DejaVu Sans"/>
                  </a:rPr>
                  <a:t> in the </a:t>
                </a:r>
                <a:r>
                  <a:rPr lang="en-GB" sz="2100" b="0" i="0" dirty="0">
                    <a:solidFill>
                      <a:srgbClr val="FF0000"/>
                    </a:solidFill>
                    <a:latin typeface="DejaVu Sans"/>
                    <a:ea typeface="DejaVu Sans"/>
                    <a:cs typeface="DejaVu Sans"/>
                  </a:rPr>
                  <a:t>unknowns </a:t>
                </a:r>
                <a14:m>
                  <m:oMath xmlns:m="http://schemas.openxmlformats.org/officeDocument/2006/math">
                    <m:r>
                      <a:rPr lang="en-GB" sz="2100" b="0" dirty="0">
                        <a:solidFill>
                          <a:srgbClr val="FF0000"/>
                        </a:solidFill>
                        <a:latin typeface="Cambria Math"/>
                        <a:ea typeface="Cambria Math"/>
                        <a:cs typeface="Cambria Math"/>
                      </a:rPr>
                      <m:t>𝑏</m:t>
                    </m:r>
                  </m:oMath>
                </a14:m>
                <a:r>
                  <a:rPr lang="en-GB" sz="2100" b="0" i="0" dirty="0">
                    <a:solidFill>
                      <a:srgbClr val="FF0000"/>
                    </a:solidFill>
                    <a:latin typeface="DejaVu Sans"/>
                    <a:ea typeface="DejaVu Sans"/>
                    <a:cs typeface="DejaVu Sans"/>
                  </a:rPr>
                  <a:t> and </a:t>
                </a:r>
                <a14:m>
                  <m:oMath xmlns:m="http://schemas.openxmlformats.org/officeDocument/2006/math">
                    <m:r>
                      <a:rPr lang="en-GB" sz="2100" b="0" dirty="0">
                        <a:solidFill>
                          <a:srgbClr val="FF0000"/>
                        </a:solidFill>
                        <a:latin typeface="Cambria Math"/>
                        <a:ea typeface="Cambria Math"/>
                        <a:cs typeface="Cambria Math"/>
                      </a:rPr>
                      <m:t>𝑎</m:t>
                    </m:r>
                  </m:oMath>
                </a14:m>
                <a:r>
                  <a:rPr lang="en-GB" sz="2100" b="0" i="0" dirty="0">
                    <a:solidFill>
                      <a:srgbClr val="526276"/>
                    </a:solidFill>
                    <a:latin typeface="DejaVu Sans"/>
                    <a:ea typeface="DejaVu Sans"/>
                    <a:cs typeface="DejaVu Sans"/>
                  </a:rPr>
                  <a:t>.</a:t>
                </a:r>
              </a:p>
            </p:txBody>
          </p:sp>
        </mc:Choice>
        <mc:Fallback xmlns="">
          <p:sp>
            <p:nvSpPr>
              <p:cNvPr id="6" name="txt_87">
                <a:extLst>
                  <a:ext uri="{FF2B5EF4-FFF2-40B4-BE49-F238E27FC236}">
                    <a16:creationId xmlns:a16="http://schemas.microsoft.com/office/drawing/2014/main" id="{F6BFA5C3-F770-4CDA-AA35-C49304AD3A59}"/>
                  </a:ext>
                </a:extLst>
              </p:cNvPr>
              <p:cNvSpPr txBox="1">
                <a:spLocks noGrp="1" noRot="1" noChangeAspect="1" noMove="1" noResize="1" noEditPoints="1" noAdjustHandles="1" noChangeArrowheads="1" noChangeShapeType="1" noTextEdit="1"/>
              </p:cNvSpPr>
              <p:nvPr/>
            </p:nvSpPr>
            <p:spPr>
              <a:xfrm>
                <a:off x="609600" y="5819775"/>
                <a:ext cx="10953750" cy="495300"/>
              </a:xfrm>
              <a:prstGeom prst="rect">
                <a:avLst/>
              </a:prstGeom>
              <a:blipFill>
                <a:blip r:embed="rId6"/>
                <a:stretch>
                  <a:fillRect t="-18519"/>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862685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A432092C-4B0E-4AC1-BE55-9EF755C6A542}"/>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Solving the system</a:t>
            </a:r>
          </a:p>
        </p:txBody>
      </p:sp>
      <p:sp>
        <p:nvSpPr>
          <p:cNvPr id="2" name="page_number">
            <a:extLst>
              <a:ext uri="{FF2B5EF4-FFF2-40B4-BE49-F238E27FC236}">
                <a16:creationId xmlns:a16="http://schemas.microsoft.com/office/drawing/2014/main" id="{77988378-5641-4FB0-B69F-3B2D30388CD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24</a:t>
            </a:r>
          </a:p>
        </p:txBody>
      </p:sp>
      <mc:AlternateContent xmlns:mc="http://schemas.openxmlformats.org/markup-compatibility/2006" xmlns:a14="http://schemas.microsoft.com/office/drawing/2010/main">
        <mc:Choice Requires="a14">
          <p:sp>
            <p:nvSpPr>
              <p:cNvPr id="3" name="eq_88">
                <a:extLst>
                  <a:ext uri="{FF2B5EF4-FFF2-40B4-BE49-F238E27FC236}">
                    <a16:creationId xmlns:a16="http://schemas.microsoft.com/office/drawing/2014/main" id="{B3818A67-D9E0-438B-A6C9-6F9CC75EEF23}"/>
                  </a:ext>
                </a:extLst>
              </p:cNvPr>
              <p:cNvSpPr txBox="1">
                <a:spLocks noGrp="1"/>
              </p:cNvSpPr>
              <p:nvPr/>
            </p:nvSpPr>
            <p:spPr>
              <a:xfrm>
                <a:off x="685800" y="1771650"/>
                <a:ext cx="10953750" cy="904875"/>
              </a:xfrm>
              <a:prstGeom prst="rect">
                <a:avLst/>
              </a:prstGeom>
              <a:noFill/>
              <a:ln w="0">
                <a:noFill/>
              </a:ln>
            </p:spPr>
            <p:txBody>
              <a:bodyPr vertOverflow="overflow" wrap="none" lIns="0" tIns="0" rIns="0" bIns="0" anchor="t">
                <a:noAutofit/>
              </a:bodyPr>
              <a:lstStyle/>
              <a:p>
                <a:pPr marL="0" marR="0" indent="0" algn="ctr">
                  <a:defRPr lang="en-GB" sz="2475" b="0" i="0" dirty="0">
                    <a:solidFill>
                      <a:srgbClr val="182D45"/>
                    </a:solidFill>
                    <a:latin typeface="Cambria Math"/>
                    <a:ea typeface="Cambria Math"/>
                    <a:cs typeface="Cambria Math"/>
                  </a:defRPr>
                </a:pPr>
                <a14:m>
                  <m:oMathPara xmlns:m="http://schemas.openxmlformats.org/officeDocument/2006/math">
                    <m:oMath>
                      <m:bar>
                        <m:barPr>
                          <m:pos m:val="top"/>
                          <m:ctrlPr>
                            <a:rPr lang="en-GB" sz="2475" b="0" dirty="0">
                              <a:solidFill>
                                <a:srgbClr val="182D45"/>
                              </a:solidFill>
                              <a:latin typeface="Cambria Math"/>
                              <a:ea typeface="Cambria Math"/>
                              <a:cs typeface="Cambria Math"/>
                            </a:rPr>
                          </m:ctrlPr>
                        </m:barPr>
                        <m:e>
                          <m:r>
                            <a:rPr lang="en-GB" sz="2475" b="0" dirty="0">
                              <a:solidFill>
                                <a:srgbClr val="182D45"/>
                              </a:solidFill>
                              <a:latin typeface="Cambria Math"/>
                              <a:ea typeface="Cambria Math"/>
                              <a:cs typeface="Cambria Math"/>
                            </a:rPr>
                            <m:t>𝑥</m:t>
                          </m:r>
                        </m:e>
                      </m:bar>
                      <m:r>
                        <a:rPr lang="en-GB" sz="2475" b="0" dirty="0">
                          <a:solidFill>
                            <a:srgbClr val="182D45"/>
                          </a:solidFill>
                          <a:latin typeface="Cambria Math"/>
                          <a:ea typeface="Cambria Math"/>
                          <a:cs typeface="Cambria Math"/>
                        </a:rPr>
                        <m:t>=</m:t>
                      </m:r>
                      <m:f>
                        <m:fPr>
                          <m:ctrlPr>
                            <a:rPr lang="en-GB" sz="2475" b="0" dirty="0">
                              <a:solidFill>
                                <a:srgbClr val="182D45"/>
                              </a:solidFill>
                              <a:latin typeface="Cambria Math"/>
                              <a:ea typeface="Cambria Math"/>
                              <a:cs typeface="Cambria Math"/>
                            </a:rPr>
                          </m:ctrlPr>
                        </m:fPr>
                        <m:num>
                          <m:r>
                            <a:rPr lang="en-GB" sz="2475" b="0" dirty="0">
                              <a:solidFill>
                                <a:srgbClr val="182D45"/>
                              </a:solidFill>
                              <a:latin typeface="Cambria Math"/>
                              <a:ea typeface="Cambria Math"/>
                              <a:cs typeface="Cambria Math"/>
                            </a:rPr>
                            <m:t>1</m:t>
                          </m:r>
                        </m:num>
                        <m:den>
                          <m:r>
                            <a:rPr lang="en-GB" sz="2475" b="0" dirty="0">
                              <a:solidFill>
                                <a:srgbClr val="182D45"/>
                              </a:solidFill>
                              <a:latin typeface="Cambria Math"/>
                              <a:ea typeface="Cambria Math"/>
                              <a:cs typeface="Cambria Math"/>
                            </a:rPr>
                            <m:t>𝑁</m:t>
                          </m:r>
                        </m:den>
                      </m:f>
                      <m:nary>
                        <m:naryPr>
                          <m:chr m:val="∑"/>
                          <m:limLoc m:val="undOvr"/>
                          <m:ctrlPr>
                            <a:rPr lang="en-GB" sz="2475" b="0" dirty="0">
                              <a:solidFill>
                                <a:srgbClr val="182D45"/>
                              </a:solidFill>
                              <a:latin typeface="Cambria Math"/>
                              <a:ea typeface="Cambria Math"/>
                              <a:cs typeface="Cambria Math"/>
                            </a:rPr>
                          </m:ctrlPr>
                        </m:naryPr>
                        <m:sub>
                          <m:r>
                            <a:rPr lang="en-GB" sz="2475" b="0" dirty="0">
                              <a:solidFill>
                                <a:srgbClr val="182D45"/>
                              </a:solidFill>
                              <a:latin typeface="Cambria Math"/>
                              <a:ea typeface="Cambria Math"/>
                              <a:cs typeface="Cambria Math"/>
                            </a:rPr>
                            <m:t>𝑖</m:t>
                          </m:r>
                          <m:r>
                            <a:rPr lang="en-GB" sz="2475" b="0" dirty="0">
                              <a:solidFill>
                                <a:srgbClr val="182D45"/>
                              </a:solidFill>
                              <a:latin typeface="Cambria Math"/>
                              <a:ea typeface="Cambria Math"/>
                              <a:cs typeface="Cambria Math"/>
                            </a:rPr>
                            <m:t>=1</m:t>
                          </m:r>
                        </m:sub>
                        <m:sup>
                          <m:r>
                            <a:rPr lang="en-GB" sz="2475" b="0" dirty="0">
                              <a:solidFill>
                                <a:srgbClr val="182D45"/>
                              </a:solidFill>
                              <a:latin typeface="Cambria Math"/>
                              <a:ea typeface="Cambria Math"/>
                              <a:cs typeface="Cambria Math"/>
                            </a:rPr>
                            <m:t>𝑁</m:t>
                          </m:r>
                        </m:sup>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𝑖</m:t>
                              </m:r>
                            </m:sub>
                          </m:sSub>
                        </m:e>
                      </m:nary>
                      <m:r>
                        <a:rPr lang="en-GB" sz="2475" b="0" dirty="0">
                          <a:solidFill>
                            <a:srgbClr val="182D45"/>
                          </a:solidFill>
                          <a:latin typeface="Cambria Math"/>
                          <a:ea typeface="Cambria Math"/>
                          <a:cs typeface="Cambria Math"/>
                        </a:rPr>
                        <m:t>,  </m:t>
                      </m:r>
                      <m:bar>
                        <m:barPr>
                          <m:pos m:val="top"/>
                          <m:ctrlPr>
                            <a:rPr lang="en-GB" sz="2475" b="0" dirty="0">
                              <a:solidFill>
                                <a:srgbClr val="182D45"/>
                              </a:solidFill>
                              <a:latin typeface="Cambria Math"/>
                              <a:ea typeface="Cambria Math"/>
                              <a:cs typeface="Cambria Math"/>
                            </a:rPr>
                          </m:ctrlPr>
                        </m:barPr>
                        <m:e>
                          <m:r>
                            <a:rPr lang="en-GB" sz="2475" b="0" dirty="0">
                              <a:solidFill>
                                <a:srgbClr val="182D45"/>
                              </a:solidFill>
                              <a:latin typeface="Cambria Math"/>
                              <a:ea typeface="Cambria Math"/>
                              <a:cs typeface="Cambria Math"/>
                            </a:rPr>
                            <m:t>𝑦</m:t>
                          </m:r>
                        </m:e>
                      </m:bar>
                      <m:r>
                        <a:rPr lang="en-GB" sz="2475" b="0" dirty="0">
                          <a:solidFill>
                            <a:srgbClr val="182D45"/>
                          </a:solidFill>
                          <a:latin typeface="Cambria Math"/>
                          <a:ea typeface="Cambria Math"/>
                          <a:cs typeface="Cambria Math"/>
                        </a:rPr>
                        <m:t>=</m:t>
                      </m:r>
                      <m:f>
                        <m:fPr>
                          <m:ctrlPr>
                            <a:rPr lang="en-GB" sz="2475" b="0" dirty="0">
                              <a:solidFill>
                                <a:srgbClr val="182D45"/>
                              </a:solidFill>
                              <a:latin typeface="Cambria Math"/>
                              <a:ea typeface="Cambria Math"/>
                              <a:cs typeface="Cambria Math"/>
                            </a:rPr>
                          </m:ctrlPr>
                        </m:fPr>
                        <m:num>
                          <m:r>
                            <a:rPr lang="en-GB" sz="2475" b="0" dirty="0">
                              <a:solidFill>
                                <a:srgbClr val="182D45"/>
                              </a:solidFill>
                              <a:latin typeface="Cambria Math"/>
                              <a:ea typeface="Cambria Math"/>
                              <a:cs typeface="Cambria Math"/>
                            </a:rPr>
                            <m:t>1</m:t>
                          </m:r>
                        </m:num>
                        <m:den>
                          <m:r>
                            <a:rPr lang="en-GB" sz="2475" b="0" dirty="0">
                              <a:solidFill>
                                <a:srgbClr val="182D45"/>
                              </a:solidFill>
                              <a:latin typeface="Cambria Math"/>
                              <a:ea typeface="Cambria Math"/>
                              <a:cs typeface="Cambria Math"/>
                            </a:rPr>
                            <m:t>𝑁</m:t>
                          </m:r>
                        </m:den>
                      </m:f>
                      <m:nary>
                        <m:naryPr>
                          <m:chr m:val="∑"/>
                          <m:limLoc m:val="undOvr"/>
                          <m:ctrlPr>
                            <a:rPr lang="en-GB" sz="2475" b="0" dirty="0">
                              <a:solidFill>
                                <a:srgbClr val="182D45"/>
                              </a:solidFill>
                              <a:latin typeface="Cambria Math"/>
                              <a:ea typeface="Cambria Math"/>
                              <a:cs typeface="Cambria Math"/>
                            </a:rPr>
                          </m:ctrlPr>
                        </m:naryPr>
                        <m:sub>
                          <m:r>
                            <a:rPr lang="en-GB" sz="2475" b="0" dirty="0">
                              <a:solidFill>
                                <a:srgbClr val="182D45"/>
                              </a:solidFill>
                              <a:latin typeface="Cambria Math"/>
                              <a:ea typeface="Cambria Math"/>
                              <a:cs typeface="Cambria Math"/>
                            </a:rPr>
                            <m:t>𝑖</m:t>
                          </m:r>
                          <m:r>
                            <a:rPr lang="en-GB" sz="2475" b="0" dirty="0">
                              <a:solidFill>
                                <a:srgbClr val="182D45"/>
                              </a:solidFill>
                              <a:latin typeface="Cambria Math"/>
                              <a:ea typeface="Cambria Math"/>
                              <a:cs typeface="Cambria Math"/>
                            </a:rPr>
                            <m:t>=1</m:t>
                          </m:r>
                        </m:sub>
                        <m:sup>
                          <m:r>
                            <a:rPr lang="en-GB" sz="2475" b="0" dirty="0">
                              <a:solidFill>
                                <a:srgbClr val="182D45"/>
                              </a:solidFill>
                              <a:latin typeface="Cambria Math"/>
                              <a:ea typeface="Cambria Math"/>
                              <a:cs typeface="Cambria Math"/>
                            </a:rPr>
                            <m:t>𝑁</m:t>
                          </m:r>
                        </m:sup>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𝑦</m:t>
                              </m:r>
                            </m:e>
                            <m:sub>
                              <m:r>
                                <a:rPr lang="en-GB" sz="2475" b="0" dirty="0">
                                  <a:solidFill>
                                    <a:srgbClr val="182D45"/>
                                  </a:solidFill>
                                  <a:latin typeface="Cambria Math"/>
                                  <a:ea typeface="Cambria Math"/>
                                  <a:cs typeface="Cambria Math"/>
                                </a:rPr>
                                <m:t>𝑖</m:t>
                              </m:r>
                            </m:sub>
                          </m:sSub>
                        </m:e>
                      </m:nary>
                    </m:oMath>
                  </m:oMathPara>
                </a14:m>
                <a:endParaRPr lang="en-GB" sz="2475" b="0" i="0" dirty="0">
                  <a:solidFill>
                    <a:srgbClr val="182D45"/>
                  </a:solidFill>
                  <a:latin typeface="Cambria Math"/>
                  <a:ea typeface="Cambria Math"/>
                  <a:cs typeface="Cambria Math"/>
                </a:endParaRPr>
              </a:p>
            </p:txBody>
          </p:sp>
        </mc:Choice>
        <mc:Fallback xmlns="">
          <p:sp>
            <p:nvSpPr>
              <p:cNvPr id="3" name="eq_88">
                <a:extLst>
                  <a:ext uri="{FF2B5EF4-FFF2-40B4-BE49-F238E27FC236}">
                    <a16:creationId xmlns:a16="http://schemas.microsoft.com/office/drawing/2014/main" id="{B3818A67-D9E0-438B-A6C9-6F9CC75EEF23}"/>
                  </a:ext>
                </a:extLst>
              </p:cNvPr>
              <p:cNvSpPr txBox="1">
                <a:spLocks noGrp="1" noRot="1" noChangeAspect="1" noMove="1" noResize="1" noEditPoints="1" noAdjustHandles="1" noChangeArrowheads="1" noChangeShapeType="1" noTextEdit="1"/>
              </p:cNvSpPr>
              <p:nvPr/>
            </p:nvSpPr>
            <p:spPr>
              <a:xfrm>
                <a:off x="685800" y="1771650"/>
                <a:ext cx="10953750" cy="904875"/>
              </a:xfrm>
              <a:prstGeom prst="rect">
                <a:avLst/>
              </a:prstGeom>
              <a:blipFill>
                <a:blip r:embed="rId3"/>
                <a:stretch>
                  <a:fillRect b="-17568"/>
                </a:stretch>
              </a:blipFill>
              <a:ln w="0">
                <a:noFill/>
              </a:ln>
            </p:spPr>
            <p:txBody>
              <a:bodyPr/>
              <a:lstStyle/>
              <a:p>
                <a:r>
                  <a:rPr lang="it-IT">
                    <a:noFill/>
                  </a:rPr>
                  <a:t> </a:t>
                </a:r>
              </a:p>
            </p:txBody>
          </p:sp>
        </mc:Fallback>
      </mc:AlternateContent>
      <p:sp>
        <p:nvSpPr>
          <p:cNvPr id="9" name="txt_89">
            <a:extLst>
              <a:ext uri="{FF2B5EF4-FFF2-40B4-BE49-F238E27FC236}">
                <a16:creationId xmlns:a16="http://schemas.microsoft.com/office/drawing/2014/main" id="{93409BE4-CF3A-313A-7454-21C91B553906}"/>
              </a:ext>
            </a:extLst>
          </p:cNvPr>
          <p:cNvSpPr>
            <a:spLocks noGrp="1"/>
          </p:cNvSpPr>
          <p:nvPr/>
        </p:nvSpPr>
        <p:spPr>
          <a:xfrm>
            <a:off x="619125" y="1235868"/>
            <a:ext cx="10953750" cy="447675"/>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Define the empirical means</a:t>
            </a:r>
          </a:p>
        </p:txBody>
      </p:sp>
    </p:spTree>
    <p:extLst>
      <p:ext uri="{BB962C8B-B14F-4D97-AF65-F5344CB8AC3E}">
        <p14:creationId xmlns:p14="http://schemas.microsoft.com/office/powerpoint/2010/main" val="1545301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9F5567-F96B-6585-0799-8AD07D05FD1A}"/>
            </a:ext>
          </a:extLst>
        </p:cNvPr>
        <p:cNvGrpSpPr/>
        <p:nvPr/>
      </p:nvGrpSpPr>
      <p:grpSpPr>
        <a:xfrm>
          <a:off x="0" y="0"/>
          <a:ext cx="0" cy="0"/>
          <a:chOff x="0" y="0"/>
          <a:chExt cx="0" cy="0"/>
        </a:xfrm>
      </p:grpSpPr>
      <p:sp>
        <p:nvSpPr>
          <p:cNvPr id="7" name="title">
            <a:extLst>
              <a:ext uri="{FF2B5EF4-FFF2-40B4-BE49-F238E27FC236}">
                <a16:creationId xmlns:a16="http://schemas.microsoft.com/office/drawing/2014/main" id="{48600061-6578-F6C4-E786-9A898ABAE165}"/>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stationarity equations</a:t>
            </a:r>
          </a:p>
        </p:txBody>
      </p:sp>
      <p:sp>
        <p:nvSpPr>
          <p:cNvPr id="2" name="page_number">
            <a:extLst>
              <a:ext uri="{FF2B5EF4-FFF2-40B4-BE49-F238E27FC236}">
                <a16:creationId xmlns:a16="http://schemas.microsoft.com/office/drawing/2014/main" id="{6B562628-1A0B-458B-DE27-F7152D370A1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25</a:t>
            </a:r>
          </a:p>
        </p:txBody>
      </p:sp>
      <mc:AlternateContent xmlns:mc="http://schemas.openxmlformats.org/markup-compatibility/2006" xmlns:a14="http://schemas.microsoft.com/office/drawing/2010/main">
        <mc:Choice Requires="a14">
          <p:sp>
            <p:nvSpPr>
              <p:cNvPr id="3" name="txt_84">
                <a:extLst>
                  <a:ext uri="{FF2B5EF4-FFF2-40B4-BE49-F238E27FC236}">
                    <a16:creationId xmlns:a16="http://schemas.microsoft.com/office/drawing/2014/main" id="{031C495D-254B-9BE0-F362-8A1358737587}"/>
                  </a:ext>
                </a:extLst>
              </p:cNvPr>
              <p:cNvSpPr txBox="1">
                <a:spLocks noGrp="1"/>
              </p:cNvSpPr>
              <p:nvPr/>
            </p:nvSpPr>
            <p:spPr>
              <a:xfrm>
                <a:off x="609600" y="1257300"/>
                <a:ext cx="10953750" cy="762000"/>
              </a:xfrm>
              <a:prstGeom prst="rect">
                <a:avLst/>
              </a:prstGeom>
              <a:noFill/>
              <a:ln w="0">
                <a:noFill/>
              </a:ln>
            </p:spPr>
            <p:txBody>
              <a:bodyPr vertOverflow="overflow"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400" b="0" i="0" dirty="0">
                    <a:solidFill>
                      <a:srgbClr val="182D45"/>
                    </a:solidFill>
                    <a:latin typeface="DejaVu Sans"/>
                    <a:ea typeface="DejaVu Sans"/>
                    <a:cs typeface="DejaVu Sans"/>
                  </a:rPr>
                  <a:t>Set both partial derivatives of </a:t>
                </a:r>
                <a14:m>
                  <m:oMath xmlns:m="http://schemas.openxmlformats.org/officeDocument/2006/math">
                    <m:sSubSup>
                      <m:sSubSupPr>
                        <m:ctrlPr>
                          <a:rPr lang="en-GB" sz="2400" b="0" dirty="0">
                            <a:solidFill>
                              <a:srgbClr val="182D45"/>
                            </a:solidFill>
                            <a:latin typeface="Cambria Math"/>
                            <a:ea typeface="Cambria Math"/>
                            <a:cs typeface="Cambria Math"/>
                          </a:rPr>
                        </m:ctrlPr>
                      </m:sSubSupPr>
                      <m:e>
                        <m:r>
                          <a:rPr lang="en-GB" sz="2400" b="0" dirty="0">
                            <a:solidFill>
                              <a:srgbClr val="182D45"/>
                            </a:solidFill>
                            <a:latin typeface="Cambria Math"/>
                            <a:ea typeface="Cambria Math"/>
                            <a:cs typeface="Cambria Math"/>
                          </a:rPr>
                          <m:t>ℒ</m:t>
                        </m:r>
                      </m:e>
                      <m:sub>
                        <m:r>
                          <m:rPr>
                            <m:sty m:val="p"/>
                          </m:rPr>
                          <a:rPr lang="en-GB" sz="2400" b="0" dirty="0">
                            <a:solidFill>
                              <a:srgbClr val="182D45"/>
                            </a:solidFill>
                            <a:latin typeface="Cambria Math"/>
                            <a:ea typeface="Cambria Math"/>
                            <a:cs typeface="Cambria Math"/>
                          </a:rPr>
                          <m:t>sq</m:t>
                        </m:r>
                      </m:sub>
                      <m:sup>
                        <m:r>
                          <m:rPr>
                            <m:sty m:val="p"/>
                          </m:rPr>
                          <a:rPr lang="en-GB" sz="2400" b="0" dirty="0">
                            <a:solidFill>
                              <a:srgbClr val="182D45"/>
                            </a:solidFill>
                            <a:latin typeface="Cambria Math"/>
                            <a:ea typeface="Cambria Math"/>
                            <a:cs typeface="Cambria Math"/>
                          </a:rPr>
                          <m:t>aff</m:t>
                        </m:r>
                      </m:sup>
                    </m:sSubSup>
                  </m:oMath>
                </a14:m>
                <a:r>
                  <a:rPr lang="en-GB" sz="2400" b="0" i="0" dirty="0">
                    <a:solidFill>
                      <a:srgbClr val="182D45"/>
                    </a:solidFill>
                    <a:latin typeface="DejaVu Sans"/>
                    <a:ea typeface="DejaVu Sans"/>
                    <a:cs typeface="DejaVu Sans"/>
                  </a:rPr>
                  <a:t> to zero and divide by two.</a:t>
                </a:r>
              </a:p>
            </p:txBody>
          </p:sp>
        </mc:Choice>
        <mc:Fallback xmlns="">
          <p:sp>
            <p:nvSpPr>
              <p:cNvPr id="3" name="txt_84">
                <a:extLst>
                  <a:ext uri="{FF2B5EF4-FFF2-40B4-BE49-F238E27FC236}">
                    <a16:creationId xmlns:a16="http://schemas.microsoft.com/office/drawing/2014/main" id="{031C495D-254B-9BE0-F362-8A1358737587}"/>
                  </a:ext>
                </a:extLst>
              </p:cNvPr>
              <p:cNvSpPr txBox="1">
                <a:spLocks noGrp="1" noRot="1" noChangeAspect="1" noMove="1" noResize="1" noEditPoints="1" noAdjustHandles="1" noChangeArrowheads="1" noChangeShapeType="1" noTextEdit="1"/>
              </p:cNvSpPr>
              <p:nvPr/>
            </p:nvSpPr>
            <p:spPr>
              <a:xfrm>
                <a:off x="609600" y="1257300"/>
                <a:ext cx="10953750" cy="7620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85">
                <a:extLst>
                  <a:ext uri="{FF2B5EF4-FFF2-40B4-BE49-F238E27FC236}">
                    <a16:creationId xmlns:a16="http://schemas.microsoft.com/office/drawing/2014/main" id="{42AAE27C-6157-8DBC-C9DD-8D0580069D3B}"/>
                  </a:ext>
                </a:extLst>
              </p:cNvPr>
              <p:cNvSpPr txBox="1">
                <a:spLocks noGrp="1"/>
              </p:cNvSpPr>
              <p:nvPr/>
            </p:nvSpPr>
            <p:spPr>
              <a:xfrm>
                <a:off x="609600" y="2352675"/>
                <a:ext cx="10953750" cy="1219200"/>
              </a:xfrm>
              <a:prstGeom prst="rect">
                <a:avLst/>
              </a:prstGeom>
              <a:noFill/>
              <a:ln w="0">
                <a:noFill/>
              </a:ln>
            </p:spPr>
            <p:txBody>
              <a:bodyPr vertOverflow="overflow" wrap="none" lIns="0" tIns="0" rIns="0" bIns="0" anchor="t">
                <a:noAutofit/>
              </a:bodyPr>
              <a:lstStyle/>
              <a:p>
                <a:pPr algn="ctr">
                  <a:defRPr lang="en-GB" sz="2925" b="0" i="0" dirty="0">
                    <a:solidFill>
                      <a:srgbClr val="087F83"/>
                    </a:solidFill>
                    <a:latin typeface="Cambria Math"/>
                    <a:ea typeface="Cambria Math"/>
                    <a:cs typeface="Cambria Math"/>
                  </a:defRPr>
                </a:pPr>
                <a14:m>
                  <m:oMathPara xmlns:m="http://schemas.openxmlformats.org/officeDocument/2006/math">
                    <m:oMath>
                      <m:f>
                        <m:fPr>
                          <m:ctrlPr>
                            <a:rPr lang="en-GB" sz="3200" dirty="0">
                              <a:solidFill>
                                <a:srgbClr val="3E797B"/>
                              </a:solidFill>
                              <a:latin typeface="Cambria Math"/>
                              <a:ea typeface="Cambria Math"/>
                              <a:cs typeface="Cambria Math"/>
                            </a:rPr>
                          </m:ctrlPr>
                        </m:fPr>
                        <m:num>
                          <m:r>
                            <a:rPr lang="en-GB" sz="3200" dirty="0">
                              <a:solidFill>
                                <a:srgbClr val="3E797B"/>
                              </a:solidFill>
                              <a:latin typeface="Cambria Math"/>
                              <a:ea typeface="Cambria Math"/>
                              <a:cs typeface="Cambria Math"/>
                            </a:rPr>
                            <m:t>𝜕</m:t>
                          </m:r>
                          <m:sSubSup>
                            <m:sSubSupPr>
                              <m:ctrlPr>
                                <a:rPr lang="en-GB" sz="3200" dirty="0">
                                  <a:solidFill>
                                    <a:srgbClr val="3E797B"/>
                                  </a:solidFill>
                                  <a:latin typeface="Cambria Math"/>
                                  <a:ea typeface="Cambria Math"/>
                                  <a:cs typeface="Cambria Math"/>
                                </a:rPr>
                              </m:ctrlPr>
                            </m:sSubSupPr>
                            <m:e>
                              <m:r>
                                <a:rPr lang="en-GB" sz="3200" dirty="0">
                                  <a:solidFill>
                                    <a:srgbClr val="3E797B"/>
                                  </a:solidFill>
                                  <a:latin typeface="Cambria Math"/>
                                  <a:ea typeface="Cambria Math"/>
                                  <a:cs typeface="Cambria Math"/>
                                </a:rPr>
                                <m:t>ℒ</m:t>
                              </m:r>
                            </m:e>
                            <m:sub>
                              <m:r>
                                <m:rPr>
                                  <m:sty m:val="p"/>
                                </m:rPr>
                                <a:rPr lang="en-GB" sz="3200" dirty="0">
                                  <a:solidFill>
                                    <a:srgbClr val="3E797B"/>
                                  </a:solidFill>
                                  <a:latin typeface="Cambria Math"/>
                                  <a:ea typeface="Cambria Math"/>
                                  <a:cs typeface="Cambria Math"/>
                                </a:rPr>
                                <m:t>sq</m:t>
                              </m:r>
                            </m:sub>
                            <m:sup>
                              <m:r>
                                <m:rPr>
                                  <m:sty m:val="p"/>
                                </m:rPr>
                                <a:rPr lang="en-GB" sz="3200" dirty="0">
                                  <a:solidFill>
                                    <a:srgbClr val="3E797B"/>
                                  </a:solidFill>
                                  <a:latin typeface="Cambria Math"/>
                                  <a:ea typeface="Cambria Math"/>
                                  <a:cs typeface="Cambria Math"/>
                                </a:rPr>
                                <m:t>aff</m:t>
                              </m:r>
                            </m:sup>
                          </m:sSubSup>
                        </m:num>
                        <m:den>
                          <m:r>
                            <a:rPr lang="en-GB" sz="3200" dirty="0">
                              <a:solidFill>
                                <a:srgbClr val="3E797B"/>
                              </a:solidFill>
                              <a:latin typeface="Cambria Math"/>
                              <a:ea typeface="Cambria Math"/>
                              <a:cs typeface="Cambria Math"/>
                            </a:rPr>
                            <m:t>𝜕</m:t>
                          </m:r>
                          <m:r>
                            <a:rPr lang="en-GB" sz="3200" dirty="0">
                              <a:solidFill>
                                <a:srgbClr val="3E797B"/>
                              </a:solidFill>
                              <a:latin typeface="Cambria Math"/>
                              <a:ea typeface="Cambria Math"/>
                              <a:cs typeface="Cambria Math"/>
                            </a:rPr>
                            <m:t>𝑏</m:t>
                          </m:r>
                        </m:den>
                      </m:f>
                      <m:d>
                        <m:dPr>
                          <m:ctrlPr>
                            <a:rPr lang="en-GB" sz="3200" dirty="0">
                              <a:solidFill>
                                <a:srgbClr val="3E797B"/>
                              </a:solidFill>
                              <a:latin typeface="Cambria Math"/>
                              <a:ea typeface="Cambria Math"/>
                              <a:cs typeface="Cambria Math"/>
                            </a:rPr>
                          </m:ctrlPr>
                        </m:dPr>
                        <m:e>
                          <m:r>
                            <a:rPr lang="en-GB" sz="3200" dirty="0">
                              <a:solidFill>
                                <a:srgbClr val="3E797B"/>
                              </a:solidFill>
                              <a:latin typeface="Cambria Math"/>
                              <a:ea typeface="Cambria Math"/>
                              <a:cs typeface="Cambria Math"/>
                            </a:rPr>
                            <m:t>𝑏</m:t>
                          </m:r>
                          <m:r>
                            <a:rPr lang="en-GB" sz="3200" dirty="0">
                              <a:solidFill>
                                <a:srgbClr val="3E797B"/>
                              </a:solidFill>
                              <a:latin typeface="Cambria Math"/>
                              <a:ea typeface="Cambria Math"/>
                              <a:cs typeface="Cambria Math"/>
                            </a:rPr>
                            <m:t>,</m:t>
                          </m:r>
                          <m:r>
                            <a:rPr lang="en-GB" sz="3200" dirty="0">
                              <a:solidFill>
                                <a:srgbClr val="3E797B"/>
                              </a:solidFill>
                              <a:latin typeface="Cambria Math"/>
                              <a:ea typeface="Cambria Math"/>
                              <a:cs typeface="Cambria Math"/>
                            </a:rPr>
                            <m:t>𝑎</m:t>
                          </m:r>
                        </m:e>
                      </m:d>
                      <m:r>
                        <a:rPr lang="it-IT" sz="3200" b="0" i="1" dirty="0" smtClean="0">
                          <a:solidFill>
                            <a:srgbClr val="3E797B"/>
                          </a:solidFill>
                          <a:latin typeface="Cambria Math" panose="02040503050406030204" pitchFamily="18" charset="0"/>
                          <a:ea typeface="Cambria Math"/>
                          <a:cs typeface="Cambria Math"/>
                        </a:rPr>
                        <m:t>=0  </m:t>
                      </m:r>
                      <m:r>
                        <a:rPr lang="it-IT" sz="2925" i="1" dirty="0" smtClean="0">
                          <a:solidFill>
                            <a:srgbClr val="087F83"/>
                          </a:solidFill>
                          <a:latin typeface="Cambria Math"/>
                        </a:rPr>
                        <m:t>⇔</m:t>
                      </m:r>
                      <m:r>
                        <a:rPr lang="it-IT" sz="2925" b="0" i="1" dirty="0" smtClean="0">
                          <a:solidFill>
                            <a:srgbClr val="087F83"/>
                          </a:solidFill>
                          <a:latin typeface="Cambria Math" panose="02040503050406030204" pitchFamily="18" charset="0"/>
                        </a:rPr>
                        <m:t>  </m:t>
                      </m:r>
                      <m:r>
                        <a:rPr lang="en-GB" sz="2925" b="0" dirty="0" smtClean="0">
                          <a:solidFill>
                            <a:srgbClr val="3E797B"/>
                          </a:solidFill>
                          <a:latin typeface="Cambria Math"/>
                          <a:ea typeface="Cambria Math"/>
                          <a:cs typeface="Cambria Math"/>
                        </a:rPr>
                        <m:t>𝑁</m:t>
                      </m:r>
                      <m:r>
                        <a:rPr lang="en-GB" sz="2925" b="0" dirty="0" smtClean="0">
                          <a:solidFill>
                            <a:srgbClr val="FF0000"/>
                          </a:solidFill>
                          <a:latin typeface="Cambria Math"/>
                          <a:ea typeface="Cambria Math"/>
                          <a:cs typeface="Cambria Math"/>
                        </a:rPr>
                        <m:t>𝑏</m:t>
                      </m:r>
                      <m:r>
                        <a:rPr lang="en-GB" sz="2925" b="0" dirty="0" smtClean="0">
                          <a:solidFill>
                            <a:srgbClr val="3E797B"/>
                          </a:solidFill>
                          <a:latin typeface="Cambria Math"/>
                          <a:ea typeface="Cambria Math"/>
                          <a:cs typeface="Cambria Math"/>
                        </a:rPr>
                        <m:t>+</m:t>
                      </m:r>
                      <m:r>
                        <a:rPr lang="en-GB" sz="2925" b="0" dirty="0" smtClean="0">
                          <a:solidFill>
                            <a:srgbClr val="FF0000"/>
                          </a:solidFill>
                          <a:latin typeface="Cambria Math"/>
                          <a:ea typeface="Cambria Math"/>
                          <a:cs typeface="Cambria Math"/>
                        </a:rPr>
                        <m:t>𝑎</m:t>
                      </m:r>
                      <m:r>
                        <a:rPr lang="it-IT" sz="2925" i="1" dirty="0">
                          <a:solidFill>
                            <a:srgbClr val="3E797B"/>
                          </a:solidFill>
                          <a:latin typeface="Cambria Math" panose="02040503050406030204" pitchFamily="18" charset="0"/>
                          <a:ea typeface="Cambria Math"/>
                          <a:cs typeface="Cambria Math"/>
                        </a:rPr>
                        <m:t>𝑁</m:t>
                      </m:r>
                      <m:acc>
                        <m:accPr>
                          <m:chr m:val="̅"/>
                          <m:ctrlPr>
                            <a:rPr lang="it-IT" sz="2925" b="0" i="1" dirty="0" smtClean="0">
                              <a:solidFill>
                                <a:srgbClr val="3E797B"/>
                              </a:solidFill>
                              <a:latin typeface="Cambria Math" panose="02040503050406030204" pitchFamily="18" charset="0"/>
                              <a:ea typeface="Cambria Math"/>
                              <a:cs typeface="Cambria Math"/>
                            </a:rPr>
                          </m:ctrlPr>
                        </m:accPr>
                        <m:e>
                          <m:r>
                            <a:rPr lang="it-IT" sz="2925" b="0" i="1" dirty="0" smtClean="0">
                              <a:solidFill>
                                <a:srgbClr val="3E797B"/>
                              </a:solidFill>
                              <a:latin typeface="Cambria Math" panose="02040503050406030204" pitchFamily="18" charset="0"/>
                              <a:ea typeface="Cambria Math"/>
                              <a:cs typeface="Cambria Math"/>
                            </a:rPr>
                            <m:t>𝑥</m:t>
                          </m:r>
                        </m:e>
                      </m:acc>
                      <m:r>
                        <a:rPr lang="en-GB" sz="2925" b="0" dirty="0">
                          <a:solidFill>
                            <a:srgbClr val="087F83"/>
                          </a:solidFill>
                          <a:latin typeface="Cambria Math"/>
                          <a:ea typeface="Cambria Math"/>
                          <a:cs typeface="Cambria Math"/>
                        </a:rPr>
                        <m:t>=</m:t>
                      </m:r>
                      <m:r>
                        <a:rPr lang="it-IT" sz="2925" i="1" dirty="0">
                          <a:solidFill>
                            <a:srgbClr val="3E797B"/>
                          </a:solidFill>
                          <a:latin typeface="Cambria Math" panose="02040503050406030204" pitchFamily="18" charset="0"/>
                          <a:ea typeface="Cambria Math"/>
                          <a:cs typeface="Cambria Math"/>
                        </a:rPr>
                        <m:t>𝑁</m:t>
                      </m:r>
                      <m:acc>
                        <m:accPr>
                          <m:chr m:val="̅"/>
                          <m:ctrlPr>
                            <a:rPr lang="it-IT" sz="2925" b="0" i="1" dirty="0" smtClean="0">
                              <a:solidFill>
                                <a:srgbClr val="087F83"/>
                              </a:solidFill>
                              <a:latin typeface="Cambria Math" panose="02040503050406030204" pitchFamily="18" charset="0"/>
                              <a:ea typeface="Cambria Math"/>
                              <a:cs typeface="Cambria Math"/>
                            </a:rPr>
                          </m:ctrlPr>
                        </m:accPr>
                        <m:e>
                          <m:r>
                            <a:rPr lang="it-IT" sz="2925" b="0" i="1" dirty="0" smtClean="0">
                              <a:solidFill>
                                <a:srgbClr val="087F83"/>
                              </a:solidFill>
                              <a:latin typeface="Cambria Math" panose="02040503050406030204" pitchFamily="18" charset="0"/>
                              <a:ea typeface="Cambria Math"/>
                              <a:cs typeface="Cambria Math"/>
                            </a:rPr>
                            <m:t>𝑦</m:t>
                          </m:r>
                        </m:e>
                      </m:acc>
                      <m:r>
                        <a:rPr lang="it-IT" sz="2925" b="0" i="1" dirty="0" smtClean="0">
                          <a:solidFill>
                            <a:srgbClr val="087F83"/>
                          </a:solidFill>
                          <a:latin typeface="Cambria Math" panose="02040503050406030204" pitchFamily="18" charset="0"/>
                          <a:ea typeface="Cambria Math"/>
                          <a:cs typeface="Cambria Math"/>
                        </a:rPr>
                        <m:t>              </m:t>
                      </m:r>
                    </m:oMath>
                  </m:oMathPara>
                </a14:m>
                <a:endParaRPr lang="en-GB" sz="2925" b="0" i="0" dirty="0">
                  <a:solidFill>
                    <a:srgbClr val="087F83"/>
                  </a:solidFill>
                  <a:latin typeface="Cambria Math"/>
                  <a:ea typeface="Cambria Math"/>
                  <a:cs typeface="Cambria Math"/>
                </a:endParaRPr>
              </a:p>
            </p:txBody>
          </p:sp>
        </mc:Choice>
        <mc:Fallback xmlns="">
          <p:sp>
            <p:nvSpPr>
              <p:cNvPr id="4" name="eq_85">
                <a:extLst>
                  <a:ext uri="{FF2B5EF4-FFF2-40B4-BE49-F238E27FC236}">
                    <a16:creationId xmlns:a16="http://schemas.microsoft.com/office/drawing/2014/main" id="{42AAE27C-6157-8DBC-C9DD-8D0580069D3B}"/>
                  </a:ext>
                </a:extLst>
              </p:cNvPr>
              <p:cNvSpPr txBox="1">
                <a:spLocks noGrp="1" noRot="1" noChangeAspect="1" noMove="1" noResize="1" noEditPoints="1" noAdjustHandles="1" noChangeArrowheads="1" noChangeShapeType="1" noTextEdit="1"/>
              </p:cNvSpPr>
              <p:nvPr/>
            </p:nvSpPr>
            <p:spPr>
              <a:xfrm>
                <a:off x="609600" y="2352675"/>
                <a:ext cx="10953750" cy="12192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86">
                <a:extLst>
                  <a:ext uri="{FF2B5EF4-FFF2-40B4-BE49-F238E27FC236}">
                    <a16:creationId xmlns:a16="http://schemas.microsoft.com/office/drawing/2014/main" id="{E502D414-D6F6-6FFD-7B5C-6FC191ABC6D9}"/>
                  </a:ext>
                </a:extLst>
              </p:cNvPr>
              <p:cNvSpPr txBox="1">
                <a:spLocks noGrp="1"/>
              </p:cNvSpPr>
              <p:nvPr/>
            </p:nvSpPr>
            <p:spPr>
              <a:xfrm>
                <a:off x="609600" y="3962400"/>
                <a:ext cx="10953750" cy="1219200"/>
              </a:xfrm>
              <a:prstGeom prst="rect">
                <a:avLst/>
              </a:prstGeom>
              <a:noFill/>
              <a:ln w="0">
                <a:noFill/>
              </a:ln>
            </p:spPr>
            <p:txBody>
              <a:bodyPr vertOverflow="overflow" wrap="none" lIns="0" tIns="0" rIns="0" bIns="0" anchor="t">
                <a:noAutofit/>
              </a:bodyPr>
              <a:lstStyle/>
              <a:p>
                <a:pPr algn="ctr">
                  <a:defRPr lang="en-GB" sz="2925" b="0" i="0" dirty="0">
                    <a:solidFill>
                      <a:srgbClr val="326CB2"/>
                    </a:solidFill>
                    <a:latin typeface="Cambria Math"/>
                    <a:ea typeface="Cambria Math"/>
                    <a:cs typeface="Cambria Math"/>
                  </a:defRPr>
                </a:pPr>
                <a14:m>
                  <m:oMathPara xmlns:m="http://schemas.openxmlformats.org/officeDocument/2006/math">
                    <m:oMath>
                      <m:f>
                        <m:fPr>
                          <m:ctrlPr>
                            <a:rPr lang="en-GB" sz="3200" dirty="0">
                              <a:solidFill>
                                <a:srgbClr val="5885B9"/>
                              </a:solidFill>
                              <a:latin typeface="Cambria Math"/>
                              <a:ea typeface="Cambria Math"/>
                              <a:cs typeface="Cambria Math"/>
                            </a:rPr>
                          </m:ctrlPr>
                        </m:fPr>
                        <m:num>
                          <m:r>
                            <a:rPr lang="en-GB" sz="3200" dirty="0">
                              <a:solidFill>
                                <a:srgbClr val="5885B9"/>
                              </a:solidFill>
                              <a:latin typeface="Cambria Math"/>
                              <a:ea typeface="Cambria Math"/>
                              <a:cs typeface="Cambria Math"/>
                            </a:rPr>
                            <m:t>𝜕</m:t>
                          </m:r>
                          <m:sSubSup>
                            <m:sSubSupPr>
                              <m:ctrlPr>
                                <a:rPr lang="en-GB" sz="3200" dirty="0">
                                  <a:solidFill>
                                    <a:srgbClr val="5885B9"/>
                                  </a:solidFill>
                                  <a:latin typeface="Cambria Math"/>
                                  <a:ea typeface="Cambria Math"/>
                                  <a:cs typeface="Cambria Math"/>
                                </a:rPr>
                              </m:ctrlPr>
                            </m:sSubSupPr>
                            <m:e>
                              <m:r>
                                <a:rPr lang="en-GB" sz="3200" dirty="0">
                                  <a:solidFill>
                                    <a:srgbClr val="5885B9"/>
                                  </a:solidFill>
                                  <a:latin typeface="Cambria Math"/>
                                  <a:ea typeface="Cambria Math"/>
                                  <a:cs typeface="Cambria Math"/>
                                </a:rPr>
                                <m:t>ℒ</m:t>
                              </m:r>
                            </m:e>
                            <m:sub>
                              <m:r>
                                <m:rPr>
                                  <m:sty m:val="p"/>
                                </m:rPr>
                                <a:rPr lang="en-GB" sz="3200" dirty="0">
                                  <a:solidFill>
                                    <a:srgbClr val="5885B9"/>
                                  </a:solidFill>
                                  <a:latin typeface="Cambria Math"/>
                                  <a:ea typeface="Cambria Math"/>
                                  <a:cs typeface="Cambria Math"/>
                                </a:rPr>
                                <m:t>sq</m:t>
                              </m:r>
                            </m:sub>
                            <m:sup>
                              <m:r>
                                <m:rPr>
                                  <m:sty m:val="p"/>
                                </m:rPr>
                                <a:rPr lang="en-GB" sz="3200" dirty="0">
                                  <a:solidFill>
                                    <a:srgbClr val="5885B9"/>
                                  </a:solidFill>
                                  <a:latin typeface="Cambria Math"/>
                                  <a:ea typeface="Cambria Math"/>
                                  <a:cs typeface="Cambria Math"/>
                                </a:rPr>
                                <m:t>aff</m:t>
                              </m:r>
                            </m:sup>
                          </m:sSubSup>
                        </m:num>
                        <m:den>
                          <m:r>
                            <a:rPr lang="en-GB" sz="3200" dirty="0">
                              <a:solidFill>
                                <a:srgbClr val="5885B9"/>
                              </a:solidFill>
                              <a:latin typeface="Cambria Math"/>
                              <a:ea typeface="Cambria Math"/>
                              <a:cs typeface="Cambria Math"/>
                            </a:rPr>
                            <m:t>𝜕</m:t>
                          </m:r>
                          <m:r>
                            <a:rPr lang="en-GB" sz="3200" dirty="0">
                              <a:solidFill>
                                <a:srgbClr val="5885B9"/>
                              </a:solidFill>
                              <a:latin typeface="Cambria Math"/>
                              <a:ea typeface="Cambria Math"/>
                              <a:cs typeface="Cambria Math"/>
                            </a:rPr>
                            <m:t>𝑎</m:t>
                          </m:r>
                        </m:den>
                      </m:f>
                      <m:d>
                        <m:dPr>
                          <m:ctrlPr>
                            <a:rPr lang="en-GB" sz="3200" dirty="0">
                              <a:solidFill>
                                <a:srgbClr val="5885B9"/>
                              </a:solidFill>
                              <a:latin typeface="Cambria Math"/>
                              <a:ea typeface="Cambria Math"/>
                              <a:cs typeface="Cambria Math"/>
                            </a:rPr>
                          </m:ctrlPr>
                        </m:dPr>
                        <m:e>
                          <m:r>
                            <a:rPr lang="en-GB" sz="3200" dirty="0">
                              <a:solidFill>
                                <a:srgbClr val="5885B9"/>
                              </a:solidFill>
                              <a:latin typeface="Cambria Math"/>
                              <a:ea typeface="Cambria Math"/>
                              <a:cs typeface="Cambria Math"/>
                            </a:rPr>
                            <m:t>𝑏</m:t>
                          </m:r>
                          <m:r>
                            <a:rPr lang="en-GB" sz="3200" dirty="0">
                              <a:solidFill>
                                <a:srgbClr val="5885B9"/>
                              </a:solidFill>
                              <a:latin typeface="Cambria Math"/>
                              <a:ea typeface="Cambria Math"/>
                              <a:cs typeface="Cambria Math"/>
                            </a:rPr>
                            <m:t>,</m:t>
                          </m:r>
                          <m:r>
                            <a:rPr lang="en-GB" sz="3200" dirty="0">
                              <a:solidFill>
                                <a:srgbClr val="5885B9"/>
                              </a:solidFill>
                              <a:latin typeface="Cambria Math"/>
                              <a:ea typeface="Cambria Math"/>
                              <a:cs typeface="Cambria Math"/>
                            </a:rPr>
                            <m:t>𝑎</m:t>
                          </m:r>
                        </m:e>
                      </m:d>
                      <m:r>
                        <a:rPr lang="it-IT" sz="3200" b="0" i="1" dirty="0" smtClean="0">
                          <a:solidFill>
                            <a:srgbClr val="5885B9"/>
                          </a:solidFill>
                          <a:latin typeface="Cambria Math" panose="02040503050406030204" pitchFamily="18" charset="0"/>
                          <a:ea typeface="Cambria Math"/>
                          <a:cs typeface="Cambria Math"/>
                        </a:rPr>
                        <m:t>=0  </m:t>
                      </m:r>
                      <m:r>
                        <a:rPr lang="it-IT" sz="3200" i="1" dirty="0">
                          <a:solidFill>
                            <a:srgbClr val="5885B9"/>
                          </a:solidFill>
                          <a:latin typeface="Cambria Math"/>
                        </a:rPr>
                        <m:t>⇔</m:t>
                      </m:r>
                      <m:r>
                        <a:rPr lang="it-IT" sz="3200" b="0" i="0" dirty="0" smtClean="0">
                          <a:solidFill>
                            <a:srgbClr val="5885B9"/>
                          </a:solidFill>
                          <a:latin typeface="Cambria Math" panose="02040503050406030204" pitchFamily="18" charset="0"/>
                        </a:rPr>
                        <m:t>  </m:t>
                      </m:r>
                      <m:r>
                        <a:rPr lang="en-GB" sz="2925" b="0" dirty="0" smtClean="0">
                          <a:solidFill>
                            <a:srgbClr val="FF0000"/>
                          </a:solidFill>
                          <a:latin typeface="Cambria Math"/>
                          <a:ea typeface="Cambria Math"/>
                          <a:cs typeface="Cambria Math"/>
                        </a:rPr>
                        <m:t>𝑏</m:t>
                      </m:r>
                      <m:r>
                        <a:rPr lang="it-IT" sz="2925" i="1" dirty="0">
                          <a:solidFill>
                            <a:srgbClr val="326CB2"/>
                          </a:solidFill>
                          <a:latin typeface="Cambria Math" panose="02040503050406030204" pitchFamily="18" charset="0"/>
                          <a:ea typeface="Cambria Math"/>
                          <a:cs typeface="Cambria Math"/>
                        </a:rPr>
                        <m:t>𝑁</m:t>
                      </m:r>
                      <m:acc>
                        <m:accPr>
                          <m:chr m:val="̅"/>
                          <m:ctrlPr>
                            <a:rPr lang="it-IT" sz="2925" b="0" i="1" dirty="0" smtClean="0">
                              <a:solidFill>
                                <a:srgbClr val="326CB2"/>
                              </a:solidFill>
                              <a:latin typeface="Cambria Math" panose="02040503050406030204" pitchFamily="18" charset="0"/>
                              <a:ea typeface="Cambria Math"/>
                              <a:cs typeface="Cambria Math"/>
                            </a:rPr>
                          </m:ctrlPr>
                        </m:accPr>
                        <m:e>
                          <m:r>
                            <a:rPr lang="it-IT" sz="2925" b="0" i="1" dirty="0" smtClean="0">
                              <a:solidFill>
                                <a:srgbClr val="326CB2"/>
                              </a:solidFill>
                              <a:latin typeface="Cambria Math" panose="02040503050406030204" pitchFamily="18" charset="0"/>
                              <a:ea typeface="Cambria Math"/>
                              <a:cs typeface="Cambria Math"/>
                            </a:rPr>
                            <m:t>𝑥</m:t>
                          </m:r>
                        </m:e>
                      </m:acc>
                      <m:r>
                        <a:rPr lang="en-GB" sz="2925" b="0" dirty="0">
                          <a:solidFill>
                            <a:srgbClr val="326CB2"/>
                          </a:solidFill>
                          <a:latin typeface="Cambria Math"/>
                          <a:ea typeface="Cambria Math"/>
                          <a:cs typeface="Cambria Math"/>
                        </a:rPr>
                        <m:t>+</m:t>
                      </m:r>
                      <m:r>
                        <a:rPr lang="en-GB" sz="2925" b="0" dirty="0" smtClean="0">
                          <a:solidFill>
                            <a:srgbClr val="FF0000"/>
                          </a:solidFill>
                          <a:latin typeface="Cambria Math"/>
                          <a:ea typeface="Cambria Math"/>
                          <a:cs typeface="Cambria Math"/>
                        </a:rPr>
                        <m:t>𝑎</m:t>
                      </m:r>
                      <m:nary>
                        <m:naryPr>
                          <m:chr m:val="∑"/>
                          <m:limLoc m:val="undOvr"/>
                          <m:ctrlPr>
                            <a:rPr lang="en-GB" sz="2925" b="0" dirty="0">
                              <a:solidFill>
                                <a:srgbClr val="326CB2"/>
                              </a:solidFill>
                              <a:latin typeface="Cambria Math"/>
                              <a:ea typeface="Cambria Math"/>
                              <a:cs typeface="Cambria Math"/>
                            </a:rPr>
                          </m:ctrlPr>
                        </m:naryPr>
                        <m:sub>
                          <m:r>
                            <a:rPr lang="en-GB" sz="2925" b="0" dirty="0">
                              <a:solidFill>
                                <a:srgbClr val="326CB2"/>
                              </a:solidFill>
                              <a:latin typeface="Cambria Math"/>
                              <a:ea typeface="Cambria Math"/>
                              <a:cs typeface="Cambria Math"/>
                            </a:rPr>
                            <m:t>𝑖</m:t>
                          </m:r>
                          <m:r>
                            <a:rPr lang="en-GB" sz="2925" b="0" dirty="0">
                              <a:solidFill>
                                <a:srgbClr val="326CB2"/>
                              </a:solidFill>
                              <a:latin typeface="Cambria Math"/>
                              <a:ea typeface="Cambria Math"/>
                              <a:cs typeface="Cambria Math"/>
                            </a:rPr>
                            <m:t>=1</m:t>
                          </m:r>
                        </m:sub>
                        <m:sup>
                          <m:r>
                            <a:rPr lang="en-GB" sz="2925" b="0" dirty="0">
                              <a:solidFill>
                                <a:srgbClr val="326CB2"/>
                              </a:solidFill>
                              <a:latin typeface="Cambria Math"/>
                              <a:ea typeface="Cambria Math"/>
                              <a:cs typeface="Cambria Math"/>
                            </a:rPr>
                            <m:t>𝑁</m:t>
                          </m:r>
                        </m:sup>
                        <m:e>
                          <m:sSubSup>
                            <m:sSubSupPr>
                              <m:ctrlPr>
                                <a:rPr lang="en-GB" sz="2925" b="0" dirty="0">
                                  <a:solidFill>
                                    <a:srgbClr val="326CB2"/>
                                  </a:solidFill>
                                  <a:latin typeface="Cambria Math"/>
                                  <a:ea typeface="Cambria Math"/>
                                  <a:cs typeface="Cambria Math"/>
                                </a:rPr>
                              </m:ctrlPr>
                            </m:sSubSupPr>
                            <m:e>
                              <m:r>
                                <a:rPr lang="en-GB" sz="2925" b="0" dirty="0">
                                  <a:solidFill>
                                    <a:srgbClr val="326CB2"/>
                                  </a:solidFill>
                                  <a:latin typeface="Cambria Math"/>
                                  <a:ea typeface="Cambria Math"/>
                                  <a:cs typeface="Cambria Math"/>
                                </a:rPr>
                                <m:t>𝑥</m:t>
                              </m:r>
                            </m:e>
                            <m:sub>
                              <m:r>
                                <a:rPr lang="en-GB" sz="2925" b="0" dirty="0">
                                  <a:solidFill>
                                    <a:srgbClr val="326CB2"/>
                                  </a:solidFill>
                                  <a:latin typeface="Cambria Math"/>
                                  <a:ea typeface="Cambria Math"/>
                                  <a:cs typeface="Cambria Math"/>
                                </a:rPr>
                                <m:t>𝑖</m:t>
                              </m:r>
                            </m:sub>
                            <m:sup>
                              <m:r>
                                <a:rPr lang="en-GB" sz="2925" b="0" dirty="0">
                                  <a:solidFill>
                                    <a:srgbClr val="326CB2"/>
                                  </a:solidFill>
                                  <a:latin typeface="Cambria Math"/>
                                  <a:ea typeface="Cambria Math"/>
                                  <a:cs typeface="Cambria Math"/>
                                </a:rPr>
                                <m:t>2</m:t>
                              </m:r>
                            </m:sup>
                          </m:sSubSup>
                        </m:e>
                      </m:nary>
                      <m:r>
                        <a:rPr lang="en-GB" sz="2925" b="0" dirty="0">
                          <a:solidFill>
                            <a:srgbClr val="326CB2"/>
                          </a:solidFill>
                          <a:latin typeface="Cambria Math"/>
                          <a:ea typeface="Cambria Math"/>
                          <a:cs typeface="Cambria Math"/>
                        </a:rPr>
                        <m:t>=</m:t>
                      </m:r>
                      <m:nary>
                        <m:naryPr>
                          <m:chr m:val="∑"/>
                          <m:limLoc m:val="undOvr"/>
                          <m:ctrlPr>
                            <a:rPr lang="en-GB" sz="2925" b="0" dirty="0">
                              <a:solidFill>
                                <a:srgbClr val="326CB2"/>
                              </a:solidFill>
                              <a:latin typeface="Cambria Math"/>
                              <a:ea typeface="Cambria Math"/>
                              <a:cs typeface="Cambria Math"/>
                            </a:rPr>
                          </m:ctrlPr>
                        </m:naryPr>
                        <m:sub>
                          <m:r>
                            <a:rPr lang="en-GB" sz="2925" b="0" dirty="0">
                              <a:solidFill>
                                <a:srgbClr val="326CB2"/>
                              </a:solidFill>
                              <a:latin typeface="Cambria Math"/>
                              <a:ea typeface="Cambria Math"/>
                              <a:cs typeface="Cambria Math"/>
                            </a:rPr>
                            <m:t>𝑖</m:t>
                          </m:r>
                          <m:r>
                            <a:rPr lang="en-GB" sz="2925" b="0" dirty="0">
                              <a:solidFill>
                                <a:srgbClr val="326CB2"/>
                              </a:solidFill>
                              <a:latin typeface="Cambria Math"/>
                              <a:ea typeface="Cambria Math"/>
                              <a:cs typeface="Cambria Math"/>
                            </a:rPr>
                            <m:t>=1</m:t>
                          </m:r>
                        </m:sub>
                        <m:sup>
                          <m:r>
                            <a:rPr lang="en-GB" sz="2925" b="0" dirty="0">
                              <a:solidFill>
                                <a:srgbClr val="326CB2"/>
                              </a:solidFill>
                              <a:latin typeface="Cambria Math"/>
                              <a:ea typeface="Cambria Math"/>
                              <a:cs typeface="Cambria Math"/>
                            </a:rPr>
                            <m:t>𝑁</m:t>
                          </m:r>
                        </m:sup>
                        <m:e>
                          <m:sSub>
                            <m:sSubPr>
                              <m:ctrlPr>
                                <a:rPr lang="en-GB" sz="2925" b="0" dirty="0">
                                  <a:solidFill>
                                    <a:srgbClr val="326CB2"/>
                                  </a:solidFill>
                                  <a:latin typeface="Cambria Math"/>
                                  <a:ea typeface="Cambria Math"/>
                                  <a:cs typeface="Cambria Math"/>
                                </a:rPr>
                              </m:ctrlPr>
                            </m:sSubPr>
                            <m:e>
                              <m:r>
                                <a:rPr lang="en-GB" sz="2925" b="0" dirty="0">
                                  <a:solidFill>
                                    <a:srgbClr val="326CB2"/>
                                  </a:solidFill>
                                  <a:latin typeface="Cambria Math"/>
                                  <a:ea typeface="Cambria Math"/>
                                  <a:cs typeface="Cambria Math"/>
                                </a:rPr>
                                <m:t>𝑥</m:t>
                              </m:r>
                            </m:e>
                            <m:sub>
                              <m:r>
                                <a:rPr lang="en-GB" sz="2925" b="0" dirty="0">
                                  <a:solidFill>
                                    <a:srgbClr val="326CB2"/>
                                  </a:solidFill>
                                  <a:latin typeface="Cambria Math"/>
                                  <a:ea typeface="Cambria Math"/>
                                  <a:cs typeface="Cambria Math"/>
                                </a:rPr>
                                <m:t>𝑖</m:t>
                              </m:r>
                            </m:sub>
                          </m:sSub>
                          <m:sSub>
                            <m:sSubPr>
                              <m:ctrlPr>
                                <a:rPr lang="en-GB" sz="2925" dirty="0">
                                  <a:solidFill>
                                    <a:srgbClr val="326CB2"/>
                                  </a:solidFill>
                                  <a:latin typeface="Cambria Math"/>
                                  <a:ea typeface="Cambria Math"/>
                                  <a:cs typeface="Cambria Math"/>
                                </a:rPr>
                              </m:ctrlPr>
                            </m:sSubPr>
                            <m:e>
                              <m:r>
                                <a:rPr lang="en-GB" sz="2925" dirty="0">
                                  <a:solidFill>
                                    <a:srgbClr val="326CB2"/>
                                  </a:solidFill>
                                  <a:latin typeface="Cambria Math"/>
                                  <a:ea typeface="Cambria Math"/>
                                  <a:cs typeface="Cambria Math"/>
                                </a:rPr>
                                <m:t>𝑦</m:t>
                              </m:r>
                            </m:e>
                            <m:sub>
                              <m:r>
                                <a:rPr lang="en-GB" sz="2925" dirty="0">
                                  <a:solidFill>
                                    <a:srgbClr val="326CB2"/>
                                  </a:solidFill>
                                  <a:latin typeface="Cambria Math"/>
                                  <a:ea typeface="Cambria Math"/>
                                  <a:cs typeface="Cambria Math"/>
                                </a:rPr>
                                <m:t>𝑖</m:t>
                              </m:r>
                            </m:sub>
                          </m:sSub>
                        </m:e>
                      </m:nary>
                      <m:r>
                        <a:rPr lang="it-IT" sz="2925" b="0" i="1" dirty="0" smtClean="0">
                          <a:solidFill>
                            <a:srgbClr val="326CB2"/>
                          </a:solidFill>
                          <a:latin typeface="Cambria Math" panose="02040503050406030204" pitchFamily="18" charset="0"/>
                          <a:ea typeface="Cambria Math"/>
                          <a:cs typeface="Cambria Math"/>
                        </a:rPr>
                        <m:t> </m:t>
                      </m:r>
                    </m:oMath>
                  </m:oMathPara>
                </a14:m>
                <a:endParaRPr lang="en-GB" sz="2925" b="0" i="0" dirty="0">
                  <a:solidFill>
                    <a:srgbClr val="326CB2"/>
                  </a:solidFill>
                  <a:latin typeface="Cambria Math"/>
                  <a:ea typeface="Cambria Math"/>
                  <a:cs typeface="Cambria Math"/>
                </a:endParaRPr>
              </a:p>
            </p:txBody>
          </p:sp>
        </mc:Choice>
        <mc:Fallback xmlns="">
          <p:sp>
            <p:nvSpPr>
              <p:cNvPr id="5" name="eq_86">
                <a:extLst>
                  <a:ext uri="{FF2B5EF4-FFF2-40B4-BE49-F238E27FC236}">
                    <a16:creationId xmlns:a16="http://schemas.microsoft.com/office/drawing/2014/main" id="{E502D414-D6F6-6FFD-7B5C-6FC191ABC6D9}"/>
                  </a:ext>
                </a:extLst>
              </p:cNvPr>
              <p:cNvSpPr txBox="1">
                <a:spLocks noGrp="1" noRot="1" noChangeAspect="1" noMove="1" noResize="1" noEditPoints="1" noAdjustHandles="1" noChangeArrowheads="1" noChangeShapeType="1" noTextEdit="1"/>
              </p:cNvSpPr>
              <p:nvPr/>
            </p:nvSpPr>
            <p:spPr>
              <a:xfrm>
                <a:off x="609600" y="3962400"/>
                <a:ext cx="10953750" cy="1219200"/>
              </a:xfrm>
              <a:prstGeom prst="rect">
                <a:avLst/>
              </a:prstGeom>
              <a:blipFill>
                <a:blip r:embed="rId5"/>
                <a:stretch>
                  <a:fillRect b="-65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xt_87">
                <a:extLst>
                  <a:ext uri="{FF2B5EF4-FFF2-40B4-BE49-F238E27FC236}">
                    <a16:creationId xmlns:a16="http://schemas.microsoft.com/office/drawing/2014/main" id="{8EADAB4D-19CA-BFB5-688D-44DCB743E6B3}"/>
                  </a:ext>
                </a:extLst>
              </p:cNvPr>
              <p:cNvSpPr txBox="1">
                <a:spLocks noGrp="1"/>
              </p:cNvSpPr>
              <p:nvPr/>
            </p:nvSpPr>
            <p:spPr>
              <a:xfrm>
                <a:off x="609600" y="5819775"/>
                <a:ext cx="10953750" cy="49530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526276"/>
                    </a:solidFill>
                    <a:latin typeface="DejaVu Sans"/>
                    <a:ea typeface="DejaVu Sans"/>
                    <a:cs typeface="DejaVu Sans"/>
                  </a:defRPr>
                </a:pPr>
                <a:r>
                  <a:rPr lang="en-GB" sz="2100" b="0" i="0" dirty="0">
                    <a:solidFill>
                      <a:srgbClr val="526276"/>
                    </a:solidFill>
                    <a:latin typeface="DejaVu Sans"/>
                    <a:ea typeface="DejaVu Sans"/>
                    <a:cs typeface="DejaVu Sans"/>
                  </a:rPr>
                  <a:t>This is a </a:t>
                </a:r>
                <a:r>
                  <a:rPr lang="en-GB" sz="2100" b="0" i="0" dirty="0">
                    <a:solidFill>
                      <a:srgbClr val="FF0000"/>
                    </a:solidFill>
                    <a:latin typeface="DejaVu Sans"/>
                    <a:ea typeface="DejaVu Sans"/>
                    <a:cs typeface="DejaVu Sans"/>
                  </a:rPr>
                  <a:t>linear system</a:t>
                </a:r>
                <a:r>
                  <a:rPr lang="en-GB" sz="2100" b="0" i="0" dirty="0">
                    <a:solidFill>
                      <a:srgbClr val="526276"/>
                    </a:solidFill>
                    <a:latin typeface="DejaVu Sans"/>
                    <a:ea typeface="DejaVu Sans"/>
                    <a:cs typeface="DejaVu Sans"/>
                  </a:rPr>
                  <a:t> in the </a:t>
                </a:r>
                <a:r>
                  <a:rPr lang="en-GB" sz="2100" b="0" i="0" dirty="0">
                    <a:solidFill>
                      <a:srgbClr val="FF0000"/>
                    </a:solidFill>
                    <a:latin typeface="DejaVu Sans"/>
                    <a:ea typeface="DejaVu Sans"/>
                    <a:cs typeface="DejaVu Sans"/>
                  </a:rPr>
                  <a:t>unknowns </a:t>
                </a:r>
                <a14:m>
                  <m:oMath xmlns:m="http://schemas.openxmlformats.org/officeDocument/2006/math">
                    <m:r>
                      <a:rPr lang="en-GB" sz="2100" b="0" dirty="0">
                        <a:solidFill>
                          <a:srgbClr val="FF0000"/>
                        </a:solidFill>
                        <a:latin typeface="Cambria Math"/>
                        <a:ea typeface="Cambria Math"/>
                        <a:cs typeface="Cambria Math"/>
                      </a:rPr>
                      <m:t>𝑏</m:t>
                    </m:r>
                  </m:oMath>
                </a14:m>
                <a:r>
                  <a:rPr lang="en-GB" sz="2100" b="0" i="0" dirty="0">
                    <a:solidFill>
                      <a:srgbClr val="FF0000"/>
                    </a:solidFill>
                    <a:latin typeface="DejaVu Sans"/>
                    <a:ea typeface="DejaVu Sans"/>
                    <a:cs typeface="DejaVu Sans"/>
                  </a:rPr>
                  <a:t> and </a:t>
                </a:r>
                <a14:m>
                  <m:oMath xmlns:m="http://schemas.openxmlformats.org/officeDocument/2006/math">
                    <m:r>
                      <a:rPr lang="en-GB" sz="2100" b="0" dirty="0">
                        <a:solidFill>
                          <a:srgbClr val="FF0000"/>
                        </a:solidFill>
                        <a:latin typeface="Cambria Math"/>
                        <a:ea typeface="Cambria Math"/>
                        <a:cs typeface="Cambria Math"/>
                      </a:rPr>
                      <m:t>𝑎</m:t>
                    </m:r>
                  </m:oMath>
                </a14:m>
                <a:r>
                  <a:rPr lang="en-GB" sz="2100" b="0" i="0" dirty="0">
                    <a:solidFill>
                      <a:srgbClr val="526276"/>
                    </a:solidFill>
                    <a:latin typeface="DejaVu Sans"/>
                    <a:ea typeface="DejaVu Sans"/>
                    <a:cs typeface="DejaVu Sans"/>
                  </a:rPr>
                  <a:t>.</a:t>
                </a:r>
              </a:p>
            </p:txBody>
          </p:sp>
        </mc:Choice>
        <mc:Fallback xmlns="">
          <p:sp>
            <p:nvSpPr>
              <p:cNvPr id="6" name="txt_87">
                <a:extLst>
                  <a:ext uri="{FF2B5EF4-FFF2-40B4-BE49-F238E27FC236}">
                    <a16:creationId xmlns:a16="http://schemas.microsoft.com/office/drawing/2014/main" id="{8EADAB4D-19CA-BFB5-688D-44DCB743E6B3}"/>
                  </a:ext>
                </a:extLst>
              </p:cNvPr>
              <p:cNvSpPr txBox="1">
                <a:spLocks noGrp="1" noRot="1" noChangeAspect="1" noMove="1" noResize="1" noEditPoints="1" noAdjustHandles="1" noChangeArrowheads="1" noChangeShapeType="1" noTextEdit="1"/>
              </p:cNvSpPr>
              <p:nvPr/>
            </p:nvSpPr>
            <p:spPr>
              <a:xfrm>
                <a:off x="609600" y="5819775"/>
                <a:ext cx="10953750" cy="495300"/>
              </a:xfrm>
              <a:prstGeom prst="rect">
                <a:avLst/>
              </a:prstGeom>
              <a:blipFill>
                <a:blip r:embed="rId6"/>
                <a:stretch>
                  <a:fillRect t="-18519"/>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33848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B42F29-9A96-5E56-451B-BC8DDC8EE4DC}"/>
            </a:ext>
          </a:extLst>
        </p:cNvPr>
        <p:cNvGrpSpPr/>
        <p:nvPr/>
      </p:nvGrpSpPr>
      <p:grpSpPr>
        <a:xfrm>
          <a:off x="0" y="0"/>
          <a:ext cx="0" cy="0"/>
          <a:chOff x="0" y="0"/>
          <a:chExt cx="0" cy="0"/>
        </a:xfrm>
      </p:grpSpPr>
      <p:sp>
        <p:nvSpPr>
          <p:cNvPr id="8" name="title">
            <a:extLst>
              <a:ext uri="{FF2B5EF4-FFF2-40B4-BE49-F238E27FC236}">
                <a16:creationId xmlns:a16="http://schemas.microsoft.com/office/drawing/2014/main" id="{D8A8386C-8DA9-55C2-4D86-746EF51D714E}"/>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Solving the system</a:t>
            </a:r>
          </a:p>
        </p:txBody>
      </p:sp>
      <p:sp>
        <p:nvSpPr>
          <p:cNvPr id="2" name="page_number">
            <a:extLst>
              <a:ext uri="{FF2B5EF4-FFF2-40B4-BE49-F238E27FC236}">
                <a16:creationId xmlns:a16="http://schemas.microsoft.com/office/drawing/2014/main" id="{EFB03DD8-7D4E-E962-FEAB-A77E9CDF877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26</a:t>
            </a:r>
          </a:p>
        </p:txBody>
      </p:sp>
      <mc:AlternateContent xmlns:mc="http://schemas.openxmlformats.org/markup-compatibility/2006" xmlns:a14="http://schemas.microsoft.com/office/drawing/2010/main">
        <mc:Choice Requires="a14">
          <p:sp>
            <p:nvSpPr>
              <p:cNvPr id="3" name="eq_88">
                <a:extLst>
                  <a:ext uri="{FF2B5EF4-FFF2-40B4-BE49-F238E27FC236}">
                    <a16:creationId xmlns:a16="http://schemas.microsoft.com/office/drawing/2014/main" id="{B9A3E045-7396-FE88-73BA-4D2530E45670}"/>
                  </a:ext>
                </a:extLst>
              </p:cNvPr>
              <p:cNvSpPr txBox="1">
                <a:spLocks noGrp="1"/>
              </p:cNvSpPr>
              <p:nvPr/>
            </p:nvSpPr>
            <p:spPr>
              <a:xfrm>
                <a:off x="685800" y="1771650"/>
                <a:ext cx="10953750" cy="904875"/>
              </a:xfrm>
              <a:prstGeom prst="rect">
                <a:avLst/>
              </a:prstGeom>
              <a:noFill/>
              <a:ln w="0">
                <a:noFill/>
              </a:ln>
            </p:spPr>
            <p:txBody>
              <a:bodyPr vertOverflow="overflow" wrap="none" lIns="0" tIns="0" rIns="0" bIns="0" anchor="t">
                <a:noAutofit/>
              </a:bodyPr>
              <a:lstStyle/>
              <a:p>
                <a:pPr marL="0" marR="0" indent="0" algn="ctr">
                  <a:defRPr lang="en-GB" sz="2475" b="0" i="0" dirty="0">
                    <a:solidFill>
                      <a:srgbClr val="182D45"/>
                    </a:solidFill>
                    <a:latin typeface="Cambria Math"/>
                    <a:ea typeface="Cambria Math"/>
                    <a:cs typeface="Cambria Math"/>
                  </a:defRPr>
                </a:pPr>
                <a14:m>
                  <m:oMathPara xmlns:m="http://schemas.openxmlformats.org/officeDocument/2006/math">
                    <m:oMath>
                      <m:bar>
                        <m:barPr>
                          <m:pos m:val="top"/>
                          <m:ctrlPr>
                            <a:rPr lang="en-GB" sz="2475" b="0" dirty="0">
                              <a:solidFill>
                                <a:srgbClr val="182D45"/>
                              </a:solidFill>
                              <a:latin typeface="Cambria Math"/>
                              <a:ea typeface="Cambria Math"/>
                              <a:cs typeface="Cambria Math"/>
                            </a:rPr>
                          </m:ctrlPr>
                        </m:barPr>
                        <m:e>
                          <m:r>
                            <a:rPr lang="en-GB" sz="2475" b="0" dirty="0">
                              <a:solidFill>
                                <a:srgbClr val="182D45"/>
                              </a:solidFill>
                              <a:latin typeface="Cambria Math"/>
                              <a:ea typeface="Cambria Math"/>
                              <a:cs typeface="Cambria Math"/>
                            </a:rPr>
                            <m:t>𝑥</m:t>
                          </m:r>
                        </m:e>
                      </m:bar>
                      <m:r>
                        <a:rPr lang="en-GB" sz="2475" b="0" dirty="0">
                          <a:solidFill>
                            <a:srgbClr val="182D45"/>
                          </a:solidFill>
                          <a:latin typeface="Cambria Math"/>
                          <a:ea typeface="Cambria Math"/>
                          <a:cs typeface="Cambria Math"/>
                        </a:rPr>
                        <m:t>=</m:t>
                      </m:r>
                      <m:f>
                        <m:fPr>
                          <m:ctrlPr>
                            <a:rPr lang="en-GB" sz="2475" b="0" dirty="0">
                              <a:solidFill>
                                <a:srgbClr val="182D45"/>
                              </a:solidFill>
                              <a:latin typeface="Cambria Math"/>
                              <a:ea typeface="Cambria Math"/>
                              <a:cs typeface="Cambria Math"/>
                            </a:rPr>
                          </m:ctrlPr>
                        </m:fPr>
                        <m:num>
                          <m:r>
                            <a:rPr lang="en-GB" sz="2475" b="0" dirty="0">
                              <a:solidFill>
                                <a:srgbClr val="182D45"/>
                              </a:solidFill>
                              <a:latin typeface="Cambria Math"/>
                              <a:ea typeface="Cambria Math"/>
                              <a:cs typeface="Cambria Math"/>
                            </a:rPr>
                            <m:t>1</m:t>
                          </m:r>
                        </m:num>
                        <m:den>
                          <m:r>
                            <a:rPr lang="en-GB" sz="2475" b="0" dirty="0">
                              <a:solidFill>
                                <a:srgbClr val="182D45"/>
                              </a:solidFill>
                              <a:latin typeface="Cambria Math"/>
                              <a:ea typeface="Cambria Math"/>
                              <a:cs typeface="Cambria Math"/>
                            </a:rPr>
                            <m:t>𝑁</m:t>
                          </m:r>
                        </m:den>
                      </m:f>
                      <m:nary>
                        <m:naryPr>
                          <m:chr m:val="∑"/>
                          <m:limLoc m:val="undOvr"/>
                          <m:ctrlPr>
                            <a:rPr lang="en-GB" sz="2475" b="0" dirty="0">
                              <a:solidFill>
                                <a:srgbClr val="182D45"/>
                              </a:solidFill>
                              <a:latin typeface="Cambria Math"/>
                              <a:ea typeface="Cambria Math"/>
                              <a:cs typeface="Cambria Math"/>
                            </a:rPr>
                          </m:ctrlPr>
                        </m:naryPr>
                        <m:sub>
                          <m:r>
                            <a:rPr lang="en-GB" sz="2475" b="0" dirty="0">
                              <a:solidFill>
                                <a:srgbClr val="182D45"/>
                              </a:solidFill>
                              <a:latin typeface="Cambria Math"/>
                              <a:ea typeface="Cambria Math"/>
                              <a:cs typeface="Cambria Math"/>
                            </a:rPr>
                            <m:t>𝑖</m:t>
                          </m:r>
                          <m:r>
                            <a:rPr lang="en-GB" sz="2475" b="0" dirty="0">
                              <a:solidFill>
                                <a:srgbClr val="182D45"/>
                              </a:solidFill>
                              <a:latin typeface="Cambria Math"/>
                              <a:ea typeface="Cambria Math"/>
                              <a:cs typeface="Cambria Math"/>
                            </a:rPr>
                            <m:t>=1</m:t>
                          </m:r>
                        </m:sub>
                        <m:sup>
                          <m:r>
                            <a:rPr lang="en-GB" sz="2475" b="0" dirty="0">
                              <a:solidFill>
                                <a:srgbClr val="182D45"/>
                              </a:solidFill>
                              <a:latin typeface="Cambria Math"/>
                              <a:ea typeface="Cambria Math"/>
                              <a:cs typeface="Cambria Math"/>
                            </a:rPr>
                            <m:t>𝑁</m:t>
                          </m:r>
                        </m:sup>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𝑖</m:t>
                              </m:r>
                            </m:sub>
                          </m:sSub>
                        </m:e>
                      </m:nary>
                      <m:r>
                        <a:rPr lang="en-GB" sz="2475" b="0" dirty="0">
                          <a:solidFill>
                            <a:srgbClr val="182D45"/>
                          </a:solidFill>
                          <a:latin typeface="Cambria Math"/>
                          <a:ea typeface="Cambria Math"/>
                          <a:cs typeface="Cambria Math"/>
                        </a:rPr>
                        <m:t>,  </m:t>
                      </m:r>
                      <m:bar>
                        <m:barPr>
                          <m:pos m:val="top"/>
                          <m:ctrlPr>
                            <a:rPr lang="en-GB" sz="2475" b="0" dirty="0">
                              <a:solidFill>
                                <a:srgbClr val="182D45"/>
                              </a:solidFill>
                              <a:latin typeface="Cambria Math"/>
                              <a:ea typeface="Cambria Math"/>
                              <a:cs typeface="Cambria Math"/>
                            </a:rPr>
                          </m:ctrlPr>
                        </m:barPr>
                        <m:e>
                          <m:r>
                            <a:rPr lang="en-GB" sz="2475" b="0" dirty="0">
                              <a:solidFill>
                                <a:srgbClr val="182D45"/>
                              </a:solidFill>
                              <a:latin typeface="Cambria Math"/>
                              <a:ea typeface="Cambria Math"/>
                              <a:cs typeface="Cambria Math"/>
                            </a:rPr>
                            <m:t>𝑦</m:t>
                          </m:r>
                        </m:e>
                      </m:bar>
                      <m:r>
                        <a:rPr lang="en-GB" sz="2475" b="0" dirty="0">
                          <a:solidFill>
                            <a:srgbClr val="182D45"/>
                          </a:solidFill>
                          <a:latin typeface="Cambria Math"/>
                          <a:ea typeface="Cambria Math"/>
                          <a:cs typeface="Cambria Math"/>
                        </a:rPr>
                        <m:t>=</m:t>
                      </m:r>
                      <m:f>
                        <m:fPr>
                          <m:ctrlPr>
                            <a:rPr lang="en-GB" sz="2475" b="0" dirty="0">
                              <a:solidFill>
                                <a:srgbClr val="182D45"/>
                              </a:solidFill>
                              <a:latin typeface="Cambria Math"/>
                              <a:ea typeface="Cambria Math"/>
                              <a:cs typeface="Cambria Math"/>
                            </a:rPr>
                          </m:ctrlPr>
                        </m:fPr>
                        <m:num>
                          <m:r>
                            <a:rPr lang="en-GB" sz="2475" b="0" dirty="0">
                              <a:solidFill>
                                <a:srgbClr val="182D45"/>
                              </a:solidFill>
                              <a:latin typeface="Cambria Math"/>
                              <a:ea typeface="Cambria Math"/>
                              <a:cs typeface="Cambria Math"/>
                            </a:rPr>
                            <m:t>1</m:t>
                          </m:r>
                        </m:num>
                        <m:den>
                          <m:r>
                            <a:rPr lang="en-GB" sz="2475" b="0" dirty="0">
                              <a:solidFill>
                                <a:srgbClr val="182D45"/>
                              </a:solidFill>
                              <a:latin typeface="Cambria Math"/>
                              <a:ea typeface="Cambria Math"/>
                              <a:cs typeface="Cambria Math"/>
                            </a:rPr>
                            <m:t>𝑁</m:t>
                          </m:r>
                        </m:den>
                      </m:f>
                      <m:nary>
                        <m:naryPr>
                          <m:chr m:val="∑"/>
                          <m:limLoc m:val="undOvr"/>
                          <m:ctrlPr>
                            <a:rPr lang="en-GB" sz="2475" b="0" dirty="0">
                              <a:solidFill>
                                <a:srgbClr val="182D45"/>
                              </a:solidFill>
                              <a:latin typeface="Cambria Math"/>
                              <a:ea typeface="Cambria Math"/>
                              <a:cs typeface="Cambria Math"/>
                            </a:rPr>
                          </m:ctrlPr>
                        </m:naryPr>
                        <m:sub>
                          <m:r>
                            <a:rPr lang="en-GB" sz="2475" b="0" dirty="0">
                              <a:solidFill>
                                <a:srgbClr val="182D45"/>
                              </a:solidFill>
                              <a:latin typeface="Cambria Math"/>
                              <a:ea typeface="Cambria Math"/>
                              <a:cs typeface="Cambria Math"/>
                            </a:rPr>
                            <m:t>𝑖</m:t>
                          </m:r>
                          <m:r>
                            <a:rPr lang="en-GB" sz="2475" b="0" dirty="0">
                              <a:solidFill>
                                <a:srgbClr val="182D45"/>
                              </a:solidFill>
                              <a:latin typeface="Cambria Math"/>
                              <a:ea typeface="Cambria Math"/>
                              <a:cs typeface="Cambria Math"/>
                            </a:rPr>
                            <m:t>=1</m:t>
                          </m:r>
                        </m:sub>
                        <m:sup>
                          <m:r>
                            <a:rPr lang="en-GB" sz="2475" b="0" dirty="0">
                              <a:solidFill>
                                <a:srgbClr val="182D45"/>
                              </a:solidFill>
                              <a:latin typeface="Cambria Math"/>
                              <a:ea typeface="Cambria Math"/>
                              <a:cs typeface="Cambria Math"/>
                            </a:rPr>
                            <m:t>𝑁</m:t>
                          </m:r>
                        </m:sup>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𝑦</m:t>
                              </m:r>
                            </m:e>
                            <m:sub>
                              <m:r>
                                <a:rPr lang="en-GB" sz="2475" b="0" dirty="0">
                                  <a:solidFill>
                                    <a:srgbClr val="182D45"/>
                                  </a:solidFill>
                                  <a:latin typeface="Cambria Math"/>
                                  <a:ea typeface="Cambria Math"/>
                                  <a:cs typeface="Cambria Math"/>
                                </a:rPr>
                                <m:t>𝑖</m:t>
                              </m:r>
                            </m:sub>
                          </m:sSub>
                        </m:e>
                      </m:nary>
                    </m:oMath>
                  </m:oMathPara>
                </a14:m>
                <a:endParaRPr lang="en-GB" sz="2475" b="0" i="0" dirty="0">
                  <a:solidFill>
                    <a:srgbClr val="182D45"/>
                  </a:solidFill>
                  <a:latin typeface="Cambria Math"/>
                  <a:ea typeface="Cambria Math"/>
                  <a:cs typeface="Cambria Math"/>
                </a:endParaRPr>
              </a:p>
            </p:txBody>
          </p:sp>
        </mc:Choice>
        <mc:Fallback xmlns="">
          <p:sp>
            <p:nvSpPr>
              <p:cNvPr id="3" name="eq_88">
                <a:extLst>
                  <a:ext uri="{FF2B5EF4-FFF2-40B4-BE49-F238E27FC236}">
                    <a16:creationId xmlns:a16="http://schemas.microsoft.com/office/drawing/2014/main" id="{B9A3E045-7396-FE88-73BA-4D2530E45670}"/>
                  </a:ext>
                </a:extLst>
              </p:cNvPr>
              <p:cNvSpPr txBox="1">
                <a:spLocks noGrp="1" noRot="1" noChangeAspect="1" noMove="1" noResize="1" noEditPoints="1" noAdjustHandles="1" noChangeArrowheads="1" noChangeShapeType="1" noTextEdit="1"/>
              </p:cNvSpPr>
              <p:nvPr/>
            </p:nvSpPr>
            <p:spPr>
              <a:xfrm>
                <a:off x="685800" y="1771650"/>
                <a:ext cx="10953750" cy="904875"/>
              </a:xfrm>
              <a:prstGeom prst="rect">
                <a:avLst/>
              </a:prstGeom>
              <a:blipFill>
                <a:blip r:embed="rId3"/>
                <a:stretch>
                  <a:fillRect b="-17568"/>
                </a:stretch>
              </a:blipFill>
              <a:ln w="0">
                <a:noFill/>
              </a:ln>
            </p:spPr>
            <p:txBody>
              <a:bodyPr/>
              <a:lstStyle/>
              <a:p>
                <a:r>
                  <a:rPr lang="it-IT">
                    <a:noFill/>
                  </a:rPr>
                  <a:t> </a:t>
                </a:r>
              </a:p>
            </p:txBody>
          </p:sp>
        </mc:Fallback>
      </mc:AlternateContent>
      <p:sp>
        <p:nvSpPr>
          <p:cNvPr id="4" name="txt_89">
            <a:extLst>
              <a:ext uri="{FF2B5EF4-FFF2-40B4-BE49-F238E27FC236}">
                <a16:creationId xmlns:a16="http://schemas.microsoft.com/office/drawing/2014/main" id="{E48EE8CF-C527-749B-B511-473799CC816D}"/>
              </a:ext>
            </a:extLst>
          </p:cNvPr>
          <p:cNvSpPr>
            <a:spLocks noGrp="1"/>
          </p:cNvSpPr>
          <p:nvPr/>
        </p:nvSpPr>
        <p:spPr>
          <a:xfrm>
            <a:off x="609600" y="3043236"/>
            <a:ext cx="10953750" cy="447675"/>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The first equation gives the intercept in terms of the slope.</a:t>
            </a:r>
          </a:p>
        </p:txBody>
      </p:sp>
      <mc:AlternateContent xmlns:mc="http://schemas.openxmlformats.org/markup-compatibility/2006" xmlns:a14="http://schemas.microsoft.com/office/drawing/2010/main">
        <mc:Choice Requires="a14">
          <p:sp>
            <p:nvSpPr>
              <p:cNvPr id="5" name="eq_90">
                <a:extLst>
                  <a:ext uri="{FF2B5EF4-FFF2-40B4-BE49-F238E27FC236}">
                    <a16:creationId xmlns:a16="http://schemas.microsoft.com/office/drawing/2014/main" id="{A25B8B26-BA5D-3457-BA0C-0BD979921545}"/>
                  </a:ext>
                </a:extLst>
              </p:cNvPr>
              <p:cNvSpPr txBox="1">
                <a:spLocks noGrp="1"/>
              </p:cNvSpPr>
              <p:nvPr/>
            </p:nvSpPr>
            <p:spPr>
              <a:xfrm>
                <a:off x="609600" y="3733799"/>
                <a:ext cx="10953750" cy="628650"/>
              </a:xfrm>
              <a:prstGeom prst="rect">
                <a:avLst/>
              </a:prstGeom>
              <a:noFill/>
              <a:ln w="0">
                <a:noFill/>
              </a:ln>
            </p:spPr>
            <p:txBody>
              <a:bodyPr vertOverflow="overflow" wrap="none" lIns="0" tIns="0" rIns="0" bIns="0" anchor="t">
                <a:noAutofit/>
              </a:bodyPr>
              <a:lstStyle/>
              <a:p>
                <a:pPr marL="0" marR="0" indent="0" algn="ctr">
                  <a:defRPr lang="en-GB" sz="3000" b="0" i="0" dirty="0">
                    <a:solidFill>
                      <a:srgbClr val="087F83"/>
                    </a:solidFill>
                    <a:latin typeface="Cambria Math"/>
                    <a:ea typeface="Cambria Math"/>
                    <a:cs typeface="Cambria Math"/>
                  </a:defRPr>
                </a:pPr>
                <a14:m>
                  <m:oMathPara xmlns:m="http://schemas.openxmlformats.org/officeDocument/2006/math">
                    <m:oMath>
                      <m:r>
                        <a:rPr lang="en-GB" sz="3000" b="0" dirty="0">
                          <a:solidFill>
                            <a:srgbClr val="087F83"/>
                          </a:solidFill>
                          <a:latin typeface="Cambria Math"/>
                          <a:ea typeface="Cambria Math"/>
                          <a:cs typeface="Cambria Math"/>
                        </a:rPr>
                        <m:t>𝑏</m:t>
                      </m:r>
                      <m:r>
                        <a:rPr lang="en-GB" sz="3000" b="0" dirty="0">
                          <a:solidFill>
                            <a:srgbClr val="087F83"/>
                          </a:solidFill>
                          <a:latin typeface="Cambria Math"/>
                          <a:ea typeface="Cambria Math"/>
                          <a:cs typeface="Cambria Math"/>
                        </a:rPr>
                        <m:t>=</m:t>
                      </m:r>
                      <m:bar>
                        <m:barPr>
                          <m:pos m:val="top"/>
                          <m:ctrlPr>
                            <a:rPr lang="en-GB" sz="3000" b="0" dirty="0">
                              <a:solidFill>
                                <a:srgbClr val="087F83"/>
                              </a:solidFill>
                              <a:latin typeface="Cambria Math"/>
                              <a:ea typeface="Cambria Math"/>
                              <a:cs typeface="Cambria Math"/>
                            </a:rPr>
                          </m:ctrlPr>
                        </m:barPr>
                        <m:e>
                          <m:r>
                            <a:rPr lang="en-GB" sz="3000" b="0" dirty="0">
                              <a:solidFill>
                                <a:srgbClr val="087F83"/>
                              </a:solidFill>
                              <a:latin typeface="Cambria Math"/>
                              <a:ea typeface="Cambria Math"/>
                              <a:cs typeface="Cambria Math"/>
                            </a:rPr>
                            <m:t>𝑦</m:t>
                          </m:r>
                        </m:e>
                      </m:bar>
                      <m:r>
                        <a:rPr lang="en-GB" sz="3000" b="0" dirty="0">
                          <a:solidFill>
                            <a:srgbClr val="087F83"/>
                          </a:solidFill>
                          <a:latin typeface="Cambria Math"/>
                          <a:ea typeface="Cambria Math"/>
                          <a:cs typeface="Cambria Math"/>
                        </a:rPr>
                        <m:t>−</m:t>
                      </m:r>
                      <m:r>
                        <a:rPr lang="en-GB" sz="3000" b="0" dirty="0">
                          <a:solidFill>
                            <a:srgbClr val="087F83"/>
                          </a:solidFill>
                          <a:latin typeface="Cambria Math"/>
                          <a:ea typeface="Cambria Math"/>
                          <a:cs typeface="Cambria Math"/>
                        </a:rPr>
                        <m:t>𝑎</m:t>
                      </m:r>
                      <m:bar>
                        <m:barPr>
                          <m:pos m:val="top"/>
                          <m:ctrlPr>
                            <a:rPr lang="en-GB" sz="3000" b="0" dirty="0">
                              <a:solidFill>
                                <a:srgbClr val="087F83"/>
                              </a:solidFill>
                              <a:latin typeface="Cambria Math"/>
                              <a:ea typeface="Cambria Math"/>
                              <a:cs typeface="Cambria Math"/>
                            </a:rPr>
                          </m:ctrlPr>
                        </m:barPr>
                        <m:e>
                          <m:r>
                            <a:rPr lang="en-GB" sz="3000" b="0" dirty="0">
                              <a:solidFill>
                                <a:srgbClr val="087F83"/>
                              </a:solidFill>
                              <a:latin typeface="Cambria Math"/>
                              <a:ea typeface="Cambria Math"/>
                              <a:cs typeface="Cambria Math"/>
                            </a:rPr>
                            <m:t>𝑥</m:t>
                          </m:r>
                        </m:e>
                      </m:bar>
                    </m:oMath>
                  </m:oMathPara>
                </a14:m>
                <a:endParaRPr lang="en-GB" sz="3000" b="0" i="0" dirty="0">
                  <a:solidFill>
                    <a:srgbClr val="087F83"/>
                  </a:solidFill>
                  <a:latin typeface="Cambria Math"/>
                  <a:ea typeface="Cambria Math"/>
                  <a:cs typeface="Cambria Math"/>
                </a:endParaRPr>
              </a:p>
            </p:txBody>
          </p:sp>
        </mc:Choice>
        <mc:Fallback xmlns="">
          <p:sp>
            <p:nvSpPr>
              <p:cNvPr id="5" name="eq_90">
                <a:extLst>
                  <a:ext uri="{FF2B5EF4-FFF2-40B4-BE49-F238E27FC236}">
                    <a16:creationId xmlns:a16="http://schemas.microsoft.com/office/drawing/2014/main" id="{A25B8B26-BA5D-3457-BA0C-0BD979921545}"/>
                  </a:ext>
                </a:extLst>
              </p:cNvPr>
              <p:cNvSpPr txBox="1">
                <a:spLocks noGrp="1" noRot="1" noChangeAspect="1" noMove="1" noResize="1" noEditPoints="1" noAdjustHandles="1" noChangeArrowheads="1" noChangeShapeType="1" noTextEdit="1"/>
              </p:cNvSpPr>
              <p:nvPr/>
            </p:nvSpPr>
            <p:spPr>
              <a:xfrm>
                <a:off x="609600" y="3733799"/>
                <a:ext cx="10953750" cy="628650"/>
              </a:xfrm>
              <a:prstGeom prst="rect">
                <a:avLst/>
              </a:prstGeom>
              <a:blipFill>
                <a:blip r:embed="rId4"/>
                <a:stretch>
                  <a:fillRect/>
                </a:stretch>
              </a:blipFill>
              <a:ln w="0">
                <a:noFill/>
              </a:ln>
            </p:spPr>
            <p:txBody>
              <a:bodyPr/>
              <a:lstStyle/>
              <a:p>
                <a:r>
                  <a:rPr lang="it-IT">
                    <a:noFill/>
                  </a:rPr>
                  <a:t> </a:t>
                </a:r>
              </a:p>
            </p:txBody>
          </p:sp>
        </mc:Fallback>
      </mc:AlternateContent>
      <p:sp>
        <p:nvSpPr>
          <p:cNvPr id="6" name="txt_91">
            <a:extLst>
              <a:ext uri="{FF2B5EF4-FFF2-40B4-BE49-F238E27FC236}">
                <a16:creationId xmlns:a16="http://schemas.microsoft.com/office/drawing/2014/main" id="{A9A3FE27-7F71-40EB-37C3-A78731EA8F29}"/>
              </a:ext>
            </a:extLst>
          </p:cNvPr>
          <p:cNvSpPr>
            <a:spLocks noGrp="1"/>
          </p:cNvSpPr>
          <p:nvPr/>
        </p:nvSpPr>
        <p:spPr>
          <a:xfrm>
            <a:off x="609600" y="4538662"/>
            <a:ext cx="10953750" cy="447675"/>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Substitute this expression into the second equation.</a:t>
            </a:r>
          </a:p>
        </p:txBody>
      </p:sp>
      <mc:AlternateContent xmlns:mc="http://schemas.openxmlformats.org/markup-compatibility/2006" xmlns:a14="http://schemas.microsoft.com/office/drawing/2010/main">
        <mc:Choice Requires="a14">
          <p:sp>
            <p:nvSpPr>
              <p:cNvPr id="7" name="eq_92">
                <a:extLst>
                  <a:ext uri="{FF2B5EF4-FFF2-40B4-BE49-F238E27FC236}">
                    <a16:creationId xmlns:a16="http://schemas.microsoft.com/office/drawing/2014/main" id="{94158634-C1DD-30A4-0421-2B31BA75D2E1}"/>
                  </a:ext>
                </a:extLst>
              </p:cNvPr>
              <p:cNvSpPr txBox="1">
                <a:spLocks noGrp="1"/>
              </p:cNvSpPr>
              <p:nvPr/>
            </p:nvSpPr>
            <p:spPr>
              <a:xfrm>
                <a:off x="609600" y="5162550"/>
                <a:ext cx="10953750" cy="1057275"/>
              </a:xfrm>
              <a:prstGeom prst="rect">
                <a:avLst/>
              </a:prstGeom>
              <a:noFill/>
              <a:ln w="0">
                <a:noFill/>
              </a:ln>
            </p:spPr>
            <p:txBody>
              <a:bodyPr vertOverflow="overflow" wrap="none" lIns="0" tIns="0" rIns="0" bIns="0" anchor="t">
                <a:noAutofit/>
              </a:bodyPr>
              <a:lstStyle/>
              <a:p>
                <a:pPr algn="ctr">
                  <a:defRPr lang="en-GB" sz="2550" b="0" i="0" dirty="0">
                    <a:solidFill>
                      <a:srgbClr val="326CB2"/>
                    </a:solidFill>
                    <a:latin typeface="Cambria Math"/>
                    <a:ea typeface="Cambria Math"/>
                    <a:cs typeface="Cambria Math"/>
                  </a:defRPr>
                </a:pPr>
                <a14:m>
                  <m:oMathPara xmlns:m="http://schemas.openxmlformats.org/officeDocument/2006/math">
                    <m:oMath>
                      <m:r>
                        <a:rPr lang="en-GB" sz="2550" b="0" dirty="0">
                          <a:solidFill>
                            <a:srgbClr val="326CB2"/>
                          </a:solidFill>
                          <a:latin typeface="Cambria Math"/>
                          <a:ea typeface="Cambria Math"/>
                          <a:cs typeface="Cambria Math"/>
                        </a:rPr>
                        <m:t>𝑎</m:t>
                      </m:r>
                      <m:d>
                        <m:dPr>
                          <m:ctrlPr>
                            <a:rPr lang="en-GB" sz="2550" b="0" i="1" dirty="0">
                              <a:solidFill>
                                <a:srgbClr val="326CB2"/>
                              </a:solidFill>
                              <a:latin typeface="Cambria Math" panose="02040503050406030204" pitchFamily="18" charset="0"/>
                              <a:ea typeface="Cambria Math"/>
                              <a:cs typeface="Cambria Math"/>
                            </a:rPr>
                          </m:ctrlPr>
                        </m:dPr>
                        <m:e>
                          <m:nary>
                            <m:naryPr>
                              <m:chr m:val="∑"/>
                              <m:limLoc m:val="undOvr"/>
                              <m:ctrlPr>
                                <a:rPr lang="en-GB" sz="2550" b="0" dirty="0">
                                  <a:solidFill>
                                    <a:srgbClr val="326CB2"/>
                                  </a:solidFill>
                                  <a:latin typeface="Cambria Math"/>
                                  <a:ea typeface="Cambria Math"/>
                                  <a:cs typeface="Cambria Math"/>
                                </a:rPr>
                              </m:ctrlPr>
                            </m:naryPr>
                            <m:sub>
                              <m:r>
                                <a:rPr lang="en-GB" sz="2550" b="0" dirty="0">
                                  <a:solidFill>
                                    <a:srgbClr val="326CB2"/>
                                  </a:solidFill>
                                  <a:latin typeface="Cambria Math"/>
                                  <a:ea typeface="Cambria Math"/>
                                  <a:cs typeface="Cambria Math"/>
                                </a:rPr>
                                <m:t>𝑖</m:t>
                              </m:r>
                              <m:r>
                                <a:rPr lang="en-GB" sz="2550" b="0" dirty="0">
                                  <a:solidFill>
                                    <a:srgbClr val="326CB2"/>
                                  </a:solidFill>
                                  <a:latin typeface="Cambria Math"/>
                                  <a:ea typeface="Cambria Math"/>
                                  <a:cs typeface="Cambria Math"/>
                                </a:rPr>
                                <m:t>=1</m:t>
                              </m:r>
                            </m:sub>
                            <m:sup>
                              <m:r>
                                <a:rPr lang="en-GB" sz="2550" b="0" dirty="0">
                                  <a:solidFill>
                                    <a:srgbClr val="326CB2"/>
                                  </a:solidFill>
                                  <a:latin typeface="Cambria Math"/>
                                  <a:ea typeface="Cambria Math"/>
                                  <a:cs typeface="Cambria Math"/>
                                </a:rPr>
                                <m:t>𝑁</m:t>
                              </m:r>
                            </m:sup>
                            <m:e>
                              <m:sSubSup>
                                <m:sSubSupPr>
                                  <m:ctrlPr>
                                    <a:rPr lang="en-GB" sz="2550" b="0" dirty="0">
                                      <a:solidFill>
                                        <a:srgbClr val="326CB2"/>
                                      </a:solidFill>
                                      <a:latin typeface="Cambria Math"/>
                                      <a:ea typeface="Cambria Math"/>
                                      <a:cs typeface="Cambria Math"/>
                                    </a:rPr>
                                  </m:ctrlPr>
                                </m:sSubSupPr>
                                <m:e>
                                  <m:r>
                                    <a:rPr lang="en-GB" sz="2550" b="0" dirty="0">
                                      <a:solidFill>
                                        <a:srgbClr val="326CB2"/>
                                      </a:solidFill>
                                      <a:latin typeface="Cambria Math"/>
                                      <a:ea typeface="Cambria Math"/>
                                      <a:cs typeface="Cambria Math"/>
                                    </a:rPr>
                                    <m:t>𝑥</m:t>
                                  </m:r>
                                </m:e>
                                <m:sub>
                                  <m:r>
                                    <a:rPr lang="en-GB" sz="2550" b="0" dirty="0">
                                      <a:solidFill>
                                        <a:srgbClr val="326CB2"/>
                                      </a:solidFill>
                                      <a:latin typeface="Cambria Math"/>
                                      <a:ea typeface="Cambria Math"/>
                                      <a:cs typeface="Cambria Math"/>
                                    </a:rPr>
                                    <m:t>𝑖</m:t>
                                  </m:r>
                                </m:sub>
                                <m:sup>
                                  <m:r>
                                    <a:rPr lang="en-GB" sz="2550" b="0" dirty="0">
                                      <a:solidFill>
                                        <a:srgbClr val="326CB2"/>
                                      </a:solidFill>
                                      <a:latin typeface="Cambria Math"/>
                                      <a:ea typeface="Cambria Math"/>
                                      <a:cs typeface="Cambria Math"/>
                                    </a:rPr>
                                    <m:t>2</m:t>
                                  </m:r>
                                </m:sup>
                              </m:sSubSup>
                            </m:e>
                          </m:nary>
                          <m:r>
                            <a:rPr lang="en-GB" sz="2550" b="0" dirty="0">
                              <a:solidFill>
                                <a:srgbClr val="326CB2"/>
                              </a:solidFill>
                              <a:latin typeface="Cambria Math"/>
                              <a:ea typeface="Cambria Math"/>
                              <a:cs typeface="Cambria Math"/>
                            </a:rPr>
                            <m:t>−</m:t>
                          </m:r>
                          <m:r>
                            <a:rPr lang="en-GB" sz="2550" b="0" dirty="0">
                              <a:solidFill>
                                <a:srgbClr val="326CB2"/>
                              </a:solidFill>
                              <a:latin typeface="Cambria Math"/>
                              <a:ea typeface="Cambria Math"/>
                              <a:cs typeface="Cambria Math"/>
                            </a:rPr>
                            <m:t>𝑁</m:t>
                          </m:r>
                          <m:sSup>
                            <m:sSupPr>
                              <m:ctrlPr>
                                <a:rPr lang="en-GB" sz="2550" b="0" i="1" dirty="0">
                                  <a:solidFill>
                                    <a:srgbClr val="326CB2"/>
                                  </a:solidFill>
                                  <a:latin typeface="Cambria Math" panose="02040503050406030204" pitchFamily="18" charset="0"/>
                                  <a:ea typeface="Cambria Math"/>
                                  <a:cs typeface="Cambria Math"/>
                                </a:rPr>
                              </m:ctrlPr>
                            </m:sSupPr>
                            <m:e>
                              <m:bar>
                                <m:barPr>
                                  <m:pos m:val="top"/>
                                  <m:ctrlPr>
                                    <a:rPr lang="en-GB" sz="2550" b="0" dirty="0">
                                      <a:solidFill>
                                        <a:srgbClr val="326CB2"/>
                                      </a:solidFill>
                                      <a:latin typeface="Cambria Math"/>
                                      <a:ea typeface="Cambria Math"/>
                                      <a:cs typeface="Cambria Math"/>
                                    </a:rPr>
                                  </m:ctrlPr>
                                </m:barPr>
                                <m:e>
                                  <m:r>
                                    <a:rPr lang="en-GB" sz="2550" b="0" dirty="0">
                                      <a:solidFill>
                                        <a:srgbClr val="326CB2"/>
                                      </a:solidFill>
                                      <a:latin typeface="Cambria Math"/>
                                      <a:ea typeface="Cambria Math"/>
                                      <a:cs typeface="Cambria Math"/>
                                    </a:rPr>
                                    <m:t>𝑥</m:t>
                                  </m:r>
                                </m:e>
                              </m:bar>
                            </m:e>
                            <m:sup>
                              <m:r>
                                <a:rPr lang="en-GB" sz="2550" b="0" dirty="0">
                                  <a:solidFill>
                                    <a:srgbClr val="326CB2"/>
                                  </a:solidFill>
                                  <a:latin typeface="Cambria Math"/>
                                  <a:ea typeface="Cambria Math"/>
                                  <a:cs typeface="Cambria Math"/>
                                </a:rPr>
                                <m:t>2</m:t>
                              </m:r>
                            </m:sup>
                          </m:sSup>
                        </m:e>
                      </m:d>
                      <m:r>
                        <a:rPr lang="en-GB" sz="2550" b="0" dirty="0">
                          <a:solidFill>
                            <a:srgbClr val="326CB2"/>
                          </a:solidFill>
                          <a:latin typeface="Cambria Math"/>
                          <a:ea typeface="Cambria Math"/>
                          <a:cs typeface="Cambria Math"/>
                        </a:rPr>
                        <m:t>=</m:t>
                      </m:r>
                      <m:nary>
                        <m:naryPr>
                          <m:chr m:val="∑"/>
                          <m:limLoc m:val="undOvr"/>
                          <m:ctrlPr>
                            <a:rPr lang="en-GB" sz="2550" b="0" dirty="0">
                              <a:solidFill>
                                <a:srgbClr val="326CB2"/>
                              </a:solidFill>
                              <a:latin typeface="Cambria Math"/>
                              <a:ea typeface="Cambria Math"/>
                              <a:cs typeface="Cambria Math"/>
                            </a:rPr>
                          </m:ctrlPr>
                        </m:naryPr>
                        <m:sub>
                          <m:r>
                            <a:rPr lang="en-GB" sz="2550" b="0" dirty="0">
                              <a:solidFill>
                                <a:srgbClr val="326CB2"/>
                              </a:solidFill>
                              <a:latin typeface="Cambria Math"/>
                              <a:ea typeface="Cambria Math"/>
                              <a:cs typeface="Cambria Math"/>
                            </a:rPr>
                            <m:t>𝑖</m:t>
                          </m:r>
                          <m:r>
                            <a:rPr lang="en-GB" sz="2550" b="0" dirty="0">
                              <a:solidFill>
                                <a:srgbClr val="326CB2"/>
                              </a:solidFill>
                              <a:latin typeface="Cambria Math"/>
                              <a:ea typeface="Cambria Math"/>
                              <a:cs typeface="Cambria Math"/>
                            </a:rPr>
                            <m:t>=1</m:t>
                          </m:r>
                        </m:sub>
                        <m:sup>
                          <m:r>
                            <a:rPr lang="en-GB" sz="2550" b="0" dirty="0">
                              <a:solidFill>
                                <a:srgbClr val="326CB2"/>
                              </a:solidFill>
                              <a:latin typeface="Cambria Math"/>
                              <a:ea typeface="Cambria Math"/>
                              <a:cs typeface="Cambria Math"/>
                            </a:rPr>
                            <m:t>𝑁</m:t>
                          </m:r>
                        </m:sup>
                        <m:e>
                          <m:sSub>
                            <m:sSubPr>
                              <m:ctrlPr>
                                <a:rPr lang="en-GB" sz="2550" b="0" dirty="0">
                                  <a:solidFill>
                                    <a:srgbClr val="326CB2"/>
                                  </a:solidFill>
                                  <a:latin typeface="Cambria Math"/>
                                  <a:ea typeface="Cambria Math"/>
                                  <a:cs typeface="Cambria Math"/>
                                </a:rPr>
                              </m:ctrlPr>
                            </m:sSubPr>
                            <m:e>
                              <m:r>
                                <a:rPr lang="en-GB" sz="2550" b="0" dirty="0">
                                  <a:solidFill>
                                    <a:srgbClr val="326CB2"/>
                                  </a:solidFill>
                                  <a:latin typeface="Cambria Math"/>
                                  <a:ea typeface="Cambria Math"/>
                                  <a:cs typeface="Cambria Math"/>
                                </a:rPr>
                                <m:t>𝑥</m:t>
                              </m:r>
                            </m:e>
                            <m:sub>
                              <m:r>
                                <a:rPr lang="en-GB" sz="2550" b="0" dirty="0">
                                  <a:solidFill>
                                    <a:srgbClr val="326CB2"/>
                                  </a:solidFill>
                                  <a:latin typeface="Cambria Math"/>
                                  <a:ea typeface="Cambria Math"/>
                                  <a:cs typeface="Cambria Math"/>
                                </a:rPr>
                                <m:t>𝑖</m:t>
                              </m:r>
                            </m:sub>
                          </m:sSub>
                          <m:sSub>
                            <m:sSubPr>
                              <m:ctrlPr>
                                <a:rPr lang="en-GB" sz="2550" dirty="0">
                                  <a:solidFill>
                                    <a:srgbClr val="326CB2"/>
                                  </a:solidFill>
                                  <a:latin typeface="Cambria Math"/>
                                  <a:ea typeface="Cambria Math"/>
                                  <a:cs typeface="Cambria Math"/>
                                </a:rPr>
                              </m:ctrlPr>
                            </m:sSubPr>
                            <m:e>
                              <m:r>
                                <a:rPr lang="en-GB" sz="2550" dirty="0">
                                  <a:solidFill>
                                    <a:srgbClr val="326CB2"/>
                                  </a:solidFill>
                                  <a:latin typeface="Cambria Math"/>
                                  <a:ea typeface="Cambria Math"/>
                                  <a:cs typeface="Cambria Math"/>
                                </a:rPr>
                                <m:t>𝑦</m:t>
                              </m:r>
                            </m:e>
                            <m:sub>
                              <m:r>
                                <a:rPr lang="en-GB" sz="2550" dirty="0">
                                  <a:solidFill>
                                    <a:srgbClr val="326CB2"/>
                                  </a:solidFill>
                                  <a:latin typeface="Cambria Math"/>
                                  <a:ea typeface="Cambria Math"/>
                                  <a:cs typeface="Cambria Math"/>
                                </a:rPr>
                                <m:t>𝑖</m:t>
                              </m:r>
                            </m:sub>
                          </m:sSub>
                        </m:e>
                      </m:nary>
                      <m:r>
                        <a:rPr lang="en-GB" sz="2550" b="0" dirty="0">
                          <a:solidFill>
                            <a:srgbClr val="326CB2"/>
                          </a:solidFill>
                          <a:latin typeface="Cambria Math"/>
                          <a:ea typeface="Cambria Math"/>
                          <a:cs typeface="Cambria Math"/>
                        </a:rPr>
                        <m:t>−</m:t>
                      </m:r>
                      <m:r>
                        <a:rPr lang="en-GB" sz="2550" b="0" dirty="0">
                          <a:solidFill>
                            <a:srgbClr val="326CB2"/>
                          </a:solidFill>
                          <a:latin typeface="Cambria Math"/>
                          <a:ea typeface="Cambria Math"/>
                          <a:cs typeface="Cambria Math"/>
                        </a:rPr>
                        <m:t>𝑁</m:t>
                      </m:r>
                      <m:bar>
                        <m:barPr>
                          <m:pos m:val="top"/>
                          <m:ctrlPr>
                            <a:rPr lang="en-GB" sz="2550" b="0" dirty="0">
                              <a:solidFill>
                                <a:srgbClr val="326CB2"/>
                              </a:solidFill>
                              <a:latin typeface="Cambria Math"/>
                              <a:ea typeface="Cambria Math"/>
                              <a:cs typeface="Cambria Math"/>
                            </a:rPr>
                          </m:ctrlPr>
                        </m:barPr>
                        <m:e>
                          <m:r>
                            <a:rPr lang="en-GB" sz="2550" b="0" dirty="0">
                              <a:solidFill>
                                <a:srgbClr val="326CB2"/>
                              </a:solidFill>
                              <a:latin typeface="Cambria Math"/>
                              <a:ea typeface="Cambria Math"/>
                              <a:cs typeface="Cambria Math"/>
                            </a:rPr>
                            <m:t>𝑥</m:t>
                          </m:r>
                        </m:e>
                      </m:bar>
                      <m:r>
                        <a:rPr lang="en-GB" sz="2550" b="0" dirty="0">
                          <a:solidFill>
                            <a:srgbClr val="326CB2"/>
                          </a:solidFill>
                          <a:latin typeface="Cambria Math"/>
                          <a:ea typeface="Cambria Math"/>
                          <a:cs typeface="Cambria Math"/>
                        </a:rPr>
                        <m:t> </m:t>
                      </m:r>
                      <m:bar>
                        <m:barPr>
                          <m:pos m:val="top"/>
                          <m:ctrlPr>
                            <a:rPr lang="en-GB" sz="2550" b="0" dirty="0">
                              <a:solidFill>
                                <a:srgbClr val="326CB2"/>
                              </a:solidFill>
                              <a:latin typeface="Cambria Math"/>
                              <a:ea typeface="Cambria Math"/>
                              <a:cs typeface="Cambria Math"/>
                            </a:rPr>
                          </m:ctrlPr>
                        </m:barPr>
                        <m:e>
                          <m:r>
                            <a:rPr lang="en-GB" sz="2550" b="0" dirty="0">
                              <a:solidFill>
                                <a:srgbClr val="326CB2"/>
                              </a:solidFill>
                              <a:latin typeface="Cambria Math"/>
                              <a:ea typeface="Cambria Math"/>
                              <a:cs typeface="Cambria Math"/>
                            </a:rPr>
                            <m:t>𝑦</m:t>
                          </m:r>
                        </m:e>
                      </m:bar>
                    </m:oMath>
                  </m:oMathPara>
                </a14:m>
                <a:endParaRPr lang="en-GB" sz="2550" b="0" i="0" dirty="0">
                  <a:solidFill>
                    <a:srgbClr val="326CB2"/>
                  </a:solidFill>
                  <a:latin typeface="Cambria Math"/>
                  <a:ea typeface="Cambria Math"/>
                  <a:cs typeface="Cambria Math"/>
                </a:endParaRPr>
              </a:p>
            </p:txBody>
          </p:sp>
        </mc:Choice>
        <mc:Fallback xmlns="">
          <p:sp>
            <p:nvSpPr>
              <p:cNvPr id="7" name="eq_92">
                <a:extLst>
                  <a:ext uri="{FF2B5EF4-FFF2-40B4-BE49-F238E27FC236}">
                    <a16:creationId xmlns:a16="http://schemas.microsoft.com/office/drawing/2014/main" id="{94158634-C1DD-30A4-0421-2B31BA75D2E1}"/>
                  </a:ext>
                </a:extLst>
              </p:cNvPr>
              <p:cNvSpPr txBox="1">
                <a:spLocks noGrp="1" noRot="1" noChangeAspect="1" noMove="1" noResize="1" noEditPoints="1" noAdjustHandles="1" noChangeArrowheads="1" noChangeShapeType="1" noTextEdit="1"/>
              </p:cNvSpPr>
              <p:nvPr/>
            </p:nvSpPr>
            <p:spPr>
              <a:xfrm>
                <a:off x="609600" y="5162550"/>
                <a:ext cx="10953750" cy="1057275"/>
              </a:xfrm>
              <a:prstGeom prst="rect">
                <a:avLst/>
              </a:prstGeom>
              <a:blipFill>
                <a:blip r:embed="rId5"/>
                <a:stretch>
                  <a:fillRect b="-19653"/>
                </a:stretch>
              </a:blipFill>
              <a:ln w="0">
                <a:noFill/>
              </a:ln>
            </p:spPr>
            <p:txBody>
              <a:bodyPr/>
              <a:lstStyle/>
              <a:p>
                <a:r>
                  <a:rPr lang="it-IT">
                    <a:noFill/>
                  </a:rPr>
                  <a:t> </a:t>
                </a:r>
              </a:p>
            </p:txBody>
          </p:sp>
        </mc:Fallback>
      </mc:AlternateContent>
      <p:sp>
        <p:nvSpPr>
          <p:cNvPr id="9" name="txt_89">
            <a:extLst>
              <a:ext uri="{FF2B5EF4-FFF2-40B4-BE49-F238E27FC236}">
                <a16:creationId xmlns:a16="http://schemas.microsoft.com/office/drawing/2014/main" id="{88C0364D-EA93-9D67-A30D-D035C5802ABA}"/>
              </a:ext>
            </a:extLst>
          </p:cNvPr>
          <p:cNvSpPr>
            <a:spLocks noGrp="1"/>
          </p:cNvSpPr>
          <p:nvPr/>
        </p:nvSpPr>
        <p:spPr>
          <a:xfrm>
            <a:off x="619125" y="1235868"/>
            <a:ext cx="10953750" cy="447675"/>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Define the empirical means</a:t>
            </a:r>
          </a:p>
        </p:txBody>
      </p:sp>
    </p:spTree>
    <p:extLst>
      <p:ext uri="{BB962C8B-B14F-4D97-AF65-F5344CB8AC3E}">
        <p14:creationId xmlns:p14="http://schemas.microsoft.com/office/powerpoint/2010/main" val="2276249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8D04F7E-4611-4980-B18C-53E74DA2EE8A}"/>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best slope and intercept</a:t>
            </a:r>
          </a:p>
        </p:txBody>
      </p:sp>
      <p:sp>
        <p:nvSpPr>
          <p:cNvPr id="2" name="page_number">
            <a:extLst>
              <a:ext uri="{FF2B5EF4-FFF2-40B4-BE49-F238E27FC236}">
                <a16:creationId xmlns:a16="http://schemas.microsoft.com/office/drawing/2014/main" id="{143CE9CE-F200-45D7-9585-09071BD60C6B}"/>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27</a:t>
            </a:r>
          </a:p>
        </p:txBody>
      </p:sp>
      <p:sp>
        <p:nvSpPr>
          <p:cNvPr id="3" name="txt_93">
            <a:extLst>
              <a:ext uri="{FF2B5EF4-FFF2-40B4-BE49-F238E27FC236}">
                <a16:creationId xmlns:a16="http://schemas.microsoft.com/office/drawing/2014/main" id="{0BE558D7-0599-4843-9238-357F03C6B3B8}"/>
              </a:ext>
            </a:extLst>
          </p:cNvPr>
          <p:cNvSpPr>
            <a:spLocks noGrp="1"/>
          </p:cNvSpPr>
          <p:nvPr/>
        </p:nvSpPr>
        <p:spPr>
          <a:xfrm>
            <a:off x="609600" y="1257300"/>
            <a:ext cx="10953750" cy="762000"/>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Assume the inputs are not all equal. Then the denominator below is positive.</a:t>
            </a:r>
          </a:p>
        </p:txBody>
      </p:sp>
      <mc:AlternateContent xmlns:mc="http://schemas.openxmlformats.org/markup-compatibility/2006" xmlns:a14="http://schemas.microsoft.com/office/drawing/2010/main">
        <mc:Choice Requires="a14">
          <p:sp>
            <p:nvSpPr>
              <p:cNvPr id="4" name="eq_94">
                <a:extLst>
                  <a:ext uri="{FF2B5EF4-FFF2-40B4-BE49-F238E27FC236}">
                    <a16:creationId xmlns:a16="http://schemas.microsoft.com/office/drawing/2014/main" id="{116A357A-6546-4E76-BE0C-7469D1A19EC5}"/>
                  </a:ext>
                </a:extLst>
              </p:cNvPr>
              <p:cNvSpPr txBox="1">
                <a:spLocks noGrp="1"/>
              </p:cNvSpPr>
              <p:nvPr/>
            </p:nvSpPr>
            <p:spPr>
              <a:xfrm>
                <a:off x="619125" y="2336006"/>
                <a:ext cx="10953750" cy="1304925"/>
              </a:xfrm>
              <a:prstGeom prst="rect">
                <a:avLst/>
              </a:prstGeom>
              <a:noFill/>
              <a:ln w="0">
                <a:noFill/>
              </a:ln>
            </p:spPr>
            <p:txBody>
              <a:bodyPr vertOverflow="overflow" wrap="none" lIns="0" tIns="0" rIns="0" bIns="0" anchor="t">
                <a:noAutofit/>
              </a:bodyPr>
              <a:lstStyle/>
              <a:p>
                <a:pPr algn="ctr">
                  <a:defRPr lang="en-GB" sz="2400" b="0" i="0" dirty="0">
                    <a:solidFill>
                      <a:srgbClr val="326CB2"/>
                    </a:solidFill>
                    <a:latin typeface="Cambria Math"/>
                    <a:ea typeface="Cambria Math"/>
                    <a:cs typeface="Cambria Math"/>
                  </a:defRPr>
                </a:pPr>
                <a14:m>
                  <m:oMathPara xmlns:m="http://schemas.openxmlformats.org/officeDocument/2006/math">
                    <m:oMath>
                      <m:sSup>
                        <m:sSupPr>
                          <m:ctrlPr>
                            <a:rPr lang="en-GB" sz="3000" b="0" dirty="0">
                              <a:solidFill>
                                <a:srgbClr val="326CB2"/>
                              </a:solidFill>
                              <a:latin typeface="Cambria Math"/>
                              <a:ea typeface="Cambria Math"/>
                              <a:cs typeface="Cambria Math"/>
                            </a:rPr>
                          </m:ctrlPr>
                        </m:sSupPr>
                        <m:e>
                          <m:r>
                            <a:rPr lang="en-GB" sz="3000" b="0" dirty="0">
                              <a:solidFill>
                                <a:srgbClr val="326CB2"/>
                              </a:solidFill>
                              <a:latin typeface="Cambria Math"/>
                              <a:ea typeface="Cambria Math"/>
                              <a:cs typeface="Cambria Math"/>
                            </a:rPr>
                            <m:t>𝑎</m:t>
                          </m:r>
                        </m:e>
                        <m:sup>
                          <m:r>
                            <a:rPr lang="it-IT" sz="3000" i="1" dirty="0">
                              <a:solidFill>
                                <a:srgbClr val="326CB2"/>
                              </a:solidFill>
                              <a:latin typeface="Cambria Math" panose="02040503050406030204" pitchFamily="18" charset="0"/>
                              <a:ea typeface="Cambria Math"/>
                              <a:cs typeface="Cambria Math"/>
                            </a:rPr>
                            <m:t>⋆</m:t>
                          </m:r>
                        </m:sup>
                      </m:sSup>
                      <m:r>
                        <a:rPr lang="en-GB" sz="3000" b="0" dirty="0">
                          <a:solidFill>
                            <a:srgbClr val="326CB2"/>
                          </a:solidFill>
                          <a:latin typeface="Cambria Math"/>
                          <a:ea typeface="Cambria Math"/>
                          <a:cs typeface="Cambria Math"/>
                        </a:rPr>
                        <m:t>=</m:t>
                      </m:r>
                      <m:f>
                        <m:fPr>
                          <m:ctrlPr>
                            <a:rPr lang="en-GB" sz="3000" b="0" i="1" dirty="0">
                              <a:solidFill>
                                <a:srgbClr val="326CB2"/>
                              </a:solidFill>
                              <a:latin typeface="Cambria Math" panose="02040503050406030204" pitchFamily="18" charset="0"/>
                              <a:ea typeface="Cambria Math"/>
                              <a:cs typeface="Cambria Math"/>
                            </a:rPr>
                          </m:ctrlPr>
                        </m:fPr>
                        <m:num>
                          <m:nary>
                            <m:naryPr>
                              <m:chr m:val="∑"/>
                              <m:limLoc m:val="undOvr"/>
                              <m:ctrlPr>
                                <a:rPr lang="en-GB" sz="3000" b="0" dirty="0">
                                  <a:solidFill>
                                    <a:srgbClr val="326CB2"/>
                                  </a:solidFill>
                                  <a:latin typeface="Cambria Math"/>
                                  <a:ea typeface="Cambria Math"/>
                                  <a:cs typeface="Cambria Math"/>
                                </a:rPr>
                              </m:ctrlPr>
                            </m:naryPr>
                            <m:sub>
                              <m:r>
                                <a:rPr lang="en-GB" sz="3000" b="0" dirty="0">
                                  <a:solidFill>
                                    <a:srgbClr val="326CB2"/>
                                  </a:solidFill>
                                  <a:latin typeface="Cambria Math"/>
                                  <a:ea typeface="Cambria Math"/>
                                  <a:cs typeface="Cambria Math"/>
                                </a:rPr>
                                <m:t>𝑖</m:t>
                              </m:r>
                              <m:r>
                                <a:rPr lang="en-GB" sz="3000" b="0" dirty="0">
                                  <a:solidFill>
                                    <a:srgbClr val="326CB2"/>
                                  </a:solidFill>
                                  <a:latin typeface="Cambria Math"/>
                                  <a:ea typeface="Cambria Math"/>
                                  <a:cs typeface="Cambria Math"/>
                                </a:rPr>
                                <m:t>=1</m:t>
                              </m:r>
                            </m:sub>
                            <m:sup>
                              <m:r>
                                <a:rPr lang="en-GB" sz="3000" b="0" dirty="0">
                                  <a:solidFill>
                                    <a:srgbClr val="326CB2"/>
                                  </a:solidFill>
                                  <a:latin typeface="Cambria Math"/>
                                  <a:ea typeface="Cambria Math"/>
                                  <a:cs typeface="Cambria Math"/>
                                </a:rPr>
                                <m:t>𝑁</m:t>
                              </m:r>
                            </m:sup>
                            <m:e>
                              <m:sSub>
                                <m:sSubPr>
                                  <m:ctrlPr>
                                    <a:rPr lang="en-GB" sz="3000" b="0" dirty="0">
                                      <a:solidFill>
                                        <a:srgbClr val="326CB2"/>
                                      </a:solidFill>
                                      <a:latin typeface="Cambria Math"/>
                                      <a:ea typeface="Cambria Math"/>
                                      <a:cs typeface="Cambria Math"/>
                                    </a:rPr>
                                  </m:ctrlPr>
                                </m:sSubPr>
                                <m:e>
                                  <m:r>
                                    <a:rPr lang="en-GB" sz="3000" b="0" dirty="0">
                                      <a:solidFill>
                                        <a:srgbClr val="326CB2"/>
                                      </a:solidFill>
                                      <a:latin typeface="Cambria Math"/>
                                      <a:ea typeface="Cambria Math"/>
                                      <a:cs typeface="Cambria Math"/>
                                    </a:rPr>
                                    <m:t>𝑥</m:t>
                                  </m:r>
                                </m:e>
                                <m:sub>
                                  <m:r>
                                    <a:rPr lang="en-GB" sz="3000" b="0" dirty="0">
                                      <a:solidFill>
                                        <a:srgbClr val="326CB2"/>
                                      </a:solidFill>
                                      <a:latin typeface="Cambria Math"/>
                                      <a:ea typeface="Cambria Math"/>
                                      <a:cs typeface="Cambria Math"/>
                                    </a:rPr>
                                    <m:t>𝑖</m:t>
                                  </m:r>
                                </m:sub>
                              </m:sSub>
                            </m:e>
                          </m:nary>
                          <m:sSub>
                            <m:sSubPr>
                              <m:ctrlPr>
                                <a:rPr lang="en-GB" sz="3000" b="0" dirty="0">
                                  <a:solidFill>
                                    <a:srgbClr val="326CB2"/>
                                  </a:solidFill>
                                  <a:latin typeface="Cambria Math"/>
                                  <a:ea typeface="Cambria Math"/>
                                  <a:cs typeface="Cambria Math"/>
                                </a:rPr>
                              </m:ctrlPr>
                            </m:sSubPr>
                            <m:e>
                              <m:r>
                                <a:rPr lang="en-GB" sz="3000" b="0" dirty="0">
                                  <a:solidFill>
                                    <a:srgbClr val="326CB2"/>
                                  </a:solidFill>
                                  <a:latin typeface="Cambria Math"/>
                                  <a:ea typeface="Cambria Math"/>
                                  <a:cs typeface="Cambria Math"/>
                                </a:rPr>
                                <m:t>𝑦</m:t>
                              </m:r>
                            </m:e>
                            <m:sub>
                              <m:r>
                                <a:rPr lang="en-GB" sz="3000" b="0" dirty="0">
                                  <a:solidFill>
                                    <a:srgbClr val="326CB2"/>
                                  </a:solidFill>
                                  <a:latin typeface="Cambria Math"/>
                                  <a:ea typeface="Cambria Math"/>
                                  <a:cs typeface="Cambria Math"/>
                                </a:rPr>
                                <m:t>𝑖</m:t>
                              </m:r>
                            </m:sub>
                          </m:sSub>
                          <m:r>
                            <a:rPr lang="en-GB" sz="3000" b="0" dirty="0">
                              <a:solidFill>
                                <a:srgbClr val="326CB2"/>
                              </a:solidFill>
                              <a:latin typeface="Cambria Math"/>
                              <a:ea typeface="Cambria Math"/>
                              <a:cs typeface="Cambria Math"/>
                            </a:rPr>
                            <m:t>−</m:t>
                          </m:r>
                          <m:r>
                            <a:rPr lang="en-GB" sz="3000" b="0" dirty="0">
                              <a:solidFill>
                                <a:srgbClr val="326CB2"/>
                              </a:solidFill>
                              <a:latin typeface="Cambria Math"/>
                              <a:ea typeface="Cambria Math"/>
                              <a:cs typeface="Cambria Math"/>
                            </a:rPr>
                            <m:t>𝑁</m:t>
                          </m:r>
                          <m:bar>
                            <m:barPr>
                              <m:pos m:val="top"/>
                              <m:ctrlPr>
                                <a:rPr lang="en-GB" sz="3000" b="0" dirty="0">
                                  <a:solidFill>
                                    <a:srgbClr val="326CB2"/>
                                  </a:solidFill>
                                  <a:latin typeface="Cambria Math"/>
                                  <a:ea typeface="Cambria Math"/>
                                  <a:cs typeface="Cambria Math"/>
                                </a:rPr>
                              </m:ctrlPr>
                            </m:barPr>
                            <m:e>
                              <m:r>
                                <a:rPr lang="en-GB" sz="3000" b="0" dirty="0">
                                  <a:solidFill>
                                    <a:srgbClr val="326CB2"/>
                                  </a:solidFill>
                                  <a:latin typeface="Cambria Math"/>
                                  <a:ea typeface="Cambria Math"/>
                                  <a:cs typeface="Cambria Math"/>
                                </a:rPr>
                                <m:t>𝑥</m:t>
                              </m:r>
                            </m:e>
                          </m:bar>
                          <m:r>
                            <a:rPr lang="en-GB" sz="3000" b="0" dirty="0">
                              <a:solidFill>
                                <a:srgbClr val="326CB2"/>
                              </a:solidFill>
                              <a:latin typeface="Cambria Math"/>
                              <a:ea typeface="Cambria Math"/>
                              <a:cs typeface="Cambria Math"/>
                            </a:rPr>
                            <m:t> </m:t>
                          </m:r>
                          <m:bar>
                            <m:barPr>
                              <m:pos m:val="top"/>
                              <m:ctrlPr>
                                <a:rPr lang="en-GB" sz="3000" b="0" dirty="0">
                                  <a:solidFill>
                                    <a:srgbClr val="326CB2"/>
                                  </a:solidFill>
                                  <a:latin typeface="Cambria Math"/>
                                  <a:ea typeface="Cambria Math"/>
                                  <a:cs typeface="Cambria Math"/>
                                </a:rPr>
                              </m:ctrlPr>
                            </m:barPr>
                            <m:e>
                              <m:r>
                                <a:rPr lang="en-GB" sz="3000" b="0" dirty="0">
                                  <a:solidFill>
                                    <a:srgbClr val="326CB2"/>
                                  </a:solidFill>
                                  <a:latin typeface="Cambria Math"/>
                                  <a:ea typeface="Cambria Math"/>
                                  <a:cs typeface="Cambria Math"/>
                                </a:rPr>
                                <m:t>𝑦</m:t>
                              </m:r>
                            </m:e>
                          </m:bar>
                        </m:num>
                        <m:den>
                          <m:nary>
                            <m:naryPr>
                              <m:chr m:val="∑"/>
                              <m:limLoc m:val="undOvr"/>
                              <m:ctrlPr>
                                <a:rPr lang="en-GB" sz="3000" b="0" dirty="0">
                                  <a:solidFill>
                                    <a:srgbClr val="326CB2"/>
                                  </a:solidFill>
                                  <a:latin typeface="Cambria Math"/>
                                  <a:ea typeface="Cambria Math"/>
                                  <a:cs typeface="Cambria Math"/>
                                </a:rPr>
                              </m:ctrlPr>
                            </m:naryPr>
                            <m:sub>
                              <m:r>
                                <a:rPr lang="en-GB" sz="3000" b="0" dirty="0">
                                  <a:solidFill>
                                    <a:srgbClr val="326CB2"/>
                                  </a:solidFill>
                                  <a:latin typeface="Cambria Math"/>
                                  <a:ea typeface="Cambria Math"/>
                                  <a:cs typeface="Cambria Math"/>
                                </a:rPr>
                                <m:t>𝑖</m:t>
                              </m:r>
                              <m:r>
                                <a:rPr lang="en-GB" sz="3000" b="0" dirty="0">
                                  <a:solidFill>
                                    <a:srgbClr val="326CB2"/>
                                  </a:solidFill>
                                  <a:latin typeface="Cambria Math"/>
                                  <a:ea typeface="Cambria Math"/>
                                  <a:cs typeface="Cambria Math"/>
                                </a:rPr>
                                <m:t>=1</m:t>
                              </m:r>
                            </m:sub>
                            <m:sup>
                              <m:r>
                                <a:rPr lang="en-GB" sz="3000" b="0" dirty="0">
                                  <a:solidFill>
                                    <a:srgbClr val="326CB2"/>
                                  </a:solidFill>
                                  <a:latin typeface="Cambria Math"/>
                                  <a:ea typeface="Cambria Math"/>
                                  <a:cs typeface="Cambria Math"/>
                                </a:rPr>
                                <m:t>𝑁</m:t>
                              </m:r>
                            </m:sup>
                            <m:e>
                              <m:sSubSup>
                                <m:sSubSupPr>
                                  <m:ctrlPr>
                                    <a:rPr lang="en-GB" sz="3000" b="0" dirty="0">
                                      <a:solidFill>
                                        <a:srgbClr val="326CB2"/>
                                      </a:solidFill>
                                      <a:latin typeface="Cambria Math"/>
                                      <a:ea typeface="Cambria Math"/>
                                      <a:cs typeface="Cambria Math"/>
                                    </a:rPr>
                                  </m:ctrlPr>
                                </m:sSubSupPr>
                                <m:e>
                                  <m:r>
                                    <a:rPr lang="en-GB" sz="3000" b="0" dirty="0">
                                      <a:solidFill>
                                        <a:srgbClr val="326CB2"/>
                                      </a:solidFill>
                                      <a:latin typeface="Cambria Math"/>
                                      <a:ea typeface="Cambria Math"/>
                                      <a:cs typeface="Cambria Math"/>
                                    </a:rPr>
                                    <m:t>𝑥</m:t>
                                  </m:r>
                                </m:e>
                                <m:sub>
                                  <m:r>
                                    <a:rPr lang="en-GB" sz="3000" b="0" dirty="0">
                                      <a:solidFill>
                                        <a:srgbClr val="326CB2"/>
                                      </a:solidFill>
                                      <a:latin typeface="Cambria Math"/>
                                      <a:ea typeface="Cambria Math"/>
                                      <a:cs typeface="Cambria Math"/>
                                    </a:rPr>
                                    <m:t>𝑖</m:t>
                                  </m:r>
                                </m:sub>
                                <m:sup>
                                  <m:r>
                                    <a:rPr lang="en-GB" sz="3000" b="0" dirty="0">
                                      <a:solidFill>
                                        <a:srgbClr val="326CB2"/>
                                      </a:solidFill>
                                      <a:latin typeface="Cambria Math"/>
                                      <a:ea typeface="Cambria Math"/>
                                      <a:cs typeface="Cambria Math"/>
                                    </a:rPr>
                                    <m:t>2</m:t>
                                  </m:r>
                                </m:sup>
                              </m:sSubSup>
                            </m:e>
                          </m:nary>
                          <m:r>
                            <a:rPr lang="en-GB" sz="3000" b="0" dirty="0">
                              <a:solidFill>
                                <a:srgbClr val="326CB2"/>
                              </a:solidFill>
                              <a:latin typeface="Cambria Math"/>
                              <a:ea typeface="Cambria Math"/>
                              <a:cs typeface="Cambria Math"/>
                            </a:rPr>
                            <m:t>−</m:t>
                          </m:r>
                          <m:r>
                            <a:rPr lang="en-GB" sz="3000" b="0" dirty="0">
                              <a:solidFill>
                                <a:srgbClr val="326CB2"/>
                              </a:solidFill>
                              <a:latin typeface="Cambria Math"/>
                              <a:ea typeface="Cambria Math"/>
                              <a:cs typeface="Cambria Math"/>
                            </a:rPr>
                            <m:t>𝑁</m:t>
                          </m:r>
                          <m:sSup>
                            <m:sSupPr>
                              <m:ctrlPr>
                                <a:rPr lang="en-GB" sz="3000" b="0" i="1" dirty="0">
                                  <a:solidFill>
                                    <a:srgbClr val="326CB2"/>
                                  </a:solidFill>
                                  <a:latin typeface="Cambria Math" panose="02040503050406030204" pitchFamily="18" charset="0"/>
                                  <a:ea typeface="Cambria Math"/>
                                  <a:cs typeface="Cambria Math"/>
                                </a:rPr>
                              </m:ctrlPr>
                            </m:sSupPr>
                            <m:e>
                              <m:bar>
                                <m:barPr>
                                  <m:pos m:val="top"/>
                                  <m:ctrlPr>
                                    <a:rPr lang="en-GB" sz="3000" b="0" dirty="0">
                                      <a:solidFill>
                                        <a:srgbClr val="326CB2"/>
                                      </a:solidFill>
                                      <a:latin typeface="Cambria Math"/>
                                      <a:ea typeface="Cambria Math"/>
                                      <a:cs typeface="Cambria Math"/>
                                    </a:rPr>
                                  </m:ctrlPr>
                                </m:barPr>
                                <m:e>
                                  <m:r>
                                    <a:rPr lang="en-GB" sz="3000" b="0" dirty="0">
                                      <a:solidFill>
                                        <a:srgbClr val="326CB2"/>
                                      </a:solidFill>
                                      <a:latin typeface="Cambria Math"/>
                                      <a:ea typeface="Cambria Math"/>
                                      <a:cs typeface="Cambria Math"/>
                                    </a:rPr>
                                    <m:t>𝑥</m:t>
                                  </m:r>
                                </m:e>
                              </m:bar>
                            </m:e>
                            <m:sup>
                              <m:r>
                                <a:rPr lang="en-GB" sz="3000" b="0" dirty="0">
                                  <a:solidFill>
                                    <a:srgbClr val="326CB2"/>
                                  </a:solidFill>
                                  <a:latin typeface="Cambria Math"/>
                                  <a:ea typeface="Cambria Math"/>
                                  <a:cs typeface="Cambria Math"/>
                                </a:rPr>
                                <m:t>2</m:t>
                              </m:r>
                            </m:sup>
                          </m:sSup>
                        </m:den>
                      </m:f>
                      <m:r>
                        <a:rPr lang="en-GB" sz="3000" b="0" dirty="0">
                          <a:solidFill>
                            <a:srgbClr val="326CB2"/>
                          </a:solidFill>
                          <a:latin typeface="Cambria Math"/>
                          <a:ea typeface="Cambria Math"/>
                          <a:cs typeface="Cambria Math"/>
                        </a:rPr>
                        <m:t>=</m:t>
                      </m:r>
                      <m:f>
                        <m:fPr>
                          <m:ctrlPr>
                            <a:rPr lang="en-GB" sz="3000" b="0" i="1" dirty="0">
                              <a:solidFill>
                                <a:srgbClr val="326CB2"/>
                              </a:solidFill>
                              <a:latin typeface="Cambria Math" panose="02040503050406030204" pitchFamily="18" charset="0"/>
                              <a:ea typeface="Cambria Math"/>
                              <a:cs typeface="Cambria Math"/>
                            </a:rPr>
                          </m:ctrlPr>
                        </m:fPr>
                        <m:num>
                          <m:nary>
                            <m:naryPr>
                              <m:chr m:val="∑"/>
                              <m:limLoc m:val="undOvr"/>
                              <m:ctrlPr>
                                <a:rPr lang="en-GB" sz="3000" b="0" dirty="0">
                                  <a:solidFill>
                                    <a:srgbClr val="326CB2"/>
                                  </a:solidFill>
                                  <a:latin typeface="Cambria Math"/>
                                  <a:ea typeface="Cambria Math"/>
                                  <a:cs typeface="Cambria Math"/>
                                </a:rPr>
                              </m:ctrlPr>
                            </m:naryPr>
                            <m:sub>
                              <m:r>
                                <a:rPr lang="en-GB" sz="3000" b="0" dirty="0">
                                  <a:solidFill>
                                    <a:srgbClr val="326CB2"/>
                                  </a:solidFill>
                                  <a:latin typeface="Cambria Math"/>
                                  <a:ea typeface="Cambria Math"/>
                                  <a:cs typeface="Cambria Math"/>
                                </a:rPr>
                                <m:t>𝑖</m:t>
                              </m:r>
                              <m:r>
                                <a:rPr lang="en-GB" sz="3000" b="0" dirty="0">
                                  <a:solidFill>
                                    <a:srgbClr val="326CB2"/>
                                  </a:solidFill>
                                  <a:latin typeface="Cambria Math"/>
                                  <a:ea typeface="Cambria Math"/>
                                  <a:cs typeface="Cambria Math"/>
                                </a:rPr>
                                <m:t>=1</m:t>
                              </m:r>
                            </m:sub>
                            <m:sup>
                              <m:r>
                                <a:rPr lang="en-GB" sz="3000" b="0" dirty="0">
                                  <a:solidFill>
                                    <a:srgbClr val="326CB2"/>
                                  </a:solidFill>
                                  <a:latin typeface="Cambria Math"/>
                                  <a:ea typeface="Cambria Math"/>
                                  <a:cs typeface="Cambria Math"/>
                                </a:rPr>
                                <m:t>𝑁</m:t>
                              </m:r>
                            </m:sup>
                            <m:e>
                              <m:d>
                                <m:dPr>
                                  <m:ctrlPr>
                                    <a:rPr lang="en-GB" sz="3000" b="0" i="1" dirty="0">
                                      <a:solidFill>
                                        <a:srgbClr val="326CB2"/>
                                      </a:solidFill>
                                      <a:latin typeface="Cambria Math" panose="02040503050406030204" pitchFamily="18" charset="0"/>
                                      <a:ea typeface="Cambria Math"/>
                                      <a:cs typeface="Cambria Math"/>
                                    </a:rPr>
                                  </m:ctrlPr>
                                </m:dPr>
                                <m:e>
                                  <m:sSub>
                                    <m:sSubPr>
                                      <m:ctrlPr>
                                        <a:rPr lang="en-GB" sz="3000" b="0" dirty="0">
                                          <a:solidFill>
                                            <a:srgbClr val="326CB2"/>
                                          </a:solidFill>
                                          <a:latin typeface="Cambria Math"/>
                                          <a:ea typeface="Cambria Math"/>
                                          <a:cs typeface="Cambria Math"/>
                                        </a:rPr>
                                      </m:ctrlPr>
                                    </m:sSubPr>
                                    <m:e>
                                      <m:r>
                                        <a:rPr lang="en-GB" sz="3000" b="0" dirty="0">
                                          <a:solidFill>
                                            <a:srgbClr val="326CB2"/>
                                          </a:solidFill>
                                          <a:latin typeface="Cambria Math"/>
                                          <a:ea typeface="Cambria Math"/>
                                          <a:cs typeface="Cambria Math"/>
                                        </a:rPr>
                                        <m:t>𝑥</m:t>
                                      </m:r>
                                    </m:e>
                                    <m:sub>
                                      <m:r>
                                        <a:rPr lang="en-GB" sz="3000" b="0" dirty="0">
                                          <a:solidFill>
                                            <a:srgbClr val="326CB2"/>
                                          </a:solidFill>
                                          <a:latin typeface="Cambria Math"/>
                                          <a:ea typeface="Cambria Math"/>
                                          <a:cs typeface="Cambria Math"/>
                                        </a:rPr>
                                        <m:t>𝑖</m:t>
                                      </m:r>
                                    </m:sub>
                                  </m:sSub>
                                  <m:r>
                                    <a:rPr lang="en-GB" sz="3000" b="0" dirty="0">
                                      <a:solidFill>
                                        <a:srgbClr val="326CB2"/>
                                      </a:solidFill>
                                      <a:latin typeface="Cambria Math"/>
                                      <a:ea typeface="Cambria Math"/>
                                      <a:cs typeface="Cambria Math"/>
                                    </a:rPr>
                                    <m:t>−</m:t>
                                  </m:r>
                                  <m:bar>
                                    <m:barPr>
                                      <m:pos m:val="top"/>
                                      <m:ctrlPr>
                                        <a:rPr lang="en-GB" sz="3000" b="0" dirty="0">
                                          <a:solidFill>
                                            <a:srgbClr val="326CB2"/>
                                          </a:solidFill>
                                          <a:latin typeface="Cambria Math"/>
                                          <a:ea typeface="Cambria Math"/>
                                          <a:cs typeface="Cambria Math"/>
                                        </a:rPr>
                                      </m:ctrlPr>
                                    </m:barPr>
                                    <m:e>
                                      <m:r>
                                        <a:rPr lang="en-GB" sz="3000" b="0" dirty="0">
                                          <a:solidFill>
                                            <a:srgbClr val="326CB2"/>
                                          </a:solidFill>
                                          <a:latin typeface="Cambria Math"/>
                                          <a:ea typeface="Cambria Math"/>
                                          <a:cs typeface="Cambria Math"/>
                                        </a:rPr>
                                        <m:t>𝑥</m:t>
                                      </m:r>
                                    </m:e>
                                  </m:bar>
                                </m:e>
                              </m:d>
                              <m:d>
                                <m:dPr>
                                  <m:ctrlPr>
                                    <a:rPr lang="en-GB" sz="3000" i="1" dirty="0">
                                      <a:solidFill>
                                        <a:srgbClr val="326CB2"/>
                                      </a:solidFill>
                                      <a:latin typeface="Cambria Math" panose="02040503050406030204" pitchFamily="18" charset="0"/>
                                      <a:ea typeface="Cambria Math"/>
                                      <a:cs typeface="Cambria Math"/>
                                    </a:rPr>
                                  </m:ctrlPr>
                                </m:dPr>
                                <m:e>
                                  <m:sSub>
                                    <m:sSubPr>
                                      <m:ctrlPr>
                                        <a:rPr lang="en-GB" sz="3000" dirty="0">
                                          <a:solidFill>
                                            <a:srgbClr val="326CB2"/>
                                          </a:solidFill>
                                          <a:latin typeface="Cambria Math"/>
                                          <a:ea typeface="Cambria Math"/>
                                          <a:cs typeface="Cambria Math"/>
                                        </a:rPr>
                                      </m:ctrlPr>
                                    </m:sSubPr>
                                    <m:e>
                                      <m:r>
                                        <a:rPr lang="en-GB" sz="3000" dirty="0">
                                          <a:solidFill>
                                            <a:srgbClr val="326CB2"/>
                                          </a:solidFill>
                                          <a:latin typeface="Cambria Math"/>
                                          <a:ea typeface="Cambria Math"/>
                                          <a:cs typeface="Cambria Math"/>
                                        </a:rPr>
                                        <m:t>𝑦</m:t>
                                      </m:r>
                                    </m:e>
                                    <m:sub>
                                      <m:r>
                                        <a:rPr lang="en-GB" sz="3000" dirty="0">
                                          <a:solidFill>
                                            <a:srgbClr val="326CB2"/>
                                          </a:solidFill>
                                          <a:latin typeface="Cambria Math"/>
                                          <a:ea typeface="Cambria Math"/>
                                          <a:cs typeface="Cambria Math"/>
                                        </a:rPr>
                                        <m:t>𝑖</m:t>
                                      </m:r>
                                    </m:sub>
                                  </m:sSub>
                                  <m:r>
                                    <a:rPr lang="en-GB" sz="3000" dirty="0">
                                      <a:solidFill>
                                        <a:srgbClr val="326CB2"/>
                                      </a:solidFill>
                                      <a:latin typeface="Cambria Math"/>
                                      <a:ea typeface="Cambria Math"/>
                                      <a:cs typeface="Cambria Math"/>
                                    </a:rPr>
                                    <m:t>−</m:t>
                                  </m:r>
                                  <m:bar>
                                    <m:barPr>
                                      <m:pos m:val="top"/>
                                      <m:ctrlPr>
                                        <a:rPr lang="en-GB" sz="3000" dirty="0">
                                          <a:solidFill>
                                            <a:srgbClr val="326CB2"/>
                                          </a:solidFill>
                                          <a:latin typeface="Cambria Math"/>
                                          <a:ea typeface="Cambria Math"/>
                                          <a:cs typeface="Cambria Math"/>
                                        </a:rPr>
                                      </m:ctrlPr>
                                    </m:barPr>
                                    <m:e>
                                      <m:r>
                                        <a:rPr lang="en-GB" sz="3000" dirty="0">
                                          <a:solidFill>
                                            <a:srgbClr val="326CB2"/>
                                          </a:solidFill>
                                          <a:latin typeface="Cambria Math"/>
                                          <a:ea typeface="Cambria Math"/>
                                          <a:cs typeface="Cambria Math"/>
                                        </a:rPr>
                                        <m:t>𝑦</m:t>
                                      </m:r>
                                    </m:e>
                                  </m:bar>
                                </m:e>
                              </m:d>
                            </m:e>
                          </m:nary>
                        </m:num>
                        <m:den>
                          <m:nary>
                            <m:naryPr>
                              <m:chr m:val="∑"/>
                              <m:limLoc m:val="undOvr"/>
                              <m:ctrlPr>
                                <a:rPr lang="en-GB" sz="3000" b="0" dirty="0">
                                  <a:solidFill>
                                    <a:srgbClr val="326CB2"/>
                                  </a:solidFill>
                                  <a:latin typeface="Cambria Math"/>
                                  <a:ea typeface="Cambria Math"/>
                                  <a:cs typeface="Cambria Math"/>
                                </a:rPr>
                              </m:ctrlPr>
                            </m:naryPr>
                            <m:sub>
                              <m:r>
                                <a:rPr lang="en-GB" sz="3000" b="0" dirty="0">
                                  <a:solidFill>
                                    <a:srgbClr val="326CB2"/>
                                  </a:solidFill>
                                  <a:latin typeface="Cambria Math"/>
                                  <a:ea typeface="Cambria Math"/>
                                  <a:cs typeface="Cambria Math"/>
                                </a:rPr>
                                <m:t>𝑖</m:t>
                              </m:r>
                              <m:r>
                                <a:rPr lang="en-GB" sz="3000" b="0" dirty="0">
                                  <a:solidFill>
                                    <a:srgbClr val="326CB2"/>
                                  </a:solidFill>
                                  <a:latin typeface="Cambria Math"/>
                                  <a:ea typeface="Cambria Math"/>
                                  <a:cs typeface="Cambria Math"/>
                                </a:rPr>
                                <m:t>=1</m:t>
                              </m:r>
                            </m:sub>
                            <m:sup>
                              <m:r>
                                <a:rPr lang="en-GB" sz="3000" b="0" dirty="0">
                                  <a:solidFill>
                                    <a:srgbClr val="326CB2"/>
                                  </a:solidFill>
                                  <a:latin typeface="Cambria Math"/>
                                  <a:ea typeface="Cambria Math"/>
                                  <a:cs typeface="Cambria Math"/>
                                </a:rPr>
                                <m:t>𝑁</m:t>
                              </m:r>
                            </m:sup>
                            <m:e>
                              <m:sSup>
                                <m:sSupPr>
                                  <m:ctrlPr>
                                    <a:rPr lang="en-GB" sz="3000" b="0" i="1" dirty="0">
                                      <a:solidFill>
                                        <a:srgbClr val="326CB2"/>
                                      </a:solidFill>
                                      <a:latin typeface="Cambria Math" panose="02040503050406030204" pitchFamily="18" charset="0"/>
                                      <a:ea typeface="Cambria Math"/>
                                      <a:cs typeface="Cambria Math"/>
                                    </a:rPr>
                                  </m:ctrlPr>
                                </m:sSupPr>
                                <m:e>
                                  <m:d>
                                    <m:dPr>
                                      <m:ctrlPr>
                                        <a:rPr lang="en-GB" sz="3000" b="0" i="1" dirty="0">
                                          <a:solidFill>
                                            <a:srgbClr val="326CB2"/>
                                          </a:solidFill>
                                          <a:latin typeface="Cambria Math" panose="02040503050406030204" pitchFamily="18" charset="0"/>
                                          <a:ea typeface="Cambria Math"/>
                                          <a:cs typeface="Cambria Math"/>
                                        </a:rPr>
                                      </m:ctrlPr>
                                    </m:dPr>
                                    <m:e>
                                      <m:sSub>
                                        <m:sSubPr>
                                          <m:ctrlPr>
                                            <a:rPr lang="en-GB" sz="3000" b="0" dirty="0">
                                              <a:solidFill>
                                                <a:srgbClr val="326CB2"/>
                                              </a:solidFill>
                                              <a:latin typeface="Cambria Math"/>
                                              <a:ea typeface="Cambria Math"/>
                                              <a:cs typeface="Cambria Math"/>
                                            </a:rPr>
                                          </m:ctrlPr>
                                        </m:sSubPr>
                                        <m:e>
                                          <m:r>
                                            <a:rPr lang="en-GB" sz="3000" b="0" dirty="0">
                                              <a:solidFill>
                                                <a:srgbClr val="326CB2"/>
                                              </a:solidFill>
                                              <a:latin typeface="Cambria Math"/>
                                              <a:ea typeface="Cambria Math"/>
                                              <a:cs typeface="Cambria Math"/>
                                            </a:rPr>
                                            <m:t>𝑥</m:t>
                                          </m:r>
                                        </m:e>
                                        <m:sub>
                                          <m:r>
                                            <a:rPr lang="en-GB" sz="3000" b="0" dirty="0">
                                              <a:solidFill>
                                                <a:srgbClr val="326CB2"/>
                                              </a:solidFill>
                                              <a:latin typeface="Cambria Math"/>
                                              <a:ea typeface="Cambria Math"/>
                                              <a:cs typeface="Cambria Math"/>
                                            </a:rPr>
                                            <m:t>𝑖</m:t>
                                          </m:r>
                                        </m:sub>
                                      </m:sSub>
                                      <m:r>
                                        <a:rPr lang="en-GB" sz="3000" b="0" dirty="0">
                                          <a:solidFill>
                                            <a:srgbClr val="326CB2"/>
                                          </a:solidFill>
                                          <a:latin typeface="Cambria Math"/>
                                          <a:ea typeface="Cambria Math"/>
                                          <a:cs typeface="Cambria Math"/>
                                        </a:rPr>
                                        <m:t>−</m:t>
                                      </m:r>
                                      <m:bar>
                                        <m:barPr>
                                          <m:pos m:val="top"/>
                                          <m:ctrlPr>
                                            <a:rPr lang="en-GB" sz="3000" b="0" dirty="0">
                                              <a:solidFill>
                                                <a:srgbClr val="326CB2"/>
                                              </a:solidFill>
                                              <a:latin typeface="Cambria Math"/>
                                              <a:ea typeface="Cambria Math"/>
                                              <a:cs typeface="Cambria Math"/>
                                            </a:rPr>
                                          </m:ctrlPr>
                                        </m:barPr>
                                        <m:e>
                                          <m:r>
                                            <a:rPr lang="en-GB" sz="3000" b="0" dirty="0">
                                              <a:solidFill>
                                                <a:srgbClr val="326CB2"/>
                                              </a:solidFill>
                                              <a:latin typeface="Cambria Math"/>
                                              <a:ea typeface="Cambria Math"/>
                                              <a:cs typeface="Cambria Math"/>
                                            </a:rPr>
                                            <m:t>𝑥</m:t>
                                          </m:r>
                                        </m:e>
                                      </m:bar>
                                    </m:e>
                                  </m:d>
                                </m:e>
                                <m:sup>
                                  <m:r>
                                    <a:rPr lang="en-GB" sz="3000" b="0" dirty="0">
                                      <a:solidFill>
                                        <a:srgbClr val="326CB2"/>
                                      </a:solidFill>
                                      <a:latin typeface="Cambria Math"/>
                                      <a:ea typeface="Cambria Math"/>
                                      <a:cs typeface="Cambria Math"/>
                                    </a:rPr>
                                    <m:t>2</m:t>
                                  </m:r>
                                </m:sup>
                              </m:sSup>
                            </m:e>
                          </m:nary>
                        </m:den>
                      </m:f>
                    </m:oMath>
                  </m:oMathPara>
                </a14:m>
                <a:endParaRPr lang="en-GB" sz="3000" b="0" i="0" dirty="0">
                  <a:solidFill>
                    <a:srgbClr val="326CB2"/>
                  </a:solidFill>
                  <a:latin typeface="Cambria Math"/>
                  <a:ea typeface="Cambria Math"/>
                  <a:cs typeface="Cambria Math"/>
                </a:endParaRPr>
              </a:p>
            </p:txBody>
          </p:sp>
        </mc:Choice>
        <mc:Fallback xmlns="">
          <p:sp>
            <p:nvSpPr>
              <p:cNvPr id="4" name="eq_94">
                <a:extLst>
                  <a:ext uri="{FF2B5EF4-FFF2-40B4-BE49-F238E27FC236}">
                    <a16:creationId xmlns:a16="http://schemas.microsoft.com/office/drawing/2014/main" id="{116A357A-6546-4E76-BE0C-7469D1A19EC5}"/>
                  </a:ext>
                </a:extLst>
              </p:cNvPr>
              <p:cNvSpPr txBox="1">
                <a:spLocks noGrp="1" noRot="1" noChangeAspect="1" noMove="1" noResize="1" noEditPoints="1" noAdjustHandles="1" noChangeArrowheads="1" noChangeShapeType="1" noTextEdit="1"/>
              </p:cNvSpPr>
              <p:nvPr/>
            </p:nvSpPr>
            <p:spPr>
              <a:xfrm>
                <a:off x="619125" y="2336006"/>
                <a:ext cx="10953750" cy="130492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95">
                <a:extLst>
                  <a:ext uri="{FF2B5EF4-FFF2-40B4-BE49-F238E27FC236}">
                    <a16:creationId xmlns:a16="http://schemas.microsoft.com/office/drawing/2014/main" id="{4C0D38E9-94FB-4046-82B4-9AAA37B9645A}"/>
                  </a:ext>
                </a:extLst>
              </p:cNvPr>
              <p:cNvSpPr txBox="1">
                <a:spLocks noGrp="1"/>
              </p:cNvSpPr>
              <p:nvPr/>
            </p:nvSpPr>
            <p:spPr>
              <a:xfrm>
                <a:off x="619125" y="3902869"/>
                <a:ext cx="10953750" cy="685800"/>
              </a:xfrm>
              <a:prstGeom prst="rect">
                <a:avLst/>
              </a:prstGeom>
              <a:noFill/>
              <a:ln w="0">
                <a:noFill/>
              </a:ln>
            </p:spPr>
            <p:txBody>
              <a:bodyPr vertOverflow="overflow" wrap="none" lIns="0" tIns="0" rIns="0" bIns="0" anchor="t">
                <a:noAutofit/>
              </a:bodyPr>
              <a:lstStyle/>
              <a:p>
                <a:pPr algn="ctr">
                  <a:defRPr lang="en-GB" sz="3000" b="0" i="0" dirty="0">
                    <a:solidFill>
                      <a:srgbClr val="087F83"/>
                    </a:solidFill>
                    <a:latin typeface="Cambria Math"/>
                    <a:ea typeface="Cambria Math"/>
                    <a:cs typeface="Cambria Math"/>
                  </a:defRPr>
                </a:pPr>
                <a14:m>
                  <m:oMathPara xmlns:m="http://schemas.openxmlformats.org/officeDocument/2006/math">
                    <m:oMath>
                      <m:sSup>
                        <m:sSupPr>
                          <m:ctrlPr>
                            <a:rPr lang="en-GB" sz="3000" b="0" dirty="0">
                              <a:solidFill>
                                <a:schemeClr val="accent1"/>
                              </a:solidFill>
                              <a:latin typeface="Cambria Math"/>
                              <a:ea typeface="Cambria Math"/>
                              <a:cs typeface="Cambria Math"/>
                            </a:rPr>
                          </m:ctrlPr>
                        </m:sSupPr>
                        <m:e>
                          <m:r>
                            <a:rPr lang="en-GB" sz="3000" b="0" dirty="0">
                              <a:solidFill>
                                <a:schemeClr val="accent1"/>
                              </a:solidFill>
                              <a:latin typeface="Cambria Math"/>
                              <a:ea typeface="Cambria Math"/>
                              <a:cs typeface="Cambria Math"/>
                            </a:rPr>
                            <m:t>𝑏</m:t>
                          </m:r>
                        </m:e>
                        <m:sup>
                          <m:r>
                            <a:rPr lang="it-IT" sz="3200" i="1" dirty="0">
                              <a:solidFill>
                                <a:schemeClr val="accent1"/>
                              </a:solidFill>
                              <a:latin typeface="Cambria Math" panose="02040503050406030204" pitchFamily="18" charset="0"/>
                              <a:ea typeface="Cambria Math"/>
                              <a:cs typeface="Cambria Math"/>
                            </a:rPr>
                            <m:t>⋆</m:t>
                          </m:r>
                        </m:sup>
                      </m:sSup>
                      <m:r>
                        <a:rPr lang="en-GB" sz="3000" b="0" dirty="0">
                          <a:solidFill>
                            <a:srgbClr val="087F83"/>
                          </a:solidFill>
                          <a:latin typeface="Cambria Math"/>
                          <a:ea typeface="Cambria Math"/>
                          <a:cs typeface="Cambria Math"/>
                        </a:rPr>
                        <m:t>=</m:t>
                      </m:r>
                      <m:bar>
                        <m:barPr>
                          <m:pos m:val="top"/>
                          <m:ctrlPr>
                            <a:rPr lang="en-GB" sz="3000" b="0" dirty="0">
                              <a:solidFill>
                                <a:srgbClr val="087F83"/>
                              </a:solidFill>
                              <a:latin typeface="Cambria Math"/>
                              <a:ea typeface="Cambria Math"/>
                              <a:cs typeface="Cambria Math"/>
                            </a:rPr>
                          </m:ctrlPr>
                        </m:barPr>
                        <m:e>
                          <m:r>
                            <a:rPr lang="en-GB" sz="3000" b="0" dirty="0">
                              <a:solidFill>
                                <a:srgbClr val="087F83"/>
                              </a:solidFill>
                              <a:latin typeface="Cambria Math"/>
                              <a:ea typeface="Cambria Math"/>
                              <a:cs typeface="Cambria Math"/>
                            </a:rPr>
                            <m:t>𝑦</m:t>
                          </m:r>
                        </m:e>
                      </m:bar>
                      <m:r>
                        <a:rPr lang="en-GB" sz="3000" b="0" dirty="0">
                          <a:solidFill>
                            <a:srgbClr val="087F83"/>
                          </a:solidFill>
                          <a:latin typeface="Cambria Math"/>
                          <a:ea typeface="Cambria Math"/>
                          <a:cs typeface="Cambria Math"/>
                        </a:rPr>
                        <m:t>−</m:t>
                      </m:r>
                      <m:sSup>
                        <m:sSupPr>
                          <m:ctrlPr>
                            <a:rPr lang="en-GB" sz="3000" b="0" dirty="0">
                              <a:solidFill>
                                <a:srgbClr val="087F83"/>
                              </a:solidFill>
                              <a:latin typeface="Cambria Math"/>
                              <a:ea typeface="Cambria Math"/>
                              <a:cs typeface="Cambria Math"/>
                            </a:rPr>
                          </m:ctrlPr>
                        </m:sSupPr>
                        <m:e>
                          <m:r>
                            <a:rPr lang="en-GB" sz="3000" b="0" dirty="0">
                              <a:solidFill>
                                <a:srgbClr val="087F83"/>
                              </a:solidFill>
                              <a:latin typeface="Cambria Math"/>
                              <a:ea typeface="Cambria Math"/>
                              <a:cs typeface="Cambria Math"/>
                            </a:rPr>
                            <m:t>𝑎</m:t>
                          </m:r>
                        </m:e>
                        <m:sup>
                          <m:r>
                            <a:rPr lang="it-IT" sz="3000" b="0" i="1" dirty="0" smtClean="0">
                              <a:solidFill>
                                <a:srgbClr val="087F83"/>
                              </a:solidFill>
                              <a:latin typeface="Cambria Math" panose="02040503050406030204" pitchFamily="18" charset="0"/>
                              <a:ea typeface="Cambria Math"/>
                              <a:cs typeface="Cambria Math"/>
                            </a:rPr>
                            <m:t>⋆</m:t>
                          </m:r>
                        </m:sup>
                      </m:sSup>
                      <m:bar>
                        <m:barPr>
                          <m:pos m:val="top"/>
                          <m:ctrlPr>
                            <a:rPr lang="en-GB" sz="3000" dirty="0">
                              <a:solidFill>
                                <a:srgbClr val="087F83"/>
                              </a:solidFill>
                              <a:latin typeface="Cambria Math"/>
                              <a:ea typeface="Cambria Math"/>
                              <a:cs typeface="Cambria Math"/>
                            </a:rPr>
                          </m:ctrlPr>
                        </m:barPr>
                        <m:e>
                          <m:r>
                            <a:rPr lang="en-GB" sz="3000" dirty="0">
                              <a:solidFill>
                                <a:srgbClr val="087F83"/>
                              </a:solidFill>
                              <a:latin typeface="Cambria Math"/>
                              <a:ea typeface="Cambria Math"/>
                              <a:cs typeface="Cambria Math"/>
                            </a:rPr>
                            <m:t>𝑥</m:t>
                          </m:r>
                        </m:e>
                      </m:bar>
                    </m:oMath>
                  </m:oMathPara>
                </a14:m>
                <a:endParaRPr lang="en-GB" sz="3000" b="0" i="0" dirty="0">
                  <a:solidFill>
                    <a:srgbClr val="087F83"/>
                  </a:solidFill>
                  <a:latin typeface="Cambria Math"/>
                  <a:ea typeface="Cambria Math"/>
                  <a:cs typeface="Cambria Math"/>
                </a:endParaRPr>
              </a:p>
            </p:txBody>
          </p:sp>
        </mc:Choice>
        <mc:Fallback xmlns="">
          <p:sp>
            <p:nvSpPr>
              <p:cNvPr id="5" name="eq_95">
                <a:extLst>
                  <a:ext uri="{FF2B5EF4-FFF2-40B4-BE49-F238E27FC236}">
                    <a16:creationId xmlns:a16="http://schemas.microsoft.com/office/drawing/2014/main" id="{4C0D38E9-94FB-4046-82B4-9AAA37B9645A}"/>
                  </a:ext>
                </a:extLst>
              </p:cNvPr>
              <p:cNvSpPr txBox="1">
                <a:spLocks noGrp="1" noRot="1" noChangeAspect="1" noMove="1" noResize="1" noEditPoints="1" noAdjustHandles="1" noChangeArrowheads="1" noChangeShapeType="1" noTextEdit="1"/>
              </p:cNvSpPr>
              <p:nvPr/>
            </p:nvSpPr>
            <p:spPr>
              <a:xfrm>
                <a:off x="619125" y="3902869"/>
                <a:ext cx="10953750" cy="685800"/>
              </a:xfrm>
              <a:prstGeom prst="rect">
                <a:avLst/>
              </a:prstGeom>
              <a:blipFill>
                <a:blip r:embed="rId4"/>
                <a:stretch>
                  <a:fillRect/>
                </a:stretch>
              </a:blipFill>
              <a:ln w="0">
                <a:noFill/>
              </a:ln>
            </p:spPr>
            <p:txBody>
              <a:bodyPr/>
              <a:lstStyle/>
              <a:p>
                <a:r>
                  <a:rPr lang="it-IT">
                    <a:noFill/>
                  </a:rPr>
                  <a:t> </a:t>
                </a:r>
              </a:p>
            </p:txBody>
          </p:sp>
        </mc:Fallback>
      </mc:AlternateContent>
      <p:sp>
        <p:nvSpPr>
          <p:cNvPr id="6" name="txt_96">
            <a:extLst>
              <a:ext uri="{FF2B5EF4-FFF2-40B4-BE49-F238E27FC236}">
                <a16:creationId xmlns:a16="http://schemas.microsoft.com/office/drawing/2014/main" id="{C8307AE9-A72F-4F4A-84A5-1E62188D8714}"/>
              </a:ext>
            </a:extLst>
          </p:cNvPr>
          <p:cNvSpPr>
            <a:spLocks noGrp="1"/>
          </p:cNvSpPr>
          <p:nvPr/>
        </p:nvSpPr>
        <p:spPr>
          <a:xfrm>
            <a:off x="609600" y="4986337"/>
            <a:ext cx="10953750" cy="1020763"/>
          </a:xfrm>
          <a:prstGeom prst="rect">
            <a:avLst/>
          </a:prstGeom>
          <a:noFill/>
          <a:ln w="0">
            <a:noFill/>
          </a:ln>
        </p:spPr>
        <p:txBody>
          <a:bodyPr wrap="square" lIns="0" tIns="0" rIns="0" bIns="0" anchor="ctr">
            <a:noAutofit/>
          </a:bodyPr>
          <a:lstStyle/>
          <a:p>
            <a:pPr marL="0" marR="0" indent="0" algn="ctr">
              <a:defRPr lang="en-GB" sz="2025" b="0" i="0" dirty="0">
                <a:solidFill>
                  <a:srgbClr val="182D45"/>
                </a:solidFill>
                <a:latin typeface="DejaVu Sans"/>
                <a:ea typeface="DejaVu Sans"/>
                <a:cs typeface="DejaVu Sans"/>
              </a:defRPr>
            </a:pPr>
            <a:r>
              <a:rPr lang="en-GB" sz="2400" b="0" i="0" dirty="0">
                <a:solidFill>
                  <a:srgbClr val="182D45"/>
                </a:solidFill>
                <a:latin typeface="DejaVu Sans"/>
                <a:ea typeface="DejaVu Sans"/>
                <a:cs typeface="DejaVu Sans"/>
              </a:rPr>
              <a:t>We have found a </a:t>
            </a:r>
            <a:r>
              <a:rPr lang="en-GB" sz="2400" b="0" i="0" dirty="0">
                <a:solidFill>
                  <a:srgbClr val="FF0000"/>
                </a:solidFill>
                <a:latin typeface="DejaVu Sans"/>
                <a:ea typeface="DejaVu Sans"/>
                <a:cs typeface="DejaVu Sans"/>
              </a:rPr>
              <a:t>unique stationary point</a:t>
            </a:r>
            <a:r>
              <a:rPr lang="en-GB" sz="2400" b="0" i="0" dirty="0">
                <a:solidFill>
                  <a:srgbClr val="182D45"/>
                </a:solidFill>
                <a:latin typeface="DejaVu Sans"/>
                <a:ea typeface="DejaVu Sans"/>
                <a:cs typeface="DejaVu Sans"/>
              </a:rPr>
              <a:t>.</a:t>
            </a:r>
          </a:p>
          <a:p>
            <a:pPr marL="0" marR="0" indent="0" algn="ctr">
              <a:defRPr lang="en-GB" sz="2025" b="0" i="0" dirty="0">
                <a:solidFill>
                  <a:srgbClr val="182D45"/>
                </a:solidFill>
                <a:latin typeface="DejaVu Sans"/>
                <a:ea typeface="DejaVu Sans"/>
                <a:cs typeface="DejaVu Sans"/>
              </a:defRPr>
            </a:pPr>
            <a:endParaRPr lang="en-GB" sz="2400" b="0" i="0" dirty="0">
              <a:solidFill>
                <a:srgbClr val="182D45"/>
              </a:solidFill>
              <a:latin typeface="DejaVu Sans"/>
              <a:ea typeface="DejaVu Sans"/>
              <a:cs typeface="DejaVu Sans"/>
            </a:endParaRPr>
          </a:p>
          <a:p>
            <a:pPr marL="0" marR="0" indent="0" algn="ctr">
              <a:defRPr lang="en-GB" sz="2025" b="0" i="0" dirty="0">
                <a:solidFill>
                  <a:srgbClr val="182D45"/>
                </a:solidFill>
                <a:latin typeface="DejaVu Sans"/>
                <a:ea typeface="DejaVu Sans"/>
                <a:cs typeface="DejaVu Sans"/>
              </a:defRPr>
            </a:pPr>
            <a:r>
              <a:rPr lang="en-GB" sz="2400" b="0" i="0" dirty="0">
                <a:solidFill>
                  <a:srgbClr val="182D45"/>
                </a:solidFill>
                <a:latin typeface="DejaVu Sans"/>
                <a:ea typeface="DejaVu Sans"/>
                <a:cs typeface="DejaVu Sans"/>
              </a:rPr>
              <a:t>Is it a global minimum?</a:t>
            </a:r>
          </a:p>
        </p:txBody>
      </p:sp>
    </p:spTree>
    <p:extLst>
      <p:ext uri="{BB962C8B-B14F-4D97-AF65-F5344CB8AC3E}">
        <p14:creationId xmlns:p14="http://schemas.microsoft.com/office/powerpoint/2010/main" val="376919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65062F48-108C-4AC8-AB1A-BFFFAD02C665}"/>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Residuals at the stationary point</a:t>
            </a:r>
          </a:p>
        </p:txBody>
      </p:sp>
      <p:sp>
        <p:nvSpPr>
          <p:cNvPr id="2" name="page_number">
            <a:extLst>
              <a:ext uri="{FF2B5EF4-FFF2-40B4-BE49-F238E27FC236}">
                <a16:creationId xmlns:a16="http://schemas.microsoft.com/office/drawing/2014/main" id="{4ACB4A8C-2075-4B33-A5FA-C19A51916921}"/>
              </a:ext>
            </a:extLst>
          </p:cNvPr>
          <p:cNvSpPr>
            <a:spLocks noGrp="1"/>
          </p:cNvSpPr>
          <p:nvPr/>
        </p:nvSpPr>
        <p:spPr>
          <a:xfrm>
            <a:off x="11239500" y="6457950"/>
            <a:ext cx="400050" cy="238125"/>
          </a:xfrm>
          <a:prstGeom prst="rect">
            <a:avLst/>
          </a:prstGeom>
          <a:noFill/>
          <a:ln w="0">
            <a:noFill/>
          </a:ln>
        </p:spPr>
        <p:txBody>
          <a:bodyPr wrap="square" lIns="0" tIns="0" rIns="0" bIns="0" anchor="ctr">
            <a:noAutofit/>
          </a:bodyPr>
          <a:lstStyle/>
          <a:p>
            <a:pPr marL="0" marR="0" indent="0" algn="r">
              <a:defRPr lang="en-GB" sz="1350" b="0" i="0" dirty="0">
                <a:solidFill>
                  <a:srgbClr val="53657E"/>
                </a:solidFill>
                <a:latin typeface="DejaVu Sans"/>
                <a:ea typeface="DejaVu Sans"/>
                <a:cs typeface="DejaVu Sans"/>
              </a:defRPr>
            </a:pPr>
            <a:r>
              <a:rPr sz="1300" b="0">
                <a:solidFill>
                  <a:srgbClr val="526276"/>
                </a:solidFill>
                <a:latin typeface="DejaVu Sans"/>
              </a:rPr>
              <a:t>28</a:t>
            </a:r>
          </a:p>
        </p:txBody>
      </p:sp>
      <mc:AlternateContent xmlns:mc="http://schemas.openxmlformats.org/markup-compatibility/2006" xmlns:a14="http://schemas.microsoft.com/office/drawing/2010/main">
        <mc:Choice Requires="a14">
          <p:sp>
            <p:nvSpPr>
              <p:cNvPr id="3" name="proof_49_3">
                <a:extLst>
                  <a:ext uri="{FF2B5EF4-FFF2-40B4-BE49-F238E27FC236}">
                    <a16:creationId xmlns:a16="http://schemas.microsoft.com/office/drawing/2014/main" id="{55303D2F-15A7-40FF-8552-4330BF9E47EA}"/>
                  </a:ext>
                </a:extLst>
              </p:cNvPr>
              <p:cNvSpPr txBox="1">
                <a:spLocks noGrp="1"/>
              </p:cNvSpPr>
              <p:nvPr/>
            </p:nvSpPr>
            <p:spPr>
              <a:xfrm>
                <a:off x="609600" y="1304925"/>
                <a:ext cx="10953750" cy="438150"/>
              </a:xfrm>
              <a:prstGeom prst="rect">
                <a:avLst/>
              </a:prstGeom>
              <a:noFill/>
              <a:ln w="0">
                <a:noFill/>
              </a:ln>
            </p:spPr>
            <p:txBody>
              <a:bodyPr vertOverflow="overflow" wrap="square" lIns="0" tIns="0" rIns="0" bIns="0" anchor="ctr">
                <a:noAutofit/>
              </a:bodyPr>
              <a:lstStyle/>
              <a:p>
                <a:pPr algn="ctr">
                  <a:defRPr lang="en-GB" sz="2100" b="0" i="0" dirty="0">
                    <a:solidFill>
                      <a:srgbClr val="182D45"/>
                    </a:solidFill>
                    <a:latin typeface="DejaVu Sans"/>
                    <a:ea typeface="DejaVu Sans"/>
                    <a:cs typeface="DejaVu Sans"/>
                  </a:defRPr>
                </a:pPr>
                <a:r>
                  <a:rPr lang="en-GB" sz="2200" b="0" i="0" dirty="0">
                    <a:solidFill>
                      <a:srgbClr val="182D45"/>
                    </a:solidFill>
                    <a:latin typeface="DejaVu Sans"/>
                    <a:ea typeface="DejaVu Sans"/>
                    <a:cs typeface="DejaVu Sans"/>
                  </a:rPr>
                  <a:t>Let </a:t>
                </a:r>
                <a14:m>
                  <m:oMath xmlns:m="http://schemas.openxmlformats.org/officeDocument/2006/math">
                    <m:d>
                      <m:dPr>
                        <m:ctrlPr>
                          <a:rPr lang="en-GB" sz="2200" b="0" i="1" dirty="0">
                            <a:solidFill>
                              <a:srgbClr val="182D45"/>
                            </a:solidFill>
                            <a:latin typeface="Cambria Math" panose="02040503050406030204" pitchFamily="18" charset="0"/>
                            <a:ea typeface="Cambria Math"/>
                            <a:cs typeface="Cambria Math"/>
                          </a:rPr>
                        </m:ctrlPr>
                      </m:dPr>
                      <m:e>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𝑏</m:t>
                            </m:r>
                          </m:e>
                          <m:sup>
                            <m:r>
                              <a:rPr lang="it-IT" sz="2200" b="0" i="1" dirty="0" smtClean="0">
                                <a:solidFill>
                                  <a:srgbClr val="182D45"/>
                                </a:solidFill>
                                <a:latin typeface="Cambria Math" panose="02040503050406030204" pitchFamily="18" charset="0"/>
                                <a:ea typeface="Cambria Math"/>
                                <a:cs typeface="Cambria Math"/>
                              </a:rPr>
                              <m:t>⋆</m:t>
                            </m:r>
                          </m:sup>
                        </m:sSup>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𝑎</m:t>
                            </m:r>
                          </m:e>
                          <m:sup>
                            <m:r>
                              <a:rPr lang="it-IT" sz="2200" b="0" i="1" dirty="0" smtClean="0">
                                <a:solidFill>
                                  <a:srgbClr val="182D45"/>
                                </a:solidFill>
                                <a:latin typeface="Cambria Math" panose="02040503050406030204" pitchFamily="18" charset="0"/>
                                <a:ea typeface="Cambria Math"/>
                                <a:cs typeface="Cambria Math"/>
                              </a:rPr>
                              <m:t>⋆</m:t>
                            </m:r>
                          </m:sup>
                        </m:sSup>
                      </m:e>
                    </m:d>
                  </m:oMath>
                </a14:m>
                <a:r>
                  <a:rPr lang="en-GB" sz="2200" b="0" i="0" dirty="0">
                    <a:solidFill>
                      <a:srgbClr val="182D45"/>
                    </a:solidFill>
                    <a:latin typeface="DejaVu Sans"/>
                    <a:ea typeface="DejaVu Sans"/>
                    <a:cs typeface="DejaVu Sans"/>
                  </a:rPr>
                  <a:t> be the stationary point. Its residuals are</a:t>
                </a:r>
              </a:p>
            </p:txBody>
          </p:sp>
        </mc:Choice>
        <mc:Fallback xmlns="">
          <p:sp>
            <p:nvSpPr>
              <p:cNvPr id="3" name="proof_49_3">
                <a:extLst>
                  <a:ext uri="{FF2B5EF4-FFF2-40B4-BE49-F238E27FC236}">
                    <a16:creationId xmlns:a16="http://schemas.microsoft.com/office/drawing/2014/main" id="{55303D2F-15A7-40FF-8552-4330BF9E47EA}"/>
                  </a:ext>
                </a:extLst>
              </p:cNvPr>
              <p:cNvSpPr txBox="1">
                <a:spLocks noGrp="1" noRot="1" noChangeAspect="1" noMove="1" noResize="1" noEditPoints="1" noAdjustHandles="1" noChangeArrowheads="1" noChangeShapeType="1" noTextEdit="1"/>
              </p:cNvSpPr>
              <p:nvPr/>
            </p:nvSpPr>
            <p:spPr>
              <a:xfrm>
                <a:off x="609600" y="1304925"/>
                <a:ext cx="10953750" cy="438150"/>
              </a:xfrm>
              <a:prstGeom prst="rect">
                <a:avLst/>
              </a:prstGeom>
              <a:blipFill>
                <a:blip r:embed="rId3"/>
                <a:stretch>
                  <a:fillRect t="-8333" b="-263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proof_49_4">
                <a:extLst>
                  <a:ext uri="{FF2B5EF4-FFF2-40B4-BE49-F238E27FC236}">
                    <a16:creationId xmlns:a16="http://schemas.microsoft.com/office/drawing/2014/main" id="{787BF294-9E51-4567-9C40-C66277E26664}"/>
                  </a:ext>
                </a:extLst>
              </p:cNvPr>
              <p:cNvSpPr txBox="1">
                <a:spLocks noGrp="1"/>
              </p:cNvSpPr>
              <p:nvPr/>
            </p:nvSpPr>
            <p:spPr>
              <a:xfrm>
                <a:off x="609600" y="1866900"/>
                <a:ext cx="10953750" cy="619125"/>
              </a:xfrm>
              <a:prstGeom prst="rect">
                <a:avLst/>
              </a:prstGeom>
              <a:noFill/>
              <a:ln w="0">
                <a:noFill/>
              </a:ln>
            </p:spPr>
            <p:txBody>
              <a:bodyPr vertOverflow="overflow" wrap="none" lIns="0" tIns="0" rIns="0" bIns="0" anchor="ctr">
                <a:noAutofit/>
              </a:bodyPr>
              <a:lstStyle/>
              <a:p>
                <a:pPr marL="0" marR="0" indent="0" algn="ctr">
                  <a:defRPr lang="en-GB" sz="2700" b="0" i="0" dirty="0">
                    <a:solidFill>
                      <a:srgbClr val="326CB2"/>
                    </a:solidFill>
                    <a:latin typeface="DejaVu Sans"/>
                    <a:ea typeface="DejaVu Sans"/>
                    <a:cs typeface="DejaVu Sans"/>
                  </a:defRPr>
                </a:pPr>
                <a14:m>
                  <m:oMathPara xmlns:m="http://schemas.openxmlformats.org/officeDocument/2006/math">
                    <m:oMathParaPr>
                      <m:jc m:val="center"/>
                    </m:oMathParaPr>
                    <m:oMath>
                      <m:sSubSup>
                        <m:sSubSupPr>
                          <m:ctrlPr>
                            <a:rPr lang="en-GB" sz="2700" b="0" dirty="0">
                              <a:solidFill>
                                <a:srgbClr val="326CB2"/>
                              </a:solidFill>
                              <a:latin typeface="Cambria Math"/>
                              <a:ea typeface="Cambria Math"/>
                              <a:cs typeface="Cambria Math"/>
                            </a:rPr>
                          </m:ctrlPr>
                        </m:sSubSupPr>
                        <m:e>
                          <m:r>
                            <a:rPr lang="en-GB" sz="2700" b="0" dirty="0">
                              <a:solidFill>
                                <a:srgbClr val="326CB2"/>
                              </a:solidFill>
                              <a:latin typeface="Cambria Math"/>
                              <a:ea typeface="Cambria Math"/>
                              <a:cs typeface="Cambria Math"/>
                            </a:rPr>
                            <m:t>𝑟</m:t>
                          </m:r>
                        </m:e>
                        <m:sub>
                          <m:r>
                            <a:rPr lang="en-GB" sz="2700" b="0" dirty="0">
                              <a:solidFill>
                                <a:srgbClr val="326CB2"/>
                              </a:solidFill>
                              <a:latin typeface="Cambria Math"/>
                              <a:ea typeface="Cambria Math"/>
                              <a:cs typeface="Cambria Math"/>
                            </a:rPr>
                            <m:t>𝑖</m:t>
                          </m:r>
                        </m:sub>
                        <m:sup>
                          <m:r>
                            <a:rPr lang="it-IT" sz="2700" b="0" i="1" dirty="0" smtClean="0">
                              <a:solidFill>
                                <a:srgbClr val="326CB2"/>
                              </a:solidFill>
                              <a:latin typeface="Cambria Math" panose="02040503050406030204" pitchFamily="18" charset="0"/>
                              <a:ea typeface="Cambria Math"/>
                              <a:cs typeface="Cambria Math"/>
                            </a:rPr>
                            <m:t>⋆</m:t>
                          </m:r>
                        </m:sup>
                      </m:sSubSup>
                      <m:r>
                        <a:rPr lang="en-GB" sz="2700" b="0" dirty="0">
                          <a:solidFill>
                            <a:srgbClr val="326CB2"/>
                          </a:solidFill>
                          <a:latin typeface="Cambria Math"/>
                          <a:ea typeface="Cambria Math"/>
                          <a:cs typeface="Cambria Math"/>
                        </a:rPr>
                        <m:t>=</m:t>
                      </m:r>
                      <m:sSup>
                        <m:sSupPr>
                          <m:ctrlPr>
                            <a:rPr lang="en-GB" sz="2700" b="0" dirty="0">
                              <a:solidFill>
                                <a:srgbClr val="326CB2"/>
                              </a:solidFill>
                              <a:latin typeface="Cambria Math"/>
                              <a:ea typeface="Cambria Math"/>
                              <a:cs typeface="Cambria Math"/>
                            </a:rPr>
                          </m:ctrlPr>
                        </m:sSupPr>
                        <m:e>
                          <m:r>
                            <a:rPr lang="en-GB" sz="2700" b="0" dirty="0">
                              <a:solidFill>
                                <a:srgbClr val="326CB2"/>
                              </a:solidFill>
                              <a:latin typeface="Cambria Math"/>
                              <a:ea typeface="Cambria Math"/>
                              <a:cs typeface="Cambria Math"/>
                            </a:rPr>
                            <m:t>𝑏</m:t>
                          </m:r>
                        </m:e>
                        <m:sup>
                          <m:r>
                            <a:rPr lang="it-IT" sz="2700" b="0" i="1" dirty="0" smtClean="0">
                              <a:solidFill>
                                <a:srgbClr val="326CB2"/>
                              </a:solidFill>
                              <a:latin typeface="Cambria Math" panose="02040503050406030204" pitchFamily="18" charset="0"/>
                              <a:ea typeface="Cambria Math"/>
                              <a:cs typeface="Cambria Math"/>
                            </a:rPr>
                            <m:t>⋆</m:t>
                          </m:r>
                        </m:sup>
                      </m:sSup>
                      <m:r>
                        <a:rPr lang="en-GB" sz="2700" b="0" dirty="0">
                          <a:solidFill>
                            <a:srgbClr val="326CB2"/>
                          </a:solidFill>
                          <a:latin typeface="Cambria Math"/>
                          <a:ea typeface="Cambria Math"/>
                          <a:cs typeface="Cambria Math"/>
                        </a:rPr>
                        <m:t>+</m:t>
                      </m:r>
                      <m:sSup>
                        <m:sSupPr>
                          <m:ctrlPr>
                            <a:rPr lang="en-GB" sz="2700" b="0" dirty="0">
                              <a:solidFill>
                                <a:srgbClr val="326CB2"/>
                              </a:solidFill>
                              <a:latin typeface="Cambria Math"/>
                              <a:ea typeface="Cambria Math"/>
                              <a:cs typeface="Cambria Math"/>
                            </a:rPr>
                          </m:ctrlPr>
                        </m:sSupPr>
                        <m:e>
                          <m:r>
                            <a:rPr lang="en-GB" sz="2700" b="0" dirty="0">
                              <a:solidFill>
                                <a:srgbClr val="326CB2"/>
                              </a:solidFill>
                              <a:latin typeface="Cambria Math"/>
                              <a:ea typeface="Cambria Math"/>
                              <a:cs typeface="Cambria Math"/>
                            </a:rPr>
                            <m:t>𝑎</m:t>
                          </m:r>
                        </m:e>
                        <m:sup>
                          <m:r>
                            <a:rPr lang="it-IT" sz="2700" b="0" i="1" dirty="0" smtClean="0">
                              <a:solidFill>
                                <a:srgbClr val="326CB2"/>
                              </a:solidFill>
                              <a:latin typeface="Cambria Math" panose="02040503050406030204" pitchFamily="18" charset="0"/>
                              <a:ea typeface="Cambria Math"/>
                              <a:cs typeface="Cambria Math"/>
                            </a:rPr>
                            <m:t>⋆</m:t>
                          </m:r>
                        </m:sup>
                      </m:sSup>
                      <m:sSub>
                        <m:sSubPr>
                          <m:ctrlPr>
                            <a:rPr lang="en-GB" sz="2700" b="0" dirty="0">
                              <a:solidFill>
                                <a:srgbClr val="326CB2"/>
                              </a:solidFill>
                              <a:latin typeface="Cambria Math"/>
                              <a:ea typeface="Cambria Math"/>
                              <a:cs typeface="Cambria Math"/>
                            </a:rPr>
                          </m:ctrlPr>
                        </m:sSubPr>
                        <m:e>
                          <m:r>
                            <a:rPr lang="en-GB" sz="2700" b="0" dirty="0">
                              <a:solidFill>
                                <a:srgbClr val="326CB2"/>
                              </a:solidFill>
                              <a:latin typeface="Cambria Math"/>
                              <a:ea typeface="Cambria Math"/>
                              <a:cs typeface="Cambria Math"/>
                            </a:rPr>
                            <m:t>𝑥</m:t>
                          </m:r>
                        </m:e>
                        <m:sub>
                          <m:r>
                            <a:rPr lang="en-GB" sz="2700" b="0" dirty="0">
                              <a:solidFill>
                                <a:srgbClr val="326CB2"/>
                              </a:solidFill>
                              <a:latin typeface="Cambria Math"/>
                              <a:ea typeface="Cambria Math"/>
                              <a:cs typeface="Cambria Math"/>
                            </a:rPr>
                            <m:t>𝑖</m:t>
                          </m:r>
                        </m:sub>
                      </m:sSub>
                      <m:r>
                        <a:rPr lang="en-GB" sz="2700" b="0" dirty="0">
                          <a:solidFill>
                            <a:srgbClr val="326CB2"/>
                          </a:solidFill>
                          <a:latin typeface="Cambria Math"/>
                          <a:ea typeface="Cambria Math"/>
                          <a:cs typeface="Cambria Math"/>
                        </a:rPr>
                        <m:t>−</m:t>
                      </m:r>
                      <m:sSub>
                        <m:sSubPr>
                          <m:ctrlPr>
                            <a:rPr lang="en-GB" sz="2700" b="0" dirty="0">
                              <a:solidFill>
                                <a:srgbClr val="326CB2"/>
                              </a:solidFill>
                              <a:latin typeface="Cambria Math"/>
                              <a:ea typeface="Cambria Math"/>
                              <a:cs typeface="Cambria Math"/>
                            </a:rPr>
                          </m:ctrlPr>
                        </m:sSubPr>
                        <m:e>
                          <m:r>
                            <a:rPr lang="en-GB" sz="2700" b="0" dirty="0">
                              <a:solidFill>
                                <a:srgbClr val="326CB2"/>
                              </a:solidFill>
                              <a:latin typeface="Cambria Math"/>
                              <a:ea typeface="Cambria Math"/>
                              <a:cs typeface="Cambria Math"/>
                            </a:rPr>
                            <m:t>𝑦</m:t>
                          </m:r>
                        </m:e>
                        <m:sub>
                          <m:r>
                            <a:rPr lang="en-GB" sz="2700" b="0" dirty="0">
                              <a:solidFill>
                                <a:srgbClr val="326CB2"/>
                              </a:solidFill>
                              <a:latin typeface="Cambria Math"/>
                              <a:ea typeface="Cambria Math"/>
                              <a:cs typeface="Cambria Math"/>
                            </a:rPr>
                            <m:t>𝑖</m:t>
                          </m:r>
                        </m:sub>
                      </m:sSub>
                      <m:r>
                        <a:rPr lang="en-GB" sz="2700" b="0" dirty="0">
                          <a:solidFill>
                            <a:srgbClr val="326CB2"/>
                          </a:solidFill>
                          <a:latin typeface="Cambria Math"/>
                          <a:ea typeface="Cambria Math"/>
                          <a:cs typeface="Cambria Math"/>
                        </a:rPr>
                        <m:t>,  </m:t>
                      </m:r>
                      <m:r>
                        <a:rPr lang="en-GB" sz="2700" b="0" dirty="0">
                          <a:solidFill>
                            <a:srgbClr val="326CB2"/>
                          </a:solidFill>
                          <a:latin typeface="Cambria Math"/>
                          <a:ea typeface="Cambria Math"/>
                          <a:cs typeface="Cambria Math"/>
                        </a:rPr>
                        <m:t>𝑖</m:t>
                      </m:r>
                      <m:r>
                        <a:rPr lang="en-GB" sz="2700" b="0" dirty="0">
                          <a:solidFill>
                            <a:srgbClr val="326CB2"/>
                          </a:solidFill>
                          <a:latin typeface="Cambria Math"/>
                          <a:ea typeface="Cambria Math"/>
                          <a:cs typeface="Cambria Math"/>
                        </a:rPr>
                        <m:t>=1,…,</m:t>
                      </m:r>
                      <m:r>
                        <a:rPr lang="en-GB" sz="2700" b="0" dirty="0">
                          <a:solidFill>
                            <a:srgbClr val="326CB2"/>
                          </a:solidFill>
                          <a:latin typeface="Cambria Math"/>
                          <a:ea typeface="Cambria Math"/>
                          <a:cs typeface="Cambria Math"/>
                        </a:rPr>
                        <m:t>𝑁</m:t>
                      </m:r>
                      <m:r>
                        <a:rPr lang="en-GB" sz="2700" b="0" dirty="0">
                          <a:solidFill>
                            <a:srgbClr val="326CB2"/>
                          </a:solidFill>
                          <a:latin typeface="Cambria Math"/>
                          <a:ea typeface="Cambria Math"/>
                          <a:cs typeface="Cambria Math"/>
                        </a:rPr>
                        <m:t>.</m:t>
                      </m:r>
                    </m:oMath>
                  </m:oMathPara>
                </a14:m>
                <a:endParaRPr lang="en-GB" sz="2700" b="0" i="0" dirty="0">
                  <a:solidFill>
                    <a:srgbClr val="326CB2"/>
                  </a:solidFill>
                  <a:latin typeface="DejaVu Sans"/>
                  <a:ea typeface="DejaVu Sans"/>
                  <a:cs typeface="DejaVu Sans"/>
                </a:endParaRPr>
              </a:p>
            </p:txBody>
          </p:sp>
        </mc:Choice>
        <mc:Fallback xmlns="">
          <p:sp>
            <p:nvSpPr>
              <p:cNvPr id="4" name="proof_49_4">
                <a:extLst>
                  <a:ext uri="{FF2B5EF4-FFF2-40B4-BE49-F238E27FC236}">
                    <a16:creationId xmlns:a16="http://schemas.microsoft.com/office/drawing/2014/main" id="{787BF294-9E51-4567-9C40-C66277E26664}"/>
                  </a:ext>
                </a:extLst>
              </p:cNvPr>
              <p:cNvSpPr txBox="1">
                <a:spLocks noGrp="1" noRot="1" noChangeAspect="1" noMove="1" noResize="1" noEditPoints="1" noAdjustHandles="1" noChangeArrowheads="1" noChangeShapeType="1" noTextEdit="1"/>
              </p:cNvSpPr>
              <p:nvPr/>
            </p:nvSpPr>
            <p:spPr>
              <a:xfrm>
                <a:off x="609600" y="1866900"/>
                <a:ext cx="10953750" cy="619125"/>
              </a:xfrm>
              <a:prstGeom prst="rect">
                <a:avLst/>
              </a:prstGeom>
              <a:blipFill>
                <a:blip r:embed="rId4"/>
                <a:stretch>
                  <a:fillRect/>
                </a:stretch>
              </a:blipFill>
              <a:ln w="0">
                <a:noFill/>
              </a:ln>
            </p:spPr>
            <p:txBody>
              <a:bodyPr/>
              <a:lstStyle/>
              <a:p>
                <a:r>
                  <a:rPr lang="it-IT">
                    <a:noFill/>
                  </a:rPr>
                  <a:t> </a:t>
                </a:r>
              </a:p>
            </p:txBody>
          </p:sp>
        </mc:Fallback>
      </mc:AlternateContent>
      <p:sp>
        <p:nvSpPr>
          <p:cNvPr id="5" name="proof_49_5">
            <a:extLst>
              <a:ext uri="{FF2B5EF4-FFF2-40B4-BE49-F238E27FC236}">
                <a16:creationId xmlns:a16="http://schemas.microsoft.com/office/drawing/2014/main" id="{E00407E5-9642-4D2C-97EA-1E53CC1A308A}"/>
              </a:ext>
            </a:extLst>
          </p:cNvPr>
          <p:cNvSpPr>
            <a:spLocks noGrp="1"/>
          </p:cNvSpPr>
          <p:nvPr/>
        </p:nvSpPr>
        <p:spPr>
          <a:xfrm>
            <a:off x="609600" y="2752725"/>
            <a:ext cx="10953750" cy="409575"/>
          </a:xfrm>
          <a:prstGeom prst="rect">
            <a:avLst/>
          </a:prstGeom>
          <a:noFill/>
          <a:ln w="0">
            <a:noFill/>
          </a:ln>
        </p:spPr>
        <p:txBody>
          <a:bodyPr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200" b="0" i="0" dirty="0">
                <a:solidFill>
                  <a:srgbClr val="182D45"/>
                </a:solidFill>
                <a:latin typeface="DejaVu Sans"/>
                <a:ea typeface="DejaVu Sans"/>
                <a:cs typeface="DejaVu Sans"/>
              </a:rPr>
              <a:t>The zero-gradient (stationary point) conditions say precisely that</a:t>
            </a:r>
          </a:p>
        </p:txBody>
      </p:sp>
      <mc:AlternateContent xmlns:mc="http://schemas.openxmlformats.org/markup-compatibility/2006" xmlns:a14="http://schemas.microsoft.com/office/drawing/2010/main">
        <mc:Choice Requires="a14">
          <p:sp>
            <p:nvSpPr>
              <p:cNvPr id="6" name="proof_49_6">
                <a:extLst>
                  <a:ext uri="{FF2B5EF4-FFF2-40B4-BE49-F238E27FC236}">
                    <a16:creationId xmlns:a16="http://schemas.microsoft.com/office/drawing/2014/main" id="{5AE1C545-633A-4195-9CCB-DFF8449E6C62}"/>
                  </a:ext>
                </a:extLst>
              </p:cNvPr>
              <p:cNvSpPr txBox="1">
                <a:spLocks noGrp="1"/>
              </p:cNvSpPr>
              <p:nvPr/>
            </p:nvSpPr>
            <p:spPr>
              <a:xfrm>
                <a:off x="609600" y="3238500"/>
                <a:ext cx="10953750" cy="1066800"/>
              </a:xfrm>
              <a:prstGeom prst="rect">
                <a:avLst/>
              </a:prstGeom>
              <a:noFill/>
              <a:ln w="0">
                <a:noFill/>
              </a:ln>
            </p:spPr>
            <p:txBody>
              <a:bodyPr vertOverflow="overflow" wrap="none" lIns="0" tIns="0" rIns="0" bIns="0" anchor="ctr">
                <a:noAutofit/>
              </a:bodyPr>
              <a:lstStyle/>
              <a:p>
                <a:pPr algn="ctr">
                  <a:defRPr lang="en-GB" sz="2700" b="0" i="0" dirty="0">
                    <a:solidFill>
                      <a:srgbClr val="00858A"/>
                    </a:solidFill>
                    <a:latin typeface="DejaVu Sans"/>
                    <a:ea typeface="DejaVu Sans"/>
                    <a:cs typeface="DejaVu Sans"/>
                  </a:defRPr>
                </a:pPr>
                <a14:m>
                  <m:oMathPara xmlns:m="http://schemas.openxmlformats.org/officeDocument/2006/math">
                    <m:oMath>
                      <m:nary>
                        <m:naryPr>
                          <m:chr m:val="∑"/>
                          <m:limLoc m:val="undOvr"/>
                          <m:ctrlPr>
                            <a:rPr lang="en-GB" sz="2700" b="0" dirty="0">
                              <a:solidFill>
                                <a:srgbClr val="00858A"/>
                              </a:solidFill>
                              <a:latin typeface="Cambria Math"/>
                              <a:ea typeface="Cambria Math"/>
                              <a:cs typeface="Cambria Math"/>
                            </a:rPr>
                          </m:ctrlPr>
                        </m:naryPr>
                        <m:sub>
                          <m:r>
                            <a:rPr lang="en-GB" sz="2700" b="0" dirty="0">
                              <a:solidFill>
                                <a:srgbClr val="00858A"/>
                              </a:solidFill>
                              <a:latin typeface="Cambria Math"/>
                              <a:ea typeface="Cambria Math"/>
                              <a:cs typeface="Cambria Math"/>
                            </a:rPr>
                            <m:t>𝑖</m:t>
                          </m:r>
                          <m:r>
                            <a:rPr lang="en-GB" sz="2700" b="0" dirty="0">
                              <a:solidFill>
                                <a:srgbClr val="00858A"/>
                              </a:solidFill>
                              <a:latin typeface="Cambria Math"/>
                              <a:ea typeface="Cambria Math"/>
                              <a:cs typeface="Cambria Math"/>
                            </a:rPr>
                            <m:t>=1</m:t>
                          </m:r>
                        </m:sub>
                        <m:sup>
                          <m:r>
                            <a:rPr lang="en-GB" sz="2700" b="0" dirty="0">
                              <a:solidFill>
                                <a:srgbClr val="00858A"/>
                              </a:solidFill>
                              <a:latin typeface="Cambria Math"/>
                              <a:ea typeface="Cambria Math"/>
                              <a:cs typeface="Cambria Math"/>
                            </a:rPr>
                            <m:t>𝑁</m:t>
                          </m:r>
                        </m:sup>
                        <m:e>
                          <m:sSubSup>
                            <m:sSubSupPr>
                              <m:ctrlPr>
                                <a:rPr lang="en-GB" sz="2700" b="0" dirty="0">
                                  <a:solidFill>
                                    <a:srgbClr val="00858A"/>
                                  </a:solidFill>
                                  <a:latin typeface="Cambria Math"/>
                                  <a:ea typeface="Cambria Math"/>
                                  <a:cs typeface="Cambria Math"/>
                                </a:rPr>
                              </m:ctrlPr>
                            </m:sSubSupPr>
                            <m:e>
                              <m:r>
                                <a:rPr lang="en-GB" sz="2700" b="0" dirty="0">
                                  <a:solidFill>
                                    <a:srgbClr val="00858A"/>
                                  </a:solidFill>
                                  <a:latin typeface="Cambria Math"/>
                                  <a:ea typeface="Cambria Math"/>
                                  <a:cs typeface="Cambria Math"/>
                                </a:rPr>
                                <m:t>𝑟</m:t>
                              </m:r>
                            </m:e>
                            <m:sub>
                              <m:r>
                                <a:rPr lang="en-GB" sz="2700" b="0" dirty="0">
                                  <a:solidFill>
                                    <a:srgbClr val="00858A"/>
                                  </a:solidFill>
                                  <a:latin typeface="Cambria Math"/>
                                  <a:ea typeface="Cambria Math"/>
                                  <a:cs typeface="Cambria Math"/>
                                </a:rPr>
                                <m:t>𝑖</m:t>
                              </m:r>
                            </m:sub>
                            <m:sup>
                              <m:r>
                                <a:rPr lang="it-IT" sz="2700" b="0" i="1" dirty="0" smtClean="0">
                                  <a:solidFill>
                                    <a:srgbClr val="00858A"/>
                                  </a:solidFill>
                                  <a:latin typeface="Cambria Math" panose="02040503050406030204" pitchFamily="18" charset="0"/>
                                  <a:ea typeface="Cambria Math"/>
                                  <a:cs typeface="Cambria Math"/>
                                </a:rPr>
                                <m:t>⋆</m:t>
                              </m:r>
                            </m:sup>
                          </m:sSubSup>
                        </m:e>
                      </m:nary>
                      <m:r>
                        <a:rPr lang="en-GB" sz="2700" b="0" dirty="0">
                          <a:solidFill>
                            <a:srgbClr val="00858A"/>
                          </a:solidFill>
                          <a:latin typeface="Cambria Math"/>
                          <a:ea typeface="Cambria Math"/>
                          <a:cs typeface="Cambria Math"/>
                        </a:rPr>
                        <m:t>=0,  </m:t>
                      </m:r>
                      <m:nary>
                        <m:naryPr>
                          <m:chr m:val="∑"/>
                          <m:limLoc m:val="undOvr"/>
                          <m:ctrlPr>
                            <a:rPr lang="en-GB" sz="2700" b="0" dirty="0">
                              <a:solidFill>
                                <a:srgbClr val="00858A"/>
                              </a:solidFill>
                              <a:latin typeface="Cambria Math"/>
                              <a:ea typeface="Cambria Math"/>
                              <a:cs typeface="Cambria Math"/>
                            </a:rPr>
                          </m:ctrlPr>
                        </m:naryPr>
                        <m:sub>
                          <m:r>
                            <a:rPr lang="en-GB" sz="2700" b="0" dirty="0">
                              <a:solidFill>
                                <a:srgbClr val="00858A"/>
                              </a:solidFill>
                              <a:latin typeface="Cambria Math"/>
                              <a:ea typeface="Cambria Math"/>
                              <a:cs typeface="Cambria Math"/>
                            </a:rPr>
                            <m:t>𝑖</m:t>
                          </m:r>
                          <m:r>
                            <a:rPr lang="en-GB" sz="2700" b="0" dirty="0">
                              <a:solidFill>
                                <a:srgbClr val="00858A"/>
                              </a:solidFill>
                              <a:latin typeface="Cambria Math"/>
                              <a:ea typeface="Cambria Math"/>
                              <a:cs typeface="Cambria Math"/>
                            </a:rPr>
                            <m:t>=1</m:t>
                          </m:r>
                        </m:sub>
                        <m:sup>
                          <m:r>
                            <a:rPr lang="en-GB" sz="2700" b="0" dirty="0">
                              <a:solidFill>
                                <a:srgbClr val="00858A"/>
                              </a:solidFill>
                              <a:latin typeface="Cambria Math"/>
                              <a:ea typeface="Cambria Math"/>
                              <a:cs typeface="Cambria Math"/>
                            </a:rPr>
                            <m:t>𝑁</m:t>
                          </m:r>
                        </m:sup>
                        <m:e>
                          <m:sSub>
                            <m:sSubPr>
                              <m:ctrlPr>
                                <a:rPr lang="en-GB" sz="2700" b="0" dirty="0">
                                  <a:solidFill>
                                    <a:srgbClr val="00858A"/>
                                  </a:solidFill>
                                  <a:latin typeface="Cambria Math"/>
                                  <a:ea typeface="Cambria Math"/>
                                  <a:cs typeface="Cambria Math"/>
                                </a:rPr>
                              </m:ctrlPr>
                            </m:sSubPr>
                            <m:e>
                              <m:r>
                                <a:rPr lang="en-GB" sz="2700" b="0" dirty="0">
                                  <a:solidFill>
                                    <a:srgbClr val="00858A"/>
                                  </a:solidFill>
                                  <a:latin typeface="Cambria Math"/>
                                  <a:ea typeface="Cambria Math"/>
                                  <a:cs typeface="Cambria Math"/>
                                </a:rPr>
                                <m:t>𝑥</m:t>
                              </m:r>
                            </m:e>
                            <m:sub>
                              <m:r>
                                <a:rPr lang="en-GB" sz="2700" b="0" dirty="0">
                                  <a:solidFill>
                                    <a:srgbClr val="00858A"/>
                                  </a:solidFill>
                                  <a:latin typeface="Cambria Math"/>
                                  <a:ea typeface="Cambria Math"/>
                                  <a:cs typeface="Cambria Math"/>
                                </a:rPr>
                                <m:t>𝑖</m:t>
                              </m:r>
                            </m:sub>
                          </m:sSub>
                          <m:sSubSup>
                            <m:sSubSupPr>
                              <m:ctrlPr>
                                <a:rPr lang="en-GB" sz="2700" dirty="0">
                                  <a:solidFill>
                                    <a:srgbClr val="00858A"/>
                                  </a:solidFill>
                                  <a:latin typeface="Cambria Math"/>
                                  <a:ea typeface="Cambria Math"/>
                                  <a:cs typeface="Cambria Math"/>
                                </a:rPr>
                              </m:ctrlPr>
                            </m:sSubSupPr>
                            <m:e>
                              <m:r>
                                <a:rPr lang="en-GB" sz="2700" dirty="0">
                                  <a:solidFill>
                                    <a:srgbClr val="00858A"/>
                                  </a:solidFill>
                                  <a:latin typeface="Cambria Math"/>
                                  <a:ea typeface="Cambria Math"/>
                                  <a:cs typeface="Cambria Math"/>
                                </a:rPr>
                                <m:t>𝑟</m:t>
                              </m:r>
                            </m:e>
                            <m:sub>
                              <m:r>
                                <a:rPr lang="en-GB" sz="2700" dirty="0">
                                  <a:solidFill>
                                    <a:srgbClr val="00858A"/>
                                  </a:solidFill>
                                  <a:latin typeface="Cambria Math"/>
                                  <a:ea typeface="Cambria Math"/>
                                  <a:cs typeface="Cambria Math"/>
                                </a:rPr>
                                <m:t>𝑖</m:t>
                              </m:r>
                            </m:sub>
                            <m:sup>
                              <m:r>
                                <a:rPr lang="it-IT" sz="2700" i="1" dirty="0">
                                  <a:solidFill>
                                    <a:srgbClr val="00858A"/>
                                  </a:solidFill>
                                  <a:latin typeface="Cambria Math" panose="02040503050406030204" pitchFamily="18" charset="0"/>
                                  <a:ea typeface="Cambria Math"/>
                                  <a:cs typeface="Cambria Math"/>
                                </a:rPr>
                                <m:t>⋆</m:t>
                              </m:r>
                            </m:sup>
                          </m:sSubSup>
                        </m:e>
                      </m:nary>
                      <m:r>
                        <a:rPr lang="en-GB" sz="2700" b="0" dirty="0">
                          <a:solidFill>
                            <a:srgbClr val="00858A"/>
                          </a:solidFill>
                          <a:latin typeface="Cambria Math"/>
                          <a:ea typeface="Cambria Math"/>
                          <a:cs typeface="Cambria Math"/>
                        </a:rPr>
                        <m:t>=0.</m:t>
                      </m:r>
                    </m:oMath>
                  </m:oMathPara>
                </a14:m>
                <a:endParaRPr lang="en-GB" sz="2700" b="0" i="0" dirty="0">
                  <a:solidFill>
                    <a:srgbClr val="00858A"/>
                  </a:solidFill>
                  <a:latin typeface="DejaVu Sans"/>
                  <a:ea typeface="DejaVu Sans"/>
                  <a:cs typeface="DejaVu Sans"/>
                </a:endParaRPr>
              </a:p>
            </p:txBody>
          </p:sp>
        </mc:Choice>
        <mc:Fallback xmlns="">
          <p:sp>
            <p:nvSpPr>
              <p:cNvPr id="6" name="proof_49_6">
                <a:extLst>
                  <a:ext uri="{FF2B5EF4-FFF2-40B4-BE49-F238E27FC236}">
                    <a16:creationId xmlns:a16="http://schemas.microsoft.com/office/drawing/2014/main" id="{5AE1C545-633A-4195-9CCB-DFF8449E6C62}"/>
                  </a:ext>
                </a:extLst>
              </p:cNvPr>
              <p:cNvSpPr txBox="1">
                <a:spLocks noGrp="1" noRot="1" noChangeAspect="1" noMove="1" noResize="1" noEditPoints="1" noAdjustHandles="1" noChangeArrowheads="1" noChangeShapeType="1" noTextEdit="1"/>
              </p:cNvSpPr>
              <p:nvPr/>
            </p:nvSpPr>
            <p:spPr>
              <a:xfrm>
                <a:off x="609600" y="3238500"/>
                <a:ext cx="10953750" cy="1066800"/>
              </a:xfrm>
              <a:prstGeom prst="rect">
                <a:avLst/>
              </a:prstGeom>
              <a:blipFill>
                <a:blip r:embed="rId5"/>
                <a:stretch>
                  <a:fillRect b="-4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proof_49_8">
                <a:extLst>
                  <a:ext uri="{FF2B5EF4-FFF2-40B4-BE49-F238E27FC236}">
                    <a16:creationId xmlns:a16="http://schemas.microsoft.com/office/drawing/2014/main" id="{9FE1E4DD-0E3D-4919-B9D3-5D83D37BB323}"/>
                  </a:ext>
                </a:extLst>
              </p:cNvPr>
              <p:cNvSpPr txBox="1">
                <a:spLocks noGrp="1"/>
              </p:cNvSpPr>
              <p:nvPr/>
            </p:nvSpPr>
            <p:spPr>
              <a:xfrm>
                <a:off x="609600" y="4572000"/>
                <a:ext cx="10953750" cy="685800"/>
              </a:xfrm>
              <a:prstGeom prst="rect">
                <a:avLst/>
              </a:prstGeom>
              <a:noFill/>
              <a:ln w="0">
                <a:noFill/>
              </a:ln>
            </p:spPr>
            <p:txBody>
              <a:bodyPr vertOverflow="overflow"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200" b="0" i="0" dirty="0">
                    <a:solidFill>
                      <a:srgbClr val="182D45"/>
                    </a:solidFill>
                    <a:latin typeface="DejaVu Sans"/>
                    <a:ea typeface="DejaVu Sans"/>
                    <a:cs typeface="DejaVu Sans"/>
                  </a:rPr>
                  <a:t>Any other parameter pair is </a:t>
                </a:r>
                <a14:m>
                  <m:oMath xmlns:m="http://schemas.openxmlformats.org/officeDocument/2006/math">
                    <m:d>
                      <m:dPr>
                        <m:ctrlPr>
                          <a:rPr lang="en-GB" sz="2200" b="0" i="1" dirty="0">
                            <a:solidFill>
                              <a:srgbClr val="182D45"/>
                            </a:solidFill>
                            <a:latin typeface="Cambria Math" panose="02040503050406030204" pitchFamily="18" charset="0"/>
                            <a:ea typeface="Cambria Math"/>
                            <a:cs typeface="Cambria Math"/>
                          </a:rPr>
                        </m:ctrlPr>
                      </m:dPr>
                      <m:e>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𝑏</m:t>
                            </m:r>
                          </m:e>
                          <m:sup>
                            <m:r>
                              <a:rPr lang="it-IT" sz="2200" b="0" i="1" dirty="0" smtClean="0">
                                <a:solidFill>
                                  <a:srgbClr val="182D45"/>
                                </a:solidFill>
                                <a:latin typeface="Cambria Math" panose="02040503050406030204" pitchFamily="18" charset="0"/>
                                <a:ea typeface="Cambria Math"/>
                                <a:cs typeface="Cambria Math"/>
                              </a:rPr>
                              <m:t>⋆</m:t>
                            </m:r>
                          </m:sup>
                        </m:sSup>
                        <m:r>
                          <a:rPr lang="en-GB" sz="2200" b="0" dirty="0">
                            <a:solidFill>
                              <a:srgbClr val="182D45"/>
                            </a:solidFill>
                            <a:latin typeface="Cambria Math"/>
                            <a:ea typeface="Cambria Math"/>
                            <a:cs typeface="Cambria Math"/>
                          </a:rPr>
                          <m:t>+</m:t>
                        </m:r>
                        <m:r>
                          <a:rPr lang="en-GB" sz="2200" b="0" dirty="0">
                            <a:solidFill>
                              <a:srgbClr val="182D45"/>
                            </a:solidFill>
                            <a:latin typeface="Cambria Math"/>
                            <a:ea typeface="Cambria Math"/>
                            <a:cs typeface="Cambria Math"/>
                          </a:rPr>
                          <m:t>𝑢</m:t>
                        </m:r>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𝑎</m:t>
                            </m:r>
                          </m:e>
                          <m:sup>
                            <m:r>
                              <a:rPr lang="it-IT" sz="2200" b="0" i="1" dirty="0" smtClean="0">
                                <a:solidFill>
                                  <a:srgbClr val="182D45"/>
                                </a:solidFill>
                                <a:latin typeface="Cambria Math" panose="02040503050406030204" pitchFamily="18" charset="0"/>
                                <a:ea typeface="Cambria Math"/>
                                <a:cs typeface="Cambria Math"/>
                              </a:rPr>
                              <m:t>⋆</m:t>
                            </m:r>
                          </m:sup>
                        </m:sSup>
                        <m:r>
                          <a:rPr lang="en-GB" sz="2200" b="0" dirty="0">
                            <a:solidFill>
                              <a:srgbClr val="182D45"/>
                            </a:solidFill>
                            <a:latin typeface="Cambria Math"/>
                            <a:ea typeface="Cambria Math"/>
                            <a:cs typeface="Cambria Math"/>
                          </a:rPr>
                          <m:t>+</m:t>
                        </m:r>
                        <m:r>
                          <a:rPr lang="en-GB" sz="2200" b="0" dirty="0">
                            <a:solidFill>
                              <a:srgbClr val="182D45"/>
                            </a:solidFill>
                            <a:latin typeface="Cambria Math"/>
                            <a:ea typeface="Cambria Math"/>
                            <a:cs typeface="Cambria Math"/>
                          </a:rPr>
                          <m:t>𝑣</m:t>
                        </m:r>
                      </m:e>
                    </m:d>
                  </m:oMath>
                </a14:m>
                <a:r>
                  <a:rPr lang="en-GB" sz="2200" b="0" i="0" dirty="0">
                    <a:solidFill>
                      <a:srgbClr val="182D45"/>
                    </a:solidFill>
                    <a:latin typeface="DejaVu Sans"/>
                    <a:ea typeface="DejaVu Sans"/>
                    <a:cs typeface="DejaVu Sans"/>
                  </a:rPr>
                  <a:t>, with </a:t>
                </a:r>
                <a14:m>
                  <m:oMath xmlns:m="http://schemas.openxmlformats.org/officeDocument/2006/math">
                    <m:r>
                      <a:rPr lang="en-GB" sz="2200" b="0" dirty="0">
                        <a:solidFill>
                          <a:srgbClr val="182D45"/>
                        </a:solidFill>
                        <a:latin typeface="Cambria Math"/>
                        <a:ea typeface="Cambria Math"/>
                        <a:cs typeface="Cambria Math"/>
                      </a:rPr>
                      <m:t>𝑢</m:t>
                    </m:r>
                    <m:r>
                      <a:rPr lang="en-GB" sz="2200" b="0" dirty="0">
                        <a:solidFill>
                          <a:srgbClr val="182D45"/>
                        </a:solidFill>
                        <a:latin typeface="Cambria Math"/>
                        <a:ea typeface="Cambria Math"/>
                        <a:cs typeface="Cambria Math"/>
                      </a:rPr>
                      <m:t>,</m:t>
                    </m:r>
                    <m:r>
                      <a:rPr lang="en-GB" sz="2200" b="0" dirty="0">
                        <a:solidFill>
                          <a:srgbClr val="182D45"/>
                        </a:solidFill>
                        <a:latin typeface="Cambria Math"/>
                        <a:ea typeface="Cambria Math"/>
                        <a:cs typeface="Cambria Math"/>
                      </a:rPr>
                      <m:t>𝑣</m:t>
                    </m:r>
                    <m:r>
                      <a:rPr lang="en-GB" sz="2200" b="0" dirty="0">
                        <a:solidFill>
                          <a:srgbClr val="182D45"/>
                        </a:solidFill>
                        <a:latin typeface="Cambria Math"/>
                        <a:ea typeface="Cambria Math"/>
                        <a:cs typeface="Cambria Math"/>
                      </a:rPr>
                      <m:t>∈</m:t>
                    </m:r>
                    <m:r>
                      <a:rPr lang="en-GB" sz="2200" b="0" dirty="0">
                        <a:solidFill>
                          <a:srgbClr val="182D45"/>
                        </a:solidFill>
                        <a:latin typeface="Cambria Math"/>
                        <a:ea typeface="Cambria Math"/>
                        <a:cs typeface="Cambria Math"/>
                      </a:rPr>
                      <m:t>ℝ</m:t>
                    </m:r>
                  </m:oMath>
                </a14:m>
                <a:r>
                  <a:rPr lang="en-GB" sz="2200" b="0" i="0" dirty="0">
                    <a:solidFill>
                      <a:srgbClr val="182D45"/>
                    </a:solidFill>
                    <a:latin typeface="DejaVu Sans"/>
                    <a:ea typeface="DejaVu Sans"/>
                    <a:cs typeface="DejaVu Sans"/>
                  </a:rPr>
                  <a:t>.</a:t>
                </a:r>
              </a:p>
              <a:p>
                <a:pPr marL="0" marR="0" indent="0" algn="ctr">
                  <a:defRPr lang="en-GB" sz="2100" b="0" i="0" dirty="0">
                    <a:solidFill>
                      <a:srgbClr val="182D45"/>
                    </a:solidFill>
                    <a:latin typeface="DejaVu Sans"/>
                    <a:ea typeface="DejaVu Sans"/>
                    <a:cs typeface="DejaVu Sans"/>
                  </a:defRPr>
                </a:pPr>
                <a:r>
                  <a:rPr lang="en-GB" sz="2200" dirty="0">
                    <a:solidFill>
                      <a:srgbClr val="182D45"/>
                    </a:solidFill>
                    <a:latin typeface="DejaVu Sans"/>
                    <a:ea typeface="DejaVu Sans"/>
                    <a:cs typeface="DejaVu Sans"/>
                  </a:rPr>
                  <a:t>The corresponding residuals</a:t>
                </a:r>
                <a:r>
                  <a:rPr lang="en-GB" sz="2200" b="0" i="0" dirty="0">
                    <a:solidFill>
                      <a:srgbClr val="182D45"/>
                    </a:solidFill>
                    <a:latin typeface="DejaVu Sans"/>
                    <a:ea typeface="DejaVu Sans"/>
                    <a:cs typeface="DejaVu Sans"/>
                  </a:rPr>
                  <a:t> are</a:t>
                </a:r>
              </a:p>
            </p:txBody>
          </p:sp>
        </mc:Choice>
        <mc:Fallback xmlns="">
          <p:sp>
            <p:nvSpPr>
              <p:cNvPr id="8" name="proof_49_8">
                <a:extLst>
                  <a:ext uri="{FF2B5EF4-FFF2-40B4-BE49-F238E27FC236}">
                    <a16:creationId xmlns:a16="http://schemas.microsoft.com/office/drawing/2014/main" id="{9FE1E4DD-0E3D-4919-B9D3-5D83D37BB323}"/>
                  </a:ext>
                </a:extLst>
              </p:cNvPr>
              <p:cNvSpPr txBox="1">
                <a:spLocks noGrp="1" noRot="1" noChangeAspect="1" noMove="1" noResize="1" noEditPoints="1" noAdjustHandles="1" noChangeArrowheads="1" noChangeShapeType="1" noTextEdit="1"/>
              </p:cNvSpPr>
              <p:nvPr/>
            </p:nvSpPr>
            <p:spPr>
              <a:xfrm>
                <a:off x="609600" y="4572000"/>
                <a:ext cx="10953750" cy="685800"/>
              </a:xfrm>
              <a:prstGeom prst="rect">
                <a:avLst/>
              </a:prstGeom>
              <a:blipFill>
                <a:blip r:embed="rId6"/>
                <a:stretch>
                  <a:fillRect t="-11504" b="-238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proof_49_9">
                <a:extLst>
                  <a:ext uri="{FF2B5EF4-FFF2-40B4-BE49-F238E27FC236}">
                    <a16:creationId xmlns:a16="http://schemas.microsoft.com/office/drawing/2014/main" id="{E3AAAB30-6E12-454E-B65E-EF5C8EA4E4B7}"/>
                  </a:ext>
                </a:extLst>
              </p:cNvPr>
              <p:cNvSpPr txBox="1">
                <a:spLocks noGrp="1"/>
              </p:cNvSpPr>
              <p:nvPr/>
            </p:nvSpPr>
            <p:spPr>
              <a:xfrm>
                <a:off x="609600" y="5429250"/>
                <a:ext cx="10953750" cy="742950"/>
              </a:xfrm>
              <a:prstGeom prst="rect">
                <a:avLst/>
              </a:prstGeom>
              <a:noFill/>
              <a:ln w="0">
                <a:noFill/>
              </a:ln>
            </p:spPr>
            <p:txBody>
              <a:bodyPr vertOverflow="overflow" wrap="none" lIns="0" tIns="0" rIns="0" bIns="0" anchor="ctr">
                <a:noAutofit/>
              </a:bodyPr>
              <a:lstStyle/>
              <a:p>
                <a:pPr marL="0" marR="0" indent="0" algn="ctr">
                  <a:defRPr lang="en-GB" sz="2550" b="0" i="0" dirty="0">
                    <a:solidFill>
                      <a:srgbClr val="326CB2"/>
                    </a:solidFill>
                    <a:latin typeface="DejaVu Sans"/>
                    <a:ea typeface="DejaVu Sans"/>
                    <a:cs typeface="DejaVu Sans"/>
                  </a:defRPr>
                </a:pPr>
                <a14:m>
                  <m:oMathPara xmlns:m="http://schemas.openxmlformats.org/officeDocument/2006/math">
                    <m:oMath>
                      <m:d>
                        <m:dPr>
                          <m:ctrlPr>
                            <a:rPr lang="en-GB" sz="2550" b="0" i="1" dirty="0">
                              <a:solidFill>
                                <a:srgbClr val="326CB2"/>
                              </a:solidFill>
                              <a:latin typeface="Cambria Math" panose="02040503050406030204" pitchFamily="18" charset="0"/>
                              <a:ea typeface="Cambria Math"/>
                              <a:cs typeface="Cambria Math"/>
                            </a:rPr>
                          </m:ctrlPr>
                        </m:dPr>
                        <m:e>
                          <m:sSup>
                            <m:sSupPr>
                              <m:ctrlPr>
                                <a:rPr lang="en-GB" sz="2550" b="0" dirty="0">
                                  <a:solidFill>
                                    <a:srgbClr val="326CB2"/>
                                  </a:solidFill>
                                  <a:latin typeface="Cambria Math"/>
                                  <a:ea typeface="Cambria Math"/>
                                  <a:cs typeface="Cambria Math"/>
                                </a:rPr>
                              </m:ctrlPr>
                            </m:sSupPr>
                            <m:e>
                              <m:r>
                                <a:rPr lang="en-GB" sz="2550" b="0" dirty="0">
                                  <a:solidFill>
                                    <a:srgbClr val="326CB2"/>
                                  </a:solidFill>
                                  <a:latin typeface="Cambria Math"/>
                                  <a:ea typeface="Cambria Math"/>
                                  <a:cs typeface="Cambria Math"/>
                                </a:rPr>
                                <m:t>𝑏</m:t>
                              </m:r>
                            </m:e>
                            <m:sup>
                              <m:r>
                                <a:rPr lang="it-IT" sz="2550" b="0" i="1" dirty="0" smtClean="0">
                                  <a:solidFill>
                                    <a:srgbClr val="326CB2"/>
                                  </a:solidFill>
                                  <a:latin typeface="Cambria Math" panose="02040503050406030204" pitchFamily="18" charset="0"/>
                                  <a:ea typeface="Cambria Math"/>
                                  <a:cs typeface="Cambria Math"/>
                                </a:rPr>
                                <m:t>⋆</m:t>
                              </m:r>
                            </m:sup>
                          </m:sSup>
                          <m:r>
                            <a:rPr lang="en-GB" sz="2550" b="0" dirty="0">
                              <a:solidFill>
                                <a:srgbClr val="326CB2"/>
                              </a:solidFill>
                              <a:latin typeface="Cambria Math"/>
                              <a:ea typeface="Cambria Math"/>
                              <a:cs typeface="Cambria Math"/>
                            </a:rPr>
                            <m:t>+</m:t>
                          </m:r>
                          <m:r>
                            <a:rPr lang="en-GB" sz="2550" b="0" dirty="0">
                              <a:solidFill>
                                <a:srgbClr val="326CB2"/>
                              </a:solidFill>
                              <a:latin typeface="Cambria Math"/>
                              <a:ea typeface="Cambria Math"/>
                              <a:cs typeface="Cambria Math"/>
                            </a:rPr>
                            <m:t>𝑢</m:t>
                          </m:r>
                        </m:e>
                      </m:d>
                      <m:r>
                        <a:rPr lang="en-GB" sz="2550" b="0" dirty="0">
                          <a:solidFill>
                            <a:srgbClr val="326CB2"/>
                          </a:solidFill>
                          <a:latin typeface="Cambria Math"/>
                          <a:ea typeface="Cambria Math"/>
                          <a:cs typeface="Cambria Math"/>
                        </a:rPr>
                        <m:t>+</m:t>
                      </m:r>
                      <m:d>
                        <m:dPr>
                          <m:ctrlPr>
                            <a:rPr lang="en-GB" sz="2550" b="0" i="1" dirty="0">
                              <a:solidFill>
                                <a:srgbClr val="326CB2"/>
                              </a:solidFill>
                              <a:latin typeface="Cambria Math" panose="02040503050406030204" pitchFamily="18" charset="0"/>
                              <a:ea typeface="Cambria Math"/>
                              <a:cs typeface="Cambria Math"/>
                            </a:rPr>
                          </m:ctrlPr>
                        </m:dPr>
                        <m:e>
                          <m:sSup>
                            <m:sSupPr>
                              <m:ctrlPr>
                                <a:rPr lang="en-GB" sz="2550" b="0" dirty="0">
                                  <a:solidFill>
                                    <a:srgbClr val="326CB2"/>
                                  </a:solidFill>
                                  <a:latin typeface="Cambria Math"/>
                                  <a:ea typeface="Cambria Math"/>
                                  <a:cs typeface="Cambria Math"/>
                                </a:rPr>
                              </m:ctrlPr>
                            </m:sSupPr>
                            <m:e>
                              <m:r>
                                <a:rPr lang="en-GB" sz="2550" b="0" dirty="0">
                                  <a:solidFill>
                                    <a:srgbClr val="326CB2"/>
                                  </a:solidFill>
                                  <a:latin typeface="Cambria Math"/>
                                  <a:ea typeface="Cambria Math"/>
                                  <a:cs typeface="Cambria Math"/>
                                </a:rPr>
                                <m:t>𝑎</m:t>
                              </m:r>
                            </m:e>
                            <m:sup>
                              <m:r>
                                <a:rPr lang="it-IT" sz="2550" b="0" i="1" dirty="0" smtClean="0">
                                  <a:solidFill>
                                    <a:srgbClr val="326CB2"/>
                                  </a:solidFill>
                                  <a:latin typeface="Cambria Math" panose="02040503050406030204" pitchFamily="18" charset="0"/>
                                  <a:ea typeface="Cambria Math"/>
                                  <a:cs typeface="Cambria Math"/>
                                </a:rPr>
                                <m:t>⋆</m:t>
                              </m:r>
                            </m:sup>
                          </m:sSup>
                          <m:r>
                            <a:rPr lang="en-GB" sz="2550" b="0" dirty="0">
                              <a:solidFill>
                                <a:srgbClr val="326CB2"/>
                              </a:solidFill>
                              <a:latin typeface="Cambria Math"/>
                              <a:ea typeface="Cambria Math"/>
                              <a:cs typeface="Cambria Math"/>
                            </a:rPr>
                            <m:t>+</m:t>
                          </m:r>
                          <m:r>
                            <a:rPr lang="en-GB" sz="2550" b="0" dirty="0">
                              <a:solidFill>
                                <a:srgbClr val="326CB2"/>
                              </a:solidFill>
                              <a:latin typeface="Cambria Math"/>
                              <a:ea typeface="Cambria Math"/>
                              <a:cs typeface="Cambria Math"/>
                            </a:rPr>
                            <m:t>𝑣</m:t>
                          </m:r>
                        </m:e>
                      </m:d>
                      <m:sSub>
                        <m:sSubPr>
                          <m:ctrlPr>
                            <a:rPr lang="en-GB" sz="2550" b="0" dirty="0">
                              <a:solidFill>
                                <a:srgbClr val="326CB2"/>
                              </a:solidFill>
                              <a:latin typeface="Cambria Math"/>
                              <a:ea typeface="Cambria Math"/>
                              <a:cs typeface="Cambria Math"/>
                            </a:rPr>
                          </m:ctrlPr>
                        </m:sSubPr>
                        <m:e>
                          <m:r>
                            <a:rPr lang="en-GB" sz="2550" b="0" dirty="0">
                              <a:solidFill>
                                <a:srgbClr val="326CB2"/>
                              </a:solidFill>
                              <a:latin typeface="Cambria Math"/>
                              <a:ea typeface="Cambria Math"/>
                              <a:cs typeface="Cambria Math"/>
                            </a:rPr>
                            <m:t>𝑥</m:t>
                          </m:r>
                        </m:e>
                        <m:sub>
                          <m:r>
                            <a:rPr lang="en-GB" sz="2550" b="0" dirty="0">
                              <a:solidFill>
                                <a:srgbClr val="326CB2"/>
                              </a:solidFill>
                              <a:latin typeface="Cambria Math"/>
                              <a:ea typeface="Cambria Math"/>
                              <a:cs typeface="Cambria Math"/>
                            </a:rPr>
                            <m:t>𝑖</m:t>
                          </m:r>
                        </m:sub>
                      </m:sSub>
                      <m:r>
                        <a:rPr lang="en-GB" sz="2550" b="0" dirty="0">
                          <a:solidFill>
                            <a:srgbClr val="326CB2"/>
                          </a:solidFill>
                          <a:latin typeface="Cambria Math"/>
                          <a:ea typeface="Cambria Math"/>
                          <a:cs typeface="Cambria Math"/>
                        </a:rPr>
                        <m:t>−</m:t>
                      </m:r>
                      <m:sSub>
                        <m:sSubPr>
                          <m:ctrlPr>
                            <a:rPr lang="en-GB" sz="2550" b="0" dirty="0">
                              <a:solidFill>
                                <a:srgbClr val="326CB2"/>
                              </a:solidFill>
                              <a:latin typeface="Cambria Math"/>
                              <a:ea typeface="Cambria Math"/>
                              <a:cs typeface="Cambria Math"/>
                            </a:rPr>
                          </m:ctrlPr>
                        </m:sSubPr>
                        <m:e>
                          <m:r>
                            <a:rPr lang="en-GB" sz="2550" b="0" dirty="0">
                              <a:solidFill>
                                <a:srgbClr val="326CB2"/>
                              </a:solidFill>
                              <a:latin typeface="Cambria Math"/>
                              <a:ea typeface="Cambria Math"/>
                              <a:cs typeface="Cambria Math"/>
                            </a:rPr>
                            <m:t>𝑦</m:t>
                          </m:r>
                        </m:e>
                        <m:sub>
                          <m:r>
                            <a:rPr lang="en-GB" sz="2550" b="0" dirty="0">
                              <a:solidFill>
                                <a:srgbClr val="326CB2"/>
                              </a:solidFill>
                              <a:latin typeface="Cambria Math"/>
                              <a:ea typeface="Cambria Math"/>
                              <a:cs typeface="Cambria Math"/>
                            </a:rPr>
                            <m:t>𝑖</m:t>
                          </m:r>
                        </m:sub>
                      </m:sSub>
                      <m:r>
                        <a:rPr lang="en-GB" sz="2550" b="0" dirty="0">
                          <a:solidFill>
                            <a:srgbClr val="326CB2"/>
                          </a:solidFill>
                          <a:latin typeface="Cambria Math"/>
                          <a:ea typeface="Cambria Math"/>
                          <a:cs typeface="Cambria Math"/>
                        </a:rPr>
                        <m:t>=</m:t>
                      </m:r>
                      <m:sSubSup>
                        <m:sSubSupPr>
                          <m:ctrlPr>
                            <a:rPr lang="en-GB" sz="2550" b="0" dirty="0">
                              <a:solidFill>
                                <a:srgbClr val="326CB2"/>
                              </a:solidFill>
                              <a:latin typeface="Cambria Math"/>
                              <a:ea typeface="Cambria Math"/>
                              <a:cs typeface="Cambria Math"/>
                            </a:rPr>
                          </m:ctrlPr>
                        </m:sSubSupPr>
                        <m:e>
                          <m:r>
                            <a:rPr lang="en-GB" sz="2550" b="0" dirty="0">
                              <a:solidFill>
                                <a:srgbClr val="326CB2"/>
                              </a:solidFill>
                              <a:latin typeface="Cambria Math"/>
                              <a:ea typeface="Cambria Math"/>
                              <a:cs typeface="Cambria Math"/>
                            </a:rPr>
                            <m:t>𝑟</m:t>
                          </m:r>
                        </m:e>
                        <m:sub>
                          <m:r>
                            <a:rPr lang="en-GB" sz="2550" b="0" dirty="0">
                              <a:solidFill>
                                <a:srgbClr val="326CB2"/>
                              </a:solidFill>
                              <a:latin typeface="Cambria Math"/>
                              <a:ea typeface="Cambria Math"/>
                              <a:cs typeface="Cambria Math"/>
                            </a:rPr>
                            <m:t>𝑖</m:t>
                          </m:r>
                        </m:sub>
                        <m:sup>
                          <m:r>
                            <a:rPr lang="it-IT" sz="2550" b="0" i="1" dirty="0" smtClean="0">
                              <a:solidFill>
                                <a:srgbClr val="326CB2"/>
                              </a:solidFill>
                              <a:latin typeface="Cambria Math" panose="02040503050406030204" pitchFamily="18" charset="0"/>
                              <a:ea typeface="Cambria Math"/>
                              <a:cs typeface="Cambria Math"/>
                            </a:rPr>
                            <m:t>⋆</m:t>
                          </m:r>
                        </m:sup>
                      </m:sSubSup>
                      <m:r>
                        <a:rPr lang="en-GB" sz="2550" b="0" dirty="0">
                          <a:solidFill>
                            <a:srgbClr val="326CB2"/>
                          </a:solidFill>
                          <a:latin typeface="Cambria Math"/>
                          <a:ea typeface="Cambria Math"/>
                          <a:cs typeface="Cambria Math"/>
                        </a:rPr>
                        <m:t>+</m:t>
                      </m:r>
                      <m:r>
                        <a:rPr lang="en-GB" sz="2550" b="0" dirty="0">
                          <a:solidFill>
                            <a:srgbClr val="326CB2"/>
                          </a:solidFill>
                          <a:latin typeface="Cambria Math"/>
                          <a:ea typeface="Cambria Math"/>
                          <a:cs typeface="Cambria Math"/>
                        </a:rPr>
                        <m:t>𝑢</m:t>
                      </m:r>
                      <m:r>
                        <a:rPr lang="en-GB" sz="2550" b="0" dirty="0">
                          <a:solidFill>
                            <a:srgbClr val="326CB2"/>
                          </a:solidFill>
                          <a:latin typeface="Cambria Math"/>
                          <a:ea typeface="Cambria Math"/>
                          <a:cs typeface="Cambria Math"/>
                        </a:rPr>
                        <m:t>+</m:t>
                      </m:r>
                      <m:r>
                        <a:rPr lang="en-GB" sz="2550" b="0" dirty="0">
                          <a:solidFill>
                            <a:srgbClr val="326CB2"/>
                          </a:solidFill>
                          <a:latin typeface="Cambria Math"/>
                          <a:ea typeface="Cambria Math"/>
                          <a:cs typeface="Cambria Math"/>
                        </a:rPr>
                        <m:t>𝑣</m:t>
                      </m:r>
                      <m:sSub>
                        <m:sSubPr>
                          <m:ctrlPr>
                            <a:rPr lang="en-GB" sz="2550" b="0" dirty="0">
                              <a:solidFill>
                                <a:srgbClr val="326CB2"/>
                              </a:solidFill>
                              <a:latin typeface="Cambria Math"/>
                              <a:ea typeface="Cambria Math"/>
                              <a:cs typeface="Cambria Math"/>
                            </a:rPr>
                          </m:ctrlPr>
                        </m:sSubPr>
                        <m:e>
                          <m:r>
                            <a:rPr lang="en-GB" sz="2550" b="0" dirty="0">
                              <a:solidFill>
                                <a:srgbClr val="326CB2"/>
                              </a:solidFill>
                              <a:latin typeface="Cambria Math"/>
                              <a:ea typeface="Cambria Math"/>
                              <a:cs typeface="Cambria Math"/>
                            </a:rPr>
                            <m:t>𝑥</m:t>
                          </m:r>
                        </m:e>
                        <m:sub>
                          <m:r>
                            <a:rPr lang="en-GB" sz="2550" b="0" dirty="0">
                              <a:solidFill>
                                <a:srgbClr val="326CB2"/>
                              </a:solidFill>
                              <a:latin typeface="Cambria Math"/>
                              <a:ea typeface="Cambria Math"/>
                              <a:cs typeface="Cambria Math"/>
                            </a:rPr>
                            <m:t>𝑖</m:t>
                          </m:r>
                        </m:sub>
                      </m:sSub>
                      <m:r>
                        <a:rPr lang="en-GB" sz="2550" b="0" dirty="0">
                          <a:solidFill>
                            <a:srgbClr val="326CB2"/>
                          </a:solidFill>
                          <a:latin typeface="Cambria Math"/>
                          <a:ea typeface="Cambria Math"/>
                          <a:cs typeface="Cambria Math"/>
                        </a:rPr>
                        <m:t>.</m:t>
                      </m:r>
                    </m:oMath>
                  </m:oMathPara>
                </a14:m>
                <a:endParaRPr lang="en-GB" sz="2550" b="0" i="0" dirty="0">
                  <a:solidFill>
                    <a:srgbClr val="326CB2"/>
                  </a:solidFill>
                  <a:latin typeface="DejaVu Sans"/>
                  <a:ea typeface="DejaVu Sans"/>
                  <a:cs typeface="DejaVu Sans"/>
                </a:endParaRPr>
              </a:p>
            </p:txBody>
          </p:sp>
        </mc:Choice>
        <mc:Fallback xmlns="">
          <p:sp>
            <p:nvSpPr>
              <p:cNvPr id="9" name="proof_49_9">
                <a:extLst>
                  <a:ext uri="{FF2B5EF4-FFF2-40B4-BE49-F238E27FC236}">
                    <a16:creationId xmlns:a16="http://schemas.microsoft.com/office/drawing/2014/main" id="{E3AAAB30-6E12-454E-B65E-EF5C8EA4E4B7}"/>
                  </a:ext>
                </a:extLst>
              </p:cNvPr>
              <p:cNvSpPr txBox="1">
                <a:spLocks noGrp="1" noRot="1" noChangeAspect="1" noMove="1" noResize="1" noEditPoints="1" noAdjustHandles="1" noChangeArrowheads="1" noChangeShapeType="1" noTextEdit="1"/>
              </p:cNvSpPr>
              <p:nvPr/>
            </p:nvSpPr>
            <p:spPr>
              <a:xfrm>
                <a:off x="609600" y="5429250"/>
                <a:ext cx="10953750" cy="742950"/>
              </a:xfrm>
              <a:prstGeom prst="rect">
                <a:avLst/>
              </a:prstGeom>
              <a:blipFill>
                <a:blip r:embed="rId7"/>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927208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1A443116-DBBE-4EB3-AA81-12804945EF20}"/>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 global minimum</a:t>
            </a:r>
          </a:p>
        </p:txBody>
      </p:sp>
      <p:sp>
        <p:nvSpPr>
          <p:cNvPr id="2" name="page_number">
            <a:extLst>
              <a:ext uri="{FF2B5EF4-FFF2-40B4-BE49-F238E27FC236}">
                <a16:creationId xmlns:a16="http://schemas.microsoft.com/office/drawing/2014/main" id="{3F4DB82B-8784-4194-A885-0E763B736A1C}"/>
              </a:ext>
            </a:extLst>
          </p:cNvPr>
          <p:cNvSpPr>
            <a:spLocks noGrp="1"/>
          </p:cNvSpPr>
          <p:nvPr/>
        </p:nvSpPr>
        <p:spPr>
          <a:xfrm>
            <a:off x="11239500" y="6457950"/>
            <a:ext cx="400050" cy="238125"/>
          </a:xfrm>
          <a:prstGeom prst="rect">
            <a:avLst/>
          </a:prstGeom>
          <a:noFill/>
          <a:ln w="0">
            <a:noFill/>
          </a:ln>
        </p:spPr>
        <p:txBody>
          <a:bodyPr wrap="square" lIns="0" tIns="0" rIns="0" bIns="0" anchor="ctr">
            <a:noAutofit/>
          </a:bodyPr>
          <a:lstStyle/>
          <a:p>
            <a:pPr marL="0" marR="0" indent="0" algn="r">
              <a:defRPr lang="en-GB" sz="1350" b="0" i="0" dirty="0">
                <a:solidFill>
                  <a:srgbClr val="53657E"/>
                </a:solidFill>
                <a:latin typeface="DejaVu Sans"/>
                <a:ea typeface="DejaVu Sans"/>
                <a:cs typeface="DejaVu Sans"/>
              </a:defRPr>
            </a:pPr>
            <a:r>
              <a:rPr sz="1300" b="0">
                <a:solidFill>
                  <a:srgbClr val="526276"/>
                </a:solidFill>
                <a:latin typeface="DejaVu Sans"/>
              </a:rPr>
              <a:t>29</a:t>
            </a:r>
          </a:p>
        </p:txBody>
      </p:sp>
      <p:sp>
        <p:nvSpPr>
          <p:cNvPr id="3" name="proof_50_3">
            <a:extLst>
              <a:ext uri="{FF2B5EF4-FFF2-40B4-BE49-F238E27FC236}">
                <a16:creationId xmlns:a16="http://schemas.microsoft.com/office/drawing/2014/main" id="{AEE4B1A0-940D-47CE-AF90-4C7C5CA77741}"/>
              </a:ext>
            </a:extLst>
          </p:cNvPr>
          <p:cNvSpPr>
            <a:spLocks noGrp="1"/>
          </p:cNvSpPr>
          <p:nvPr/>
        </p:nvSpPr>
        <p:spPr>
          <a:xfrm>
            <a:off x="609600" y="1257300"/>
            <a:ext cx="10953750" cy="419100"/>
          </a:xfrm>
          <a:prstGeom prst="rect">
            <a:avLst/>
          </a:prstGeom>
          <a:noFill/>
          <a:ln w="0">
            <a:noFill/>
          </a:ln>
        </p:spPr>
        <p:txBody>
          <a:bodyPr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Expanding the squared residuals gives</a:t>
            </a:r>
          </a:p>
        </p:txBody>
      </p:sp>
      <mc:AlternateContent xmlns:mc="http://schemas.openxmlformats.org/markup-compatibility/2006" xmlns:a14="http://schemas.microsoft.com/office/drawing/2010/main">
        <mc:Choice Requires="a14">
          <p:sp>
            <p:nvSpPr>
              <p:cNvPr id="4" name="proof_50_4">
                <a:extLst>
                  <a:ext uri="{FF2B5EF4-FFF2-40B4-BE49-F238E27FC236}">
                    <a16:creationId xmlns:a16="http://schemas.microsoft.com/office/drawing/2014/main" id="{660345C9-1BCE-4102-A8BD-D0CDBDFA46E0}"/>
                  </a:ext>
                </a:extLst>
              </p:cNvPr>
              <p:cNvSpPr txBox="1">
                <a:spLocks noGrp="1"/>
              </p:cNvSpPr>
              <p:nvPr/>
            </p:nvSpPr>
            <p:spPr>
              <a:xfrm>
                <a:off x="-1648968" y="1762125"/>
                <a:ext cx="10953750" cy="981075"/>
              </a:xfrm>
              <a:prstGeom prst="rect">
                <a:avLst/>
              </a:prstGeom>
              <a:noFill/>
              <a:ln w="0">
                <a:noFill/>
              </a:ln>
            </p:spPr>
            <p:txBody>
              <a:bodyPr vertOverflow="overflow" wrap="none" lIns="0" tIns="0" rIns="0" bIns="0" anchor="ctr">
                <a:noAutofit/>
              </a:bodyPr>
              <a:lstStyle/>
              <a:p>
                <a:pPr algn="ctr">
                  <a:defRPr lang="en-GB" sz="2475" b="0" i="0" dirty="0">
                    <a:solidFill>
                      <a:srgbClr val="182D45"/>
                    </a:solidFill>
                    <a:latin typeface="DejaVu Sans"/>
                    <a:ea typeface="DejaVu Sans"/>
                    <a:cs typeface="DejaVu Sans"/>
                  </a:defRPr>
                </a:pPr>
                <a14:m>
                  <m:oMathPara xmlns:m="http://schemas.openxmlformats.org/officeDocument/2006/math">
                    <m:oMath>
                      <m:sSubSup>
                        <m:sSubSupPr>
                          <m:ctrlPr>
                            <a:rPr lang="en-GB" sz="2475" b="0" dirty="0">
                              <a:solidFill>
                                <a:srgbClr val="182D45"/>
                              </a:solidFill>
                              <a:latin typeface="Cambria Math"/>
                              <a:ea typeface="Cambria Math"/>
                              <a:cs typeface="Cambria Math"/>
                            </a:rPr>
                          </m:ctrlPr>
                        </m:sSubSupPr>
                        <m:e>
                          <m:r>
                            <a:rPr lang="en-GB" sz="2475" b="0" dirty="0">
                              <a:solidFill>
                                <a:srgbClr val="182D45"/>
                              </a:solidFill>
                              <a:latin typeface="Cambria Math"/>
                              <a:ea typeface="Cambria Math"/>
                              <a:cs typeface="Cambria Math"/>
                            </a:rPr>
                            <m:t>ℒ</m:t>
                          </m:r>
                        </m:e>
                        <m:sub>
                          <m:r>
                            <m:rPr>
                              <m:sty m:val="p"/>
                            </m:rPr>
                            <a:rPr lang="en-GB" sz="2475" b="0" dirty="0">
                              <a:solidFill>
                                <a:srgbClr val="182D45"/>
                              </a:solidFill>
                              <a:latin typeface="Cambria Math"/>
                              <a:ea typeface="Cambria Math"/>
                              <a:cs typeface="Cambria Math"/>
                            </a:rPr>
                            <m:t>sq</m:t>
                          </m:r>
                        </m:sub>
                        <m:sup>
                          <m:r>
                            <m:rPr>
                              <m:sty m:val="p"/>
                            </m:rPr>
                            <a:rPr lang="en-GB" sz="2475" b="0" dirty="0">
                              <a:solidFill>
                                <a:srgbClr val="182D45"/>
                              </a:solidFill>
                              <a:latin typeface="Cambria Math"/>
                              <a:ea typeface="Cambria Math"/>
                              <a:cs typeface="Cambria Math"/>
                            </a:rPr>
                            <m:t>aff</m:t>
                          </m:r>
                        </m:sup>
                      </m:sSubSup>
                      <m:d>
                        <m:dPr>
                          <m:ctrlPr>
                            <a:rPr lang="en-GB" sz="2475" b="0" i="1" dirty="0">
                              <a:solidFill>
                                <a:srgbClr val="182D45"/>
                              </a:solidFill>
                              <a:latin typeface="Cambria Math" panose="02040503050406030204" pitchFamily="18" charset="0"/>
                              <a:ea typeface="Cambria Math"/>
                              <a:cs typeface="Cambria Math"/>
                            </a:rPr>
                          </m:ctrlPr>
                        </m:dPr>
                        <m:e>
                          <m:sSup>
                            <m:sSupPr>
                              <m:ctrlPr>
                                <a:rPr lang="en-GB" sz="2475" b="0" dirty="0">
                                  <a:solidFill>
                                    <a:srgbClr val="182D45"/>
                                  </a:solidFill>
                                  <a:latin typeface="Cambria Math"/>
                                  <a:ea typeface="Cambria Math"/>
                                  <a:cs typeface="Cambria Math"/>
                                </a:rPr>
                              </m:ctrlPr>
                            </m:sSupPr>
                            <m:e>
                              <m:r>
                                <a:rPr lang="en-GB" sz="2475" b="0" dirty="0">
                                  <a:solidFill>
                                    <a:srgbClr val="182D45"/>
                                  </a:solidFill>
                                  <a:latin typeface="Cambria Math"/>
                                  <a:ea typeface="Cambria Math"/>
                                  <a:cs typeface="Cambria Math"/>
                                </a:rPr>
                                <m:t>𝑏</m:t>
                              </m:r>
                            </m:e>
                            <m:sup>
                              <m:r>
                                <a:rPr lang="it-IT" sz="2475" b="0" i="1" dirty="0" smtClean="0">
                                  <a:solidFill>
                                    <a:srgbClr val="182D45"/>
                                  </a:solidFill>
                                  <a:latin typeface="Cambria Math" panose="02040503050406030204" pitchFamily="18" charset="0"/>
                                  <a:ea typeface="Cambria Math"/>
                                  <a:cs typeface="Cambria Math"/>
                                </a:rPr>
                                <m:t>⋆</m:t>
                              </m:r>
                            </m:sup>
                          </m:sSup>
                          <m:r>
                            <a:rPr lang="en-GB" sz="2475" b="0" dirty="0">
                              <a:solidFill>
                                <a:srgbClr val="182D45"/>
                              </a:solidFill>
                              <a:latin typeface="Cambria Math"/>
                              <a:ea typeface="Cambria Math"/>
                              <a:cs typeface="Cambria Math"/>
                            </a:rPr>
                            <m:t>+</m:t>
                          </m:r>
                          <m:r>
                            <a:rPr lang="en-GB" sz="2475" b="0" dirty="0">
                              <a:solidFill>
                                <a:srgbClr val="182D45"/>
                              </a:solidFill>
                              <a:latin typeface="Cambria Math"/>
                              <a:ea typeface="Cambria Math"/>
                              <a:cs typeface="Cambria Math"/>
                            </a:rPr>
                            <m:t>𝑢</m:t>
                          </m:r>
                          <m:r>
                            <a:rPr lang="en-GB" sz="2475" b="0" dirty="0">
                              <a:solidFill>
                                <a:srgbClr val="182D45"/>
                              </a:solidFill>
                              <a:latin typeface="Cambria Math"/>
                              <a:ea typeface="Cambria Math"/>
                              <a:cs typeface="Cambria Math"/>
                            </a:rPr>
                            <m:t>,</m:t>
                          </m:r>
                          <m:sSup>
                            <m:sSupPr>
                              <m:ctrlPr>
                                <a:rPr lang="en-GB" sz="2475" b="0" dirty="0">
                                  <a:solidFill>
                                    <a:srgbClr val="182D45"/>
                                  </a:solidFill>
                                  <a:latin typeface="Cambria Math"/>
                                  <a:ea typeface="Cambria Math"/>
                                  <a:cs typeface="Cambria Math"/>
                                </a:rPr>
                              </m:ctrlPr>
                            </m:sSupPr>
                            <m:e>
                              <m:r>
                                <a:rPr lang="en-GB" sz="2475" b="0" dirty="0">
                                  <a:solidFill>
                                    <a:srgbClr val="182D45"/>
                                  </a:solidFill>
                                  <a:latin typeface="Cambria Math"/>
                                  <a:ea typeface="Cambria Math"/>
                                  <a:cs typeface="Cambria Math"/>
                                </a:rPr>
                                <m:t>𝑎</m:t>
                              </m:r>
                            </m:e>
                            <m:sup>
                              <m:r>
                                <a:rPr lang="it-IT" sz="2475" i="1" dirty="0">
                                  <a:solidFill>
                                    <a:srgbClr val="182D45"/>
                                  </a:solidFill>
                                  <a:latin typeface="Cambria Math" panose="02040503050406030204" pitchFamily="18" charset="0"/>
                                  <a:ea typeface="Cambria Math"/>
                                  <a:cs typeface="Cambria Math"/>
                                </a:rPr>
                                <m:t>⋆</m:t>
                              </m:r>
                            </m:sup>
                          </m:sSup>
                          <m:r>
                            <a:rPr lang="en-GB" sz="2475" b="0" dirty="0">
                              <a:solidFill>
                                <a:srgbClr val="182D45"/>
                              </a:solidFill>
                              <a:latin typeface="Cambria Math"/>
                              <a:ea typeface="Cambria Math"/>
                              <a:cs typeface="Cambria Math"/>
                            </a:rPr>
                            <m:t>+</m:t>
                          </m:r>
                          <m:r>
                            <a:rPr lang="en-GB" sz="2475" b="0" dirty="0">
                              <a:solidFill>
                                <a:srgbClr val="182D45"/>
                              </a:solidFill>
                              <a:latin typeface="Cambria Math"/>
                              <a:ea typeface="Cambria Math"/>
                              <a:cs typeface="Cambria Math"/>
                            </a:rPr>
                            <m:t>𝑣</m:t>
                          </m:r>
                        </m:e>
                      </m:d>
                      <m:r>
                        <a:rPr lang="en-GB" sz="2475" b="0" dirty="0">
                          <a:solidFill>
                            <a:srgbClr val="182D45"/>
                          </a:solidFill>
                          <a:latin typeface="Cambria Math"/>
                          <a:ea typeface="Cambria Math"/>
                          <a:cs typeface="Cambria Math"/>
                        </a:rPr>
                        <m:t>=</m:t>
                      </m:r>
                      <m:nary>
                        <m:naryPr>
                          <m:chr m:val="∑"/>
                          <m:limLoc m:val="undOvr"/>
                          <m:ctrlPr>
                            <a:rPr lang="en-GB" sz="2475" b="0" dirty="0">
                              <a:solidFill>
                                <a:srgbClr val="182D45"/>
                              </a:solidFill>
                              <a:latin typeface="Cambria Math"/>
                              <a:ea typeface="Cambria Math"/>
                              <a:cs typeface="Cambria Math"/>
                            </a:rPr>
                          </m:ctrlPr>
                        </m:naryPr>
                        <m:sub>
                          <m:r>
                            <a:rPr lang="en-GB" sz="2475" b="0" dirty="0">
                              <a:solidFill>
                                <a:srgbClr val="182D45"/>
                              </a:solidFill>
                              <a:latin typeface="Cambria Math"/>
                              <a:ea typeface="Cambria Math"/>
                              <a:cs typeface="Cambria Math"/>
                            </a:rPr>
                            <m:t>𝑖</m:t>
                          </m:r>
                          <m:r>
                            <a:rPr lang="en-GB" sz="2475" b="0" dirty="0">
                              <a:solidFill>
                                <a:srgbClr val="182D45"/>
                              </a:solidFill>
                              <a:latin typeface="Cambria Math"/>
                              <a:ea typeface="Cambria Math"/>
                              <a:cs typeface="Cambria Math"/>
                            </a:rPr>
                            <m:t>=1</m:t>
                          </m:r>
                        </m:sub>
                        <m:sup>
                          <m:r>
                            <a:rPr lang="en-GB" sz="2475" b="0" dirty="0">
                              <a:solidFill>
                                <a:srgbClr val="182D45"/>
                              </a:solidFill>
                              <a:latin typeface="Cambria Math"/>
                              <a:ea typeface="Cambria Math"/>
                              <a:cs typeface="Cambria Math"/>
                            </a:rPr>
                            <m:t>𝑁</m:t>
                          </m:r>
                        </m:sup>
                        <m:e>
                          <m:sSup>
                            <m:sSupPr>
                              <m:ctrlPr>
                                <a:rPr lang="en-GB" sz="2475" b="0" i="1" dirty="0">
                                  <a:solidFill>
                                    <a:srgbClr val="182D45"/>
                                  </a:solidFill>
                                  <a:latin typeface="Cambria Math" panose="02040503050406030204" pitchFamily="18" charset="0"/>
                                  <a:ea typeface="Cambria Math"/>
                                  <a:cs typeface="Cambria Math"/>
                                </a:rPr>
                              </m:ctrlPr>
                            </m:sSupPr>
                            <m:e>
                              <m:d>
                                <m:dPr>
                                  <m:ctrlPr>
                                    <a:rPr lang="en-GB" sz="2475" b="0" i="1" dirty="0">
                                      <a:solidFill>
                                        <a:srgbClr val="182D45"/>
                                      </a:solidFill>
                                      <a:latin typeface="Cambria Math" panose="02040503050406030204" pitchFamily="18" charset="0"/>
                                      <a:ea typeface="Cambria Math"/>
                                      <a:cs typeface="Cambria Math"/>
                                    </a:rPr>
                                  </m:ctrlPr>
                                </m:dPr>
                                <m:e>
                                  <m:sSubSup>
                                    <m:sSubSupPr>
                                      <m:ctrlPr>
                                        <a:rPr lang="en-GB" sz="2475" b="0" dirty="0">
                                          <a:solidFill>
                                            <a:srgbClr val="182D45"/>
                                          </a:solidFill>
                                          <a:latin typeface="Cambria Math"/>
                                          <a:ea typeface="Cambria Math"/>
                                          <a:cs typeface="Cambria Math"/>
                                        </a:rPr>
                                      </m:ctrlPr>
                                    </m:sSubSupPr>
                                    <m:e>
                                      <m:r>
                                        <a:rPr lang="en-GB" sz="2475" b="0" dirty="0">
                                          <a:solidFill>
                                            <a:srgbClr val="182D45"/>
                                          </a:solidFill>
                                          <a:latin typeface="Cambria Math"/>
                                          <a:ea typeface="Cambria Math"/>
                                          <a:cs typeface="Cambria Math"/>
                                        </a:rPr>
                                        <m:t>𝑟</m:t>
                                      </m:r>
                                    </m:e>
                                    <m:sub>
                                      <m:r>
                                        <a:rPr lang="en-GB" sz="2475" b="0" dirty="0">
                                          <a:solidFill>
                                            <a:srgbClr val="182D45"/>
                                          </a:solidFill>
                                          <a:latin typeface="Cambria Math"/>
                                          <a:ea typeface="Cambria Math"/>
                                          <a:cs typeface="Cambria Math"/>
                                        </a:rPr>
                                        <m:t>𝑖</m:t>
                                      </m:r>
                                    </m:sub>
                                    <m:sup>
                                      <m:r>
                                        <a:rPr lang="it-IT" sz="2475" i="1" dirty="0">
                                          <a:solidFill>
                                            <a:srgbClr val="182D45"/>
                                          </a:solidFill>
                                          <a:latin typeface="Cambria Math" panose="02040503050406030204" pitchFamily="18" charset="0"/>
                                          <a:ea typeface="Cambria Math"/>
                                          <a:cs typeface="Cambria Math"/>
                                        </a:rPr>
                                        <m:t>⋆</m:t>
                                      </m:r>
                                    </m:sup>
                                  </m:sSubSup>
                                  <m:r>
                                    <a:rPr lang="en-GB" sz="2475" b="0" dirty="0">
                                      <a:solidFill>
                                        <a:srgbClr val="182D45"/>
                                      </a:solidFill>
                                      <a:latin typeface="Cambria Math"/>
                                      <a:ea typeface="Cambria Math"/>
                                      <a:cs typeface="Cambria Math"/>
                                    </a:rPr>
                                    <m:t>+</m:t>
                                  </m:r>
                                  <m:r>
                                    <a:rPr lang="en-GB" sz="2475" b="0" dirty="0">
                                      <a:solidFill>
                                        <a:srgbClr val="182D45"/>
                                      </a:solidFill>
                                      <a:latin typeface="Cambria Math"/>
                                      <a:ea typeface="Cambria Math"/>
                                      <a:cs typeface="Cambria Math"/>
                                    </a:rPr>
                                    <m:t>𝑢</m:t>
                                  </m:r>
                                  <m:r>
                                    <a:rPr lang="en-GB" sz="2475" b="0" dirty="0">
                                      <a:solidFill>
                                        <a:srgbClr val="182D45"/>
                                      </a:solidFill>
                                      <a:latin typeface="Cambria Math"/>
                                      <a:ea typeface="Cambria Math"/>
                                      <a:cs typeface="Cambria Math"/>
                                    </a:rPr>
                                    <m:t>+</m:t>
                                  </m:r>
                                  <m:r>
                                    <a:rPr lang="en-GB" sz="2475" b="0" dirty="0">
                                      <a:solidFill>
                                        <a:srgbClr val="182D45"/>
                                      </a:solidFill>
                                      <a:latin typeface="Cambria Math"/>
                                      <a:ea typeface="Cambria Math"/>
                                      <a:cs typeface="Cambria Math"/>
                                    </a:rPr>
                                    <m:t>𝑣</m:t>
                                  </m:r>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𝑖</m:t>
                                      </m:r>
                                    </m:sub>
                                  </m:sSub>
                                </m:e>
                              </m:d>
                            </m:e>
                            <m:sup>
                              <m:r>
                                <a:rPr lang="en-GB" sz="2475" b="0" dirty="0">
                                  <a:solidFill>
                                    <a:srgbClr val="182D45"/>
                                  </a:solidFill>
                                  <a:latin typeface="Cambria Math"/>
                                  <a:ea typeface="Cambria Math"/>
                                  <a:cs typeface="Cambria Math"/>
                                </a:rPr>
                                <m:t>2</m:t>
                              </m:r>
                            </m:sup>
                          </m:sSup>
                        </m:e>
                      </m:nary>
                    </m:oMath>
                  </m:oMathPara>
                </a14:m>
                <a:endParaRPr lang="en-GB" sz="2475" b="0" i="0" dirty="0">
                  <a:solidFill>
                    <a:srgbClr val="182D45"/>
                  </a:solidFill>
                  <a:latin typeface="DejaVu Sans"/>
                  <a:ea typeface="DejaVu Sans"/>
                  <a:cs typeface="DejaVu Sans"/>
                </a:endParaRPr>
              </a:p>
            </p:txBody>
          </p:sp>
        </mc:Choice>
        <mc:Fallback xmlns="">
          <p:sp>
            <p:nvSpPr>
              <p:cNvPr id="4" name="proof_50_4">
                <a:extLst>
                  <a:ext uri="{FF2B5EF4-FFF2-40B4-BE49-F238E27FC236}">
                    <a16:creationId xmlns:a16="http://schemas.microsoft.com/office/drawing/2014/main" id="{660345C9-1BCE-4102-A8BD-D0CDBDFA46E0}"/>
                  </a:ext>
                </a:extLst>
              </p:cNvPr>
              <p:cNvSpPr txBox="1">
                <a:spLocks noGrp="1" noRot="1" noChangeAspect="1" noMove="1" noResize="1" noEditPoints="1" noAdjustHandles="1" noChangeArrowheads="1" noChangeShapeType="1" noTextEdit="1"/>
              </p:cNvSpPr>
              <p:nvPr/>
            </p:nvSpPr>
            <p:spPr>
              <a:xfrm>
                <a:off x="-1648968" y="1762125"/>
                <a:ext cx="10953750" cy="981075"/>
              </a:xfrm>
              <a:prstGeom prst="rect">
                <a:avLst/>
              </a:prstGeom>
              <a:blipFill>
                <a:blip r:embed="rId3"/>
                <a:stretch>
                  <a:fillRect t="-621" b="-434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proof_50_5">
                <a:extLst>
                  <a:ext uri="{FF2B5EF4-FFF2-40B4-BE49-F238E27FC236}">
                    <a16:creationId xmlns:a16="http://schemas.microsoft.com/office/drawing/2014/main" id="{B9DF3583-49F6-49B5-A0F9-274E9583DBE2}"/>
                  </a:ext>
                </a:extLst>
              </p:cNvPr>
              <p:cNvSpPr txBox="1">
                <a:spLocks noGrp="1"/>
              </p:cNvSpPr>
              <p:nvPr/>
            </p:nvSpPr>
            <p:spPr>
              <a:xfrm>
                <a:off x="1853184" y="2771775"/>
                <a:ext cx="10953750" cy="1295400"/>
              </a:xfrm>
              <a:prstGeom prst="rect">
                <a:avLst/>
              </a:prstGeom>
              <a:noFill/>
              <a:ln w="0">
                <a:noFill/>
              </a:ln>
            </p:spPr>
            <p:txBody>
              <a:bodyPr vertOverflow="overflow" wrap="none" lIns="0" tIns="0" rIns="0" bIns="0" anchor="ctr">
                <a:noAutofit/>
              </a:bodyPr>
              <a:lstStyle/>
              <a:p>
                <a:pPr algn="ctr">
                  <a:defRPr lang="en-GB" sz="2400" b="0" i="0" dirty="0">
                    <a:solidFill>
                      <a:srgbClr val="182D45"/>
                    </a:solidFill>
                    <a:latin typeface="DejaVu Sans"/>
                    <a:ea typeface="DejaVu Sans"/>
                    <a:cs typeface="DejaVu Sans"/>
                  </a:defRPr>
                </a:pPr>
                <a14:m>
                  <m:oMathPara xmlns:m="http://schemas.openxmlformats.org/officeDocument/2006/math">
                    <m:oMath>
                      <m:r>
                        <a:rPr lang="en-GB" sz="2400" b="0" dirty="0" smtClean="0">
                          <a:solidFill>
                            <a:srgbClr val="182D45"/>
                          </a:solidFill>
                          <a:latin typeface="Cambria Math"/>
                          <a:ea typeface="Cambria Math"/>
                          <a:cs typeface="Cambria Math"/>
                        </a:rPr>
                        <m:t>=</m:t>
                      </m:r>
                      <m:sSubSup>
                        <m:sSubSupPr>
                          <m:ctrlPr>
                            <a:rPr lang="it-IT" sz="2400" dirty="0">
                              <a:solidFill>
                                <a:srgbClr val="182D45"/>
                              </a:solidFill>
                              <a:latin typeface="Cambria Math" panose="02040503050406030204" pitchFamily="18" charset="0"/>
                            </a:rPr>
                          </m:ctrlPr>
                        </m:sSubSupPr>
                        <m:e>
                          <m:r>
                            <a:rPr lang="it-IT" sz="2400" dirty="0">
                              <a:solidFill>
                                <a:srgbClr val="182D45"/>
                              </a:solidFill>
                              <a:latin typeface="Cambria Math" panose="02040503050406030204" pitchFamily="18" charset="0"/>
                            </a:rPr>
                            <m:t>ℒ</m:t>
                          </m:r>
                        </m:e>
                        <m:sub>
                          <m:r>
                            <m:rPr>
                              <m:sty m:val="p"/>
                            </m:rPr>
                            <a:rPr lang="it-IT" sz="2400" dirty="0">
                              <a:solidFill>
                                <a:srgbClr val="182D45"/>
                              </a:solidFill>
                              <a:latin typeface="Cambria Math" panose="02040503050406030204" pitchFamily="18" charset="0"/>
                            </a:rPr>
                            <m:t>sq</m:t>
                          </m:r>
                        </m:sub>
                        <m:sup>
                          <m:r>
                            <m:rPr>
                              <m:sty m:val="p"/>
                            </m:rPr>
                            <a:rPr lang="it-IT" sz="2400" dirty="0">
                              <a:solidFill>
                                <a:srgbClr val="182D45"/>
                              </a:solidFill>
                              <a:latin typeface="Cambria Math" panose="02040503050406030204" pitchFamily="18" charset="0"/>
                            </a:rPr>
                            <m:t>aff</m:t>
                          </m:r>
                        </m:sup>
                      </m:sSubSup>
                      <m:d>
                        <m:dPr>
                          <m:ctrlPr>
                            <a:rPr lang="it-IT" sz="2400" i="1" dirty="0">
                              <a:solidFill>
                                <a:srgbClr val="182D45"/>
                              </a:solidFill>
                              <a:latin typeface="Cambria Math" panose="02040503050406030204" pitchFamily="18" charset="0"/>
                            </a:rPr>
                          </m:ctrlPr>
                        </m:dPr>
                        <m:e>
                          <m:sSup>
                            <m:sSupPr>
                              <m:ctrlPr>
                                <a:rPr lang="it-IT" sz="2400" i="1" dirty="0">
                                  <a:solidFill>
                                    <a:srgbClr val="182D45"/>
                                  </a:solidFill>
                                  <a:latin typeface="Cambria Math" panose="02040503050406030204" pitchFamily="18" charset="0"/>
                                </a:rPr>
                              </m:ctrlPr>
                            </m:sSupPr>
                            <m:e>
                              <m:r>
                                <a:rPr lang="it-IT" sz="2400" i="1" dirty="0">
                                  <a:solidFill>
                                    <a:srgbClr val="182D45"/>
                                  </a:solidFill>
                                  <a:latin typeface="Cambria Math" panose="02040503050406030204" pitchFamily="18" charset="0"/>
                                </a:rPr>
                                <m:t>𝑏</m:t>
                              </m:r>
                            </m:e>
                            <m:sup>
                              <m:r>
                                <a:rPr lang="it-IT" sz="2400" i="1" dirty="0">
                                  <a:solidFill>
                                    <a:srgbClr val="182D45"/>
                                  </a:solidFill>
                                  <a:latin typeface="Cambria Math" panose="02040503050406030204" pitchFamily="18" charset="0"/>
                                  <a:ea typeface="Cambria Math"/>
                                  <a:cs typeface="Cambria Math"/>
                                </a:rPr>
                                <m:t>⋆</m:t>
                              </m:r>
                            </m:sup>
                          </m:sSup>
                          <m:r>
                            <a:rPr lang="it-IT" sz="2400" dirty="0">
                              <a:solidFill>
                                <a:srgbClr val="182D45"/>
                              </a:solidFill>
                              <a:latin typeface="Cambria Math" panose="02040503050406030204" pitchFamily="18" charset="0"/>
                            </a:rPr>
                            <m:t>,</m:t>
                          </m:r>
                          <m:sSup>
                            <m:sSupPr>
                              <m:ctrlPr>
                                <a:rPr lang="it-IT" sz="2400" i="1" dirty="0">
                                  <a:solidFill>
                                    <a:srgbClr val="182D45"/>
                                  </a:solidFill>
                                  <a:latin typeface="Cambria Math" panose="02040503050406030204" pitchFamily="18" charset="0"/>
                                </a:rPr>
                              </m:ctrlPr>
                            </m:sSupPr>
                            <m:e>
                              <m:r>
                                <a:rPr lang="it-IT" sz="2400" i="1" dirty="0">
                                  <a:solidFill>
                                    <a:srgbClr val="182D45"/>
                                  </a:solidFill>
                                  <a:latin typeface="Cambria Math" panose="02040503050406030204" pitchFamily="18" charset="0"/>
                                </a:rPr>
                                <m:t>𝑎</m:t>
                              </m:r>
                            </m:e>
                            <m:sup>
                              <m:r>
                                <a:rPr lang="it-IT" sz="2400" i="1" dirty="0">
                                  <a:solidFill>
                                    <a:srgbClr val="182D45"/>
                                  </a:solidFill>
                                  <a:latin typeface="Cambria Math" panose="02040503050406030204" pitchFamily="18" charset="0"/>
                                  <a:ea typeface="Cambria Math"/>
                                  <a:cs typeface="Cambria Math"/>
                                </a:rPr>
                                <m:t>⋆</m:t>
                              </m:r>
                            </m:sup>
                          </m:sSup>
                        </m:e>
                      </m:d>
                      <m:r>
                        <a:rPr lang="it-IT" sz="2400" dirty="0">
                          <a:solidFill>
                            <a:srgbClr val="182D45"/>
                          </a:solidFill>
                          <a:latin typeface="Cambria Math" panose="02040503050406030204" pitchFamily="18" charset="0"/>
                        </a:rPr>
                        <m:t>+2</m:t>
                      </m:r>
                      <m:r>
                        <a:rPr lang="it-IT" sz="2400" i="1" dirty="0">
                          <a:solidFill>
                            <a:srgbClr val="182D45"/>
                          </a:solidFill>
                          <a:latin typeface="Cambria Math" panose="02040503050406030204" pitchFamily="18" charset="0"/>
                        </a:rPr>
                        <m:t>𝑢</m:t>
                      </m:r>
                      <m:limLow>
                        <m:limLowPr>
                          <m:ctrlPr>
                            <a:rPr lang="it-IT" sz="2400" i="1" dirty="0">
                              <a:solidFill>
                                <a:srgbClr val="182D45"/>
                              </a:solidFill>
                              <a:latin typeface="Cambria Math" panose="02040503050406030204" pitchFamily="18" charset="0"/>
                            </a:rPr>
                          </m:ctrlPr>
                        </m:limLowPr>
                        <m:e>
                          <m:groupChr>
                            <m:groupChrPr>
                              <m:chr m:val="⏟"/>
                              <m:pos m:val="bot"/>
                              <m:vertJc m:val="top"/>
                              <m:ctrlPr>
                                <a:rPr lang="it-IT" sz="2400" i="1" dirty="0">
                                  <a:solidFill>
                                    <a:srgbClr val="182D45"/>
                                  </a:solidFill>
                                  <a:latin typeface="Cambria Math" panose="02040503050406030204" pitchFamily="18" charset="0"/>
                                </a:rPr>
                              </m:ctrlPr>
                            </m:groupChrPr>
                            <m:e>
                              <m:nary>
                                <m:naryPr>
                                  <m:chr m:val="∑"/>
                                  <m:limLoc m:val="undOvr"/>
                                  <m:ctrlPr>
                                    <a:rPr lang="it-IT" sz="2400" i="1" dirty="0">
                                      <a:solidFill>
                                        <a:srgbClr val="182D45"/>
                                      </a:solidFill>
                                      <a:latin typeface="Cambria Math" panose="02040503050406030204" pitchFamily="18" charset="0"/>
                                    </a:rPr>
                                  </m:ctrlPr>
                                </m:naryPr>
                                <m:sub>
                                  <m:r>
                                    <a:rPr lang="it-IT" sz="2400" i="1" dirty="0">
                                      <a:solidFill>
                                        <a:srgbClr val="182D45"/>
                                      </a:solidFill>
                                      <a:latin typeface="Cambria Math" panose="02040503050406030204" pitchFamily="18" charset="0"/>
                                    </a:rPr>
                                    <m:t>𝑖</m:t>
                                  </m:r>
                                  <m:r>
                                    <a:rPr lang="it-IT" sz="2400" dirty="0">
                                      <a:solidFill>
                                        <a:srgbClr val="182D45"/>
                                      </a:solidFill>
                                      <a:latin typeface="Cambria Math" panose="02040503050406030204" pitchFamily="18" charset="0"/>
                                    </a:rPr>
                                    <m:t>=1</m:t>
                                  </m:r>
                                </m:sub>
                                <m:sup>
                                  <m:r>
                                    <a:rPr lang="it-IT" sz="2400" i="1" dirty="0">
                                      <a:solidFill>
                                        <a:srgbClr val="182D45"/>
                                      </a:solidFill>
                                      <a:latin typeface="Cambria Math" panose="02040503050406030204" pitchFamily="18" charset="0"/>
                                    </a:rPr>
                                    <m:t>𝑁</m:t>
                                  </m:r>
                                </m:sup>
                                <m:e>
                                  <m:sSubSup>
                                    <m:sSubSupPr>
                                      <m:ctrlPr>
                                        <a:rPr lang="it-IT" sz="2400" i="1" dirty="0">
                                          <a:solidFill>
                                            <a:srgbClr val="182D45"/>
                                          </a:solidFill>
                                          <a:latin typeface="Cambria Math" panose="02040503050406030204" pitchFamily="18" charset="0"/>
                                        </a:rPr>
                                      </m:ctrlPr>
                                    </m:sSubSupPr>
                                    <m:e>
                                      <m:r>
                                        <a:rPr lang="it-IT" sz="2400" i="1" dirty="0">
                                          <a:solidFill>
                                            <a:srgbClr val="182D45"/>
                                          </a:solidFill>
                                          <a:latin typeface="Cambria Math" panose="02040503050406030204" pitchFamily="18" charset="0"/>
                                        </a:rPr>
                                        <m:t>𝑟</m:t>
                                      </m:r>
                                    </m:e>
                                    <m:sub>
                                      <m:r>
                                        <a:rPr lang="it-IT" sz="2400" i="1" dirty="0">
                                          <a:solidFill>
                                            <a:srgbClr val="182D45"/>
                                          </a:solidFill>
                                          <a:latin typeface="Cambria Math" panose="02040503050406030204" pitchFamily="18" charset="0"/>
                                        </a:rPr>
                                        <m:t>𝑖</m:t>
                                      </m:r>
                                    </m:sub>
                                    <m:sup>
                                      <m:r>
                                        <a:rPr lang="it-IT" sz="2400" i="1" dirty="0">
                                          <a:solidFill>
                                            <a:srgbClr val="182D45"/>
                                          </a:solidFill>
                                          <a:latin typeface="Cambria Math" panose="02040503050406030204" pitchFamily="18" charset="0"/>
                                          <a:ea typeface="Cambria Math"/>
                                          <a:cs typeface="Cambria Math"/>
                                        </a:rPr>
                                        <m:t>⋆</m:t>
                                      </m:r>
                                    </m:sup>
                                  </m:sSubSup>
                                </m:e>
                              </m:nary>
                            </m:e>
                          </m:groupChr>
                        </m:e>
                        <m:lim>
                          <m:r>
                            <a:rPr lang="it-IT" sz="2400" dirty="0">
                              <a:solidFill>
                                <a:srgbClr val="182D45"/>
                              </a:solidFill>
                              <a:latin typeface="Cambria Math" panose="02040503050406030204" pitchFamily="18" charset="0"/>
                            </a:rPr>
                            <m:t>=0</m:t>
                          </m:r>
                        </m:lim>
                      </m:limLow>
                      <m:r>
                        <a:rPr lang="it-IT" sz="2400" dirty="0">
                          <a:solidFill>
                            <a:srgbClr val="182D45"/>
                          </a:solidFill>
                          <a:latin typeface="Cambria Math" panose="02040503050406030204" pitchFamily="18" charset="0"/>
                        </a:rPr>
                        <m:t>+2</m:t>
                      </m:r>
                      <m:r>
                        <a:rPr lang="it-IT" sz="2400" i="1" dirty="0">
                          <a:solidFill>
                            <a:srgbClr val="182D45"/>
                          </a:solidFill>
                          <a:latin typeface="Cambria Math" panose="02040503050406030204" pitchFamily="18" charset="0"/>
                        </a:rPr>
                        <m:t>𝑣</m:t>
                      </m:r>
                      <m:limLow>
                        <m:limLowPr>
                          <m:ctrlPr>
                            <a:rPr lang="it-IT" sz="2400" i="1" dirty="0">
                              <a:solidFill>
                                <a:srgbClr val="182D45"/>
                              </a:solidFill>
                              <a:latin typeface="Cambria Math" panose="02040503050406030204" pitchFamily="18" charset="0"/>
                            </a:rPr>
                          </m:ctrlPr>
                        </m:limLowPr>
                        <m:e>
                          <m:groupChr>
                            <m:groupChrPr>
                              <m:chr m:val="⏟"/>
                              <m:pos m:val="bot"/>
                              <m:vertJc m:val="top"/>
                              <m:ctrlPr>
                                <a:rPr lang="it-IT" sz="2400" i="1" dirty="0">
                                  <a:solidFill>
                                    <a:srgbClr val="182D45"/>
                                  </a:solidFill>
                                  <a:latin typeface="Cambria Math" panose="02040503050406030204" pitchFamily="18" charset="0"/>
                                </a:rPr>
                              </m:ctrlPr>
                            </m:groupChrPr>
                            <m:e>
                              <m:nary>
                                <m:naryPr>
                                  <m:chr m:val="∑"/>
                                  <m:limLoc m:val="undOvr"/>
                                  <m:ctrlPr>
                                    <a:rPr lang="it-IT" sz="2400" i="1" dirty="0">
                                      <a:solidFill>
                                        <a:srgbClr val="182D45"/>
                                      </a:solidFill>
                                      <a:latin typeface="Cambria Math" panose="02040503050406030204" pitchFamily="18" charset="0"/>
                                    </a:rPr>
                                  </m:ctrlPr>
                                </m:naryPr>
                                <m:sub>
                                  <m:r>
                                    <a:rPr lang="it-IT" sz="2400" i="1" dirty="0">
                                      <a:solidFill>
                                        <a:srgbClr val="182D45"/>
                                      </a:solidFill>
                                      <a:latin typeface="Cambria Math" panose="02040503050406030204" pitchFamily="18" charset="0"/>
                                    </a:rPr>
                                    <m:t>𝑖</m:t>
                                  </m:r>
                                  <m:r>
                                    <a:rPr lang="it-IT" sz="2400" dirty="0">
                                      <a:solidFill>
                                        <a:srgbClr val="182D45"/>
                                      </a:solidFill>
                                      <a:latin typeface="Cambria Math" panose="02040503050406030204" pitchFamily="18" charset="0"/>
                                    </a:rPr>
                                    <m:t>=1</m:t>
                                  </m:r>
                                </m:sub>
                                <m:sup>
                                  <m:r>
                                    <a:rPr lang="it-IT" sz="2400" i="1" dirty="0">
                                      <a:solidFill>
                                        <a:srgbClr val="182D45"/>
                                      </a:solidFill>
                                      <a:latin typeface="Cambria Math" panose="02040503050406030204" pitchFamily="18" charset="0"/>
                                    </a:rPr>
                                    <m:t>𝑁</m:t>
                                  </m:r>
                                </m:sup>
                                <m:e>
                                  <m:sSub>
                                    <m:sSubPr>
                                      <m:ctrlPr>
                                        <a:rPr lang="it-IT" sz="2400" i="1" dirty="0">
                                          <a:solidFill>
                                            <a:srgbClr val="182D45"/>
                                          </a:solidFill>
                                          <a:latin typeface="Cambria Math" panose="02040503050406030204" pitchFamily="18" charset="0"/>
                                        </a:rPr>
                                      </m:ctrlPr>
                                    </m:sSubPr>
                                    <m:e>
                                      <m:r>
                                        <a:rPr lang="it-IT" sz="2400" i="1" dirty="0">
                                          <a:solidFill>
                                            <a:srgbClr val="182D45"/>
                                          </a:solidFill>
                                          <a:latin typeface="Cambria Math" panose="02040503050406030204" pitchFamily="18" charset="0"/>
                                        </a:rPr>
                                        <m:t>𝑥</m:t>
                                      </m:r>
                                    </m:e>
                                    <m:sub>
                                      <m:r>
                                        <a:rPr lang="it-IT" sz="2400" i="1" dirty="0">
                                          <a:solidFill>
                                            <a:srgbClr val="182D45"/>
                                          </a:solidFill>
                                          <a:latin typeface="Cambria Math" panose="02040503050406030204" pitchFamily="18" charset="0"/>
                                        </a:rPr>
                                        <m:t>𝑖</m:t>
                                      </m:r>
                                    </m:sub>
                                  </m:sSub>
                                  <m:sSubSup>
                                    <m:sSubSupPr>
                                      <m:ctrlPr>
                                        <a:rPr lang="it-IT" sz="2400" i="1" dirty="0">
                                          <a:solidFill>
                                            <a:srgbClr val="182D45"/>
                                          </a:solidFill>
                                          <a:latin typeface="Cambria Math" panose="02040503050406030204" pitchFamily="18" charset="0"/>
                                        </a:rPr>
                                      </m:ctrlPr>
                                    </m:sSubSupPr>
                                    <m:e>
                                      <m:r>
                                        <a:rPr lang="it-IT" sz="2400" i="1" dirty="0">
                                          <a:solidFill>
                                            <a:srgbClr val="182D45"/>
                                          </a:solidFill>
                                          <a:latin typeface="Cambria Math" panose="02040503050406030204" pitchFamily="18" charset="0"/>
                                        </a:rPr>
                                        <m:t>𝑟</m:t>
                                      </m:r>
                                    </m:e>
                                    <m:sub>
                                      <m:r>
                                        <a:rPr lang="it-IT" sz="2400" i="1" dirty="0">
                                          <a:solidFill>
                                            <a:srgbClr val="182D45"/>
                                          </a:solidFill>
                                          <a:latin typeface="Cambria Math" panose="02040503050406030204" pitchFamily="18" charset="0"/>
                                        </a:rPr>
                                        <m:t>𝑖</m:t>
                                      </m:r>
                                    </m:sub>
                                    <m:sup>
                                      <m:r>
                                        <a:rPr lang="it-IT" sz="2400" i="1" dirty="0">
                                          <a:solidFill>
                                            <a:srgbClr val="182D45"/>
                                          </a:solidFill>
                                          <a:latin typeface="Cambria Math" panose="02040503050406030204" pitchFamily="18" charset="0"/>
                                          <a:ea typeface="Cambria Math"/>
                                          <a:cs typeface="Cambria Math"/>
                                        </a:rPr>
                                        <m:t>⋆</m:t>
                                      </m:r>
                                    </m:sup>
                                  </m:sSubSup>
                                </m:e>
                              </m:nary>
                            </m:e>
                          </m:groupChr>
                        </m:e>
                        <m:lim>
                          <m:r>
                            <a:rPr lang="it-IT" sz="2400" dirty="0">
                              <a:solidFill>
                                <a:srgbClr val="182D45"/>
                              </a:solidFill>
                              <a:latin typeface="Cambria Math" panose="02040503050406030204" pitchFamily="18" charset="0"/>
                            </a:rPr>
                            <m:t>=0</m:t>
                          </m:r>
                        </m:lim>
                      </m:limLow>
                      <m:r>
                        <a:rPr lang="it-IT" sz="2400" dirty="0">
                          <a:solidFill>
                            <a:srgbClr val="182D45"/>
                          </a:solidFill>
                          <a:latin typeface="Cambria Math" panose="02040503050406030204" pitchFamily="18" charset="0"/>
                        </a:rPr>
                        <m:t>+</m:t>
                      </m:r>
                      <m:limLow>
                        <m:limLowPr>
                          <m:ctrlPr>
                            <a:rPr lang="it-IT" sz="2400" i="1" dirty="0">
                              <a:solidFill>
                                <a:srgbClr val="182D45"/>
                              </a:solidFill>
                              <a:latin typeface="Cambria Math" panose="02040503050406030204" pitchFamily="18" charset="0"/>
                            </a:rPr>
                          </m:ctrlPr>
                        </m:limLowPr>
                        <m:e>
                          <m:groupChr>
                            <m:groupChrPr>
                              <m:chr m:val="⏟"/>
                              <m:pos m:val="bot"/>
                              <m:vertJc m:val="top"/>
                              <m:ctrlPr>
                                <a:rPr lang="it-IT" sz="2400" i="1" dirty="0">
                                  <a:solidFill>
                                    <a:srgbClr val="182D45"/>
                                  </a:solidFill>
                                  <a:latin typeface="Cambria Math" panose="02040503050406030204" pitchFamily="18" charset="0"/>
                                </a:rPr>
                              </m:ctrlPr>
                            </m:groupChrPr>
                            <m:e>
                              <m:nary>
                                <m:naryPr>
                                  <m:chr m:val="∑"/>
                                  <m:limLoc m:val="undOvr"/>
                                  <m:ctrlPr>
                                    <a:rPr lang="it-IT" sz="2400" i="1" dirty="0">
                                      <a:solidFill>
                                        <a:srgbClr val="182D45"/>
                                      </a:solidFill>
                                      <a:latin typeface="Cambria Math" panose="02040503050406030204" pitchFamily="18" charset="0"/>
                                    </a:rPr>
                                  </m:ctrlPr>
                                </m:naryPr>
                                <m:sub>
                                  <m:r>
                                    <a:rPr lang="it-IT" sz="2400" i="1" dirty="0">
                                      <a:solidFill>
                                        <a:srgbClr val="182D45"/>
                                      </a:solidFill>
                                      <a:latin typeface="Cambria Math" panose="02040503050406030204" pitchFamily="18" charset="0"/>
                                    </a:rPr>
                                    <m:t>𝑖</m:t>
                                  </m:r>
                                  <m:r>
                                    <a:rPr lang="it-IT" sz="2400" dirty="0">
                                      <a:solidFill>
                                        <a:srgbClr val="182D45"/>
                                      </a:solidFill>
                                      <a:latin typeface="Cambria Math" panose="02040503050406030204" pitchFamily="18" charset="0"/>
                                    </a:rPr>
                                    <m:t>=1</m:t>
                                  </m:r>
                                </m:sub>
                                <m:sup>
                                  <m:r>
                                    <a:rPr lang="it-IT" sz="2400" i="1" dirty="0">
                                      <a:solidFill>
                                        <a:srgbClr val="182D45"/>
                                      </a:solidFill>
                                      <a:latin typeface="Cambria Math" panose="02040503050406030204" pitchFamily="18" charset="0"/>
                                    </a:rPr>
                                    <m:t>𝑁</m:t>
                                  </m:r>
                                </m:sup>
                                <m:e>
                                  <m:sSup>
                                    <m:sSupPr>
                                      <m:ctrlPr>
                                        <a:rPr lang="it-IT" sz="2400" i="1" dirty="0">
                                          <a:solidFill>
                                            <a:srgbClr val="182D45"/>
                                          </a:solidFill>
                                          <a:latin typeface="Cambria Math" panose="02040503050406030204" pitchFamily="18" charset="0"/>
                                        </a:rPr>
                                      </m:ctrlPr>
                                    </m:sSupPr>
                                    <m:e>
                                      <m:d>
                                        <m:dPr>
                                          <m:ctrlPr>
                                            <a:rPr lang="it-IT" sz="2400" i="1" dirty="0">
                                              <a:solidFill>
                                                <a:srgbClr val="182D45"/>
                                              </a:solidFill>
                                              <a:latin typeface="Cambria Math" panose="02040503050406030204" pitchFamily="18" charset="0"/>
                                            </a:rPr>
                                          </m:ctrlPr>
                                        </m:dPr>
                                        <m:e>
                                          <m:r>
                                            <a:rPr lang="it-IT" sz="2400" i="1" dirty="0">
                                              <a:solidFill>
                                                <a:srgbClr val="182D45"/>
                                              </a:solidFill>
                                              <a:latin typeface="Cambria Math" panose="02040503050406030204" pitchFamily="18" charset="0"/>
                                            </a:rPr>
                                            <m:t>𝑢</m:t>
                                          </m:r>
                                          <m:r>
                                            <a:rPr lang="it-IT" sz="2400" dirty="0">
                                              <a:solidFill>
                                                <a:srgbClr val="182D45"/>
                                              </a:solidFill>
                                              <a:latin typeface="Cambria Math" panose="02040503050406030204" pitchFamily="18" charset="0"/>
                                            </a:rPr>
                                            <m:t>+</m:t>
                                          </m:r>
                                          <m:r>
                                            <a:rPr lang="it-IT" sz="2400" i="1" dirty="0">
                                              <a:solidFill>
                                                <a:srgbClr val="182D45"/>
                                              </a:solidFill>
                                              <a:latin typeface="Cambria Math" panose="02040503050406030204" pitchFamily="18" charset="0"/>
                                            </a:rPr>
                                            <m:t>𝑣</m:t>
                                          </m:r>
                                          <m:sSub>
                                            <m:sSubPr>
                                              <m:ctrlPr>
                                                <a:rPr lang="it-IT" sz="2400" i="1" dirty="0">
                                                  <a:solidFill>
                                                    <a:srgbClr val="182D45"/>
                                                  </a:solidFill>
                                                  <a:latin typeface="Cambria Math" panose="02040503050406030204" pitchFamily="18" charset="0"/>
                                                </a:rPr>
                                              </m:ctrlPr>
                                            </m:sSubPr>
                                            <m:e>
                                              <m:r>
                                                <a:rPr lang="it-IT" sz="2400" i="1" dirty="0">
                                                  <a:solidFill>
                                                    <a:srgbClr val="182D45"/>
                                                  </a:solidFill>
                                                  <a:latin typeface="Cambria Math" panose="02040503050406030204" pitchFamily="18" charset="0"/>
                                                </a:rPr>
                                                <m:t>𝑥</m:t>
                                              </m:r>
                                            </m:e>
                                            <m:sub>
                                              <m:r>
                                                <a:rPr lang="it-IT" sz="2400" i="1" dirty="0">
                                                  <a:solidFill>
                                                    <a:srgbClr val="182D45"/>
                                                  </a:solidFill>
                                                  <a:latin typeface="Cambria Math" panose="02040503050406030204" pitchFamily="18" charset="0"/>
                                                </a:rPr>
                                                <m:t>𝑖</m:t>
                                              </m:r>
                                            </m:sub>
                                          </m:sSub>
                                        </m:e>
                                      </m:d>
                                    </m:e>
                                    <m:sup>
                                      <m:r>
                                        <a:rPr lang="it-IT" sz="2400" dirty="0">
                                          <a:solidFill>
                                            <a:srgbClr val="182D45"/>
                                          </a:solidFill>
                                          <a:latin typeface="Cambria Math" panose="02040503050406030204" pitchFamily="18" charset="0"/>
                                        </a:rPr>
                                        <m:t>2</m:t>
                                      </m:r>
                                    </m:sup>
                                  </m:sSup>
                                </m:e>
                              </m:nary>
                            </m:e>
                          </m:groupChr>
                        </m:e>
                        <m:lim>
                          <m:r>
                            <a:rPr lang="it-IT" sz="2400" i="1" dirty="0">
                              <a:solidFill>
                                <a:srgbClr val="182D45"/>
                              </a:solidFill>
                              <a:latin typeface="Cambria Math" panose="02040503050406030204" pitchFamily="18" charset="0"/>
                            </a:rPr>
                            <m:t>≥0</m:t>
                          </m:r>
                        </m:lim>
                      </m:limLow>
                    </m:oMath>
                  </m:oMathPara>
                </a14:m>
                <a:endParaRPr lang="en-GB" sz="2400" b="0" i="0" dirty="0">
                  <a:solidFill>
                    <a:srgbClr val="182D45"/>
                  </a:solidFill>
                  <a:latin typeface="DejaVu Sans"/>
                  <a:ea typeface="DejaVu Sans"/>
                  <a:cs typeface="DejaVu Sans"/>
                </a:endParaRPr>
              </a:p>
            </p:txBody>
          </p:sp>
        </mc:Choice>
        <mc:Fallback xmlns="">
          <p:sp>
            <p:nvSpPr>
              <p:cNvPr id="5" name="proof_50_5">
                <a:extLst>
                  <a:ext uri="{FF2B5EF4-FFF2-40B4-BE49-F238E27FC236}">
                    <a16:creationId xmlns:a16="http://schemas.microsoft.com/office/drawing/2014/main" id="{B9DF3583-49F6-49B5-A0F9-274E9583DBE2}"/>
                  </a:ext>
                </a:extLst>
              </p:cNvPr>
              <p:cNvSpPr txBox="1">
                <a:spLocks noGrp="1" noRot="1" noChangeAspect="1" noMove="1" noResize="1" noEditPoints="1" noAdjustHandles="1" noChangeArrowheads="1" noChangeShapeType="1" noTextEdit="1"/>
              </p:cNvSpPr>
              <p:nvPr/>
            </p:nvSpPr>
            <p:spPr>
              <a:xfrm>
                <a:off x="1853184" y="2771775"/>
                <a:ext cx="10953750" cy="1295400"/>
              </a:xfrm>
              <a:prstGeom prst="rect">
                <a:avLst/>
              </a:prstGeom>
              <a:blipFill>
                <a:blip r:embed="rId4"/>
                <a:stretch>
                  <a:fillRect b="-188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proof_50_6">
                <a:extLst>
                  <a:ext uri="{FF2B5EF4-FFF2-40B4-BE49-F238E27FC236}">
                    <a16:creationId xmlns:a16="http://schemas.microsoft.com/office/drawing/2014/main" id="{F618EE7B-BC1C-4BA5-80B2-67267AD92A12}"/>
                  </a:ext>
                </a:extLst>
              </p:cNvPr>
              <p:cNvSpPr txBox="1">
                <a:spLocks noGrp="1"/>
              </p:cNvSpPr>
              <p:nvPr/>
            </p:nvSpPr>
            <p:spPr>
              <a:xfrm>
                <a:off x="-738433" y="3652837"/>
                <a:ext cx="10953750" cy="1447800"/>
              </a:xfrm>
              <a:prstGeom prst="rect">
                <a:avLst/>
              </a:prstGeom>
              <a:noFill/>
              <a:ln w="0">
                <a:noFill/>
              </a:ln>
            </p:spPr>
            <p:txBody>
              <a:bodyPr vertOverflow="overflow" wrap="none" lIns="0" tIns="0" rIns="0" bIns="0" anchor="ctr">
                <a:noAutofit/>
              </a:bodyPr>
              <a:lstStyle/>
              <a:p>
                <a:pPr marL="0" marR="0" indent="0" algn="ctr">
                  <a:defRPr lang="en-GB" sz="2550" b="0" i="0" dirty="0">
                    <a:solidFill>
                      <a:srgbClr val="00858A"/>
                    </a:solidFill>
                    <a:latin typeface="DejaVu Sans"/>
                    <a:ea typeface="DejaVu Sans"/>
                    <a:cs typeface="DejaVu Sans"/>
                  </a:defRPr>
                </a:pPr>
                <a14:m>
                  <m:oMathPara xmlns:m="http://schemas.openxmlformats.org/officeDocument/2006/math">
                    <m:oMath>
                      <m:r>
                        <a:rPr lang="en-GB" sz="2400" b="0" dirty="0" smtClean="0">
                          <a:solidFill>
                            <a:srgbClr val="00858A"/>
                          </a:solidFill>
                          <a:latin typeface="Cambria Math"/>
                          <a:ea typeface="Cambria Math"/>
                          <a:cs typeface="Cambria Math"/>
                        </a:rPr>
                        <m:t>≥ </m:t>
                      </m:r>
                      <m:sSubSup>
                        <m:sSubSupPr>
                          <m:ctrlPr>
                            <a:rPr lang="en-GB" sz="2400" b="0" dirty="0">
                              <a:solidFill>
                                <a:srgbClr val="00858A"/>
                              </a:solidFill>
                              <a:latin typeface="Cambria Math"/>
                              <a:ea typeface="Cambria Math"/>
                              <a:cs typeface="Cambria Math"/>
                            </a:rPr>
                          </m:ctrlPr>
                        </m:sSubSupPr>
                        <m:e>
                          <m:r>
                            <a:rPr lang="en-GB" sz="2400" b="0" dirty="0">
                              <a:solidFill>
                                <a:srgbClr val="00858A"/>
                              </a:solidFill>
                              <a:latin typeface="Cambria Math"/>
                              <a:ea typeface="Cambria Math"/>
                              <a:cs typeface="Cambria Math"/>
                            </a:rPr>
                            <m:t>ℒ</m:t>
                          </m:r>
                        </m:e>
                        <m:sub>
                          <m:r>
                            <m:rPr>
                              <m:sty m:val="p"/>
                            </m:rPr>
                            <a:rPr lang="en-GB" sz="2400" b="0" dirty="0">
                              <a:solidFill>
                                <a:srgbClr val="00858A"/>
                              </a:solidFill>
                              <a:latin typeface="Cambria Math"/>
                              <a:ea typeface="Cambria Math"/>
                              <a:cs typeface="Cambria Math"/>
                            </a:rPr>
                            <m:t>sq</m:t>
                          </m:r>
                        </m:sub>
                        <m:sup>
                          <m:r>
                            <m:rPr>
                              <m:sty m:val="p"/>
                            </m:rPr>
                            <a:rPr lang="en-GB" sz="2400" b="0" dirty="0">
                              <a:solidFill>
                                <a:srgbClr val="00858A"/>
                              </a:solidFill>
                              <a:latin typeface="Cambria Math"/>
                              <a:ea typeface="Cambria Math"/>
                              <a:cs typeface="Cambria Math"/>
                            </a:rPr>
                            <m:t>aff</m:t>
                          </m:r>
                        </m:sup>
                      </m:sSubSup>
                      <m:d>
                        <m:dPr>
                          <m:ctrlPr>
                            <a:rPr lang="en-GB" sz="2400" b="0" i="1" dirty="0">
                              <a:solidFill>
                                <a:srgbClr val="00858A"/>
                              </a:solidFill>
                              <a:latin typeface="Cambria Math" panose="02040503050406030204" pitchFamily="18" charset="0"/>
                              <a:ea typeface="Cambria Math"/>
                              <a:cs typeface="Cambria Math"/>
                            </a:rPr>
                          </m:ctrlPr>
                        </m:dPr>
                        <m:e>
                          <m:sSup>
                            <m:sSupPr>
                              <m:ctrlPr>
                                <a:rPr lang="en-GB" sz="2400" b="0" dirty="0">
                                  <a:solidFill>
                                    <a:srgbClr val="00858A"/>
                                  </a:solidFill>
                                  <a:latin typeface="Cambria Math"/>
                                  <a:ea typeface="Cambria Math"/>
                                  <a:cs typeface="Cambria Math"/>
                                </a:rPr>
                              </m:ctrlPr>
                            </m:sSupPr>
                            <m:e>
                              <m:r>
                                <a:rPr lang="en-GB" sz="2400" b="0" dirty="0">
                                  <a:solidFill>
                                    <a:srgbClr val="00858A"/>
                                  </a:solidFill>
                                  <a:latin typeface="Cambria Math"/>
                                  <a:ea typeface="Cambria Math"/>
                                  <a:cs typeface="Cambria Math"/>
                                </a:rPr>
                                <m:t>𝑏</m:t>
                              </m:r>
                            </m:e>
                            <m:sup>
                              <m:r>
                                <a:rPr lang="it-IT" sz="2400" b="0" i="1" dirty="0" smtClean="0">
                                  <a:solidFill>
                                    <a:srgbClr val="00858A"/>
                                  </a:solidFill>
                                  <a:latin typeface="Cambria Math" panose="02040503050406030204" pitchFamily="18" charset="0"/>
                                  <a:ea typeface="Cambria Math"/>
                                  <a:cs typeface="Cambria Math"/>
                                </a:rPr>
                                <m:t>⋆</m:t>
                              </m:r>
                            </m:sup>
                          </m:sSup>
                          <m:r>
                            <a:rPr lang="en-GB" sz="2400" b="0" dirty="0">
                              <a:solidFill>
                                <a:srgbClr val="00858A"/>
                              </a:solidFill>
                              <a:latin typeface="Cambria Math"/>
                              <a:ea typeface="Cambria Math"/>
                              <a:cs typeface="Cambria Math"/>
                            </a:rPr>
                            <m:t>,</m:t>
                          </m:r>
                          <m:sSup>
                            <m:sSupPr>
                              <m:ctrlPr>
                                <a:rPr lang="en-GB" sz="2400" b="0" dirty="0">
                                  <a:solidFill>
                                    <a:srgbClr val="00858A"/>
                                  </a:solidFill>
                                  <a:latin typeface="Cambria Math"/>
                                  <a:ea typeface="Cambria Math"/>
                                  <a:cs typeface="Cambria Math"/>
                                </a:rPr>
                              </m:ctrlPr>
                            </m:sSupPr>
                            <m:e>
                              <m:r>
                                <a:rPr lang="en-GB" sz="2400" b="0" dirty="0">
                                  <a:solidFill>
                                    <a:srgbClr val="00858A"/>
                                  </a:solidFill>
                                  <a:latin typeface="Cambria Math"/>
                                  <a:ea typeface="Cambria Math"/>
                                  <a:cs typeface="Cambria Math"/>
                                </a:rPr>
                                <m:t>𝑎</m:t>
                              </m:r>
                            </m:e>
                            <m:sup>
                              <m:r>
                                <a:rPr lang="it-IT" sz="2400" b="0" i="1" dirty="0" smtClean="0">
                                  <a:solidFill>
                                    <a:srgbClr val="00858A"/>
                                  </a:solidFill>
                                  <a:latin typeface="Cambria Math" panose="02040503050406030204" pitchFamily="18" charset="0"/>
                                  <a:ea typeface="Cambria Math"/>
                                  <a:cs typeface="Cambria Math"/>
                                </a:rPr>
                                <m:t>⋆</m:t>
                              </m:r>
                            </m:sup>
                          </m:sSup>
                        </m:e>
                      </m:d>
                    </m:oMath>
                  </m:oMathPara>
                </a14:m>
                <a:endParaRPr lang="en-GB" sz="2400" b="0" i="0" dirty="0">
                  <a:solidFill>
                    <a:srgbClr val="00858A"/>
                  </a:solidFill>
                  <a:latin typeface="DejaVu Sans"/>
                  <a:ea typeface="DejaVu Sans"/>
                  <a:cs typeface="DejaVu Sans"/>
                </a:endParaRPr>
              </a:p>
            </p:txBody>
          </p:sp>
        </mc:Choice>
        <mc:Fallback xmlns="">
          <p:sp>
            <p:nvSpPr>
              <p:cNvPr id="6" name="proof_50_6">
                <a:extLst>
                  <a:ext uri="{FF2B5EF4-FFF2-40B4-BE49-F238E27FC236}">
                    <a16:creationId xmlns:a16="http://schemas.microsoft.com/office/drawing/2014/main" id="{F618EE7B-BC1C-4BA5-80B2-67267AD92A12}"/>
                  </a:ext>
                </a:extLst>
              </p:cNvPr>
              <p:cNvSpPr txBox="1">
                <a:spLocks noGrp="1" noRot="1" noChangeAspect="1" noMove="1" noResize="1" noEditPoints="1" noAdjustHandles="1" noChangeArrowheads="1" noChangeShapeType="1" noTextEdit="1"/>
              </p:cNvSpPr>
              <p:nvPr/>
            </p:nvSpPr>
            <p:spPr>
              <a:xfrm>
                <a:off x="-738433" y="3652837"/>
                <a:ext cx="10953750" cy="14478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proof_50_8">
                <a:extLst>
                  <a:ext uri="{FF2B5EF4-FFF2-40B4-BE49-F238E27FC236}">
                    <a16:creationId xmlns:a16="http://schemas.microsoft.com/office/drawing/2014/main" id="{46F05135-C172-4660-B904-D37AC3AA9389}"/>
                  </a:ext>
                </a:extLst>
              </p:cNvPr>
              <p:cNvSpPr txBox="1">
                <a:spLocks noGrp="1"/>
              </p:cNvSpPr>
              <p:nvPr/>
            </p:nvSpPr>
            <p:spPr>
              <a:xfrm>
                <a:off x="485775" y="5191125"/>
                <a:ext cx="10953750" cy="409575"/>
              </a:xfrm>
              <a:prstGeom prst="rect">
                <a:avLst/>
              </a:prstGeom>
              <a:noFill/>
              <a:ln w="0">
                <a:noFill/>
              </a:ln>
            </p:spPr>
            <p:txBody>
              <a:bodyPr vertOverflow="overflow" wrap="square" lIns="0" tIns="0" rIns="0" bIns="0" anchor="ctr">
                <a:noAutofit/>
              </a:bodyPr>
              <a:lstStyle/>
              <a:p>
                <a:pPr marL="0" marR="0" indent="0" algn="ctr">
                  <a:defRPr lang="en-GB" sz="2100" b="0" i="0" dirty="0">
                    <a:solidFill>
                      <a:srgbClr val="00858A"/>
                    </a:solidFill>
                    <a:latin typeface="DejaVu Sans"/>
                    <a:ea typeface="DejaVu Sans"/>
                    <a:cs typeface="DejaVu Sans"/>
                  </a:defRPr>
                </a:pPr>
                <a:r>
                  <a:rPr lang="en-GB" sz="2400" b="0" i="0" dirty="0">
                    <a:solidFill>
                      <a:srgbClr val="00858A"/>
                    </a:solidFill>
                    <a:latin typeface="DejaVu Sans"/>
                    <a:ea typeface="DejaVu Sans"/>
                    <a:cs typeface="DejaVu Sans"/>
                  </a:rPr>
                  <a:t>Thus </a:t>
                </a:r>
                <a14:m>
                  <m:oMath xmlns:m="http://schemas.openxmlformats.org/officeDocument/2006/math">
                    <m:d>
                      <m:dPr>
                        <m:ctrlPr>
                          <a:rPr lang="en-GB" sz="2400" b="0" i="1" dirty="0">
                            <a:solidFill>
                              <a:srgbClr val="00858A"/>
                            </a:solidFill>
                            <a:latin typeface="Cambria Math" panose="02040503050406030204" pitchFamily="18" charset="0"/>
                            <a:ea typeface="Cambria Math"/>
                            <a:cs typeface="Cambria Math"/>
                          </a:rPr>
                        </m:ctrlPr>
                      </m:dPr>
                      <m:e>
                        <m:sSup>
                          <m:sSupPr>
                            <m:ctrlPr>
                              <a:rPr lang="en-GB" sz="2400" b="0" dirty="0">
                                <a:solidFill>
                                  <a:srgbClr val="00858A"/>
                                </a:solidFill>
                                <a:latin typeface="Cambria Math"/>
                                <a:ea typeface="Cambria Math"/>
                                <a:cs typeface="Cambria Math"/>
                              </a:rPr>
                            </m:ctrlPr>
                          </m:sSupPr>
                          <m:e>
                            <m:r>
                              <a:rPr lang="en-GB" sz="2400" b="0" dirty="0">
                                <a:solidFill>
                                  <a:srgbClr val="00858A"/>
                                </a:solidFill>
                                <a:latin typeface="Cambria Math"/>
                                <a:ea typeface="Cambria Math"/>
                                <a:cs typeface="Cambria Math"/>
                              </a:rPr>
                              <m:t>𝑏</m:t>
                            </m:r>
                          </m:e>
                          <m:sup>
                            <m:r>
                              <a:rPr lang="it-IT" sz="2400" b="0" i="1" dirty="0" smtClean="0">
                                <a:solidFill>
                                  <a:srgbClr val="00858A"/>
                                </a:solidFill>
                                <a:latin typeface="Cambria Math" panose="02040503050406030204" pitchFamily="18" charset="0"/>
                                <a:ea typeface="Cambria Math"/>
                                <a:cs typeface="Cambria Math"/>
                              </a:rPr>
                              <m:t>⋆</m:t>
                            </m:r>
                          </m:sup>
                        </m:sSup>
                        <m:r>
                          <a:rPr lang="en-GB" sz="2400" b="0" dirty="0">
                            <a:solidFill>
                              <a:srgbClr val="00858A"/>
                            </a:solidFill>
                            <a:latin typeface="Cambria Math"/>
                            <a:ea typeface="Cambria Math"/>
                            <a:cs typeface="Cambria Math"/>
                          </a:rPr>
                          <m:t>,</m:t>
                        </m:r>
                        <m:sSup>
                          <m:sSupPr>
                            <m:ctrlPr>
                              <a:rPr lang="en-GB" sz="2400" b="0" dirty="0">
                                <a:solidFill>
                                  <a:srgbClr val="00858A"/>
                                </a:solidFill>
                                <a:latin typeface="Cambria Math"/>
                                <a:ea typeface="Cambria Math"/>
                                <a:cs typeface="Cambria Math"/>
                              </a:rPr>
                            </m:ctrlPr>
                          </m:sSupPr>
                          <m:e>
                            <m:r>
                              <a:rPr lang="en-GB" sz="2400" b="0" dirty="0">
                                <a:solidFill>
                                  <a:srgbClr val="00858A"/>
                                </a:solidFill>
                                <a:latin typeface="Cambria Math"/>
                                <a:ea typeface="Cambria Math"/>
                                <a:cs typeface="Cambria Math"/>
                              </a:rPr>
                              <m:t>𝑎</m:t>
                            </m:r>
                          </m:e>
                          <m:sup>
                            <m:r>
                              <a:rPr lang="it-IT" sz="2400" b="0" i="1" dirty="0" smtClean="0">
                                <a:solidFill>
                                  <a:srgbClr val="00858A"/>
                                </a:solidFill>
                                <a:latin typeface="Cambria Math" panose="02040503050406030204" pitchFamily="18" charset="0"/>
                                <a:ea typeface="Cambria Math"/>
                                <a:cs typeface="Cambria Math"/>
                              </a:rPr>
                              <m:t>⋆</m:t>
                            </m:r>
                          </m:sup>
                        </m:sSup>
                      </m:e>
                    </m:d>
                  </m:oMath>
                </a14:m>
                <a:r>
                  <a:rPr lang="en-GB" sz="2400" b="0" i="0" dirty="0">
                    <a:solidFill>
                      <a:srgbClr val="00858A"/>
                    </a:solidFill>
                    <a:latin typeface="DejaVu Sans"/>
                    <a:ea typeface="DejaVu Sans"/>
                    <a:cs typeface="DejaVu Sans"/>
                  </a:rPr>
                  <a:t> is a global minimiser.</a:t>
                </a:r>
              </a:p>
            </p:txBody>
          </p:sp>
        </mc:Choice>
        <mc:Fallback xmlns="">
          <p:sp>
            <p:nvSpPr>
              <p:cNvPr id="8" name="proof_50_8">
                <a:extLst>
                  <a:ext uri="{FF2B5EF4-FFF2-40B4-BE49-F238E27FC236}">
                    <a16:creationId xmlns:a16="http://schemas.microsoft.com/office/drawing/2014/main" id="{46F05135-C172-4660-B904-D37AC3AA9389}"/>
                  </a:ext>
                </a:extLst>
              </p:cNvPr>
              <p:cNvSpPr txBox="1">
                <a:spLocks noGrp="1" noRot="1" noChangeAspect="1" noMove="1" noResize="1" noEditPoints="1" noAdjustHandles="1" noChangeArrowheads="1" noChangeShapeType="1" noTextEdit="1"/>
              </p:cNvSpPr>
              <p:nvPr/>
            </p:nvSpPr>
            <p:spPr>
              <a:xfrm>
                <a:off x="485775" y="5191125"/>
                <a:ext cx="10953750" cy="409575"/>
              </a:xfrm>
              <a:prstGeom prst="rect">
                <a:avLst/>
              </a:prstGeom>
              <a:blipFill>
                <a:blip r:embed="rId6"/>
                <a:stretch>
                  <a:fillRect t="-19403" b="-3880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proof_50_9">
                <a:extLst>
                  <a:ext uri="{FF2B5EF4-FFF2-40B4-BE49-F238E27FC236}">
                    <a16:creationId xmlns:a16="http://schemas.microsoft.com/office/drawing/2014/main" id="{6CE9B942-2F65-4288-B852-23EB89859ED4}"/>
                  </a:ext>
                </a:extLst>
              </p:cNvPr>
              <p:cNvSpPr txBox="1">
                <a:spLocks noGrp="1"/>
              </p:cNvSpPr>
              <p:nvPr/>
            </p:nvSpPr>
            <p:spPr>
              <a:xfrm>
                <a:off x="216408" y="6032373"/>
                <a:ext cx="10953750" cy="409575"/>
              </a:xfrm>
              <a:prstGeom prst="rect">
                <a:avLst/>
              </a:prstGeom>
              <a:noFill/>
              <a:ln w="0">
                <a:noFill/>
              </a:ln>
            </p:spPr>
            <p:txBody>
              <a:bodyPr vertOverflow="overflow" wrap="square" lIns="0" tIns="0" rIns="0" bIns="0" anchor="ctr">
                <a:noAutofit/>
              </a:bodyPr>
              <a:lstStyle/>
              <a:p>
                <a:pPr marL="0" marR="0" indent="0" algn="ctr">
                  <a:defRPr lang="en-GB" sz="1725" b="0" i="0" dirty="0">
                    <a:solidFill>
                      <a:srgbClr val="53657E"/>
                    </a:solidFill>
                    <a:latin typeface="DejaVu Sans"/>
                    <a:ea typeface="DejaVu Sans"/>
                    <a:cs typeface="DejaVu Sans"/>
                  </a:defRPr>
                </a:pPr>
                <a:r>
                  <a:rPr lang="en-GB" sz="1725" b="0" i="0" dirty="0">
                    <a:solidFill>
                      <a:srgbClr val="53657E"/>
                    </a:solidFill>
                    <a:latin typeface="DejaVu Sans"/>
                    <a:ea typeface="DejaVu Sans"/>
                    <a:cs typeface="DejaVu Sans"/>
                  </a:rPr>
                  <a:t>If the inputs are not all equal, equality forces </a:t>
                </a:r>
                <a14:m>
                  <m:oMath xmlns:m="http://schemas.openxmlformats.org/officeDocument/2006/math">
                    <m:r>
                      <a:rPr lang="en-GB" sz="1725" b="0" dirty="0">
                        <a:solidFill>
                          <a:srgbClr val="53657E"/>
                        </a:solidFill>
                        <a:latin typeface="Cambria Math"/>
                        <a:ea typeface="Cambria Math"/>
                        <a:cs typeface="Cambria Math"/>
                      </a:rPr>
                      <m:t>𝑢</m:t>
                    </m:r>
                    <m:r>
                      <a:rPr lang="en-GB" sz="1725" b="0" dirty="0">
                        <a:solidFill>
                          <a:srgbClr val="53657E"/>
                        </a:solidFill>
                        <a:latin typeface="Cambria Math"/>
                        <a:ea typeface="Cambria Math"/>
                        <a:cs typeface="Cambria Math"/>
                      </a:rPr>
                      <m:t>=</m:t>
                    </m:r>
                    <m:r>
                      <a:rPr lang="en-GB" sz="1725" b="0" dirty="0">
                        <a:solidFill>
                          <a:srgbClr val="53657E"/>
                        </a:solidFill>
                        <a:latin typeface="Cambria Math"/>
                        <a:ea typeface="Cambria Math"/>
                        <a:cs typeface="Cambria Math"/>
                      </a:rPr>
                      <m:t>𝑣</m:t>
                    </m:r>
                    <m:r>
                      <a:rPr lang="en-GB" sz="1725" b="0" dirty="0">
                        <a:solidFill>
                          <a:srgbClr val="53657E"/>
                        </a:solidFill>
                        <a:latin typeface="Cambria Math"/>
                        <a:ea typeface="Cambria Math"/>
                        <a:cs typeface="Cambria Math"/>
                      </a:rPr>
                      <m:t>=0</m:t>
                    </m:r>
                  </m:oMath>
                </a14:m>
                <a:r>
                  <a:rPr lang="en-GB" sz="1725" b="0" i="0" dirty="0">
                    <a:solidFill>
                      <a:srgbClr val="53657E"/>
                    </a:solidFill>
                    <a:latin typeface="DejaVu Sans"/>
                    <a:ea typeface="DejaVu Sans"/>
                    <a:cs typeface="DejaVu Sans"/>
                  </a:rPr>
                  <a:t>: the minimiser is unique.</a:t>
                </a:r>
              </a:p>
            </p:txBody>
          </p:sp>
        </mc:Choice>
        <mc:Fallback xmlns="">
          <p:sp>
            <p:nvSpPr>
              <p:cNvPr id="9" name="proof_50_9">
                <a:extLst>
                  <a:ext uri="{FF2B5EF4-FFF2-40B4-BE49-F238E27FC236}">
                    <a16:creationId xmlns:a16="http://schemas.microsoft.com/office/drawing/2014/main" id="{6CE9B942-2F65-4288-B852-23EB89859ED4}"/>
                  </a:ext>
                </a:extLst>
              </p:cNvPr>
              <p:cNvSpPr txBox="1">
                <a:spLocks noGrp="1" noRot="1" noChangeAspect="1" noMove="1" noResize="1" noEditPoints="1" noAdjustHandles="1" noChangeArrowheads="1" noChangeShapeType="1" noTextEdit="1"/>
              </p:cNvSpPr>
              <p:nvPr/>
            </p:nvSpPr>
            <p:spPr>
              <a:xfrm>
                <a:off x="216408" y="6032373"/>
                <a:ext cx="10953750" cy="409575"/>
              </a:xfrm>
              <a:prstGeom prst="rect">
                <a:avLst/>
              </a:prstGeom>
              <a:blipFill>
                <a:blip r:embed="rId7"/>
                <a:stretch>
                  <a:fillRect b="-1492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3904371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CA9141C0-361A-4133-844D-4116D87CEE04}"/>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affine fit on our data</a:t>
            </a:r>
          </a:p>
        </p:txBody>
      </p:sp>
      <p:sp>
        <p:nvSpPr>
          <p:cNvPr id="2" name="page_number">
            <a:extLst>
              <a:ext uri="{FF2B5EF4-FFF2-40B4-BE49-F238E27FC236}">
                <a16:creationId xmlns:a16="http://schemas.microsoft.com/office/drawing/2014/main" id="{8806B9BD-94DD-407A-9719-35097E433C96}"/>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30</a:t>
            </a:r>
          </a:p>
        </p:txBody>
      </p:sp>
      <p:graphicFrame>
        <p:nvGraphicFramePr>
          <p:cNvPr id="10" name="Chart"/>
          <p:cNvGraphicFramePr/>
          <p:nvPr>
            <p:extLst>
              <p:ext uri="{D42A27DB-BD31-4B8C-83A1-F6EECF244321}">
                <p14:modId xmlns:p14="http://schemas.microsoft.com/office/powerpoint/2010/main" val="1136595323"/>
              </p:ext>
            </p:extLst>
          </p:nvPr>
        </p:nvGraphicFramePr>
        <p:xfrm>
          <a:off x="0" y="1052513"/>
          <a:ext cx="6019800" cy="33528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4" name="eq_97">
                <a:extLst>
                  <a:ext uri="{FF2B5EF4-FFF2-40B4-BE49-F238E27FC236}">
                    <a16:creationId xmlns:a16="http://schemas.microsoft.com/office/drawing/2014/main" id="{03CABC99-9104-4618-9825-0C0CED00182D}"/>
                  </a:ext>
                </a:extLst>
              </p:cNvPr>
              <p:cNvSpPr txBox="1">
                <a:spLocks noGrp="1"/>
              </p:cNvSpPr>
              <p:nvPr/>
            </p:nvSpPr>
            <p:spPr>
              <a:xfrm>
                <a:off x="6735506" y="3198019"/>
                <a:ext cx="4676775" cy="514350"/>
              </a:xfrm>
              <a:prstGeom prst="rect">
                <a:avLst/>
              </a:prstGeom>
              <a:noFill/>
              <a:ln w="0">
                <a:noFill/>
              </a:ln>
            </p:spPr>
            <p:txBody>
              <a:bodyPr vertOverflow="overflow" wrap="none" lIns="0" tIns="0" rIns="0" bIns="0" anchor="ctr">
                <a:noAutofit/>
              </a:bodyPr>
              <a:lstStyle/>
              <a:p>
                <a:pPr marL="0" marR="0" indent="0" algn="ctr">
                  <a:defRPr lang="en-GB" sz="2250" b="0" i="0" dirty="0">
                    <a:solidFill>
                      <a:srgbClr val="182D45"/>
                    </a:solidFill>
                    <a:latin typeface="DejaVu Sans"/>
                    <a:ea typeface="DejaVu Sans"/>
                    <a:cs typeface="DejaVu Sans"/>
                  </a:defRPr>
                </a:pPr>
                <a14:m>
                  <m:oMathPara xmlns:m="http://schemas.openxmlformats.org/officeDocument/2006/math">
                    <m:oMath>
                      <m:acc>
                        <m:accPr>
                          <m:chr m:val="‾"/>
                          <m:ctrlPr>
                            <a:rPr lang="en-GB" sz="2250" b="0" dirty="0">
                              <a:solidFill>
                                <a:srgbClr val="182D45"/>
                              </a:solidFill>
                              <a:latin typeface="Cambria Math"/>
                              <a:ea typeface="Cambria Math"/>
                              <a:cs typeface="Cambria Math"/>
                            </a:rPr>
                          </m:ctrlPr>
                        </m:accPr>
                        <m:e>
                          <m:r>
                            <a:rPr lang="en-GB" sz="2250" b="0" dirty="0">
                              <a:solidFill>
                                <a:srgbClr val="182D45"/>
                              </a:solidFill>
                              <a:latin typeface="Cambria Math"/>
                              <a:ea typeface="Cambria Math"/>
                              <a:cs typeface="Cambria Math"/>
                            </a:rPr>
                            <m:t>𝑥</m:t>
                          </m:r>
                        </m:e>
                      </m:acc>
                      <m:r>
                        <a:rPr lang="en-GB" sz="2250" b="0" dirty="0">
                          <a:solidFill>
                            <a:srgbClr val="182D45"/>
                          </a:solidFill>
                          <a:latin typeface="Cambria Math"/>
                          <a:ea typeface="Cambria Math"/>
                          <a:cs typeface="Cambria Math"/>
                        </a:rPr>
                        <m:t>=0,  </m:t>
                      </m:r>
                      <m:acc>
                        <m:accPr>
                          <m:chr m:val="‾"/>
                          <m:ctrlPr>
                            <a:rPr lang="en-GB" sz="2250" b="0" dirty="0">
                              <a:solidFill>
                                <a:srgbClr val="182D45"/>
                              </a:solidFill>
                              <a:latin typeface="Cambria Math"/>
                              <a:ea typeface="Cambria Math"/>
                              <a:cs typeface="Cambria Math"/>
                            </a:rPr>
                          </m:ctrlPr>
                        </m:accPr>
                        <m:e>
                          <m:r>
                            <a:rPr lang="en-GB" sz="2250" b="0" dirty="0">
                              <a:solidFill>
                                <a:srgbClr val="182D45"/>
                              </a:solidFill>
                              <a:latin typeface="Cambria Math"/>
                              <a:ea typeface="Cambria Math"/>
                              <a:cs typeface="Cambria Math"/>
                            </a:rPr>
                            <m:t>𝑦</m:t>
                          </m:r>
                        </m:e>
                      </m:acc>
                      <m:r>
                        <a:rPr lang="en-GB" sz="2250" b="0" dirty="0">
                          <a:solidFill>
                            <a:srgbClr val="182D45"/>
                          </a:solidFill>
                          <a:latin typeface="Cambria Math"/>
                          <a:ea typeface="Cambria Math"/>
                          <a:cs typeface="Cambria Math"/>
                        </a:rPr>
                        <m:t>=2</m:t>
                      </m:r>
                    </m:oMath>
                  </m:oMathPara>
                </a14:m>
                <a:endParaRPr lang="en-GB" sz="2250" b="0" i="0" dirty="0">
                  <a:solidFill>
                    <a:srgbClr val="182D45"/>
                  </a:solidFill>
                  <a:latin typeface="DejaVu Sans"/>
                  <a:ea typeface="DejaVu Sans"/>
                  <a:cs typeface="DejaVu Sans"/>
                </a:endParaRPr>
              </a:p>
            </p:txBody>
          </p:sp>
        </mc:Choice>
        <mc:Fallback xmlns="">
          <p:sp>
            <p:nvSpPr>
              <p:cNvPr id="4" name="eq_97">
                <a:extLst>
                  <a:ext uri="{FF2B5EF4-FFF2-40B4-BE49-F238E27FC236}">
                    <a16:creationId xmlns:a16="http://schemas.microsoft.com/office/drawing/2014/main" id="{03CABC99-9104-4618-9825-0C0CED00182D}"/>
                  </a:ext>
                </a:extLst>
              </p:cNvPr>
              <p:cNvSpPr txBox="1">
                <a:spLocks noGrp="1" noRot="1" noChangeAspect="1" noMove="1" noResize="1" noEditPoints="1" noAdjustHandles="1" noChangeArrowheads="1" noChangeShapeType="1" noTextEdit="1"/>
              </p:cNvSpPr>
              <p:nvPr/>
            </p:nvSpPr>
            <p:spPr>
              <a:xfrm>
                <a:off x="6735506" y="3198019"/>
                <a:ext cx="4676775" cy="514350"/>
              </a:xfrm>
              <a:prstGeom prst="rect">
                <a:avLst/>
              </a:prstGeom>
              <a:blipFill>
                <a:blip r:embed="rId4"/>
                <a:stretch>
                  <a:fillRect b="-238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98">
                <a:extLst>
                  <a:ext uri="{FF2B5EF4-FFF2-40B4-BE49-F238E27FC236}">
                    <a16:creationId xmlns:a16="http://schemas.microsoft.com/office/drawing/2014/main" id="{52C1646A-E63F-4C54-8FC1-819599E720AA}"/>
                  </a:ext>
                </a:extLst>
              </p:cNvPr>
              <p:cNvSpPr txBox="1">
                <a:spLocks noGrp="1"/>
              </p:cNvSpPr>
              <p:nvPr/>
            </p:nvSpPr>
            <p:spPr>
              <a:xfrm>
                <a:off x="6134100" y="3733800"/>
                <a:ext cx="5429250" cy="1381125"/>
              </a:xfrm>
              <a:prstGeom prst="rect">
                <a:avLst/>
              </a:prstGeom>
              <a:noFill/>
              <a:ln w="0">
                <a:noFill/>
              </a:ln>
            </p:spPr>
            <p:txBody>
              <a:bodyPr vertOverflow="overflow" wrap="none" lIns="0" tIns="0" rIns="0" bIns="0" anchor="ctr">
                <a:noAutofit/>
              </a:bodyPr>
              <a:lstStyle/>
              <a:p>
                <a:pPr algn="ctr">
                  <a:defRPr lang="en-GB" sz="2325" b="0" i="0" dirty="0">
                    <a:solidFill>
                      <a:srgbClr val="182D45"/>
                    </a:solidFill>
                    <a:latin typeface="DejaVu Sans"/>
                    <a:ea typeface="DejaVu Sans"/>
                    <a:cs typeface="DejaVu Sans"/>
                  </a:defRPr>
                </a:pPr>
                <a14:m>
                  <m:oMathPara xmlns:m="http://schemas.openxmlformats.org/officeDocument/2006/math">
                    <m:oMath>
                      <m:sSup>
                        <m:sSupPr>
                          <m:ctrlPr>
                            <a:rPr lang="en-GB" sz="2325" b="0" dirty="0">
                              <a:solidFill>
                                <a:srgbClr val="182D45"/>
                              </a:solidFill>
                              <a:latin typeface="Cambria Math"/>
                              <a:ea typeface="Cambria Math"/>
                              <a:cs typeface="Cambria Math"/>
                            </a:rPr>
                          </m:ctrlPr>
                        </m:sSupPr>
                        <m:e>
                          <m:r>
                            <a:rPr lang="en-GB" sz="2325" b="0" dirty="0">
                              <a:solidFill>
                                <a:srgbClr val="182D45"/>
                              </a:solidFill>
                              <a:latin typeface="Cambria Math"/>
                              <a:ea typeface="Cambria Math"/>
                              <a:cs typeface="Cambria Math"/>
                            </a:rPr>
                            <m:t>𝑎</m:t>
                          </m:r>
                        </m:e>
                        <m:sup>
                          <m:r>
                            <a:rPr lang="it-IT" sz="2325" b="0" i="1" dirty="0" smtClean="0">
                              <a:solidFill>
                                <a:srgbClr val="182D45"/>
                              </a:solidFill>
                              <a:latin typeface="Cambria Math" panose="02040503050406030204" pitchFamily="18" charset="0"/>
                              <a:ea typeface="Cambria Math"/>
                              <a:cs typeface="Cambria Math"/>
                            </a:rPr>
                            <m:t>⋆</m:t>
                          </m:r>
                        </m:sup>
                      </m:sSup>
                      <m:r>
                        <a:rPr lang="en-GB" sz="2325" b="0" dirty="0">
                          <a:solidFill>
                            <a:srgbClr val="182D45"/>
                          </a:solidFill>
                          <a:latin typeface="Cambria Math"/>
                          <a:ea typeface="Cambria Math"/>
                          <a:cs typeface="Cambria Math"/>
                        </a:rPr>
                        <m:t>=</m:t>
                      </m:r>
                      <m:f>
                        <m:fPr>
                          <m:ctrlPr>
                            <a:rPr lang="en-GB" sz="2000" i="1" dirty="0">
                              <a:solidFill>
                                <a:schemeClr val="tx1"/>
                              </a:solidFill>
                              <a:latin typeface="Cambria Math" panose="02040503050406030204" pitchFamily="18" charset="0"/>
                              <a:ea typeface="Cambria Math"/>
                              <a:cs typeface="Cambria Math"/>
                            </a:rPr>
                          </m:ctrlPr>
                        </m:fPr>
                        <m:num>
                          <m:nary>
                            <m:naryPr>
                              <m:chr m:val="∑"/>
                              <m:limLoc m:val="undOvr"/>
                              <m:ctrlPr>
                                <a:rPr lang="en-GB" sz="2000" dirty="0">
                                  <a:solidFill>
                                    <a:schemeClr val="tx1"/>
                                  </a:solidFill>
                                  <a:latin typeface="Cambria Math"/>
                                  <a:ea typeface="Cambria Math"/>
                                  <a:cs typeface="Cambria Math"/>
                                </a:rPr>
                              </m:ctrlPr>
                            </m:naryPr>
                            <m:sub>
                              <m:r>
                                <a:rPr lang="en-GB" sz="2000" dirty="0">
                                  <a:solidFill>
                                    <a:schemeClr val="tx1"/>
                                  </a:solidFill>
                                  <a:latin typeface="Cambria Math"/>
                                  <a:ea typeface="Cambria Math"/>
                                  <a:cs typeface="Cambria Math"/>
                                </a:rPr>
                                <m:t>𝑖</m:t>
                              </m:r>
                              <m:r>
                                <a:rPr lang="en-GB" sz="2000" dirty="0">
                                  <a:solidFill>
                                    <a:schemeClr val="tx1"/>
                                  </a:solidFill>
                                  <a:latin typeface="Cambria Math"/>
                                  <a:ea typeface="Cambria Math"/>
                                  <a:cs typeface="Cambria Math"/>
                                </a:rPr>
                                <m:t>=1</m:t>
                              </m:r>
                            </m:sub>
                            <m:sup>
                              <m:r>
                                <a:rPr lang="en-GB" sz="2000" dirty="0">
                                  <a:solidFill>
                                    <a:schemeClr val="tx1"/>
                                  </a:solidFill>
                                  <a:latin typeface="Cambria Math"/>
                                  <a:ea typeface="Cambria Math"/>
                                  <a:cs typeface="Cambria Math"/>
                                </a:rPr>
                                <m:t>𝑁</m:t>
                              </m:r>
                            </m:sup>
                            <m:e>
                              <m:d>
                                <m:dPr>
                                  <m:ctrlPr>
                                    <a:rPr lang="en-GB" sz="2000" i="1" dirty="0">
                                      <a:solidFill>
                                        <a:schemeClr val="tx1"/>
                                      </a:solidFill>
                                      <a:latin typeface="Cambria Math" panose="02040503050406030204" pitchFamily="18" charset="0"/>
                                      <a:ea typeface="Cambria Math"/>
                                      <a:cs typeface="Cambria Math"/>
                                    </a:rPr>
                                  </m:ctrlPr>
                                </m:dPr>
                                <m:e>
                                  <m:sSub>
                                    <m:sSubPr>
                                      <m:ctrlPr>
                                        <a:rPr lang="en-GB" sz="2000" dirty="0">
                                          <a:solidFill>
                                            <a:schemeClr val="tx1"/>
                                          </a:solidFill>
                                          <a:latin typeface="Cambria Math"/>
                                          <a:ea typeface="Cambria Math"/>
                                          <a:cs typeface="Cambria Math"/>
                                        </a:rPr>
                                      </m:ctrlPr>
                                    </m:sSubPr>
                                    <m:e>
                                      <m:r>
                                        <a:rPr lang="en-GB" sz="2000" dirty="0">
                                          <a:solidFill>
                                            <a:schemeClr val="tx1"/>
                                          </a:solidFill>
                                          <a:latin typeface="Cambria Math"/>
                                          <a:ea typeface="Cambria Math"/>
                                          <a:cs typeface="Cambria Math"/>
                                        </a:rPr>
                                        <m:t>𝑥</m:t>
                                      </m:r>
                                    </m:e>
                                    <m:sub>
                                      <m:r>
                                        <a:rPr lang="en-GB" sz="2000" dirty="0">
                                          <a:solidFill>
                                            <a:schemeClr val="tx1"/>
                                          </a:solidFill>
                                          <a:latin typeface="Cambria Math"/>
                                          <a:ea typeface="Cambria Math"/>
                                          <a:cs typeface="Cambria Math"/>
                                        </a:rPr>
                                        <m:t>𝑖</m:t>
                                      </m:r>
                                    </m:sub>
                                  </m:sSub>
                                  <m:r>
                                    <a:rPr lang="en-GB" sz="2000" dirty="0">
                                      <a:solidFill>
                                        <a:schemeClr val="tx1"/>
                                      </a:solidFill>
                                      <a:latin typeface="Cambria Math"/>
                                      <a:ea typeface="Cambria Math"/>
                                      <a:cs typeface="Cambria Math"/>
                                    </a:rPr>
                                    <m:t>−</m:t>
                                  </m:r>
                                  <m:bar>
                                    <m:barPr>
                                      <m:pos m:val="top"/>
                                      <m:ctrlPr>
                                        <a:rPr lang="en-GB" sz="2000" dirty="0">
                                          <a:solidFill>
                                            <a:schemeClr val="tx1"/>
                                          </a:solidFill>
                                          <a:latin typeface="Cambria Math"/>
                                          <a:ea typeface="Cambria Math"/>
                                          <a:cs typeface="Cambria Math"/>
                                        </a:rPr>
                                      </m:ctrlPr>
                                    </m:barPr>
                                    <m:e>
                                      <m:r>
                                        <a:rPr lang="en-GB" sz="2000" dirty="0">
                                          <a:solidFill>
                                            <a:schemeClr val="tx1"/>
                                          </a:solidFill>
                                          <a:latin typeface="Cambria Math"/>
                                          <a:ea typeface="Cambria Math"/>
                                          <a:cs typeface="Cambria Math"/>
                                        </a:rPr>
                                        <m:t>𝑥</m:t>
                                      </m:r>
                                    </m:e>
                                  </m:bar>
                                </m:e>
                              </m:d>
                              <m:d>
                                <m:dPr>
                                  <m:ctrlPr>
                                    <a:rPr lang="en-GB" sz="2000" i="1" dirty="0">
                                      <a:latin typeface="Cambria Math" panose="02040503050406030204" pitchFamily="18" charset="0"/>
                                      <a:ea typeface="Cambria Math"/>
                                      <a:cs typeface="Cambria Math"/>
                                    </a:rPr>
                                  </m:ctrlPr>
                                </m:dPr>
                                <m:e>
                                  <m:sSub>
                                    <m:sSubPr>
                                      <m:ctrlPr>
                                        <a:rPr lang="en-GB" sz="2000" dirty="0">
                                          <a:latin typeface="Cambria Math"/>
                                          <a:ea typeface="Cambria Math"/>
                                          <a:cs typeface="Cambria Math"/>
                                        </a:rPr>
                                      </m:ctrlPr>
                                    </m:sSubPr>
                                    <m:e>
                                      <m:r>
                                        <a:rPr lang="en-GB" sz="2000" dirty="0">
                                          <a:latin typeface="Cambria Math"/>
                                          <a:ea typeface="Cambria Math"/>
                                          <a:cs typeface="Cambria Math"/>
                                        </a:rPr>
                                        <m:t>𝑦</m:t>
                                      </m:r>
                                    </m:e>
                                    <m:sub>
                                      <m:r>
                                        <a:rPr lang="en-GB" sz="2000" dirty="0">
                                          <a:latin typeface="Cambria Math"/>
                                          <a:ea typeface="Cambria Math"/>
                                          <a:cs typeface="Cambria Math"/>
                                        </a:rPr>
                                        <m:t>𝑖</m:t>
                                      </m:r>
                                    </m:sub>
                                  </m:sSub>
                                  <m:r>
                                    <a:rPr lang="en-GB" sz="2000" dirty="0">
                                      <a:latin typeface="Cambria Math"/>
                                      <a:ea typeface="Cambria Math"/>
                                      <a:cs typeface="Cambria Math"/>
                                    </a:rPr>
                                    <m:t>−</m:t>
                                  </m:r>
                                  <m:bar>
                                    <m:barPr>
                                      <m:pos m:val="top"/>
                                      <m:ctrlPr>
                                        <a:rPr lang="en-GB" sz="2000" dirty="0">
                                          <a:latin typeface="Cambria Math"/>
                                          <a:ea typeface="Cambria Math"/>
                                          <a:cs typeface="Cambria Math"/>
                                        </a:rPr>
                                      </m:ctrlPr>
                                    </m:barPr>
                                    <m:e>
                                      <m:r>
                                        <a:rPr lang="en-GB" sz="2000" dirty="0">
                                          <a:latin typeface="Cambria Math"/>
                                          <a:ea typeface="Cambria Math"/>
                                          <a:cs typeface="Cambria Math"/>
                                        </a:rPr>
                                        <m:t>𝑦</m:t>
                                      </m:r>
                                    </m:e>
                                  </m:bar>
                                </m:e>
                              </m:d>
                            </m:e>
                          </m:nary>
                        </m:num>
                        <m:den>
                          <m:nary>
                            <m:naryPr>
                              <m:chr m:val="∑"/>
                              <m:limLoc m:val="undOvr"/>
                              <m:ctrlPr>
                                <a:rPr lang="en-GB" sz="2000" dirty="0">
                                  <a:solidFill>
                                    <a:schemeClr val="tx1"/>
                                  </a:solidFill>
                                  <a:latin typeface="Cambria Math"/>
                                  <a:ea typeface="Cambria Math"/>
                                  <a:cs typeface="Cambria Math"/>
                                </a:rPr>
                              </m:ctrlPr>
                            </m:naryPr>
                            <m:sub>
                              <m:r>
                                <a:rPr lang="en-GB" sz="2000" dirty="0">
                                  <a:solidFill>
                                    <a:schemeClr val="tx1"/>
                                  </a:solidFill>
                                  <a:latin typeface="Cambria Math"/>
                                  <a:ea typeface="Cambria Math"/>
                                  <a:cs typeface="Cambria Math"/>
                                </a:rPr>
                                <m:t>𝑖</m:t>
                              </m:r>
                              <m:r>
                                <a:rPr lang="en-GB" sz="2000" dirty="0">
                                  <a:solidFill>
                                    <a:schemeClr val="tx1"/>
                                  </a:solidFill>
                                  <a:latin typeface="Cambria Math"/>
                                  <a:ea typeface="Cambria Math"/>
                                  <a:cs typeface="Cambria Math"/>
                                </a:rPr>
                                <m:t>=1</m:t>
                              </m:r>
                            </m:sub>
                            <m:sup>
                              <m:r>
                                <a:rPr lang="en-GB" sz="2000" dirty="0">
                                  <a:solidFill>
                                    <a:schemeClr val="tx1"/>
                                  </a:solidFill>
                                  <a:latin typeface="Cambria Math"/>
                                  <a:ea typeface="Cambria Math"/>
                                  <a:cs typeface="Cambria Math"/>
                                </a:rPr>
                                <m:t>𝑁</m:t>
                              </m:r>
                            </m:sup>
                            <m:e>
                              <m:sSup>
                                <m:sSupPr>
                                  <m:ctrlPr>
                                    <a:rPr lang="en-GB" sz="2000" i="1" dirty="0">
                                      <a:solidFill>
                                        <a:schemeClr val="tx1"/>
                                      </a:solidFill>
                                      <a:latin typeface="Cambria Math" panose="02040503050406030204" pitchFamily="18" charset="0"/>
                                      <a:ea typeface="Cambria Math"/>
                                      <a:cs typeface="Cambria Math"/>
                                    </a:rPr>
                                  </m:ctrlPr>
                                </m:sSupPr>
                                <m:e>
                                  <m:d>
                                    <m:dPr>
                                      <m:ctrlPr>
                                        <a:rPr lang="en-GB" sz="2000" i="1" dirty="0">
                                          <a:solidFill>
                                            <a:schemeClr val="tx1"/>
                                          </a:solidFill>
                                          <a:latin typeface="Cambria Math" panose="02040503050406030204" pitchFamily="18" charset="0"/>
                                          <a:ea typeface="Cambria Math"/>
                                          <a:cs typeface="Cambria Math"/>
                                        </a:rPr>
                                      </m:ctrlPr>
                                    </m:dPr>
                                    <m:e>
                                      <m:sSub>
                                        <m:sSubPr>
                                          <m:ctrlPr>
                                            <a:rPr lang="en-GB" sz="2000" dirty="0">
                                              <a:solidFill>
                                                <a:schemeClr val="tx1"/>
                                              </a:solidFill>
                                              <a:latin typeface="Cambria Math"/>
                                              <a:ea typeface="Cambria Math"/>
                                              <a:cs typeface="Cambria Math"/>
                                            </a:rPr>
                                          </m:ctrlPr>
                                        </m:sSubPr>
                                        <m:e>
                                          <m:r>
                                            <a:rPr lang="en-GB" sz="2000" dirty="0">
                                              <a:solidFill>
                                                <a:schemeClr val="tx1"/>
                                              </a:solidFill>
                                              <a:latin typeface="Cambria Math"/>
                                              <a:ea typeface="Cambria Math"/>
                                              <a:cs typeface="Cambria Math"/>
                                            </a:rPr>
                                            <m:t>𝑥</m:t>
                                          </m:r>
                                        </m:e>
                                        <m:sub>
                                          <m:r>
                                            <a:rPr lang="en-GB" sz="2000" dirty="0">
                                              <a:solidFill>
                                                <a:schemeClr val="tx1"/>
                                              </a:solidFill>
                                              <a:latin typeface="Cambria Math"/>
                                              <a:ea typeface="Cambria Math"/>
                                              <a:cs typeface="Cambria Math"/>
                                            </a:rPr>
                                            <m:t>𝑖</m:t>
                                          </m:r>
                                        </m:sub>
                                      </m:sSub>
                                      <m:r>
                                        <a:rPr lang="en-GB" sz="2000" dirty="0">
                                          <a:solidFill>
                                            <a:schemeClr val="tx1"/>
                                          </a:solidFill>
                                          <a:latin typeface="Cambria Math"/>
                                          <a:ea typeface="Cambria Math"/>
                                          <a:cs typeface="Cambria Math"/>
                                        </a:rPr>
                                        <m:t>−</m:t>
                                      </m:r>
                                      <m:bar>
                                        <m:barPr>
                                          <m:pos m:val="top"/>
                                          <m:ctrlPr>
                                            <a:rPr lang="en-GB" sz="2000" dirty="0">
                                              <a:solidFill>
                                                <a:schemeClr val="tx1"/>
                                              </a:solidFill>
                                              <a:latin typeface="Cambria Math"/>
                                              <a:ea typeface="Cambria Math"/>
                                              <a:cs typeface="Cambria Math"/>
                                            </a:rPr>
                                          </m:ctrlPr>
                                        </m:barPr>
                                        <m:e>
                                          <m:r>
                                            <a:rPr lang="en-GB" sz="2000" dirty="0">
                                              <a:solidFill>
                                                <a:schemeClr val="tx1"/>
                                              </a:solidFill>
                                              <a:latin typeface="Cambria Math"/>
                                              <a:ea typeface="Cambria Math"/>
                                              <a:cs typeface="Cambria Math"/>
                                            </a:rPr>
                                            <m:t>𝑥</m:t>
                                          </m:r>
                                        </m:e>
                                      </m:bar>
                                    </m:e>
                                  </m:d>
                                </m:e>
                                <m:sup>
                                  <m:r>
                                    <a:rPr lang="en-GB" sz="2000" dirty="0">
                                      <a:solidFill>
                                        <a:schemeClr val="tx1"/>
                                      </a:solidFill>
                                      <a:latin typeface="Cambria Math"/>
                                      <a:ea typeface="Cambria Math"/>
                                      <a:cs typeface="Cambria Math"/>
                                    </a:rPr>
                                    <m:t>2</m:t>
                                  </m:r>
                                </m:sup>
                              </m:sSup>
                            </m:e>
                          </m:nary>
                        </m:den>
                      </m:f>
                      <m:r>
                        <a:rPr lang="it-IT" sz="2000" b="0" i="1" dirty="0" smtClean="0">
                          <a:solidFill>
                            <a:schemeClr val="tx1"/>
                          </a:solidFill>
                          <a:latin typeface="Cambria Math" panose="02040503050406030204" pitchFamily="18" charset="0"/>
                          <a:ea typeface="Cambria Math"/>
                          <a:cs typeface="Cambria Math"/>
                        </a:rPr>
                        <m:t>=</m:t>
                      </m:r>
                      <m:f>
                        <m:fPr>
                          <m:ctrlPr>
                            <a:rPr lang="en-GB" sz="2325" b="0" dirty="0">
                              <a:solidFill>
                                <a:srgbClr val="182D45"/>
                              </a:solidFill>
                              <a:latin typeface="Cambria Math"/>
                              <a:ea typeface="Cambria Math"/>
                              <a:cs typeface="Cambria Math"/>
                            </a:rPr>
                          </m:ctrlPr>
                        </m:fPr>
                        <m:num>
                          <m:r>
                            <a:rPr lang="en-GB" sz="2325" b="0" dirty="0">
                              <a:solidFill>
                                <a:srgbClr val="182D45"/>
                              </a:solidFill>
                              <a:latin typeface="Cambria Math"/>
                              <a:ea typeface="Cambria Math"/>
                              <a:cs typeface="Cambria Math"/>
                            </a:rPr>
                            <m:t>20</m:t>
                          </m:r>
                        </m:num>
                        <m:den>
                          <m:r>
                            <a:rPr lang="en-GB" sz="2325" b="0" dirty="0">
                              <a:solidFill>
                                <a:srgbClr val="182D45"/>
                              </a:solidFill>
                              <a:latin typeface="Cambria Math"/>
                              <a:ea typeface="Cambria Math"/>
                              <a:cs typeface="Cambria Math"/>
                            </a:rPr>
                            <m:t>10</m:t>
                          </m:r>
                        </m:den>
                      </m:f>
                      <m:r>
                        <a:rPr lang="en-GB" sz="2325" b="0" dirty="0">
                          <a:solidFill>
                            <a:srgbClr val="182D45"/>
                          </a:solidFill>
                          <a:latin typeface="Cambria Math"/>
                          <a:ea typeface="Cambria Math"/>
                          <a:cs typeface="Cambria Math"/>
                        </a:rPr>
                        <m:t>=2,</m:t>
                      </m:r>
                    </m:oMath>
                  </m:oMathPara>
                </a14:m>
                <a:endParaRPr lang="it-IT" sz="2325" b="0" dirty="0">
                  <a:solidFill>
                    <a:srgbClr val="182D45"/>
                  </a:solidFill>
                  <a:latin typeface="Cambria Math"/>
                  <a:ea typeface="Cambria Math"/>
                  <a:cs typeface="Cambria Math"/>
                </a:endParaRPr>
              </a:p>
              <a:p>
                <a:pPr algn="ctr">
                  <a:defRPr lang="en-GB" sz="2325" b="0" i="0" dirty="0">
                    <a:solidFill>
                      <a:srgbClr val="182D45"/>
                    </a:solidFill>
                    <a:latin typeface="DejaVu Sans"/>
                    <a:ea typeface="DejaVu Sans"/>
                    <a:cs typeface="DejaVu Sans"/>
                  </a:defRPr>
                </a:pPr>
                <a14:m>
                  <m:oMathPara xmlns:m="http://schemas.openxmlformats.org/officeDocument/2006/math">
                    <m:oMath>
                      <m:sSup>
                        <m:sSupPr>
                          <m:ctrlPr>
                            <a:rPr lang="en-GB" sz="2325" b="0" dirty="0">
                              <a:solidFill>
                                <a:srgbClr val="182D45"/>
                              </a:solidFill>
                              <a:latin typeface="Cambria Math"/>
                              <a:ea typeface="Cambria Math"/>
                              <a:cs typeface="Cambria Math"/>
                            </a:rPr>
                          </m:ctrlPr>
                        </m:sSupPr>
                        <m:e>
                          <m:r>
                            <a:rPr lang="en-GB" sz="2325" b="0" dirty="0">
                              <a:solidFill>
                                <a:srgbClr val="182D45"/>
                              </a:solidFill>
                              <a:latin typeface="Cambria Math"/>
                              <a:ea typeface="Cambria Math"/>
                              <a:cs typeface="Cambria Math"/>
                            </a:rPr>
                            <m:t>𝑏</m:t>
                          </m:r>
                        </m:e>
                        <m:sup>
                          <m:r>
                            <a:rPr lang="it-IT" sz="2325" i="1" dirty="0">
                              <a:solidFill>
                                <a:srgbClr val="182D45"/>
                              </a:solidFill>
                              <a:latin typeface="Cambria Math" panose="02040503050406030204" pitchFamily="18" charset="0"/>
                              <a:ea typeface="Cambria Math"/>
                              <a:cs typeface="Cambria Math"/>
                            </a:rPr>
                            <m:t>⋆</m:t>
                          </m:r>
                        </m:sup>
                      </m:sSup>
                      <m:r>
                        <a:rPr lang="it-IT" sz="2325" b="0" i="0" dirty="0" smtClean="0">
                          <a:solidFill>
                            <a:srgbClr val="182D45"/>
                          </a:solidFill>
                          <a:latin typeface="Cambria Math" panose="02040503050406030204" pitchFamily="18" charset="0"/>
                          <a:ea typeface="Cambria Math"/>
                          <a:cs typeface="Cambria Math"/>
                        </a:rPr>
                        <m:t>=</m:t>
                      </m:r>
                      <m:bar>
                        <m:barPr>
                          <m:pos m:val="top"/>
                          <m:ctrlPr>
                            <a:rPr lang="en-GB" sz="2400" dirty="0">
                              <a:solidFill>
                                <a:schemeClr val="tx1"/>
                              </a:solidFill>
                              <a:latin typeface="Cambria Math"/>
                              <a:ea typeface="Cambria Math"/>
                              <a:cs typeface="Cambria Math"/>
                            </a:rPr>
                          </m:ctrlPr>
                        </m:barPr>
                        <m:e>
                          <m:r>
                            <a:rPr lang="en-GB" sz="2400" dirty="0">
                              <a:solidFill>
                                <a:schemeClr val="tx1"/>
                              </a:solidFill>
                              <a:latin typeface="Cambria Math"/>
                              <a:ea typeface="Cambria Math"/>
                              <a:cs typeface="Cambria Math"/>
                            </a:rPr>
                            <m:t>𝑦</m:t>
                          </m:r>
                        </m:e>
                      </m:bar>
                      <m:r>
                        <a:rPr lang="en-GB" sz="2400" dirty="0">
                          <a:solidFill>
                            <a:schemeClr val="tx1"/>
                          </a:solidFill>
                          <a:latin typeface="Cambria Math"/>
                          <a:ea typeface="Cambria Math"/>
                          <a:cs typeface="Cambria Math"/>
                        </a:rPr>
                        <m:t>−</m:t>
                      </m:r>
                      <m:sSup>
                        <m:sSupPr>
                          <m:ctrlPr>
                            <a:rPr lang="en-GB" sz="2400" dirty="0">
                              <a:solidFill>
                                <a:schemeClr val="tx1"/>
                              </a:solidFill>
                              <a:latin typeface="Cambria Math"/>
                              <a:ea typeface="Cambria Math"/>
                              <a:cs typeface="Cambria Math"/>
                            </a:rPr>
                          </m:ctrlPr>
                        </m:sSupPr>
                        <m:e>
                          <m:r>
                            <a:rPr lang="en-GB" sz="2400" dirty="0">
                              <a:solidFill>
                                <a:schemeClr val="tx1"/>
                              </a:solidFill>
                              <a:latin typeface="Cambria Math"/>
                              <a:ea typeface="Cambria Math"/>
                              <a:cs typeface="Cambria Math"/>
                            </a:rPr>
                            <m:t>𝑎</m:t>
                          </m:r>
                        </m:e>
                        <m:sup>
                          <m:r>
                            <a:rPr lang="it-IT" sz="2400" i="1" dirty="0">
                              <a:solidFill>
                                <a:schemeClr val="tx1"/>
                              </a:solidFill>
                              <a:latin typeface="Cambria Math" panose="02040503050406030204" pitchFamily="18" charset="0"/>
                              <a:ea typeface="Cambria Math"/>
                              <a:cs typeface="Cambria Math"/>
                            </a:rPr>
                            <m:t>⋆</m:t>
                          </m:r>
                        </m:sup>
                      </m:sSup>
                      <m:bar>
                        <m:barPr>
                          <m:pos m:val="top"/>
                          <m:ctrlPr>
                            <a:rPr lang="en-GB" sz="2400" dirty="0">
                              <a:solidFill>
                                <a:schemeClr val="tx1"/>
                              </a:solidFill>
                              <a:latin typeface="Cambria Math"/>
                              <a:ea typeface="Cambria Math"/>
                              <a:cs typeface="Cambria Math"/>
                            </a:rPr>
                          </m:ctrlPr>
                        </m:barPr>
                        <m:e>
                          <m:r>
                            <a:rPr lang="en-GB" sz="2400" dirty="0">
                              <a:solidFill>
                                <a:schemeClr val="tx1"/>
                              </a:solidFill>
                              <a:latin typeface="Cambria Math"/>
                              <a:ea typeface="Cambria Math"/>
                              <a:cs typeface="Cambria Math"/>
                            </a:rPr>
                            <m:t>𝑥</m:t>
                          </m:r>
                        </m:e>
                      </m:bar>
                      <m:r>
                        <a:rPr lang="en-GB" sz="2325" b="0" dirty="0">
                          <a:solidFill>
                            <a:srgbClr val="182D45"/>
                          </a:solidFill>
                          <a:latin typeface="Cambria Math"/>
                          <a:ea typeface="Cambria Math"/>
                          <a:cs typeface="Cambria Math"/>
                        </a:rPr>
                        <m:t>=2</m:t>
                      </m:r>
                      <m:r>
                        <a:rPr lang="it-IT" sz="2325" b="0" i="0" dirty="0" smtClean="0">
                          <a:solidFill>
                            <a:srgbClr val="182D45"/>
                          </a:solidFill>
                          <a:latin typeface="Cambria Math" panose="02040503050406030204" pitchFamily="18" charset="0"/>
                          <a:ea typeface="Cambria Math"/>
                          <a:cs typeface="Cambria Math"/>
                        </a:rPr>
                        <m:t>                               </m:t>
                      </m:r>
                    </m:oMath>
                  </m:oMathPara>
                </a14:m>
                <a:endParaRPr lang="en-GB" sz="2325" b="0" i="0" dirty="0">
                  <a:solidFill>
                    <a:srgbClr val="182D45"/>
                  </a:solidFill>
                  <a:latin typeface="DejaVu Sans"/>
                  <a:ea typeface="DejaVu Sans"/>
                  <a:cs typeface="DejaVu Sans"/>
                </a:endParaRPr>
              </a:p>
            </p:txBody>
          </p:sp>
        </mc:Choice>
        <mc:Fallback xmlns="">
          <p:sp>
            <p:nvSpPr>
              <p:cNvPr id="5" name="eq_98">
                <a:extLst>
                  <a:ext uri="{FF2B5EF4-FFF2-40B4-BE49-F238E27FC236}">
                    <a16:creationId xmlns:a16="http://schemas.microsoft.com/office/drawing/2014/main" id="{52C1646A-E63F-4C54-8FC1-819599E720AA}"/>
                  </a:ext>
                </a:extLst>
              </p:cNvPr>
              <p:cNvSpPr txBox="1">
                <a:spLocks noGrp="1" noRot="1" noChangeAspect="1" noMove="1" noResize="1" noEditPoints="1" noAdjustHandles="1" noChangeArrowheads="1" noChangeShapeType="1" noTextEdit="1"/>
              </p:cNvSpPr>
              <p:nvPr/>
            </p:nvSpPr>
            <p:spPr>
              <a:xfrm>
                <a:off x="6134100" y="3733800"/>
                <a:ext cx="5429250" cy="138112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99">
                <a:extLst>
                  <a:ext uri="{FF2B5EF4-FFF2-40B4-BE49-F238E27FC236}">
                    <a16:creationId xmlns:a16="http://schemas.microsoft.com/office/drawing/2014/main" id="{A1A9B40F-A23E-4407-BED4-F3C8C00D6522}"/>
                  </a:ext>
                </a:extLst>
              </p:cNvPr>
              <p:cNvSpPr txBox="1">
                <a:spLocks noGrp="1"/>
              </p:cNvSpPr>
              <p:nvPr/>
            </p:nvSpPr>
            <p:spPr>
              <a:xfrm>
                <a:off x="6877050" y="5191125"/>
                <a:ext cx="4676775" cy="609600"/>
              </a:xfrm>
              <a:prstGeom prst="rect">
                <a:avLst/>
              </a:prstGeom>
              <a:noFill/>
              <a:ln w="0">
                <a:noFill/>
              </a:ln>
            </p:spPr>
            <p:txBody>
              <a:bodyPr vertOverflow="overflow" wrap="none" lIns="0" tIns="0" rIns="0" bIns="0" anchor="ctr">
                <a:noAutofit/>
              </a:bodyPr>
              <a:lstStyle/>
              <a:p>
                <a:pPr algn="ctr">
                  <a:defRPr lang="en-GB" sz="2400" b="0" i="0" dirty="0">
                    <a:solidFill>
                      <a:srgbClr val="00858A"/>
                    </a:solidFill>
                    <a:latin typeface="DejaVu Sans"/>
                    <a:ea typeface="DejaVu Sans"/>
                    <a:cs typeface="DejaVu Sans"/>
                  </a:defRPr>
                </a:pPr>
                <a14:m>
                  <m:oMathPara xmlns:m="http://schemas.openxmlformats.org/officeDocument/2006/math">
                    <m:oMath>
                      <m:sSubSup>
                        <m:sSubSupPr>
                          <m:ctrlPr>
                            <a:rPr lang="en-GB" sz="2400" dirty="0">
                              <a:solidFill>
                                <a:srgbClr val="00858A"/>
                              </a:solidFill>
                              <a:latin typeface="Cambria Math"/>
                              <a:ea typeface="Cambria Math"/>
                              <a:cs typeface="Cambria Math"/>
                            </a:rPr>
                          </m:ctrlPr>
                        </m:sSubSupPr>
                        <m:e>
                          <m:r>
                            <a:rPr lang="en-GB" sz="2400" dirty="0">
                              <a:solidFill>
                                <a:srgbClr val="00858A"/>
                              </a:solidFill>
                              <a:latin typeface="Cambria Math"/>
                              <a:ea typeface="Cambria Math"/>
                              <a:cs typeface="Cambria Math"/>
                            </a:rPr>
                            <m:t>ℒ</m:t>
                          </m:r>
                        </m:e>
                        <m:sub>
                          <m:r>
                            <m:rPr>
                              <m:sty m:val="p"/>
                            </m:rPr>
                            <a:rPr lang="en-GB" sz="2400" dirty="0">
                              <a:solidFill>
                                <a:srgbClr val="00858A"/>
                              </a:solidFill>
                              <a:latin typeface="Cambria Math"/>
                              <a:ea typeface="Cambria Math"/>
                              <a:cs typeface="Cambria Math"/>
                            </a:rPr>
                            <m:t>sq</m:t>
                          </m:r>
                        </m:sub>
                        <m:sup>
                          <m:r>
                            <m:rPr>
                              <m:sty m:val="p"/>
                            </m:rPr>
                            <a:rPr lang="en-GB" sz="2400" dirty="0">
                              <a:solidFill>
                                <a:srgbClr val="00858A"/>
                              </a:solidFill>
                              <a:latin typeface="Cambria Math"/>
                              <a:ea typeface="Cambria Math"/>
                              <a:cs typeface="Cambria Math"/>
                            </a:rPr>
                            <m:t>aff</m:t>
                          </m:r>
                        </m:sup>
                      </m:sSubSup>
                      <m:d>
                        <m:dPr>
                          <m:ctrlPr>
                            <a:rPr lang="en-GB" sz="2400" i="1" dirty="0">
                              <a:solidFill>
                                <a:srgbClr val="00858A"/>
                              </a:solidFill>
                              <a:latin typeface="Cambria Math" panose="02040503050406030204" pitchFamily="18" charset="0"/>
                              <a:ea typeface="Cambria Math"/>
                              <a:cs typeface="Cambria Math"/>
                            </a:rPr>
                          </m:ctrlPr>
                        </m:dPr>
                        <m:e>
                          <m:sSup>
                            <m:sSupPr>
                              <m:ctrlPr>
                                <a:rPr lang="en-GB" sz="2400" dirty="0">
                                  <a:solidFill>
                                    <a:srgbClr val="00858A"/>
                                  </a:solidFill>
                                  <a:latin typeface="Cambria Math"/>
                                  <a:ea typeface="Cambria Math"/>
                                  <a:cs typeface="Cambria Math"/>
                                </a:rPr>
                              </m:ctrlPr>
                            </m:sSupPr>
                            <m:e>
                              <m:r>
                                <a:rPr lang="en-GB" sz="2400" dirty="0">
                                  <a:solidFill>
                                    <a:srgbClr val="00858A"/>
                                  </a:solidFill>
                                  <a:latin typeface="Cambria Math"/>
                                  <a:ea typeface="Cambria Math"/>
                                  <a:cs typeface="Cambria Math"/>
                                </a:rPr>
                                <m:t>𝛉</m:t>
                              </m:r>
                            </m:e>
                            <m:sup>
                              <m:r>
                                <a:rPr lang="it-IT" sz="2400" i="1" dirty="0">
                                  <a:solidFill>
                                    <a:srgbClr val="00858A"/>
                                  </a:solidFill>
                                  <a:latin typeface="Cambria Math" panose="02040503050406030204" pitchFamily="18" charset="0"/>
                                  <a:ea typeface="Cambria Math"/>
                                  <a:cs typeface="Cambria Math"/>
                                </a:rPr>
                                <m:t>⋆</m:t>
                              </m:r>
                            </m:sup>
                          </m:sSup>
                        </m:e>
                      </m:d>
                      <m:r>
                        <a:rPr lang="it-IT" sz="2400" b="0" i="1" dirty="0" smtClean="0">
                          <a:solidFill>
                            <a:srgbClr val="00858A"/>
                          </a:solidFill>
                          <a:latin typeface="Cambria Math" panose="02040503050406030204" pitchFamily="18" charset="0"/>
                          <a:ea typeface="Cambria Math"/>
                          <a:cs typeface="Cambria Math"/>
                        </a:rPr>
                        <m:t>=</m:t>
                      </m:r>
                      <m:sSubSup>
                        <m:sSubSupPr>
                          <m:ctrlPr>
                            <a:rPr lang="en-GB" sz="2400" b="0" dirty="0">
                              <a:solidFill>
                                <a:srgbClr val="00858A"/>
                              </a:solidFill>
                              <a:latin typeface="Cambria Math"/>
                              <a:ea typeface="Cambria Math"/>
                              <a:cs typeface="Cambria Math"/>
                            </a:rPr>
                          </m:ctrlPr>
                        </m:sSubSupPr>
                        <m:e>
                          <m:r>
                            <a:rPr lang="en-GB" sz="2400" b="0" dirty="0">
                              <a:solidFill>
                                <a:srgbClr val="00858A"/>
                              </a:solidFill>
                              <a:latin typeface="Cambria Math"/>
                              <a:ea typeface="Cambria Math"/>
                              <a:cs typeface="Cambria Math"/>
                            </a:rPr>
                            <m:t>ℒ</m:t>
                          </m:r>
                        </m:e>
                        <m:sub>
                          <m:r>
                            <m:rPr>
                              <m:sty m:val="p"/>
                            </m:rPr>
                            <a:rPr lang="en-GB" sz="2400" b="0" dirty="0">
                              <a:solidFill>
                                <a:srgbClr val="00858A"/>
                              </a:solidFill>
                              <a:latin typeface="Cambria Math"/>
                              <a:ea typeface="Cambria Math"/>
                              <a:cs typeface="Cambria Math"/>
                            </a:rPr>
                            <m:t>sq</m:t>
                          </m:r>
                        </m:sub>
                        <m:sup>
                          <m:r>
                            <m:rPr>
                              <m:sty m:val="p"/>
                            </m:rPr>
                            <a:rPr lang="en-GB" sz="2400" b="0" dirty="0">
                              <a:solidFill>
                                <a:srgbClr val="00858A"/>
                              </a:solidFill>
                              <a:latin typeface="Cambria Math"/>
                              <a:ea typeface="Cambria Math"/>
                              <a:cs typeface="Cambria Math"/>
                            </a:rPr>
                            <m:t>aff</m:t>
                          </m:r>
                        </m:sup>
                      </m:sSubSup>
                      <m:d>
                        <m:dPr>
                          <m:ctrlPr>
                            <a:rPr lang="en-GB" sz="2400" b="0" i="1" dirty="0">
                              <a:solidFill>
                                <a:srgbClr val="00858A"/>
                              </a:solidFill>
                              <a:latin typeface="Cambria Math" panose="02040503050406030204" pitchFamily="18" charset="0"/>
                              <a:ea typeface="Cambria Math"/>
                              <a:cs typeface="Cambria Math"/>
                            </a:rPr>
                          </m:ctrlPr>
                        </m:dPr>
                        <m:e>
                          <m:sSup>
                            <m:sSupPr>
                              <m:ctrlPr>
                                <a:rPr lang="en-GB" sz="2400" b="0" dirty="0">
                                  <a:solidFill>
                                    <a:srgbClr val="00858A"/>
                                  </a:solidFill>
                                  <a:latin typeface="Cambria Math"/>
                                  <a:ea typeface="Cambria Math"/>
                                  <a:cs typeface="Cambria Math"/>
                                </a:rPr>
                              </m:ctrlPr>
                            </m:sSupPr>
                            <m:e>
                              <m:r>
                                <a:rPr lang="en-GB" sz="2400" b="0" dirty="0">
                                  <a:solidFill>
                                    <a:srgbClr val="00858A"/>
                                  </a:solidFill>
                                  <a:latin typeface="Cambria Math"/>
                                  <a:ea typeface="Cambria Math"/>
                                  <a:cs typeface="Cambria Math"/>
                                </a:rPr>
                                <m:t>𝑏</m:t>
                              </m:r>
                            </m:e>
                            <m:sup>
                              <m:r>
                                <a:rPr lang="it-IT" sz="2400" b="0" i="1" dirty="0" smtClean="0">
                                  <a:solidFill>
                                    <a:srgbClr val="00858A"/>
                                  </a:solidFill>
                                  <a:latin typeface="Cambria Math" panose="02040503050406030204" pitchFamily="18" charset="0"/>
                                  <a:ea typeface="Cambria Math"/>
                                  <a:cs typeface="Cambria Math"/>
                                </a:rPr>
                                <m:t>⋆</m:t>
                              </m:r>
                            </m:sup>
                          </m:sSup>
                          <m:r>
                            <a:rPr lang="en-GB" sz="2400" b="0" dirty="0">
                              <a:solidFill>
                                <a:srgbClr val="00858A"/>
                              </a:solidFill>
                              <a:latin typeface="Cambria Math"/>
                              <a:ea typeface="Cambria Math"/>
                              <a:cs typeface="Cambria Math"/>
                            </a:rPr>
                            <m:t>,</m:t>
                          </m:r>
                          <m:sSup>
                            <m:sSupPr>
                              <m:ctrlPr>
                                <a:rPr lang="en-GB" sz="2400" b="0" dirty="0">
                                  <a:solidFill>
                                    <a:srgbClr val="00858A"/>
                                  </a:solidFill>
                                  <a:latin typeface="Cambria Math"/>
                                  <a:ea typeface="Cambria Math"/>
                                  <a:cs typeface="Cambria Math"/>
                                </a:rPr>
                              </m:ctrlPr>
                            </m:sSupPr>
                            <m:e>
                              <m:r>
                                <a:rPr lang="en-GB" sz="2400" b="0" dirty="0">
                                  <a:solidFill>
                                    <a:srgbClr val="00858A"/>
                                  </a:solidFill>
                                  <a:latin typeface="Cambria Math"/>
                                  <a:ea typeface="Cambria Math"/>
                                  <a:cs typeface="Cambria Math"/>
                                </a:rPr>
                                <m:t>𝑎</m:t>
                              </m:r>
                            </m:e>
                            <m:sup>
                              <m:r>
                                <a:rPr lang="it-IT" sz="2400" b="0" i="1" dirty="0" smtClean="0">
                                  <a:solidFill>
                                    <a:srgbClr val="00858A"/>
                                  </a:solidFill>
                                  <a:latin typeface="Cambria Math" panose="02040503050406030204" pitchFamily="18" charset="0"/>
                                  <a:ea typeface="Cambria Math"/>
                                  <a:cs typeface="Cambria Math"/>
                                </a:rPr>
                                <m:t>⋆</m:t>
                              </m:r>
                            </m:sup>
                          </m:sSup>
                        </m:e>
                      </m:d>
                      <m:r>
                        <a:rPr lang="en-GB" sz="2400" b="0" dirty="0">
                          <a:solidFill>
                            <a:srgbClr val="00858A"/>
                          </a:solidFill>
                          <a:latin typeface="Cambria Math"/>
                          <a:ea typeface="Cambria Math"/>
                          <a:cs typeface="Cambria Math"/>
                        </a:rPr>
                        <m:t>=6</m:t>
                      </m:r>
                    </m:oMath>
                  </m:oMathPara>
                </a14:m>
                <a:endParaRPr lang="en-GB" sz="2400" b="0" i="0" dirty="0">
                  <a:solidFill>
                    <a:srgbClr val="00858A"/>
                  </a:solidFill>
                  <a:latin typeface="DejaVu Sans"/>
                  <a:ea typeface="DejaVu Sans"/>
                  <a:cs typeface="DejaVu Sans"/>
                </a:endParaRPr>
              </a:p>
            </p:txBody>
          </p:sp>
        </mc:Choice>
        <mc:Fallback xmlns="">
          <p:sp>
            <p:nvSpPr>
              <p:cNvPr id="6" name="eq_99">
                <a:extLst>
                  <a:ext uri="{FF2B5EF4-FFF2-40B4-BE49-F238E27FC236}">
                    <a16:creationId xmlns:a16="http://schemas.microsoft.com/office/drawing/2014/main" id="{A1A9B40F-A23E-4407-BED4-F3C8C00D6522}"/>
                  </a:ext>
                </a:extLst>
              </p:cNvPr>
              <p:cNvSpPr txBox="1">
                <a:spLocks noGrp="1" noRot="1" noChangeAspect="1" noMove="1" noResize="1" noEditPoints="1" noAdjustHandles="1" noChangeArrowheads="1" noChangeShapeType="1" noTextEdit="1"/>
              </p:cNvSpPr>
              <p:nvPr/>
            </p:nvSpPr>
            <p:spPr>
              <a:xfrm>
                <a:off x="6877050" y="5191125"/>
                <a:ext cx="4676775" cy="6096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xt_100">
                <a:extLst>
                  <a:ext uri="{FF2B5EF4-FFF2-40B4-BE49-F238E27FC236}">
                    <a16:creationId xmlns:a16="http://schemas.microsoft.com/office/drawing/2014/main" id="{5E4E7F79-0ABE-4193-982B-D6424B687A46}"/>
                  </a:ext>
                </a:extLst>
              </p:cNvPr>
              <p:cNvSpPr txBox="1">
                <a:spLocks noGrp="1"/>
              </p:cNvSpPr>
              <p:nvPr/>
            </p:nvSpPr>
            <p:spPr>
              <a:xfrm>
                <a:off x="285750" y="5772150"/>
                <a:ext cx="10953750" cy="1012698"/>
              </a:xfrm>
              <a:prstGeom prst="rect">
                <a:avLst/>
              </a:prstGeom>
              <a:noFill/>
              <a:ln w="0">
                <a:noFill/>
              </a:ln>
            </p:spPr>
            <p:txBody>
              <a:bodyPr vertOverflow="overflow" wrap="square" lIns="0" tIns="0" rIns="0" bIns="0" anchor="ctr">
                <a:noAutofit/>
              </a:bodyPr>
              <a:lstStyle/>
              <a:p>
                <a:pPr marL="0" marR="0" indent="0" algn="ctr">
                  <a:defRPr lang="en-GB" sz="1800" b="1" i="0" dirty="0">
                    <a:solidFill>
                      <a:srgbClr val="00858A"/>
                    </a:solidFill>
                    <a:latin typeface="DejaVu Sans"/>
                    <a:ea typeface="DejaVu Sans"/>
                    <a:cs typeface="DejaVu Sans"/>
                  </a:defRPr>
                </a:pPr>
                <a:r>
                  <a:rPr lang="en-GB" sz="1800" b="1" i="0" dirty="0">
                    <a:solidFill>
                      <a:srgbClr val="00858A"/>
                    </a:solidFill>
                    <a:latin typeface="DejaVu Sans"/>
                    <a:ea typeface="DejaVu Sans"/>
                    <a:cs typeface="DejaVu Sans"/>
                  </a:rPr>
                  <a:t>This fit improves on the best slope-only and constant predictors:</a:t>
                </a:r>
              </a:p>
              <a:p>
                <a:pPr marL="0" marR="0" indent="0" algn="ctr">
                  <a:defRPr lang="en-GB" sz="1800" b="1" i="0" dirty="0">
                    <a:solidFill>
                      <a:srgbClr val="00858A"/>
                    </a:solidFill>
                    <a:latin typeface="DejaVu Sans"/>
                    <a:ea typeface="DejaVu Sans"/>
                    <a:cs typeface="DejaVu Sans"/>
                  </a:defRPr>
                </a:pPr>
                <a14:m>
                  <m:oMathPara xmlns:m="http://schemas.openxmlformats.org/officeDocument/2006/math">
                    <m:oMath>
                      <m:sSubSup>
                        <m:sSubSupPr>
                          <m:ctrlPr>
                            <a:rPr lang="en-GB" sz="2200" b="1" dirty="0">
                              <a:solidFill>
                                <a:srgbClr val="00858A"/>
                              </a:solidFill>
                              <a:latin typeface="Cambria Math"/>
                              <a:ea typeface="Cambria Math"/>
                              <a:cs typeface="Cambria Math"/>
                            </a:rPr>
                          </m:ctrlPr>
                        </m:sSubSupPr>
                        <m:e>
                          <m:r>
                            <a:rPr lang="en-GB" sz="2200" b="1" dirty="0">
                              <a:solidFill>
                                <a:srgbClr val="00858A"/>
                              </a:solidFill>
                              <a:latin typeface="Cambria Math"/>
                              <a:ea typeface="Cambria Math"/>
                              <a:cs typeface="Cambria Math"/>
                            </a:rPr>
                            <m:t>ℒ</m:t>
                          </m:r>
                        </m:e>
                        <m:sub>
                          <m:r>
                            <m:rPr>
                              <m:sty m:val="p"/>
                            </m:rPr>
                            <a:rPr lang="en-GB" sz="2200" b="1" dirty="0">
                              <a:solidFill>
                                <a:srgbClr val="00858A"/>
                              </a:solidFill>
                              <a:latin typeface="Cambria Math"/>
                              <a:ea typeface="Cambria Math"/>
                              <a:cs typeface="Cambria Math"/>
                            </a:rPr>
                            <m:t>sq</m:t>
                          </m:r>
                        </m:sub>
                        <m:sup>
                          <m:r>
                            <m:rPr>
                              <m:sty m:val="p"/>
                            </m:rPr>
                            <a:rPr lang="en-GB" sz="2200" b="1" dirty="0">
                              <a:solidFill>
                                <a:srgbClr val="00858A"/>
                              </a:solidFill>
                              <a:latin typeface="Cambria Math"/>
                              <a:ea typeface="Cambria Math"/>
                              <a:cs typeface="Cambria Math"/>
                            </a:rPr>
                            <m:t>slope</m:t>
                          </m:r>
                        </m:sup>
                      </m:sSubSup>
                      <m:d>
                        <m:dPr>
                          <m:ctrlPr>
                            <a:rPr lang="en-GB" sz="2200" b="1" i="1" dirty="0">
                              <a:solidFill>
                                <a:srgbClr val="00858A"/>
                              </a:solidFill>
                              <a:latin typeface="Cambria Math" panose="02040503050406030204" pitchFamily="18" charset="0"/>
                              <a:ea typeface="Cambria Math"/>
                              <a:cs typeface="Cambria Math"/>
                            </a:rPr>
                          </m:ctrlPr>
                        </m:dPr>
                        <m:e>
                          <m:sSup>
                            <m:sSupPr>
                              <m:ctrlPr>
                                <a:rPr lang="en-GB" sz="2200" b="1" dirty="0">
                                  <a:solidFill>
                                    <a:srgbClr val="00858A"/>
                                  </a:solidFill>
                                  <a:latin typeface="Cambria Math"/>
                                  <a:ea typeface="Cambria Math"/>
                                  <a:cs typeface="Cambria Math"/>
                                </a:rPr>
                              </m:ctrlPr>
                            </m:sSupPr>
                            <m:e>
                              <m:r>
                                <a:rPr lang="en-GB" sz="2200" b="1" dirty="0">
                                  <a:solidFill>
                                    <a:srgbClr val="00858A"/>
                                  </a:solidFill>
                                  <a:latin typeface="Cambria Math"/>
                                  <a:ea typeface="Cambria Math"/>
                                  <a:cs typeface="Cambria Math"/>
                                </a:rPr>
                                <m:t>𝑎</m:t>
                              </m:r>
                            </m:e>
                            <m:sup>
                              <m:r>
                                <a:rPr lang="en-GB" sz="2200" b="1" dirty="0">
                                  <a:solidFill>
                                    <a:srgbClr val="00858A"/>
                                  </a:solidFill>
                                  <a:latin typeface="Cambria Math"/>
                                  <a:ea typeface="Cambria Math"/>
                                  <a:cs typeface="Cambria Math"/>
                                </a:rPr>
                                <m:t>∗</m:t>
                              </m:r>
                            </m:sup>
                          </m:sSup>
                        </m:e>
                      </m:d>
                      <m:r>
                        <a:rPr lang="en-GB" sz="2200" b="1" dirty="0">
                          <a:solidFill>
                            <a:srgbClr val="00858A"/>
                          </a:solidFill>
                          <a:latin typeface="Cambria Math"/>
                          <a:ea typeface="Cambria Math"/>
                          <a:cs typeface="Cambria Math"/>
                        </a:rPr>
                        <m:t>=26,  </m:t>
                      </m:r>
                      <m:sSubSup>
                        <m:sSubSupPr>
                          <m:ctrlPr>
                            <a:rPr lang="en-GB" sz="2200" b="1" dirty="0">
                              <a:solidFill>
                                <a:srgbClr val="00858A"/>
                              </a:solidFill>
                              <a:latin typeface="Cambria Math"/>
                              <a:ea typeface="Cambria Math"/>
                              <a:cs typeface="Cambria Math"/>
                            </a:rPr>
                          </m:ctrlPr>
                        </m:sSubSupPr>
                        <m:e>
                          <m:r>
                            <a:rPr lang="en-GB" sz="2200" b="1" dirty="0">
                              <a:solidFill>
                                <a:srgbClr val="00858A"/>
                              </a:solidFill>
                              <a:latin typeface="Cambria Math"/>
                              <a:ea typeface="Cambria Math"/>
                              <a:cs typeface="Cambria Math"/>
                            </a:rPr>
                            <m:t>ℒ</m:t>
                          </m:r>
                        </m:e>
                        <m:sub>
                          <m:r>
                            <m:rPr>
                              <m:sty m:val="p"/>
                            </m:rPr>
                            <a:rPr lang="en-GB" sz="2200" b="1" dirty="0">
                              <a:solidFill>
                                <a:srgbClr val="00858A"/>
                              </a:solidFill>
                              <a:latin typeface="Cambria Math"/>
                              <a:ea typeface="Cambria Math"/>
                              <a:cs typeface="Cambria Math"/>
                            </a:rPr>
                            <m:t>sq</m:t>
                          </m:r>
                        </m:sub>
                        <m:sup>
                          <m:r>
                            <m:rPr>
                              <m:sty m:val="p"/>
                            </m:rPr>
                            <a:rPr lang="en-GB" sz="2200" b="1" dirty="0">
                              <a:solidFill>
                                <a:srgbClr val="00858A"/>
                              </a:solidFill>
                              <a:latin typeface="Cambria Math"/>
                              <a:ea typeface="Cambria Math"/>
                              <a:cs typeface="Cambria Math"/>
                            </a:rPr>
                            <m:t>const</m:t>
                          </m:r>
                        </m:sup>
                      </m:sSubSup>
                      <m:d>
                        <m:dPr>
                          <m:ctrlPr>
                            <a:rPr lang="en-GB" sz="2200" b="1" i="1" dirty="0">
                              <a:solidFill>
                                <a:srgbClr val="00858A"/>
                              </a:solidFill>
                              <a:latin typeface="Cambria Math" panose="02040503050406030204" pitchFamily="18" charset="0"/>
                              <a:ea typeface="Cambria Math"/>
                              <a:cs typeface="Cambria Math"/>
                            </a:rPr>
                          </m:ctrlPr>
                        </m:dPr>
                        <m:e>
                          <m:sSup>
                            <m:sSupPr>
                              <m:ctrlPr>
                                <a:rPr lang="en-GB" sz="2200" b="1" dirty="0">
                                  <a:solidFill>
                                    <a:srgbClr val="00858A"/>
                                  </a:solidFill>
                                  <a:latin typeface="Cambria Math"/>
                                  <a:ea typeface="Cambria Math"/>
                                  <a:cs typeface="Cambria Math"/>
                                </a:rPr>
                              </m:ctrlPr>
                            </m:sSupPr>
                            <m:e>
                              <m:r>
                                <a:rPr lang="en-GB" sz="2200" b="1" dirty="0">
                                  <a:solidFill>
                                    <a:srgbClr val="00858A"/>
                                  </a:solidFill>
                                  <a:latin typeface="Cambria Math"/>
                                  <a:ea typeface="Cambria Math"/>
                                  <a:cs typeface="Cambria Math"/>
                                </a:rPr>
                                <m:t>𝑏</m:t>
                              </m:r>
                            </m:e>
                            <m:sup>
                              <m:r>
                                <a:rPr lang="en-GB" sz="2200" b="1" dirty="0">
                                  <a:solidFill>
                                    <a:srgbClr val="00858A"/>
                                  </a:solidFill>
                                  <a:latin typeface="Cambria Math"/>
                                  <a:ea typeface="Cambria Math"/>
                                  <a:cs typeface="Cambria Math"/>
                                </a:rPr>
                                <m:t>∗</m:t>
                              </m:r>
                            </m:sup>
                          </m:sSup>
                        </m:e>
                      </m:d>
                      <m:r>
                        <a:rPr lang="en-GB" sz="2200" b="1" dirty="0">
                          <a:solidFill>
                            <a:srgbClr val="00858A"/>
                          </a:solidFill>
                          <a:latin typeface="Cambria Math"/>
                          <a:ea typeface="Cambria Math"/>
                          <a:cs typeface="Cambria Math"/>
                        </a:rPr>
                        <m:t>=46</m:t>
                      </m:r>
                      <m:r>
                        <a:rPr lang="it-IT" sz="2200" b="1" i="0" dirty="0" smtClean="0">
                          <a:solidFill>
                            <a:srgbClr val="00858A"/>
                          </a:solidFill>
                          <a:latin typeface="Cambria Math" panose="02040503050406030204" pitchFamily="18" charset="0"/>
                          <a:ea typeface="Cambria Math"/>
                          <a:cs typeface="Cambria Math"/>
                        </a:rPr>
                        <m:t>.</m:t>
                      </m:r>
                    </m:oMath>
                  </m:oMathPara>
                </a14:m>
                <a:endParaRPr lang="en-GB" sz="2200" b="1" i="0" dirty="0">
                  <a:solidFill>
                    <a:srgbClr val="00858A"/>
                  </a:solidFill>
                  <a:latin typeface="DejaVu Sans"/>
                  <a:ea typeface="DejaVu Sans"/>
                  <a:cs typeface="DejaVu Sans"/>
                </a:endParaRPr>
              </a:p>
            </p:txBody>
          </p:sp>
        </mc:Choice>
        <mc:Fallback xmlns="">
          <p:sp>
            <p:nvSpPr>
              <p:cNvPr id="7" name="txt_100">
                <a:extLst>
                  <a:ext uri="{FF2B5EF4-FFF2-40B4-BE49-F238E27FC236}">
                    <a16:creationId xmlns:a16="http://schemas.microsoft.com/office/drawing/2014/main" id="{5E4E7F79-0ABE-4193-982B-D6424B687A46}"/>
                  </a:ext>
                </a:extLst>
              </p:cNvPr>
              <p:cNvSpPr txBox="1">
                <a:spLocks noGrp="1" noRot="1" noChangeAspect="1" noMove="1" noResize="1" noEditPoints="1" noAdjustHandles="1" noChangeArrowheads="1" noChangeShapeType="1" noTextEdit="1"/>
              </p:cNvSpPr>
              <p:nvPr/>
            </p:nvSpPr>
            <p:spPr>
              <a:xfrm>
                <a:off x="285750" y="5772150"/>
                <a:ext cx="10953750" cy="1012698"/>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graphicFrame>
            <p:nvGraphicFramePr>
              <p:cNvPr id="11" name="Affine fit data table">
                <a:extLst>
                  <a:ext uri="{FF2B5EF4-FFF2-40B4-BE49-F238E27FC236}">
                    <a16:creationId xmlns:a16="http://schemas.microsoft.com/office/drawing/2014/main" id="{55ACFCCE-6A4E-4EE9-AFD0-B5BFA5B22B45}"/>
                  </a:ext>
                </a:extLst>
              </p:cNvPr>
              <p:cNvGraphicFramePr>
                <a:graphicFrameLocks noGrp="1"/>
              </p:cNvGraphicFramePr>
              <p:nvPr>
                <p:extLst>
                  <p:ext uri="{D42A27DB-BD31-4B8C-83A1-F6EECF244321}">
                    <p14:modId xmlns:p14="http://schemas.microsoft.com/office/powerpoint/2010/main" val="1632806837"/>
                  </p:ext>
                </p:extLst>
              </p:nvPr>
            </p:nvGraphicFramePr>
            <p:xfrm>
              <a:off x="6096000" y="1085850"/>
              <a:ext cx="5955788" cy="2163508"/>
            </p:xfrm>
            <a:graphic>
              <a:graphicData uri="http://schemas.openxmlformats.org/drawingml/2006/table">
                <a:tbl>
                  <a:tblPr/>
                  <a:tblGrid>
                    <a:gridCol w="1127760">
                      <a:extLst>
                        <a:ext uri="{9D8B030D-6E8A-4147-A177-3AD203B41FA5}">
                          <a16:colId xmlns:a16="http://schemas.microsoft.com/office/drawing/2014/main" val="2362854992"/>
                        </a:ext>
                      </a:extLst>
                    </a:gridCol>
                    <a:gridCol w="853957">
                      <a:extLst>
                        <a:ext uri="{9D8B030D-6E8A-4147-A177-3AD203B41FA5}">
                          <a16:colId xmlns:a16="http://schemas.microsoft.com/office/drawing/2014/main" val="669850203"/>
                        </a:ext>
                      </a:extLst>
                    </a:gridCol>
                    <a:gridCol w="797242">
                      <a:extLst>
                        <a:ext uri="{9D8B030D-6E8A-4147-A177-3AD203B41FA5}">
                          <a16:colId xmlns:a16="http://schemas.microsoft.com/office/drawing/2014/main" val="951708791"/>
                        </a:ext>
                      </a:extLst>
                    </a:gridCol>
                    <a:gridCol w="797242">
                      <a:extLst>
                        <a:ext uri="{9D8B030D-6E8A-4147-A177-3AD203B41FA5}">
                          <a16:colId xmlns:a16="http://schemas.microsoft.com/office/drawing/2014/main" val="2096207023"/>
                        </a:ext>
                      </a:extLst>
                    </a:gridCol>
                    <a:gridCol w="797242">
                      <a:extLst>
                        <a:ext uri="{9D8B030D-6E8A-4147-A177-3AD203B41FA5}">
                          <a16:colId xmlns:a16="http://schemas.microsoft.com/office/drawing/2014/main" val="667122023"/>
                        </a:ext>
                      </a:extLst>
                    </a:gridCol>
                    <a:gridCol w="797242">
                      <a:extLst>
                        <a:ext uri="{9D8B030D-6E8A-4147-A177-3AD203B41FA5}">
                          <a16:colId xmlns:a16="http://schemas.microsoft.com/office/drawing/2014/main" val="1216145221"/>
                        </a:ext>
                      </a:extLst>
                    </a:gridCol>
                    <a:gridCol w="785103">
                      <a:extLst>
                        <a:ext uri="{9D8B030D-6E8A-4147-A177-3AD203B41FA5}">
                          <a16:colId xmlns:a16="http://schemas.microsoft.com/office/drawing/2014/main" val="836618976"/>
                        </a:ext>
                      </a:extLst>
                    </a:gridCol>
                  </a:tblGrid>
                  <a:tr h="628847">
                    <a:tc>
                      <a:txBody>
                        <a:bodyPr/>
                        <a:lstStyle/>
                        <a:p>
                          <a:pPr algn="l"/>
                          <a:r>
                            <a:rPr sz="1600" b="1" dirty="0" err="1">
                              <a:solidFill>
                                <a:srgbClr val="182D45"/>
                              </a:solidFill>
                              <a:latin typeface="DejaVu Sans"/>
                              <a:ea typeface="DejaVu Sans"/>
                              <a:cs typeface="DejaVu Sans"/>
                            </a:rPr>
                            <a:t>Obs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tc>
                      <a:txBody>
                        <a:bodyPr/>
                        <a:lstStyle/>
                        <a:p>
                          <a:pPr algn="ctr"/>
                          <a14:m>
                            <m:oMathPara xmlns:m="http://schemas.openxmlformats.org/officeDocument/2006/math">
                              <m:oMath>
                                <m:sSubSup>
                                  <m:sSubSupPr>
                                    <m:ctrlPr>
                                      <a:rPr lang="en-GB" sz="1800" dirty="0">
                                        <a:solidFill>
                                          <a:srgbClr val="182D45"/>
                                        </a:solidFill>
                                        <a:latin typeface="Cambria Math"/>
                                        <a:ea typeface="Cambria Math"/>
                                        <a:cs typeface="Cambria Math"/>
                                      </a:rPr>
                                    </m:ctrlPr>
                                  </m:sSubSupPr>
                                  <m:e>
                                    <m:r>
                                      <a:rPr lang="en-GB" sz="1800" dirty="0">
                                        <a:solidFill>
                                          <a:srgbClr val="182D45"/>
                                        </a:solidFill>
                                        <a:latin typeface="Cambria Math"/>
                                        <a:ea typeface="Cambria Math"/>
                                        <a:cs typeface="Cambria Math"/>
                                      </a:rPr>
                                      <m:t>ℒ</m:t>
                                    </m:r>
                                  </m:e>
                                  <m:sub>
                                    <m:r>
                                      <m:rPr>
                                        <m:sty m:val="p"/>
                                      </m:rPr>
                                      <a:rPr lang="en-GB" sz="1800" dirty="0">
                                        <a:solidFill>
                                          <a:srgbClr val="182D45"/>
                                        </a:solidFill>
                                        <a:latin typeface="Cambria Math"/>
                                        <a:ea typeface="Cambria Math"/>
                                        <a:cs typeface="Cambria Math"/>
                                      </a:rPr>
                                      <m:t>sq</m:t>
                                    </m:r>
                                  </m:sub>
                                  <m:sup>
                                    <m:r>
                                      <m:rPr>
                                        <m:sty m:val="p"/>
                                      </m:rPr>
                                      <a:rPr lang="it-IT" sz="1800" dirty="0">
                                        <a:solidFill>
                                          <a:srgbClr val="182D45"/>
                                        </a:solidFill>
                                        <a:latin typeface="Cambria Math" panose="02040503050406030204" pitchFamily="18" charset="0"/>
                                        <a:ea typeface="Cambria Math"/>
                                        <a:cs typeface="Cambria Math"/>
                                      </a:rPr>
                                      <m:t>aff</m:t>
                                    </m:r>
                                  </m:sup>
                                </m:sSubSup>
                              </m:oMath>
                            </m:oMathPara>
                          </a14:m>
                          <a:endParaRPr lang="en-GB" sz="1800" b="0" i="0" baseline="-25000" dirty="0">
                            <a:solidFill>
                              <a:srgbClr val="182D45"/>
                            </a:solidFill>
                            <a:latin typeface="Cambria Math"/>
                            <a:ea typeface="Cambria Math"/>
                            <a:cs typeface="Cambria Math"/>
                          </a:endParaRPr>
                        </a:p>
                      </a:txBody>
                      <a:tcPr anchor="ctr">
                        <a:solidFill>
                          <a:srgbClr val="F0F5F8"/>
                        </a:solidFill>
                      </a:tcPr>
                    </a:tc>
                    <a:extLst>
                      <a:ext uri="{0D108BD9-81ED-4DB2-BD59-A6C34878D82A}">
                        <a16:rowId xmlns:a16="http://schemas.microsoft.com/office/drawing/2014/main" val="986434405"/>
                      </a:ext>
                    </a:extLst>
                  </a:tr>
                  <a:tr h="399715">
                    <a:tc>
                      <a:txBody>
                        <a:bodyPr/>
                        <a:lstStyle/>
                        <a:p>
                          <a:pPr algn="l"/>
                          <a:r>
                            <a:rPr sz="1600" b="0">
                              <a:solidFill>
                                <a:srgbClr val="182D45"/>
                              </a:solidFill>
                              <a:latin typeface="DejaVu Sans"/>
                              <a:ea typeface="DejaVu Sans"/>
                              <a:cs typeface="DejaVu Sans"/>
                            </a:rPr>
                            <a:t>Input</a:t>
                          </a:r>
                        </a:p>
                      </a:txBody>
                      <a:tcPr anchor="ctr">
                        <a:solidFill>
                          <a:srgbClr val="FFFFFF"/>
                        </a:solidFill>
                      </a:tcPr>
                    </a:tc>
                    <a:tc>
                      <a:txBody>
                        <a:bodyPr/>
                        <a:lstStyle/>
                        <a:p>
                          <a:pPr algn="ctr"/>
                          <a:r>
                            <a:rPr sz="1600" b="0">
                              <a:solidFill>
                                <a:srgbClr val="182D45"/>
                              </a:solidFill>
                              <a:latin typeface="DejaVu Sans"/>
                              <a:ea typeface="DejaVu Sans"/>
                              <a:cs typeface="DejaVu Sans"/>
                            </a:rPr>
                            <a:t>−2</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endParaRPr sz="1600" dirty="0"/>
                        </a:p>
                      </a:txBody>
                      <a:tcPr anchor="ctr">
                        <a:solidFill>
                          <a:srgbClr val="FFFFFF"/>
                        </a:solidFill>
                      </a:tcPr>
                    </a:tc>
                    <a:extLst>
                      <a:ext uri="{0D108BD9-81ED-4DB2-BD59-A6C34878D82A}">
                        <a16:rowId xmlns:a16="http://schemas.microsoft.com/office/drawing/2014/main" val="1420119408"/>
                      </a:ext>
                    </a:extLst>
                  </a:tr>
                  <a:tr h="506099">
                    <a:tc>
                      <a:txBody>
                        <a:bodyPr/>
                        <a:lstStyle/>
                        <a:p>
                          <a:pPr algn="l"/>
                          <a:r>
                            <a:rPr sz="16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600" b="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2.5</a:t>
                          </a:r>
                        </a:p>
                      </a:txBody>
                      <a:tcPr anchor="ctr">
                        <a:solidFill>
                          <a:srgbClr val="FFFFFF"/>
                        </a:solidFill>
                      </a:tcPr>
                    </a:tc>
                    <a:tc>
                      <a:txBody>
                        <a:bodyPr/>
                        <a:lstStyle/>
                        <a:p>
                          <a:pPr algn="ctr"/>
                          <a:r>
                            <a:rPr sz="1600" b="0">
                              <a:solidFill>
                                <a:srgbClr val="182D45"/>
                              </a:solidFill>
                              <a:latin typeface="DejaVu Sans"/>
                              <a:ea typeface="DejaVu Sans"/>
                              <a:cs typeface="DejaVu Sans"/>
                            </a:rPr>
                            <a:t>7.5</a:t>
                          </a:r>
                        </a:p>
                      </a:txBody>
                      <a:tcPr anchor="ctr">
                        <a:solidFill>
                          <a:srgbClr val="FFFFFF"/>
                        </a:solidFill>
                      </a:tcPr>
                    </a:tc>
                    <a:tc>
                      <a:txBody>
                        <a:bodyPr/>
                        <a:lstStyle/>
                        <a:p>
                          <a:endParaRPr sz="1600"/>
                        </a:p>
                      </a:txBody>
                      <a:tcPr anchor="ctr">
                        <a:solidFill>
                          <a:srgbClr val="FFFFFF"/>
                        </a:solidFill>
                      </a:tcPr>
                    </a:tc>
                    <a:extLst>
                      <a:ext uri="{0D108BD9-81ED-4DB2-BD59-A6C34878D82A}">
                        <a16:rowId xmlns:a16="http://schemas.microsoft.com/office/drawing/2014/main" val="1134578397"/>
                      </a:ext>
                    </a:extLst>
                  </a:tr>
                  <a:tr h="628847">
                    <a:tc>
                      <a:txBody>
                        <a:bodyPr/>
                        <a:lstStyle/>
                        <a:p>
                          <a:pPr algn="l"/>
                          <a:r>
                            <a:rPr sz="1600" b="0" dirty="0">
                              <a:solidFill>
                                <a:srgbClr val="182D45"/>
                              </a:solidFill>
                              <a:latin typeface="DejaVu Sans"/>
                              <a:ea typeface="DejaVu Sans"/>
                              <a:cs typeface="DejaVu Sans"/>
                            </a:rPr>
                            <a:t>Squared</a:t>
                          </a:r>
                        </a:p>
                        <a:p>
                          <a:pPr algn="l"/>
                          <a:r>
                            <a:rPr sz="1600" b="0" dirty="0">
                              <a:solidFill>
                                <a:srgbClr val="182D45"/>
                              </a:solidFill>
                              <a:latin typeface="DejaVu Sans"/>
                              <a:ea typeface="DejaVu Sans"/>
                              <a:cs typeface="DejaVu Sans"/>
                            </a:rPr>
                            <a:t>residual</a:t>
                          </a: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6</a:t>
                          </a:r>
                        </a:p>
                      </a:txBody>
                      <a:tcPr anchor="ctr">
                        <a:solidFill>
                          <a:srgbClr val="FFFFFF"/>
                        </a:solidFill>
                      </a:tcPr>
                    </a:tc>
                    <a:extLst>
                      <a:ext uri="{0D108BD9-81ED-4DB2-BD59-A6C34878D82A}">
                        <a16:rowId xmlns:a16="http://schemas.microsoft.com/office/drawing/2014/main" val="1090811800"/>
                      </a:ext>
                    </a:extLst>
                  </a:tr>
                </a:tbl>
              </a:graphicData>
            </a:graphic>
          </p:graphicFrame>
        </mc:Choice>
        <mc:Fallback xmlns="">
          <p:graphicFrame>
            <p:nvGraphicFramePr>
              <p:cNvPr id="11" name="Affine fit data table">
                <a:extLst>
                  <a:ext uri="{FF2B5EF4-FFF2-40B4-BE49-F238E27FC236}">
                    <a16:creationId xmlns:a16="http://schemas.microsoft.com/office/drawing/2014/main" id="{55ACFCCE-6A4E-4EE9-AFD0-B5BFA5B22B45}"/>
                  </a:ext>
                </a:extLst>
              </p:cNvPr>
              <p:cNvGraphicFramePr>
                <a:graphicFrameLocks noGrp="1"/>
              </p:cNvGraphicFramePr>
              <p:nvPr>
                <p:extLst>
                  <p:ext uri="{D42A27DB-BD31-4B8C-83A1-F6EECF244321}">
                    <p14:modId xmlns:p14="http://schemas.microsoft.com/office/powerpoint/2010/main" val="1632806837"/>
                  </p:ext>
                </p:extLst>
              </p:nvPr>
            </p:nvGraphicFramePr>
            <p:xfrm>
              <a:off x="6096000" y="1085850"/>
              <a:ext cx="5955788" cy="2163508"/>
            </p:xfrm>
            <a:graphic>
              <a:graphicData uri="http://schemas.openxmlformats.org/drawingml/2006/table">
                <a:tbl>
                  <a:tblPr/>
                  <a:tblGrid>
                    <a:gridCol w="1127760">
                      <a:extLst>
                        <a:ext uri="{9D8B030D-6E8A-4147-A177-3AD203B41FA5}">
                          <a16:colId xmlns:a16="http://schemas.microsoft.com/office/drawing/2014/main" val="2362854992"/>
                        </a:ext>
                      </a:extLst>
                    </a:gridCol>
                    <a:gridCol w="853957">
                      <a:extLst>
                        <a:ext uri="{9D8B030D-6E8A-4147-A177-3AD203B41FA5}">
                          <a16:colId xmlns:a16="http://schemas.microsoft.com/office/drawing/2014/main" val="669850203"/>
                        </a:ext>
                      </a:extLst>
                    </a:gridCol>
                    <a:gridCol w="797242">
                      <a:extLst>
                        <a:ext uri="{9D8B030D-6E8A-4147-A177-3AD203B41FA5}">
                          <a16:colId xmlns:a16="http://schemas.microsoft.com/office/drawing/2014/main" val="951708791"/>
                        </a:ext>
                      </a:extLst>
                    </a:gridCol>
                    <a:gridCol w="797242">
                      <a:extLst>
                        <a:ext uri="{9D8B030D-6E8A-4147-A177-3AD203B41FA5}">
                          <a16:colId xmlns:a16="http://schemas.microsoft.com/office/drawing/2014/main" val="2096207023"/>
                        </a:ext>
                      </a:extLst>
                    </a:gridCol>
                    <a:gridCol w="797242">
                      <a:extLst>
                        <a:ext uri="{9D8B030D-6E8A-4147-A177-3AD203B41FA5}">
                          <a16:colId xmlns:a16="http://schemas.microsoft.com/office/drawing/2014/main" val="667122023"/>
                        </a:ext>
                      </a:extLst>
                    </a:gridCol>
                    <a:gridCol w="797242">
                      <a:extLst>
                        <a:ext uri="{9D8B030D-6E8A-4147-A177-3AD203B41FA5}">
                          <a16:colId xmlns:a16="http://schemas.microsoft.com/office/drawing/2014/main" val="1216145221"/>
                        </a:ext>
                      </a:extLst>
                    </a:gridCol>
                    <a:gridCol w="785103">
                      <a:extLst>
                        <a:ext uri="{9D8B030D-6E8A-4147-A177-3AD203B41FA5}">
                          <a16:colId xmlns:a16="http://schemas.microsoft.com/office/drawing/2014/main" val="836618976"/>
                        </a:ext>
                      </a:extLst>
                    </a:gridCol>
                  </a:tblGrid>
                  <a:tr h="628847">
                    <a:tc>
                      <a:txBody>
                        <a:bodyPr/>
                        <a:lstStyle/>
                        <a:p>
                          <a:pPr algn="l"/>
                          <a:r>
                            <a:rPr sz="1600" b="1" dirty="0" err="1">
                              <a:solidFill>
                                <a:srgbClr val="182D45"/>
                              </a:solidFill>
                              <a:latin typeface="DejaVu Sans"/>
                              <a:ea typeface="DejaVu Sans"/>
                              <a:cs typeface="DejaVu Sans"/>
                            </a:rPr>
                            <a:t>Obs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tc>
                      <a:txBody>
                        <a:bodyPr/>
                        <a:lstStyle/>
                        <a:p>
                          <a:endParaRPr lang="it-IT"/>
                        </a:p>
                      </a:txBody>
                      <a:tcPr anchor="ctr">
                        <a:blipFill>
                          <a:blip r:embed="rId8"/>
                          <a:stretch>
                            <a:fillRect l="-658915" t="-971" r="-2326" b="-253398"/>
                          </a:stretch>
                        </a:blipFill>
                      </a:tcPr>
                    </a:tc>
                    <a:extLst>
                      <a:ext uri="{0D108BD9-81ED-4DB2-BD59-A6C34878D82A}">
                        <a16:rowId xmlns:a16="http://schemas.microsoft.com/office/drawing/2014/main" val="986434405"/>
                      </a:ext>
                    </a:extLst>
                  </a:tr>
                  <a:tr h="399715">
                    <a:tc>
                      <a:txBody>
                        <a:bodyPr/>
                        <a:lstStyle/>
                        <a:p>
                          <a:pPr algn="l"/>
                          <a:r>
                            <a:rPr sz="1600" b="0">
                              <a:solidFill>
                                <a:srgbClr val="182D45"/>
                              </a:solidFill>
                              <a:latin typeface="DejaVu Sans"/>
                              <a:ea typeface="DejaVu Sans"/>
                              <a:cs typeface="DejaVu Sans"/>
                            </a:rPr>
                            <a:t>Input</a:t>
                          </a:r>
                        </a:p>
                      </a:txBody>
                      <a:tcPr anchor="ctr">
                        <a:solidFill>
                          <a:srgbClr val="FFFFFF"/>
                        </a:solidFill>
                      </a:tcPr>
                    </a:tc>
                    <a:tc>
                      <a:txBody>
                        <a:bodyPr/>
                        <a:lstStyle/>
                        <a:p>
                          <a:pPr algn="ctr"/>
                          <a:r>
                            <a:rPr sz="1600" b="0">
                              <a:solidFill>
                                <a:srgbClr val="182D45"/>
                              </a:solidFill>
                              <a:latin typeface="DejaVu Sans"/>
                              <a:ea typeface="DejaVu Sans"/>
                              <a:cs typeface="DejaVu Sans"/>
                            </a:rPr>
                            <a:t>−2</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endParaRPr sz="1600" dirty="0"/>
                        </a:p>
                      </a:txBody>
                      <a:tcPr anchor="ctr">
                        <a:solidFill>
                          <a:srgbClr val="FFFFFF"/>
                        </a:solidFill>
                      </a:tcPr>
                    </a:tc>
                    <a:extLst>
                      <a:ext uri="{0D108BD9-81ED-4DB2-BD59-A6C34878D82A}">
                        <a16:rowId xmlns:a16="http://schemas.microsoft.com/office/drawing/2014/main" val="1420119408"/>
                      </a:ext>
                    </a:extLst>
                  </a:tr>
                  <a:tr h="506099">
                    <a:tc>
                      <a:txBody>
                        <a:bodyPr/>
                        <a:lstStyle/>
                        <a:p>
                          <a:pPr algn="l"/>
                          <a:r>
                            <a:rPr sz="1600" b="0" dirty="0">
                              <a:solidFill>
                                <a:srgbClr val="182D45"/>
                              </a:solidFill>
                              <a:latin typeface="DejaVu Sans"/>
                              <a:ea typeface="DejaVu Sans"/>
                              <a:cs typeface="DejaVu Sans"/>
                            </a:rPr>
                            <a:t>Target</a:t>
                          </a:r>
                        </a:p>
                      </a:txBody>
                      <a:tcPr anchor="ctr">
                        <a:solidFill>
                          <a:srgbClr val="FFFFFF"/>
                        </a:solidFill>
                      </a:tcPr>
                    </a:tc>
                    <a:tc>
                      <a:txBody>
                        <a:bodyPr/>
                        <a:lstStyle/>
                        <a:p>
                          <a:pPr algn="ctr"/>
                          <a:r>
                            <a:rPr sz="1600" b="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2.5</a:t>
                          </a:r>
                        </a:p>
                      </a:txBody>
                      <a:tcPr anchor="ctr">
                        <a:solidFill>
                          <a:srgbClr val="FFFFFF"/>
                        </a:solidFill>
                      </a:tcPr>
                    </a:tc>
                    <a:tc>
                      <a:txBody>
                        <a:bodyPr/>
                        <a:lstStyle/>
                        <a:p>
                          <a:pPr algn="ctr"/>
                          <a:r>
                            <a:rPr sz="1600" b="0">
                              <a:solidFill>
                                <a:srgbClr val="182D45"/>
                              </a:solidFill>
                              <a:latin typeface="DejaVu Sans"/>
                              <a:ea typeface="DejaVu Sans"/>
                              <a:cs typeface="DejaVu Sans"/>
                            </a:rPr>
                            <a:t>7.5</a:t>
                          </a:r>
                        </a:p>
                      </a:txBody>
                      <a:tcPr anchor="ctr">
                        <a:solidFill>
                          <a:srgbClr val="FFFFFF"/>
                        </a:solidFill>
                      </a:tcPr>
                    </a:tc>
                    <a:tc>
                      <a:txBody>
                        <a:bodyPr/>
                        <a:lstStyle/>
                        <a:p>
                          <a:endParaRPr sz="1600"/>
                        </a:p>
                      </a:txBody>
                      <a:tcPr anchor="ctr">
                        <a:solidFill>
                          <a:srgbClr val="FFFFFF"/>
                        </a:solidFill>
                      </a:tcPr>
                    </a:tc>
                    <a:extLst>
                      <a:ext uri="{0D108BD9-81ED-4DB2-BD59-A6C34878D82A}">
                        <a16:rowId xmlns:a16="http://schemas.microsoft.com/office/drawing/2014/main" val="1134578397"/>
                      </a:ext>
                    </a:extLst>
                  </a:tr>
                  <a:tr h="628847">
                    <a:tc>
                      <a:txBody>
                        <a:bodyPr/>
                        <a:lstStyle/>
                        <a:p>
                          <a:pPr algn="l"/>
                          <a:r>
                            <a:rPr sz="1600" b="0" dirty="0">
                              <a:solidFill>
                                <a:srgbClr val="182D45"/>
                              </a:solidFill>
                              <a:latin typeface="DejaVu Sans"/>
                              <a:ea typeface="DejaVu Sans"/>
                              <a:cs typeface="DejaVu Sans"/>
                            </a:rPr>
                            <a:t>Squared</a:t>
                          </a:r>
                        </a:p>
                        <a:p>
                          <a:pPr algn="l"/>
                          <a:r>
                            <a:rPr sz="1600" b="0" dirty="0">
                              <a:solidFill>
                                <a:srgbClr val="182D45"/>
                              </a:solidFill>
                              <a:latin typeface="DejaVu Sans"/>
                              <a:ea typeface="DejaVu Sans"/>
                              <a:cs typeface="DejaVu Sans"/>
                            </a:rPr>
                            <a:t>residual</a:t>
                          </a: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0.25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1</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2.25</a:t>
                          </a:r>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lang="it-IT" sz="1600" b="0" dirty="0">
                              <a:solidFill>
                                <a:srgbClr val="182D45"/>
                              </a:solidFill>
                              <a:latin typeface="DejaVu Sans"/>
                              <a:ea typeface="DejaVu Sans"/>
                              <a:cs typeface="DejaVu Sans"/>
                            </a:rPr>
                            <a:t>6</a:t>
                          </a:r>
                        </a:p>
                      </a:txBody>
                      <a:tcPr anchor="ctr">
                        <a:solidFill>
                          <a:srgbClr val="FFFFFF"/>
                        </a:solidFill>
                      </a:tcPr>
                    </a:tc>
                    <a:extLst>
                      <a:ext uri="{0D108BD9-81ED-4DB2-BD59-A6C34878D82A}">
                        <a16:rowId xmlns:a16="http://schemas.microsoft.com/office/drawing/2014/main" val="1090811800"/>
                      </a:ext>
                    </a:extLst>
                  </a:tr>
                </a:tbl>
              </a:graphicData>
            </a:graphic>
          </p:graphicFrame>
        </mc:Fallback>
      </mc:AlternateContent>
      <mc:AlternateContent xmlns:mc="http://schemas.openxmlformats.org/markup-compatibility/2006" xmlns:a14="http://schemas.microsoft.com/office/drawing/2010/main">
        <mc:Choice Requires="a14">
          <p:sp>
            <p:nvSpPr>
              <p:cNvPr id="12" name="Fitted affine predictor">
                <a:extLst>
                  <a:ext uri="{FF2B5EF4-FFF2-40B4-BE49-F238E27FC236}">
                    <a16:creationId xmlns:a16="http://schemas.microsoft.com/office/drawing/2014/main" id="{395341F9-E179-480F-ACB3-419622DC9884}"/>
                  </a:ext>
                </a:extLst>
              </p:cNvPr>
              <p:cNvSpPr txBox="1">
                <a:spLocks noGrp="1"/>
              </p:cNvSpPr>
              <p:nvPr/>
            </p:nvSpPr>
            <p:spPr>
              <a:xfrm>
                <a:off x="247650" y="4381500"/>
                <a:ext cx="5524500" cy="857250"/>
              </a:xfrm>
              <a:prstGeom prst="rect">
                <a:avLst/>
              </a:prstGeom>
              <a:noFill/>
              <a:ln w="0">
                <a:noFill/>
              </a:ln>
            </p:spPr>
            <p:txBody>
              <a:bodyPr vertOverflow="overflow" wrap="none" lIns="0" tIns="0" rIns="0" bIns="0" anchor="ctr">
                <a:noAutofit/>
              </a:bodyPr>
              <a:lstStyle/>
              <a:p>
                <a:pPr algn="ctr">
                  <a:defRPr lang="en-GB" sz="2250" b="0" i="0" dirty="0">
                    <a:solidFill>
                      <a:srgbClr val="00858A"/>
                    </a:solidFill>
                    <a:latin typeface="DejaVu Sans"/>
                    <a:ea typeface="DejaVu Sans"/>
                    <a:cs typeface="DejaVu Sans"/>
                  </a:defRPr>
                </a:pPr>
                <a14:m>
                  <m:oMathPara xmlns:m="http://schemas.openxmlformats.org/officeDocument/2006/math">
                    <m:oMath>
                      <m:sSup>
                        <m:sSupPr>
                          <m:ctrlPr>
                            <a:rPr lang="en-GB" sz="2250" dirty="0">
                              <a:solidFill>
                                <a:srgbClr val="00858A"/>
                              </a:solidFill>
                              <a:latin typeface="Cambria Math"/>
                              <a:ea typeface="Cambria Math"/>
                              <a:cs typeface="Cambria Math"/>
                            </a:rPr>
                          </m:ctrlPr>
                        </m:sSupPr>
                        <m:e>
                          <m:r>
                            <a:rPr lang="en-GB" sz="2250" dirty="0">
                              <a:solidFill>
                                <a:srgbClr val="00858A"/>
                              </a:solidFill>
                              <a:latin typeface="Cambria Math"/>
                              <a:ea typeface="Cambria Math"/>
                              <a:cs typeface="Cambria Math"/>
                            </a:rPr>
                            <m:t>𝛉</m:t>
                          </m:r>
                        </m:e>
                        <m:sup>
                          <m:r>
                            <a:rPr lang="it-IT" sz="2250" i="1" dirty="0">
                              <a:solidFill>
                                <a:srgbClr val="00858A"/>
                              </a:solidFill>
                              <a:latin typeface="Cambria Math" panose="02040503050406030204" pitchFamily="18" charset="0"/>
                              <a:ea typeface="Cambria Math"/>
                              <a:cs typeface="Cambria Math"/>
                            </a:rPr>
                            <m:t>⋆</m:t>
                          </m:r>
                        </m:sup>
                      </m:sSup>
                      <m:r>
                        <a:rPr lang="it-IT" sz="2250" b="0" i="1" dirty="0" smtClean="0">
                          <a:solidFill>
                            <a:srgbClr val="00858A"/>
                          </a:solidFill>
                          <a:latin typeface="Cambria Math" panose="02040503050406030204" pitchFamily="18" charset="0"/>
                          <a:ea typeface="Cambria Math"/>
                          <a:cs typeface="Cambria Math"/>
                        </a:rPr>
                        <m:t>=</m:t>
                      </m:r>
                      <m:d>
                        <m:dPr>
                          <m:ctrlPr>
                            <a:rPr lang="it-IT" sz="2250" i="1" dirty="0">
                              <a:solidFill>
                                <a:srgbClr val="00858A"/>
                              </a:solidFill>
                              <a:latin typeface="Cambria Math" panose="02040503050406030204" pitchFamily="18" charset="0"/>
                              <a:ea typeface="Cambria Math"/>
                            </a:rPr>
                          </m:ctrlPr>
                        </m:dPr>
                        <m:e>
                          <m:f>
                            <m:fPr>
                              <m:type m:val="noBar"/>
                              <m:ctrlPr>
                                <a:rPr lang="it-IT" sz="2250" i="1" dirty="0">
                                  <a:solidFill>
                                    <a:srgbClr val="00858A"/>
                                  </a:solidFill>
                                  <a:latin typeface="Cambria Math" panose="02040503050406030204" pitchFamily="18" charset="0"/>
                                  <a:ea typeface="Cambria Math"/>
                                </a:rPr>
                              </m:ctrlPr>
                            </m:fPr>
                            <m:num>
                              <m:sSup>
                                <m:sSupPr>
                                  <m:ctrlPr>
                                    <a:rPr lang="it-IT" sz="2250" i="1" dirty="0">
                                      <a:solidFill>
                                        <a:srgbClr val="00858A"/>
                                      </a:solidFill>
                                      <a:latin typeface="Cambria Math" panose="02040503050406030204" pitchFamily="18" charset="0"/>
                                      <a:ea typeface="Cambria Math"/>
                                    </a:rPr>
                                  </m:ctrlPr>
                                </m:sSupPr>
                                <m:e>
                                  <m:r>
                                    <a:rPr lang="it-IT" sz="2250" i="1" dirty="0">
                                      <a:solidFill>
                                        <a:srgbClr val="00858A"/>
                                      </a:solidFill>
                                      <a:latin typeface="Cambria Math" panose="02040503050406030204" pitchFamily="18" charset="0"/>
                                      <a:ea typeface="Cambria Math"/>
                                    </a:rPr>
                                    <m:t>𝑏</m:t>
                                  </m:r>
                                </m:e>
                                <m:sup>
                                  <m:r>
                                    <a:rPr lang="it-IT" sz="2250" i="1" dirty="0">
                                      <a:solidFill>
                                        <a:srgbClr val="00858A"/>
                                      </a:solidFill>
                                      <a:latin typeface="Cambria Math" panose="02040503050406030204" pitchFamily="18" charset="0"/>
                                      <a:ea typeface="Cambria Math"/>
                                    </a:rPr>
                                    <m:t>⋆</m:t>
                                  </m:r>
                                </m:sup>
                              </m:sSup>
                            </m:num>
                            <m:den>
                              <m:sSup>
                                <m:sSupPr>
                                  <m:ctrlPr>
                                    <a:rPr lang="it-IT" sz="2250" i="1" dirty="0">
                                      <a:solidFill>
                                        <a:srgbClr val="00858A"/>
                                      </a:solidFill>
                                      <a:latin typeface="Cambria Math" panose="02040503050406030204" pitchFamily="18" charset="0"/>
                                      <a:ea typeface="Cambria Math"/>
                                    </a:rPr>
                                  </m:ctrlPr>
                                </m:sSupPr>
                                <m:e>
                                  <m:r>
                                    <a:rPr lang="it-IT" sz="2250" i="1" dirty="0">
                                      <a:solidFill>
                                        <a:srgbClr val="00858A"/>
                                      </a:solidFill>
                                      <a:latin typeface="Cambria Math" panose="02040503050406030204" pitchFamily="18" charset="0"/>
                                      <a:ea typeface="Cambria Math"/>
                                    </a:rPr>
                                    <m:t>𝑎</m:t>
                                  </m:r>
                                </m:e>
                                <m:sup>
                                  <m:r>
                                    <a:rPr lang="it-IT" sz="2250" i="1" dirty="0">
                                      <a:solidFill>
                                        <a:srgbClr val="00858A"/>
                                      </a:solidFill>
                                      <a:latin typeface="Cambria Math" panose="02040503050406030204" pitchFamily="18" charset="0"/>
                                      <a:ea typeface="Cambria Math"/>
                                    </a:rPr>
                                    <m:t>⋆</m:t>
                                  </m:r>
                                </m:sup>
                              </m:sSup>
                            </m:den>
                          </m:f>
                        </m:e>
                      </m:d>
                      <m:r>
                        <a:rPr lang="it-IT" sz="2250" b="0" i="1" dirty="0" smtClean="0">
                          <a:solidFill>
                            <a:srgbClr val="00858A"/>
                          </a:solidFill>
                          <a:latin typeface="Cambria Math" panose="02040503050406030204" pitchFamily="18" charset="0"/>
                          <a:ea typeface="Cambria Math"/>
                        </a:rPr>
                        <m:t>, </m:t>
                      </m:r>
                      <m:r>
                        <a:rPr lang="it-IT" sz="2250" b="0" i="1" dirty="0" smtClean="0">
                          <a:solidFill>
                            <a:srgbClr val="00858A"/>
                          </a:solidFill>
                          <a:latin typeface="Cambria Math" panose="02040503050406030204" pitchFamily="18" charset="0"/>
                          <a:ea typeface="Cambria Math"/>
                          <a:cs typeface="Cambria Math"/>
                        </a:rPr>
                        <m:t>  </m:t>
                      </m:r>
                      <m:sSub>
                        <m:sSubPr>
                          <m:ctrlPr>
                            <a:rPr lang="en-GB" sz="2250" b="0" dirty="0">
                              <a:solidFill>
                                <a:srgbClr val="00858A"/>
                              </a:solidFill>
                              <a:latin typeface="Cambria Math"/>
                              <a:ea typeface="Cambria Math"/>
                              <a:cs typeface="Cambria Math"/>
                            </a:rPr>
                          </m:ctrlPr>
                        </m:sSubPr>
                        <m:e>
                          <m:r>
                            <a:rPr lang="en-GB" sz="2250" b="0" dirty="0">
                              <a:solidFill>
                                <a:srgbClr val="00858A"/>
                              </a:solidFill>
                              <a:latin typeface="Cambria Math"/>
                              <a:ea typeface="Cambria Math"/>
                              <a:cs typeface="Cambria Math"/>
                            </a:rPr>
                            <m:t>𝑓</m:t>
                          </m:r>
                        </m:e>
                        <m:sub>
                          <m:sSup>
                            <m:sSupPr>
                              <m:ctrlPr>
                                <a:rPr lang="en-GB" sz="2250" b="0" dirty="0">
                                  <a:solidFill>
                                    <a:srgbClr val="00858A"/>
                                  </a:solidFill>
                                  <a:latin typeface="Cambria Math"/>
                                  <a:ea typeface="Cambria Math"/>
                                  <a:cs typeface="Cambria Math"/>
                                </a:rPr>
                              </m:ctrlPr>
                            </m:sSupPr>
                            <m:e>
                              <m:r>
                                <a:rPr lang="en-GB" sz="2250" b="0" dirty="0">
                                  <a:solidFill>
                                    <a:srgbClr val="00858A"/>
                                  </a:solidFill>
                                  <a:latin typeface="Cambria Math"/>
                                  <a:ea typeface="Cambria Math"/>
                                  <a:cs typeface="Cambria Math"/>
                                </a:rPr>
                                <m:t>𝛉</m:t>
                              </m:r>
                            </m:e>
                            <m:sup>
                              <m:r>
                                <a:rPr lang="it-IT" sz="2250" b="0" i="1" dirty="0" smtClean="0">
                                  <a:solidFill>
                                    <a:srgbClr val="00858A"/>
                                  </a:solidFill>
                                  <a:latin typeface="Cambria Math" panose="02040503050406030204" pitchFamily="18" charset="0"/>
                                  <a:ea typeface="Cambria Math"/>
                                  <a:cs typeface="Cambria Math"/>
                                </a:rPr>
                                <m:t>⋆</m:t>
                              </m:r>
                            </m:sup>
                          </m:sSup>
                        </m:sub>
                      </m:sSub>
                      <m:d>
                        <m:dPr>
                          <m:ctrlPr>
                            <a:rPr lang="en-GB" sz="2250" b="0" dirty="0">
                              <a:solidFill>
                                <a:srgbClr val="00858A"/>
                              </a:solidFill>
                              <a:latin typeface="Cambria Math"/>
                              <a:ea typeface="Cambria Math"/>
                              <a:cs typeface="Cambria Math"/>
                            </a:rPr>
                          </m:ctrlPr>
                        </m:dPr>
                        <m:e>
                          <m:r>
                            <a:rPr lang="en-GB" sz="2250" b="0" dirty="0">
                              <a:solidFill>
                                <a:srgbClr val="00858A"/>
                              </a:solidFill>
                              <a:latin typeface="Cambria Math"/>
                              <a:ea typeface="Cambria Math"/>
                              <a:cs typeface="Cambria Math"/>
                            </a:rPr>
                            <m:t>𝑥</m:t>
                          </m:r>
                        </m:e>
                      </m:d>
                      <m:r>
                        <a:rPr lang="en-GB" sz="2250" b="0" dirty="0">
                          <a:solidFill>
                            <a:srgbClr val="00858A"/>
                          </a:solidFill>
                          <a:latin typeface="Cambria Math"/>
                          <a:ea typeface="Cambria Math"/>
                          <a:cs typeface="Cambria Math"/>
                        </a:rPr>
                        <m:t>=2+2</m:t>
                      </m:r>
                      <m:r>
                        <a:rPr lang="en-GB" sz="2250" b="0" dirty="0">
                          <a:solidFill>
                            <a:srgbClr val="00858A"/>
                          </a:solidFill>
                          <a:latin typeface="Cambria Math"/>
                          <a:ea typeface="Cambria Math"/>
                          <a:cs typeface="Cambria Math"/>
                        </a:rPr>
                        <m:t>𝑥</m:t>
                      </m:r>
                    </m:oMath>
                  </m:oMathPara>
                </a14:m>
                <a:endParaRPr lang="en-GB" sz="2250" b="0" i="0" dirty="0">
                  <a:solidFill>
                    <a:srgbClr val="00858A"/>
                  </a:solidFill>
                  <a:latin typeface="DejaVu Sans"/>
                  <a:ea typeface="DejaVu Sans"/>
                  <a:cs typeface="DejaVu Sans"/>
                </a:endParaRPr>
              </a:p>
            </p:txBody>
          </p:sp>
        </mc:Choice>
        <mc:Fallback xmlns="">
          <p:sp>
            <p:nvSpPr>
              <p:cNvPr id="12" name="Fitted affine predictor">
                <a:extLst>
                  <a:ext uri="{FF2B5EF4-FFF2-40B4-BE49-F238E27FC236}">
                    <a16:creationId xmlns:a16="http://schemas.microsoft.com/office/drawing/2014/main" id="{395341F9-E179-480F-ACB3-419622DC9884}"/>
                  </a:ext>
                </a:extLst>
              </p:cNvPr>
              <p:cNvSpPr txBox="1">
                <a:spLocks noGrp="1" noRot="1" noChangeAspect="1" noMove="1" noResize="1" noEditPoints="1" noAdjustHandles="1" noChangeArrowheads="1" noChangeShapeType="1" noTextEdit="1"/>
              </p:cNvSpPr>
              <p:nvPr/>
            </p:nvSpPr>
            <p:spPr>
              <a:xfrm>
                <a:off x="247650" y="4381500"/>
                <a:ext cx="5524500" cy="85725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4208556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7738134-EA8F-4942-824B-65ADB168DAF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5BA12558-DCC2-4D1A-A873-8572ADD802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31</a:t>
            </a:r>
          </a:p>
        </p:txBody>
      </p:sp>
      <p:sp>
        <p:nvSpPr>
          <p:cNvPr id="3" name="txt_1">
            <a:extLst>
              <a:ext uri="{FF2B5EF4-FFF2-40B4-BE49-F238E27FC236}">
                <a16:creationId xmlns:a16="http://schemas.microsoft.com/office/drawing/2014/main" id="{494C1B7A-F581-4870-A51C-271246B6CD15}"/>
              </a:ext>
            </a:extLst>
          </p:cNvPr>
          <p:cNvSpPr>
            <a:spLocks noGrp="1"/>
          </p:cNvSpPr>
          <p:nvPr/>
        </p:nvSpPr>
        <p:spPr>
          <a:xfrm>
            <a:off x="914400" y="185737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Regression and loss functions</a:t>
            </a:r>
          </a:p>
        </p:txBody>
      </p:sp>
      <p:sp>
        <p:nvSpPr>
          <p:cNvPr id="4" name="txt_2">
            <a:extLst>
              <a:ext uri="{FF2B5EF4-FFF2-40B4-BE49-F238E27FC236}">
                <a16:creationId xmlns:a16="http://schemas.microsoft.com/office/drawing/2014/main" id="{28F79AE3-CAAA-4A3D-9744-1109131EEB70}"/>
              </a:ext>
            </a:extLst>
          </p:cNvPr>
          <p:cNvSpPr>
            <a:spLocks noGrp="1"/>
          </p:cNvSpPr>
          <p:nvPr/>
        </p:nvSpPr>
        <p:spPr>
          <a:xfrm>
            <a:off x="914400" y="281940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Least-squares fitting</a:t>
            </a:r>
          </a:p>
        </p:txBody>
      </p:sp>
      <p:sp>
        <p:nvSpPr>
          <p:cNvPr id="5" name="txt_3">
            <a:extLst>
              <a:ext uri="{FF2B5EF4-FFF2-40B4-BE49-F238E27FC236}">
                <a16:creationId xmlns:a16="http://schemas.microsoft.com/office/drawing/2014/main" id="{E73878E2-8DCB-40D7-A13E-4BE57348852D}"/>
              </a:ext>
            </a:extLst>
          </p:cNvPr>
          <p:cNvSpPr>
            <a:spLocks noGrp="1"/>
          </p:cNvSpPr>
          <p:nvPr/>
        </p:nvSpPr>
        <p:spPr>
          <a:xfrm>
            <a:off x="914400" y="3781425"/>
            <a:ext cx="10287000" cy="571500"/>
          </a:xfrm>
          <a:prstGeom prst="rect">
            <a:avLst/>
          </a:prstGeom>
          <a:noFill/>
          <a:ln w="0">
            <a:noFill/>
          </a:ln>
        </p:spPr>
        <p:txBody>
          <a:bodyPr wrap="square" lIns="0" tIns="0" rIns="0" bIns="0" anchor="ctr">
            <a:noAutofit/>
          </a:bodyPr>
          <a:lstStyle/>
          <a:p>
            <a:pPr marL="0" marR="0" indent="0" algn="l">
              <a:defRPr lang="en-GB" sz="2700" b="1" i="0" dirty="0">
                <a:solidFill>
                  <a:srgbClr val="00858A"/>
                </a:solidFill>
                <a:latin typeface="DejaVu Sans"/>
                <a:ea typeface="DejaVu Sans"/>
                <a:cs typeface="DejaVu Sans"/>
              </a:defRPr>
            </a:pPr>
            <a:r>
              <a:rPr lang="en-GB" sz="2700" b="1" i="0" dirty="0">
                <a:solidFill>
                  <a:srgbClr val="00858A"/>
                </a:solidFill>
                <a:latin typeface="DejaVu Sans"/>
                <a:ea typeface="DejaVu Sans"/>
                <a:cs typeface="DejaVu Sans"/>
              </a:rPr>
              <a:t>Gradient descent</a:t>
            </a:r>
          </a:p>
        </p:txBody>
      </p:sp>
      <p:sp>
        <p:nvSpPr>
          <p:cNvPr id="7" name="agenda_extensions">
            <a:extLst>
              <a:ext uri="{FF2B5EF4-FFF2-40B4-BE49-F238E27FC236}">
                <a16:creationId xmlns:a16="http://schemas.microsoft.com/office/drawing/2014/main" id="{BD7B84F5-886E-4B17-8499-857420F5323E}"/>
              </a:ext>
            </a:extLst>
          </p:cNvPr>
          <p:cNvSpPr>
            <a:spLocks noGrp="1"/>
          </p:cNvSpPr>
          <p:nvPr/>
        </p:nvSpPr>
        <p:spPr>
          <a:xfrm>
            <a:off x="914400" y="474345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Extensions</a:t>
            </a:r>
          </a:p>
        </p:txBody>
      </p:sp>
    </p:spTree>
    <p:extLst>
      <p:ext uri="{BB962C8B-B14F-4D97-AF65-F5344CB8AC3E}">
        <p14:creationId xmlns:p14="http://schemas.microsoft.com/office/powerpoint/2010/main" val="4007237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83AA1C2-C893-495C-94BB-93BA488AAAF7}"/>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An iterative approach</a:t>
            </a:r>
          </a:p>
        </p:txBody>
      </p:sp>
      <p:sp>
        <p:nvSpPr>
          <p:cNvPr id="2" name="page_number">
            <a:extLst>
              <a:ext uri="{FF2B5EF4-FFF2-40B4-BE49-F238E27FC236}">
                <a16:creationId xmlns:a16="http://schemas.microsoft.com/office/drawing/2014/main" id="{40C1B1B8-7E33-4519-A931-3FD5140F54B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32</a:t>
            </a:r>
          </a:p>
        </p:txBody>
      </p:sp>
      <p:sp>
        <p:nvSpPr>
          <p:cNvPr id="3" name="content_41_3">
            <a:extLst>
              <a:ext uri="{FF2B5EF4-FFF2-40B4-BE49-F238E27FC236}">
                <a16:creationId xmlns:a16="http://schemas.microsoft.com/office/drawing/2014/main" id="{9D41CFAF-57A1-401B-952C-5CCF518757AC}"/>
              </a:ext>
            </a:extLst>
          </p:cNvPr>
          <p:cNvSpPr>
            <a:spLocks noGrp="1"/>
          </p:cNvSpPr>
          <p:nvPr/>
        </p:nvSpPr>
        <p:spPr>
          <a:xfrm>
            <a:off x="609600" y="1304925"/>
            <a:ext cx="10953750" cy="428625"/>
          </a:xfrm>
          <a:prstGeom prst="rect">
            <a:avLst/>
          </a:prstGeom>
          <a:noFill/>
          <a:ln w="0">
            <a:noFill/>
          </a:ln>
        </p:spPr>
        <p:txBody>
          <a:bodyPr vertOverflow="overflow" wrap="square" lIns="0" tIns="0" rIns="0" bIns="0" anchor="ctr">
            <a:noAutofit/>
          </a:bodyPr>
          <a:lstStyle/>
          <a:p>
            <a:pPr algn="ctr"/>
            <a:r>
              <a:rPr lang="en-GB" sz="2100" b="0" i="0" dirty="0">
                <a:solidFill>
                  <a:srgbClr val="182D45"/>
                </a:solidFill>
                <a:latin typeface="DejaVu Sans"/>
                <a:ea typeface="DejaVu Sans"/>
                <a:cs typeface="DejaVu Sans"/>
              </a:rPr>
              <a:t>For the affine model, we can calculate the best slope and intercept explicitly.</a:t>
            </a:r>
          </a:p>
        </p:txBody>
      </p:sp>
      <p:sp>
        <p:nvSpPr>
          <p:cNvPr id="4" name="content_41_4">
            <a:extLst>
              <a:ext uri="{FF2B5EF4-FFF2-40B4-BE49-F238E27FC236}">
                <a16:creationId xmlns:a16="http://schemas.microsoft.com/office/drawing/2014/main" id="{B75F472D-0D64-49D1-A21B-BF60FAFDFCD7}"/>
              </a:ext>
            </a:extLst>
          </p:cNvPr>
          <p:cNvSpPr>
            <a:spLocks noGrp="1"/>
          </p:cNvSpPr>
          <p:nvPr/>
        </p:nvSpPr>
        <p:spPr>
          <a:xfrm>
            <a:off x="619125" y="3028950"/>
            <a:ext cx="10953750" cy="514350"/>
          </a:xfrm>
          <a:prstGeom prst="rect">
            <a:avLst/>
          </a:prstGeom>
          <a:noFill/>
          <a:ln w="0">
            <a:noFill/>
          </a:ln>
        </p:spPr>
        <p:txBody>
          <a:bodyPr wrap="square" lIns="0" tIns="0" rIns="0" bIns="0" anchor="ctr">
            <a:noAutofit/>
          </a:bodyPr>
          <a:lstStyle/>
          <a:p>
            <a:pPr marL="0" marR="0" indent="0" algn="ctr">
              <a:defRPr lang="en-GB" sz="2550" b="0" i="0" dirty="0">
                <a:solidFill>
                  <a:srgbClr val="00858A"/>
                </a:solidFill>
                <a:latin typeface="DejaVu Sans"/>
                <a:ea typeface="DejaVu Sans"/>
                <a:cs typeface="DejaVu Sans"/>
              </a:defRPr>
            </a:pPr>
            <a:r>
              <a:rPr lang="en-GB" sz="2100" b="0" i="0" dirty="0">
                <a:solidFill>
                  <a:srgbClr val="00858A"/>
                </a:solidFill>
                <a:latin typeface="DejaVu Sans"/>
                <a:ea typeface="DejaVu Sans"/>
                <a:cs typeface="DejaVu Sans"/>
              </a:rPr>
              <a:t>Can we also approach the minimum by improving an initial guess, step by step?</a:t>
            </a:r>
          </a:p>
        </p:txBody>
      </p:sp>
      <mc:AlternateContent xmlns:mc="http://schemas.openxmlformats.org/markup-compatibility/2006" xmlns:a14="http://schemas.microsoft.com/office/drawing/2010/main">
        <mc:Choice Requires="a14">
          <p:sp>
            <p:nvSpPr>
              <p:cNvPr id="5" name="content_41_5">
                <a:extLst>
                  <a:ext uri="{FF2B5EF4-FFF2-40B4-BE49-F238E27FC236}">
                    <a16:creationId xmlns:a16="http://schemas.microsoft.com/office/drawing/2014/main" id="{3F18F91D-8C7E-4743-B09F-055D925A62B3}"/>
                  </a:ext>
                </a:extLst>
              </p:cNvPr>
              <p:cNvSpPr txBox="1">
                <a:spLocks noGrp="1"/>
              </p:cNvSpPr>
              <p:nvPr/>
            </p:nvSpPr>
            <p:spPr>
              <a:xfrm>
                <a:off x="619125" y="3762375"/>
                <a:ext cx="10953750" cy="952500"/>
              </a:xfrm>
              <a:prstGeom prst="rect">
                <a:avLst/>
              </a:prstGeom>
              <a:noFill/>
              <a:ln w="0">
                <a:noFill/>
              </a:ln>
            </p:spPr>
            <p:txBody>
              <a:bodyPr vertOverflow="overflow" wrap="none" lIns="0" tIns="0" rIns="0" bIns="0" anchor="ctr">
                <a:noAutofit/>
              </a:bodyPr>
              <a:lstStyle/>
              <a:p>
                <a:pPr algn="ctr">
                  <a:defRPr lang="en-GB" sz="2800" b="0" i="0" dirty="0">
                    <a:solidFill>
                      <a:srgbClr val="326CB2"/>
                    </a:solidFill>
                    <a:latin typeface="DejaVu Sans"/>
                    <a:ea typeface="DejaVu Sans"/>
                    <a:cs typeface="DejaVu Sans"/>
                  </a:defRPr>
                </a:pPr>
                <a14:m>
                  <m:oMathPara xmlns:m="http://schemas.openxmlformats.org/officeDocument/2006/math">
                    <m:oMathParaPr>
                      <m:jc m:val="center"/>
                    </m:oMathParaPr>
                    <m:oMath>
                      <m:sSup>
                        <m:sSupPr>
                          <m:ctrlPr>
                            <a:rPr lang="it-IT" sz="2800" b="1" i="0" dirty="0" smtClean="0">
                              <a:solidFill>
                                <a:srgbClr val="326CB2"/>
                              </a:solidFill>
                              <a:latin typeface="Cambria Math" panose="02040503050406030204" pitchFamily="18" charset="0"/>
                              <a:ea typeface="Cambria Math"/>
                              <a:cs typeface="Cambria Math"/>
                            </a:rPr>
                          </m:ctrlPr>
                        </m:sSupPr>
                        <m:e>
                          <m:r>
                            <a:rPr lang="it-IT" sz="2800" b="1" i="0" dirty="0" smtClean="0">
                              <a:solidFill>
                                <a:srgbClr val="326CB2"/>
                              </a:solidFill>
                              <a:latin typeface="Cambria Math" panose="02040503050406030204" pitchFamily="18" charset="0"/>
                              <a:ea typeface="Cambria Math"/>
                              <a:cs typeface="Cambria Math"/>
                            </a:rPr>
                            <m:t>𝛉</m:t>
                          </m:r>
                        </m:e>
                        <m:sup>
                          <m:d>
                            <m:dPr>
                              <m:ctrlPr>
                                <a:rPr lang="it-IT" sz="2800" b="1" i="1" dirty="0" smtClean="0">
                                  <a:solidFill>
                                    <a:srgbClr val="326CB2"/>
                                  </a:solidFill>
                                  <a:latin typeface="Cambria Math" panose="02040503050406030204" pitchFamily="18" charset="0"/>
                                  <a:ea typeface="Cambria Math"/>
                                </a:rPr>
                              </m:ctrlPr>
                            </m:dPr>
                            <m:e>
                              <m:r>
                                <a:rPr lang="it-IT" sz="2800" b="1" i="1" dirty="0" smtClean="0">
                                  <a:solidFill>
                                    <a:srgbClr val="326CB2"/>
                                  </a:solidFill>
                                  <a:latin typeface="Cambria Math" panose="02040503050406030204" pitchFamily="18" charset="0"/>
                                  <a:ea typeface="Cambria Math"/>
                                </a:rPr>
                                <m:t>𝟎</m:t>
                              </m:r>
                            </m:e>
                          </m:d>
                        </m:sup>
                      </m:sSup>
                      <m:r>
                        <a:rPr lang="it-IT" sz="2800" b="1" i="1" dirty="0" smtClean="0">
                          <a:solidFill>
                            <a:srgbClr val="326CB2"/>
                          </a:solidFill>
                          <a:latin typeface="Cambria Math" panose="02040503050406030204" pitchFamily="18" charset="0"/>
                          <a:ea typeface="Cambria Math"/>
                          <a:cs typeface="Cambria Math"/>
                        </a:rPr>
                        <m:t>=</m:t>
                      </m:r>
                      <m:d>
                        <m:dPr>
                          <m:ctrlPr>
                            <a:rPr lang="en-GB" sz="2800" b="0" i="1" dirty="0">
                              <a:solidFill>
                                <a:srgbClr val="326CB2"/>
                              </a:solidFill>
                              <a:latin typeface="Cambria Math" panose="02040503050406030204" pitchFamily="18" charset="0"/>
                              <a:ea typeface="Cambria Math"/>
                              <a:cs typeface="Cambria Math"/>
                            </a:rPr>
                          </m:ctrlPr>
                        </m:dPr>
                        <m:e>
                          <m:eqArr>
                            <m:eqArrPr>
                              <m:ctrlPr>
                                <a:rPr lang="en-GB" sz="2800" b="0" i="1" dirty="0">
                                  <a:solidFill>
                                    <a:srgbClr val="326CB2"/>
                                  </a:solidFill>
                                  <a:latin typeface="Cambria Math" panose="02040503050406030204" pitchFamily="18" charset="0"/>
                                  <a:ea typeface="Cambria Math"/>
                                  <a:cs typeface="Cambria Math"/>
                                </a:rPr>
                              </m:ctrlPr>
                            </m:eqArrPr>
                            <m:e>
                              <m:sSup>
                                <m:sSupPr>
                                  <m:ctrlPr>
                                    <a:rPr lang="en-GB" sz="2800" dirty="0">
                                      <a:solidFill>
                                        <a:srgbClr val="326CB2"/>
                                      </a:solidFill>
                                      <a:latin typeface="Cambria Math"/>
                                      <a:ea typeface="Cambria Math"/>
                                      <a:cs typeface="Cambria Math"/>
                                    </a:rPr>
                                  </m:ctrlPr>
                                </m:sSupPr>
                                <m:e>
                                  <m:r>
                                    <a:rPr lang="en-GB" sz="2800" dirty="0">
                                      <a:solidFill>
                                        <a:srgbClr val="326CB2"/>
                                      </a:solidFill>
                                      <a:latin typeface="Cambria Math"/>
                                      <a:ea typeface="Cambria Math"/>
                                      <a:cs typeface="Cambria Math"/>
                                    </a:rPr>
                                    <m:t>𝑏</m:t>
                                  </m:r>
                                </m:e>
                                <m:sup>
                                  <m:d>
                                    <m:dPr>
                                      <m:ctrlPr>
                                        <a:rPr lang="it-IT" sz="2800" b="0" i="1" dirty="0" smtClean="0">
                                          <a:solidFill>
                                            <a:srgbClr val="326CB2"/>
                                          </a:solidFill>
                                          <a:latin typeface="Cambria Math" panose="02040503050406030204" pitchFamily="18" charset="0"/>
                                          <a:ea typeface="Cambria Math"/>
                                        </a:rPr>
                                      </m:ctrlPr>
                                    </m:dPr>
                                    <m:e>
                                      <m:r>
                                        <a:rPr lang="it-IT" sz="2800" b="0" i="1" dirty="0" smtClean="0">
                                          <a:solidFill>
                                            <a:srgbClr val="326CB2"/>
                                          </a:solidFill>
                                          <a:latin typeface="Cambria Math" panose="02040503050406030204" pitchFamily="18" charset="0"/>
                                          <a:ea typeface="Cambria Math"/>
                                        </a:rPr>
                                        <m:t>0</m:t>
                                      </m:r>
                                    </m:e>
                                  </m:d>
                                </m:sup>
                              </m:sSup>
                            </m:e>
                            <m:e>
                              <m:sSup>
                                <m:sSupPr>
                                  <m:ctrlPr>
                                    <a:rPr lang="en-GB" sz="2800" dirty="0">
                                      <a:solidFill>
                                        <a:srgbClr val="326CB2"/>
                                      </a:solidFill>
                                      <a:latin typeface="Cambria Math"/>
                                      <a:ea typeface="Cambria Math"/>
                                      <a:cs typeface="Cambria Math"/>
                                    </a:rPr>
                                  </m:ctrlPr>
                                </m:sSupPr>
                                <m:e>
                                  <m:r>
                                    <a:rPr lang="en-GB" sz="2800" dirty="0">
                                      <a:solidFill>
                                        <a:srgbClr val="326CB2"/>
                                      </a:solidFill>
                                      <a:latin typeface="Cambria Math"/>
                                      <a:ea typeface="Cambria Math"/>
                                      <a:cs typeface="Cambria Math"/>
                                    </a:rPr>
                                    <m:t>𝑎</m:t>
                                  </m:r>
                                </m:e>
                                <m:sup>
                                  <m:d>
                                    <m:dPr>
                                      <m:ctrlPr>
                                        <a:rPr lang="it-IT" sz="2800" b="0" i="1" dirty="0" smtClean="0">
                                          <a:solidFill>
                                            <a:srgbClr val="326CB2"/>
                                          </a:solidFill>
                                          <a:latin typeface="Cambria Math" panose="02040503050406030204" pitchFamily="18" charset="0"/>
                                          <a:ea typeface="Cambria Math"/>
                                        </a:rPr>
                                      </m:ctrlPr>
                                    </m:dPr>
                                    <m:e>
                                      <m:r>
                                        <a:rPr lang="it-IT" sz="2800" b="0" i="1" dirty="0" smtClean="0">
                                          <a:solidFill>
                                            <a:srgbClr val="326CB2"/>
                                          </a:solidFill>
                                          <a:latin typeface="Cambria Math" panose="02040503050406030204" pitchFamily="18" charset="0"/>
                                          <a:ea typeface="Cambria Math"/>
                                        </a:rPr>
                                        <m:t>0</m:t>
                                      </m:r>
                                    </m:e>
                                  </m:d>
                                </m:sup>
                              </m:sSup>
                            </m:e>
                          </m:eqArr>
                        </m:e>
                      </m:d>
                      <m:r>
                        <a:rPr lang="en-GB" sz="2800" b="0" dirty="0">
                          <a:solidFill>
                            <a:srgbClr val="326CB2"/>
                          </a:solidFill>
                          <a:latin typeface="Cambria Math"/>
                          <a:ea typeface="Cambria Math"/>
                          <a:cs typeface="Cambria Math"/>
                        </a:rPr>
                        <m:t>, </m:t>
                      </m:r>
                      <m:sSup>
                        <m:sSupPr>
                          <m:ctrlPr>
                            <a:rPr lang="it-IT" sz="2800" b="1" dirty="0">
                              <a:solidFill>
                                <a:srgbClr val="326CB2"/>
                              </a:solidFill>
                              <a:latin typeface="Cambria Math" panose="02040503050406030204" pitchFamily="18" charset="0"/>
                              <a:ea typeface="Cambria Math"/>
                              <a:cs typeface="Cambria Math"/>
                            </a:rPr>
                          </m:ctrlPr>
                        </m:sSupPr>
                        <m:e>
                          <m:r>
                            <a:rPr lang="it-IT" sz="2800" b="1" dirty="0">
                              <a:solidFill>
                                <a:srgbClr val="326CB2"/>
                              </a:solidFill>
                              <a:latin typeface="Cambria Math" panose="02040503050406030204" pitchFamily="18" charset="0"/>
                              <a:ea typeface="Cambria Math"/>
                              <a:cs typeface="Cambria Math"/>
                            </a:rPr>
                            <m:t>𝛉</m:t>
                          </m:r>
                        </m:e>
                        <m:sup>
                          <m:d>
                            <m:dPr>
                              <m:ctrlPr>
                                <a:rPr lang="it-IT" sz="2800" b="1" i="1" dirty="0" smtClean="0">
                                  <a:solidFill>
                                    <a:srgbClr val="326CB2"/>
                                  </a:solidFill>
                                  <a:latin typeface="Cambria Math" panose="02040503050406030204" pitchFamily="18" charset="0"/>
                                  <a:ea typeface="Cambria Math"/>
                                </a:rPr>
                              </m:ctrlPr>
                            </m:dPr>
                            <m:e>
                              <m:r>
                                <a:rPr lang="it-IT" sz="2800" b="1" i="1" dirty="0" smtClean="0">
                                  <a:solidFill>
                                    <a:srgbClr val="326CB2"/>
                                  </a:solidFill>
                                  <a:latin typeface="Cambria Math" panose="02040503050406030204" pitchFamily="18" charset="0"/>
                                  <a:ea typeface="Cambria Math"/>
                                </a:rPr>
                                <m:t>𝟏</m:t>
                              </m:r>
                            </m:e>
                          </m:d>
                        </m:sup>
                      </m:sSup>
                      <m:r>
                        <a:rPr lang="it-IT" sz="2800" b="1" i="1" dirty="0">
                          <a:solidFill>
                            <a:srgbClr val="326CB2"/>
                          </a:solidFill>
                          <a:latin typeface="Cambria Math" panose="02040503050406030204" pitchFamily="18" charset="0"/>
                          <a:ea typeface="Cambria Math"/>
                          <a:cs typeface="Cambria Math"/>
                        </a:rPr>
                        <m:t>=</m:t>
                      </m:r>
                      <m:d>
                        <m:dPr>
                          <m:ctrlPr>
                            <a:rPr lang="en-GB" sz="2800" i="1" dirty="0">
                              <a:solidFill>
                                <a:srgbClr val="326CB2"/>
                              </a:solidFill>
                              <a:latin typeface="Cambria Math" panose="02040503050406030204" pitchFamily="18" charset="0"/>
                              <a:ea typeface="Cambria Math"/>
                              <a:cs typeface="Cambria Math"/>
                            </a:rPr>
                          </m:ctrlPr>
                        </m:dPr>
                        <m:e>
                          <m:eqArr>
                            <m:eqArrPr>
                              <m:ctrlPr>
                                <a:rPr lang="en-GB" sz="2800" i="1" dirty="0">
                                  <a:solidFill>
                                    <a:srgbClr val="326CB2"/>
                                  </a:solidFill>
                                  <a:latin typeface="Cambria Math" panose="02040503050406030204" pitchFamily="18" charset="0"/>
                                  <a:ea typeface="Cambria Math"/>
                                  <a:cs typeface="Cambria Math"/>
                                </a:rPr>
                              </m:ctrlPr>
                            </m:eqArrPr>
                            <m:e>
                              <m:sSup>
                                <m:sSupPr>
                                  <m:ctrlPr>
                                    <a:rPr lang="en-GB" sz="2800" dirty="0">
                                      <a:solidFill>
                                        <a:srgbClr val="326CB2"/>
                                      </a:solidFill>
                                      <a:latin typeface="Cambria Math"/>
                                      <a:ea typeface="Cambria Math"/>
                                      <a:cs typeface="Cambria Math"/>
                                    </a:rPr>
                                  </m:ctrlPr>
                                </m:sSupPr>
                                <m:e>
                                  <m:r>
                                    <a:rPr lang="en-GB" sz="2800" dirty="0">
                                      <a:solidFill>
                                        <a:srgbClr val="326CB2"/>
                                      </a:solidFill>
                                      <a:latin typeface="Cambria Math"/>
                                      <a:ea typeface="Cambria Math"/>
                                      <a:cs typeface="Cambria Math"/>
                                    </a:rPr>
                                    <m:t>𝑏</m:t>
                                  </m:r>
                                </m:e>
                                <m:sup>
                                  <m:d>
                                    <m:dPr>
                                      <m:ctrlPr>
                                        <a:rPr lang="it-IT" sz="2800" b="0" i="1" dirty="0" smtClean="0">
                                          <a:solidFill>
                                            <a:srgbClr val="326CB2"/>
                                          </a:solidFill>
                                          <a:latin typeface="Cambria Math" panose="02040503050406030204" pitchFamily="18" charset="0"/>
                                          <a:ea typeface="Cambria Math"/>
                                        </a:rPr>
                                      </m:ctrlPr>
                                    </m:dPr>
                                    <m:e>
                                      <m:r>
                                        <a:rPr lang="it-IT" sz="2800" b="0" i="1" dirty="0" smtClean="0">
                                          <a:solidFill>
                                            <a:srgbClr val="326CB2"/>
                                          </a:solidFill>
                                          <a:latin typeface="Cambria Math" panose="02040503050406030204" pitchFamily="18" charset="0"/>
                                          <a:ea typeface="Cambria Math"/>
                                        </a:rPr>
                                        <m:t>1</m:t>
                                      </m:r>
                                    </m:e>
                                  </m:d>
                                </m:sup>
                              </m:sSup>
                            </m:e>
                            <m:e>
                              <m:sSup>
                                <m:sSupPr>
                                  <m:ctrlPr>
                                    <a:rPr lang="en-GB" sz="2800" dirty="0">
                                      <a:solidFill>
                                        <a:srgbClr val="326CB2"/>
                                      </a:solidFill>
                                      <a:latin typeface="Cambria Math"/>
                                      <a:ea typeface="Cambria Math"/>
                                      <a:cs typeface="Cambria Math"/>
                                    </a:rPr>
                                  </m:ctrlPr>
                                </m:sSupPr>
                                <m:e>
                                  <m:r>
                                    <a:rPr lang="en-GB" sz="2800" dirty="0">
                                      <a:solidFill>
                                        <a:srgbClr val="326CB2"/>
                                      </a:solidFill>
                                      <a:latin typeface="Cambria Math"/>
                                      <a:ea typeface="Cambria Math"/>
                                      <a:cs typeface="Cambria Math"/>
                                    </a:rPr>
                                    <m:t>𝑎</m:t>
                                  </m:r>
                                </m:e>
                                <m:sup>
                                  <m:d>
                                    <m:dPr>
                                      <m:ctrlPr>
                                        <a:rPr lang="it-IT" sz="2800" b="0" i="1" dirty="0" smtClean="0">
                                          <a:solidFill>
                                            <a:srgbClr val="326CB2"/>
                                          </a:solidFill>
                                          <a:latin typeface="Cambria Math" panose="02040503050406030204" pitchFamily="18" charset="0"/>
                                          <a:ea typeface="Cambria Math"/>
                                        </a:rPr>
                                      </m:ctrlPr>
                                    </m:dPr>
                                    <m:e>
                                      <m:r>
                                        <a:rPr lang="it-IT" sz="2800" b="0" i="1" dirty="0" smtClean="0">
                                          <a:solidFill>
                                            <a:srgbClr val="326CB2"/>
                                          </a:solidFill>
                                          <a:latin typeface="Cambria Math" panose="02040503050406030204" pitchFamily="18" charset="0"/>
                                          <a:ea typeface="Cambria Math"/>
                                        </a:rPr>
                                        <m:t>1</m:t>
                                      </m:r>
                                    </m:e>
                                  </m:d>
                                </m:sup>
                              </m:sSup>
                            </m:e>
                          </m:eqArr>
                        </m:e>
                      </m:d>
                      <m:r>
                        <a:rPr lang="en-GB" sz="2800" b="0" dirty="0">
                          <a:solidFill>
                            <a:srgbClr val="326CB2"/>
                          </a:solidFill>
                          <a:latin typeface="Cambria Math"/>
                          <a:ea typeface="Cambria Math"/>
                          <a:cs typeface="Cambria Math"/>
                        </a:rPr>
                        <m:t>, </m:t>
                      </m:r>
                      <m:sSup>
                        <m:sSupPr>
                          <m:ctrlPr>
                            <a:rPr lang="it-IT" sz="2800" b="1" dirty="0">
                              <a:solidFill>
                                <a:srgbClr val="326CB2"/>
                              </a:solidFill>
                              <a:latin typeface="Cambria Math" panose="02040503050406030204" pitchFamily="18" charset="0"/>
                              <a:ea typeface="Cambria Math"/>
                              <a:cs typeface="Cambria Math"/>
                            </a:rPr>
                          </m:ctrlPr>
                        </m:sSupPr>
                        <m:e>
                          <m:r>
                            <a:rPr lang="it-IT" sz="2800" b="1" dirty="0">
                              <a:solidFill>
                                <a:srgbClr val="326CB2"/>
                              </a:solidFill>
                              <a:latin typeface="Cambria Math" panose="02040503050406030204" pitchFamily="18" charset="0"/>
                              <a:ea typeface="Cambria Math"/>
                              <a:cs typeface="Cambria Math"/>
                            </a:rPr>
                            <m:t>𝛉</m:t>
                          </m:r>
                        </m:e>
                        <m:sup>
                          <m:d>
                            <m:dPr>
                              <m:ctrlPr>
                                <a:rPr lang="it-IT" sz="2800" b="1" i="1" dirty="0" smtClean="0">
                                  <a:solidFill>
                                    <a:srgbClr val="326CB2"/>
                                  </a:solidFill>
                                  <a:latin typeface="Cambria Math" panose="02040503050406030204" pitchFamily="18" charset="0"/>
                                  <a:ea typeface="Cambria Math"/>
                                </a:rPr>
                              </m:ctrlPr>
                            </m:dPr>
                            <m:e>
                              <m:r>
                                <a:rPr lang="it-IT" sz="2800" b="1" i="1" dirty="0" smtClean="0">
                                  <a:solidFill>
                                    <a:srgbClr val="326CB2"/>
                                  </a:solidFill>
                                  <a:latin typeface="Cambria Math" panose="02040503050406030204" pitchFamily="18" charset="0"/>
                                  <a:ea typeface="Cambria Math"/>
                                </a:rPr>
                                <m:t>𝟐</m:t>
                              </m:r>
                            </m:e>
                          </m:d>
                        </m:sup>
                      </m:sSup>
                      <m:r>
                        <a:rPr lang="it-IT" sz="2800" b="1" i="1" dirty="0">
                          <a:solidFill>
                            <a:srgbClr val="326CB2"/>
                          </a:solidFill>
                          <a:latin typeface="Cambria Math" panose="02040503050406030204" pitchFamily="18" charset="0"/>
                          <a:ea typeface="Cambria Math"/>
                          <a:cs typeface="Cambria Math"/>
                        </a:rPr>
                        <m:t>=</m:t>
                      </m:r>
                      <m:d>
                        <m:dPr>
                          <m:ctrlPr>
                            <a:rPr lang="en-GB" sz="2800" i="1" dirty="0">
                              <a:solidFill>
                                <a:srgbClr val="326CB2"/>
                              </a:solidFill>
                              <a:latin typeface="Cambria Math" panose="02040503050406030204" pitchFamily="18" charset="0"/>
                              <a:ea typeface="Cambria Math"/>
                              <a:cs typeface="Cambria Math"/>
                            </a:rPr>
                          </m:ctrlPr>
                        </m:dPr>
                        <m:e>
                          <m:eqArr>
                            <m:eqArrPr>
                              <m:ctrlPr>
                                <a:rPr lang="en-GB" sz="2800" i="1" dirty="0">
                                  <a:solidFill>
                                    <a:srgbClr val="326CB2"/>
                                  </a:solidFill>
                                  <a:latin typeface="Cambria Math" panose="02040503050406030204" pitchFamily="18" charset="0"/>
                                  <a:ea typeface="Cambria Math"/>
                                  <a:cs typeface="Cambria Math"/>
                                </a:rPr>
                              </m:ctrlPr>
                            </m:eqArrPr>
                            <m:e>
                              <m:sSup>
                                <m:sSupPr>
                                  <m:ctrlPr>
                                    <a:rPr lang="en-GB" sz="2800" dirty="0">
                                      <a:solidFill>
                                        <a:srgbClr val="326CB2"/>
                                      </a:solidFill>
                                      <a:latin typeface="Cambria Math"/>
                                      <a:ea typeface="Cambria Math"/>
                                      <a:cs typeface="Cambria Math"/>
                                    </a:rPr>
                                  </m:ctrlPr>
                                </m:sSupPr>
                                <m:e>
                                  <m:r>
                                    <a:rPr lang="en-GB" sz="2800" dirty="0">
                                      <a:solidFill>
                                        <a:srgbClr val="326CB2"/>
                                      </a:solidFill>
                                      <a:latin typeface="Cambria Math"/>
                                      <a:ea typeface="Cambria Math"/>
                                      <a:cs typeface="Cambria Math"/>
                                    </a:rPr>
                                    <m:t>𝑏</m:t>
                                  </m:r>
                                </m:e>
                                <m:sup>
                                  <m:d>
                                    <m:dPr>
                                      <m:ctrlPr>
                                        <a:rPr lang="it-IT" sz="2800" b="0" i="1" dirty="0" smtClean="0">
                                          <a:solidFill>
                                            <a:srgbClr val="326CB2"/>
                                          </a:solidFill>
                                          <a:latin typeface="Cambria Math" panose="02040503050406030204" pitchFamily="18" charset="0"/>
                                          <a:ea typeface="Cambria Math"/>
                                        </a:rPr>
                                      </m:ctrlPr>
                                    </m:dPr>
                                    <m:e>
                                      <m:r>
                                        <a:rPr lang="it-IT" sz="2800" b="0" i="1" dirty="0" smtClean="0">
                                          <a:solidFill>
                                            <a:srgbClr val="326CB2"/>
                                          </a:solidFill>
                                          <a:latin typeface="Cambria Math" panose="02040503050406030204" pitchFamily="18" charset="0"/>
                                          <a:ea typeface="Cambria Math"/>
                                        </a:rPr>
                                        <m:t>2</m:t>
                                      </m:r>
                                    </m:e>
                                  </m:d>
                                </m:sup>
                              </m:sSup>
                            </m:e>
                            <m:e>
                              <m:sSup>
                                <m:sSupPr>
                                  <m:ctrlPr>
                                    <a:rPr lang="en-GB" sz="2800" dirty="0">
                                      <a:solidFill>
                                        <a:srgbClr val="326CB2"/>
                                      </a:solidFill>
                                      <a:latin typeface="Cambria Math"/>
                                      <a:ea typeface="Cambria Math"/>
                                      <a:cs typeface="Cambria Math"/>
                                    </a:rPr>
                                  </m:ctrlPr>
                                </m:sSupPr>
                                <m:e>
                                  <m:r>
                                    <a:rPr lang="en-GB" sz="2800" dirty="0">
                                      <a:solidFill>
                                        <a:srgbClr val="326CB2"/>
                                      </a:solidFill>
                                      <a:latin typeface="Cambria Math"/>
                                      <a:ea typeface="Cambria Math"/>
                                      <a:cs typeface="Cambria Math"/>
                                    </a:rPr>
                                    <m:t>𝑎</m:t>
                                  </m:r>
                                </m:e>
                                <m:sup>
                                  <m:d>
                                    <m:dPr>
                                      <m:ctrlPr>
                                        <a:rPr lang="it-IT" sz="2800" b="0" i="1" dirty="0" smtClean="0">
                                          <a:solidFill>
                                            <a:srgbClr val="326CB2"/>
                                          </a:solidFill>
                                          <a:latin typeface="Cambria Math" panose="02040503050406030204" pitchFamily="18" charset="0"/>
                                          <a:ea typeface="Cambria Math"/>
                                        </a:rPr>
                                      </m:ctrlPr>
                                    </m:dPr>
                                    <m:e>
                                      <m:r>
                                        <a:rPr lang="it-IT" sz="2800" b="0" i="1" dirty="0" smtClean="0">
                                          <a:solidFill>
                                            <a:srgbClr val="326CB2"/>
                                          </a:solidFill>
                                          <a:latin typeface="Cambria Math" panose="02040503050406030204" pitchFamily="18" charset="0"/>
                                          <a:ea typeface="Cambria Math"/>
                                        </a:rPr>
                                        <m:t>2</m:t>
                                      </m:r>
                                    </m:e>
                                  </m:d>
                                </m:sup>
                              </m:sSup>
                            </m:e>
                          </m:eqArr>
                        </m:e>
                      </m:d>
                      <m:r>
                        <a:rPr lang="en-GB" sz="2800" b="0" dirty="0">
                          <a:solidFill>
                            <a:srgbClr val="326CB2"/>
                          </a:solidFill>
                          <a:latin typeface="Cambria Math"/>
                          <a:ea typeface="Cambria Math"/>
                          <a:cs typeface="Cambria Math"/>
                        </a:rPr>
                        <m:t>, …</m:t>
                      </m:r>
                    </m:oMath>
                  </m:oMathPara>
                </a14:m>
                <a:endParaRPr lang="en-GB" sz="2800" b="0" i="0" dirty="0">
                  <a:solidFill>
                    <a:srgbClr val="326CB2"/>
                  </a:solidFill>
                  <a:latin typeface="DejaVu Sans"/>
                  <a:ea typeface="DejaVu Sans"/>
                  <a:cs typeface="DejaVu Sans"/>
                </a:endParaRPr>
              </a:p>
            </p:txBody>
          </p:sp>
        </mc:Choice>
        <mc:Fallback xmlns="">
          <p:pic>
            <p:nvPicPr>
              <p:cNvPr id="5" name="content_41_5" descr="\boldsymbol\theta^{(0)}=\begin{pmatrix}b^{(0)}\\a^{(0)}\end{pmatrix},\quad\boldsymbol\theta^{(1)}=\begin{pmatrix}b^{(1)}\\a^{(1)}\end{pmatrix},\quad\boldsymbol\theta^{(2)}=\begin{pmatrix}b^{(2)}\\a^{(2)}\end{pmatrix},\quad\ldots"/>
              <p:cNvPicPr>
                <a:picLocks noChangeAspect="1"/>
              </p:cNvPicPr>
              <p:nvPr/>
            </p:nvPicPr>
            <p:blipFill>
              <a:blip r:embed="rIdFixedFormula2"/>
              <a:stretch>
                <a:fillRect/>
              </a:stretch>
            </p:blipFill>
            <p:spPr>
              <a:xfrm>
                <a:off x="2573153" y="3762375"/>
                <a:ext cx="7045693" cy="912444"/>
              </a:xfrm>
              <a:prstGeom prst="rect">
                <a:avLst/>
              </a:prstGeom>
            </p:spPr>
          </p:pic>
        </mc:Fallback>
      </mc:AlternateContent>
      <p:sp>
        <p:nvSpPr>
          <p:cNvPr id="6" name="content_41_6">
            <a:extLst>
              <a:ext uri="{FF2B5EF4-FFF2-40B4-BE49-F238E27FC236}">
                <a16:creationId xmlns:a16="http://schemas.microsoft.com/office/drawing/2014/main" id="{34C9218E-F660-41A8-ABE0-E7DBD67258FF}"/>
              </a:ext>
            </a:extLst>
          </p:cNvPr>
          <p:cNvSpPr>
            <a:spLocks noGrp="1"/>
          </p:cNvSpPr>
          <p:nvPr/>
        </p:nvSpPr>
        <p:spPr>
          <a:xfrm>
            <a:off x="609600" y="5172075"/>
            <a:ext cx="10953750" cy="666750"/>
          </a:xfrm>
          <a:prstGeom prst="rect">
            <a:avLst/>
          </a:prstGeom>
          <a:noFill/>
          <a:ln w="0">
            <a:noFill/>
          </a:ln>
        </p:spPr>
        <p:txBody>
          <a:bodyPr wrap="square" lIns="0" tIns="0" rIns="0" bIns="0" anchor="ctr">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We will use the </a:t>
            </a:r>
            <a:r>
              <a:rPr lang="en-GB" sz="2100" b="0" i="0" dirty="0">
                <a:solidFill>
                  <a:srgbClr val="FF0000"/>
                </a:solidFill>
                <a:latin typeface="DejaVu Sans"/>
                <a:ea typeface="DejaVu Sans"/>
                <a:cs typeface="DejaVu Sans"/>
              </a:rPr>
              <a:t>gradients</a:t>
            </a:r>
            <a:r>
              <a:rPr lang="en-GB" sz="2100" b="0" i="0" dirty="0">
                <a:solidFill>
                  <a:srgbClr val="182D45"/>
                </a:solidFill>
                <a:latin typeface="DejaVu Sans"/>
                <a:ea typeface="DejaVu Sans"/>
                <a:cs typeface="DejaVu Sans"/>
              </a:rPr>
              <a:t> to choose each update.</a:t>
            </a:r>
          </a:p>
        </p:txBody>
      </p:sp>
      <p:sp>
        <p:nvSpPr>
          <p:cNvPr id="9" name="gradient_descent_motivation">
            <a:extLst>
              <a:ext uri="{FF2B5EF4-FFF2-40B4-BE49-F238E27FC236}">
                <a16:creationId xmlns:a16="http://schemas.microsoft.com/office/drawing/2014/main" id="{9D41CFAF-57A1-401B-952C-5CCF518757AC}"/>
              </a:ext>
            </a:extLst>
          </p:cNvPr>
          <p:cNvSpPr>
            <a:spLocks noGrp="1"/>
          </p:cNvSpPr>
          <p:nvPr/>
        </p:nvSpPr>
        <p:spPr>
          <a:xfrm>
            <a:off x="609600" y="1895475"/>
            <a:ext cx="10953750" cy="809625"/>
          </a:xfrm>
          <a:prstGeom prst="rect">
            <a:avLst/>
          </a:prstGeom>
          <a:noFill/>
          <a:ln w="0">
            <a:noFill/>
          </a:ln>
        </p:spPr>
        <p:txBody>
          <a:bodyPr vertOverflow="overflow" wrap="square" lIns="0" tIns="0" rIns="0" bIns="0" anchor="ctr">
            <a:noAutofit/>
          </a:bodyPr>
          <a:lstStyle/>
          <a:p>
            <a:pPr algn="ctr"/>
            <a:r>
              <a:rPr lang="en-GB" sz="2100" b="0" i="0" dirty="0">
                <a:solidFill>
                  <a:srgbClr val="182D45"/>
                </a:solidFill>
                <a:latin typeface="DejaVu Sans"/>
                <a:ea typeface="DejaVu Sans"/>
                <a:cs typeface="DejaVu Sans"/>
              </a:rPr>
              <a:t>More complex models may have no explicit solution.</a:t>
            </a:r>
          </a:p>
          <a:p>
            <a:pPr algn="ctr"/>
            <a:r>
              <a:rPr lang="en-GB" sz="2100" b="0" i="0" dirty="0">
                <a:solidFill>
                  <a:srgbClr val="182D45"/>
                </a:solidFill>
                <a:latin typeface="DejaVu Sans"/>
                <a:ea typeface="DejaVu Sans"/>
                <a:cs typeface="DejaVu Sans"/>
              </a:rPr>
              <a:t>However, we can still use gradients to improve the parameters.</a:t>
            </a:r>
          </a:p>
        </p:txBody>
      </p:sp>
    </p:spTree>
    <p:extLst>
      <p:ext uri="{BB962C8B-B14F-4D97-AF65-F5344CB8AC3E}">
        <p14:creationId xmlns:p14="http://schemas.microsoft.com/office/powerpoint/2010/main" val="1414462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0E1D9E91-F044-4A01-86CE-41B213C9A474}"/>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 local linear approximation</a:t>
            </a:r>
          </a:p>
        </p:txBody>
      </p:sp>
      <p:sp>
        <p:nvSpPr>
          <p:cNvPr id="2" name="page_number">
            <a:extLst>
              <a:ext uri="{FF2B5EF4-FFF2-40B4-BE49-F238E27FC236}">
                <a16:creationId xmlns:a16="http://schemas.microsoft.com/office/drawing/2014/main" id="{3B826046-4CEB-4296-9B3D-E04DE3D2143A}"/>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33</a:t>
            </a:r>
          </a:p>
        </p:txBody>
      </p:sp>
      <mc:AlternateContent xmlns:mc="http://schemas.openxmlformats.org/markup-compatibility/2006" xmlns:a14="http://schemas.microsoft.com/office/drawing/2010/main">
        <mc:Choice Requires="a14">
          <p:sp>
            <p:nvSpPr>
              <p:cNvPr id="3" name="txt_143">
                <a:extLst>
                  <a:ext uri="{FF2B5EF4-FFF2-40B4-BE49-F238E27FC236}">
                    <a16:creationId xmlns:a16="http://schemas.microsoft.com/office/drawing/2014/main" id="{BC348A74-85A3-4ED4-862A-373611261E89}"/>
                  </a:ext>
                </a:extLst>
              </p:cNvPr>
              <p:cNvSpPr txBox="1">
                <a:spLocks noGrp="1"/>
              </p:cNvSpPr>
              <p:nvPr/>
            </p:nvSpPr>
            <p:spPr>
              <a:xfrm>
                <a:off x="609600" y="1171575"/>
                <a:ext cx="10953750" cy="457200"/>
              </a:xfrm>
              <a:prstGeom prst="rect">
                <a:avLst/>
              </a:prstGeom>
              <a:noFill/>
              <a:ln w="0">
                <a:noFill/>
              </a:ln>
            </p:spPr>
            <p:txBody>
              <a:bodyPr vertOverflow="overflow" wrap="square" lIns="0" tIns="0" rIns="0" bIns="0" anchor="t">
                <a:noAutofit/>
              </a:bodyPr>
              <a:lstStyle/>
              <a:p>
                <a:pPr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For the squared loss </a:t>
                </a:r>
                <a14:m>
                  <m:oMath xmlns:m="http://schemas.openxmlformats.org/officeDocument/2006/math">
                    <m:sSubSup>
                      <m:sSubSupPr>
                        <m:ctrlPr>
                          <a:rPr lang="en-GB" sz="2400" dirty="0">
                            <a:solidFill>
                              <a:schemeClr val="tx1"/>
                            </a:solidFill>
                            <a:latin typeface="Cambria Math"/>
                            <a:ea typeface="Cambria Math"/>
                            <a:cs typeface="Cambria Math"/>
                          </a:rPr>
                        </m:ctrlPr>
                      </m:sSubSupPr>
                      <m:e>
                        <m:r>
                          <a:rPr lang="en-GB" sz="2400" dirty="0">
                            <a:solidFill>
                              <a:schemeClr val="tx1"/>
                            </a:solidFill>
                            <a:latin typeface="Cambria Math"/>
                            <a:ea typeface="Cambria Math"/>
                            <a:cs typeface="Cambria Math"/>
                          </a:rPr>
                          <m:t>ℒ</m:t>
                        </m:r>
                      </m:e>
                      <m:sub>
                        <m:r>
                          <m:rPr>
                            <m:sty m:val="p"/>
                          </m:rPr>
                          <a:rPr lang="en-GB" sz="2400" dirty="0">
                            <a:solidFill>
                              <a:schemeClr val="tx1"/>
                            </a:solidFill>
                            <a:latin typeface="Cambria Math"/>
                            <a:ea typeface="Cambria Math"/>
                            <a:cs typeface="Cambria Math"/>
                          </a:rPr>
                          <m:t>sq</m:t>
                        </m:r>
                      </m:sub>
                      <m:sup>
                        <m:r>
                          <m:rPr>
                            <m:sty m:val="p"/>
                          </m:rPr>
                          <a:rPr lang="en-GB" sz="2400" dirty="0">
                            <a:solidFill>
                              <a:schemeClr val="tx1"/>
                            </a:solidFill>
                            <a:latin typeface="Cambria Math"/>
                            <a:ea typeface="Cambria Math"/>
                            <a:cs typeface="Cambria Math"/>
                          </a:rPr>
                          <m:t>aff</m:t>
                        </m:r>
                      </m:sup>
                    </m:sSubSup>
                  </m:oMath>
                </a14:m>
                <a:r>
                  <a:rPr lang="en-GB" sz="2100" b="0" i="0" dirty="0">
                    <a:solidFill>
                      <a:srgbClr val="182D45"/>
                    </a:solidFill>
                    <a:latin typeface="DejaVu Sans"/>
                    <a:ea typeface="DejaVu Sans"/>
                    <a:cs typeface="DejaVu Sans"/>
                  </a:rPr>
                  <a:t>, differentiability gives a local linear approximation.</a:t>
                </a:r>
              </a:p>
            </p:txBody>
          </p:sp>
        </mc:Choice>
        <mc:Fallback xmlns="">
          <p:sp>
            <p:nvSpPr>
              <p:cNvPr id="3" name="txt_143">
                <a:extLst>
                  <a:ext uri="{FF2B5EF4-FFF2-40B4-BE49-F238E27FC236}">
                    <a16:creationId xmlns:a16="http://schemas.microsoft.com/office/drawing/2014/main" id="{BC348A74-85A3-4ED4-862A-373611261E89}"/>
                  </a:ext>
                </a:extLst>
              </p:cNvPr>
              <p:cNvSpPr txBox="1">
                <a:spLocks noGrp="1" noRot="1" noChangeAspect="1" noMove="1" noResize="1" noEditPoints="1" noAdjustHandles="1" noChangeArrowheads="1" noChangeShapeType="1" noTextEdit="1"/>
              </p:cNvSpPr>
              <p:nvPr/>
            </p:nvSpPr>
            <p:spPr>
              <a:xfrm>
                <a:off x="609600" y="1171575"/>
                <a:ext cx="10953750" cy="457200"/>
              </a:xfrm>
              <a:prstGeom prst="rect">
                <a:avLst/>
              </a:prstGeom>
              <a:blipFill>
                <a:blip r:embed="rId3"/>
                <a:stretch>
                  <a:fillRect t="-8000" b="-1733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144">
                <a:extLst>
                  <a:ext uri="{FF2B5EF4-FFF2-40B4-BE49-F238E27FC236}">
                    <a16:creationId xmlns:a16="http://schemas.microsoft.com/office/drawing/2014/main" id="{952F2E38-B331-466D-B6C7-5FA0BBDC0998}"/>
                  </a:ext>
                </a:extLst>
              </p:cNvPr>
              <p:cNvSpPr txBox="1">
                <a:spLocks noGrp="1"/>
              </p:cNvSpPr>
              <p:nvPr/>
            </p:nvSpPr>
            <p:spPr>
              <a:xfrm>
                <a:off x="619125" y="1767626"/>
                <a:ext cx="10953750" cy="723901"/>
              </a:xfrm>
              <a:prstGeom prst="rect">
                <a:avLst/>
              </a:prstGeom>
              <a:noFill/>
              <a:ln w="0">
                <a:noFill/>
              </a:ln>
            </p:spPr>
            <p:txBody>
              <a:bodyPr vertOverflow="overflow" wrap="none" lIns="0" tIns="0" rIns="0" bIns="0" anchor="t">
                <a:noAutofit/>
              </a:bodyPr>
              <a:lstStyle/>
              <a:p>
                <a:pPr algn="ctr">
                  <a:defRPr lang="en-GB" sz="2325" b="0" i="0" dirty="0">
                    <a:solidFill>
                      <a:srgbClr val="182D45"/>
                    </a:solidFill>
                    <a:latin typeface="Cambria Math"/>
                    <a:ea typeface="Cambria Math"/>
                    <a:cs typeface="Cambria Math"/>
                  </a:defRPr>
                </a:pPr>
                <a14:m>
                  <m:oMathPara xmlns:m="http://schemas.openxmlformats.org/officeDocument/2006/math">
                    <m:oMathParaPr>
                      <m:jc m:val="center"/>
                    </m:oMathParaPr>
                    <m:oMath>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en-GB" sz="2300" b="0" dirty="0">
                              <a:solidFill>
                                <a:srgbClr val="182D45"/>
                              </a:solidFill>
                              <a:latin typeface="Cambria Math"/>
                              <a:ea typeface="Cambria Math"/>
                              <a:cs typeface="Cambria Math"/>
                            </a:rPr>
                          </m:ctrlPr>
                        </m:dPr>
                        <m:e>
                          <m:r>
                            <a:rPr lang="en-GB" sz="2300" b="0" dirty="0">
                              <a:solidFill>
                                <a:srgbClr val="182D45"/>
                              </a:solidFill>
                              <a:latin typeface="Cambria Math"/>
                              <a:ea typeface="Cambria Math"/>
                              <a:cs typeface="Cambria Math"/>
                            </a:rPr>
                            <m:t>𝑏</m:t>
                          </m:r>
                          <m:r>
                            <a:rPr lang="en-GB" sz="2300" b="0" dirty="0">
                              <a:solidFill>
                                <a:srgbClr val="182D45"/>
                              </a:solidFill>
                              <a:latin typeface="Cambria Math"/>
                              <a:ea typeface="Cambria Math"/>
                              <a:cs typeface="Cambria Math"/>
                            </a:rPr>
                            <m:t>+</m:t>
                          </m:r>
                          <m:r>
                            <m:rPr>
                              <m:sty m:val="p"/>
                            </m:rPr>
                            <a:rPr lang="en-GB" sz="2300" b="0" i="0" dirty="0">
                              <a:solidFill>
                                <a:srgbClr val="182D45"/>
                              </a:solidFill>
                              <a:latin typeface="Cambria Math"/>
                              <a:ea typeface="Cambria Math"/>
                              <a:cs typeface="Cambria Math"/>
                            </a:rPr>
                            <m:t>Δ</m:t>
                          </m:r>
                          <m:r>
                            <a:rPr lang="en-GB" sz="2300" b="0" dirty="0">
                              <a:solidFill>
                                <a:srgbClr val="182D45"/>
                              </a:solidFill>
                              <a:latin typeface="Cambria Math"/>
                              <a:ea typeface="Cambria Math"/>
                              <a:cs typeface="Cambria Math"/>
                            </a:rPr>
                            <m:t>𝑏</m:t>
                          </m:r>
                          <m:r>
                            <a:rPr lang="en-GB" sz="2300" b="0" dirty="0">
                              <a:solidFill>
                                <a:srgbClr val="182D45"/>
                              </a:solidFill>
                              <a:latin typeface="Cambria Math"/>
                              <a:ea typeface="Cambria Math"/>
                              <a:cs typeface="Cambria Math"/>
                            </a:rPr>
                            <m:t>,</m:t>
                          </m:r>
                          <m:r>
                            <a:rPr lang="en-GB" sz="2300" b="0" dirty="0">
                              <a:solidFill>
                                <a:srgbClr val="182D45"/>
                              </a:solidFill>
                              <a:latin typeface="Cambria Math"/>
                              <a:ea typeface="Cambria Math"/>
                              <a:cs typeface="Cambria Math"/>
                            </a:rPr>
                            <m:t>𝑎</m:t>
                          </m:r>
                          <m:r>
                            <a:rPr lang="en-GB" sz="2300" b="0" dirty="0">
                              <a:solidFill>
                                <a:srgbClr val="182D45"/>
                              </a:solidFill>
                              <a:latin typeface="Cambria Math"/>
                              <a:ea typeface="Cambria Math"/>
                              <a:cs typeface="Cambria Math"/>
                            </a:rPr>
                            <m:t>+</m:t>
                          </m:r>
                          <m:r>
                            <m:rPr>
                              <m:sty m:val="p"/>
                            </m:rPr>
                            <a:rPr lang="en-GB" sz="2300" dirty="0">
                              <a:solidFill>
                                <a:srgbClr val="182D45"/>
                              </a:solidFill>
                              <a:latin typeface="Cambria Math"/>
                              <a:ea typeface="Cambria Math"/>
                              <a:cs typeface="Cambria Math"/>
                            </a:rPr>
                            <m:t>Δ</m:t>
                          </m:r>
                          <m:r>
                            <a:rPr lang="en-GB" sz="2300" b="0" dirty="0">
                              <a:solidFill>
                                <a:srgbClr val="182D45"/>
                              </a:solidFill>
                              <a:latin typeface="Cambria Math"/>
                              <a:ea typeface="Cambria Math"/>
                              <a:cs typeface="Cambria Math"/>
                            </a:rPr>
                            <m:t>𝑎</m:t>
                          </m:r>
                        </m:e>
                      </m:d>
                      <m:r>
                        <a:rPr lang="en-GB" sz="2300" b="0" dirty="0">
                          <a:solidFill>
                            <a:srgbClr val="182D45"/>
                          </a:solidFill>
                          <a:latin typeface="Cambria Math"/>
                          <a:ea typeface="Cambria Math"/>
                          <a:cs typeface="Cambria Math"/>
                        </a:rPr>
                        <m: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en-GB" sz="2300" dirty="0">
                              <a:solidFill>
                                <a:srgbClr val="182D45"/>
                              </a:solidFill>
                              <a:latin typeface="Cambria Math"/>
                              <a:ea typeface="Cambria Math"/>
                              <a:cs typeface="Cambria Math"/>
                            </a:rPr>
                          </m:ctrlPr>
                        </m:dPr>
                        <m:e>
                          <m:r>
                            <a:rPr lang="en-GB" sz="2300" dirty="0">
                              <a:solidFill>
                                <a:srgbClr val="182D45"/>
                              </a:solidFill>
                              <a:latin typeface="Cambria Math"/>
                              <a:ea typeface="Cambria Math"/>
                              <a:cs typeface="Cambria Math"/>
                            </a:rPr>
                            <m:t>𝑏</m:t>
                          </m:r>
                          <m:r>
                            <a:rPr lang="en-GB" sz="2300" dirty="0">
                              <a:solidFill>
                                <a:srgbClr val="182D45"/>
                              </a:solidFill>
                              <a:latin typeface="Cambria Math"/>
                              <a:ea typeface="Cambria Math"/>
                              <a:cs typeface="Cambria Math"/>
                            </a:rPr>
                            <m:t>,</m:t>
                          </m:r>
                          <m:r>
                            <a:rPr lang="en-GB" sz="2300" dirty="0">
                              <a:solidFill>
                                <a:srgbClr val="182D45"/>
                              </a:solidFill>
                              <a:latin typeface="Cambria Math"/>
                              <a:ea typeface="Cambria Math"/>
                              <a:cs typeface="Cambria Math"/>
                            </a:rPr>
                            <m:t>𝑎</m:t>
                          </m:r>
                        </m:e>
                      </m:d>
                      <m:r>
                        <a:rPr lang="it-IT" sz="2300" i="1" dirty="0">
                          <a:solidFill>
                            <a:srgbClr val="182D45"/>
                          </a:solidFill>
                          <a:latin typeface="Cambria Math" panose="02040503050406030204" pitchFamily="18" charset="0"/>
                          <a:ea typeface="Cambria Math"/>
                          <a:cs typeface="Cambria Math"/>
                        </a:rPr>
                        <m:t>+</m:t>
                      </m:r>
                      <m:sSup>
                        <m:sSupPr>
                          <m:ctrlPr>
                            <a:rPr lang="it-IT" sz="2300" i="1" dirty="0">
                              <a:solidFill>
                                <a:srgbClr val="182D45"/>
                              </a:solidFill>
                              <a:latin typeface="Cambria Math" panose="02040503050406030204" pitchFamily="18" charset="0"/>
                              <a:ea typeface="Cambria Math"/>
                              <a:cs typeface="Cambria Math"/>
                            </a:rPr>
                          </m:ctrlPr>
                        </m:sSupPr>
                        <m:e>
                          <m:d>
                            <m:dPr>
                              <m:ctrlPr>
                                <a:rPr lang="it-IT" sz="2300" dirty="0">
                                  <a:solidFill>
                                    <a:srgbClr val="182D45"/>
                                  </a:solidFill>
                                  <a:latin typeface="Cambria Math" panose="02040503050406030204" pitchFamily="18" charset="0"/>
                                  <a:ea typeface="Cambria Math"/>
                                  <a:cs typeface="Cambria Math"/>
                                </a:rPr>
                              </m:ctrlPr>
                            </m:dPr>
                            <m:e>
                              <m:r>
                                <m:rPr>
                                  <m:sty m:val="p"/>
                                </m:rPr>
                                <a:rPr lang="it-IT" sz="2300" dirty="0">
                                  <a:solidFill>
                                    <a:srgbClr val="182D45"/>
                                  </a:solidFill>
                                  <a:latin typeface="Cambria Math" panose="02040503050406030204" pitchFamily="18" charset="0"/>
                                  <a:ea typeface="Cambria Math"/>
                                  <a:cs typeface="Cambria Math"/>
                                </a:rPr>
                                <m: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it-IT" sz="2300" i="1" dirty="0">
                                      <a:latin typeface="Cambria Math" panose="02040503050406030204" pitchFamily="18" charset="0"/>
                                      <a:ea typeface="Cambria Math"/>
                                      <a:cs typeface="Cambria Math"/>
                                    </a:rPr>
                                  </m:ctrlPr>
                                </m:dPr>
                                <m:e>
                                  <m:r>
                                    <a:rPr lang="it-IT" sz="2300" i="1" dirty="0">
                                      <a:latin typeface="Cambria Math" panose="02040503050406030204" pitchFamily="18" charset="0"/>
                                      <a:ea typeface="Cambria Math"/>
                                      <a:cs typeface="Cambria Math"/>
                                    </a:rPr>
                                    <m:t>𝑏</m:t>
                                  </m:r>
                                  <m:r>
                                    <a:rPr lang="it-IT" sz="2300" i="1" dirty="0">
                                      <a:latin typeface="Cambria Math" panose="02040503050406030204" pitchFamily="18" charset="0"/>
                                      <a:ea typeface="Cambria Math"/>
                                      <a:cs typeface="Cambria Math"/>
                                    </a:rPr>
                                    <m:t>,</m:t>
                                  </m:r>
                                  <m:r>
                                    <a:rPr lang="it-IT" sz="2300" i="1" dirty="0">
                                      <a:latin typeface="Cambria Math" panose="02040503050406030204" pitchFamily="18" charset="0"/>
                                      <a:ea typeface="Cambria Math"/>
                                      <a:cs typeface="Cambria Math"/>
                                    </a:rPr>
                                    <m:t>𝑎</m:t>
                                  </m:r>
                                </m:e>
                              </m:d>
                            </m:e>
                          </m:d>
                        </m:e>
                        <m:sup>
                          <m:r>
                            <a:rPr lang="it-IT" sz="2300" i="1" dirty="0">
                              <a:latin typeface="Cambria Math" panose="02040503050406030204" pitchFamily="18" charset="0"/>
                              <a:ea typeface="Cambria Math"/>
                              <a:cs typeface="Cambria Math"/>
                            </a:rPr>
                            <m:t>⊤</m:t>
                          </m:r>
                        </m:sup>
                      </m:sSup>
                      <m:d>
                        <m:dPr>
                          <m:ctrlPr>
                            <a:rPr lang="en-GB" sz="2300" i="1" dirty="0">
                              <a:solidFill>
                                <a:srgbClr val="182D45"/>
                              </a:solidFill>
                              <a:latin typeface="Cambria Math" panose="02040503050406030204" pitchFamily="18" charset="0"/>
                              <a:ea typeface="Cambria Math"/>
                              <a:cs typeface="Cambria Math"/>
                            </a:rPr>
                          </m:ctrlPr>
                        </m:dPr>
                        <m:e>
                          <m:eqArr>
                            <m:eqArrPr>
                              <m:ctrlPr>
                                <a:rPr lang="en-GB" sz="2300" i="1" dirty="0">
                                  <a:solidFill>
                                    <a:srgbClr val="182D45"/>
                                  </a:solidFill>
                                  <a:latin typeface="Cambria Math" panose="02040503050406030204" pitchFamily="18" charset="0"/>
                                  <a:ea typeface="Cambria Math"/>
                                  <a:cs typeface="Cambria Math"/>
                                </a:rPr>
                              </m:ctrlPr>
                            </m:eqArrPr>
                            <m:e>
                              <m:r>
                                <m:rPr>
                                  <m:sty m:val="p"/>
                                </m:rPr>
                                <a:rPr lang="en-GB" sz="2300" dirty="0">
                                  <a:solidFill>
                                    <a:srgbClr val="182D45"/>
                                  </a:solidFill>
                                  <a:latin typeface="Cambria Math"/>
                                  <a:ea typeface="Cambria Math"/>
                                  <a:cs typeface="Cambria Math"/>
                                </a:rPr>
                                <m:t>Δ</m:t>
                              </m:r>
                              <m:r>
                                <a:rPr lang="en-GB" sz="2300" dirty="0">
                                  <a:solidFill>
                                    <a:srgbClr val="182D45"/>
                                  </a:solidFill>
                                  <a:latin typeface="Cambria Math"/>
                                  <a:ea typeface="Cambria Math"/>
                                  <a:cs typeface="Cambria Math"/>
                                </a:rPr>
                                <m:t>𝑏</m:t>
                              </m:r>
                            </m:e>
                            <m:e>
                              <m:r>
                                <m:rPr>
                                  <m:sty m:val="p"/>
                                </m:rPr>
                                <a:rPr lang="it-IT" sz="2300" dirty="0">
                                  <a:solidFill>
                                    <a:srgbClr val="182D45"/>
                                  </a:solidFill>
                                  <a:latin typeface="Cambria Math" panose="02040503050406030204" pitchFamily="18" charset="0"/>
                                  <a:ea typeface="Cambria Math"/>
                                  <a:cs typeface="Cambria Math"/>
                                </a:rPr>
                                <m:t>Δ</m:t>
                              </m:r>
                              <m:r>
                                <a:rPr lang="it-IT" sz="2300" i="1" dirty="0">
                                  <a:solidFill>
                                    <a:srgbClr val="182D45"/>
                                  </a:solidFill>
                                  <a:latin typeface="Cambria Math" panose="02040503050406030204" pitchFamily="18" charset="0"/>
                                  <a:ea typeface="Cambria Math"/>
                                  <a:cs typeface="Cambria Math"/>
                                </a:rPr>
                                <m:t>𝑎</m:t>
                              </m:r>
                            </m:e>
                          </m:eqArr>
                        </m:e>
                      </m:d>
                    </m:oMath>
                  </m:oMathPara>
                </a14:m>
                <a:endParaRPr lang="en-GB" sz="2300" b="0" i="0" dirty="0">
                  <a:solidFill>
                    <a:srgbClr val="182D45"/>
                  </a:solidFill>
                  <a:latin typeface="Cambria Math"/>
                  <a:ea typeface="Cambria Math"/>
                  <a:cs typeface="Cambria Math"/>
                </a:endParaRPr>
              </a:p>
            </p:txBody>
          </p:sp>
        </mc:Choice>
        <mc:Fallback xmlns="">
          <p:sp>
            <p:nvSpPr>
              <p:cNvPr id="4" name="eq_144">
                <a:extLst>
                  <a:ext uri="{FF2B5EF4-FFF2-40B4-BE49-F238E27FC236}">
                    <a16:creationId xmlns:a16="http://schemas.microsoft.com/office/drawing/2014/main" id="{952F2E38-B331-466D-B6C7-5FA0BBDC0998}"/>
                  </a:ext>
                </a:extLst>
              </p:cNvPr>
              <p:cNvSpPr txBox="1">
                <a:spLocks noGrp="1" noRot="1" noChangeAspect="1" noMove="1" noResize="1" noEditPoints="1" noAdjustHandles="1" noChangeArrowheads="1" noChangeShapeType="1" noTextEdit="1"/>
              </p:cNvSpPr>
              <p:nvPr/>
            </p:nvSpPr>
            <p:spPr>
              <a:xfrm>
                <a:off x="619125" y="1767626"/>
                <a:ext cx="10953750" cy="723901"/>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145">
                <a:extLst>
                  <a:ext uri="{FF2B5EF4-FFF2-40B4-BE49-F238E27FC236}">
                    <a16:creationId xmlns:a16="http://schemas.microsoft.com/office/drawing/2014/main" id="{E18217B6-DEA5-4575-A345-8C191F0AFBB2}"/>
                  </a:ext>
                </a:extLst>
              </p:cNvPr>
              <p:cNvSpPr txBox="1">
                <a:spLocks noGrp="1"/>
              </p:cNvSpPr>
              <p:nvPr/>
            </p:nvSpPr>
            <p:spPr>
              <a:xfrm>
                <a:off x="670179" y="3385678"/>
                <a:ext cx="10953750" cy="1044469"/>
              </a:xfrm>
              <a:prstGeom prst="rect">
                <a:avLst/>
              </a:prstGeom>
              <a:noFill/>
              <a:ln w="0">
                <a:noFill/>
              </a:ln>
            </p:spPr>
            <p:txBody>
              <a:bodyPr vertOverflow="overflow" wrap="none" lIns="0" tIns="0" rIns="0" bIns="0" anchor="t">
                <a:noAutofit/>
              </a:bodyPr>
              <a:lstStyle/>
              <a:p>
                <a:pPr algn="ctr">
                  <a:defRPr lang="en-GB" sz="2625" b="0" i="0" dirty="0">
                    <a:solidFill>
                      <a:srgbClr val="326CB2"/>
                    </a:solidFill>
                    <a:latin typeface="Cambria Math"/>
                    <a:ea typeface="Cambria Math"/>
                    <a:cs typeface="Cambria Math"/>
                  </a:defRPr>
                </a:pPr>
                <a14:m>
                  <m:oMathPara xmlns:m="http://schemas.openxmlformats.org/officeDocument/2006/math">
                    <m:oMathParaPr>
                      <m:jc m:val="center"/>
                    </m:oMathParaPr>
                    <m:oMath>
                      <m:d>
                        <m:dPr>
                          <m:ctrlPr>
                            <a:rPr lang="en-GB" sz="2300" i="1" dirty="0">
                              <a:solidFill>
                                <a:srgbClr val="0070C0"/>
                              </a:solidFill>
                              <a:latin typeface="Cambria Math" panose="02040503050406030204" pitchFamily="18" charset="0"/>
                              <a:ea typeface="Cambria Math"/>
                              <a:cs typeface="Cambria Math"/>
                            </a:rPr>
                          </m:ctrlPr>
                        </m:dPr>
                        <m:e>
                          <m:eqArr>
                            <m:eqArrPr>
                              <m:ctrlPr>
                                <a:rPr lang="en-GB" sz="2300" i="1" dirty="0">
                                  <a:solidFill>
                                    <a:srgbClr val="0070C0"/>
                                  </a:solidFill>
                                  <a:latin typeface="Cambria Math" panose="02040503050406030204" pitchFamily="18" charset="0"/>
                                  <a:ea typeface="Cambria Math"/>
                                  <a:cs typeface="Cambria Math"/>
                                </a:rPr>
                              </m:ctrlPr>
                            </m:eqArrPr>
                            <m:e>
                              <m:r>
                                <m:rPr>
                                  <m:sty m:val="p"/>
                                </m:rPr>
                                <a:rPr lang="en-GB" sz="2300" dirty="0">
                                  <a:solidFill>
                                    <a:srgbClr val="0070C0"/>
                                  </a:solidFill>
                                  <a:latin typeface="Cambria Math"/>
                                  <a:ea typeface="Cambria Math"/>
                                  <a:cs typeface="Cambria Math"/>
                                </a:rPr>
                                <m:t>Δ</m:t>
                              </m:r>
                              <m:r>
                                <a:rPr lang="en-GB" sz="2300" dirty="0">
                                  <a:solidFill>
                                    <a:srgbClr val="0070C0"/>
                                  </a:solidFill>
                                  <a:latin typeface="Cambria Math"/>
                                  <a:ea typeface="Cambria Math"/>
                                  <a:cs typeface="Cambria Math"/>
                                </a:rPr>
                                <m:t>𝑏</m:t>
                              </m:r>
                            </m:e>
                            <m:e>
                              <m:r>
                                <m:rPr>
                                  <m:sty m:val="p"/>
                                </m:rPr>
                                <a:rPr lang="en-GB" sz="2300" dirty="0">
                                  <a:solidFill>
                                    <a:srgbClr val="0070C0"/>
                                  </a:solidFill>
                                  <a:latin typeface="Cambria Math"/>
                                  <a:ea typeface="Cambria Math"/>
                                  <a:cs typeface="Cambria Math"/>
                                </a:rPr>
                                <m:t>Δ</m:t>
                              </m:r>
                              <m:r>
                                <a:rPr lang="it-IT" sz="2300" b="0" i="1" dirty="0" smtClean="0">
                                  <a:solidFill>
                                    <a:srgbClr val="0070C0"/>
                                  </a:solidFill>
                                  <a:latin typeface="Cambria Math" panose="02040503050406030204" pitchFamily="18" charset="0"/>
                                  <a:ea typeface="Cambria Math"/>
                                  <a:cs typeface="Cambria Math"/>
                                </a:rPr>
                                <m:t>𝑎</m:t>
                              </m:r>
                            </m:e>
                          </m:eqArr>
                        </m:e>
                      </m:d>
                      <m:r>
                        <a:rPr lang="en-GB" sz="2300" b="0" dirty="0">
                          <a:solidFill>
                            <a:srgbClr val="0070C0"/>
                          </a:solidFill>
                          <a:latin typeface="Cambria Math"/>
                          <a:ea typeface="Cambria Math"/>
                          <a:cs typeface="Cambria Math"/>
                        </a:rPr>
                        <m:t>=</m:t>
                      </m:r>
                      <m:r>
                        <a:rPr lang="it-IT" sz="2300" b="0" i="1" dirty="0" smtClean="0">
                          <a:solidFill>
                            <a:srgbClr val="0070C0"/>
                          </a:solidFill>
                          <a:latin typeface="Cambria Math" panose="02040503050406030204" pitchFamily="18" charset="0"/>
                          <a:ea typeface="Cambria Math"/>
                          <a:cs typeface="Cambria Math"/>
                        </a:rPr>
                        <m:t>−</m:t>
                      </m:r>
                      <m:r>
                        <a:rPr lang="it-IT" sz="2300" b="0" i="1" dirty="0" smtClean="0">
                          <a:solidFill>
                            <a:srgbClr val="0070C0"/>
                          </a:solidFill>
                          <a:latin typeface="Cambria Math" panose="02040503050406030204" pitchFamily="18" charset="0"/>
                          <a:ea typeface="Cambria Math"/>
                          <a:cs typeface="Cambria Math"/>
                        </a:rPr>
                        <m:t>𝜂</m:t>
                      </m:r>
                      <m:sSup>
                        <m:sSupPr>
                          <m:ctrlPr>
                            <a:rPr lang="en-GB" sz="2300" i="1" dirty="0">
                              <a:solidFill>
                                <a:srgbClr val="0070C0"/>
                              </a:solidFill>
                              <a:latin typeface="Cambria Math" panose="02040503050406030204" pitchFamily="18" charset="0"/>
                              <a:ea typeface="Cambria Math"/>
                              <a:cs typeface="Cambria Math"/>
                            </a:rPr>
                          </m:ctrlPr>
                        </m:sSupPr>
                        <m:e>
                          <m:d>
                            <m:dPr>
                              <m:ctrlPr>
                                <a:rPr lang="en-GB" sz="2300" i="1" dirty="0">
                                  <a:solidFill>
                                    <a:srgbClr val="0070C0"/>
                                  </a:solidFill>
                                  <a:latin typeface="Cambria Math" panose="02040503050406030204" pitchFamily="18" charset="0"/>
                                  <a:ea typeface="Cambria Math"/>
                                  <a:cs typeface="Cambria Math"/>
                                </a:rPr>
                              </m:ctrlPr>
                            </m:dPr>
                            <m:e>
                              <m:f>
                                <m:fPr>
                                  <m:ctrlPr>
                                    <a:rPr lang="en-GB" sz="2300" dirty="0">
                                      <a:solidFill>
                                        <a:srgbClr val="0070C0"/>
                                      </a:solidFill>
                                      <a:latin typeface="Cambria Math"/>
                                      <a:ea typeface="Cambria Math"/>
                                      <a:cs typeface="Cambria Math"/>
                                    </a:rPr>
                                  </m:ctrlPr>
                                </m:fPr>
                                <m:num>
                                  <m:r>
                                    <a:rPr lang="en-GB" sz="2300" dirty="0">
                                      <a:solidFill>
                                        <a:srgbClr val="0070C0"/>
                                      </a:solidFill>
                                      <a:latin typeface="Cambria Math"/>
                                      <a:ea typeface="Cambria Math"/>
                                      <a:cs typeface="Cambria Math"/>
                                    </a:rPr>
                                    <m: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num>
                                <m:den>
                                  <m:r>
                                    <a:rPr lang="en-GB" sz="2300" dirty="0">
                                      <a:solidFill>
                                        <a:srgbClr val="0070C0"/>
                                      </a:solidFill>
                                      <a:latin typeface="Cambria Math"/>
                                      <a:ea typeface="Cambria Math"/>
                                      <a:cs typeface="Cambria Math"/>
                                    </a:rPr>
                                    <m:t>𝜕</m:t>
                                  </m:r>
                                  <m:r>
                                    <a:rPr lang="en-GB" sz="2300" dirty="0">
                                      <a:solidFill>
                                        <a:srgbClr val="0070C0"/>
                                      </a:solidFill>
                                      <a:latin typeface="Cambria Math"/>
                                      <a:ea typeface="Cambria Math"/>
                                      <a:cs typeface="Cambria Math"/>
                                    </a:rPr>
                                    <m:t>𝑏</m:t>
                                  </m:r>
                                </m:den>
                              </m:f>
                              <m:d>
                                <m:dPr>
                                  <m:ctrlPr>
                                    <a:rPr lang="en-GB" sz="2300" dirty="0">
                                      <a:solidFill>
                                        <a:srgbClr val="0070C0"/>
                                      </a:solidFill>
                                      <a:latin typeface="Cambria Math"/>
                                      <a:ea typeface="Cambria Math"/>
                                      <a:cs typeface="Cambria Math"/>
                                    </a:rPr>
                                  </m:ctrlPr>
                                </m:dPr>
                                <m:e>
                                  <m:r>
                                    <a:rPr lang="en-GB" sz="2300" dirty="0">
                                      <a:solidFill>
                                        <a:srgbClr val="0070C0"/>
                                      </a:solidFill>
                                      <a:latin typeface="Cambria Math"/>
                                      <a:ea typeface="Cambria Math"/>
                                      <a:cs typeface="Cambria Math"/>
                                    </a:rPr>
                                    <m:t>𝑏</m:t>
                                  </m:r>
                                  <m:r>
                                    <a:rPr lang="en-GB" sz="2300" dirty="0">
                                      <a:solidFill>
                                        <a:srgbClr val="0070C0"/>
                                      </a:solidFill>
                                      <a:latin typeface="Cambria Math"/>
                                      <a:ea typeface="Cambria Math"/>
                                      <a:cs typeface="Cambria Math"/>
                                    </a:rPr>
                                    <m:t>,</m:t>
                                  </m:r>
                                  <m:r>
                                    <a:rPr lang="en-GB" sz="2300" dirty="0">
                                      <a:solidFill>
                                        <a:srgbClr val="0070C0"/>
                                      </a:solidFill>
                                      <a:latin typeface="Cambria Math"/>
                                      <a:ea typeface="Cambria Math"/>
                                      <a:cs typeface="Cambria Math"/>
                                    </a:rPr>
                                    <m:t>𝑎</m:t>
                                  </m:r>
                                </m:e>
                              </m:d>
                              <m:r>
                                <a:rPr lang="it-IT" sz="2300" b="0" i="1" dirty="0" smtClean="0">
                                  <a:solidFill>
                                    <a:srgbClr val="0070C0"/>
                                  </a:solidFill>
                                  <a:latin typeface="Cambria Math" panose="02040503050406030204" pitchFamily="18" charset="0"/>
                                  <a:ea typeface="Cambria Math"/>
                                  <a:cs typeface="Cambria Math"/>
                                </a:rPr>
                                <m:t>,</m:t>
                              </m:r>
                              <m:r>
                                <a:rPr lang="en-GB" sz="2300" i="1" dirty="0" smtClean="0">
                                  <a:solidFill>
                                    <a:srgbClr val="0070C0"/>
                                  </a:solidFill>
                                  <a:latin typeface="Cambria Math"/>
                                  <a:ea typeface="Cambria Math"/>
                                  <a:cs typeface="Cambria Math"/>
                                </a:rPr>
                                <m:t> </m:t>
                              </m:r>
                              <m:f>
                                <m:fPr>
                                  <m:ctrlPr>
                                    <a:rPr lang="en-GB" sz="2300" dirty="0">
                                      <a:solidFill>
                                        <a:srgbClr val="0070C0"/>
                                      </a:solidFill>
                                      <a:latin typeface="Cambria Math"/>
                                      <a:ea typeface="Cambria Math"/>
                                      <a:cs typeface="Cambria Math"/>
                                    </a:rPr>
                                  </m:ctrlPr>
                                </m:fPr>
                                <m:num>
                                  <m:r>
                                    <a:rPr lang="en-GB" sz="2300" dirty="0">
                                      <a:solidFill>
                                        <a:srgbClr val="0070C0"/>
                                      </a:solidFill>
                                      <a:latin typeface="Cambria Math"/>
                                      <a:ea typeface="Cambria Math"/>
                                      <a:cs typeface="Cambria Math"/>
                                    </a:rPr>
                                    <m: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num>
                                <m:den>
                                  <m:r>
                                    <a:rPr lang="en-GB" sz="2300" dirty="0">
                                      <a:solidFill>
                                        <a:srgbClr val="0070C0"/>
                                      </a:solidFill>
                                      <a:latin typeface="Cambria Math"/>
                                      <a:ea typeface="Cambria Math"/>
                                      <a:cs typeface="Cambria Math"/>
                                    </a:rPr>
                                    <m:t>𝜕</m:t>
                                  </m:r>
                                  <m:r>
                                    <a:rPr lang="en-GB" sz="2300" dirty="0">
                                      <a:solidFill>
                                        <a:srgbClr val="0070C0"/>
                                      </a:solidFill>
                                      <a:latin typeface="Cambria Math"/>
                                      <a:ea typeface="Cambria Math"/>
                                      <a:cs typeface="Cambria Math"/>
                                    </a:rPr>
                                    <m:t>𝑎</m:t>
                                  </m:r>
                                </m:den>
                              </m:f>
                              <m:d>
                                <m:dPr>
                                  <m:ctrlPr>
                                    <a:rPr lang="en-GB" sz="2300" dirty="0">
                                      <a:solidFill>
                                        <a:srgbClr val="0070C0"/>
                                      </a:solidFill>
                                      <a:latin typeface="Cambria Math"/>
                                      <a:ea typeface="Cambria Math"/>
                                      <a:cs typeface="Cambria Math"/>
                                    </a:rPr>
                                  </m:ctrlPr>
                                </m:dPr>
                                <m:e>
                                  <m:r>
                                    <a:rPr lang="en-GB" sz="2300" dirty="0">
                                      <a:solidFill>
                                        <a:srgbClr val="0070C0"/>
                                      </a:solidFill>
                                      <a:latin typeface="Cambria Math"/>
                                      <a:ea typeface="Cambria Math"/>
                                      <a:cs typeface="Cambria Math"/>
                                    </a:rPr>
                                    <m:t>𝑏</m:t>
                                  </m:r>
                                  <m:r>
                                    <a:rPr lang="en-GB" sz="2300" dirty="0">
                                      <a:solidFill>
                                        <a:srgbClr val="0070C0"/>
                                      </a:solidFill>
                                      <a:latin typeface="Cambria Math"/>
                                      <a:ea typeface="Cambria Math"/>
                                      <a:cs typeface="Cambria Math"/>
                                    </a:rPr>
                                    <m:t>,</m:t>
                                  </m:r>
                                  <m:r>
                                    <a:rPr lang="en-GB" sz="2300" dirty="0">
                                      <a:solidFill>
                                        <a:srgbClr val="0070C0"/>
                                      </a:solidFill>
                                      <a:latin typeface="Cambria Math"/>
                                      <a:ea typeface="Cambria Math"/>
                                      <a:cs typeface="Cambria Math"/>
                                    </a:rPr>
                                    <m:t>𝑎</m:t>
                                  </m:r>
                                </m:e>
                              </m:d>
                            </m:e>
                          </m:d>
                        </m:e>
                        <m:sup>
                          <m:r>
                            <a:rPr lang="it-IT" sz="2300" b="0" i="1" dirty="0" smtClean="0">
                              <a:solidFill>
                                <a:srgbClr val="0070C0"/>
                              </a:solidFill>
                              <a:latin typeface="Cambria Math" panose="02040503050406030204" pitchFamily="18" charset="0"/>
                              <a:ea typeface="Cambria Math"/>
                            </a:rPr>
                            <m:t>⊤</m:t>
                          </m:r>
                        </m:sup>
                      </m:sSup>
                      <m:r>
                        <a:rPr lang="it-IT" sz="2300" b="0" i="1" dirty="0" smtClean="0">
                          <a:solidFill>
                            <a:srgbClr val="0070C0"/>
                          </a:solidFill>
                          <a:latin typeface="Cambria Math" panose="02040503050406030204" pitchFamily="18" charset="0"/>
                          <a:ea typeface="Cambria Math"/>
                        </a:rPr>
                        <m:t>=</m:t>
                      </m:r>
                      <m:r>
                        <a:rPr lang="it-IT" sz="2300" b="0" i="0" dirty="0" smtClean="0">
                          <a:solidFill>
                            <a:srgbClr val="0070C0"/>
                          </a:solidFill>
                          <a:latin typeface="Cambria Math" panose="02040503050406030204" pitchFamily="18" charset="0"/>
                          <a:ea typeface="Cambria Math"/>
                        </a:rPr>
                        <m:t>−</m:t>
                      </m:r>
                      <m:r>
                        <a:rPr lang="it-IT" sz="2300" b="0" i="1" dirty="0" smtClean="0">
                          <a:solidFill>
                            <a:srgbClr val="0070C0"/>
                          </a:solidFill>
                          <a:latin typeface="Cambria Math" panose="02040503050406030204" pitchFamily="18" charset="0"/>
                          <a:ea typeface="Cambria Math"/>
                        </a:rPr>
                        <m:t>𝜂</m:t>
                      </m:r>
                      <m:r>
                        <m:rPr>
                          <m:sty m:val="p"/>
                        </m:rPr>
                        <a:rPr lang="it-IT" sz="2300" dirty="0" smtClean="0">
                          <a:solidFill>
                            <a:srgbClr val="3588C3"/>
                          </a:solidFill>
                          <a:latin typeface="Cambria Math" panose="02040503050406030204" pitchFamily="18" charset="0"/>
                          <a:ea typeface="Cambria Math"/>
                          <a:cs typeface="Cambria Math"/>
                        </a:rPr>
                        <m:t>∇</m:t>
                      </m:r>
                      <m:sSubSup>
                        <m:sSubSupPr>
                          <m:ctrlPr>
                            <a:rPr lang="en-GB" sz="2300" dirty="0">
                              <a:solidFill>
                                <a:srgbClr val="3588C3"/>
                              </a:solidFill>
                              <a:latin typeface="Cambria Math"/>
                              <a:ea typeface="Cambria Math"/>
                              <a:cs typeface="Cambria Math"/>
                            </a:rPr>
                          </m:ctrlPr>
                        </m:sSubSupPr>
                        <m:e>
                          <m:r>
                            <a:rPr lang="en-GB" sz="2300" dirty="0">
                              <a:solidFill>
                                <a:srgbClr val="3588C3"/>
                              </a:solidFill>
                              <a:latin typeface="Cambria Math"/>
                              <a:ea typeface="Cambria Math"/>
                              <a:cs typeface="Cambria Math"/>
                            </a:rPr>
                            <m:t>ℒ</m:t>
                          </m:r>
                        </m:e>
                        <m:sub>
                          <m:r>
                            <m:rPr>
                              <m:sty m:val="p"/>
                            </m:rPr>
                            <a:rPr lang="en-GB" sz="2300" dirty="0">
                              <a:solidFill>
                                <a:srgbClr val="3588C3"/>
                              </a:solidFill>
                              <a:latin typeface="Cambria Math"/>
                              <a:ea typeface="Cambria Math"/>
                              <a:cs typeface="Cambria Math"/>
                            </a:rPr>
                            <m:t>sq</m:t>
                          </m:r>
                        </m:sub>
                        <m:sup>
                          <m:r>
                            <m:rPr>
                              <m:sty m:val="p"/>
                            </m:rPr>
                            <a:rPr lang="en-GB" sz="2300" dirty="0">
                              <a:solidFill>
                                <a:srgbClr val="3588C3"/>
                              </a:solidFill>
                              <a:latin typeface="Cambria Math"/>
                              <a:ea typeface="Cambria Math"/>
                              <a:cs typeface="Cambria Math"/>
                            </a:rPr>
                            <m:t>aff</m:t>
                          </m:r>
                        </m:sup>
                      </m:sSubSup>
                      <m:d>
                        <m:dPr>
                          <m:ctrlPr>
                            <a:rPr lang="it-IT" sz="2300" i="1" dirty="0">
                              <a:solidFill>
                                <a:srgbClr val="3588C3"/>
                              </a:solidFill>
                              <a:latin typeface="Cambria Math" panose="02040503050406030204" pitchFamily="18" charset="0"/>
                              <a:ea typeface="Cambria Math"/>
                              <a:cs typeface="Cambria Math"/>
                            </a:rPr>
                          </m:ctrlPr>
                        </m:dPr>
                        <m:e>
                          <m:r>
                            <a:rPr lang="it-IT" sz="2300" i="1" dirty="0">
                              <a:solidFill>
                                <a:srgbClr val="3588C3"/>
                              </a:solidFill>
                              <a:latin typeface="Cambria Math" panose="02040503050406030204" pitchFamily="18" charset="0"/>
                              <a:ea typeface="Cambria Math"/>
                              <a:cs typeface="Cambria Math"/>
                            </a:rPr>
                            <m:t>𝑏</m:t>
                          </m:r>
                          <m:r>
                            <a:rPr lang="it-IT" sz="2300" i="1" dirty="0">
                              <a:solidFill>
                                <a:srgbClr val="3588C3"/>
                              </a:solidFill>
                              <a:latin typeface="Cambria Math" panose="02040503050406030204" pitchFamily="18" charset="0"/>
                              <a:ea typeface="Cambria Math"/>
                              <a:cs typeface="Cambria Math"/>
                            </a:rPr>
                            <m:t>,</m:t>
                          </m:r>
                          <m:r>
                            <a:rPr lang="it-IT" sz="2300" i="1" dirty="0">
                              <a:solidFill>
                                <a:srgbClr val="3588C3"/>
                              </a:solidFill>
                              <a:latin typeface="Cambria Math" panose="02040503050406030204" pitchFamily="18" charset="0"/>
                              <a:ea typeface="Cambria Math"/>
                              <a:cs typeface="Cambria Math"/>
                            </a:rPr>
                            <m:t>𝑎</m:t>
                          </m:r>
                        </m:e>
                      </m:d>
                    </m:oMath>
                  </m:oMathPara>
                </a14:m>
                <a:endParaRPr lang="en-GB" sz="2300" b="0" i="0" dirty="0">
                  <a:solidFill>
                    <a:srgbClr val="0070C0"/>
                  </a:solidFill>
                  <a:latin typeface="Cambria Math"/>
                  <a:ea typeface="Cambria Math"/>
                  <a:cs typeface="Cambria Math"/>
                </a:endParaRPr>
              </a:p>
            </p:txBody>
          </p:sp>
        </mc:Choice>
        <mc:Fallback xmlns="">
          <p:sp>
            <p:nvSpPr>
              <p:cNvPr id="5" name="eq_145">
                <a:extLst>
                  <a:ext uri="{FF2B5EF4-FFF2-40B4-BE49-F238E27FC236}">
                    <a16:creationId xmlns:a16="http://schemas.microsoft.com/office/drawing/2014/main" id="{E18217B6-DEA5-4575-A345-8C191F0AFBB2}"/>
                  </a:ext>
                </a:extLst>
              </p:cNvPr>
              <p:cNvSpPr txBox="1">
                <a:spLocks noGrp="1" noRot="1" noChangeAspect="1" noMove="1" noResize="1" noEditPoints="1" noAdjustHandles="1" noChangeArrowheads="1" noChangeShapeType="1" noTextEdit="1"/>
              </p:cNvSpPr>
              <p:nvPr/>
            </p:nvSpPr>
            <p:spPr>
              <a:xfrm>
                <a:off x="670179" y="3385678"/>
                <a:ext cx="10953750" cy="1044469"/>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146">
                <a:extLst>
                  <a:ext uri="{FF2B5EF4-FFF2-40B4-BE49-F238E27FC236}">
                    <a16:creationId xmlns:a16="http://schemas.microsoft.com/office/drawing/2014/main" id="{DE3D3F3E-D00D-4FCB-89BC-019D830DBED9}"/>
                  </a:ext>
                </a:extLst>
              </p:cNvPr>
              <p:cNvSpPr txBox="1">
                <a:spLocks noGrp="1"/>
              </p:cNvSpPr>
              <p:nvPr/>
            </p:nvSpPr>
            <p:spPr>
              <a:xfrm>
                <a:off x="609600" y="5098936"/>
                <a:ext cx="10953750" cy="556421"/>
              </a:xfrm>
              <a:prstGeom prst="rect">
                <a:avLst/>
              </a:prstGeom>
              <a:noFill/>
              <a:ln w="0">
                <a:noFill/>
              </a:ln>
            </p:spPr>
            <p:txBody>
              <a:bodyPr vertOverflow="overflow" wrap="none" lIns="0" tIns="0" rIns="0" bIns="0" anchor="ctr">
                <a:noAutofit/>
              </a:bodyPr>
              <a:lstStyle/>
              <a:p>
                <a:pPr algn="ctr">
                  <a:defRPr lang="en-GB" sz="2325" b="0" i="0" dirty="0">
                    <a:solidFill>
                      <a:srgbClr val="087F83"/>
                    </a:solidFill>
                    <a:latin typeface="Cambria Math"/>
                    <a:ea typeface="Cambria Math"/>
                    <a:cs typeface="Cambria Math"/>
                  </a:defRPr>
                </a:pPr>
                <a14:m>
                  <m:oMathPara xmlns:m="http://schemas.openxmlformats.org/officeDocument/2006/math">
                    <m:oMathParaPr>
                      <m:jc m:val="center"/>
                    </m:oMathParaPr>
                    <m:oMath>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en-GB" sz="2300" b="0" dirty="0">
                              <a:solidFill>
                                <a:srgbClr val="087F83"/>
                              </a:solidFill>
                              <a:latin typeface="Cambria Math"/>
                              <a:ea typeface="Cambria Math"/>
                              <a:cs typeface="Cambria Math"/>
                            </a:rPr>
                          </m:ctrlPr>
                        </m:dPr>
                        <m:e>
                          <m:r>
                            <a:rPr lang="en-GB" sz="2300" b="0" dirty="0">
                              <a:solidFill>
                                <a:srgbClr val="087F83"/>
                              </a:solidFill>
                              <a:latin typeface="Cambria Math"/>
                              <a:ea typeface="Cambria Math"/>
                              <a:cs typeface="Cambria Math"/>
                            </a:rPr>
                            <m:t>𝑏</m:t>
                          </m:r>
                          <m:r>
                            <a:rPr lang="en-GB" sz="2300" b="0" dirty="0">
                              <a:solidFill>
                                <a:srgbClr val="087F83"/>
                              </a:solidFill>
                              <a:latin typeface="Cambria Math"/>
                              <a:ea typeface="Cambria Math"/>
                              <a:cs typeface="Cambria Math"/>
                            </a:rPr>
                            <m:t>+</m:t>
                          </m:r>
                          <m:r>
                            <m:rPr>
                              <m:sty m:val="p"/>
                            </m:rPr>
                            <a:rPr lang="en-GB" sz="2300" dirty="0">
                              <a:solidFill>
                                <a:srgbClr val="087F83"/>
                              </a:solidFill>
                              <a:latin typeface="Cambria Math"/>
                              <a:ea typeface="Cambria Math"/>
                              <a:cs typeface="Cambria Math"/>
                            </a:rPr>
                            <m:t>Δ</m:t>
                          </m:r>
                          <m:r>
                            <a:rPr lang="en-GB" sz="2300" b="0" dirty="0">
                              <a:solidFill>
                                <a:srgbClr val="087F83"/>
                              </a:solidFill>
                              <a:latin typeface="Cambria Math"/>
                              <a:ea typeface="Cambria Math"/>
                              <a:cs typeface="Cambria Math"/>
                            </a:rPr>
                            <m:t>𝑏</m:t>
                          </m:r>
                          <m:r>
                            <a:rPr lang="en-GB" sz="2300" b="0" dirty="0">
                              <a:solidFill>
                                <a:srgbClr val="087F83"/>
                              </a:solidFill>
                              <a:latin typeface="Cambria Math"/>
                              <a:ea typeface="Cambria Math"/>
                              <a:cs typeface="Cambria Math"/>
                            </a:rPr>
                            <m:t>,</m:t>
                          </m:r>
                          <m:r>
                            <a:rPr lang="en-GB" sz="2300" b="0" dirty="0">
                              <a:solidFill>
                                <a:srgbClr val="087F83"/>
                              </a:solidFill>
                              <a:latin typeface="Cambria Math"/>
                              <a:ea typeface="Cambria Math"/>
                              <a:cs typeface="Cambria Math"/>
                            </a:rPr>
                            <m:t>𝑎</m:t>
                          </m:r>
                          <m:r>
                            <a:rPr lang="en-GB" sz="2300" b="0" dirty="0">
                              <a:solidFill>
                                <a:srgbClr val="087F83"/>
                              </a:solidFill>
                              <a:latin typeface="Cambria Math"/>
                              <a:ea typeface="Cambria Math"/>
                              <a:cs typeface="Cambria Math"/>
                            </a:rPr>
                            <m:t>+</m:t>
                          </m:r>
                          <m:r>
                            <m:rPr>
                              <m:sty m:val="p"/>
                            </m:rPr>
                            <a:rPr lang="en-GB" sz="2300" dirty="0">
                              <a:solidFill>
                                <a:srgbClr val="087F83"/>
                              </a:solidFill>
                              <a:latin typeface="Cambria Math"/>
                              <a:ea typeface="Cambria Math"/>
                              <a:cs typeface="Cambria Math"/>
                            </a:rPr>
                            <m:t>Δ</m:t>
                          </m:r>
                          <m:r>
                            <a:rPr lang="en-GB" sz="2300" b="0" dirty="0">
                              <a:solidFill>
                                <a:srgbClr val="087F83"/>
                              </a:solidFill>
                              <a:latin typeface="Cambria Math"/>
                              <a:ea typeface="Cambria Math"/>
                              <a:cs typeface="Cambria Math"/>
                            </a:rPr>
                            <m:t>𝑎</m:t>
                          </m:r>
                        </m:e>
                      </m:d>
                      <m:r>
                        <a:rPr lang="en-GB" sz="2300" b="0" dirty="0">
                          <a:solidFill>
                            <a:srgbClr val="087F83"/>
                          </a:solidFill>
                          <a:latin typeface="Cambria Math"/>
                          <a:ea typeface="Cambria Math"/>
                          <a:cs typeface="Cambria Math"/>
                        </a:rPr>
                        <m: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en-GB" sz="2300" dirty="0">
                              <a:solidFill>
                                <a:srgbClr val="087F83"/>
                              </a:solidFill>
                              <a:latin typeface="Cambria Math"/>
                              <a:ea typeface="Cambria Math"/>
                              <a:cs typeface="Cambria Math"/>
                            </a:rPr>
                          </m:ctrlPr>
                        </m:dPr>
                        <m:e>
                          <m:r>
                            <a:rPr lang="en-GB" sz="2300" dirty="0">
                              <a:solidFill>
                                <a:srgbClr val="087F83"/>
                              </a:solidFill>
                              <a:latin typeface="Cambria Math"/>
                              <a:ea typeface="Cambria Math"/>
                              <a:cs typeface="Cambria Math"/>
                            </a:rPr>
                            <m:t>𝑏</m:t>
                          </m:r>
                          <m:r>
                            <a:rPr lang="en-GB" sz="2300" dirty="0">
                              <a:solidFill>
                                <a:srgbClr val="087F83"/>
                              </a:solidFill>
                              <a:latin typeface="Cambria Math"/>
                              <a:ea typeface="Cambria Math"/>
                              <a:cs typeface="Cambria Math"/>
                            </a:rPr>
                            <m:t>,</m:t>
                          </m:r>
                          <m:r>
                            <a:rPr lang="en-GB" sz="2300" dirty="0">
                              <a:solidFill>
                                <a:srgbClr val="087F83"/>
                              </a:solidFill>
                              <a:latin typeface="Cambria Math"/>
                              <a:ea typeface="Cambria Math"/>
                              <a:cs typeface="Cambria Math"/>
                            </a:rPr>
                            <m:t>𝑎</m:t>
                          </m:r>
                        </m:e>
                      </m:d>
                      <m:r>
                        <a:rPr lang="en-GB" sz="2300" b="0" dirty="0">
                          <a:solidFill>
                            <a:srgbClr val="087F83"/>
                          </a:solidFill>
                          <a:latin typeface="Cambria Math"/>
                          <a:ea typeface="Cambria Math"/>
                          <a:cs typeface="Cambria Math"/>
                        </a:rPr>
                        <m:t>−</m:t>
                      </m:r>
                      <m:r>
                        <a:rPr lang="it-IT" sz="2300" i="1" dirty="0">
                          <a:solidFill>
                            <a:srgbClr val="087F83"/>
                          </a:solidFill>
                          <a:latin typeface="Cambria Math" panose="02040503050406030204" pitchFamily="18" charset="0"/>
                          <a:ea typeface="Cambria Math"/>
                        </a:rPr>
                        <m:t>𝜂</m:t>
                      </m:r>
                      <m:sSubSup>
                        <m:sSubSupPr>
                          <m:ctrlPr>
                            <a:rPr lang="it-IT" sz="2300" i="1" dirty="0" smtClean="0">
                              <a:solidFill>
                                <a:srgbClr val="35969D"/>
                              </a:solidFill>
                              <a:latin typeface="Cambria Math" panose="02040503050406030204" pitchFamily="18" charset="0"/>
                              <a:ea typeface="Cambria Math"/>
                              <a:cs typeface="Cambria Math"/>
                            </a:rPr>
                          </m:ctrlPr>
                        </m:sSubSupPr>
                        <m:e>
                          <m:d>
                            <m:dPr>
                              <m:begChr m:val="‖"/>
                              <m:endChr m:val="‖"/>
                              <m:ctrlPr>
                                <a:rPr lang="it-IT" sz="2300" dirty="0" smtClean="0">
                                  <a:solidFill>
                                    <a:srgbClr val="35969D"/>
                                  </a:solidFill>
                                  <a:latin typeface="Cambria Math" panose="02040503050406030204" pitchFamily="18" charset="0"/>
                                  <a:ea typeface="Cambria Math"/>
                                  <a:cs typeface="Cambria Math"/>
                                </a:rPr>
                              </m:ctrlPr>
                            </m:dPr>
                            <m:e>
                              <m:r>
                                <m:rPr>
                                  <m:sty m:val="p"/>
                                </m:rPr>
                                <a:rPr lang="it-IT" sz="2300" dirty="0" smtClean="0">
                                  <a:solidFill>
                                    <a:srgbClr val="35969D"/>
                                  </a:solidFill>
                                  <a:latin typeface="Cambria Math" panose="02040503050406030204" pitchFamily="18" charset="0"/>
                                  <a:ea typeface="Cambria Math"/>
                                  <a:cs typeface="Cambria Math"/>
                                </a:rPr>
                                <m: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it-IT" sz="2300" i="1" dirty="0">
                                      <a:latin typeface="Cambria Math" panose="02040503050406030204" pitchFamily="18" charset="0"/>
                                      <a:ea typeface="Cambria Math"/>
                                      <a:cs typeface="Cambria Math"/>
                                    </a:rPr>
                                  </m:ctrlPr>
                                </m:dPr>
                                <m:e>
                                  <m:r>
                                    <a:rPr lang="it-IT" sz="2300" i="1" dirty="0">
                                      <a:latin typeface="Cambria Math" panose="02040503050406030204" pitchFamily="18" charset="0"/>
                                      <a:ea typeface="Cambria Math"/>
                                      <a:cs typeface="Cambria Math"/>
                                    </a:rPr>
                                    <m:t>𝑏</m:t>
                                  </m:r>
                                  <m:r>
                                    <a:rPr lang="it-IT" sz="2300" i="1" dirty="0">
                                      <a:latin typeface="Cambria Math" panose="02040503050406030204" pitchFamily="18" charset="0"/>
                                      <a:ea typeface="Cambria Math"/>
                                      <a:cs typeface="Cambria Math"/>
                                    </a:rPr>
                                    <m:t>,</m:t>
                                  </m:r>
                                  <m:r>
                                    <a:rPr lang="it-IT" sz="2300" i="1" dirty="0">
                                      <a:latin typeface="Cambria Math" panose="02040503050406030204" pitchFamily="18" charset="0"/>
                                      <a:ea typeface="Cambria Math"/>
                                      <a:cs typeface="Cambria Math"/>
                                    </a:rPr>
                                    <m:t>𝑎</m:t>
                                  </m:r>
                                </m:e>
                              </m:d>
                            </m:e>
                          </m:d>
                        </m:e>
                        <m:sub>
                          <m:r>
                            <a:rPr lang="it-IT" sz="2300" b="0" i="1" dirty="0" smtClean="0">
                              <a:solidFill>
                                <a:srgbClr val="087F83"/>
                              </a:solidFill>
                              <a:latin typeface="Cambria Math" panose="02040503050406030204" pitchFamily="18" charset="0"/>
                              <a:ea typeface="Cambria Math"/>
                            </a:rPr>
                            <m:t>2</m:t>
                          </m:r>
                        </m:sub>
                        <m:sup>
                          <m:r>
                            <a:rPr lang="it-IT" sz="2300" b="0" i="1" dirty="0" smtClean="0">
                              <a:solidFill>
                                <a:srgbClr val="087F83"/>
                              </a:solidFill>
                              <a:latin typeface="Cambria Math" panose="02040503050406030204" pitchFamily="18" charset="0"/>
                              <a:ea typeface="Cambria Math"/>
                            </a:rPr>
                            <m:t>2</m:t>
                          </m:r>
                        </m:sup>
                      </m:sSubSup>
                      <m:r>
                        <a:rPr lang="it-IT" sz="2300" b="0" i="1" dirty="0" smtClean="0">
                          <a:solidFill>
                            <a:srgbClr val="087F83"/>
                          </a:solidFill>
                          <a:latin typeface="Cambria Math" panose="02040503050406030204" pitchFamily="18" charset="0"/>
                          <a:ea typeface="Cambria Math"/>
                        </a:rPr>
                        <m:t>&lt;</m:t>
                      </m:r>
                      <m:sSubSup>
                        <m:sSubSupPr>
                          <m:ctrlPr>
                            <a:rPr lang="en-GB" sz="2300" dirty="0">
                              <a:latin typeface="Cambria Math"/>
                              <a:ea typeface="Cambria Math"/>
                              <a:cs typeface="Cambria Math"/>
                            </a:rPr>
                          </m:ctrlPr>
                        </m:sSubSupPr>
                        <m:e>
                          <m:r>
                            <a:rPr lang="en-GB" sz="2300" dirty="0">
                              <a:latin typeface="Cambria Math"/>
                              <a:ea typeface="Cambria Math"/>
                              <a:cs typeface="Cambria Math"/>
                            </a:rPr>
                            <m:t>ℒ</m:t>
                          </m:r>
                        </m:e>
                        <m:sub>
                          <m:r>
                            <m:rPr>
                              <m:sty m:val="p"/>
                            </m:rPr>
                            <a:rPr lang="en-GB" sz="2300" dirty="0">
                              <a:latin typeface="Cambria Math"/>
                              <a:ea typeface="Cambria Math"/>
                              <a:cs typeface="Cambria Math"/>
                            </a:rPr>
                            <m:t>sq</m:t>
                          </m:r>
                        </m:sub>
                        <m:sup>
                          <m:r>
                            <m:rPr>
                              <m:sty m:val="p"/>
                            </m:rPr>
                            <a:rPr lang="en-GB" sz="2300" dirty="0">
                              <a:latin typeface="Cambria Math"/>
                              <a:ea typeface="Cambria Math"/>
                              <a:cs typeface="Cambria Math"/>
                            </a:rPr>
                            <m:t>aff</m:t>
                          </m:r>
                        </m:sup>
                      </m:sSubSup>
                      <m:d>
                        <m:dPr>
                          <m:ctrlPr>
                            <a:rPr lang="en-GB" sz="2300" dirty="0">
                              <a:solidFill>
                                <a:srgbClr val="087F83"/>
                              </a:solidFill>
                              <a:latin typeface="Cambria Math"/>
                              <a:ea typeface="Cambria Math"/>
                              <a:cs typeface="Cambria Math"/>
                            </a:rPr>
                          </m:ctrlPr>
                        </m:dPr>
                        <m:e>
                          <m:r>
                            <a:rPr lang="en-GB" sz="2300" dirty="0">
                              <a:solidFill>
                                <a:srgbClr val="087F83"/>
                              </a:solidFill>
                              <a:latin typeface="Cambria Math"/>
                              <a:ea typeface="Cambria Math"/>
                              <a:cs typeface="Cambria Math"/>
                            </a:rPr>
                            <m:t>𝑏</m:t>
                          </m:r>
                          <m:r>
                            <a:rPr lang="en-GB" sz="2300" dirty="0">
                              <a:solidFill>
                                <a:srgbClr val="087F83"/>
                              </a:solidFill>
                              <a:latin typeface="Cambria Math"/>
                              <a:ea typeface="Cambria Math"/>
                              <a:cs typeface="Cambria Math"/>
                            </a:rPr>
                            <m:t>,</m:t>
                          </m:r>
                          <m:r>
                            <a:rPr lang="en-GB" sz="2300" dirty="0">
                              <a:solidFill>
                                <a:srgbClr val="087F83"/>
                              </a:solidFill>
                              <a:latin typeface="Cambria Math"/>
                              <a:ea typeface="Cambria Math"/>
                              <a:cs typeface="Cambria Math"/>
                            </a:rPr>
                            <m:t>𝑎</m:t>
                          </m:r>
                        </m:e>
                      </m:d>
                    </m:oMath>
                  </m:oMathPara>
                </a14:m>
                <a:endParaRPr lang="en-GB" sz="2300" b="0" i="0" dirty="0">
                  <a:solidFill>
                    <a:srgbClr val="087F83"/>
                  </a:solidFill>
                  <a:latin typeface="Cambria Math"/>
                  <a:ea typeface="Cambria Math"/>
                  <a:cs typeface="Cambria Math"/>
                </a:endParaRPr>
              </a:p>
            </p:txBody>
          </p:sp>
        </mc:Choice>
        <mc:Fallback xmlns="">
          <p:sp>
            <p:nvSpPr>
              <p:cNvPr id="6" name="eq_146">
                <a:extLst>
                  <a:ext uri="{FF2B5EF4-FFF2-40B4-BE49-F238E27FC236}">
                    <a16:creationId xmlns:a16="http://schemas.microsoft.com/office/drawing/2014/main" id="{DE3D3F3E-D00D-4FCB-89BC-019D830DBED9}"/>
                  </a:ext>
                </a:extLst>
              </p:cNvPr>
              <p:cNvSpPr txBox="1">
                <a:spLocks noGrp="1" noRot="1" noChangeAspect="1" noMove="1" noResize="1" noEditPoints="1" noAdjustHandles="1" noChangeArrowheads="1" noChangeShapeType="1" noTextEdit="1"/>
              </p:cNvSpPr>
              <p:nvPr/>
            </p:nvSpPr>
            <p:spPr>
              <a:xfrm>
                <a:off x="609600" y="5098936"/>
                <a:ext cx="10953750" cy="556421"/>
              </a:xfrm>
              <a:prstGeom prst="rect">
                <a:avLst/>
              </a:prstGeom>
              <a:blipFill>
                <a:blip r:embed="rId6"/>
                <a:stretch>
                  <a:fillRect/>
                </a:stretch>
              </a:blipFill>
              <a:ln w="0">
                <a:noFill/>
              </a:ln>
            </p:spPr>
            <p:txBody>
              <a:bodyPr/>
              <a:lstStyle/>
              <a:p>
                <a:r>
                  <a:rPr lang="it-IT">
                    <a:noFill/>
                  </a:rPr>
                  <a:t> </a:t>
                </a:r>
              </a:p>
            </p:txBody>
          </p:sp>
        </mc:Fallback>
      </mc:AlternateContent>
      <p:sp>
        <p:nvSpPr>
          <p:cNvPr id="7" name="txt_147">
            <a:extLst>
              <a:ext uri="{FF2B5EF4-FFF2-40B4-BE49-F238E27FC236}">
                <a16:creationId xmlns:a16="http://schemas.microsoft.com/office/drawing/2014/main" id="{A53504F6-AF84-40C5-BE6B-900559690C0C}"/>
              </a:ext>
            </a:extLst>
          </p:cNvPr>
          <p:cNvSpPr txBox="1">
            <a:spLocks noGrp="1"/>
          </p:cNvSpPr>
          <p:nvPr/>
        </p:nvSpPr>
        <p:spPr>
          <a:xfrm>
            <a:off x="609600" y="6096000"/>
            <a:ext cx="10953750" cy="419100"/>
          </a:xfrm>
          <a:prstGeom prst="rect">
            <a:avLst/>
          </a:prstGeom>
          <a:noFill/>
          <a:ln w="0">
            <a:noFill/>
          </a:ln>
        </p:spPr>
        <p:txBody>
          <a:bodyPr vertOverflow="overflow" wrap="square" lIns="0" tIns="0" rIns="0" bIns="0" anchor="ctr">
            <a:noAutofit/>
          </a:bodyPr>
          <a:lstStyle/>
          <a:p>
            <a:pPr marL="0" marR="0" indent="0" algn="ctr">
              <a:defRPr lang="en-GB" sz="2000" b="0" dirty="0">
                <a:solidFill>
                  <a:srgbClr val="526276"/>
                </a:solidFill>
                <a:latin typeface="DejaVu Sans"/>
                <a:ea typeface="DejaVu Sans"/>
                <a:cs typeface="DejaVu Sans"/>
              </a:defRPr>
            </a:pPr>
            <a:r>
              <a:rPr lang="en-GB" sz="2000" b="0" dirty="0">
                <a:solidFill>
                  <a:srgbClr val="526276"/>
                </a:solidFill>
                <a:latin typeface="DejaVu Sans"/>
                <a:ea typeface="DejaVu Sans"/>
                <a:cs typeface="DejaVu Sans"/>
              </a:rPr>
              <a:t>If the gradient is </a:t>
            </a:r>
            <a:r>
              <a:rPr lang="en-GB" sz="2000" b="0" dirty="0">
                <a:solidFill>
                  <a:srgbClr val="FF0000"/>
                </a:solidFill>
                <a:latin typeface="DejaVu Sans"/>
                <a:ea typeface="DejaVu Sans"/>
                <a:cs typeface="DejaVu Sans"/>
              </a:rPr>
              <a:t>nonzero</a:t>
            </a:r>
            <a:r>
              <a:rPr lang="en-GB" sz="2000" b="0" dirty="0">
                <a:solidFill>
                  <a:srgbClr val="526276"/>
                </a:solidFill>
                <a:latin typeface="DejaVu Sans"/>
                <a:ea typeface="DejaVu Sans"/>
                <a:cs typeface="DejaVu Sans"/>
              </a:rPr>
              <a:t>,</a:t>
            </a:r>
          </a:p>
          <a:p>
            <a:pPr marL="0" marR="0" indent="0" algn="ctr">
              <a:defRPr lang="en-GB" sz="2000" b="0" dirty="0">
                <a:solidFill>
                  <a:srgbClr val="526276"/>
                </a:solidFill>
                <a:latin typeface="DejaVu Sans"/>
                <a:ea typeface="DejaVu Sans"/>
                <a:cs typeface="DejaVu Sans"/>
              </a:defRPr>
            </a:pPr>
            <a:r>
              <a:rPr lang="en-GB" sz="2000" b="0" dirty="0">
                <a:solidFill>
                  <a:srgbClr val="526276"/>
                </a:solidFill>
                <a:latin typeface="DejaVu Sans"/>
                <a:ea typeface="DejaVu Sans"/>
                <a:cs typeface="DejaVu Sans"/>
              </a:rPr>
              <a:t>a small enough step in its opposite direction </a:t>
            </a:r>
            <a:r>
              <a:rPr lang="en-GB" sz="2000" b="0" dirty="0">
                <a:solidFill>
                  <a:srgbClr val="FF0000"/>
                </a:solidFill>
                <a:latin typeface="DejaVu Sans"/>
                <a:ea typeface="DejaVu Sans"/>
                <a:cs typeface="DejaVu Sans"/>
              </a:rPr>
              <a:t>decreases the loss</a:t>
            </a:r>
            <a:r>
              <a:rPr lang="en-GB" sz="2000" b="0" dirty="0">
                <a:solidFill>
                  <a:srgbClr val="526276"/>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231415C1-D4FF-B43C-4A95-CA6CA67A8B96}"/>
                  </a:ext>
                </a:extLst>
              </p:cNvPr>
              <p:cNvSpPr txBox="1"/>
              <p:nvPr/>
            </p:nvSpPr>
            <p:spPr>
              <a:xfrm>
                <a:off x="1331595" y="2769729"/>
                <a:ext cx="9509760" cy="415498"/>
              </a:xfrm>
              <a:prstGeom prst="rect">
                <a:avLst/>
              </a:prstGeom>
              <a:noFill/>
            </p:spPr>
            <p:txBody>
              <a:bodyPr vertOverflow="overflow" wrap="square" lIns="0" tIns="0" rIns="0" bIns="0" anchor="ctr">
                <a:noAutofit/>
              </a:bodyPr>
              <a:lstStyle/>
              <a:p>
                <a:pPr marL="0" marR="0" indent="0" algn="ctr">
                  <a:defRPr lang="en-GB" sz="2100" b="0" dirty="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For a sufficiently small step size </a:t>
                </a:r>
                <a14:m>
                  <m:oMath xmlns:m="http://schemas.openxmlformats.org/officeDocument/2006/math">
                    <m:r>
                      <a:rPr lang="en-GB" sz="2100" b="0" i="1" dirty="0" smtClean="0">
                        <a:solidFill>
                          <a:srgbClr val="182D45"/>
                        </a:solidFill>
                        <a:latin typeface="Cambria Math" panose="02040503050406030204" pitchFamily="18" charset="0"/>
                        <a:ea typeface="DejaVu Sans"/>
                        <a:cs typeface="DejaVu Sans"/>
                      </a:rPr>
                      <m:t>𝜂</m:t>
                    </m:r>
                    <m:r>
                      <a:rPr lang="it-IT" sz="2100" b="0" i="1" dirty="0" smtClean="0">
                        <a:solidFill>
                          <a:srgbClr val="182D45"/>
                        </a:solidFill>
                        <a:latin typeface="Cambria Math" panose="02040503050406030204" pitchFamily="18" charset="0"/>
                        <a:ea typeface="DejaVu Sans"/>
                        <a:cs typeface="DejaVu Sans"/>
                      </a:rPr>
                      <m:t>&gt;0</m:t>
                    </m:r>
                  </m:oMath>
                </a14:m>
                <a:r>
                  <a:rPr lang="en-GB" sz="2100" b="0" dirty="0">
                    <a:solidFill>
                      <a:srgbClr val="182D45"/>
                    </a:solidFill>
                    <a:latin typeface="DejaVu Sans"/>
                    <a:ea typeface="DejaVu Sans"/>
                    <a:cs typeface="DejaVu Sans"/>
                  </a:rPr>
                  <a:t>, if we choose</a:t>
                </a:r>
              </a:p>
            </p:txBody>
          </p:sp>
        </mc:Choice>
        <mc:Fallback xmlns="">
          <p:sp>
            <p:nvSpPr>
              <p:cNvPr id="10" name="CasellaDiTesto 9">
                <a:extLst>
                  <a:ext uri="{FF2B5EF4-FFF2-40B4-BE49-F238E27FC236}">
                    <a16:creationId xmlns:a16="http://schemas.microsoft.com/office/drawing/2014/main" id="{231415C1-D4FF-B43C-4A95-CA6CA67A8B96}"/>
                  </a:ext>
                </a:extLst>
              </p:cNvPr>
              <p:cNvSpPr txBox="1">
                <a:spLocks noRot="1" noChangeAspect="1" noMove="1" noResize="1" noEditPoints="1" noAdjustHandles="1" noChangeArrowheads="1" noChangeShapeType="1" noTextEdit="1"/>
              </p:cNvSpPr>
              <p:nvPr/>
            </p:nvSpPr>
            <p:spPr>
              <a:xfrm>
                <a:off x="1331595" y="2769729"/>
                <a:ext cx="9509760" cy="415498"/>
              </a:xfrm>
              <a:prstGeom prst="rect">
                <a:avLst/>
              </a:prstGeom>
              <a:blipFill>
                <a:blip r:embed="rId7"/>
                <a:stretch>
                  <a:fillRect t="-10145" b="-26087"/>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6E848C8F-E918-DD04-56B1-38145A39723F}"/>
              </a:ext>
            </a:extLst>
          </p:cNvPr>
          <p:cNvSpPr txBox="1"/>
          <p:nvPr/>
        </p:nvSpPr>
        <p:spPr>
          <a:xfrm>
            <a:off x="3039237" y="4599699"/>
            <a:ext cx="6094476" cy="415498"/>
          </a:xfrm>
          <a:prstGeom prst="rect">
            <a:avLst/>
          </a:prstGeom>
          <a:noFill/>
        </p:spPr>
        <p:txBody>
          <a:bodyPr wrap="square">
            <a:spAutoFit/>
          </a:bodyPr>
          <a:lstStyle/>
          <a:p>
            <a:pPr algn="ctr">
              <a:defRPr lang="en-GB" sz="2100" b="0" i="0" dirty="0">
                <a:solidFill>
                  <a:srgbClr val="182D45"/>
                </a:solidFill>
                <a:latin typeface="DejaVu Sans"/>
                <a:ea typeface="DejaVu Sans"/>
                <a:cs typeface="DejaVu Sans"/>
              </a:defRPr>
            </a:pPr>
            <a:r>
              <a:rPr lang="en-GB" b="0" i="0" dirty="0">
                <a:solidFill>
                  <a:schemeClr val="tx1"/>
                </a:solidFill>
                <a:latin typeface="DejaVu Sans"/>
                <a:ea typeface="DejaVu Sans"/>
                <a:cs typeface="DejaVu Sans"/>
              </a:rPr>
              <a:t>we obtain</a:t>
            </a:r>
          </a:p>
        </p:txBody>
      </p:sp>
    </p:spTree>
    <p:extLst>
      <p:ext uri="{BB962C8B-B14F-4D97-AF65-F5344CB8AC3E}">
        <p14:creationId xmlns:p14="http://schemas.microsoft.com/office/powerpoint/2010/main" val="270594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The two updates form a gradient step</a:t>
            </a:r>
          </a:p>
        </p:txBody>
      </p:sp>
      <p:sp>
        <p:nvSpPr>
          <p:cNvPr id="2" name="page_numbe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34</a:t>
            </a:r>
          </a:p>
        </p:txBody>
      </p:sp>
      <p:sp>
        <p:nvSpPr>
          <p:cNvPr id="3" name="gradient_definition_intro"/>
          <p:cNvSpPr txBox="1">
            <a:spLocks noGrp="1"/>
          </p:cNvSpPr>
          <p:nvPr/>
        </p:nvSpPr>
        <p:spPr>
          <a:xfrm>
            <a:off x="609600" y="1238250"/>
            <a:ext cx="10953750" cy="428625"/>
          </a:xfrm>
          <a:prstGeom prst="rect">
            <a:avLst/>
          </a:prstGeom>
          <a:noFill/>
          <a:ln w="0">
            <a:noFill/>
          </a:ln>
        </p:spPr>
        <p:txBody>
          <a:bodyPr vertOverflow="overflow" wrap="square" lIns="0" tIns="0" rIns="0" bIns="0" anchor="ctr">
            <a:noAutofit/>
          </a:bodyPr>
          <a:lstStyle/>
          <a:p>
            <a:pPr marL="0" marR="0" indent="0" algn="ctr">
              <a:defRPr lang="en-GB" sz="2100" b="0" dirty="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The partial derivatives are the components of the gradient.</a:t>
            </a:r>
          </a:p>
        </p:txBody>
      </p:sp>
      <mc:AlternateContent xmlns:mc="http://schemas.openxmlformats.org/markup-compatibility/2006">
        <mc:Choice xmlns:a14="http://schemas.microsoft.com/office/drawing/2010/main" Requires="a14">
          <p:sp>
            <p:nvSpPr>
              <p:cNvPr id="4" name="parameter_vector_and_gradient"/>
              <p:cNvSpPr txBox="1">
                <a:spLocks noGrp="1"/>
              </p:cNvSpPr>
              <p:nvPr/>
            </p:nvSpPr>
            <p:spPr>
              <a:xfrm>
                <a:off x="609600" y="1685925"/>
                <a:ext cx="10953750" cy="1809750"/>
              </a:xfrm>
              <a:prstGeom prst="rect">
                <a:avLst/>
              </a:prstGeom>
              <a:noFill/>
              <a:ln w="0">
                <a:noFill/>
              </a:ln>
            </p:spPr>
            <p:txBody>
              <a:bodyPr vertOverflow="overflow" wrap="none" lIns="0" tIns="0" rIns="0" bIns="0" anchor="ctr">
                <a:noAutofit/>
              </a:bodyPr>
              <a:lstStyle/>
              <a:p>
                <a:pPr algn="ctr">
                  <a:defRPr lang="en-GB" sz="2700" b="0" dirty="0">
                    <a:solidFill>
                      <a:srgbClr val="326CB2"/>
                    </a:solidFill>
                    <a:latin typeface="DejaVu Sans"/>
                    <a:ea typeface="DejaVu Sans"/>
                    <a:cs typeface="DejaVu Sans"/>
                  </a:defRPr>
                </a:pPr>
                <a14:m>
                  <m:oMathPara xmlns:m="http://schemas.openxmlformats.org/officeDocument/2006/math">
                    <m:oMath>
                      <m:r>
                        <a:rPr lang="en-GB" sz="2700" b="0" dirty="0" smtClean="0">
                          <a:solidFill>
                            <a:srgbClr val="326CB2"/>
                          </a:solidFill>
                          <a:latin typeface="Cambria Math"/>
                          <a:ea typeface="Cambria Math"/>
                          <a:cs typeface="Cambria Math"/>
                        </a:rPr>
                        <m:t>𝛉</m:t>
                      </m:r>
                      <m:r>
                        <a:rPr lang="en-GB" sz="2700" b="0" dirty="0" smtClean="0">
                          <a:solidFill>
                            <a:srgbClr val="326CB2"/>
                          </a:solidFill>
                          <a:latin typeface="Cambria Math"/>
                          <a:ea typeface="Cambria Math"/>
                          <a:cs typeface="Cambria Math"/>
                        </a:rPr>
                        <m:t>=</m:t>
                      </m:r>
                      <m:d>
                        <m:dPr>
                          <m:ctrlPr>
                            <a:rPr lang="en-GB" sz="2700" b="0" i="1" dirty="0">
                              <a:solidFill>
                                <a:srgbClr val="326CB2"/>
                              </a:solidFill>
                              <a:latin typeface="Cambria Math" panose="02040503050406030204" pitchFamily="18" charset="0"/>
                              <a:ea typeface="Cambria Math"/>
                              <a:cs typeface="Cambria Math"/>
                            </a:rPr>
                          </m:ctrlPr>
                        </m:dPr>
                        <m:e>
                          <m:m>
                            <m:mPr>
                              <m:plcHide m:val="on"/>
                              <m:mcs>
                                <m:mc>
                                  <m:mcPr>
                                    <m:count m:val="1"/>
                                    <m:mcJc m:val="center"/>
                                  </m:mcPr>
                                </m:mc>
                              </m:mcs>
                              <m:ctrlPr>
                                <a:rPr lang="en-GB" sz="2700" b="0" i="1" dirty="0">
                                  <a:solidFill>
                                    <a:srgbClr val="326CB2"/>
                                  </a:solidFill>
                                  <a:latin typeface="Cambria Math" panose="02040503050406030204" pitchFamily="18" charset="0"/>
                                  <a:ea typeface="Cambria Math"/>
                                  <a:cs typeface="Cambria Math"/>
                                </a:rPr>
                              </m:ctrlPr>
                            </m:mPr>
                            <m:mr>
                              <m:e>
                                <m:r>
                                  <a:rPr lang="en-GB" sz="2700" b="0" dirty="0">
                                    <a:solidFill>
                                      <a:srgbClr val="326CB2"/>
                                    </a:solidFill>
                                    <a:latin typeface="Cambria Math"/>
                                    <a:ea typeface="Cambria Math"/>
                                    <a:cs typeface="Cambria Math"/>
                                  </a:rPr>
                                  <m:t>𝑏</m:t>
                                </m:r>
                              </m:e>
                            </m:mr>
                            <m:mr>
                              <m:e>
                                <m:r>
                                  <a:rPr lang="en-GB" sz="2700" b="0" dirty="0">
                                    <a:solidFill>
                                      <a:srgbClr val="326CB2"/>
                                    </a:solidFill>
                                    <a:latin typeface="Cambria Math"/>
                                    <a:ea typeface="Cambria Math"/>
                                    <a:cs typeface="Cambria Math"/>
                                  </a:rPr>
                                  <m:t>𝑎</m:t>
                                </m:r>
                              </m:e>
                            </m:mr>
                          </m:m>
                        </m:e>
                      </m:d>
                      <m:r>
                        <a:rPr lang="en-GB" sz="2700" b="0" dirty="0">
                          <a:solidFill>
                            <a:srgbClr val="326CB2"/>
                          </a:solidFill>
                          <a:latin typeface="Cambria Math"/>
                          <a:ea typeface="Cambria Math"/>
                          <a:cs typeface="Cambria Math"/>
                        </a:rPr>
                        <m:t>,  </m:t>
                      </m:r>
                      <m:r>
                        <m:rPr>
                          <m:sty m:val="p"/>
                        </m:rPr>
                        <a:rPr lang="en-GB" sz="2700" b="0" dirty="0">
                          <a:solidFill>
                            <a:srgbClr val="326CB2"/>
                          </a:solidFill>
                          <a:latin typeface="Cambria Math"/>
                          <a:ea typeface="Cambria Math"/>
                          <a:cs typeface="Cambria Math"/>
                        </a:rPr>
                        <m:t>∇</m:t>
                      </m:r>
                      <m:sSubSup>
                        <m:sSubSupPr>
                          <m:ctrlPr>
                            <a:rPr lang="en-GB" sz="2700" b="0" dirty="0">
                              <a:solidFill>
                                <a:srgbClr val="326CB2"/>
                              </a:solidFill>
                              <a:latin typeface="Cambria Math"/>
                              <a:ea typeface="Cambria Math"/>
                              <a:cs typeface="Cambria Math"/>
                            </a:rPr>
                          </m:ctrlPr>
                        </m:sSubSupPr>
                        <m:e>
                          <m:r>
                            <a:rPr lang="en-GB" sz="2700" b="0" dirty="0">
                              <a:solidFill>
                                <a:srgbClr val="326CB2"/>
                              </a:solidFill>
                              <a:latin typeface="Cambria Math"/>
                              <a:ea typeface="Cambria Math"/>
                              <a:cs typeface="Cambria Math"/>
                            </a:rPr>
                            <m:t>ℒ</m:t>
                          </m:r>
                        </m:e>
                        <m:sub>
                          <m:r>
                            <m:rPr>
                              <m:sty m:val="p"/>
                            </m:rPr>
                            <a:rPr lang="en-GB" sz="2700" b="0" dirty="0">
                              <a:solidFill>
                                <a:srgbClr val="326CB2"/>
                              </a:solidFill>
                              <a:latin typeface="Cambria Math"/>
                              <a:ea typeface="Cambria Math"/>
                              <a:cs typeface="Cambria Math"/>
                            </a:rPr>
                            <m:t>sq</m:t>
                          </m:r>
                        </m:sub>
                        <m:sup>
                          <m:r>
                            <m:rPr>
                              <m:sty m:val="p"/>
                            </m:rPr>
                            <a:rPr lang="en-GB" sz="2700" b="0" dirty="0">
                              <a:solidFill>
                                <a:srgbClr val="326CB2"/>
                              </a:solidFill>
                              <a:latin typeface="Cambria Math"/>
                              <a:ea typeface="Cambria Math"/>
                              <a:cs typeface="Cambria Math"/>
                            </a:rPr>
                            <m:t>aff</m:t>
                          </m:r>
                        </m:sup>
                      </m:sSubSup>
                      <m:d>
                        <m:dPr>
                          <m:ctrlPr>
                            <a:rPr lang="en-GB" sz="2700" b="0" dirty="0">
                              <a:solidFill>
                                <a:srgbClr val="326CB2"/>
                              </a:solidFill>
                              <a:latin typeface="Cambria Math"/>
                              <a:ea typeface="Cambria Math"/>
                              <a:cs typeface="Cambria Math"/>
                            </a:rPr>
                          </m:ctrlPr>
                        </m:dPr>
                        <m:e>
                          <m:r>
                            <a:rPr lang="en-GB" sz="2700" b="0" dirty="0">
                              <a:solidFill>
                                <a:srgbClr val="326CB2"/>
                              </a:solidFill>
                              <a:latin typeface="Cambria Math"/>
                              <a:ea typeface="Cambria Math"/>
                              <a:cs typeface="Cambria Math"/>
                            </a:rPr>
                            <m:t>𝛉</m:t>
                          </m:r>
                        </m:e>
                      </m:d>
                      <m:r>
                        <a:rPr lang="en-GB" sz="2700" b="0" dirty="0">
                          <a:solidFill>
                            <a:srgbClr val="326CB2"/>
                          </a:solidFill>
                          <a:latin typeface="Cambria Math"/>
                          <a:ea typeface="Cambria Math"/>
                          <a:cs typeface="Cambria Math"/>
                        </a:rPr>
                        <m:t>=</m:t>
                      </m:r>
                      <m:sSup>
                        <m:sSupPr>
                          <m:ctrlPr>
                            <a:rPr lang="en-GB" sz="2700" b="0" i="1" dirty="0">
                              <a:solidFill>
                                <a:srgbClr val="326CB2"/>
                              </a:solidFill>
                              <a:latin typeface="Cambria Math" panose="02040503050406030204" pitchFamily="18" charset="0"/>
                              <a:ea typeface="Cambria Math"/>
                              <a:cs typeface="Cambria Math"/>
                            </a:rPr>
                          </m:ctrlPr>
                        </m:sSupPr>
                        <m:e>
                          <m:d>
                            <m:dPr>
                              <m:ctrlPr>
                                <a:rPr lang="en-GB" sz="2700" i="1" dirty="0">
                                  <a:solidFill>
                                    <a:srgbClr val="326CB2"/>
                                  </a:solidFill>
                                  <a:latin typeface="Cambria Math" panose="02040503050406030204" pitchFamily="18" charset="0"/>
                                  <a:ea typeface="Cambria Math"/>
                                  <a:cs typeface="Cambria Math"/>
                                </a:rPr>
                              </m:ctrlPr>
                            </m:dPr>
                            <m:e>
                              <m:f>
                                <m:fPr>
                                  <m:ctrlPr>
                                    <a:rPr lang="en-GB" sz="2700" dirty="0">
                                      <a:solidFill>
                                        <a:srgbClr val="326CB2"/>
                                      </a:solidFill>
                                      <a:latin typeface="Cambria Math"/>
                                      <a:ea typeface="Cambria Math"/>
                                      <a:cs typeface="Cambria Math"/>
                                    </a:rPr>
                                  </m:ctrlPr>
                                </m:fPr>
                                <m:num>
                                  <m:r>
                                    <a:rPr lang="en-GB" sz="2700" dirty="0">
                                      <a:solidFill>
                                        <a:srgbClr val="326CB2"/>
                                      </a:solidFill>
                                      <a:latin typeface="Cambria Math"/>
                                      <a:ea typeface="Cambria Math"/>
                                      <a:cs typeface="Cambria Math"/>
                                    </a:rPr>
                                    <m:t>𝜕</m:t>
                                  </m:r>
                                  <m:sSubSup>
                                    <m:sSubSupPr>
                                      <m:ctrlPr>
                                        <a:rPr lang="en-GB" sz="2700" dirty="0">
                                          <a:solidFill>
                                            <a:srgbClr val="326CB2"/>
                                          </a:solidFill>
                                          <a:latin typeface="Cambria Math"/>
                                          <a:ea typeface="Cambria Math"/>
                                          <a:cs typeface="Cambria Math"/>
                                        </a:rPr>
                                      </m:ctrlPr>
                                    </m:sSubSupPr>
                                    <m:e>
                                      <m:r>
                                        <a:rPr lang="en-GB" sz="2700" dirty="0">
                                          <a:solidFill>
                                            <a:srgbClr val="326CB2"/>
                                          </a:solidFill>
                                          <a:latin typeface="Cambria Math"/>
                                          <a:ea typeface="Cambria Math"/>
                                          <a:cs typeface="Cambria Math"/>
                                        </a:rPr>
                                        <m:t>ℒ</m:t>
                                      </m:r>
                                    </m:e>
                                    <m:sub>
                                      <m:r>
                                        <m:rPr>
                                          <m:sty m:val="p"/>
                                        </m:rPr>
                                        <a:rPr lang="en-GB" sz="2700" dirty="0">
                                          <a:solidFill>
                                            <a:srgbClr val="326CB2"/>
                                          </a:solidFill>
                                          <a:latin typeface="Cambria Math"/>
                                          <a:ea typeface="Cambria Math"/>
                                          <a:cs typeface="Cambria Math"/>
                                        </a:rPr>
                                        <m:t>sq</m:t>
                                      </m:r>
                                    </m:sub>
                                    <m:sup>
                                      <m:r>
                                        <m:rPr>
                                          <m:sty m:val="p"/>
                                        </m:rPr>
                                        <a:rPr lang="en-GB" sz="2700" dirty="0">
                                          <a:solidFill>
                                            <a:srgbClr val="326CB2"/>
                                          </a:solidFill>
                                          <a:latin typeface="Cambria Math"/>
                                          <a:ea typeface="Cambria Math"/>
                                          <a:cs typeface="Cambria Math"/>
                                        </a:rPr>
                                        <m:t>aff</m:t>
                                      </m:r>
                                    </m:sup>
                                  </m:sSubSup>
                                </m:num>
                                <m:den>
                                  <m:r>
                                    <a:rPr lang="en-GB" sz="2700" dirty="0">
                                      <a:solidFill>
                                        <a:srgbClr val="326CB2"/>
                                      </a:solidFill>
                                      <a:latin typeface="Cambria Math"/>
                                      <a:ea typeface="Cambria Math"/>
                                      <a:cs typeface="Cambria Math"/>
                                    </a:rPr>
                                    <m:t>𝜕</m:t>
                                  </m:r>
                                  <m:r>
                                    <a:rPr lang="en-GB" sz="2700" dirty="0">
                                      <a:solidFill>
                                        <a:srgbClr val="326CB2"/>
                                      </a:solidFill>
                                      <a:latin typeface="Cambria Math"/>
                                      <a:ea typeface="Cambria Math"/>
                                      <a:cs typeface="Cambria Math"/>
                                    </a:rPr>
                                    <m:t>𝑏</m:t>
                                  </m:r>
                                </m:den>
                              </m:f>
                              <m:d>
                                <m:dPr>
                                  <m:ctrlPr>
                                    <a:rPr lang="en-GB" sz="2700" dirty="0">
                                      <a:solidFill>
                                        <a:srgbClr val="326CB2"/>
                                      </a:solidFill>
                                      <a:latin typeface="Cambria Math"/>
                                      <a:ea typeface="Cambria Math"/>
                                      <a:cs typeface="Cambria Math"/>
                                    </a:rPr>
                                  </m:ctrlPr>
                                </m:dPr>
                                <m:e>
                                  <m:r>
                                    <a:rPr lang="en-GB" sz="2700" dirty="0">
                                      <a:solidFill>
                                        <a:srgbClr val="326CB2"/>
                                      </a:solidFill>
                                      <a:latin typeface="Cambria Math"/>
                                      <a:ea typeface="Cambria Math"/>
                                      <a:cs typeface="Cambria Math"/>
                                    </a:rPr>
                                    <m:t>𝑏</m:t>
                                  </m:r>
                                  <m:r>
                                    <a:rPr lang="en-GB" sz="2700" dirty="0">
                                      <a:solidFill>
                                        <a:srgbClr val="326CB2"/>
                                      </a:solidFill>
                                      <a:latin typeface="Cambria Math"/>
                                      <a:ea typeface="Cambria Math"/>
                                      <a:cs typeface="Cambria Math"/>
                                    </a:rPr>
                                    <m:t>,</m:t>
                                  </m:r>
                                  <m:r>
                                    <a:rPr lang="en-GB" sz="2700" dirty="0">
                                      <a:solidFill>
                                        <a:srgbClr val="326CB2"/>
                                      </a:solidFill>
                                      <a:latin typeface="Cambria Math"/>
                                      <a:ea typeface="Cambria Math"/>
                                      <a:cs typeface="Cambria Math"/>
                                    </a:rPr>
                                    <m:t>𝑎</m:t>
                                  </m:r>
                                </m:e>
                              </m:d>
                              <m:r>
                                <a:rPr lang="it-IT" sz="2700" b="0" i="1" dirty="0" smtClean="0">
                                  <a:solidFill>
                                    <a:srgbClr val="326CB2"/>
                                  </a:solidFill>
                                  <a:latin typeface="Cambria Math" panose="02040503050406030204" pitchFamily="18" charset="0"/>
                                  <a:ea typeface="Cambria Math"/>
                                  <a:cs typeface="Cambria Math"/>
                                </a:rPr>
                                <m:t>,</m:t>
                              </m:r>
                              <m:f>
                                <m:fPr>
                                  <m:ctrlPr>
                                    <a:rPr lang="en-GB" sz="2700" dirty="0">
                                      <a:solidFill>
                                        <a:srgbClr val="326CB2"/>
                                      </a:solidFill>
                                      <a:latin typeface="Cambria Math"/>
                                      <a:ea typeface="Cambria Math"/>
                                      <a:cs typeface="Cambria Math"/>
                                    </a:rPr>
                                  </m:ctrlPr>
                                </m:fPr>
                                <m:num>
                                  <m:r>
                                    <a:rPr lang="en-GB" sz="2700" dirty="0">
                                      <a:solidFill>
                                        <a:srgbClr val="326CB2"/>
                                      </a:solidFill>
                                      <a:latin typeface="Cambria Math"/>
                                      <a:ea typeface="Cambria Math"/>
                                      <a:cs typeface="Cambria Math"/>
                                    </a:rPr>
                                    <m:t>𝜕</m:t>
                                  </m:r>
                                  <m:sSubSup>
                                    <m:sSubSupPr>
                                      <m:ctrlPr>
                                        <a:rPr lang="en-GB" sz="2700" dirty="0">
                                          <a:solidFill>
                                            <a:srgbClr val="326CB2"/>
                                          </a:solidFill>
                                          <a:latin typeface="Cambria Math"/>
                                          <a:ea typeface="Cambria Math"/>
                                          <a:cs typeface="Cambria Math"/>
                                        </a:rPr>
                                      </m:ctrlPr>
                                    </m:sSubSupPr>
                                    <m:e>
                                      <m:r>
                                        <a:rPr lang="en-GB" sz="2700" dirty="0">
                                          <a:solidFill>
                                            <a:srgbClr val="326CB2"/>
                                          </a:solidFill>
                                          <a:latin typeface="Cambria Math"/>
                                          <a:ea typeface="Cambria Math"/>
                                          <a:cs typeface="Cambria Math"/>
                                        </a:rPr>
                                        <m:t>ℒ</m:t>
                                      </m:r>
                                    </m:e>
                                    <m:sub>
                                      <m:r>
                                        <m:rPr>
                                          <m:sty m:val="p"/>
                                        </m:rPr>
                                        <a:rPr lang="en-GB" sz="2700" dirty="0">
                                          <a:solidFill>
                                            <a:srgbClr val="326CB2"/>
                                          </a:solidFill>
                                          <a:latin typeface="Cambria Math"/>
                                          <a:ea typeface="Cambria Math"/>
                                          <a:cs typeface="Cambria Math"/>
                                        </a:rPr>
                                        <m:t>sq</m:t>
                                      </m:r>
                                    </m:sub>
                                    <m:sup>
                                      <m:r>
                                        <m:rPr>
                                          <m:sty m:val="p"/>
                                        </m:rPr>
                                        <a:rPr lang="en-GB" sz="2700" dirty="0">
                                          <a:solidFill>
                                            <a:srgbClr val="326CB2"/>
                                          </a:solidFill>
                                          <a:latin typeface="Cambria Math"/>
                                          <a:ea typeface="Cambria Math"/>
                                          <a:cs typeface="Cambria Math"/>
                                        </a:rPr>
                                        <m:t>aff</m:t>
                                      </m:r>
                                    </m:sup>
                                  </m:sSubSup>
                                </m:num>
                                <m:den>
                                  <m:r>
                                    <a:rPr lang="en-GB" sz="2700" dirty="0">
                                      <a:solidFill>
                                        <a:srgbClr val="326CB2"/>
                                      </a:solidFill>
                                      <a:latin typeface="Cambria Math"/>
                                      <a:ea typeface="Cambria Math"/>
                                      <a:cs typeface="Cambria Math"/>
                                    </a:rPr>
                                    <m:t>𝜕</m:t>
                                  </m:r>
                                  <m:r>
                                    <a:rPr lang="en-GB" sz="2700" dirty="0">
                                      <a:solidFill>
                                        <a:srgbClr val="326CB2"/>
                                      </a:solidFill>
                                      <a:latin typeface="Cambria Math"/>
                                      <a:ea typeface="Cambria Math"/>
                                      <a:cs typeface="Cambria Math"/>
                                    </a:rPr>
                                    <m:t>𝑎</m:t>
                                  </m:r>
                                </m:den>
                              </m:f>
                              <m:d>
                                <m:dPr>
                                  <m:ctrlPr>
                                    <a:rPr lang="en-GB" sz="2700" dirty="0">
                                      <a:solidFill>
                                        <a:srgbClr val="326CB2"/>
                                      </a:solidFill>
                                      <a:latin typeface="Cambria Math"/>
                                      <a:ea typeface="Cambria Math"/>
                                      <a:cs typeface="Cambria Math"/>
                                    </a:rPr>
                                  </m:ctrlPr>
                                </m:dPr>
                                <m:e>
                                  <m:r>
                                    <a:rPr lang="en-GB" sz="2700" dirty="0">
                                      <a:solidFill>
                                        <a:srgbClr val="326CB2"/>
                                      </a:solidFill>
                                      <a:latin typeface="Cambria Math"/>
                                      <a:ea typeface="Cambria Math"/>
                                      <a:cs typeface="Cambria Math"/>
                                    </a:rPr>
                                    <m:t>𝑏</m:t>
                                  </m:r>
                                  <m:r>
                                    <a:rPr lang="en-GB" sz="2700" dirty="0">
                                      <a:solidFill>
                                        <a:srgbClr val="326CB2"/>
                                      </a:solidFill>
                                      <a:latin typeface="Cambria Math"/>
                                      <a:ea typeface="Cambria Math"/>
                                      <a:cs typeface="Cambria Math"/>
                                    </a:rPr>
                                    <m:t>,</m:t>
                                  </m:r>
                                  <m:r>
                                    <a:rPr lang="en-GB" sz="2700" dirty="0">
                                      <a:solidFill>
                                        <a:srgbClr val="326CB2"/>
                                      </a:solidFill>
                                      <a:latin typeface="Cambria Math"/>
                                      <a:ea typeface="Cambria Math"/>
                                      <a:cs typeface="Cambria Math"/>
                                    </a:rPr>
                                    <m:t>𝑎</m:t>
                                  </m:r>
                                </m:e>
                              </m:d>
                              <m:m>
                                <m:mPr>
                                  <m:plcHide m:val="on"/>
                                  <m:mcs>
                                    <m:mc>
                                      <m:mcPr>
                                        <m:count m:val="1"/>
                                        <m:mcJc m:val="center"/>
                                      </m:mcPr>
                                    </m:mc>
                                  </m:mcs>
                                  <m:ctrlPr>
                                    <a:rPr lang="en-GB" sz="2700" b="0" i="1" dirty="0">
                                      <a:solidFill>
                                        <a:srgbClr val="326CB2"/>
                                      </a:solidFill>
                                      <a:latin typeface="Cambria Math" panose="02040503050406030204" pitchFamily="18" charset="0"/>
                                      <a:ea typeface="Cambria Math"/>
                                      <a:cs typeface="Cambria Math"/>
                                    </a:rPr>
                                  </m:ctrlPr>
                                </m:mPr>
                                <m:mr>
                                  <m:e/>
                                </m:mr>
                                <m:mr>
                                  <m:e/>
                                </m:mr>
                              </m:m>
                            </m:e>
                          </m:d>
                        </m:e>
                        <m:sup>
                          <m:r>
                            <a:rPr lang="it-IT" sz="2700" b="0" i="1" dirty="0" smtClean="0">
                              <a:solidFill>
                                <a:srgbClr val="326CB2"/>
                              </a:solidFill>
                              <a:latin typeface="Cambria Math" panose="02040503050406030204" pitchFamily="18" charset="0"/>
                              <a:ea typeface="Cambria Math"/>
                              <a:cs typeface="Cambria Math"/>
                            </a:rPr>
                            <m:t>⊤</m:t>
                          </m:r>
                        </m:sup>
                      </m:sSup>
                    </m:oMath>
                  </m:oMathPara>
                </a14:m>
                <a:endParaRPr lang="en-GB" sz="2700" b="0" dirty="0">
                  <a:solidFill>
                    <a:srgbClr val="326CB2"/>
                  </a:solidFill>
                  <a:latin typeface="DejaVu Sans"/>
                  <a:ea typeface="DejaVu Sans"/>
                  <a:cs typeface="DejaVu Sans"/>
                </a:endParaRPr>
              </a:p>
            </p:txBody>
          </p:sp>
        </mc:Choice>
        <mc:Fallback>
          <p:sp>
            <p:nvSpPr>
              <p:cNvPr id="4" name="parameter_vector_and_gradient"/>
              <p:cNvSpPr txBox="1">
                <a:spLocks noGrp="1" noRot="1" noChangeAspect="1" noMove="1" noResize="1" noEditPoints="1" noAdjustHandles="1" noChangeArrowheads="1" noChangeShapeType="1" noTextEdit="1"/>
              </p:cNvSpPr>
              <p:nvPr/>
            </p:nvSpPr>
            <p:spPr>
              <a:xfrm>
                <a:off x="609600" y="1685925"/>
                <a:ext cx="10953750" cy="1809750"/>
              </a:xfrm>
              <a:prstGeom prst="rect">
                <a:avLst/>
              </a:prstGeom>
              <a:blipFill>
                <a:blip r:embed="rId3"/>
                <a:stretch>
                  <a:fillRect/>
                </a:stretch>
              </a:blipFill>
              <a:ln w="0">
                <a:noFill/>
              </a:ln>
            </p:spPr>
            <p:txBody>
              <a:bodyPr/>
              <a:lstStyle/>
              <a:p>
                <a:r>
                  <a:rPr lang="it-IT">
                    <a:noFill/>
                  </a:rPr>
                  <a:t> </a:t>
                </a:r>
              </a:p>
            </p:txBody>
          </p:sp>
        </mc:Fallback>
      </mc:AlternateContent>
      <p:sp>
        <p:nvSpPr>
          <p:cNvPr id="5" name="vector_update_intro"/>
          <p:cNvSpPr txBox="1">
            <a:spLocks noGrp="1"/>
          </p:cNvSpPr>
          <p:nvPr/>
        </p:nvSpPr>
        <p:spPr>
          <a:xfrm>
            <a:off x="609600" y="3571875"/>
            <a:ext cx="10953750" cy="428625"/>
          </a:xfrm>
          <a:prstGeom prst="rect">
            <a:avLst/>
          </a:prstGeom>
          <a:noFill/>
          <a:ln w="0">
            <a:noFill/>
          </a:ln>
        </p:spPr>
        <p:txBody>
          <a:bodyPr vertOverflow="overflow" wrap="square" lIns="0" tIns="0" rIns="0" bIns="0" anchor="ctr">
            <a:noAutofit/>
          </a:bodyPr>
          <a:lstStyle/>
          <a:p>
            <a:pPr marL="0" marR="0" indent="0" algn="ctr">
              <a:defRPr lang="en-GB" sz="2100" b="0" dirty="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The two scalar updates give a single displacement in the parameter plane.</a:t>
            </a:r>
          </a:p>
        </p:txBody>
      </p:sp>
      <mc:AlternateContent xmlns:mc="http://schemas.openxmlformats.org/markup-compatibility/2006" xmlns:a14="http://schemas.microsoft.com/office/drawing/2010/main">
        <mc:Choice Requires="a14">
          <p:sp>
            <p:nvSpPr>
              <p:cNvPr id="6" name="negative_gradient_step"/>
              <p:cNvSpPr txBox="1">
                <a:spLocks noGrp="1"/>
              </p:cNvSpPr>
              <p:nvPr/>
            </p:nvSpPr>
            <p:spPr>
              <a:xfrm>
                <a:off x="609600" y="4171950"/>
                <a:ext cx="10953750" cy="1209675"/>
              </a:xfrm>
              <a:prstGeom prst="rect">
                <a:avLst/>
              </a:prstGeom>
              <a:noFill/>
              <a:ln w="0">
                <a:noFill/>
              </a:ln>
            </p:spPr>
            <p:txBody>
              <a:bodyPr vertOverflow="overflow" wrap="none" lIns="0" tIns="0" rIns="0" bIns="0" anchor="ctr">
                <a:noAutofit/>
              </a:bodyPr>
              <a:lstStyle/>
              <a:p>
                <a:pPr algn="ctr">
                  <a:defRPr lang="en-GB" sz="2600" b="0" dirty="0">
                    <a:solidFill>
                      <a:srgbClr val="00858A"/>
                    </a:solidFill>
                    <a:latin typeface="DejaVu Sans"/>
                    <a:ea typeface="DejaVu Sans"/>
                    <a:cs typeface="DejaVu Sans"/>
                  </a:defRPr>
                </a:pPr>
                <a14:m>
                  <m:oMathPara xmlns:m="http://schemas.openxmlformats.org/officeDocument/2006/math">
                    <m:oMath>
                      <m:sSup>
                        <m:sSupPr>
                          <m:ctrlPr>
                            <a:rPr lang="en-GB" sz="2600" b="0" dirty="0">
                              <a:solidFill>
                                <a:srgbClr val="00858A"/>
                              </a:solidFill>
                              <a:latin typeface="Cambria Math"/>
                              <a:ea typeface="Cambria Math"/>
                              <a:cs typeface="Cambria Math"/>
                            </a:rPr>
                          </m:ctrlPr>
                        </m:sSupPr>
                        <m:e>
                          <m:r>
                            <a:rPr lang="en-GB" sz="2600" b="0" dirty="0">
                              <a:solidFill>
                                <a:srgbClr val="00858A"/>
                              </a:solidFill>
                              <a:latin typeface="Cambria Math"/>
                              <a:ea typeface="Cambria Math"/>
                              <a:cs typeface="Cambria Math"/>
                            </a:rPr>
                            <m:t>𝛉</m:t>
                          </m:r>
                        </m:e>
                        <m:sup>
                          <m:d>
                            <m:dPr>
                              <m:ctrlPr>
                                <a:rPr lang="en-GB" sz="2600" b="0" dirty="0">
                                  <a:solidFill>
                                    <a:srgbClr val="00858A"/>
                                  </a:solidFill>
                                  <a:latin typeface="Cambria Math"/>
                                  <a:ea typeface="Cambria Math"/>
                                  <a:cs typeface="Cambria Math"/>
                                </a:rPr>
                              </m:ctrlPr>
                            </m:dPr>
                            <m:e>
                              <m:r>
                                <a:rPr lang="en-GB" sz="2600" b="0" dirty="0">
                                  <a:solidFill>
                                    <a:srgbClr val="00858A"/>
                                  </a:solidFill>
                                  <a:latin typeface="Cambria Math"/>
                                  <a:ea typeface="Cambria Math"/>
                                  <a:cs typeface="Cambria Math"/>
                                </a:rPr>
                                <m:t>𝑡</m:t>
                              </m:r>
                              <m:r>
                                <a:rPr lang="en-GB" sz="2600" b="0" dirty="0">
                                  <a:solidFill>
                                    <a:srgbClr val="00858A"/>
                                  </a:solidFill>
                                  <a:latin typeface="Cambria Math"/>
                                  <a:ea typeface="Cambria Math"/>
                                  <a:cs typeface="Cambria Math"/>
                                </a:rPr>
                                <m:t>+1</m:t>
                              </m:r>
                            </m:e>
                          </m:d>
                        </m:sup>
                      </m:sSup>
                      <m:r>
                        <a:rPr lang="en-GB" sz="2600" b="0" dirty="0">
                          <a:solidFill>
                            <a:srgbClr val="00858A"/>
                          </a:solidFill>
                          <a:latin typeface="Cambria Math"/>
                          <a:ea typeface="Cambria Math"/>
                          <a:cs typeface="Cambria Math"/>
                        </a:rPr>
                        <m:t>=</m:t>
                      </m:r>
                      <m:sSup>
                        <m:sSupPr>
                          <m:ctrlPr>
                            <a:rPr lang="en-GB" sz="2600" dirty="0">
                              <a:solidFill>
                                <a:srgbClr val="00858A"/>
                              </a:solidFill>
                              <a:latin typeface="Cambria Math"/>
                              <a:ea typeface="Cambria Math"/>
                              <a:cs typeface="Cambria Math"/>
                            </a:rPr>
                          </m:ctrlPr>
                        </m:sSupPr>
                        <m:e>
                          <m:r>
                            <a:rPr lang="en-GB" sz="2600" dirty="0">
                              <a:solidFill>
                                <a:srgbClr val="00858A"/>
                              </a:solidFill>
                              <a:latin typeface="Cambria Math"/>
                              <a:ea typeface="Cambria Math"/>
                              <a:cs typeface="Cambria Math"/>
                            </a:rPr>
                            <m:t>𝛉</m:t>
                          </m:r>
                        </m:e>
                        <m:sup>
                          <m:d>
                            <m:dPr>
                              <m:ctrlPr>
                                <a:rPr lang="en-GB" sz="2600" dirty="0">
                                  <a:solidFill>
                                    <a:srgbClr val="00858A"/>
                                  </a:solidFill>
                                  <a:latin typeface="Cambria Math"/>
                                  <a:ea typeface="Cambria Math"/>
                                  <a:cs typeface="Cambria Math"/>
                                </a:rPr>
                              </m:ctrlPr>
                            </m:dPr>
                            <m:e>
                              <m:r>
                                <a:rPr lang="en-GB" sz="2600" dirty="0">
                                  <a:solidFill>
                                    <a:srgbClr val="00858A"/>
                                  </a:solidFill>
                                  <a:latin typeface="Cambria Math"/>
                                  <a:ea typeface="Cambria Math"/>
                                  <a:cs typeface="Cambria Math"/>
                                </a:rPr>
                                <m:t>𝑡</m:t>
                              </m:r>
                            </m:e>
                          </m:d>
                        </m:sup>
                      </m:sSup>
                      <m:r>
                        <a:rPr lang="en-GB" sz="2600" b="0" dirty="0">
                          <a:solidFill>
                            <a:srgbClr val="00858A"/>
                          </a:solidFill>
                          <a:latin typeface="Cambria Math"/>
                          <a:ea typeface="Cambria Math"/>
                          <a:cs typeface="Cambria Math"/>
                        </a:rPr>
                        <m:t>−</m:t>
                      </m:r>
                      <m:r>
                        <a:rPr lang="en-GB" sz="2600" b="0" dirty="0">
                          <a:solidFill>
                            <a:srgbClr val="00858A"/>
                          </a:solidFill>
                          <a:latin typeface="Cambria Math"/>
                          <a:ea typeface="Cambria Math"/>
                          <a:cs typeface="Cambria Math"/>
                        </a:rPr>
                        <m:t>𝜂</m:t>
                      </m:r>
                      <m:r>
                        <m:rPr>
                          <m:sty m:val="p"/>
                        </m:rPr>
                        <a:rPr lang="en-GB" sz="2600" b="0" dirty="0">
                          <a:solidFill>
                            <a:srgbClr val="00858A"/>
                          </a:solidFill>
                          <a:latin typeface="Cambria Math"/>
                          <a:ea typeface="Cambria Math"/>
                          <a:cs typeface="Cambria Math"/>
                        </a:rPr>
                        <m:t>∇</m:t>
                      </m:r>
                      <m:sSubSup>
                        <m:sSubSupPr>
                          <m:ctrlPr>
                            <a:rPr lang="en-GB" sz="2600" b="0" dirty="0">
                              <a:solidFill>
                                <a:srgbClr val="00858A"/>
                              </a:solidFill>
                              <a:latin typeface="Cambria Math"/>
                              <a:ea typeface="Cambria Math"/>
                              <a:cs typeface="Cambria Math"/>
                            </a:rPr>
                          </m:ctrlPr>
                        </m:sSubSupPr>
                        <m:e>
                          <m:r>
                            <a:rPr lang="en-GB" sz="2600" b="0" dirty="0">
                              <a:solidFill>
                                <a:srgbClr val="00858A"/>
                              </a:solidFill>
                              <a:latin typeface="Cambria Math"/>
                              <a:ea typeface="Cambria Math"/>
                              <a:cs typeface="Cambria Math"/>
                            </a:rPr>
                            <m:t>ℒ</m:t>
                          </m:r>
                        </m:e>
                        <m:sub>
                          <m:r>
                            <m:rPr>
                              <m:sty m:val="p"/>
                            </m:rPr>
                            <a:rPr lang="en-GB" sz="2600" b="0" dirty="0">
                              <a:solidFill>
                                <a:srgbClr val="00858A"/>
                              </a:solidFill>
                              <a:latin typeface="Cambria Math"/>
                              <a:ea typeface="Cambria Math"/>
                              <a:cs typeface="Cambria Math"/>
                            </a:rPr>
                            <m:t>sq</m:t>
                          </m:r>
                        </m:sub>
                        <m:sup>
                          <m:r>
                            <m:rPr>
                              <m:sty m:val="p"/>
                            </m:rPr>
                            <a:rPr lang="en-GB" sz="2600" b="0" dirty="0">
                              <a:solidFill>
                                <a:srgbClr val="00858A"/>
                              </a:solidFill>
                              <a:latin typeface="Cambria Math"/>
                              <a:ea typeface="Cambria Math"/>
                              <a:cs typeface="Cambria Math"/>
                            </a:rPr>
                            <m:t>aff</m:t>
                          </m:r>
                        </m:sup>
                      </m:sSubSup>
                      <m:d>
                        <m:dPr>
                          <m:ctrlPr>
                            <a:rPr lang="en-GB" sz="2600" b="0" i="1" dirty="0">
                              <a:solidFill>
                                <a:srgbClr val="00858A"/>
                              </a:solidFill>
                              <a:latin typeface="Cambria Math" panose="02040503050406030204" pitchFamily="18" charset="0"/>
                              <a:ea typeface="Cambria Math"/>
                              <a:cs typeface="Cambria Math"/>
                            </a:rPr>
                          </m:ctrlPr>
                        </m:dPr>
                        <m:e>
                          <m:sSup>
                            <m:sSupPr>
                              <m:ctrlPr>
                                <a:rPr lang="en-GB" sz="2600" b="0" dirty="0">
                                  <a:solidFill>
                                    <a:srgbClr val="00858A"/>
                                  </a:solidFill>
                                  <a:latin typeface="Cambria Math"/>
                                  <a:ea typeface="Cambria Math"/>
                                  <a:cs typeface="Cambria Math"/>
                                </a:rPr>
                              </m:ctrlPr>
                            </m:sSupPr>
                            <m:e>
                              <m:r>
                                <a:rPr lang="en-GB" sz="2600" b="0" dirty="0">
                                  <a:solidFill>
                                    <a:srgbClr val="00858A"/>
                                  </a:solidFill>
                                  <a:latin typeface="Cambria Math"/>
                                  <a:ea typeface="Cambria Math"/>
                                  <a:cs typeface="Cambria Math"/>
                                </a:rPr>
                                <m:t>𝛉</m:t>
                              </m:r>
                            </m:e>
                            <m:sup>
                              <m:d>
                                <m:dPr>
                                  <m:ctrlPr>
                                    <a:rPr lang="en-GB" sz="2600" b="0" dirty="0">
                                      <a:solidFill>
                                        <a:srgbClr val="00858A"/>
                                      </a:solidFill>
                                      <a:latin typeface="Cambria Math"/>
                                      <a:ea typeface="Cambria Math"/>
                                      <a:cs typeface="Cambria Math"/>
                                    </a:rPr>
                                  </m:ctrlPr>
                                </m:dPr>
                                <m:e>
                                  <m:r>
                                    <a:rPr lang="en-GB" sz="2600" b="0" dirty="0">
                                      <a:solidFill>
                                        <a:srgbClr val="00858A"/>
                                      </a:solidFill>
                                      <a:latin typeface="Cambria Math"/>
                                      <a:ea typeface="Cambria Math"/>
                                      <a:cs typeface="Cambria Math"/>
                                    </a:rPr>
                                    <m:t>𝑡</m:t>
                                  </m:r>
                                </m:e>
                              </m:d>
                            </m:sup>
                          </m:sSup>
                        </m:e>
                      </m:d>
                      <m:r>
                        <a:rPr lang="it-IT" sz="2600" b="0" i="1" dirty="0" smtClean="0">
                          <a:solidFill>
                            <a:srgbClr val="00858A"/>
                          </a:solidFill>
                          <a:latin typeface="Cambria Math" panose="02040503050406030204" pitchFamily="18" charset="0"/>
                          <a:ea typeface="Cambria Math"/>
                          <a:cs typeface="Cambria Math"/>
                        </a:rPr>
                        <m:t>,  </m:t>
                      </m:r>
                      <m:sSup>
                        <m:sSupPr>
                          <m:ctrlPr>
                            <a:rPr lang="en-GB" sz="2600" dirty="0">
                              <a:solidFill>
                                <a:srgbClr val="00858A"/>
                              </a:solidFill>
                              <a:latin typeface="Cambria Math"/>
                              <a:ea typeface="Cambria Math"/>
                              <a:cs typeface="Cambria Math"/>
                            </a:rPr>
                          </m:ctrlPr>
                        </m:sSupPr>
                        <m:e>
                          <m:r>
                            <a:rPr lang="en-GB" sz="2600" dirty="0">
                              <a:solidFill>
                                <a:srgbClr val="00858A"/>
                              </a:solidFill>
                              <a:latin typeface="Cambria Math"/>
                              <a:ea typeface="Cambria Math"/>
                              <a:cs typeface="Cambria Math"/>
                            </a:rPr>
                            <m:t>𝛉</m:t>
                          </m:r>
                        </m:e>
                        <m:sup>
                          <m:d>
                            <m:dPr>
                              <m:ctrlPr>
                                <a:rPr lang="en-GB" sz="2600" dirty="0">
                                  <a:solidFill>
                                    <a:srgbClr val="00858A"/>
                                  </a:solidFill>
                                  <a:latin typeface="Cambria Math"/>
                                  <a:ea typeface="Cambria Math"/>
                                  <a:cs typeface="Cambria Math"/>
                                </a:rPr>
                              </m:ctrlPr>
                            </m:dPr>
                            <m:e>
                              <m:r>
                                <a:rPr lang="en-GB" sz="2600" dirty="0">
                                  <a:solidFill>
                                    <a:srgbClr val="00858A"/>
                                  </a:solidFill>
                                  <a:latin typeface="Cambria Math"/>
                                  <a:ea typeface="Cambria Math"/>
                                  <a:cs typeface="Cambria Math"/>
                                </a:rPr>
                                <m:t>𝑡</m:t>
                              </m:r>
                            </m:e>
                          </m:d>
                        </m:sup>
                      </m:sSup>
                      <m:r>
                        <a:rPr lang="it-IT" sz="2600" b="0" i="1" dirty="0" smtClean="0">
                          <a:solidFill>
                            <a:srgbClr val="00858A"/>
                          </a:solidFill>
                          <a:latin typeface="Cambria Math" panose="02040503050406030204" pitchFamily="18" charset="0"/>
                          <a:ea typeface="Cambria Math"/>
                          <a:cs typeface="Cambria Math"/>
                        </a:rPr>
                        <m:t>=</m:t>
                      </m:r>
                      <m:d>
                        <m:dPr>
                          <m:ctrlPr>
                            <a:rPr lang="en-GB" sz="2400" i="1" dirty="0">
                              <a:solidFill>
                                <a:srgbClr val="35969D"/>
                              </a:solidFill>
                              <a:latin typeface="Cambria Math" panose="02040503050406030204" pitchFamily="18" charset="0"/>
                              <a:ea typeface="Cambria Math"/>
                              <a:cs typeface="Cambria Math"/>
                            </a:rPr>
                          </m:ctrlPr>
                        </m:dPr>
                        <m:e>
                          <m:m>
                            <m:mPr>
                              <m:plcHide m:val="on"/>
                              <m:mcs>
                                <m:mc>
                                  <m:mcPr>
                                    <m:count m:val="1"/>
                                    <m:mcJc m:val="center"/>
                                  </m:mcPr>
                                </m:mc>
                              </m:mcs>
                              <m:ctrlPr>
                                <a:rPr lang="en-GB" sz="2400" i="1" dirty="0">
                                  <a:solidFill>
                                    <a:srgbClr val="35969D"/>
                                  </a:solidFill>
                                  <a:latin typeface="Cambria Math" panose="02040503050406030204" pitchFamily="18" charset="0"/>
                                  <a:ea typeface="Cambria Math"/>
                                  <a:cs typeface="Cambria Math"/>
                                </a:rPr>
                              </m:ctrlPr>
                            </m:mPr>
                            <m:mr>
                              <m:e>
                                <m:sSup>
                                  <m:sSupPr>
                                    <m:ctrlPr>
                                      <a:rPr lang="en-GB" sz="2400" dirty="0">
                                        <a:solidFill>
                                          <a:srgbClr val="35969D"/>
                                        </a:solidFill>
                                        <a:latin typeface="Cambria Math"/>
                                        <a:ea typeface="Cambria Math"/>
                                        <a:cs typeface="Cambria Math"/>
                                      </a:rPr>
                                    </m:ctrlPr>
                                  </m:sSupPr>
                                  <m:e>
                                    <m:r>
                                      <a:rPr lang="en-GB" sz="2400" dirty="0">
                                        <a:solidFill>
                                          <a:srgbClr val="35969D"/>
                                        </a:solidFill>
                                        <a:latin typeface="Cambria Math"/>
                                        <a:ea typeface="Cambria Math"/>
                                        <a:cs typeface="Cambria Math"/>
                                      </a:rPr>
                                      <m:t>𝑏</m:t>
                                    </m:r>
                                  </m:e>
                                  <m:sup>
                                    <m:d>
                                      <m:dPr>
                                        <m:ctrlPr>
                                          <a:rPr lang="it-IT" sz="2400" b="0" i="1" dirty="0" smtClean="0">
                                            <a:solidFill>
                                              <a:srgbClr val="35969D"/>
                                            </a:solidFill>
                                            <a:latin typeface="Cambria Math" panose="02040503050406030204" pitchFamily="18" charset="0"/>
                                            <a:ea typeface="Cambria Math"/>
                                          </a:rPr>
                                        </m:ctrlPr>
                                      </m:dPr>
                                      <m:e>
                                        <m:r>
                                          <a:rPr lang="it-IT" sz="2400" b="0" i="1" dirty="0" smtClean="0">
                                            <a:solidFill>
                                              <a:srgbClr val="35969D"/>
                                            </a:solidFill>
                                            <a:latin typeface="Cambria Math" panose="02040503050406030204" pitchFamily="18" charset="0"/>
                                            <a:ea typeface="Cambria Math"/>
                                          </a:rPr>
                                          <m:t>𝑡</m:t>
                                        </m:r>
                                      </m:e>
                                    </m:d>
                                  </m:sup>
                                </m:sSup>
                              </m:e>
                            </m:mr>
                            <m:mr>
                              <m:e>
                                <m:sSup>
                                  <m:sSupPr>
                                    <m:ctrlPr>
                                      <a:rPr lang="en-GB" sz="2400" dirty="0">
                                        <a:solidFill>
                                          <a:srgbClr val="35969D"/>
                                        </a:solidFill>
                                        <a:latin typeface="Cambria Math"/>
                                        <a:ea typeface="Cambria Math"/>
                                        <a:cs typeface="Cambria Math"/>
                                      </a:rPr>
                                    </m:ctrlPr>
                                  </m:sSupPr>
                                  <m:e>
                                    <m:r>
                                      <a:rPr lang="en-GB" sz="2400" dirty="0">
                                        <a:solidFill>
                                          <a:srgbClr val="35969D"/>
                                        </a:solidFill>
                                        <a:latin typeface="Cambria Math"/>
                                        <a:ea typeface="Cambria Math"/>
                                        <a:cs typeface="Cambria Math"/>
                                      </a:rPr>
                                      <m:t>𝑎</m:t>
                                    </m:r>
                                  </m:e>
                                  <m:sup>
                                    <m:d>
                                      <m:dPr>
                                        <m:ctrlPr>
                                          <a:rPr lang="it-IT" sz="2400" b="0" i="1" dirty="0" smtClean="0">
                                            <a:solidFill>
                                              <a:srgbClr val="35969D"/>
                                            </a:solidFill>
                                            <a:latin typeface="Cambria Math" panose="02040503050406030204" pitchFamily="18" charset="0"/>
                                            <a:ea typeface="Cambria Math"/>
                                          </a:rPr>
                                        </m:ctrlPr>
                                      </m:dPr>
                                      <m:e>
                                        <m:r>
                                          <a:rPr lang="it-IT" sz="2400" b="0" i="1" dirty="0" smtClean="0">
                                            <a:solidFill>
                                              <a:srgbClr val="35969D"/>
                                            </a:solidFill>
                                            <a:latin typeface="Cambria Math" panose="02040503050406030204" pitchFamily="18" charset="0"/>
                                            <a:ea typeface="Cambria Math"/>
                                          </a:rPr>
                                          <m:t>𝑡</m:t>
                                        </m:r>
                                      </m:e>
                                    </m:d>
                                  </m:sup>
                                </m:sSup>
                              </m:e>
                            </m:mr>
                          </m:m>
                        </m:e>
                      </m:d>
                    </m:oMath>
                  </m:oMathPara>
                </a14:m>
                <a:endParaRPr lang="en-GB" sz="2600" b="0" dirty="0">
                  <a:solidFill>
                    <a:srgbClr val="00858A"/>
                  </a:solidFill>
                  <a:latin typeface="DejaVu Sans"/>
                  <a:ea typeface="DejaVu Sans"/>
                  <a:cs typeface="DejaVu Sans"/>
                </a:endParaRPr>
              </a:p>
            </p:txBody>
          </p:sp>
        </mc:Choice>
        <mc:Fallback xmlns="">
          <p:sp>
            <p:nvSpPr>
              <p:cNvPr id="6" name="negative_gradient_step"/>
              <p:cNvSpPr txBox="1">
                <a:spLocks noGrp="1" noRot="1" noChangeAspect="1" noMove="1" noResize="1" noEditPoints="1" noAdjustHandles="1" noChangeArrowheads="1" noChangeShapeType="1" noTextEdit="1"/>
              </p:cNvSpPr>
              <p:nvPr/>
            </p:nvSpPr>
            <p:spPr>
              <a:xfrm>
                <a:off x="609600" y="4171950"/>
                <a:ext cx="10953750" cy="1209675"/>
              </a:xfrm>
              <a:prstGeom prst="rect">
                <a:avLst/>
              </a:prstGeom>
              <a:blipFill>
                <a:blip r:embed="rId4"/>
                <a:stretch>
                  <a:fillRect/>
                </a:stretch>
              </a:blipFill>
              <a:ln w="0">
                <a:noFill/>
              </a:ln>
            </p:spPr>
            <p:txBody>
              <a:bodyPr/>
              <a:lstStyle/>
              <a:p>
                <a:r>
                  <a:rPr lang="it-IT">
                    <a:noFill/>
                  </a:rPr>
                  <a:t> </a:t>
                </a:r>
              </a:p>
            </p:txBody>
          </p:sp>
        </mc:Fallback>
      </mc:AlternateContent>
      <p:sp>
        <p:nvSpPr>
          <p:cNvPr id="7" name="negative_gradient_direction"/>
          <p:cNvSpPr txBox="1">
            <a:spLocks noGrp="1"/>
          </p:cNvSpPr>
          <p:nvPr/>
        </p:nvSpPr>
        <p:spPr>
          <a:xfrm>
            <a:off x="609600" y="5772150"/>
            <a:ext cx="10953750" cy="457200"/>
          </a:xfrm>
          <a:prstGeom prst="rect">
            <a:avLst/>
          </a:prstGeom>
          <a:noFill/>
          <a:ln w="0">
            <a:noFill/>
          </a:ln>
        </p:spPr>
        <p:txBody>
          <a:bodyPr vertOverflow="overflow" wrap="square" lIns="0" tIns="0" rIns="0" bIns="0" anchor="ctr">
            <a:noAutofit/>
          </a:bodyPr>
          <a:lstStyle/>
          <a:p>
            <a:pPr marL="0" marR="0" indent="0" algn="ctr">
              <a:defRPr lang="en-GB" sz="2300" b="0" dirty="0">
                <a:solidFill>
                  <a:srgbClr val="00858A"/>
                </a:solidFill>
                <a:latin typeface="DejaVu Sans"/>
                <a:ea typeface="DejaVu Sans"/>
                <a:cs typeface="DejaVu Sans"/>
              </a:defRPr>
            </a:pPr>
            <a:r>
              <a:rPr lang="en-GB" sz="2300" b="0" dirty="0">
                <a:solidFill>
                  <a:srgbClr val="00858A"/>
                </a:solidFill>
                <a:latin typeface="DejaVu Sans"/>
                <a:ea typeface="DejaVu Sans"/>
                <a:cs typeface="DejaVu Sans"/>
              </a:rPr>
              <a:t>Each step points in the direction of the negative gradient.</a:t>
            </a:r>
          </a:p>
        </p:txBody>
      </p:sp>
    </p:spTree>
    <p:extLst>
      <p:ext uri="{BB962C8B-B14F-4D97-AF65-F5344CB8AC3E}">
        <p14:creationId xmlns:p14="http://schemas.microsoft.com/office/powerpoint/2010/main" val="2270503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B24A08CE-6122-4C13-AE58-87C6EA5E36D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Gradient descent: successive predictors</a:t>
            </a:r>
          </a:p>
        </p:txBody>
      </p:sp>
      <p:sp>
        <p:nvSpPr>
          <p:cNvPr id="2" name="page_number">
            <a:extLst>
              <a:ext uri="{FF2B5EF4-FFF2-40B4-BE49-F238E27FC236}">
                <a16:creationId xmlns:a16="http://schemas.microsoft.com/office/drawing/2014/main" id="{857B969B-A188-4105-801A-6CD218CDBC8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35</a:t>
            </a:r>
          </a:p>
        </p:txBody>
      </p:sp>
      <mc:AlternateContent xmlns:mc="http://schemas.openxmlformats.org/markup-compatibility/2006" xmlns:a14="http://schemas.microsoft.com/office/drawing/2010/main">
        <mc:Choice Requires="a14">
          <p:sp>
            <p:nvSpPr>
              <p:cNvPr id="3" name="txt_158">
                <a:extLst>
                  <a:ext uri="{FF2B5EF4-FFF2-40B4-BE49-F238E27FC236}">
                    <a16:creationId xmlns:a16="http://schemas.microsoft.com/office/drawing/2014/main" id="{C522BEEE-95F3-40B1-8A08-6D5298D2848B}"/>
                  </a:ext>
                </a:extLst>
              </p:cNvPr>
              <p:cNvSpPr txBox="1">
                <a:spLocks noGrp="1"/>
              </p:cNvSpPr>
              <p:nvPr/>
            </p:nvSpPr>
            <p:spPr>
              <a:xfrm>
                <a:off x="609600" y="1257300"/>
                <a:ext cx="10953750" cy="4762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Same observations, updated coefficients. The learning rate is </a:t>
                </a:r>
                <a14:m>
                  <m:oMath xmlns:m="http://schemas.openxmlformats.org/officeDocument/2006/math">
                    <m:r>
                      <a:rPr lang="en-GB" sz="2100" b="0" dirty="0">
                        <a:solidFill>
                          <a:srgbClr val="182D45"/>
                        </a:solidFill>
                        <a:latin typeface="Cambria Math"/>
                        <a:ea typeface="Cambria Math"/>
                        <a:cs typeface="Cambria Math"/>
                      </a:rPr>
                      <m:t>𝜂</m:t>
                    </m:r>
                    <m:r>
                      <a:rPr lang="en-GB" sz="2100" b="0" dirty="0">
                        <a:solidFill>
                          <a:srgbClr val="182D45"/>
                        </a:solidFill>
                        <a:latin typeface="Cambria Math"/>
                        <a:ea typeface="Cambria Math"/>
                        <a:cs typeface="Cambria Math"/>
                      </a:rPr>
                      <m:t>=0.04</m:t>
                    </m:r>
                  </m:oMath>
                </a14:m>
                <a:r>
                  <a:rPr lang="en-GB" sz="2100" b="0" i="0" dirty="0">
                    <a:solidFill>
                      <a:srgbClr val="182D45"/>
                    </a:solidFill>
                    <a:latin typeface="DejaVu Sans"/>
                    <a:ea typeface="DejaVu Sans"/>
                    <a:cs typeface="DejaVu Sans"/>
                  </a:rPr>
                  <a:t>.</a:t>
                </a:r>
              </a:p>
            </p:txBody>
          </p:sp>
        </mc:Choice>
        <mc:Fallback xmlns="">
          <p:sp>
            <p:nvSpPr>
              <p:cNvPr id="3" name="txt_158">
                <a:extLst>
                  <a:ext uri="{FF2B5EF4-FFF2-40B4-BE49-F238E27FC236}">
                    <a16:creationId xmlns:a16="http://schemas.microsoft.com/office/drawing/2014/main" id="{C522BEEE-95F3-40B1-8A08-6D5298D2848B}"/>
                  </a:ext>
                </a:extLst>
              </p:cNvPr>
              <p:cNvSpPr txBox="1">
                <a:spLocks noGrp="1" noRot="1" noChangeAspect="1" noMove="1" noResize="1" noEditPoints="1" noAdjustHandles="1" noChangeArrowheads="1" noChangeShapeType="1" noTextEdit="1"/>
              </p:cNvSpPr>
              <p:nvPr/>
            </p:nvSpPr>
            <p:spPr>
              <a:xfrm>
                <a:off x="609600" y="1257300"/>
                <a:ext cx="10953750" cy="476250"/>
              </a:xfrm>
              <a:prstGeom prst="rect">
                <a:avLst/>
              </a:prstGeom>
              <a:blipFill>
                <a:blip r:embed="rId3"/>
                <a:stretch>
                  <a:fillRect t="-17949" b="-1282"/>
                </a:stretch>
              </a:blipFill>
              <a:ln w="0">
                <a:noFill/>
              </a:ln>
            </p:spPr>
            <p:txBody>
              <a:bodyPr/>
              <a:lstStyle/>
              <a:p>
                <a:r>
                  <a:rPr lang="it-IT">
                    <a:noFill/>
                  </a:rPr>
                  <a:t> </a:t>
                </a:r>
              </a:p>
            </p:txBody>
          </p:sp>
        </mc:Fallback>
      </mc:AlternateContent>
      <p:sp>
        <p:nvSpPr>
          <p:cNvPr id="4" name="txt_159">
            <a:extLst>
              <a:ext uri="{FF2B5EF4-FFF2-40B4-BE49-F238E27FC236}">
                <a16:creationId xmlns:a16="http://schemas.microsoft.com/office/drawing/2014/main" id="{A1DF0E58-6506-45BE-A17D-6BAC0546045B}"/>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marL="0" marR="0" indent="0" algn="ctr">
              <a:defRPr lang="en-GB" sz="1875" b="1" i="0" dirty="0">
                <a:solidFill>
                  <a:srgbClr val="326CB2"/>
                </a:solidFill>
                <a:latin typeface="DejaVu Sans"/>
                <a:ea typeface="DejaVu Sans"/>
                <a:cs typeface="DejaVu Sans"/>
              </a:defRPr>
            </a:pPr>
            <a:r>
              <a:rPr lang="en-GB" sz="1875" b="1" i="0" dirty="0">
                <a:solidFill>
                  <a:srgbClr val="326CB2"/>
                </a:solidFill>
                <a:latin typeface="DejaVu Sans"/>
                <a:ea typeface="DejaVu Sans"/>
                <a:cs typeface="DejaVu Sans"/>
              </a:rPr>
              <a:t>Predictions on the observed inputs</a:t>
            </a:r>
          </a:p>
        </p:txBody>
      </p:sp>
      <p:sp>
        <p:nvSpPr>
          <p:cNvPr id="5" name="txt_160">
            <a:extLst>
              <a:ext uri="{FF2B5EF4-FFF2-40B4-BE49-F238E27FC236}">
                <a16:creationId xmlns:a16="http://schemas.microsoft.com/office/drawing/2014/main" id="{A221468A-BFF9-47FA-897B-E1B4AF5DCDFB}"/>
              </a:ext>
            </a:extLst>
          </p:cNvPr>
          <p:cNvSpPr>
            <a:spLocks noGrp="1"/>
          </p:cNvSpPr>
          <p:nvPr/>
        </p:nvSpPr>
        <p:spPr>
          <a:xfrm>
            <a:off x="6343650" y="1952625"/>
            <a:ext cx="5219700" cy="381000"/>
          </a:xfrm>
          <a:prstGeom prst="rect">
            <a:avLst/>
          </a:prstGeom>
          <a:noFill/>
          <a:ln w="0">
            <a:noFill/>
          </a:ln>
        </p:spPr>
        <p:txBody>
          <a:bodyPr wrap="square" lIns="0" tIns="0" rIns="0" bIns="0" anchor="t">
            <a:noAutofit/>
          </a:bodyPr>
          <a:lstStyle/>
          <a:p>
            <a:pPr marL="0" marR="0" indent="0" algn="ctr">
              <a:defRPr lang="en-GB" sz="1875" b="1" i="0" dirty="0">
                <a:solidFill>
                  <a:srgbClr val="C45C28"/>
                </a:solidFill>
                <a:latin typeface="DejaVu Sans"/>
                <a:ea typeface="DejaVu Sans"/>
                <a:cs typeface="DejaVu Sans"/>
              </a:defRPr>
            </a:pPr>
            <a:r>
              <a:rPr lang="en-GB" sz="1875" b="1" i="0" dirty="0">
                <a:solidFill>
                  <a:srgbClr val="C45C28"/>
                </a:solidFill>
                <a:latin typeface="DejaVu Sans"/>
                <a:ea typeface="DejaVu Sans"/>
                <a:cs typeface="DejaVu Sans"/>
              </a:rPr>
              <a:t>Path in the parameter plane</a:t>
            </a:r>
          </a:p>
        </p:txBody>
      </p:sp>
      <p:graphicFrame>
        <p:nvGraphicFramePr>
          <p:cNvPr id="16" name="Initial predictor (t=0)"/>
          <p:cNvGraphicFramePr/>
          <p:nvPr/>
        </p:nvGraphicFramePr>
        <p:xfrm>
          <a:off x="609600" y="2400300"/>
          <a:ext cx="5238750" cy="3333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Initial parameters (t=0)"/>
          <p:cNvGraphicFramePr/>
          <p:nvPr/>
        </p:nvGraphicFramePr>
        <p:xfrm>
          <a:off x="6343650" y="2400300"/>
          <a:ext cx="5219700" cy="3333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18" name="eq_gd_t0">
                <a:extLst>
                  <a:ext uri="{FF2B5EF4-FFF2-40B4-BE49-F238E27FC236}">
                    <a16:creationId xmlns:a16="http://schemas.microsoft.com/office/drawing/2014/main" id="{195941F1-C6A4-49E3-ACFF-32D2D79D948F}"/>
                  </a:ext>
                </a:extLst>
              </p:cNvPr>
              <p:cNvSpPr txBox="1">
                <a:spLocks noGrp="1"/>
              </p:cNvSpPr>
              <p:nvPr/>
            </p:nvSpPr>
            <p:spPr>
              <a:xfrm>
                <a:off x="609600" y="5810250"/>
                <a:ext cx="10953750" cy="523875"/>
              </a:xfrm>
              <a:prstGeom prst="rect">
                <a:avLst/>
              </a:prstGeom>
              <a:noFill/>
              <a:ln w="0">
                <a:noFill/>
              </a:ln>
            </p:spPr>
            <p:txBody>
              <a:bodyPr vertOverflow="overflow" wrap="none" lIns="0" tIns="0" rIns="0" bIns="0" anchor="t">
                <a:noAutofit/>
              </a:bodyPr>
              <a:lstStyle/>
              <a:p>
                <a:pPr algn="ctr">
                  <a:defRPr lang="en-GB" sz="2175" b="0" i="0" dirty="0">
                    <a:solidFill>
                      <a:srgbClr val="182D45"/>
                    </a:solidFill>
                    <a:latin typeface="Cambria Math"/>
                    <a:ea typeface="Cambria Math"/>
                    <a:cs typeface="Cambria Math"/>
                  </a:defRPr>
                </a:pPr>
                <a14:m>
                  <m:oMathPara xmlns:m="http://schemas.openxmlformats.org/officeDocument/2006/math">
                    <m:oMath>
                      <m:r>
                        <a:rPr lang="en-GB" sz="2200" b="0" dirty="0" smtClean="0">
                          <a:solidFill>
                            <a:srgbClr val="182D45"/>
                          </a:solidFill>
                          <a:latin typeface="Cambria Math"/>
                          <a:ea typeface="Cambria Math"/>
                          <a:cs typeface="Cambria Math"/>
                        </a:rPr>
                        <m:t>𝑡</m:t>
                      </m:r>
                      <m:r>
                        <a:rPr lang="en-GB" sz="2200" b="0" dirty="0" smtClean="0">
                          <a:solidFill>
                            <a:srgbClr val="182D45"/>
                          </a:solidFill>
                          <a:latin typeface="Cambria Math"/>
                          <a:ea typeface="Cambria Math"/>
                          <a:cs typeface="Cambria Math"/>
                        </a:rPr>
                        <m:t>=0  </m:t>
                      </m:r>
                      <m:d>
                        <m:dPr>
                          <m:ctrlPr>
                            <a:rPr lang="en-GB" sz="2200" b="0" i="1" dirty="0">
                              <a:solidFill>
                                <a:srgbClr val="182D45"/>
                              </a:solidFill>
                              <a:latin typeface="Cambria Math" panose="02040503050406030204" pitchFamily="18" charset="0"/>
                              <a:ea typeface="Cambria Math"/>
                              <a:cs typeface="Cambria Math"/>
                            </a:rPr>
                          </m:ctrlPr>
                        </m:dPr>
                        <m:e>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𝑏</m:t>
                              </m:r>
                            </m:e>
                            <m:sup>
                              <m:d>
                                <m:dPr>
                                  <m:ctrlPr>
                                    <a:rPr lang="it-IT" sz="2200" b="0" i="0" dirty="0" smtClean="0">
                                      <a:solidFill>
                                        <a:srgbClr val="182D45"/>
                                      </a:solidFill>
                                      <a:latin typeface="Cambria Math" panose="02040503050406030204" pitchFamily="18" charset="0"/>
                                      <a:ea typeface="Cambria Math"/>
                                      <a:cs typeface="Cambria Math"/>
                                    </a:rPr>
                                  </m:ctrlPr>
                                </m:dPr>
                                <m:e>
                                  <m:r>
                                    <a:rPr lang="it-IT" sz="2200" b="0" i="0" dirty="0" smtClean="0">
                                      <a:solidFill>
                                        <a:srgbClr val="182D45"/>
                                      </a:solidFill>
                                      <a:latin typeface="Cambria Math" panose="02040503050406030204" pitchFamily="18" charset="0"/>
                                      <a:ea typeface="Cambria Math"/>
                                      <a:cs typeface="Cambria Math"/>
                                    </a:rPr>
                                    <m:t>0</m:t>
                                  </m:r>
                                </m:e>
                              </m:d>
                            </m:sup>
                          </m:sSup>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𝑎</m:t>
                              </m:r>
                            </m:e>
                            <m:sup>
                              <m:d>
                                <m:dPr>
                                  <m:ctrlPr>
                                    <a:rPr lang="it-IT" sz="2200" b="0" i="0" dirty="0" smtClean="0">
                                      <a:solidFill>
                                        <a:srgbClr val="182D45"/>
                                      </a:solidFill>
                                      <a:latin typeface="Cambria Math" panose="02040503050406030204" pitchFamily="18" charset="0"/>
                                      <a:ea typeface="Cambria Math"/>
                                      <a:cs typeface="Cambria Math"/>
                                    </a:rPr>
                                  </m:ctrlPr>
                                </m:dPr>
                                <m:e>
                                  <m:r>
                                    <a:rPr lang="it-IT" sz="2200" b="0" i="0" dirty="0" smtClean="0">
                                      <a:solidFill>
                                        <a:srgbClr val="182D45"/>
                                      </a:solidFill>
                                      <a:latin typeface="Cambria Math" panose="02040503050406030204" pitchFamily="18" charset="0"/>
                                      <a:ea typeface="Cambria Math"/>
                                      <a:cs typeface="Cambria Math"/>
                                    </a:rPr>
                                    <m:t>0</m:t>
                                  </m:r>
                                </m:e>
                              </m:d>
                            </m:sup>
                          </m:sSup>
                        </m:e>
                      </m:d>
                      <m:r>
                        <a:rPr lang="en-GB" sz="2200" b="0" dirty="0">
                          <a:solidFill>
                            <a:srgbClr val="182D45"/>
                          </a:solidFill>
                          <a:latin typeface="Cambria Math"/>
                          <a:ea typeface="Cambria Math"/>
                          <a:cs typeface="Cambria Math"/>
                        </a:rPr>
                        <m:t>=</m:t>
                      </m:r>
                      <m:d>
                        <m:dPr>
                          <m:ctrlPr>
                            <a:rPr lang="en-GB" sz="2200" b="0" dirty="0">
                              <a:solidFill>
                                <a:srgbClr val="182D45"/>
                              </a:solidFill>
                              <a:latin typeface="Cambria Math"/>
                              <a:ea typeface="Cambria Math"/>
                              <a:cs typeface="Cambria Math"/>
                            </a:rPr>
                          </m:ctrlPr>
                        </m:dPr>
                        <m:e>
                          <m:r>
                            <a:rPr lang="en-GB" sz="2200" b="0" dirty="0">
                              <a:solidFill>
                                <a:srgbClr val="182D45"/>
                              </a:solidFill>
                              <a:latin typeface="Cambria Math"/>
                              <a:ea typeface="Cambria Math"/>
                              <a:cs typeface="Cambria Math"/>
                            </a:rPr>
                            <m:t>0,0</m:t>
                          </m:r>
                        </m:e>
                      </m:d>
                      <m:r>
                        <a:rPr lang="en-GB" sz="2200" b="0" dirty="0">
                          <a:solidFill>
                            <a:srgbClr val="182D45"/>
                          </a:solidFill>
                          <a:latin typeface="Cambria Math"/>
                          <a:ea typeface="Cambria Math"/>
                          <a:cs typeface="Cambria Math"/>
                        </a:rPr>
                        <m:t>  </m:t>
                      </m:r>
                      <m:sSubSup>
                        <m:sSubSupPr>
                          <m:ctrlPr>
                            <a:rPr lang="en-GB" sz="2200" dirty="0">
                              <a:latin typeface="Cambria Math"/>
                              <a:ea typeface="Cambria Math"/>
                              <a:cs typeface="Cambria Math"/>
                            </a:rPr>
                          </m:ctrlPr>
                        </m:sSubSupPr>
                        <m:e>
                          <m:r>
                            <a:rPr lang="en-GB" sz="2200" dirty="0">
                              <a:latin typeface="Cambria Math"/>
                              <a:ea typeface="Cambria Math"/>
                              <a:cs typeface="Cambria Math"/>
                            </a:rPr>
                            <m:t>ℒ</m:t>
                          </m:r>
                        </m:e>
                        <m:sub>
                          <m:r>
                            <m:rPr>
                              <m:sty m:val="p"/>
                            </m:rPr>
                            <a:rPr lang="en-GB" sz="2200" dirty="0">
                              <a:latin typeface="Cambria Math"/>
                              <a:ea typeface="Cambria Math"/>
                              <a:cs typeface="Cambria Math"/>
                            </a:rPr>
                            <m:t>sq</m:t>
                          </m:r>
                        </m:sub>
                        <m:sup>
                          <m:r>
                            <m:rPr>
                              <m:sty m:val="p"/>
                            </m:rPr>
                            <a:rPr lang="en-GB" sz="2200" dirty="0">
                              <a:latin typeface="Cambria Math"/>
                              <a:ea typeface="Cambria Math"/>
                              <a:cs typeface="Cambria Math"/>
                            </a:rPr>
                            <m:t>aff</m:t>
                          </m:r>
                        </m:sup>
                      </m:sSubSup>
                      <m:d>
                        <m:dPr>
                          <m:ctrlPr>
                            <a:rPr lang="it-IT" sz="2200" b="1" i="1" dirty="0">
                              <a:latin typeface="Cambria Math" panose="02040503050406030204" pitchFamily="18" charset="0"/>
                              <a:ea typeface="Cambria Math"/>
                              <a:cs typeface="Cambria Math"/>
                            </a:rPr>
                          </m:ctrlPr>
                        </m:dPr>
                        <m:e>
                          <m:sSup>
                            <m:sSupPr>
                              <m:ctrlPr>
                                <a:rPr lang="it-IT" sz="2200" b="1" dirty="0">
                                  <a:latin typeface="Cambria Math" panose="02040503050406030204" pitchFamily="18" charset="0"/>
                                  <a:ea typeface="Cambria Math"/>
                                  <a:cs typeface="Cambria Math"/>
                                </a:rPr>
                              </m:ctrlPr>
                            </m:sSupPr>
                            <m:e>
                              <m:r>
                                <a:rPr lang="it-IT" sz="2200" b="1" dirty="0">
                                  <a:latin typeface="Cambria Math" panose="02040503050406030204" pitchFamily="18" charset="0"/>
                                  <a:ea typeface="Cambria Math"/>
                                  <a:cs typeface="Cambria Math"/>
                                </a:rPr>
                                <m:t>𝛉</m:t>
                              </m:r>
                            </m:e>
                            <m:sup>
                              <m:d>
                                <m:dPr>
                                  <m:ctrlPr>
                                    <a:rPr lang="it-IT" sz="2200" b="0" i="1" dirty="0" smtClean="0">
                                      <a:latin typeface="Cambria Math" panose="02040503050406030204" pitchFamily="18" charset="0"/>
                                      <a:ea typeface="Cambria Math"/>
                                    </a:rPr>
                                  </m:ctrlPr>
                                </m:dPr>
                                <m:e>
                                  <m:r>
                                    <a:rPr lang="it-IT" sz="2200" b="0" i="1" dirty="0" smtClean="0">
                                      <a:latin typeface="Cambria Math" panose="02040503050406030204" pitchFamily="18" charset="0"/>
                                      <a:ea typeface="Cambria Math"/>
                                    </a:rPr>
                                    <m:t>0</m:t>
                                  </m:r>
                                </m:e>
                              </m:d>
                            </m:sup>
                          </m:sSup>
                        </m:e>
                      </m:d>
                      <m:r>
                        <a:rPr lang="en-GB" sz="2200" b="0" dirty="0">
                          <a:solidFill>
                            <a:srgbClr val="182D45"/>
                          </a:solidFill>
                          <a:latin typeface="Cambria Math"/>
                          <a:ea typeface="Cambria Math"/>
                          <a:cs typeface="Cambria Math"/>
                        </a:rPr>
                        <m:t>=66</m:t>
                      </m:r>
                    </m:oMath>
                  </m:oMathPara>
                </a14:m>
                <a:endParaRPr lang="en-GB" sz="2200" b="0" i="0" dirty="0">
                  <a:solidFill>
                    <a:srgbClr val="182D45"/>
                  </a:solidFill>
                  <a:latin typeface="Cambria Math"/>
                  <a:ea typeface="Cambria Math"/>
                  <a:cs typeface="Cambria Math"/>
                </a:endParaRPr>
              </a:p>
            </p:txBody>
          </p:sp>
        </mc:Choice>
        <mc:Fallback xmlns="">
          <p:sp>
            <p:nvSpPr>
              <p:cNvPr id="18" name="eq_gd_t0">
                <a:extLst>
                  <a:ext uri="{FF2B5EF4-FFF2-40B4-BE49-F238E27FC236}">
                    <a16:creationId xmlns:a16="http://schemas.microsoft.com/office/drawing/2014/main" id="{195941F1-C6A4-49E3-ACFF-32D2D79D948F}"/>
                  </a:ext>
                </a:extLst>
              </p:cNvPr>
              <p:cNvSpPr txBox="1">
                <a:spLocks noGrp="1" noRot="1" noChangeAspect="1" noMove="1" noResize="1" noEditPoints="1" noAdjustHandles="1" noChangeArrowheads="1" noChangeShapeType="1" noTextEdit="1"/>
              </p:cNvSpPr>
              <p:nvPr/>
            </p:nvSpPr>
            <p:spPr>
              <a:xfrm>
                <a:off x="609600" y="5810250"/>
                <a:ext cx="10953750" cy="523875"/>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0228016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Gradient descent: the first step</a:t>
            </a:r>
          </a:p>
        </p:txBody>
      </p:sp>
      <p:sp>
        <p:nvSpPr>
          <p:cNvPr id="2" name="page_numbe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ctr">
              <a:defRPr lang="en-GB" sz="1350" b="0" i="0" dirty="0">
                <a:solidFill>
                  <a:srgbClr val="526276"/>
                </a:solidFill>
                <a:latin typeface="DejaVu Sans"/>
                <a:ea typeface="DejaVu Sans"/>
                <a:cs typeface="DejaVu Sans"/>
              </a:defRPr>
            </a:pPr>
            <a:r>
              <a:rPr sz="1300" b="0">
                <a:solidFill>
                  <a:srgbClr val="526276"/>
                </a:solidFill>
                <a:latin typeface="DejaVu Sans"/>
              </a:rPr>
              <a:t>36</a:t>
            </a:r>
          </a:p>
        </p:txBody>
      </p:sp>
      <mc:AlternateContent xmlns:mc="http://schemas.openxmlformats.org/markup-compatibility/2006" xmlns:a14="http://schemas.microsoft.com/office/drawing/2010/main">
        <mc:Choice Requires="a14">
          <p:sp>
            <p:nvSpPr>
              <p:cNvPr id="4" name="step_setup">
                <a:extLst>
                  <a:ext uri="{FF2B5EF4-FFF2-40B4-BE49-F238E27FC236}">
                    <a16:creationId xmlns:a16="http://schemas.microsoft.com/office/drawing/2014/main" id="{DB531851-63C6-4D37-9E4C-66E3CFB77D2B}"/>
                  </a:ext>
                </a:extLst>
              </p:cNvPr>
              <p:cNvSpPr>
                <a:spLocks noGrp="1"/>
              </p:cNvSpPr>
              <p:nvPr/>
            </p:nvSpPr>
            <p:spPr>
              <a:xfrm>
                <a:off x="609600" y="2677491"/>
                <a:ext cx="10953750" cy="541051"/>
              </a:xfrm>
              <a:prstGeom prst="rect">
                <a:avLst/>
              </a:prstGeom>
              <a:noFill/>
              <a:ln w="0">
                <a:noFill/>
              </a:ln>
            </p:spPr>
            <p:txBody>
              <a:bodyPr vertOverflow="overflow" wrap="none" lIns="0" tIns="0" rIns="0" bIns="0" anchor="t">
                <a:noAutofit/>
              </a:bodyPr>
              <a:lstStyle/>
              <a:p>
                <a:pPr algn="ctr"/>
                <a14:m>
                  <m:oMathPara xmlns:m="http://schemas.openxmlformats.org/officeDocument/2006/math">
                    <m:oMath>
                      <m:sSup>
                        <m:sSupPr>
                          <m:ctrlPr>
                            <a:rPr lang="en-GB" sz="2400">
                              <a:solidFill>
                                <a:schemeClr val="tx1"/>
                              </a:solidFill>
                              <a:latin typeface="Cambria Math"/>
                            </a:rPr>
                          </m:ctrlPr>
                        </m:sSupPr>
                        <m:e>
                          <m:r>
                            <a:rPr lang="en-GB" sz="2400">
                              <a:solidFill>
                                <a:schemeClr val="tx1"/>
                              </a:solidFill>
                              <a:latin typeface="Cambria Math"/>
                            </a:rPr>
                            <m:t>𝛉</m:t>
                          </m:r>
                        </m:e>
                        <m:sup>
                          <m:r>
                            <a:rPr lang="en-GB" sz="2400">
                              <a:solidFill>
                                <a:schemeClr val="tx1"/>
                              </a:solidFill>
                              <a:latin typeface="Cambria Math"/>
                            </a:rPr>
                            <m:t>(</m:t>
                          </m:r>
                          <m:r>
                            <a:rPr lang="it-IT" sz="2400">
                              <a:solidFill>
                                <a:schemeClr val="tx1"/>
                              </a:solidFill>
                              <a:latin typeface="Cambria Math" panose="02040503050406030204" pitchFamily="18" charset="0"/>
                            </a:rPr>
                            <m:t>0</m:t>
                          </m:r>
                          <m:r>
                            <a:rPr lang="en-GB" sz="2400">
                              <a:solidFill>
                                <a:schemeClr val="tx1"/>
                              </a:solidFill>
                              <a:latin typeface="Cambria Math"/>
                            </a:rPr>
                            <m:t>)</m:t>
                          </m:r>
                        </m:sup>
                      </m:sSup>
                      <m:r>
                        <a:rPr lang="it-IT" sz="2400" b="0" i="1" smtClean="0">
                          <a:solidFill>
                            <a:schemeClr val="tx1"/>
                          </a:solidFill>
                          <a:latin typeface="Cambria Math" panose="02040503050406030204" pitchFamily="18" charset="0"/>
                        </a:rPr>
                        <m:t>=</m:t>
                      </m:r>
                      <m:sSup>
                        <m:sSupPr>
                          <m:ctrlPr>
                            <a:rPr lang="en-GB" sz="2200" i="1">
                              <a:solidFill>
                                <a:srgbClr val="182D45"/>
                              </a:solidFill>
                              <a:latin typeface="Cambria Math" panose="02040503050406030204" pitchFamily="18" charset="0"/>
                            </a:rPr>
                          </m:ctrlPr>
                        </m:sSupPr>
                        <m:e>
                          <m:d>
                            <m:dPr>
                              <m:ctrlPr>
                                <a:rPr lang="en-GB" sz="2200" i="1">
                                  <a:solidFill>
                                    <a:srgbClr val="182D45"/>
                                  </a:solidFill>
                                  <a:latin typeface="Cambria Math" panose="02040503050406030204" pitchFamily="18" charset="0"/>
                                </a:rPr>
                              </m:ctrlPr>
                            </m:dPr>
                            <m:e>
                              <m:sSup>
                                <m:sSupPr>
                                  <m:ctrlPr>
                                    <a:rPr lang="en-GB" sz="2200">
                                      <a:solidFill>
                                        <a:srgbClr val="182D45"/>
                                      </a:solidFill>
                                      <a:latin typeface="Cambria Math"/>
                                    </a:rPr>
                                  </m:ctrlPr>
                                </m:sSupPr>
                                <m:e>
                                  <m:r>
                                    <a:rPr lang="en-GB" sz="2200">
                                      <a:solidFill>
                                        <a:srgbClr val="182D45"/>
                                      </a:solidFill>
                                      <a:latin typeface="Cambria Math"/>
                                    </a:rPr>
                                    <m:t>𝑏</m:t>
                                  </m:r>
                                </m:e>
                                <m:sup>
                                  <m:d>
                                    <m:dPr>
                                      <m:ctrlPr>
                                        <a:rPr lang="en-GB" sz="2200">
                                          <a:solidFill>
                                            <a:srgbClr val="182D45"/>
                                          </a:solidFill>
                                          <a:latin typeface="Cambria Math"/>
                                        </a:rPr>
                                      </m:ctrlPr>
                                    </m:dPr>
                                    <m:e>
                                      <m:r>
                                        <a:rPr lang="en-GB" sz="2200">
                                          <a:solidFill>
                                            <a:srgbClr val="182D45"/>
                                          </a:solidFill>
                                          <a:latin typeface="Cambria Math"/>
                                        </a:rPr>
                                        <m:t>0</m:t>
                                      </m:r>
                                    </m:e>
                                  </m:d>
                                </m:sup>
                              </m:sSup>
                              <m:r>
                                <a:rPr lang="it-IT" sz="2200" b="0" i="1" smtClean="0">
                                  <a:solidFill>
                                    <a:srgbClr val="182D45"/>
                                  </a:solidFill>
                                  <a:latin typeface="Cambria Math" panose="02040503050406030204" pitchFamily="18" charset="0"/>
                                </a:rPr>
                                <m:t>,</m:t>
                              </m:r>
                              <m:sSup>
                                <m:sSupPr>
                                  <m:ctrlPr>
                                    <a:rPr lang="en-GB" sz="2200">
                                      <a:solidFill>
                                        <a:srgbClr val="182D45"/>
                                      </a:solidFill>
                                      <a:latin typeface="Cambria Math"/>
                                    </a:rPr>
                                  </m:ctrlPr>
                                </m:sSupPr>
                                <m:e>
                                  <m:r>
                                    <a:rPr lang="en-GB" sz="2200">
                                      <a:solidFill>
                                        <a:srgbClr val="182D45"/>
                                      </a:solidFill>
                                      <a:latin typeface="Cambria Math"/>
                                    </a:rPr>
                                    <m:t>𝑎</m:t>
                                  </m:r>
                                </m:e>
                                <m:sup>
                                  <m:d>
                                    <m:dPr>
                                      <m:ctrlPr>
                                        <a:rPr lang="en-GB" sz="2200">
                                          <a:solidFill>
                                            <a:srgbClr val="182D45"/>
                                          </a:solidFill>
                                          <a:latin typeface="Cambria Math"/>
                                        </a:rPr>
                                      </m:ctrlPr>
                                    </m:dPr>
                                    <m:e>
                                      <m:r>
                                        <a:rPr lang="en-GB" sz="2200">
                                          <a:solidFill>
                                            <a:srgbClr val="182D45"/>
                                          </a:solidFill>
                                          <a:latin typeface="Cambria Math"/>
                                        </a:rPr>
                                        <m:t>0</m:t>
                                      </m:r>
                                    </m:e>
                                  </m:d>
                                </m:sup>
                              </m:sSup>
                            </m:e>
                          </m:d>
                        </m:e>
                        <m:sup>
                          <m:r>
                            <a:rPr lang="it-IT" sz="2200" b="0" i="1" smtClean="0">
                              <a:solidFill>
                                <a:srgbClr val="182D45"/>
                              </a:solidFill>
                              <a:latin typeface="Cambria Math" panose="02040503050406030204" pitchFamily="18" charset="0"/>
                            </a:rPr>
                            <m:t>⊤</m:t>
                          </m:r>
                        </m:sup>
                      </m:sSup>
                      <m:r>
                        <a:rPr lang="en-GB" sz="2200" b="0" i="0">
                          <a:solidFill>
                            <a:srgbClr val="182D45"/>
                          </a:solidFill>
                          <a:latin typeface="Cambria Math"/>
                        </a:rPr>
                        <m:t>=</m:t>
                      </m:r>
                      <m:sSup>
                        <m:sSupPr>
                          <m:ctrlPr>
                            <a:rPr lang="it-IT" sz="2200" b="0" i="1" smtClean="0">
                              <a:solidFill>
                                <a:srgbClr val="182D45"/>
                              </a:solidFill>
                              <a:latin typeface="Cambria Math" panose="02040503050406030204" pitchFamily="18" charset="0"/>
                            </a:rPr>
                          </m:ctrlPr>
                        </m:sSupPr>
                        <m:e>
                          <m:d>
                            <m:dPr>
                              <m:ctrlPr>
                                <a:rPr lang="it-IT" sz="2200" b="0" i="1" smtClean="0">
                                  <a:solidFill>
                                    <a:srgbClr val="182D45"/>
                                  </a:solidFill>
                                  <a:latin typeface="Cambria Math" panose="02040503050406030204" pitchFamily="18" charset="0"/>
                                </a:rPr>
                              </m:ctrlPr>
                            </m:dPr>
                            <m:e>
                              <m:r>
                                <a:rPr lang="it-IT" sz="2200" b="0" i="1" smtClean="0">
                                  <a:solidFill>
                                    <a:srgbClr val="182D45"/>
                                  </a:solidFill>
                                  <a:latin typeface="Cambria Math" panose="02040503050406030204" pitchFamily="18" charset="0"/>
                                </a:rPr>
                                <m:t>0,0</m:t>
                              </m:r>
                            </m:e>
                          </m:d>
                        </m:e>
                        <m:sup>
                          <m:r>
                            <a:rPr lang="it-IT" sz="2200" b="0" i="1" smtClean="0">
                              <a:solidFill>
                                <a:srgbClr val="182D45"/>
                              </a:solidFill>
                              <a:latin typeface="Cambria Math" panose="02040503050406030204" pitchFamily="18" charset="0"/>
                            </a:rPr>
                            <m:t>⊤</m:t>
                          </m:r>
                        </m:sup>
                      </m:sSup>
                      <m:r>
                        <a:rPr lang="it-IT" sz="2200" b="0" i="1" smtClean="0">
                          <a:solidFill>
                            <a:srgbClr val="182D45"/>
                          </a:solidFill>
                          <a:latin typeface="Cambria Math" panose="02040503050406030204" pitchFamily="18" charset="0"/>
                        </a:rPr>
                        <m:t>,</m:t>
                      </m:r>
                      <m:r>
                        <a:rPr lang="en-GB" sz="2200" b="0" i="0">
                          <a:solidFill>
                            <a:srgbClr val="182D45"/>
                          </a:solidFill>
                          <a:latin typeface="Cambria Math"/>
                        </a:rPr>
                        <m:t>    </m:t>
                      </m:r>
                      <m:r>
                        <a:rPr lang="it-IT" sz="2200" b="0" i="1" smtClean="0">
                          <a:solidFill>
                            <a:srgbClr val="182D45"/>
                          </a:solidFill>
                          <a:latin typeface="Cambria Math" panose="02040503050406030204" pitchFamily="18" charset="0"/>
                        </a:rPr>
                        <m:t>𝜂</m:t>
                      </m:r>
                      <m:r>
                        <a:rPr lang="en-GB" sz="2200" b="0" i="0">
                          <a:solidFill>
                            <a:srgbClr val="182D45"/>
                          </a:solidFill>
                          <a:latin typeface="Cambria Math"/>
                        </a:rPr>
                        <m:t>=0.04</m:t>
                      </m:r>
                    </m:oMath>
                  </m:oMathPara>
                </a14:m>
                <a:endParaRPr dirty="0"/>
              </a:p>
            </p:txBody>
          </p:sp>
        </mc:Choice>
        <mc:Fallback xmlns="">
          <p:sp>
            <p:nvSpPr>
              <p:cNvPr id="4" name="step_setup">
                <a:extLst>
                  <a:ext uri="{FF2B5EF4-FFF2-40B4-BE49-F238E27FC236}">
                    <a16:creationId xmlns:a16="http://schemas.microsoft.com/office/drawing/2014/main" id="{DB531851-63C6-4D37-9E4C-66E3CFB77D2B}"/>
                  </a:ext>
                </a:extLst>
              </p:cNvPr>
              <p:cNvSpPr>
                <a:spLocks noGrp="1" noRot="1" noChangeAspect="1" noMove="1" noResize="1" noEditPoints="1" noAdjustHandles="1" noChangeArrowheads="1" noChangeShapeType="1" noTextEdit="1"/>
              </p:cNvSpPr>
              <p:nvPr/>
            </p:nvSpPr>
            <p:spPr>
              <a:xfrm>
                <a:off x="609600" y="2677491"/>
                <a:ext cx="10953750" cy="541051"/>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step_derivative_b">
                <a:extLst>
                  <a:ext uri="{FF2B5EF4-FFF2-40B4-BE49-F238E27FC236}">
                    <a16:creationId xmlns:a16="http://schemas.microsoft.com/office/drawing/2014/main" id="{8C852452-0033-4EB6-9CDB-E4BC339159B0}"/>
                  </a:ext>
                </a:extLst>
              </p:cNvPr>
              <p:cNvSpPr>
                <a:spLocks noGrp="1"/>
              </p:cNvSpPr>
              <p:nvPr/>
            </p:nvSpPr>
            <p:spPr>
              <a:xfrm>
                <a:off x="609600" y="3278074"/>
                <a:ext cx="10953750" cy="981075"/>
              </a:xfrm>
              <a:prstGeom prst="rect">
                <a:avLst/>
              </a:prstGeom>
              <a:noFill/>
              <a:ln w="0">
                <a:noFill/>
              </a:ln>
            </p:spPr>
            <p:txBody>
              <a:bodyPr vertOverflow="overflow" wrap="none" lIns="0" tIns="0" rIns="0" bIns="0" anchor="t">
                <a:noAutofit/>
              </a:bodyPr>
              <a:lstStyle/>
              <a:p>
                <a:pPr algn="ctr"/>
                <a14:m>
                  <m:oMathPara xmlns:m="http://schemas.openxmlformats.org/officeDocument/2006/math">
                    <m:oMath>
                      <m:f>
                        <m:fPr>
                          <m:ctrlPr>
                            <a:rPr lang="en-GB" sz="2200" b="0" i="0">
                              <a:solidFill>
                                <a:srgbClr val="306EB9"/>
                              </a:solidFill>
                              <a:latin typeface="Cambria Math"/>
                            </a:rPr>
                          </m:ctrlPr>
                        </m:fPr>
                        <m:num>
                          <m:r>
                            <a:rPr lang="en-GB" sz="2200" b="0" i="0">
                              <a:solidFill>
                                <a:srgbClr val="306EB9"/>
                              </a:solidFill>
                              <a:latin typeface="Cambria Math"/>
                            </a:rPr>
                            <m:t>𝜕</m:t>
                          </m:r>
                          <m:sSubSup>
                            <m:sSubSupPr>
                              <m:ctrlPr>
                                <a:rPr lang="en-GB" sz="2200" b="0" i="0">
                                  <a:solidFill>
                                    <a:srgbClr val="306EB9"/>
                                  </a:solidFill>
                                  <a:latin typeface="Cambria Math"/>
                                </a:rPr>
                              </m:ctrlPr>
                            </m:sSubSupPr>
                            <m:e>
                              <m:r>
                                <a:rPr lang="en-GB" sz="2200" b="0" i="0">
                                  <a:solidFill>
                                    <a:srgbClr val="306EB9"/>
                                  </a:solidFill>
                                  <a:latin typeface="Cambria Math"/>
                                </a:rPr>
                                <m:t>ℒ</m:t>
                              </m:r>
                            </m:e>
                            <m:sub>
                              <m:r>
                                <m:rPr>
                                  <m:sty m:val="p"/>
                                </m:rPr>
                                <a:rPr lang="en-GB" sz="2200" b="0" i="0">
                                  <a:solidFill>
                                    <a:srgbClr val="306EB9"/>
                                  </a:solidFill>
                                  <a:latin typeface="Cambria Math"/>
                                </a:rPr>
                                <m:t>sq</m:t>
                              </m:r>
                            </m:sub>
                            <m:sup>
                              <m:r>
                                <m:rPr>
                                  <m:sty m:val="p"/>
                                </m:rPr>
                                <a:rPr lang="en-GB" sz="2200" b="0" i="0">
                                  <a:solidFill>
                                    <a:srgbClr val="306EB9"/>
                                  </a:solidFill>
                                  <a:latin typeface="Cambria Math"/>
                                </a:rPr>
                                <m:t>aff</m:t>
                              </m:r>
                            </m:sup>
                          </m:sSubSup>
                        </m:num>
                        <m:den>
                          <m:r>
                            <a:rPr lang="en-GB" sz="2200" b="0" i="0">
                              <a:solidFill>
                                <a:srgbClr val="306EB9"/>
                              </a:solidFill>
                              <a:latin typeface="Cambria Math"/>
                            </a:rPr>
                            <m:t>𝜕</m:t>
                          </m:r>
                          <m:r>
                            <a:rPr lang="en-GB" sz="2200" b="0" i="0">
                              <a:solidFill>
                                <a:srgbClr val="306EB9"/>
                              </a:solidFill>
                              <a:latin typeface="Cambria Math"/>
                            </a:rPr>
                            <m:t>𝑏</m:t>
                          </m:r>
                        </m:den>
                      </m:f>
                      <m:d>
                        <m:dPr>
                          <m:ctrlPr>
                            <a:rPr lang="en-GB" sz="2200" b="0" i="0">
                              <a:solidFill>
                                <a:srgbClr val="306EB9"/>
                              </a:solidFill>
                              <a:latin typeface="Cambria Math"/>
                            </a:rPr>
                          </m:ctrlPr>
                        </m:dPr>
                        <m:e>
                          <m:r>
                            <a:rPr lang="en-GB" sz="2200" b="0" i="0">
                              <a:solidFill>
                                <a:srgbClr val="306EB9"/>
                              </a:solidFill>
                              <a:latin typeface="Cambria Math"/>
                            </a:rPr>
                            <m:t>0,0</m:t>
                          </m:r>
                        </m:e>
                      </m:d>
                      <m:r>
                        <a:rPr lang="en-GB" sz="2200" b="0" i="0">
                          <a:solidFill>
                            <a:srgbClr val="306EB9"/>
                          </a:solidFill>
                          <a:latin typeface="Cambria Math"/>
                        </a:rPr>
                        <m:t>=−2</m:t>
                      </m:r>
                      <m:nary>
                        <m:naryPr>
                          <m:chr m:val="∑"/>
                          <m:limLoc m:val="undOvr"/>
                          <m:ctrlPr>
                            <a:rPr lang="en-GB" sz="2200" b="0" i="0">
                              <a:solidFill>
                                <a:srgbClr val="306EB9"/>
                              </a:solidFill>
                              <a:latin typeface="Cambria Math"/>
                            </a:rPr>
                          </m:ctrlPr>
                        </m:naryPr>
                        <m:sub>
                          <m:r>
                            <a:rPr lang="en-GB" sz="2200" b="0" i="0">
                              <a:solidFill>
                                <a:srgbClr val="306EB9"/>
                              </a:solidFill>
                              <a:latin typeface="Cambria Math"/>
                            </a:rPr>
                            <m:t>𝑖</m:t>
                          </m:r>
                          <m:r>
                            <a:rPr lang="en-GB" sz="2200" b="0" i="0">
                              <a:solidFill>
                                <a:srgbClr val="306EB9"/>
                              </a:solidFill>
                              <a:latin typeface="Cambria Math"/>
                            </a:rPr>
                            <m:t>=1</m:t>
                          </m:r>
                        </m:sub>
                        <m:sup>
                          <m:r>
                            <a:rPr lang="en-GB" sz="2200" b="0" i="0">
                              <a:solidFill>
                                <a:srgbClr val="306EB9"/>
                              </a:solidFill>
                              <a:latin typeface="Cambria Math"/>
                            </a:rPr>
                            <m:t>5</m:t>
                          </m:r>
                        </m:sup>
                        <m:e>
                          <m:sSub>
                            <m:sSubPr>
                              <m:ctrlPr>
                                <a:rPr lang="en-GB" sz="2200" b="0" i="0">
                                  <a:solidFill>
                                    <a:srgbClr val="306EB9"/>
                                  </a:solidFill>
                                  <a:latin typeface="Cambria Math"/>
                                </a:rPr>
                              </m:ctrlPr>
                            </m:sSubPr>
                            <m:e>
                              <m:r>
                                <a:rPr lang="en-GB" sz="2200" b="0" i="0">
                                  <a:solidFill>
                                    <a:srgbClr val="306EB9"/>
                                  </a:solidFill>
                                  <a:latin typeface="Cambria Math"/>
                                </a:rPr>
                                <m:t>𝑦</m:t>
                              </m:r>
                            </m:e>
                            <m:sub>
                              <m:r>
                                <a:rPr lang="en-GB" sz="2200" b="0" i="0">
                                  <a:solidFill>
                                    <a:srgbClr val="306EB9"/>
                                  </a:solidFill>
                                  <a:latin typeface="Cambria Math"/>
                                </a:rPr>
                                <m:t>𝑖</m:t>
                              </m:r>
                            </m:sub>
                          </m:sSub>
                        </m:e>
                      </m:nary>
                      <m:r>
                        <a:rPr lang="en-GB" sz="2200" b="0" i="0">
                          <a:solidFill>
                            <a:srgbClr val="306EB9"/>
                          </a:solidFill>
                          <a:latin typeface="Cambria Math"/>
                        </a:rPr>
                        <m:t>=−2</m:t>
                      </m:r>
                      <m:r>
                        <a:rPr lang="it-IT" sz="2200" b="0" i="1" smtClean="0">
                          <a:solidFill>
                            <a:srgbClr val="306EB9"/>
                          </a:solidFill>
                          <a:latin typeface="Cambria Math" panose="02040503050406030204" pitchFamily="18" charset="0"/>
                        </a:rPr>
                        <m:t>⋅</m:t>
                      </m:r>
                      <m:r>
                        <a:rPr lang="en-GB" sz="2200">
                          <a:solidFill>
                            <a:srgbClr val="306EB9"/>
                          </a:solidFill>
                          <a:latin typeface="Cambria Math"/>
                        </a:rPr>
                        <m:t>10</m:t>
                      </m:r>
                      <m:r>
                        <a:rPr lang="en-GB" sz="2200" b="0" i="0">
                          <a:solidFill>
                            <a:srgbClr val="306EB9"/>
                          </a:solidFill>
                          <a:latin typeface="Cambria Math"/>
                        </a:rPr>
                        <m:t>=−20</m:t>
                      </m:r>
                    </m:oMath>
                  </m:oMathPara>
                </a14:m>
                <a:endParaRPr sz="2200" dirty="0"/>
              </a:p>
            </p:txBody>
          </p:sp>
        </mc:Choice>
        <mc:Fallback xmlns="">
          <p:sp>
            <p:nvSpPr>
              <p:cNvPr id="5" name="step_derivative_b">
                <a:extLst>
                  <a:ext uri="{FF2B5EF4-FFF2-40B4-BE49-F238E27FC236}">
                    <a16:creationId xmlns:a16="http://schemas.microsoft.com/office/drawing/2014/main" id="{8C852452-0033-4EB6-9CDB-E4BC339159B0}"/>
                  </a:ext>
                </a:extLst>
              </p:cNvPr>
              <p:cNvSpPr>
                <a:spLocks noGrp="1" noRot="1" noChangeAspect="1" noMove="1" noResize="1" noEditPoints="1" noAdjustHandles="1" noChangeArrowheads="1" noChangeShapeType="1" noTextEdit="1"/>
              </p:cNvSpPr>
              <p:nvPr/>
            </p:nvSpPr>
            <p:spPr>
              <a:xfrm>
                <a:off x="609600" y="3278074"/>
                <a:ext cx="10953750" cy="9810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step_derivative_a">
                <a:extLst>
                  <a:ext uri="{FF2B5EF4-FFF2-40B4-BE49-F238E27FC236}">
                    <a16:creationId xmlns:a16="http://schemas.microsoft.com/office/drawing/2014/main" id="{D1E15566-BCED-4731-AC09-19785553FDC5}"/>
                  </a:ext>
                </a:extLst>
              </p:cNvPr>
              <p:cNvSpPr>
                <a:spLocks noGrp="1"/>
              </p:cNvSpPr>
              <p:nvPr/>
            </p:nvSpPr>
            <p:spPr>
              <a:xfrm>
                <a:off x="619125" y="4285173"/>
                <a:ext cx="10953750" cy="981075"/>
              </a:xfrm>
              <a:prstGeom prst="rect">
                <a:avLst/>
              </a:prstGeom>
              <a:noFill/>
              <a:ln w="0">
                <a:noFill/>
              </a:ln>
            </p:spPr>
            <p:txBody>
              <a:bodyPr vertOverflow="overflow" wrap="none" lIns="0" tIns="0" rIns="0" bIns="0" anchor="t">
                <a:noAutofit/>
              </a:bodyPr>
              <a:lstStyle/>
              <a:p>
                <a:pPr algn="ctr"/>
                <a14:m>
                  <m:oMathPara xmlns:m="http://schemas.openxmlformats.org/officeDocument/2006/math">
                    <m:oMath>
                      <m:f>
                        <m:fPr>
                          <m:ctrlPr>
                            <a:rPr lang="en-GB" sz="2200" b="0" i="0">
                              <a:solidFill>
                                <a:srgbClr val="306EB9"/>
                              </a:solidFill>
                              <a:latin typeface="Cambria Math"/>
                            </a:rPr>
                          </m:ctrlPr>
                        </m:fPr>
                        <m:num>
                          <m:r>
                            <a:rPr lang="en-GB" sz="2200" b="0" i="0">
                              <a:solidFill>
                                <a:srgbClr val="306EB9"/>
                              </a:solidFill>
                              <a:latin typeface="Cambria Math"/>
                            </a:rPr>
                            <m:t>𝜕</m:t>
                          </m:r>
                          <m:sSubSup>
                            <m:sSubSupPr>
                              <m:ctrlPr>
                                <a:rPr lang="en-GB" sz="2200" b="0" i="0">
                                  <a:solidFill>
                                    <a:srgbClr val="306EB9"/>
                                  </a:solidFill>
                                  <a:latin typeface="Cambria Math"/>
                                </a:rPr>
                              </m:ctrlPr>
                            </m:sSubSupPr>
                            <m:e>
                              <m:r>
                                <a:rPr lang="en-GB" sz="2200" b="0" i="0">
                                  <a:solidFill>
                                    <a:srgbClr val="306EB9"/>
                                  </a:solidFill>
                                  <a:latin typeface="Cambria Math"/>
                                </a:rPr>
                                <m:t>ℒ</m:t>
                              </m:r>
                            </m:e>
                            <m:sub>
                              <m:r>
                                <m:rPr>
                                  <m:sty m:val="p"/>
                                </m:rPr>
                                <a:rPr lang="en-GB" sz="2200" b="0" i="0">
                                  <a:solidFill>
                                    <a:srgbClr val="306EB9"/>
                                  </a:solidFill>
                                  <a:latin typeface="Cambria Math"/>
                                </a:rPr>
                                <m:t>sq</m:t>
                              </m:r>
                            </m:sub>
                            <m:sup>
                              <m:r>
                                <m:rPr>
                                  <m:sty m:val="p"/>
                                </m:rPr>
                                <a:rPr lang="en-GB" sz="2200" b="0" i="0">
                                  <a:solidFill>
                                    <a:srgbClr val="306EB9"/>
                                  </a:solidFill>
                                  <a:latin typeface="Cambria Math"/>
                                </a:rPr>
                                <m:t>aff</m:t>
                              </m:r>
                            </m:sup>
                          </m:sSubSup>
                        </m:num>
                        <m:den>
                          <m:r>
                            <a:rPr lang="en-GB" sz="2200" b="0" i="0">
                              <a:solidFill>
                                <a:srgbClr val="306EB9"/>
                              </a:solidFill>
                              <a:latin typeface="Cambria Math"/>
                            </a:rPr>
                            <m:t>𝜕</m:t>
                          </m:r>
                          <m:r>
                            <a:rPr lang="en-GB" sz="2200" b="0" i="0">
                              <a:solidFill>
                                <a:srgbClr val="306EB9"/>
                              </a:solidFill>
                              <a:latin typeface="Cambria Math"/>
                            </a:rPr>
                            <m:t>𝑎</m:t>
                          </m:r>
                        </m:den>
                      </m:f>
                      <m:d>
                        <m:dPr>
                          <m:ctrlPr>
                            <a:rPr lang="en-GB" sz="2200" b="0" i="0">
                              <a:solidFill>
                                <a:srgbClr val="306EB9"/>
                              </a:solidFill>
                              <a:latin typeface="Cambria Math"/>
                            </a:rPr>
                          </m:ctrlPr>
                        </m:dPr>
                        <m:e>
                          <m:r>
                            <a:rPr lang="en-GB" sz="2200" b="0" i="0">
                              <a:solidFill>
                                <a:srgbClr val="306EB9"/>
                              </a:solidFill>
                              <a:latin typeface="Cambria Math"/>
                            </a:rPr>
                            <m:t>0,0</m:t>
                          </m:r>
                        </m:e>
                      </m:d>
                      <m:r>
                        <a:rPr lang="en-GB" sz="2200" b="0" i="0">
                          <a:solidFill>
                            <a:srgbClr val="306EB9"/>
                          </a:solidFill>
                          <a:latin typeface="Cambria Math"/>
                        </a:rPr>
                        <m:t>=−2</m:t>
                      </m:r>
                      <m:nary>
                        <m:naryPr>
                          <m:chr m:val="∑"/>
                          <m:limLoc m:val="undOvr"/>
                          <m:ctrlPr>
                            <a:rPr lang="en-GB" sz="2200" b="0" i="0">
                              <a:solidFill>
                                <a:srgbClr val="306EB9"/>
                              </a:solidFill>
                              <a:latin typeface="Cambria Math"/>
                            </a:rPr>
                          </m:ctrlPr>
                        </m:naryPr>
                        <m:sub>
                          <m:r>
                            <a:rPr lang="en-GB" sz="2200" b="0" i="0">
                              <a:solidFill>
                                <a:srgbClr val="306EB9"/>
                              </a:solidFill>
                              <a:latin typeface="Cambria Math"/>
                            </a:rPr>
                            <m:t>𝑖</m:t>
                          </m:r>
                          <m:r>
                            <a:rPr lang="en-GB" sz="2200" b="0" i="0">
                              <a:solidFill>
                                <a:srgbClr val="306EB9"/>
                              </a:solidFill>
                              <a:latin typeface="Cambria Math"/>
                            </a:rPr>
                            <m:t>=1</m:t>
                          </m:r>
                        </m:sub>
                        <m:sup>
                          <m:r>
                            <a:rPr lang="en-GB" sz="2200" b="0" i="0">
                              <a:solidFill>
                                <a:srgbClr val="306EB9"/>
                              </a:solidFill>
                              <a:latin typeface="Cambria Math"/>
                            </a:rPr>
                            <m:t>5</m:t>
                          </m:r>
                        </m:sup>
                        <m:e>
                          <m:sSub>
                            <m:sSubPr>
                              <m:ctrlPr>
                                <a:rPr lang="en-GB" sz="2200" b="0" i="0">
                                  <a:solidFill>
                                    <a:srgbClr val="306EB9"/>
                                  </a:solidFill>
                                  <a:latin typeface="Cambria Math"/>
                                </a:rPr>
                              </m:ctrlPr>
                            </m:sSubPr>
                            <m:e>
                              <m:r>
                                <a:rPr lang="en-GB" sz="2200" b="0" i="0">
                                  <a:solidFill>
                                    <a:srgbClr val="306EB9"/>
                                  </a:solidFill>
                                  <a:latin typeface="Cambria Math"/>
                                </a:rPr>
                                <m:t>𝑥</m:t>
                              </m:r>
                            </m:e>
                            <m:sub>
                              <m:r>
                                <a:rPr lang="en-GB" sz="2200" b="0" i="0">
                                  <a:solidFill>
                                    <a:srgbClr val="306EB9"/>
                                  </a:solidFill>
                                  <a:latin typeface="Cambria Math"/>
                                </a:rPr>
                                <m:t>𝑖</m:t>
                              </m:r>
                            </m:sub>
                          </m:sSub>
                          <m:sSub>
                            <m:sSubPr>
                              <m:ctrlPr>
                                <a:rPr lang="en-GB" sz="2200" b="0" i="0">
                                  <a:solidFill>
                                    <a:srgbClr val="306EB9"/>
                                  </a:solidFill>
                                  <a:latin typeface="Cambria Math"/>
                                </a:rPr>
                              </m:ctrlPr>
                            </m:sSubPr>
                            <m:e>
                              <m:r>
                                <a:rPr lang="en-GB" sz="2200" b="0" i="0">
                                  <a:solidFill>
                                    <a:srgbClr val="306EB9"/>
                                  </a:solidFill>
                                  <a:latin typeface="Cambria Math"/>
                                </a:rPr>
                                <m:t>𝑦</m:t>
                              </m:r>
                            </m:e>
                            <m:sub>
                              <m:r>
                                <a:rPr lang="en-GB" sz="2200" b="0" i="0">
                                  <a:solidFill>
                                    <a:srgbClr val="306EB9"/>
                                  </a:solidFill>
                                  <a:latin typeface="Cambria Math"/>
                                </a:rPr>
                                <m:t>𝑖</m:t>
                              </m:r>
                            </m:sub>
                          </m:sSub>
                        </m:e>
                      </m:nary>
                      <m:r>
                        <a:rPr lang="en-GB" sz="2200" b="0" i="0">
                          <a:solidFill>
                            <a:srgbClr val="306EB9"/>
                          </a:solidFill>
                          <a:latin typeface="Cambria Math"/>
                        </a:rPr>
                        <m:t>=−2</m:t>
                      </m:r>
                      <m:r>
                        <a:rPr lang="it-IT" sz="2200" b="0" i="1" smtClean="0">
                          <a:solidFill>
                            <a:srgbClr val="306EB9"/>
                          </a:solidFill>
                          <a:latin typeface="Cambria Math" panose="02040503050406030204" pitchFamily="18" charset="0"/>
                        </a:rPr>
                        <m:t>⋅</m:t>
                      </m:r>
                      <m:r>
                        <a:rPr lang="en-GB" sz="2200">
                          <a:solidFill>
                            <a:srgbClr val="306EB9"/>
                          </a:solidFill>
                          <a:latin typeface="Cambria Math"/>
                        </a:rPr>
                        <m:t>20</m:t>
                      </m:r>
                      <m:r>
                        <a:rPr lang="en-GB" sz="2200" b="0" i="0">
                          <a:solidFill>
                            <a:srgbClr val="306EB9"/>
                          </a:solidFill>
                          <a:latin typeface="Cambria Math"/>
                        </a:rPr>
                        <m:t>=−40</m:t>
                      </m:r>
                    </m:oMath>
                  </m:oMathPara>
                </a14:m>
                <a:endParaRPr sz="2200" dirty="0"/>
              </a:p>
            </p:txBody>
          </p:sp>
        </mc:Choice>
        <mc:Fallback xmlns="">
          <p:sp>
            <p:nvSpPr>
              <p:cNvPr id="6" name="step_derivative_a">
                <a:extLst>
                  <a:ext uri="{FF2B5EF4-FFF2-40B4-BE49-F238E27FC236}">
                    <a16:creationId xmlns:a16="http://schemas.microsoft.com/office/drawing/2014/main" id="{D1E15566-BCED-4731-AC09-19785553FDC5}"/>
                  </a:ext>
                </a:extLst>
              </p:cNvPr>
              <p:cNvSpPr>
                <a:spLocks noGrp="1" noRot="1" noChangeAspect="1" noMove="1" noResize="1" noEditPoints="1" noAdjustHandles="1" noChangeArrowheads="1" noChangeShapeType="1" noTextEdit="1"/>
              </p:cNvSpPr>
              <p:nvPr/>
            </p:nvSpPr>
            <p:spPr>
              <a:xfrm>
                <a:off x="619125" y="4285173"/>
                <a:ext cx="10953750" cy="9810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step_update">
                <a:extLst>
                  <a:ext uri="{FF2B5EF4-FFF2-40B4-BE49-F238E27FC236}">
                    <a16:creationId xmlns:a16="http://schemas.microsoft.com/office/drawing/2014/main" id="{CB14C9B7-8179-4100-8096-3363AA4219E9}"/>
                  </a:ext>
                </a:extLst>
              </p:cNvPr>
              <p:cNvSpPr>
                <a:spLocks noGrp="1"/>
              </p:cNvSpPr>
              <p:nvPr/>
            </p:nvSpPr>
            <p:spPr>
              <a:xfrm>
                <a:off x="619125" y="5385311"/>
                <a:ext cx="10953750" cy="657225"/>
              </a:xfrm>
              <a:prstGeom prst="rect">
                <a:avLst/>
              </a:prstGeom>
              <a:noFill/>
              <a:ln w="0">
                <a:noFill/>
              </a:ln>
            </p:spPr>
            <p:txBody>
              <a:bodyPr vertOverflow="overflow" wrap="none" lIns="0" tIns="0" rIns="0" bIns="0" anchor="t">
                <a:noAutofit/>
              </a:bodyPr>
              <a:lstStyle/>
              <a:p>
                <a:pPr algn="ctr"/>
                <a14:m>
                  <m:oMathPara xmlns:m="http://schemas.openxmlformats.org/officeDocument/2006/math">
                    <m:oMath>
                      <m:sSup>
                        <m:sSupPr>
                          <m:ctrlPr>
                            <a:rPr lang="en-GB" sz="2200" b="0" i="0">
                              <a:solidFill>
                                <a:srgbClr val="00898E"/>
                              </a:solidFill>
                              <a:latin typeface="Cambria Math"/>
                            </a:rPr>
                          </m:ctrlPr>
                        </m:sSupPr>
                        <m:e>
                          <m:r>
                            <a:rPr lang="en-GB" sz="2200" b="0" i="0">
                              <a:solidFill>
                                <a:srgbClr val="00898E"/>
                              </a:solidFill>
                              <a:latin typeface="Cambria Math"/>
                            </a:rPr>
                            <m:t>𝛉</m:t>
                          </m:r>
                        </m:e>
                        <m:sup>
                          <m:r>
                            <a:rPr lang="en-GB" sz="2200" b="0" i="0">
                              <a:solidFill>
                                <a:srgbClr val="00898E"/>
                              </a:solidFill>
                              <a:latin typeface="Cambria Math"/>
                            </a:rPr>
                            <m:t>(1)</m:t>
                          </m:r>
                        </m:sup>
                      </m:sSup>
                      <m:r>
                        <a:rPr lang="en-GB" sz="2200" b="0" i="0">
                          <a:solidFill>
                            <a:srgbClr val="00898E"/>
                          </a:solidFill>
                          <a:latin typeface="Cambria Math"/>
                        </a:rPr>
                        <m:t>=</m:t>
                      </m:r>
                      <m:sSup>
                        <m:sSupPr>
                          <m:ctrlPr>
                            <a:rPr lang="en-GB" sz="2200">
                              <a:solidFill>
                                <a:srgbClr val="00898E"/>
                              </a:solidFill>
                              <a:latin typeface="Cambria Math"/>
                            </a:rPr>
                          </m:ctrlPr>
                        </m:sSupPr>
                        <m:e>
                          <m:r>
                            <a:rPr lang="en-GB" sz="2200">
                              <a:solidFill>
                                <a:srgbClr val="00898E"/>
                              </a:solidFill>
                              <a:latin typeface="Cambria Math"/>
                            </a:rPr>
                            <m:t>𝛉</m:t>
                          </m:r>
                        </m:e>
                        <m:sup>
                          <m:r>
                            <a:rPr lang="en-GB" sz="2200">
                              <a:solidFill>
                                <a:srgbClr val="00898E"/>
                              </a:solidFill>
                              <a:latin typeface="Cambria Math"/>
                            </a:rPr>
                            <m:t>(</m:t>
                          </m:r>
                          <m:r>
                            <a:rPr lang="it-IT" sz="2200" b="0" i="0" smtClean="0">
                              <a:solidFill>
                                <a:srgbClr val="00898E"/>
                              </a:solidFill>
                              <a:latin typeface="Cambria Math" panose="02040503050406030204" pitchFamily="18" charset="0"/>
                            </a:rPr>
                            <m:t>0</m:t>
                          </m:r>
                          <m:r>
                            <a:rPr lang="en-GB" sz="2200">
                              <a:solidFill>
                                <a:srgbClr val="00898E"/>
                              </a:solidFill>
                              <a:latin typeface="Cambria Math"/>
                            </a:rPr>
                            <m:t>)</m:t>
                          </m:r>
                        </m:sup>
                      </m:sSup>
                      <m:r>
                        <a:rPr lang="it-IT" sz="2200" b="0" i="1" smtClean="0">
                          <a:solidFill>
                            <a:srgbClr val="00898E"/>
                          </a:solidFill>
                          <a:latin typeface="Cambria Math" panose="02040503050406030204" pitchFamily="18" charset="0"/>
                        </a:rPr>
                        <m:t>−</m:t>
                      </m:r>
                      <m:r>
                        <a:rPr lang="it-IT" sz="2200" b="0" i="1" smtClean="0">
                          <a:solidFill>
                            <a:srgbClr val="00898E"/>
                          </a:solidFill>
                          <a:latin typeface="Cambria Math" panose="02040503050406030204" pitchFamily="18" charset="0"/>
                        </a:rPr>
                        <m:t>𝜂</m:t>
                      </m:r>
                      <m:r>
                        <m:rPr>
                          <m:sty m:val="p"/>
                        </m:rPr>
                        <a:rPr lang="it-IT" sz="2200" b="0" i="0" smtClean="0">
                          <a:solidFill>
                            <a:srgbClr val="00898E"/>
                          </a:solidFill>
                          <a:latin typeface="Cambria Math" panose="02040503050406030204" pitchFamily="18" charset="0"/>
                        </a:rPr>
                        <m:t>∇</m:t>
                      </m:r>
                      <m:sSubSup>
                        <m:sSubSupPr>
                          <m:ctrlPr>
                            <a:rPr lang="en-GB" sz="2200">
                              <a:solidFill>
                                <a:srgbClr val="087F83"/>
                              </a:solidFill>
                              <a:latin typeface="Cambria Math"/>
                            </a:rPr>
                          </m:ctrlPr>
                        </m:sSubSupPr>
                        <m:e>
                          <m:r>
                            <a:rPr lang="en-GB" sz="2200">
                              <a:solidFill>
                                <a:srgbClr val="087F83"/>
                              </a:solidFill>
                              <a:latin typeface="Cambria Math"/>
                            </a:rPr>
                            <m:t>ℒ</m:t>
                          </m:r>
                        </m:e>
                        <m:sub>
                          <m:r>
                            <m:rPr>
                              <m:sty m:val="p"/>
                            </m:rPr>
                            <a:rPr lang="en-GB" sz="2200">
                              <a:solidFill>
                                <a:srgbClr val="087F83"/>
                              </a:solidFill>
                              <a:latin typeface="Cambria Math"/>
                            </a:rPr>
                            <m:t>sq</m:t>
                          </m:r>
                        </m:sub>
                        <m:sup>
                          <m:r>
                            <m:rPr>
                              <m:sty m:val="p"/>
                            </m:rPr>
                            <a:rPr lang="en-GB" sz="2200">
                              <a:solidFill>
                                <a:srgbClr val="087F83"/>
                              </a:solidFill>
                              <a:latin typeface="Cambria Math"/>
                            </a:rPr>
                            <m:t>aff</m:t>
                          </m:r>
                        </m:sup>
                      </m:sSubSup>
                      <m:d>
                        <m:dPr>
                          <m:ctrlPr>
                            <a:rPr lang="en-GB" sz="2200" i="1">
                              <a:solidFill>
                                <a:srgbClr val="087F83"/>
                              </a:solidFill>
                              <a:latin typeface="Cambria Math" panose="02040503050406030204" pitchFamily="18" charset="0"/>
                            </a:rPr>
                          </m:ctrlPr>
                        </m:dPr>
                        <m:e>
                          <m:sSup>
                            <m:sSupPr>
                              <m:ctrlPr>
                                <a:rPr lang="en-GB" sz="2200">
                                  <a:solidFill>
                                    <a:srgbClr val="087F83"/>
                                  </a:solidFill>
                                  <a:latin typeface="Cambria Math"/>
                                </a:rPr>
                              </m:ctrlPr>
                            </m:sSupPr>
                            <m:e>
                              <m:r>
                                <a:rPr lang="en-GB" sz="2200">
                                  <a:solidFill>
                                    <a:srgbClr val="087F83"/>
                                  </a:solidFill>
                                  <a:latin typeface="Cambria Math"/>
                                </a:rPr>
                                <m:t>𝛉</m:t>
                              </m:r>
                            </m:e>
                            <m:sup>
                              <m:d>
                                <m:dPr>
                                  <m:ctrlPr>
                                    <a:rPr lang="it-IT" sz="2200">
                                      <a:solidFill>
                                        <a:srgbClr val="087F83"/>
                                      </a:solidFill>
                                      <a:latin typeface="Cambria Math" panose="02040503050406030204" pitchFamily="18" charset="0"/>
                                    </a:rPr>
                                  </m:ctrlPr>
                                </m:dPr>
                                <m:e>
                                  <m:r>
                                    <a:rPr lang="it-IT" sz="2200">
                                      <a:solidFill>
                                        <a:srgbClr val="087F83"/>
                                      </a:solidFill>
                                      <a:latin typeface="Cambria Math" panose="02040503050406030204" pitchFamily="18" charset="0"/>
                                    </a:rPr>
                                    <m:t>0</m:t>
                                  </m:r>
                                </m:e>
                              </m:d>
                            </m:sup>
                          </m:sSup>
                        </m:e>
                      </m:d>
                      <m:r>
                        <a:rPr lang="it-IT" sz="2200" b="0" i="1" smtClean="0">
                          <a:solidFill>
                            <a:srgbClr val="087F83"/>
                          </a:solidFill>
                          <a:latin typeface="Cambria Math" panose="02040503050406030204" pitchFamily="18" charset="0"/>
                        </a:rPr>
                        <m:t>=</m:t>
                      </m:r>
                      <m:d>
                        <m:dPr>
                          <m:ctrlPr>
                            <a:rPr lang="en-GB" sz="2200" b="0" i="1">
                              <a:solidFill>
                                <a:srgbClr val="00898E"/>
                              </a:solidFill>
                              <a:latin typeface="Cambria Math" panose="02040503050406030204" pitchFamily="18" charset="0"/>
                            </a:rPr>
                          </m:ctrlPr>
                        </m:dPr>
                        <m:e>
                          <m:m>
                            <m:mPr>
                              <m:mcs>
                                <m:mc>
                                  <m:mcPr>
                                    <m:count m:val="1"/>
                                    <m:mcJc m:val="center"/>
                                  </m:mcPr>
                                </m:mc>
                              </m:mcs>
                              <m:ctrlPr>
                                <a:rPr lang="en-GB" sz="2200" b="0" i="1">
                                  <a:solidFill>
                                    <a:srgbClr val="00898E"/>
                                  </a:solidFill>
                                  <a:latin typeface="Cambria Math" panose="02040503050406030204" pitchFamily="18" charset="0"/>
                                </a:rPr>
                              </m:ctrlPr>
                            </m:mPr>
                            <m:mr>
                              <m:e>
                                <m:r>
                                  <a:rPr lang="en-GB" sz="2200" b="0" i="0">
                                    <a:solidFill>
                                      <a:srgbClr val="00898E"/>
                                    </a:solidFill>
                                    <a:latin typeface="Cambria Math"/>
                                  </a:rPr>
                                  <m:t>0</m:t>
                                </m:r>
                              </m:e>
                            </m:mr>
                            <m:mr>
                              <m:e>
                                <m:r>
                                  <a:rPr lang="en-GB" sz="2200" b="0" i="0">
                                    <a:solidFill>
                                      <a:srgbClr val="00898E"/>
                                    </a:solidFill>
                                    <a:latin typeface="Cambria Math"/>
                                  </a:rPr>
                                  <m:t>0</m:t>
                                </m:r>
                              </m:e>
                            </m:mr>
                          </m:m>
                        </m:e>
                      </m:d>
                      <m:r>
                        <a:rPr lang="en-GB" sz="2200" b="0" i="0">
                          <a:solidFill>
                            <a:srgbClr val="00898E"/>
                          </a:solidFill>
                          <a:latin typeface="Cambria Math"/>
                        </a:rPr>
                        <m:t>−0.04</m:t>
                      </m:r>
                      <m:r>
                        <a:rPr lang="it-IT" sz="2200" b="0" i="1" smtClean="0">
                          <a:solidFill>
                            <a:srgbClr val="00898E"/>
                          </a:solidFill>
                          <a:latin typeface="Cambria Math" panose="02040503050406030204" pitchFamily="18" charset="0"/>
                        </a:rPr>
                        <m:t>⋅</m:t>
                      </m:r>
                      <m:d>
                        <m:dPr>
                          <m:ctrlPr>
                            <a:rPr lang="en-GB" sz="2200" b="0" i="1">
                              <a:solidFill>
                                <a:srgbClr val="00898E"/>
                              </a:solidFill>
                              <a:latin typeface="Cambria Math" panose="02040503050406030204" pitchFamily="18" charset="0"/>
                            </a:rPr>
                          </m:ctrlPr>
                        </m:dPr>
                        <m:e>
                          <m:m>
                            <m:mPr>
                              <m:mcs>
                                <m:mc>
                                  <m:mcPr>
                                    <m:count m:val="1"/>
                                    <m:mcJc m:val="center"/>
                                  </m:mcPr>
                                </m:mc>
                              </m:mcs>
                              <m:ctrlPr>
                                <a:rPr lang="en-GB" sz="2200" b="0" i="1">
                                  <a:solidFill>
                                    <a:srgbClr val="00898E"/>
                                  </a:solidFill>
                                  <a:latin typeface="Cambria Math" panose="02040503050406030204" pitchFamily="18" charset="0"/>
                                </a:rPr>
                              </m:ctrlPr>
                            </m:mPr>
                            <m:mr>
                              <m:e>
                                <m:r>
                                  <a:rPr lang="en-GB" sz="2200" b="0" i="0">
                                    <a:solidFill>
                                      <a:srgbClr val="00898E"/>
                                    </a:solidFill>
                                    <a:latin typeface="Cambria Math"/>
                                  </a:rPr>
                                  <m:t>−20</m:t>
                                </m:r>
                              </m:e>
                            </m:mr>
                            <m:mr>
                              <m:e>
                                <m:r>
                                  <a:rPr lang="en-GB" sz="2200" b="0" i="0">
                                    <a:solidFill>
                                      <a:srgbClr val="00898E"/>
                                    </a:solidFill>
                                    <a:latin typeface="Cambria Math"/>
                                  </a:rPr>
                                  <m:t>−40</m:t>
                                </m:r>
                              </m:e>
                            </m:mr>
                          </m:m>
                        </m:e>
                      </m:d>
                      <m:r>
                        <a:rPr lang="en-GB" sz="2200" b="0" i="0">
                          <a:solidFill>
                            <a:srgbClr val="00898E"/>
                          </a:solidFill>
                          <a:latin typeface="Cambria Math"/>
                        </a:rPr>
                        <m:t>=</m:t>
                      </m:r>
                      <m:d>
                        <m:dPr>
                          <m:ctrlPr>
                            <a:rPr lang="en-GB" sz="2200" b="0" i="1">
                              <a:solidFill>
                                <a:srgbClr val="00898E"/>
                              </a:solidFill>
                              <a:latin typeface="Cambria Math" panose="02040503050406030204" pitchFamily="18" charset="0"/>
                            </a:rPr>
                          </m:ctrlPr>
                        </m:dPr>
                        <m:e>
                          <m:m>
                            <m:mPr>
                              <m:mcs>
                                <m:mc>
                                  <m:mcPr>
                                    <m:count m:val="1"/>
                                    <m:mcJc m:val="center"/>
                                  </m:mcPr>
                                </m:mc>
                              </m:mcs>
                              <m:ctrlPr>
                                <a:rPr lang="en-GB" sz="2200" b="0" i="1">
                                  <a:solidFill>
                                    <a:srgbClr val="00898E"/>
                                  </a:solidFill>
                                  <a:latin typeface="Cambria Math" panose="02040503050406030204" pitchFamily="18" charset="0"/>
                                </a:rPr>
                              </m:ctrlPr>
                            </m:mPr>
                            <m:mr>
                              <m:e>
                                <m:r>
                                  <a:rPr lang="en-GB" sz="2200" b="0" i="0">
                                    <a:solidFill>
                                      <a:srgbClr val="00898E"/>
                                    </a:solidFill>
                                    <a:latin typeface="Cambria Math"/>
                                  </a:rPr>
                                  <m:t>0.8</m:t>
                                </m:r>
                              </m:e>
                            </m:mr>
                            <m:mr>
                              <m:e>
                                <m:r>
                                  <a:rPr lang="en-GB" sz="2200" b="0" i="0">
                                    <a:solidFill>
                                      <a:srgbClr val="00898E"/>
                                    </a:solidFill>
                                    <a:latin typeface="Cambria Math"/>
                                  </a:rPr>
                                  <m:t>1.6</m:t>
                                </m:r>
                              </m:e>
                            </m:mr>
                          </m:m>
                        </m:e>
                      </m:d>
                    </m:oMath>
                  </m:oMathPara>
                </a14:m>
                <a:endParaRPr sz="2200" dirty="0"/>
              </a:p>
            </p:txBody>
          </p:sp>
        </mc:Choice>
        <mc:Fallback xmlns="">
          <p:sp>
            <p:nvSpPr>
              <p:cNvPr id="7" name="step_update">
                <a:extLst>
                  <a:ext uri="{FF2B5EF4-FFF2-40B4-BE49-F238E27FC236}">
                    <a16:creationId xmlns:a16="http://schemas.microsoft.com/office/drawing/2014/main" id="{CB14C9B7-8179-4100-8096-3363AA4219E9}"/>
                  </a:ext>
                </a:extLst>
              </p:cNvPr>
              <p:cNvSpPr>
                <a:spLocks noGrp="1" noRot="1" noChangeAspect="1" noMove="1" noResize="1" noEditPoints="1" noAdjustHandles="1" noChangeArrowheads="1" noChangeShapeType="1" noTextEdit="1"/>
              </p:cNvSpPr>
              <p:nvPr/>
            </p:nvSpPr>
            <p:spPr>
              <a:xfrm>
                <a:off x="619125" y="5385311"/>
                <a:ext cx="10953750" cy="6572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step_predictor">
                <a:extLst>
                  <a:ext uri="{FF2B5EF4-FFF2-40B4-BE49-F238E27FC236}">
                    <a16:creationId xmlns:a16="http://schemas.microsoft.com/office/drawing/2014/main" id="{7983F1EF-B65C-4D77-9EC1-F81DF02C96AF}"/>
                  </a:ext>
                </a:extLst>
              </p:cNvPr>
              <p:cNvSpPr>
                <a:spLocks noGrp="1"/>
              </p:cNvSpPr>
              <p:nvPr/>
            </p:nvSpPr>
            <p:spPr>
              <a:xfrm>
                <a:off x="619125" y="6187623"/>
                <a:ext cx="10953750" cy="389389"/>
              </a:xfrm>
              <a:prstGeom prst="rect">
                <a:avLst/>
              </a:prstGeom>
              <a:noFill/>
              <a:ln w="0">
                <a:noFill/>
              </a:ln>
            </p:spPr>
            <p:txBody>
              <a:bodyPr vertOverflow="overflow" wrap="none" lIns="0" tIns="0" rIns="0" bIns="0" anchor="t">
                <a:noAutofit/>
              </a:bodyPr>
              <a:lstStyle/>
              <a:p>
                <a:pPr algn="ctr"/>
                <a14:m>
                  <m:oMathPara xmlns:m="http://schemas.openxmlformats.org/officeDocument/2006/math">
                    <m:oMath>
                      <m:sSub>
                        <m:sSubPr>
                          <m:ctrlPr>
                            <a:rPr lang="en-GB" sz="2200" b="0" i="0">
                              <a:solidFill>
                                <a:srgbClr val="00898E"/>
                              </a:solidFill>
                              <a:latin typeface="Cambria Math"/>
                            </a:rPr>
                          </m:ctrlPr>
                        </m:sSubPr>
                        <m:e>
                          <m:r>
                            <a:rPr lang="en-GB" sz="2200" b="0" i="0">
                              <a:solidFill>
                                <a:srgbClr val="00898E"/>
                              </a:solidFill>
                              <a:latin typeface="Cambria Math"/>
                            </a:rPr>
                            <m:t>𝑓</m:t>
                          </m:r>
                        </m:e>
                        <m:sub>
                          <m:sSup>
                            <m:sSupPr>
                              <m:ctrlPr>
                                <a:rPr lang="en-GB" sz="2200" b="0" i="0">
                                  <a:solidFill>
                                    <a:srgbClr val="00898E"/>
                                  </a:solidFill>
                                  <a:latin typeface="Cambria Math"/>
                                </a:rPr>
                              </m:ctrlPr>
                            </m:sSupPr>
                            <m:e>
                              <m:r>
                                <a:rPr lang="en-GB" sz="2200" b="0" i="0">
                                  <a:solidFill>
                                    <a:srgbClr val="00898E"/>
                                  </a:solidFill>
                                  <a:latin typeface="Cambria Math"/>
                                </a:rPr>
                                <m:t>𝛉</m:t>
                              </m:r>
                            </m:e>
                            <m:sup>
                              <m:r>
                                <a:rPr lang="en-GB" sz="2200" b="0" i="0">
                                  <a:solidFill>
                                    <a:srgbClr val="00898E"/>
                                  </a:solidFill>
                                  <a:latin typeface="Cambria Math"/>
                                </a:rPr>
                                <m:t>(1)</m:t>
                              </m:r>
                            </m:sup>
                          </m:sSup>
                        </m:sub>
                      </m:sSub>
                      <m:d>
                        <m:dPr>
                          <m:ctrlPr>
                            <a:rPr lang="en-GB" sz="2200" b="0" i="0">
                              <a:solidFill>
                                <a:srgbClr val="00898E"/>
                              </a:solidFill>
                              <a:latin typeface="Cambria Math"/>
                            </a:rPr>
                          </m:ctrlPr>
                        </m:dPr>
                        <m:e>
                          <m:r>
                            <a:rPr lang="en-GB" sz="2200" b="0" i="0">
                              <a:solidFill>
                                <a:srgbClr val="00898E"/>
                              </a:solidFill>
                              <a:latin typeface="Cambria Math"/>
                            </a:rPr>
                            <m:t>𝑥</m:t>
                          </m:r>
                        </m:e>
                      </m:d>
                      <m:r>
                        <a:rPr lang="en-GB" sz="2200" b="0" i="0">
                          <a:solidFill>
                            <a:srgbClr val="00898E"/>
                          </a:solidFill>
                          <a:latin typeface="Cambria Math"/>
                        </a:rPr>
                        <m:t>=0.8+1.6</m:t>
                      </m:r>
                      <m:r>
                        <a:rPr lang="it-IT" sz="2200" b="0" i="1" smtClean="0">
                          <a:solidFill>
                            <a:srgbClr val="00898E"/>
                          </a:solidFill>
                          <a:latin typeface="Cambria Math" panose="02040503050406030204" pitchFamily="18" charset="0"/>
                        </a:rPr>
                        <m:t>𝑥</m:t>
                      </m:r>
                    </m:oMath>
                  </m:oMathPara>
                </a14:m>
                <a:endParaRPr i="1" dirty="0"/>
              </a:p>
            </p:txBody>
          </p:sp>
        </mc:Choice>
        <mc:Fallback xmlns="">
          <p:sp>
            <p:nvSpPr>
              <p:cNvPr id="8" name="step_predictor">
                <a:extLst>
                  <a:ext uri="{FF2B5EF4-FFF2-40B4-BE49-F238E27FC236}">
                    <a16:creationId xmlns:a16="http://schemas.microsoft.com/office/drawing/2014/main" id="{7983F1EF-B65C-4D77-9EC1-F81DF02C96AF}"/>
                  </a:ext>
                </a:extLst>
              </p:cNvPr>
              <p:cNvSpPr>
                <a:spLocks noGrp="1" noRot="1" noChangeAspect="1" noMove="1" noResize="1" noEditPoints="1" noAdjustHandles="1" noChangeArrowheads="1" noChangeShapeType="1" noTextEdit="1"/>
              </p:cNvSpPr>
              <p:nvPr/>
            </p:nvSpPr>
            <p:spPr>
              <a:xfrm>
                <a:off x="619125" y="6187623"/>
                <a:ext cx="10953750" cy="389389"/>
              </a:xfrm>
              <a:prstGeom prst="rect">
                <a:avLst/>
              </a:prstGeom>
              <a:blipFill>
                <a:blip r:embed="rId7"/>
                <a:stretch>
                  <a:fillRect b="-1875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graphicFrame>
            <p:nvGraphicFramePr>
              <p:cNvPr id="18" name="Tabella 17">
                <a:extLst>
                  <a:ext uri="{FF2B5EF4-FFF2-40B4-BE49-F238E27FC236}">
                    <a16:creationId xmlns:a16="http://schemas.microsoft.com/office/drawing/2014/main" id="{5CD3FD3D-6A99-42C8-6689-BA14F08A5861}"/>
                  </a:ext>
                </a:extLst>
              </p:cNvPr>
              <p:cNvGraphicFramePr>
                <a:graphicFrameLocks noGrp="1"/>
              </p:cNvGraphicFramePr>
              <p:nvPr>
                <p:extLst>
                  <p:ext uri="{D42A27DB-BD31-4B8C-83A1-F6EECF244321}">
                    <p14:modId xmlns:p14="http://schemas.microsoft.com/office/powerpoint/2010/main" val="545053439"/>
                  </p:ext>
                </p:extLst>
              </p:nvPr>
            </p:nvGraphicFramePr>
            <p:xfrm>
              <a:off x="2231136" y="938212"/>
              <a:ext cx="7562086" cy="1534661"/>
            </p:xfrm>
            <a:graphic>
              <a:graphicData uri="http://schemas.openxmlformats.org/drawingml/2006/table">
                <a:tbl>
                  <a:tblPr/>
                  <a:tblGrid>
                    <a:gridCol w="1732286">
                      <a:extLst>
                        <a:ext uri="{9D8B030D-6E8A-4147-A177-3AD203B41FA5}">
                          <a16:colId xmlns:a16="http://schemas.microsoft.com/office/drawing/2014/main" val="2325216750"/>
                        </a:ext>
                      </a:extLst>
                    </a:gridCol>
                    <a:gridCol w="1165960">
                      <a:extLst>
                        <a:ext uri="{9D8B030D-6E8A-4147-A177-3AD203B41FA5}">
                          <a16:colId xmlns:a16="http://schemas.microsoft.com/office/drawing/2014/main" val="1555762024"/>
                        </a:ext>
                      </a:extLst>
                    </a:gridCol>
                    <a:gridCol w="1165960">
                      <a:extLst>
                        <a:ext uri="{9D8B030D-6E8A-4147-A177-3AD203B41FA5}">
                          <a16:colId xmlns:a16="http://schemas.microsoft.com/office/drawing/2014/main" val="1113291593"/>
                        </a:ext>
                      </a:extLst>
                    </a:gridCol>
                    <a:gridCol w="1165960">
                      <a:extLst>
                        <a:ext uri="{9D8B030D-6E8A-4147-A177-3AD203B41FA5}">
                          <a16:colId xmlns:a16="http://schemas.microsoft.com/office/drawing/2014/main" val="801462676"/>
                        </a:ext>
                      </a:extLst>
                    </a:gridCol>
                    <a:gridCol w="1165960">
                      <a:extLst>
                        <a:ext uri="{9D8B030D-6E8A-4147-A177-3AD203B41FA5}">
                          <a16:colId xmlns:a16="http://schemas.microsoft.com/office/drawing/2014/main" val="1490871368"/>
                        </a:ext>
                      </a:extLst>
                    </a:gridCol>
                    <a:gridCol w="1165960">
                      <a:extLst>
                        <a:ext uri="{9D8B030D-6E8A-4147-A177-3AD203B41FA5}">
                          <a16:colId xmlns:a16="http://schemas.microsoft.com/office/drawing/2014/main" val="1074034771"/>
                        </a:ext>
                      </a:extLst>
                    </a:gridCol>
                  </a:tblGrid>
                  <a:tr h="628847">
                    <a:tc>
                      <a:txBody>
                        <a:bodyPr/>
                        <a:lstStyle/>
                        <a:p>
                          <a:pPr algn="l"/>
                          <a:r>
                            <a:rPr sz="1600" b="1" dirty="0" err="1">
                              <a:solidFill>
                                <a:srgbClr val="182D45"/>
                              </a:solidFill>
                              <a:latin typeface="DejaVu Sans"/>
                              <a:ea typeface="DejaVu Sans"/>
                              <a:cs typeface="DejaVu Sans"/>
                            </a:rPr>
                            <a:t>Obs</a:t>
                          </a:r>
                          <a:r>
                            <a:rPr lang="it-IT" sz="1600" b="1" dirty="0" err="1">
                              <a:solidFill>
                                <a:srgbClr val="182D45"/>
                              </a:solidFill>
                              <a:latin typeface="DejaVu Sans"/>
                              <a:ea typeface="DejaVu Sans"/>
                              <a:cs typeface="DejaVu Sans"/>
                            </a:rPr>
                            <a:t>ervations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extLst>
                      <a:ext uri="{0D108BD9-81ED-4DB2-BD59-A6C34878D82A}">
                        <a16:rowId xmlns:a16="http://schemas.microsoft.com/office/drawing/2014/main" val="4032683774"/>
                      </a:ext>
                    </a:extLst>
                  </a:tr>
                  <a:tr h="399715">
                    <a:tc>
                      <a:txBody>
                        <a:bodyPr/>
                        <a:lstStyle/>
                        <a:p>
                          <a:pPr algn="ctr"/>
                          <a:r>
                            <a:rPr lang="it-IT" sz="1600" b="0" dirty="0">
                              <a:solidFill>
                                <a:srgbClr val="182D45"/>
                              </a:solidFill>
                              <a:latin typeface="DejaVu Sans"/>
                              <a:ea typeface="DejaVu Sans"/>
                              <a:cs typeface="DejaVu Sans"/>
                            </a:rPr>
                            <a:t>Input </a:t>
                          </a:r>
                          <a14:m>
                            <m:oMath xmlns:m="http://schemas.openxmlformats.org/officeDocument/2006/math">
                              <m:sSub>
                                <m:sSubPr>
                                  <m:ctrlPr>
                                    <a:rPr lang="it-IT" sz="1600" b="0" i="1" smtClean="0">
                                      <a:solidFill>
                                        <a:srgbClr val="182D45"/>
                                      </a:solidFill>
                                      <a:latin typeface="Cambria Math" panose="02040503050406030204" pitchFamily="18" charset="0"/>
                                      <a:ea typeface="DejaVu Sans"/>
                                      <a:cs typeface="DejaVu Sans"/>
                                    </a:rPr>
                                  </m:ctrlPr>
                                </m:sSubPr>
                                <m:e>
                                  <m:r>
                                    <a:rPr lang="it-IT" sz="1600" b="0" i="1" smtClean="0">
                                      <a:solidFill>
                                        <a:srgbClr val="182D45"/>
                                      </a:solidFill>
                                      <a:latin typeface="Cambria Math" panose="02040503050406030204" pitchFamily="18" charset="0"/>
                                      <a:ea typeface="DejaVu Sans"/>
                                      <a:cs typeface="DejaVu Sans"/>
                                    </a:rPr>
                                    <m:t>𝑥</m:t>
                                  </m:r>
                                </m:e>
                                <m:sub>
                                  <m:r>
                                    <a:rPr lang="it-IT" sz="1600" b="0" i="1" smtClean="0">
                                      <a:solidFill>
                                        <a:srgbClr val="182D45"/>
                                      </a:solidFill>
                                      <a:latin typeface="Cambria Math" panose="02040503050406030204" pitchFamily="18" charset="0"/>
                                      <a:ea typeface="DejaVu Sans"/>
                                      <a:cs typeface="DejaVu Sans"/>
                                    </a:rPr>
                                    <m:t>𝑖</m:t>
                                  </m:r>
                                </m:sub>
                              </m:sSub>
                            </m:oMath>
                          </a14:m>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extLst>
                      <a:ext uri="{0D108BD9-81ED-4DB2-BD59-A6C34878D82A}">
                        <a16:rowId xmlns:a16="http://schemas.microsoft.com/office/drawing/2014/main" val="2073124170"/>
                      </a:ext>
                    </a:extLst>
                  </a:tr>
                  <a:tr h="506099">
                    <a:tc>
                      <a:txBody>
                        <a:bodyPr/>
                        <a:lstStyle/>
                        <a:p>
                          <a:pPr algn="ctr"/>
                          <a:r>
                            <a:rPr lang="it-IT" sz="1600" b="0" dirty="0">
                              <a:solidFill>
                                <a:srgbClr val="182D45"/>
                              </a:solidFill>
                              <a:latin typeface="DejaVu Sans"/>
                              <a:ea typeface="DejaVu Sans"/>
                              <a:cs typeface="DejaVu Sans"/>
                            </a:rPr>
                            <a:t>Target </a:t>
                          </a:r>
                          <a14:m>
                            <m:oMath xmlns:m="http://schemas.openxmlformats.org/officeDocument/2006/math">
                              <m:sSub>
                                <m:sSubPr>
                                  <m:ctrlPr>
                                    <a:rPr lang="it-IT" sz="1600" b="0" i="1" smtClean="0">
                                      <a:solidFill>
                                        <a:srgbClr val="182D45"/>
                                      </a:solidFill>
                                      <a:latin typeface="Cambria Math" panose="02040503050406030204" pitchFamily="18" charset="0"/>
                                      <a:ea typeface="DejaVu Sans"/>
                                      <a:cs typeface="DejaVu Sans"/>
                                    </a:rPr>
                                  </m:ctrlPr>
                                </m:sSubPr>
                                <m:e>
                                  <m:r>
                                    <a:rPr lang="it-IT" sz="1600" b="0" i="1" smtClean="0">
                                      <a:solidFill>
                                        <a:srgbClr val="182D45"/>
                                      </a:solidFill>
                                      <a:latin typeface="Cambria Math" panose="02040503050406030204" pitchFamily="18" charset="0"/>
                                      <a:ea typeface="DejaVu Sans"/>
                                      <a:cs typeface="DejaVu Sans"/>
                                    </a:rPr>
                                    <m:t>𝑦</m:t>
                                  </m:r>
                                </m:e>
                                <m:sub>
                                  <m:r>
                                    <a:rPr lang="it-IT" sz="1600" b="0" i="1" smtClean="0">
                                      <a:solidFill>
                                        <a:srgbClr val="182D45"/>
                                      </a:solidFill>
                                      <a:latin typeface="Cambria Math" panose="02040503050406030204" pitchFamily="18" charset="0"/>
                                      <a:ea typeface="DejaVu Sans"/>
                                      <a:cs typeface="DejaVu Sans"/>
                                    </a:rPr>
                                    <m:t>𝑖</m:t>
                                  </m:r>
                                </m:sub>
                              </m:sSub>
                            </m:oMath>
                          </a14:m>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sz="1600" b="0" dirty="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extLst>
                      <a:ext uri="{0D108BD9-81ED-4DB2-BD59-A6C34878D82A}">
                        <a16:rowId xmlns:a16="http://schemas.microsoft.com/office/drawing/2014/main" val="1040016556"/>
                      </a:ext>
                    </a:extLst>
                  </a:tr>
                </a:tbl>
              </a:graphicData>
            </a:graphic>
          </p:graphicFrame>
        </mc:Choice>
        <mc:Fallback xmlns="">
          <p:graphicFrame>
            <p:nvGraphicFramePr>
              <p:cNvPr id="18" name="Tabella 17">
                <a:extLst>
                  <a:ext uri="{FF2B5EF4-FFF2-40B4-BE49-F238E27FC236}">
                    <a16:creationId xmlns:a16="http://schemas.microsoft.com/office/drawing/2014/main" id="{5CD3FD3D-6A99-42C8-6689-BA14F08A5861}"/>
                  </a:ext>
                </a:extLst>
              </p:cNvPr>
              <p:cNvGraphicFramePr>
                <a:graphicFrameLocks noGrp="1"/>
              </p:cNvGraphicFramePr>
              <p:nvPr>
                <p:extLst>
                  <p:ext uri="{D42A27DB-BD31-4B8C-83A1-F6EECF244321}">
                    <p14:modId xmlns:p14="http://schemas.microsoft.com/office/powerpoint/2010/main" val="545053439"/>
                  </p:ext>
                </p:extLst>
              </p:nvPr>
            </p:nvGraphicFramePr>
            <p:xfrm>
              <a:off x="2231136" y="938212"/>
              <a:ext cx="7562086" cy="1534661"/>
            </p:xfrm>
            <a:graphic>
              <a:graphicData uri="http://schemas.openxmlformats.org/drawingml/2006/table">
                <a:tbl>
                  <a:tblPr/>
                  <a:tblGrid>
                    <a:gridCol w="1732286">
                      <a:extLst>
                        <a:ext uri="{9D8B030D-6E8A-4147-A177-3AD203B41FA5}">
                          <a16:colId xmlns:a16="http://schemas.microsoft.com/office/drawing/2014/main" val="2325216750"/>
                        </a:ext>
                      </a:extLst>
                    </a:gridCol>
                    <a:gridCol w="1165960">
                      <a:extLst>
                        <a:ext uri="{9D8B030D-6E8A-4147-A177-3AD203B41FA5}">
                          <a16:colId xmlns:a16="http://schemas.microsoft.com/office/drawing/2014/main" val="1555762024"/>
                        </a:ext>
                      </a:extLst>
                    </a:gridCol>
                    <a:gridCol w="1165960">
                      <a:extLst>
                        <a:ext uri="{9D8B030D-6E8A-4147-A177-3AD203B41FA5}">
                          <a16:colId xmlns:a16="http://schemas.microsoft.com/office/drawing/2014/main" val="1113291593"/>
                        </a:ext>
                      </a:extLst>
                    </a:gridCol>
                    <a:gridCol w="1165960">
                      <a:extLst>
                        <a:ext uri="{9D8B030D-6E8A-4147-A177-3AD203B41FA5}">
                          <a16:colId xmlns:a16="http://schemas.microsoft.com/office/drawing/2014/main" val="801462676"/>
                        </a:ext>
                      </a:extLst>
                    </a:gridCol>
                    <a:gridCol w="1165960">
                      <a:extLst>
                        <a:ext uri="{9D8B030D-6E8A-4147-A177-3AD203B41FA5}">
                          <a16:colId xmlns:a16="http://schemas.microsoft.com/office/drawing/2014/main" val="1490871368"/>
                        </a:ext>
                      </a:extLst>
                    </a:gridCol>
                    <a:gridCol w="1165960">
                      <a:extLst>
                        <a:ext uri="{9D8B030D-6E8A-4147-A177-3AD203B41FA5}">
                          <a16:colId xmlns:a16="http://schemas.microsoft.com/office/drawing/2014/main" val="1074034771"/>
                        </a:ext>
                      </a:extLst>
                    </a:gridCol>
                  </a:tblGrid>
                  <a:tr h="628847">
                    <a:tc>
                      <a:txBody>
                        <a:bodyPr/>
                        <a:lstStyle/>
                        <a:p>
                          <a:pPr algn="l"/>
                          <a:r>
                            <a:rPr sz="1600" b="1" dirty="0" err="1">
                              <a:solidFill>
                                <a:srgbClr val="182D45"/>
                              </a:solidFill>
                              <a:latin typeface="DejaVu Sans"/>
                              <a:ea typeface="DejaVu Sans"/>
                              <a:cs typeface="DejaVu Sans"/>
                            </a:rPr>
                            <a:t>Obs</a:t>
                          </a:r>
                          <a:r>
                            <a:rPr lang="it-IT" sz="1600" b="1" dirty="0" err="1">
                              <a:solidFill>
                                <a:srgbClr val="182D45"/>
                              </a:solidFill>
                              <a:latin typeface="DejaVu Sans"/>
                              <a:ea typeface="DejaVu Sans"/>
                              <a:cs typeface="DejaVu Sans"/>
                            </a:rPr>
                            <a:t>ervations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extLst>
                      <a:ext uri="{0D108BD9-81ED-4DB2-BD59-A6C34878D82A}">
                        <a16:rowId xmlns:a16="http://schemas.microsoft.com/office/drawing/2014/main" val="4032683774"/>
                      </a:ext>
                    </a:extLst>
                  </a:tr>
                  <a:tr h="399715">
                    <a:tc>
                      <a:txBody>
                        <a:bodyPr/>
                        <a:lstStyle/>
                        <a:p>
                          <a:endParaRPr lang="it-IT"/>
                        </a:p>
                      </a:txBody>
                      <a:tcPr anchor="ctr">
                        <a:blipFill>
                          <a:blip r:embed="rId8"/>
                          <a:stretch>
                            <a:fillRect l="-704" t="-159091" r="-337676" b="-128788"/>
                          </a:stretch>
                        </a:blip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extLst>
                      <a:ext uri="{0D108BD9-81ED-4DB2-BD59-A6C34878D82A}">
                        <a16:rowId xmlns:a16="http://schemas.microsoft.com/office/drawing/2014/main" val="2073124170"/>
                      </a:ext>
                    </a:extLst>
                  </a:tr>
                  <a:tr h="506099">
                    <a:tc>
                      <a:txBody>
                        <a:bodyPr/>
                        <a:lstStyle/>
                        <a:p>
                          <a:endParaRPr lang="it-IT"/>
                        </a:p>
                      </a:txBody>
                      <a:tcPr anchor="ctr">
                        <a:blipFill>
                          <a:blip r:embed="rId8"/>
                          <a:stretch>
                            <a:fillRect l="-704" t="-206024" r="-337676" b="-2410"/>
                          </a:stretch>
                        </a:blipFill>
                      </a:tcPr>
                    </a:tc>
                    <a:tc>
                      <a:txBody>
                        <a:bodyPr/>
                        <a:lstStyle/>
                        <a:p>
                          <a:pPr algn="ctr"/>
                          <a:r>
                            <a:rPr sz="1600" b="0" dirty="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extLst>
                      <a:ext uri="{0D108BD9-81ED-4DB2-BD59-A6C34878D82A}">
                        <a16:rowId xmlns:a16="http://schemas.microsoft.com/office/drawing/2014/main" val="1040016556"/>
                      </a:ext>
                    </a:extLst>
                  </a:tr>
                </a:tbl>
              </a:graphicData>
            </a:graphic>
          </p:graphicFrame>
        </mc:Fallback>
      </mc:AlternateContent>
    </p:spTree>
    <p:extLst>
      <p:ext uri="{BB962C8B-B14F-4D97-AF65-F5344CB8AC3E}">
        <p14:creationId xmlns:p14="http://schemas.microsoft.com/office/powerpoint/2010/main" val="1847033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765D00EF-63FE-4114-884D-58597BD8D528}"/>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Gradient descent: successive predictors</a:t>
            </a:r>
          </a:p>
        </p:txBody>
      </p:sp>
      <p:sp>
        <p:nvSpPr>
          <p:cNvPr id="2" name="page_number">
            <a:extLst>
              <a:ext uri="{FF2B5EF4-FFF2-40B4-BE49-F238E27FC236}">
                <a16:creationId xmlns:a16="http://schemas.microsoft.com/office/drawing/2014/main" id="{27EAC8CD-AF34-49BA-AD02-02720708DFE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37</a:t>
            </a:r>
          </a:p>
        </p:txBody>
      </p:sp>
      <mc:AlternateContent xmlns:mc="http://schemas.openxmlformats.org/markup-compatibility/2006" xmlns:a14="http://schemas.microsoft.com/office/drawing/2010/main">
        <mc:Choice Requires="a14">
          <p:sp>
            <p:nvSpPr>
              <p:cNvPr id="3" name="txt_158">
                <a:extLst>
                  <a:ext uri="{FF2B5EF4-FFF2-40B4-BE49-F238E27FC236}">
                    <a16:creationId xmlns:a16="http://schemas.microsoft.com/office/drawing/2014/main" id="{2D83F351-2B6B-414E-B061-BAE413A29B4E}"/>
                  </a:ext>
                </a:extLst>
              </p:cNvPr>
              <p:cNvSpPr txBox="1">
                <a:spLocks noGrp="1"/>
              </p:cNvSpPr>
              <p:nvPr/>
            </p:nvSpPr>
            <p:spPr>
              <a:xfrm>
                <a:off x="609600" y="1257300"/>
                <a:ext cx="10953750" cy="4762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Same observations, updated coefficients. The learning rate is </a:t>
                </a:r>
                <a14:m>
                  <m:oMath xmlns:m="http://schemas.openxmlformats.org/officeDocument/2006/math">
                    <m:r>
                      <a:rPr lang="en-GB" sz="2100" b="0" dirty="0">
                        <a:solidFill>
                          <a:srgbClr val="182D45"/>
                        </a:solidFill>
                        <a:latin typeface="Cambria Math"/>
                        <a:ea typeface="Cambria Math"/>
                        <a:cs typeface="Cambria Math"/>
                      </a:rPr>
                      <m:t>𝜂</m:t>
                    </m:r>
                    <m:r>
                      <a:rPr lang="en-GB" sz="2100" b="0" dirty="0">
                        <a:solidFill>
                          <a:srgbClr val="182D45"/>
                        </a:solidFill>
                        <a:latin typeface="Cambria Math"/>
                        <a:ea typeface="Cambria Math"/>
                        <a:cs typeface="Cambria Math"/>
                      </a:rPr>
                      <m:t>=0.04</m:t>
                    </m:r>
                  </m:oMath>
                </a14:m>
                <a:r>
                  <a:rPr lang="en-GB" sz="2100" b="0" i="0" dirty="0">
                    <a:solidFill>
                      <a:srgbClr val="182D45"/>
                    </a:solidFill>
                    <a:latin typeface="DejaVu Sans"/>
                    <a:ea typeface="DejaVu Sans"/>
                    <a:cs typeface="DejaVu Sans"/>
                  </a:rPr>
                  <a:t>.</a:t>
                </a:r>
              </a:p>
            </p:txBody>
          </p:sp>
        </mc:Choice>
        <mc:Fallback xmlns="">
          <p:sp>
            <p:nvSpPr>
              <p:cNvPr id="3" name="txt_158">
                <a:extLst>
                  <a:ext uri="{FF2B5EF4-FFF2-40B4-BE49-F238E27FC236}">
                    <a16:creationId xmlns:a16="http://schemas.microsoft.com/office/drawing/2014/main" id="{2D83F351-2B6B-414E-B061-BAE413A29B4E}"/>
                  </a:ext>
                </a:extLst>
              </p:cNvPr>
              <p:cNvSpPr txBox="1">
                <a:spLocks noGrp="1" noRot="1" noChangeAspect="1" noMove="1" noResize="1" noEditPoints="1" noAdjustHandles="1" noChangeArrowheads="1" noChangeShapeType="1" noTextEdit="1"/>
              </p:cNvSpPr>
              <p:nvPr/>
            </p:nvSpPr>
            <p:spPr>
              <a:xfrm>
                <a:off x="609600" y="1257300"/>
                <a:ext cx="10953750" cy="476250"/>
              </a:xfrm>
              <a:prstGeom prst="rect">
                <a:avLst/>
              </a:prstGeom>
              <a:blipFill>
                <a:blip r:embed="rId3"/>
                <a:stretch>
                  <a:fillRect t="-17949" b="-1282"/>
                </a:stretch>
              </a:blipFill>
              <a:ln w="0">
                <a:noFill/>
              </a:ln>
            </p:spPr>
            <p:txBody>
              <a:bodyPr/>
              <a:lstStyle/>
              <a:p>
                <a:r>
                  <a:rPr lang="it-IT">
                    <a:noFill/>
                  </a:rPr>
                  <a:t> </a:t>
                </a:r>
              </a:p>
            </p:txBody>
          </p:sp>
        </mc:Fallback>
      </mc:AlternateContent>
      <p:sp>
        <p:nvSpPr>
          <p:cNvPr id="4" name="txt_159">
            <a:extLst>
              <a:ext uri="{FF2B5EF4-FFF2-40B4-BE49-F238E27FC236}">
                <a16:creationId xmlns:a16="http://schemas.microsoft.com/office/drawing/2014/main" id="{0476343D-85A9-464E-B23F-BF6087557BB1}"/>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marL="0" marR="0" indent="0" algn="ctr">
              <a:defRPr lang="en-GB" sz="1875" b="1" i="0" dirty="0">
                <a:solidFill>
                  <a:srgbClr val="326CB2"/>
                </a:solidFill>
                <a:latin typeface="DejaVu Sans"/>
                <a:ea typeface="DejaVu Sans"/>
                <a:cs typeface="DejaVu Sans"/>
              </a:defRPr>
            </a:pPr>
            <a:r>
              <a:rPr lang="en-GB" sz="1875" b="1" i="0" dirty="0">
                <a:solidFill>
                  <a:srgbClr val="326CB2"/>
                </a:solidFill>
                <a:latin typeface="DejaVu Sans"/>
                <a:ea typeface="DejaVu Sans"/>
                <a:cs typeface="DejaVu Sans"/>
              </a:rPr>
              <a:t>Predictions on the observed inputs</a:t>
            </a:r>
          </a:p>
        </p:txBody>
      </p:sp>
      <p:sp>
        <p:nvSpPr>
          <p:cNvPr id="5" name="txt_160">
            <a:extLst>
              <a:ext uri="{FF2B5EF4-FFF2-40B4-BE49-F238E27FC236}">
                <a16:creationId xmlns:a16="http://schemas.microsoft.com/office/drawing/2014/main" id="{4DB1A42C-E180-4159-AFE1-BBC587115CE6}"/>
              </a:ext>
            </a:extLst>
          </p:cNvPr>
          <p:cNvSpPr>
            <a:spLocks noGrp="1"/>
          </p:cNvSpPr>
          <p:nvPr/>
        </p:nvSpPr>
        <p:spPr>
          <a:xfrm>
            <a:off x="6343650" y="1952625"/>
            <a:ext cx="5219700" cy="381000"/>
          </a:xfrm>
          <a:prstGeom prst="rect">
            <a:avLst/>
          </a:prstGeom>
          <a:noFill/>
          <a:ln w="0">
            <a:noFill/>
          </a:ln>
        </p:spPr>
        <p:txBody>
          <a:bodyPr wrap="square" lIns="0" tIns="0" rIns="0" bIns="0" anchor="t">
            <a:noAutofit/>
          </a:bodyPr>
          <a:lstStyle/>
          <a:p>
            <a:pPr marL="0" marR="0" indent="0" algn="ctr">
              <a:defRPr lang="en-GB" sz="1875" b="1" i="0" dirty="0">
                <a:solidFill>
                  <a:srgbClr val="C45C28"/>
                </a:solidFill>
                <a:latin typeface="DejaVu Sans"/>
                <a:ea typeface="DejaVu Sans"/>
                <a:cs typeface="DejaVu Sans"/>
              </a:defRPr>
            </a:pPr>
            <a:r>
              <a:rPr lang="en-GB" sz="1875" b="1" i="0" dirty="0">
                <a:solidFill>
                  <a:srgbClr val="C45C28"/>
                </a:solidFill>
                <a:latin typeface="DejaVu Sans"/>
                <a:ea typeface="DejaVu Sans"/>
                <a:cs typeface="DejaVu Sans"/>
              </a:rPr>
              <a:t>Path in the parameter plane</a:t>
            </a:r>
          </a:p>
        </p:txBody>
      </p:sp>
      <p:graphicFrame>
        <p:nvGraphicFramePr>
          <p:cNvPr id="14" name="Chart"/>
          <p:cNvGraphicFramePr/>
          <p:nvPr/>
        </p:nvGraphicFramePr>
        <p:xfrm>
          <a:off x="609600" y="2400300"/>
          <a:ext cx="5238750" cy="3333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p:cNvGraphicFramePr/>
          <p:nvPr/>
        </p:nvGraphicFramePr>
        <p:xfrm>
          <a:off x="6343650" y="2400300"/>
          <a:ext cx="5219700" cy="3333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8" name="eq_161">
                <a:extLst>
                  <a:ext uri="{FF2B5EF4-FFF2-40B4-BE49-F238E27FC236}">
                    <a16:creationId xmlns:a16="http://schemas.microsoft.com/office/drawing/2014/main" id="{A5C725C4-F188-4C31-B0B2-E2B84D530A58}"/>
                  </a:ext>
                </a:extLst>
              </p:cNvPr>
              <p:cNvSpPr txBox="1">
                <a:spLocks noGrp="1"/>
              </p:cNvSpPr>
              <p:nvPr/>
            </p:nvSpPr>
            <p:spPr>
              <a:xfrm>
                <a:off x="609600" y="5810250"/>
                <a:ext cx="10953750" cy="523875"/>
              </a:xfrm>
              <a:prstGeom prst="rect">
                <a:avLst/>
              </a:prstGeom>
              <a:noFill/>
              <a:ln w="0">
                <a:noFill/>
              </a:ln>
            </p:spPr>
            <p:txBody>
              <a:bodyPr vertOverflow="overflow" wrap="none" lIns="0" tIns="0" rIns="0" bIns="0" anchor="t">
                <a:noAutofit/>
              </a:bodyPr>
              <a:lstStyle/>
              <a:p>
                <a:pPr algn="ctr">
                  <a:defRPr lang="en-GB" sz="2175" b="0" i="0" dirty="0">
                    <a:solidFill>
                      <a:srgbClr val="182D45"/>
                    </a:solidFill>
                    <a:latin typeface="Cambria Math"/>
                    <a:ea typeface="Cambria Math"/>
                    <a:cs typeface="Cambria Math"/>
                  </a:defRPr>
                </a:pPr>
                <a14:m>
                  <m:oMathPara xmlns:m="http://schemas.openxmlformats.org/officeDocument/2006/math">
                    <m:oMath>
                      <m:r>
                        <a:rPr lang="en-GB" sz="2200" b="0" dirty="0" smtClean="0">
                          <a:solidFill>
                            <a:srgbClr val="182D45"/>
                          </a:solidFill>
                          <a:latin typeface="Cambria Math"/>
                          <a:ea typeface="Cambria Math"/>
                          <a:cs typeface="Cambria Math"/>
                        </a:rPr>
                        <m:t>𝑡</m:t>
                      </m:r>
                      <m:r>
                        <a:rPr lang="en-GB" sz="2200" b="0" dirty="0" smtClean="0">
                          <a:solidFill>
                            <a:srgbClr val="182D45"/>
                          </a:solidFill>
                          <a:latin typeface="Cambria Math"/>
                          <a:ea typeface="Cambria Math"/>
                          <a:cs typeface="Cambria Math"/>
                        </a:rPr>
                        <m:t>=1  </m:t>
                      </m:r>
                      <m:d>
                        <m:dPr>
                          <m:ctrlPr>
                            <a:rPr lang="en-GB" sz="2200" b="0" i="1" dirty="0">
                              <a:solidFill>
                                <a:srgbClr val="182D45"/>
                              </a:solidFill>
                              <a:latin typeface="Cambria Math" panose="02040503050406030204" pitchFamily="18" charset="0"/>
                              <a:ea typeface="Cambria Math"/>
                              <a:cs typeface="Cambria Math"/>
                            </a:rPr>
                          </m:ctrlPr>
                        </m:dPr>
                        <m:e>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𝑏</m:t>
                              </m:r>
                            </m:e>
                            <m:sup>
                              <m:d>
                                <m:dPr>
                                  <m:ctrlPr>
                                    <a:rPr lang="it-IT" sz="2200" b="0" i="1" dirty="0" smtClean="0">
                                      <a:solidFill>
                                        <a:srgbClr val="182D45"/>
                                      </a:solidFill>
                                      <a:latin typeface="Cambria Math" panose="02040503050406030204" pitchFamily="18" charset="0"/>
                                      <a:ea typeface="Cambria Math"/>
                                      <a:cs typeface="Cambria Math"/>
                                    </a:rPr>
                                  </m:ctrlPr>
                                </m:dPr>
                                <m:e>
                                  <m:r>
                                    <a:rPr lang="it-IT" sz="2200" b="0" i="1" dirty="0" smtClean="0">
                                      <a:solidFill>
                                        <a:srgbClr val="182D45"/>
                                      </a:solidFill>
                                      <a:latin typeface="Cambria Math" panose="02040503050406030204" pitchFamily="18" charset="0"/>
                                      <a:ea typeface="Cambria Math"/>
                                      <a:cs typeface="Cambria Math"/>
                                    </a:rPr>
                                    <m:t>1</m:t>
                                  </m:r>
                                </m:e>
                              </m:d>
                            </m:sup>
                          </m:sSup>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𝑎</m:t>
                              </m:r>
                            </m:e>
                            <m:sup>
                              <m:d>
                                <m:dPr>
                                  <m:ctrlPr>
                                    <a:rPr lang="it-IT" sz="2200" b="0" i="1" dirty="0" smtClean="0">
                                      <a:solidFill>
                                        <a:srgbClr val="182D45"/>
                                      </a:solidFill>
                                      <a:latin typeface="Cambria Math" panose="02040503050406030204" pitchFamily="18" charset="0"/>
                                      <a:ea typeface="Cambria Math"/>
                                      <a:cs typeface="Cambria Math"/>
                                    </a:rPr>
                                  </m:ctrlPr>
                                </m:dPr>
                                <m:e>
                                  <m:r>
                                    <a:rPr lang="it-IT" sz="2200" b="0" i="1" dirty="0" smtClean="0">
                                      <a:solidFill>
                                        <a:srgbClr val="182D45"/>
                                      </a:solidFill>
                                      <a:latin typeface="Cambria Math" panose="02040503050406030204" pitchFamily="18" charset="0"/>
                                      <a:ea typeface="Cambria Math"/>
                                      <a:cs typeface="Cambria Math"/>
                                    </a:rPr>
                                    <m:t>1</m:t>
                                  </m:r>
                                </m:e>
                              </m:d>
                            </m:sup>
                          </m:sSup>
                        </m:e>
                      </m:d>
                      <m:r>
                        <a:rPr lang="en-GB" sz="2200" b="0" dirty="0">
                          <a:solidFill>
                            <a:srgbClr val="182D45"/>
                          </a:solidFill>
                          <a:latin typeface="Cambria Math"/>
                          <a:ea typeface="Cambria Math"/>
                          <a:cs typeface="Cambria Math"/>
                        </a:rPr>
                        <m:t>=</m:t>
                      </m:r>
                      <m:d>
                        <m:dPr>
                          <m:ctrlPr>
                            <a:rPr lang="en-GB" sz="2200" b="0" dirty="0">
                              <a:solidFill>
                                <a:srgbClr val="182D45"/>
                              </a:solidFill>
                              <a:latin typeface="Cambria Math"/>
                              <a:ea typeface="Cambria Math"/>
                              <a:cs typeface="Cambria Math"/>
                            </a:rPr>
                          </m:ctrlPr>
                        </m:dPr>
                        <m:e>
                          <m:r>
                            <a:rPr lang="en-GB" sz="2200" b="0" dirty="0">
                              <a:solidFill>
                                <a:srgbClr val="182D45"/>
                              </a:solidFill>
                              <a:latin typeface="Cambria Math"/>
                              <a:ea typeface="Cambria Math"/>
                              <a:cs typeface="Cambria Math"/>
                            </a:rPr>
                            <m:t>0.8,1.6</m:t>
                          </m:r>
                        </m:e>
                      </m:d>
                      <m:r>
                        <a:rPr lang="en-GB" sz="2200" b="0" dirty="0">
                          <a:solidFill>
                            <a:srgbClr val="182D45"/>
                          </a:solidFill>
                          <a:latin typeface="Cambria Math"/>
                          <a:ea typeface="Cambria Math"/>
                          <a:cs typeface="Cambria Math"/>
                        </a:rPr>
                        <m:t>  </m:t>
                      </m:r>
                      <m:sSubSup>
                        <m:sSubSupPr>
                          <m:ctrlPr>
                            <a:rPr lang="en-GB" sz="2200" dirty="0">
                              <a:latin typeface="Cambria Math"/>
                              <a:ea typeface="Cambria Math"/>
                              <a:cs typeface="Cambria Math"/>
                            </a:rPr>
                          </m:ctrlPr>
                        </m:sSubSupPr>
                        <m:e>
                          <m:r>
                            <a:rPr lang="en-GB" sz="2200" dirty="0">
                              <a:latin typeface="Cambria Math"/>
                              <a:ea typeface="Cambria Math"/>
                              <a:cs typeface="Cambria Math"/>
                            </a:rPr>
                            <m:t>ℒ</m:t>
                          </m:r>
                        </m:e>
                        <m:sub>
                          <m:r>
                            <m:rPr>
                              <m:sty m:val="p"/>
                            </m:rPr>
                            <a:rPr lang="en-GB" sz="2200" dirty="0">
                              <a:latin typeface="Cambria Math"/>
                              <a:ea typeface="Cambria Math"/>
                              <a:cs typeface="Cambria Math"/>
                            </a:rPr>
                            <m:t>sq</m:t>
                          </m:r>
                        </m:sub>
                        <m:sup>
                          <m:r>
                            <m:rPr>
                              <m:sty m:val="p"/>
                            </m:rPr>
                            <a:rPr lang="en-GB" sz="2200" dirty="0">
                              <a:latin typeface="Cambria Math"/>
                              <a:ea typeface="Cambria Math"/>
                              <a:cs typeface="Cambria Math"/>
                            </a:rPr>
                            <m:t>aff</m:t>
                          </m:r>
                        </m:sup>
                      </m:sSubSup>
                      <m:d>
                        <m:dPr>
                          <m:ctrlPr>
                            <a:rPr lang="it-IT" sz="2200" b="1" i="1" dirty="0">
                              <a:latin typeface="Cambria Math" panose="02040503050406030204" pitchFamily="18" charset="0"/>
                              <a:ea typeface="Cambria Math"/>
                              <a:cs typeface="Cambria Math"/>
                            </a:rPr>
                          </m:ctrlPr>
                        </m:dPr>
                        <m:e>
                          <m:sSup>
                            <m:sSupPr>
                              <m:ctrlPr>
                                <a:rPr lang="it-IT" sz="2200" b="1" dirty="0">
                                  <a:latin typeface="Cambria Math" panose="02040503050406030204" pitchFamily="18" charset="0"/>
                                  <a:ea typeface="Cambria Math"/>
                                  <a:cs typeface="Cambria Math"/>
                                </a:rPr>
                              </m:ctrlPr>
                            </m:sSupPr>
                            <m:e>
                              <m:r>
                                <a:rPr lang="it-IT" sz="2200" b="1" dirty="0">
                                  <a:latin typeface="Cambria Math" panose="02040503050406030204" pitchFamily="18" charset="0"/>
                                  <a:ea typeface="Cambria Math"/>
                                  <a:cs typeface="Cambria Math"/>
                                </a:rPr>
                                <m:t>𝛉</m:t>
                              </m:r>
                            </m:e>
                            <m:sup>
                              <m:d>
                                <m:dPr>
                                  <m:ctrlPr>
                                    <a:rPr lang="it-IT" sz="2200" b="0" i="1" dirty="0" smtClean="0">
                                      <a:latin typeface="Cambria Math" panose="02040503050406030204" pitchFamily="18" charset="0"/>
                                      <a:ea typeface="Cambria Math"/>
                                    </a:rPr>
                                  </m:ctrlPr>
                                </m:dPr>
                                <m:e>
                                  <m:r>
                                    <a:rPr lang="it-IT" sz="2200" b="0" i="1" dirty="0" smtClean="0">
                                      <a:latin typeface="Cambria Math" panose="02040503050406030204" pitchFamily="18" charset="0"/>
                                      <a:ea typeface="Cambria Math"/>
                                    </a:rPr>
                                    <m:t>1</m:t>
                                  </m:r>
                                </m:e>
                              </m:d>
                            </m:sup>
                          </m:sSup>
                        </m:e>
                      </m:d>
                      <m:r>
                        <a:rPr lang="en-GB" sz="2200" b="0" dirty="0">
                          <a:solidFill>
                            <a:srgbClr val="182D45"/>
                          </a:solidFill>
                          <a:latin typeface="Cambria Math"/>
                          <a:ea typeface="Cambria Math"/>
                          <a:cs typeface="Cambria Math"/>
                        </a:rPr>
                        <m:t>=14.8</m:t>
                      </m:r>
                    </m:oMath>
                  </m:oMathPara>
                </a14:m>
                <a:endParaRPr lang="en-GB" sz="2200" b="0" i="0" dirty="0">
                  <a:solidFill>
                    <a:srgbClr val="182D45"/>
                  </a:solidFill>
                  <a:latin typeface="Cambria Math"/>
                  <a:ea typeface="Cambria Math"/>
                  <a:cs typeface="Cambria Math"/>
                </a:endParaRPr>
              </a:p>
            </p:txBody>
          </p:sp>
        </mc:Choice>
        <mc:Fallback xmlns="">
          <p:sp>
            <p:nvSpPr>
              <p:cNvPr id="8" name="eq_161">
                <a:extLst>
                  <a:ext uri="{FF2B5EF4-FFF2-40B4-BE49-F238E27FC236}">
                    <a16:creationId xmlns:a16="http://schemas.microsoft.com/office/drawing/2014/main" id="{A5C725C4-F188-4C31-B0B2-E2B84D530A58}"/>
                  </a:ext>
                </a:extLst>
              </p:cNvPr>
              <p:cNvSpPr txBox="1">
                <a:spLocks noGrp="1" noRot="1" noChangeAspect="1" noMove="1" noResize="1" noEditPoints="1" noAdjustHandles="1" noChangeArrowheads="1" noChangeShapeType="1" noTextEdit="1"/>
              </p:cNvSpPr>
              <p:nvPr/>
            </p:nvSpPr>
            <p:spPr>
              <a:xfrm>
                <a:off x="609600" y="5810250"/>
                <a:ext cx="10953750" cy="523875"/>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082060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7DA3A53-0AF1-407D-BC15-4C292AD7EC82}"/>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Gradient descent: successive predictors</a:t>
            </a:r>
          </a:p>
        </p:txBody>
      </p:sp>
      <p:sp>
        <p:nvSpPr>
          <p:cNvPr id="2" name="page_number">
            <a:extLst>
              <a:ext uri="{FF2B5EF4-FFF2-40B4-BE49-F238E27FC236}">
                <a16:creationId xmlns:a16="http://schemas.microsoft.com/office/drawing/2014/main" id="{CB30D9AF-93F9-431E-B2DD-1123042FF68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38</a:t>
            </a:r>
          </a:p>
        </p:txBody>
      </p:sp>
      <mc:AlternateContent xmlns:mc="http://schemas.openxmlformats.org/markup-compatibility/2006" xmlns:a14="http://schemas.microsoft.com/office/drawing/2010/main">
        <mc:Choice Requires="a14">
          <p:sp>
            <p:nvSpPr>
              <p:cNvPr id="3" name="txt_162">
                <a:extLst>
                  <a:ext uri="{FF2B5EF4-FFF2-40B4-BE49-F238E27FC236}">
                    <a16:creationId xmlns:a16="http://schemas.microsoft.com/office/drawing/2014/main" id="{8F0D6CDC-150C-4834-89B0-9F2CE4ACBC3E}"/>
                  </a:ext>
                </a:extLst>
              </p:cNvPr>
              <p:cNvSpPr txBox="1">
                <a:spLocks noGrp="1"/>
              </p:cNvSpPr>
              <p:nvPr/>
            </p:nvSpPr>
            <p:spPr>
              <a:xfrm>
                <a:off x="609600" y="1257300"/>
                <a:ext cx="10953750" cy="4762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Same observations, updated coefficients. The learning rate is </a:t>
                </a:r>
                <a14:m>
                  <m:oMath xmlns:m="http://schemas.openxmlformats.org/officeDocument/2006/math">
                    <m:r>
                      <a:rPr lang="en-GB" sz="2100" b="0" dirty="0">
                        <a:solidFill>
                          <a:srgbClr val="182D45"/>
                        </a:solidFill>
                        <a:latin typeface="Cambria Math"/>
                        <a:ea typeface="Cambria Math"/>
                        <a:cs typeface="Cambria Math"/>
                      </a:rPr>
                      <m:t>𝜂</m:t>
                    </m:r>
                    <m:r>
                      <a:rPr lang="en-GB" sz="2100" b="0" dirty="0">
                        <a:solidFill>
                          <a:srgbClr val="182D45"/>
                        </a:solidFill>
                        <a:latin typeface="Cambria Math"/>
                        <a:ea typeface="Cambria Math"/>
                        <a:cs typeface="Cambria Math"/>
                      </a:rPr>
                      <m:t>=0.04</m:t>
                    </m:r>
                  </m:oMath>
                </a14:m>
                <a:r>
                  <a:rPr lang="en-GB" sz="2100" b="0" i="0" dirty="0">
                    <a:solidFill>
                      <a:srgbClr val="182D45"/>
                    </a:solidFill>
                    <a:latin typeface="DejaVu Sans"/>
                    <a:ea typeface="DejaVu Sans"/>
                    <a:cs typeface="DejaVu Sans"/>
                  </a:rPr>
                  <a:t>.</a:t>
                </a:r>
              </a:p>
            </p:txBody>
          </p:sp>
        </mc:Choice>
        <mc:Fallback xmlns="">
          <p:sp>
            <p:nvSpPr>
              <p:cNvPr id="3" name="txt_162">
                <a:extLst>
                  <a:ext uri="{FF2B5EF4-FFF2-40B4-BE49-F238E27FC236}">
                    <a16:creationId xmlns:a16="http://schemas.microsoft.com/office/drawing/2014/main" id="{8F0D6CDC-150C-4834-89B0-9F2CE4ACBC3E}"/>
                  </a:ext>
                </a:extLst>
              </p:cNvPr>
              <p:cNvSpPr txBox="1">
                <a:spLocks noGrp="1" noRot="1" noChangeAspect="1" noMove="1" noResize="1" noEditPoints="1" noAdjustHandles="1" noChangeArrowheads="1" noChangeShapeType="1" noTextEdit="1"/>
              </p:cNvSpPr>
              <p:nvPr/>
            </p:nvSpPr>
            <p:spPr>
              <a:xfrm>
                <a:off x="609600" y="1257300"/>
                <a:ext cx="10953750" cy="476250"/>
              </a:xfrm>
              <a:prstGeom prst="rect">
                <a:avLst/>
              </a:prstGeom>
              <a:blipFill>
                <a:blip r:embed="rId3"/>
                <a:stretch>
                  <a:fillRect t="-17949" b="-1282"/>
                </a:stretch>
              </a:blipFill>
              <a:ln w="0">
                <a:noFill/>
              </a:ln>
            </p:spPr>
            <p:txBody>
              <a:bodyPr/>
              <a:lstStyle/>
              <a:p>
                <a:r>
                  <a:rPr lang="it-IT">
                    <a:noFill/>
                  </a:rPr>
                  <a:t> </a:t>
                </a:r>
              </a:p>
            </p:txBody>
          </p:sp>
        </mc:Fallback>
      </mc:AlternateContent>
      <p:sp>
        <p:nvSpPr>
          <p:cNvPr id="4" name="txt_163">
            <a:extLst>
              <a:ext uri="{FF2B5EF4-FFF2-40B4-BE49-F238E27FC236}">
                <a16:creationId xmlns:a16="http://schemas.microsoft.com/office/drawing/2014/main" id="{D1E340FE-79D0-4CF3-AAB5-58ABDB57D17D}"/>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marL="0" marR="0" indent="0" algn="ctr">
              <a:defRPr lang="en-GB" sz="1875" b="1" i="0" dirty="0">
                <a:solidFill>
                  <a:srgbClr val="326CB2"/>
                </a:solidFill>
                <a:latin typeface="DejaVu Sans"/>
                <a:ea typeface="DejaVu Sans"/>
                <a:cs typeface="DejaVu Sans"/>
              </a:defRPr>
            </a:pPr>
            <a:r>
              <a:rPr lang="en-GB" sz="1875" b="1" i="0" dirty="0">
                <a:solidFill>
                  <a:srgbClr val="326CB2"/>
                </a:solidFill>
                <a:latin typeface="DejaVu Sans"/>
                <a:ea typeface="DejaVu Sans"/>
                <a:cs typeface="DejaVu Sans"/>
              </a:rPr>
              <a:t>Predictions on the observed inputs</a:t>
            </a:r>
          </a:p>
        </p:txBody>
      </p:sp>
      <p:sp>
        <p:nvSpPr>
          <p:cNvPr id="5" name="txt_164">
            <a:extLst>
              <a:ext uri="{FF2B5EF4-FFF2-40B4-BE49-F238E27FC236}">
                <a16:creationId xmlns:a16="http://schemas.microsoft.com/office/drawing/2014/main" id="{348CF45E-06A6-476A-8B27-624E7E9EED77}"/>
              </a:ext>
            </a:extLst>
          </p:cNvPr>
          <p:cNvSpPr>
            <a:spLocks noGrp="1"/>
          </p:cNvSpPr>
          <p:nvPr/>
        </p:nvSpPr>
        <p:spPr>
          <a:xfrm>
            <a:off x="6343650" y="1952625"/>
            <a:ext cx="5219700" cy="381000"/>
          </a:xfrm>
          <a:prstGeom prst="rect">
            <a:avLst/>
          </a:prstGeom>
          <a:noFill/>
          <a:ln w="0">
            <a:noFill/>
          </a:ln>
        </p:spPr>
        <p:txBody>
          <a:bodyPr wrap="square" lIns="0" tIns="0" rIns="0" bIns="0" anchor="t">
            <a:noAutofit/>
          </a:bodyPr>
          <a:lstStyle/>
          <a:p>
            <a:pPr marL="0" marR="0" indent="0" algn="ctr">
              <a:defRPr lang="en-GB" sz="1875" b="1" i="0" dirty="0">
                <a:solidFill>
                  <a:srgbClr val="C45C28"/>
                </a:solidFill>
                <a:latin typeface="DejaVu Sans"/>
                <a:ea typeface="DejaVu Sans"/>
                <a:cs typeface="DejaVu Sans"/>
              </a:defRPr>
            </a:pPr>
            <a:r>
              <a:rPr lang="en-GB" sz="1875" b="1" i="0" dirty="0">
                <a:solidFill>
                  <a:srgbClr val="C45C28"/>
                </a:solidFill>
                <a:latin typeface="DejaVu Sans"/>
                <a:ea typeface="DejaVu Sans"/>
                <a:cs typeface="DejaVu Sans"/>
              </a:rPr>
              <a:t>Path in the parameter plane</a:t>
            </a:r>
          </a:p>
        </p:txBody>
      </p:sp>
      <p:graphicFrame>
        <p:nvGraphicFramePr>
          <p:cNvPr id="14" name="Chart"/>
          <p:cNvGraphicFramePr/>
          <p:nvPr/>
        </p:nvGraphicFramePr>
        <p:xfrm>
          <a:off x="609600" y="2400300"/>
          <a:ext cx="5238750" cy="3333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p:cNvGraphicFramePr/>
          <p:nvPr/>
        </p:nvGraphicFramePr>
        <p:xfrm>
          <a:off x="6343650" y="2400300"/>
          <a:ext cx="5219700" cy="3333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8" name="eq_165">
                <a:extLst>
                  <a:ext uri="{FF2B5EF4-FFF2-40B4-BE49-F238E27FC236}">
                    <a16:creationId xmlns:a16="http://schemas.microsoft.com/office/drawing/2014/main" id="{72593CC8-1479-41A5-BA27-9A8DF17D1A2C}"/>
                  </a:ext>
                </a:extLst>
              </p:cNvPr>
              <p:cNvSpPr txBox="1">
                <a:spLocks noGrp="1"/>
              </p:cNvSpPr>
              <p:nvPr/>
            </p:nvSpPr>
            <p:spPr>
              <a:xfrm>
                <a:off x="609600" y="5810250"/>
                <a:ext cx="10953750" cy="523875"/>
              </a:xfrm>
              <a:prstGeom prst="rect">
                <a:avLst/>
              </a:prstGeom>
              <a:noFill/>
              <a:ln w="0">
                <a:noFill/>
              </a:ln>
            </p:spPr>
            <p:txBody>
              <a:bodyPr vertOverflow="overflow" wrap="none" lIns="0" tIns="0" rIns="0" bIns="0" anchor="t">
                <a:noAutofit/>
              </a:bodyPr>
              <a:lstStyle/>
              <a:p>
                <a:pPr algn="ctr">
                  <a:defRPr lang="en-GB" sz="2175" b="0" i="0" dirty="0">
                    <a:solidFill>
                      <a:srgbClr val="182D45"/>
                    </a:solidFill>
                    <a:latin typeface="Cambria Math"/>
                    <a:ea typeface="Cambria Math"/>
                    <a:cs typeface="Cambria Math"/>
                  </a:defRPr>
                </a:pPr>
                <a14:m>
                  <m:oMathPara xmlns:m="http://schemas.openxmlformats.org/officeDocument/2006/math">
                    <m:oMath>
                      <m:r>
                        <a:rPr lang="en-GB" sz="2200" b="0" dirty="0" smtClean="0">
                          <a:solidFill>
                            <a:srgbClr val="182D45"/>
                          </a:solidFill>
                          <a:latin typeface="Cambria Math"/>
                          <a:ea typeface="Cambria Math"/>
                          <a:cs typeface="Cambria Math"/>
                        </a:rPr>
                        <m:t>𝑡</m:t>
                      </m:r>
                      <m:r>
                        <a:rPr lang="en-GB" sz="2200" b="0" dirty="0" smtClean="0">
                          <a:solidFill>
                            <a:srgbClr val="182D45"/>
                          </a:solidFill>
                          <a:latin typeface="Cambria Math"/>
                          <a:ea typeface="Cambria Math"/>
                          <a:cs typeface="Cambria Math"/>
                        </a:rPr>
                        <m:t>=2  </m:t>
                      </m:r>
                      <m:d>
                        <m:dPr>
                          <m:ctrlPr>
                            <a:rPr lang="en-GB" sz="2200" b="0" i="1" dirty="0">
                              <a:solidFill>
                                <a:srgbClr val="182D45"/>
                              </a:solidFill>
                              <a:latin typeface="Cambria Math" panose="02040503050406030204" pitchFamily="18" charset="0"/>
                              <a:ea typeface="Cambria Math"/>
                              <a:cs typeface="Cambria Math"/>
                            </a:rPr>
                          </m:ctrlPr>
                        </m:dPr>
                        <m:e>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𝑏</m:t>
                              </m:r>
                            </m:e>
                            <m:sup>
                              <m:d>
                                <m:dPr>
                                  <m:ctrlPr>
                                    <a:rPr lang="it-IT" sz="2200" b="0" i="1" dirty="0" smtClean="0">
                                      <a:solidFill>
                                        <a:srgbClr val="182D45"/>
                                      </a:solidFill>
                                      <a:latin typeface="Cambria Math" panose="02040503050406030204" pitchFamily="18" charset="0"/>
                                      <a:ea typeface="Cambria Math"/>
                                      <a:cs typeface="Cambria Math"/>
                                    </a:rPr>
                                  </m:ctrlPr>
                                </m:dPr>
                                <m:e>
                                  <m:r>
                                    <a:rPr lang="it-IT" sz="2200" b="0" i="1" dirty="0" smtClean="0">
                                      <a:solidFill>
                                        <a:srgbClr val="182D45"/>
                                      </a:solidFill>
                                      <a:latin typeface="Cambria Math" panose="02040503050406030204" pitchFamily="18" charset="0"/>
                                      <a:ea typeface="Cambria Math"/>
                                      <a:cs typeface="Cambria Math"/>
                                    </a:rPr>
                                    <m:t>2</m:t>
                                  </m:r>
                                </m:e>
                              </m:d>
                            </m:sup>
                          </m:sSup>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𝑎</m:t>
                              </m:r>
                            </m:e>
                            <m:sup>
                              <m:d>
                                <m:dPr>
                                  <m:ctrlPr>
                                    <a:rPr lang="it-IT" sz="2200" b="0" i="1" dirty="0" smtClean="0">
                                      <a:solidFill>
                                        <a:srgbClr val="182D45"/>
                                      </a:solidFill>
                                      <a:latin typeface="Cambria Math" panose="02040503050406030204" pitchFamily="18" charset="0"/>
                                      <a:ea typeface="Cambria Math"/>
                                      <a:cs typeface="Cambria Math"/>
                                    </a:rPr>
                                  </m:ctrlPr>
                                </m:dPr>
                                <m:e>
                                  <m:r>
                                    <a:rPr lang="it-IT" sz="2200" b="0" i="1" dirty="0" smtClean="0">
                                      <a:solidFill>
                                        <a:srgbClr val="182D45"/>
                                      </a:solidFill>
                                      <a:latin typeface="Cambria Math" panose="02040503050406030204" pitchFamily="18" charset="0"/>
                                      <a:ea typeface="Cambria Math"/>
                                      <a:cs typeface="Cambria Math"/>
                                    </a:rPr>
                                    <m:t>2</m:t>
                                  </m:r>
                                </m:e>
                              </m:d>
                            </m:sup>
                          </m:sSup>
                        </m:e>
                      </m:d>
                      <m:r>
                        <a:rPr lang="en-GB" sz="2200" b="0" dirty="0">
                          <a:solidFill>
                            <a:srgbClr val="182D45"/>
                          </a:solidFill>
                          <a:latin typeface="Cambria Math"/>
                          <a:ea typeface="Cambria Math"/>
                          <a:cs typeface="Cambria Math"/>
                        </a:rPr>
                        <m:t>=</m:t>
                      </m:r>
                      <m:d>
                        <m:dPr>
                          <m:ctrlPr>
                            <a:rPr lang="en-GB" sz="2200" b="0" dirty="0">
                              <a:solidFill>
                                <a:srgbClr val="182D45"/>
                              </a:solidFill>
                              <a:latin typeface="Cambria Math"/>
                              <a:ea typeface="Cambria Math"/>
                              <a:cs typeface="Cambria Math"/>
                            </a:rPr>
                          </m:ctrlPr>
                        </m:dPr>
                        <m:e>
                          <m:r>
                            <a:rPr lang="en-GB" sz="2200" b="0" dirty="0">
                              <a:solidFill>
                                <a:srgbClr val="182D45"/>
                              </a:solidFill>
                              <a:latin typeface="Cambria Math"/>
                              <a:ea typeface="Cambria Math"/>
                              <a:cs typeface="Cambria Math"/>
                            </a:rPr>
                            <m:t>1.28,1.92</m:t>
                          </m:r>
                        </m:e>
                      </m:d>
                      <m:r>
                        <a:rPr lang="en-GB" sz="2200" b="0" dirty="0">
                          <a:solidFill>
                            <a:srgbClr val="182D45"/>
                          </a:solidFill>
                          <a:latin typeface="Cambria Math"/>
                          <a:ea typeface="Cambria Math"/>
                          <a:cs typeface="Cambria Math"/>
                        </a:rPr>
                        <m:t>  </m:t>
                      </m:r>
                      <m:sSubSup>
                        <m:sSubSupPr>
                          <m:ctrlPr>
                            <a:rPr lang="en-GB" sz="2200" dirty="0">
                              <a:latin typeface="Cambria Math"/>
                              <a:ea typeface="Cambria Math"/>
                              <a:cs typeface="Cambria Math"/>
                            </a:rPr>
                          </m:ctrlPr>
                        </m:sSubSupPr>
                        <m:e>
                          <m:r>
                            <a:rPr lang="en-GB" sz="2200" dirty="0">
                              <a:latin typeface="Cambria Math"/>
                              <a:ea typeface="Cambria Math"/>
                              <a:cs typeface="Cambria Math"/>
                            </a:rPr>
                            <m:t>ℒ</m:t>
                          </m:r>
                        </m:e>
                        <m:sub>
                          <m:r>
                            <m:rPr>
                              <m:sty m:val="p"/>
                            </m:rPr>
                            <a:rPr lang="en-GB" sz="2200" dirty="0">
                              <a:latin typeface="Cambria Math"/>
                              <a:ea typeface="Cambria Math"/>
                              <a:cs typeface="Cambria Math"/>
                            </a:rPr>
                            <m:t>sq</m:t>
                          </m:r>
                        </m:sub>
                        <m:sup>
                          <m:r>
                            <m:rPr>
                              <m:sty m:val="p"/>
                            </m:rPr>
                            <a:rPr lang="en-GB" sz="2200" dirty="0">
                              <a:latin typeface="Cambria Math"/>
                              <a:ea typeface="Cambria Math"/>
                              <a:cs typeface="Cambria Math"/>
                            </a:rPr>
                            <m:t>aff</m:t>
                          </m:r>
                        </m:sup>
                      </m:sSubSup>
                      <m:d>
                        <m:dPr>
                          <m:ctrlPr>
                            <a:rPr lang="it-IT" sz="2200" b="1" i="1" dirty="0">
                              <a:latin typeface="Cambria Math" panose="02040503050406030204" pitchFamily="18" charset="0"/>
                              <a:ea typeface="Cambria Math"/>
                              <a:cs typeface="Cambria Math"/>
                            </a:rPr>
                          </m:ctrlPr>
                        </m:dPr>
                        <m:e>
                          <m:sSup>
                            <m:sSupPr>
                              <m:ctrlPr>
                                <a:rPr lang="it-IT" sz="2200" b="1" dirty="0">
                                  <a:latin typeface="Cambria Math" panose="02040503050406030204" pitchFamily="18" charset="0"/>
                                  <a:ea typeface="Cambria Math"/>
                                  <a:cs typeface="Cambria Math"/>
                                </a:rPr>
                              </m:ctrlPr>
                            </m:sSupPr>
                            <m:e>
                              <m:r>
                                <a:rPr lang="it-IT" sz="2200" b="1" dirty="0">
                                  <a:latin typeface="Cambria Math" panose="02040503050406030204" pitchFamily="18" charset="0"/>
                                  <a:ea typeface="Cambria Math"/>
                                  <a:cs typeface="Cambria Math"/>
                                </a:rPr>
                                <m:t>𝛉</m:t>
                              </m:r>
                            </m:e>
                            <m:sup>
                              <m:d>
                                <m:dPr>
                                  <m:ctrlPr>
                                    <a:rPr lang="it-IT" sz="2200" b="0" i="1" dirty="0" smtClean="0">
                                      <a:latin typeface="Cambria Math" panose="02040503050406030204" pitchFamily="18" charset="0"/>
                                      <a:ea typeface="Cambria Math"/>
                                    </a:rPr>
                                  </m:ctrlPr>
                                </m:dPr>
                                <m:e>
                                  <m:r>
                                    <a:rPr lang="it-IT" sz="2200" b="0" i="1" dirty="0" smtClean="0">
                                      <a:latin typeface="Cambria Math" panose="02040503050406030204" pitchFamily="18" charset="0"/>
                                      <a:ea typeface="Cambria Math"/>
                                    </a:rPr>
                                    <m:t>2</m:t>
                                  </m:r>
                                </m:e>
                              </m:d>
                            </m:sup>
                          </m:sSup>
                        </m:e>
                      </m:d>
                      <m:r>
                        <a:rPr lang="en-GB" sz="2200" b="0" dirty="0">
                          <a:solidFill>
                            <a:srgbClr val="182D45"/>
                          </a:solidFill>
                          <a:latin typeface="Cambria Math"/>
                          <a:ea typeface="Cambria Math"/>
                          <a:cs typeface="Cambria Math"/>
                        </a:rPr>
                        <m:t>=8.656</m:t>
                      </m:r>
                    </m:oMath>
                  </m:oMathPara>
                </a14:m>
                <a:endParaRPr lang="en-GB" sz="2200" b="0" i="0" dirty="0">
                  <a:solidFill>
                    <a:srgbClr val="182D45"/>
                  </a:solidFill>
                  <a:latin typeface="Cambria Math"/>
                  <a:ea typeface="Cambria Math"/>
                  <a:cs typeface="Cambria Math"/>
                </a:endParaRPr>
              </a:p>
            </p:txBody>
          </p:sp>
        </mc:Choice>
        <mc:Fallback xmlns="">
          <p:sp>
            <p:nvSpPr>
              <p:cNvPr id="8" name="eq_165">
                <a:extLst>
                  <a:ext uri="{FF2B5EF4-FFF2-40B4-BE49-F238E27FC236}">
                    <a16:creationId xmlns:a16="http://schemas.microsoft.com/office/drawing/2014/main" id="{72593CC8-1479-41A5-BA27-9A8DF17D1A2C}"/>
                  </a:ext>
                </a:extLst>
              </p:cNvPr>
              <p:cNvSpPr txBox="1">
                <a:spLocks noGrp="1" noRot="1" noChangeAspect="1" noMove="1" noResize="1" noEditPoints="1" noAdjustHandles="1" noChangeArrowheads="1" noChangeShapeType="1" noTextEdit="1"/>
              </p:cNvSpPr>
              <p:nvPr/>
            </p:nvSpPr>
            <p:spPr>
              <a:xfrm>
                <a:off x="609600" y="5810250"/>
                <a:ext cx="10953750" cy="523875"/>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1383772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07EF081-8838-4A6C-83D9-84464E8E12A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Gradient descent: successive predictors</a:t>
            </a:r>
          </a:p>
        </p:txBody>
      </p:sp>
      <p:sp>
        <p:nvSpPr>
          <p:cNvPr id="2" name="page_number">
            <a:extLst>
              <a:ext uri="{FF2B5EF4-FFF2-40B4-BE49-F238E27FC236}">
                <a16:creationId xmlns:a16="http://schemas.microsoft.com/office/drawing/2014/main" id="{D166058C-EE93-4AED-A2D3-7089EA5E514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39</a:t>
            </a:r>
          </a:p>
        </p:txBody>
      </p:sp>
      <mc:AlternateContent xmlns:mc="http://schemas.openxmlformats.org/markup-compatibility/2006" xmlns:a14="http://schemas.microsoft.com/office/drawing/2010/main">
        <mc:Choice Requires="a14">
          <p:sp>
            <p:nvSpPr>
              <p:cNvPr id="3" name="txt_166">
                <a:extLst>
                  <a:ext uri="{FF2B5EF4-FFF2-40B4-BE49-F238E27FC236}">
                    <a16:creationId xmlns:a16="http://schemas.microsoft.com/office/drawing/2014/main" id="{024A2437-C8B6-4A6F-8618-1FF1E95079AF}"/>
                  </a:ext>
                </a:extLst>
              </p:cNvPr>
              <p:cNvSpPr txBox="1">
                <a:spLocks noGrp="1"/>
              </p:cNvSpPr>
              <p:nvPr/>
            </p:nvSpPr>
            <p:spPr>
              <a:xfrm>
                <a:off x="609600" y="1257300"/>
                <a:ext cx="10953750" cy="476250"/>
              </a:xfrm>
              <a:prstGeom prst="rect">
                <a:avLst/>
              </a:prstGeom>
              <a:noFill/>
              <a:ln w="0">
                <a:noFill/>
              </a:ln>
            </p:spPr>
            <p:txBody>
              <a:bodyPr vertOverflow="overflow"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Same observations, updated coefficients. The learning rate is </a:t>
                </a:r>
                <a14:m>
                  <m:oMath xmlns:m="http://schemas.openxmlformats.org/officeDocument/2006/math">
                    <m:r>
                      <a:rPr lang="en-GB" sz="2100" b="0" dirty="0">
                        <a:solidFill>
                          <a:srgbClr val="182D45"/>
                        </a:solidFill>
                        <a:latin typeface="Cambria Math"/>
                        <a:ea typeface="Cambria Math"/>
                        <a:cs typeface="Cambria Math"/>
                      </a:rPr>
                      <m:t>𝜂</m:t>
                    </m:r>
                    <m:r>
                      <a:rPr lang="en-GB" sz="2100" b="0" dirty="0">
                        <a:solidFill>
                          <a:srgbClr val="182D45"/>
                        </a:solidFill>
                        <a:latin typeface="Cambria Math"/>
                        <a:ea typeface="Cambria Math"/>
                        <a:cs typeface="Cambria Math"/>
                      </a:rPr>
                      <m:t>=0.04</m:t>
                    </m:r>
                  </m:oMath>
                </a14:m>
                <a:r>
                  <a:rPr lang="en-GB" sz="2100" b="0" i="0" dirty="0">
                    <a:solidFill>
                      <a:srgbClr val="182D45"/>
                    </a:solidFill>
                    <a:latin typeface="DejaVu Sans"/>
                    <a:ea typeface="DejaVu Sans"/>
                    <a:cs typeface="DejaVu Sans"/>
                  </a:rPr>
                  <a:t>.</a:t>
                </a:r>
              </a:p>
            </p:txBody>
          </p:sp>
        </mc:Choice>
        <mc:Fallback xmlns="">
          <p:sp>
            <p:nvSpPr>
              <p:cNvPr id="3" name="txt_166">
                <a:extLst>
                  <a:ext uri="{FF2B5EF4-FFF2-40B4-BE49-F238E27FC236}">
                    <a16:creationId xmlns:a16="http://schemas.microsoft.com/office/drawing/2014/main" id="{024A2437-C8B6-4A6F-8618-1FF1E95079AF}"/>
                  </a:ext>
                </a:extLst>
              </p:cNvPr>
              <p:cNvSpPr txBox="1">
                <a:spLocks noGrp="1" noRot="1" noChangeAspect="1" noMove="1" noResize="1" noEditPoints="1" noAdjustHandles="1" noChangeArrowheads="1" noChangeShapeType="1" noTextEdit="1"/>
              </p:cNvSpPr>
              <p:nvPr/>
            </p:nvSpPr>
            <p:spPr>
              <a:xfrm>
                <a:off x="609600" y="1257300"/>
                <a:ext cx="10953750" cy="476250"/>
              </a:xfrm>
              <a:prstGeom prst="rect">
                <a:avLst/>
              </a:prstGeom>
              <a:blipFill>
                <a:blip r:embed="rId3"/>
                <a:stretch>
                  <a:fillRect t="-17949" b="-1282"/>
                </a:stretch>
              </a:blipFill>
              <a:ln w="0">
                <a:noFill/>
              </a:ln>
            </p:spPr>
            <p:txBody>
              <a:bodyPr/>
              <a:lstStyle/>
              <a:p>
                <a:r>
                  <a:rPr lang="it-IT">
                    <a:noFill/>
                  </a:rPr>
                  <a:t> </a:t>
                </a:r>
              </a:p>
            </p:txBody>
          </p:sp>
        </mc:Fallback>
      </mc:AlternateContent>
      <p:sp>
        <p:nvSpPr>
          <p:cNvPr id="4" name="txt_167">
            <a:extLst>
              <a:ext uri="{FF2B5EF4-FFF2-40B4-BE49-F238E27FC236}">
                <a16:creationId xmlns:a16="http://schemas.microsoft.com/office/drawing/2014/main" id="{AAC92519-F203-4F72-938E-F27CEBDE2D7E}"/>
              </a:ext>
            </a:extLst>
          </p:cNvPr>
          <p:cNvSpPr>
            <a:spLocks noGrp="1"/>
          </p:cNvSpPr>
          <p:nvPr/>
        </p:nvSpPr>
        <p:spPr>
          <a:xfrm>
            <a:off x="609600" y="1952625"/>
            <a:ext cx="5238750" cy="381000"/>
          </a:xfrm>
          <a:prstGeom prst="rect">
            <a:avLst/>
          </a:prstGeom>
          <a:noFill/>
          <a:ln w="0">
            <a:noFill/>
          </a:ln>
        </p:spPr>
        <p:txBody>
          <a:bodyPr wrap="square" lIns="0" tIns="0" rIns="0" bIns="0" anchor="t">
            <a:noAutofit/>
          </a:bodyPr>
          <a:lstStyle/>
          <a:p>
            <a:pPr marL="0" marR="0" indent="0" algn="ctr">
              <a:defRPr lang="en-GB" sz="1875" b="1" i="0" dirty="0">
                <a:solidFill>
                  <a:srgbClr val="326CB2"/>
                </a:solidFill>
                <a:latin typeface="DejaVu Sans"/>
                <a:ea typeface="DejaVu Sans"/>
                <a:cs typeface="DejaVu Sans"/>
              </a:defRPr>
            </a:pPr>
            <a:r>
              <a:rPr lang="en-GB" sz="1875" b="1" i="0" dirty="0">
                <a:solidFill>
                  <a:srgbClr val="326CB2"/>
                </a:solidFill>
                <a:latin typeface="DejaVu Sans"/>
                <a:ea typeface="DejaVu Sans"/>
                <a:cs typeface="DejaVu Sans"/>
              </a:rPr>
              <a:t>Predictions on the observed inputs</a:t>
            </a:r>
          </a:p>
        </p:txBody>
      </p:sp>
      <p:sp>
        <p:nvSpPr>
          <p:cNvPr id="5" name="txt_168">
            <a:extLst>
              <a:ext uri="{FF2B5EF4-FFF2-40B4-BE49-F238E27FC236}">
                <a16:creationId xmlns:a16="http://schemas.microsoft.com/office/drawing/2014/main" id="{05DE5C47-6DB3-479E-BB25-E97749E9D1AD}"/>
              </a:ext>
            </a:extLst>
          </p:cNvPr>
          <p:cNvSpPr>
            <a:spLocks noGrp="1"/>
          </p:cNvSpPr>
          <p:nvPr/>
        </p:nvSpPr>
        <p:spPr>
          <a:xfrm>
            <a:off x="6343650" y="1952625"/>
            <a:ext cx="5219700" cy="381000"/>
          </a:xfrm>
          <a:prstGeom prst="rect">
            <a:avLst/>
          </a:prstGeom>
          <a:noFill/>
          <a:ln w="0">
            <a:noFill/>
          </a:ln>
        </p:spPr>
        <p:txBody>
          <a:bodyPr wrap="square" lIns="0" tIns="0" rIns="0" bIns="0" anchor="t">
            <a:noAutofit/>
          </a:bodyPr>
          <a:lstStyle/>
          <a:p>
            <a:pPr marL="0" marR="0" indent="0" algn="ctr">
              <a:defRPr lang="en-GB" sz="1875" b="1" i="0" dirty="0">
                <a:solidFill>
                  <a:srgbClr val="C45C28"/>
                </a:solidFill>
                <a:latin typeface="DejaVu Sans"/>
                <a:ea typeface="DejaVu Sans"/>
                <a:cs typeface="DejaVu Sans"/>
              </a:defRPr>
            </a:pPr>
            <a:r>
              <a:rPr lang="en-GB" sz="1875" b="1" i="0" dirty="0">
                <a:solidFill>
                  <a:srgbClr val="C45C28"/>
                </a:solidFill>
                <a:latin typeface="DejaVu Sans"/>
                <a:ea typeface="DejaVu Sans"/>
                <a:cs typeface="DejaVu Sans"/>
              </a:rPr>
              <a:t>Path in the parameter plane</a:t>
            </a:r>
          </a:p>
        </p:txBody>
      </p:sp>
      <p:graphicFrame>
        <p:nvGraphicFramePr>
          <p:cNvPr id="14" name="Chart"/>
          <p:cNvGraphicFramePr/>
          <p:nvPr/>
        </p:nvGraphicFramePr>
        <p:xfrm>
          <a:off x="609600" y="2400300"/>
          <a:ext cx="5238750" cy="3333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p:cNvGraphicFramePr/>
          <p:nvPr/>
        </p:nvGraphicFramePr>
        <p:xfrm>
          <a:off x="6343650" y="2400300"/>
          <a:ext cx="5219700" cy="3333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8" name="eq_169">
                <a:extLst>
                  <a:ext uri="{FF2B5EF4-FFF2-40B4-BE49-F238E27FC236}">
                    <a16:creationId xmlns:a16="http://schemas.microsoft.com/office/drawing/2014/main" id="{C8C180D6-0A88-455E-AA89-2EB038196741}"/>
                  </a:ext>
                </a:extLst>
              </p:cNvPr>
              <p:cNvSpPr txBox="1">
                <a:spLocks noGrp="1"/>
              </p:cNvSpPr>
              <p:nvPr/>
            </p:nvSpPr>
            <p:spPr>
              <a:xfrm>
                <a:off x="609600" y="5810250"/>
                <a:ext cx="10953750" cy="523875"/>
              </a:xfrm>
              <a:prstGeom prst="rect">
                <a:avLst/>
              </a:prstGeom>
              <a:noFill/>
              <a:ln w="0">
                <a:noFill/>
              </a:ln>
            </p:spPr>
            <p:txBody>
              <a:bodyPr vertOverflow="overflow" wrap="none" lIns="0" tIns="0" rIns="0" bIns="0" anchor="t">
                <a:noAutofit/>
              </a:bodyPr>
              <a:lstStyle/>
              <a:p>
                <a:pPr algn="ctr">
                  <a:defRPr lang="en-GB" sz="2175" b="0" i="0" dirty="0">
                    <a:solidFill>
                      <a:srgbClr val="182D45"/>
                    </a:solidFill>
                    <a:latin typeface="Cambria Math"/>
                    <a:ea typeface="Cambria Math"/>
                    <a:cs typeface="Cambria Math"/>
                  </a:defRPr>
                </a:pPr>
                <a14:m>
                  <m:oMathPara xmlns:m="http://schemas.openxmlformats.org/officeDocument/2006/math">
                    <m:oMath>
                      <m:r>
                        <a:rPr lang="en-GB" sz="2200" b="0" dirty="0" smtClean="0">
                          <a:solidFill>
                            <a:srgbClr val="182D45"/>
                          </a:solidFill>
                          <a:latin typeface="Cambria Math"/>
                          <a:ea typeface="Cambria Math"/>
                          <a:cs typeface="Cambria Math"/>
                        </a:rPr>
                        <m:t>𝑡</m:t>
                      </m:r>
                      <m:r>
                        <a:rPr lang="en-GB" sz="2200" b="0" dirty="0" smtClean="0">
                          <a:solidFill>
                            <a:srgbClr val="182D45"/>
                          </a:solidFill>
                          <a:latin typeface="Cambria Math"/>
                          <a:ea typeface="Cambria Math"/>
                          <a:cs typeface="Cambria Math"/>
                        </a:rPr>
                        <m:t>=5  </m:t>
                      </m:r>
                      <m:d>
                        <m:dPr>
                          <m:ctrlPr>
                            <a:rPr lang="en-GB" sz="2200" b="0" i="1" dirty="0">
                              <a:solidFill>
                                <a:srgbClr val="182D45"/>
                              </a:solidFill>
                              <a:latin typeface="Cambria Math" panose="02040503050406030204" pitchFamily="18" charset="0"/>
                              <a:ea typeface="Cambria Math"/>
                              <a:cs typeface="Cambria Math"/>
                            </a:rPr>
                          </m:ctrlPr>
                        </m:dPr>
                        <m:e>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𝑏</m:t>
                              </m:r>
                            </m:e>
                            <m:sup>
                              <m:d>
                                <m:dPr>
                                  <m:ctrlPr>
                                    <a:rPr lang="it-IT" sz="2200" b="0" i="1" dirty="0" smtClean="0">
                                      <a:solidFill>
                                        <a:srgbClr val="182D45"/>
                                      </a:solidFill>
                                      <a:latin typeface="Cambria Math" panose="02040503050406030204" pitchFamily="18" charset="0"/>
                                      <a:ea typeface="Cambria Math"/>
                                      <a:cs typeface="Cambria Math"/>
                                    </a:rPr>
                                  </m:ctrlPr>
                                </m:dPr>
                                <m:e>
                                  <m:r>
                                    <a:rPr lang="it-IT" sz="2200" b="0" i="1" dirty="0" smtClean="0">
                                      <a:solidFill>
                                        <a:srgbClr val="182D45"/>
                                      </a:solidFill>
                                      <a:latin typeface="Cambria Math" panose="02040503050406030204" pitchFamily="18" charset="0"/>
                                      <a:ea typeface="Cambria Math"/>
                                      <a:cs typeface="Cambria Math"/>
                                    </a:rPr>
                                    <m:t>5</m:t>
                                  </m:r>
                                </m:e>
                              </m:d>
                            </m:sup>
                          </m:sSup>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𝑎</m:t>
                              </m:r>
                            </m:e>
                            <m:sup>
                              <m:d>
                                <m:dPr>
                                  <m:ctrlPr>
                                    <a:rPr lang="it-IT" sz="2200" b="0" i="1" dirty="0" smtClean="0">
                                      <a:solidFill>
                                        <a:srgbClr val="182D45"/>
                                      </a:solidFill>
                                      <a:latin typeface="Cambria Math" panose="02040503050406030204" pitchFamily="18" charset="0"/>
                                      <a:ea typeface="Cambria Math"/>
                                      <a:cs typeface="Cambria Math"/>
                                    </a:rPr>
                                  </m:ctrlPr>
                                </m:dPr>
                                <m:e>
                                  <m:r>
                                    <a:rPr lang="it-IT" sz="2200" b="0" i="1" dirty="0" smtClean="0">
                                      <a:solidFill>
                                        <a:srgbClr val="182D45"/>
                                      </a:solidFill>
                                      <a:latin typeface="Cambria Math" panose="02040503050406030204" pitchFamily="18" charset="0"/>
                                      <a:ea typeface="Cambria Math"/>
                                      <a:cs typeface="Cambria Math"/>
                                    </a:rPr>
                                    <m:t>5</m:t>
                                  </m:r>
                                </m:e>
                              </m:d>
                            </m:sup>
                          </m:sSup>
                        </m:e>
                      </m:d>
                      <m:r>
                        <a:rPr lang="en-GB" sz="2200" b="0" dirty="0">
                          <a:solidFill>
                            <a:srgbClr val="182D45"/>
                          </a:solidFill>
                          <a:latin typeface="Cambria Math"/>
                          <a:ea typeface="Cambria Math"/>
                          <a:cs typeface="Cambria Math"/>
                        </a:rPr>
                        <m:t>=</m:t>
                      </m:r>
                      <m:d>
                        <m:dPr>
                          <m:ctrlPr>
                            <a:rPr lang="en-GB" sz="2200" b="0" dirty="0">
                              <a:solidFill>
                                <a:srgbClr val="182D45"/>
                              </a:solidFill>
                              <a:latin typeface="Cambria Math"/>
                              <a:ea typeface="Cambria Math"/>
                              <a:cs typeface="Cambria Math"/>
                            </a:rPr>
                          </m:ctrlPr>
                        </m:dPr>
                        <m:e>
                          <m:r>
                            <a:rPr lang="en-GB" sz="2200" b="0" dirty="0">
                              <a:solidFill>
                                <a:srgbClr val="182D45"/>
                              </a:solidFill>
                              <a:latin typeface="Cambria Math"/>
                              <a:ea typeface="Cambria Math"/>
                              <a:cs typeface="Cambria Math"/>
                            </a:rPr>
                            <m:t>1.84448,1.99936</m:t>
                          </m:r>
                        </m:e>
                      </m:d>
                      <m:r>
                        <a:rPr lang="en-GB" sz="2200" b="0" dirty="0">
                          <a:solidFill>
                            <a:srgbClr val="182D45"/>
                          </a:solidFill>
                          <a:latin typeface="Cambria Math"/>
                          <a:ea typeface="Cambria Math"/>
                          <a:cs typeface="Cambria Math"/>
                        </a:rPr>
                        <m:t>  </m:t>
                      </m:r>
                      <m:sSubSup>
                        <m:sSubSupPr>
                          <m:ctrlPr>
                            <a:rPr lang="en-GB" sz="2200" dirty="0">
                              <a:latin typeface="Cambria Math"/>
                              <a:ea typeface="Cambria Math"/>
                              <a:cs typeface="Cambria Math"/>
                            </a:rPr>
                          </m:ctrlPr>
                        </m:sSubSupPr>
                        <m:e>
                          <m:r>
                            <a:rPr lang="en-GB" sz="2200" dirty="0">
                              <a:latin typeface="Cambria Math"/>
                              <a:ea typeface="Cambria Math"/>
                              <a:cs typeface="Cambria Math"/>
                            </a:rPr>
                            <m:t>ℒ</m:t>
                          </m:r>
                        </m:e>
                        <m:sub>
                          <m:r>
                            <m:rPr>
                              <m:sty m:val="p"/>
                            </m:rPr>
                            <a:rPr lang="en-GB" sz="2200" dirty="0">
                              <a:latin typeface="Cambria Math"/>
                              <a:ea typeface="Cambria Math"/>
                              <a:cs typeface="Cambria Math"/>
                            </a:rPr>
                            <m:t>sq</m:t>
                          </m:r>
                        </m:sub>
                        <m:sup>
                          <m:r>
                            <m:rPr>
                              <m:sty m:val="p"/>
                            </m:rPr>
                            <a:rPr lang="en-GB" sz="2200" dirty="0">
                              <a:latin typeface="Cambria Math"/>
                              <a:ea typeface="Cambria Math"/>
                              <a:cs typeface="Cambria Math"/>
                            </a:rPr>
                            <m:t>aff</m:t>
                          </m:r>
                        </m:sup>
                      </m:sSubSup>
                      <m:d>
                        <m:dPr>
                          <m:ctrlPr>
                            <a:rPr lang="it-IT" sz="2200" b="1" i="1" dirty="0" smtClean="0">
                              <a:latin typeface="Cambria Math" panose="02040503050406030204" pitchFamily="18" charset="0"/>
                              <a:ea typeface="Cambria Math"/>
                              <a:cs typeface="Cambria Math"/>
                            </a:rPr>
                          </m:ctrlPr>
                        </m:dPr>
                        <m:e>
                          <m:sSup>
                            <m:sSupPr>
                              <m:ctrlPr>
                                <a:rPr lang="it-IT" sz="2200" b="1" i="0" dirty="0" smtClean="0">
                                  <a:latin typeface="Cambria Math" panose="02040503050406030204" pitchFamily="18" charset="0"/>
                                  <a:ea typeface="Cambria Math"/>
                                  <a:cs typeface="Cambria Math"/>
                                </a:rPr>
                              </m:ctrlPr>
                            </m:sSupPr>
                            <m:e>
                              <m:r>
                                <a:rPr lang="it-IT" sz="2200" b="1" i="0" dirty="0" smtClean="0">
                                  <a:latin typeface="Cambria Math" panose="02040503050406030204" pitchFamily="18" charset="0"/>
                                  <a:ea typeface="Cambria Math"/>
                                  <a:cs typeface="Cambria Math"/>
                                </a:rPr>
                                <m:t>𝛉</m:t>
                              </m:r>
                            </m:e>
                            <m:sup>
                              <m:d>
                                <m:dPr>
                                  <m:ctrlPr>
                                    <a:rPr lang="it-IT" sz="2200" b="0" i="1" dirty="0" smtClean="0">
                                      <a:latin typeface="Cambria Math" panose="02040503050406030204" pitchFamily="18" charset="0"/>
                                      <a:ea typeface="Cambria Math"/>
                                    </a:rPr>
                                  </m:ctrlPr>
                                </m:dPr>
                                <m:e>
                                  <m:r>
                                    <a:rPr lang="it-IT" sz="2200" b="0" i="1" dirty="0" smtClean="0">
                                      <a:latin typeface="Cambria Math" panose="02040503050406030204" pitchFamily="18" charset="0"/>
                                      <a:ea typeface="Cambria Math"/>
                                    </a:rPr>
                                    <m:t>5</m:t>
                                  </m:r>
                                </m:e>
                              </m:d>
                            </m:sup>
                          </m:sSup>
                        </m:e>
                      </m:d>
                      <m:r>
                        <a:rPr lang="en-GB" sz="2200" b="0" dirty="0">
                          <a:solidFill>
                            <a:srgbClr val="182D45"/>
                          </a:solidFill>
                          <a:latin typeface="Cambria Math"/>
                          <a:ea typeface="Cambria Math"/>
                          <a:cs typeface="Cambria Math"/>
                        </a:rPr>
                        <m:t>=6.12094</m:t>
                      </m:r>
                    </m:oMath>
                  </m:oMathPara>
                </a14:m>
                <a:endParaRPr lang="en-GB" sz="2200" b="0" i="0" dirty="0">
                  <a:solidFill>
                    <a:srgbClr val="182D45"/>
                  </a:solidFill>
                  <a:latin typeface="Cambria Math"/>
                  <a:ea typeface="Cambria Math"/>
                  <a:cs typeface="Cambria Math"/>
                </a:endParaRPr>
              </a:p>
            </p:txBody>
          </p:sp>
        </mc:Choice>
        <mc:Fallback xmlns="">
          <p:sp>
            <p:nvSpPr>
              <p:cNvPr id="8" name="eq_169">
                <a:extLst>
                  <a:ext uri="{FF2B5EF4-FFF2-40B4-BE49-F238E27FC236}">
                    <a16:creationId xmlns:a16="http://schemas.microsoft.com/office/drawing/2014/main" id="{C8C180D6-0A88-455E-AA89-2EB038196741}"/>
                  </a:ext>
                </a:extLst>
              </p:cNvPr>
              <p:cNvSpPr txBox="1">
                <a:spLocks noGrp="1" noRot="1" noChangeAspect="1" noMove="1" noResize="1" noEditPoints="1" noAdjustHandles="1" noChangeArrowheads="1" noChangeShapeType="1" noTextEdit="1"/>
              </p:cNvSpPr>
              <p:nvPr/>
            </p:nvSpPr>
            <p:spPr>
              <a:xfrm>
                <a:off x="609600" y="5810250"/>
                <a:ext cx="10953750" cy="523875"/>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367783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63ABA2D-9109-40D4-AA53-533DDC0F6B5A}"/>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Today's lecture</a:t>
            </a:r>
          </a:p>
        </p:txBody>
      </p:sp>
      <p:sp>
        <p:nvSpPr>
          <p:cNvPr id="2" name="page_number">
            <a:extLst>
              <a:ext uri="{FF2B5EF4-FFF2-40B4-BE49-F238E27FC236}">
                <a16:creationId xmlns:a16="http://schemas.microsoft.com/office/drawing/2014/main" id="{1116EFEF-0B9D-40E1-8268-2F86159E8720}"/>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40</a:t>
            </a:r>
          </a:p>
        </p:txBody>
      </p:sp>
      <p:sp>
        <p:nvSpPr>
          <p:cNvPr id="3" name="txt_1">
            <a:extLst>
              <a:ext uri="{FF2B5EF4-FFF2-40B4-BE49-F238E27FC236}">
                <a16:creationId xmlns:a16="http://schemas.microsoft.com/office/drawing/2014/main" id="{C7DE6368-578C-4C0F-9249-6EB17EFBE39D}"/>
              </a:ext>
            </a:extLst>
          </p:cNvPr>
          <p:cNvSpPr>
            <a:spLocks noGrp="1"/>
          </p:cNvSpPr>
          <p:nvPr/>
        </p:nvSpPr>
        <p:spPr>
          <a:xfrm>
            <a:off x="914400" y="185737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Regression and loss functions</a:t>
            </a:r>
          </a:p>
        </p:txBody>
      </p:sp>
      <p:sp>
        <p:nvSpPr>
          <p:cNvPr id="4" name="txt_2">
            <a:extLst>
              <a:ext uri="{FF2B5EF4-FFF2-40B4-BE49-F238E27FC236}">
                <a16:creationId xmlns:a16="http://schemas.microsoft.com/office/drawing/2014/main" id="{BF793772-6481-4FD8-83DC-0D91008B6ABF}"/>
              </a:ext>
            </a:extLst>
          </p:cNvPr>
          <p:cNvSpPr>
            <a:spLocks noGrp="1"/>
          </p:cNvSpPr>
          <p:nvPr/>
        </p:nvSpPr>
        <p:spPr>
          <a:xfrm>
            <a:off x="914400" y="2819400"/>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Least-squares fitting</a:t>
            </a:r>
          </a:p>
        </p:txBody>
      </p:sp>
      <p:sp>
        <p:nvSpPr>
          <p:cNvPr id="5" name="txt_3">
            <a:extLst>
              <a:ext uri="{FF2B5EF4-FFF2-40B4-BE49-F238E27FC236}">
                <a16:creationId xmlns:a16="http://schemas.microsoft.com/office/drawing/2014/main" id="{2994D57A-E23B-415F-AF4E-BD2AAB0A3AA7}"/>
              </a:ext>
            </a:extLst>
          </p:cNvPr>
          <p:cNvSpPr>
            <a:spLocks noGrp="1"/>
          </p:cNvSpPr>
          <p:nvPr/>
        </p:nvSpPr>
        <p:spPr>
          <a:xfrm>
            <a:off x="914400" y="3781425"/>
            <a:ext cx="10287000" cy="571500"/>
          </a:xfrm>
          <a:prstGeom prst="rect">
            <a:avLst/>
          </a:prstGeom>
          <a:noFill/>
          <a:ln w="0">
            <a:noFill/>
          </a:ln>
        </p:spPr>
        <p:txBody>
          <a:bodyPr wrap="square" lIns="0" tIns="0" rIns="0" bIns="0" anchor="ctr">
            <a:noAutofit/>
          </a:bodyPr>
          <a:lstStyle/>
          <a:p>
            <a:pPr marL="0" marR="0" indent="0" algn="l">
              <a:defRPr lang="en-GB" sz="2700" b="0" i="0" dirty="0">
                <a:solidFill>
                  <a:srgbClr val="7D8998"/>
                </a:solidFill>
                <a:latin typeface="DejaVu Sans"/>
                <a:ea typeface="DejaVu Sans"/>
                <a:cs typeface="DejaVu Sans"/>
              </a:defRPr>
            </a:pPr>
            <a:r>
              <a:rPr lang="en-GB" sz="2700" b="0" i="0" dirty="0">
                <a:solidFill>
                  <a:srgbClr val="7D8998"/>
                </a:solidFill>
                <a:latin typeface="DejaVu Sans"/>
                <a:ea typeface="DejaVu Sans"/>
                <a:cs typeface="DejaVu Sans"/>
              </a:rPr>
              <a:t>Gradient descent</a:t>
            </a:r>
          </a:p>
        </p:txBody>
      </p:sp>
      <p:sp>
        <p:nvSpPr>
          <p:cNvPr id="7" name="agenda_extensions">
            <a:extLst>
              <a:ext uri="{FF2B5EF4-FFF2-40B4-BE49-F238E27FC236}">
                <a16:creationId xmlns:a16="http://schemas.microsoft.com/office/drawing/2014/main" id="{FE47A43A-C3A0-45D6-B358-8C9E199D8676}"/>
              </a:ext>
            </a:extLst>
          </p:cNvPr>
          <p:cNvSpPr>
            <a:spLocks noGrp="1"/>
          </p:cNvSpPr>
          <p:nvPr/>
        </p:nvSpPr>
        <p:spPr>
          <a:xfrm>
            <a:off x="914400" y="4743450"/>
            <a:ext cx="10287000" cy="571500"/>
          </a:xfrm>
          <a:prstGeom prst="rect">
            <a:avLst/>
          </a:prstGeom>
          <a:noFill/>
          <a:ln w="0">
            <a:noFill/>
          </a:ln>
        </p:spPr>
        <p:txBody>
          <a:bodyPr wrap="square" lIns="0" tIns="0" rIns="0" bIns="0" anchor="ctr">
            <a:noAutofit/>
          </a:bodyPr>
          <a:lstStyle/>
          <a:p>
            <a:pPr marL="0" marR="0" indent="0" algn="l">
              <a:defRPr lang="en-GB" sz="2700" b="1" i="0" dirty="0">
                <a:solidFill>
                  <a:srgbClr val="00858A"/>
                </a:solidFill>
                <a:latin typeface="DejaVu Sans"/>
                <a:ea typeface="DejaVu Sans"/>
                <a:cs typeface="DejaVu Sans"/>
              </a:defRPr>
            </a:pPr>
            <a:r>
              <a:rPr lang="en-GB" sz="2700" b="1" i="0" dirty="0">
                <a:solidFill>
                  <a:srgbClr val="00858A"/>
                </a:solidFill>
                <a:latin typeface="DejaVu Sans"/>
                <a:ea typeface="DejaVu Sans"/>
                <a:cs typeface="DejaVu Sans"/>
              </a:rPr>
              <a:t>Extensions</a:t>
            </a:r>
          </a:p>
        </p:txBody>
      </p:sp>
    </p:spTree>
    <p:extLst>
      <p:ext uri="{BB962C8B-B14F-4D97-AF65-F5344CB8AC3E}">
        <p14:creationId xmlns:p14="http://schemas.microsoft.com/office/powerpoint/2010/main" val="4030600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62A4340F-D8F9-48BD-819D-4D2599683BE1}"/>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lang="en-GB" sz="3150" b="1" i="0" dirty="0">
                <a:solidFill>
                  <a:srgbClr val="182D45"/>
                </a:solidFill>
                <a:latin typeface="DejaVu Sans"/>
                <a:ea typeface="DejaVu Sans"/>
                <a:cs typeface="DejaVu Sans"/>
              </a:defRPr>
            </a:pPr>
            <a:r>
              <a:rPr lang="en-GB" sz="3150" b="1" dirty="0">
                <a:solidFill>
                  <a:srgbClr val="182D45"/>
                </a:solidFill>
                <a:latin typeface="DejaVu Sans"/>
                <a:ea typeface="DejaVu Sans"/>
                <a:cs typeface="DejaVu Sans"/>
              </a:rPr>
              <a:t>Extension 1: nonlinear predictors</a:t>
            </a:r>
          </a:p>
        </p:txBody>
      </p:sp>
      <p:sp>
        <p:nvSpPr>
          <p:cNvPr id="2" name="page_number">
            <a:extLst>
              <a:ext uri="{FF2B5EF4-FFF2-40B4-BE49-F238E27FC236}">
                <a16:creationId xmlns:a16="http://schemas.microsoft.com/office/drawing/2014/main" id="{0290EF68-2E60-460B-BF82-8E2F5E26D522}"/>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41</a:t>
            </a:r>
          </a:p>
        </p:txBody>
      </p:sp>
      <p:sp>
        <p:nvSpPr>
          <p:cNvPr id="3" name="txt_118">
            <a:extLst>
              <a:ext uri="{FF2B5EF4-FFF2-40B4-BE49-F238E27FC236}">
                <a16:creationId xmlns:a16="http://schemas.microsoft.com/office/drawing/2014/main" id="{B9BE4170-A87E-4CF7-8FEF-C260D1DFE1D2}"/>
              </a:ext>
            </a:extLst>
          </p:cNvPr>
          <p:cNvSpPr>
            <a:spLocks noGrp="1"/>
          </p:cNvSpPr>
          <p:nvPr/>
        </p:nvSpPr>
        <p:spPr>
          <a:xfrm>
            <a:off x="609600" y="1257300"/>
            <a:ext cx="10953750" cy="876300"/>
          </a:xfrm>
          <a:prstGeom prst="rect">
            <a:avLst/>
          </a:prstGeom>
          <a:noFill/>
          <a:ln w="0">
            <a:noFill/>
          </a:ln>
        </p:spPr>
        <p:txBody>
          <a:bodyPr vertOverflow="overflow" wrap="square" lIns="0" tIns="0" rIns="0" bIns="0" anchor="t">
            <a:noAutofit/>
          </a:bodyPr>
          <a:lstStyle/>
          <a:p>
            <a:pPr algn="ctr"/>
            <a:r>
              <a:rPr lang="en-GB" sz="2400" b="0" i="0" dirty="0">
                <a:solidFill>
                  <a:srgbClr val="182D45"/>
                </a:solidFill>
                <a:latin typeface="DejaVu Sans"/>
                <a:ea typeface="DejaVu Sans"/>
                <a:cs typeface="DejaVu Sans"/>
              </a:rPr>
              <a:t>So far, our predictors have been affine in the input.</a:t>
            </a:r>
          </a:p>
          <a:p>
            <a:pPr algn="ctr"/>
            <a:r>
              <a:rPr lang="en-GB" sz="2400" b="0" i="0" dirty="0">
                <a:solidFill>
                  <a:srgbClr val="182D45"/>
                </a:solidFill>
                <a:latin typeface="DejaVu Sans"/>
                <a:ea typeface="DejaVu Sans"/>
                <a:cs typeface="DejaVu Sans"/>
              </a:rPr>
              <a:t>Can we also use predictors that are </a:t>
            </a:r>
            <a:r>
              <a:rPr lang="en-GB" sz="2400" b="0" i="0" dirty="0">
                <a:solidFill>
                  <a:srgbClr val="C62828"/>
                </a:solidFill>
                <a:latin typeface="DejaVu Sans"/>
                <a:ea typeface="DejaVu Sans"/>
                <a:cs typeface="DejaVu Sans"/>
              </a:rPr>
              <a:t>nonlinear in the input</a:t>
            </a:r>
            <a:r>
              <a:rPr lang="en-GB" sz="2400" b="0" i="0" dirty="0">
                <a:solidFill>
                  <a:srgbClr val="182D45"/>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4" name="eq_119">
                <a:extLst>
                  <a:ext uri="{FF2B5EF4-FFF2-40B4-BE49-F238E27FC236}">
                    <a16:creationId xmlns:a16="http://schemas.microsoft.com/office/drawing/2014/main" id="{1E2F3D10-1086-4D47-9641-766A3ADC19E8}"/>
                  </a:ext>
                </a:extLst>
              </p:cNvPr>
              <p:cNvSpPr>
                <a:spLocks noGrp="1"/>
              </p:cNvSpPr>
              <p:nvPr/>
            </p:nvSpPr>
            <p:spPr>
              <a:xfrm>
                <a:off x="533400" y="2960750"/>
                <a:ext cx="11029950" cy="695325"/>
              </a:xfrm>
              <a:prstGeom prst="rect">
                <a:avLst/>
              </a:prstGeom>
              <a:noFill/>
              <a:ln w="0">
                <a:noFill/>
              </a:ln>
            </p:spPr>
            <p:txBody>
              <a:bodyPr wrap="square" lIns="0" tIns="0" rIns="0" bIns="0" anchor="t">
                <a:noAutofit/>
              </a:bodyPr>
              <a:lstStyle/>
              <a:p>
                <a:pPr algn="ctr">
                  <a:defRPr lang="en-GB" sz="3150" b="0" i="0" dirty="0">
                    <a:solidFill>
                      <a:srgbClr val="087F83"/>
                    </a:solidFill>
                    <a:latin typeface="Cambria Math"/>
                    <a:ea typeface="Cambria Math"/>
                    <a:cs typeface="Cambria Math"/>
                  </a:defRPr>
                </a:pPr>
                <a14:m>
                  <m:oMath xmlns:m="http://schemas.openxmlformats.org/officeDocument/2006/math">
                    <m:sSub>
                      <m:sSubPr>
                        <m:ctrlPr>
                          <a:rPr lang="en-GB" sz="3150" b="0" dirty="0">
                            <a:solidFill>
                              <a:srgbClr val="087F83"/>
                            </a:solidFill>
                            <a:latin typeface="Cambria Math"/>
                            <a:ea typeface="Cambria Math"/>
                            <a:cs typeface="Cambria Math"/>
                          </a:rPr>
                        </m:ctrlPr>
                      </m:sSubPr>
                      <m:e>
                        <m:r>
                          <a:rPr lang="en-GB" sz="3150" b="0" dirty="0">
                            <a:solidFill>
                              <a:srgbClr val="087F83"/>
                            </a:solidFill>
                            <a:latin typeface="Cambria Math"/>
                            <a:ea typeface="Cambria Math"/>
                            <a:cs typeface="Cambria Math"/>
                          </a:rPr>
                          <m:t>𝑓</m:t>
                        </m:r>
                      </m:e>
                      <m:sub>
                        <m:r>
                          <a:rPr lang="it-IT" sz="3150" b="1" i="0" dirty="0" smtClean="0">
                            <a:solidFill>
                              <a:srgbClr val="087F83"/>
                            </a:solidFill>
                            <a:latin typeface="Cambria Math" panose="02040503050406030204" pitchFamily="18" charset="0"/>
                            <a:ea typeface="Cambria Math"/>
                            <a:cs typeface="Cambria Math"/>
                          </a:rPr>
                          <m:t>𝛉</m:t>
                        </m:r>
                      </m:sub>
                    </m:sSub>
                    <m:d>
                      <m:dPr>
                        <m:ctrlPr>
                          <a:rPr lang="en-GB" sz="3150" b="0" dirty="0">
                            <a:solidFill>
                              <a:srgbClr val="087F83"/>
                            </a:solidFill>
                            <a:latin typeface="Cambria Math"/>
                            <a:ea typeface="Cambria Math"/>
                            <a:cs typeface="Cambria Math"/>
                          </a:rPr>
                        </m:ctrlPr>
                      </m:dPr>
                      <m:e>
                        <m:r>
                          <a:rPr lang="en-GB" sz="3150" b="0" dirty="0">
                            <a:solidFill>
                              <a:srgbClr val="087F83"/>
                            </a:solidFill>
                            <a:latin typeface="Cambria Math"/>
                            <a:ea typeface="Cambria Math"/>
                            <a:cs typeface="Cambria Math"/>
                          </a:rPr>
                          <m:t>𝑥</m:t>
                        </m:r>
                      </m:e>
                    </m:d>
                    <m:r>
                      <a:rPr lang="en-GB" sz="3150" b="0" dirty="0">
                        <a:solidFill>
                          <a:srgbClr val="087F83"/>
                        </a:solidFill>
                        <a:latin typeface="Cambria Math"/>
                        <a:ea typeface="Cambria Math"/>
                        <a:cs typeface="Cambria Math"/>
                      </a:rPr>
                      <m:t>=</m:t>
                    </m:r>
                    <m:r>
                      <a:rPr lang="it-IT" sz="3150" b="0" i="1" dirty="0" smtClean="0">
                        <a:solidFill>
                          <a:srgbClr val="087F83"/>
                        </a:solidFill>
                        <a:latin typeface="Cambria Math" panose="02040503050406030204" pitchFamily="18" charset="0"/>
                        <a:ea typeface="Cambria Math"/>
                        <a:cs typeface="Cambria Math"/>
                      </a:rPr>
                      <m:t>𝑏</m:t>
                    </m:r>
                    <m:r>
                      <a:rPr lang="en-GB" sz="3150" b="0" dirty="0">
                        <a:solidFill>
                          <a:srgbClr val="087F83"/>
                        </a:solidFill>
                        <a:latin typeface="Cambria Math"/>
                        <a:ea typeface="Cambria Math"/>
                        <a:cs typeface="Cambria Math"/>
                      </a:rPr>
                      <m:t>+</m:t>
                    </m:r>
                    <m:sSub>
                      <m:sSubPr>
                        <m:ctrlPr>
                          <a:rPr lang="en-GB" sz="3150" b="0" dirty="0">
                            <a:solidFill>
                              <a:srgbClr val="087F83"/>
                            </a:solidFill>
                            <a:latin typeface="Cambria Math"/>
                            <a:ea typeface="Cambria Math"/>
                            <a:cs typeface="Cambria Math"/>
                          </a:rPr>
                        </m:ctrlPr>
                      </m:sSubPr>
                      <m:e>
                        <m:r>
                          <a:rPr lang="en-GB" sz="3150" b="0" dirty="0">
                            <a:solidFill>
                              <a:srgbClr val="087F83"/>
                            </a:solidFill>
                            <a:latin typeface="Cambria Math"/>
                            <a:ea typeface="Cambria Math"/>
                            <a:cs typeface="Cambria Math"/>
                          </a:rPr>
                          <m:t>𝑤</m:t>
                        </m:r>
                      </m:e>
                      <m:sub>
                        <m:r>
                          <a:rPr lang="it-IT" sz="3150" b="0" i="1" dirty="0" smtClean="0">
                            <a:solidFill>
                              <a:srgbClr val="087F83"/>
                            </a:solidFill>
                            <a:latin typeface="Cambria Math" panose="02040503050406030204" pitchFamily="18" charset="0"/>
                            <a:ea typeface="Cambria Math"/>
                            <a:cs typeface="Cambria Math"/>
                          </a:rPr>
                          <m:t>1</m:t>
                        </m:r>
                      </m:sub>
                    </m:sSub>
                    <m:r>
                      <a:rPr lang="en-GB" sz="3150" b="0" dirty="0">
                        <a:solidFill>
                          <a:srgbClr val="087F83"/>
                        </a:solidFill>
                        <a:latin typeface="Cambria Math"/>
                        <a:ea typeface="Cambria Math"/>
                        <a:cs typeface="Cambria Math"/>
                      </a:rPr>
                      <m:t>𝑥</m:t>
                    </m:r>
                    <m:r>
                      <a:rPr lang="en-GB" sz="3150" b="0" dirty="0">
                        <a:solidFill>
                          <a:srgbClr val="087F83"/>
                        </a:solidFill>
                        <a:latin typeface="Cambria Math"/>
                        <a:ea typeface="Cambria Math"/>
                        <a:cs typeface="Cambria Math"/>
                      </a:rPr>
                      <m:t>+</m:t>
                    </m:r>
                    <m:sSub>
                      <m:sSubPr>
                        <m:ctrlPr>
                          <a:rPr lang="en-GB" sz="3150" b="0" dirty="0">
                            <a:solidFill>
                              <a:srgbClr val="087F83"/>
                            </a:solidFill>
                            <a:latin typeface="Cambria Math"/>
                            <a:ea typeface="Cambria Math"/>
                            <a:cs typeface="Cambria Math"/>
                          </a:rPr>
                        </m:ctrlPr>
                      </m:sSubPr>
                      <m:e>
                        <m:r>
                          <a:rPr lang="en-GB" sz="3150" b="0" dirty="0">
                            <a:solidFill>
                              <a:srgbClr val="087F83"/>
                            </a:solidFill>
                            <a:latin typeface="Cambria Math"/>
                            <a:ea typeface="Cambria Math"/>
                            <a:cs typeface="Cambria Math"/>
                          </a:rPr>
                          <m:t>𝑤</m:t>
                        </m:r>
                      </m:e>
                      <m:sub>
                        <m:r>
                          <a:rPr lang="it-IT" sz="3150" b="0" i="1" dirty="0" smtClean="0">
                            <a:solidFill>
                              <a:srgbClr val="087F83"/>
                            </a:solidFill>
                            <a:latin typeface="Cambria Math" panose="02040503050406030204" pitchFamily="18" charset="0"/>
                            <a:ea typeface="Cambria Math"/>
                            <a:cs typeface="Cambria Math"/>
                          </a:rPr>
                          <m:t>2</m:t>
                        </m:r>
                      </m:sub>
                    </m:sSub>
                    <m:sSup>
                      <m:sSupPr>
                        <m:ctrlPr>
                          <a:rPr lang="en-GB" sz="3150" b="0" dirty="0">
                            <a:solidFill>
                              <a:srgbClr val="087F83"/>
                            </a:solidFill>
                            <a:latin typeface="Cambria Math"/>
                            <a:ea typeface="Cambria Math"/>
                            <a:cs typeface="Cambria Math"/>
                          </a:rPr>
                        </m:ctrlPr>
                      </m:sSupPr>
                      <m:e>
                        <m:r>
                          <a:rPr lang="en-GB" sz="3150" b="0" dirty="0">
                            <a:solidFill>
                              <a:srgbClr val="087F83"/>
                            </a:solidFill>
                            <a:latin typeface="Cambria Math"/>
                            <a:ea typeface="Cambria Math"/>
                            <a:cs typeface="Cambria Math"/>
                          </a:rPr>
                          <m:t>𝑥</m:t>
                        </m:r>
                      </m:e>
                      <m:sup>
                        <m:r>
                          <a:rPr lang="en-GB" sz="3150" b="0" dirty="0">
                            <a:solidFill>
                              <a:srgbClr val="087F83"/>
                            </a:solidFill>
                            <a:latin typeface="Cambria Math"/>
                            <a:ea typeface="Cambria Math"/>
                            <a:cs typeface="Cambria Math"/>
                          </a:rPr>
                          <m:t>2</m:t>
                        </m:r>
                      </m:sup>
                    </m:sSup>
                  </m:oMath>
                </a14:m>
                <a:r>
                  <a:rPr lang="en-GB" sz="3150" b="0" i="0" dirty="0">
                    <a:solidFill>
                      <a:srgbClr val="087F83"/>
                    </a:solidFill>
                    <a:latin typeface="Cambria Math"/>
                    <a:ea typeface="Cambria Math"/>
                    <a:cs typeface="Cambria Math"/>
                  </a:rPr>
                  <a:t>,             </a:t>
                </a:r>
                <a14:m>
                  <m:oMath xmlns:m="http://schemas.openxmlformats.org/officeDocument/2006/math">
                    <m:r>
                      <a:rPr lang="it-IT" sz="3150" b="1" i="0" dirty="0" smtClean="0">
                        <a:solidFill>
                          <a:srgbClr val="087F83"/>
                        </a:solidFill>
                        <a:latin typeface="Cambria Math" panose="02040503050406030204" pitchFamily="18" charset="0"/>
                        <a:ea typeface="Cambria Math"/>
                        <a:cs typeface="Cambria Math"/>
                      </a:rPr>
                      <m:t>𝛉</m:t>
                    </m:r>
                    <m:r>
                      <a:rPr lang="it-IT" sz="3150" b="0" i="0" dirty="0" smtClean="0">
                        <a:solidFill>
                          <a:srgbClr val="087F83"/>
                        </a:solidFill>
                        <a:latin typeface="Cambria Math" panose="02040503050406030204" pitchFamily="18" charset="0"/>
                        <a:ea typeface="Cambria Math"/>
                        <a:cs typeface="Cambria Math"/>
                      </a:rPr>
                      <m:t>=</m:t>
                    </m:r>
                    <m:sSup>
                      <m:sSupPr>
                        <m:ctrlPr>
                          <a:rPr lang="it-IT" sz="3150" b="0" i="1" dirty="0" smtClean="0">
                            <a:solidFill>
                              <a:srgbClr val="087F83"/>
                            </a:solidFill>
                            <a:latin typeface="Cambria Math" panose="02040503050406030204" pitchFamily="18" charset="0"/>
                            <a:ea typeface="Cambria Math"/>
                          </a:rPr>
                        </m:ctrlPr>
                      </m:sSupPr>
                      <m:e>
                        <m:d>
                          <m:dPr>
                            <m:ctrlPr>
                              <a:rPr lang="it-IT" sz="3150" b="0" i="1" dirty="0" smtClean="0">
                                <a:solidFill>
                                  <a:srgbClr val="087F83"/>
                                </a:solidFill>
                                <a:latin typeface="Cambria Math" panose="02040503050406030204" pitchFamily="18" charset="0"/>
                                <a:ea typeface="Cambria Math"/>
                              </a:rPr>
                            </m:ctrlPr>
                          </m:dPr>
                          <m:e>
                            <m:r>
                              <a:rPr lang="it-IT" sz="3150" b="0" i="1" dirty="0" smtClean="0">
                                <a:solidFill>
                                  <a:srgbClr val="087F83"/>
                                </a:solidFill>
                                <a:latin typeface="Cambria Math" panose="02040503050406030204" pitchFamily="18" charset="0"/>
                                <a:ea typeface="Cambria Math"/>
                              </a:rPr>
                              <m:t>𝑏</m:t>
                            </m:r>
                            <m:r>
                              <a:rPr lang="it-IT" sz="3150" b="0" i="1" dirty="0" smtClean="0">
                                <a:solidFill>
                                  <a:srgbClr val="087F83"/>
                                </a:solidFill>
                                <a:latin typeface="Cambria Math" panose="02040503050406030204" pitchFamily="18" charset="0"/>
                                <a:ea typeface="Cambria Math"/>
                              </a:rPr>
                              <m:t>,</m:t>
                            </m:r>
                            <m:sSub>
                              <m:sSubPr>
                                <m:ctrlPr>
                                  <a:rPr lang="it-IT" sz="3150" b="0" i="1" dirty="0" smtClean="0">
                                    <a:solidFill>
                                      <a:srgbClr val="087F83"/>
                                    </a:solidFill>
                                    <a:latin typeface="Cambria Math" panose="02040503050406030204" pitchFamily="18" charset="0"/>
                                    <a:ea typeface="Cambria Math"/>
                                  </a:rPr>
                                </m:ctrlPr>
                              </m:sSubPr>
                              <m:e>
                                <m:r>
                                  <a:rPr lang="it-IT" sz="3150" b="0" i="1" dirty="0" smtClean="0">
                                    <a:solidFill>
                                      <a:srgbClr val="087F83"/>
                                    </a:solidFill>
                                    <a:latin typeface="Cambria Math" panose="02040503050406030204" pitchFamily="18" charset="0"/>
                                    <a:ea typeface="Cambria Math"/>
                                  </a:rPr>
                                  <m:t>𝑤</m:t>
                                </m:r>
                              </m:e>
                              <m:sub>
                                <m:r>
                                  <a:rPr lang="it-IT" sz="3150" b="0" i="1" dirty="0" smtClean="0">
                                    <a:solidFill>
                                      <a:srgbClr val="087F83"/>
                                    </a:solidFill>
                                    <a:latin typeface="Cambria Math" panose="02040503050406030204" pitchFamily="18" charset="0"/>
                                    <a:ea typeface="Cambria Math"/>
                                  </a:rPr>
                                  <m:t>1</m:t>
                                </m:r>
                              </m:sub>
                            </m:sSub>
                            <m:r>
                              <a:rPr lang="it-IT" sz="3150" b="0" i="1" dirty="0" smtClean="0">
                                <a:solidFill>
                                  <a:srgbClr val="087F83"/>
                                </a:solidFill>
                                <a:latin typeface="Cambria Math" panose="02040503050406030204" pitchFamily="18" charset="0"/>
                                <a:ea typeface="Cambria Math"/>
                              </a:rPr>
                              <m:t>,</m:t>
                            </m:r>
                            <m:sSub>
                              <m:sSubPr>
                                <m:ctrlPr>
                                  <a:rPr lang="it-IT" sz="3150" b="0" i="1" dirty="0" smtClean="0">
                                    <a:solidFill>
                                      <a:srgbClr val="087F83"/>
                                    </a:solidFill>
                                    <a:latin typeface="Cambria Math" panose="02040503050406030204" pitchFamily="18" charset="0"/>
                                    <a:ea typeface="Cambria Math"/>
                                  </a:rPr>
                                </m:ctrlPr>
                              </m:sSubPr>
                              <m:e>
                                <m:r>
                                  <a:rPr lang="it-IT" sz="3150" b="0" i="1" dirty="0" smtClean="0">
                                    <a:solidFill>
                                      <a:srgbClr val="087F83"/>
                                    </a:solidFill>
                                    <a:latin typeface="Cambria Math" panose="02040503050406030204" pitchFamily="18" charset="0"/>
                                    <a:ea typeface="Cambria Math"/>
                                  </a:rPr>
                                  <m:t>𝑤</m:t>
                                </m:r>
                              </m:e>
                              <m:sub>
                                <m:r>
                                  <a:rPr lang="it-IT" sz="3150" b="0" i="1" dirty="0" smtClean="0">
                                    <a:solidFill>
                                      <a:srgbClr val="087F83"/>
                                    </a:solidFill>
                                    <a:latin typeface="Cambria Math" panose="02040503050406030204" pitchFamily="18" charset="0"/>
                                    <a:ea typeface="Cambria Math"/>
                                  </a:rPr>
                                  <m:t>2</m:t>
                                </m:r>
                              </m:sub>
                            </m:sSub>
                          </m:e>
                        </m:d>
                      </m:e>
                      <m:sup>
                        <m:r>
                          <a:rPr lang="it-IT" sz="3150" b="0" i="1" dirty="0" smtClean="0">
                            <a:solidFill>
                              <a:srgbClr val="087F83"/>
                            </a:solidFill>
                            <a:latin typeface="Cambria Math" panose="02040503050406030204" pitchFamily="18" charset="0"/>
                            <a:ea typeface="Cambria Math"/>
                          </a:rPr>
                          <m:t>⊤</m:t>
                        </m:r>
                      </m:sup>
                    </m:sSup>
                    <m:r>
                      <a:rPr lang="it-IT" sz="3150" b="0" i="1" dirty="0" smtClean="0">
                        <a:solidFill>
                          <a:srgbClr val="087F83"/>
                        </a:solidFill>
                        <a:latin typeface="Cambria Math" panose="02040503050406030204" pitchFamily="18" charset="0"/>
                        <a:ea typeface="Cambria Math"/>
                      </a:rPr>
                      <m:t>∈</m:t>
                    </m:r>
                    <m:sSup>
                      <m:sSupPr>
                        <m:ctrlPr>
                          <a:rPr lang="it-IT" sz="3150" b="0" i="1" dirty="0" smtClean="0">
                            <a:solidFill>
                              <a:srgbClr val="087F83"/>
                            </a:solidFill>
                            <a:latin typeface="Cambria Math" panose="02040503050406030204" pitchFamily="18" charset="0"/>
                            <a:ea typeface="Cambria Math"/>
                          </a:rPr>
                        </m:ctrlPr>
                      </m:sSupPr>
                      <m:e>
                        <m:r>
                          <a:rPr lang="it-IT" sz="3150" b="0" i="1" dirty="0" smtClean="0">
                            <a:solidFill>
                              <a:srgbClr val="087F83"/>
                            </a:solidFill>
                            <a:latin typeface="Cambria Math" panose="02040503050406030204" pitchFamily="18" charset="0"/>
                            <a:ea typeface="Cambria Math"/>
                          </a:rPr>
                          <m:t>ℝ</m:t>
                        </m:r>
                      </m:e>
                      <m:sup>
                        <m:r>
                          <a:rPr lang="it-IT" sz="3150" b="0" i="1" dirty="0" smtClean="0">
                            <a:solidFill>
                              <a:srgbClr val="087F83"/>
                            </a:solidFill>
                            <a:latin typeface="Cambria Math" panose="02040503050406030204" pitchFamily="18" charset="0"/>
                            <a:ea typeface="Cambria Math"/>
                          </a:rPr>
                          <m:t>3×1</m:t>
                        </m:r>
                      </m:sup>
                    </m:sSup>
                  </m:oMath>
                </a14:m>
                <a:endParaRPr lang="en-GB" sz="3150" b="0" i="0" dirty="0">
                  <a:solidFill>
                    <a:srgbClr val="087F83"/>
                  </a:solidFill>
                  <a:latin typeface="Cambria Math"/>
                  <a:ea typeface="Cambria Math"/>
                  <a:cs typeface="Cambria Math"/>
                </a:endParaRPr>
              </a:p>
            </p:txBody>
          </p:sp>
        </mc:Choice>
        <mc:Fallback xmlns="">
          <p:sp>
            <p:nvSpPr>
              <p:cNvPr id="4" name="eq_119">
                <a:extLst>
                  <a:ext uri="{FF2B5EF4-FFF2-40B4-BE49-F238E27FC236}">
                    <a16:creationId xmlns:a16="http://schemas.microsoft.com/office/drawing/2014/main" id="{1E2F3D10-1086-4D47-9641-766A3ADC19E8}"/>
                  </a:ext>
                </a:extLst>
              </p:cNvPr>
              <p:cNvSpPr>
                <a:spLocks noGrp="1" noRot="1" noChangeAspect="1" noMove="1" noResize="1" noEditPoints="1" noAdjustHandles="1" noChangeArrowheads="1" noChangeShapeType="1" noTextEdit="1"/>
              </p:cNvSpPr>
              <p:nvPr/>
            </p:nvSpPr>
            <p:spPr>
              <a:xfrm>
                <a:off x="533400" y="2960750"/>
                <a:ext cx="11029950" cy="695325"/>
              </a:xfrm>
              <a:prstGeom prst="rect">
                <a:avLst/>
              </a:prstGeom>
              <a:blipFill>
                <a:blip r:embed="rId3"/>
                <a:stretch>
                  <a:fillRect t="-18421" b="-438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120">
                <a:extLst>
                  <a:ext uri="{FF2B5EF4-FFF2-40B4-BE49-F238E27FC236}">
                    <a16:creationId xmlns:a16="http://schemas.microsoft.com/office/drawing/2014/main" id="{CC831D3C-A2BA-4579-A9EB-2CA96B1BD20E}"/>
                  </a:ext>
                </a:extLst>
              </p:cNvPr>
              <p:cNvSpPr>
                <a:spLocks noGrp="1"/>
              </p:cNvSpPr>
              <p:nvPr/>
            </p:nvSpPr>
            <p:spPr>
              <a:xfrm>
                <a:off x="9525" y="3849052"/>
                <a:ext cx="10953750" cy="550545"/>
              </a:xfrm>
              <a:prstGeom prst="rect">
                <a:avLst/>
              </a:prstGeom>
              <a:noFill/>
              <a:ln w="0">
                <a:noFill/>
              </a:ln>
            </p:spPr>
            <p:txBody>
              <a:bodyPr wrap="square" lIns="0" tIns="0" rIns="0" bIns="0" anchor="t">
                <a:noAutofit/>
              </a:bodyPr>
              <a:lstStyle/>
              <a:p>
                <a:pPr algn="ctr">
                  <a:defRPr lang="en-GB" sz="2700" b="0" i="0" dirty="0">
                    <a:solidFill>
                      <a:srgbClr val="182D45"/>
                    </a:solidFill>
                    <a:latin typeface="Cambria Math"/>
                    <a:ea typeface="Cambria Math"/>
                    <a:cs typeface="Cambria Math"/>
                  </a:defRPr>
                </a:pPr>
                <a14:m>
                  <m:oMathPara xmlns:m="http://schemas.openxmlformats.org/officeDocument/2006/math">
                    <m:oMath>
                      <m:r>
                        <a:rPr lang="it-IT" sz="3150" b="0" i="0" dirty="0" smtClean="0">
                          <a:solidFill>
                            <a:srgbClr val="182D45"/>
                          </a:solidFill>
                          <a:latin typeface="Cambria Math" panose="02040503050406030204" pitchFamily="18" charset="0"/>
                          <a:ea typeface="Cambria Math"/>
                          <a:cs typeface="Cambria Math"/>
                        </a:rPr>
                        <m:t>   </m:t>
                      </m:r>
                      <m:r>
                        <a:rPr lang="en-GB" sz="3150" b="0" dirty="0" smtClean="0">
                          <a:solidFill>
                            <a:srgbClr val="182D45"/>
                          </a:solidFill>
                          <a:latin typeface="Cambria Math"/>
                          <a:ea typeface="Cambria Math"/>
                          <a:cs typeface="Cambria Math"/>
                        </a:rPr>
                        <m:t>𝛟</m:t>
                      </m:r>
                      <m:d>
                        <m:dPr>
                          <m:ctrlPr>
                            <a:rPr lang="en-GB" sz="3150" b="0" dirty="0">
                              <a:solidFill>
                                <a:srgbClr val="182D45"/>
                              </a:solidFill>
                              <a:latin typeface="Cambria Math"/>
                              <a:ea typeface="Cambria Math"/>
                              <a:cs typeface="Cambria Math"/>
                            </a:rPr>
                          </m:ctrlPr>
                        </m:dPr>
                        <m:e>
                          <m:r>
                            <a:rPr lang="en-GB" sz="3150" b="0" dirty="0">
                              <a:solidFill>
                                <a:srgbClr val="182D45"/>
                              </a:solidFill>
                              <a:latin typeface="Cambria Math"/>
                              <a:ea typeface="Cambria Math"/>
                              <a:cs typeface="Cambria Math"/>
                            </a:rPr>
                            <m:t>𝑥</m:t>
                          </m:r>
                        </m:e>
                      </m:d>
                      <m:r>
                        <a:rPr lang="en-GB" sz="3150" b="0" dirty="0">
                          <a:solidFill>
                            <a:srgbClr val="182D45"/>
                          </a:solidFill>
                          <a:latin typeface="Cambria Math"/>
                          <a:ea typeface="Cambria Math"/>
                          <a:cs typeface="Cambria Math"/>
                        </a:rPr>
                        <m:t>=</m:t>
                      </m:r>
                      <m:d>
                        <m:dPr>
                          <m:ctrlPr>
                            <a:rPr lang="it-IT" sz="3150" b="0" i="1" dirty="0" smtClean="0">
                              <a:solidFill>
                                <a:srgbClr val="182D45"/>
                              </a:solidFill>
                              <a:latin typeface="Cambria Math" panose="02040503050406030204" pitchFamily="18" charset="0"/>
                              <a:ea typeface="Cambria Math"/>
                              <a:cs typeface="Cambria Math"/>
                            </a:rPr>
                          </m:ctrlPr>
                        </m:dPr>
                        <m:e>
                          <m:r>
                            <a:rPr lang="it-IT" sz="3150" b="0" i="1" dirty="0" smtClean="0">
                              <a:solidFill>
                                <a:srgbClr val="182D45"/>
                              </a:solidFill>
                              <a:latin typeface="Cambria Math" panose="02040503050406030204" pitchFamily="18" charset="0"/>
                              <a:ea typeface="Cambria Math"/>
                              <a:cs typeface="Cambria Math"/>
                            </a:rPr>
                            <m:t>1,</m:t>
                          </m:r>
                          <m:r>
                            <a:rPr lang="it-IT" sz="3150" b="0" i="1" dirty="0" smtClean="0">
                              <a:solidFill>
                                <a:srgbClr val="182D45"/>
                              </a:solidFill>
                              <a:latin typeface="Cambria Math" panose="02040503050406030204" pitchFamily="18" charset="0"/>
                              <a:ea typeface="Cambria Math"/>
                              <a:cs typeface="Cambria Math"/>
                            </a:rPr>
                            <m:t>𝑥</m:t>
                          </m:r>
                          <m:r>
                            <a:rPr lang="it-IT" sz="3150" b="0" i="1" dirty="0" smtClean="0">
                              <a:solidFill>
                                <a:srgbClr val="182D45"/>
                              </a:solidFill>
                              <a:latin typeface="Cambria Math" panose="02040503050406030204" pitchFamily="18" charset="0"/>
                              <a:ea typeface="Cambria Math"/>
                              <a:cs typeface="Cambria Math"/>
                            </a:rPr>
                            <m:t>,</m:t>
                          </m:r>
                          <m:sSup>
                            <m:sSupPr>
                              <m:ctrlPr>
                                <a:rPr lang="it-IT" sz="3150" b="0" i="1" dirty="0" smtClean="0">
                                  <a:solidFill>
                                    <a:srgbClr val="182D45"/>
                                  </a:solidFill>
                                  <a:latin typeface="Cambria Math" panose="02040503050406030204" pitchFamily="18" charset="0"/>
                                  <a:ea typeface="Cambria Math"/>
                                  <a:cs typeface="Cambria Math"/>
                                </a:rPr>
                              </m:ctrlPr>
                            </m:sSupPr>
                            <m:e>
                              <m:r>
                                <a:rPr lang="it-IT" sz="3150" b="0" i="1" dirty="0" smtClean="0">
                                  <a:solidFill>
                                    <a:srgbClr val="182D45"/>
                                  </a:solidFill>
                                  <a:latin typeface="Cambria Math" panose="02040503050406030204" pitchFamily="18" charset="0"/>
                                  <a:ea typeface="Cambria Math"/>
                                  <a:cs typeface="Cambria Math"/>
                                </a:rPr>
                                <m:t>𝑥</m:t>
                              </m:r>
                            </m:e>
                            <m:sup>
                              <m:r>
                                <a:rPr lang="it-IT" sz="3150" b="0" i="1" dirty="0" smtClean="0">
                                  <a:solidFill>
                                    <a:srgbClr val="182D45"/>
                                  </a:solidFill>
                                  <a:latin typeface="Cambria Math" panose="02040503050406030204" pitchFamily="18" charset="0"/>
                                  <a:ea typeface="Cambria Math"/>
                                  <a:cs typeface="Cambria Math"/>
                                </a:rPr>
                                <m:t>2</m:t>
                              </m:r>
                            </m:sup>
                          </m:sSup>
                        </m:e>
                      </m:d>
                      <m:r>
                        <a:rPr lang="it-IT" sz="3150" b="0" i="1" dirty="0" smtClean="0">
                          <a:solidFill>
                            <a:srgbClr val="182D45"/>
                          </a:solidFill>
                          <a:latin typeface="Cambria Math" panose="02040503050406030204" pitchFamily="18" charset="0"/>
                          <a:ea typeface="Cambria Math"/>
                          <a:cs typeface="Cambria Math"/>
                        </a:rPr>
                        <m:t>∈</m:t>
                      </m:r>
                      <m:sSup>
                        <m:sSupPr>
                          <m:ctrlPr>
                            <a:rPr lang="it-IT" sz="3150" b="0" i="1" dirty="0" smtClean="0">
                              <a:solidFill>
                                <a:srgbClr val="182D45"/>
                              </a:solidFill>
                              <a:latin typeface="Cambria Math" panose="02040503050406030204" pitchFamily="18" charset="0"/>
                              <a:ea typeface="Cambria Math"/>
                              <a:cs typeface="Cambria Math"/>
                            </a:rPr>
                          </m:ctrlPr>
                        </m:sSupPr>
                        <m:e>
                          <m:r>
                            <a:rPr lang="it-IT" sz="3150" b="0" i="1" dirty="0" smtClean="0">
                              <a:solidFill>
                                <a:srgbClr val="182D45"/>
                              </a:solidFill>
                              <a:latin typeface="Cambria Math" panose="02040503050406030204" pitchFamily="18" charset="0"/>
                              <a:ea typeface="Cambria Math"/>
                              <a:cs typeface="Cambria Math"/>
                            </a:rPr>
                            <m:t>ℝ</m:t>
                          </m:r>
                        </m:e>
                        <m:sup>
                          <m:r>
                            <a:rPr lang="it-IT" sz="3150" b="0" i="1" dirty="0" smtClean="0">
                              <a:solidFill>
                                <a:srgbClr val="182D45"/>
                              </a:solidFill>
                              <a:latin typeface="Cambria Math" panose="02040503050406030204" pitchFamily="18" charset="0"/>
                              <a:ea typeface="Cambria Math"/>
                              <a:cs typeface="Cambria Math"/>
                            </a:rPr>
                            <m:t>1×3</m:t>
                          </m:r>
                        </m:sup>
                      </m:sSup>
                      <m:r>
                        <a:rPr lang="en-GB" sz="3150" b="0" dirty="0">
                          <a:solidFill>
                            <a:srgbClr val="182D45"/>
                          </a:solidFill>
                          <a:latin typeface="Cambria Math"/>
                          <a:ea typeface="Cambria Math"/>
                          <a:cs typeface="Cambria Math"/>
                        </a:rPr>
                        <m:t>, </m:t>
                      </m:r>
                      <m:r>
                        <a:rPr lang="it-IT" sz="3150" b="0" i="0" dirty="0" smtClean="0">
                          <a:solidFill>
                            <a:srgbClr val="182D45"/>
                          </a:solidFill>
                          <a:latin typeface="Cambria Math" panose="02040503050406030204" pitchFamily="18" charset="0"/>
                          <a:ea typeface="Cambria Math"/>
                          <a:cs typeface="Cambria Math"/>
                        </a:rPr>
                        <m:t>   </m:t>
                      </m:r>
                      <m:r>
                        <a:rPr lang="en-GB" sz="3150" b="0" dirty="0">
                          <a:solidFill>
                            <a:srgbClr val="182D45"/>
                          </a:solidFill>
                          <a:latin typeface="Cambria Math"/>
                          <a:ea typeface="Cambria Math"/>
                          <a:cs typeface="Cambria Math"/>
                        </a:rPr>
                        <m:t> </m:t>
                      </m:r>
                      <m:r>
                        <a:rPr lang="it-IT" sz="3150" b="0" i="0" dirty="0" smtClean="0">
                          <a:solidFill>
                            <a:srgbClr val="182D45"/>
                          </a:solidFill>
                          <a:latin typeface="Cambria Math" panose="02040503050406030204" pitchFamily="18" charset="0"/>
                          <a:ea typeface="Cambria Math"/>
                          <a:cs typeface="Cambria Math"/>
                        </a:rPr>
                        <m:t>           </m:t>
                      </m:r>
                      <m:sSub>
                        <m:sSubPr>
                          <m:ctrlPr>
                            <a:rPr lang="en-GB" sz="3150" b="0" dirty="0">
                              <a:solidFill>
                                <a:srgbClr val="182D45"/>
                              </a:solidFill>
                              <a:latin typeface="Cambria Math"/>
                              <a:ea typeface="Cambria Math"/>
                              <a:cs typeface="Cambria Math"/>
                            </a:rPr>
                          </m:ctrlPr>
                        </m:sSubPr>
                        <m:e>
                          <m:r>
                            <a:rPr lang="en-GB" sz="3150" b="0" dirty="0">
                              <a:solidFill>
                                <a:srgbClr val="182D45"/>
                              </a:solidFill>
                              <a:latin typeface="Cambria Math"/>
                              <a:ea typeface="Cambria Math"/>
                              <a:cs typeface="Cambria Math"/>
                            </a:rPr>
                            <m:t>𝑓</m:t>
                          </m:r>
                        </m:e>
                        <m:sub>
                          <m:r>
                            <a:rPr lang="it-IT" sz="3150" b="1" dirty="0">
                              <a:latin typeface="Cambria Math" panose="02040503050406030204" pitchFamily="18" charset="0"/>
                              <a:ea typeface="Cambria Math"/>
                              <a:cs typeface="Cambria Math"/>
                            </a:rPr>
                            <m:t>𝛉</m:t>
                          </m:r>
                        </m:sub>
                      </m:sSub>
                      <m:d>
                        <m:dPr>
                          <m:ctrlPr>
                            <a:rPr lang="en-GB" sz="3150" b="0" dirty="0">
                              <a:solidFill>
                                <a:srgbClr val="182D45"/>
                              </a:solidFill>
                              <a:latin typeface="Cambria Math"/>
                              <a:ea typeface="Cambria Math"/>
                              <a:cs typeface="Cambria Math"/>
                            </a:rPr>
                          </m:ctrlPr>
                        </m:dPr>
                        <m:e>
                          <m:r>
                            <a:rPr lang="en-GB" sz="3150" b="0" dirty="0">
                              <a:solidFill>
                                <a:srgbClr val="182D45"/>
                              </a:solidFill>
                              <a:latin typeface="Cambria Math"/>
                              <a:ea typeface="Cambria Math"/>
                              <a:cs typeface="Cambria Math"/>
                            </a:rPr>
                            <m:t>𝑥</m:t>
                          </m:r>
                        </m:e>
                      </m:d>
                      <m:r>
                        <a:rPr lang="en-GB" sz="3150" b="0" dirty="0">
                          <a:solidFill>
                            <a:srgbClr val="182D45"/>
                          </a:solidFill>
                          <a:latin typeface="Cambria Math"/>
                          <a:ea typeface="Cambria Math"/>
                          <a:cs typeface="Cambria Math"/>
                        </a:rPr>
                        <m:t>=</m:t>
                      </m:r>
                      <m:r>
                        <a:rPr lang="en-GB" sz="3150" b="0" dirty="0">
                          <a:solidFill>
                            <a:srgbClr val="182D45"/>
                          </a:solidFill>
                          <a:latin typeface="Cambria Math"/>
                          <a:ea typeface="Cambria Math"/>
                          <a:cs typeface="Cambria Math"/>
                        </a:rPr>
                        <m:t>𝛟</m:t>
                      </m:r>
                      <m:d>
                        <m:dPr>
                          <m:ctrlPr>
                            <a:rPr lang="en-GB" sz="3150" b="0" dirty="0">
                              <a:solidFill>
                                <a:srgbClr val="182D45"/>
                              </a:solidFill>
                              <a:latin typeface="Cambria Math"/>
                              <a:ea typeface="Cambria Math"/>
                              <a:cs typeface="Cambria Math"/>
                            </a:rPr>
                          </m:ctrlPr>
                        </m:dPr>
                        <m:e>
                          <m:r>
                            <a:rPr lang="en-GB" sz="3150" b="0" dirty="0">
                              <a:solidFill>
                                <a:srgbClr val="182D45"/>
                              </a:solidFill>
                              <a:latin typeface="Cambria Math"/>
                              <a:ea typeface="Cambria Math"/>
                              <a:cs typeface="Cambria Math"/>
                            </a:rPr>
                            <m:t>𝑥</m:t>
                          </m:r>
                        </m:e>
                      </m:d>
                      <m:r>
                        <a:rPr lang="it-IT" sz="3150" b="1" dirty="0" smtClean="0">
                          <a:solidFill>
                            <a:schemeClr val="tx1"/>
                          </a:solidFill>
                          <a:latin typeface="Cambria Math" panose="02040503050406030204" pitchFamily="18" charset="0"/>
                          <a:ea typeface="Cambria Math"/>
                          <a:cs typeface="Cambria Math"/>
                        </a:rPr>
                        <m:t>𝛉</m:t>
                      </m:r>
                    </m:oMath>
                  </m:oMathPara>
                </a14:m>
                <a:endParaRPr lang="en-GB" sz="3150" b="0" i="0" dirty="0">
                  <a:solidFill>
                    <a:srgbClr val="182D45"/>
                  </a:solidFill>
                  <a:latin typeface="Cambria Math"/>
                  <a:ea typeface="Cambria Math"/>
                  <a:cs typeface="Cambria Math"/>
                </a:endParaRPr>
              </a:p>
            </p:txBody>
          </p:sp>
        </mc:Choice>
        <mc:Fallback xmlns="">
          <p:sp>
            <p:nvSpPr>
              <p:cNvPr id="5" name="eq_120">
                <a:extLst>
                  <a:ext uri="{FF2B5EF4-FFF2-40B4-BE49-F238E27FC236}">
                    <a16:creationId xmlns:a16="http://schemas.microsoft.com/office/drawing/2014/main" id="{CC831D3C-A2BA-4579-A9EB-2CA96B1BD20E}"/>
                  </a:ext>
                </a:extLst>
              </p:cNvPr>
              <p:cNvSpPr>
                <a:spLocks noGrp="1" noRot="1" noChangeAspect="1" noMove="1" noResize="1" noEditPoints="1" noAdjustHandles="1" noChangeArrowheads="1" noChangeShapeType="1" noTextEdit="1"/>
              </p:cNvSpPr>
              <p:nvPr/>
            </p:nvSpPr>
            <p:spPr>
              <a:xfrm>
                <a:off x="9525" y="3849052"/>
                <a:ext cx="10953750" cy="55054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txt_121">
                <a:extLst>
                  <a:ext uri="{FF2B5EF4-FFF2-40B4-BE49-F238E27FC236}">
                    <a16:creationId xmlns:a16="http://schemas.microsoft.com/office/drawing/2014/main" id="{25AF435F-EB78-4CEE-9679-9E92B1AD80AC}"/>
                  </a:ext>
                </a:extLst>
              </p:cNvPr>
              <p:cNvSpPr>
                <a:spLocks noGrp="1"/>
              </p:cNvSpPr>
              <p:nvPr/>
            </p:nvSpPr>
            <p:spPr>
              <a:xfrm>
                <a:off x="576262" y="5016627"/>
                <a:ext cx="10944225" cy="1168146"/>
              </a:xfrm>
              <a:prstGeom prst="rect">
                <a:avLst/>
              </a:prstGeom>
              <a:noFill/>
              <a:ln w="0">
                <a:noFill/>
              </a:ln>
            </p:spPr>
            <p:txBody>
              <a:bodyPr wrap="square" lIns="0" tIns="0" rIns="0" bIns="0" anchor="t">
                <a:noAutofit/>
              </a:bodyPr>
              <a:lstStyle/>
              <a:p>
                <a:pPr marL="0" marR="0" indent="0" algn="ctr">
                  <a:defRPr lang="en-GB" sz="2100" b="0" i="0" dirty="0">
                    <a:solidFill>
                      <a:srgbClr val="182D45"/>
                    </a:solidFill>
                    <a:latin typeface="DejaVu Sans"/>
                    <a:ea typeface="DejaVu Sans"/>
                    <a:cs typeface="DejaVu Sans"/>
                  </a:defRPr>
                </a:pPr>
                <a:r>
                  <a:rPr lang="en-GB" sz="2400" b="0" i="0" dirty="0">
                    <a:solidFill>
                      <a:srgbClr val="182D45"/>
                    </a:solidFill>
                    <a:latin typeface="DejaVu Sans"/>
                    <a:ea typeface="DejaVu Sans"/>
                    <a:cs typeface="DejaVu Sans"/>
                  </a:rPr>
                  <a:t>The predictor may be </a:t>
                </a:r>
                <a:r>
                  <a:rPr lang="en-GB" sz="2400" b="0" i="0" dirty="0">
                    <a:solidFill>
                      <a:srgbClr val="FF0000"/>
                    </a:solidFill>
                    <a:latin typeface="DejaVu Sans"/>
                    <a:ea typeface="DejaVu Sans"/>
                    <a:cs typeface="DejaVu Sans"/>
                  </a:rPr>
                  <a:t>nonlinear in </a:t>
                </a:r>
                <a14:m>
                  <m:oMath xmlns:m="http://schemas.openxmlformats.org/officeDocument/2006/math">
                    <m:r>
                      <a:rPr lang="en-GB" sz="2400" b="0" dirty="0">
                        <a:solidFill>
                          <a:srgbClr val="FF0000"/>
                        </a:solidFill>
                        <a:latin typeface="Cambria Math"/>
                        <a:ea typeface="Cambria Math"/>
                        <a:cs typeface="Cambria Math"/>
                      </a:rPr>
                      <m:t>𝑥</m:t>
                    </m:r>
                  </m:oMath>
                </a14:m>
                <a:endParaRPr lang="en-GB" sz="2400" b="0" i="0" dirty="0">
                  <a:solidFill>
                    <a:srgbClr val="182D45"/>
                  </a:solidFill>
                  <a:latin typeface="DejaVu Sans"/>
                  <a:ea typeface="DejaVu Sans"/>
                  <a:cs typeface="DejaVu Sans"/>
                </a:endParaRPr>
              </a:p>
              <a:p>
                <a:pPr marL="0" marR="0" indent="0" algn="ctr">
                  <a:defRPr lang="en-GB" sz="2100" b="0" i="0" dirty="0">
                    <a:solidFill>
                      <a:srgbClr val="182D45"/>
                    </a:solidFill>
                    <a:latin typeface="DejaVu Sans"/>
                    <a:ea typeface="DejaVu Sans"/>
                    <a:cs typeface="DejaVu Sans"/>
                  </a:defRPr>
                </a:pPr>
                <a:endParaRPr lang="en-GB" sz="2400" b="0" i="0" dirty="0">
                  <a:solidFill>
                    <a:srgbClr val="182D45"/>
                  </a:solidFill>
                  <a:latin typeface="DejaVu Sans"/>
                  <a:ea typeface="DejaVu Sans"/>
                  <a:cs typeface="DejaVu Sans"/>
                </a:endParaRPr>
              </a:p>
              <a:p>
                <a:pPr marL="0" marR="0" indent="0" algn="ctr">
                  <a:defRPr lang="en-GB" sz="2100" b="0" i="0" dirty="0">
                    <a:solidFill>
                      <a:srgbClr val="182D45"/>
                    </a:solidFill>
                    <a:latin typeface="DejaVu Sans"/>
                    <a:ea typeface="DejaVu Sans"/>
                    <a:cs typeface="DejaVu Sans"/>
                  </a:defRPr>
                </a:pPr>
                <a:r>
                  <a:rPr lang="en-GB" sz="2400" b="0" i="0" dirty="0">
                    <a:solidFill>
                      <a:srgbClr val="182D45"/>
                    </a:solidFill>
                    <a:latin typeface="DejaVu Sans"/>
                    <a:ea typeface="DejaVu Sans"/>
                    <a:cs typeface="DejaVu Sans"/>
                  </a:rPr>
                  <a:t>while remaining </a:t>
                </a:r>
                <a:r>
                  <a:rPr lang="en-GB" sz="2400" b="0" i="0" dirty="0">
                    <a:solidFill>
                      <a:srgbClr val="FF0000"/>
                    </a:solidFill>
                    <a:latin typeface="DejaVu Sans"/>
                    <a:ea typeface="DejaVu Sans"/>
                    <a:cs typeface="DejaVu Sans"/>
                  </a:rPr>
                  <a:t>linear in the adjustable coefficients</a:t>
                </a:r>
                <a:endParaRPr lang="en-GB" sz="2400" b="0" i="0" dirty="0">
                  <a:solidFill>
                    <a:srgbClr val="182D45"/>
                  </a:solidFill>
                  <a:latin typeface="DejaVu Sans"/>
                  <a:ea typeface="DejaVu Sans"/>
                  <a:cs typeface="DejaVu Sans"/>
                </a:endParaRPr>
              </a:p>
            </p:txBody>
          </p:sp>
        </mc:Choice>
        <mc:Fallback xmlns="">
          <p:sp>
            <p:nvSpPr>
              <p:cNvPr id="6" name="txt_121">
                <a:extLst>
                  <a:ext uri="{FF2B5EF4-FFF2-40B4-BE49-F238E27FC236}">
                    <a16:creationId xmlns:a16="http://schemas.microsoft.com/office/drawing/2014/main" id="{25AF435F-EB78-4CEE-9679-9E92B1AD80AC}"/>
                  </a:ext>
                </a:extLst>
              </p:cNvPr>
              <p:cNvSpPr>
                <a:spLocks noGrp="1" noRot="1" noChangeAspect="1" noMove="1" noResize="1" noEditPoints="1" noAdjustHandles="1" noChangeArrowheads="1" noChangeShapeType="1" noTextEdit="1"/>
              </p:cNvSpPr>
              <p:nvPr/>
            </p:nvSpPr>
            <p:spPr>
              <a:xfrm>
                <a:off x="576262" y="5016627"/>
                <a:ext cx="10944225" cy="1168146"/>
              </a:xfrm>
              <a:prstGeom prst="rect">
                <a:avLst/>
              </a:prstGeom>
              <a:blipFill>
                <a:blip r:embed="rId5"/>
                <a:stretch>
                  <a:fillRect t="-8854" b="-9375"/>
                </a:stretch>
              </a:blipFill>
              <a:ln w="0">
                <a:noFill/>
              </a:ln>
            </p:spPr>
            <p:txBody>
              <a:bodyPr/>
              <a:lstStyle/>
              <a:p>
                <a:r>
                  <a:rPr lang="it-IT">
                    <a:noFill/>
                  </a:rPr>
                  <a:t> </a:t>
                </a:r>
              </a:p>
            </p:txBody>
          </p:sp>
        </mc:Fallback>
      </mc:AlternateContent>
      <p:sp>
        <p:nvSpPr>
          <p:cNvPr id="9" name="CasellaDiTesto 8">
            <a:extLst>
              <a:ext uri="{FF2B5EF4-FFF2-40B4-BE49-F238E27FC236}">
                <a16:creationId xmlns:a16="http://schemas.microsoft.com/office/drawing/2014/main" id="{7AB692EE-7FC9-1842-C19F-31B432F2ABDF}"/>
              </a:ext>
            </a:extLst>
          </p:cNvPr>
          <p:cNvSpPr txBox="1"/>
          <p:nvPr/>
        </p:nvSpPr>
        <p:spPr>
          <a:xfrm>
            <a:off x="3001137" y="2306108"/>
            <a:ext cx="6094476" cy="461665"/>
          </a:xfrm>
          <a:prstGeom prst="rect">
            <a:avLst/>
          </a:prstGeom>
          <a:noFill/>
        </p:spPr>
        <p:txBody>
          <a:bodyPr wrap="square">
            <a:spAutoFit/>
          </a:bodyPr>
          <a:lstStyle/>
          <a:p>
            <a:pPr marL="0" marR="0" indent="0" algn="ctr">
              <a:defRPr lang="en-GB" sz="2100" b="0" i="0" dirty="0">
                <a:solidFill>
                  <a:srgbClr val="182D45"/>
                </a:solidFill>
                <a:latin typeface="DejaVu Sans"/>
                <a:ea typeface="DejaVu Sans"/>
                <a:cs typeface="DejaVu Sans"/>
              </a:defRPr>
            </a:pPr>
            <a:r>
              <a:rPr lang="en-GB" sz="2400" b="0" i="0" dirty="0">
                <a:latin typeface="DejaVu Sans"/>
                <a:ea typeface="DejaVu Sans"/>
                <a:cs typeface="DejaVu Sans"/>
              </a:rPr>
              <a:t>Example</a:t>
            </a:r>
          </a:p>
        </p:txBody>
      </p:sp>
    </p:spTree>
    <p:extLst>
      <p:ext uri="{BB962C8B-B14F-4D97-AF65-F5344CB8AC3E}">
        <p14:creationId xmlns:p14="http://schemas.microsoft.com/office/powerpoint/2010/main" val="222012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p:bldP spid="6" grpId="0" build="allAtOnce"/>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844B095B-18C0-46B4-A329-657CFFF84327}"/>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l">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A quadratic fit to the same observations</a:t>
            </a:r>
          </a:p>
        </p:txBody>
      </p:sp>
      <p:sp>
        <p:nvSpPr>
          <p:cNvPr id="2" name="page_number">
            <a:extLst>
              <a:ext uri="{FF2B5EF4-FFF2-40B4-BE49-F238E27FC236}">
                <a16:creationId xmlns:a16="http://schemas.microsoft.com/office/drawing/2014/main" id="{A10BA240-2EB1-47CF-98BB-B691B1ACA084}"/>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42</a:t>
            </a:r>
          </a:p>
        </p:txBody>
      </p:sp>
      <p:graphicFrame>
        <p:nvGraphicFramePr>
          <p:cNvPr id="10" name="Chart"/>
          <p:cNvGraphicFramePr/>
          <p:nvPr>
            <p:extLst>
              <p:ext uri="{D42A27DB-BD31-4B8C-83A1-F6EECF244321}">
                <p14:modId xmlns:p14="http://schemas.microsoft.com/office/powerpoint/2010/main" val="2817337481"/>
              </p:ext>
            </p:extLst>
          </p:nvPr>
        </p:nvGraphicFramePr>
        <p:xfrm>
          <a:off x="609600" y="2886075"/>
          <a:ext cx="6477000" cy="3571875"/>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4" name="eq_126">
                <a:extLst>
                  <a:ext uri="{FF2B5EF4-FFF2-40B4-BE49-F238E27FC236}">
                    <a16:creationId xmlns:a16="http://schemas.microsoft.com/office/drawing/2014/main" id="{57682BF9-1135-4B20-BA2D-EBD135FD2FA2}"/>
                  </a:ext>
                </a:extLst>
              </p:cNvPr>
              <p:cNvSpPr txBox="1">
                <a:spLocks noGrp="1"/>
              </p:cNvSpPr>
              <p:nvPr/>
            </p:nvSpPr>
            <p:spPr>
              <a:xfrm>
                <a:off x="7200900" y="2860218"/>
                <a:ext cx="4238625" cy="492252"/>
              </a:xfrm>
              <a:prstGeom prst="rect">
                <a:avLst/>
              </a:prstGeom>
              <a:noFill/>
              <a:ln w="0">
                <a:noFill/>
              </a:ln>
            </p:spPr>
            <p:txBody>
              <a:bodyPr vertOverflow="overflow" wrap="none" lIns="0" tIns="0" rIns="0" bIns="0" anchor="t">
                <a:noAutofit/>
              </a:bodyPr>
              <a:lstStyle/>
              <a:p>
                <a:pPr marL="0" marR="0" indent="0" algn="ctr">
                  <a:defRPr lang="en-GB" sz="2400" b="0" i="0" dirty="0">
                    <a:solidFill>
                      <a:srgbClr val="182D45"/>
                    </a:solidFill>
                    <a:latin typeface="Cambria Math"/>
                    <a:ea typeface="Cambria Math"/>
                    <a:cs typeface="Cambria Math"/>
                  </a:defRPr>
                </a:pPr>
                <a14:m>
                  <m:oMathPara xmlns:m="http://schemas.openxmlformats.org/officeDocument/2006/math">
                    <m:oMath>
                      <m:r>
                        <a:rPr lang="en-GB" sz="2200" b="0" dirty="0">
                          <a:solidFill>
                            <a:srgbClr val="182D45"/>
                          </a:solidFill>
                          <a:latin typeface="Cambria Math"/>
                          <a:ea typeface="Cambria Math"/>
                          <a:cs typeface="Cambria Math"/>
                        </a:rPr>
                        <m:t>𝛟</m:t>
                      </m:r>
                      <m:d>
                        <m:dPr>
                          <m:ctrlPr>
                            <a:rPr lang="en-GB" sz="2200" b="0" dirty="0">
                              <a:solidFill>
                                <a:srgbClr val="182D45"/>
                              </a:solidFill>
                              <a:latin typeface="Cambria Math"/>
                              <a:ea typeface="Cambria Math"/>
                              <a:cs typeface="Cambria Math"/>
                            </a:rPr>
                          </m:ctrlPr>
                        </m:dPr>
                        <m:e>
                          <m:r>
                            <a:rPr lang="en-GB" sz="2200" b="0" dirty="0">
                              <a:solidFill>
                                <a:srgbClr val="182D45"/>
                              </a:solidFill>
                              <a:latin typeface="Cambria Math"/>
                              <a:ea typeface="Cambria Math"/>
                              <a:cs typeface="Cambria Math"/>
                            </a:rPr>
                            <m:t>𝑥</m:t>
                          </m:r>
                        </m:e>
                      </m:d>
                      <m:r>
                        <a:rPr lang="en-GB" sz="2200" b="0" dirty="0">
                          <a:solidFill>
                            <a:srgbClr val="182D45"/>
                          </a:solidFill>
                          <a:latin typeface="Cambria Math"/>
                          <a:ea typeface="Cambria Math"/>
                          <a:cs typeface="Cambria Math"/>
                        </a:rPr>
                        <m:t>=</m:t>
                      </m:r>
                      <m:d>
                        <m:dPr>
                          <m:ctrlPr>
                            <a:rPr lang="en-GB" sz="2200" b="0" dirty="0">
                              <a:solidFill>
                                <a:srgbClr val="182D45"/>
                              </a:solidFill>
                              <a:latin typeface="Cambria Math"/>
                              <a:ea typeface="Cambria Math"/>
                              <a:cs typeface="Cambria Math"/>
                            </a:rPr>
                          </m:ctrlPr>
                        </m:dPr>
                        <m:e>
                          <m:r>
                            <a:rPr lang="en-GB" sz="2200" b="0" dirty="0">
                              <a:solidFill>
                                <a:srgbClr val="182D45"/>
                              </a:solidFill>
                              <a:latin typeface="Cambria Math"/>
                              <a:ea typeface="Cambria Math"/>
                              <a:cs typeface="Cambria Math"/>
                            </a:rPr>
                            <m:t>1,</m:t>
                          </m:r>
                          <m:r>
                            <a:rPr lang="en-GB" sz="2200" b="0" dirty="0">
                              <a:solidFill>
                                <a:srgbClr val="182D45"/>
                              </a:solidFill>
                              <a:latin typeface="Cambria Math"/>
                              <a:ea typeface="Cambria Math"/>
                              <a:cs typeface="Cambria Math"/>
                            </a:rPr>
                            <m:t>𝑥</m:t>
                          </m:r>
                          <m:r>
                            <a:rPr lang="en-GB" sz="2200" b="0" dirty="0">
                              <a:solidFill>
                                <a:srgbClr val="182D45"/>
                              </a:solidFill>
                              <a:latin typeface="Cambria Math"/>
                              <a:ea typeface="Cambria Math"/>
                              <a:cs typeface="Cambria Math"/>
                            </a:rPr>
                            <m:t>,</m:t>
                          </m:r>
                          <m:sSup>
                            <m:sSupPr>
                              <m:ctrlPr>
                                <a:rPr lang="en-GB" sz="2200" b="0" dirty="0">
                                  <a:solidFill>
                                    <a:srgbClr val="182D45"/>
                                  </a:solidFill>
                                  <a:latin typeface="Cambria Math"/>
                                  <a:ea typeface="Cambria Math"/>
                                  <a:cs typeface="Cambria Math"/>
                                </a:rPr>
                              </m:ctrlPr>
                            </m:sSupPr>
                            <m:e>
                              <m:r>
                                <a:rPr lang="en-GB" sz="2200" b="0" dirty="0">
                                  <a:solidFill>
                                    <a:srgbClr val="182D45"/>
                                  </a:solidFill>
                                  <a:latin typeface="Cambria Math"/>
                                  <a:ea typeface="Cambria Math"/>
                                  <a:cs typeface="Cambria Math"/>
                                </a:rPr>
                                <m:t>𝑥</m:t>
                              </m:r>
                            </m:e>
                            <m:sup>
                              <m:r>
                                <a:rPr lang="en-GB" sz="2200" b="0" dirty="0">
                                  <a:solidFill>
                                    <a:srgbClr val="182D45"/>
                                  </a:solidFill>
                                  <a:latin typeface="Cambria Math"/>
                                  <a:ea typeface="Cambria Math"/>
                                  <a:cs typeface="Cambria Math"/>
                                </a:rPr>
                                <m:t>2</m:t>
                              </m:r>
                            </m:sup>
                          </m:sSup>
                        </m:e>
                      </m:d>
                    </m:oMath>
                  </m:oMathPara>
                </a14:m>
                <a:endParaRPr lang="en-GB" sz="2200" b="0" i="0" dirty="0">
                  <a:solidFill>
                    <a:srgbClr val="182D45"/>
                  </a:solidFill>
                  <a:latin typeface="Cambria Math"/>
                  <a:ea typeface="Cambria Math"/>
                  <a:cs typeface="Cambria Math"/>
                </a:endParaRPr>
              </a:p>
            </p:txBody>
          </p:sp>
        </mc:Choice>
        <mc:Fallback xmlns="">
          <p:sp>
            <p:nvSpPr>
              <p:cNvPr id="4" name="eq_126">
                <a:extLst>
                  <a:ext uri="{FF2B5EF4-FFF2-40B4-BE49-F238E27FC236}">
                    <a16:creationId xmlns:a16="http://schemas.microsoft.com/office/drawing/2014/main" id="{57682BF9-1135-4B20-BA2D-EBD135FD2FA2}"/>
                  </a:ext>
                </a:extLst>
              </p:cNvPr>
              <p:cNvSpPr txBox="1">
                <a:spLocks noGrp="1" noRot="1" noChangeAspect="1" noMove="1" noResize="1" noEditPoints="1" noAdjustHandles="1" noChangeArrowheads="1" noChangeShapeType="1" noTextEdit="1"/>
              </p:cNvSpPr>
              <p:nvPr/>
            </p:nvSpPr>
            <p:spPr>
              <a:xfrm>
                <a:off x="7200900" y="2860218"/>
                <a:ext cx="4238625" cy="492252"/>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eq_127">
                <a:extLst>
                  <a:ext uri="{FF2B5EF4-FFF2-40B4-BE49-F238E27FC236}">
                    <a16:creationId xmlns:a16="http://schemas.microsoft.com/office/drawing/2014/main" id="{008C4093-37FE-4DBA-9C7F-1015FF64F0DD}"/>
                  </a:ext>
                </a:extLst>
              </p:cNvPr>
              <p:cNvSpPr txBox="1">
                <a:spLocks noGrp="1"/>
              </p:cNvSpPr>
              <p:nvPr/>
            </p:nvSpPr>
            <p:spPr>
              <a:xfrm>
                <a:off x="7400925" y="3526468"/>
                <a:ext cx="4238625" cy="580068"/>
              </a:xfrm>
              <a:prstGeom prst="rect">
                <a:avLst/>
              </a:prstGeom>
              <a:noFill/>
              <a:ln w="0">
                <a:noFill/>
              </a:ln>
            </p:spPr>
            <p:txBody>
              <a:bodyPr vertOverflow="overflow" wrap="none" lIns="0" tIns="0" rIns="0" bIns="0" anchor="t">
                <a:noAutofit/>
              </a:bodyPr>
              <a:lstStyle/>
              <a:p>
                <a:pPr algn="ctr">
                  <a:defRPr lang="en-GB" sz="2775" b="0" i="0" dirty="0">
                    <a:solidFill>
                      <a:srgbClr val="087F83"/>
                    </a:solidFill>
                    <a:latin typeface="Cambria Math"/>
                    <a:ea typeface="Cambria Math"/>
                    <a:cs typeface="Cambria Math"/>
                  </a:defRPr>
                </a:pPr>
                <a14:m>
                  <m:oMathPara xmlns:m="http://schemas.openxmlformats.org/officeDocument/2006/math">
                    <m:oMath>
                      <m:sSup>
                        <m:sSupPr>
                          <m:ctrlPr>
                            <a:rPr lang="it-IT" sz="2200" b="1" i="0" dirty="0" smtClean="0">
                              <a:solidFill>
                                <a:srgbClr val="087F83"/>
                              </a:solidFill>
                              <a:latin typeface="Cambria Math" panose="02040503050406030204" pitchFamily="18" charset="0"/>
                              <a:ea typeface="Cambria Math"/>
                              <a:cs typeface="Cambria Math"/>
                            </a:rPr>
                          </m:ctrlPr>
                        </m:sSupPr>
                        <m:e>
                          <m:r>
                            <a:rPr lang="it-IT" sz="2200" b="1" i="0" dirty="0" smtClean="0">
                              <a:solidFill>
                                <a:srgbClr val="087F83"/>
                              </a:solidFill>
                              <a:latin typeface="Cambria Math" panose="02040503050406030204" pitchFamily="18" charset="0"/>
                              <a:ea typeface="Cambria Math"/>
                              <a:cs typeface="Cambria Math"/>
                            </a:rPr>
                            <m:t>𝛉</m:t>
                          </m:r>
                        </m:e>
                        <m:sup>
                          <m:r>
                            <a:rPr lang="en-GB" sz="2200" b="0" dirty="0">
                              <a:solidFill>
                                <a:srgbClr val="087F83"/>
                              </a:solidFill>
                              <a:latin typeface="Cambria Math"/>
                              <a:ea typeface="Cambria Math"/>
                              <a:cs typeface="Cambria Math"/>
                            </a:rPr>
                            <m:t>∗</m:t>
                          </m:r>
                        </m:sup>
                      </m:sSup>
                      <m:r>
                        <a:rPr lang="en-GB" sz="2200" b="0" dirty="0">
                          <a:solidFill>
                            <a:srgbClr val="087F83"/>
                          </a:solidFill>
                          <a:latin typeface="Cambria Math"/>
                          <a:ea typeface="Cambria Math"/>
                          <a:cs typeface="Cambria Math"/>
                        </a:rPr>
                        <m:t>=</m:t>
                      </m:r>
                      <m:sSup>
                        <m:sSupPr>
                          <m:ctrlPr>
                            <a:rPr lang="it-IT" sz="2200" i="1" dirty="0">
                              <a:solidFill>
                                <a:srgbClr val="087F83"/>
                              </a:solidFill>
                              <a:latin typeface="Cambria Math" panose="02040503050406030204" pitchFamily="18" charset="0"/>
                              <a:ea typeface="Cambria Math"/>
                            </a:rPr>
                          </m:ctrlPr>
                        </m:sSupPr>
                        <m:e>
                          <m:d>
                            <m:dPr>
                              <m:ctrlPr>
                                <a:rPr lang="it-IT" sz="2200" i="1" dirty="0">
                                  <a:solidFill>
                                    <a:srgbClr val="087F83"/>
                                  </a:solidFill>
                                  <a:latin typeface="Cambria Math" panose="02040503050406030204" pitchFamily="18" charset="0"/>
                                  <a:ea typeface="Cambria Math"/>
                                </a:rPr>
                              </m:ctrlPr>
                            </m:dPr>
                            <m:e>
                              <m:r>
                                <a:rPr lang="it-IT" sz="2200" i="1" dirty="0">
                                  <a:solidFill>
                                    <a:srgbClr val="087F83"/>
                                  </a:solidFill>
                                  <a:latin typeface="Cambria Math" panose="02040503050406030204" pitchFamily="18" charset="0"/>
                                  <a:ea typeface="Cambria Math"/>
                                </a:rPr>
                                <m:t>1,2,</m:t>
                              </m:r>
                              <m:r>
                                <a:rPr lang="it-IT" sz="2200" b="0" i="1" dirty="0" smtClean="0">
                                  <a:solidFill>
                                    <a:srgbClr val="087F83"/>
                                  </a:solidFill>
                                  <a:latin typeface="Cambria Math" panose="02040503050406030204" pitchFamily="18" charset="0"/>
                                  <a:ea typeface="Cambria Math"/>
                                </a:rPr>
                                <m:t>0.5</m:t>
                              </m:r>
                            </m:e>
                          </m:d>
                        </m:e>
                        <m:sup>
                          <m:r>
                            <a:rPr lang="it-IT" sz="2200" b="0" i="1" dirty="0" smtClean="0">
                              <a:solidFill>
                                <a:srgbClr val="087F83"/>
                              </a:solidFill>
                              <a:latin typeface="Cambria Math" panose="02040503050406030204" pitchFamily="18" charset="0"/>
                              <a:ea typeface="Cambria Math"/>
                            </a:rPr>
                            <m:t>⊤</m:t>
                          </m:r>
                        </m:sup>
                      </m:sSup>
                    </m:oMath>
                  </m:oMathPara>
                </a14:m>
                <a:endParaRPr lang="en-GB" sz="2200" b="0" i="0" dirty="0">
                  <a:solidFill>
                    <a:srgbClr val="087F83"/>
                  </a:solidFill>
                  <a:latin typeface="Cambria Math"/>
                  <a:ea typeface="Cambria Math"/>
                  <a:cs typeface="Cambria Math"/>
                </a:endParaRPr>
              </a:p>
            </p:txBody>
          </p:sp>
        </mc:Choice>
        <mc:Fallback xmlns="">
          <p:sp>
            <p:nvSpPr>
              <p:cNvPr id="5" name="eq_127">
                <a:extLst>
                  <a:ext uri="{FF2B5EF4-FFF2-40B4-BE49-F238E27FC236}">
                    <a16:creationId xmlns:a16="http://schemas.microsoft.com/office/drawing/2014/main" id="{008C4093-37FE-4DBA-9C7F-1015FF64F0DD}"/>
                  </a:ext>
                </a:extLst>
              </p:cNvPr>
              <p:cNvSpPr txBox="1">
                <a:spLocks noGrp="1" noRot="1" noChangeAspect="1" noMove="1" noResize="1" noEditPoints="1" noAdjustHandles="1" noChangeArrowheads="1" noChangeShapeType="1" noTextEdit="1"/>
              </p:cNvSpPr>
              <p:nvPr/>
            </p:nvSpPr>
            <p:spPr>
              <a:xfrm>
                <a:off x="7400925" y="3526468"/>
                <a:ext cx="4238625" cy="580068"/>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_128">
                <a:extLst>
                  <a:ext uri="{FF2B5EF4-FFF2-40B4-BE49-F238E27FC236}">
                    <a16:creationId xmlns:a16="http://schemas.microsoft.com/office/drawing/2014/main" id="{1A0A53FA-55C0-4D53-9171-80F45CF05133}"/>
                  </a:ext>
                </a:extLst>
              </p:cNvPr>
              <p:cNvSpPr txBox="1">
                <a:spLocks noGrp="1"/>
              </p:cNvSpPr>
              <p:nvPr/>
            </p:nvSpPr>
            <p:spPr>
              <a:xfrm>
                <a:off x="7229476" y="4280535"/>
                <a:ext cx="4333874" cy="2048256"/>
              </a:xfrm>
              <a:prstGeom prst="rect">
                <a:avLst/>
              </a:prstGeom>
              <a:noFill/>
              <a:ln w="0">
                <a:noFill/>
              </a:ln>
            </p:spPr>
            <p:txBody>
              <a:bodyPr vertOverflow="overflow" wrap="none" lIns="0" tIns="0" rIns="0" bIns="0" anchor="t">
                <a:noAutofit/>
              </a:bodyPr>
              <a:lstStyle/>
              <a:p>
                <a:pPr algn="ctr">
                  <a:defRPr lang="en-GB" sz="2325" b="0" i="0" dirty="0">
                    <a:solidFill>
                      <a:srgbClr val="182D45"/>
                    </a:solidFill>
                    <a:latin typeface="Cambria Math"/>
                    <a:ea typeface="Cambria Math"/>
                    <a:cs typeface="Cambria Math"/>
                  </a:defRPr>
                </a:pPr>
                <a14:m>
                  <m:oMathPara xmlns:m="http://schemas.openxmlformats.org/officeDocument/2006/math">
                    <m:oMath>
                      <m:sSubSup>
                        <m:sSubSupPr>
                          <m:ctrlPr>
                            <a:rPr lang="en-GB" sz="2000" b="0" dirty="0">
                              <a:solidFill>
                                <a:srgbClr val="182D45"/>
                              </a:solidFill>
                              <a:latin typeface="Cambria Math"/>
                              <a:ea typeface="Cambria Math"/>
                              <a:cs typeface="Cambria Math"/>
                            </a:rPr>
                          </m:ctrlPr>
                        </m:sSubSupPr>
                        <m:e>
                          <m:r>
                            <a:rPr lang="en-GB" sz="2000" b="0" dirty="0">
                              <a:solidFill>
                                <a:srgbClr val="182D45"/>
                              </a:solidFill>
                              <a:latin typeface="Cambria Math"/>
                              <a:ea typeface="Cambria Math"/>
                              <a:cs typeface="Cambria Math"/>
                            </a:rPr>
                            <m:t>ℒ</m:t>
                          </m:r>
                        </m:e>
                        <m:sub>
                          <m:r>
                            <m:rPr>
                              <m:sty m:val="p"/>
                            </m:rPr>
                            <a:rPr lang="en-GB" sz="2000" b="0" dirty="0">
                              <a:solidFill>
                                <a:srgbClr val="182D45"/>
                              </a:solidFill>
                              <a:latin typeface="Cambria Math"/>
                              <a:ea typeface="Cambria Math"/>
                              <a:cs typeface="Cambria Math"/>
                            </a:rPr>
                            <m:t>sq</m:t>
                          </m:r>
                        </m:sub>
                        <m:sup>
                          <m:r>
                            <m:rPr>
                              <m:sty m:val="p"/>
                            </m:rPr>
                            <a:rPr lang="it-IT" sz="2000" b="0" i="0" dirty="0" smtClean="0">
                              <a:solidFill>
                                <a:srgbClr val="182D45"/>
                              </a:solidFill>
                              <a:latin typeface="Cambria Math" panose="02040503050406030204" pitchFamily="18" charset="0"/>
                              <a:ea typeface="Cambria Math"/>
                              <a:cs typeface="Cambria Math"/>
                            </a:rPr>
                            <m:t>quad</m:t>
                          </m:r>
                        </m:sup>
                      </m:sSubSup>
                      <m:d>
                        <m:dPr>
                          <m:ctrlPr>
                            <a:rPr lang="it-IT" sz="2000" b="1" i="1" dirty="0" smtClean="0">
                              <a:solidFill>
                                <a:srgbClr val="182D45"/>
                              </a:solidFill>
                              <a:latin typeface="Cambria Math" panose="02040503050406030204" pitchFamily="18" charset="0"/>
                              <a:ea typeface="Cambria Math"/>
                              <a:cs typeface="Cambria Math"/>
                            </a:rPr>
                          </m:ctrlPr>
                        </m:dPr>
                        <m:e>
                          <m:sSup>
                            <m:sSupPr>
                              <m:ctrlPr>
                                <a:rPr lang="it-IT" sz="2000" b="1" i="0" dirty="0" smtClean="0">
                                  <a:solidFill>
                                    <a:srgbClr val="182D45"/>
                                  </a:solidFill>
                                  <a:latin typeface="Cambria Math" panose="02040503050406030204" pitchFamily="18" charset="0"/>
                                  <a:ea typeface="Cambria Math"/>
                                  <a:cs typeface="Cambria Math"/>
                                </a:rPr>
                              </m:ctrlPr>
                            </m:sSupPr>
                            <m:e>
                              <m:r>
                                <a:rPr lang="it-IT" sz="2000" b="1" i="0" dirty="0" smtClean="0">
                                  <a:solidFill>
                                    <a:srgbClr val="182D45"/>
                                  </a:solidFill>
                                  <a:latin typeface="Cambria Math" panose="02040503050406030204" pitchFamily="18" charset="0"/>
                                  <a:ea typeface="Cambria Math"/>
                                  <a:cs typeface="Cambria Math"/>
                                </a:rPr>
                                <m:t>𝛉</m:t>
                              </m:r>
                            </m:e>
                            <m:sup>
                              <m:r>
                                <a:rPr lang="en-GB" sz="2000" b="0" dirty="0">
                                  <a:solidFill>
                                    <a:srgbClr val="182D45"/>
                                  </a:solidFill>
                                  <a:latin typeface="Cambria Math"/>
                                  <a:ea typeface="Cambria Math"/>
                                  <a:cs typeface="Cambria Math"/>
                                </a:rPr>
                                <m:t>∗</m:t>
                              </m:r>
                            </m:sup>
                          </m:sSup>
                        </m:e>
                      </m:d>
                      <m:r>
                        <a:rPr lang="it-IT" sz="2000" b="0" i="1" dirty="0" smtClean="0">
                          <a:solidFill>
                            <a:srgbClr val="182D45"/>
                          </a:solidFill>
                          <a:latin typeface="Cambria Math" panose="02040503050406030204" pitchFamily="18" charset="0"/>
                          <a:ea typeface="Cambria Math"/>
                          <a:cs typeface="Cambria Math"/>
                        </a:rPr>
                        <m:t>=</m:t>
                      </m:r>
                      <m:nary>
                        <m:naryPr>
                          <m:chr m:val="∑"/>
                          <m:limLoc m:val="undOvr"/>
                          <m:ctrlPr>
                            <a:rPr lang="en-GB" sz="2000" dirty="0">
                              <a:solidFill>
                                <a:srgbClr val="182D45"/>
                              </a:solidFill>
                              <a:latin typeface="Cambria Math"/>
                              <a:ea typeface="Cambria Math"/>
                              <a:cs typeface="Cambria Math"/>
                            </a:rPr>
                          </m:ctrlPr>
                        </m:naryPr>
                        <m:sub>
                          <m:r>
                            <a:rPr lang="en-GB" sz="2000" dirty="0">
                              <a:solidFill>
                                <a:srgbClr val="182D45"/>
                              </a:solidFill>
                              <a:latin typeface="Cambria Math"/>
                              <a:ea typeface="Cambria Math"/>
                              <a:cs typeface="Cambria Math"/>
                            </a:rPr>
                            <m:t>𝑖</m:t>
                          </m:r>
                          <m:r>
                            <a:rPr lang="en-GB" sz="2000" dirty="0">
                              <a:solidFill>
                                <a:srgbClr val="182D45"/>
                              </a:solidFill>
                              <a:latin typeface="Cambria Math"/>
                              <a:ea typeface="Cambria Math"/>
                              <a:cs typeface="Cambria Math"/>
                            </a:rPr>
                            <m:t>=1</m:t>
                          </m:r>
                        </m:sub>
                        <m:sup>
                          <m:r>
                            <a:rPr lang="en-GB" sz="2000" dirty="0">
                              <a:solidFill>
                                <a:srgbClr val="182D45"/>
                              </a:solidFill>
                              <a:latin typeface="Cambria Math"/>
                              <a:ea typeface="Cambria Math"/>
                              <a:cs typeface="Cambria Math"/>
                            </a:rPr>
                            <m:t>𝑁</m:t>
                          </m:r>
                        </m:sup>
                        <m:e>
                          <m:sSub>
                            <m:sSubPr>
                              <m:ctrlPr>
                                <a:rPr lang="it-IT" sz="2000" i="1" dirty="0">
                                  <a:solidFill>
                                    <a:srgbClr val="182D45"/>
                                  </a:solidFill>
                                  <a:latin typeface="Cambria Math" panose="02040503050406030204" pitchFamily="18" charset="0"/>
                                  <a:ea typeface="Cambria Math"/>
                                  <a:cs typeface="Cambria Math"/>
                                </a:rPr>
                              </m:ctrlPr>
                            </m:sSubPr>
                            <m:e>
                              <m:r>
                                <m:rPr>
                                  <m:sty m:val="p"/>
                                </m:rPr>
                                <a:rPr lang="it-IT" sz="2000" i="1" dirty="0">
                                  <a:solidFill>
                                    <a:srgbClr val="182D45"/>
                                  </a:solidFill>
                                  <a:latin typeface="Cambria Math" panose="02040503050406030204" pitchFamily="18" charset="0"/>
                                  <a:ea typeface="Cambria Math"/>
                                  <a:cs typeface="Cambria Math"/>
                                </a:rPr>
                                <m:t>ℓ</m:t>
                              </m:r>
                            </m:e>
                            <m:sub>
                              <m:r>
                                <m:rPr>
                                  <m:sty m:val="p"/>
                                </m:rPr>
                                <a:rPr lang="it-IT" sz="2000" dirty="0">
                                  <a:solidFill>
                                    <a:srgbClr val="182D45"/>
                                  </a:solidFill>
                                  <a:latin typeface="Cambria Math" panose="02040503050406030204" pitchFamily="18" charset="0"/>
                                  <a:ea typeface="Cambria Math"/>
                                  <a:cs typeface="Cambria Math"/>
                                </a:rPr>
                                <m:t>sq</m:t>
                              </m:r>
                            </m:sub>
                          </m:sSub>
                          <m:d>
                            <m:dPr>
                              <m:ctrlPr>
                                <a:rPr lang="it-IT" sz="2000" i="1" dirty="0">
                                  <a:solidFill>
                                    <a:srgbClr val="182D45"/>
                                  </a:solidFill>
                                  <a:latin typeface="Cambria Math" panose="02040503050406030204" pitchFamily="18" charset="0"/>
                                  <a:ea typeface="Cambria Math"/>
                                  <a:cs typeface="Cambria Math"/>
                                </a:rPr>
                              </m:ctrlPr>
                            </m:dPr>
                            <m:e>
                              <m:sSub>
                                <m:sSubPr>
                                  <m:ctrlPr>
                                    <a:rPr lang="it-IT" sz="2000" i="1" dirty="0">
                                      <a:solidFill>
                                        <a:srgbClr val="182D45"/>
                                      </a:solidFill>
                                      <a:latin typeface="Cambria Math" panose="02040503050406030204" pitchFamily="18" charset="0"/>
                                      <a:ea typeface="Cambria Math"/>
                                      <a:cs typeface="Cambria Math"/>
                                    </a:rPr>
                                  </m:ctrlPr>
                                </m:sSubPr>
                                <m:e>
                                  <m:r>
                                    <a:rPr lang="it-IT" sz="2000" i="1" dirty="0">
                                      <a:solidFill>
                                        <a:srgbClr val="182D45"/>
                                      </a:solidFill>
                                      <a:latin typeface="Cambria Math" panose="02040503050406030204" pitchFamily="18" charset="0"/>
                                      <a:ea typeface="Cambria Math"/>
                                      <a:cs typeface="Cambria Math"/>
                                    </a:rPr>
                                    <m:t>𝑓</m:t>
                                  </m:r>
                                </m:e>
                                <m:sub>
                                  <m:sSup>
                                    <m:sSupPr>
                                      <m:ctrlPr>
                                        <a:rPr lang="it-IT" sz="2000" b="1" dirty="0">
                                          <a:solidFill>
                                            <a:srgbClr val="182D45"/>
                                          </a:solidFill>
                                          <a:latin typeface="Cambria Math" panose="02040503050406030204" pitchFamily="18" charset="0"/>
                                          <a:ea typeface="Cambria Math"/>
                                          <a:cs typeface="Cambria Math"/>
                                        </a:rPr>
                                      </m:ctrlPr>
                                    </m:sSupPr>
                                    <m:e>
                                      <m:r>
                                        <a:rPr lang="it-IT" sz="2000" b="1" dirty="0">
                                          <a:solidFill>
                                            <a:srgbClr val="182D45"/>
                                          </a:solidFill>
                                          <a:latin typeface="Cambria Math" panose="02040503050406030204" pitchFamily="18" charset="0"/>
                                          <a:ea typeface="Cambria Math"/>
                                          <a:cs typeface="Cambria Math"/>
                                        </a:rPr>
                                        <m:t>𝛉</m:t>
                                      </m:r>
                                    </m:e>
                                    <m:sup>
                                      <m:r>
                                        <a:rPr lang="en-GB" sz="2000" dirty="0">
                                          <a:solidFill>
                                            <a:srgbClr val="182D45"/>
                                          </a:solidFill>
                                          <a:latin typeface="Cambria Math"/>
                                          <a:ea typeface="Cambria Math"/>
                                          <a:cs typeface="Cambria Math"/>
                                        </a:rPr>
                                        <m:t>∗</m:t>
                                      </m:r>
                                    </m:sup>
                                  </m:sSup>
                                </m:sub>
                              </m:sSub>
                              <m:d>
                                <m:dPr>
                                  <m:ctrlPr>
                                    <a:rPr lang="it-IT" sz="2000" i="1" dirty="0">
                                      <a:solidFill>
                                        <a:srgbClr val="182D45"/>
                                      </a:solidFill>
                                      <a:latin typeface="Cambria Math" panose="02040503050406030204" pitchFamily="18" charset="0"/>
                                      <a:ea typeface="Cambria Math"/>
                                      <a:cs typeface="Cambria Math"/>
                                    </a:rPr>
                                  </m:ctrlPr>
                                </m:dPr>
                                <m:e>
                                  <m:sSub>
                                    <m:sSubPr>
                                      <m:ctrlPr>
                                        <a:rPr lang="it-IT" sz="2000" i="1" dirty="0">
                                          <a:solidFill>
                                            <a:srgbClr val="182D45"/>
                                          </a:solidFill>
                                          <a:latin typeface="Cambria Math" panose="02040503050406030204" pitchFamily="18" charset="0"/>
                                          <a:ea typeface="Cambria Math"/>
                                          <a:cs typeface="Cambria Math"/>
                                        </a:rPr>
                                      </m:ctrlPr>
                                    </m:sSubPr>
                                    <m:e>
                                      <m:r>
                                        <a:rPr lang="it-IT" sz="2000" i="1" dirty="0">
                                          <a:solidFill>
                                            <a:srgbClr val="182D45"/>
                                          </a:solidFill>
                                          <a:latin typeface="Cambria Math" panose="02040503050406030204" pitchFamily="18" charset="0"/>
                                          <a:ea typeface="Cambria Math"/>
                                          <a:cs typeface="Cambria Math"/>
                                        </a:rPr>
                                        <m:t>𝑥</m:t>
                                      </m:r>
                                    </m:e>
                                    <m:sub>
                                      <m:r>
                                        <a:rPr lang="it-IT" sz="2000" i="1" dirty="0">
                                          <a:solidFill>
                                            <a:srgbClr val="182D45"/>
                                          </a:solidFill>
                                          <a:latin typeface="Cambria Math" panose="02040503050406030204" pitchFamily="18" charset="0"/>
                                          <a:ea typeface="Cambria Math"/>
                                          <a:cs typeface="Cambria Math"/>
                                        </a:rPr>
                                        <m:t>𝑖</m:t>
                                      </m:r>
                                    </m:sub>
                                  </m:sSub>
                                </m:e>
                              </m:d>
                              <m:r>
                                <a:rPr lang="it-IT" sz="2000" i="1" dirty="0">
                                  <a:solidFill>
                                    <a:srgbClr val="182D45"/>
                                  </a:solidFill>
                                  <a:latin typeface="Cambria Math" panose="02040503050406030204" pitchFamily="18" charset="0"/>
                                  <a:ea typeface="Cambria Math"/>
                                  <a:cs typeface="Cambria Math"/>
                                </a:rPr>
                                <m:t>,</m:t>
                              </m:r>
                              <m:sSub>
                                <m:sSubPr>
                                  <m:ctrlPr>
                                    <a:rPr lang="it-IT" sz="2000" i="1" dirty="0">
                                      <a:solidFill>
                                        <a:srgbClr val="182D45"/>
                                      </a:solidFill>
                                      <a:latin typeface="Cambria Math" panose="02040503050406030204" pitchFamily="18" charset="0"/>
                                      <a:ea typeface="Cambria Math"/>
                                      <a:cs typeface="Cambria Math"/>
                                    </a:rPr>
                                  </m:ctrlPr>
                                </m:sSubPr>
                                <m:e>
                                  <m:r>
                                    <a:rPr lang="it-IT" sz="2000" i="1" dirty="0">
                                      <a:solidFill>
                                        <a:srgbClr val="182D45"/>
                                      </a:solidFill>
                                      <a:latin typeface="Cambria Math" panose="02040503050406030204" pitchFamily="18" charset="0"/>
                                      <a:ea typeface="Cambria Math"/>
                                      <a:cs typeface="Cambria Math"/>
                                    </a:rPr>
                                    <m:t>𝑦</m:t>
                                  </m:r>
                                </m:e>
                                <m:sub>
                                  <m:r>
                                    <a:rPr lang="it-IT" sz="2000" i="1" dirty="0">
                                      <a:solidFill>
                                        <a:srgbClr val="182D45"/>
                                      </a:solidFill>
                                      <a:latin typeface="Cambria Math" panose="02040503050406030204" pitchFamily="18" charset="0"/>
                                      <a:ea typeface="Cambria Math"/>
                                      <a:cs typeface="Cambria Math"/>
                                    </a:rPr>
                                    <m:t>𝑖</m:t>
                                  </m:r>
                                </m:sub>
                              </m:sSub>
                            </m:e>
                          </m:d>
                        </m:e>
                      </m:nary>
                    </m:oMath>
                  </m:oMathPara>
                </a14:m>
                <a:endParaRPr lang="it-IT" sz="2000" i="1" dirty="0">
                  <a:solidFill>
                    <a:srgbClr val="182D45"/>
                  </a:solidFill>
                  <a:latin typeface="Cambria Math" panose="02040503050406030204" pitchFamily="18" charset="0"/>
                  <a:ea typeface="Cambria Math"/>
                  <a:cs typeface="Cambria Math"/>
                </a:endParaRPr>
              </a:p>
              <a:p>
                <a:pPr algn="ctr">
                  <a:defRPr lang="en-GB" sz="2325" b="0" i="0" dirty="0">
                    <a:solidFill>
                      <a:srgbClr val="182D45"/>
                    </a:solidFill>
                    <a:latin typeface="Cambria Math"/>
                    <a:ea typeface="Cambria Math"/>
                    <a:cs typeface="Cambria Math"/>
                  </a:defRPr>
                </a:pPr>
                <a14:m>
                  <m:oMathPara xmlns:m="http://schemas.openxmlformats.org/officeDocument/2006/math">
                    <m:oMath>
                      <m:r>
                        <a:rPr lang="it-IT" sz="2000" b="0" i="1" dirty="0" smtClean="0">
                          <a:solidFill>
                            <a:srgbClr val="182D45"/>
                          </a:solidFill>
                          <a:latin typeface="Cambria Math" panose="02040503050406030204" pitchFamily="18" charset="0"/>
                          <a:ea typeface="Cambria Math"/>
                          <a:cs typeface="Cambria Math"/>
                        </a:rPr>
                        <m:t>                              =</m:t>
                      </m:r>
                      <m:nary>
                        <m:naryPr>
                          <m:chr m:val="∑"/>
                          <m:limLoc m:val="undOvr"/>
                          <m:ctrlPr>
                            <a:rPr lang="en-GB" sz="2000" dirty="0">
                              <a:solidFill>
                                <a:srgbClr val="182D45"/>
                              </a:solidFill>
                              <a:latin typeface="Cambria Math"/>
                              <a:ea typeface="Cambria Math"/>
                              <a:cs typeface="Cambria Math"/>
                            </a:rPr>
                          </m:ctrlPr>
                        </m:naryPr>
                        <m:sub>
                          <m:r>
                            <a:rPr lang="en-GB" sz="2000" dirty="0">
                              <a:solidFill>
                                <a:srgbClr val="182D45"/>
                              </a:solidFill>
                              <a:latin typeface="Cambria Math"/>
                              <a:ea typeface="Cambria Math"/>
                              <a:cs typeface="Cambria Math"/>
                            </a:rPr>
                            <m:t>𝑖</m:t>
                          </m:r>
                          <m:r>
                            <a:rPr lang="en-GB" sz="2000" dirty="0">
                              <a:solidFill>
                                <a:srgbClr val="182D45"/>
                              </a:solidFill>
                              <a:latin typeface="Cambria Math"/>
                              <a:ea typeface="Cambria Math"/>
                              <a:cs typeface="Cambria Math"/>
                            </a:rPr>
                            <m:t>=1</m:t>
                          </m:r>
                        </m:sub>
                        <m:sup>
                          <m:r>
                            <a:rPr lang="en-GB" sz="2000" dirty="0">
                              <a:solidFill>
                                <a:srgbClr val="182D45"/>
                              </a:solidFill>
                              <a:latin typeface="Cambria Math"/>
                              <a:ea typeface="Cambria Math"/>
                              <a:cs typeface="Cambria Math"/>
                            </a:rPr>
                            <m:t>𝑁</m:t>
                          </m:r>
                        </m:sup>
                        <m:e>
                          <m:sSup>
                            <m:sSupPr>
                              <m:ctrlPr>
                                <a:rPr lang="en-GB" sz="2000" i="1" dirty="0">
                                  <a:solidFill>
                                    <a:srgbClr val="182D45"/>
                                  </a:solidFill>
                                  <a:latin typeface="Cambria Math" panose="02040503050406030204" pitchFamily="18" charset="0"/>
                                  <a:ea typeface="Cambria Math"/>
                                  <a:cs typeface="Cambria Math"/>
                                </a:rPr>
                              </m:ctrlPr>
                            </m:sSupPr>
                            <m:e>
                              <m:d>
                                <m:dPr>
                                  <m:ctrlPr>
                                    <a:rPr lang="en-GB" sz="2000" dirty="0">
                                      <a:solidFill>
                                        <a:srgbClr val="182D45"/>
                                      </a:solidFill>
                                      <a:latin typeface="Cambria Math"/>
                                      <a:ea typeface="Cambria Math"/>
                                      <a:cs typeface="Cambria Math"/>
                                    </a:rPr>
                                  </m:ctrlPr>
                                </m:dPr>
                                <m:e>
                                  <m:r>
                                    <a:rPr lang="en-GB" sz="2000" dirty="0">
                                      <a:solidFill>
                                        <a:srgbClr val="182D45"/>
                                      </a:solidFill>
                                      <a:latin typeface="Cambria Math"/>
                                      <a:ea typeface="Cambria Math"/>
                                      <a:cs typeface="Cambria Math"/>
                                    </a:rPr>
                                    <m:t>𝛟</m:t>
                                  </m:r>
                                  <m:d>
                                    <m:dPr>
                                      <m:ctrlPr>
                                        <a:rPr lang="en-GB" sz="2000" i="1" dirty="0">
                                          <a:solidFill>
                                            <a:srgbClr val="182D45"/>
                                          </a:solidFill>
                                          <a:latin typeface="Cambria Math" panose="02040503050406030204" pitchFamily="18" charset="0"/>
                                          <a:ea typeface="Cambria Math"/>
                                          <a:cs typeface="Cambria Math"/>
                                        </a:rPr>
                                      </m:ctrlPr>
                                    </m:dPr>
                                    <m:e>
                                      <m:sSub>
                                        <m:sSubPr>
                                          <m:ctrlPr>
                                            <a:rPr lang="en-GB" sz="2000" dirty="0">
                                              <a:solidFill>
                                                <a:srgbClr val="182D45"/>
                                              </a:solidFill>
                                              <a:latin typeface="Cambria Math"/>
                                              <a:ea typeface="Cambria Math"/>
                                              <a:cs typeface="Cambria Math"/>
                                            </a:rPr>
                                          </m:ctrlPr>
                                        </m:sSubPr>
                                        <m:e>
                                          <m:r>
                                            <a:rPr lang="en-GB" sz="2000" dirty="0">
                                              <a:solidFill>
                                                <a:srgbClr val="182D45"/>
                                              </a:solidFill>
                                              <a:latin typeface="Cambria Math"/>
                                              <a:ea typeface="Cambria Math"/>
                                              <a:cs typeface="Cambria Math"/>
                                            </a:rPr>
                                            <m:t>𝑥</m:t>
                                          </m:r>
                                        </m:e>
                                        <m:sub>
                                          <m:r>
                                            <m:rPr>
                                              <m:sty m:val="p"/>
                                            </m:rPr>
                                            <a:rPr lang="it-IT" sz="2000" b="0" i="0" dirty="0" smtClean="0">
                                              <a:solidFill>
                                                <a:srgbClr val="182D45"/>
                                              </a:solidFill>
                                              <a:latin typeface="Cambria Math" panose="02040503050406030204" pitchFamily="18" charset="0"/>
                                              <a:ea typeface="Cambria Math"/>
                                              <a:cs typeface="Cambria Math"/>
                                            </a:rPr>
                                            <m:t>i</m:t>
                                          </m:r>
                                        </m:sub>
                                      </m:sSub>
                                    </m:e>
                                  </m:d>
                                  <m:sSup>
                                    <m:sSupPr>
                                      <m:ctrlPr>
                                        <a:rPr lang="it-IT" sz="2000" b="1" dirty="0">
                                          <a:solidFill>
                                            <a:srgbClr val="182D45"/>
                                          </a:solidFill>
                                          <a:latin typeface="Cambria Math" panose="02040503050406030204" pitchFamily="18" charset="0"/>
                                          <a:ea typeface="Cambria Math"/>
                                          <a:cs typeface="Cambria Math"/>
                                        </a:rPr>
                                      </m:ctrlPr>
                                    </m:sSupPr>
                                    <m:e>
                                      <m:r>
                                        <a:rPr lang="it-IT" sz="2000" b="1" dirty="0">
                                          <a:solidFill>
                                            <a:srgbClr val="182D45"/>
                                          </a:solidFill>
                                          <a:latin typeface="Cambria Math" panose="02040503050406030204" pitchFamily="18" charset="0"/>
                                          <a:ea typeface="Cambria Math"/>
                                          <a:cs typeface="Cambria Math"/>
                                        </a:rPr>
                                        <m:t>𝛉</m:t>
                                      </m:r>
                                    </m:e>
                                    <m:sup>
                                      <m:r>
                                        <a:rPr lang="en-GB" sz="2000" dirty="0">
                                          <a:solidFill>
                                            <a:srgbClr val="182D45"/>
                                          </a:solidFill>
                                          <a:latin typeface="Cambria Math"/>
                                          <a:ea typeface="Cambria Math"/>
                                          <a:cs typeface="Cambria Math"/>
                                        </a:rPr>
                                        <m:t>∗</m:t>
                                      </m:r>
                                    </m:sup>
                                  </m:sSup>
                                  <m:r>
                                    <a:rPr lang="it-IT" sz="2000" i="1" dirty="0">
                                      <a:solidFill>
                                        <a:srgbClr val="182D45"/>
                                      </a:solidFill>
                                      <a:latin typeface="Cambria Math" panose="02040503050406030204" pitchFamily="18" charset="0"/>
                                      <a:ea typeface="Cambria Math"/>
                                      <a:cs typeface="Cambria Math"/>
                                    </a:rPr>
                                    <m:t>−</m:t>
                                  </m:r>
                                  <m:sSub>
                                    <m:sSubPr>
                                      <m:ctrlPr>
                                        <a:rPr lang="it-IT" sz="2000" i="1" dirty="0">
                                          <a:solidFill>
                                            <a:srgbClr val="182D45"/>
                                          </a:solidFill>
                                          <a:latin typeface="Cambria Math" panose="02040503050406030204" pitchFamily="18" charset="0"/>
                                          <a:ea typeface="Cambria Math"/>
                                          <a:cs typeface="Cambria Math"/>
                                        </a:rPr>
                                      </m:ctrlPr>
                                    </m:sSubPr>
                                    <m:e>
                                      <m:r>
                                        <a:rPr lang="it-IT" sz="2000" i="1" dirty="0">
                                          <a:solidFill>
                                            <a:srgbClr val="182D45"/>
                                          </a:solidFill>
                                          <a:latin typeface="Cambria Math" panose="02040503050406030204" pitchFamily="18" charset="0"/>
                                          <a:ea typeface="Cambria Math"/>
                                          <a:cs typeface="Cambria Math"/>
                                        </a:rPr>
                                        <m:t>𝑦</m:t>
                                      </m:r>
                                    </m:e>
                                    <m:sub>
                                      <m:r>
                                        <a:rPr lang="it-IT" sz="2000" i="1" dirty="0">
                                          <a:solidFill>
                                            <a:srgbClr val="182D45"/>
                                          </a:solidFill>
                                          <a:latin typeface="Cambria Math" panose="02040503050406030204" pitchFamily="18" charset="0"/>
                                          <a:ea typeface="Cambria Math"/>
                                          <a:cs typeface="Cambria Math"/>
                                        </a:rPr>
                                        <m:t>𝑖</m:t>
                                      </m:r>
                                    </m:sub>
                                  </m:sSub>
                                </m:e>
                              </m:d>
                            </m:e>
                            <m:sup>
                              <m:r>
                                <a:rPr lang="it-IT" sz="2000" b="0" i="1" dirty="0" smtClean="0">
                                  <a:solidFill>
                                    <a:srgbClr val="182D45"/>
                                  </a:solidFill>
                                  <a:latin typeface="Cambria Math" panose="02040503050406030204" pitchFamily="18" charset="0"/>
                                  <a:ea typeface="Cambria Math"/>
                                </a:rPr>
                                <m:t>2</m:t>
                              </m:r>
                            </m:sup>
                          </m:sSup>
                        </m:e>
                      </m:nary>
                      <m:r>
                        <a:rPr lang="en-GB" sz="2000" b="0" dirty="0">
                          <a:solidFill>
                            <a:srgbClr val="182D45"/>
                          </a:solidFill>
                          <a:latin typeface="Cambria Math"/>
                          <a:ea typeface="Cambria Math"/>
                          <a:cs typeface="Cambria Math"/>
                        </a:rPr>
                        <m:t>=2.5</m:t>
                      </m:r>
                    </m:oMath>
                  </m:oMathPara>
                </a14:m>
                <a:endParaRPr lang="en-GB" sz="2000" b="0" i="0" dirty="0">
                  <a:solidFill>
                    <a:srgbClr val="182D45"/>
                  </a:solidFill>
                  <a:latin typeface="Cambria Math"/>
                  <a:ea typeface="Cambria Math"/>
                  <a:cs typeface="Cambria Math"/>
                </a:endParaRPr>
              </a:p>
            </p:txBody>
          </p:sp>
        </mc:Choice>
        <mc:Fallback xmlns="">
          <p:sp>
            <p:nvSpPr>
              <p:cNvPr id="6" name="eq_128">
                <a:extLst>
                  <a:ext uri="{FF2B5EF4-FFF2-40B4-BE49-F238E27FC236}">
                    <a16:creationId xmlns:a16="http://schemas.microsoft.com/office/drawing/2014/main" id="{1A0A53FA-55C0-4D53-9171-80F45CF05133}"/>
                  </a:ext>
                </a:extLst>
              </p:cNvPr>
              <p:cNvSpPr txBox="1">
                <a:spLocks noGrp="1" noRot="1" noChangeAspect="1" noMove="1" noResize="1" noEditPoints="1" noAdjustHandles="1" noChangeArrowheads="1" noChangeShapeType="1" noTextEdit="1"/>
              </p:cNvSpPr>
              <p:nvPr/>
            </p:nvSpPr>
            <p:spPr>
              <a:xfrm>
                <a:off x="7229476" y="4280535"/>
                <a:ext cx="4333874" cy="2048256"/>
              </a:xfrm>
              <a:prstGeom prst="rect">
                <a:avLst/>
              </a:prstGeom>
              <a:blipFill>
                <a:blip r:embed="rId6"/>
                <a:stretch>
                  <a:fillRect r="-267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graphicFrame>
            <p:nvGraphicFramePr>
              <p:cNvPr id="3" name="Tabella 2">
                <a:extLst>
                  <a:ext uri="{FF2B5EF4-FFF2-40B4-BE49-F238E27FC236}">
                    <a16:creationId xmlns:a16="http://schemas.microsoft.com/office/drawing/2014/main" id="{70700EF5-6856-DAD0-6731-5B6618BE3987}"/>
                  </a:ext>
                </a:extLst>
              </p:cNvPr>
              <p:cNvGraphicFramePr>
                <a:graphicFrameLocks noGrp="1"/>
              </p:cNvGraphicFramePr>
              <p:nvPr>
                <p:extLst>
                  <p:ext uri="{D42A27DB-BD31-4B8C-83A1-F6EECF244321}">
                    <p14:modId xmlns:p14="http://schemas.microsoft.com/office/powerpoint/2010/main" val="1877882820"/>
                  </p:ext>
                </p:extLst>
              </p:nvPr>
            </p:nvGraphicFramePr>
            <p:xfrm>
              <a:off x="1862901" y="1018596"/>
              <a:ext cx="7562086" cy="1513056"/>
            </p:xfrm>
            <a:graphic>
              <a:graphicData uri="http://schemas.openxmlformats.org/drawingml/2006/table">
                <a:tbl>
                  <a:tblPr/>
                  <a:tblGrid>
                    <a:gridCol w="1732286">
                      <a:extLst>
                        <a:ext uri="{9D8B030D-6E8A-4147-A177-3AD203B41FA5}">
                          <a16:colId xmlns:a16="http://schemas.microsoft.com/office/drawing/2014/main" val="1118298409"/>
                        </a:ext>
                      </a:extLst>
                    </a:gridCol>
                    <a:gridCol w="1165960">
                      <a:extLst>
                        <a:ext uri="{9D8B030D-6E8A-4147-A177-3AD203B41FA5}">
                          <a16:colId xmlns:a16="http://schemas.microsoft.com/office/drawing/2014/main" val="2158339155"/>
                        </a:ext>
                      </a:extLst>
                    </a:gridCol>
                    <a:gridCol w="1165960">
                      <a:extLst>
                        <a:ext uri="{9D8B030D-6E8A-4147-A177-3AD203B41FA5}">
                          <a16:colId xmlns:a16="http://schemas.microsoft.com/office/drawing/2014/main" val="1477629562"/>
                        </a:ext>
                      </a:extLst>
                    </a:gridCol>
                    <a:gridCol w="1165960">
                      <a:extLst>
                        <a:ext uri="{9D8B030D-6E8A-4147-A177-3AD203B41FA5}">
                          <a16:colId xmlns:a16="http://schemas.microsoft.com/office/drawing/2014/main" val="4016046189"/>
                        </a:ext>
                      </a:extLst>
                    </a:gridCol>
                    <a:gridCol w="1165960">
                      <a:extLst>
                        <a:ext uri="{9D8B030D-6E8A-4147-A177-3AD203B41FA5}">
                          <a16:colId xmlns:a16="http://schemas.microsoft.com/office/drawing/2014/main" val="390912327"/>
                        </a:ext>
                      </a:extLst>
                    </a:gridCol>
                    <a:gridCol w="1165960">
                      <a:extLst>
                        <a:ext uri="{9D8B030D-6E8A-4147-A177-3AD203B41FA5}">
                          <a16:colId xmlns:a16="http://schemas.microsoft.com/office/drawing/2014/main" val="4022392565"/>
                        </a:ext>
                      </a:extLst>
                    </a:gridCol>
                  </a:tblGrid>
                  <a:tr h="619994">
                    <a:tc>
                      <a:txBody>
                        <a:bodyPr/>
                        <a:lstStyle/>
                        <a:p>
                          <a:pPr algn="l"/>
                          <a:r>
                            <a:rPr sz="1600" b="1" dirty="0" err="1">
                              <a:solidFill>
                                <a:srgbClr val="182D45"/>
                              </a:solidFill>
                              <a:latin typeface="DejaVu Sans"/>
                              <a:ea typeface="DejaVu Sans"/>
                              <a:cs typeface="DejaVu Sans"/>
                            </a:rPr>
                            <a:t>Obs</a:t>
                          </a:r>
                          <a:r>
                            <a:rPr lang="it-IT" sz="1600" b="1" dirty="0" err="1">
                              <a:solidFill>
                                <a:srgbClr val="182D45"/>
                              </a:solidFill>
                              <a:latin typeface="DejaVu Sans"/>
                              <a:ea typeface="DejaVu Sans"/>
                              <a:cs typeface="DejaVu Sans"/>
                            </a:rPr>
                            <a:t>ervations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extLst>
                      <a:ext uri="{0D108BD9-81ED-4DB2-BD59-A6C34878D82A}">
                        <a16:rowId xmlns:a16="http://schemas.microsoft.com/office/drawing/2014/main" val="1571426218"/>
                      </a:ext>
                    </a:extLst>
                  </a:tr>
                  <a:tr h="394088">
                    <a:tc>
                      <a:txBody>
                        <a:bodyPr/>
                        <a:lstStyle/>
                        <a:p>
                          <a:pPr algn="ctr"/>
                          <a:r>
                            <a:rPr lang="it-IT" sz="1600" b="0" dirty="0">
                              <a:solidFill>
                                <a:srgbClr val="182D45"/>
                              </a:solidFill>
                              <a:latin typeface="DejaVu Sans"/>
                              <a:ea typeface="DejaVu Sans"/>
                              <a:cs typeface="DejaVu Sans"/>
                            </a:rPr>
                            <a:t>Input </a:t>
                          </a:r>
                          <a14:m>
                            <m:oMath xmlns:m="http://schemas.openxmlformats.org/officeDocument/2006/math">
                              <m:sSub>
                                <m:sSubPr>
                                  <m:ctrlPr>
                                    <a:rPr lang="it-IT" sz="1600" b="0" i="1" smtClean="0">
                                      <a:solidFill>
                                        <a:srgbClr val="182D45"/>
                                      </a:solidFill>
                                      <a:latin typeface="Cambria Math" panose="02040503050406030204" pitchFamily="18" charset="0"/>
                                      <a:ea typeface="DejaVu Sans"/>
                                      <a:cs typeface="DejaVu Sans"/>
                                    </a:rPr>
                                  </m:ctrlPr>
                                </m:sSubPr>
                                <m:e>
                                  <m:r>
                                    <a:rPr lang="it-IT" sz="1600" b="0" i="1" smtClean="0">
                                      <a:solidFill>
                                        <a:srgbClr val="182D45"/>
                                      </a:solidFill>
                                      <a:latin typeface="Cambria Math" panose="02040503050406030204" pitchFamily="18" charset="0"/>
                                      <a:ea typeface="DejaVu Sans"/>
                                      <a:cs typeface="DejaVu Sans"/>
                                    </a:rPr>
                                    <m:t>𝑥</m:t>
                                  </m:r>
                                </m:e>
                                <m:sub>
                                  <m:r>
                                    <a:rPr lang="it-IT" sz="1600" b="0" i="1" smtClean="0">
                                      <a:solidFill>
                                        <a:srgbClr val="182D45"/>
                                      </a:solidFill>
                                      <a:latin typeface="Cambria Math" panose="02040503050406030204" pitchFamily="18" charset="0"/>
                                      <a:ea typeface="DejaVu Sans"/>
                                      <a:cs typeface="DejaVu Sans"/>
                                    </a:rPr>
                                    <m:t>𝑖</m:t>
                                  </m:r>
                                </m:sub>
                              </m:sSub>
                            </m:oMath>
                          </a14:m>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extLst>
                      <a:ext uri="{0D108BD9-81ED-4DB2-BD59-A6C34878D82A}">
                        <a16:rowId xmlns:a16="http://schemas.microsoft.com/office/drawing/2014/main" val="4260482099"/>
                      </a:ext>
                    </a:extLst>
                  </a:tr>
                  <a:tr h="498974">
                    <a:tc>
                      <a:txBody>
                        <a:bodyPr/>
                        <a:lstStyle/>
                        <a:p>
                          <a:pPr algn="ctr"/>
                          <a:r>
                            <a:rPr lang="it-IT" sz="1600" b="0" dirty="0">
                              <a:solidFill>
                                <a:srgbClr val="182D45"/>
                              </a:solidFill>
                              <a:latin typeface="DejaVu Sans"/>
                              <a:ea typeface="DejaVu Sans"/>
                              <a:cs typeface="DejaVu Sans"/>
                            </a:rPr>
                            <a:t>Target </a:t>
                          </a:r>
                          <a14:m>
                            <m:oMath xmlns:m="http://schemas.openxmlformats.org/officeDocument/2006/math">
                              <m:sSub>
                                <m:sSubPr>
                                  <m:ctrlPr>
                                    <a:rPr lang="it-IT" sz="1600" b="0" i="1" smtClean="0">
                                      <a:solidFill>
                                        <a:srgbClr val="182D45"/>
                                      </a:solidFill>
                                      <a:latin typeface="Cambria Math" panose="02040503050406030204" pitchFamily="18" charset="0"/>
                                      <a:ea typeface="DejaVu Sans"/>
                                      <a:cs typeface="DejaVu Sans"/>
                                    </a:rPr>
                                  </m:ctrlPr>
                                </m:sSubPr>
                                <m:e>
                                  <m:r>
                                    <a:rPr lang="it-IT" sz="1600" b="0" i="1" smtClean="0">
                                      <a:solidFill>
                                        <a:srgbClr val="182D45"/>
                                      </a:solidFill>
                                      <a:latin typeface="Cambria Math" panose="02040503050406030204" pitchFamily="18" charset="0"/>
                                      <a:ea typeface="DejaVu Sans"/>
                                      <a:cs typeface="DejaVu Sans"/>
                                    </a:rPr>
                                    <m:t>𝑦</m:t>
                                  </m:r>
                                </m:e>
                                <m:sub>
                                  <m:r>
                                    <a:rPr lang="it-IT" sz="1600" b="0" i="1" smtClean="0">
                                      <a:solidFill>
                                        <a:srgbClr val="182D45"/>
                                      </a:solidFill>
                                      <a:latin typeface="Cambria Math" panose="02040503050406030204" pitchFamily="18" charset="0"/>
                                      <a:ea typeface="DejaVu Sans"/>
                                      <a:cs typeface="DejaVu Sans"/>
                                    </a:rPr>
                                    <m:t>𝑖</m:t>
                                  </m:r>
                                </m:sub>
                              </m:sSub>
                            </m:oMath>
                          </a14:m>
                          <a:endParaRPr sz="1600" b="0" dirty="0">
                            <a:solidFill>
                              <a:srgbClr val="182D45"/>
                            </a:solidFill>
                            <a:latin typeface="DejaVu Sans"/>
                            <a:ea typeface="DejaVu Sans"/>
                            <a:cs typeface="DejaVu Sans"/>
                          </a:endParaRPr>
                        </a:p>
                      </a:txBody>
                      <a:tcPr anchor="ctr">
                        <a:solidFill>
                          <a:srgbClr val="FFFFFF"/>
                        </a:solidFill>
                      </a:tcPr>
                    </a:tc>
                    <a:tc>
                      <a:txBody>
                        <a:bodyPr/>
                        <a:lstStyle/>
                        <a:p>
                          <a:pPr algn="ctr"/>
                          <a:r>
                            <a:rPr sz="1600" b="0" dirty="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extLst>
                      <a:ext uri="{0D108BD9-81ED-4DB2-BD59-A6C34878D82A}">
                        <a16:rowId xmlns:a16="http://schemas.microsoft.com/office/drawing/2014/main" val="327352818"/>
                      </a:ext>
                    </a:extLst>
                  </a:tr>
                </a:tbl>
              </a:graphicData>
            </a:graphic>
          </p:graphicFrame>
        </mc:Choice>
        <mc:Fallback xmlns="">
          <p:graphicFrame>
            <p:nvGraphicFramePr>
              <p:cNvPr id="3" name="Tabella 2">
                <a:extLst>
                  <a:ext uri="{FF2B5EF4-FFF2-40B4-BE49-F238E27FC236}">
                    <a16:creationId xmlns:a16="http://schemas.microsoft.com/office/drawing/2014/main" id="{70700EF5-6856-DAD0-6731-5B6618BE3987}"/>
                  </a:ext>
                </a:extLst>
              </p:cNvPr>
              <p:cNvGraphicFramePr>
                <a:graphicFrameLocks noGrp="1"/>
              </p:cNvGraphicFramePr>
              <p:nvPr>
                <p:extLst>
                  <p:ext uri="{D42A27DB-BD31-4B8C-83A1-F6EECF244321}">
                    <p14:modId xmlns:p14="http://schemas.microsoft.com/office/powerpoint/2010/main" val="1877882820"/>
                  </p:ext>
                </p:extLst>
              </p:nvPr>
            </p:nvGraphicFramePr>
            <p:xfrm>
              <a:off x="1862901" y="1018596"/>
              <a:ext cx="7562086" cy="1513056"/>
            </p:xfrm>
            <a:graphic>
              <a:graphicData uri="http://schemas.openxmlformats.org/drawingml/2006/table">
                <a:tbl>
                  <a:tblPr/>
                  <a:tblGrid>
                    <a:gridCol w="1732286">
                      <a:extLst>
                        <a:ext uri="{9D8B030D-6E8A-4147-A177-3AD203B41FA5}">
                          <a16:colId xmlns:a16="http://schemas.microsoft.com/office/drawing/2014/main" val="1118298409"/>
                        </a:ext>
                      </a:extLst>
                    </a:gridCol>
                    <a:gridCol w="1165960">
                      <a:extLst>
                        <a:ext uri="{9D8B030D-6E8A-4147-A177-3AD203B41FA5}">
                          <a16:colId xmlns:a16="http://schemas.microsoft.com/office/drawing/2014/main" val="2158339155"/>
                        </a:ext>
                      </a:extLst>
                    </a:gridCol>
                    <a:gridCol w="1165960">
                      <a:extLst>
                        <a:ext uri="{9D8B030D-6E8A-4147-A177-3AD203B41FA5}">
                          <a16:colId xmlns:a16="http://schemas.microsoft.com/office/drawing/2014/main" val="1477629562"/>
                        </a:ext>
                      </a:extLst>
                    </a:gridCol>
                    <a:gridCol w="1165960">
                      <a:extLst>
                        <a:ext uri="{9D8B030D-6E8A-4147-A177-3AD203B41FA5}">
                          <a16:colId xmlns:a16="http://schemas.microsoft.com/office/drawing/2014/main" val="4016046189"/>
                        </a:ext>
                      </a:extLst>
                    </a:gridCol>
                    <a:gridCol w="1165960">
                      <a:extLst>
                        <a:ext uri="{9D8B030D-6E8A-4147-A177-3AD203B41FA5}">
                          <a16:colId xmlns:a16="http://schemas.microsoft.com/office/drawing/2014/main" val="390912327"/>
                        </a:ext>
                      </a:extLst>
                    </a:gridCol>
                    <a:gridCol w="1165960">
                      <a:extLst>
                        <a:ext uri="{9D8B030D-6E8A-4147-A177-3AD203B41FA5}">
                          <a16:colId xmlns:a16="http://schemas.microsoft.com/office/drawing/2014/main" val="4022392565"/>
                        </a:ext>
                      </a:extLst>
                    </a:gridCol>
                  </a:tblGrid>
                  <a:tr h="619994">
                    <a:tc>
                      <a:txBody>
                        <a:bodyPr/>
                        <a:lstStyle/>
                        <a:p>
                          <a:pPr algn="l"/>
                          <a:r>
                            <a:rPr sz="1600" b="1" dirty="0" err="1">
                              <a:solidFill>
                                <a:srgbClr val="182D45"/>
                              </a:solidFill>
                              <a:latin typeface="DejaVu Sans"/>
                              <a:ea typeface="DejaVu Sans"/>
                              <a:cs typeface="DejaVu Sans"/>
                            </a:rPr>
                            <a:t>Obs</a:t>
                          </a:r>
                          <a:r>
                            <a:rPr lang="it-IT" sz="1600" b="1" dirty="0" err="1">
                              <a:solidFill>
                                <a:srgbClr val="182D45"/>
                              </a:solidFill>
                              <a:latin typeface="DejaVu Sans"/>
                              <a:ea typeface="DejaVu Sans"/>
                              <a:cs typeface="DejaVu Sans"/>
                            </a:rPr>
                            <a:t>ervations</a:t>
                          </a:r>
                          <a:endParaRPr sz="1600" b="1" dirty="0">
                            <a:solidFill>
                              <a:srgbClr val="182D45"/>
                            </a:solidFill>
                            <a:latin typeface="DejaVu Sans"/>
                            <a:ea typeface="DejaVu Sans"/>
                            <a:cs typeface="DejaVu Sans"/>
                          </a:endParaRPr>
                        </a:p>
                      </a:txBody>
                      <a:tcPr anchor="ctr">
                        <a:solidFill>
                          <a:srgbClr val="F0F5F8"/>
                        </a:solidFill>
                      </a:tcPr>
                    </a:tc>
                    <a:tc>
                      <a:txBody>
                        <a:bodyPr/>
                        <a:lstStyle/>
                        <a:p>
                          <a:pPr algn="ctr"/>
                          <a:r>
                            <a:rPr sz="1600" b="1">
                              <a:solidFill>
                                <a:srgbClr val="182D45"/>
                              </a:solidFill>
                              <a:latin typeface="DejaVu Sans"/>
                              <a:ea typeface="DejaVu Sans"/>
                              <a:cs typeface="DejaVu Sans"/>
                            </a:rPr>
                            <a:t>1</a:t>
                          </a:r>
                        </a:p>
                      </a:txBody>
                      <a:tcPr anchor="ctr">
                        <a:solidFill>
                          <a:srgbClr val="F0F5F8"/>
                        </a:solidFill>
                      </a:tcPr>
                    </a:tc>
                    <a:tc>
                      <a:txBody>
                        <a:bodyPr/>
                        <a:lstStyle/>
                        <a:p>
                          <a:pPr algn="ctr"/>
                          <a:r>
                            <a:rPr sz="1600" b="1">
                              <a:solidFill>
                                <a:srgbClr val="182D45"/>
                              </a:solidFill>
                              <a:latin typeface="DejaVu Sans"/>
                              <a:ea typeface="DejaVu Sans"/>
                              <a:cs typeface="DejaVu Sans"/>
                            </a:rPr>
                            <a:t>2</a:t>
                          </a:r>
                        </a:p>
                      </a:txBody>
                      <a:tcPr anchor="ctr">
                        <a:solidFill>
                          <a:srgbClr val="F0F5F8"/>
                        </a:solidFill>
                      </a:tcPr>
                    </a:tc>
                    <a:tc>
                      <a:txBody>
                        <a:bodyPr/>
                        <a:lstStyle/>
                        <a:p>
                          <a:pPr algn="ctr"/>
                          <a:r>
                            <a:rPr sz="1600" b="1">
                              <a:solidFill>
                                <a:srgbClr val="182D45"/>
                              </a:solidFill>
                              <a:latin typeface="DejaVu Sans"/>
                              <a:ea typeface="DejaVu Sans"/>
                              <a:cs typeface="DejaVu Sans"/>
                            </a:rPr>
                            <a:t>3</a:t>
                          </a:r>
                        </a:p>
                      </a:txBody>
                      <a:tcPr anchor="ctr">
                        <a:solidFill>
                          <a:srgbClr val="F0F5F8"/>
                        </a:solidFill>
                      </a:tcPr>
                    </a:tc>
                    <a:tc>
                      <a:txBody>
                        <a:bodyPr/>
                        <a:lstStyle/>
                        <a:p>
                          <a:pPr algn="ctr"/>
                          <a:r>
                            <a:rPr sz="1600" b="1">
                              <a:solidFill>
                                <a:srgbClr val="182D45"/>
                              </a:solidFill>
                              <a:latin typeface="DejaVu Sans"/>
                              <a:ea typeface="DejaVu Sans"/>
                              <a:cs typeface="DejaVu Sans"/>
                            </a:rPr>
                            <a:t>4</a:t>
                          </a:r>
                        </a:p>
                      </a:txBody>
                      <a:tcPr anchor="ctr">
                        <a:solidFill>
                          <a:srgbClr val="F0F5F8"/>
                        </a:solidFill>
                      </a:tcPr>
                    </a:tc>
                    <a:tc>
                      <a:txBody>
                        <a:bodyPr/>
                        <a:lstStyle/>
                        <a:p>
                          <a:pPr algn="ctr"/>
                          <a:r>
                            <a:rPr sz="1600" b="1">
                              <a:solidFill>
                                <a:srgbClr val="182D45"/>
                              </a:solidFill>
                              <a:latin typeface="DejaVu Sans"/>
                              <a:ea typeface="DejaVu Sans"/>
                              <a:cs typeface="DejaVu Sans"/>
                            </a:rPr>
                            <a:t>5</a:t>
                          </a:r>
                        </a:p>
                      </a:txBody>
                      <a:tcPr anchor="ctr">
                        <a:solidFill>
                          <a:srgbClr val="F0F5F8"/>
                        </a:solidFill>
                      </a:tcPr>
                    </a:tc>
                    <a:extLst>
                      <a:ext uri="{0D108BD9-81ED-4DB2-BD59-A6C34878D82A}">
                        <a16:rowId xmlns:a16="http://schemas.microsoft.com/office/drawing/2014/main" val="1571426218"/>
                      </a:ext>
                    </a:extLst>
                  </a:tr>
                  <a:tr h="394088">
                    <a:tc>
                      <a:txBody>
                        <a:bodyPr/>
                        <a:lstStyle/>
                        <a:p>
                          <a:endParaRPr lang="it-IT"/>
                        </a:p>
                      </a:txBody>
                      <a:tcPr anchor="ctr">
                        <a:blipFill>
                          <a:blip r:embed="rId7"/>
                          <a:stretch>
                            <a:fillRect l="-351" t="-158462" r="-336491" b="-129231"/>
                          </a:stretch>
                        </a:blip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a:solidFill>
                                <a:srgbClr val="182D45"/>
                              </a:solidFill>
                              <a:latin typeface="DejaVu Sans"/>
                              <a:ea typeface="DejaVu Sans"/>
                              <a:cs typeface="DejaVu Sans"/>
                            </a:rPr>
                            <a:t>0</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a:t>
                          </a:r>
                        </a:p>
                      </a:txBody>
                      <a:tcPr anchor="ctr">
                        <a:solidFill>
                          <a:srgbClr val="FFFFFF"/>
                        </a:solidFill>
                      </a:tcPr>
                    </a:tc>
                    <a:extLst>
                      <a:ext uri="{0D108BD9-81ED-4DB2-BD59-A6C34878D82A}">
                        <a16:rowId xmlns:a16="http://schemas.microsoft.com/office/drawing/2014/main" val="4260482099"/>
                      </a:ext>
                    </a:extLst>
                  </a:tr>
                  <a:tr h="498974">
                    <a:tc>
                      <a:txBody>
                        <a:bodyPr/>
                        <a:lstStyle/>
                        <a:p>
                          <a:endParaRPr lang="it-IT"/>
                        </a:p>
                      </a:txBody>
                      <a:tcPr anchor="ctr">
                        <a:blipFill>
                          <a:blip r:embed="rId7"/>
                          <a:stretch>
                            <a:fillRect l="-351" t="-204878" r="-336491" b="-2439"/>
                          </a:stretch>
                        </a:blipFill>
                      </a:tcPr>
                    </a:tc>
                    <a:tc>
                      <a:txBody>
                        <a:bodyPr/>
                        <a:lstStyle/>
                        <a:p>
                          <a:pPr algn="ctr"/>
                          <a:r>
                            <a:rPr sz="1600" b="0" dirty="0">
                              <a:solidFill>
                                <a:srgbClr val="182D45"/>
                              </a:solidFill>
                              <a:latin typeface="DejaVu Sans"/>
                              <a:ea typeface="DejaVu Sans"/>
                              <a:cs typeface="DejaVu Sans"/>
                            </a:rPr>
                            <a:t>−1.5</a:t>
                          </a:r>
                        </a:p>
                      </a:txBody>
                      <a:tcPr anchor="ctr">
                        <a:solidFill>
                          <a:srgbClr val="FFFFFF"/>
                        </a:solidFill>
                      </a:tcPr>
                    </a:tc>
                    <a:tc>
                      <a:txBody>
                        <a:bodyPr/>
                        <a:lstStyle/>
                        <a:p>
                          <a:pPr algn="ctr"/>
                          <a:r>
                            <a:rPr sz="1600" b="0" dirty="0">
                              <a:solidFill>
                                <a:srgbClr val="182D45"/>
                              </a:solidFill>
                              <a:latin typeface="DejaVu Sans"/>
                              <a:ea typeface="DejaVu Sans"/>
                              <a:cs typeface="DejaVu Sans"/>
                            </a:rPr>
                            <a:t>0.5</a:t>
                          </a:r>
                        </a:p>
                      </a:txBody>
                      <a:tcPr anchor="ctr">
                        <a:solidFill>
                          <a:srgbClr val="FFFFFF"/>
                        </a:solidFill>
                      </a:tcPr>
                    </a:tc>
                    <a:tc>
                      <a:txBody>
                        <a:bodyPr/>
                        <a:lstStyle/>
                        <a:p>
                          <a:pPr algn="ctr"/>
                          <a:r>
                            <a:rPr sz="1600" b="0" dirty="0">
                              <a:solidFill>
                                <a:srgbClr val="182D45"/>
                              </a:solidFill>
                              <a:latin typeface="DejaVu Sans"/>
                              <a:ea typeface="DejaVu Sans"/>
                              <a:cs typeface="DejaVu Sans"/>
                            </a:rPr>
                            <a:t>1</a:t>
                          </a:r>
                        </a:p>
                      </a:txBody>
                      <a:tcPr anchor="ctr">
                        <a:solidFill>
                          <a:srgbClr val="FFFFFF"/>
                        </a:solidFill>
                      </a:tcPr>
                    </a:tc>
                    <a:tc>
                      <a:txBody>
                        <a:bodyPr/>
                        <a:lstStyle/>
                        <a:p>
                          <a:pPr algn="ctr"/>
                          <a:r>
                            <a:rPr sz="1600" b="0" dirty="0">
                              <a:solidFill>
                                <a:srgbClr val="182D45"/>
                              </a:solidFill>
                              <a:latin typeface="DejaVu Sans"/>
                              <a:ea typeface="DejaVu Sans"/>
                              <a:cs typeface="DejaVu Sans"/>
                            </a:rPr>
                            <a:t>2.5</a:t>
                          </a:r>
                        </a:p>
                      </a:txBody>
                      <a:tcPr anchor="ctr">
                        <a:solidFill>
                          <a:srgbClr val="FFFFFF"/>
                        </a:solidFill>
                      </a:tcPr>
                    </a:tc>
                    <a:tc>
                      <a:txBody>
                        <a:bodyPr/>
                        <a:lstStyle/>
                        <a:p>
                          <a:pPr algn="ctr"/>
                          <a:r>
                            <a:rPr sz="1600" b="0" dirty="0">
                              <a:solidFill>
                                <a:srgbClr val="182D45"/>
                              </a:solidFill>
                              <a:latin typeface="DejaVu Sans"/>
                              <a:ea typeface="DejaVu Sans"/>
                              <a:cs typeface="DejaVu Sans"/>
                            </a:rPr>
                            <a:t>7.5</a:t>
                          </a:r>
                        </a:p>
                      </a:txBody>
                      <a:tcPr anchor="ctr">
                        <a:solidFill>
                          <a:srgbClr val="FFFFFF"/>
                        </a:solidFill>
                      </a:tcPr>
                    </a:tc>
                    <a:extLst>
                      <a:ext uri="{0D108BD9-81ED-4DB2-BD59-A6C34878D82A}">
                        <a16:rowId xmlns:a16="http://schemas.microsoft.com/office/drawing/2014/main" val="327352818"/>
                      </a:ext>
                    </a:extLst>
                  </a:tr>
                </a:tbl>
              </a:graphicData>
            </a:graphic>
          </p:graphicFrame>
        </mc:Fallback>
      </mc:AlternateContent>
    </p:spTree>
    <p:extLst>
      <p:ext uri="{BB962C8B-B14F-4D97-AF65-F5344CB8AC3E}">
        <p14:creationId xmlns:p14="http://schemas.microsoft.com/office/powerpoint/2010/main" val="12111163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69EA8C82-5872-425A-BDFA-C377C6AEB1B5}"/>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Fixed feature expansion</a:t>
            </a:r>
          </a:p>
        </p:txBody>
      </p:sp>
      <p:sp>
        <p:nvSpPr>
          <p:cNvPr id="2" name="page_number">
            <a:extLst>
              <a:ext uri="{FF2B5EF4-FFF2-40B4-BE49-F238E27FC236}">
                <a16:creationId xmlns:a16="http://schemas.microsoft.com/office/drawing/2014/main" id="{441C323C-0FC4-46CE-8932-51BE5BC9AB17}"/>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43</a:t>
            </a:r>
          </a:p>
        </p:txBody>
      </p:sp>
      <mc:AlternateContent xmlns:mc="http://schemas.openxmlformats.org/markup-compatibility/2006" xmlns:a14="http://schemas.microsoft.com/office/drawing/2010/main">
        <mc:Choice Requires="a14">
          <p:sp>
            <p:nvSpPr>
              <p:cNvPr id="3" name="content_39_3">
                <a:extLst>
                  <a:ext uri="{FF2B5EF4-FFF2-40B4-BE49-F238E27FC236}">
                    <a16:creationId xmlns:a16="http://schemas.microsoft.com/office/drawing/2014/main" id="{93350B2F-4283-4891-881E-DFDD52FD539D}"/>
                  </a:ext>
                </a:extLst>
              </p:cNvPr>
              <p:cNvSpPr txBox="1">
                <a:spLocks noGrp="1"/>
              </p:cNvSpPr>
              <p:nvPr/>
            </p:nvSpPr>
            <p:spPr>
              <a:xfrm>
                <a:off x="571881" y="1330641"/>
                <a:ext cx="10953750" cy="1705929"/>
              </a:xfrm>
              <a:prstGeom prst="rect">
                <a:avLst/>
              </a:prstGeom>
              <a:noFill/>
              <a:ln w="0">
                <a:noFill/>
              </a:ln>
            </p:spPr>
            <p:txBody>
              <a:bodyPr vertOverflow="overflow" wrap="square" lIns="0" tIns="0" rIns="0" bIns="0" anchor="ctr">
                <a:noAutofit/>
              </a:bodyPr>
              <a:lstStyle/>
              <a:p>
                <a:pPr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Choose fixed feature functions </a:t>
                </a:r>
                <a14:m>
                  <m:oMath xmlns:m="http://schemas.openxmlformats.org/officeDocument/2006/math">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𝜙</m:t>
                        </m:r>
                      </m:e>
                      <m:sub>
                        <m:r>
                          <a:rPr lang="en-GB" sz="2100" b="0" dirty="0">
                            <a:solidFill>
                              <a:srgbClr val="182D45"/>
                            </a:solidFill>
                            <a:latin typeface="Cambria Math"/>
                            <a:ea typeface="Cambria Math"/>
                            <a:cs typeface="Cambria Math"/>
                          </a:rPr>
                          <m:t>1</m:t>
                        </m:r>
                      </m:sub>
                    </m:sSub>
                    <m:r>
                      <a:rPr lang="en-GB" sz="2100" b="0" dirty="0">
                        <a:solidFill>
                          <a:srgbClr val="182D45"/>
                        </a:solidFill>
                        <a:latin typeface="Cambria Math"/>
                        <a:ea typeface="Cambria Math"/>
                        <a:cs typeface="Cambria Math"/>
                      </a:rPr>
                      <m:t>,…,</m:t>
                    </m:r>
                    <m:sSub>
                      <m:sSubPr>
                        <m:ctrlPr>
                          <a:rPr lang="en-GB" sz="2100" b="0" dirty="0">
                            <a:solidFill>
                              <a:srgbClr val="182D45"/>
                            </a:solidFill>
                            <a:latin typeface="Cambria Math"/>
                            <a:ea typeface="Cambria Math"/>
                            <a:cs typeface="Cambria Math"/>
                          </a:rPr>
                        </m:ctrlPr>
                      </m:sSubPr>
                      <m:e>
                        <m:r>
                          <a:rPr lang="en-GB" sz="2100" b="0" dirty="0">
                            <a:solidFill>
                              <a:srgbClr val="182D45"/>
                            </a:solidFill>
                            <a:latin typeface="Cambria Math"/>
                            <a:ea typeface="Cambria Math"/>
                            <a:cs typeface="Cambria Math"/>
                          </a:rPr>
                          <m:t>𝜙</m:t>
                        </m:r>
                      </m:e>
                      <m:sub>
                        <m:r>
                          <a:rPr lang="en-GB" sz="2100" b="0" dirty="0">
                            <a:solidFill>
                              <a:srgbClr val="182D45"/>
                            </a:solidFill>
                            <a:latin typeface="Cambria Math"/>
                            <a:ea typeface="Cambria Math"/>
                            <a:cs typeface="Cambria Math"/>
                          </a:rPr>
                          <m:t>𝑚</m:t>
                        </m:r>
                      </m:sub>
                    </m:sSub>
                    <m:r>
                      <a:rPr lang="en-GB" sz="2100" b="0" dirty="0">
                        <a:solidFill>
                          <a:srgbClr val="182D45"/>
                        </a:solidFill>
                        <a:latin typeface="Cambria Math"/>
                        <a:ea typeface="Cambria Math"/>
                        <a:cs typeface="Cambria Math"/>
                      </a:rPr>
                      <m:t>:</m:t>
                    </m:r>
                    <m:r>
                      <a:rPr lang="en-GB" sz="2100" b="0" dirty="0">
                        <a:solidFill>
                          <a:srgbClr val="182D45"/>
                        </a:solidFill>
                        <a:latin typeface="Cambria Math"/>
                        <a:ea typeface="Cambria Math"/>
                        <a:cs typeface="Cambria Math"/>
                      </a:rPr>
                      <m:t>ℝ</m:t>
                    </m:r>
                    <m:r>
                      <a:rPr lang="en-GB" sz="2100" b="0" dirty="0">
                        <a:solidFill>
                          <a:srgbClr val="182D45"/>
                        </a:solidFill>
                        <a:latin typeface="Cambria Math"/>
                        <a:ea typeface="Cambria Math"/>
                        <a:cs typeface="Cambria Math"/>
                      </a:rPr>
                      <m:t>→</m:t>
                    </m:r>
                    <m:r>
                      <a:rPr lang="en-GB" sz="2100" b="0" dirty="0">
                        <a:solidFill>
                          <a:srgbClr val="182D45"/>
                        </a:solidFill>
                        <a:latin typeface="Cambria Math"/>
                        <a:ea typeface="Cambria Math"/>
                        <a:cs typeface="Cambria Math"/>
                      </a:rPr>
                      <m:t>ℝ</m:t>
                    </m:r>
                  </m:oMath>
                </a14:m>
                <a:endParaRPr lang="it-IT" sz="2100" b="0" i="0" dirty="0">
                  <a:solidFill>
                    <a:srgbClr val="182D45"/>
                  </a:solidFill>
                  <a:latin typeface="DejaVu Sans"/>
                  <a:ea typeface="Cambria Math"/>
                  <a:cs typeface="Cambria Math"/>
                </a:endParaRPr>
              </a:p>
              <a:p>
                <a:pPr algn="ctr">
                  <a:defRPr lang="en-GB" sz="2100" b="0" i="0" dirty="0">
                    <a:solidFill>
                      <a:srgbClr val="182D45"/>
                    </a:solidFill>
                    <a:latin typeface="DejaVu Sans"/>
                    <a:ea typeface="DejaVu Sans"/>
                    <a:cs typeface="DejaVu Sans"/>
                  </a:defRPr>
                </a:pPr>
                <a:endParaRPr lang="en-GB" sz="1200" b="0" i="0" dirty="0">
                  <a:solidFill>
                    <a:srgbClr val="182D45"/>
                  </a:solidFill>
                  <a:latin typeface="DejaVu Sans"/>
                  <a:ea typeface="DejaVu Sans"/>
                  <a:cs typeface="DejaVu Sans"/>
                </a:endParaRPr>
              </a:p>
              <a:p>
                <a:pPr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and define </a:t>
                </a:r>
                <a14:m>
                  <m:oMath xmlns:m="http://schemas.openxmlformats.org/officeDocument/2006/math">
                    <m:r>
                      <a:rPr lang="en-GB" sz="2400" dirty="0">
                        <a:solidFill>
                          <a:srgbClr val="182D45"/>
                        </a:solidFill>
                        <a:latin typeface="Cambria Math"/>
                        <a:ea typeface="Cambria Math"/>
                        <a:cs typeface="Cambria Math"/>
                      </a:rPr>
                      <m:t>𝛟</m:t>
                    </m:r>
                    <m:d>
                      <m:dPr>
                        <m:ctrlPr>
                          <a:rPr lang="it-IT" sz="2400" b="0" i="1" dirty="0" smtClean="0">
                            <a:solidFill>
                              <a:srgbClr val="182D45"/>
                            </a:solidFill>
                            <a:latin typeface="Cambria Math" panose="02040503050406030204" pitchFamily="18" charset="0"/>
                            <a:ea typeface="Cambria Math"/>
                            <a:cs typeface="Cambria Math"/>
                          </a:rPr>
                        </m:ctrlPr>
                      </m:dPr>
                      <m:e>
                        <m:r>
                          <a:rPr lang="it-IT" sz="2400" b="0" i="1" dirty="0" smtClean="0">
                            <a:solidFill>
                              <a:srgbClr val="182D45"/>
                            </a:solidFill>
                            <a:latin typeface="Cambria Math" panose="02040503050406030204" pitchFamily="18" charset="0"/>
                            <a:ea typeface="Cambria Math"/>
                            <a:cs typeface="Cambria Math"/>
                          </a:rPr>
                          <m:t>𝑥</m:t>
                        </m:r>
                      </m:e>
                    </m:d>
                    <m:r>
                      <a:rPr lang="it-IT" sz="2400" b="0" i="1" dirty="0" smtClean="0">
                        <a:solidFill>
                          <a:srgbClr val="182D45"/>
                        </a:solidFill>
                        <a:latin typeface="Cambria Math" panose="02040503050406030204" pitchFamily="18" charset="0"/>
                        <a:ea typeface="Cambria Math"/>
                        <a:cs typeface="Cambria Math"/>
                      </a:rPr>
                      <m:t>≔</m:t>
                    </m:r>
                    <m:d>
                      <m:dPr>
                        <m:ctrlPr>
                          <a:rPr lang="en-GB" sz="2400" i="1" dirty="0">
                            <a:solidFill>
                              <a:srgbClr val="182D45"/>
                            </a:solidFill>
                            <a:latin typeface="Cambria Math" panose="02040503050406030204" pitchFamily="18" charset="0"/>
                            <a:ea typeface="Cambria Math"/>
                            <a:cs typeface="Cambria Math"/>
                          </a:rPr>
                        </m:ctrlPr>
                      </m:dPr>
                      <m:e>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𝜙</m:t>
                            </m:r>
                          </m:e>
                          <m:sub>
                            <m:r>
                              <a:rPr lang="en-GB" sz="2400" dirty="0">
                                <a:solidFill>
                                  <a:srgbClr val="182D45"/>
                                </a:solidFill>
                                <a:latin typeface="Cambria Math"/>
                                <a:ea typeface="Cambria Math"/>
                                <a:cs typeface="Cambria Math"/>
                              </a:rPr>
                              <m:t>1</m:t>
                            </m:r>
                          </m:sub>
                        </m:sSub>
                        <m:d>
                          <m:dPr>
                            <m:ctrlPr>
                              <a:rPr lang="it-IT" sz="2400" b="0" i="1" dirty="0" smtClean="0">
                                <a:solidFill>
                                  <a:srgbClr val="182D45"/>
                                </a:solidFill>
                                <a:latin typeface="Cambria Math" panose="02040503050406030204" pitchFamily="18" charset="0"/>
                                <a:ea typeface="Cambria Math"/>
                                <a:cs typeface="Cambria Math"/>
                              </a:rPr>
                            </m:ctrlPr>
                          </m:dPr>
                          <m:e>
                            <m:r>
                              <a:rPr lang="it-IT" sz="2400" b="0" i="1" dirty="0" smtClean="0">
                                <a:solidFill>
                                  <a:srgbClr val="182D45"/>
                                </a:solidFill>
                                <a:latin typeface="Cambria Math" panose="02040503050406030204" pitchFamily="18" charset="0"/>
                                <a:ea typeface="Cambria Math"/>
                                <a:cs typeface="Cambria Math"/>
                              </a:rPr>
                              <m:t>𝑥</m:t>
                            </m:r>
                          </m:e>
                        </m:d>
                        <m:r>
                          <a:rPr lang="en-GB" sz="2400" dirty="0">
                            <a:solidFill>
                              <a:srgbClr val="182D45"/>
                            </a:solidFill>
                            <a:latin typeface="Cambria Math"/>
                            <a:ea typeface="Cambria Math"/>
                            <a:cs typeface="Cambria Math"/>
                          </a:rPr>
                          <m:t>,…,</m:t>
                        </m:r>
                        <m:sSub>
                          <m:sSubPr>
                            <m:ctrlPr>
                              <a:rPr lang="en-GB" sz="2400" dirty="0">
                                <a:solidFill>
                                  <a:srgbClr val="182D45"/>
                                </a:solidFill>
                                <a:latin typeface="Cambria Math"/>
                                <a:ea typeface="Cambria Math"/>
                                <a:cs typeface="Cambria Math"/>
                              </a:rPr>
                            </m:ctrlPr>
                          </m:sSubPr>
                          <m:e>
                            <m:r>
                              <a:rPr lang="en-GB" sz="2400" dirty="0">
                                <a:solidFill>
                                  <a:srgbClr val="182D45"/>
                                </a:solidFill>
                                <a:latin typeface="Cambria Math"/>
                                <a:ea typeface="Cambria Math"/>
                                <a:cs typeface="Cambria Math"/>
                              </a:rPr>
                              <m:t>𝜙</m:t>
                            </m:r>
                          </m:e>
                          <m:sub>
                            <m:r>
                              <a:rPr lang="en-GB" sz="2400" dirty="0">
                                <a:solidFill>
                                  <a:srgbClr val="182D45"/>
                                </a:solidFill>
                                <a:latin typeface="Cambria Math"/>
                                <a:ea typeface="Cambria Math"/>
                                <a:cs typeface="Cambria Math"/>
                              </a:rPr>
                              <m:t>𝑚</m:t>
                            </m:r>
                          </m:sub>
                        </m:sSub>
                        <m:d>
                          <m:dPr>
                            <m:ctrlPr>
                              <a:rPr lang="it-IT" sz="2400" i="1" dirty="0">
                                <a:solidFill>
                                  <a:srgbClr val="182D45"/>
                                </a:solidFill>
                                <a:latin typeface="Cambria Math" panose="02040503050406030204" pitchFamily="18" charset="0"/>
                                <a:ea typeface="Cambria Math"/>
                                <a:cs typeface="Cambria Math"/>
                              </a:rPr>
                            </m:ctrlPr>
                          </m:dPr>
                          <m:e>
                            <m:r>
                              <a:rPr lang="it-IT" sz="2400" i="1" dirty="0">
                                <a:solidFill>
                                  <a:srgbClr val="182D45"/>
                                </a:solidFill>
                                <a:latin typeface="Cambria Math" panose="02040503050406030204" pitchFamily="18" charset="0"/>
                                <a:ea typeface="Cambria Math"/>
                                <a:cs typeface="Cambria Math"/>
                              </a:rPr>
                              <m:t>𝑥</m:t>
                            </m:r>
                          </m:e>
                        </m:d>
                      </m:e>
                    </m:d>
                  </m:oMath>
                </a14:m>
                <a:r>
                  <a:rPr lang="en-GB" sz="2100" b="0" i="0" dirty="0">
                    <a:solidFill>
                      <a:srgbClr val="182D45"/>
                    </a:solidFill>
                    <a:latin typeface="DejaVu Sans"/>
                    <a:ea typeface="DejaVu Sans"/>
                    <a:cs typeface="DejaVu Sans"/>
                  </a:rPr>
                  <a:t>.</a:t>
                </a:r>
              </a:p>
              <a:p>
                <a:pPr marL="0" marR="0" indent="0" algn="ctr">
                  <a:defRPr lang="en-GB" sz="2100" b="0" i="0" dirty="0">
                    <a:solidFill>
                      <a:srgbClr val="182D45"/>
                    </a:solidFill>
                    <a:latin typeface="DejaVu Sans"/>
                    <a:ea typeface="DejaVu Sans"/>
                    <a:cs typeface="DejaVu Sans"/>
                  </a:defRPr>
                </a:pPr>
                <a:endParaRPr lang="en-GB" sz="1200" b="0" i="0" dirty="0">
                  <a:solidFill>
                    <a:srgbClr val="182D45"/>
                  </a:solidFill>
                  <a:latin typeface="DejaVu Sans"/>
                  <a:ea typeface="DejaVu Sans"/>
                  <a:cs typeface="DejaVu Sans"/>
                </a:endParaRPr>
              </a:p>
              <a:p>
                <a:pPr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For a column vector </a:t>
                </a:r>
                <a14:m>
                  <m:oMath xmlns:m="http://schemas.openxmlformats.org/officeDocument/2006/math">
                    <m:r>
                      <a:rPr lang="it-IT" sz="2100" b="1" i="0" smtClean="0">
                        <a:solidFill>
                          <a:srgbClr val="182D45"/>
                        </a:solidFill>
                        <a:latin typeface="Cambria Math" panose="02040503050406030204" pitchFamily="18" charset="0"/>
                        <a:ea typeface="DejaVu Sans"/>
                        <a:cs typeface="DejaVu Sans"/>
                      </a:rPr>
                      <m:t>𝛉</m:t>
                    </m:r>
                    <m:r>
                      <a:rPr lang="it-IT" sz="2100" b="1" i="1" smtClean="0">
                        <a:solidFill>
                          <a:srgbClr val="182D45"/>
                        </a:solidFill>
                        <a:latin typeface="Cambria Math" panose="02040503050406030204" pitchFamily="18" charset="0"/>
                        <a:ea typeface="DejaVu Sans"/>
                        <a:cs typeface="DejaVu Sans"/>
                      </a:rPr>
                      <m:t>=</m:t>
                    </m:r>
                    <m:sSup>
                      <m:sSupPr>
                        <m:ctrlPr>
                          <a:rPr lang="it-IT" sz="2100" b="0" i="1" smtClean="0">
                            <a:solidFill>
                              <a:srgbClr val="182D45"/>
                            </a:solidFill>
                            <a:latin typeface="Cambria Math" panose="02040503050406030204" pitchFamily="18" charset="0"/>
                          </a:rPr>
                        </m:ctrlPr>
                      </m:sSupPr>
                      <m:e>
                        <m:d>
                          <m:dPr>
                            <m:ctrlPr>
                              <a:rPr lang="it-IT" sz="2100" b="0" i="1" smtClean="0">
                                <a:solidFill>
                                  <a:srgbClr val="182D45"/>
                                </a:solidFill>
                                <a:latin typeface="Cambria Math" panose="02040503050406030204" pitchFamily="18" charset="0"/>
                              </a:rPr>
                            </m:ctrlPr>
                          </m:dPr>
                          <m:e>
                            <m:sSub>
                              <m:sSubPr>
                                <m:ctrlPr>
                                  <a:rPr lang="it-IT" sz="2100" b="0" i="1" smtClean="0">
                                    <a:solidFill>
                                      <a:srgbClr val="182D45"/>
                                    </a:solidFill>
                                    <a:latin typeface="Cambria Math" panose="02040503050406030204" pitchFamily="18" charset="0"/>
                                  </a:rPr>
                                </m:ctrlPr>
                              </m:sSubPr>
                              <m:e>
                                <m:r>
                                  <a:rPr lang="it-IT" sz="2100" b="0" i="1" smtClean="0">
                                    <a:solidFill>
                                      <a:srgbClr val="182D45"/>
                                    </a:solidFill>
                                    <a:latin typeface="Cambria Math" panose="02040503050406030204" pitchFamily="18" charset="0"/>
                                  </a:rPr>
                                  <m:t>𝜃</m:t>
                                </m:r>
                              </m:e>
                              <m:sub>
                                <m:r>
                                  <a:rPr lang="it-IT" sz="2100" b="0" i="1" smtClean="0">
                                    <a:solidFill>
                                      <a:srgbClr val="182D45"/>
                                    </a:solidFill>
                                    <a:latin typeface="Cambria Math" panose="02040503050406030204" pitchFamily="18" charset="0"/>
                                  </a:rPr>
                                  <m:t>1</m:t>
                                </m:r>
                              </m:sub>
                            </m:sSub>
                            <m:r>
                              <a:rPr lang="it-IT" sz="2100" b="0" i="1" smtClean="0">
                                <a:solidFill>
                                  <a:srgbClr val="182D45"/>
                                </a:solidFill>
                                <a:latin typeface="Cambria Math" panose="02040503050406030204" pitchFamily="18" charset="0"/>
                              </a:rPr>
                              <m:t>,…,</m:t>
                            </m:r>
                            <m:sSub>
                              <m:sSubPr>
                                <m:ctrlPr>
                                  <a:rPr lang="it-IT" sz="2100" i="1">
                                    <a:solidFill>
                                      <a:srgbClr val="182D45"/>
                                    </a:solidFill>
                                    <a:latin typeface="Cambria Math" panose="02040503050406030204" pitchFamily="18" charset="0"/>
                                  </a:rPr>
                                </m:ctrlPr>
                              </m:sSubPr>
                              <m:e>
                                <m:r>
                                  <a:rPr lang="it-IT" sz="2100" i="1">
                                    <a:solidFill>
                                      <a:srgbClr val="182D45"/>
                                    </a:solidFill>
                                    <a:latin typeface="Cambria Math" panose="02040503050406030204" pitchFamily="18" charset="0"/>
                                  </a:rPr>
                                  <m:t>𝜃</m:t>
                                </m:r>
                              </m:e>
                              <m:sub>
                                <m:r>
                                  <a:rPr lang="it-IT" sz="2100" b="0" i="1" smtClean="0">
                                    <a:solidFill>
                                      <a:srgbClr val="182D45"/>
                                    </a:solidFill>
                                    <a:latin typeface="Cambria Math" panose="02040503050406030204" pitchFamily="18" charset="0"/>
                                  </a:rPr>
                                  <m:t>𝑚</m:t>
                                </m:r>
                              </m:sub>
                            </m:sSub>
                          </m:e>
                        </m:d>
                      </m:e>
                      <m:sup>
                        <m:r>
                          <a:rPr lang="it-IT" sz="2100" b="1" i="1" smtClean="0">
                            <a:solidFill>
                              <a:srgbClr val="182D45"/>
                            </a:solidFill>
                            <a:latin typeface="Cambria Math" panose="02040503050406030204" pitchFamily="18" charset="0"/>
                          </a:rPr>
                          <m:t>⊤</m:t>
                        </m:r>
                      </m:sup>
                    </m:sSup>
                    <m:r>
                      <a:rPr lang="it-IT" sz="2100" b="1" i="1" smtClean="0">
                        <a:solidFill>
                          <a:srgbClr val="182D45"/>
                        </a:solidFill>
                        <a:latin typeface="Cambria Math" panose="02040503050406030204" pitchFamily="18" charset="0"/>
                        <a:ea typeface="DejaVu Sans"/>
                        <a:cs typeface="DejaVu Sans"/>
                      </a:rPr>
                      <m:t>∈</m:t>
                    </m:r>
                    <m:sSup>
                      <m:sSupPr>
                        <m:ctrlPr>
                          <a:rPr lang="it-IT" sz="2100" b="0" i="1" smtClean="0">
                            <a:solidFill>
                              <a:srgbClr val="182D45"/>
                            </a:solidFill>
                            <a:latin typeface="Cambria Math" panose="02040503050406030204" pitchFamily="18" charset="0"/>
                            <a:ea typeface="DejaVu Sans"/>
                            <a:cs typeface="DejaVu Sans"/>
                          </a:rPr>
                        </m:ctrlPr>
                      </m:sSupPr>
                      <m:e>
                        <m:r>
                          <a:rPr lang="it-IT" sz="2100" b="0" i="1" smtClean="0">
                            <a:solidFill>
                              <a:srgbClr val="182D45"/>
                            </a:solidFill>
                            <a:latin typeface="Cambria Math" panose="02040503050406030204" pitchFamily="18" charset="0"/>
                            <a:ea typeface="DejaVu Sans"/>
                            <a:cs typeface="DejaVu Sans"/>
                          </a:rPr>
                          <m:t>ℝ</m:t>
                        </m:r>
                      </m:e>
                      <m:sup>
                        <m:r>
                          <a:rPr lang="it-IT" sz="2100" b="0" i="1" smtClean="0">
                            <a:solidFill>
                              <a:srgbClr val="182D45"/>
                            </a:solidFill>
                            <a:latin typeface="Cambria Math" panose="02040503050406030204" pitchFamily="18" charset="0"/>
                            <a:ea typeface="DejaVu Sans"/>
                            <a:cs typeface="DejaVu Sans"/>
                          </a:rPr>
                          <m:t>𝑚</m:t>
                        </m:r>
                        <m:r>
                          <a:rPr lang="it-IT" sz="2100" b="0" i="1" smtClean="0">
                            <a:solidFill>
                              <a:srgbClr val="182D45"/>
                            </a:solidFill>
                            <a:latin typeface="Cambria Math" panose="02040503050406030204" pitchFamily="18" charset="0"/>
                            <a:ea typeface="DejaVu Sans"/>
                            <a:cs typeface="DejaVu Sans"/>
                          </a:rPr>
                          <m:t>×1</m:t>
                        </m:r>
                      </m:sup>
                    </m:sSup>
                  </m:oMath>
                </a14:m>
                <a:r>
                  <a:rPr lang="en-GB" sz="2100" b="0" i="0" dirty="0">
                    <a:solidFill>
                      <a:srgbClr val="182D45"/>
                    </a:solidFill>
                    <a:latin typeface="DejaVu Sans"/>
                    <a:ea typeface="DejaVu Sans"/>
                    <a:cs typeface="DejaVu Sans"/>
                  </a:rPr>
                  <a:t> of parameters, define the predictor</a:t>
                </a:r>
              </a:p>
            </p:txBody>
          </p:sp>
        </mc:Choice>
        <mc:Fallback xmlns="">
          <p:sp>
            <p:nvSpPr>
              <p:cNvPr id="3" name="content_39_3">
                <a:extLst>
                  <a:ext uri="{FF2B5EF4-FFF2-40B4-BE49-F238E27FC236}">
                    <a16:creationId xmlns:a16="http://schemas.microsoft.com/office/drawing/2014/main" id="{93350B2F-4283-4891-881E-DFDD52FD539D}"/>
                  </a:ext>
                </a:extLst>
              </p:cNvPr>
              <p:cNvSpPr txBox="1">
                <a:spLocks noGrp="1" noRot="1" noChangeAspect="1" noMove="1" noResize="1" noEditPoints="1" noAdjustHandles="1" noChangeArrowheads="1" noChangeShapeType="1" noTextEdit="1"/>
              </p:cNvSpPr>
              <p:nvPr/>
            </p:nvSpPr>
            <p:spPr>
              <a:xfrm>
                <a:off x="571881" y="1330641"/>
                <a:ext cx="10953750" cy="1705929"/>
              </a:xfrm>
              <a:prstGeom prst="rect">
                <a:avLst/>
              </a:prstGeom>
              <a:blipFill>
                <a:blip r:embed="rId3"/>
                <a:stretch>
                  <a:fillRect b="-10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ontent_39_5">
                <a:extLst>
                  <a:ext uri="{FF2B5EF4-FFF2-40B4-BE49-F238E27FC236}">
                    <a16:creationId xmlns:a16="http://schemas.microsoft.com/office/drawing/2014/main" id="{5A463F45-E313-4183-93C4-D1EAE2876BD2}"/>
                  </a:ext>
                </a:extLst>
              </p:cNvPr>
              <p:cNvSpPr txBox="1">
                <a:spLocks noGrp="1"/>
              </p:cNvSpPr>
              <p:nvPr/>
            </p:nvSpPr>
            <p:spPr>
              <a:xfrm>
                <a:off x="619125" y="3100387"/>
                <a:ext cx="10953750" cy="1225866"/>
              </a:xfrm>
              <a:prstGeom prst="rect">
                <a:avLst/>
              </a:prstGeom>
              <a:noFill/>
              <a:ln w="0">
                <a:noFill/>
              </a:ln>
            </p:spPr>
            <p:txBody>
              <a:bodyPr vertOverflow="overflow" wrap="none" lIns="0" tIns="0" rIns="0" bIns="0" anchor="ctr">
                <a:noAutofit/>
              </a:bodyPr>
              <a:lstStyle/>
              <a:p>
                <a:pPr algn="ctr">
                  <a:defRPr lang="en-GB" sz="2475" b="0" i="0" dirty="0">
                    <a:solidFill>
                      <a:srgbClr val="326CB2"/>
                    </a:solidFill>
                    <a:latin typeface="DejaVu Sans"/>
                    <a:ea typeface="DejaVu Sans"/>
                    <a:cs typeface="DejaVu Sans"/>
                  </a:defRPr>
                </a:pPr>
                <a14:m>
                  <m:oMathPara xmlns:m="http://schemas.openxmlformats.org/officeDocument/2006/math">
                    <m:oMath>
                      <m:sSub>
                        <m:sSubPr>
                          <m:ctrlPr>
                            <a:rPr lang="en-GB" sz="2400" b="0" dirty="0">
                              <a:solidFill>
                                <a:srgbClr val="326CB2"/>
                              </a:solidFill>
                              <a:latin typeface="Cambria Math"/>
                              <a:ea typeface="Cambria Math"/>
                              <a:cs typeface="Cambria Math"/>
                            </a:rPr>
                          </m:ctrlPr>
                        </m:sSubPr>
                        <m:e>
                          <m:r>
                            <a:rPr lang="en-GB" sz="2400" b="0" dirty="0">
                              <a:solidFill>
                                <a:srgbClr val="326CB2"/>
                              </a:solidFill>
                              <a:latin typeface="Cambria Math"/>
                              <a:ea typeface="Cambria Math"/>
                              <a:cs typeface="Cambria Math"/>
                            </a:rPr>
                            <m:t>𝑓</m:t>
                          </m:r>
                        </m:e>
                        <m:sub>
                          <m:r>
                            <a:rPr lang="it-IT" sz="2400" b="1" i="0" dirty="0" smtClean="0">
                              <a:solidFill>
                                <a:srgbClr val="326CB2"/>
                              </a:solidFill>
                              <a:latin typeface="Cambria Math" panose="02040503050406030204" pitchFamily="18" charset="0"/>
                              <a:ea typeface="Cambria Math"/>
                              <a:cs typeface="Cambria Math"/>
                            </a:rPr>
                            <m:t>𝛉</m:t>
                          </m:r>
                        </m:sub>
                      </m:sSub>
                      <m:d>
                        <m:dPr>
                          <m:ctrlPr>
                            <a:rPr lang="en-GB" sz="2400" b="0" dirty="0">
                              <a:solidFill>
                                <a:srgbClr val="326CB2"/>
                              </a:solidFill>
                              <a:latin typeface="Cambria Math"/>
                              <a:ea typeface="Cambria Math"/>
                              <a:cs typeface="Cambria Math"/>
                            </a:rPr>
                          </m:ctrlPr>
                        </m:dPr>
                        <m:e>
                          <m:r>
                            <a:rPr lang="en-GB" sz="2400" b="0" dirty="0">
                              <a:solidFill>
                                <a:srgbClr val="326CB2"/>
                              </a:solidFill>
                              <a:latin typeface="Cambria Math"/>
                              <a:ea typeface="Cambria Math"/>
                              <a:cs typeface="Cambria Math"/>
                            </a:rPr>
                            <m:t>𝑥</m:t>
                          </m:r>
                        </m:e>
                      </m:d>
                      <m:r>
                        <a:rPr lang="en-GB" sz="2400" b="0" dirty="0">
                          <a:solidFill>
                            <a:srgbClr val="326CB2"/>
                          </a:solidFill>
                          <a:latin typeface="Cambria Math"/>
                          <a:ea typeface="Cambria Math"/>
                          <a:cs typeface="Cambria Math"/>
                        </a:rPr>
                        <m:t>=</m:t>
                      </m:r>
                      <m:r>
                        <a:rPr lang="en-GB" sz="2400" dirty="0">
                          <a:solidFill>
                            <a:srgbClr val="326CB2"/>
                          </a:solidFill>
                          <a:latin typeface="Cambria Math"/>
                          <a:ea typeface="Cambria Math"/>
                          <a:cs typeface="Cambria Math"/>
                        </a:rPr>
                        <m:t>𝛟</m:t>
                      </m:r>
                      <m:d>
                        <m:dPr>
                          <m:ctrlPr>
                            <a:rPr lang="it-IT" sz="2400" i="1" dirty="0">
                              <a:solidFill>
                                <a:srgbClr val="326CB2"/>
                              </a:solidFill>
                              <a:latin typeface="Cambria Math" panose="02040503050406030204" pitchFamily="18" charset="0"/>
                              <a:ea typeface="Cambria Math"/>
                              <a:cs typeface="Cambria Math"/>
                            </a:rPr>
                          </m:ctrlPr>
                        </m:dPr>
                        <m:e>
                          <m:r>
                            <a:rPr lang="it-IT" sz="2400" i="1" dirty="0">
                              <a:solidFill>
                                <a:srgbClr val="326CB2"/>
                              </a:solidFill>
                              <a:latin typeface="Cambria Math" panose="02040503050406030204" pitchFamily="18" charset="0"/>
                              <a:ea typeface="Cambria Math"/>
                              <a:cs typeface="Cambria Math"/>
                            </a:rPr>
                            <m:t>𝑥</m:t>
                          </m:r>
                        </m:e>
                      </m:d>
                      <m:r>
                        <a:rPr lang="it-IT" sz="2400" b="1" dirty="0">
                          <a:solidFill>
                            <a:srgbClr val="326CB2"/>
                          </a:solidFill>
                          <a:latin typeface="Cambria Math" panose="02040503050406030204" pitchFamily="18" charset="0"/>
                          <a:ea typeface="Cambria Math"/>
                          <a:cs typeface="Cambria Math"/>
                        </a:rPr>
                        <m:t>𝛉</m:t>
                      </m:r>
                      <m:r>
                        <a:rPr lang="it-IT" sz="2400" b="0" i="1" smtClean="0">
                          <a:solidFill>
                            <a:srgbClr val="326CB2"/>
                          </a:solidFill>
                          <a:latin typeface="Cambria Math" panose="02040503050406030204" pitchFamily="18" charset="0"/>
                          <a:ea typeface="DejaVu Sans"/>
                          <a:cs typeface="DejaVu Sans"/>
                        </a:rPr>
                        <m:t>=</m:t>
                      </m:r>
                      <m:nary>
                        <m:naryPr>
                          <m:chr m:val="∑"/>
                          <m:limLoc m:val="undOvr"/>
                          <m:ctrlPr>
                            <a:rPr lang="en-GB" sz="2400" b="0" dirty="0">
                              <a:solidFill>
                                <a:srgbClr val="326CB2"/>
                              </a:solidFill>
                              <a:latin typeface="Cambria Math"/>
                              <a:ea typeface="Cambria Math"/>
                              <a:cs typeface="Cambria Math"/>
                            </a:rPr>
                          </m:ctrlPr>
                        </m:naryPr>
                        <m:sub>
                          <m:r>
                            <a:rPr lang="en-GB" sz="2400" b="0" dirty="0">
                              <a:solidFill>
                                <a:srgbClr val="326CB2"/>
                              </a:solidFill>
                              <a:latin typeface="Cambria Math"/>
                              <a:ea typeface="Cambria Math"/>
                              <a:cs typeface="Cambria Math"/>
                            </a:rPr>
                            <m:t>𝑗</m:t>
                          </m:r>
                          <m:r>
                            <a:rPr lang="en-GB" sz="2400" b="0" dirty="0">
                              <a:solidFill>
                                <a:srgbClr val="326CB2"/>
                              </a:solidFill>
                              <a:latin typeface="Cambria Math"/>
                              <a:ea typeface="Cambria Math"/>
                              <a:cs typeface="Cambria Math"/>
                            </a:rPr>
                            <m:t>=1</m:t>
                          </m:r>
                        </m:sub>
                        <m:sup>
                          <m:r>
                            <a:rPr lang="en-GB" sz="2400" b="0" dirty="0">
                              <a:solidFill>
                                <a:srgbClr val="326CB2"/>
                              </a:solidFill>
                              <a:latin typeface="Cambria Math"/>
                              <a:ea typeface="Cambria Math"/>
                              <a:cs typeface="Cambria Math"/>
                            </a:rPr>
                            <m:t>𝑚</m:t>
                          </m:r>
                        </m:sup>
                        <m:e>
                          <m:sSub>
                            <m:sSubPr>
                              <m:ctrlPr>
                                <a:rPr lang="it-IT" sz="2400" b="0" i="1" dirty="0" smtClean="0">
                                  <a:solidFill>
                                    <a:srgbClr val="326CB2"/>
                                  </a:solidFill>
                                  <a:latin typeface="Cambria Math" panose="02040503050406030204" pitchFamily="18" charset="0"/>
                                  <a:ea typeface="Cambria Math"/>
                                  <a:cs typeface="Cambria Math"/>
                                </a:rPr>
                              </m:ctrlPr>
                            </m:sSubPr>
                            <m:e>
                              <m:r>
                                <a:rPr lang="it-IT" sz="2400" b="0" i="1" dirty="0" smtClean="0">
                                  <a:solidFill>
                                    <a:srgbClr val="326CB2"/>
                                  </a:solidFill>
                                  <a:latin typeface="Cambria Math" panose="02040503050406030204" pitchFamily="18" charset="0"/>
                                  <a:ea typeface="Cambria Math"/>
                                  <a:cs typeface="Cambria Math"/>
                                </a:rPr>
                                <m:t>𝜃</m:t>
                              </m:r>
                            </m:e>
                            <m:sub>
                              <m:r>
                                <a:rPr lang="en-GB" sz="2400" b="0" dirty="0">
                                  <a:solidFill>
                                    <a:srgbClr val="326CB2"/>
                                  </a:solidFill>
                                  <a:latin typeface="Cambria Math"/>
                                  <a:ea typeface="Cambria Math"/>
                                  <a:cs typeface="Cambria Math"/>
                                </a:rPr>
                                <m:t>𝑗</m:t>
                              </m:r>
                            </m:sub>
                          </m:sSub>
                          <m:sSub>
                            <m:sSubPr>
                              <m:ctrlPr>
                                <a:rPr lang="en-GB" sz="2400" dirty="0">
                                  <a:solidFill>
                                    <a:srgbClr val="326CB2"/>
                                  </a:solidFill>
                                  <a:latin typeface="Cambria Math"/>
                                  <a:ea typeface="Cambria Math"/>
                                  <a:cs typeface="Cambria Math"/>
                                </a:rPr>
                              </m:ctrlPr>
                            </m:sSubPr>
                            <m:e>
                              <m:r>
                                <a:rPr lang="en-GB" sz="2400" dirty="0">
                                  <a:solidFill>
                                    <a:srgbClr val="326CB2"/>
                                  </a:solidFill>
                                  <a:latin typeface="Cambria Math"/>
                                  <a:ea typeface="Cambria Math"/>
                                  <a:cs typeface="Cambria Math"/>
                                </a:rPr>
                                <m:t>𝜙</m:t>
                              </m:r>
                            </m:e>
                            <m:sub>
                              <m:r>
                                <a:rPr lang="en-GB" sz="2400" dirty="0">
                                  <a:solidFill>
                                    <a:srgbClr val="326CB2"/>
                                  </a:solidFill>
                                  <a:latin typeface="Cambria Math"/>
                                  <a:ea typeface="Cambria Math"/>
                                  <a:cs typeface="Cambria Math"/>
                                </a:rPr>
                                <m:t>𝑗</m:t>
                              </m:r>
                            </m:sub>
                          </m:sSub>
                          <m:d>
                            <m:dPr>
                              <m:ctrlPr>
                                <a:rPr lang="en-GB" sz="2400" dirty="0">
                                  <a:solidFill>
                                    <a:srgbClr val="326CB2"/>
                                  </a:solidFill>
                                  <a:latin typeface="Cambria Math"/>
                                  <a:ea typeface="Cambria Math"/>
                                  <a:cs typeface="Cambria Math"/>
                                </a:rPr>
                              </m:ctrlPr>
                            </m:dPr>
                            <m:e>
                              <m:r>
                                <a:rPr lang="en-GB" sz="2400" dirty="0">
                                  <a:solidFill>
                                    <a:srgbClr val="326CB2"/>
                                  </a:solidFill>
                                  <a:latin typeface="Cambria Math"/>
                                  <a:ea typeface="Cambria Math"/>
                                  <a:cs typeface="Cambria Math"/>
                                </a:rPr>
                                <m:t>𝑥</m:t>
                              </m:r>
                            </m:e>
                          </m:d>
                        </m:e>
                      </m:nary>
                    </m:oMath>
                  </m:oMathPara>
                </a14:m>
                <a:endParaRPr lang="en-GB" sz="2400" b="0" i="0" dirty="0">
                  <a:solidFill>
                    <a:srgbClr val="326CB2"/>
                  </a:solidFill>
                  <a:latin typeface="DejaVu Sans"/>
                  <a:ea typeface="DejaVu Sans"/>
                  <a:cs typeface="DejaVu Sans"/>
                </a:endParaRPr>
              </a:p>
            </p:txBody>
          </p:sp>
        </mc:Choice>
        <mc:Fallback xmlns="">
          <p:sp>
            <p:nvSpPr>
              <p:cNvPr id="5" name="content_39_5">
                <a:extLst>
                  <a:ext uri="{FF2B5EF4-FFF2-40B4-BE49-F238E27FC236}">
                    <a16:creationId xmlns:a16="http://schemas.microsoft.com/office/drawing/2014/main" id="{5A463F45-E313-4183-93C4-D1EAE2876BD2}"/>
                  </a:ext>
                </a:extLst>
              </p:cNvPr>
              <p:cNvSpPr txBox="1">
                <a:spLocks noGrp="1" noRot="1" noChangeAspect="1" noMove="1" noResize="1" noEditPoints="1" noAdjustHandles="1" noChangeArrowheads="1" noChangeShapeType="1" noTextEdit="1"/>
              </p:cNvSpPr>
              <p:nvPr/>
            </p:nvSpPr>
            <p:spPr>
              <a:xfrm>
                <a:off x="619125" y="3100387"/>
                <a:ext cx="10953750" cy="1225866"/>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ontent_39_6">
                <a:extLst>
                  <a:ext uri="{FF2B5EF4-FFF2-40B4-BE49-F238E27FC236}">
                    <a16:creationId xmlns:a16="http://schemas.microsoft.com/office/drawing/2014/main" id="{5353CD58-0DB5-4100-9EDB-597ACAA95751}"/>
                  </a:ext>
                </a:extLst>
              </p:cNvPr>
              <p:cNvSpPr txBox="1">
                <a:spLocks noGrp="1"/>
              </p:cNvSpPr>
              <p:nvPr/>
            </p:nvSpPr>
            <p:spPr>
              <a:xfrm>
                <a:off x="666369" y="4507229"/>
                <a:ext cx="10859262" cy="2350771"/>
              </a:xfrm>
              <a:prstGeom prst="rect">
                <a:avLst/>
              </a:prstGeom>
              <a:noFill/>
              <a:ln w="0">
                <a:noFill/>
              </a:ln>
            </p:spPr>
            <p:txBody>
              <a:bodyPr vertOverflow="overflow" wrap="none" lIns="0" tIns="0" rIns="0" bIns="0" anchor="ctr">
                <a:noAutofit/>
              </a:bodyPr>
              <a:lstStyle/>
              <a:p>
                <a:pPr algn="ctr">
                  <a:defRPr lang="en-GB" sz="2400" b="0" i="0" dirty="0">
                    <a:solidFill>
                      <a:srgbClr val="182D45"/>
                    </a:solidFill>
                    <a:latin typeface="DejaVu Sans"/>
                    <a:ea typeface="DejaVu Sans"/>
                    <a:cs typeface="DejaVu Sans"/>
                  </a:defRPr>
                </a:pPr>
                <a14:m>
                  <m:oMathPara xmlns:m="http://schemas.openxmlformats.org/officeDocument/2006/math">
                    <m:oMath>
                      <m:sSub>
                        <m:sSubPr>
                          <m:ctrlPr>
                            <a:rPr lang="en-GB" sz="2400" b="0" i="1" dirty="0">
                              <a:solidFill>
                                <a:srgbClr val="087F83"/>
                              </a:solidFill>
                              <a:latin typeface="Cambria Math"/>
                              <a:ea typeface="Cambria Math"/>
                              <a:cs typeface="Cambria Math"/>
                            </a:rPr>
                          </m:ctrlPr>
                        </m:sSubPr>
                        <m:e>
                          <m:r>
                            <m:rPr>
                              <m:sty m:val="p"/>
                            </m:rPr>
                            <a:rPr lang="en-GB" sz="2400" b="0" i="1" dirty="0">
                              <a:solidFill>
                                <a:srgbClr val="087F83"/>
                              </a:solidFill>
                              <a:latin typeface="Cambria Math"/>
                              <a:ea typeface="Cambria Math"/>
                              <a:cs typeface="Cambria Math"/>
                            </a:rPr>
                            <m:t>Φ</m:t>
                          </m:r>
                        </m:e>
                        <m:sub>
                          <m:r>
                            <a:rPr lang="en-GB" sz="2400" b="0" dirty="0">
                              <a:solidFill>
                                <a:srgbClr val="087F83"/>
                              </a:solidFill>
                              <a:latin typeface="Cambria Math"/>
                              <a:ea typeface="Cambria Math"/>
                              <a:cs typeface="Cambria Math"/>
                            </a:rPr>
                            <m:t>𝑖𝑗</m:t>
                          </m:r>
                        </m:sub>
                      </m:sSub>
                      <m:r>
                        <a:rPr lang="en-GB" sz="2400" b="0" dirty="0">
                          <a:solidFill>
                            <a:srgbClr val="087F83"/>
                          </a:solidFill>
                          <a:latin typeface="Cambria Math"/>
                          <a:ea typeface="Cambria Math"/>
                          <a:cs typeface="Cambria Math"/>
                        </a:rPr>
                        <m:t>=</m:t>
                      </m:r>
                      <m:sSub>
                        <m:sSubPr>
                          <m:ctrlPr>
                            <a:rPr lang="en-GB" sz="2400" b="0" dirty="0">
                              <a:solidFill>
                                <a:srgbClr val="087F83"/>
                              </a:solidFill>
                              <a:latin typeface="Cambria Math"/>
                              <a:ea typeface="Cambria Math"/>
                              <a:cs typeface="Cambria Math"/>
                            </a:rPr>
                          </m:ctrlPr>
                        </m:sSubPr>
                        <m:e>
                          <m:r>
                            <a:rPr lang="en-GB" sz="2400" b="0" dirty="0">
                              <a:solidFill>
                                <a:srgbClr val="087F83"/>
                              </a:solidFill>
                              <a:latin typeface="Cambria Math"/>
                              <a:ea typeface="Cambria Math"/>
                              <a:cs typeface="Cambria Math"/>
                            </a:rPr>
                            <m:t>𝜙</m:t>
                          </m:r>
                        </m:e>
                        <m:sub>
                          <m:r>
                            <a:rPr lang="en-GB" sz="2400" b="0" dirty="0">
                              <a:solidFill>
                                <a:srgbClr val="087F83"/>
                              </a:solidFill>
                              <a:latin typeface="Cambria Math"/>
                              <a:ea typeface="Cambria Math"/>
                              <a:cs typeface="Cambria Math"/>
                            </a:rPr>
                            <m:t>𝑗</m:t>
                          </m:r>
                        </m:sub>
                      </m:sSub>
                      <m:d>
                        <m:dPr>
                          <m:ctrlPr>
                            <a:rPr lang="en-GB" sz="2400" b="0" i="1" dirty="0">
                              <a:solidFill>
                                <a:srgbClr val="087F83"/>
                              </a:solidFill>
                              <a:latin typeface="Cambria Math" panose="02040503050406030204" pitchFamily="18" charset="0"/>
                              <a:ea typeface="Cambria Math"/>
                              <a:cs typeface="Cambria Math"/>
                            </a:rPr>
                          </m:ctrlPr>
                        </m:dPr>
                        <m:e>
                          <m:sSub>
                            <m:sSubPr>
                              <m:ctrlPr>
                                <a:rPr lang="en-GB" sz="2400" b="0" dirty="0">
                                  <a:solidFill>
                                    <a:srgbClr val="087F83"/>
                                  </a:solidFill>
                                  <a:latin typeface="Cambria Math"/>
                                  <a:ea typeface="Cambria Math"/>
                                  <a:cs typeface="Cambria Math"/>
                                </a:rPr>
                              </m:ctrlPr>
                            </m:sSubPr>
                            <m:e>
                              <m:r>
                                <a:rPr lang="en-GB" sz="2400" b="0" dirty="0">
                                  <a:solidFill>
                                    <a:srgbClr val="087F83"/>
                                  </a:solidFill>
                                  <a:latin typeface="Cambria Math"/>
                                  <a:ea typeface="Cambria Math"/>
                                  <a:cs typeface="Cambria Math"/>
                                </a:rPr>
                                <m:t>𝑥</m:t>
                              </m:r>
                            </m:e>
                            <m:sub>
                              <m:r>
                                <a:rPr lang="en-GB" sz="2400" b="0" dirty="0">
                                  <a:solidFill>
                                    <a:srgbClr val="087F83"/>
                                  </a:solidFill>
                                  <a:latin typeface="Cambria Math"/>
                                  <a:ea typeface="Cambria Math"/>
                                  <a:cs typeface="Cambria Math"/>
                                </a:rPr>
                                <m:t>𝑖</m:t>
                              </m:r>
                            </m:sub>
                          </m:sSub>
                        </m:e>
                      </m:d>
                      <m:r>
                        <a:rPr lang="en-GB" sz="2400" b="0" dirty="0">
                          <a:solidFill>
                            <a:srgbClr val="087F83"/>
                          </a:solidFill>
                          <a:latin typeface="Cambria Math"/>
                          <a:ea typeface="Cambria Math"/>
                          <a:cs typeface="Cambria Math"/>
                        </a:rPr>
                        <m:t>,</m:t>
                      </m:r>
                      <m:r>
                        <a:rPr lang="it-IT" sz="2400" b="0" i="0" dirty="0" smtClean="0">
                          <a:solidFill>
                            <a:srgbClr val="087F83"/>
                          </a:solidFill>
                          <a:latin typeface="Cambria Math" panose="02040503050406030204" pitchFamily="18" charset="0"/>
                          <a:ea typeface="Cambria Math"/>
                          <a:cs typeface="Cambria Math"/>
                        </a:rPr>
                        <m:t>  </m:t>
                      </m:r>
                      <m:r>
                        <a:rPr lang="en-GB" sz="2400" b="0" dirty="0">
                          <a:solidFill>
                            <a:srgbClr val="087F83"/>
                          </a:solidFill>
                          <a:latin typeface="Cambria Math"/>
                          <a:ea typeface="Cambria Math"/>
                          <a:cs typeface="Cambria Math"/>
                        </a:rPr>
                        <m:t>𝚽</m:t>
                      </m:r>
                      <m:r>
                        <a:rPr lang="it-IT" sz="2400" b="0" i="0" dirty="0" smtClean="0">
                          <a:solidFill>
                            <a:srgbClr val="087F83"/>
                          </a:solidFill>
                          <a:latin typeface="Cambria Math" panose="02040503050406030204" pitchFamily="18" charset="0"/>
                          <a:ea typeface="Cambria Math"/>
                          <a:cs typeface="Cambria Math"/>
                        </a:rPr>
                        <m:t>=</m:t>
                      </m:r>
                      <m:d>
                        <m:dPr>
                          <m:ctrlPr>
                            <a:rPr lang="it-IT" sz="2400" i="1" dirty="0">
                              <a:solidFill>
                                <a:srgbClr val="087F83"/>
                              </a:solidFill>
                              <a:latin typeface="Cambria Math" panose="02040503050406030204" pitchFamily="18" charset="0"/>
                            </a:rPr>
                          </m:ctrlPr>
                        </m:dPr>
                        <m:e>
                          <m:m>
                            <m:mPr>
                              <m:mcs>
                                <m:mc>
                                  <m:mcPr>
                                    <m:count m:val="4"/>
                                    <m:mcJc m:val="center"/>
                                  </m:mcPr>
                                </m:mc>
                              </m:mcs>
                              <m:ctrlPr>
                                <a:rPr lang="it-IT" sz="2400" i="1" dirty="0">
                                  <a:solidFill>
                                    <a:srgbClr val="087F83"/>
                                  </a:solidFill>
                                  <a:latin typeface="Cambria Math" panose="02040503050406030204" pitchFamily="18" charset="0"/>
                                </a:rPr>
                              </m:ctrlPr>
                            </m:mPr>
                            <m:mr>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11</m:t>
                                    </m:r>
                                  </m:sub>
                                </m:sSub>
                              </m:e>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12</m:t>
                                    </m:r>
                                  </m:sub>
                                </m:sSub>
                              </m:e>
                              <m:e>
                                <m:r>
                                  <a:rPr lang="it-IT" sz="2400" i="1" dirty="0">
                                    <a:solidFill>
                                      <a:srgbClr val="087F83"/>
                                    </a:solidFill>
                                    <a:latin typeface="Cambria Math" panose="02040503050406030204" pitchFamily="18" charset="0"/>
                                  </a:rPr>
                                  <m:t>⋯</m:t>
                                </m:r>
                              </m:e>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1</m:t>
                                    </m:r>
                                    <m:r>
                                      <a:rPr lang="it-IT" sz="2400" i="1" dirty="0">
                                        <a:solidFill>
                                          <a:srgbClr val="087F83"/>
                                        </a:solidFill>
                                        <a:latin typeface="Cambria Math" panose="02040503050406030204" pitchFamily="18" charset="0"/>
                                      </a:rPr>
                                      <m:t>𝑚</m:t>
                                    </m:r>
                                  </m:sub>
                                </m:sSub>
                              </m:e>
                            </m:mr>
                            <m:mr>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21</m:t>
                                    </m:r>
                                  </m:sub>
                                </m:sSub>
                              </m:e>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22</m:t>
                                    </m:r>
                                  </m:sub>
                                </m:sSub>
                              </m:e>
                              <m:e>
                                <m:r>
                                  <a:rPr lang="it-IT" sz="2400" i="1" dirty="0">
                                    <a:solidFill>
                                      <a:srgbClr val="087F83"/>
                                    </a:solidFill>
                                    <a:latin typeface="Cambria Math" panose="02040503050406030204" pitchFamily="18" charset="0"/>
                                  </a:rPr>
                                  <m:t>⋯</m:t>
                                </m:r>
                              </m:e>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2</m:t>
                                    </m:r>
                                    <m:r>
                                      <a:rPr lang="it-IT" sz="2400" i="1" dirty="0">
                                        <a:solidFill>
                                          <a:srgbClr val="087F83"/>
                                        </a:solidFill>
                                        <a:latin typeface="Cambria Math" panose="02040503050406030204" pitchFamily="18" charset="0"/>
                                      </a:rPr>
                                      <m:t>𝑚</m:t>
                                    </m:r>
                                  </m:sub>
                                </m:sSub>
                              </m:e>
                            </m:mr>
                            <m:mr>
                              <m:e>
                                <m:r>
                                  <a:rPr lang="it-IT" sz="2400" i="1" dirty="0">
                                    <a:solidFill>
                                      <a:srgbClr val="087F83"/>
                                    </a:solidFill>
                                    <a:latin typeface="Cambria Math" panose="02040503050406030204" pitchFamily="18" charset="0"/>
                                  </a:rPr>
                                  <m:t>⋮</m:t>
                                </m:r>
                              </m:e>
                              <m:e>
                                <m:r>
                                  <a:rPr lang="it-IT" sz="2400" i="1" dirty="0">
                                    <a:solidFill>
                                      <a:srgbClr val="087F83"/>
                                    </a:solidFill>
                                    <a:latin typeface="Cambria Math" panose="02040503050406030204" pitchFamily="18" charset="0"/>
                                  </a:rPr>
                                  <m:t>⋮</m:t>
                                </m:r>
                              </m:e>
                              <m:e>
                                <m:r>
                                  <a:rPr lang="it-IT" sz="2400" i="1" dirty="0">
                                    <a:solidFill>
                                      <a:srgbClr val="087F83"/>
                                    </a:solidFill>
                                    <a:latin typeface="Cambria Math" panose="02040503050406030204" pitchFamily="18" charset="0"/>
                                  </a:rPr>
                                  <m:t>⋱</m:t>
                                </m:r>
                              </m:e>
                              <m:e>
                                <m:r>
                                  <a:rPr lang="it-IT" sz="2400" i="1" dirty="0">
                                    <a:solidFill>
                                      <a:srgbClr val="087F83"/>
                                    </a:solidFill>
                                    <a:latin typeface="Cambria Math" panose="02040503050406030204" pitchFamily="18" charset="0"/>
                                  </a:rPr>
                                  <m:t>⋮</m:t>
                                </m:r>
                              </m:e>
                            </m:mr>
                            <m:mr>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𝑁</m:t>
                                    </m:r>
                                    <m:r>
                                      <a:rPr lang="it-IT" sz="2400" i="1" dirty="0">
                                        <a:solidFill>
                                          <a:srgbClr val="087F83"/>
                                        </a:solidFill>
                                        <a:latin typeface="Cambria Math" panose="02040503050406030204" pitchFamily="18" charset="0"/>
                                      </a:rPr>
                                      <m:t>1</m:t>
                                    </m:r>
                                  </m:sub>
                                </m:sSub>
                              </m:e>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𝑁</m:t>
                                    </m:r>
                                    <m:r>
                                      <a:rPr lang="it-IT" sz="2400" i="1" dirty="0">
                                        <a:solidFill>
                                          <a:srgbClr val="087F83"/>
                                        </a:solidFill>
                                        <a:latin typeface="Cambria Math" panose="02040503050406030204" pitchFamily="18" charset="0"/>
                                      </a:rPr>
                                      <m:t>2</m:t>
                                    </m:r>
                                  </m:sub>
                                </m:sSub>
                              </m:e>
                              <m:e>
                                <m:r>
                                  <a:rPr lang="it-IT" sz="2400" i="1" dirty="0">
                                    <a:solidFill>
                                      <a:srgbClr val="087F83"/>
                                    </a:solidFill>
                                    <a:latin typeface="Cambria Math" panose="02040503050406030204" pitchFamily="18" charset="0"/>
                                  </a:rPr>
                                  <m:t>⋯</m:t>
                                </m:r>
                              </m:e>
                              <m:e>
                                <m:sSub>
                                  <m:sSubPr>
                                    <m:ctrlPr>
                                      <a:rPr lang="it-IT" sz="2400" dirty="0">
                                        <a:solidFill>
                                          <a:srgbClr val="087F83"/>
                                        </a:solidFill>
                                        <a:latin typeface="Cambria Math" panose="02040503050406030204" pitchFamily="18" charset="0"/>
                                      </a:rPr>
                                    </m:ctrlPr>
                                  </m:sSubPr>
                                  <m:e>
                                    <m:r>
                                      <m:rPr>
                                        <m:sty m:val="p"/>
                                      </m:rPr>
                                      <a:rPr lang="it-IT" sz="2400" dirty="0">
                                        <a:solidFill>
                                          <a:srgbClr val="087F83"/>
                                        </a:solidFill>
                                        <a:latin typeface="Cambria Math" panose="02040503050406030204" pitchFamily="18" charset="0"/>
                                      </a:rPr>
                                      <m:t>Φ</m:t>
                                    </m:r>
                                  </m:e>
                                  <m:sub>
                                    <m:r>
                                      <a:rPr lang="it-IT" sz="2400" i="1" dirty="0">
                                        <a:solidFill>
                                          <a:srgbClr val="087F83"/>
                                        </a:solidFill>
                                        <a:latin typeface="Cambria Math" panose="02040503050406030204" pitchFamily="18" charset="0"/>
                                      </a:rPr>
                                      <m:t>𝑁𝑚</m:t>
                                    </m:r>
                                  </m:sub>
                                </m:sSub>
                              </m:e>
                            </m:mr>
                          </m:m>
                        </m:e>
                      </m:d>
                      <m:r>
                        <a:rPr lang="it-IT" sz="2400" b="0" i="1" dirty="0" smtClean="0">
                          <a:solidFill>
                            <a:srgbClr val="087F83"/>
                          </a:solidFill>
                          <a:latin typeface="Cambria Math" panose="02040503050406030204" pitchFamily="18" charset="0"/>
                        </a:rPr>
                        <m:t>,  </m:t>
                      </m:r>
                      <m:r>
                        <a:rPr lang="it-IT" sz="2400" b="1" i="0" dirty="0" smtClean="0">
                          <a:solidFill>
                            <a:srgbClr val="087F83"/>
                          </a:solidFill>
                          <a:latin typeface="Cambria Math" panose="02040503050406030204" pitchFamily="18" charset="0"/>
                        </a:rPr>
                        <m:t>𝐲</m:t>
                      </m:r>
                      <m:r>
                        <a:rPr lang="it-IT" sz="2400" b="1" i="0" dirty="0" smtClean="0">
                          <a:solidFill>
                            <a:srgbClr val="087F83"/>
                          </a:solidFill>
                          <a:latin typeface="Cambria Math" panose="02040503050406030204" pitchFamily="18" charset="0"/>
                        </a:rPr>
                        <m:t>=</m:t>
                      </m:r>
                      <m:d>
                        <m:dPr>
                          <m:ctrlPr>
                            <a:rPr lang="it-IT" sz="2400" b="0" i="1" dirty="0" smtClean="0">
                              <a:solidFill>
                                <a:srgbClr val="087F83"/>
                              </a:solidFill>
                              <a:latin typeface="Cambria Math" panose="02040503050406030204" pitchFamily="18" charset="0"/>
                            </a:rPr>
                          </m:ctrlPr>
                        </m:dPr>
                        <m:e>
                          <m:eqArr>
                            <m:eqArrPr>
                              <m:ctrlPr>
                                <a:rPr lang="it-IT" sz="2400" b="0" i="1" dirty="0" smtClean="0">
                                  <a:solidFill>
                                    <a:srgbClr val="087F83"/>
                                  </a:solidFill>
                                  <a:latin typeface="Cambria Math" panose="02040503050406030204" pitchFamily="18" charset="0"/>
                                </a:rPr>
                              </m:ctrlPr>
                            </m:eqArrPr>
                            <m:e>
                              <m:sSub>
                                <m:sSubPr>
                                  <m:ctrlPr>
                                    <a:rPr lang="it-IT" sz="2400" b="0" i="1" dirty="0" smtClean="0">
                                      <a:solidFill>
                                        <a:srgbClr val="087F83"/>
                                      </a:solidFill>
                                      <a:latin typeface="Cambria Math" panose="02040503050406030204" pitchFamily="18" charset="0"/>
                                    </a:rPr>
                                  </m:ctrlPr>
                                </m:sSubPr>
                                <m:e>
                                  <m:r>
                                    <a:rPr lang="it-IT" sz="2400" b="0" i="1" dirty="0" smtClean="0">
                                      <a:solidFill>
                                        <a:srgbClr val="087F83"/>
                                      </a:solidFill>
                                      <a:latin typeface="Cambria Math" panose="02040503050406030204" pitchFamily="18" charset="0"/>
                                    </a:rPr>
                                    <m:t>𝑦</m:t>
                                  </m:r>
                                </m:e>
                                <m:sub>
                                  <m:r>
                                    <a:rPr lang="it-IT" sz="2400" b="0" i="1" dirty="0" smtClean="0">
                                      <a:solidFill>
                                        <a:srgbClr val="087F83"/>
                                      </a:solidFill>
                                      <a:latin typeface="Cambria Math" panose="02040503050406030204" pitchFamily="18" charset="0"/>
                                    </a:rPr>
                                    <m:t>1</m:t>
                                  </m:r>
                                </m:sub>
                              </m:sSub>
                            </m:e>
                            <m:e>
                              <m:r>
                                <a:rPr lang="it-IT" sz="2400" b="0" i="1" dirty="0" smtClean="0">
                                  <a:solidFill>
                                    <a:srgbClr val="087F83"/>
                                  </a:solidFill>
                                  <a:latin typeface="Cambria Math" panose="02040503050406030204" pitchFamily="18" charset="0"/>
                                </a:rPr>
                                <m:t>⋮</m:t>
                              </m:r>
                            </m:e>
                            <m:e>
                              <m:sSub>
                                <m:sSubPr>
                                  <m:ctrlPr>
                                    <a:rPr lang="it-IT" sz="2400" b="0" i="1" dirty="0" smtClean="0">
                                      <a:solidFill>
                                        <a:srgbClr val="087F83"/>
                                      </a:solidFill>
                                      <a:latin typeface="Cambria Math" panose="02040503050406030204" pitchFamily="18" charset="0"/>
                                    </a:rPr>
                                  </m:ctrlPr>
                                </m:sSubPr>
                                <m:e>
                                  <m:r>
                                    <a:rPr lang="it-IT" sz="2400" b="0" i="1" dirty="0" smtClean="0">
                                      <a:solidFill>
                                        <a:srgbClr val="087F83"/>
                                      </a:solidFill>
                                      <a:latin typeface="Cambria Math" panose="02040503050406030204" pitchFamily="18" charset="0"/>
                                    </a:rPr>
                                    <m:t>𝑦</m:t>
                                  </m:r>
                                </m:e>
                                <m:sub>
                                  <m:r>
                                    <a:rPr lang="it-IT" sz="2400" b="0" i="1" dirty="0" smtClean="0">
                                      <a:solidFill>
                                        <a:srgbClr val="087F83"/>
                                      </a:solidFill>
                                      <a:latin typeface="Cambria Math" panose="02040503050406030204" pitchFamily="18" charset="0"/>
                                    </a:rPr>
                                    <m:t>𝑁</m:t>
                                  </m:r>
                                </m:sub>
                              </m:sSub>
                            </m:e>
                          </m:eqArr>
                        </m:e>
                      </m:d>
                    </m:oMath>
                  </m:oMathPara>
                </a14:m>
                <a:endParaRPr lang="it-IT" sz="2400" dirty="0">
                  <a:solidFill>
                    <a:srgbClr val="182D45"/>
                  </a:solidFill>
                  <a:latin typeface="DejaVu Sans"/>
                </a:endParaRPr>
              </a:p>
            </p:txBody>
          </p:sp>
        </mc:Choice>
        <mc:Fallback xmlns="">
          <p:sp>
            <p:nvSpPr>
              <p:cNvPr id="6" name="content_39_6">
                <a:extLst>
                  <a:ext uri="{FF2B5EF4-FFF2-40B4-BE49-F238E27FC236}">
                    <a16:creationId xmlns:a16="http://schemas.microsoft.com/office/drawing/2014/main" id="{5353CD58-0DB5-4100-9EDB-597ACAA95751}"/>
                  </a:ext>
                </a:extLst>
              </p:cNvPr>
              <p:cNvSpPr txBox="1">
                <a:spLocks noGrp="1" noRot="1" noChangeAspect="1" noMove="1" noResize="1" noEditPoints="1" noAdjustHandles="1" noChangeArrowheads="1" noChangeShapeType="1" noTextEdit="1"/>
              </p:cNvSpPr>
              <p:nvPr/>
            </p:nvSpPr>
            <p:spPr>
              <a:xfrm>
                <a:off x="666369" y="4507229"/>
                <a:ext cx="10859262" cy="2350771"/>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46BA2D28-C16A-724A-DDBC-D1AE9973DC41}"/>
                  </a:ext>
                </a:extLst>
              </p:cNvPr>
              <p:cNvSpPr txBox="1"/>
              <p:nvPr/>
            </p:nvSpPr>
            <p:spPr>
              <a:xfrm>
                <a:off x="851154" y="4390070"/>
                <a:ext cx="10953750" cy="422744"/>
              </a:xfrm>
              <a:prstGeom prst="rect">
                <a:avLst/>
              </a:prstGeom>
              <a:noFill/>
            </p:spPr>
            <p:txBody>
              <a:bodyPr wrap="square">
                <a:spAutoFit/>
              </a:bodyPr>
              <a:lstStyle/>
              <a:p>
                <a:pPr algn="ctr">
                  <a:defRPr lang="en-GB" sz="2100" b="0" i="0" dirty="0">
                    <a:solidFill>
                      <a:srgbClr val="182D45"/>
                    </a:solidFill>
                    <a:latin typeface="DejaVu Sans"/>
                    <a:ea typeface="DejaVu Sans"/>
                    <a:cs typeface="DejaVu Sans"/>
                  </a:defRPr>
                </a:pPr>
                <a:r>
                  <a:rPr lang="en-GB" sz="2100" b="0" i="0" dirty="0">
                    <a:solidFill>
                      <a:srgbClr val="182D45"/>
                    </a:solidFill>
                    <a:latin typeface="DejaVu Sans"/>
                    <a:ea typeface="DejaVu Sans"/>
                    <a:cs typeface="DejaVu Sans"/>
                  </a:rPr>
                  <a:t>Define the feature matrix </a:t>
                </a:r>
                <a14:m>
                  <m:oMath xmlns:m="http://schemas.openxmlformats.org/officeDocument/2006/math">
                    <m:r>
                      <a:rPr lang="en-GB" sz="2100" dirty="0">
                        <a:solidFill>
                          <a:srgbClr val="182D45"/>
                        </a:solidFill>
                        <a:latin typeface="Cambria Math"/>
                        <a:ea typeface="Cambria Math"/>
                        <a:cs typeface="Cambria Math"/>
                      </a:rPr>
                      <m:t>𝚽</m:t>
                    </m:r>
                    <m:r>
                      <a:rPr lang="it-IT" sz="2100" b="0" i="1" dirty="0" smtClean="0">
                        <a:solidFill>
                          <a:srgbClr val="182D45"/>
                        </a:solidFill>
                        <a:latin typeface="Cambria Math" panose="02040503050406030204" pitchFamily="18" charset="0"/>
                        <a:ea typeface="Cambria Math"/>
                        <a:cs typeface="Cambria Math"/>
                      </a:rPr>
                      <m:t>∈</m:t>
                    </m:r>
                    <m:sSup>
                      <m:sSupPr>
                        <m:ctrlPr>
                          <a:rPr lang="it-IT" sz="2100" b="0" i="1" dirty="0" smtClean="0">
                            <a:solidFill>
                              <a:srgbClr val="182D45"/>
                            </a:solidFill>
                            <a:latin typeface="Cambria Math" panose="02040503050406030204" pitchFamily="18" charset="0"/>
                            <a:ea typeface="Cambria Math"/>
                            <a:cs typeface="Cambria Math"/>
                          </a:rPr>
                        </m:ctrlPr>
                      </m:sSupPr>
                      <m:e>
                        <m:r>
                          <a:rPr lang="it-IT" sz="2100" b="0" i="1" dirty="0" smtClean="0">
                            <a:solidFill>
                              <a:srgbClr val="182D45"/>
                            </a:solidFill>
                            <a:latin typeface="Cambria Math" panose="02040503050406030204" pitchFamily="18" charset="0"/>
                            <a:ea typeface="Cambria Math"/>
                            <a:cs typeface="Cambria Math"/>
                          </a:rPr>
                          <m:t>ℝ</m:t>
                        </m:r>
                      </m:e>
                      <m:sup>
                        <m:r>
                          <a:rPr lang="it-IT" sz="2100" b="0" i="1" dirty="0" smtClean="0">
                            <a:solidFill>
                              <a:srgbClr val="182D45"/>
                            </a:solidFill>
                            <a:latin typeface="Cambria Math" panose="02040503050406030204" pitchFamily="18" charset="0"/>
                            <a:ea typeface="Cambria Math"/>
                            <a:cs typeface="Cambria Math"/>
                          </a:rPr>
                          <m:t>𝑁</m:t>
                        </m:r>
                        <m:r>
                          <a:rPr lang="it-IT" sz="2100" b="0" i="1" dirty="0" smtClean="0">
                            <a:solidFill>
                              <a:srgbClr val="182D45"/>
                            </a:solidFill>
                            <a:latin typeface="Cambria Math" panose="02040503050406030204" pitchFamily="18" charset="0"/>
                            <a:ea typeface="Cambria Math"/>
                            <a:cs typeface="Cambria Math"/>
                          </a:rPr>
                          <m:t>×</m:t>
                        </m:r>
                        <m:r>
                          <a:rPr lang="it-IT" sz="2100" b="0" i="1" dirty="0" smtClean="0">
                            <a:solidFill>
                              <a:srgbClr val="182D45"/>
                            </a:solidFill>
                            <a:latin typeface="Cambria Math" panose="02040503050406030204" pitchFamily="18" charset="0"/>
                            <a:ea typeface="Cambria Math"/>
                            <a:cs typeface="Cambria Math"/>
                          </a:rPr>
                          <m:t>𝑚</m:t>
                        </m:r>
                      </m:sup>
                    </m:sSup>
                  </m:oMath>
                </a14:m>
                <a:r>
                  <a:rPr lang="en-GB" sz="2100" b="0" i="0" dirty="0">
                    <a:solidFill>
                      <a:srgbClr val="182D45"/>
                    </a:solidFill>
                    <a:latin typeface="DejaVu Sans"/>
                    <a:ea typeface="DejaVu Sans"/>
                    <a:cs typeface="DejaVu Sans"/>
                  </a:rPr>
                  <a:t> and the colum</a:t>
                </a:r>
                <a:r>
                  <a:rPr lang="en-GB" sz="2100" dirty="0">
                    <a:solidFill>
                      <a:srgbClr val="182D45"/>
                    </a:solidFill>
                    <a:latin typeface="DejaVu Sans"/>
                    <a:ea typeface="DejaVu Sans"/>
                    <a:cs typeface="DejaVu Sans"/>
                  </a:rPr>
                  <a:t>n of observations </a:t>
                </a:r>
                <a14:m>
                  <m:oMath xmlns:m="http://schemas.openxmlformats.org/officeDocument/2006/math">
                    <m:r>
                      <a:rPr lang="it-IT" sz="2100" b="1" dirty="0">
                        <a:solidFill>
                          <a:srgbClr val="182D45"/>
                        </a:solidFill>
                        <a:latin typeface="Cambria Math" panose="02040503050406030204" pitchFamily="18" charset="0"/>
                      </a:rPr>
                      <m:t>𝐲</m:t>
                    </m:r>
                    <m:r>
                      <a:rPr lang="it-IT" sz="2100" b="1" i="1" dirty="0" smtClean="0">
                        <a:solidFill>
                          <a:srgbClr val="182D45"/>
                        </a:solidFill>
                        <a:latin typeface="Cambria Math" panose="02040503050406030204" pitchFamily="18" charset="0"/>
                      </a:rPr>
                      <m:t>∈</m:t>
                    </m:r>
                    <m:sSup>
                      <m:sSupPr>
                        <m:ctrlPr>
                          <a:rPr lang="it-IT" sz="2100" b="1" i="1" dirty="0" smtClean="0">
                            <a:solidFill>
                              <a:srgbClr val="182D45"/>
                            </a:solidFill>
                            <a:latin typeface="Cambria Math" panose="02040503050406030204" pitchFamily="18" charset="0"/>
                          </a:rPr>
                        </m:ctrlPr>
                      </m:sSupPr>
                      <m:e>
                        <m:r>
                          <a:rPr lang="it-IT" sz="2100" b="1" i="1" dirty="0" smtClean="0">
                            <a:solidFill>
                              <a:srgbClr val="182D45"/>
                            </a:solidFill>
                            <a:latin typeface="Cambria Math" panose="02040503050406030204" pitchFamily="18" charset="0"/>
                          </a:rPr>
                          <m:t>ℝ</m:t>
                        </m:r>
                      </m:e>
                      <m:sup>
                        <m:r>
                          <a:rPr lang="it-IT" sz="2100" b="0" i="1" dirty="0" smtClean="0">
                            <a:solidFill>
                              <a:srgbClr val="182D45"/>
                            </a:solidFill>
                            <a:latin typeface="Cambria Math" panose="02040503050406030204" pitchFamily="18" charset="0"/>
                          </a:rPr>
                          <m:t>𝑁</m:t>
                        </m:r>
                        <m:r>
                          <a:rPr lang="it-IT" sz="2100" b="0" i="1" dirty="0" smtClean="0">
                            <a:solidFill>
                              <a:srgbClr val="182D45"/>
                            </a:solidFill>
                            <a:latin typeface="Cambria Math" panose="02040503050406030204" pitchFamily="18" charset="0"/>
                          </a:rPr>
                          <m:t>×1</m:t>
                        </m:r>
                      </m:sup>
                    </m:sSup>
                  </m:oMath>
                </a14:m>
                <a:r>
                  <a:rPr lang="en-GB" sz="2100" dirty="0">
                    <a:solidFill>
                      <a:srgbClr val="182D45"/>
                    </a:solidFill>
                    <a:latin typeface="DejaVu Sans"/>
                    <a:ea typeface="DejaVu Sans"/>
                    <a:cs typeface="DejaVu Sans"/>
                  </a:rPr>
                  <a:t> by </a:t>
                </a:r>
                <a:endParaRPr lang="en-GB" sz="2100" b="0" i="0" dirty="0">
                  <a:solidFill>
                    <a:srgbClr val="182D45"/>
                  </a:solidFill>
                  <a:latin typeface="DejaVu Sans"/>
                  <a:ea typeface="DejaVu Sans"/>
                  <a:cs typeface="DejaVu Sans"/>
                </a:endParaRPr>
              </a:p>
            </p:txBody>
          </p:sp>
        </mc:Choice>
        <mc:Fallback xmlns="">
          <p:sp>
            <p:nvSpPr>
              <p:cNvPr id="11" name="CasellaDiTesto 10">
                <a:extLst>
                  <a:ext uri="{FF2B5EF4-FFF2-40B4-BE49-F238E27FC236}">
                    <a16:creationId xmlns:a16="http://schemas.microsoft.com/office/drawing/2014/main" id="{46BA2D28-C16A-724A-DDBC-D1AE9973DC41}"/>
                  </a:ext>
                </a:extLst>
              </p:cNvPr>
              <p:cNvSpPr txBox="1">
                <a:spLocks noRot="1" noChangeAspect="1" noMove="1" noResize="1" noEditPoints="1" noAdjustHandles="1" noChangeArrowheads="1" noChangeShapeType="1" noTextEdit="1"/>
              </p:cNvSpPr>
              <p:nvPr/>
            </p:nvSpPr>
            <p:spPr>
              <a:xfrm>
                <a:off x="851154" y="4390070"/>
                <a:ext cx="10953750" cy="422744"/>
              </a:xfrm>
              <a:prstGeom prst="rect">
                <a:avLst/>
              </a:prstGeom>
              <a:blipFill>
                <a:blip r:embed="rId6"/>
                <a:stretch>
                  <a:fillRect t="-10000" r="-890" b="-24286"/>
                </a:stretch>
              </a:blipFill>
            </p:spPr>
            <p:txBody>
              <a:bodyPr/>
              <a:lstStyle/>
              <a:p>
                <a:r>
                  <a:rPr lang="it-IT">
                    <a:noFill/>
                  </a:rPr>
                  <a:t> </a:t>
                </a:r>
              </a:p>
            </p:txBody>
          </p:sp>
        </mc:Fallback>
      </mc:AlternateContent>
    </p:spTree>
    <p:extLst>
      <p:ext uri="{BB962C8B-B14F-4D97-AF65-F5344CB8AC3E}">
        <p14:creationId xmlns:p14="http://schemas.microsoft.com/office/powerpoint/2010/main" val="388633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0D9ED3F-3530-4AD9-B013-3844B906EBFD}"/>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a:solidFill>
                  <a:srgbClr val="182D45"/>
                </a:solidFill>
                <a:latin typeface="DejaVu Sans"/>
                <a:ea typeface="DejaVu Sans"/>
                <a:cs typeface="DejaVu Sans"/>
              </a:rPr>
              <a:t>Feature expansion: fitting the coefficients</a:t>
            </a:r>
            <a:endParaRPr lang="en-GB" sz="3150" b="1" i="0" dirty="0">
              <a:solidFill>
                <a:srgbClr val="182D45"/>
              </a:solidFill>
              <a:latin typeface="DejaVu Sans"/>
              <a:ea typeface="DejaVu Sans"/>
              <a:cs typeface="DejaVu Sans"/>
            </a:endParaRPr>
          </a:p>
        </p:txBody>
      </p:sp>
      <p:sp>
        <p:nvSpPr>
          <p:cNvPr id="2" name="page_number">
            <a:extLst>
              <a:ext uri="{FF2B5EF4-FFF2-40B4-BE49-F238E27FC236}">
                <a16:creationId xmlns:a16="http://schemas.microsoft.com/office/drawing/2014/main" id="{BE125B2C-5F59-4EBC-A13B-FEBE214BB8BC}"/>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44</a:t>
            </a:r>
          </a:p>
        </p:txBody>
      </p:sp>
      <mc:AlternateContent xmlns:mc="http://schemas.openxmlformats.org/markup-compatibility/2006" xmlns:a14="http://schemas.microsoft.com/office/drawing/2010/main">
        <mc:Choice Requires="a14">
          <p:sp>
            <p:nvSpPr>
              <p:cNvPr id="3" name="content_55_3">
                <a:extLst>
                  <a:ext uri="{FF2B5EF4-FFF2-40B4-BE49-F238E27FC236}">
                    <a16:creationId xmlns:a16="http://schemas.microsoft.com/office/drawing/2014/main" id="{A69C69A7-F539-444F-8520-A30401701B50}"/>
                  </a:ext>
                </a:extLst>
              </p:cNvPr>
              <p:cNvSpPr txBox="1">
                <a:spLocks noGrp="1"/>
              </p:cNvSpPr>
              <p:nvPr/>
            </p:nvSpPr>
            <p:spPr>
              <a:xfrm>
                <a:off x="619125" y="1767840"/>
                <a:ext cx="10953750" cy="1104900"/>
              </a:xfrm>
              <a:prstGeom prst="rect">
                <a:avLst/>
              </a:prstGeom>
              <a:noFill/>
              <a:ln w="0">
                <a:noFill/>
              </a:ln>
            </p:spPr>
            <p:txBody>
              <a:bodyPr vertOverflow="overflow" wrap="none" lIns="0" tIns="0" rIns="0" bIns="0" anchor="ctr">
                <a:noAutofit/>
              </a:bodyPr>
              <a:lstStyle/>
              <a:p>
                <a:pPr algn="ctr">
                  <a:defRPr lang="en-GB" sz="2550" b="0" i="0" dirty="0">
                    <a:solidFill>
                      <a:srgbClr val="182D45"/>
                    </a:solidFill>
                    <a:latin typeface="DejaVu Sans"/>
                    <a:ea typeface="DejaVu Sans"/>
                    <a:cs typeface="DejaVu Sans"/>
                  </a:defRPr>
                </a:pPr>
                <a14:m>
                  <m:oMathPara xmlns:m="http://schemas.openxmlformats.org/officeDocument/2006/math">
                    <m:oMath>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ℒ</m:t>
                          </m:r>
                        </m:e>
                        <m:sub>
                          <m:r>
                            <m:rPr>
                              <m:sty m:val="p"/>
                            </m:rPr>
                            <a:rPr lang="en-GB" sz="2550" b="0" dirty="0">
                              <a:solidFill>
                                <a:srgbClr val="182D45"/>
                              </a:solidFill>
                              <a:latin typeface="Cambria Math"/>
                              <a:ea typeface="Cambria Math"/>
                              <a:cs typeface="Cambria Math"/>
                            </a:rPr>
                            <m:t>sq</m:t>
                          </m:r>
                        </m:sub>
                      </m:sSub>
                      <m:d>
                        <m:dPr>
                          <m:ctrlPr>
                            <a:rPr lang="it-IT" sz="2550" b="1" i="0" dirty="0" smtClean="0">
                              <a:solidFill>
                                <a:srgbClr val="182D45"/>
                              </a:solidFill>
                              <a:latin typeface="Cambria Math" panose="02040503050406030204" pitchFamily="18" charset="0"/>
                              <a:ea typeface="Cambria Math"/>
                              <a:cs typeface="Cambria Math"/>
                            </a:rPr>
                          </m:ctrlPr>
                        </m:dPr>
                        <m:e>
                          <m:r>
                            <a:rPr lang="it-IT" sz="2550" b="1" i="0" dirty="0" smtClean="0">
                              <a:solidFill>
                                <a:srgbClr val="182D45"/>
                              </a:solidFill>
                              <a:latin typeface="Cambria Math" panose="02040503050406030204" pitchFamily="18" charset="0"/>
                              <a:ea typeface="Cambria Math"/>
                              <a:cs typeface="Cambria Math"/>
                            </a:rPr>
                            <m:t>𝛉</m:t>
                          </m:r>
                        </m:e>
                      </m:d>
                      <m:r>
                        <a:rPr lang="it-IT" sz="2550" b="0" i="0" dirty="0" smtClean="0">
                          <a:solidFill>
                            <a:srgbClr val="182D45"/>
                          </a:solidFill>
                          <a:latin typeface="Cambria Math" panose="02040503050406030204" pitchFamily="18" charset="0"/>
                          <a:ea typeface="Cambria Math"/>
                          <a:cs typeface="Cambria Math"/>
                        </a:rPr>
                        <m:t>=</m:t>
                      </m:r>
                      <m:nary>
                        <m:naryPr>
                          <m:chr m:val="∑"/>
                          <m:ctrlPr>
                            <a:rPr lang="it-IT" sz="2550" b="0" i="1" dirty="0" smtClean="0">
                              <a:solidFill>
                                <a:srgbClr val="182D45"/>
                              </a:solidFill>
                              <a:latin typeface="Cambria Math" panose="02040503050406030204" pitchFamily="18" charset="0"/>
                              <a:ea typeface="Cambria Math"/>
                              <a:cs typeface="Cambria Math"/>
                            </a:rPr>
                          </m:ctrlPr>
                        </m:naryPr>
                        <m:sub>
                          <m:r>
                            <a:rPr lang="it-IT" sz="2550" b="0" i="1" dirty="0" smtClean="0">
                              <a:solidFill>
                                <a:srgbClr val="182D45"/>
                              </a:solidFill>
                              <a:latin typeface="Cambria Math" panose="02040503050406030204" pitchFamily="18" charset="0"/>
                              <a:ea typeface="Cambria Math"/>
                              <a:cs typeface="Cambria Math"/>
                            </a:rPr>
                            <m:t>𝑖</m:t>
                          </m:r>
                          <m:r>
                            <a:rPr lang="it-IT" sz="2550" b="0" i="1" dirty="0" smtClean="0">
                              <a:solidFill>
                                <a:srgbClr val="182D45"/>
                              </a:solidFill>
                              <a:latin typeface="Cambria Math" panose="02040503050406030204" pitchFamily="18" charset="0"/>
                              <a:ea typeface="Cambria Math"/>
                              <a:cs typeface="Cambria Math"/>
                            </a:rPr>
                            <m:t>=1</m:t>
                          </m:r>
                        </m:sub>
                        <m:sup>
                          <m:r>
                            <a:rPr lang="it-IT" sz="2550" b="0" i="1" dirty="0" smtClean="0">
                              <a:solidFill>
                                <a:srgbClr val="182D45"/>
                              </a:solidFill>
                              <a:latin typeface="Cambria Math" panose="02040503050406030204" pitchFamily="18" charset="0"/>
                              <a:ea typeface="Cambria Math"/>
                              <a:cs typeface="Cambria Math"/>
                            </a:rPr>
                            <m:t>𝑁</m:t>
                          </m:r>
                        </m:sup>
                        <m:e>
                          <m:sSub>
                            <m:sSubPr>
                              <m:ctrlPr>
                                <a:rPr lang="it-IT" sz="2550" b="0" i="1" dirty="0" smtClean="0">
                                  <a:solidFill>
                                    <a:srgbClr val="182D45"/>
                                  </a:solidFill>
                                  <a:latin typeface="Cambria Math" panose="02040503050406030204" pitchFamily="18" charset="0"/>
                                  <a:ea typeface="Cambria Math"/>
                                  <a:cs typeface="Cambria Math"/>
                                </a:rPr>
                              </m:ctrlPr>
                            </m:sSubPr>
                            <m:e>
                              <m:r>
                                <m:rPr>
                                  <m:sty m:val="p"/>
                                </m:rPr>
                                <a:rPr lang="it-IT" sz="2550" b="0" i="1" dirty="0" smtClean="0">
                                  <a:solidFill>
                                    <a:srgbClr val="182D45"/>
                                  </a:solidFill>
                                  <a:latin typeface="Cambria Math" panose="02040503050406030204" pitchFamily="18" charset="0"/>
                                  <a:ea typeface="Cambria Math"/>
                                  <a:cs typeface="Cambria Math"/>
                                </a:rPr>
                                <m:t>ℓ</m:t>
                              </m:r>
                            </m:e>
                            <m:sub>
                              <m:r>
                                <m:rPr>
                                  <m:sty m:val="p"/>
                                </m:rPr>
                                <a:rPr lang="it-IT" sz="2550" b="0" i="0" dirty="0" smtClean="0">
                                  <a:solidFill>
                                    <a:srgbClr val="182D45"/>
                                  </a:solidFill>
                                  <a:latin typeface="Cambria Math" panose="02040503050406030204" pitchFamily="18" charset="0"/>
                                  <a:ea typeface="Cambria Math"/>
                                  <a:cs typeface="Cambria Math"/>
                                </a:rPr>
                                <m:t>sq</m:t>
                              </m:r>
                            </m:sub>
                          </m:sSub>
                          <m:d>
                            <m:dPr>
                              <m:ctrlPr>
                                <a:rPr lang="it-IT" sz="2550" b="0" i="1" dirty="0" smtClean="0">
                                  <a:solidFill>
                                    <a:srgbClr val="182D45"/>
                                  </a:solidFill>
                                  <a:latin typeface="Cambria Math" panose="02040503050406030204" pitchFamily="18" charset="0"/>
                                  <a:ea typeface="Cambria Math"/>
                                  <a:cs typeface="Cambria Math"/>
                                </a:rPr>
                              </m:ctrlPr>
                            </m:dPr>
                            <m:e>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𝑓</m:t>
                                  </m:r>
                                </m:e>
                                <m:sub>
                                  <m:r>
                                    <a:rPr lang="it-IT" sz="2550" b="1" dirty="0">
                                      <a:solidFill>
                                        <a:srgbClr val="182D45"/>
                                      </a:solidFill>
                                      <a:latin typeface="Cambria Math" panose="02040503050406030204" pitchFamily="18" charset="0"/>
                                      <a:ea typeface="Cambria Math"/>
                                      <a:cs typeface="Cambria Math"/>
                                    </a:rPr>
                                    <m:t>𝛉</m:t>
                                  </m:r>
                                </m:sub>
                              </m:sSub>
                              <m:d>
                                <m:dPr>
                                  <m:ctrlPr>
                                    <a:rPr lang="it-IT" sz="2550" b="0" i="1" dirty="0" smtClean="0">
                                      <a:solidFill>
                                        <a:srgbClr val="182D45"/>
                                      </a:solidFill>
                                      <a:latin typeface="Cambria Math" panose="02040503050406030204" pitchFamily="18" charset="0"/>
                                      <a:ea typeface="Cambria Math"/>
                                      <a:cs typeface="Cambria Math"/>
                                    </a:rPr>
                                  </m:ctrlPr>
                                </m:dPr>
                                <m:e>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𝑥</m:t>
                                      </m:r>
                                    </m:e>
                                    <m:sub>
                                      <m:r>
                                        <a:rPr lang="it-IT" sz="2550" b="0" i="1" dirty="0" smtClean="0">
                                          <a:solidFill>
                                            <a:srgbClr val="182D45"/>
                                          </a:solidFill>
                                          <a:latin typeface="Cambria Math" panose="02040503050406030204" pitchFamily="18" charset="0"/>
                                          <a:ea typeface="Cambria Math"/>
                                          <a:cs typeface="Cambria Math"/>
                                        </a:rPr>
                                        <m:t>𝑖</m:t>
                                      </m:r>
                                    </m:sub>
                                  </m:sSub>
                                </m:e>
                              </m:d>
                              <m:r>
                                <a:rPr lang="it-IT" sz="2550" b="0" i="1" dirty="0" smtClean="0">
                                  <a:solidFill>
                                    <a:srgbClr val="182D45"/>
                                  </a:solidFill>
                                  <a:latin typeface="Cambria Math" panose="02040503050406030204" pitchFamily="18" charset="0"/>
                                  <a:ea typeface="Cambria Math"/>
                                  <a:cs typeface="Cambria Math"/>
                                </a:rPr>
                                <m:t>,</m:t>
                              </m:r>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𝑦</m:t>
                                  </m:r>
                                </m:e>
                                <m:sub>
                                  <m:r>
                                    <a:rPr lang="it-IT" sz="2550" b="0" i="1" dirty="0" smtClean="0">
                                      <a:solidFill>
                                        <a:srgbClr val="182D45"/>
                                      </a:solidFill>
                                      <a:latin typeface="Cambria Math" panose="02040503050406030204" pitchFamily="18" charset="0"/>
                                      <a:ea typeface="Cambria Math"/>
                                      <a:cs typeface="Cambria Math"/>
                                    </a:rPr>
                                    <m:t>𝑖</m:t>
                                  </m:r>
                                </m:sub>
                              </m:sSub>
                            </m:e>
                          </m:d>
                        </m:e>
                      </m:nary>
                      <m:r>
                        <a:rPr lang="en-GB" sz="2550" b="0" dirty="0">
                          <a:solidFill>
                            <a:srgbClr val="182D45"/>
                          </a:solidFill>
                          <a:latin typeface="Cambria Math"/>
                          <a:ea typeface="Cambria Math"/>
                          <a:cs typeface="Cambria Math"/>
                        </a:rPr>
                        <m:t>=</m:t>
                      </m:r>
                      <m:sSubSup>
                        <m:sSubSupPr>
                          <m:ctrlPr>
                            <a:rPr lang="it-IT" sz="2550" b="1" i="1" dirty="0">
                              <a:solidFill>
                                <a:srgbClr val="182D45"/>
                              </a:solidFill>
                              <a:latin typeface="Cambria Math" panose="02040503050406030204" pitchFamily="18" charset="0"/>
                            </a:rPr>
                          </m:ctrlPr>
                        </m:sSubSupPr>
                        <m:e>
                          <m:d>
                            <m:dPr>
                              <m:begChr m:val="‖"/>
                              <m:endChr m:val="‖"/>
                              <m:ctrlPr>
                                <a:rPr lang="it-IT" sz="2550" b="1" i="0" dirty="0">
                                  <a:solidFill>
                                    <a:srgbClr val="182D45"/>
                                  </a:solidFill>
                                  <a:latin typeface="Cambria Math" panose="02040503050406030204" pitchFamily="18" charset="0"/>
                                </a:rPr>
                              </m:ctrlPr>
                            </m:dPr>
                            <m:e>
                              <m:r>
                                <a:rPr lang="it-IT" sz="2550" b="1" i="0" dirty="0">
                                  <a:solidFill>
                                    <a:srgbClr val="182D45"/>
                                  </a:solidFill>
                                  <a:latin typeface="Cambria Math" panose="02040503050406030204" pitchFamily="18" charset="0"/>
                                </a:rPr>
                                <m:t>𝚽</m:t>
                              </m:r>
                              <m:r>
                                <a:rPr lang="it-IT" sz="2550" b="1" dirty="0">
                                  <a:solidFill>
                                    <a:srgbClr val="182D45"/>
                                  </a:solidFill>
                                  <a:latin typeface="Cambria Math" panose="02040503050406030204" pitchFamily="18" charset="0"/>
                                  <a:ea typeface="Cambria Math"/>
                                  <a:cs typeface="Cambria Math"/>
                                </a:rPr>
                                <m:t>𝛉</m:t>
                              </m:r>
                              <m:r>
                                <a:rPr lang="it-IT" sz="2550" i="1" dirty="0">
                                  <a:solidFill>
                                    <a:srgbClr val="182D45"/>
                                  </a:solidFill>
                                  <a:latin typeface="Cambria Math" panose="02040503050406030204" pitchFamily="18" charset="0"/>
                                </a:rPr>
                                <m:t>−</m:t>
                              </m:r>
                              <m:r>
                                <a:rPr lang="it-IT" sz="2550" b="1" i="0" dirty="0">
                                  <a:solidFill>
                                    <a:srgbClr val="182D45"/>
                                  </a:solidFill>
                                  <a:latin typeface="Cambria Math" panose="02040503050406030204" pitchFamily="18" charset="0"/>
                                </a:rPr>
                                <m:t>𝐲</m:t>
                              </m:r>
                            </m:e>
                          </m:d>
                        </m:e>
                        <m:sub>
                          <m:r>
                            <a:rPr lang="it-IT" sz="2550" i="1" dirty="0">
                              <a:solidFill>
                                <a:srgbClr val="182D45"/>
                              </a:solidFill>
                              <a:latin typeface="Cambria Math" panose="02040503050406030204" pitchFamily="18" charset="0"/>
                            </a:rPr>
                            <m:t>2</m:t>
                          </m:r>
                        </m:sub>
                        <m:sup>
                          <m:r>
                            <a:rPr lang="it-IT" sz="2550" i="1" dirty="0">
                              <a:solidFill>
                                <a:srgbClr val="182D45"/>
                              </a:solidFill>
                              <a:latin typeface="Cambria Math" panose="02040503050406030204" pitchFamily="18" charset="0"/>
                            </a:rPr>
                            <m:t>2</m:t>
                          </m:r>
                        </m:sup>
                      </m:sSubSup>
                    </m:oMath>
                  </m:oMathPara>
                </a14:m>
                <a:endParaRPr lang="en-GB" sz="2550" b="0" i="0" dirty="0">
                  <a:solidFill>
                    <a:srgbClr val="182D45"/>
                  </a:solidFill>
                  <a:latin typeface="DejaVu Sans"/>
                  <a:ea typeface="DejaVu Sans"/>
                  <a:cs typeface="DejaVu Sans"/>
                </a:endParaRPr>
              </a:p>
            </p:txBody>
          </p:sp>
        </mc:Choice>
        <mc:Fallback xmlns="">
          <p:sp>
            <p:nvSpPr>
              <p:cNvPr id="3" name="content_55_3">
                <a:extLst>
                  <a:ext uri="{FF2B5EF4-FFF2-40B4-BE49-F238E27FC236}">
                    <a16:creationId xmlns:a16="http://schemas.microsoft.com/office/drawing/2014/main" id="{A69C69A7-F539-444F-8520-A30401701B50}"/>
                  </a:ext>
                </a:extLst>
              </p:cNvPr>
              <p:cNvSpPr txBox="1">
                <a:spLocks noGrp="1" noRot="1" noChangeAspect="1" noMove="1" noResize="1" noEditPoints="1" noAdjustHandles="1" noChangeArrowheads="1" noChangeShapeType="1" noTextEdit="1"/>
              </p:cNvSpPr>
              <p:nvPr/>
            </p:nvSpPr>
            <p:spPr>
              <a:xfrm>
                <a:off x="619125" y="1767840"/>
                <a:ext cx="10953750" cy="11049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ontent_55_5">
                <a:extLst>
                  <a:ext uri="{FF2B5EF4-FFF2-40B4-BE49-F238E27FC236}">
                    <a16:creationId xmlns:a16="http://schemas.microsoft.com/office/drawing/2014/main" id="{47A68216-1D6D-4631-ABE4-B5E5001354DA}"/>
                  </a:ext>
                </a:extLst>
              </p:cNvPr>
              <p:cNvSpPr txBox="1">
                <a:spLocks noGrp="1"/>
              </p:cNvSpPr>
              <p:nvPr/>
            </p:nvSpPr>
            <p:spPr>
              <a:xfrm>
                <a:off x="574929" y="4692560"/>
                <a:ext cx="10953750" cy="647700"/>
              </a:xfrm>
              <a:prstGeom prst="rect">
                <a:avLst/>
              </a:prstGeom>
              <a:noFill/>
              <a:ln w="0">
                <a:noFill/>
              </a:ln>
            </p:spPr>
            <p:txBody>
              <a:bodyPr vertOverflow="overflow" wrap="none" lIns="0" tIns="0" rIns="0" bIns="0" anchor="ctr">
                <a:noAutofit/>
              </a:bodyPr>
              <a:lstStyle/>
              <a:p>
                <a:pPr marL="0" marR="0" indent="0" algn="ctr">
                  <a:defRPr lang="en-GB" sz="2800" b="0" i="0" dirty="0">
                    <a:solidFill>
                      <a:srgbClr val="326CB2"/>
                    </a:solidFill>
                    <a:latin typeface="DejaVu Sans"/>
                    <a:ea typeface="DejaVu Sans"/>
                    <a:cs typeface="DejaVu Sans"/>
                  </a:defRPr>
                </a:pPr>
                <a14:m>
                  <m:oMathPara xmlns:m="http://schemas.openxmlformats.org/officeDocument/2006/math">
                    <m:oMath>
                      <m:sSup>
                        <m:sSupPr>
                          <m:ctrlPr>
                            <a:rPr lang="it-IT" sz="2800" b="1" i="0" dirty="0" smtClean="0">
                              <a:solidFill>
                                <a:srgbClr val="326CB2"/>
                              </a:solidFill>
                              <a:latin typeface="Cambria Math" panose="02040503050406030204" pitchFamily="18" charset="0"/>
                              <a:ea typeface="Cambria Math"/>
                              <a:cs typeface="Cambria Math"/>
                            </a:rPr>
                          </m:ctrlPr>
                        </m:sSupPr>
                        <m:e>
                          <m:r>
                            <a:rPr lang="it-IT" sz="2800" b="1" i="0" dirty="0" smtClean="0">
                              <a:solidFill>
                                <a:srgbClr val="326CB2"/>
                              </a:solidFill>
                              <a:latin typeface="Cambria Math" panose="02040503050406030204" pitchFamily="18" charset="0"/>
                              <a:ea typeface="Cambria Math"/>
                              <a:cs typeface="Cambria Math"/>
                            </a:rPr>
                            <m:t>𝛉</m:t>
                          </m:r>
                        </m:e>
                        <m:sup>
                          <m:r>
                            <a:rPr lang="en-GB" sz="2800" b="0" dirty="0">
                              <a:solidFill>
                                <a:srgbClr val="326CB2"/>
                              </a:solidFill>
                              <a:latin typeface="Cambria Math"/>
                              <a:ea typeface="Cambria Math"/>
                              <a:cs typeface="Cambria Math"/>
                            </a:rPr>
                            <m:t>∗</m:t>
                          </m:r>
                        </m:sup>
                      </m:sSup>
                      <m:r>
                        <a:rPr lang="en-GB" sz="2800" b="0" dirty="0">
                          <a:solidFill>
                            <a:srgbClr val="326CB2"/>
                          </a:solidFill>
                          <a:latin typeface="Cambria Math"/>
                          <a:ea typeface="Cambria Math"/>
                          <a:cs typeface="Cambria Math"/>
                        </a:rPr>
                        <m:t>=</m:t>
                      </m:r>
                      <m:sSup>
                        <m:sSupPr>
                          <m:ctrlPr>
                            <a:rPr lang="en-GB" sz="2800" b="0" i="1" dirty="0">
                              <a:solidFill>
                                <a:srgbClr val="326CB2"/>
                              </a:solidFill>
                              <a:latin typeface="Cambria Math" panose="02040503050406030204" pitchFamily="18" charset="0"/>
                              <a:ea typeface="Cambria Math"/>
                              <a:cs typeface="Cambria Math"/>
                            </a:rPr>
                          </m:ctrlPr>
                        </m:sSupPr>
                        <m:e>
                          <m:d>
                            <m:dPr>
                              <m:ctrlPr>
                                <a:rPr lang="en-GB" sz="2800" b="0" i="1" dirty="0">
                                  <a:solidFill>
                                    <a:srgbClr val="326CB2"/>
                                  </a:solidFill>
                                  <a:latin typeface="Cambria Math" panose="02040503050406030204" pitchFamily="18" charset="0"/>
                                  <a:ea typeface="Cambria Math"/>
                                  <a:cs typeface="Cambria Math"/>
                                </a:rPr>
                              </m:ctrlPr>
                            </m:dPr>
                            <m:e>
                              <m:sSup>
                                <m:sSupPr>
                                  <m:ctrlPr>
                                    <a:rPr lang="en-GB" sz="2800" b="0" dirty="0">
                                      <a:solidFill>
                                        <a:srgbClr val="326CB2"/>
                                      </a:solidFill>
                                      <a:latin typeface="Cambria Math"/>
                                      <a:ea typeface="Cambria Math"/>
                                      <a:cs typeface="Cambria Math"/>
                                    </a:rPr>
                                  </m:ctrlPr>
                                </m:sSupPr>
                                <m:e>
                                  <m:r>
                                    <a:rPr lang="en-GB" sz="2800" b="0" dirty="0">
                                      <a:solidFill>
                                        <a:srgbClr val="326CB2"/>
                                      </a:solidFill>
                                      <a:latin typeface="Cambria Math"/>
                                      <a:ea typeface="Cambria Math"/>
                                      <a:cs typeface="Cambria Math"/>
                                    </a:rPr>
                                    <m:t>𝚽</m:t>
                                  </m:r>
                                </m:e>
                                <m:sup>
                                  <m:r>
                                    <a:rPr lang="en-GB" sz="2800" b="0" dirty="0">
                                      <a:solidFill>
                                        <a:srgbClr val="326CB2"/>
                                      </a:solidFill>
                                      <a:latin typeface="Cambria Math"/>
                                      <a:ea typeface="Cambria Math"/>
                                      <a:cs typeface="Cambria Math"/>
                                    </a:rPr>
                                    <m:t>⊤</m:t>
                                  </m:r>
                                </m:sup>
                              </m:sSup>
                              <m:r>
                                <a:rPr lang="en-GB" sz="2800" b="0" dirty="0">
                                  <a:solidFill>
                                    <a:srgbClr val="326CB2"/>
                                  </a:solidFill>
                                  <a:latin typeface="Cambria Math"/>
                                  <a:ea typeface="Cambria Math"/>
                                  <a:cs typeface="Cambria Math"/>
                                </a:rPr>
                                <m:t>𝚽</m:t>
                              </m:r>
                            </m:e>
                          </m:d>
                        </m:e>
                        <m:sup>
                          <m:r>
                            <a:rPr lang="en-GB" sz="2800" b="0" dirty="0">
                              <a:solidFill>
                                <a:srgbClr val="326CB2"/>
                              </a:solidFill>
                              <a:latin typeface="Cambria Math"/>
                              <a:ea typeface="Cambria Math"/>
                              <a:cs typeface="Cambria Math"/>
                            </a:rPr>
                            <m:t>−1</m:t>
                          </m:r>
                        </m:sup>
                      </m:sSup>
                      <m:sSup>
                        <m:sSupPr>
                          <m:ctrlPr>
                            <a:rPr lang="en-GB" sz="2800" b="0" dirty="0">
                              <a:solidFill>
                                <a:srgbClr val="326CB2"/>
                              </a:solidFill>
                              <a:latin typeface="Cambria Math"/>
                              <a:ea typeface="Cambria Math"/>
                              <a:cs typeface="Cambria Math"/>
                            </a:rPr>
                          </m:ctrlPr>
                        </m:sSupPr>
                        <m:e>
                          <m:r>
                            <a:rPr lang="en-GB" sz="2800" b="0" dirty="0">
                              <a:solidFill>
                                <a:srgbClr val="326CB2"/>
                              </a:solidFill>
                              <a:latin typeface="Cambria Math"/>
                              <a:ea typeface="Cambria Math"/>
                              <a:cs typeface="Cambria Math"/>
                            </a:rPr>
                            <m:t>𝚽</m:t>
                          </m:r>
                        </m:e>
                        <m:sup>
                          <m:r>
                            <a:rPr lang="en-GB" sz="2800" b="0" dirty="0">
                              <a:solidFill>
                                <a:srgbClr val="326CB2"/>
                              </a:solidFill>
                              <a:latin typeface="Cambria Math"/>
                              <a:ea typeface="Cambria Math"/>
                              <a:cs typeface="Cambria Math"/>
                            </a:rPr>
                            <m:t>⊤</m:t>
                          </m:r>
                        </m:sup>
                      </m:sSup>
                      <m:r>
                        <a:rPr lang="en-GB" sz="2800" b="0" dirty="0">
                          <a:solidFill>
                            <a:srgbClr val="326CB2"/>
                          </a:solidFill>
                          <a:latin typeface="Cambria Math"/>
                          <a:ea typeface="Cambria Math"/>
                          <a:cs typeface="Cambria Math"/>
                        </a:rPr>
                        <m:t>𝐲</m:t>
                      </m:r>
                    </m:oMath>
                  </m:oMathPara>
                </a14:m>
                <a:endParaRPr lang="en-GB" sz="2800" b="0" i="0" dirty="0">
                  <a:solidFill>
                    <a:srgbClr val="326CB2"/>
                  </a:solidFill>
                  <a:latin typeface="DejaVu Sans"/>
                  <a:ea typeface="DejaVu Sans"/>
                  <a:cs typeface="DejaVu Sans"/>
                </a:endParaRPr>
              </a:p>
            </p:txBody>
          </p:sp>
        </mc:Choice>
        <mc:Fallback>
          <p:sp>
            <p:nvSpPr>
              <p:cNvPr id="5" name="content_55_5">
                <a:extLst>
                  <a:ext uri="{FF2B5EF4-FFF2-40B4-BE49-F238E27FC236}">
                    <a16:creationId xmlns:a16="http://schemas.microsoft.com/office/drawing/2014/main" id="{47A68216-1D6D-4631-ABE4-B5E5001354DA}"/>
                  </a:ext>
                </a:extLst>
              </p:cNvPr>
              <p:cNvSpPr txBox="1">
                <a:spLocks noGrp="1" noRot="1" noChangeAspect="1" noMove="1" noResize="1" noEditPoints="1" noAdjustHandles="1" noChangeArrowheads="1" noChangeShapeType="1" noTextEdit="1"/>
              </p:cNvSpPr>
              <p:nvPr/>
            </p:nvSpPr>
            <p:spPr>
              <a:xfrm>
                <a:off x="574929" y="4692560"/>
                <a:ext cx="10953750" cy="647700"/>
              </a:xfrm>
              <a:prstGeom prst="rect">
                <a:avLst/>
              </a:prstGeom>
              <a:blipFill>
                <a:blip r:embed="rId4"/>
                <a:stretch>
                  <a:fillRect/>
                </a:stretch>
              </a:blipFill>
              <a:ln w="0">
                <a:noFill/>
              </a:ln>
            </p:spPr>
            <p:txBody>
              <a:bodyPr/>
              <a:lstStyle/>
              <a:p>
                <a:r>
                  <a:rPr lang="it-IT">
                    <a:noFill/>
                  </a:rPr>
                  <a:t> </a:t>
                </a:r>
              </a:p>
            </p:txBody>
          </p:sp>
        </mc:Fallback>
      </mc:AlternateContent>
      <p:sp>
        <p:nvSpPr>
          <p:cNvPr id="9" name="content_55_9">
            <a:extLst>
              <a:ext uri="{FF2B5EF4-FFF2-40B4-BE49-F238E27FC236}">
                <a16:creationId xmlns:a16="http://schemas.microsoft.com/office/drawing/2014/main" id="{99988863-11DB-4DE9-85C7-9E40220136F4}"/>
              </a:ext>
            </a:extLst>
          </p:cNvPr>
          <p:cNvSpPr txBox="1">
            <a:spLocks noGrp="1"/>
          </p:cNvSpPr>
          <p:nvPr/>
        </p:nvSpPr>
        <p:spPr>
          <a:xfrm>
            <a:off x="392316" y="5477560"/>
            <a:ext cx="10953750" cy="342900"/>
          </a:xfrm>
          <a:prstGeom prst="rect">
            <a:avLst/>
          </a:prstGeom>
          <a:noFill/>
          <a:ln w="0">
            <a:noFill/>
          </a:ln>
        </p:spPr>
        <p:txBody>
          <a:bodyPr vertOverflow="overflow" wrap="square" lIns="0" tIns="0" rIns="0" bIns="0" anchor="ctr">
            <a:noAutofit/>
          </a:bodyPr>
          <a:lstStyle/>
          <a:p>
            <a:pPr marL="0" marR="0" indent="0" algn="ctr">
              <a:defRPr lang="en-GB" sz="2100" b="1" dirty="0">
                <a:solidFill>
                  <a:srgbClr val="00858A"/>
                </a:solidFill>
                <a:latin typeface="DejaVu Sans"/>
                <a:ea typeface="DejaVu Sans"/>
                <a:cs typeface="DejaVu Sans"/>
              </a:defRPr>
            </a:pPr>
            <a:r>
              <a:rPr lang="en-GB" sz="2100" b="1" dirty="0">
                <a:latin typeface="DejaVu Sans"/>
                <a:ea typeface="DejaVu Sans"/>
                <a:cs typeface="DejaVu Sans"/>
              </a:rPr>
              <a:t>Gradient descent</a:t>
            </a:r>
          </a:p>
        </p:txBody>
      </p:sp>
      <p:sp>
        <p:nvSpPr>
          <p:cNvPr id="12" name="CasellaDiTesto 11">
            <a:extLst>
              <a:ext uri="{FF2B5EF4-FFF2-40B4-BE49-F238E27FC236}">
                <a16:creationId xmlns:a16="http://schemas.microsoft.com/office/drawing/2014/main" id="{9EE37041-0840-22FB-81F1-FCDA62B24158}"/>
              </a:ext>
            </a:extLst>
          </p:cNvPr>
          <p:cNvSpPr txBox="1"/>
          <p:nvPr/>
        </p:nvSpPr>
        <p:spPr>
          <a:xfrm>
            <a:off x="609600" y="1238250"/>
            <a:ext cx="10953750" cy="323850"/>
          </a:xfrm>
          <a:prstGeom prst="rect">
            <a:avLst/>
          </a:prstGeom>
          <a:noFill/>
        </p:spPr>
        <p:txBody>
          <a:bodyPr vertOverflow="overflow" wrap="square" lIns="0" tIns="0" rIns="0" bIns="0" anchor="ctr">
            <a:spAutoFit/>
          </a:bodyPr>
          <a:lstStyle/>
          <a:p>
            <a:pPr algn="ctr">
              <a:defRPr lang="en-GB" sz="2100" b="0" i="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Then the quadratic loss can be expressed as</a:t>
            </a:r>
          </a:p>
        </p:txBody>
      </p:sp>
      <mc:AlternateContent xmlns:mc="http://schemas.openxmlformats.org/markup-compatibility/2006">
        <mc:Choice xmlns:a14="http://schemas.microsoft.com/office/drawing/2010/main" Requires="a14">
          <p:sp>
            <p:nvSpPr>
              <p:cNvPr id="16" name="CasellaDiTesto 15">
                <a:extLst>
                  <a:ext uri="{FF2B5EF4-FFF2-40B4-BE49-F238E27FC236}">
                    <a16:creationId xmlns:a16="http://schemas.microsoft.com/office/drawing/2014/main" id="{019D5E12-3E1B-A4A3-B202-5F78429C010A}"/>
                  </a:ext>
                </a:extLst>
              </p:cNvPr>
              <p:cNvSpPr txBox="1"/>
              <p:nvPr/>
            </p:nvSpPr>
            <p:spPr>
              <a:xfrm>
                <a:off x="285750" y="4003154"/>
                <a:ext cx="10953750" cy="647700"/>
              </a:xfrm>
              <a:prstGeom prst="rect">
                <a:avLst/>
              </a:prstGeom>
              <a:noFill/>
            </p:spPr>
            <p:txBody>
              <a:bodyPr vertOverflow="overflow" wrap="square" lIns="0" tIns="0" rIns="0" bIns="0" anchor="ctr">
                <a:noAutofit/>
              </a:bodyPr>
              <a:lstStyle/>
              <a:p>
                <a:pPr algn="ctr">
                  <a:defRPr lang="en-GB" sz="2100" b="0" dirty="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If the matri</a:t>
                </a:r>
                <a:r>
                  <a:rPr lang="en-GB" sz="2100" dirty="0">
                    <a:solidFill>
                      <a:srgbClr val="182D45"/>
                    </a:solidFill>
                    <a:latin typeface="DejaVu Sans"/>
                    <a:ea typeface="DejaVu Sans"/>
                    <a:cs typeface="DejaVu Sans"/>
                  </a:rPr>
                  <a:t>x </a:t>
                </a:r>
                <a14:m>
                  <m:oMath xmlns:m="http://schemas.openxmlformats.org/officeDocument/2006/math">
                    <m:sSup>
                      <m:sSupPr>
                        <m:ctrlPr>
                          <a:rPr lang="en-GB" sz="2400" dirty="0">
                            <a:solidFill>
                              <a:schemeClr val="tx1"/>
                            </a:solidFill>
                            <a:latin typeface="Cambria Math"/>
                            <a:ea typeface="Cambria Math"/>
                            <a:cs typeface="Cambria Math"/>
                          </a:rPr>
                        </m:ctrlPr>
                      </m:sSupPr>
                      <m:e>
                        <m:r>
                          <a:rPr lang="en-GB" sz="2400" dirty="0">
                            <a:solidFill>
                              <a:schemeClr val="tx1"/>
                            </a:solidFill>
                            <a:latin typeface="Cambria Math"/>
                            <a:ea typeface="Cambria Math"/>
                            <a:cs typeface="Cambria Math"/>
                          </a:rPr>
                          <m:t>𝚽</m:t>
                        </m:r>
                      </m:e>
                      <m:sup>
                        <m:r>
                          <a:rPr lang="en-GB" sz="2400" dirty="0">
                            <a:solidFill>
                              <a:schemeClr val="tx1"/>
                            </a:solidFill>
                            <a:latin typeface="Cambria Math"/>
                            <a:ea typeface="Cambria Math"/>
                            <a:cs typeface="Cambria Math"/>
                          </a:rPr>
                          <m:t>⊤</m:t>
                        </m:r>
                      </m:sup>
                    </m:sSup>
                    <m:r>
                      <a:rPr lang="en-GB" sz="2400" dirty="0">
                        <a:solidFill>
                          <a:schemeClr val="tx1"/>
                        </a:solidFill>
                        <a:latin typeface="Cambria Math"/>
                        <a:ea typeface="Cambria Math"/>
                        <a:cs typeface="Cambria Math"/>
                      </a:rPr>
                      <m:t>𝚽</m:t>
                    </m:r>
                  </m:oMath>
                </a14:m>
                <a:r>
                  <a:rPr lang="en-GB" sz="2100" b="0" dirty="0">
                    <a:solidFill>
                      <a:srgbClr val="182D45"/>
                    </a:solidFill>
                    <a:latin typeface="DejaVu Sans"/>
                    <a:ea typeface="DejaVu Sans"/>
                    <a:cs typeface="DejaVu Sans"/>
                  </a:rPr>
                  <a:t> is invertible,</a:t>
                </a:r>
              </a:p>
              <a:p>
                <a:pPr algn="ctr">
                  <a:defRPr lang="en-GB" sz="2100" b="0" dirty="0">
                    <a:solidFill>
                      <a:srgbClr val="182D45"/>
                    </a:solidFill>
                    <a:latin typeface="DejaVu Sans"/>
                    <a:ea typeface="DejaVu Sans"/>
                    <a:cs typeface="DejaVu Sans"/>
                  </a:defRPr>
                </a:pPr>
                <a:r>
                  <a:rPr lang="en-GB" sz="2100" b="0" dirty="0">
                    <a:solidFill>
                      <a:srgbClr val="182D45"/>
                    </a:solidFill>
                    <a:latin typeface="DejaVu Sans"/>
                    <a:ea typeface="DejaVu Sans"/>
                    <a:cs typeface="DejaVu Sans"/>
                  </a:rPr>
                  <a:t>The unique stationary point and global minimiser </a:t>
                </a:r>
                <a14:m>
                  <m:oMath xmlns:m="http://schemas.openxmlformats.org/officeDocument/2006/math">
                    <m:sSup>
                      <m:sSupPr>
                        <m:ctrlPr>
                          <a:rPr lang="it-IT" sz="2400" b="1" dirty="0">
                            <a:solidFill>
                              <a:srgbClr val="182D45"/>
                            </a:solidFill>
                            <a:latin typeface="Cambria Math" panose="02040503050406030204" pitchFamily="18" charset="0"/>
                            <a:ea typeface="Cambria Math"/>
                            <a:cs typeface="Cambria Math"/>
                          </a:rPr>
                        </m:ctrlPr>
                      </m:sSupPr>
                      <m:e>
                        <m:r>
                          <a:rPr lang="it-IT" sz="2400" b="1" dirty="0">
                            <a:solidFill>
                              <a:srgbClr val="182D45"/>
                            </a:solidFill>
                            <a:latin typeface="Cambria Math" panose="02040503050406030204" pitchFamily="18" charset="0"/>
                            <a:ea typeface="Cambria Math"/>
                            <a:cs typeface="Cambria Math"/>
                          </a:rPr>
                          <m:t>𝛉</m:t>
                        </m:r>
                      </m:e>
                      <m:sup>
                        <m:r>
                          <a:rPr lang="it-IT" sz="2100" b="0" i="1" smtClean="0">
                            <a:solidFill>
                              <a:srgbClr val="182D45"/>
                            </a:solidFill>
                            <a:latin typeface="Cambria Math" panose="02040503050406030204" pitchFamily="18" charset="0"/>
                            <a:ea typeface="DejaVu Sans"/>
                            <a:cs typeface="DejaVu Sans"/>
                          </a:rPr>
                          <m:t>∗</m:t>
                        </m:r>
                      </m:sup>
                    </m:sSup>
                  </m:oMath>
                </a14:m>
                <a:r>
                  <a:rPr lang="en-GB" sz="2100" b="0" dirty="0">
                    <a:solidFill>
                      <a:srgbClr val="182D45"/>
                    </a:solidFill>
                    <a:latin typeface="DejaVu Sans"/>
                    <a:ea typeface="DejaVu Sans"/>
                    <a:cs typeface="DejaVu Sans"/>
                  </a:rPr>
                  <a:t> is given by</a:t>
                </a:r>
              </a:p>
            </p:txBody>
          </p:sp>
        </mc:Choice>
        <mc:Fallback>
          <p:sp>
            <p:nvSpPr>
              <p:cNvPr id="16" name="CasellaDiTesto 15">
                <a:extLst>
                  <a:ext uri="{FF2B5EF4-FFF2-40B4-BE49-F238E27FC236}">
                    <a16:creationId xmlns:a16="http://schemas.microsoft.com/office/drawing/2014/main" id="{019D5E12-3E1B-A4A3-B202-5F78429C010A}"/>
                  </a:ext>
                </a:extLst>
              </p:cNvPr>
              <p:cNvSpPr txBox="1">
                <a:spLocks noRot="1" noChangeAspect="1" noMove="1" noResize="1" noEditPoints="1" noAdjustHandles="1" noChangeArrowheads="1" noChangeShapeType="1" noTextEdit="1"/>
              </p:cNvSpPr>
              <p:nvPr/>
            </p:nvSpPr>
            <p:spPr>
              <a:xfrm>
                <a:off x="285750" y="4003154"/>
                <a:ext cx="10953750" cy="647700"/>
              </a:xfrm>
              <a:prstGeom prst="rect">
                <a:avLst/>
              </a:prstGeom>
              <a:blipFill>
                <a:blip r:embed="rId5"/>
                <a:stretch>
                  <a:fillRect t="-14151" b="-29245"/>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7" name="explicit_gradient"/>
              <p:cNvSpPr txBox="1">
                <a:spLocks noGrp="1"/>
              </p:cNvSpPr>
              <p:nvPr/>
            </p:nvSpPr>
            <p:spPr>
              <a:xfrm>
                <a:off x="619125" y="3313748"/>
                <a:ext cx="10953750" cy="581025"/>
              </a:xfrm>
              <a:prstGeom prst="rect">
                <a:avLst/>
              </a:prstGeom>
              <a:noFill/>
              <a:ln w="0">
                <a:noFill/>
              </a:ln>
            </p:spPr>
            <p:txBody>
              <a:bodyPr vertOverflow="overflow" wrap="none" lIns="0" tIns="0" rIns="0" bIns="0" anchor="ctr">
                <a:noAutofit/>
              </a:bodyPr>
              <a:lstStyle/>
              <a:p>
                <a:pPr algn="ctr">
                  <a:defRPr lang="en-GB" sz="2550" b="0" dirty="0">
                    <a:solidFill>
                      <a:srgbClr val="326CB2"/>
                    </a:solidFill>
                    <a:latin typeface="DejaVu Sans"/>
                    <a:ea typeface="DejaVu Sans"/>
                    <a:cs typeface="DejaVu Sans"/>
                  </a:defRPr>
                </a:pPr>
                <a14:m>
                  <m:oMathPara xmlns:m="http://schemas.openxmlformats.org/officeDocument/2006/math">
                    <m:oMath>
                      <m:r>
                        <m:rPr>
                          <m:sty m:val="p"/>
                        </m:rPr>
                        <a:rPr lang="en-GB" sz="2550" dirty="0" smtClean="0">
                          <a:solidFill>
                            <a:srgbClr val="087F83"/>
                          </a:solidFill>
                          <a:latin typeface="Cambria Math"/>
                          <a:ea typeface="Cambria Math"/>
                          <a:cs typeface="Cambria Math"/>
                        </a:rPr>
                        <m:t>∇</m:t>
                      </m:r>
                      <m:sSub>
                        <m:sSubPr>
                          <m:ctrlPr>
                            <a:rPr lang="en-GB" sz="2550" b="0" dirty="0">
                              <a:solidFill>
                                <a:srgbClr val="087F83"/>
                              </a:solidFill>
                              <a:latin typeface="Cambria Math"/>
                              <a:ea typeface="Cambria Math"/>
                              <a:cs typeface="Cambria Math"/>
                            </a:rPr>
                          </m:ctrlPr>
                        </m:sSubPr>
                        <m:e>
                          <m:r>
                            <a:rPr lang="en-GB" sz="2550" b="0" dirty="0">
                              <a:solidFill>
                                <a:srgbClr val="087F83"/>
                              </a:solidFill>
                              <a:latin typeface="Cambria Math"/>
                              <a:ea typeface="Cambria Math"/>
                              <a:cs typeface="Cambria Math"/>
                            </a:rPr>
                            <m:t>ℒ</m:t>
                          </m:r>
                        </m:e>
                        <m:sub>
                          <m:r>
                            <m:rPr>
                              <m:sty m:val="p"/>
                            </m:rPr>
                            <a:rPr lang="en-GB" sz="2550" b="0" dirty="0">
                              <a:solidFill>
                                <a:srgbClr val="087F83"/>
                              </a:solidFill>
                              <a:latin typeface="Cambria Math"/>
                              <a:ea typeface="Cambria Math"/>
                              <a:cs typeface="Cambria Math"/>
                            </a:rPr>
                            <m:t>sq</m:t>
                          </m:r>
                        </m:sub>
                      </m:sSub>
                      <m:d>
                        <m:dPr>
                          <m:ctrlPr>
                            <a:rPr lang="it-IT" sz="2550" b="1" i="0" dirty="0" smtClean="0">
                              <a:solidFill>
                                <a:srgbClr val="087F83"/>
                              </a:solidFill>
                              <a:latin typeface="Cambria Math" panose="02040503050406030204" pitchFamily="18" charset="0"/>
                              <a:ea typeface="Cambria Math"/>
                              <a:cs typeface="Cambria Math"/>
                            </a:rPr>
                          </m:ctrlPr>
                        </m:dPr>
                        <m:e>
                          <m:r>
                            <a:rPr lang="it-IT" sz="2550" b="1" i="0" dirty="0" smtClean="0">
                              <a:solidFill>
                                <a:srgbClr val="087F83"/>
                              </a:solidFill>
                              <a:latin typeface="Cambria Math" panose="02040503050406030204" pitchFamily="18" charset="0"/>
                              <a:ea typeface="Cambria Math"/>
                              <a:cs typeface="Cambria Math"/>
                            </a:rPr>
                            <m:t>𝛉</m:t>
                          </m:r>
                        </m:e>
                      </m:d>
                      <m:r>
                        <a:rPr lang="en-GB" sz="2550" b="0" dirty="0">
                          <a:solidFill>
                            <a:srgbClr val="087F83"/>
                          </a:solidFill>
                          <a:latin typeface="Cambria Math"/>
                          <a:ea typeface="Cambria Math"/>
                          <a:cs typeface="Cambria Math"/>
                        </a:rPr>
                        <m:t>=2</m:t>
                      </m:r>
                      <m:sSup>
                        <m:sSupPr>
                          <m:ctrlPr>
                            <a:rPr lang="en-GB" sz="2550" b="0" dirty="0">
                              <a:solidFill>
                                <a:srgbClr val="087F83"/>
                              </a:solidFill>
                              <a:latin typeface="Cambria Math"/>
                              <a:ea typeface="Cambria Math"/>
                              <a:cs typeface="Cambria Math"/>
                            </a:rPr>
                          </m:ctrlPr>
                        </m:sSupPr>
                        <m:e>
                          <m:r>
                            <a:rPr lang="en-GB" sz="2550" b="0" dirty="0">
                              <a:solidFill>
                                <a:srgbClr val="087F83"/>
                              </a:solidFill>
                              <a:latin typeface="Cambria Math"/>
                              <a:ea typeface="Cambria Math"/>
                              <a:cs typeface="Cambria Math"/>
                            </a:rPr>
                            <m:t>𝚽</m:t>
                          </m:r>
                        </m:e>
                        <m:sup>
                          <m:r>
                            <a:rPr lang="en-GB" sz="2550" b="0" dirty="0">
                              <a:solidFill>
                                <a:srgbClr val="087F83"/>
                              </a:solidFill>
                              <a:latin typeface="Cambria Math"/>
                              <a:ea typeface="Cambria Math"/>
                              <a:cs typeface="Cambria Math"/>
                            </a:rPr>
                            <m:t>⊤</m:t>
                          </m:r>
                        </m:sup>
                      </m:sSup>
                      <m:d>
                        <m:dPr>
                          <m:ctrlPr>
                            <a:rPr lang="en-GB" sz="2550" b="0" dirty="0">
                              <a:solidFill>
                                <a:srgbClr val="087F83"/>
                              </a:solidFill>
                              <a:latin typeface="Cambria Math"/>
                              <a:ea typeface="Cambria Math"/>
                              <a:cs typeface="Cambria Math"/>
                            </a:rPr>
                          </m:ctrlPr>
                        </m:dPr>
                        <m:e>
                          <m:r>
                            <a:rPr lang="en-GB" sz="2550" b="0" dirty="0">
                              <a:solidFill>
                                <a:srgbClr val="087F83"/>
                              </a:solidFill>
                              <a:latin typeface="Cambria Math"/>
                              <a:ea typeface="Cambria Math"/>
                              <a:cs typeface="Cambria Math"/>
                            </a:rPr>
                            <m:t>𝚽</m:t>
                          </m:r>
                          <m:r>
                            <a:rPr lang="it-IT" sz="2550" b="1" dirty="0">
                              <a:solidFill>
                                <a:srgbClr val="087F83"/>
                              </a:solidFill>
                              <a:latin typeface="Cambria Math" panose="02040503050406030204" pitchFamily="18" charset="0"/>
                              <a:ea typeface="Cambria Math"/>
                              <a:cs typeface="Cambria Math"/>
                            </a:rPr>
                            <m:t>𝛉</m:t>
                          </m:r>
                          <m:r>
                            <a:rPr lang="en-GB" sz="2550" b="0" dirty="0">
                              <a:solidFill>
                                <a:srgbClr val="087F83"/>
                              </a:solidFill>
                              <a:latin typeface="Cambria Math"/>
                              <a:ea typeface="Cambria Math"/>
                              <a:cs typeface="Cambria Math"/>
                            </a:rPr>
                            <m:t>−</m:t>
                          </m:r>
                          <m:r>
                            <a:rPr lang="en-GB" sz="2550" b="0" dirty="0">
                              <a:solidFill>
                                <a:srgbClr val="087F83"/>
                              </a:solidFill>
                              <a:latin typeface="Cambria Math"/>
                              <a:ea typeface="Cambria Math"/>
                              <a:cs typeface="Cambria Math"/>
                            </a:rPr>
                            <m:t>𝐲</m:t>
                          </m:r>
                        </m:e>
                      </m:d>
                    </m:oMath>
                  </m:oMathPara>
                </a14:m>
                <a:endParaRPr lang="en-GB" sz="2550" b="0" dirty="0">
                  <a:solidFill>
                    <a:srgbClr val="087F83"/>
                  </a:solidFill>
                  <a:latin typeface="DejaVu Sans"/>
                  <a:ea typeface="DejaVu Sans"/>
                  <a:cs typeface="DejaVu Sans"/>
                </a:endParaRPr>
              </a:p>
            </p:txBody>
          </p:sp>
        </mc:Choice>
        <mc:Fallback>
          <p:sp>
            <p:nvSpPr>
              <p:cNvPr id="17" name="explicit_gradient"/>
              <p:cNvSpPr txBox="1">
                <a:spLocks noGrp="1" noRot="1" noChangeAspect="1" noMove="1" noResize="1" noEditPoints="1" noAdjustHandles="1" noChangeArrowheads="1" noChangeShapeType="1" noTextEdit="1"/>
              </p:cNvSpPr>
              <p:nvPr/>
            </p:nvSpPr>
            <p:spPr>
              <a:xfrm>
                <a:off x="619125" y="3313748"/>
                <a:ext cx="10953750" cy="5810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BE9BE5E2-7011-292B-E229-587E6D6C5D8C}"/>
                  </a:ext>
                </a:extLst>
              </p:cNvPr>
              <p:cNvSpPr txBox="1"/>
              <p:nvPr/>
            </p:nvSpPr>
            <p:spPr>
              <a:xfrm>
                <a:off x="1200531" y="5902605"/>
                <a:ext cx="9790938" cy="555345"/>
              </a:xfrm>
              <a:prstGeom prst="rect">
                <a:avLst/>
              </a:prstGeom>
              <a:noFill/>
            </p:spPr>
            <p:txBody>
              <a:bodyPr wrap="square">
                <a:spAutoFit/>
              </a:bodyPr>
              <a:lstStyle/>
              <a:p>
                <a:pPr algn="ctr">
                  <a:defRPr lang="en-GB" sz="2550" b="0" dirty="0">
                    <a:solidFill>
                      <a:srgbClr val="326CB2"/>
                    </a:solidFill>
                    <a:latin typeface="DejaVu Sans"/>
                    <a:ea typeface="DejaVu Sans"/>
                    <a:cs typeface="DejaVu Sans"/>
                  </a:defRPr>
                </a:pPr>
                <a14:m>
                  <m:oMathPara xmlns:m="http://schemas.openxmlformats.org/officeDocument/2006/math">
                    <m:oMath>
                      <m:sSup>
                        <m:sSupPr>
                          <m:ctrlPr>
                            <a:rPr lang="it-IT" sz="2550" b="1" i="0" dirty="0" smtClean="0">
                              <a:solidFill>
                                <a:srgbClr val="087F83"/>
                              </a:solidFill>
                              <a:latin typeface="Cambria Math" panose="02040503050406030204" pitchFamily="18" charset="0"/>
                              <a:ea typeface="Cambria Math"/>
                              <a:cs typeface="Cambria Math"/>
                            </a:rPr>
                          </m:ctrlPr>
                        </m:sSupPr>
                        <m:e>
                          <m:r>
                            <a:rPr lang="it-IT" sz="2550" b="1" i="0" dirty="0" smtClean="0">
                              <a:solidFill>
                                <a:srgbClr val="087F83"/>
                              </a:solidFill>
                              <a:latin typeface="Cambria Math" panose="02040503050406030204" pitchFamily="18" charset="0"/>
                              <a:ea typeface="Cambria Math"/>
                              <a:cs typeface="Cambria Math"/>
                            </a:rPr>
                            <m:t>𝛉</m:t>
                          </m:r>
                        </m:e>
                        <m:sup>
                          <m:d>
                            <m:dPr>
                              <m:ctrlPr>
                                <a:rPr lang="it-IT" sz="2550" b="0" i="1" dirty="0" smtClean="0">
                                  <a:solidFill>
                                    <a:srgbClr val="087F83"/>
                                  </a:solidFill>
                                  <a:latin typeface="Cambria Math" panose="02040503050406030204" pitchFamily="18" charset="0"/>
                                  <a:ea typeface="Cambria Math"/>
                                </a:rPr>
                              </m:ctrlPr>
                            </m:dPr>
                            <m:e>
                              <m:r>
                                <a:rPr lang="it-IT" sz="2550" b="0" i="1" dirty="0" smtClean="0">
                                  <a:solidFill>
                                    <a:srgbClr val="087F83"/>
                                  </a:solidFill>
                                  <a:latin typeface="Cambria Math" panose="02040503050406030204" pitchFamily="18" charset="0"/>
                                  <a:ea typeface="Cambria Math"/>
                                </a:rPr>
                                <m:t>𝑡</m:t>
                              </m:r>
                              <m:r>
                                <a:rPr lang="it-IT" sz="2550" b="0" i="1" dirty="0" smtClean="0">
                                  <a:solidFill>
                                    <a:srgbClr val="087F83"/>
                                  </a:solidFill>
                                  <a:latin typeface="Cambria Math" panose="02040503050406030204" pitchFamily="18" charset="0"/>
                                  <a:ea typeface="Cambria Math"/>
                                </a:rPr>
                                <m:t>+1</m:t>
                              </m:r>
                            </m:e>
                          </m:d>
                        </m:sup>
                      </m:sSup>
                      <m:r>
                        <a:rPr lang="en-GB" sz="2550" b="0" dirty="0" smtClean="0">
                          <a:solidFill>
                            <a:srgbClr val="087F83"/>
                          </a:solidFill>
                          <a:latin typeface="Cambria Math"/>
                          <a:ea typeface="Cambria Math"/>
                          <a:cs typeface="Cambria Math"/>
                        </a:rPr>
                        <m:t>=</m:t>
                      </m:r>
                      <m:sSup>
                        <m:sSupPr>
                          <m:ctrlPr>
                            <a:rPr lang="it-IT" sz="2550" b="1" dirty="0">
                              <a:solidFill>
                                <a:srgbClr val="087F83"/>
                              </a:solidFill>
                              <a:latin typeface="Cambria Math" panose="02040503050406030204" pitchFamily="18" charset="0"/>
                              <a:ea typeface="Cambria Math"/>
                              <a:cs typeface="Cambria Math"/>
                            </a:rPr>
                          </m:ctrlPr>
                        </m:sSupPr>
                        <m:e>
                          <m:r>
                            <a:rPr lang="it-IT" sz="2550" b="1" dirty="0">
                              <a:solidFill>
                                <a:srgbClr val="087F83"/>
                              </a:solidFill>
                              <a:latin typeface="Cambria Math" panose="02040503050406030204" pitchFamily="18" charset="0"/>
                              <a:ea typeface="Cambria Math"/>
                              <a:cs typeface="Cambria Math"/>
                            </a:rPr>
                            <m:t>𝛉</m:t>
                          </m:r>
                        </m:e>
                        <m:sup>
                          <m:d>
                            <m:dPr>
                              <m:ctrlPr>
                                <a:rPr lang="it-IT" sz="2550" i="1" dirty="0">
                                  <a:solidFill>
                                    <a:srgbClr val="087F83"/>
                                  </a:solidFill>
                                  <a:latin typeface="Cambria Math" panose="02040503050406030204" pitchFamily="18" charset="0"/>
                                  <a:ea typeface="Cambria Math"/>
                                </a:rPr>
                              </m:ctrlPr>
                            </m:dPr>
                            <m:e>
                              <m:r>
                                <a:rPr lang="it-IT" sz="2550" i="1" dirty="0">
                                  <a:solidFill>
                                    <a:srgbClr val="087F83"/>
                                  </a:solidFill>
                                  <a:latin typeface="Cambria Math" panose="02040503050406030204" pitchFamily="18" charset="0"/>
                                  <a:ea typeface="Cambria Math"/>
                                </a:rPr>
                                <m:t>𝑡</m:t>
                              </m:r>
                            </m:e>
                          </m:d>
                        </m:sup>
                      </m:sSup>
                      <m:r>
                        <a:rPr lang="it-IT" sz="2550" b="0" i="1" dirty="0" smtClean="0">
                          <a:solidFill>
                            <a:srgbClr val="087F83"/>
                          </a:solidFill>
                          <a:latin typeface="Cambria Math" panose="02040503050406030204" pitchFamily="18" charset="0"/>
                          <a:ea typeface="Cambria Math"/>
                        </a:rPr>
                        <m:t>−</m:t>
                      </m:r>
                      <m:r>
                        <a:rPr lang="it-IT" sz="2550" b="0" i="1" dirty="0" smtClean="0">
                          <a:solidFill>
                            <a:srgbClr val="087F83"/>
                          </a:solidFill>
                          <a:latin typeface="Cambria Math" panose="02040503050406030204" pitchFamily="18" charset="0"/>
                          <a:ea typeface="Cambria Math"/>
                        </a:rPr>
                        <m:t>𝜂</m:t>
                      </m:r>
                      <m:r>
                        <m:rPr>
                          <m:sty m:val="p"/>
                        </m:rPr>
                        <a:rPr lang="it-IT" sz="2550" b="0" i="0" dirty="0" smtClean="0">
                          <a:solidFill>
                            <a:srgbClr val="087F83"/>
                          </a:solidFill>
                          <a:latin typeface="Cambria Math" panose="02040503050406030204" pitchFamily="18" charset="0"/>
                          <a:ea typeface="Cambria Math"/>
                        </a:rPr>
                        <m:t>∇</m:t>
                      </m:r>
                      <m:sSub>
                        <m:sSubPr>
                          <m:ctrlPr>
                            <a:rPr lang="en-GB" sz="2550" dirty="0">
                              <a:solidFill>
                                <a:srgbClr val="087F83"/>
                              </a:solidFill>
                              <a:latin typeface="Cambria Math"/>
                              <a:ea typeface="Cambria Math"/>
                              <a:cs typeface="Cambria Math"/>
                            </a:rPr>
                          </m:ctrlPr>
                        </m:sSubPr>
                        <m:e>
                          <m:r>
                            <a:rPr lang="en-GB" sz="2550" dirty="0">
                              <a:solidFill>
                                <a:srgbClr val="087F83"/>
                              </a:solidFill>
                              <a:latin typeface="Cambria Math"/>
                              <a:ea typeface="Cambria Math"/>
                              <a:cs typeface="Cambria Math"/>
                            </a:rPr>
                            <m:t>ℒ</m:t>
                          </m:r>
                        </m:e>
                        <m:sub>
                          <m:r>
                            <m:rPr>
                              <m:sty m:val="p"/>
                            </m:rPr>
                            <a:rPr lang="en-GB" sz="2550" dirty="0">
                              <a:solidFill>
                                <a:srgbClr val="087F83"/>
                              </a:solidFill>
                              <a:latin typeface="Cambria Math"/>
                              <a:ea typeface="Cambria Math"/>
                              <a:cs typeface="Cambria Math"/>
                            </a:rPr>
                            <m:t>sq</m:t>
                          </m:r>
                        </m:sub>
                      </m:sSub>
                      <m:d>
                        <m:dPr>
                          <m:ctrlPr>
                            <a:rPr lang="it-IT" sz="2550" b="1" i="1" dirty="0" smtClean="0">
                              <a:solidFill>
                                <a:srgbClr val="087F83"/>
                              </a:solidFill>
                              <a:latin typeface="Cambria Math" panose="02040503050406030204" pitchFamily="18" charset="0"/>
                              <a:ea typeface="Cambria Math"/>
                              <a:cs typeface="Cambria Math"/>
                            </a:rPr>
                          </m:ctrlPr>
                        </m:dPr>
                        <m:e>
                          <m:sSup>
                            <m:sSupPr>
                              <m:ctrlPr>
                                <a:rPr lang="it-IT" sz="2550" b="1" dirty="0" smtClean="0">
                                  <a:solidFill>
                                    <a:srgbClr val="087F83"/>
                                  </a:solidFill>
                                  <a:latin typeface="Cambria Math" panose="02040503050406030204" pitchFamily="18" charset="0"/>
                                  <a:ea typeface="Cambria Math"/>
                                  <a:cs typeface="Cambria Math"/>
                                </a:rPr>
                              </m:ctrlPr>
                            </m:sSupPr>
                            <m:e>
                              <m:r>
                                <a:rPr lang="it-IT" sz="2550" b="1" dirty="0" smtClean="0">
                                  <a:solidFill>
                                    <a:srgbClr val="087F83"/>
                                  </a:solidFill>
                                  <a:latin typeface="Cambria Math" panose="02040503050406030204" pitchFamily="18" charset="0"/>
                                  <a:ea typeface="Cambria Math"/>
                                  <a:cs typeface="Cambria Math"/>
                                </a:rPr>
                                <m:t>𝛉</m:t>
                              </m:r>
                            </m:e>
                            <m:sup>
                              <m:d>
                                <m:dPr>
                                  <m:ctrlPr>
                                    <a:rPr lang="it-IT" sz="2550" b="0" i="1" dirty="0" smtClean="0">
                                      <a:solidFill>
                                        <a:srgbClr val="087F83"/>
                                      </a:solidFill>
                                      <a:latin typeface="Cambria Math" panose="02040503050406030204" pitchFamily="18" charset="0"/>
                                      <a:ea typeface="Cambria Math"/>
                                    </a:rPr>
                                  </m:ctrlPr>
                                </m:dPr>
                                <m:e>
                                  <m:r>
                                    <a:rPr lang="it-IT" sz="2550" b="0" i="1" dirty="0" smtClean="0">
                                      <a:solidFill>
                                        <a:srgbClr val="087F83"/>
                                      </a:solidFill>
                                      <a:latin typeface="Cambria Math" panose="02040503050406030204" pitchFamily="18" charset="0"/>
                                      <a:ea typeface="Cambria Math"/>
                                    </a:rPr>
                                    <m:t>𝑡</m:t>
                                  </m:r>
                                </m:e>
                              </m:d>
                            </m:sup>
                          </m:sSup>
                        </m:e>
                      </m:d>
                      <m:r>
                        <a:rPr lang="it-IT" sz="2550" b="1" i="1" dirty="0" smtClean="0">
                          <a:solidFill>
                            <a:srgbClr val="087F83"/>
                          </a:solidFill>
                          <a:latin typeface="Cambria Math" panose="02040503050406030204" pitchFamily="18" charset="0"/>
                          <a:ea typeface="Cambria Math"/>
                          <a:cs typeface="Cambria Math"/>
                        </a:rPr>
                        <m:t>=</m:t>
                      </m:r>
                      <m:sSup>
                        <m:sSupPr>
                          <m:ctrlPr>
                            <a:rPr lang="it-IT" sz="2550" b="1" dirty="0">
                              <a:solidFill>
                                <a:srgbClr val="087F83"/>
                              </a:solidFill>
                              <a:latin typeface="Cambria Math" panose="02040503050406030204" pitchFamily="18" charset="0"/>
                              <a:ea typeface="Cambria Math"/>
                              <a:cs typeface="Cambria Math"/>
                            </a:rPr>
                          </m:ctrlPr>
                        </m:sSupPr>
                        <m:e>
                          <m:r>
                            <a:rPr lang="it-IT" sz="2550" b="1" dirty="0">
                              <a:solidFill>
                                <a:srgbClr val="087F83"/>
                              </a:solidFill>
                              <a:latin typeface="Cambria Math" panose="02040503050406030204" pitchFamily="18" charset="0"/>
                              <a:ea typeface="Cambria Math"/>
                              <a:cs typeface="Cambria Math"/>
                            </a:rPr>
                            <m:t>𝛉</m:t>
                          </m:r>
                        </m:e>
                        <m:sup>
                          <m:d>
                            <m:dPr>
                              <m:ctrlPr>
                                <a:rPr lang="it-IT" sz="2550" i="1" dirty="0">
                                  <a:solidFill>
                                    <a:srgbClr val="087F83"/>
                                  </a:solidFill>
                                  <a:latin typeface="Cambria Math" panose="02040503050406030204" pitchFamily="18" charset="0"/>
                                  <a:ea typeface="Cambria Math"/>
                                </a:rPr>
                              </m:ctrlPr>
                            </m:dPr>
                            <m:e>
                              <m:r>
                                <a:rPr lang="it-IT" sz="2550" i="1" dirty="0">
                                  <a:solidFill>
                                    <a:srgbClr val="087F83"/>
                                  </a:solidFill>
                                  <a:latin typeface="Cambria Math" panose="02040503050406030204" pitchFamily="18" charset="0"/>
                                  <a:ea typeface="Cambria Math"/>
                                </a:rPr>
                                <m:t>𝑡</m:t>
                              </m:r>
                            </m:e>
                          </m:d>
                        </m:sup>
                      </m:sSup>
                      <m:r>
                        <a:rPr lang="it-IT" sz="2550" i="1" dirty="0">
                          <a:solidFill>
                            <a:srgbClr val="087F83"/>
                          </a:solidFill>
                          <a:latin typeface="Cambria Math" panose="02040503050406030204" pitchFamily="18" charset="0"/>
                          <a:ea typeface="Cambria Math"/>
                        </a:rPr>
                        <m:t>−</m:t>
                      </m:r>
                      <m:r>
                        <a:rPr lang="it-IT" sz="2550" b="0" i="1" dirty="0" smtClean="0">
                          <a:solidFill>
                            <a:srgbClr val="087F83"/>
                          </a:solidFill>
                          <a:latin typeface="Cambria Math" panose="02040503050406030204" pitchFamily="18" charset="0"/>
                          <a:ea typeface="Cambria Math"/>
                        </a:rPr>
                        <m:t>2</m:t>
                      </m:r>
                      <m:r>
                        <a:rPr lang="it-IT" sz="2550" i="1" dirty="0">
                          <a:solidFill>
                            <a:srgbClr val="087F83"/>
                          </a:solidFill>
                          <a:latin typeface="Cambria Math" panose="02040503050406030204" pitchFamily="18" charset="0"/>
                          <a:ea typeface="Cambria Math"/>
                        </a:rPr>
                        <m:t>𝜂</m:t>
                      </m:r>
                      <m:sSup>
                        <m:sSupPr>
                          <m:ctrlPr>
                            <a:rPr lang="en-GB" sz="2550" dirty="0">
                              <a:solidFill>
                                <a:srgbClr val="087F83"/>
                              </a:solidFill>
                              <a:latin typeface="Cambria Math"/>
                              <a:ea typeface="Cambria Math"/>
                              <a:cs typeface="Cambria Math"/>
                            </a:rPr>
                          </m:ctrlPr>
                        </m:sSupPr>
                        <m:e>
                          <m:r>
                            <a:rPr lang="en-GB" sz="2550" dirty="0">
                              <a:solidFill>
                                <a:srgbClr val="087F83"/>
                              </a:solidFill>
                              <a:latin typeface="Cambria Math"/>
                              <a:ea typeface="Cambria Math"/>
                              <a:cs typeface="Cambria Math"/>
                            </a:rPr>
                            <m:t>𝚽</m:t>
                          </m:r>
                        </m:e>
                        <m:sup>
                          <m:r>
                            <a:rPr lang="en-GB" sz="2550" dirty="0">
                              <a:solidFill>
                                <a:srgbClr val="087F83"/>
                              </a:solidFill>
                              <a:latin typeface="Cambria Math"/>
                              <a:ea typeface="Cambria Math"/>
                              <a:cs typeface="Cambria Math"/>
                            </a:rPr>
                            <m:t>⊤</m:t>
                          </m:r>
                        </m:sup>
                      </m:sSup>
                      <m:d>
                        <m:dPr>
                          <m:ctrlPr>
                            <a:rPr lang="en-GB" sz="2550" dirty="0">
                              <a:solidFill>
                                <a:srgbClr val="087F83"/>
                              </a:solidFill>
                              <a:latin typeface="Cambria Math"/>
                              <a:ea typeface="Cambria Math"/>
                              <a:cs typeface="Cambria Math"/>
                            </a:rPr>
                          </m:ctrlPr>
                        </m:dPr>
                        <m:e>
                          <m:r>
                            <a:rPr lang="en-GB" sz="2550" dirty="0">
                              <a:solidFill>
                                <a:srgbClr val="087F83"/>
                              </a:solidFill>
                              <a:latin typeface="Cambria Math"/>
                              <a:ea typeface="Cambria Math"/>
                              <a:cs typeface="Cambria Math"/>
                            </a:rPr>
                            <m:t>𝚽</m:t>
                          </m:r>
                          <m:sSup>
                            <m:sSupPr>
                              <m:ctrlPr>
                                <a:rPr lang="it-IT" sz="2550" b="1" dirty="0">
                                  <a:solidFill>
                                    <a:srgbClr val="087F83"/>
                                  </a:solidFill>
                                  <a:latin typeface="Cambria Math" panose="02040503050406030204" pitchFamily="18" charset="0"/>
                                  <a:ea typeface="Cambria Math"/>
                                  <a:cs typeface="Cambria Math"/>
                                </a:rPr>
                              </m:ctrlPr>
                            </m:sSupPr>
                            <m:e>
                              <m:r>
                                <a:rPr lang="it-IT" sz="2550" b="1" dirty="0">
                                  <a:solidFill>
                                    <a:srgbClr val="087F83"/>
                                  </a:solidFill>
                                  <a:latin typeface="Cambria Math" panose="02040503050406030204" pitchFamily="18" charset="0"/>
                                  <a:ea typeface="Cambria Math"/>
                                  <a:cs typeface="Cambria Math"/>
                                </a:rPr>
                                <m:t>𝛉</m:t>
                              </m:r>
                            </m:e>
                            <m:sup>
                              <m:d>
                                <m:dPr>
                                  <m:ctrlPr>
                                    <a:rPr lang="it-IT" sz="2550" b="0" i="1" dirty="0" smtClean="0">
                                      <a:solidFill>
                                        <a:srgbClr val="087F83"/>
                                      </a:solidFill>
                                      <a:latin typeface="Cambria Math" panose="02040503050406030204" pitchFamily="18" charset="0"/>
                                      <a:ea typeface="Cambria Math"/>
                                    </a:rPr>
                                  </m:ctrlPr>
                                </m:dPr>
                                <m:e>
                                  <m:r>
                                    <a:rPr lang="it-IT" sz="2550" b="0" i="1" dirty="0" smtClean="0">
                                      <a:solidFill>
                                        <a:srgbClr val="087F83"/>
                                      </a:solidFill>
                                      <a:latin typeface="Cambria Math" panose="02040503050406030204" pitchFamily="18" charset="0"/>
                                      <a:ea typeface="Cambria Math"/>
                                    </a:rPr>
                                    <m:t>𝑡</m:t>
                                  </m:r>
                                </m:e>
                              </m:d>
                            </m:sup>
                          </m:sSup>
                          <m:r>
                            <a:rPr lang="en-GB" sz="2550" dirty="0">
                              <a:solidFill>
                                <a:srgbClr val="087F83"/>
                              </a:solidFill>
                              <a:latin typeface="Cambria Math"/>
                              <a:ea typeface="Cambria Math"/>
                              <a:cs typeface="Cambria Math"/>
                            </a:rPr>
                            <m:t>−</m:t>
                          </m:r>
                          <m:r>
                            <a:rPr lang="en-GB" sz="2550" dirty="0">
                              <a:solidFill>
                                <a:srgbClr val="087F83"/>
                              </a:solidFill>
                              <a:latin typeface="Cambria Math"/>
                              <a:ea typeface="Cambria Math"/>
                              <a:cs typeface="Cambria Math"/>
                            </a:rPr>
                            <m:t>𝐲</m:t>
                          </m:r>
                        </m:e>
                      </m:d>
                    </m:oMath>
                  </m:oMathPara>
                </a14:m>
                <a:endParaRPr lang="en-GB" sz="2550" dirty="0">
                  <a:solidFill>
                    <a:srgbClr val="087F83"/>
                  </a:solidFill>
                  <a:latin typeface="DejaVu Sans"/>
                  <a:ea typeface="DejaVu Sans"/>
                  <a:cs typeface="DejaVu Sans"/>
                </a:endParaRPr>
              </a:p>
            </p:txBody>
          </p:sp>
        </mc:Choice>
        <mc:Fallback xmlns="">
          <p:sp>
            <p:nvSpPr>
              <p:cNvPr id="6" name="CasellaDiTesto 5">
                <a:extLst>
                  <a:ext uri="{FF2B5EF4-FFF2-40B4-BE49-F238E27FC236}">
                    <a16:creationId xmlns:a16="http://schemas.microsoft.com/office/drawing/2014/main" id="{BE9BE5E2-7011-292B-E229-587E6D6C5D8C}"/>
                  </a:ext>
                </a:extLst>
              </p:cNvPr>
              <p:cNvSpPr txBox="1">
                <a:spLocks noRot="1" noChangeAspect="1" noMove="1" noResize="1" noEditPoints="1" noAdjustHandles="1" noChangeArrowheads="1" noChangeShapeType="1" noTextEdit="1"/>
              </p:cNvSpPr>
              <p:nvPr/>
            </p:nvSpPr>
            <p:spPr>
              <a:xfrm>
                <a:off x="1200531" y="5902605"/>
                <a:ext cx="9790938" cy="555345"/>
              </a:xfrm>
              <a:prstGeom prst="rect">
                <a:avLst/>
              </a:prstGeom>
              <a:blipFill>
                <a:blip r:embed="rId7"/>
                <a:stretch>
                  <a:fillRect/>
                </a:stretch>
              </a:blipFill>
            </p:spPr>
            <p:txBody>
              <a:bodyPr/>
              <a:lstStyle/>
              <a:p>
                <a:r>
                  <a:rPr lang="it-IT">
                    <a:noFill/>
                  </a:rPr>
                  <a:t> </a:t>
                </a:r>
              </a:p>
            </p:txBody>
          </p:sp>
        </mc:Fallback>
      </mc:AlternateContent>
      <p:sp>
        <p:nvSpPr>
          <p:cNvPr id="4" name="content_55_9">
            <a:extLst>
              <a:ext uri="{FF2B5EF4-FFF2-40B4-BE49-F238E27FC236}">
                <a16:creationId xmlns:a16="http://schemas.microsoft.com/office/drawing/2014/main" id="{7B512991-B8F2-13D4-60DF-53237FDC4847}"/>
              </a:ext>
            </a:extLst>
          </p:cNvPr>
          <p:cNvSpPr txBox="1">
            <a:spLocks noGrp="1"/>
          </p:cNvSpPr>
          <p:nvPr/>
        </p:nvSpPr>
        <p:spPr>
          <a:xfrm>
            <a:off x="485775" y="2970848"/>
            <a:ext cx="10953750" cy="342900"/>
          </a:xfrm>
          <a:prstGeom prst="rect">
            <a:avLst/>
          </a:prstGeom>
          <a:noFill/>
          <a:ln w="0">
            <a:noFill/>
          </a:ln>
        </p:spPr>
        <p:txBody>
          <a:bodyPr vertOverflow="overflow" wrap="square" lIns="0" tIns="0" rIns="0" bIns="0" anchor="ctr">
            <a:noAutofit/>
          </a:bodyPr>
          <a:lstStyle/>
          <a:p>
            <a:pPr marL="0" marR="0" indent="0" algn="ctr">
              <a:defRPr lang="en-GB" sz="2100" b="1" dirty="0">
                <a:solidFill>
                  <a:srgbClr val="00858A"/>
                </a:solidFill>
                <a:latin typeface="DejaVu Sans"/>
                <a:ea typeface="DejaVu Sans"/>
                <a:cs typeface="DejaVu Sans"/>
              </a:defRPr>
            </a:pPr>
            <a:r>
              <a:rPr lang="en-GB" sz="2100" b="1" dirty="0">
                <a:latin typeface="DejaVu Sans"/>
                <a:ea typeface="DejaVu Sans"/>
                <a:cs typeface="DejaVu Sans"/>
              </a:rPr>
              <a:t>Gradient</a:t>
            </a:r>
          </a:p>
        </p:txBody>
      </p:sp>
    </p:spTree>
    <p:extLst>
      <p:ext uri="{BB962C8B-B14F-4D97-AF65-F5344CB8AC3E}">
        <p14:creationId xmlns:p14="http://schemas.microsoft.com/office/powerpoint/2010/main" val="2742218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E725166-EBC9-400C-A40F-2FD1A34E886D}"/>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ctr">
              <a:defRPr lang="en-GB" sz="3150" b="1" i="0" dirty="0">
                <a:solidFill>
                  <a:srgbClr val="182D45"/>
                </a:solidFill>
                <a:latin typeface="DejaVu Sans"/>
                <a:ea typeface="DejaVu Sans"/>
                <a:cs typeface="DejaVu Sans"/>
              </a:defRPr>
            </a:pPr>
            <a:r>
              <a:rPr lang="en-GB" sz="3150" b="1" dirty="0">
                <a:solidFill>
                  <a:srgbClr val="182D45"/>
                </a:solidFill>
                <a:latin typeface="DejaVu Sans"/>
                <a:ea typeface="DejaVu Sans"/>
                <a:cs typeface="DejaVu Sans"/>
              </a:rPr>
              <a:t>Extension 2: several input variables</a:t>
            </a:r>
          </a:p>
        </p:txBody>
      </p:sp>
      <p:sp>
        <p:nvSpPr>
          <p:cNvPr id="2" name="page_number">
            <a:extLst>
              <a:ext uri="{FF2B5EF4-FFF2-40B4-BE49-F238E27FC236}">
                <a16:creationId xmlns:a16="http://schemas.microsoft.com/office/drawing/2014/main" id="{9B5AC099-86BE-4905-A96E-0093873D2EF1}"/>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45</a:t>
            </a:r>
          </a:p>
        </p:txBody>
      </p:sp>
      <mc:AlternateContent xmlns:mc="http://schemas.openxmlformats.org/markup-compatibility/2006" xmlns:a14="http://schemas.microsoft.com/office/drawing/2010/main">
        <mc:Choice Requires="a14">
          <p:sp>
            <p:nvSpPr>
              <p:cNvPr id="3" name="txt_101">
                <a:extLst>
                  <a:ext uri="{FF2B5EF4-FFF2-40B4-BE49-F238E27FC236}">
                    <a16:creationId xmlns:a16="http://schemas.microsoft.com/office/drawing/2014/main" id="{316196F7-9FC7-4B0C-B707-70B09AA0653D}"/>
                  </a:ext>
                </a:extLst>
              </p:cNvPr>
              <p:cNvSpPr>
                <a:spLocks noGrp="1"/>
              </p:cNvSpPr>
              <p:nvPr/>
            </p:nvSpPr>
            <p:spPr>
              <a:xfrm>
                <a:off x="609600" y="1257300"/>
                <a:ext cx="10953750" cy="1170066"/>
              </a:xfrm>
              <a:prstGeom prst="rect">
                <a:avLst/>
              </a:prstGeom>
              <a:noFill/>
              <a:ln w="0">
                <a:noFill/>
              </a:ln>
            </p:spPr>
            <p:txBody>
              <a:bodyPr wrap="square" lIns="0" tIns="0" rIns="0" bIns="0" anchor="t">
                <a:noAutofit/>
              </a:bodyPr>
              <a:lstStyle/>
              <a:p>
                <a:pPr algn="ctr">
                  <a:defRPr lang="en-GB" sz="2100" b="0" i="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Can we predict salary </a:t>
                </a:r>
                <a14:m>
                  <m:oMath xmlns:m="http://schemas.openxmlformats.org/officeDocument/2006/math">
                    <m:r>
                      <a:rPr lang="en-GB" sz="2100" dirty="0">
                        <a:solidFill>
                          <a:srgbClr val="182D45"/>
                        </a:solidFill>
                        <a:latin typeface="Cambria Math"/>
                        <a:ea typeface="Cambria Math"/>
                        <a:cs typeface="Cambria Math"/>
                      </a:rPr>
                      <m:t>𝑦</m:t>
                    </m:r>
                  </m:oMath>
                </a14:m>
                <a:r>
                  <a:rPr lang="en-GB" sz="2100" dirty="0">
                    <a:solidFill>
                      <a:srgbClr val="182D45"/>
                    </a:solidFill>
                    <a:latin typeface="DejaVu Sans"/>
                    <a:ea typeface="DejaVu Sans"/>
                    <a:cs typeface="DejaVu Sans"/>
                  </a:rPr>
                  <a:t> from age, education and years of experience?</a:t>
                </a:r>
              </a:p>
              <a:p>
                <a:pPr algn="ctr">
                  <a:defRPr lang="en-GB" sz="2100" b="0" i="0" dirty="0">
                    <a:solidFill>
                      <a:srgbClr val="182D45"/>
                    </a:solidFill>
                    <a:latin typeface="DejaVu Sans"/>
                    <a:ea typeface="DejaVu Sans"/>
                    <a:cs typeface="DejaVu Sans"/>
                  </a:defRPr>
                </a:pPr>
                <a:endParaRPr lang="en-GB" sz="2100" dirty="0">
                  <a:solidFill>
                    <a:srgbClr val="182D45"/>
                  </a:solidFill>
                  <a:latin typeface="DejaVu Sans"/>
                  <a:ea typeface="DejaVu Sans"/>
                  <a:cs typeface="DejaVu Sans"/>
                </a:endParaRPr>
              </a:p>
              <a:p>
                <a:pPr algn="ctr">
                  <a:defRPr lang="en-GB" sz="2100" b="0" i="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An observation may contain several input features.</a:t>
                </a:r>
              </a:p>
              <a:p>
                <a:pPr algn="ctr">
                  <a:defRPr lang="en-GB" sz="2100" b="0" i="0" dirty="0">
                    <a:solidFill>
                      <a:srgbClr val="182D45"/>
                    </a:solidFill>
                    <a:latin typeface="DejaVu Sans"/>
                    <a:ea typeface="DejaVu Sans"/>
                    <a:cs typeface="DejaVu Sans"/>
                  </a:defRPr>
                </a:pPr>
                <a:endParaRPr lang="en-GB" sz="2100" dirty="0">
                  <a:solidFill>
                    <a:srgbClr val="182D45"/>
                  </a:solidFill>
                  <a:latin typeface="DejaVu Sans"/>
                  <a:ea typeface="DejaVu Sans"/>
                  <a:cs typeface="DejaVu Sans"/>
                </a:endParaRPr>
              </a:p>
              <a:p>
                <a:pPr marL="0" marR="0" indent="0" algn="ctr">
                  <a:defRPr lang="en-GB" sz="2100" b="0" i="0" dirty="0">
                    <a:solidFill>
                      <a:srgbClr val="182D45"/>
                    </a:solidFill>
                    <a:latin typeface="DejaVu Sans"/>
                    <a:ea typeface="DejaVu Sans"/>
                    <a:cs typeface="DejaVu Sans"/>
                  </a:defRPr>
                </a:pPr>
                <a:endParaRPr lang="en-GB" sz="2100" b="0" i="0" dirty="0">
                  <a:solidFill>
                    <a:srgbClr val="182D45"/>
                  </a:solidFill>
                  <a:latin typeface="DejaVu Sans"/>
                  <a:ea typeface="DejaVu Sans"/>
                  <a:cs typeface="DejaVu Sans"/>
                </a:endParaRPr>
              </a:p>
              <a:p>
                <a:pPr marL="0" marR="0" indent="0" algn="ctr">
                  <a:defRPr lang="en-GB" sz="2100" b="0" i="0" dirty="0">
                    <a:solidFill>
                      <a:srgbClr val="182D45"/>
                    </a:solidFill>
                    <a:latin typeface="DejaVu Sans"/>
                    <a:ea typeface="DejaVu Sans"/>
                    <a:cs typeface="DejaVu Sans"/>
                  </a:defRPr>
                </a:pPr>
                <a:endParaRPr lang="en-GB" sz="2100" dirty="0">
                  <a:solidFill>
                    <a:srgbClr val="182D45"/>
                  </a:solidFill>
                  <a:latin typeface="DejaVu Sans"/>
                  <a:ea typeface="DejaVu Sans"/>
                  <a:cs typeface="DejaVu Sans"/>
                </a:endParaRPr>
              </a:p>
            </p:txBody>
          </p:sp>
        </mc:Choice>
        <mc:Fallback xmlns="">
          <p:sp>
            <p:nvSpPr>
              <p:cNvPr id="3" name="txt_101">
                <a:extLst>
                  <a:ext uri="{FF2B5EF4-FFF2-40B4-BE49-F238E27FC236}">
                    <a16:creationId xmlns:a16="http://schemas.microsoft.com/office/drawing/2014/main" id="{316196F7-9FC7-4B0C-B707-70B09AA0653D}"/>
                  </a:ext>
                </a:extLst>
              </p:cNvPr>
              <p:cNvSpPr>
                <a:spLocks noGrp="1" noRot="1" noChangeAspect="1" noMove="1" noResize="1" noEditPoints="1" noAdjustHandles="1" noChangeArrowheads="1" noChangeShapeType="1" noTextEdit="1"/>
              </p:cNvSpPr>
              <p:nvPr/>
            </p:nvSpPr>
            <p:spPr>
              <a:xfrm>
                <a:off x="609600" y="1257300"/>
                <a:ext cx="10953750" cy="1170066"/>
              </a:xfrm>
              <a:prstGeom prst="rect">
                <a:avLst/>
              </a:prstGeom>
              <a:blipFill>
                <a:blip r:embed="rId3"/>
                <a:stretch>
                  <a:fillRect t="-729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eq_102">
                <a:extLst>
                  <a:ext uri="{FF2B5EF4-FFF2-40B4-BE49-F238E27FC236}">
                    <a16:creationId xmlns:a16="http://schemas.microsoft.com/office/drawing/2014/main" id="{591F5313-94E8-4C88-AFE0-8391508B6DA4}"/>
                  </a:ext>
                </a:extLst>
              </p:cNvPr>
              <p:cNvSpPr>
                <a:spLocks noGrp="1"/>
              </p:cNvSpPr>
              <p:nvPr/>
            </p:nvSpPr>
            <p:spPr>
              <a:xfrm>
                <a:off x="685800" y="3976152"/>
                <a:ext cx="10756900" cy="647700"/>
              </a:xfrm>
              <a:prstGeom prst="rect">
                <a:avLst/>
              </a:prstGeom>
              <a:noFill/>
              <a:ln w="0">
                <a:noFill/>
              </a:ln>
            </p:spPr>
            <p:txBody>
              <a:bodyPr wrap="square" lIns="0" tIns="0" rIns="0" bIns="0" anchor="t">
                <a:noAutofit/>
              </a:bodyPr>
              <a:lstStyle/>
              <a:p>
                <a:pPr algn="ctr">
                  <a:defRPr lang="en-GB" sz="2550" b="0" i="0" dirty="0">
                    <a:solidFill>
                      <a:srgbClr val="182D45"/>
                    </a:solidFill>
                    <a:latin typeface="Cambria Math"/>
                    <a:ea typeface="Cambria Math"/>
                    <a:cs typeface="Cambria Math"/>
                  </a:defRPr>
                </a:pPr>
                <a14:m>
                  <m:oMathPara xmlns:m="http://schemas.openxmlformats.org/officeDocument/2006/math">
                    <m:oMath>
                      <m:r>
                        <a:rPr lang="it-IT" sz="2550" i="1" dirty="0" smtClean="0">
                          <a:solidFill>
                            <a:srgbClr val="182D45"/>
                          </a:solidFill>
                          <a:latin typeface="Cambria Math" panose="02040503050406030204" pitchFamily="18" charset="0"/>
                          <a:ea typeface="Cambria Math"/>
                          <a:cs typeface="Cambria Math"/>
                        </a:rPr>
                        <m:t>𝑏</m:t>
                      </m:r>
                      <m:r>
                        <a:rPr lang="it-IT" sz="2550" b="0" i="1" dirty="0" smtClean="0">
                          <a:solidFill>
                            <a:srgbClr val="182D45"/>
                          </a:solidFill>
                          <a:latin typeface="Cambria Math" panose="02040503050406030204" pitchFamily="18" charset="0"/>
                          <a:ea typeface="Cambria Math"/>
                          <a:cs typeface="Cambria Math"/>
                        </a:rPr>
                        <m:t>∈</m:t>
                      </m:r>
                      <m:r>
                        <a:rPr lang="it-IT" sz="2550" b="0" i="1" dirty="0" smtClean="0">
                          <a:solidFill>
                            <a:srgbClr val="182D45"/>
                          </a:solidFill>
                          <a:latin typeface="Cambria Math" panose="02040503050406030204" pitchFamily="18" charset="0"/>
                          <a:ea typeface="Cambria Math"/>
                          <a:cs typeface="Cambria Math"/>
                        </a:rPr>
                        <m:t>ℝ</m:t>
                      </m:r>
                      <m:r>
                        <a:rPr lang="it-IT" sz="2550" b="0" i="1" dirty="0" smtClean="0">
                          <a:solidFill>
                            <a:srgbClr val="182D45"/>
                          </a:solidFill>
                          <a:latin typeface="Cambria Math" panose="02040503050406030204" pitchFamily="18" charset="0"/>
                          <a:ea typeface="Cambria Math"/>
                          <a:cs typeface="Cambria Math"/>
                        </a:rPr>
                        <m:t>,  </m:t>
                      </m:r>
                      <m:r>
                        <a:rPr lang="en-GB" sz="2550" dirty="0">
                          <a:solidFill>
                            <a:srgbClr val="182D45"/>
                          </a:solidFill>
                          <a:latin typeface="Cambria Math"/>
                          <a:ea typeface="Cambria Math"/>
                          <a:cs typeface="Cambria Math"/>
                        </a:rPr>
                        <m:t>𝐰</m:t>
                      </m:r>
                      <m:r>
                        <a:rPr lang="en-GB" sz="2550" dirty="0">
                          <a:solidFill>
                            <a:srgbClr val="182D45"/>
                          </a:solidFill>
                          <a:latin typeface="Cambria Math"/>
                          <a:ea typeface="Cambria Math"/>
                          <a:cs typeface="Cambria Math"/>
                        </a:rPr>
                        <m:t>=</m:t>
                      </m:r>
                      <m:sSup>
                        <m:sSupPr>
                          <m:ctrlPr>
                            <a:rPr lang="it-IT" sz="2550" b="0" i="1" dirty="0" smtClean="0">
                              <a:solidFill>
                                <a:srgbClr val="182D45"/>
                              </a:solidFill>
                              <a:latin typeface="Cambria Math" panose="02040503050406030204" pitchFamily="18" charset="0"/>
                              <a:ea typeface="Cambria Math"/>
                            </a:rPr>
                          </m:ctrlPr>
                        </m:sSupPr>
                        <m:e>
                          <m:d>
                            <m:dPr>
                              <m:ctrlPr>
                                <a:rPr lang="it-IT" sz="2550" b="0" i="1" dirty="0" smtClean="0">
                                  <a:solidFill>
                                    <a:srgbClr val="182D45"/>
                                  </a:solidFill>
                                  <a:latin typeface="Cambria Math" panose="02040503050406030204" pitchFamily="18" charset="0"/>
                                  <a:ea typeface="Cambria Math"/>
                                </a:rPr>
                              </m:ctrlPr>
                            </m:dPr>
                            <m:e>
                              <m:sSub>
                                <m:sSubPr>
                                  <m:ctrlPr>
                                    <a:rPr lang="it-IT" sz="2550" b="0" i="1" dirty="0" smtClean="0">
                                      <a:solidFill>
                                        <a:srgbClr val="182D45"/>
                                      </a:solidFill>
                                      <a:latin typeface="Cambria Math" panose="02040503050406030204" pitchFamily="18" charset="0"/>
                                      <a:ea typeface="Cambria Math"/>
                                    </a:rPr>
                                  </m:ctrlPr>
                                </m:sSubPr>
                                <m:e>
                                  <m:r>
                                    <a:rPr lang="it-IT" sz="2550" b="0" i="1" dirty="0" smtClean="0">
                                      <a:solidFill>
                                        <a:srgbClr val="182D45"/>
                                      </a:solidFill>
                                      <a:latin typeface="Cambria Math" panose="02040503050406030204" pitchFamily="18" charset="0"/>
                                      <a:ea typeface="Cambria Math"/>
                                    </a:rPr>
                                    <m:t>𝑤</m:t>
                                  </m:r>
                                </m:e>
                                <m:sub>
                                  <m:r>
                                    <a:rPr lang="it-IT" sz="2550" b="0" i="1" dirty="0" smtClean="0">
                                      <a:solidFill>
                                        <a:srgbClr val="182D45"/>
                                      </a:solidFill>
                                      <a:latin typeface="Cambria Math" panose="02040503050406030204" pitchFamily="18" charset="0"/>
                                      <a:ea typeface="Cambria Math"/>
                                    </a:rPr>
                                    <m:t>1</m:t>
                                  </m:r>
                                </m:sub>
                              </m:sSub>
                              <m:r>
                                <a:rPr lang="it-IT" sz="2550" b="0" i="1" dirty="0" smtClean="0">
                                  <a:solidFill>
                                    <a:srgbClr val="182D45"/>
                                  </a:solidFill>
                                  <a:latin typeface="Cambria Math" panose="02040503050406030204" pitchFamily="18" charset="0"/>
                                  <a:ea typeface="Cambria Math"/>
                                </a:rPr>
                                <m:t>,…,</m:t>
                              </m:r>
                              <m:sSub>
                                <m:sSubPr>
                                  <m:ctrlPr>
                                    <a:rPr lang="it-IT" sz="2550" b="0" i="1" dirty="0" smtClean="0">
                                      <a:solidFill>
                                        <a:srgbClr val="182D45"/>
                                      </a:solidFill>
                                      <a:latin typeface="Cambria Math" panose="02040503050406030204" pitchFamily="18" charset="0"/>
                                      <a:ea typeface="Cambria Math"/>
                                    </a:rPr>
                                  </m:ctrlPr>
                                </m:sSubPr>
                                <m:e>
                                  <m:r>
                                    <a:rPr lang="it-IT" sz="2550" b="0" i="1" dirty="0" smtClean="0">
                                      <a:solidFill>
                                        <a:srgbClr val="182D45"/>
                                      </a:solidFill>
                                      <a:latin typeface="Cambria Math" panose="02040503050406030204" pitchFamily="18" charset="0"/>
                                      <a:ea typeface="Cambria Math"/>
                                    </a:rPr>
                                    <m:t>𝑤</m:t>
                                  </m:r>
                                </m:e>
                                <m:sub>
                                  <m:r>
                                    <a:rPr lang="it-IT" sz="2550" b="0" i="1" dirty="0" smtClean="0">
                                      <a:solidFill>
                                        <a:srgbClr val="182D45"/>
                                      </a:solidFill>
                                      <a:latin typeface="Cambria Math" panose="02040503050406030204" pitchFamily="18" charset="0"/>
                                      <a:ea typeface="Cambria Math"/>
                                    </a:rPr>
                                    <m:t>𝑑</m:t>
                                  </m:r>
                                </m:sub>
                              </m:sSub>
                            </m:e>
                          </m:d>
                        </m:e>
                        <m:sup>
                          <m:r>
                            <a:rPr lang="it-IT" sz="2550" b="0" i="1" dirty="0" smtClean="0">
                              <a:solidFill>
                                <a:srgbClr val="182D45"/>
                              </a:solidFill>
                              <a:latin typeface="Cambria Math" panose="02040503050406030204" pitchFamily="18" charset="0"/>
                              <a:ea typeface="Cambria Math"/>
                            </a:rPr>
                            <m:t>⊤</m:t>
                          </m:r>
                        </m:sup>
                      </m:sSup>
                      <m:r>
                        <a:rPr lang="en-GB" sz="2550" b="0" dirty="0">
                          <a:solidFill>
                            <a:srgbClr val="182D45"/>
                          </a:solidFill>
                          <a:latin typeface="Cambria Math"/>
                          <a:ea typeface="Cambria Math"/>
                          <a:cs typeface="Cambria Math"/>
                        </a:rPr>
                        <m:t>∈</m:t>
                      </m:r>
                      <m:sSup>
                        <m:sSupPr>
                          <m:ctrlPr>
                            <a:rPr lang="en-GB" sz="2550" b="0" dirty="0">
                              <a:solidFill>
                                <a:srgbClr val="182D45"/>
                              </a:solidFill>
                              <a:latin typeface="Cambria Math"/>
                              <a:ea typeface="Cambria Math"/>
                              <a:cs typeface="Cambria Math"/>
                            </a:rPr>
                          </m:ctrlPr>
                        </m:sSupPr>
                        <m:e>
                          <m:r>
                            <a:rPr lang="en-GB" sz="2550" b="0" dirty="0">
                              <a:solidFill>
                                <a:srgbClr val="182D45"/>
                              </a:solidFill>
                              <a:latin typeface="Cambria Math"/>
                              <a:ea typeface="Cambria Math"/>
                              <a:cs typeface="Cambria Math"/>
                            </a:rPr>
                            <m:t>ℝ</m:t>
                          </m:r>
                        </m:e>
                        <m:sup>
                          <m:r>
                            <a:rPr lang="en-GB" sz="2550" b="0" dirty="0">
                              <a:solidFill>
                                <a:srgbClr val="182D45"/>
                              </a:solidFill>
                              <a:latin typeface="Cambria Math"/>
                              <a:ea typeface="Cambria Math"/>
                              <a:cs typeface="Cambria Math"/>
                            </a:rPr>
                            <m:t>𝑑</m:t>
                          </m:r>
                          <m:r>
                            <a:rPr lang="en-GB" sz="2550" b="0" dirty="0">
                              <a:solidFill>
                                <a:srgbClr val="182D45"/>
                              </a:solidFill>
                              <a:latin typeface="Cambria Math"/>
                              <a:ea typeface="Cambria Math"/>
                              <a:cs typeface="Cambria Math"/>
                            </a:rPr>
                            <m:t>×1</m:t>
                          </m:r>
                        </m:sup>
                      </m:sSup>
                      <m:r>
                        <a:rPr lang="it-IT" sz="2550" b="0" i="1" dirty="0" smtClean="0">
                          <a:solidFill>
                            <a:srgbClr val="182D45"/>
                          </a:solidFill>
                          <a:latin typeface="Cambria Math" panose="02040503050406030204" pitchFamily="18" charset="0"/>
                          <a:ea typeface="Cambria Math"/>
                          <a:cs typeface="Cambria Math"/>
                        </a:rPr>
                        <m:t>,  </m:t>
                      </m:r>
                      <m:r>
                        <a:rPr lang="it-IT" sz="2550" b="1">
                          <a:solidFill>
                            <a:srgbClr val="182D45"/>
                          </a:solidFill>
                          <a:latin typeface="Cambria Math" panose="02040503050406030204" pitchFamily="18" charset="0"/>
                          <a:ea typeface="Cambria Math"/>
                          <a:cs typeface="Cambria Math"/>
                        </a:rPr>
                        <m:t>𝛉</m:t>
                      </m:r>
                      <m:r>
                        <a:rPr lang="it-IT" sz="2550" i="1">
                          <a:solidFill>
                            <a:srgbClr val="182D45"/>
                          </a:solidFill>
                          <a:latin typeface="Cambria Math" panose="02040503050406030204" pitchFamily="18" charset="0"/>
                          <a:ea typeface="Cambria Math"/>
                          <a:cs typeface="Cambria Math"/>
                        </a:rPr>
                        <m:t>≔</m:t>
                      </m:r>
                      <m:d>
                        <m:dPr>
                          <m:ctrlPr>
                            <a:rPr lang="it-IT" sz="2550" i="1">
                              <a:solidFill>
                                <a:srgbClr val="182D45"/>
                              </a:solidFill>
                              <a:latin typeface="Cambria Math" panose="02040503050406030204" pitchFamily="18" charset="0"/>
                              <a:ea typeface="Cambria Math"/>
                            </a:rPr>
                          </m:ctrlPr>
                        </m:dPr>
                        <m:e>
                          <m:eqArr>
                            <m:eqArrPr>
                              <m:ctrlPr>
                                <a:rPr lang="it-IT" sz="2550" i="1">
                                  <a:solidFill>
                                    <a:srgbClr val="182D45"/>
                                  </a:solidFill>
                                  <a:latin typeface="Cambria Math" panose="02040503050406030204" pitchFamily="18" charset="0"/>
                                  <a:ea typeface="Cambria Math"/>
                                </a:rPr>
                              </m:ctrlPr>
                            </m:eqArrPr>
                            <m:e>
                              <m:r>
                                <a:rPr lang="it-IT" sz="2550" i="1">
                                  <a:solidFill>
                                    <a:srgbClr val="182D45"/>
                                  </a:solidFill>
                                  <a:latin typeface="Cambria Math" panose="02040503050406030204" pitchFamily="18" charset="0"/>
                                  <a:ea typeface="Cambria Math"/>
                                </a:rPr>
                                <m:t>𝑏</m:t>
                              </m:r>
                            </m:e>
                            <m:e>
                              <m:r>
                                <a:rPr lang="en-GB" sz="2550" dirty="0">
                                  <a:solidFill>
                                    <a:srgbClr val="182D45"/>
                                  </a:solidFill>
                                  <a:latin typeface="Cambria Math"/>
                                  <a:ea typeface="Cambria Math"/>
                                  <a:cs typeface="Cambria Math"/>
                                </a:rPr>
                                <m:t>𝐰</m:t>
                              </m:r>
                            </m:e>
                          </m:eqArr>
                        </m:e>
                      </m:d>
                      <m:r>
                        <a:rPr lang="it-IT" sz="2550" b="0" i="1" dirty="0" smtClean="0">
                          <a:solidFill>
                            <a:srgbClr val="182D45"/>
                          </a:solidFill>
                          <a:latin typeface="Cambria Math" panose="02040503050406030204" pitchFamily="18" charset="0"/>
                          <a:ea typeface="Cambria Math"/>
                          <a:cs typeface="Cambria Math"/>
                        </a:rPr>
                        <m:t>∈</m:t>
                      </m:r>
                      <m:sSup>
                        <m:sSupPr>
                          <m:ctrlPr>
                            <a:rPr lang="it-IT" sz="2550" b="0" i="1" dirty="0" smtClean="0">
                              <a:solidFill>
                                <a:srgbClr val="182D45"/>
                              </a:solidFill>
                              <a:latin typeface="Cambria Math" panose="02040503050406030204" pitchFamily="18" charset="0"/>
                              <a:ea typeface="Cambria Math"/>
                              <a:cs typeface="Cambria Math"/>
                            </a:rPr>
                          </m:ctrlPr>
                        </m:sSupPr>
                        <m:e>
                          <m:r>
                            <a:rPr lang="it-IT" sz="2550" b="0" i="1" dirty="0" smtClean="0">
                              <a:solidFill>
                                <a:srgbClr val="182D45"/>
                              </a:solidFill>
                              <a:latin typeface="Cambria Math" panose="02040503050406030204" pitchFamily="18" charset="0"/>
                              <a:ea typeface="Cambria Math"/>
                              <a:cs typeface="Cambria Math"/>
                            </a:rPr>
                            <m:t>ℝ</m:t>
                          </m:r>
                        </m:e>
                        <m:sup>
                          <m:d>
                            <m:dPr>
                              <m:ctrlPr>
                                <a:rPr lang="it-IT" sz="2550" b="0" i="1" dirty="0" smtClean="0">
                                  <a:solidFill>
                                    <a:srgbClr val="182D45"/>
                                  </a:solidFill>
                                  <a:latin typeface="Cambria Math" panose="02040503050406030204" pitchFamily="18" charset="0"/>
                                  <a:ea typeface="Cambria Math"/>
                                </a:rPr>
                              </m:ctrlPr>
                            </m:dPr>
                            <m:e>
                              <m:r>
                                <a:rPr lang="it-IT" sz="2550" b="0" i="1" dirty="0" smtClean="0">
                                  <a:solidFill>
                                    <a:srgbClr val="182D45"/>
                                  </a:solidFill>
                                  <a:latin typeface="Cambria Math" panose="02040503050406030204" pitchFamily="18" charset="0"/>
                                  <a:ea typeface="Cambria Math"/>
                                </a:rPr>
                                <m:t>𝑑</m:t>
                              </m:r>
                              <m:r>
                                <a:rPr lang="it-IT" sz="2550" b="0" i="1" dirty="0" smtClean="0">
                                  <a:solidFill>
                                    <a:srgbClr val="182D45"/>
                                  </a:solidFill>
                                  <a:latin typeface="Cambria Math" panose="02040503050406030204" pitchFamily="18" charset="0"/>
                                  <a:ea typeface="Cambria Math"/>
                                </a:rPr>
                                <m:t>+1</m:t>
                              </m:r>
                            </m:e>
                          </m:d>
                          <m:r>
                            <a:rPr lang="it-IT" sz="2550" b="0" i="1" dirty="0" smtClean="0">
                              <a:solidFill>
                                <a:srgbClr val="182D45"/>
                              </a:solidFill>
                              <a:latin typeface="Cambria Math" panose="02040503050406030204" pitchFamily="18" charset="0"/>
                              <a:ea typeface="Cambria Math"/>
                            </a:rPr>
                            <m:t>×1</m:t>
                          </m:r>
                        </m:sup>
                      </m:sSup>
                    </m:oMath>
                  </m:oMathPara>
                </a14:m>
                <a:endParaRPr lang="en-GB" sz="2550" b="0" i="0" dirty="0">
                  <a:solidFill>
                    <a:srgbClr val="182D45"/>
                  </a:solidFill>
                  <a:latin typeface="Cambria Math"/>
                  <a:ea typeface="Cambria Math"/>
                  <a:cs typeface="Cambria Math"/>
                </a:endParaRPr>
              </a:p>
            </p:txBody>
          </p:sp>
        </mc:Choice>
        <mc:Fallback xmlns="">
          <p:sp>
            <p:nvSpPr>
              <p:cNvPr id="4" name="eq_102">
                <a:extLst>
                  <a:ext uri="{FF2B5EF4-FFF2-40B4-BE49-F238E27FC236}">
                    <a16:creationId xmlns:a16="http://schemas.microsoft.com/office/drawing/2014/main" id="{591F5313-94E8-4C88-AFE0-8391508B6DA4}"/>
                  </a:ext>
                </a:extLst>
              </p:cNvPr>
              <p:cNvSpPr>
                <a:spLocks noGrp="1" noRot="1" noChangeAspect="1" noMove="1" noResize="1" noEditPoints="1" noAdjustHandles="1" noChangeArrowheads="1" noChangeShapeType="1" noTextEdit="1"/>
              </p:cNvSpPr>
              <p:nvPr/>
            </p:nvSpPr>
            <p:spPr>
              <a:xfrm>
                <a:off x="685800" y="3976152"/>
                <a:ext cx="10756900" cy="647700"/>
              </a:xfrm>
              <a:prstGeom prst="rect">
                <a:avLst/>
              </a:prstGeom>
              <a:blipFill>
                <a:blip r:embed="rId4"/>
                <a:stretch>
                  <a:fillRect b="-935"/>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eq_103">
                <a:extLst>
                  <a:ext uri="{FF2B5EF4-FFF2-40B4-BE49-F238E27FC236}">
                    <a16:creationId xmlns:a16="http://schemas.microsoft.com/office/drawing/2014/main" id="{C5392CFA-F835-4F1B-B4D9-4FE8E7B25A65}"/>
                  </a:ext>
                </a:extLst>
              </p:cNvPr>
              <p:cNvSpPr>
                <a:spLocks noGrp="1"/>
              </p:cNvSpPr>
              <p:nvPr/>
            </p:nvSpPr>
            <p:spPr>
              <a:xfrm>
                <a:off x="619125" y="5123378"/>
                <a:ext cx="10953750" cy="1219200"/>
              </a:xfrm>
              <a:prstGeom prst="rect">
                <a:avLst/>
              </a:prstGeom>
              <a:noFill/>
              <a:ln w="0">
                <a:noFill/>
              </a:ln>
            </p:spPr>
            <p:txBody>
              <a:bodyPr wrap="square" lIns="0" tIns="0" rIns="0" bIns="0" anchor="t">
                <a:noAutofit/>
              </a:bodyPr>
              <a:lstStyle/>
              <a:p>
                <a:pPr algn="ctr">
                  <a:defRPr lang="en-GB" sz="2850" b="0" i="0" dirty="0">
                    <a:solidFill>
                      <a:srgbClr val="087F83"/>
                    </a:solidFill>
                    <a:latin typeface="Cambria Math"/>
                    <a:ea typeface="Cambria Math"/>
                    <a:cs typeface="Cambria Math"/>
                  </a:defRPr>
                </a:pPr>
                <a14:m>
                  <m:oMathPara xmlns:m="http://schemas.openxmlformats.org/officeDocument/2006/math">
                    <m:oMath>
                      <m:sSub>
                        <m:sSubPr>
                          <m:ctrlPr>
                            <a:rPr lang="en-GB" sz="2850" b="0" dirty="0">
                              <a:solidFill>
                                <a:srgbClr val="087F83"/>
                              </a:solidFill>
                              <a:latin typeface="Cambria Math"/>
                              <a:ea typeface="Cambria Math"/>
                              <a:cs typeface="Cambria Math"/>
                            </a:rPr>
                          </m:ctrlPr>
                        </m:sSubPr>
                        <m:e>
                          <m:r>
                            <a:rPr lang="en-GB" sz="2850" b="0" dirty="0">
                              <a:solidFill>
                                <a:srgbClr val="087F83"/>
                              </a:solidFill>
                              <a:latin typeface="Cambria Math"/>
                              <a:ea typeface="Cambria Math"/>
                              <a:cs typeface="Cambria Math"/>
                            </a:rPr>
                            <m:t>𝑓</m:t>
                          </m:r>
                        </m:e>
                        <m:sub>
                          <m:r>
                            <a:rPr lang="en-GB" sz="2850" b="0" dirty="0">
                              <a:solidFill>
                                <a:srgbClr val="087F83"/>
                              </a:solidFill>
                              <a:latin typeface="Cambria Math"/>
                              <a:ea typeface="Cambria Math"/>
                              <a:cs typeface="Cambria Math"/>
                            </a:rPr>
                            <m:t>𝛉</m:t>
                          </m:r>
                        </m:sub>
                      </m:sSub>
                      <m:d>
                        <m:dPr>
                          <m:ctrlPr>
                            <a:rPr lang="en-GB" sz="2850" b="0" dirty="0">
                              <a:solidFill>
                                <a:srgbClr val="087F83"/>
                              </a:solidFill>
                              <a:latin typeface="Cambria Math"/>
                              <a:ea typeface="Cambria Math"/>
                              <a:cs typeface="Cambria Math"/>
                            </a:rPr>
                          </m:ctrlPr>
                        </m:dPr>
                        <m:e>
                          <m:r>
                            <a:rPr lang="en-GB" sz="2850" b="0" dirty="0">
                              <a:solidFill>
                                <a:srgbClr val="087F83"/>
                              </a:solidFill>
                              <a:latin typeface="Cambria Math"/>
                              <a:ea typeface="Cambria Math"/>
                              <a:cs typeface="Cambria Math"/>
                            </a:rPr>
                            <m:t>𝐱</m:t>
                          </m:r>
                        </m:e>
                      </m:d>
                      <m:r>
                        <a:rPr lang="en-GB" sz="2850" b="0" dirty="0">
                          <a:solidFill>
                            <a:srgbClr val="087F83"/>
                          </a:solidFill>
                          <a:latin typeface="Cambria Math"/>
                          <a:ea typeface="Cambria Math"/>
                          <a:cs typeface="Cambria Math"/>
                        </a:rPr>
                        <m:t>=</m:t>
                      </m:r>
                      <m:d>
                        <m:dPr>
                          <m:ctrlPr>
                            <a:rPr lang="it-IT" sz="2850" b="0" i="1" dirty="0" smtClean="0">
                              <a:solidFill>
                                <a:srgbClr val="087F83"/>
                              </a:solidFill>
                              <a:latin typeface="Cambria Math" panose="02040503050406030204" pitchFamily="18" charset="0"/>
                              <a:ea typeface="Cambria Math"/>
                              <a:cs typeface="Cambria Math"/>
                            </a:rPr>
                          </m:ctrlPr>
                        </m:dPr>
                        <m:e>
                          <m:r>
                            <a:rPr lang="it-IT" sz="2850" b="0" i="1" dirty="0" smtClean="0">
                              <a:solidFill>
                                <a:srgbClr val="087F83"/>
                              </a:solidFill>
                              <a:latin typeface="Cambria Math" panose="02040503050406030204" pitchFamily="18" charset="0"/>
                              <a:ea typeface="Cambria Math"/>
                              <a:cs typeface="Cambria Math"/>
                            </a:rPr>
                            <m:t>1,</m:t>
                          </m:r>
                          <m:r>
                            <a:rPr lang="en-GB" sz="2850" dirty="0">
                              <a:solidFill>
                                <a:srgbClr val="087F83"/>
                              </a:solidFill>
                              <a:latin typeface="Cambria Math"/>
                              <a:ea typeface="Cambria Math"/>
                              <a:cs typeface="Cambria Math"/>
                            </a:rPr>
                            <m:t>𝐱</m:t>
                          </m:r>
                        </m:e>
                      </m:d>
                      <m:r>
                        <a:rPr lang="en-GB" sz="2850" dirty="0">
                          <a:solidFill>
                            <a:srgbClr val="087F83"/>
                          </a:solidFill>
                          <a:latin typeface="Cambria Math"/>
                          <a:ea typeface="Cambria Math"/>
                          <a:cs typeface="Cambria Math"/>
                        </a:rPr>
                        <m:t>𝛉</m:t>
                      </m:r>
                      <m:r>
                        <a:rPr lang="it-IT" sz="2850" b="0" i="1" dirty="0" smtClean="0">
                          <a:solidFill>
                            <a:srgbClr val="087F83"/>
                          </a:solidFill>
                          <a:latin typeface="Cambria Math" panose="02040503050406030204" pitchFamily="18" charset="0"/>
                          <a:ea typeface="Cambria Math"/>
                          <a:cs typeface="Cambria Math"/>
                        </a:rPr>
                        <m:t>=</m:t>
                      </m:r>
                      <m:r>
                        <a:rPr lang="en-GB" sz="2850" b="0" dirty="0">
                          <a:solidFill>
                            <a:srgbClr val="087F83"/>
                          </a:solidFill>
                          <a:latin typeface="Cambria Math"/>
                          <a:ea typeface="Cambria Math"/>
                          <a:cs typeface="Cambria Math"/>
                        </a:rPr>
                        <m:t>𝑏</m:t>
                      </m:r>
                      <m:r>
                        <a:rPr lang="en-GB" sz="2850" b="0" dirty="0">
                          <a:solidFill>
                            <a:srgbClr val="087F83"/>
                          </a:solidFill>
                          <a:latin typeface="Cambria Math"/>
                          <a:ea typeface="Cambria Math"/>
                          <a:cs typeface="Cambria Math"/>
                        </a:rPr>
                        <m:t>+</m:t>
                      </m:r>
                      <m:r>
                        <a:rPr lang="en-GB" sz="2850" b="0" dirty="0">
                          <a:solidFill>
                            <a:srgbClr val="087F83"/>
                          </a:solidFill>
                          <a:latin typeface="Cambria Math"/>
                          <a:ea typeface="Cambria Math"/>
                          <a:cs typeface="Cambria Math"/>
                        </a:rPr>
                        <m:t>𝐱𝐰</m:t>
                      </m:r>
                      <m:r>
                        <a:rPr lang="en-GB" sz="2850" b="0" dirty="0">
                          <a:solidFill>
                            <a:srgbClr val="087F83"/>
                          </a:solidFill>
                          <a:latin typeface="Cambria Math"/>
                          <a:ea typeface="Cambria Math"/>
                          <a:cs typeface="Cambria Math"/>
                        </a:rPr>
                        <m:t>=</m:t>
                      </m:r>
                      <m:r>
                        <a:rPr lang="en-GB" sz="2850" b="0" dirty="0">
                          <a:solidFill>
                            <a:srgbClr val="087F83"/>
                          </a:solidFill>
                          <a:latin typeface="Cambria Math"/>
                          <a:ea typeface="Cambria Math"/>
                          <a:cs typeface="Cambria Math"/>
                        </a:rPr>
                        <m:t>𝑏</m:t>
                      </m:r>
                      <m:r>
                        <a:rPr lang="en-GB" sz="2850" b="0" dirty="0">
                          <a:solidFill>
                            <a:srgbClr val="087F83"/>
                          </a:solidFill>
                          <a:latin typeface="Cambria Math"/>
                          <a:ea typeface="Cambria Math"/>
                          <a:cs typeface="Cambria Math"/>
                        </a:rPr>
                        <m:t>+</m:t>
                      </m:r>
                      <m:nary>
                        <m:naryPr>
                          <m:chr m:val="∑"/>
                          <m:limLoc m:val="undOvr"/>
                          <m:ctrlPr>
                            <a:rPr lang="en-GB" sz="2850" b="0" dirty="0">
                              <a:solidFill>
                                <a:srgbClr val="087F83"/>
                              </a:solidFill>
                              <a:latin typeface="Cambria Math"/>
                              <a:ea typeface="Cambria Math"/>
                              <a:cs typeface="Cambria Math"/>
                            </a:rPr>
                          </m:ctrlPr>
                        </m:naryPr>
                        <m:sub>
                          <m:r>
                            <a:rPr lang="en-GB" sz="2850" b="0" dirty="0">
                              <a:solidFill>
                                <a:srgbClr val="087F83"/>
                              </a:solidFill>
                              <a:latin typeface="Cambria Math"/>
                              <a:ea typeface="Cambria Math"/>
                              <a:cs typeface="Cambria Math"/>
                            </a:rPr>
                            <m:t>𝑗</m:t>
                          </m:r>
                          <m:r>
                            <a:rPr lang="en-GB" sz="2850" b="0" dirty="0">
                              <a:solidFill>
                                <a:srgbClr val="087F83"/>
                              </a:solidFill>
                              <a:latin typeface="Cambria Math"/>
                              <a:ea typeface="Cambria Math"/>
                              <a:cs typeface="Cambria Math"/>
                            </a:rPr>
                            <m:t>=1</m:t>
                          </m:r>
                        </m:sub>
                        <m:sup>
                          <m:r>
                            <a:rPr lang="en-GB" sz="2850" b="0" dirty="0">
                              <a:solidFill>
                                <a:srgbClr val="087F83"/>
                              </a:solidFill>
                              <a:latin typeface="Cambria Math"/>
                              <a:ea typeface="Cambria Math"/>
                              <a:cs typeface="Cambria Math"/>
                            </a:rPr>
                            <m:t>𝑑</m:t>
                          </m:r>
                        </m:sup>
                        <m:e>
                          <m:sSub>
                            <m:sSubPr>
                              <m:ctrlPr>
                                <a:rPr lang="en-GB" sz="2850" b="0" dirty="0">
                                  <a:solidFill>
                                    <a:srgbClr val="087F83"/>
                                  </a:solidFill>
                                  <a:latin typeface="Cambria Math"/>
                                  <a:ea typeface="Cambria Math"/>
                                  <a:cs typeface="Cambria Math"/>
                                </a:rPr>
                              </m:ctrlPr>
                            </m:sSubPr>
                            <m:e>
                              <m:r>
                                <a:rPr lang="en-GB" sz="2850" b="0" dirty="0">
                                  <a:solidFill>
                                    <a:srgbClr val="087F83"/>
                                  </a:solidFill>
                                  <a:latin typeface="Cambria Math"/>
                                  <a:ea typeface="Cambria Math"/>
                                  <a:cs typeface="Cambria Math"/>
                                </a:rPr>
                                <m:t>𝑥</m:t>
                              </m:r>
                            </m:e>
                            <m:sub>
                              <m:r>
                                <a:rPr lang="en-GB" sz="2850" b="0" dirty="0">
                                  <a:solidFill>
                                    <a:srgbClr val="087F83"/>
                                  </a:solidFill>
                                  <a:latin typeface="Cambria Math"/>
                                  <a:ea typeface="Cambria Math"/>
                                  <a:cs typeface="Cambria Math"/>
                                </a:rPr>
                                <m:t>𝑗</m:t>
                              </m:r>
                            </m:sub>
                          </m:sSub>
                          <m:sSub>
                            <m:sSubPr>
                              <m:ctrlPr>
                                <a:rPr lang="en-GB" sz="2850" dirty="0">
                                  <a:solidFill>
                                    <a:srgbClr val="087F83"/>
                                  </a:solidFill>
                                  <a:latin typeface="Cambria Math"/>
                                  <a:ea typeface="Cambria Math"/>
                                  <a:cs typeface="Cambria Math"/>
                                </a:rPr>
                              </m:ctrlPr>
                            </m:sSubPr>
                            <m:e>
                              <m:r>
                                <a:rPr lang="en-GB" sz="2850" dirty="0">
                                  <a:solidFill>
                                    <a:srgbClr val="087F83"/>
                                  </a:solidFill>
                                  <a:latin typeface="Cambria Math"/>
                                  <a:ea typeface="Cambria Math"/>
                                  <a:cs typeface="Cambria Math"/>
                                </a:rPr>
                                <m:t>𝑤</m:t>
                              </m:r>
                            </m:e>
                            <m:sub>
                              <m:r>
                                <a:rPr lang="en-GB" sz="2850" dirty="0">
                                  <a:solidFill>
                                    <a:srgbClr val="087F83"/>
                                  </a:solidFill>
                                  <a:latin typeface="Cambria Math"/>
                                  <a:ea typeface="Cambria Math"/>
                                  <a:cs typeface="Cambria Math"/>
                                </a:rPr>
                                <m:t>𝑗</m:t>
                              </m:r>
                            </m:sub>
                          </m:sSub>
                        </m:e>
                      </m:nary>
                    </m:oMath>
                  </m:oMathPara>
                </a14:m>
                <a:endParaRPr lang="en-GB" sz="2850" b="0" i="0" dirty="0">
                  <a:solidFill>
                    <a:srgbClr val="087F83"/>
                  </a:solidFill>
                  <a:latin typeface="Cambria Math"/>
                  <a:ea typeface="Cambria Math"/>
                  <a:cs typeface="Cambria Math"/>
                </a:endParaRPr>
              </a:p>
            </p:txBody>
          </p:sp>
        </mc:Choice>
        <mc:Fallback>
          <p:sp>
            <p:nvSpPr>
              <p:cNvPr id="5" name="eq_103">
                <a:extLst>
                  <a:ext uri="{FF2B5EF4-FFF2-40B4-BE49-F238E27FC236}">
                    <a16:creationId xmlns:a16="http://schemas.microsoft.com/office/drawing/2014/main" id="{C5392CFA-F835-4F1B-B4D9-4FE8E7B25A65}"/>
                  </a:ext>
                </a:extLst>
              </p:cNvPr>
              <p:cNvSpPr>
                <a:spLocks noGrp="1" noRot="1" noChangeAspect="1" noMove="1" noResize="1" noEditPoints="1" noAdjustHandles="1" noChangeArrowheads="1" noChangeShapeType="1" noTextEdit="1"/>
              </p:cNvSpPr>
              <p:nvPr/>
            </p:nvSpPr>
            <p:spPr>
              <a:xfrm>
                <a:off x="619125" y="5123378"/>
                <a:ext cx="10953750" cy="1219200"/>
              </a:xfrm>
              <a:prstGeom prst="rect">
                <a:avLst/>
              </a:prstGeom>
              <a:blipFill>
                <a:blip r:embed="rId5"/>
                <a:stretch>
                  <a:fillRect b="-5000"/>
                </a:stretch>
              </a:blipFill>
              <a:ln w="0">
                <a:noFill/>
              </a:ln>
            </p:spPr>
            <p:txBody>
              <a:bodyPr/>
              <a:lstStyle/>
              <a:p>
                <a:r>
                  <a:rPr lang="it-IT">
                    <a:noFill/>
                  </a:rPr>
                  <a:t> </a:t>
                </a:r>
              </a:p>
            </p:txBody>
          </p:sp>
        </mc:Fallback>
      </mc:AlternateContent>
      <p:sp>
        <p:nvSpPr>
          <p:cNvPr id="6" name="txt_104">
            <a:extLst>
              <a:ext uri="{FF2B5EF4-FFF2-40B4-BE49-F238E27FC236}">
                <a16:creationId xmlns:a16="http://schemas.microsoft.com/office/drawing/2014/main" id="{EB2C5406-C3A8-44EF-97BE-F7A8C0BCE87C}"/>
              </a:ext>
            </a:extLst>
          </p:cNvPr>
          <p:cNvSpPr>
            <a:spLocks noGrp="1"/>
          </p:cNvSpPr>
          <p:nvPr/>
        </p:nvSpPr>
        <p:spPr>
          <a:xfrm>
            <a:off x="587375" y="4772026"/>
            <a:ext cx="10953750" cy="430000"/>
          </a:xfrm>
          <a:prstGeom prst="rect">
            <a:avLst/>
          </a:prstGeom>
          <a:noFill/>
          <a:ln w="0">
            <a:noFill/>
          </a:ln>
        </p:spPr>
        <p:txBody>
          <a:bodyPr wrap="square" lIns="0" tIns="0" rIns="0" bIns="0" anchor="t">
            <a:noAutofit/>
          </a:bodyPr>
          <a:lstStyle/>
          <a:p>
            <a:pPr marL="0" marR="0" indent="0" algn="ctr">
              <a:defRPr lang="en-GB" sz="1850" b="0" i="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The resulting linear predictor is then</a:t>
            </a:r>
            <a:endParaRPr lang="en-GB" sz="2100" b="0" i="0"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8" name="eq_102">
                <a:extLst>
                  <a:ext uri="{FF2B5EF4-FFF2-40B4-BE49-F238E27FC236}">
                    <a16:creationId xmlns:a16="http://schemas.microsoft.com/office/drawing/2014/main" id="{7EA7F0DF-3786-9041-6A78-1B8E2BD61BF9}"/>
                  </a:ext>
                </a:extLst>
              </p:cNvPr>
              <p:cNvSpPr>
                <a:spLocks noGrp="1"/>
              </p:cNvSpPr>
              <p:nvPr/>
            </p:nvSpPr>
            <p:spPr>
              <a:xfrm>
                <a:off x="685800" y="2649594"/>
                <a:ext cx="10823575" cy="498654"/>
              </a:xfrm>
              <a:prstGeom prst="rect">
                <a:avLst/>
              </a:prstGeom>
              <a:noFill/>
              <a:ln w="0">
                <a:noFill/>
              </a:ln>
            </p:spPr>
            <p:txBody>
              <a:bodyPr wrap="square" lIns="0" tIns="0" rIns="0" bIns="0" anchor="t">
                <a:noAutofit/>
              </a:bodyPr>
              <a:lstStyle/>
              <a:p>
                <a:pPr marL="0" marR="0" indent="0" algn="ctr">
                  <a:defRPr lang="en-GB" sz="2550" b="0" i="0" dirty="0">
                    <a:solidFill>
                      <a:srgbClr val="182D45"/>
                    </a:solidFill>
                    <a:latin typeface="Cambria Math"/>
                    <a:ea typeface="Cambria Math"/>
                    <a:cs typeface="Cambria Math"/>
                  </a:defRPr>
                </a:pPr>
                <a14:m>
                  <m:oMathPara xmlns:m="http://schemas.openxmlformats.org/officeDocument/2006/math">
                    <m:oMath>
                      <m:r>
                        <a:rPr lang="en-GB" sz="2550" b="0" dirty="0" smtClean="0">
                          <a:solidFill>
                            <a:srgbClr val="182D45"/>
                          </a:solidFill>
                          <a:latin typeface="Cambria Math"/>
                          <a:ea typeface="Cambria Math"/>
                          <a:cs typeface="Cambria Math"/>
                        </a:rPr>
                        <m:t>𝐱</m:t>
                      </m:r>
                      <m:r>
                        <a:rPr lang="en-GB" sz="2550" b="0" dirty="0" smtClean="0">
                          <a:solidFill>
                            <a:srgbClr val="182D45"/>
                          </a:solidFill>
                          <a:latin typeface="Cambria Math"/>
                          <a:ea typeface="Cambria Math"/>
                          <a:cs typeface="Cambria Math"/>
                        </a:rPr>
                        <m:t>=</m:t>
                      </m:r>
                      <m:d>
                        <m:dPr>
                          <m:ctrlPr>
                            <a:rPr lang="en-GB" sz="2550" b="0" i="1" dirty="0">
                              <a:solidFill>
                                <a:srgbClr val="182D45"/>
                              </a:solidFill>
                              <a:latin typeface="Cambria Math" panose="02040503050406030204" pitchFamily="18" charset="0"/>
                              <a:ea typeface="Cambria Math"/>
                              <a:cs typeface="Cambria Math"/>
                            </a:rPr>
                          </m:ctrlPr>
                        </m:dPr>
                        <m:e>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𝑥</m:t>
                              </m:r>
                            </m:e>
                            <m:sub>
                              <m:r>
                                <a:rPr lang="en-GB" sz="2550" b="0" dirty="0">
                                  <a:solidFill>
                                    <a:srgbClr val="182D45"/>
                                  </a:solidFill>
                                  <a:latin typeface="Cambria Math"/>
                                  <a:ea typeface="Cambria Math"/>
                                  <a:cs typeface="Cambria Math"/>
                                </a:rPr>
                                <m:t>1</m:t>
                              </m:r>
                            </m:sub>
                          </m:sSub>
                          <m:r>
                            <a:rPr lang="en-GB" sz="2550" b="0" dirty="0">
                              <a:solidFill>
                                <a:srgbClr val="182D45"/>
                              </a:solidFill>
                              <a:latin typeface="Cambria Math"/>
                              <a:ea typeface="Cambria Math"/>
                              <a:cs typeface="Cambria Math"/>
                            </a:rPr>
                            <m:t>,…,</m:t>
                          </m:r>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𝑥</m:t>
                              </m:r>
                            </m:e>
                            <m:sub>
                              <m:r>
                                <a:rPr lang="en-GB" sz="2550" b="0" dirty="0">
                                  <a:solidFill>
                                    <a:srgbClr val="182D45"/>
                                  </a:solidFill>
                                  <a:latin typeface="Cambria Math"/>
                                  <a:ea typeface="Cambria Math"/>
                                  <a:cs typeface="Cambria Math"/>
                                </a:rPr>
                                <m:t>𝑑</m:t>
                              </m:r>
                            </m:sub>
                          </m:sSub>
                        </m:e>
                      </m:d>
                      <m:r>
                        <a:rPr lang="en-GB" sz="2550" b="0" dirty="0">
                          <a:solidFill>
                            <a:srgbClr val="182D45"/>
                          </a:solidFill>
                          <a:latin typeface="Cambria Math"/>
                          <a:ea typeface="Cambria Math"/>
                          <a:cs typeface="Cambria Math"/>
                        </a:rPr>
                        <m:t>∈</m:t>
                      </m:r>
                      <m:sSup>
                        <m:sSupPr>
                          <m:ctrlPr>
                            <a:rPr lang="en-GB" sz="2550" b="0" dirty="0">
                              <a:solidFill>
                                <a:srgbClr val="182D45"/>
                              </a:solidFill>
                              <a:latin typeface="Cambria Math"/>
                              <a:ea typeface="Cambria Math"/>
                              <a:cs typeface="Cambria Math"/>
                            </a:rPr>
                          </m:ctrlPr>
                        </m:sSupPr>
                        <m:e>
                          <m:r>
                            <a:rPr lang="en-GB" sz="2550" b="0" dirty="0">
                              <a:solidFill>
                                <a:srgbClr val="182D45"/>
                              </a:solidFill>
                              <a:latin typeface="Cambria Math"/>
                              <a:ea typeface="Cambria Math"/>
                              <a:cs typeface="Cambria Math"/>
                            </a:rPr>
                            <m:t>ℝ</m:t>
                          </m:r>
                        </m:e>
                        <m:sup>
                          <m:r>
                            <a:rPr lang="en-GB" sz="2550" b="0" dirty="0">
                              <a:solidFill>
                                <a:srgbClr val="182D45"/>
                              </a:solidFill>
                              <a:latin typeface="Cambria Math"/>
                              <a:ea typeface="Cambria Math"/>
                              <a:cs typeface="Cambria Math"/>
                            </a:rPr>
                            <m:t>1×</m:t>
                          </m:r>
                          <m:r>
                            <a:rPr lang="en-GB" sz="2550" b="0" dirty="0">
                              <a:solidFill>
                                <a:srgbClr val="182D45"/>
                              </a:solidFill>
                              <a:latin typeface="Cambria Math"/>
                              <a:ea typeface="Cambria Math"/>
                              <a:cs typeface="Cambria Math"/>
                            </a:rPr>
                            <m:t>𝑑</m:t>
                          </m:r>
                        </m:sup>
                      </m:sSup>
                      <m:r>
                        <a:rPr lang="en-GB" sz="2550" b="0" dirty="0" smtClean="0">
                          <a:solidFill>
                            <a:srgbClr val="182D45"/>
                          </a:solidFill>
                          <a:latin typeface="Cambria Math"/>
                          <a:ea typeface="Cambria Math"/>
                          <a:cs typeface="Cambria Math"/>
                        </a:rPr>
                        <m:t>,</m:t>
                      </m:r>
                    </m:oMath>
                  </m:oMathPara>
                </a14:m>
                <a:endParaRPr lang="en-GB" sz="2550" b="0" i="0" dirty="0">
                  <a:solidFill>
                    <a:srgbClr val="182D45"/>
                  </a:solidFill>
                  <a:latin typeface="Cambria Math"/>
                  <a:ea typeface="Cambria Math"/>
                  <a:cs typeface="Cambria Math"/>
                </a:endParaRPr>
              </a:p>
            </p:txBody>
          </p:sp>
        </mc:Choice>
        <mc:Fallback xmlns="">
          <p:sp>
            <p:nvSpPr>
              <p:cNvPr id="8" name="eq_102">
                <a:extLst>
                  <a:ext uri="{FF2B5EF4-FFF2-40B4-BE49-F238E27FC236}">
                    <a16:creationId xmlns:a16="http://schemas.microsoft.com/office/drawing/2014/main" id="{7EA7F0DF-3786-9041-6A78-1B8E2BD61BF9}"/>
                  </a:ext>
                </a:extLst>
              </p:cNvPr>
              <p:cNvSpPr>
                <a:spLocks noGrp="1" noRot="1" noChangeAspect="1" noMove="1" noResize="1" noEditPoints="1" noAdjustHandles="1" noChangeArrowheads="1" noChangeShapeType="1" noTextEdit="1"/>
              </p:cNvSpPr>
              <p:nvPr/>
            </p:nvSpPr>
            <p:spPr>
              <a:xfrm>
                <a:off x="685800" y="2649594"/>
                <a:ext cx="10823575" cy="498654"/>
              </a:xfrm>
              <a:prstGeom prst="rect">
                <a:avLst/>
              </a:prstGeom>
              <a:blipFill>
                <a:blip r:embed="rId6"/>
                <a:stretch>
                  <a:fillRect/>
                </a:stretch>
              </a:blipFill>
              <a:ln w="0">
                <a:noFill/>
              </a:ln>
            </p:spPr>
            <p:txBody>
              <a:bodyPr/>
              <a:lstStyle/>
              <a:p>
                <a:r>
                  <a:rPr lang="it-IT">
                    <a:noFill/>
                  </a:rPr>
                  <a:t> </a:t>
                </a:r>
              </a:p>
            </p:txBody>
          </p:sp>
        </mc:Fallback>
      </mc:AlternateContent>
      <p:sp>
        <p:nvSpPr>
          <p:cNvPr id="9" name="txt_104">
            <a:extLst>
              <a:ext uri="{FF2B5EF4-FFF2-40B4-BE49-F238E27FC236}">
                <a16:creationId xmlns:a16="http://schemas.microsoft.com/office/drawing/2014/main" id="{626B220F-A86A-E539-9B32-CDE24B734CE0}"/>
              </a:ext>
            </a:extLst>
          </p:cNvPr>
          <p:cNvSpPr>
            <a:spLocks noGrp="1"/>
          </p:cNvSpPr>
          <p:nvPr/>
        </p:nvSpPr>
        <p:spPr>
          <a:xfrm>
            <a:off x="619125" y="3323924"/>
            <a:ext cx="10953750" cy="430000"/>
          </a:xfrm>
          <a:prstGeom prst="rect">
            <a:avLst/>
          </a:prstGeom>
          <a:noFill/>
          <a:ln w="0">
            <a:noFill/>
          </a:ln>
        </p:spPr>
        <p:txBody>
          <a:bodyPr wrap="square" lIns="0" tIns="0" rIns="0" bIns="0" anchor="t">
            <a:noAutofit/>
          </a:bodyPr>
          <a:lstStyle/>
          <a:p>
            <a:pPr algn="ctr">
              <a:defRPr lang="en-GB" sz="1850" b="0" i="0" dirty="0">
                <a:solidFill>
                  <a:srgbClr val="182D45"/>
                </a:solidFill>
                <a:latin typeface="DejaVu Sans"/>
                <a:ea typeface="DejaVu Sans"/>
                <a:cs typeface="DejaVu Sans"/>
              </a:defRPr>
            </a:pPr>
            <a:r>
              <a:rPr lang="it-IT" sz="2100" dirty="0" err="1">
                <a:solidFill>
                  <a:srgbClr val="182D45"/>
                </a:solidFill>
                <a:latin typeface="DejaVu Sans"/>
              </a:rPr>
              <a:t>We</a:t>
            </a:r>
            <a:r>
              <a:rPr lang="it-IT" sz="2100" dirty="0">
                <a:solidFill>
                  <a:srgbClr val="182D45"/>
                </a:solidFill>
                <a:latin typeface="DejaVu Sans"/>
              </a:rPr>
              <a:t> associate one weight with </a:t>
            </a:r>
            <a:r>
              <a:rPr lang="it-IT" sz="2100" dirty="0" err="1">
                <a:solidFill>
                  <a:srgbClr val="182D45"/>
                </a:solidFill>
                <a:latin typeface="DejaVu Sans"/>
              </a:rPr>
              <a:t>each</a:t>
            </a:r>
            <a:r>
              <a:rPr lang="it-IT" sz="2100" dirty="0">
                <a:solidFill>
                  <a:srgbClr val="182D45"/>
                </a:solidFill>
                <a:latin typeface="DejaVu Sans"/>
              </a:rPr>
              <a:t> feature, </a:t>
            </a:r>
            <a:r>
              <a:rPr lang="it-IT" sz="2100" dirty="0" err="1">
                <a:solidFill>
                  <a:srgbClr val="182D45"/>
                </a:solidFill>
                <a:latin typeface="DejaVu Sans"/>
              </a:rPr>
              <a:t>together</a:t>
            </a:r>
            <a:r>
              <a:rPr lang="it-IT" sz="2100" dirty="0">
                <a:solidFill>
                  <a:srgbClr val="182D45"/>
                </a:solidFill>
                <a:latin typeface="DejaVu Sans"/>
              </a:rPr>
              <a:t> with a </a:t>
            </a:r>
            <a:r>
              <a:rPr lang="it-IT" sz="2100" dirty="0" err="1">
                <a:solidFill>
                  <a:srgbClr val="182D45"/>
                </a:solidFill>
                <a:latin typeface="DejaVu Sans"/>
              </a:rPr>
              <a:t>bias</a:t>
            </a:r>
            <a:r>
              <a:rPr lang="it-IT" sz="2100" dirty="0">
                <a:solidFill>
                  <a:srgbClr val="182D45"/>
                </a:solidFill>
                <a:latin typeface="DejaVu Sans"/>
              </a:rPr>
              <a:t> (</a:t>
            </a:r>
            <a:r>
              <a:rPr lang="it-IT" sz="2100" dirty="0" err="1">
                <a:solidFill>
                  <a:srgbClr val="182D45"/>
                </a:solidFill>
                <a:latin typeface="DejaVu Sans"/>
              </a:rPr>
              <a:t>intercept</a:t>
            </a:r>
            <a:r>
              <a:rPr lang="it-IT" sz="2100" dirty="0">
                <a:solidFill>
                  <a:srgbClr val="182D45"/>
                </a:solidFill>
                <a:latin typeface="DejaVu Sans"/>
              </a:rPr>
              <a:t>).</a:t>
            </a:r>
            <a:endParaRPr lang="en-GB" sz="2100" b="0" i="0" dirty="0">
              <a:solidFill>
                <a:srgbClr val="182D45"/>
              </a:solidFill>
              <a:latin typeface="DejaVu Sans"/>
              <a:ea typeface="DejaVu Sans"/>
              <a:cs typeface="DejaVu Sans"/>
            </a:endParaRPr>
          </a:p>
        </p:txBody>
      </p:sp>
    </p:spTree>
    <p:extLst>
      <p:ext uri="{BB962C8B-B14F-4D97-AF65-F5344CB8AC3E}">
        <p14:creationId xmlns:p14="http://schemas.microsoft.com/office/powerpoint/2010/main" val="594123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C2FA013-CD5B-465C-9853-1450C4C4921F}"/>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marL="0" marR="0" indent="0" algn="ctr">
              <a:defRPr lang="en-GB" sz="3150" b="1" i="0" dirty="0">
                <a:solidFill>
                  <a:srgbClr val="182D45"/>
                </a:solidFill>
                <a:latin typeface="DejaVu Sans"/>
                <a:ea typeface="DejaVu Sans"/>
                <a:cs typeface="DejaVu Sans"/>
              </a:defRPr>
            </a:pPr>
            <a:r>
              <a:rPr sz="3000" b="1">
                <a:solidFill>
                  <a:srgbClr val="182D45"/>
                </a:solidFill>
                <a:latin typeface="DejaVu Sans"/>
              </a:rPr>
              <a:t>The design matrix</a:t>
            </a:r>
          </a:p>
        </p:txBody>
      </p:sp>
      <p:sp>
        <p:nvSpPr>
          <p:cNvPr id="2" name="page_number">
            <a:extLst>
              <a:ext uri="{FF2B5EF4-FFF2-40B4-BE49-F238E27FC236}">
                <a16:creationId xmlns:a16="http://schemas.microsoft.com/office/drawing/2014/main" id="{0786A381-54C1-49C4-9426-05D22F6B51EE}"/>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46</a:t>
            </a:r>
          </a:p>
        </p:txBody>
      </p:sp>
      <mc:AlternateContent xmlns:mc="http://schemas.openxmlformats.org/markup-compatibility/2006">
        <mc:Choice xmlns:a14="http://schemas.microsoft.com/office/drawing/2010/main" Requires="a14">
          <p:sp>
            <p:nvSpPr>
              <p:cNvPr id="3" name="eq_105">
                <a:extLst>
                  <a:ext uri="{FF2B5EF4-FFF2-40B4-BE49-F238E27FC236}">
                    <a16:creationId xmlns:a16="http://schemas.microsoft.com/office/drawing/2014/main" id="{05FF6165-930E-4648-837E-5491231C21D8}"/>
                  </a:ext>
                </a:extLst>
              </p:cNvPr>
              <p:cNvSpPr>
                <a:spLocks noGrp="1"/>
              </p:cNvSpPr>
              <p:nvPr/>
            </p:nvSpPr>
            <p:spPr>
              <a:xfrm>
                <a:off x="485775" y="2785549"/>
                <a:ext cx="10953750" cy="1286901"/>
              </a:xfrm>
              <a:prstGeom prst="rect">
                <a:avLst/>
              </a:prstGeom>
              <a:noFill/>
              <a:ln w="0">
                <a:noFill/>
              </a:ln>
            </p:spPr>
            <p:txBody>
              <a:bodyPr wrap="square" lIns="0" tIns="0" rIns="0" bIns="0" anchor="t">
                <a:noAutofit/>
              </a:bodyPr>
              <a:lstStyle/>
              <a:p>
                <a:pPr algn="ctr">
                  <a:defRPr lang="en-GB" sz="2475" b="0" i="0" dirty="0">
                    <a:solidFill>
                      <a:srgbClr val="182D45"/>
                    </a:solidFill>
                    <a:latin typeface="Cambria Math"/>
                    <a:ea typeface="Cambria Math"/>
                    <a:cs typeface="Cambria Math"/>
                  </a:defRPr>
                </a:pPr>
                <a14:m>
                  <m:oMathPara xmlns:m="http://schemas.openxmlformats.org/officeDocument/2006/math">
                    <m:oMath>
                      <m:r>
                        <a:rPr lang="en-GB" sz="2475" b="1" i="1" dirty="0" smtClean="0">
                          <a:solidFill>
                            <a:srgbClr val="182D45"/>
                          </a:solidFill>
                          <a:latin typeface="Cambria Math"/>
                          <a:ea typeface="Cambria Math"/>
                          <a:cs typeface="Cambria Math"/>
                        </a:rPr>
                        <m:t>𝐗</m:t>
                      </m:r>
                      <m:r>
                        <a:rPr lang="it-IT" sz="2475" b="0" i="0" dirty="0" smtClean="0">
                          <a:solidFill>
                            <a:srgbClr val="182D45"/>
                          </a:solidFill>
                          <a:latin typeface="Cambria Math" panose="02040503050406030204" pitchFamily="18" charset="0"/>
                          <a:ea typeface="Cambria Math"/>
                          <a:cs typeface="Cambria Math"/>
                        </a:rPr>
                        <m:t>=</m:t>
                      </m:r>
                      <m:d>
                        <m:dPr>
                          <m:ctrlPr>
                            <a:rPr lang="it-IT" sz="2475" i="1" dirty="0">
                              <a:solidFill>
                                <a:srgbClr val="182D45"/>
                              </a:solidFill>
                              <a:latin typeface="Cambria Math" panose="02040503050406030204" pitchFamily="18" charset="0"/>
                            </a:rPr>
                          </m:ctrlPr>
                        </m:dPr>
                        <m:e>
                          <m:m>
                            <m:mPr>
                              <m:plcHide m:val="on"/>
                              <m:mcs>
                                <m:mc>
                                  <m:mcPr>
                                    <m:count m:val="2"/>
                                    <m:mcJc m:val="center"/>
                                  </m:mcPr>
                                </m:mc>
                              </m:mcs>
                              <m:ctrlPr>
                                <a:rPr lang="it-IT" sz="2475" i="1" dirty="0">
                                  <a:solidFill>
                                    <a:srgbClr val="182D45"/>
                                  </a:solidFill>
                                  <a:latin typeface="Cambria Math" panose="02040503050406030204" pitchFamily="18" charset="0"/>
                                </a:rPr>
                              </m:ctrlPr>
                            </m:mPr>
                            <m:mr>
                              <m:e>
                                <m:r>
                                  <a:rPr lang="it-IT" sz="2475" i="1" dirty="0">
                                    <a:solidFill>
                                      <a:srgbClr val="182D45"/>
                                    </a:solidFill>
                                    <a:latin typeface="Cambria Math"/>
                                  </a:rPr>
                                  <m:t>1</m:t>
                                </m:r>
                              </m:e>
                              <m:e>
                                <m:sSub>
                                  <m:sSubPr>
                                    <m:ctrlPr>
                                      <a:rPr lang="it-IT" sz="2475" b="1" i="0" dirty="0">
                                        <a:solidFill>
                                          <a:srgbClr val="182D45"/>
                                        </a:solidFill>
                                        <a:latin typeface="Cambria Math"/>
                                      </a:rPr>
                                    </m:ctrlPr>
                                  </m:sSubPr>
                                  <m:e>
                                    <m:r>
                                      <a:rPr lang="it-IT" sz="2475" b="1" i="0" dirty="0">
                                        <a:solidFill>
                                          <a:srgbClr val="182D45"/>
                                        </a:solidFill>
                                        <a:latin typeface="Cambria Math"/>
                                      </a:rPr>
                                      <m:t>𝐱</m:t>
                                    </m:r>
                                  </m:e>
                                  <m:sub>
                                    <m:r>
                                      <a:rPr lang="it-IT" sz="2475" i="1" dirty="0">
                                        <a:solidFill>
                                          <a:srgbClr val="182D45"/>
                                        </a:solidFill>
                                        <a:latin typeface="Cambria Math"/>
                                      </a:rPr>
                                      <m:t>1</m:t>
                                    </m:r>
                                  </m:sub>
                                </m:sSub>
                              </m:e>
                            </m:mr>
                            <m:mr>
                              <m:e>
                                <m:r>
                                  <a:rPr lang="it-IT" sz="2475" i="1" dirty="0">
                                    <a:solidFill>
                                      <a:srgbClr val="182D45"/>
                                    </a:solidFill>
                                    <a:latin typeface="Cambria Math"/>
                                  </a:rPr>
                                  <m:t>⋮</m:t>
                                </m:r>
                              </m:e>
                              <m:e>
                                <m:r>
                                  <a:rPr lang="it-IT" sz="2475" i="1" dirty="0">
                                    <a:solidFill>
                                      <a:srgbClr val="182D45"/>
                                    </a:solidFill>
                                    <a:latin typeface="Cambria Math"/>
                                  </a:rPr>
                                  <m:t>⋮</m:t>
                                </m:r>
                              </m:e>
                            </m:mr>
                            <m:mr>
                              <m:e>
                                <m:r>
                                  <a:rPr lang="it-IT" sz="2475" i="1" dirty="0">
                                    <a:solidFill>
                                      <a:srgbClr val="182D45"/>
                                    </a:solidFill>
                                    <a:latin typeface="Cambria Math"/>
                                  </a:rPr>
                                  <m:t>1</m:t>
                                </m:r>
                              </m:e>
                              <m:e>
                                <m:sSub>
                                  <m:sSubPr>
                                    <m:ctrlPr>
                                      <a:rPr lang="it-IT" sz="2475" b="1" i="0" dirty="0">
                                        <a:solidFill>
                                          <a:srgbClr val="182D45"/>
                                        </a:solidFill>
                                        <a:latin typeface="Cambria Math"/>
                                      </a:rPr>
                                    </m:ctrlPr>
                                  </m:sSubPr>
                                  <m:e>
                                    <m:r>
                                      <a:rPr lang="it-IT" sz="2475" b="1" i="0" dirty="0">
                                        <a:solidFill>
                                          <a:srgbClr val="182D45"/>
                                        </a:solidFill>
                                        <a:latin typeface="Cambria Math"/>
                                      </a:rPr>
                                      <m:t>𝐱</m:t>
                                    </m:r>
                                  </m:e>
                                  <m:sub>
                                    <m:r>
                                      <a:rPr lang="it-IT" sz="2475" i="1" dirty="0">
                                        <a:solidFill>
                                          <a:srgbClr val="182D45"/>
                                        </a:solidFill>
                                        <a:latin typeface="Cambria Math"/>
                                      </a:rPr>
                                      <m:t>𝑁</m:t>
                                    </m:r>
                                  </m:sub>
                                </m:sSub>
                              </m:e>
                            </m:mr>
                          </m:m>
                        </m:e>
                      </m:d>
                      <m:r>
                        <a:rPr lang="en-GB" sz="2475" b="0" dirty="0">
                          <a:solidFill>
                            <a:srgbClr val="182D45"/>
                          </a:solidFill>
                          <a:latin typeface="Cambria Math"/>
                          <a:ea typeface="Cambria Math"/>
                          <a:cs typeface="Cambria Math"/>
                        </a:rPr>
                        <m:t>=</m:t>
                      </m:r>
                      <m:d>
                        <m:dPr>
                          <m:ctrlPr>
                            <a:rPr lang="en-GB" sz="2475" b="0" i="1" dirty="0">
                              <a:solidFill>
                                <a:srgbClr val="182D45"/>
                              </a:solidFill>
                              <a:latin typeface="Cambria Math" panose="02040503050406030204" pitchFamily="18" charset="0"/>
                              <a:ea typeface="Cambria Math"/>
                              <a:cs typeface="Cambria Math"/>
                            </a:rPr>
                          </m:ctrlPr>
                        </m:dPr>
                        <m:e>
                          <m:m>
                            <m:mPr>
                              <m:plcHide m:val="on"/>
                              <m:mcs>
                                <m:mc>
                                  <m:mcPr>
                                    <m:count m:val="4"/>
                                    <m:mcJc m:val="center"/>
                                  </m:mcPr>
                                </m:mc>
                              </m:mcs>
                              <m:ctrlPr>
                                <a:rPr lang="en-GB" sz="2475" b="0" i="1" dirty="0">
                                  <a:solidFill>
                                    <a:srgbClr val="182D45"/>
                                  </a:solidFill>
                                  <a:latin typeface="Cambria Math" panose="02040503050406030204" pitchFamily="18" charset="0"/>
                                  <a:ea typeface="Cambria Math"/>
                                  <a:cs typeface="Cambria Math"/>
                                </a:rPr>
                              </m:ctrlPr>
                            </m:mPr>
                            <m:mr>
                              <m:e>
                                <m:r>
                                  <a:rPr lang="en-GB" sz="2475" b="0" dirty="0">
                                    <a:solidFill>
                                      <a:srgbClr val="182D45"/>
                                    </a:solidFill>
                                    <a:latin typeface="Cambria Math"/>
                                    <a:ea typeface="Cambria Math"/>
                                    <a:cs typeface="Cambria Math"/>
                                  </a:rPr>
                                  <m:t>1</m:t>
                                </m:r>
                              </m:e>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11</m:t>
                                    </m:r>
                                  </m:sub>
                                </m:sSub>
                              </m:e>
                              <m:e>
                                <m:r>
                                  <a:rPr lang="en-GB" sz="2475" b="0" dirty="0">
                                    <a:solidFill>
                                      <a:srgbClr val="182D45"/>
                                    </a:solidFill>
                                    <a:latin typeface="Cambria Math"/>
                                    <a:ea typeface="Cambria Math"/>
                                    <a:cs typeface="Cambria Math"/>
                                  </a:rPr>
                                  <m:t>⋯</m:t>
                                </m:r>
                              </m:e>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1</m:t>
                                    </m:r>
                                    <m:r>
                                      <a:rPr lang="en-GB" sz="2475" b="0" dirty="0">
                                        <a:solidFill>
                                          <a:srgbClr val="182D45"/>
                                        </a:solidFill>
                                        <a:latin typeface="Cambria Math"/>
                                        <a:ea typeface="Cambria Math"/>
                                        <a:cs typeface="Cambria Math"/>
                                      </a:rPr>
                                      <m:t>𝑑</m:t>
                                    </m:r>
                                  </m:sub>
                                </m:sSub>
                              </m:e>
                            </m:mr>
                            <m:mr>
                              <m:e>
                                <m:r>
                                  <a:rPr lang="en-GB" sz="2475" b="0" dirty="0">
                                    <a:solidFill>
                                      <a:srgbClr val="182D45"/>
                                    </a:solidFill>
                                    <a:latin typeface="Cambria Math"/>
                                    <a:ea typeface="Cambria Math"/>
                                    <a:cs typeface="Cambria Math"/>
                                  </a:rPr>
                                  <m:t>⋮</m:t>
                                </m:r>
                              </m:e>
                              <m:e>
                                <m:r>
                                  <a:rPr lang="en-GB" sz="2475" b="0" dirty="0">
                                    <a:solidFill>
                                      <a:srgbClr val="182D45"/>
                                    </a:solidFill>
                                    <a:latin typeface="Cambria Math"/>
                                    <a:ea typeface="Cambria Math"/>
                                    <a:cs typeface="Cambria Math"/>
                                  </a:rPr>
                                  <m:t>⋮</m:t>
                                </m:r>
                              </m:e>
                              <m:e/>
                              <m:e>
                                <m:r>
                                  <a:rPr lang="en-GB" sz="2475" b="0" dirty="0">
                                    <a:solidFill>
                                      <a:srgbClr val="182D45"/>
                                    </a:solidFill>
                                    <a:latin typeface="Cambria Math"/>
                                    <a:ea typeface="Cambria Math"/>
                                    <a:cs typeface="Cambria Math"/>
                                  </a:rPr>
                                  <m:t>⋮</m:t>
                                </m:r>
                              </m:e>
                            </m:mr>
                            <m:mr>
                              <m:e>
                                <m:r>
                                  <a:rPr lang="en-GB" sz="2475" b="0" dirty="0">
                                    <a:solidFill>
                                      <a:srgbClr val="182D45"/>
                                    </a:solidFill>
                                    <a:latin typeface="Cambria Math"/>
                                    <a:ea typeface="Cambria Math"/>
                                    <a:cs typeface="Cambria Math"/>
                                  </a:rPr>
                                  <m:t>1</m:t>
                                </m:r>
                              </m:e>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𝑁</m:t>
                                    </m:r>
                                    <m:r>
                                      <a:rPr lang="en-GB" sz="2475" b="0" dirty="0">
                                        <a:solidFill>
                                          <a:srgbClr val="182D45"/>
                                        </a:solidFill>
                                        <a:latin typeface="Cambria Math"/>
                                        <a:ea typeface="Cambria Math"/>
                                        <a:cs typeface="Cambria Math"/>
                                      </a:rPr>
                                      <m:t>1</m:t>
                                    </m:r>
                                  </m:sub>
                                </m:sSub>
                              </m:e>
                              <m:e>
                                <m:r>
                                  <a:rPr lang="en-GB" sz="2475" b="0" dirty="0">
                                    <a:solidFill>
                                      <a:srgbClr val="182D45"/>
                                    </a:solidFill>
                                    <a:latin typeface="Cambria Math"/>
                                    <a:ea typeface="Cambria Math"/>
                                    <a:cs typeface="Cambria Math"/>
                                  </a:rPr>
                                  <m:t>⋯</m:t>
                                </m:r>
                              </m:e>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𝑥</m:t>
                                    </m:r>
                                  </m:e>
                                  <m:sub>
                                    <m:r>
                                      <a:rPr lang="en-GB" sz="2475" b="0" dirty="0">
                                        <a:solidFill>
                                          <a:srgbClr val="182D45"/>
                                        </a:solidFill>
                                        <a:latin typeface="Cambria Math"/>
                                        <a:ea typeface="Cambria Math"/>
                                        <a:cs typeface="Cambria Math"/>
                                      </a:rPr>
                                      <m:t>𝑁𝑑</m:t>
                                    </m:r>
                                  </m:sub>
                                </m:sSub>
                              </m:e>
                            </m:mr>
                          </m:m>
                        </m:e>
                      </m:d>
                      <m:r>
                        <a:rPr lang="en-GB" sz="2475" b="0" dirty="0">
                          <a:solidFill>
                            <a:srgbClr val="182D45"/>
                          </a:solidFill>
                          <a:latin typeface="Cambria Math"/>
                          <a:ea typeface="Cambria Math"/>
                          <a:cs typeface="Cambria Math"/>
                        </a:rPr>
                        <m:t>, </m:t>
                      </m:r>
                      <m:r>
                        <a:rPr lang="en-GB" sz="2475" b="0" dirty="0">
                          <a:solidFill>
                            <a:srgbClr val="182D45"/>
                          </a:solidFill>
                          <a:latin typeface="Cambria Math"/>
                          <a:ea typeface="Cambria Math"/>
                          <a:cs typeface="Cambria Math"/>
                        </a:rPr>
                        <m:t>𝐲</m:t>
                      </m:r>
                      <m:r>
                        <a:rPr lang="en-GB" sz="2475" b="0" dirty="0">
                          <a:solidFill>
                            <a:srgbClr val="182D45"/>
                          </a:solidFill>
                          <a:latin typeface="Cambria Math"/>
                          <a:ea typeface="Cambria Math"/>
                          <a:cs typeface="Cambria Math"/>
                        </a:rPr>
                        <m:t>=</m:t>
                      </m:r>
                      <m:d>
                        <m:dPr>
                          <m:ctrlPr>
                            <a:rPr lang="en-GB" sz="2475" b="0" i="1" dirty="0">
                              <a:solidFill>
                                <a:srgbClr val="182D45"/>
                              </a:solidFill>
                              <a:latin typeface="Cambria Math" panose="02040503050406030204" pitchFamily="18" charset="0"/>
                              <a:ea typeface="Cambria Math"/>
                              <a:cs typeface="Cambria Math"/>
                            </a:rPr>
                          </m:ctrlPr>
                        </m:dPr>
                        <m:e>
                          <m:m>
                            <m:mPr>
                              <m:plcHide m:val="on"/>
                              <m:mcs>
                                <m:mc>
                                  <m:mcPr>
                                    <m:count m:val="1"/>
                                    <m:mcJc m:val="center"/>
                                  </m:mcPr>
                                </m:mc>
                              </m:mcs>
                              <m:ctrlPr>
                                <a:rPr lang="en-GB" sz="2475" b="0" i="1" dirty="0">
                                  <a:solidFill>
                                    <a:srgbClr val="182D45"/>
                                  </a:solidFill>
                                  <a:latin typeface="Cambria Math" panose="02040503050406030204" pitchFamily="18" charset="0"/>
                                  <a:ea typeface="Cambria Math"/>
                                  <a:cs typeface="Cambria Math"/>
                                </a:rPr>
                              </m:ctrlPr>
                            </m:mPr>
                            <m:mr>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𝑦</m:t>
                                    </m:r>
                                  </m:e>
                                  <m:sub>
                                    <m:r>
                                      <a:rPr lang="en-GB" sz="2475" b="0" dirty="0">
                                        <a:solidFill>
                                          <a:srgbClr val="182D45"/>
                                        </a:solidFill>
                                        <a:latin typeface="Cambria Math"/>
                                        <a:ea typeface="Cambria Math"/>
                                        <a:cs typeface="Cambria Math"/>
                                      </a:rPr>
                                      <m:t>1</m:t>
                                    </m:r>
                                  </m:sub>
                                </m:sSub>
                              </m:e>
                            </m:mr>
                            <m:mr>
                              <m:e>
                                <m:r>
                                  <a:rPr lang="en-GB" sz="2475" b="0" dirty="0">
                                    <a:solidFill>
                                      <a:srgbClr val="182D45"/>
                                    </a:solidFill>
                                    <a:latin typeface="Cambria Math"/>
                                    <a:ea typeface="Cambria Math"/>
                                    <a:cs typeface="Cambria Math"/>
                                  </a:rPr>
                                  <m:t>⋮</m:t>
                                </m:r>
                              </m:e>
                            </m:mr>
                            <m:mr>
                              <m:e>
                                <m:sSub>
                                  <m:sSubPr>
                                    <m:ctrlPr>
                                      <a:rPr lang="en-GB" sz="2475" b="0" dirty="0">
                                        <a:solidFill>
                                          <a:srgbClr val="182D45"/>
                                        </a:solidFill>
                                        <a:latin typeface="Cambria Math"/>
                                        <a:ea typeface="Cambria Math"/>
                                        <a:cs typeface="Cambria Math"/>
                                      </a:rPr>
                                    </m:ctrlPr>
                                  </m:sSubPr>
                                  <m:e>
                                    <m:r>
                                      <a:rPr lang="en-GB" sz="2475" b="0" dirty="0">
                                        <a:solidFill>
                                          <a:srgbClr val="182D45"/>
                                        </a:solidFill>
                                        <a:latin typeface="Cambria Math"/>
                                        <a:ea typeface="Cambria Math"/>
                                        <a:cs typeface="Cambria Math"/>
                                      </a:rPr>
                                      <m:t>𝑦</m:t>
                                    </m:r>
                                  </m:e>
                                  <m:sub>
                                    <m:r>
                                      <a:rPr lang="en-GB" sz="2475" b="0" dirty="0">
                                        <a:solidFill>
                                          <a:srgbClr val="182D45"/>
                                        </a:solidFill>
                                        <a:latin typeface="Cambria Math"/>
                                        <a:ea typeface="Cambria Math"/>
                                        <a:cs typeface="Cambria Math"/>
                                      </a:rPr>
                                      <m:t>𝑁</m:t>
                                    </m:r>
                                  </m:sub>
                                </m:sSub>
                              </m:e>
                            </m:mr>
                          </m:m>
                        </m:e>
                      </m:d>
                    </m:oMath>
                  </m:oMathPara>
                </a14:m>
                <a:endParaRPr lang="en-GB" sz="2475" b="0" i="0" dirty="0">
                  <a:solidFill>
                    <a:srgbClr val="182D45"/>
                  </a:solidFill>
                  <a:latin typeface="Cambria Math"/>
                  <a:ea typeface="Cambria Math"/>
                  <a:cs typeface="Cambria Math"/>
                </a:endParaRPr>
              </a:p>
            </p:txBody>
          </p:sp>
        </mc:Choice>
        <mc:Fallback>
          <p:sp>
            <p:nvSpPr>
              <p:cNvPr id="3" name="eq_105">
                <a:extLst>
                  <a:ext uri="{FF2B5EF4-FFF2-40B4-BE49-F238E27FC236}">
                    <a16:creationId xmlns:a16="http://schemas.microsoft.com/office/drawing/2014/main" id="{05FF6165-930E-4648-837E-5491231C21D8}"/>
                  </a:ext>
                </a:extLst>
              </p:cNvPr>
              <p:cNvSpPr>
                <a:spLocks noGrp="1" noRot="1" noChangeAspect="1" noMove="1" noResize="1" noEditPoints="1" noAdjustHandles="1" noChangeArrowheads="1" noChangeShapeType="1" noTextEdit="1"/>
              </p:cNvSpPr>
              <p:nvPr/>
            </p:nvSpPr>
            <p:spPr>
              <a:xfrm>
                <a:off x="485775" y="2785549"/>
                <a:ext cx="10953750" cy="1286901"/>
              </a:xfrm>
              <a:prstGeom prst="rect">
                <a:avLst/>
              </a:prstGeom>
              <a:blipFill>
                <a:blip r:embed="rId3"/>
                <a:stretch>
                  <a:fillRect/>
                </a:stretch>
              </a:blipFill>
              <a:ln w="0">
                <a:noFill/>
              </a:ln>
            </p:spPr>
            <p:txBody>
              <a:bodyPr/>
              <a:lstStyle/>
              <a:p>
                <a:r>
                  <a:rPr lang="it-IT">
                    <a:noFill/>
                  </a:rPr>
                  <a:t> </a:t>
                </a:r>
              </a:p>
            </p:txBody>
          </p:sp>
        </mc:Fallback>
      </mc:AlternateContent>
      <p:sp>
        <p:nvSpPr>
          <p:cNvPr id="4" name="txt_106">
            <a:extLst>
              <a:ext uri="{FF2B5EF4-FFF2-40B4-BE49-F238E27FC236}">
                <a16:creationId xmlns:a16="http://schemas.microsoft.com/office/drawing/2014/main" id="{FE4618F2-5246-487E-A129-1FE073EB06E8}"/>
              </a:ext>
            </a:extLst>
          </p:cNvPr>
          <p:cNvSpPr>
            <a:spLocks noGrp="1"/>
          </p:cNvSpPr>
          <p:nvPr/>
        </p:nvSpPr>
        <p:spPr>
          <a:xfrm>
            <a:off x="685800" y="4540738"/>
            <a:ext cx="10953750" cy="1225334"/>
          </a:xfrm>
          <a:prstGeom prst="rect">
            <a:avLst/>
          </a:prstGeom>
          <a:noFill/>
          <a:ln w="0">
            <a:noFill/>
          </a:ln>
        </p:spPr>
        <p:txBody>
          <a:bodyPr vertOverflow="overflow" wrap="square" lIns="0" tIns="0" rIns="0" bIns="0" anchor="t">
            <a:noAutofit/>
          </a:bodyPr>
          <a:lstStyle/>
          <a:p>
            <a:pPr algn="ctr"/>
            <a:r>
              <a:rPr sz="2400" b="0" dirty="0">
                <a:solidFill>
                  <a:srgbClr val="182D45"/>
                </a:solidFill>
                <a:latin typeface="DejaVu Sans"/>
              </a:rPr>
              <a:t>Each row represents one observation.</a:t>
            </a:r>
            <a:endParaRPr lang="it-IT" sz="2400" b="0" dirty="0">
              <a:solidFill>
                <a:srgbClr val="182D45"/>
              </a:solidFill>
              <a:latin typeface="DejaVu Sans"/>
            </a:endParaRPr>
          </a:p>
          <a:p>
            <a:pPr algn="ctr"/>
            <a:r>
              <a:rPr sz="2400" b="0" dirty="0">
                <a:solidFill>
                  <a:srgbClr val="182D45"/>
                </a:solidFill>
                <a:latin typeface="DejaVu Sans"/>
              </a:rPr>
              <a:t>Each column represents a feature.</a:t>
            </a:r>
          </a:p>
          <a:p>
            <a:pPr algn="ctr"/>
            <a:r>
              <a:rPr sz="2400" b="0" dirty="0">
                <a:solidFill>
                  <a:srgbClr val="182D45"/>
                </a:solidFill>
                <a:latin typeface="DejaVu Sans"/>
              </a:rPr>
              <a:t>The first column contains ones and accounts for the bias.</a:t>
            </a:r>
          </a:p>
        </p:txBody>
      </p:sp>
      <mc:AlternateContent xmlns:mc="http://schemas.openxmlformats.org/markup-compatibility/2006">
        <mc:Choice xmlns:a14="http://schemas.microsoft.com/office/drawing/2010/main" Requires="a14">
          <p:sp>
            <p:nvSpPr>
              <p:cNvPr id="15" name="TextBox 14"/>
              <p:cNvSpPr txBox="1"/>
              <p:nvPr/>
            </p:nvSpPr>
            <p:spPr>
              <a:xfrm>
                <a:off x="685800" y="914400"/>
                <a:ext cx="10835640" cy="1225335"/>
              </a:xfrm>
              <a:prstGeom prst="rect">
                <a:avLst/>
              </a:prstGeom>
              <a:noFill/>
            </p:spPr>
            <p:txBody>
              <a:bodyPr wrap="square">
                <a:spAutoFit/>
              </a:bodyPr>
              <a:lstStyle/>
              <a:p>
                <a:pPr algn="ctr"/>
                <a:r>
                  <a:rPr lang="en-GB" sz="2400" dirty="0">
                    <a:solidFill>
                      <a:srgbClr val="182D45"/>
                    </a:solidFill>
                    <a:latin typeface="DejaVu Sans"/>
                  </a:rPr>
                  <a:t>To handle all N observations </a:t>
                </a:r>
                <a14:m>
                  <m:oMath xmlns:m="http://schemas.openxmlformats.org/officeDocument/2006/math">
                    <m:d>
                      <m:dPr>
                        <m:ctrlPr>
                          <a:rPr lang="it-IT" sz="2400" b="1" i="1" smtClean="0">
                            <a:solidFill>
                              <a:srgbClr val="182D45"/>
                            </a:solidFill>
                            <a:latin typeface="Cambria Math" panose="02040503050406030204" pitchFamily="18" charset="0"/>
                          </a:rPr>
                        </m:ctrlPr>
                      </m:dPr>
                      <m:e>
                        <m:sSub>
                          <m:sSubPr>
                            <m:ctrlPr>
                              <a:rPr lang="it-IT" sz="2400" b="1" i="0" smtClean="0">
                                <a:solidFill>
                                  <a:srgbClr val="182D45"/>
                                </a:solidFill>
                                <a:latin typeface="Cambria Math" panose="02040503050406030204" pitchFamily="18" charset="0"/>
                              </a:rPr>
                            </m:ctrlPr>
                          </m:sSubPr>
                          <m:e>
                            <m:r>
                              <a:rPr lang="it-IT" sz="2400" b="1" i="0" smtClean="0">
                                <a:solidFill>
                                  <a:srgbClr val="182D45"/>
                                </a:solidFill>
                                <a:latin typeface="Cambria Math" panose="02040503050406030204" pitchFamily="18" charset="0"/>
                              </a:rPr>
                              <m:t>𝐱</m:t>
                            </m:r>
                          </m:e>
                          <m:sub>
                            <m:r>
                              <a:rPr lang="it-IT" sz="2400" b="1" i="1" smtClean="0">
                                <a:solidFill>
                                  <a:srgbClr val="182D45"/>
                                </a:solidFill>
                                <a:latin typeface="Cambria Math" panose="02040503050406030204" pitchFamily="18" charset="0"/>
                              </a:rPr>
                              <m:t>𝟏</m:t>
                            </m:r>
                          </m:sub>
                        </m:sSub>
                        <m:r>
                          <a:rPr lang="it-IT" sz="2400" b="1" i="0" smtClean="0">
                            <a:solidFill>
                              <a:srgbClr val="182D45"/>
                            </a:solidFill>
                            <a:latin typeface="Cambria Math" panose="02040503050406030204" pitchFamily="18" charset="0"/>
                          </a:rPr>
                          <m:t>,</m:t>
                        </m:r>
                        <m:sSub>
                          <m:sSubPr>
                            <m:ctrlPr>
                              <a:rPr lang="it-IT" sz="2400" b="0" i="1" smtClean="0">
                                <a:solidFill>
                                  <a:srgbClr val="182D45"/>
                                </a:solidFill>
                                <a:latin typeface="Cambria Math" panose="02040503050406030204" pitchFamily="18" charset="0"/>
                              </a:rPr>
                            </m:ctrlPr>
                          </m:sSubPr>
                          <m:e>
                            <m:r>
                              <a:rPr lang="it-IT" sz="2400" b="0" i="1" smtClean="0">
                                <a:solidFill>
                                  <a:srgbClr val="182D45"/>
                                </a:solidFill>
                                <a:latin typeface="Cambria Math" panose="02040503050406030204" pitchFamily="18" charset="0"/>
                              </a:rPr>
                              <m:t>𝑦</m:t>
                            </m:r>
                          </m:e>
                          <m:sub>
                            <m:r>
                              <a:rPr lang="it-IT" sz="2400" b="0" i="1" smtClean="0">
                                <a:solidFill>
                                  <a:srgbClr val="182D45"/>
                                </a:solidFill>
                                <a:latin typeface="Cambria Math" panose="02040503050406030204" pitchFamily="18" charset="0"/>
                              </a:rPr>
                              <m:t>1</m:t>
                            </m:r>
                          </m:sub>
                        </m:sSub>
                      </m:e>
                    </m:d>
                    <m:r>
                      <a:rPr lang="it-IT" sz="2400" b="0" i="1" smtClean="0">
                        <a:solidFill>
                          <a:srgbClr val="182D45"/>
                        </a:solidFill>
                        <a:latin typeface="Cambria Math" panose="02040503050406030204" pitchFamily="18" charset="0"/>
                      </a:rPr>
                      <m:t>,…,</m:t>
                    </m:r>
                    <m:d>
                      <m:dPr>
                        <m:ctrlPr>
                          <a:rPr lang="it-IT" sz="2400" b="1" i="1">
                            <a:solidFill>
                              <a:srgbClr val="182D45"/>
                            </a:solidFill>
                            <a:latin typeface="Cambria Math" panose="02040503050406030204" pitchFamily="18" charset="0"/>
                          </a:rPr>
                        </m:ctrlPr>
                      </m:dPr>
                      <m:e>
                        <m:sSub>
                          <m:sSubPr>
                            <m:ctrlPr>
                              <a:rPr lang="it-IT" sz="2400" b="1">
                                <a:solidFill>
                                  <a:srgbClr val="182D45"/>
                                </a:solidFill>
                                <a:latin typeface="Cambria Math" panose="02040503050406030204" pitchFamily="18" charset="0"/>
                              </a:rPr>
                            </m:ctrlPr>
                          </m:sSubPr>
                          <m:e>
                            <m:r>
                              <a:rPr lang="it-IT" sz="2400" b="1">
                                <a:solidFill>
                                  <a:srgbClr val="182D45"/>
                                </a:solidFill>
                                <a:latin typeface="Cambria Math" panose="02040503050406030204" pitchFamily="18" charset="0"/>
                              </a:rPr>
                              <m:t>𝐱</m:t>
                            </m:r>
                          </m:e>
                          <m:sub>
                            <m:r>
                              <a:rPr lang="it-IT" sz="2400" b="1" i="1" smtClean="0">
                                <a:solidFill>
                                  <a:srgbClr val="182D45"/>
                                </a:solidFill>
                                <a:latin typeface="Cambria Math" panose="02040503050406030204" pitchFamily="18" charset="0"/>
                              </a:rPr>
                              <m:t>𝑵</m:t>
                            </m:r>
                          </m:sub>
                        </m:sSub>
                        <m:r>
                          <a:rPr lang="it-IT" sz="2400" b="1">
                            <a:solidFill>
                              <a:srgbClr val="182D45"/>
                            </a:solidFill>
                            <a:latin typeface="Cambria Math" panose="02040503050406030204" pitchFamily="18" charset="0"/>
                          </a:rPr>
                          <m:t>,</m:t>
                        </m:r>
                        <m:sSub>
                          <m:sSubPr>
                            <m:ctrlPr>
                              <a:rPr lang="it-IT" sz="2400" i="1">
                                <a:solidFill>
                                  <a:srgbClr val="182D45"/>
                                </a:solidFill>
                                <a:latin typeface="Cambria Math" panose="02040503050406030204" pitchFamily="18" charset="0"/>
                              </a:rPr>
                            </m:ctrlPr>
                          </m:sSubPr>
                          <m:e>
                            <m:r>
                              <a:rPr lang="it-IT" sz="2400" i="1">
                                <a:solidFill>
                                  <a:srgbClr val="182D45"/>
                                </a:solidFill>
                                <a:latin typeface="Cambria Math" panose="02040503050406030204" pitchFamily="18" charset="0"/>
                              </a:rPr>
                              <m:t>𝑦</m:t>
                            </m:r>
                          </m:e>
                          <m:sub>
                            <m:r>
                              <a:rPr lang="it-IT" sz="2400" b="0" i="1" smtClean="0">
                                <a:solidFill>
                                  <a:srgbClr val="182D45"/>
                                </a:solidFill>
                                <a:latin typeface="Cambria Math" panose="02040503050406030204" pitchFamily="18" charset="0"/>
                              </a:rPr>
                              <m:t>𝑁</m:t>
                            </m:r>
                          </m:sub>
                        </m:sSub>
                      </m:e>
                    </m:d>
                    <m:r>
                      <a:rPr lang="it-IT" sz="2400" b="1" i="1" smtClean="0">
                        <a:solidFill>
                          <a:srgbClr val="182D45"/>
                        </a:solidFill>
                        <a:latin typeface="Cambria Math" panose="02040503050406030204" pitchFamily="18" charset="0"/>
                      </a:rPr>
                      <m:t> </m:t>
                    </m:r>
                  </m:oMath>
                </a14:m>
                <a:r>
                  <a:rPr lang="en-GB" sz="2400" dirty="0">
                    <a:solidFill>
                      <a:srgbClr val="182D45"/>
                    </a:solidFill>
                    <a:latin typeface="DejaVu Sans"/>
                  </a:rPr>
                  <a:t>at once,</a:t>
                </a:r>
              </a:p>
              <a:p>
                <a:pPr algn="ctr"/>
                <a:endParaRPr lang="en-GB" sz="2400" dirty="0">
                  <a:solidFill>
                    <a:srgbClr val="182D45"/>
                  </a:solidFill>
                  <a:latin typeface="DejaVu Sans"/>
                </a:endParaRPr>
              </a:p>
              <a:p>
                <a:pPr algn="ctr"/>
                <a:r>
                  <a:rPr lang="en-GB" sz="2400" dirty="0">
                    <a:solidFill>
                      <a:srgbClr val="182D45"/>
                    </a:solidFill>
                    <a:latin typeface="DejaVu Sans"/>
                  </a:rPr>
                  <a:t>we stack the data into </a:t>
                </a:r>
                <a14:m>
                  <m:oMath xmlns:m="http://schemas.openxmlformats.org/officeDocument/2006/math">
                    <m:r>
                      <a:rPr lang="en-GB" sz="2400" b="1" i="1" dirty="0">
                        <a:solidFill>
                          <a:srgbClr val="182D45"/>
                        </a:solidFill>
                        <a:latin typeface="Cambria Math"/>
                        <a:ea typeface="Cambria Math"/>
                        <a:cs typeface="Cambria Math"/>
                      </a:rPr>
                      <m:t>𝐗</m:t>
                    </m:r>
                    <m:r>
                      <a:rPr lang="en-GB" sz="2400" b="0" i="1" dirty="0" smtClean="0">
                        <a:solidFill>
                          <a:srgbClr val="182D45"/>
                        </a:solidFill>
                        <a:latin typeface="Cambria Math" panose="02040503050406030204" pitchFamily="18" charset="0"/>
                      </a:rPr>
                      <m:t>∈</m:t>
                    </m:r>
                    <m:sSup>
                      <m:sSupPr>
                        <m:ctrlPr>
                          <a:rPr lang="it-IT" sz="2400" b="0" i="1" dirty="0" smtClean="0">
                            <a:solidFill>
                              <a:srgbClr val="182D45"/>
                            </a:solidFill>
                            <a:latin typeface="Cambria Math" panose="02040503050406030204" pitchFamily="18" charset="0"/>
                          </a:rPr>
                        </m:ctrlPr>
                      </m:sSupPr>
                      <m:e>
                        <m:r>
                          <a:rPr lang="it-IT" sz="2400" b="0" i="1" dirty="0" smtClean="0">
                            <a:solidFill>
                              <a:srgbClr val="182D45"/>
                            </a:solidFill>
                            <a:latin typeface="Cambria Math" panose="02040503050406030204" pitchFamily="18" charset="0"/>
                          </a:rPr>
                          <m:t>ℝ</m:t>
                        </m:r>
                      </m:e>
                      <m:sup>
                        <m:r>
                          <a:rPr lang="it-IT" sz="2400" b="0" i="1" dirty="0" smtClean="0">
                            <a:solidFill>
                              <a:srgbClr val="182D45"/>
                            </a:solidFill>
                            <a:latin typeface="Cambria Math" panose="02040503050406030204" pitchFamily="18" charset="0"/>
                          </a:rPr>
                          <m:t>𝑁</m:t>
                        </m:r>
                        <m:r>
                          <a:rPr lang="it-IT" sz="2400" b="0" i="1" dirty="0" smtClean="0">
                            <a:solidFill>
                              <a:srgbClr val="182D45"/>
                            </a:solidFill>
                            <a:latin typeface="Cambria Math" panose="02040503050406030204" pitchFamily="18" charset="0"/>
                          </a:rPr>
                          <m:t>×</m:t>
                        </m:r>
                        <m:d>
                          <m:dPr>
                            <m:ctrlPr>
                              <a:rPr lang="it-IT" sz="2400" b="0" i="1" dirty="0" smtClean="0">
                                <a:solidFill>
                                  <a:srgbClr val="182D45"/>
                                </a:solidFill>
                                <a:latin typeface="Cambria Math" panose="02040503050406030204" pitchFamily="18" charset="0"/>
                              </a:rPr>
                            </m:ctrlPr>
                          </m:dPr>
                          <m:e>
                            <m:r>
                              <a:rPr lang="it-IT" sz="2400" b="0" i="1" dirty="0" smtClean="0">
                                <a:solidFill>
                                  <a:srgbClr val="182D45"/>
                                </a:solidFill>
                                <a:latin typeface="Cambria Math" panose="02040503050406030204" pitchFamily="18" charset="0"/>
                              </a:rPr>
                              <m:t>𝑑</m:t>
                            </m:r>
                            <m:r>
                              <a:rPr lang="it-IT" sz="2400" b="0" i="1" dirty="0" smtClean="0">
                                <a:solidFill>
                                  <a:srgbClr val="182D45"/>
                                </a:solidFill>
                                <a:latin typeface="Cambria Math" panose="02040503050406030204" pitchFamily="18" charset="0"/>
                              </a:rPr>
                              <m:t>+1</m:t>
                            </m:r>
                          </m:e>
                        </m:d>
                      </m:sup>
                    </m:sSup>
                  </m:oMath>
                </a14:m>
                <a:r>
                  <a:rPr lang="it-IT" sz="2400" dirty="0">
                    <a:solidFill>
                      <a:srgbClr val="182D45"/>
                    </a:solidFill>
                    <a:latin typeface="DejaVu Sans"/>
                  </a:rPr>
                  <a:t> and </a:t>
                </a:r>
                <a:r>
                  <a:rPr lang="it-IT" sz="2400" dirty="0" err="1">
                    <a:solidFill>
                      <a:srgbClr val="182D45"/>
                    </a:solidFill>
                    <a:latin typeface="DejaVu Sans"/>
                  </a:rPr>
                  <a:t>observations</a:t>
                </a:r>
                <a:r>
                  <a:rPr lang="it-IT" sz="2400" dirty="0">
                    <a:solidFill>
                      <a:srgbClr val="182D45"/>
                    </a:solidFill>
                    <a:latin typeface="DejaVu Sans"/>
                  </a:rPr>
                  <a:t> </a:t>
                </a:r>
                <a:r>
                  <a:rPr lang="it-IT" sz="2400" dirty="0" err="1">
                    <a:solidFill>
                      <a:srgbClr val="182D45"/>
                    </a:solidFill>
                    <a:latin typeface="DejaVu Sans"/>
                  </a:rPr>
                  <a:t>into</a:t>
                </a:r>
                <a:r>
                  <a:rPr lang="it-IT" sz="2400" dirty="0">
                    <a:solidFill>
                      <a:srgbClr val="182D45"/>
                    </a:solidFill>
                    <a:latin typeface="DejaVu Sans"/>
                  </a:rPr>
                  <a:t> </a:t>
                </a:r>
                <a14:m>
                  <m:oMath xmlns:m="http://schemas.openxmlformats.org/officeDocument/2006/math">
                    <m:r>
                      <a:rPr lang="en-GB" sz="2400" dirty="0">
                        <a:solidFill>
                          <a:srgbClr val="182D45"/>
                        </a:solidFill>
                        <a:latin typeface="Cambria Math"/>
                        <a:ea typeface="Cambria Math"/>
                        <a:cs typeface="Cambria Math"/>
                      </a:rPr>
                      <m:t>𝐲</m:t>
                    </m:r>
                    <m:r>
                      <a:rPr lang="it-IT" sz="2400" b="0" i="1" dirty="0" smtClean="0">
                        <a:solidFill>
                          <a:srgbClr val="182D45"/>
                        </a:solidFill>
                        <a:latin typeface="Cambria Math" panose="02040503050406030204" pitchFamily="18" charset="0"/>
                        <a:ea typeface="Cambria Math"/>
                        <a:cs typeface="Cambria Math"/>
                      </a:rPr>
                      <m:t>∈</m:t>
                    </m:r>
                    <m:sSup>
                      <m:sSupPr>
                        <m:ctrlPr>
                          <a:rPr lang="it-IT" sz="2400" b="0" i="1" dirty="0" smtClean="0">
                            <a:solidFill>
                              <a:srgbClr val="182D45"/>
                            </a:solidFill>
                            <a:latin typeface="Cambria Math" panose="02040503050406030204" pitchFamily="18" charset="0"/>
                            <a:ea typeface="Cambria Math"/>
                            <a:cs typeface="Cambria Math"/>
                          </a:rPr>
                        </m:ctrlPr>
                      </m:sSupPr>
                      <m:e>
                        <m:r>
                          <a:rPr lang="it-IT" sz="2400" b="0" i="1" dirty="0" smtClean="0">
                            <a:solidFill>
                              <a:srgbClr val="182D45"/>
                            </a:solidFill>
                            <a:latin typeface="Cambria Math" panose="02040503050406030204" pitchFamily="18" charset="0"/>
                            <a:ea typeface="Cambria Math"/>
                            <a:cs typeface="Cambria Math"/>
                          </a:rPr>
                          <m:t>ℝ</m:t>
                        </m:r>
                      </m:e>
                      <m:sup>
                        <m:r>
                          <a:rPr lang="it-IT" sz="2400" b="0" i="1" dirty="0" smtClean="0">
                            <a:solidFill>
                              <a:srgbClr val="182D45"/>
                            </a:solidFill>
                            <a:latin typeface="Cambria Math" panose="02040503050406030204" pitchFamily="18" charset="0"/>
                            <a:ea typeface="Cambria Math"/>
                            <a:cs typeface="Cambria Math"/>
                          </a:rPr>
                          <m:t>𝑁</m:t>
                        </m:r>
                        <m:r>
                          <a:rPr lang="it-IT" sz="2400" b="0" i="1" dirty="0" smtClean="0">
                            <a:solidFill>
                              <a:srgbClr val="182D45"/>
                            </a:solidFill>
                            <a:latin typeface="Cambria Math" panose="02040503050406030204" pitchFamily="18" charset="0"/>
                            <a:ea typeface="Cambria Math"/>
                            <a:cs typeface="Cambria Math"/>
                          </a:rPr>
                          <m:t>×1</m:t>
                        </m:r>
                      </m:sup>
                    </m:sSup>
                  </m:oMath>
                </a14:m>
                <a:endParaRPr sz="2400" dirty="0">
                  <a:solidFill>
                    <a:srgbClr val="182D45"/>
                  </a:solidFill>
                  <a:latin typeface="DejaVu Sans"/>
                </a:endParaRPr>
              </a:p>
            </p:txBody>
          </p:sp>
        </mc:Choice>
        <mc:Fallback>
          <p:sp>
            <p:nvSpPr>
              <p:cNvPr id="15" name="TextBox 14"/>
              <p:cNvSpPr txBox="1">
                <a:spLocks noRot="1" noChangeAspect="1" noMove="1" noResize="1" noEditPoints="1" noAdjustHandles="1" noChangeArrowheads="1" noChangeShapeType="1" noTextEdit="1"/>
              </p:cNvSpPr>
              <p:nvPr/>
            </p:nvSpPr>
            <p:spPr>
              <a:xfrm>
                <a:off x="685800" y="914400"/>
                <a:ext cx="10835640" cy="1225335"/>
              </a:xfrm>
              <a:prstGeom prst="rect">
                <a:avLst/>
              </a:prstGeom>
              <a:blipFill>
                <a:blip r:embed="rId4"/>
                <a:stretch>
                  <a:fillRect t="-4478" b="-9950"/>
                </a:stretch>
              </a:blipFill>
            </p:spPr>
            <p:txBody>
              <a:bodyPr/>
              <a:lstStyle/>
              <a:p>
                <a:r>
                  <a:rPr lang="it-IT">
                    <a:noFill/>
                  </a:rPr>
                  <a:t> </a:t>
                </a:r>
              </a:p>
            </p:txBody>
          </p:sp>
        </mc:Fallback>
      </mc:AlternateContent>
    </p:spTree>
    <p:extLst>
      <p:ext uri="{BB962C8B-B14F-4D97-AF65-F5344CB8AC3E}">
        <p14:creationId xmlns:p14="http://schemas.microsoft.com/office/powerpoint/2010/main" val="2919628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493D02B8-4DB3-4402-B77A-9746E3CDE9F5}"/>
              </a:ext>
            </a:extLst>
          </p:cNvPr>
          <p:cNvSpPr>
            <a:spLocks noGrp="1"/>
          </p:cNvSpPr>
          <p:nvPr/>
        </p:nvSpPr>
        <p:spPr>
          <a:xfrm>
            <a:off x="609600" y="361950"/>
            <a:ext cx="10953750" cy="723900"/>
          </a:xfrm>
          <a:prstGeom prst="rect">
            <a:avLst/>
          </a:prstGeom>
          <a:noFill/>
          <a:ln w="0">
            <a:noFill/>
          </a:ln>
        </p:spPr>
        <p:txBody>
          <a:bodyPr wrap="square" lIns="0" tIns="0" rIns="0" bIns="0" anchor="ctr">
            <a:noAutofit/>
          </a:bodyPr>
          <a:lstStyle/>
          <a:p>
            <a:pPr marL="0" marR="0" indent="0" algn="ctr">
              <a:defRPr lang="en-GB" sz="3150" b="1" i="0" dirty="0">
                <a:solidFill>
                  <a:srgbClr val="182D45"/>
                </a:solidFill>
                <a:latin typeface="DejaVu Sans"/>
                <a:ea typeface="DejaVu Sans"/>
                <a:cs typeface="DejaVu Sans"/>
              </a:defRPr>
            </a:pPr>
            <a:r>
              <a:rPr lang="en-GB" sz="3150" b="1" i="0" dirty="0">
                <a:solidFill>
                  <a:srgbClr val="182D45"/>
                </a:solidFill>
                <a:latin typeface="DejaVu Sans"/>
                <a:ea typeface="DejaVu Sans"/>
                <a:cs typeface="DejaVu Sans"/>
              </a:rPr>
              <a:t>Several inputs: solution and gradient descent</a:t>
            </a:r>
          </a:p>
        </p:txBody>
      </p:sp>
      <p:sp>
        <p:nvSpPr>
          <p:cNvPr id="2" name="page_number">
            <a:extLst>
              <a:ext uri="{FF2B5EF4-FFF2-40B4-BE49-F238E27FC236}">
                <a16:creationId xmlns:a16="http://schemas.microsoft.com/office/drawing/2014/main" id="{D4B98568-F749-4C5C-BFBB-C61E9AC966EF}"/>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marL="0" marR="0" indent="0" algn="r">
              <a:defRPr lang="en-GB" sz="1350" b="0" i="0" dirty="0">
                <a:solidFill>
                  <a:srgbClr val="526276"/>
                </a:solidFill>
                <a:latin typeface="DejaVu Sans"/>
                <a:ea typeface="DejaVu Sans"/>
                <a:cs typeface="DejaVu Sans"/>
              </a:defRPr>
            </a:pPr>
            <a:r>
              <a:rPr sz="1300" b="0">
                <a:solidFill>
                  <a:srgbClr val="526276"/>
                </a:solidFill>
                <a:latin typeface="DejaVu Sans"/>
              </a:rPr>
              <a:t>47</a:t>
            </a:r>
          </a:p>
        </p:txBody>
      </p:sp>
      <mc:AlternateContent xmlns:mc="http://schemas.openxmlformats.org/markup-compatibility/2006" xmlns:a14="http://schemas.microsoft.com/office/drawing/2010/main">
        <mc:Choice Requires="a14">
          <p:sp>
            <p:nvSpPr>
              <p:cNvPr id="3" name="content_36_3">
                <a:extLst>
                  <a:ext uri="{FF2B5EF4-FFF2-40B4-BE49-F238E27FC236}">
                    <a16:creationId xmlns:a16="http://schemas.microsoft.com/office/drawing/2014/main" id="{5E31A0A8-8F9B-4364-8D54-6795E5BA01BA}"/>
                  </a:ext>
                </a:extLst>
              </p:cNvPr>
              <p:cNvSpPr txBox="1">
                <a:spLocks noGrp="1"/>
              </p:cNvSpPr>
              <p:nvPr/>
            </p:nvSpPr>
            <p:spPr>
              <a:xfrm>
                <a:off x="619125" y="1865853"/>
                <a:ext cx="10953750" cy="714375"/>
              </a:xfrm>
              <a:prstGeom prst="rect">
                <a:avLst/>
              </a:prstGeom>
              <a:noFill/>
              <a:ln w="0">
                <a:noFill/>
              </a:ln>
            </p:spPr>
            <p:txBody>
              <a:bodyPr vertOverflow="overflow" wrap="none" lIns="0" tIns="0" rIns="0" bIns="0" anchor="ctr">
                <a:noAutofit/>
              </a:bodyPr>
              <a:lstStyle/>
              <a:p>
                <a:pPr algn="ctr">
                  <a:defRPr lang="en-GB" sz="2550" b="0" i="0" dirty="0">
                    <a:solidFill>
                      <a:srgbClr val="182D45"/>
                    </a:solidFill>
                    <a:latin typeface="DejaVu Sans"/>
                    <a:ea typeface="DejaVu Sans"/>
                    <a:cs typeface="DejaVu Sans"/>
                  </a:defRPr>
                </a:pPr>
                <a14:m>
                  <m:oMathPara xmlns:m="http://schemas.openxmlformats.org/officeDocument/2006/math">
                    <m:oMath>
                      <m:sSub>
                        <m:sSubPr>
                          <m:ctrlPr>
                            <a:rPr lang="en-GB" sz="2550" b="0" dirty="0">
                              <a:solidFill>
                                <a:srgbClr val="182D45"/>
                              </a:solidFill>
                              <a:latin typeface="Cambria Math"/>
                              <a:ea typeface="Cambria Math"/>
                              <a:cs typeface="Cambria Math"/>
                            </a:rPr>
                          </m:ctrlPr>
                        </m:sSubPr>
                        <m:e>
                          <m:r>
                            <a:rPr lang="en-GB" sz="2550" b="0" dirty="0">
                              <a:solidFill>
                                <a:srgbClr val="182D45"/>
                              </a:solidFill>
                              <a:latin typeface="Cambria Math"/>
                              <a:ea typeface="Cambria Math"/>
                              <a:cs typeface="Cambria Math"/>
                            </a:rPr>
                            <m:t>ℒ</m:t>
                          </m:r>
                        </m:e>
                        <m:sub>
                          <m:r>
                            <m:rPr>
                              <m:sty m:val="p"/>
                            </m:rPr>
                            <a:rPr lang="en-GB" sz="2550" b="0" dirty="0">
                              <a:solidFill>
                                <a:srgbClr val="182D45"/>
                              </a:solidFill>
                              <a:latin typeface="Cambria Math"/>
                              <a:ea typeface="Cambria Math"/>
                              <a:cs typeface="Cambria Math"/>
                            </a:rPr>
                            <m:t>sq</m:t>
                          </m:r>
                        </m:sub>
                      </m:sSub>
                      <m:d>
                        <m:dPr>
                          <m:ctrlPr>
                            <a:rPr lang="en-GB" sz="2550" b="0" dirty="0">
                              <a:solidFill>
                                <a:srgbClr val="182D45"/>
                              </a:solidFill>
                              <a:latin typeface="Cambria Math"/>
                              <a:ea typeface="Cambria Math"/>
                              <a:cs typeface="Cambria Math"/>
                            </a:rPr>
                          </m:ctrlPr>
                        </m:dPr>
                        <m:e>
                          <m:r>
                            <a:rPr lang="en-GB" sz="2550" b="0" dirty="0">
                              <a:solidFill>
                                <a:srgbClr val="182D45"/>
                              </a:solidFill>
                              <a:latin typeface="Cambria Math"/>
                              <a:ea typeface="Cambria Math"/>
                              <a:cs typeface="Cambria Math"/>
                            </a:rPr>
                            <m:t>𝛉</m:t>
                          </m:r>
                        </m:e>
                      </m:d>
                      <m:r>
                        <a:rPr lang="en-GB" sz="2550" b="0" dirty="0">
                          <a:solidFill>
                            <a:srgbClr val="182D45"/>
                          </a:solidFill>
                          <a:latin typeface="Cambria Math"/>
                          <a:ea typeface="Cambria Math"/>
                          <a:cs typeface="Cambria Math"/>
                        </a:rPr>
                        <m:t>=</m:t>
                      </m:r>
                      <m:nary>
                        <m:naryPr>
                          <m:chr m:val="∑"/>
                          <m:ctrlPr>
                            <a:rPr lang="it-IT" sz="2550" b="0" i="1" dirty="0" smtClean="0">
                              <a:solidFill>
                                <a:srgbClr val="182D45"/>
                              </a:solidFill>
                              <a:latin typeface="Cambria Math" panose="02040503050406030204" pitchFamily="18" charset="0"/>
                              <a:ea typeface="Cambria Math"/>
                              <a:cs typeface="Cambria Math"/>
                            </a:rPr>
                          </m:ctrlPr>
                        </m:naryPr>
                        <m:sub>
                          <m:r>
                            <a:rPr lang="it-IT" sz="2550" b="0" i="1" dirty="0" smtClean="0">
                              <a:solidFill>
                                <a:srgbClr val="182D45"/>
                              </a:solidFill>
                              <a:latin typeface="Cambria Math" panose="02040503050406030204" pitchFamily="18" charset="0"/>
                              <a:ea typeface="Cambria Math"/>
                              <a:cs typeface="Cambria Math"/>
                            </a:rPr>
                            <m:t>𝑛</m:t>
                          </m:r>
                          <m:r>
                            <a:rPr lang="it-IT" sz="2550" b="0" i="1" dirty="0" smtClean="0">
                              <a:solidFill>
                                <a:srgbClr val="182D45"/>
                              </a:solidFill>
                              <a:latin typeface="Cambria Math" panose="02040503050406030204" pitchFamily="18" charset="0"/>
                              <a:ea typeface="Cambria Math"/>
                              <a:cs typeface="Cambria Math"/>
                            </a:rPr>
                            <m:t>=1</m:t>
                          </m:r>
                        </m:sub>
                        <m:sup>
                          <m:r>
                            <a:rPr lang="it-IT" sz="2550" b="0" i="1" dirty="0" smtClean="0">
                              <a:solidFill>
                                <a:srgbClr val="182D45"/>
                              </a:solidFill>
                              <a:latin typeface="Cambria Math" panose="02040503050406030204" pitchFamily="18" charset="0"/>
                              <a:ea typeface="Cambria Math"/>
                              <a:cs typeface="Cambria Math"/>
                            </a:rPr>
                            <m:t>𝑁</m:t>
                          </m:r>
                        </m:sup>
                        <m:e>
                          <m:sSub>
                            <m:sSubPr>
                              <m:ctrlPr>
                                <a:rPr lang="it-IT" sz="2550" b="0" i="1" dirty="0" smtClean="0">
                                  <a:solidFill>
                                    <a:srgbClr val="182D45"/>
                                  </a:solidFill>
                                  <a:latin typeface="Cambria Math" panose="02040503050406030204" pitchFamily="18" charset="0"/>
                                  <a:ea typeface="Cambria Math"/>
                                  <a:cs typeface="Cambria Math"/>
                                </a:rPr>
                              </m:ctrlPr>
                            </m:sSubPr>
                            <m:e>
                              <m:r>
                                <m:rPr>
                                  <m:sty m:val="p"/>
                                </m:rPr>
                                <a:rPr lang="it-IT" sz="2550" b="0" i="1" dirty="0" smtClean="0">
                                  <a:solidFill>
                                    <a:srgbClr val="182D45"/>
                                  </a:solidFill>
                                  <a:latin typeface="Cambria Math" panose="02040503050406030204" pitchFamily="18" charset="0"/>
                                  <a:ea typeface="Cambria Math"/>
                                  <a:cs typeface="Cambria Math"/>
                                </a:rPr>
                                <m:t>ℓ</m:t>
                              </m:r>
                            </m:e>
                            <m:sub>
                              <m:r>
                                <m:rPr>
                                  <m:sty m:val="p"/>
                                </m:rPr>
                                <a:rPr lang="it-IT" sz="2550" b="0" i="0" dirty="0" smtClean="0">
                                  <a:solidFill>
                                    <a:srgbClr val="182D45"/>
                                  </a:solidFill>
                                  <a:latin typeface="Cambria Math" panose="02040503050406030204" pitchFamily="18" charset="0"/>
                                  <a:ea typeface="Cambria Math"/>
                                  <a:cs typeface="Cambria Math"/>
                                </a:rPr>
                                <m:t>sq</m:t>
                              </m:r>
                            </m:sub>
                          </m:sSub>
                          <m:d>
                            <m:dPr>
                              <m:ctrlPr>
                                <a:rPr lang="it-IT" sz="2550" b="0" i="1" dirty="0" smtClean="0">
                                  <a:solidFill>
                                    <a:srgbClr val="182D45"/>
                                  </a:solidFill>
                                  <a:latin typeface="Cambria Math" panose="02040503050406030204" pitchFamily="18" charset="0"/>
                                  <a:ea typeface="Cambria Math"/>
                                  <a:cs typeface="Cambria Math"/>
                                </a:rPr>
                              </m:ctrlPr>
                            </m:dPr>
                            <m:e>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𝑓</m:t>
                                  </m:r>
                                </m:e>
                                <m:sub>
                                  <m:r>
                                    <a:rPr lang="it-IT" sz="2550" b="1" i="0" dirty="0" smtClean="0">
                                      <a:solidFill>
                                        <a:srgbClr val="182D45"/>
                                      </a:solidFill>
                                      <a:latin typeface="Cambria Math" panose="02040503050406030204" pitchFamily="18" charset="0"/>
                                      <a:ea typeface="Cambria Math"/>
                                      <a:cs typeface="Cambria Math"/>
                                    </a:rPr>
                                    <m:t>𝛉</m:t>
                                  </m:r>
                                </m:sub>
                              </m:sSub>
                              <m:d>
                                <m:dPr>
                                  <m:ctrlPr>
                                    <a:rPr lang="it-IT" sz="2550" b="1" i="1" dirty="0" smtClean="0">
                                      <a:solidFill>
                                        <a:srgbClr val="182D45"/>
                                      </a:solidFill>
                                      <a:latin typeface="Cambria Math" panose="02040503050406030204" pitchFamily="18" charset="0"/>
                                      <a:ea typeface="Cambria Math"/>
                                      <a:cs typeface="Cambria Math"/>
                                    </a:rPr>
                                  </m:ctrlPr>
                                </m:dPr>
                                <m:e>
                                  <m:sSub>
                                    <m:sSubPr>
                                      <m:ctrlPr>
                                        <a:rPr lang="it-IT" sz="2550" b="1" i="0" dirty="0" smtClean="0">
                                          <a:solidFill>
                                            <a:srgbClr val="182D45"/>
                                          </a:solidFill>
                                          <a:latin typeface="Cambria Math" panose="02040503050406030204" pitchFamily="18" charset="0"/>
                                          <a:ea typeface="Cambria Math"/>
                                          <a:cs typeface="Cambria Math"/>
                                        </a:rPr>
                                      </m:ctrlPr>
                                    </m:sSubPr>
                                    <m:e>
                                      <m:r>
                                        <a:rPr lang="it-IT" sz="2550" b="1" i="0" dirty="0" smtClean="0">
                                          <a:solidFill>
                                            <a:srgbClr val="182D45"/>
                                          </a:solidFill>
                                          <a:latin typeface="Cambria Math" panose="02040503050406030204" pitchFamily="18" charset="0"/>
                                          <a:ea typeface="Cambria Math"/>
                                          <a:cs typeface="Cambria Math"/>
                                        </a:rPr>
                                        <m:t>𝐱</m:t>
                                      </m:r>
                                    </m:e>
                                    <m:sub>
                                      <m:r>
                                        <a:rPr lang="it-IT" sz="2550" b="0" i="1" dirty="0" smtClean="0">
                                          <a:solidFill>
                                            <a:srgbClr val="182D45"/>
                                          </a:solidFill>
                                          <a:latin typeface="Cambria Math" panose="02040503050406030204" pitchFamily="18" charset="0"/>
                                          <a:ea typeface="Cambria Math"/>
                                          <a:cs typeface="Cambria Math"/>
                                        </a:rPr>
                                        <m:t>𝑛</m:t>
                                      </m:r>
                                    </m:sub>
                                  </m:sSub>
                                </m:e>
                              </m:d>
                              <m:r>
                                <a:rPr lang="it-IT" sz="2550" b="0" i="1" dirty="0" smtClean="0">
                                  <a:solidFill>
                                    <a:srgbClr val="182D45"/>
                                  </a:solidFill>
                                  <a:latin typeface="Cambria Math" panose="02040503050406030204" pitchFamily="18" charset="0"/>
                                  <a:ea typeface="Cambria Math"/>
                                  <a:cs typeface="Cambria Math"/>
                                </a:rPr>
                                <m:t>,</m:t>
                              </m:r>
                              <m:sSub>
                                <m:sSubPr>
                                  <m:ctrlPr>
                                    <a:rPr lang="it-IT" sz="2550" b="0" i="1" dirty="0" smtClean="0">
                                      <a:solidFill>
                                        <a:srgbClr val="182D45"/>
                                      </a:solidFill>
                                      <a:latin typeface="Cambria Math" panose="02040503050406030204" pitchFamily="18" charset="0"/>
                                      <a:ea typeface="Cambria Math"/>
                                      <a:cs typeface="Cambria Math"/>
                                    </a:rPr>
                                  </m:ctrlPr>
                                </m:sSubPr>
                                <m:e>
                                  <m:r>
                                    <a:rPr lang="it-IT" sz="2550" b="0" i="1" dirty="0" smtClean="0">
                                      <a:solidFill>
                                        <a:srgbClr val="182D45"/>
                                      </a:solidFill>
                                      <a:latin typeface="Cambria Math" panose="02040503050406030204" pitchFamily="18" charset="0"/>
                                      <a:ea typeface="Cambria Math"/>
                                      <a:cs typeface="Cambria Math"/>
                                    </a:rPr>
                                    <m:t>𝑦</m:t>
                                  </m:r>
                                </m:e>
                                <m:sub>
                                  <m:r>
                                    <a:rPr lang="it-IT" sz="2550" b="0" i="1" dirty="0" smtClean="0">
                                      <a:solidFill>
                                        <a:srgbClr val="182D45"/>
                                      </a:solidFill>
                                      <a:latin typeface="Cambria Math" panose="02040503050406030204" pitchFamily="18" charset="0"/>
                                      <a:ea typeface="Cambria Math"/>
                                      <a:cs typeface="Cambria Math"/>
                                    </a:rPr>
                                    <m:t>𝑛</m:t>
                                  </m:r>
                                </m:sub>
                              </m:sSub>
                            </m:e>
                          </m:d>
                        </m:e>
                      </m:nary>
                      <m:r>
                        <a:rPr lang="it-IT" sz="2550" b="0" i="1" dirty="0" smtClean="0">
                          <a:solidFill>
                            <a:srgbClr val="182D45"/>
                          </a:solidFill>
                          <a:latin typeface="Cambria Math" panose="02040503050406030204" pitchFamily="18" charset="0"/>
                          <a:ea typeface="Cambria Math"/>
                          <a:cs typeface="Cambria Math"/>
                        </a:rPr>
                        <m:t>=</m:t>
                      </m:r>
                      <m:sSubSup>
                        <m:sSubSupPr>
                          <m:ctrlPr>
                            <a:rPr lang="it-IT" sz="2550" b="1" i="1" dirty="0">
                              <a:solidFill>
                                <a:srgbClr val="182D45"/>
                              </a:solidFill>
                              <a:latin typeface="Cambria Math" panose="02040503050406030204" pitchFamily="18" charset="0"/>
                            </a:rPr>
                          </m:ctrlPr>
                        </m:sSubSupPr>
                        <m:e>
                          <m:d>
                            <m:dPr>
                              <m:begChr m:val="‖"/>
                              <m:endChr m:val="‖"/>
                              <m:ctrlPr>
                                <a:rPr lang="it-IT" sz="2550" b="1" dirty="0">
                                  <a:solidFill>
                                    <a:srgbClr val="182D45"/>
                                  </a:solidFill>
                                  <a:latin typeface="Cambria Math" panose="02040503050406030204" pitchFamily="18" charset="0"/>
                                </a:rPr>
                              </m:ctrlPr>
                            </m:dPr>
                            <m:e>
                              <m:r>
                                <a:rPr lang="it-IT" sz="2550" b="1" dirty="0">
                                  <a:solidFill>
                                    <a:srgbClr val="182D45"/>
                                  </a:solidFill>
                                  <a:latin typeface="Cambria Math" panose="02040503050406030204" pitchFamily="18" charset="0"/>
                                </a:rPr>
                                <m:t>𝐗</m:t>
                              </m:r>
                              <m:r>
                                <a:rPr lang="it-IT" sz="2550" b="1" dirty="0">
                                  <a:solidFill>
                                    <a:srgbClr val="182D45"/>
                                  </a:solidFill>
                                  <a:latin typeface="Cambria Math" panose="02040503050406030204" pitchFamily="18" charset="0"/>
                                </a:rPr>
                                <m:t>𝛉</m:t>
                              </m:r>
                              <m:r>
                                <a:rPr lang="it-IT" sz="2550" dirty="0">
                                  <a:solidFill>
                                    <a:srgbClr val="182D45"/>
                                  </a:solidFill>
                                  <a:latin typeface="Cambria Math" panose="02040503050406030204" pitchFamily="18" charset="0"/>
                                </a:rPr>
                                <m:t>−</m:t>
                              </m:r>
                              <m:r>
                                <a:rPr lang="it-IT" sz="2550" b="1" dirty="0">
                                  <a:solidFill>
                                    <a:srgbClr val="182D45"/>
                                  </a:solidFill>
                                  <a:latin typeface="Cambria Math" panose="02040503050406030204" pitchFamily="18" charset="0"/>
                                </a:rPr>
                                <m:t>𝐲</m:t>
                              </m:r>
                            </m:e>
                          </m:d>
                        </m:e>
                        <m:sub>
                          <m:r>
                            <a:rPr lang="it-IT" sz="2550" i="1" dirty="0">
                              <a:solidFill>
                                <a:srgbClr val="182D45"/>
                              </a:solidFill>
                              <a:latin typeface="Cambria Math" panose="02040503050406030204" pitchFamily="18" charset="0"/>
                            </a:rPr>
                            <m:t>2</m:t>
                          </m:r>
                        </m:sub>
                        <m:sup>
                          <m:r>
                            <a:rPr lang="it-IT" sz="2550" i="1" dirty="0">
                              <a:solidFill>
                                <a:srgbClr val="182D45"/>
                              </a:solidFill>
                              <a:latin typeface="Cambria Math" panose="02040503050406030204" pitchFamily="18" charset="0"/>
                            </a:rPr>
                            <m:t>2</m:t>
                          </m:r>
                        </m:sup>
                      </m:sSubSup>
                    </m:oMath>
                  </m:oMathPara>
                </a14:m>
                <a:endParaRPr lang="en-GB" sz="2550" b="0" i="0" dirty="0">
                  <a:solidFill>
                    <a:srgbClr val="182D45"/>
                  </a:solidFill>
                  <a:latin typeface="DejaVu Sans"/>
                  <a:ea typeface="DejaVu Sans"/>
                  <a:cs typeface="DejaVu Sans"/>
                </a:endParaRPr>
              </a:p>
            </p:txBody>
          </p:sp>
        </mc:Choice>
        <mc:Fallback xmlns="">
          <p:sp>
            <p:nvSpPr>
              <p:cNvPr id="3" name="content_36_3">
                <a:extLst>
                  <a:ext uri="{FF2B5EF4-FFF2-40B4-BE49-F238E27FC236}">
                    <a16:creationId xmlns:a16="http://schemas.microsoft.com/office/drawing/2014/main" id="{5E31A0A8-8F9B-4364-8D54-6795E5BA01BA}"/>
                  </a:ext>
                </a:extLst>
              </p:cNvPr>
              <p:cNvSpPr txBox="1">
                <a:spLocks noGrp="1" noRot="1" noChangeAspect="1" noMove="1" noResize="1" noEditPoints="1" noAdjustHandles="1" noChangeArrowheads="1" noChangeShapeType="1" noTextEdit="1"/>
              </p:cNvSpPr>
              <p:nvPr/>
            </p:nvSpPr>
            <p:spPr>
              <a:xfrm>
                <a:off x="619125" y="1865853"/>
                <a:ext cx="10953750" cy="714375"/>
              </a:xfrm>
              <a:prstGeom prst="rect">
                <a:avLst/>
              </a:prstGeom>
              <a:blipFill>
                <a:blip r:embed="rId3"/>
                <a:stretch>
                  <a:fillRect t="-20513" b="-27350"/>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4" name="content_36_4">
                <a:extLst>
                  <a:ext uri="{FF2B5EF4-FFF2-40B4-BE49-F238E27FC236}">
                    <a16:creationId xmlns:a16="http://schemas.microsoft.com/office/drawing/2014/main" id="{81E84E98-2E55-46E6-8272-4F985B475BE6}"/>
                  </a:ext>
                </a:extLst>
              </p:cNvPr>
              <p:cNvSpPr>
                <a:spLocks noGrp="1"/>
              </p:cNvSpPr>
              <p:nvPr/>
            </p:nvSpPr>
            <p:spPr>
              <a:xfrm>
                <a:off x="609600" y="3861721"/>
                <a:ext cx="10953750" cy="832104"/>
              </a:xfrm>
              <a:prstGeom prst="rect">
                <a:avLst/>
              </a:prstGeom>
              <a:noFill/>
              <a:ln w="0">
                <a:noFill/>
              </a:ln>
            </p:spPr>
            <p:txBody>
              <a:bodyPr vertOverflow="overflow" wrap="square" lIns="0" tIns="0" rIns="0" bIns="0" anchor="ctr">
                <a:noAutofit/>
              </a:bodyPr>
              <a:lstStyle/>
              <a:p>
                <a:pPr algn="ctr">
                  <a:defRPr lang="en-GB" sz="2100" b="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If the matrix </a:t>
                </a:r>
                <a14:m>
                  <m:oMath xmlns:m="http://schemas.openxmlformats.org/officeDocument/2006/math">
                    <m:sSup>
                      <m:sSupPr>
                        <m:ctrlPr>
                          <a:rPr lang="it-IT" sz="2400" b="1" i="0" dirty="0" smtClean="0">
                            <a:solidFill>
                              <a:schemeClr val="tx1"/>
                            </a:solidFill>
                            <a:latin typeface="Cambria Math" panose="02040503050406030204" pitchFamily="18" charset="0"/>
                            <a:ea typeface="Cambria Math"/>
                            <a:cs typeface="Cambria Math"/>
                          </a:rPr>
                        </m:ctrlPr>
                      </m:sSupPr>
                      <m:e>
                        <m:r>
                          <a:rPr lang="it-IT" sz="2400" b="1" i="0" dirty="0" smtClean="0">
                            <a:solidFill>
                              <a:schemeClr val="tx1"/>
                            </a:solidFill>
                            <a:latin typeface="Cambria Math" panose="02040503050406030204" pitchFamily="18" charset="0"/>
                            <a:ea typeface="Cambria Math"/>
                            <a:cs typeface="Cambria Math"/>
                          </a:rPr>
                          <m:t>𝐗</m:t>
                        </m:r>
                      </m:e>
                      <m:sup>
                        <m:r>
                          <a:rPr lang="en-GB" sz="2400" b="1" dirty="0">
                            <a:solidFill>
                              <a:schemeClr val="tx1"/>
                            </a:solidFill>
                            <a:latin typeface="Cambria Math"/>
                            <a:ea typeface="Cambria Math"/>
                            <a:cs typeface="Cambria Math"/>
                          </a:rPr>
                          <m:t>⊤</m:t>
                        </m:r>
                      </m:sup>
                    </m:sSup>
                    <m:r>
                      <a:rPr lang="it-IT" sz="2400" b="1" i="0" dirty="0" smtClean="0">
                        <a:solidFill>
                          <a:schemeClr val="tx1"/>
                        </a:solidFill>
                        <a:latin typeface="Cambria Math" panose="02040503050406030204" pitchFamily="18" charset="0"/>
                        <a:ea typeface="Cambria Math"/>
                        <a:cs typeface="Cambria Math"/>
                      </a:rPr>
                      <m:t>𝐗</m:t>
                    </m:r>
                  </m:oMath>
                </a14:m>
                <a:r>
                  <a:rPr lang="en-GB" sz="2100" dirty="0">
                    <a:solidFill>
                      <a:srgbClr val="182D45"/>
                    </a:solidFill>
                    <a:latin typeface="DejaVu Sans"/>
                    <a:ea typeface="DejaVu Sans"/>
                    <a:cs typeface="DejaVu Sans"/>
                  </a:rPr>
                  <a:t> is invertible,</a:t>
                </a:r>
              </a:p>
              <a:p>
                <a:pPr algn="ctr">
                  <a:defRPr lang="en-GB" sz="2100" b="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The unique stationary point and global minimiser </a:t>
                </a:r>
                <a14:m>
                  <m:oMath xmlns:m="http://schemas.openxmlformats.org/officeDocument/2006/math">
                    <m:sSup>
                      <m:sSupPr>
                        <m:ctrlPr>
                          <a:rPr lang="it-IT" sz="2400" b="1" dirty="0">
                            <a:solidFill>
                              <a:srgbClr val="182D45"/>
                            </a:solidFill>
                            <a:latin typeface="Cambria Math" panose="02040503050406030204" pitchFamily="18" charset="0"/>
                            <a:ea typeface="Cambria Math"/>
                            <a:cs typeface="Cambria Math"/>
                          </a:rPr>
                        </m:ctrlPr>
                      </m:sSupPr>
                      <m:e>
                        <m:r>
                          <a:rPr lang="it-IT" sz="2400" b="1" dirty="0">
                            <a:solidFill>
                              <a:srgbClr val="182D45"/>
                            </a:solidFill>
                            <a:latin typeface="Cambria Math" panose="02040503050406030204" pitchFamily="18" charset="0"/>
                            <a:ea typeface="Cambria Math"/>
                            <a:cs typeface="Cambria Math"/>
                          </a:rPr>
                          <m:t>𝛉</m:t>
                        </m:r>
                      </m:e>
                      <m:sup>
                        <m:r>
                          <a:rPr lang="it-IT" sz="2100" i="1">
                            <a:solidFill>
                              <a:srgbClr val="182D45"/>
                            </a:solidFill>
                            <a:latin typeface="Cambria Math" panose="02040503050406030204" pitchFamily="18" charset="0"/>
                            <a:ea typeface="DejaVu Sans"/>
                            <a:cs typeface="DejaVu Sans"/>
                          </a:rPr>
                          <m:t>∗</m:t>
                        </m:r>
                      </m:sup>
                    </m:sSup>
                  </m:oMath>
                </a14:m>
                <a:r>
                  <a:rPr lang="en-GB" sz="2100" dirty="0">
                    <a:solidFill>
                      <a:srgbClr val="182D45"/>
                    </a:solidFill>
                    <a:latin typeface="DejaVu Sans"/>
                    <a:ea typeface="DejaVu Sans"/>
                    <a:cs typeface="DejaVu Sans"/>
                  </a:rPr>
                  <a:t> is given by</a:t>
                </a:r>
              </a:p>
            </p:txBody>
          </p:sp>
        </mc:Choice>
        <mc:Fallback>
          <p:sp>
            <p:nvSpPr>
              <p:cNvPr id="4" name="content_36_4">
                <a:extLst>
                  <a:ext uri="{FF2B5EF4-FFF2-40B4-BE49-F238E27FC236}">
                    <a16:creationId xmlns:a16="http://schemas.microsoft.com/office/drawing/2014/main" id="{81E84E98-2E55-46E6-8272-4F985B475BE6}"/>
                  </a:ext>
                </a:extLst>
              </p:cNvPr>
              <p:cNvSpPr>
                <a:spLocks noGrp="1" noRot="1" noChangeAspect="1" noMove="1" noResize="1" noEditPoints="1" noAdjustHandles="1" noChangeArrowheads="1" noChangeShapeType="1" noTextEdit="1"/>
              </p:cNvSpPr>
              <p:nvPr/>
            </p:nvSpPr>
            <p:spPr>
              <a:xfrm>
                <a:off x="609600" y="3861721"/>
                <a:ext cx="10953750" cy="832104"/>
              </a:xfrm>
              <a:prstGeom prst="rect">
                <a:avLst/>
              </a:prstGeom>
              <a:blipFill>
                <a:blip r:embed="rId4"/>
                <a:stretch>
                  <a:fillRect b="-11679"/>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ontent_36_5">
                <a:extLst>
                  <a:ext uri="{FF2B5EF4-FFF2-40B4-BE49-F238E27FC236}">
                    <a16:creationId xmlns:a16="http://schemas.microsoft.com/office/drawing/2014/main" id="{4C3A4A6B-6700-4561-9D22-A2E091A2DE23}"/>
                  </a:ext>
                </a:extLst>
              </p:cNvPr>
              <p:cNvSpPr txBox="1">
                <a:spLocks noGrp="1"/>
              </p:cNvSpPr>
              <p:nvPr/>
            </p:nvSpPr>
            <p:spPr>
              <a:xfrm>
                <a:off x="609600" y="4614578"/>
                <a:ext cx="10953750" cy="666750"/>
              </a:xfrm>
              <a:prstGeom prst="rect">
                <a:avLst/>
              </a:prstGeom>
              <a:noFill/>
              <a:ln w="0">
                <a:noFill/>
              </a:ln>
            </p:spPr>
            <p:txBody>
              <a:bodyPr vertOverflow="overflow" wrap="none" lIns="0" tIns="0" rIns="0" bIns="0" anchor="ctr">
                <a:noAutofit/>
              </a:bodyPr>
              <a:lstStyle/>
              <a:p>
                <a:pPr marL="0" marR="0" indent="0" algn="ctr">
                  <a:defRPr lang="en-GB" sz="2800" b="0" i="0" dirty="0">
                    <a:solidFill>
                      <a:srgbClr val="326CB2"/>
                    </a:solidFill>
                    <a:latin typeface="DejaVu Sans"/>
                    <a:ea typeface="DejaVu Sans"/>
                    <a:cs typeface="DejaVu Sans"/>
                  </a:defRPr>
                </a:pPr>
                <a14:m>
                  <m:oMathPara xmlns:m="http://schemas.openxmlformats.org/officeDocument/2006/math">
                    <m:oMath>
                      <m:sSup>
                        <m:sSupPr>
                          <m:ctrlPr>
                            <a:rPr lang="en-GB" sz="2800" b="0" dirty="0">
                              <a:solidFill>
                                <a:srgbClr val="326CB2"/>
                              </a:solidFill>
                              <a:latin typeface="Cambria Math"/>
                              <a:ea typeface="Cambria Math"/>
                              <a:cs typeface="Cambria Math"/>
                            </a:rPr>
                          </m:ctrlPr>
                        </m:sSupPr>
                        <m:e>
                          <m:r>
                            <a:rPr lang="en-GB" sz="2800" b="0" dirty="0">
                              <a:solidFill>
                                <a:srgbClr val="326CB2"/>
                              </a:solidFill>
                              <a:latin typeface="Cambria Math"/>
                              <a:ea typeface="Cambria Math"/>
                              <a:cs typeface="Cambria Math"/>
                            </a:rPr>
                            <m:t>𝛉</m:t>
                          </m:r>
                        </m:e>
                        <m:sup>
                          <m:r>
                            <a:rPr lang="en-GB" sz="2800" b="0" dirty="0">
                              <a:solidFill>
                                <a:srgbClr val="326CB2"/>
                              </a:solidFill>
                              <a:latin typeface="Cambria Math"/>
                              <a:ea typeface="Cambria Math"/>
                              <a:cs typeface="Cambria Math"/>
                            </a:rPr>
                            <m:t>∗</m:t>
                          </m:r>
                        </m:sup>
                      </m:sSup>
                      <m:r>
                        <a:rPr lang="en-GB" sz="2800" b="0" dirty="0">
                          <a:solidFill>
                            <a:srgbClr val="326CB2"/>
                          </a:solidFill>
                          <a:latin typeface="Cambria Math"/>
                          <a:ea typeface="Cambria Math"/>
                          <a:cs typeface="Cambria Math"/>
                        </a:rPr>
                        <m:t>=</m:t>
                      </m:r>
                      <m:sSup>
                        <m:sSupPr>
                          <m:ctrlPr>
                            <a:rPr lang="en-GB" sz="2800" b="0" i="1" dirty="0">
                              <a:solidFill>
                                <a:srgbClr val="326CB2"/>
                              </a:solidFill>
                              <a:latin typeface="Cambria Math" panose="02040503050406030204" pitchFamily="18" charset="0"/>
                              <a:ea typeface="Cambria Math"/>
                              <a:cs typeface="Cambria Math"/>
                            </a:rPr>
                          </m:ctrlPr>
                        </m:sSupPr>
                        <m:e>
                          <m:d>
                            <m:dPr>
                              <m:ctrlPr>
                                <a:rPr lang="en-GB" sz="2800" b="0" i="1" dirty="0">
                                  <a:solidFill>
                                    <a:srgbClr val="326CB2"/>
                                  </a:solidFill>
                                  <a:latin typeface="Cambria Math" panose="02040503050406030204" pitchFamily="18" charset="0"/>
                                  <a:ea typeface="Cambria Math"/>
                                  <a:cs typeface="Cambria Math"/>
                                </a:rPr>
                              </m:ctrlPr>
                            </m:dPr>
                            <m:e>
                              <m:sSup>
                                <m:sSupPr>
                                  <m:ctrlPr>
                                    <a:rPr lang="en-GB" sz="2800" b="0" dirty="0">
                                      <a:solidFill>
                                        <a:srgbClr val="326CB2"/>
                                      </a:solidFill>
                                      <a:latin typeface="Cambria Math"/>
                                      <a:ea typeface="Cambria Math"/>
                                      <a:cs typeface="Cambria Math"/>
                                    </a:rPr>
                                  </m:ctrlPr>
                                </m:sSupPr>
                                <m:e>
                                  <m:r>
                                    <a:rPr lang="en-GB" sz="2800" b="0" dirty="0">
                                      <a:solidFill>
                                        <a:srgbClr val="326CB2"/>
                                      </a:solidFill>
                                      <a:latin typeface="Cambria Math"/>
                                      <a:ea typeface="Cambria Math"/>
                                      <a:cs typeface="Cambria Math"/>
                                    </a:rPr>
                                    <m:t>𝐗</m:t>
                                  </m:r>
                                </m:e>
                                <m:sup>
                                  <m:r>
                                    <a:rPr lang="en-GB" sz="2800" b="0" dirty="0">
                                      <a:solidFill>
                                        <a:srgbClr val="326CB2"/>
                                      </a:solidFill>
                                      <a:latin typeface="Cambria Math"/>
                                      <a:ea typeface="Cambria Math"/>
                                      <a:cs typeface="Cambria Math"/>
                                    </a:rPr>
                                    <m:t>⊤</m:t>
                                  </m:r>
                                </m:sup>
                              </m:sSup>
                              <m:r>
                                <a:rPr lang="en-GB" sz="2800" b="0" dirty="0">
                                  <a:solidFill>
                                    <a:srgbClr val="326CB2"/>
                                  </a:solidFill>
                                  <a:latin typeface="Cambria Math"/>
                                  <a:ea typeface="Cambria Math"/>
                                  <a:cs typeface="Cambria Math"/>
                                </a:rPr>
                                <m:t>𝐗</m:t>
                              </m:r>
                            </m:e>
                          </m:d>
                        </m:e>
                        <m:sup>
                          <m:r>
                            <a:rPr lang="en-GB" sz="2800" b="0" dirty="0">
                              <a:solidFill>
                                <a:srgbClr val="326CB2"/>
                              </a:solidFill>
                              <a:latin typeface="Cambria Math"/>
                              <a:ea typeface="Cambria Math"/>
                              <a:cs typeface="Cambria Math"/>
                            </a:rPr>
                            <m:t>−1</m:t>
                          </m:r>
                        </m:sup>
                      </m:sSup>
                      <m:sSup>
                        <m:sSupPr>
                          <m:ctrlPr>
                            <a:rPr lang="en-GB" sz="2800" b="0" dirty="0">
                              <a:solidFill>
                                <a:srgbClr val="326CB2"/>
                              </a:solidFill>
                              <a:latin typeface="Cambria Math"/>
                              <a:ea typeface="Cambria Math"/>
                              <a:cs typeface="Cambria Math"/>
                            </a:rPr>
                          </m:ctrlPr>
                        </m:sSupPr>
                        <m:e>
                          <m:r>
                            <a:rPr lang="en-GB" sz="2800" b="0" dirty="0">
                              <a:solidFill>
                                <a:srgbClr val="326CB2"/>
                              </a:solidFill>
                              <a:latin typeface="Cambria Math"/>
                              <a:ea typeface="Cambria Math"/>
                              <a:cs typeface="Cambria Math"/>
                            </a:rPr>
                            <m:t>𝐗</m:t>
                          </m:r>
                        </m:e>
                        <m:sup>
                          <m:r>
                            <a:rPr lang="en-GB" sz="2800" b="0" dirty="0">
                              <a:solidFill>
                                <a:srgbClr val="326CB2"/>
                              </a:solidFill>
                              <a:latin typeface="Cambria Math"/>
                              <a:ea typeface="Cambria Math"/>
                              <a:cs typeface="Cambria Math"/>
                            </a:rPr>
                            <m:t>⊤</m:t>
                          </m:r>
                        </m:sup>
                      </m:sSup>
                      <m:r>
                        <a:rPr lang="en-GB" sz="2800" b="0" dirty="0">
                          <a:solidFill>
                            <a:srgbClr val="326CB2"/>
                          </a:solidFill>
                          <a:latin typeface="Cambria Math"/>
                          <a:ea typeface="Cambria Math"/>
                          <a:cs typeface="Cambria Math"/>
                        </a:rPr>
                        <m:t>𝐲</m:t>
                      </m:r>
                    </m:oMath>
                  </m:oMathPara>
                </a14:m>
                <a:endParaRPr lang="en-GB" sz="2800" b="0" i="0" dirty="0">
                  <a:solidFill>
                    <a:srgbClr val="326CB2"/>
                  </a:solidFill>
                  <a:latin typeface="DejaVu Sans"/>
                  <a:ea typeface="DejaVu Sans"/>
                  <a:cs typeface="DejaVu Sans"/>
                </a:endParaRPr>
              </a:p>
            </p:txBody>
          </p:sp>
        </mc:Choice>
        <mc:Fallback>
          <p:sp>
            <p:nvSpPr>
              <p:cNvPr id="5" name="content_36_5">
                <a:extLst>
                  <a:ext uri="{FF2B5EF4-FFF2-40B4-BE49-F238E27FC236}">
                    <a16:creationId xmlns:a16="http://schemas.microsoft.com/office/drawing/2014/main" id="{4C3A4A6B-6700-4561-9D22-A2E091A2DE23}"/>
                  </a:ext>
                </a:extLst>
              </p:cNvPr>
              <p:cNvSpPr txBox="1">
                <a:spLocks noGrp="1" noRot="1" noChangeAspect="1" noMove="1" noResize="1" noEditPoints="1" noAdjustHandles="1" noChangeArrowheads="1" noChangeShapeType="1" noTextEdit="1"/>
              </p:cNvSpPr>
              <p:nvPr/>
            </p:nvSpPr>
            <p:spPr>
              <a:xfrm>
                <a:off x="609600" y="4614578"/>
                <a:ext cx="10953750" cy="666750"/>
              </a:xfrm>
              <a:prstGeom prst="rect">
                <a:avLst/>
              </a:prstGeom>
              <a:blipFill>
                <a:blip r:embed="rId5"/>
                <a:stretch>
                  <a:fillRect/>
                </a:stretch>
              </a:blipFill>
              <a:ln w="0">
                <a:noFill/>
              </a:ln>
            </p:spPr>
            <p:txBody>
              <a:bodyPr/>
              <a:lstStyle/>
              <a:p>
                <a:r>
                  <a:rPr lang="it-IT">
                    <a:noFill/>
                  </a:rPr>
                  <a:t> </a:t>
                </a:r>
              </a:p>
            </p:txBody>
          </p:sp>
        </mc:Fallback>
      </mc:AlternateContent>
      <p:sp>
        <p:nvSpPr>
          <p:cNvPr id="9" name="content_36_9">
            <a:extLst>
              <a:ext uri="{FF2B5EF4-FFF2-40B4-BE49-F238E27FC236}">
                <a16:creationId xmlns:a16="http://schemas.microsoft.com/office/drawing/2014/main" id="{2A238BDC-5AE4-4570-9BE4-91C9E402CC57}"/>
              </a:ext>
            </a:extLst>
          </p:cNvPr>
          <p:cNvSpPr txBox="1">
            <a:spLocks noGrp="1"/>
          </p:cNvSpPr>
          <p:nvPr/>
        </p:nvSpPr>
        <p:spPr>
          <a:xfrm>
            <a:off x="619125" y="5386007"/>
            <a:ext cx="10953750" cy="342900"/>
          </a:xfrm>
          <a:prstGeom prst="rect">
            <a:avLst/>
          </a:prstGeom>
          <a:noFill/>
          <a:ln w="0">
            <a:noFill/>
          </a:ln>
        </p:spPr>
        <p:txBody>
          <a:bodyPr vertOverflow="overflow" wrap="square" lIns="0" tIns="0" rIns="0" bIns="0" anchor="ctr">
            <a:noAutofit/>
          </a:bodyPr>
          <a:lstStyle/>
          <a:p>
            <a:pPr marL="0" marR="0" indent="0" algn="ctr">
              <a:defRPr lang="en-GB" sz="2100" b="1" dirty="0">
                <a:solidFill>
                  <a:srgbClr val="00858A"/>
                </a:solidFill>
                <a:latin typeface="DejaVu Sans"/>
                <a:ea typeface="DejaVu Sans"/>
                <a:cs typeface="DejaVu Sans"/>
              </a:defRPr>
            </a:pPr>
            <a:r>
              <a:rPr lang="en-GB" sz="2100" b="1" dirty="0">
                <a:solidFill>
                  <a:srgbClr val="00858A"/>
                </a:solidFill>
                <a:latin typeface="DejaVu Sans"/>
                <a:ea typeface="DejaVu Sans"/>
                <a:cs typeface="DejaVu Sans"/>
              </a:rPr>
              <a:t>Gradient descent</a:t>
            </a:r>
          </a:p>
        </p:txBody>
      </p:sp>
      <mc:AlternateContent xmlns:mc="http://schemas.openxmlformats.org/markup-compatibility/2006" xmlns:a14="http://schemas.microsoft.com/office/drawing/2010/main">
        <mc:Choice Requires="a14">
          <p:sp>
            <p:nvSpPr>
              <p:cNvPr id="10" name="content_36_10">
                <a:extLst>
                  <a:ext uri="{FF2B5EF4-FFF2-40B4-BE49-F238E27FC236}">
                    <a16:creationId xmlns:a16="http://schemas.microsoft.com/office/drawing/2014/main" id="{4D276FFB-688C-46FF-9B9C-E6A2CB9565FB}"/>
                  </a:ext>
                </a:extLst>
              </p:cNvPr>
              <p:cNvSpPr txBox="1">
                <a:spLocks noGrp="1"/>
              </p:cNvSpPr>
              <p:nvPr/>
            </p:nvSpPr>
            <p:spPr>
              <a:xfrm>
                <a:off x="619125" y="5833586"/>
                <a:ext cx="10953750" cy="726374"/>
              </a:xfrm>
              <a:prstGeom prst="rect">
                <a:avLst/>
              </a:prstGeom>
              <a:noFill/>
              <a:ln w="0">
                <a:noFill/>
              </a:ln>
            </p:spPr>
            <p:txBody>
              <a:bodyPr vertOverflow="overflow" wrap="none" lIns="0" tIns="0" rIns="0" bIns="0" anchor="ctr">
                <a:noAutofit/>
              </a:bodyPr>
              <a:lstStyle/>
              <a:p>
                <a:pPr algn="ctr">
                  <a:defRPr lang="en-GB" sz="2550" b="0" dirty="0">
                    <a:solidFill>
                      <a:srgbClr val="00858A"/>
                    </a:solidFill>
                    <a:latin typeface="DejaVu Sans"/>
                    <a:ea typeface="DejaVu Sans"/>
                    <a:cs typeface="DejaVu Sans"/>
                  </a:defRPr>
                </a:pPr>
                <a14:m>
                  <m:oMathPara xmlns:m="http://schemas.openxmlformats.org/officeDocument/2006/math">
                    <m:oMath>
                      <m:sSup>
                        <m:sSupPr>
                          <m:ctrlPr>
                            <a:rPr lang="en-GB" sz="2550" b="0" dirty="0">
                              <a:solidFill>
                                <a:srgbClr val="00858A"/>
                              </a:solidFill>
                              <a:latin typeface="Cambria Math"/>
                              <a:ea typeface="Cambria Math"/>
                              <a:cs typeface="Cambria Math"/>
                            </a:rPr>
                          </m:ctrlPr>
                        </m:sSupPr>
                        <m:e>
                          <m:r>
                            <a:rPr lang="en-GB" sz="2550" b="0" dirty="0">
                              <a:solidFill>
                                <a:srgbClr val="00858A"/>
                              </a:solidFill>
                              <a:latin typeface="Cambria Math"/>
                              <a:ea typeface="Cambria Math"/>
                              <a:cs typeface="Cambria Math"/>
                            </a:rPr>
                            <m:t>𝛉</m:t>
                          </m:r>
                        </m:e>
                        <m:sup>
                          <m:d>
                            <m:dPr>
                              <m:ctrlPr>
                                <a:rPr lang="en-GB" sz="2550" b="0" dirty="0">
                                  <a:solidFill>
                                    <a:srgbClr val="00858A"/>
                                  </a:solidFill>
                                  <a:latin typeface="Cambria Math"/>
                                  <a:ea typeface="Cambria Math"/>
                                  <a:cs typeface="Cambria Math"/>
                                </a:rPr>
                              </m:ctrlPr>
                            </m:dPr>
                            <m:e>
                              <m:r>
                                <a:rPr lang="en-GB" sz="2550" b="0" dirty="0">
                                  <a:solidFill>
                                    <a:srgbClr val="00858A"/>
                                  </a:solidFill>
                                  <a:latin typeface="Cambria Math"/>
                                  <a:ea typeface="Cambria Math"/>
                                  <a:cs typeface="Cambria Math"/>
                                </a:rPr>
                                <m:t>𝑡</m:t>
                              </m:r>
                              <m:r>
                                <a:rPr lang="en-GB" sz="2550" b="0" dirty="0">
                                  <a:solidFill>
                                    <a:srgbClr val="00858A"/>
                                  </a:solidFill>
                                  <a:latin typeface="Cambria Math"/>
                                  <a:ea typeface="Cambria Math"/>
                                  <a:cs typeface="Cambria Math"/>
                                </a:rPr>
                                <m:t>+1</m:t>
                              </m:r>
                            </m:e>
                          </m:d>
                        </m:sup>
                      </m:sSup>
                      <m:r>
                        <a:rPr lang="en-GB" sz="2550" b="0" dirty="0">
                          <a:solidFill>
                            <a:srgbClr val="00858A"/>
                          </a:solidFill>
                          <a:latin typeface="Cambria Math"/>
                          <a:ea typeface="Cambria Math"/>
                          <a:cs typeface="Cambria Math"/>
                        </a:rPr>
                        <m:t>=</m:t>
                      </m:r>
                      <m:sSup>
                        <m:sSupPr>
                          <m:ctrlPr>
                            <a:rPr lang="en-GB" sz="2550" b="0" dirty="0">
                              <a:solidFill>
                                <a:srgbClr val="00858A"/>
                              </a:solidFill>
                              <a:latin typeface="Cambria Math"/>
                              <a:ea typeface="Cambria Math"/>
                              <a:cs typeface="Cambria Math"/>
                            </a:rPr>
                          </m:ctrlPr>
                        </m:sSupPr>
                        <m:e>
                          <m:r>
                            <a:rPr lang="en-GB" sz="2550" b="0" dirty="0">
                              <a:solidFill>
                                <a:srgbClr val="00858A"/>
                              </a:solidFill>
                              <a:latin typeface="Cambria Math"/>
                              <a:ea typeface="Cambria Math"/>
                              <a:cs typeface="Cambria Math"/>
                            </a:rPr>
                            <m:t>𝛉</m:t>
                          </m:r>
                        </m:e>
                        <m:sup>
                          <m:d>
                            <m:dPr>
                              <m:ctrlPr>
                                <a:rPr lang="en-GB" sz="2550" b="0" dirty="0">
                                  <a:solidFill>
                                    <a:srgbClr val="00858A"/>
                                  </a:solidFill>
                                  <a:latin typeface="Cambria Math"/>
                                  <a:ea typeface="Cambria Math"/>
                                  <a:cs typeface="Cambria Math"/>
                                </a:rPr>
                              </m:ctrlPr>
                            </m:dPr>
                            <m:e>
                              <m:r>
                                <a:rPr lang="en-GB" sz="2550" b="0" dirty="0">
                                  <a:solidFill>
                                    <a:srgbClr val="00858A"/>
                                  </a:solidFill>
                                  <a:latin typeface="Cambria Math"/>
                                  <a:ea typeface="Cambria Math"/>
                                  <a:cs typeface="Cambria Math"/>
                                </a:rPr>
                                <m:t>𝑡</m:t>
                              </m:r>
                            </m:e>
                          </m:d>
                        </m:sup>
                      </m:sSup>
                      <m:r>
                        <a:rPr lang="en-GB" sz="2550" b="0" dirty="0">
                          <a:solidFill>
                            <a:srgbClr val="00858A"/>
                          </a:solidFill>
                          <a:latin typeface="Cambria Math"/>
                          <a:ea typeface="Cambria Math"/>
                          <a:cs typeface="Cambria Math"/>
                        </a:rPr>
                        <m:t>−</m:t>
                      </m:r>
                      <m:r>
                        <a:rPr lang="en-GB" sz="2550" b="0" dirty="0">
                          <a:solidFill>
                            <a:srgbClr val="00858A"/>
                          </a:solidFill>
                          <a:latin typeface="Cambria Math"/>
                          <a:ea typeface="Cambria Math"/>
                          <a:cs typeface="Cambria Math"/>
                        </a:rPr>
                        <m:t>𝜂</m:t>
                      </m:r>
                      <m:r>
                        <m:rPr>
                          <m:sty m:val="p"/>
                        </m:rPr>
                        <a:rPr lang="en-GB" sz="2550" dirty="0">
                          <a:solidFill>
                            <a:srgbClr val="00858A"/>
                          </a:solidFill>
                          <a:latin typeface="Cambria Math"/>
                          <a:ea typeface="Cambria Math"/>
                          <a:cs typeface="Cambria Math"/>
                        </a:rPr>
                        <m:t>∇</m:t>
                      </m:r>
                      <m:sSub>
                        <m:sSubPr>
                          <m:ctrlPr>
                            <a:rPr lang="en-GB" sz="2550" b="0" dirty="0">
                              <a:solidFill>
                                <a:srgbClr val="00858A"/>
                              </a:solidFill>
                              <a:latin typeface="Cambria Math"/>
                              <a:ea typeface="Cambria Math"/>
                              <a:cs typeface="Cambria Math"/>
                            </a:rPr>
                          </m:ctrlPr>
                        </m:sSubPr>
                        <m:e>
                          <m:r>
                            <a:rPr lang="en-GB" sz="2550" b="0" dirty="0">
                              <a:solidFill>
                                <a:srgbClr val="00858A"/>
                              </a:solidFill>
                              <a:latin typeface="Cambria Math"/>
                              <a:ea typeface="Cambria Math"/>
                              <a:cs typeface="Cambria Math"/>
                            </a:rPr>
                            <m:t>ℒ</m:t>
                          </m:r>
                        </m:e>
                        <m:sub>
                          <m:r>
                            <m:rPr>
                              <m:sty m:val="p"/>
                            </m:rPr>
                            <a:rPr lang="en-GB" sz="2550" b="0" dirty="0">
                              <a:solidFill>
                                <a:srgbClr val="00858A"/>
                              </a:solidFill>
                              <a:latin typeface="Cambria Math"/>
                              <a:ea typeface="Cambria Math"/>
                              <a:cs typeface="Cambria Math"/>
                            </a:rPr>
                            <m:t>sq</m:t>
                          </m:r>
                        </m:sub>
                      </m:sSub>
                      <m:d>
                        <m:dPr>
                          <m:ctrlPr>
                            <a:rPr lang="en-GB" sz="2550" b="0" i="1" dirty="0">
                              <a:solidFill>
                                <a:srgbClr val="00858A"/>
                              </a:solidFill>
                              <a:latin typeface="Cambria Math" panose="02040503050406030204" pitchFamily="18" charset="0"/>
                              <a:ea typeface="Cambria Math"/>
                              <a:cs typeface="Cambria Math"/>
                            </a:rPr>
                          </m:ctrlPr>
                        </m:dPr>
                        <m:e>
                          <m:sSup>
                            <m:sSupPr>
                              <m:ctrlPr>
                                <a:rPr lang="en-GB" sz="2550" b="0" dirty="0">
                                  <a:solidFill>
                                    <a:srgbClr val="00858A"/>
                                  </a:solidFill>
                                  <a:latin typeface="Cambria Math"/>
                                  <a:ea typeface="Cambria Math"/>
                                  <a:cs typeface="Cambria Math"/>
                                </a:rPr>
                              </m:ctrlPr>
                            </m:sSupPr>
                            <m:e>
                              <m:r>
                                <a:rPr lang="en-GB" sz="2550" b="0" dirty="0">
                                  <a:solidFill>
                                    <a:srgbClr val="00858A"/>
                                  </a:solidFill>
                                  <a:latin typeface="Cambria Math"/>
                                  <a:ea typeface="Cambria Math"/>
                                  <a:cs typeface="Cambria Math"/>
                                </a:rPr>
                                <m:t>𝛉</m:t>
                              </m:r>
                            </m:e>
                            <m:sup>
                              <m:d>
                                <m:dPr>
                                  <m:ctrlPr>
                                    <a:rPr lang="en-GB" sz="2550" b="0" dirty="0">
                                      <a:solidFill>
                                        <a:srgbClr val="00858A"/>
                                      </a:solidFill>
                                      <a:latin typeface="Cambria Math"/>
                                      <a:ea typeface="Cambria Math"/>
                                      <a:cs typeface="Cambria Math"/>
                                    </a:rPr>
                                  </m:ctrlPr>
                                </m:dPr>
                                <m:e>
                                  <m:r>
                                    <a:rPr lang="en-GB" sz="2550" b="0" dirty="0">
                                      <a:solidFill>
                                        <a:srgbClr val="00858A"/>
                                      </a:solidFill>
                                      <a:latin typeface="Cambria Math"/>
                                      <a:ea typeface="Cambria Math"/>
                                      <a:cs typeface="Cambria Math"/>
                                    </a:rPr>
                                    <m:t>𝑡</m:t>
                                  </m:r>
                                </m:e>
                              </m:d>
                            </m:sup>
                          </m:sSup>
                        </m:e>
                      </m:d>
                      <m:r>
                        <a:rPr lang="en-GB" sz="2550" dirty="0">
                          <a:solidFill>
                            <a:srgbClr val="00858A"/>
                          </a:solidFill>
                          <a:latin typeface="Cambria Math"/>
                          <a:ea typeface="Cambria Math"/>
                          <a:cs typeface="Cambria Math"/>
                        </a:rPr>
                        <m:t>=</m:t>
                      </m:r>
                      <m:sSup>
                        <m:sSupPr>
                          <m:ctrlPr>
                            <a:rPr lang="en-GB" sz="2550" dirty="0">
                              <a:solidFill>
                                <a:srgbClr val="00858A"/>
                              </a:solidFill>
                              <a:latin typeface="Cambria Math"/>
                              <a:ea typeface="Cambria Math"/>
                              <a:cs typeface="Cambria Math"/>
                            </a:rPr>
                          </m:ctrlPr>
                        </m:sSupPr>
                        <m:e>
                          <m:r>
                            <a:rPr lang="en-GB" sz="2550" dirty="0">
                              <a:solidFill>
                                <a:srgbClr val="00858A"/>
                              </a:solidFill>
                              <a:latin typeface="Cambria Math"/>
                              <a:ea typeface="Cambria Math"/>
                              <a:cs typeface="Cambria Math"/>
                            </a:rPr>
                            <m:t>𝛉</m:t>
                          </m:r>
                        </m:e>
                        <m:sup>
                          <m:d>
                            <m:dPr>
                              <m:ctrlPr>
                                <a:rPr lang="en-GB" sz="2550" dirty="0">
                                  <a:solidFill>
                                    <a:srgbClr val="00858A"/>
                                  </a:solidFill>
                                  <a:latin typeface="Cambria Math"/>
                                  <a:ea typeface="Cambria Math"/>
                                  <a:cs typeface="Cambria Math"/>
                                </a:rPr>
                              </m:ctrlPr>
                            </m:dPr>
                            <m:e>
                              <m:r>
                                <a:rPr lang="en-GB" sz="2550" dirty="0">
                                  <a:solidFill>
                                    <a:srgbClr val="00858A"/>
                                  </a:solidFill>
                                  <a:latin typeface="Cambria Math"/>
                                  <a:ea typeface="Cambria Math"/>
                                  <a:cs typeface="Cambria Math"/>
                                </a:rPr>
                                <m:t>𝑡</m:t>
                              </m:r>
                            </m:e>
                          </m:d>
                        </m:sup>
                      </m:sSup>
                      <m:r>
                        <a:rPr lang="en-GB" sz="2550" dirty="0">
                          <a:solidFill>
                            <a:srgbClr val="00858A"/>
                          </a:solidFill>
                          <a:latin typeface="Cambria Math"/>
                          <a:ea typeface="Cambria Math"/>
                          <a:cs typeface="Cambria Math"/>
                        </a:rPr>
                        <m:t>−2</m:t>
                      </m:r>
                      <m:r>
                        <a:rPr lang="en-GB" sz="2550" dirty="0">
                          <a:solidFill>
                            <a:srgbClr val="00858A"/>
                          </a:solidFill>
                          <a:latin typeface="Cambria Math"/>
                          <a:ea typeface="Cambria Math"/>
                          <a:cs typeface="Cambria Math"/>
                        </a:rPr>
                        <m:t>𝜂</m:t>
                      </m:r>
                      <m:sSup>
                        <m:sSupPr>
                          <m:ctrlPr>
                            <a:rPr lang="en-GB" sz="2550" dirty="0">
                              <a:solidFill>
                                <a:srgbClr val="00858A"/>
                              </a:solidFill>
                              <a:latin typeface="Cambria Math"/>
                              <a:ea typeface="Cambria Math"/>
                              <a:cs typeface="Cambria Math"/>
                            </a:rPr>
                          </m:ctrlPr>
                        </m:sSupPr>
                        <m:e>
                          <m:r>
                            <a:rPr lang="en-GB" sz="2550" dirty="0">
                              <a:solidFill>
                                <a:srgbClr val="00858A"/>
                              </a:solidFill>
                              <a:latin typeface="Cambria Math"/>
                              <a:ea typeface="Cambria Math"/>
                              <a:cs typeface="Cambria Math"/>
                            </a:rPr>
                            <m:t>𝐗</m:t>
                          </m:r>
                        </m:e>
                        <m:sup>
                          <m:r>
                            <a:rPr lang="en-GB" sz="2550" dirty="0">
                              <a:solidFill>
                                <a:srgbClr val="00858A"/>
                              </a:solidFill>
                              <a:latin typeface="Cambria Math"/>
                              <a:ea typeface="Cambria Math"/>
                              <a:cs typeface="Cambria Math"/>
                            </a:rPr>
                            <m:t>⊤</m:t>
                          </m:r>
                        </m:sup>
                      </m:sSup>
                      <m:d>
                        <m:dPr>
                          <m:ctrlPr>
                            <a:rPr lang="en-GB" sz="2550" dirty="0">
                              <a:solidFill>
                                <a:srgbClr val="00858A"/>
                              </a:solidFill>
                              <a:latin typeface="Cambria Math"/>
                              <a:ea typeface="Cambria Math"/>
                              <a:cs typeface="Cambria Math"/>
                            </a:rPr>
                          </m:ctrlPr>
                        </m:dPr>
                        <m:e>
                          <m:r>
                            <a:rPr lang="en-GB" sz="2550" dirty="0">
                              <a:solidFill>
                                <a:srgbClr val="00858A"/>
                              </a:solidFill>
                              <a:latin typeface="Cambria Math"/>
                              <a:ea typeface="Cambria Math"/>
                              <a:cs typeface="Cambria Math"/>
                            </a:rPr>
                            <m:t>𝐗</m:t>
                          </m:r>
                          <m:sSup>
                            <m:sSupPr>
                              <m:ctrlPr>
                                <a:rPr lang="en-GB" sz="2550" dirty="0">
                                  <a:solidFill>
                                    <a:srgbClr val="00858A"/>
                                  </a:solidFill>
                                  <a:latin typeface="Cambria Math"/>
                                  <a:ea typeface="Cambria Math"/>
                                  <a:cs typeface="Cambria Math"/>
                                </a:rPr>
                              </m:ctrlPr>
                            </m:sSupPr>
                            <m:e>
                              <m:r>
                                <a:rPr lang="en-GB" sz="2550" dirty="0">
                                  <a:solidFill>
                                    <a:srgbClr val="00858A"/>
                                  </a:solidFill>
                                  <a:latin typeface="Cambria Math"/>
                                  <a:ea typeface="Cambria Math"/>
                                  <a:cs typeface="Cambria Math"/>
                                </a:rPr>
                                <m:t>𝛉</m:t>
                              </m:r>
                            </m:e>
                            <m:sup>
                              <m:d>
                                <m:dPr>
                                  <m:ctrlPr>
                                    <a:rPr lang="en-GB" sz="2550" dirty="0">
                                      <a:solidFill>
                                        <a:srgbClr val="00858A"/>
                                      </a:solidFill>
                                      <a:latin typeface="Cambria Math"/>
                                      <a:ea typeface="Cambria Math"/>
                                      <a:cs typeface="Cambria Math"/>
                                    </a:rPr>
                                  </m:ctrlPr>
                                </m:dPr>
                                <m:e>
                                  <m:r>
                                    <a:rPr lang="en-GB" sz="2550" dirty="0">
                                      <a:solidFill>
                                        <a:srgbClr val="00858A"/>
                                      </a:solidFill>
                                      <a:latin typeface="Cambria Math"/>
                                      <a:ea typeface="Cambria Math"/>
                                      <a:cs typeface="Cambria Math"/>
                                    </a:rPr>
                                    <m:t>𝑡</m:t>
                                  </m:r>
                                </m:e>
                              </m:d>
                            </m:sup>
                          </m:sSup>
                          <m:r>
                            <a:rPr lang="en-GB" sz="2550" dirty="0">
                              <a:solidFill>
                                <a:srgbClr val="00858A"/>
                              </a:solidFill>
                              <a:latin typeface="Cambria Math"/>
                              <a:ea typeface="Cambria Math"/>
                              <a:cs typeface="Cambria Math"/>
                            </a:rPr>
                            <m:t>−</m:t>
                          </m:r>
                          <m:r>
                            <a:rPr lang="en-GB" sz="2550" dirty="0">
                              <a:solidFill>
                                <a:srgbClr val="00858A"/>
                              </a:solidFill>
                              <a:latin typeface="Cambria Math"/>
                              <a:ea typeface="Cambria Math"/>
                              <a:cs typeface="Cambria Math"/>
                            </a:rPr>
                            <m:t>𝐲</m:t>
                          </m:r>
                        </m:e>
                      </m:d>
                    </m:oMath>
                  </m:oMathPara>
                </a14:m>
                <a:endParaRPr lang="en-GB" sz="2550" dirty="0">
                  <a:solidFill>
                    <a:srgbClr val="00858A"/>
                  </a:solidFill>
                  <a:latin typeface="DejaVu Sans"/>
                  <a:ea typeface="DejaVu Sans"/>
                  <a:cs typeface="DejaVu Sans"/>
                </a:endParaRPr>
              </a:p>
              <a:p>
                <a:pPr marL="0" marR="0" indent="0" algn="ctr">
                  <a:defRPr lang="en-GB" sz="2550" b="0" dirty="0">
                    <a:solidFill>
                      <a:srgbClr val="00858A"/>
                    </a:solidFill>
                    <a:latin typeface="DejaVu Sans"/>
                    <a:ea typeface="DejaVu Sans"/>
                    <a:cs typeface="DejaVu Sans"/>
                  </a:defRPr>
                </a:pPr>
                <a:endParaRPr lang="en-GB" sz="2550" b="0" dirty="0">
                  <a:solidFill>
                    <a:srgbClr val="00858A"/>
                  </a:solidFill>
                  <a:latin typeface="DejaVu Sans"/>
                  <a:ea typeface="DejaVu Sans"/>
                  <a:cs typeface="DejaVu Sans"/>
                </a:endParaRPr>
              </a:p>
            </p:txBody>
          </p:sp>
        </mc:Choice>
        <mc:Fallback xmlns="">
          <p:sp>
            <p:nvSpPr>
              <p:cNvPr id="10" name="content_36_10">
                <a:extLst>
                  <a:ext uri="{FF2B5EF4-FFF2-40B4-BE49-F238E27FC236}">
                    <a16:creationId xmlns:a16="http://schemas.microsoft.com/office/drawing/2014/main" id="{4D276FFB-688C-46FF-9B9C-E6A2CB9565FB}"/>
                  </a:ext>
                </a:extLst>
              </p:cNvPr>
              <p:cNvSpPr txBox="1">
                <a:spLocks noGrp="1" noRot="1" noChangeAspect="1" noMove="1" noResize="1" noEditPoints="1" noAdjustHandles="1" noChangeArrowheads="1" noChangeShapeType="1" noTextEdit="1"/>
              </p:cNvSpPr>
              <p:nvPr/>
            </p:nvSpPr>
            <p:spPr>
              <a:xfrm>
                <a:off x="619125" y="5833586"/>
                <a:ext cx="10953750" cy="726374"/>
              </a:xfrm>
              <a:prstGeom prst="rect">
                <a:avLst/>
              </a:prstGeom>
              <a:blipFill>
                <a:blip r:embed="rId6"/>
                <a:stretch>
                  <a:fillRect t="-1681"/>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2" name="explicit_gradient"/>
              <p:cNvSpPr txBox="1">
                <a:spLocks noGrp="1"/>
              </p:cNvSpPr>
              <p:nvPr/>
            </p:nvSpPr>
            <p:spPr>
              <a:xfrm>
                <a:off x="619125" y="3236357"/>
                <a:ext cx="10953750" cy="552450"/>
              </a:xfrm>
              <a:prstGeom prst="rect">
                <a:avLst/>
              </a:prstGeom>
              <a:noFill/>
              <a:ln w="0">
                <a:noFill/>
              </a:ln>
            </p:spPr>
            <p:txBody>
              <a:bodyPr vertOverflow="overflow" wrap="none" lIns="0" tIns="0" rIns="0" bIns="0" anchor="ctr">
                <a:noAutofit/>
              </a:bodyPr>
              <a:lstStyle/>
              <a:p>
                <a:pPr algn="ctr">
                  <a:defRPr lang="en-GB" sz="2550" b="0" dirty="0">
                    <a:solidFill>
                      <a:srgbClr val="326CB2"/>
                    </a:solidFill>
                    <a:latin typeface="DejaVu Sans"/>
                    <a:ea typeface="DejaVu Sans"/>
                    <a:cs typeface="DejaVu Sans"/>
                  </a:defRPr>
                </a:pPr>
                <a14:m>
                  <m:oMathPara xmlns:m="http://schemas.openxmlformats.org/officeDocument/2006/math">
                    <m:oMath>
                      <m:r>
                        <m:rPr>
                          <m:sty m:val="p"/>
                        </m:rPr>
                        <a:rPr lang="en-GB" sz="2550" dirty="0" smtClean="0">
                          <a:solidFill>
                            <a:srgbClr val="087F83"/>
                          </a:solidFill>
                          <a:latin typeface="Cambria Math"/>
                          <a:ea typeface="Cambria Math"/>
                          <a:cs typeface="Cambria Math"/>
                        </a:rPr>
                        <m:t>∇</m:t>
                      </m:r>
                      <m:sSub>
                        <m:sSubPr>
                          <m:ctrlPr>
                            <a:rPr lang="en-GB" sz="2550" b="0" dirty="0">
                              <a:solidFill>
                                <a:srgbClr val="087F83"/>
                              </a:solidFill>
                              <a:latin typeface="Cambria Math"/>
                              <a:ea typeface="Cambria Math"/>
                              <a:cs typeface="Cambria Math"/>
                            </a:rPr>
                          </m:ctrlPr>
                        </m:sSubPr>
                        <m:e>
                          <m:r>
                            <a:rPr lang="en-GB" sz="2550" b="0" dirty="0">
                              <a:solidFill>
                                <a:srgbClr val="087F83"/>
                              </a:solidFill>
                              <a:latin typeface="Cambria Math"/>
                              <a:ea typeface="Cambria Math"/>
                              <a:cs typeface="Cambria Math"/>
                            </a:rPr>
                            <m:t>ℒ</m:t>
                          </m:r>
                        </m:e>
                        <m:sub>
                          <m:r>
                            <m:rPr>
                              <m:sty m:val="p"/>
                            </m:rPr>
                            <a:rPr lang="en-GB" sz="2550" b="0" dirty="0">
                              <a:solidFill>
                                <a:srgbClr val="087F83"/>
                              </a:solidFill>
                              <a:latin typeface="Cambria Math"/>
                              <a:ea typeface="Cambria Math"/>
                              <a:cs typeface="Cambria Math"/>
                            </a:rPr>
                            <m:t>sq</m:t>
                          </m:r>
                        </m:sub>
                      </m:sSub>
                      <m:d>
                        <m:dPr>
                          <m:ctrlPr>
                            <a:rPr lang="en-GB" sz="2550" b="0" dirty="0">
                              <a:solidFill>
                                <a:srgbClr val="087F83"/>
                              </a:solidFill>
                              <a:latin typeface="Cambria Math"/>
                              <a:ea typeface="Cambria Math"/>
                              <a:cs typeface="Cambria Math"/>
                            </a:rPr>
                          </m:ctrlPr>
                        </m:dPr>
                        <m:e>
                          <m:r>
                            <a:rPr lang="en-GB" sz="2550" b="0" dirty="0">
                              <a:solidFill>
                                <a:srgbClr val="087F83"/>
                              </a:solidFill>
                              <a:latin typeface="Cambria Math"/>
                              <a:ea typeface="Cambria Math"/>
                              <a:cs typeface="Cambria Math"/>
                            </a:rPr>
                            <m:t>𝛉</m:t>
                          </m:r>
                        </m:e>
                      </m:d>
                      <m:r>
                        <a:rPr lang="en-GB" sz="2550" b="0" dirty="0">
                          <a:solidFill>
                            <a:srgbClr val="087F83"/>
                          </a:solidFill>
                          <a:latin typeface="Cambria Math"/>
                          <a:ea typeface="Cambria Math"/>
                          <a:cs typeface="Cambria Math"/>
                        </a:rPr>
                        <m:t>=2</m:t>
                      </m:r>
                      <m:sSup>
                        <m:sSupPr>
                          <m:ctrlPr>
                            <a:rPr lang="en-GB" sz="2550" b="0" dirty="0">
                              <a:solidFill>
                                <a:srgbClr val="087F83"/>
                              </a:solidFill>
                              <a:latin typeface="Cambria Math"/>
                              <a:ea typeface="Cambria Math"/>
                              <a:cs typeface="Cambria Math"/>
                            </a:rPr>
                          </m:ctrlPr>
                        </m:sSupPr>
                        <m:e>
                          <m:r>
                            <a:rPr lang="en-GB" sz="2550" b="0" dirty="0">
                              <a:solidFill>
                                <a:srgbClr val="087F83"/>
                              </a:solidFill>
                              <a:latin typeface="Cambria Math"/>
                              <a:ea typeface="Cambria Math"/>
                              <a:cs typeface="Cambria Math"/>
                            </a:rPr>
                            <m:t>𝐗</m:t>
                          </m:r>
                        </m:e>
                        <m:sup>
                          <m:r>
                            <a:rPr lang="en-GB" sz="2550" b="0" dirty="0">
                              <a:solidFill>
                                <a:srgbClr val="087F83"/>
                              </a:solidFill>
                              <a:latin typeface="Cambria Math"/>
                              <a:ea typeface="Cambria Math"/>
                              <a:cs typeface="Cambria Math"/>
                            </a:rPr>
                            <m:t>⊤</m:t>
                          </m:r>
                        </m:sup>
                      </m:sSup>
                      <m:d>
                        <m:dPr>
                          <m:ctrlPr>
                            <a:rPr lang="en-GB" sz="2550" b="0" dirty="0">
                              <a:solidFill>
                                <a:srgbClr val="087F83"/>
                              </a:solidFill>
                              <a:latin typeface="Cambria Math"/>
                              <a:ea typeface="Cambria Math"/>
                              <a:cs typeface="Cambria Math"/>
                            </a:rPr>
                          </m:ctrlPr>
                        </m:dPr>
                        <m:e>
                          <m:r>
                            <a:rPr lang="en-GB" sz="2550" b="0" dirty="0">
                              <a:solidFill>
                                <a:srgbClr val="087F83"/>
                              </a:solidFill>
                              <a:latin typeface="Cambria Math"/>
                              <a:ea typeface="Cambria Math"/>
                              <a:cs typeface="Cambria Math"/>
                            </a:rPr>
                            <m:t>𝐗</m:t>
                          </m:r>
                          <m:r>
                            <a:rPr lang="en-GB" sz="2550" b="0" dirty="0">
                              <a:solidFill>
                                <a:srgbClr val="087F83"/>
                              </a:solidFill>
                              <a:latin typeface="Cambria Math"/>
                              <a:ea typeface="Cambria Math"/>
                              <a:cs typeface="Cambria Math"/>
                            </a:rPr>
                            <m:t>𝛉</m:t>
                          </m:r>
                          <m:r>
                            <a:rPr lang="en-GB" sz="2550" b="0" dirty="0">
                              <a:solidFill>
                                <a:srgbClr val="087F83"/>
                              </a:solidFill>
                              <a:latin typeface="Cambria Math"/>
                              <a:ea typeface="Cambria Math"/>
                              <a:cs typeface="Cambria Math"/>
                            </a:rPr>
                            <m:t>−</m:t>
                          </m:r>
                          <m:r>
                            <a:rPr lang="en-GB" sz="2550" b="0" dirty="0">
                              <a:solidFill>
                                <a:srgbClr val="087F83"/>
                              </a:solidFill>
                              <a:latin typeface="Cambria Math"/>
                              <a:ea typeface="Cambria Math"/>
                              <a:cs typeface="Cambria Math"/>
                            </a:rPr>
                            <m:t>𝐲</m:t>
                          </m:r>
                        </m:e>
                      </m:d>
                    </m:oMath>
                  </m:oMathPara>
                </a14:m>
                <a:endParaRPr lang="en-GB" sz="2550" b="0" dirty="0">
                  <a:solidFill>
                    <a:srgbClr val="087F83"/>
                  </a:solidFill>
                  <a:latin typeface="DejaVu Sans"/>
                  <a:ea typeface="DejaVu Sans"/>
                  <a:cs typeface="DejaVu Sans"/>
                </a:endParaRPr>
              </a:p>
            </p:txBody>
          </p:sp>
        </mc:Choice>
        <mc:Fallback>
          <p:sp>
            <p:nvSpPr>
              <p:cNvPr id="12" name="explicit_gradient"/>
              <p:cNvSpPr txBox="1">
                <a:spLocks noGrp="1" noRot="1" noChangeAspect="1" noMove="1" noResize="1" noEditPoints="1" noAdjustHandles="1" noChangeArrowheads="1" noChangeShapeType="1" noTextEdit="1"/>
              </p:cNvSpPr>
              <p:nvPr/>
            </p:nvSpPr>
            <p:spPr>
              <a:xfrm>
                <a:off x="619125" y="3236357"/>
                <a:ext cx="10953750" cy="552450"/>
              </a:xfrm>
              <a:prstGeom prst="rect">
                <a:avLst/>
              </a:prstGeom>
              <a:blipFill>
                <a:blip r:embed="rId7"/>
                <a:stretch>
                  <a:fillRect/>
                </a:stretch>
              </a:blipFill>
              <a:ln w="0">
                <a:noFill/>
              </a:ln>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41E682AE-61F6-B6EA-4025-1301DD54040E}"/>
              </a:ext>
            </a:extLst>
          </p:cNvPr>
          <p:cNvSpPr txBox="1"/>
          <p:nvPr/>
        </p:nvSpPr>
        <p:spPr>
          <a:xfrm>
            <a:off x="2766822" y="1175551"/>
            <a:ext cx="6391656" cy="415498"/>
          </a:xfrm>
          <a:prstGeom prst="rect">
            <a:avLst/>
          </a:prstGeom>
          <a:noFill/>
        </p:spPr>
        <p:txBody>
          <a:bodyPr wrap="square">
            <a:spAutoFit/>
          </a:bodyPr>
          <a:lstStyle/>
          <a:p>
            <a:pPr algn="ctr">
              <a:defRPr lang="en-GB" sz="2100" b="0" i="0" dirty="0">
                <a:solidFill>
                  <a:srgbClr val="182D45"/>
                </a:solidFill>
                <a:latin typeface="DejaVu Sans"/>
                <a:ea typeface="DejaVu Sans"/>
                <a:cs typeface="DejaVu Sans"/>
              </a:defRPr>
            </a:pPr>
            <a:r>
              <a:rPr lang="en-GB" sz="2100" dirty="0">
                <a:solidFill>
                  <a:srgbClr val="182D45"/>
                </a:solidFill>
                <a:latin typeface="DejaVu Sans"/>
                <a:ea typeface="DejaVu Sans"/>
                <a:cs typeface="DejaVu Sans"/>
              </a:rPr>
              <a:t>Then the quadratic loss can be expressed as</a:t>
            </a:r>
          </a:p>
        </p:txBody>
      </p:sp>
      <p:sp>
        <p:nvSpPr>
          <p:cNvPr id="7" name="CasellaDiTesto 6">
            <a:extLst>
              <a:ext uri="{FF2B5EF4-FFF2-40B4-BE49-F238E27FC236}">
                <a16:creationId xmlns:a16="http://schemas.microsoft.com/office/drawing/2014/main" id="{9CE64784-0950-A974-512C-0866A7703707}"/>
              </a:ext>
            </a:extLst>
          </p:cNvPr>
          <p:cNvSpPr txBox="1"/>
          <p:nvPr/>
        </p:nvSpPr>
        <p:spPr>
          <a:xfrm>
            <a:off x="2915412" y="2882150"/>
            <a:ext cx="6094476" cy="415498"/>
          </a:xfrm>
          <a:prstGeom prst="rect">
            <a:avLst/>
          </a:prstGeom>
          <a:noFill/>
        </p:spPr>
        <p:txBody>
          <a:bodyPr wrap="square">
            <a:spAutoFit/>
          </a:bodyPr>
          <a:lstStyle/>
          <a:p>
            <a:pPr marL="0" marR="0" indent="0" algn="ctr">
              <a:defRPr lang="en-GB" sz="2100" b="1" dirty="0">
                <a:solidFill>
                  <a:srgbClr val="00858A"/>
                </a:solidFill>
                <a:latin typeface="DejaVu Sans"/>
                <a:ea typeface="DejaVu Sans"/>
                <a:cs typeface="DejaVu Sans"/>
              </a:defRPr>
            </a:pPr>
            <a:r>
              <a:rPr lang="en-GB" sz="2100" b="1" dirty="0">
                <a:solidFill>
                  <a:srgbClr val="00858A"/>
                </a:solidFill>
                <a:latin typeface="DejaVu Sans"/>
                <a:ea typeface="DejaVu Sans"/>
                <a:cs typeface="DejaVu Sans"/>
              </a:rPr>
              <a:t>Gradient and gradient descent</a:t>
            </a:r>
          </a:p>
        </p:txBody>
      </p:sp>
    </p:spTree>
    <p:extLst>
      <p:ext uri="{BB962C8B-B14F-4D97-AF65-F5344CB8AC3E}">
        <p14:creationId xmlns:p14="http://schemas.microsoft.com/office/powerpoint/2010/main" val="1988538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9BD456-AED1-4477-83FA-308879F55C26}"/>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Lecture notes and exercises</a:t>
            </a:r>
          </a:p>
        </p:txBody>
      </p:sp>
      <p:sp>
        <p:nvSpPr>
          <p:cNvPr id="2" name="page_number">
            <a:extLst>
              <a:ext uri="{FF2B5EF4-FFF2-40B4-BE49-F238E27FC236}">
                <a16:creationId xmlns:a16="http://schemas.microsoft.com/office/drawing/2014/main" id="{217723F9-9B06-4045-B24E-886BF38782C8}"/>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48</a:t>
            </a:r>
          </a:p>
        </p:txBody>
      </p:sp>
      <p:sp>
        <p:nvSpPr>
          <p:cNvPr id="5" name="Lecture notes"/>
          <p:cNvSpPr txBox="1"/>
          <p:nvPr/>
        </p:nvSpPr>
        <p:spPr>
          <a:xfrm>
            <a:off x="609600" y="17145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dirty="0">
                <a:solidFill>
                  <a:srgbClr val="182D45"/>
                </a:solidFill>
                <a:latin typeface="DejaVu Sans"/>
                <a:ea typeface="DejaVu Sans"/>
                <a:cs typeface="DejaVu Sans"/>
              </a:rPr>
              <a:t>The notes for today's lecture are available</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on the course GitHub page.</a:t>
            </a:r>
            <a:endParaRPr lang="en-GB" sz="2100" dirty="0"/>
          </a:p>
        </p:txBody>
      </p:sp>
      <p:sp>
        <p:nvSpPr>
          <p:cNvPr id="6" name="More detail and exercises"/>
          <p:cNvSpPr txBox="1"/>
          <p:nvPr/>
        </p:nvSpPr>
        <p:spPr>
          <a:xfrm>
            <a:off x="609600" y="295275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dirty="0">
                <a:solidFill>
                  <a:srgbClr val="182D45"/>
                </a:solidFill>
                <a:latin typeface="DejaVu Sans"/>
                <a:ea typeface="DejaVu Sans"/>
                <a:cs typeface="DejaVu Sans"/>
              </a:rPr>
              <a:t>They explain the material in more detail</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and include exercises.</a:t>
            </a:r>
            <a:endParaRPr lang="en-GB" sz="2100" dirty="0"/>
          </a:p>
        </p:txBody>
      </p:sp>
      <p:sp>
        <p:nvSpPr>
          <p:cNvPr id="7" name="Weekly solutions"/>
          <p:cNvSpPr txBox="1"/>
          <p:nvPr/>
        </p:nvSpPr>
        <p:spPr>
          <a:xfrm>
            <a:off x="609600" y="41910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dirty="0">
                <a:solidFill>
                  <a:srgbClr val="182D45"/>
                </a:solidFill>
                <a:latin typeface="DejaVu Sans"/>
                <a:ea typeface="DejaVu Sans"/>
                <a:cs typeface="DejaVu Sans"/>
              </a:rPr>
              <a:t>I will post the exercise solutions</a:t>
            </a:r>
            <a:endParaRPr lang="en-GB" sz="2100" dirty="0"/>
          </a:p>
          <a:p>
            <a:pPr algn="l">
              <a:lnSpc>
                <a:spcPct val="115000"/>
              </a:lnSpc>
              <a:spcAft>
                <a:spcPts val="0"/>
              </a:spcAft>
            </a:pPr>
            <a:r>
              <a:rPr lang="en-GB" sz="2100" b="0" i="0" dirty="0">
                <a:solidFill>
                  <a:srgbClr val="182D45"/>
                </a:solidFill>
                <a:latin typeface="DejaVu Sans"/>
                <a:ea typeface="DejaVu Sans"/>
                <a:cs typeface="DejaVu Sans"/>
              </a:rPr>
              <a:t>before the next lecture.</a:t>
            </a:r>
            <a:endParaRPr lang="en-GB" sz="2100" dirty="0"/>
          </a:p>
        </p:txBody>
      </p:sp>
      <p:sp>
        <p:nvSpPr>
          <p:cNvPr id="8" name="Course GitHub link"/>
          <p:cNvSpPr txBox="1"/>
          <p:nvPr/>
        </p:nvSpPr>
        <p:spPr>
          <a:xfrm>
            <a:off x="609600" y="5638800"/>
            <a:ext cx="7239000" cy="495300"/>
          </a:xfrm>
          <a:prstGeom prst="rect">
            <a:avLst/>
          </a:prstGeom>
          <a:noFill/>
          <a:ln w="0">
            <a:noFill/>
          </a:ln>
        </p:spPr>
        <p:txBody>
          <a:bodyPr wrap="square" lIns="0" tIns="0" rIns="0" bIns="0" anchor="t">
            <a:noAutofit/>
          </a:bodyPr>
          <a:lstStyle/>
          <a:p>
            <a:pPr algn="l">
              <a:lnSpc>
                <a:spcPct val="115000"/>
              </a:lnSpc>
              <a:spcAft>
                <a:spcPts val="0"/>
              </a:spcAft>
            </a:pPr>
            <a:r>
              <a:rPr lang="en-GB" sz="2250" b="1" i="0" u="sng">
                <a:solidFill>
                  <a:srgbClr val="008C95"/>
                </a:solidFill>
                <a:latin typeface="DejaVu Sans"/>
                <a:ea typeface="DejaVu Sans"/>
                <a:cs typeface="DejaVu Sans"/>
                <a:hlinkClick r:id="rId3" tooltip="Open the course GitHub page"/>
              </a:rPr>
              <a:t>github.com/semtm0051/2026_27</a:t>
            </a:r>
            <a:endParaRPr lang="en-GB" sz="2250"/>
          </a:p>
        </p:txBody>
      </p:sp>
      <p:pic>
        <p:nvPicPr>
          <p:cNvPr id="9" name="Course GitHub QR code" descr="QR code linking to https://github.com/semtm0051/2026_27">
            <a:hlinkClick r:id="rId3" tooltip="Open the course GitHub page"/>
          </p:cNvPr>
          <p:cNvPicPr>
            <a:picLocks noChangeAspect="1"/>
          </p:cNvPicPr>
          <p:nvPr/>
        </p:nvPicPr>
        <p:blipFill>
          <a:blip r:embed="rId4"/>
          <a:stretch>
            <a:fillRect/>
          </a:stretch>
        </p:blipFill>
        <p:spPr>
          <a:xfrm>
            <a:off x="8210550" y="2143125"/>
            <a:ext cx="3371850" cy="3371850"/>
          </a:xfrm>
          <a:prstGeom prst="rect">
            <a:avLst/>
          </a:prstGeom>
        </p:spPr>
      </p:pic>
      <p:sp>
        <p:nvSpPr>
          <p:cNvPr id="10" name="QR caption"/>
          <p:cNvSpPr txBox="1"/>
          <p:nvPr/>
        </p:nvSpPr>
        <p:spPr>
          <a:xfrm>
            <a:off x="7953375" y="5676900"/>
            <a:ext cx="3886200" cy="400050"/>
          </a:xfrm>
          <a:prstGeom prst="rect">
            <a:avLst/>
          </a:prstGeom>
          <a:noFill/>
          <a:ln w="0">
            <a:noFill/>
          </a:ln>
        </p:spPr>
        <p:txBody>
          <a:bodyPr wrap="square" lIns="0" tIns="0" rIns="0" bIns="0" anchor="t">
            <a:noAutofit/>
          </a:bodyPr>
          <a:lstStyle/>
          <a:p>
            <a:pPr algn="ctr">
              <a:lnSpc>
                <a:spcPct val="115000"/>
              </a:lnSpc>
              <a:spcAft>
                <a:spcPts val="0"/>
              </a:spcAft>
            </a:pPr>
            <a:r>
              <a:rPr lang="en-GB" sz="1725" b="0" i="0">
                <a:solidFill>
                  <a:srgbClr val="526276"/>
                </a:solidFill>
                <a:latin typeface="DejaVu Sans"/>
                <a:ea typeface="DejaVu Sans"/>
                <a:cs typeface="DejaVu Sans"/>
              </a:rPr>
              <a:t>Scan for course materials</a:t>
            </a:r>
            <a:endParaRPr lang="en-GB" sz="1725"/>
          </a:p>
        </p:txBody>
      </p:sp>
    </p:spTree>
    <p:extLst>
      <p:ext uri="{BB962C8B-B14F-4D97-AF65-F5344CB8AC3E}">
        <p14:creationId xmlns:p14="http://schemas.microsoft.com/office/powerpoint/2010/main" val="3755548955"/>
      </p:ext>
    </p:extLst>
  </p:cSld>
  <p:clrMapOvr>
    <a:masterClrMapping/>
  </p:clrMapOvr>
</p:sld>
</file>

<file path=ppt/theme/theme1.xml><?xml version="1.0" encoding="utf-8"?>
<a:theme xmlns:a="http://schemas.openxmlformats.org/drawingml/2006/main" name="ChatGPT">
  <a:themeElements>
    <a:clrScheme name="Foundations of AI">
      <a:dk1>
        <a:srgbClr val="000000"/>
      </a:dk1>
      <a:lt1>
        <a:srgbClr val="FFFFFF"/>
      </a:lt1>
      <a:dk2>
        <a:srgbClr val="182D45"/>
      </a:dk2>
      <a:lt2>
        <a:srgbClr val="E8EDF2"/>
      </a:lt2>
      <a:accent1>
        <a:srgbClr val="087F83"/>
      </a:accent1>
      <a:accent2>
        <a:srgbClr val="326CB2"/>
      </a:accent2>
      <a:accent3>
        <a:srgbClr val="C45C28"/>
      </a:accent3>
      <a:accent4>
        <a:srgbClr val="86D2CE"/>
      </a:accent4>
      <a:accent5>
        <a:srgbClr val="A4B7C8"/>
      </a:accent5>
      <a:accent6>
        <a:srgbClr val="526276"/>
      </a:accent6>
      <a:hlink>
        <a:srgbClr val="326CB2"/>
      </a:hlink>
      <a:folHlink>
        <a:srgbClr val="087F83"/>
      </a:folHlink>
    </a:clrScheme>
    <a:fontScheme name="Office">
      <a:majorFont>
        <a:latin typeface="Calibri Light"/>
        <a:ea typeface="Calibri Light"/>
        <a:cs typeface="Calibri Light"/>
      </a:majorFont>
      <a:minorFont>
        <a:latin typeface="Calibri"/>
        <a:ea typeface="Calibri"/>
        <a:cs typeface="Calibri"/>
      </a:minorFont>
    </a:fontScheme>
    <a:fmtScheme name="Foundations of A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Foundations of AI">
      <a:dk1>
        <a:srgbClr val="000000"/>
      </a:dk1>
      <a:lt1>
        <a:srgbClr val="FFFFFF"/>
      </a:lt1>
      <a:dk2>
        <a:srgbClr val="182D45"/>
      </a:dk2>
      <a:lt2>
        <a:srgbClr val="E8EDF2"/>
      </a:lt2>
      <a:accent1>
        <a:srgbClr val="087F83"/>
      </a:accent1>
      <a:accent2>
        <a:srgbClr val="326CB2"/>
      </a:accent2>
      <a:accent3>
        <a:srgbClr val="C45C28"/>
      </a:accent3>
      <a:accent4>
        <a:srgbClr val="86D2CE"/>
      </a:accent4>
      <a:accent5>
        <a:srgbClr val="A4B7C8"/>
      </a:accent5>
      <a:accent6>
        <a:srgbClr val="526276"/>
      </a:accent6>
      <a:hlink>
        <a:srgbClr val="326CB2"/>
      </a:hlink>
      <a:folHlink>
        <a:srgbClr val="087F83"/>
      </a:folHlink>
    </a:clrScheme>
    <a:fontScheme name="Office">
      <a:majorFont>
        <a:latin typeface="Calibri Light"/>
        <a:ea typeface="Calibri Light"/>
        <a:cs typeface="Calibri Light"/>
      </a:majorFont>
      <a:minorFont>
        <a:latin typeface="Calibri"/>
        <a:ea typeface="Calibri"/>
        <a:cs typeface="Calibri"/>
      </a:minorFont>
    </a:fontScheme>
    <a:fmtScheme name="Foundations of A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TotalTime>
  <Words>5655</Words>
  <Application>Microsoft Office PowerPoint</Application>
  <DocSecurity>0</DocSecurity>
  <PresentationFormat>Widescreen</PresentationFormat>
  <Paragraphs>683</Paragraphs>
  <Slides>50</Slides>
  <Notes>50</Notes>
  <HiddenSlides>0</HiddenSlides>
  <MMClips>0</MMClips>
  <ScaleCrop>false</ScaleCrop>
  <HeadingPairs>
    <vt:vector size="6" baseType="variant">
      <vt:variant>
        <vt:lpstr>Caratteri utilizzati</vt:lpstr>
      </vt:variant>
      <vt:variant>
        <vt:i4>3</vt:i4>
      </vt:variant>
      <vt:variant>
        <vt:lpstr>Tema</vt:lpstr>
      </vt:variant>
      <vt:variant>
        <vt:i4>2</vt:i4>
      </vt:variant>
      <vt:variant>
        <vt:lpstr>Titoli diapositive</vt:lpstr>
      </vt:variant>
      <vt:variant>
        <vt:i4>50</vt:i4>
      </vt:variant>
    </vt:vector>
  </HeadingPairs>
  <TitlesOfParts>
    <vt:vector size="55" baseType="lpstr">
      <vt:lpstr>Calibri</vt:lpstr>
      <vt:lpstr>Cambria Math</vt:lpstr>
      <vt:lpstr>DejaVu Sans</vt:lpstr>
      <vt:lpstr>ChatGPT</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24</cp:revision>
  <dcterms:created xsi:type="dcterms:W3CDTF">2026-09-22T09:22:26Z</dcterms:created>
  <dcterms:modified xsi:type="dcterms:W3CDTF">2026-09-28T16:22:21Z</dcterms:modified>
</cp:coreProperties>
</file>