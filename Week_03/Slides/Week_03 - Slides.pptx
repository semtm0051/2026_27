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30.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31.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2.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3.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4.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5.xml" ContentType="application/vnd.openxmlformats-officedocument.presentationml.notesSlide+xml"/>
  <Override PartName="/ppt/charts/chart24.xml" ContentType="application/vnd.openxmlformats-officedocument.drawingml.chart+xml"/>
  <Override PartName="/ppt/notesSlides/notesSlide36.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7.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8.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9.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40.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41.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2.xml" ContentType="application/vnd.openxmlformats-officedocument.presentationml.notesSlide+xml"/>
  <Override PartName="/ppt/charts/chart37.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308" r:id="rId12"/>
    <p:sldId id="266" r:id="rId13"/>
    <p:sldId id="267" r:id="rId14"/>
    <p:sldId id="268" r:id="rId15"/>
    <p:sldId id="269" r:id="rId16"/>
    <p:sldId id="270" r:id="rId17"/>
    <p:sldId id="271" r:id="rId18"/>
    <p:sldId id="272" r:id="rId19"/>
    <p:sldId id="273" r:id="rId20"/>
    <p:sldId id="309" r:id="rId21"/>
    <p:sldId id="274" r:id="rId22"/>
    <p:sldId id="275" r:id="rId23"/>
    <p:sldId id="276" r:id="rId24"/>
    <p:sldId id="277" r:id="rId25"/>
    <p:sldId id="278" r:id="rId26"/>
    <p:sldId id="279" r:id="rId27"/>
    <p:sldId id="280" r:id="rId28"/>
    <p:sldId id="281" r:id="rId29"/>
    <p:sldId id="307" r:id="rId30"/>
    <p:sldId id="282" r:id="rId31"/>
    <p:sldId id="284" r:id="rId32"/>
    <p:sldId id="285" r:id="rId33"/>
    <p:sldId id="286" r:id="rId34"/>
    <p:sldId id="287" r:id="rId35"/>
    <p:sldId id="288" r:id="rId36"/>
    <p:sldId id="289" r:id="rId37"/>
    <p:sldId id="297" r:id="rId38"/>
    <p:sldId id="298" r:id="rId39"/>
    <p:sldId id="299" r:id="rId40"/>
    <p:sldId id="300" r:id="rId41"/>
    <p:sldId id="301" r:id="rId42"/>
    <p:sldId id="302" r:id="rId43"/>
    <p:sldId id="296" r:id="rId44"/>
    <p:sldId id="310" r:id="rId45"/>
    <p:sldId id="290" r:id="rId46"/>
    <p:sldId id="303" r:id="rId47"/>
    <p:sldId id="291" r:id="rId48"/>
    <p:sldId id="292" r:id="rId49"/>
    <p:sldId id="293" r:id="rId50"/>
    <p:sldId id="294" r:id="rId51"/>
    <p:sldId id="305" r:id="rId52"/>
    <p:sldId id="295" r:id="rId5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26CB2"/>
    <a:srgbClr val="FFFFFF"/>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examine why counting classification mistakes is difficult to use with gradient descent, and introduce logistic loss as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calculate the gradient of the empirical logistic loss and use it to update the model parameters.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extend the probability model and fitting loss to problems with more than two classes.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semtm0051/2026_27/tree/main/Week_03/Examples" TargetMode="External"/><Relationship Id="rId5" Type="http://schemas.openxmlformats.org/officeDocument/2006/relationships/image" Target="../media/image4.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6.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0.png"/><Relationship Id="rId4" Type="http://schemas.openxmlformats.org/officeDocument/2006/relationships/chart" Target="../charts/chart7.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9.png"/><Relationship Id="rId7" Type="http://schemas.openxmlformats.org/officeDocument/2006/relationships/chart" Target="../charts/chart11.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chart" Target="../charts/chart10.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0.png"/><Relationship Id="rId4" Type="http://schemas.openxmlformats.org/officeDocument/2006/relationships/image" Target="../media/image420.png"/></Relationships>
</file>

<file path=ppt/slides/_rels/slide2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9" Type="http://schemas.openxmlformats.org/officeDocument/2006/relationships/image" Target="../media/image51.png"/></Relationships>
</file>

<file path=ppt/slides/_rels/slide23.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480.png"/></Relationships>
</file>

<file path=ppt/slides/_rels/slide2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00.png"/><Relationship Id="rId3" Type="http://schemas.openxmlformats.org/officeDocument/2006/relationships/image" Target="../media/image550.png"/><Relationship Id="rId7" Type="http://schemas.openxmlformats.org/officeDocument/2006/relationships/image" Target="../media/image6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80.png"/><Relationship Id="rId5" Type="http://schemas.openxmlformats.org/officeDocument/2006/relationships/image" Target="../media/image570.png"/><Relationship Id="rId10" Type="http://schemas.openxmlformats.org/officeDocument/2006/relationships/image" Target="../media/image62.png"/><Relationship Id="rId4" Type="http://schemas.openxmlformats.org/officeDocument/2006/relationships/image" Target="../media/image560.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0.png"/><Relationship Id="rId7"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60.png"/><Relationship Id="rId7"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13.xml"/><Relationship Id="rId4" Type="http://schemas.openxmlformats.org/officeDocument/2006/relationships/chart" Target="../charts/chart12.xml"/></Relationships>
</file>

<file path=ppt/slides/_rels/slide3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80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90.png"/><Relationship Id="rId5" Type="http://schemas.openxmlformats.org/officeDocument/2006/relationships/chart" Target="../charts/chart15.xml"/><Relationship Id="rId4" Type="http://schemas.openxmlformats.org/officeDocument/2006/relationships/chart" Target="../charts/chart14.xml"/><Relationship Id="rId9" Type="http://schemas.openxmlformats.org/officeDocument/2006/relationships/image" Target="../media/image82.png"/></Relationships>
</file>

<file path=ppt/slides/_rels/slide3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830.png"/><Relationship Id="rId5" Type="http://schemas.openxmlformats.org/officeDocument/2006/relationships/chart" Target="../charts/chart17.xml"/><Relationship Id="rId4" Type="http://schemas.openxmlformats.org/officeDocument/2006/relationships/chart" Target="../charts/chart16.xml"/><Relationship Id="rId9" Type="http://schemas.openxmlformats.org/officeDocument/2006/relationships/image" Target="../media/image87.png"/></Relationships>
</file>

<file path=ppt/slides/_rels/slide33.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chart" Target="../charts/chart19.xml"/><Relationship Id="rId4" Type="http://schemas.openxmlformats.org/officeDocument/2006/relationships/chart" Target="../charts/chart18.xml"/><Relationship Id="rId9" Type="http://schemas.openxmlformats.org/officeDocument/2006/relationships/image" Target="../media/image92.png"/></Relationships>
</file>

<file path=ppt/slides/_rels/slide3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chart" Target="../charts/chart21.xml"/><Relationship Id="rId4" Type="http://schemas.openxmlformats.org/officeDocument/2006/relationships/chart" Target="../charts/chart20.xml"/><Relationship Id="rId9" Type="http://schemas.openxmlformats.org/officeDocument/2006/relationships/image" Target="../media/image96.png"/></Relationships>
</file>

<file path=ppt/slides/_rels/slide35.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7.png"/><Relationship Id="rId7" Type="http://schemas.openxmlformats.org/officeDocument/2006/relationships/image" Target="../media/image98.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970.png"/><Relationship Id="rId5" Type="http://schemas.openxmlformats.org/officeDocument/2006/relationships/chart" Target="../charts/chart23.xml"/><Relationship Id="rId4" Type="http://schemas.openxmlformats.org/officeDocument/2006/relationships/chart" Target="../charts/chart22.xml"/><Relationship Id="rId9" Type="http://schemas.openxmlformats.org/officeDocument/2006/relationships/image" Target="../media/image100.png"/></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101.png"/><Relationship Id="rId7" Type="http://schemas.openxmlformats.org/officeDocument/2006/relationships/image" Target="../media/image7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26.xml"/><Relationship Id="rId4" Type="http://schemas.openxmlformats.org/officeDocument/2006/relationships/chart" Target="../charts/chart25.xml"/></Relationships>
</file>

<file path=ppt/slides/_rels/slide38.xml.rels><?xml version="1.0" encoding="UTF-8" standalone="yes"?>
<Relationships xmlns="http://schemas.openxmlformats.org/package/2006/relationships"><Relationship Id="rId8" Type="http://schemas.openxmlformats.org/officeDocument/2006/relationships/image" Target="../media/image1030.png"/><Relationship Id="rId3" Type="http://schemas.openxmlformats.org/officeDocument/2006/relationships/image" Target="../media/image103.png"/><Relationship Id="rId7" Type="http://schemas.openxmlformats.org/officeDocument/2006/relationships/image" Target="../media/image102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011.png"/><Relationship Id="rId5" Type="http://schemas.openxmlformats.org/officeDocument/2006/relationships/chart" Target="../charts/chart28.xml"/><Relationship Id="rId4" Type="http://schemas.openxmlformats.org/officeDocument/2006/relationships/chart" Target="../charts/chart27.xml"/><Relationship Id="rId9" Type="http://schemas.openxmlformats.org/officeDocument/2006/relationships/image" Target="../media/image104.png"/></Relationships>
</file>

<file path=ppt/slides/_rels/slide39.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5.png"/><Relationship Id="rId7" Type="http://schemas.openxmlformats.org/officeDocument/2006/relationships/image" Target="../media/image106.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050.png"/><Relationship Id="rId5" Type="http://schemas.openxmlformats.org/officeDocument/2006/relationships/chart" Target="../charts/chart30.xml"/><Relationship Id="rId4" Type="http://schemas.openxmlformats.org/officeDocument/2006/relationships/chart" Target="../charts/chart29.xml"/><Relationship Id="rId9" Type="http://schemas.openxmlformats.org/officeDocument/2006/relationships/image" Target="../media/image108.png"/></Relationships>
</file>

<file path=ppt/slides/_rels/slide40.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9.png"/><Relationship Id="rId7" Type="http://schemas.openxmlformats.org/officeDocument/2006/relationships/image" Target="../media/image110.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090.png"/><Relationship Id="rId5" Type="http://schemas.openxmlformats.org/officeDocument/2006/relationships/chart" Target="../charts/chart32.xml"/><Relationship Id="rId4" Type="http://schemas.openxmlformats.org/officeDocument/2006/relationships/chart" Target="../charts/chart31.xml"/><Relationship Id="rId9" Type="http://schemas.openxmlformats.org/officeDocument/2006/relationships/image" Target="../media/image112.png"/></Relationships>
</file>

<file path=ppt/slides/_rels/slide41.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3.png"/><Relationship Id="rId7" Type="http://schemas.openxmlformats.org/officeDocument/2006/relationships/image" Target="../media/image114.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30.png"/><Relationship Id="rId5" Type="http://schemas.openxmlformats.org/officeDocument/2006/relationships/chart" Target="../charts/chart34.xml"/><Relationship Id="rId4" Type="http://schemas.openxmlformats.org/officeDocument/2006/relationships/chart" Target="../charts/chart33.xml"/><Relationship Id="rId9" Type="http://schemas.openxmlformats.org/officeDocument/2006/relationships/image" Target="../media/image116.png"/></Relationships>
</file>

<file path=ppt/slides/_rels/slide42.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7.png"/><Relationship Id="rId7" Type="http://schemas.openxmlformats.org/officeDocument/2006/relationships/image" Target="../media/image118.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70.png"/><Relationship Id="rId5" Type="http://schemas.openxmlformats.org/officeDocument/2006/relationships/chart" Target="../charts/chart36.xml"/><Relationship Id="rId4" Type="http://schemas.openxmlformats.org/officeDocument/2006/relationships/chart" Target="../charts/chart35.xml"/><Relationship Id="rId9" Type="http://schemas.openxmlformats.org/officeDocument/2006/relationships/image" Target="../media/image120.png"/></Relationships>
</file>

<file path=ppt/slides/_rels/slide43.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24.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900.png"/></Relationships>
</file>

<file path=ppt/slides/_rels/slide4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31.png"/></Relationships>
</file>

<file path=ppt/slides/_rels/slide48.xml.rels><?xml version="1.0" encoding="UTF-8" standalone="yes"?>
<Relationships xmlns="http://schemas.openxmlformats.org/package/2006/relationships"><Relationship Id="rId8" Type="http://schemas.openxmlformats.org/officeDocument/2006/relationships/image" Target="../media/image1380.png"/><Relationship Id="rId3" Type="http://schemas.openxmlformats.org/officeDocument/2006/relationships/image" Target="../media/image135.png"/><Relationship Id="rId7" Type="http://schemas.openxmlformats.org/officeDocument/2006/relationships/image" Target="../media/image13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image" Target="../media/image137.png"/><Relationship Id="rId10" Type="http://schemas.openxmlformats.org/officeDocument/2006/relationships/image" Target="../media/image140.png"/><Relationship Id="rId4" Type="http://schemas.openxmlformats.org/officeDocument/2006/relationships/image" Target="../media/image136.png"/><Relationship Id="rId9" Type="http://schemas.openxmlformats.org/officeDocument/2006/relationships/image" Target="../media/image133.png"/></Relationships>
</file>

<file path=ppt/slides/_rels/slide49.xml.rels><?xml version="1.0" encoding="UTF-8" standalone="yes"?>
<Relationships xmlns="http://schemas.openxmlformats.org/package/2006/relationships"><Relationship Id="rId3" Type="http://schemas.openxmlformats.org/officeDocument/2006/relationships/image" Target="../media/image134.png"/><Relationship Id="rId7" Type="http://schemas.openxmlformats.org/officeDocument/2006/relationships/image" Target="../media/image14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39.png"/></Relationships>
</file>

<file path=ppt/slides/_rels/slide50.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44.png"/><Relationship Id="rId4" Type="http://schemas.openxmlformats.org/officeDocument/2006/relationships/image" Target="../media/image147.png"/></Relationships>
</file>

<file path=ppt/slides/_rels/slide5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9.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15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10" fill="hold"/>
                                        <p:tgtEl>
                                          <p:spTgt spid="4"/>
                                        </p:tgtEl>
                                        <p:attrNameLst>
                                          <p:attrName>style.color</p:attrName>
                                        </p:attrNameLst>
                                      </p:cBhvr>
                                      <p:to>
                                        <a:srgbClr val="087F83"/>
                                      </p:to>
                                    </p:animClr>
                                    <p:set>
                                      <p:cBhvr>
                                        <p:cTn id="7" dur="10" fill="hold">
                                          <p:stCondLst>
                                            <p:cond delay="0"/>
                                          </p:stCondLst>
                                        </p:cTn>
                                        <p:tgtEl>
                                          <p:spTgt spid="4"/>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7FDC530-267E-4369-A76A-6C9A4691B0D0}"/>
                  </a:ext>
                </a:extLst>
              </p:cNvPr>
              <p:cNvSpPr>
                <a:spLocks noGrp="1"/>
              </p:cNvSpPr>
              <p:nvPr/>
            </p:nvSpPr>
            <p:spPr>
              <a:xfrm>
                <a:off x="723900" y="909638"/>
                <a:ext cx="10744200" cy="9715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A synthetic dataset adapted from Iris:</a:t>
                </a:r>
              </a:p>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100 observations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0" smtClean="0">
                                <a:solidFill>
                                  <a:srgbClr val="526276"/>
                                </a:solidFill>
                                <a:latin typeface="Cambria Math" panose="02040503050406030204" pitchFamily="18" charset="0"/>
                              </a:rPr>
                              <m:t>1</m:t>
                            </m:r>
                          </m:sub>
                        </m:sSub>
                        <m:r>
                          <a:rPr lang="it-IT" sz="2100" b="0" i="0"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0" smtClean="0">
                                <a:solidFill>
                                  <a:srgbClr val="526276"/>
                                </a:solidFill>
                                <a:latin typeface="Cambria Math" panose="02040503050406030204" pitchFamily="18" charset="0"/>
                              </a:rPr>
                              <m:t>1</m:t>
                            </m:r>
                          </m:sub>
                        </m:sSub>
                      </m:e>
                    </m:d>
                    <m:r>
                      <a:rPr lang="it-IT" sz="2100" b="0" i="1" smtClean="0">
                        <a:solidFill>
                          <a:srgbClr val="526276"/>
                        </a:solidFill>
                        <a:latin typeface="Cambria Math" panose="02040503050406030204" pitchFamily="18" charset="0"/>
                      </a:rPr>
                      <m:t>,…,</m:t>
                    </m:r>
                    <m:d>
                      <m:dPr>
                        <m:ctrlPr>
                          <a:rPr lang="it-IT" sz="2100" b="1" i="1">
                            <a:solidFill>
                              <a:srgbClr val="526276"/>
                            </a:solidFill>
                            <a:latin typeface="Cambria Math" panose="02040503050406030204" pitchFamily="18" charset="0"/>
                          </a:rPr>
                        </m:ctrlPr>
                      </m:dPr>
                      <m:e>
                        <m:sSub>
                          <m:sSubPr>
                            <m:ctrlPr>
                              <a:rPr lang="it-IT" sz="2100" b="1">
                                <a:solidFill>
                                  <a:srgbClr val="526276"/>
                                </a:solidFill>
                                <a:latin typeface="Cambria Math" panose="02040503050406030204" pitchFamily="18" charset="0"/>
                              </a:rPr>
                            </m:ctrlPr>
                          </m:sSubPr>
                          <m:e>
                            <m:r>
                              <a:rPr lang="it-IT" sz="2100" b="1">
                                <a:solidFill>
                                  <a:srgbClr val="526276"/>
                                </a:solidFill>
                                <a:latin typeface="Cambria Math" panose="02040503050406030204" pitchFamily="18" charset="0"/>
                              </a:rPr>
                              <m:t>𝐱</m:t>
                            </m:r>
                          </m:e>
                          <m:sub>
                            <m:r>
                              <a:rPr lang="it-IT" sz="2100" b="0" i="1">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00</m:t>
                            </m:r>
                          </m:sub>
                        </m:sSub>
                        <m:r>
                          <a:rPr lang="it-IT" sz="2100">
                            <a:solidFill>
                              <a:srgbClr val="526276"/>
                            </a:solidFill>
                            <a:latin typeface="Cambria Math" panose="02040503050406030204" pitchFamily="18" charset="0"/>
                          </a:rPr>
                          <m:t>,</m:t>
                        </m:r>
                        <m:sSub>
                          <m:sSubPr>
                            <m:ctrlPr>
                              <a:rPr lang="it-IT" sz="2100" i="1">
                                <a:solidFill>
                                  <a:srgbClr val="526276"/>
                                </a:solidFill>
                                <a:latin typeface="Cambria Math" panose="02040503050406030204" pitchFamily="18" charset="0"/>
                              </a:rPr>
                            </m:ctrlPr>
                          </m:sSubPr>
                          <m:e>
                            <m:r>
                              <a:rPr lang="it-IT" sz="2100" i="1">
                                <a:solidFill>
                                  <a:srgbClr val="526276"/>
                                </a:solidFill>
                                <a:latin typeface="Cambria Math" panose="02040503050406030204" pitchFamily="18" charset="0"/>
                              </a:rPr>
                              <m:t>𝑦</m:t>
                            </m:r>
                          </m:e>
                          <m:sub>
                            <m:r>
                              <a:rPr lang="it-IT" sz="2100">
                                <a:solidFill>
                                  <a:srgbClr val="526276"/>
                                </a:solidFill>
                                <a:latin typeface="Cambria Math" panose="02040503050406030204" pitchFamily="18" charset="0"/>
                              </a:rPr>
                              <m:t>1</m:t>
                            </m:r>
                            <m:r>
                              <a:rPr lang="it-IT" sz="2100" b="0" i="0" smtClean="0">
                                <a:solidFill>
                                  <a:srgbClr val="526276"/>
                                </a:solidFill>
                                <a:latin typeface="Cambria Math" panose="02040503050406030204" pitchFamily="18" charset="0"/>
                              </a:rPr>
                              <m:t>00</m:t>
                            </m:r>
                          </m:sub>
                        </m:sSub>
                      </m:e>
                    </m:d>
                  </m:oMath>
                </a14:m>
                <a:r>
                  <a:rPr lang="it-IT" sz="2100" b="0" dirty="0">
                    <a:solidFill>
                      <a:srgbClr val="526276"/>
                    </a:solidFill>
                    <a:latin typeface="DejaVu Sans"/>
                    <a:ea typeface="DejaVu Sans"/>
                    <a:cs typeface="DejaVu Sans"/>
                  </a:rPr>
                  <a:t>, with</a:t>
                </a:r>
                <a:r>
                  <a:rPr lang="ar-AE" sz="2100" b="0" dirty="0">
                    <a:solidFill>
                      <a:srgbClr val="526276"/>
                    </a:solidFill>
                    <a:latin typeface="DejaVu Sans"/>
                    <a:ea typeface="DejaVu Sans"/>
                    <a:cs typeface="DejaVu Sans"/>
                  </a:rPr>
                  <a:t> </a:t>
                </a:r>
                <a:r>
                  <a:rPr lang="it-IT" sz="2100" b="0" dirty="0">
                    <a:solidFill>
                      <a:srgbClr val="526276"/>
                    </a:solidFill>
                    <a:latin typeface="DejaVu Sans"/>
                    <a:ea typeface="DejaVu Sans"/>
                    <a:cs typeface="DejaVu Sans"/>
                  </a:rPr>
                  <a:t>two input features and two classes.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77FDC530-267E-4369-A76A-6C9A4691B0D0}"/>
                  </a:ext>
                </a:extLst>
              </p:cNvPr>
              <p:cNvSpPr>
                <a:spLocks noGrp="1" noRot="1" noChangeAspect="1" noMove="1" noResize="1" noEditPoints="1" noAdjustHandles="1" noChangeArrowheads="1" noChangeShapeType="1" noTextEdit="1"/>
              </p:cNvSpPr>
              <p:nvPr/>
            </p:nvSpPr>
            <p:spPr>
              <a:xfrm>
                <a:off x="723900" y="909638"/>
                <a:ext cx="10744200" cy="971550"/>
              </a:xfrm>
              <a:prstGeom prst="rect">
                <a:avLst/>
              </a:prstGeom>
              <a:blipFill>
                <a:blip r:embed="rId3"/>
                <a:stretch>
                  <a:fillRect l="-795" r="-795" b="-1875"/>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5"/>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dirty="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6" tooltip="Open the accompanying data file"/>
              </a:rPr>
              <a:t>Dataset and instructions in the folder: Week 3 </a:t>
            </a:r>
            <a:r>
              <a:rPr lang="en-GB" sz="1725" b="0" u="sng">
                <a:solidFill>
                  <a:srgbClr val="326CB2"/>
                </a:solidFill>
                <a:latin typeface="DejaVu Sans"/>
                <a:ea typeface="DejaVu Sans"/>
                <a:cs typeface="DejaVu Sans"/>
                <a:hlinkClick r:id="rId6" tooltip="Open the accompanying data file"/>
              </a:rPr>
              <a:t>- Examples</a:t>
            </a:r>
            <a:endParaRPr sz="1725" b="0" u="sng" dirty="0">
              <a:solidFill>
                <a:srgbClr val="326CB2"/>
              </a:solidFill>
              <a:latin typeface="DejaVu Sans"/>
              <a:ea typeface="DejaVu Sans"/>
              <a:cs typeface="DejaVu Sans"/>
              <a:hlinkClick r:id="rId6"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m:t>
                    </m:r>
                    <m:r>
                      <a:rPr lang="it-IT" sz="2100" b="0" i="0" dirty="0" smtClean="0">
                        <a:solidFill>
                          <a:srgbClr val="526276"/>
                        </a:solidFill>
                        <a:latin typeface="Cambria Math" panose="02040503050406030204" pitchFamily="18" charset="0"/>
                        <a:ea typeface="DejaVu Sans"/>
                        <a:cs typeface="DejaVu Sans"/>
                      </a:rPr>
                      <m:t>ℝ</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a:t>
                </a:r>
                <a:r>
                  <a:rPr sz="2100" b="0" dirty="0">
                    <a:solidFill>
                      <a:srgbClr val="FF0000"/>
                    </a:solidFill>
                    <a:latin typeface="DejaVu Sans"/>
                    <a:ea typeface="DejaVu Sans"/>
                    <a:cs typeface="DejaVu Sans"/>
                  </a:rPr>
                  <a:t>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d>
                        <m:dPr>
                          <m:ctrlPr>
                            <a:rPr lang="en-GB" sz="2500" i="1">
                              <a:solidFill>
                                <a:srgbClr val="087F83"/>
                              </a:solidFill>
                              <a:latin typeface="Cambria Math" panose="02040503050406030204" pitchFamily="18" charset="0"/>
                              <a:ea typeface="Cambria Math"/>
                              <a:cs typeface="Cambria Math"/>
                            </a:rPr>
                          </m:ctrlPr>
                        </m:d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dirty="0">
                <a:solidFill>
                  <a:srgbClr val="087F83"/>
                </a:solidFill>
                <a:latin typeface="DejaVu Sans"/>
                <a:ea typeface="DejaVu Sans"/>
                <a:cs typeface="DejaVu Sans"/>
              </a:rPr>
              <a:t>Number of mistakes</a:t>
            </a:r>
            <a:r>
              <a:rPr lang="it-IT" sz="1875" b="0" dirty="0">
                <a:solidFill>
                  <a:srgbClr val="087F83"/>
                </a:solidFill>
                <a:latin typeface="DejaVu Sans"/>
                <a:ea typeface="DejaVu Sans"/>
                <a:cs typeface="DejaVu Sans"/>
              </a:rPr>
              <a:t> / </a:t>
            </a:r>
            <a:r>
              <a:rPr lang="it-IT" sz="1875" b="0" dirty="0" err="1">
                <a:solidFill>
                  <a:srgbClr val="087F83"/>
                </a:solidFill>
                <a:latin typeface="DejaVu Sans"/>
                <a:ea typeface="DejaVu Sans"/>
                <a:cs typeface="DejaVu Sans"/>
              </a:rPr>
              <a:t>Empirical</a:t>
            </a:r>
            <a:r>
              <a:rPr lang="it-IT" sz="1875" b="0" dirty="0">
                <a:solidFill>
                  <a:srgbClr val="087F83"/>
                </a:solidFill>
                <a:latin typeface="DejaVu Sans"/>
                <a:ea typeface="DejaVu Sans"/>
                <a:cs typeface="DejaVu Sans"/>
              </a:rPr>
              <a:t> 0-1 </a:t>
            </a:r>
            <a:r>
              <a:rPr lang="it-IT" sz="1875" b="0" dirty="0" err="1">
                <a:solidFill>
                  <a:srgbClr val="087F83"/>
                </a:solidFill>
                <a:latin typeface="DejaVu Sans"/>
                <a:ea typeface="DejaVu Sans"/>
                <a:cs typeface="DejaVu Sans"/>
              </a:rPr>
              <a:t>loss</a:t>
            </a:r>
            <a:endParaRPr sz="1875" b="0" dirty="0">
              <a:solidFill>
                <a:srgbClr val="087F83"/>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e>
                      </m:nary>
                    </m:oMath>
                  </m:oMathPara>
                </a14:m>
                <a:endParaRPr lang="en-GB" sz="2300" dirty="0"/>
              </a:p>
            </p:txBody>
          </p:sp>
        </mc:Choice>
        <mc:Fallback xmlns="">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{0,1}</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a:t>
                </a:r>
                <a:r>
                  <a:rPr sz="2100" b="0" dirty="0">
                    <a:solidFill>
                      <a:srgbClr val="FF0000"/>
                    </a:solidFill>
                    <a:latin typeface="DejaVu Sans"/>
                    <a:ea typeface="DejaVu Sans"/>
                    <a:cs typeface="DejaVu Sans"/>
                  </a:rPr>
                  <a:t>label</a:t>
                </a:r>
                <a:r>
                  <a:rPr sz="2100" b="0" dirty="0">
                    <a:solidFill>
                      <a:srgbClr val="526276"/>
                    </a:solidFill>
                    <a:latin typeface="DejaVu Sans"/>
                    <a:ea typeface="DejaVu Sans"/>
                    <a:cs typeface="DejaVu Sans"/>
                  </a:rPr>
                  <a:t>.</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352425" y="1159913"/>
            <a:ext cx="10744200" cy="77893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a:t>
            </a:r>
            <a:r>
              <a:rPr sz="2100" b="0" dirty="0">
                <a:solidFill>
                  <a:srgbClr val="FF0000"/>
                </a:solidFill>
                <a:latin typeface="DejaVu Sans"/>
                <a:ea typeface="DejaVu Sans"/>
                <a:cs typeface="DejaVu Sans"/>
              </a:rPr>
              <a:t>decision</a:t>
            </a:r>
            <a:r>
              <a:rPr sz="2100" b="0" dirty="0">
                <a:solidFill>
                  <a:srgbClr val="526276"/>
                </a:solidFill>
                <a:latin typeface="DejaVu Sans"/>
                <a:ea typeface="DejaVu Sans"/>
                <a:cs typeface="DejaVu Sans"/>
              </a:rPr>
              <a:t>.</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probability</a:t>
            </a:r>
            <a:r>
              <a:rPr sz="2100" b="0" dirty="0">
                <a:solidFill>
                  <a:srgbClr val="526276"/>
                </a:solidFill>
                <a:latin typeface="DejaVu Sans"/>
                <a:ea typeface="DejaVu Sans"/>
                <a:cs typeface="DejaVu Sans"/>
              </a:rPr>
              <a:t>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endParaRPr lang="it-IT" sz="12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endParaRPr lang="it-IT" sz="6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it-IT" sz="2000" b="1" dirty="0" err="1">
                <a:solidFill>
                  <a:srgbClr val="FF0000"/>
                </a:solidFill>
                <a:latin typeface="DejaVu Sans"/>
                <a:ea typeface="DejaVu Sans"/>
                <a:cs typeface="DejaVu Sans"/>
              </a:rPr>
              <a:t>Probabilistic</a:t>
            </a:r>
            <a:r>
              <a:rPr lang="it-IT" sz="2000" b="1" dirty="0">
                <a:solidFill>
                  <a:srgbClr val="FF0000"/>
                </a:solidFill>
                <a:latin typeface="DejaVu Sans"/>
                <a:ea typeface="DejaVu Sans"/>
                <a:cs typeface="DejaVu Sans"/>
              </a:rPr>
              <a:t> </a:t>
            </a:r>
            <a:r>
              <a:rPr lang="it-IT" sz="2000" b="1" dirty="0" err="1">
                <a:solidFill>
                  <a:srgbClr val="FF0000"/>
                </a:solidFill>
                <a:latin typeface="DejaVu Sans"/>
                <a:ea typeface="DejaVu Sans"/>
                <a:cs typeface="DejaVu Sans"/>
              </a:rPr>
              <a:t>predictor</a:t>
            </a:r>
            <a:endParaRPr sz="2100" b="1"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400050" y="2146977"/>
                <a:ext cx="10744200" cy="74416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𝑝</m:t>
                      </m:r>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400050" y="2146977"/>
                <a:ext cx="10744200" cy="744166"/>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326CB2"/>
                          </a:solidFill>
                          <a:latin typeface="Cambria Math"/>
                          <a:ea typeface="Cambria Math"/>
                          <a:cs typeface="Cambria Math"/>
                        </a:rPr>
                        <m:t>1−</m:t>
                      </m:r>
                      <m:r>
                        <a:rPr lang="en-GB" sz="3000" smtClean="0">
                          <a:solidFill>
                            <a:srgbClr val="326CB2"/>
                          </a:solidFill>
                          <a:latin typeface="Cambria Math"/>
                          <a:ea typeface="Cambria Math"/>
                          <a:cs typeface="Cambria Math"/>
                        </a:rPr>
                        <m:t>𝑝</m:t>
                      </m:r>
                      <m:d>
                        <m:dPr>
                          <m:ctrlPr>
                            <a:rPr lang="en-GB" sz="3000">
                              <a:solidFill>
                                <a:srgbClr val="326CB2"/>
                              </a:solidFill>
                              <a:latin typeface="Cambria Math"/>
                              <a:ea typeface="Cambria Math"/>
                              <a:cs typeface="Cambria Math"/>
                            </a:rPr>
                          </m:ctrlPr>
                        </m:dPr>
                        <m:e>
                          <m:r>
                            <a:rPr lang="en-GB" sz="3000">
                              <a:solidFill>
                                <a:srgbClr val="326CB2"/>
                              </a:solidFill>
                              <a:latin typeface="Cambria Math"/>
                              <a:ea typeface="Cambria Math"/>
                              <a:cs typeface="Cambria Math"/>
                            </a:rPr>
                            <m:t>𝐱</m:t>
                          </m:r>
                        </m:e>
                      </m:d>
                    </m:oMath>
                  </m:oMathPara>
                </a14:m>
                <a:endParaRPr lang="en-GB" sz="30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FF0000"/>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label with the larger probability</a:t>
            </a:r>
            <a:r>
              <a:rPr sz="2100" b="0" dirty="0">
                <a:solidFill>
                  <a:srgbClr val="526276"/>
                </a:solidFill>
                <a:latin typeface="DejaVu Sans"/>
                <a:ea typeface="DejaVu Sans"/>
                <a:cs typeface="DejaVu Sans"/>
              </a:rPr>
              <a:t>.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3319463" y="3409950"/>
                <a:ext cx="5667374" cy="14900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3319463" y="3409950"/>
                <a:ext cx="5667374" cy="1490091"/>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98542"/>
                <a:ext cx="10744200" cy="166420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However, </a:t>
                </a:r>
                <a14:m>
                  <m:oMath xmlns:m="http://schemas.openxmlformats.org/officeDocument/2006/math">
                    <m:sSub>
                      <m:sSubPr>
                        <m:ctrlPr>
                          <a:rPr lang="it-IT" sz="2100" b="0" i="1" smtClean="0">
                            <a:solidFill>
                              <a:srgbClr val="526276"/>
                            </a:solidFill>
                            <a:latin typeface="Cambria Math" panose="02040503050406030204" pitchFamily="18" charset="0"/>
                            <a:ea typeface="DejaVu Sans"/>
                            <a:cs typeface="DejaVu Sans"/>
                          </a:rPr>
                        </m:ctrlPr>
                      </m:sSubPr>
                      <m:e>
                        <m:r>
                          <a:rPr lang="it-IT" sz="2100" b="0" i="1" smtClean="0">
                            <a:solidFill>
                              <a:srgbClr val="526276"/>
                            </a:solidFill>
                            <a:latin typeface="Cambria Math" panose="02040503050406030204" pitchFamily="18" charset="0"/>
                            <a:ea typeface="DejaVu Sans"/>
                            <a:cs typeface="DejaVu Sans"/>
                          </a:rPr>
                          <m:t>𝑓</m:t>
                        </m:r>
                      </m:e>
                      <m:sub>
                        <m:r>
                          <a:rPr lang="it-IT" sz="2100" b="1" i="0" smtClean="0">
                            <a:solidFill>
                              <a:srgbClr val="526276"/>
                            </a:solidFill>
                            <a:latin typeface="Cambria Math" panose="02040503050406030204" pitchFamily="18" charset="0"/>
                            <a:ea typeface="DejaVu Sans"/>
                            <a:cs typeface="DejaVu Sans"/>
                          </a:rPr>
                          <m:t>𝛉</m:t>
                        </m:r>
                      </m:sub>
                    </m:sSub>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oMath>
                </a14:m>
                <a:r>
                  <a:rPr lang="en-GB" sz="2100" b="0" dirty="0">
                    <a:solidFill>
                      <a:srgbClr val="526276"/>
                    </a:solidFill>
                    <a:latin typeface="DejaVu Sans"/>
                    <a:ea typeface="DejaVu Sans"/>
                    <a:cs typeface="DejaVu Sans"/>
                  </a:rPr>
                  <a:t> can be </a:t>
                </a:r>
                <a:r>
                  <a:rPr lang="en-GB" sz="2100" b="0" dirty="0">
                    <a:solidFill>
                      <a:srgbClr val="FF0000"/>
                    </a:solidFill>
                    <a:latin typeface="DejaVu Sans"/>
                    <a:ea typeface="DejaVu Sans"/>
                    <a:cs typeface="DejaVu Sans"/>
                  </a:rPr>
                  <a:t>any real number</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 it cannot serve directly as a probability.</a:t>
                </a:r>
              </a:p>
              <a:p>
                <a:pPr algn="ctr">
                  <a:lnSpc>
                    <a:spcPct val="112000"/>
                  </a:lnSpc>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Rather, </a:t>
                </a:r>
                <a14:m>
                  <m:oMath xmlns:m="http://schemas.openxmlformats.org/officeDocument/2006/math">
                    <m:sSub>
                      <m:sSubPr>
                        <m:ctrlPr>
                          <a:rPr lang="en-GB" sz="2100" i="1">
                            <a:solidFill>
                              <a:srgbClr val="526276"/>
                            </a:solidFill>
                            <a:latin typeface="Cambria Math" panose="02040503050406030204" pitchFamily="18" charset="0"/>
                            <a:ea typeface="DejaVu Sans"/>
                            <a:cs typeface="DejaVu Sans"/>
                          </a:rPr>
                        </m:ctrlPr>
                      </m:sSubPr>
                      <m:e>
                        <m:r>
                          <a:rPr lang="en-GB" sz="2100" i="1">
                            <a:solidFill>
                              <a:srgbClr val="526276"/>
                            </a:solidFill>
                            <a:latin typeface="Cambria Math" panose="02040503050406030204" pitchFamily="18" charset="0"/>
                            <a:ea typeface="DejaVu Sans"/>
                            <a:cs typeface="DejaVu Sans"/>
                          </a:rPr>
                          <m:t>𝑓</m:t>
                        </m:r>
                      </m:e>
                      <m:sub>
                        <m:r>
                          <a:rPr lang="it-IT" sz="2100" b="1">
                            <a:solidFill>
                              <a:srgbClr val="526276"/>
                            </a:solidFill>
                            <a:latin typeface="Cambria Math" panose="02040503050406030204" pitchFamily="18" charset="0"/>
                            <a:ea typeface="DejaVu Sans"/>
                            <a:cs typeface="DejaVu Sans"/>
                          </a:rPr>
                          <m:t>𝛉</m:t>
                        </m:r>
                      </m:sub>
                    </m:sSub>
                    <m:d>
                      <m:dPr>
                        <m:ctrlPr>
                          <a:rPr lang="it-IT" sz="2100" b="1">
                            <a:solidFill>
                              <a:srgbClr val="526276"/>
                            </a:solidFill>
                            <a:latin typeface="Cambria Math" panose="02040503050406030204" pitchFamily="18" charset="0"/>
                            <a:ea typeface="DejaVu Sans"/>
                            <a:cs typeface="DejaVu Sans"/>
                          </a:rPr>
                        </m:ctrlPr>
                      </m:dPr>
                      <m:e>
                        <m:r>
                          <a:rPr lang="it-IT" sz="2100" b="1">
                            <a:solidFill>
                              <a:srgbClr val="526276"/>
                            </a:solidFill>
                            <a:latin typeface="Cambria Math" panose="02040503050406030204" pitchFamily="18" charset="0"/>
                            <a:ea typeface="DejaVu Sans"/>
                            <a:cs typeface="DejaVu Sans"/>
                          </a:rPr>
                          <m:t>𝐱</m:t>
                        </m:r>
                      </m:e>
                    </m:d>
                  </m:oMath>
                </a14:m>
                <a:r>
                  <a:rPr lang="en-GB" sz="2100" dirty="0">
                    <a:solidFill>
                      <a:srgbClr val="526276"/>
                    </a:solidFill>
                    <a:latin typeface="DejaVu Sans"/>
                    <a:ea typeface="DejaVu Sans"/>
                    <a:cs typeface="DejaVu Sans"/>
                  </a:rPr>
                  <a:t> is a </a:t>
                </a:r>
                <a:r>
                  <a:rPr lang="en-GB" sz="2100" dirty="0">
                    <a:solidFill>
                      <a:srgbClr val="FF0000"/>
                    </a:solidFill>
                    <a:latin typeface="DejaVu Sans"/>
                    <a:ea typeface="DejaVu Sans"/>
                    <a:cs typeface="DejaVu Sans"/>
                  </a:rPr>
                  <a:t>score</a:t>
                </a:r>
                <a:r>
                  <a:rPr lang="en-GB" sz="2100" dirty="0">
                    <a:solidFill>
                      <a:srgbClr val="526276"/>
                    </a:solidFill>
                    <a:latin typeface="DejaVu Sans"/>
                    <a:ea typeface="DejaVu Sans"/>
                    <a:cs typeface="DejaVu Sans"/>
                  </a:rPr>
                  <a:t> (also called a </a:t>
                </a:r>
                <a:r>
                  <a:rPr lang="en-GB" sz="2100" dirty="0">
                    <a:solidFill>
                      <a:srgbClr val="FF0000"/>
                    </a:solidFill>
                    <a:latin typeface="DejaVu Sans"/>
                    <a:ea typeface="DejaVu Sans"/>
                    <a:cs typeface="DejaVu Sans"/>
                  </a:rPr>
                  <a:t>logit</a:t>
                </a:r>
                <a:r>
                  <a:rPr lang="en-GB" sz="2100" dirty="0">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en-GB" sz="2100" dirty="0">
                    <a:latin typeface="DejaVu Sans"/>
                    <a:ea typeface="DejaVu Sans"/>
                    <a:cs typeface="DejaVu Sans"/>
                  </a:rPr>
                  <a:t>that we have to turn into a probability</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endParaRPr sz="2100" b="0" dirty="0">
                  <a:solidFill>
                    <a:srgbClr val="526276"/>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83511110-EA7A-4273-A9A2-5A13E9D3EDFC}"/>
                  </a:ext>
                </a:extLst>
              </p:cNvPr>
              <p:cNvSpPr>
                <a:spLocks noGrp="1" noRot="1" noChangeAspect="1" noMove="1" noResize="1" noEditPoints="1" noAdjustHandles="1" noChangeArrowheads="1" noChangeShapeType="1" noTextEdit="1"/>
              </p:cNvSpPr>
              <p:nvPr/>
            </p:nvSpPr>
            <p:spPr>
              <a:xfrm>
                <a:off x="781050" y="5098542"/>
                <a:ext cx="10744200" cy="1664208"/>
              </a:xfrm>
              <a:prstGeom prst="rect">
                <a:avLst/>
              </a:prstGeom>
              <a:blipFill>
                <a:blip r:embed="rId5"/>
                <a:stretch>
                  <a:fillRect t="-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72292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a:t>
            </a:r>
            <a:r>
              <a:rPr sz="2100" b="0" dirty="0">
                <a:solidFill>
                  <a:srgbClr val="FF0000"/>
                </a:solidFill>
                <a:latin typeface="DejaVu Sans"/>
                <a:ea typeface="DejaVu Sans"/>
                <a:cs typeface="DejaVu Sans"/>
              </a:rPr>
              <a:t>real score</a:t>
            </a:r>
            <a:endParaRPr lang="it-IT" sz="21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into a number </a:t>
            </a:r>
            <a:r>
              <a:rPr sz="2100" b="0" dirty="0">
                <a:solidFill>
                  <a:srgbClr val="FF0000"/>
                </a:solidFill>
                <a:latin typeface="DejaVu Sans"/>
                <a:ea typeface="DejaVu Sans"/>
                <a:cs typeface="DejaVu Sans"/>
              </a:rPr>
              <a:t>between zero and one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0&lt;</m:t>
                      </m:r>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0FC44FF-8C08-42A1-A56C-9C15E1ECE33A}"/>
                  </a:ext>
                </a:extLst>
              </p:cNvPr>
              <p:cNvSpPr>
                <a:spLocks noGrp="1"/>
              </p:cNvSpPr>
              <p:nvPr/>
            </p:nvSpPr>
            <p:spPr>
              <a:xfrm>
                <a:off x="352425" y="209863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The </a:t>
                </a:r>
                <a:r>
                  <a:rPr lang="it-IT" sz="2100" b="0" dirty="0" err="1">
                    <a:solidFill>
                      <a:srgbClr val="526276"/>
                    </a:solidFill>
                    <a:latin typeface="DejaVu Sans"/>
                    <a:ea typeface="DejaVu Sans"/>
                    <a:cs typeface="DejaVu Sans"/>
                  </a:rPr>
                  <a:t>corresponding</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plug-in</a:t>
                </a:r>
                <a:r>
                  <a:rPr lang="it-IT" sz="2100" b="0" dirty="0">
                    <a:solidFill>
                      <a:srgbClr val="526276"/>
                    </a:solidFill>
                    <a:latin typeface="DejaVu Sans"/>
                    <a:ea typeface="DejaVu Sans"/>
                    <a:cs typeface="DejaVu Sans"/>
                  </a:rPr>
                  <a:t> </a:t>
                </a:r>
                <a:r>
                  <a:rPr lang="it-IT" sz="2100" b="0" dirty="0" err="1">
                    <a:solidFill>
                      <a:srgbClr val="FF0000"/>
                    </a:solidFill>
                    <a:latin typeface="DejaVu Sans"/>
                    <a:ea typeface="DejaVu Sans"/>
                    <a:cs typeface="DejaVu Sans"/>
                  </a:rPr>
                  <a:t>classifier</a:t>
                </a:r>
                <a:r>
                  <a:rPr lang="it-IT" sz="2100" b="0" dirty="0">
                    <a:solidFill>
                      <a:srgbClr val="FF0000"/>
                    </a:solidFill>
                    <a:latin typeface="DejaVu Sans"/>
                    <a:ea typeface="DejaVu Sans"/>
                    <a:cs typeface="DejaVu Sans"/>
                  </a:rPr>
                  <a:t> </a:t>
                </a:r>
                <a14:m>
                  <m:oMath xmlns:m="http://schemas.openxmlformats.org/officeDocument/2006/math">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ℎ</m:t>
                        </m:r>
                      </m:e>
                      <m:sub>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𝑝</m:t>
                            </m:r>
                          </m:e>
                          <m:sub>
                            <m:r>
                              <a:rPr lang="en-GB" sz="2400">
                                <a:solidFill>
                                  <a:srgbClr val="FF0000"/>
                                </a:solidFill>
                                <a:latin typeface="Cambria Math"/>
                                <a:ea typeface="Cambria Math"/>
                                <a:cs typeface="Cambria Math"/>
                              </a:rPr>
                              <m:t>𝛉</m:t>
                            </m:r>
                          </m:sub>
                        </m:sSub>
                      </m:sub>
                    </m:sSub>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satisfies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0FC44FF-8C08-42A1-A56C-9C15E1ECE33A}"/>
                  </a:ext>
                </a:extLst>
              </p:cNvPr>
              <p:cNvSpPr>
                <a:spLocks noGrp="1" noRot="1" noChangeAspect="1" noMove="1" noResize="1" noEditPoints="1" noAdjustHandles="1" noChangeArrowheads="1" noChangeShapeType="1" noTextEdit="1"/>
              </p:cNvSpPr>
              <p:nvPr/>
            </p:nvSpPr>
            <p:spPr>
              <a:xfrm>
                <a:off x="352425" y="2098631"/>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333333"/>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e>
                      </m:d>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333333"/>
                <a:ext cx="10744200" cy="8096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721054"/>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721054"/>
                <a:ext cx="1074420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73554"/>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Decision</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boundary</m:t>
                      </m:r>
                      <m:r>
                        <a:rPr lang="it-IT" sz="2500" b="0" i="0" smtClean="0">
                          <a:solidFill>
                            <a:srgbClr val="087F83"/>
                          </a:solidFill>
                          <a:latin typeface="Cambria Math" panose="02040503050406030204" pitchFamily="18" charset="0"/>
                          <a:ea typeface="Cambria Math"/>
                          <a:cs typeface="Cambria Math"/>
                        </a:rPr>
                        <m:t>:</m:t>
                      </m:r>
                      <m:r>
                        <m:rPr>
                          <m:sty m:val="p"/>
                        </m:rPr>
                        <a:rPr lang="it-IT" sz="2500" b="0" i="0" smtClean="0">
                          <a:solidFill>
                            <a:srgbClr val="087F83"/>
                          </a:solidFill>
                          <a:latin typeface="Cambria Math" panose="02040503050406030204" pitchFamily="18" charset="0"/>
                          <a:ea typeface="Cambria Math"/>
                          <a:cs typeface="Cambria Math"/>
                        </a:rPr>
                        <m:t>the</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set</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of</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𝐱</m:t>
                      </m:r>
                      <m:r>
                        <a:rPr lang="it-IT" sz="2500" b="0" i="1" smtClean="0">
                          <a:solidFill>
                            <a:srgbClr val="087F83"/>
                          </a:solidFill>
                          <a:latin typeface="Cambria Math" panose="02040503050406030204" pitchFamily="18" charset="0"/>
                          <a:ea typeface="Cambria Math"/>
                          <a:cs typeface="Cambria Math"/>
                        </a:rPr>
                        <m:t>∈</m:t>
                      </m:r>
                      <m:sSup>
                        <m:sSupPr>
                          <m:ctrlPr>
                            <a:rPr lang="it-IT" sz="2500" b="0" i="1" smtClean="0">
                              <a:solidFill>
                                <a:srgbClr val="087F83"/>
                              </a:solidFill>
                              <a:latin typeface="Cambria Math" panose="02040503050406030204" pitchFamily="18" charset="0"/>
                              <a:ea typeface="Cambria Math"/>
                              <a:cs typeface="Cambria Math"/>
                            </a:rPr>
                          </m:ctrlPr>
                        </m:sSupPr>
                        <m:e>
                          <m:r>
                            <a:rPr lang="it-IT" sz="2500" b="0" i="1" smtClean="0">
                              <a:solidFill>
                                <a:srgbClr val="087F83"/>
                              </a:solidFill>
                              <a:latin typeface="Cambria Math" panose="02040503050406030204" pitchFamily="18" charset="0"/>
                              <a:ea typeface="Cambria Math"/>
                              <a:cs typeface="Cambria Math"/>
                            </a:rPr>
                            <m:t>ℝ</m:t>
                          </m:r>
                        </m:e>
                        <m:sup>
                          <m:r>
                            <a:rPr lang="it-IT" sz="2500" b="0" i="1" smtClean="0">
                              <a:solidFill>
                                <a:srgbClr val="087F83"/>
                              </a:solidFill>
                              <a:latin typeface="Cambria Math" panose="02040503050406030204" pitchFamily="18" charset="0"/>
                              <a:ea typeface="Cambria Math"/>
                              <a:cs typeface="Cambria Math"/>
                            </a:rPr>
                            <m:t>𝑑</m:t>
                          </m:r>
                        </m:sup>
                      </m:sSup>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such</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that</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73554"/>
                <a:ext cx="10744200" cy="69704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27946"/>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a:t>
                </a:r>
                <a:r>
                  <a:rPr lang="en-GB" b="0" dirty="0">
                    <a:solidFill>
                      <a:srgbClr val="FF0000"/>
                    </a:solidFill>
                    <a:latin typeface="DejaVu Sans"/>
                    <a:ea typeface="DejaVu Sans"/>
                    <a:cs typeface="DejaVu Sans"/>
                  </a:rPr>
                  <a:t>decision boundary </a:t>
                </a:r>
                <a:r>
                  <a:rPr lang="en-GB" b="0" dirty="0">
                    <a:solidFill>
                      <a:schemeClr val="tx1"/>
                    </a:solidFill>
                    <a:latin typeface="DejaVu Sans"/>
                    <a:ea typeface="DejaVu Sans"/>
                    <a:cs typeface="DejaVu Sans"/>
                  </a:rPr>
                  <a:t>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a:t>
                </a:r>
              </a:p>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27946"/>
                <a:ext cx="10744200" cy="2088642"/>
              </a:xfrm>
              <a:prstGeom prst="rect">
                <a:avLst/>
              </a:prstGeom>
              <a:blipFill>
                <a:blip r:embed="rId7"/>
                <a:stretch>
                  <a:fillRect t="-1166" b="-43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lead">
                <a:extLst>
                  <a:ext uri="{FF2B5EF4-FFF2-40B4-BE49-F238E27FC236}">
                    <a16:creationId xmlns:a16="http://schemas.microsoft.com/office/drawing/2014/main" id="{BDF2D73F-A253-FD14-8772-32661D6576DD}"/>
                  </a:ext>
                </a:extLst>
              </p:cNvPr>
              <p:cNvSpPr>
                <a:spLocks noGrp="1"/>
              </p:cNvSpPr>
              <p:nvPr/>
            </p:nvSpPr>
            <p:spPr>
              <a:xfrm>
                <a:off x="781050" y="91147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Using the </a:t>
                </a:r>
                <a:r>
                  <a:rPr lang="it-IT" sz="2100" b="0" dirty="0" err="1">
                    <a:solidFill>
                      <a:srgbClr val="526276"/>
                    </a:solidFill>
                    <a:latin typeface="DejaVu Sans"/>
                    <a:ea typeface="DejaVu Sans"/>
                    <a:cs typeface="DejaVu Sans"/>
                  </a:rPr>
                  <a:t>sigmoid</a:t>
                </a:r>
                <a:r>
                  <a:rPr lang="it-IT" sz="2100" b="0" dirty="0">
                    <a:solidFill>
                      <a:srgbClr val="526276"/>
                    </a:solidFill>
                    <a:latin typeface="DejaVu Sans"/>
                    <a:ea typeface="DejaVu Sans"/>
                    <a:cs typeface="DejaVu Sans"/>
                  </a:rPr>
                  <a:t>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𝜎</m:t>
                    </m:r>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we</a:t>
                </a:r>
                <a:r>
                  <a:rPr lang="it-IT" sz="2100" b="0" dirty="0">
                    <a:solidFill>
                      <a:srgbClr val="526276"/>
                    </a:solidFill>
                    <a:latin typeface="DejaVu Sans"/>
                    <a:ea typeface="DejaVu Sans"/>
                    <a:cs typeface="DejaVu Sans"/>
                  </a:rPr>
                  <a:t> can turn scores </a:t>
                </a:r>
                <a:r>
                  <a:rPr lang="it-IT" sz="2100" b="0" dirty="0" err="1">
                    <a:solidFill>
                      <a:srgbClr val="526276"/>
                    </a:solidFill>
                    <a:latin typeface="DejaVu Sans"/>
                    <a:ea typeface="DejaVu Sans"/>
                    <a:cs typeface="DejaVu Sans"/>
                  </a:rPr>
                  <a:t>into</a:t>
                </a:r>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11" name="lead">
                <a:extLst>
                  <a:ext uri="{FF2B5EF4-FFF2-40B4-BE49-F238E27FC236}">
                    <a16:creationId xmlns:a16="http://schemas.microsoft.com/office/drawing/2014/main" id="{BDF2D73F-A253-FD14-8772-32661D6576DD}"/>
                  </a:ext>
                </a:extLst>
              </p:cNvPr>
              <p:cNvSpPr>
                <a:spLocks noGrp="1" noRot="1" noChangeAspect="1" noMove="1" noResize="1" noEditPoints="1" noAdjustHandles="1" noChangeArrowheads="1" noChangeShapeType="1" noTextEdit="1"/>
              </p:cNvSpPr>
              <p:nvPr/>
            </p:nvSpPr>
            <p:spPr>
              <a:xfrm>
                <a:off x="781050" y="911471"/>
                <a:ext cx="10744200" cy="66675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Which of these two classifiers is better?</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Count the </a:t>
            </a:r>
            <a:r>
              <a:rPr lang="it-IT" sz="2100" dirty="0" err="1">
                <a:solidFill>
                  <a:srgbClr val="526276"/>
                </a:solidFill>
                <a:latin typeface="DejaVu Sans"/>
                <a:ea typeface="DejaVu Sans"/>
                <a:cs typeface="DejaVu Sans"/>
              </a:rPr>
              <a:t>number</a:t>
            </a:r>
            <a:r>
              <a:rPr lang="it-IT" sz="2100" dirty="0">
                <a:solidFill>
                  <a:srgbClr val="526276"/>
                </a:solidFill>
                <a:latin typeface="DejaVu Sans"/>
                <a:ea typeface="DejaVu Sans"/>
                <a:cs typeface="DejaVu Sans"/>
              </a:rPr>
              <a:t> of </a:t>
            </a:r>
            <a:r>
              <a:rPr lang="it-IT" sz="2100" dirty="0" err="1">
                <a:solidFill>
                  <a:srgbClr val="526276"/>
                </a:solidFill>
                <a:latin typeface="DejaVu Sans"/>
                <a:ea typeface="DejaVu Sans"/>
                <a:cs typeface="DejaVu Sans"/>
              </a:rPr>
              <a:t>mistakes</a:t>
            </a:r>
            <a:r>
              <a:rPr lang="it-IT" sz="210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i="0" smtClean="0">
                          <a:solidFill>
                            <a:srgbClr val="087F83"/>
                          </a:solidFill>
                          <a:latin typeface="Cambria Math" panose="02040503050406030204" pitchFamily="18" charset="0"/>
                          <a:ea typeface="Cambria Math"/>
                          <a:cs typeface="Cambria Math"/>
                        </a:rPr>
                        <m:t>𝛉</m:t>
                      </m:r>
                      <m:r>
                        <a:rPr lang="it-IT" sz="2700" b="0" i="0" smtClean="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−5.75,0,1</m:t>
                              </m:r>
                            </m:e>
                          </m:d>
                        </m:e>
                        <m:sup>
                          <m:r>
                            <a:rPr lang="it-IT" sz="2700" b="0" i="1" smtClean="0">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smtClean="0">
                          <a:solidFill>
                            <a:srgbClr val="087F83"/>
                          </a:solidFill>
                          <a:latin typeface="Cambria Math" panose="02040503050406030204" pitchFamily="18" charset="0"/>
                          <a:ea typeface="Cambria Math"/>
                          <a:cs typeface="Cambria Math"/>
                        </a:rPr>
                        <m:t>𝛉</m:t>
                      </m:r>
                      <m:r>
                        <a:rPr lang="it-IT" sz="270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m:t>
                              </m:r>
                              <m:r>
                                <a:rPr lang="it-IT" sz="2700" b="0" i="1" smtClean="0">
                                  <a:solidFill>
                                    <a:srgbClr val="087F83"/>
                                  </a:solidFill>
                                  <a:latin typeface="Cambria Math" panose="02040503050406030204" pitchFamily="18" charset="0"/>
                                  <a:ea typeface="Cambria Math"/>
                                </a:rPr>
                                <m:t>−</m:t>
                              </m:r>
                              <m:r>
                                <a:rPr lang="it-IT" sz="2700" i="1">
                                  <a:solidFill>
                                    <a:srgbClr val="087F83"/>
                                  </a:solidFill>
                                  <a:latin typeface="Cambria Math" panose="02040503050406030204" pitchFamily="18" charset="0"/>
                                  <a:ea typeface="Cambria Math"/>
                                </a:rPr>
                                <m:t>0</m:t>
                              </m:r>
                              <m:r>
                                <a:rPr lang="it-IT" sz="2700" b="0" i="1" smtClean="0">
                                  <a:solidFill>
                                    <a:srgbClr val="087F83"/>
                                  </a:solidFill>
                                  <a:latin typeface="Cambria Math" panose="02040503050406030204" pitchFamily="18" charset="0"/>
                                  <a:ea typeface="Cambria Math"/>
                                </a:rPr>
                                <m:t>.6</m:t>
                              </m:r>
                              <m:r>
                                <a:rPr lang="it-IT" sz="2700" i="1">
                                  <a:solidFill>
                                    <a:srgbClr val="087F83"/>
                                  </a:solidFill>
                                  <a:latin typeface="Cambria Math" panose="02040503050406030204" pitchFamily="18" charset="0"/>
                                  <a:ea typeface="Cambria Math"/>
                                </a:rPr>
                                <m:t>,1</m:t>
                              </m:r>
                            </m:e>
                          </m:d>
                        </m:e>
                        <m:sup>
                          <m:r>
                            <a:rPr lang="it-IT" sz="2700" i="1">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l="-3725" r="-2212"/>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91429AF-C9F4-4577-9A43-952AAEF55B5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B24D9DCE-6359-4148-B73A-1D4D4D26EAA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DC45E5F1-199C-4702-B973-BE05D9671B7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p:sp>
        <p:nvSpPr>
          <p:cNvPr id="4" name="agenda_0">
            <a:extLst>
              <a:ext uri="{FF2B5EF4-FFF2-40B4-BE49-F238E27FC236}">
                <a16:creationId xmlns:a16="http://schemas.microsoft.com/office/drawing/2014/main" id="{15B1D87C-22DA-4ACD-AF84-14784CB18DFD}"/>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F8BB44D-C2A4-4278-A20F-C4DFAB22393E}"/>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B530C4F8-AA01-4C12-A283-22893A1BEDDB}"/>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E9488CD0-123F-4F69-8212-5A006220B060}"/>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a:t>
                </a:r>
                <a:r>
                  <a:rPr lang="en-GB" sz="2300" b="0" dirty="0">
                    <a:solidFill>
                      <a:srgbClr val="FF0000"/>
                    </a:solidFill>
                    <a:latin typeface="DejaVu Sans"/>
                    <a:ea typeface="DejaVu Sans"/>
                    <a:cs typeface="DejaVu Sans"/>
                  </a:rPr>
                  <a:t>smallest mistake count</a:t>
                </a:r>
                <a:r>
                  <a:rPr lang="en-GB" sz="2300" b="0" dirty="0">
                    <a:solidFill>
                      <a:srgbClr val="526276"/>
                    </a:solidFill>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r>
                  <a:rPr lang="it-IT" sz="2300" b="0" dirty="0">
                    <a:solidFill>
                      <a:srgbClr val="526276"/>
                    </a:solidFill>
                    <a:latin typeface="DejaVu Sans"/>
                    <a:ea typeface="DejaVu Sans"/>
                    <a:cs typeface="DejaVu Sans"/>
                  </a:rPr>
                  <a:t> the </a:t>
                </a:r>
                <a:r>
                  <a:rPr lang="it-IT" sz="2300" b="0" dirty="0" err="1">
                    <a:solidFill>
                      <a:srgbClr val="526276"/>
                    </a:solidFill>
                    <a:latin typeface="DejaVu Sans"/>
                    <a:ea typeface="DejaVu Sans"/>
                    <a:cs typeface="DejaVu Sans"/>
                  </a:rPr>
                  <a:t>empirical</a:t>
                </a:r>
                <a:r>
                  <a:rPr lang="it-IT" sz="2300" b="0" dirty="0">
                    <a:solidFill>
                      <a:srgbClr val="526276"/>
                    </a:solidFill>
                    <a:latin typeface="DejaVu Sans"/>
                    <a:ea typeface="DejaVu Sans"/>
                    <a:cs typeface="DejaVu Sans"/>
                  </a:rPr>
                  <a:t> 0-1 </a:t>
                </a:r>
                <a:r>
                  <a:rPr lang="it-IT" sz="2300" b="0" dirty="0" err="1">
                    <a:solidFill>
                      <a:srgbClr val="526276"/>
                    </a:solidFill>
                    <a:latin typeface="DejaVu Sans"/>
                    <a:ea typeface="DejaVu Sans"/>
                    <a:cs typeface="DejaVu Sans"/>
                  </a:rPr>
                  <a:t>loss</a:t>
                </a:r>
                <a:r>
                  <a:rPr lang="it-IT" sz="2300" b="0" dirty="0">
                    <a:solidFill>
                      <a:srgbClr val="526276"/>
                    </a:solidFill>
                    <a:latin typeface="DejaVu Sans"/>
                    <a:ea typeface="DejaVu Sans"/>
                    <a:cs typeface="DejaVu Sans"/>
                  </a:rPr>
                  <a:t>:</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𝛉</m:t>
                          </m:r>
                        </m:e>
                      </m:d>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e>
                          </m:d>
                        </m:e>
                      </m:nary>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e>
                          </m:d>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d>
                        <m:dPr>
                          <m:ctrlPr>
                            <a:rPr lang="en-GB" sz="2700" i="1">
                              <a:solidFill>
                                <a:srgbClr val="087F83"/>
                              </a:solidFill>
                              <a:latin typeface="Cambria Math" panose="02040503050406030204" pitchFamily="18" charset="0"/>
                              <a:ea typeface="Cambria Math"/>
                              <a:cs typeface="Cambria Math"/>
                            </a:rPr>
                          </m:ctrlPr>
                        </m:dPr>
                        <m:e>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e>
                      </m:d>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chemeClr val="tx2"/>
                </a:solidFill>
                <a:latin typeface="DejaVu Sans"/>
                <a:ea typeface="DejaVu Sans"/>
                <a:cs typeface="DejaVu Sans"/>
              </a:rPr>
              <a:t>The count</a:t>
            </a:r>
            <a:r>
              <a:rPr lang="it-IT" sz="1875" b="0" dirty="0">
                <a:solidFill>
                  <a:schemeClr val="tx2"/>
                </a:solidFill>
                <a:latin typeface="DejaVu Sans"/>
                <a:ea typeface="DejaVu Sans"/>
                <a:cs typeface="DejaVu Sans"/>
              </a:rPr>
              <a:t> </a:t>
            </a:r>
            <a:r>
              <a:rPr lang="it-IT" sz="1875" b="0" dirty="0" err="1">
                <a:solidFill>
                  <a:schemeClr val="tx2"/>
                </a:solidFill>
                <a:latin typeface="DejaVu Sans"/>
                <a:ea typeface="DejaVu Sans"/>
                <a:cs typeface="DejaVu Sans"/>
              </a:rPr>
              <a:t>is</a:t>
            </a:r>
            <a:r>
              <a:rPr lang="it-IT" sz="1875" b="0" dirty="0">
                <a:solidFill>
                  <a:schemeClr val="tx2"/>
                </a:solidFill>
                <a:latin typeface="DejaVu Sans"/>
                <a:ea typeface="DejaVu Sans"/>
                <a:cs typeface="DejaVu Sans"/>
              </a:rPr>
              <a:t> </a:t>
            </a:r>
            <a:r>
              <a:rPr lang="it-IT" sz="1875" b="0" dirty="0" err="1">
                <a:solidFill>
                  <a:srgbClr val="FF0000"/>
                </a:solidFill>
                <a:latin typeface="DejaVu Sans"/>
                <a:ea typeface="DejaVu Sans"/>
                <a:cs typeface="DejaVu Sans"/>
              </a:rPr>
              <a:t>locally</a:t>
            </a:r>
            <a:r>
              <a:rPr lang="it-IT" sz="1875" b="0" dirty="0">
                <a:solidFill>
                  <a:srgbClr val="FF0000"/>
                </a:solidFill>
                <a:latin typeface="DejaVu Sans"/>
                <a:ea typeface="DejaVu Sans"/>
                <a:cs typeface="DejaVu Sans"/>
              </a:rPr>
              <a:t> </a:t>
            </a:r>
            <a:r>
              <a:rPr lang="it-IT" sz="1875" b="0" dirty="0" err="1">
                <a:solidFill>
                  <a:srgbClr val="FF0000"/>
                </a:solidFill>
                <a:latin typeface="DejaVu Sans"/>
                <a:ea typeface="DejaVu Sans"/>
                <a:cs typeface="DejaVu Sans"/>
              </a:rPr>
              <a:t>constant</a:t>
            </a:r>
            <a:r>
              <a:rPr lang="it-IT" sz="1875" b="0" dirty="0">
                <a:solidFill>
                  <a:srgbClr val="FF0000"/>
                </a:solidFill>
                <a:latin typeface="DejaVu Sans"/>
                <a:ea typeface="DejaVu Sans"/>
                <a:cs typeface="DejaVu Sans"/>
              </a:rPr>
              <a:t> </a:t>
            </a:r>
            <a:r>
              <a:rPr lang="it-IT" sz="1875" b="0" dirty="0">
                <a:solidFill>
                  <a:schemeClr val="tx2"/>
                </a:solidFill>
                <a:latin typeface="DejaVu Sans"/>
                <a:ea typeface="DejaVu Sans"/>
                <a:cs typeface="DejaVu Sans"/>
              </a:rPr>
              <a:t>and</a:t>
            </a:r>
            <a:r>
              <a:rPr sz="1875" b="0" dirty="0">
                <a:solidFill>
                  <a:schemeClr val="tx2"/>
                </a:solidFill>
                <a:latin typeface="DejaVu Sans"/>
                <a:ea typeface="DejaVu Sans"/>
                <a:cs typeface="DejaVu Sans"/>
              </a:rPr>
              <a: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074885"/>
            <a:ext cx="10744200" cy="1157666"/>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the </a:t>
            </a:r>
            <a:r>
              <a:rPr lang="it-IT" sz="2100" b="0" dirty="0" err="1">
                <a:solidFill>
                  <a:srgbClr val="FF0000"/>
                </a:solidFill>
                <a:latin typeface="DejaVu Sans"/>
                <a:ea typeface="DejaVu Sans"/>
                <a:cs typeface="DejaVu Sans"/>
              </a:rPr>
              <a:t>signs</a:t>
            </a:r>
            <a:r>
              <a:rPr lang="it-IT" sz="2100" b="0" dirty="0">
                <a:solidFill>
                  <a:srgbClr val="526276"/>
                </a:solidFill>
                <a:latin typeface="DejaVu Sans"/>
                <a:ea typeface="DejaVu Sans"/>
                <a:cs typeface="DejaVu Sans"/>
              </a:rPr>
              <a:t> of the scores</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and </a:t>
            </a:r>
            <a:r>
              <a:rPr lang="it-IT" sz="2100" dirty="0" err="1">
                <a:solidFill>
                  <a:srgbClr val="526276"/>
                </a:solidFill>
                <a:latin typeface="DejaVu Sans"/>
                <a:ea typeface="DejaVu Sans"/>
                <a:cs typeface="DejaVu Sans"/>
              </a:rPr>
              <a:t>hence</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all predicted labels</a:t>
            </a:r>
            <a:r>
              <a:rPr lang="it-IT" sz="2100" b="0" dirty="0">
                <a:solidFill>
                  <a:srgbClr val="FF0000"/>
                </a:solidFill>
                <a:latin typeface="DejaVu Sans"/>
                <a:ea typeface="DejaVu Sans"/>
                <a:cs typeface="DejaVu Sans"/>
              </a:rPr>
              <a:t> stay the </a:t>
            </a:r>
            <a:r>
              <a:rPr lang="it-IT" sz="2100" b="0" dirty="0" err="1">
                <a:solidFill>
                  <a:srgbClr val="FF0000"/>
                </a:solidFill>
                <a:latin typeface="DejaVu Sans"/>
                <a:ea typeface="DejaVu Sans"/>
                <a:cs typeface="DejaVu Sans"/>
              </a:rPr>
              <a:t>same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467164"/>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467164"/>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785997"/>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785997"/>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878797"/>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878797"/>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864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
        <p:nvSpPr>
          <p:cNvPr id="11" name="CasellaDiTesto 10">
            <a:extLst>
              <a:ext uri="{FF2B5EF4-FFF2-40B4-BE49-F238E27FC236}">
                <a16:creationId xmlns:a16="http://schemas.microsoft.com/office/drawing/2014/main" id="{5732A688-AE50-34BA-F925-E334BA09DFA6}"/>
              </a:ext>
            </a:extLst>
          </p:cNvPr>
          <p:cNvSpPr txBox="1"/>
          <p:nvPr/>
        </p:nvSpPr>
        <p:spPr>
          <a:xfrm>
            <a:off x="1848612" y="3304713"/>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r>
              <a:rPr lang="en-GB" sz="2100" dirty="0">
                <a:solidFill>
                  <a:srgbClr val="FF0000"/>
                </a:solidFill>
                <a:latin typeface="DejaVu Sans"/>
                <a:ea typeface="DejaVu Sans"/>
                <a:cs typeface="DejaVu Sans"/>
              </a:rPr>
              <a:t>gradient</a:t>
            </a:r>
            <a:r>
              <a:rPr lang="en-GB" sz="2100" dirty="0">
                <a:solidFill>
                  <a:srgbClr val="526276"/>
                </a:solidFill>
                <a:latin typeface="DejaVu Sans"/>
                <a:ea typeface="DejaVu Sans"/>
                <a:cs typeface="DejaVu Sans"/>
              </a:rPr>
              <a:t> of a </a:t>
            </a:r>
            <a:r>
              <a:rPr lang="en-GB" sz="2100" dirty="0">
                <a:solidFill>
                  <a:srgbClr val="FF0000"/>
                </a:solidFill>
                <a:latin typeface="DejaVu Sans"/>
                <a:ea typeface="DejaVu Sans"/>
                <a:cs typeface="DejaVu Sans"/>
              </a:rPr>
              <a:t>locally constant</a:t>
            </a:r>
            <a:r>
              <a:rPr lang="en-GB" sz="2100" dirty="0">
                <a:solidFill>
                  <a:srgbClr val="526276"/>
                </a:solidFill>
                <a:latin typeface="DejaVu Sans"/>
                <a:ea typeface="DejaVu Sans"/>
                <a:cs typeface="DejaVu Sans"/>
              </a:rPr>
              <a:t> function is </a:t>
            </a:r>
            <a:r>
              <a:rPr lang="en-GB" sz="2100" dirty="0">
                <a:solidFill>
                  <a:srgbClr val="FF0000"/>
                </a:solidFill>
                <a:latin typeface="DejaVu Sans"/>
                <a:ea typeface="DejaVu Sans"/>
                <a:cs typeface="DejaVu Sans"/>
              </a:rPr>
              <a:t>zero</a:t>
            </a:r>
            <a:r>
              <a:rPr lang="en-GB" sz="2100" dirty="0">
                <a:solidFill>
                  <a:srgbClr val="526276"/>
                </a:solidFill>
                <a:latin typeface="DejaVu Sans"/>
                <a:ea typeface="DejaVu Sans"/>
                <a:cs typeface="DejaVu Sans"/>
              </a:rPr>
              <a:t>!</a:t>
            </a:r>
            <a:endParaRPr lang="en-GB" sz="2100" b="0" dirty="0">
              <a:solidFill>
                <a:srgbClr val="526276"/>
              </a:solidFill>
              <a:latin typeface="DejaVu Sans"/>
              <a:ea typeface="DejaVu Sans"/>
              <a:cs typeface="DejaVu Sans"/>
            </a:endParaRPr>
          </a:p>
        </p:txBody>
      </p:sp>
      <p:sp>
        <p:nvSpPr>
          <p:cNvPr id="13" name="CasellaDiTesto 12">
            <a:extLst>
              <a:ext uri="{FF2B5EF4-FFF2-40B4-BE49-F238E27FC236}">
                <a16:creationId xmlns:a16="http://schemas.microsoft.com/office/drawing/2014/main" id="{600CEF02-44AA-C08B-C3AB-F56058D9B240}"/>
              </a:ext>
            </a:extLst>
          </p:cNvPr>
          <p:cNvSpPr txBox="1"/>
          <p:nvPr/>
        </p:nvSpPr>
        <p:spPr>
          <a:xfrm>
            <a:off x="2220087" y="4535614"/>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a:t>
            </a: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11"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a:t>
                </a:r>
                <a:r>
                  <a:rPr lang="it-IT" sz="2100" b="0" dirty="0">
                    <a:solidFill>
                      <a:srgbClr val="FF0000"/>
                    </a:solidFill>
                    <a:latin typeface="DejaVu Sans"/>
                    <a:ea typeface="DejaVu Sans"/>
                    <a:cs typeface="DejaVu Sans"/>
                  </a:rPr>
                  <a:t>observed class is </a:t>
                </a:r>
                <a14:m>
                  <m:oMath xmlns:m="http://schemas.openxmlformats.org/officeDocument/2006/math">
                    <m:r>
                      <a:rPr lang="it-IT" sz="2100" b="0" i="1" dirty="0" smtClean="0">
                        <a:solidFill>
                          <a:srgbClr val="FF0000"/>
                        </a:solidFill>
                        <a:latin typeface="Cambria Math" panose="02040503050406030204" pitchFamily="18" charset="0"/>
                        <a:ea typeface="DejaVu Sans"/>
                        <a:cs typeface="DejaVu Sans"/>
                      </a:rPr>
                      <m:t>0</m:t>
                    </m:r>
                  </m:oMath>
                </a14:m>
                <a:r>
                  <a:rPr sz="2100" b="0" dirty="0">
                    <a:solidFill>
                      <a:srgbClr val="526276"/>
                    </a:solidFill>
                    <a:latin typeface="DejaVu Sans"/>
                    <a:ea typeface="DejaVu Sans"/>
                    <a:cs typeface="DejaVu Sans"/>
                  </a:rPr>
                  <a:t>. Both predictions below choose class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DF7D6D0B-B562-469C-BE8B-A06E1BBE013B}"/>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a:t>
            </a:r>
            <a:r>
              <a:rPr sz="2025" b="0" dirty="0">
                <a:solidFill>
                  <a:srgbClr val="FF0000"/>
                </a:solidFill>
                <a:latin typeface="DejaVu Sans"/>
                <a:ea typeface="DejaVu Sans"/>
                <a:cs typeface="DejaVu Sans"/>
              </a:rPr>
              <a:t>penalise assigning low probability to the observed class</a:t>
            </a:r>
            <a:r>
              <a:rPr sz="2025" b="0"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2902700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100584" y="333375"/>
            <a:ext cx="1216152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err="1">
                <a:solidFill>
                  <a:srgbClr val="182D45"/>
                </a:solidFill>
                <a:latin typeface="DejaVu Sans"/>
                <a:ea typeface="DejaVu Sans"/>
                <a:cs typeface="DejaVu Sans"/>
              </a:rPr>
              <a:t>Logistic</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lang="it-IT" sz="3150" b="1" dirty="0">
                <a:solidFill>
                  <a:srgbClr val="182D45"/>
                </a:solidFill>
                <a:latin typeface="DejaVu Sans"/>
                <a:ea typeface="DejaVu Sans"/>
                <a:cs typeface="DejaVu Sans"/>
              </a:rPr>
              <a:t>: a surrogate</a:t>
            </a:r>
            <a:r>
              <a:rPr sz="3150" b="1" dirty="0">
                <a:solidFill>
                  <a:srgbClr val="182D45"/>
                </a:solidFill>
                <a:latin typeface="DejaVu Sans"/>
                <a:ea typeface="DejaVu Sans"/>
                <a:cs typeface="DejaVu Sans"/>
              </a:rPr>
              <a:t> for fitting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0&lt;</m:t>
                    </m:r>
                    <m:r>
                      <a:rPr lang="it-IT" sz="2100" b="0" i="1" dirty="0" smtClean="0">
                        <a:solidFill>
                          <a:srgbClr val="526276"/>
                        </a:solidFill>
                        <a:latin typeface="Cambria Math" panose="02040503050406030204" pitchFamily="18" charset="0"/>
                        <a:ea typeface="DejaVu Sans"/>
                        <a:cs typeface="DejaVu Sans"/>
                      </a:rPr>
                      <m:t>𝑝</m:t>
                    </m:r>
                    <m:r>
                      <a:rPr lang="it-IT" sz="2100" b="0" i="1" dirty="0" smtClean="0">
                        <a:solidFill>
                          <a:srgbClr val="526276"/>
                        </a:solidFill>
                        <a:latin typeface="Cambria Math" panose="02040503050406030204" pitchFamily="18" charset="0"/>
                        <a:ea typeface="DejaVu Sans"/>
                        <a:cs typeface="DejaVu Sans"/>
                      </a:rPr>
                      <m:t>&lt;1 </m:t>
                    </m:r>
                  </m:oMath>
                </a14:m>
                <a:r>
                  <a:rPr sz="2100" b="0" dirty="0">
                    <a:solidFill>
                      <a:srgbClr val="526276"/>
                    </a:solidFill>
                    <a:latin typeface="DejaVu Sans"/>
                    <a:ea typeface="DejaVu Sans"/>
                    <a:cs typeface="DejaVu Sans"/>
                  </a:rPr>
                  <a:t>and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𝑦</m:t>
                    </m:r>
                    <m:r>
                      <a:rPr lang="it-IT" sz="2100" b="0" i="1" dirty="0" smtClean="0">
                        <a:solidFill>
                          <a:srgbClr val="526276"/>
                        </a:solidFill>
                        <a:latin typeface="Cambria Math" panose="02040503050406030204" pitchFamily="18" charset="0"/>
                        <a:ea typeface="DejaVu Sans"/>
                        <a:cs typeface="DejaVu Sans"/>
                      </a:rPr>
                      <m:t>∈{0, 1}</m:t>
                    </m:r>
                  </m:oMath>
                </a14:m>
                <a:r>
                  <a:rPr sz="2100" b="0" dirty="0">
                    <a:solidFill>
                      <a:srgbClr val="526276"/>
                    </a:solidFill>
                    <a:latin typeface="DejaVu Sans"/>
                    <a:ea typeface="DejaVu Sans"/>
                    <a:cs typeface="DejaVu Sans"/>
                  </a:rPr>
                  <a:t>, take the </a:t>
                </a:r>
                <a:r>
                  <a:rPr sz="2100" b="0" dirty="0">
                    <a:solidFill>
                      <a:srgbClr val="FF0000"/>
                    </a:solidFill>
                    <a:latin typeface="DejaVu Sans"/>
                    <a:ea typeface="DejaVu Sans"/>
                    <a:cs typeface="DejaVu Sans"/>
                  </a:rPr>
                  <a:t>negative logarithm</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of the probability assigned to the observed class.</a:t>
                </a:r>
              </a:p>
            </p:txBody>
          </p:sp>
        </mc:Choice>
        <mc:Fallback xmlns="">
          <p:sp>
            <p:nvSpPr>
              <p:cNvPr id="2" name="lead">
                <a:extLst>
                  <a:ext uri="{FF2B5EF4-FFF2-40B4-BE49-F238E27FC236}">
                    <a16:creationId xmlns:a16="http://schemas.microsoft.com/office/drawing/2014/main" id="{1AB1B69D-BFE0-47A5-9F2B-E48BEE8CF2B3}"/>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t="-14679" b="-2568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146304" y="1916332"/>
                <a:ext cx="11899392"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it-IT" sz="2900" b="0" i="0" smtClean="0">
                          <a:solidFill>
                            <a:srgbClr val="087F83"/>
                          </a:solidFill>
                          <a:latin typeface="Cambria Math" panose="02040503050406030204" pitchFamily="18" charset="0"/>
                          <a:ea typeface="Cambria Math"/>
                          <a:cs typeface="Cambria Math"/>
                        </a:rPr>
                        <m:t>=</m:t>
                      </m:r>
                      <m:r>
                        <a:rPr lang="en-GB" sz="3200" smtClean="0">
                          <a:solidFill>
                            <a:srgbClr val="087F83"/>
                          </a:solidFill>
                          <a:latin typeface="Cambria Math"/>
                          <a:ea typeface="Cambria Math"/>
                          <a:cs typeface="Cambria Math"/>
                        </a:rPr>
                        <m:t>−</m:t>
                      </m:r>
                      <m:r>
                        <a:rPr lang="en-GB" sz="3200" smtClean="0">
                          <a:solidFill>
                            <a:srgbClr val="087F83"/>
                          </a:solidFill>
                          <a:latin typeface="Cambria Math"/>
                          <a:ea typeface="Cambria Math"/>
                          <a:cs typeface="Cambria Math"/>
                        </a:rPr>
                        <m:t>𝑦</m:t>
                      </m:r>
                      <m:r>
                        <m:rPr>
                          <m:sty m:val="p"/>
                        </m:rPr>
                        <a:rPr lang="en-GB" sz="3200" smtClean="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𝑝</m:t>
                          </m:r>
                        </m:e>
                      </m:d>
                      <m:r>
                        <a:rPr lang="en-GB" sz="3200">
                          <a:solidFill>
                            <a:srgbClr val="087F83"/>
                          </a:solidFill>
                          <a:latin typeface="Cambria Math"/>
                          <a:ea typeface="Cambria Math"/>
                          <a:cs typeface="Cambria Math"/>
                        </a:rPr>
                        <m:t>−</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𝑦</m:t>
                          </m:r>
                        </m:e>
                      </m:d>
                      <m:r>
                        <m:rPr>
                          <m:sty m:val="p"/>
                        </m:rPr>
                        <a:rPr lang="en-GB" sz="320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146304" y="1916332"/>
                <a:ext cx="11899392" cy="12668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a:t>
            </a:r>
            <a:r>
              <a:rPr sz="1725" b="0" dirty="0">
                <a:solidFill>
                  <a:srgbClr val="FF0000"/>
                </a:solidFill>
                <a:latin typeface="DejaVu Sans"/>
                <a:ea typeface="DejaVu Sans"/>
                <a:cs typeface="DejaVu Sans"/>
              </a:rPr>
              <a:t>binary cross-entropy</a:t>
            </a:r>
            <a:r>
              <a:rPr sz="1725" b="0" dirty="0">
                <a:solidFill>
                  <a:srgbClr val="526276"/>
                </a:solidFill>
                <a:latin typeface="DejaVu Sans"/>
                <a:ea typeface="DejaVu Sans"/>
                <a:cs typeface="DejaVu Sans"/>
              </a:rPr>
              <a:t>. We use natural logarithms.</a:t>
            </a:r>
          </a:p>
        </p:txBody>
      </p:sp>
      <p:sp>
        <p:nvSpPr>
          <p:cNvPr id="6" name="CasellaDiTesto 5">
            <a:extLst>
              <a:ext uri="{FF2B5EF4-FFF2-40B4-BE49-F238E27FC236}">
                <a16:creationId xmlns:a16="http://schemas.microsoft.com/office/drawing/2014/main" id="{63D6C8E2-16CC-19D2-23CC-49A7A2E9563D}"/>
              </a:ext>
            </a:extLst>
          </p:cNvPr>
          <p:cNvSpPr txBox="1"/>
          <p:nvPr/>
        </p:nvSpPr>
        <p:spPr>
          <a:xfrm>
            <a:off x="750189" y="3195063"/>
            <a:ext cx="11167872"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a:t>
            </a:r>
            <a:r>
              <a:rPr lang="en-GB" sz="2100" b="0" dirty="0">
                <a:solidFill>
                  <a:srgbClr val="FF0000"/>
                </a:solidFill>
                <a:latin typeface="DejaVu Sans"/>
                <a:ea typeface="DejaVu Sans"/>
                <a:cs typeface="DejaVu Sans"/>
              </a:rPr>
              <a:t>logistic loss </a:t>
            </a:r>
            <a:r>
              <a:rPr lang="en-GB" sz="2100" b="0" dirty="0">
                <a:solidFill>
                  <a:srgbClr val="526276"/>
                </a:solidFill>
                <a:latin typeface="DejaVu Sans"/>
                <a:ea typeface="DejaVu Sans"/>
                <a:cs typeface="DejaVu Sans"/>
              </a:rPr>
              <a:t>makes us pay the negative logarithm</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of the probability we assign to the correct label.</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solidFill>
                  <a:srgbClr val="FF0000"/>
                </a:solidFill>
                <a:latin typeface="DejaVu Sans"/>
                <a:ea typeface="DejaVu Sans"/>
                <a:cs typeface="DejaVu Sans"/>
              </a:rPr>
              <a:t>probability predictions</a:t>
            </a:r>
            <a:r>
              <a:rPr sz="2100" b="0" dirty="0">
                <a:solidFill>
                  <a:srgbClr val="526276"/>
                </a:solidFill>
                <a:latin typeface="DejaVu Sans"/>
                <a:ea typeface="DejaVu Sans"/>
                <a:cs typeface="DejaVu Sans"/>
              </a:rPr>
              <a:t>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it-IT" sz="31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a:t>
                </a:r>
                <a:r>
                  <a:rPr lang="en-GB" sz="1950" b="1" dirty="0">
                    <a:solidFill>
                      <a:srgbClr val="FF0000"/>
                    </a:solidFill>
                    <a:latin typeface="DejaVu Sans"/>
                    <a:ea typeface="DejaVu Sans"/>
                    <a:cs typeface="DejaVu Sans"/>
                  </a:rPr>
                  <a:t>smooth surrogate loss</a:t>
                </a:r>
                <a:r>
                  <a:rPr lang="en-GB" sz="1950" b="1" dirty="0">
                    <a:solidFill>
                      <a:srgbClr val="182D45"/>
                    </a:solidFill>
                    <a:latin typeface="DejaVu Sans"/>
                    <a:ea typeface="DejaVu Sans"/>
                    <a:cs typeface="DejaVu Sans"/>
                  </a:rPr>
                  <a:t> using </a:t>
                </a:r>
                <a:r>
                  <a:rPr lang="en-GB" sz="1950" b="1" dirty="0">
                    <a:solidFill>
                      <a:srgbClr val="FF0000"/>
                    </a:solidFill>
                    <a:latin typeface="DejaVu Sans"/>
                    <a:ea typeface="DejaVu Sans"/>
                    <a:cs typeface="DejaVu Sans"/>
                  </a:rPr>
                  <a:t>gradient descent</a:t>
                </a:r>
                <a:r>
                  <a:rPr lang="en-GB" sz="1950" b="1" dirty="0">
                    <a:solidFill>
                      <a:srgbClr val="182D45"/>
                    </a:solidFill>
                    <a:latin typeface="DejaVu Sans"/>
                    <a:ea typeface="DejaVu Sans"/>
                    <a:cs typeface="DejaVu Sans"/>
                  </a:rPr>
                  <a:t>,</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the two losses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A97DD64-BC74-4CC7-A2A4-30D860CD4417}"/>
                  </a:ext>
                </a:extLst>
              </p:cNvPr>
              <p:cNvSpPr>
                <a:spLocks noGrp="1"/>
              </p:cNvSpPr>
              <p:nvPr/>
            </p:nvSpPr>
            <p:spPr>
              <a:xfrm>
                <a:off x="723900" y="10287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A mistake gives the observed class probability at most </a:t>
                </a:r>
                <a14:m>
                  <m:oMath xmlns:m="http://schemas.openxmlformats.org/officeDocument/2006/math">
                    <m:r>
                      <a:rPr lang="en-GB" sz="2050" b="0" i="1" dirty="0" smtClean="0">
                        <a:solidFill>
                          <a:srgbClr val="526276"/>
                        </a:solidFill>
                        <a:latin typeface="Cambria Math" panose="02040503050406030204" pitchFamily="18" charset="0"/>
                        <a:ea typeface="DejaVu Sans"/>
                        <a:cs typeface="DejaVu Sans"/>
                      </a:rPr>
                      <m:t>1/2</m:t>
                    </m:r>
                  </m:oMath>
                </a14:m>
                <a:r>
                  <a:rPr lang="en-GB" sz="2050" b="0" dirty="0">
                    <a:solidFill>
                      <a:srgbClr val="526276"/>
                    </a:solidFill>
                    <a:latin typeface="DejaVu Sans"/>
                    <a:ea typeface="DejaVu Sans"/>
                    <a:cs typeface="DejaVu Sans"/>
                  </a:rPr>
                  <a:t>,</a:t>
                </a:r>
              </a:p>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so its logistic loss is at least </a:t>
                </a:r>
                <a14:m>
                  <m:oMath xmlns:m="http://schemas.openxmlformats.org/officeDocument/2006/math">
                    <m:r>
                      <a:rPr lang="it-IT" sz="2050" b="0" i="0" dirty="0" smtClean="0">
                        <a:solidFill>
                          <a:srgbClr val="526276"/>
                        </a:solidFill>
                        <a:latin typeface="Cambria Math" panose="02040503050406030204" pitchFamily="18" charset="0"/>
                        <a:ea typeface="DejaVu Sans"/>
                        <a:cs typeface="DejaVu Sans"/>
                      </a:rPr>
                      <m:t>−</m:t>
                    </m:r>
                    <m:r>
                      <m:rPr>
                        <m:sty m:val="p"/>
                      </m:rPr>
                      <a:rPr lang="it-IT" sz="2050" b="0" i="0" dirty="0" smtClean="0">
                        <a:solidFill>
                          <a:srgbClr val="526276"/>
                        </a:solidFill>
                        <a:latin typeface="Cambria Math" panose="02040503050406030204" pitchFamily="18" charset="0"/>
                        <a:ea typeface="DejaVu Sans"/>
                        <a:cs typeface="DejaVu Sans"/>
                      </a:rPr>
                      <m:t>log</m:t>
                    </m:r>
                    <m:d>
                      <m:dPr>
                        <m:ctrlPr>
                          <a:rPr lang="it-IT" sz="2050" b="0" i="1" dirty="0" smtClean="0">
                            <a:solidFill>
                              <a:srgbClr val="526276"/>
                            </a:solidFill>
                            <a:latin typeface="Cambria Math" panose="02040503050406030204" pitchFamily="18" charset="0"/>
                            <a:ea typeface="DejaVu Sans"/>
                            <a:cs typeface="DejaVu Sans"/>
                          </a:rPr>
                        </m:ctrlPr>
                      </m:dPr>
                      <m:e>
                        <m:f>
                          <m:fPr>
                            <m:ctrlPr>
                              <a:rPr lang="it-IT" sz="2050" b="0" i="1" dirty="0" smtClean="0">
                                <a:solidFill>
                                  <a:srgbClr val="526276"/>
                                </a:solidFill>
                                <a:latin typeface="Cambria Math" panose="02040503050406030204" pitchFamily="18" charset="0"/>
                                <a:ea typeface="DejaVu Sans"/>
                                <a:cs typeface="DejaVu Sans"/>
                              </a:rPr>
                            </m:ctrlPr>
                          </m:fPr>
                          <m:num>
                            <m:r>
                              <a:rPr lang="it-IT" sz="2050" b="0" i="1" dirty="0" smtClean="0">
                                <a:solidFill>
                                  <a:srgbClr val="526276"/>
                                </a:solidFill>
                                <a:latin typeface="Cambria Math" panose="02040503050406030204" pitchFamily="18" charset="0"/>
                                <a:ea typeface="DejaVu Sans"/>
                                <a:cs typeface="DejaVu Sans"/>
                              </a:rPr>
                              <m:t>1</m:t>
                            </m:r>
                          </m:num>
                          <m:den>
                            <m:r>
                              <a:rPr lang="it-IT" sz="2050" b="0" i="1" dirty="0" smtClean="0">
                                <a:solidFill>
                                  <a:srgbClr val="526276"/>
                                </a:solidFill>
                                <a:latin typeface="Cambria Math" panose="02040503050406030204" pitchFamily="18" charset="0"/>
                                <a:ea typeface="DejaVu Sans"/>
                                <a:cs typeface="DejaVu Sans"/>
                              </a:rPr>
                              <m:t>2</m:t>
                            </m:r>
                          </m:den>
                        </m:f>
                      </m:e>
                    </m:d>
                    <m:r>
                      <a:rPr lang="en-GB" sz="2050" b="0" i="0" dirty="0" smtClean="0">
                        <a:solidFill>
                          <a:srgbClr val="526276"/>
                        </a:solidFill>
                        <a:latin typeface="Cambria Math" panose="02040503050406030204" pitchFamily="18" charset="0"/>
                        <a:ea typeface="DejaVu Sans"/>
                        <a:cs typeface="DejaVu Sans"/>
                      </a:rPr>
                      <m:t>=</m:t>
                    </m:r>
                    <m:func>
                      <m:funcPr>
                        <m:ctrlPr>
                          <a:rPr lang="en-GB" sz="2050" b="0" i="0" dirty="0" smtClean="0">
                            <a:solidFill>
                              <a:srgbClr val="526276"/>
                            </a:solidFill>
                            <a:latin typeface="Cambria Math" panose="02040503050406030204" pitchFamily="18" charset="0"/>
                            <a:ea typeface="DejaVu Sans"/>
                            <a:cs typeface="DejaVu Sans"/>
                          </a:rPr>
                        </m:ctrlPr>
                      </m:funcPr>
                      <m:fName>
                        <m:r>
                          <m:rPr>
                            <m:sty m:val="p"/>
                          </m:rPr>
                          <a:rPr lang="en-GB" sz="2050" b="0" i="0" dirty="0" smtClean="0">
                            <a:solidFill>
                              <a:srgbClr val="526276"/>
                            </a:solidFill>
                            <a:latin typeface="Cambria Math" panose="02040503050406030204" pitchFamily="18" charset="0"/>
                            <a:ea typeface="DejaVu Sans"/>
                            <a:cs typeface="DejaVu Sans"/>
                          </a:rPr>
                          <m:t>log</m:t>
                        </m:r>
                      </m:fName>
                      <m:e>
                        <m:d>
                          <m:dPr>
                            <m:ctrlPr>
                              <a:rPr lang="en-GB" sz="2050" i="1" dirty="0">
                                <a:solidFill>
                                  <a:srgbClr val="526276"/>
                                </a:solidFill>
                                <a:latin typeface="Cambria Math" panose="02040503050406030204" pitchFamily="18" charset="0"/>
                                <a:ea typeface="DejaVu Sans"/>
                                <a:cs typeface="DejaVu Sans"/>
                              </a:rPr>
                            </m:ctrlPr>
                          </m:dPr>
                          <m:e>
                            <m:r>
                              <a:rPr lang="en-GB" sz="2050" i="1" dirty="0">
                                <a:solidFill>
                                  <a:srgbClr val="526276"/>
                                </a:solidFill>
                                <a:latin typeface="Cambria Math" panose="02040503050406030204" pitchFamily="18" charset="0"/>
                                <a:ea typeface="DejaVu Sans"/>
                                <a:cs typeface="DejaVu Sans"/>
                              </a:rPr>
                              <m:t>2</m:t>
                            </m:r>
                          </m:e>
                        </m:d>
                      </m:e>
                    </m:func>
                  </m:oMath>
                </a14:m>
                <a:r>
                  <a:rPr lang="en-GB" sz="2050" b="0" dirty="0">
                    <a:solidFill>
                      <a:srgbClr val="526276"/>
                    </a:solidFill>
                    <a:latin typeface="DejaVu Sans"/>
                    <a:ea typeface="DejaVu Sans"/>
                    <a:cs typeface="DejaVu Sans"/>
                  </a:rPr>
                  <a:t>.</a:t>
                </a:r>
                <a:endParaRPr sz="205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A97DD64-BC74-4CC7-A2A4-30D860CD4417}"/>
                  </a:ext>
                </a:extLst>
              </p:cNvPr>
              <p:cNvSpPr>
                <a:spLocks noGrp="1" noRot="1" noChangeAspect="1" noMove="1" noResize="1" noEditPoints="1" noAdjustHandles="1" noChangeArrowheads="1" noChangeShapeType="1" noTextEdit="1"/>
              </p:cNvSpPr>
              <p:nvPr/>
            </p:nvSpPr>
            <p:spPr>
              <a:xfrm>
                <a:off x="723900" y="1028700"/>
                <a:ext cx="10744200" cy="666750"/>
              </a:xfrm>
              <a:prstGeom prst="rect">
                <a:avLst/>
              </a:prstGeom>
              <a:blipFill>
                <a:blip r:embed="rId3"/>
                <a:stretch>
                  <a:fillRect t="-28440"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𝟎</m:t>
                    </m:r>
                  </m:oMath>
                </a14:m>
                <a:endParaRPr sz="2025" b="1" dirty="0">
                  <a:solidFill>
                    <a:srgbClr val="182D45"/>
                  </a:solidFill>
                  <a:latin typeface="DejaVu Sans"/>
                  <a:ea typeface="DejaVu Sans"/>
                  <a:cs typeface="DejaVu Sans"/>
                </a:endParaRPr>
              </a:p>
            </p:txBody>
          </p:sp>
        </mc:Choice>
        <mc:Fallback xmlns="">
          <p:sp>
            <p:nvSpPr>
              <p:cNvPr id="5" name="step_0_text_0">
                <a:extLst>
                  <a:ext uri="{FF2B5EF4-FFF2-40B4-BE49-F238E27FC236}">
                    <a16:creationId xmlns:a16="http://schemas.microsoft.com/office/drawing/2014/main" id="{AA5F4D47-8123-4E52-BB8C-7C64BF6F00E9}"/>
                  </a:ext>
                </a:extLst>
              </p:cNvPr>
              <p:cNvSpPr>
                <a:spLocks noGrp="1" noRot="1" noChangeAspect="1" noMove="1" noResize="1" noEditPoints="1" noAdjustHandles="1" noChangeArrowheads="1" noChangeShapeType="1" noTextEdit="1"/>
              </p:cNvSpPr>
              <p:nvPr/>
            </p:nvSpPr>
            <p:spPr>
              <a:xfrm>
                <a:off x="609600" y="1857375"/>
                <a:ext cx="5257800" cy="381000"/>
              </a:xfrm>
              <a:prstGeom prst="rect">
                <a:avLst/>
              </a:prstGeom>
              <a:blipFill>
                <a:blip r:embed="rId4"/>
                <a:stretch>
                  <a:fillRect t="-9677" b="-338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𝟏</m:t>
                    </m:r>
                  </m:oMath>
                </a14:m>
                <a:endParaRPr sz="2025" b="1" dirty="0">
                  <a:solidFill>
                    <a:srgbClr val="182D45"/>
                  </a:solidFill>
                  <a:latin typeface="DejaVu Sans"/>
                  <a:ea typeface="DejaVu Sans"/>
                  <a:cs typeface="DejaVu Sans"/>
                </a:endParaRPr>
              </a:p>
            </p:txBody>
          </p:sp>
        </mc:Choice>
        <mc:Fallback xmlns="">
          <p:sp>
            <p:nvSpPr>
              <p:cNvPr id="6" name="step_0_text_1">
                <a:extLst>
                  <a:ext uri="{FF2B5EF4-FFF2-40B4-BE49-F238E27FC236}">
                    <a16:creationId xmlns:a16="http://schemas.microsoft.com/office/drawing/2014/main" id="{0B51A1D5-3982-4D55-B430-D876AC23676A}"/>
                  </a:ext>
                </a:extLst>
              </p:cNvPr>
              <p:cNvSpPr>
                <a:spLocks noGrp="1" noRot="1" noChangeAspect="1" noMove="1" noResize="1" noEditPoints="1" noAdjustHandles="1" noChangeArrowheads="1" noChangeShapeType="1" noTextEdit="1"/>
              </p:cNvSpPr>
              <p:nvPr/>
            </p:nvSpPr>
            <p:spPr>
              <a:xfrm>
                <a:off x="6324600" y="1857375"/>
                <a:ext cx="5257800" cy="381000"/>
              </a:xfrm>
              <a:prstGeom prst="rect">
                <a:avLst/>
              </a:prstGeom>
              <a:blipFill>
                <a:blip r:embed="rId5"/>
                <a:stretch>
                  <a:fillRect t="-9677" b="-33871"/>
                </a:stretch>
              </a:blipFill>
              <a:ln w="0">
                <a:noFill/>
              </a:ln>
            </p:spPr>
            <p:txBody>
              <a:bodyPr/>
              <a:lstStyle/>
              <a:p>
                <a:r>
                  <a:rPr lang="it-IT">
                    <a:noFill/>
                  </a:rPr>
                  <a:t> </a:t>
                </a:r>
              </a:p>
            </p:txBody>
          </p:sp>
        </mc:Fallback>
      </mc:AlternateContent>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it-IT" sz="2800" b="0" i="1" smtClean="0">
                                      <a:solidFill>
                                        <a:srgbClr val="087F83"/>
                                      </a:solidFill>
                                      <a:latin typeface="Cambria Math" panose="02040503050406030204" pitchFamily="18" charset="0"/>
                                      <a:ea typeface="Cambria Math"/>
                                      <a:cs typeface="Cambria Math"/>
                                    </a:rPr>
                                    <m:t>−</m:t>
                                  </m:r>
                                  <m:f>
                                    <m:fPr>
                                      <m:ctrlPr>
                                        <a:rPr lang="it-IT" sz="2800" b="0" i="1" smtClean="0">
                                          <a:solidFill>
                                            <a:srgbClr val="087F83"/>
                                          </a:solidFill>
                                          <a:latin typeface="Cambria Math" panose="02040503050406030204" pitchFamily="18" charset="0"/>
                                          <a:ea typeface="Cambria Math"/>
                                          <a:cs typeface="Cambria Math"/>
                                        </a:rPr>
                                      </m:ctrlPr>
                                    </m:fPr>
                                    <m:num>
                                      <m:r>
                                        <a:rPr lang="it-IT" sz="2800" b="0" i="1" smtClean="0">
                                          <a:solidFill>
                                            <a:srgbClr val="087F83"/>
                                          </a:solidFill>
                                          <a:latin typeface="Cambria Math" panose="02040503050406030204" pitchFamily="18" charset="0"/>
                                          <a:ea typeface="Cambria Math"/>
                                          <a:cs typeface="Cambria Math"/>
                                        </a:rPr>
                                        <m:t>1</m:t>
                                      </m:r>
                                    </m:num>
                                    <m:den>
                                      <m:r>
                                        <a:rPr lang="it-IT" sz="2800" b="0" i="1" smtClean="0">
                                          <a:solidFill>
                                            <a:srgbClr val="087F83"/>
                                          </a:solidFill>
                                          <a:latin typeface="Cambria Math" panose="02040503050406030204" pitchFamily="18" charset="0"/>
                                          <a:ea typeface="Cambria Math"/>
                                          <a:cs typeface="Cambria Math"/>
                                        </a:rPr>
                                        <m:t>2</m:t>
                                      </m:r>
                                    </m:den>
                                  </m:f>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2</m:t>
                              </m:r>
                            </m:e>
                          </m:d>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8"/>
                <a:stretch>
                  <a:fillRect t="-3846"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2</m:t>
                                        </m:r>
                                      </m:e>
                                    </m:d>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3048762" y="5562313"/>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FF0000"/>
                </a:solidFill>
                <a:latin typeface="DejaVu Sans"/>
                <a:ea typeface="DejaVu Sans"/>
                <a:cs typeface="DejaVu Sans"/>
              </a:rPr>
              <a:t>A contro</a:t>
            </a:r>
            <a:r>
              <a:rPr lang="en-GB" sz="2100" dirty="0">
                <a:solidFill>
                  <a:srgbClr val="FF0000"/>
                </a:solidFill>
                <a:latin typeface="DejaVu Sans"/>
                <a:ea typeface="DejaVu Sans"/>
                <a:cs typeface="DejaVu Sans"/>
              </a:rPr>
              <a:t>l over the empirical logistic loss gives a control on the number of mistakes</a:t>
            </a:r>
            <a:endParaRPr lang="en-GB" sz="2100" b="0" dirty="0">
              <a:solidFill>
                <a:srgbClr val="FF0000"/>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41D7558D-557B-4EE6-99D2-CD5D588291F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0F6F35AB-3114-41F0-ACA8-2B36A4868D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44422618-3BC9-426C-AC4F-CBCD314C92EB}"/>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4" name="agenda_0">
            <a:extLst>
              <a:ext uri="{FF2B5EF4-FFF2-40B4-BE49-F238E27FC236}">
                <a16:creationId xmlns:a16="http://schemas.microsoft.com/office/drawing/2014/main" id="{D028DA07-CFF2-4959-8F9C-021737A0C0B0}"/>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FE5965A2-0838-47BE-88D9-4D7C1C2CC515}"/>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F70FD5AE-E69B-4365-AAAF-F2872D5CFB17}"/>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644E5EF4-248B-44DC-9940-1363ED5BE2CD}"/>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dirty="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dirty="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dirty="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Fix 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err="1">
                    <a:solidFill>
                      <a:srgbClr val="526276"/>
                    </a:solidFill>
                    <a:latin typeface="DejaVu Sans"/>
                    <a:ea typeface="DejaVu Sans"/>
                    <a:cs typeface="DejaVu Sans"/>
                  </a:rPr>
                  <a:t>th</a:t>
                </a:r>
                <a:r>
                  <a:rPr lang="en-GB" sz="2100" b="0" dirty="0">
                    <a:solidFill>
                      <a:srgbClr val="526276"/>
                    </a:solidFill>
                    <a:latin typeface="DejaVu Sans"/>
                    <a:ea typeface="DejaVu Sans"/>
                    <a:cs typeface="DejaVu Sans"/>
                  </a:rPr>
                  <a:t> input/output pair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1" smtClean="0">
                                <a:solidFill>
                                  <a:srgbClr val="526276"/>
                                </a:solidFill>
                                <a:latin typeface="Cambria Math" panose="02040503050406030204" pitchFamily="18" charset="0"/>
                              </a:rPr>
                              <m:t>𝑖</m:t>
                            </m:r>
                          </m:sub>
                        </m:sSub>
                        <m:r>
                          <a:rPr lang="it-IT" sz="2100" b="0" i="1"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1" smtClean="0">
                                <a:solidFill>
                                  <a:srgbClr val="526276"/>
                                </a:solidFill>
                                <a:latin typeface="Cambria Math" panose="02040503050406030204" pitchFamily="18" charset="0"/>
                              </a:rPr>
                              <m:t>𝑖</m:t>
                            </m:r>
                          </m:sub>
                        </m:sSub>
                      </m:e>
                    </m:d>
                  </m:oMath>
                </a14:m>
                <a:r>
                  <a:rPr lang="en-GB" sz="2100" b="0" dirty="0">
                    <a:solidFill>
                      <a:srgbClr val="526276"/>
                    </a:solidFill>
                    <a:latin typeface="DejaVu Sans"/>
                    <a:ea typeface="DejaVu Sans"/>
                    <a:cs typeface="DejaVu Sans"/>
                  </a:rPr>
                  <a:t> and vary the model parameters </a:t>
                </a:r>
                <a14:m>
                  <m:oMath xmlns:m="http://schemas.openxmlformats.org/officeDocument/2006/math">
                    <m:r>
                      <a:rPr lang="it-IT" sz="2100" b="1" i="0" smtClean="0">
                        <a:solidFill>
                          <a:srgbClr val="526276"/>
                        </a:solidFill>
                        <a:latin typeface="Cambria Math" panose="02040503050406030204" pitchFamily="18" charset="0"/>
                        <a:ea typeface="DejaVu Sans"/>
                        <a:cs typeface="DejaVu Sans"/>
                      </a:rPr>
                      <m:t>𝛉</m:t>
                    </m:r>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6439FC55-3D7B-4032-8BA6-02C8C6282FF2}"/>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2000" b="1" dirty="0" err="1">
                    <a:solidFill>
                      <a:srgbClr val="182D45"/>
                    </a:solidFill>
                    <a:latin typeface="DejaVu Sans"/>
                    <a:ea typeface="DejaVu Sans"/>
                    <a:cs typeface="DejaVu Sans"/>
                  </a:rPr>
                  <a:t>Define</a:t>
                </a:r>
                <a:r>
                  <a:rPr lang="it-IT" sz="2000" b="1" dirty="0">
                    <a:solidFill>
                      <a:srgbClr val="182D45"/>
                    </a:solidFill>
                    <a:latin typeface="DejaVu Sans"/>
                    <a:ea typeface="DejaVu Sans"/>
                    <a:cs typeface="DejaVu Sans"/>
                  </a:rPr>
                  <a:t> affine score </a:t>
                </a:r>
                <a:r>
                  <a:rPr lang="it-IT" sz="2000" b="1" dirty="0" err="1">
                    <a:solidFill>
                      <a:srgbClr val="182D45"/>
                    </a:solidFill>
                    <a:latin typeface="DejaVu Sans"/>
                    <a:ea typeface="DejaVu Sans"/>
                    <a:cs typeface="DejaVu Sans"/>
                  </a:rPr>
                  <a:t>corresponding</a:t>
                </a:r>
                <a:r>
                  <a:rPr lang="it-IT" sz="2000" b="1" dirty="0">
                    <a:solidFill>
                      <a:srgbClr val="182D45"/>
                    </a:solidFill>
                    <a:latin typeface="DejaVu Sans"/>
                    <a:ea typeface="DejaVu Sans"/>
                    <a:cs typeface="DejaVu Sans"/>
                  </a:rPr>
                  <a:t> to the </a:t>
                </a:r>
                <a14:m>
                  <m:oMath xmlns:m="http://schemas.openxmlformats.org/officeDocument/2006/math">
                    <m:r>
                      <a:rPr lang="it-IT" sz="2000" b="1" i="1">
                        <a:solidFill>
                          <a:srgbClr val="182D45"/>
                        </a:solidFill>
                        <a:latin typeface="Cambria Math" panose="02040503050406030204" pitchFamily="18" charset="0"/>
                        <a:ea typeface="DejaVu Sans"/>
                        <a:cs typeface="DejaVu Sans"/>
                      </a:rPr>
                      <m:t>𝒊</m:t>
                    </m:r>
                    <m:r>
                      <a:rPr lang="it-IT" sz="2000" b="1">
                        <a:solidFill>
                          <a:srgbClr val="182D45"/>
                        </a:solidFill>
                        <a:latin typeface="Cambria Math" panose="02040503050406030204" pitchFamily="18" charset="0"/>
                        <a:ea typeface="DejaVu Sans"/>
                        <a:cs typeface="DejaVu Sans"/>
                      </a:rPr>
                      <m:t>𝐭𝐡</m:t>
                    </m:r>
                  </m:oMath>
                </a14:m>
                <a:r>
                  <a:rPr lang="it-IT" sz="2000" b="1" dirty="0">
                    <a:solidFill>
                      <a:srgbClr val="182D45"/>
                    </a:solidFill>
                    <a:latin typeface="DejaVu Sans"/>
                    <a:ea typeface="DejaVu Sans"/>
                    <a:cs typeface="DejaVu Sans"/>
                  </a:rPr>
                  <a:t> input </a:t>
                </a:r>
                <a14:m>
                  <m:oMath xmlns:m="http://schemas.openxmlformats.org/officeDocument/2006/math">
                    <m:sSub>
                      <m:sSubPr>
                        <m:ctrlPr>
                          <a:rPr lang="it-IT" sz="2000" b="1">
                            <a:solidFill>
                              <a:srgbClr val="526276"/>
                            </a:solidFill>
                            <a:latin typeface="Cambria Math" panose="02040503050406030204" pitchFamily="18" charset="0"/>
                          </a:rPr>
                        </m:ctrlPr>
                      </m:sSubPr>
                      <m:e>
                        <m:r>
                          <a:rPr lang="it-IT" sz="2000" b="1">
                            <a:solidFill>
                              <a:srgbClr val="526276"/>
                            </a:solidFill>
                            <a:latin typeface="Cambria Math" panose="02040503050406030204" pitchFamily="18" charset="0"/>
                          </a:rPr>
                          <m:t>𝐱</m:t>
                        </m:r>
                      </m:e>
                      <m:sub>
                        <m:r>
                          <a:rPr lang="it-IT" sz="2000" i="1">
                            <a:solidFill>
                              <a:srgbClr val="526276"/>
                            </a:solidFill>
                            <a:latin typeface="Cambria Math" panose="02040503050406030204" pitchFamily="18" charset="0"/>
                          </a:rPr>
                          <m:t>𝑖</m:t>
                        </m:r>
                      </m:sub>
                    </m:sSub>
                  </m:oMath>
                </a14:m>
                <a:endParaRPr sz="2000" b="1" dirty="0">
                  <a:solidFill>
                    <a:srgbClr val="182D45"/>
                  </a:solidFill>
                  <a:latin typeface="DejaVu Sans"/>
                  <a:ea typeface="DejaVu Sans"/>
                  <a:cs typeface="DejaVu Sans"/>
                </a:endParaRPr>
              </a:p>
            </p:txBody>
          </p:sp>
        </mc:Choice>
        <mc:Fallback xmlns="">
          <p:sp>
            <p:nvSpPr>
              <p:cNvPr id="10" name="step_0_score_label">
                <a:extLst>
                  <a:ext uri="{FF2B5EF4-FFF2-40B4-BE49-F238E27FC236}">
                    <a16:creationId xmlns:a16="http://schemas.microsoft.com/office/drawing/2014/main" id="{7AF55A6A-7380-47FA-AA6B-57AAD61C6B9D}"/>
                  </a:ext>
                </a:extLst>
              </p:cNvPr>
              <p:cNvSpPr>
                <a:spLocks noGrp="1" noRot="1" noChangeAspect="1" noMove="1" noResize="1" noEditPoints="1" noAdjustHandles="1" noChangeArrowheads="1" noChangeShapeType="1" noTextEdit="1"/>
              </p:cNvSpPr>
              <p:nvPr/>
            </p:nvSpPr>
            <p:spPr>
              <a:xfrm>
                <a:off x="723900" y="1806131"/>
                <a:ext cx="10744200" cy="323850"/>
              </a:xfrm>
              <a:prstGeom prst="rect">
                <a:avLst/>
              </a:prstGeom>
              <a:blipFill>
                <a:blip r:embed="rId4"/>
                <a:stretch>
                  <a:fillRect t="-20755" b="-452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e>
                      </m:nary>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5"/>
                <a:stretch>
                  <a:fillRect b="-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418332"/>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a:solidFill>
                      <a:srgbClr val="182D45"/>
                    </a:solidFill>
                    <a:latin typeface="DejaVu Sans"/>
                    <a:ea typeface="DejaVu Sans"/>
                    <a:cs typeface="DejaVu Sans"/>
                  </a:rPr>
                  <a:t>Recall the </a:t>
                </a:r>
                <a:r>
                  <a:rPr lang="it-IT" sz="1875" b="1" dirty="0" err="1">
                    <a:solidFill>
                      <a:srgbClr val="182D45"/>
                    </a:solidFill>
                    <a:latin typeface="DejaVu Sans"/>
                    <a:ea typeface="DejaVu Sans"/>
                    <a:cs typeface="DejaVu Sans"/>
                  </a:rPr>
                  <a:t>definition</a:t>
                </a:r>
                <a:r>
                  <a:rPr lang="it-IT" sz="1875" b="1" dirty="0">
                    <a:solidFill>
                      <a:srgbClr val="182D45"/>
                    </a:solidFill>
                    <a:latin typeface="DejaVu Sans"/>
                    <a:ea typeface="DejaVu Sans"/>
                    <a:cs typeface="DejaVu Sans"/>
                  </a:rPr>
                  <a:t> of the </a:t>
                </a:r>
                <a:r>
                  <a:rPr lang="it-IT" sz="1875" b="1" dirty="0" err="1">
                    <a:solidFill>
                      <a:srgbClr val="182D45"/>
                    </a:solidFill>
                    <a:latin typeface="DejaVu Sans"/>
                    <a:ea typeface="DejaVu Sans"/>
                    <a:cs typeface="DejaVu Sans"/>
                  </a:rPr>
                  <a:t>sigmoid</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function</a:t>
                </a:r>
                <a:r>
                  <a:rPr lang="it-IT" sz="1875" b="1" dirty="0">
                    <a:solidFill>
                      <a:srgbClr val="182D45"/>
                    </a:solidFill>
                    <a:latin typeface="DejaVu Sans"/>
                    <a:ea typeface="DejaVu Sans"/>
                    <a:cs typeface="DejaVu Sans"/>
                  </a:rPr>
                  <a:t> </a:t>
                </a:r>
                <a14:m>
                  <m:oMath xmlns:m="http://schemas.openxmlformats.org/officeDocument/2006/math">
                    <m:r>
                      <a:rPr lang="it-IT" sz="1875" b="1" i="1" smtClean="0">
                        <a:solidFill>
                          <a:srgbClr val="182D45"/>
                        </a:solidFill>
                        <a:latin typeface="Cambria Math" panose="02040503050406030204" pitchFamily="18" charset="0"/>
                        <a:ea typeface="DejaVu Sans"/>
                        <a:cs typeface="DejaVu Sans"/>
                      </a:rPr>
                      <m:t>𝝈</m:t>
                    </m:r>
                  </m:oMath>
                </a14:m>
                <a:endParaRPr sz="1875" b="1" dirty="0">
                  <a:solidFill>
                    <a:srgbClr val="182D45"/>
                  </a:solidFill>
                  <a:latin typeface="DejaVu Sans"/>
                  <a:ea typeface="DejaVu Sans"/>
                  <a:cs typeface="DejaVu Sans"/>
                </a:endParaRPr>
              </a:p>
            </p:txBody>
          </p:sp>
        </mc:Choice>
        <mc:Fallback xmlns="">
          <p:sp>
            <p:nvSpPr>
              <p:cNvPr id="12" name="step_1_sigmoid_label">
                <a:extLst>
                  <a:ext uri="{FF2B5EF4-FFF2-40B4-BE49-F238E27FC236}">
                    <a16:creationId xmlns:a16="http://schemas.microsoft.com/office/drawing/2014/main" id="{CD6AFCEA-5A66-473E-A27B-118EB2F4D505}"/>
                  </a:ext>
                </a:extLst>
              </p:cNvPr>
              <p:cNvSpPr>
                <a:spLocks noGrp="1" noRot="1" noChangeAspect="1" noMove="1" noResize="1" noEditPoints="1" noAdjustHandles="1" noChangeArrowheads="1" noChangeShapeType="1" noTextEdit="1"/>
              </p:cNvSpPr>
              <p:nvPr/>
            </p:nvSpPr>
            <p:spPr>
              <a:xfrm>
                <a:off x="723900" y="3418332"/>
                <a:ext cx="10744200" cy="323850"/>
              </a:xfrm>
              <a:prstGeom prst="rect">
                <a:avLst/>
              </a:prstGeom>
              <a:blipFill>
                <a:blip r:embed="rId6"/>
                <a:stretch>
                  <a:fillRect t="-18868"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8980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89807"/>
                <a:ext cx="10744200" cy="8763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err="1">
                    <a:solidFill>
                      <a:srgbClr val="182D45"/>
                    </a:solidFill>
                    <a:latin typeface="DejaVu Sans"/>
                    <a:ea typeface="DejaVu Sans"/>
                    <a:cs typeface="DejaVu Sans"/>
                  </a:rPr>
                  <a:t>Define</a:t>
                </a:r>
                <a:r>
                  <a:rPr lang="it-IT" sz="1875" b="1" dirty="0">
                    <a:solidFill>
                      <a:srgbClr val="182D45"/>
                    </a:solidFill>
                    <a:latin typeface="DejaVu Sans"/>
                    <a:ea typeface="DejaVu Sans"/>
                    <a:cs typeface="DejaVu Sans"/>
                  </a:rPr>
                  <a:t> the l</a:t>
                </a:r>
                <a:r>
                  <a:rPr sz="1875" b="1" dirty="0" err="1">
                    <a:solidFill>
                      <a:srgbClr val="182D45"/>
                    </a:solidFill>
                    <a:latin typeface="DejaVu Sans"/>
                    <a:ea typeface="DejaVu Sans"/>
                    <a:cs typeface="DejaVu Sans"/>
                  </a:rPr>
                  <a:t>ogistic</a:t>
                </a:r>
                <a:r>
                  <a:rPr sz="1875" b="1" dirty="0">
                    <a:solidFill>
                      <a:srgbClr val="182D45"/>
                    </a:solidFill>
                    <a:latin typeface="DejaVu Sans"/>
                    <a:ea typeface="DejaVu Sans"/>
                    <a:cs typeface="DejaVu Sans"/>
                  </a:rPr>
                  <a:t> loss</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corresponding</a:t>
                </a:r>
                <a:r>
                  <a:rPr lang="it-IT" sz="1875" b="1" dirty="0">
                    <a:solidFill>
                      <a:srgbClr val="182D45"/>
                    </a:solidFill>
                    <a:latin typeface="DejaVu Sans"/>
                    <a:ea typeface="DejaVu Sans"/>
                    <a:cs typeface="DejaVu Sans"/>
                  </a:rPr>
                  <a:t> to the </a:t>
                </a:r>
                <a14:m>
                  <m:oMath xmlns:m="http://schemas.openxmlformats.org/officeDocument/2006/math">
                    <m:r>
                      <a:rPr lang="it-IT" b="1" i="1">
                        <a:solidFill>
                          <a:srgbClr val="182D45"/>
                        </a:solidFill>
                        <a:latin typeface="Cambria Math" panose="02040503050406030204" pitchFamily="18" charset="0"/>
                        <a:ea typeface="DejaVu Sans"/>
                        <a:cs typeface="DejaVu Sans"/>
                      </a:rPr>
                      <m:t>𝒊</m:t>
                    </m:r>
                    <m:r>
                      <a:rPr lang="it-IT" b="1">
                        <a:solidFill>
                          <a:srgbClr val="182D45"/>
                        </a:solidFill>
                        <a:latin typeface="Cambria Math" panose="02040503050406030204" pitchFamily="18" charset="0"/>
                        <a:ea typeface="DejaVu Sans"/>
                        <a:cs typeface="DejaVu Sans"/>
                      </a:rPr>
                      <m:t>𝐭𝐡</m:t>
                    </m:r>
                  </m:oMath>
                </a14:m>
                <a:r>
                  <a:rPr lang="it-IT" sz="1875" b="1" dirty="0">
                    <a:solidFill>
                      <a:srgbClr val="182D45"/>
                    </a:solidFill>
                    <a:latin typeface="DejaVu Sans"/>
                    <a:ea typeface="DejaVu Sans"/>
                    <a:cs typeface="DejaVu Sans"/>
                  </a:rPr>
                  <a:t> output </a:t>
                </a:r>
                <a14:m>
                  <m:oMath xmlns:m="http://schemas.openxmlformats.org/officeDocument/2006/math">
                    <m:sSub>
                      <m:sSubPr>
                        <m:ctrlPr>
                          <a:rPr lang="it-IT" sz="2000" i="1">
                            <a:solidFill>
                              <a:srgbClr val="526276"/>
                            </a:solidFill>
                            <a:latin typeface="Cambria Math" panose="02040503050406030204" pitchFamily="18" charset="0"/>
                          </a:rPr>
                        </m:ctrlPr>
                      </m:sSubPr>
                      <m:e>
                        <m:r>
                          <a:rPr lang="it-IT" sz="2000" i="1">
                            <a:solidFill>
                              <a:srgbClr val="526276"/>
                            </a:solidFill>
                            <a:latin typeface="Cambria Math" panose="02040503050406030204" pitchFamily="18" charset="0"/>
                          </a:rPr>
                          <m:t>𝑦</m:t>
                        </m:r>
                      </m:e>
                      <m:sub>
                        <m:r>
                          <a:rPr lang="it-IT" sz="2000" i="1">
                            <a:solidFill>
                              <a:srgbClr val="526276"/>
                            </a:solidFill>
                            <a:latin typeface="Cambria Math" panose="02040503050406030204" pitchFamily="18" charset="0"/>
                          </a:rPr>
                          <m:t>𝑖</m:t>
                        </m:r>
                      </m:sub>
                    </m:sSub>
                  </m:oMath>
                </a14:m>
                <a:endParaRPr sz="1875" b="1" dirty="0">
                  <a:solidFill>
                    <a:srgbClr val="182D45"/>
                  </a:solidFill>
                  <a:latin typeface="DejaVu Sans"/>
                  <a:ea typeface="DejaVu Sans"/>
                  <a:cs typeface="DejaVu Sans"/>
                </a:endParaRPr>
              </a:p>
            </p:txBody>
          </p:sp>
        </mc:Choice>
        <mc:Fallback xmlns="">
          <p:sp>
            <p:nvSpPr>
              <p:cNvPr id="14" name="step_2_loss_label">
                <a:extLst>
                  <a:ext uri="{FF2B5EF4-FFF2-40B4-BE49-F238E27FC236}">
                    <a16:creationId xmlns:a16="http://schemas.microsoft.com/office/drawing/2014/main" id="{03E2F58D-BAAF-47E6-B4A5-B720ED6A1FE7}"/>
                  </a:ext>
                </a:extLst>
              </p:cNvPr>
              <p:cNvSpPr>
                <a:spLocks noGrp="1" noRot="1" noChangeAspect="1" noMove="1" noResize="1" noEditPoints="1" noAdjustHandles="1" noChangeArrowheads="1" noChangeShapeType="1" noTextEdit="1"/>
              </p:cNvSpPr>
              <p:nvPr/>
            </p:nvSpPr>
            <p:spPr>
              <a:xfrm>
                <a:off x="723900" y="4948238"/>
                <a:ext cx="10744200" cy="323850"/>
              </a:xfrm>
              <a:prstGeom prst="rect">
                <a:avLst/>
              </a:prstGeom>
              <a:blipFill>
                <a:blip r:embed="rId8"/>
                <a:stretch>
                  <a:fillRect t="-16981"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loss for </a:t>
                </a:r>
                <a:r>
                  <a:rPr lang="en-GB" sz="2100" dirty="0">
                    <a:solidFill>
                      <a:srgbClr val="526276"/>
                    </a:solidFill>
                    <a:latin typeface="DejaVu Sans"/>
                    <a:ea typeface="DejaVu Sans"/>
                    <a:cs typeface="DejaVu Sans"/>
                  </a:rPr>
                  <a:t>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a:solidFill>
                      <a:srgbClr val="526276"/>
                    </a:solidFill>
                    <a:latin typeface="DejaVu Sans"/>
                    <a:ea typeface="DejaVu Sans"/>
                    <a:cs typeface="DejaVu Sans"/>
                  </a:rPr>
                  <a:t>th observation is the </a:t>
                </a:r>
                <a:r>
                  <a:rPr lang="en-GB" sz="2100" b="0" dirty="0">
                    <a:solidFill>
                      <a:srgbClr val="FF0000"/>
                    </a:solidFill>
                    <a:latin typeface="DejaVu Sans"/>
                    <a:ea typeface="DejaVu Sans"/>
                    <a:cs typeface="DejaVu Sans"/>
                  </a:rPr>
                  <a:t>composition</a:t>
                </a:r>
                <a:r>
                  <a:rPr lang="en-GB" sz="2100" b="0" dirty="0">
                    <a:solidFill>
                      <a:srgbClr val="526276"/>
                    </a:solidFill>
                    <a:latin typeface="DejaVu Sans"/>
                    <a:ea typeface="DejaVu Sans"/>
                    <a:cs typeface="DejaVu Sans"/>
                  </a:rPr>
                  <a:t> of these three functions.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AF5C4482-F65F-4CBB-8967-81326E016A0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endParaRPr lang="en-GB" sz="2025" b="1" dirty="0">
                  <a:solidFill>
                    <a:srgbClr val="182D45"/>
                  </a:solidFill>
                  <a:latin typeface="DejaVu Sans"/>
                  <a:ea typeface="DejaVu Sans"/>
                  <a:cs typeface="DejaVu Sans"/>
                </a:endParaRP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5"/>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319461"/>
                <a:ext cx="10744200" cy="10477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sSub>
                        <m:sSubPr>
                          <m:ctrlPr>
                            <a:rPr lang="it-IT" sz="2550" b="0" i="1" smtClean="0">
                              <a:solidFill>
                                <a:srgbClr val="087F83"/>
                              </a:solidFill>
                              <a:latin typeface="Cambria Math" panose="02040503050406030204" pitchFamily="18" charset="0"/>
                              <a:ea typeface="Cambria Math"/>
                              <a:cs typeface="Cambria Math"/>
                            </a:rPr>
                          </m:ctrlPr>
                        </m:sSubPr>
                        <m:e>
                          <m:r>
                            <m:rPr>
                              <m:sty m:val="p"/>
                            </m:rPr>
                            <a:rPr lang="it-IT" sz="2550" b="0" i="1" smtClean="0">
                              <a:solidFill>
                                <a:srgbClr val="087F83"/>
                              </a:solidFill>
                              <a:latin typeface="Cambria Math" panose="02040503050406030204" pitchFamily="18" charset="0"/>
                              <a:ea typeface="Cambria Math"/>
                              <a:cs typeface="Cambria Math"/>
                            </a:rPr>
                            <m:t>ℓ</m:t>
                          </m:r>
                        </m:e>
                        <m:sub>
                          <m:r>
                            <m:rPr>
                              <m:sty m:val="p"/>
                            </m:rPr>
                            <a:rPr lang="it-IT" sz="2550" b="0" i="0" smtClean="0">
                              <a:solidFill>
                                <a:srgbClr val="087F83"/>
                              </a:solidFill>
                              <a:latin typeface="Cambria Math" panose="02040503050406030204" pitchFamily="18" charset="0"/>
                              <a:ea typeface="Cambria Math"/>
                              <a:cs typeface="Cambria Math"/>
                            </a:rPr>
                            <m:t>log</m:t>
                          </m:r>
                        </m:sub>
                      </m:sSub>
                      <m:d>
                        <m:dPr>
                          <m:ctrlPr>
                            <a:rPr lang="it-IT" sz="2550" b="0" i="1" smtClean="0">
                              <a:solidFill>
                                <a:srgbClr val="087F83"/>
                              </a:solidFill>
                              <a:latin typeface="Cambria Math" panose="02040503050406030204" pitchFamily="18" charset="0"/>
                              <a:ea typeface="Cambria Math"/>
                              <a:cs typeface="Cambria Math"/>
                            </a:rPr>
                          </m:ctrlPr>
                        </m:dPr>
                        <m:e>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smtClean="0">
                                  <a:solidFill>
                                    <a:srgbClr val="087F83"/>
                                  </a:solidFill>
                                  <a:latin typeface="Cambria Math" panose="02040503050406030204" pitchFamily="18" charset="0"/>
                                  <a:ea typeface="Cambria Math"/>
                                  <a:cs typeface="Cambria Math"/>
                                </a:rPr>
                              </m:ctrlPr>
                            </m:dPr>
                            <m:e>
                              <m:sSub>
                                <m:sSubPr>
                                  <m:ctrlPr>
                                    <a:rPr lang="it-IT" sz="2550" b="1" i="0" smtClean="0">
                                      <a:solidFill>
                                        <a:srgbClr val="087F83"/>
                                      </a:solidFill>
                                      <a:latin typeface="Cambria Math" panose="02040503050406030204" pitchFamily="18" charset="0"/>
                                      <a:ea typeface="Cambria Math"/>
                                      <a:cs typeface="Cambria Math"/>
                                    </a:rPr>
                                  </m:ctrlPr>
                                </m:sSubPr>
                                <m:e>
                                  <m:r>
                                    <a:rPr lang="it-IT" sz="2550" b="1" i="0" smtClean="0">
                                      <a:solidFill>
                                        <a:srgbClr val="087F83"/>
                                      </a:solidFill>
                                      <a:latin typeface="Cambria Math" panose="02040503050406030204" pitchFamily="18" charset="0"/>
                                      <a:ea typeface="Cambria Math"/>
                                      <a:cs typeface="Cambria Math"/>
                                    </a:rPr>
                                    <m:t>𝐱</m:t>
                                  </m:r>
                                </m:e>
                                <m:sub>
                                  <m:r>
                                    <a:rPr lang="it-IT" sz="2550" b="0" i="1" smtClean="0">
                                      <a:solidFill>
                                        <a:srgbClr val="087F83"/>
                                      </a:solidFill>
                                      <a:latin typeface="Cambria Math" panose="02040503050406030204" pitchFamily="18" charset="0"/>
                                      <a:ea typeface="Cambria Math"/>
                                      <a:cs typeface="Cambria Math"/>
                                    </a:rPr>
                                    <m:t>𝑖</m:t>
                                  </m:r>
                                </m:sub>
                              </m:sSub>
                            </m:e>
                          </m:d>
                          <m:r>
                            <a:rPr lang="it-IT" sz="2550" b="0" i="1" smtClean="0">
                              <a:solidFill>
                                <a:srgbClr val="087F83"/>
                              </a:solidFill>
                              <a:latin typeface="Cambria Math" panose="02040503050406030204" pitchFamily="18" charset="0"/>
                              <a:ea typeface="Cambria Math"/>
                              <a:cs typeface="Cambria Math"/>
                            </a:rPr>
                            <m:t>,</m:t>
                          </m:r>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𝑦</m:t>
                              </m:r>
                            </m:e>
                            <m:sub>
                              <m:r>
                                <a:rPr lang="it-IT" sz="2550" b="0" i="1" smtClean="0">
                                  <a:solidFill>
                                    <a:srgbClr val="087F83"/>
                                  </a:solidFill>
                                  <a:latin typeface="Cambria Math" panose="02040503050406030204" pitchFamily="18" charset="0"/>
                                  <a:ea typeface="Cambria Math"/>
                                  <a:cs typeface="Cambria Math"/>
                                </a:rPr>
                                <m:t>𝑖</m:t>
                              </m:r>
                            </m:sub>
                          </m:sSub>
                          <m:r>
                            <a:rPr lang="it-IT" sz="2550" b="0" i="1" smtClean="0">
                              <a:solidFill>
                                <a:srgbClr val="087F83"/>
                              </a:solidFill>
                              <a:latin typeface="Cambria Math" panose="02040503050406030204" pitchFamily="18" charset="0"/>
                              <a:ea typeface="Cambria Math"/>
                              <a:cs typeface="Cambria Math"/>
                            </a:rPr>
                            <m:t> </m:t>
                          </m:r>
                        </m:e>
                      </m:d>
                      <m:r>
                        <a:rPr lang="it-IT" sz="2550" b="0" i="1" smtClean="0">
                          <a:solidFill>
                            <a:srgbClr val="087F83"/>
                          </a:solidFill>
                          <a:latin typeface="Cambria Math" panose="02040503050406030204" pitchFamily="18" charset="0"/>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319461"/>
                <a:ext cx="10744200" cy="1047750"/>
              </a:xfrm>
              <a:prstGeom prst="rect">
                <a:avLst/>
              </a:prstGeom>
              <a:blipFill>
                <a:blip r:embed="rId6"/>
                <a:stretch>
                  <a:fillRect l="-57" r="-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1283970" y="4302634"/>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it-IT" sz="2550" b="0" i="1" smtClean="0">
                          <a:solidFill>
                            <a:srgbClr val="087F83"/>
                          </a:solidFill>
                          <a:latin typeface="Cambria Math" panose="02040503050406030204" pitchFamily="18" charset="0"/>
                          <a:ea typeface="Cambria Math"/>
                          <a:cs typeface="Cambria Math"/>
                        </a:rPr>
                        <m:t>    </m:t>
                      </m:r>
                    </m:oMath>
                  </m:oMathPara>
                </a14:m>
                <a:endParaRPr lang="it-IT" sz="2550" b="0" dirty="0">
                  <a:solidFill>
                    <a:srgbClr val="087F83"/>
                  </a:solidFill>
                  <a:ea typeface="Cambria Math"/>
                  <a:cs typeface="Cambria Math"/>
                </a:endParaRPr>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1283970" y="4302634"/>
                <a:ext cx="10744200" cy="1028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A2130D1A-0FFF-E316-CF1A-D120BE0A366A}"/>
                  </a:ext>
                </a:extLst>
              </p:cNvPr>
              <p:cNvSpPr txBox="1"/>
              <p:nvPr/>
            </p:nvSpPr>
            <p:spPr>
              <a:xfrm>
                <a:off x="2341245" y="5378665"/>
                <a:ext cx="8629650" cy="1290931"/>
              </a:xfrm>
              <a:prstGeom prst="rect">
                <a:avLst/>
              </a:prstGeom>
              <a:noFill/>
            </p:spPr>
            <p:txBody>
              <a:bodyPr wrap="square">
                <a:spAutoFit/>
              </a:bodyPr>
              <a:lstStyle/>
              <a:p>
                <a:pPr algn="ct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a:solidFill>
                                            <a:srgbClr val="087F83"/>
                                          </a:solidFill>
                                          <a:latin typeface="Cambria Math" panose="02040503050406030204" pitchFamily="18" charset="0"/>
                                          <a:ea typeface="Cambria Math"/>
                                          <a:cs typeface="Cambria Math"/>
                                        </a:rPr>
                                      </m:ctrlPr>
                                    </m:dPr>
                                    <m:e>
                                      <m:sSub>
                                        <m:sSubPr>
                                          <m:ctrlPr>
                                            <a:rPr lang="it-IT" sz="2550" b="1">
                                              <a:solidFill>
                                                <a:srgbClr val="087F83"/>
                                              </a:solidFill>
                                              <a:latin typeface="Cambria Math" panose="02040503050406030204" pitchFamily="18" charset="0"/>
                                              <a:ea typeface="Cambria Math"/>
                                              <a:cs typeface="Cambria Math"/>
                                            </a:rPr>
                                          </m:ctrlPr>
                                        </m:sSubPr>
                                        <m:e>
                                          <m:r>
                                            <a:rPr lang="it-IT" sz="2550" b="1">
                                              <a:solidFill>
                                                <a:srgbClr val="087F83"/>
                                              </a:solidFill>
                                              <a:latin typeface="Cambria Math" panose="02040503050406030204" pitchFamily="18" charset="0"/>
                                              <a:ea typeface="Cambria Math"/>
                                              <a:cs typeface="Cambria Math"/>
                                            </a:rPr>
                                            <m:t>𝐱</m:t>
                                          </m:r>
                                        </m:e>
                                        <m:sub>
                                          <m:r>
                                            <a:rPr lang="it-IT" sz="2550" i="1">
                                              <a:solidFill>
                                                <a:srgbClr val="087F83"/>
                                              </a:solidFill>
                                              <a:latin typeface="Cambria Math" panose="02040503050406030204" pitchFamily="18" charset="0"/>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a:solidFill>
                                <a:srgbClr val="087F83"/>
                              </a:solidFill>
                              <a:latin typeface="Cambria Math" panose="02040503050406030204" pitchFamily="18" charset="0"/>
                              <a:ea typeface="Cambria Math"/>
                            </a:rPr>
                            <m:t>first</m:t>
                          </m:r>
                          <m:r>
                            <a:rPr lang="it-IT" sz="2550">
                              <a:solidFill>
                                <a:srgbClr val="087F83"/>
                              </a:solidFill>
                              <a:latin typeface="Cambria Math" panose="02040503050406030204" pitchFamily="18" charset="0"/>
                              <a:ea typeface="Cambria Math"/>
                            </a:rPr>
                            <m:t> </m:t>
                          </m:r>
                          <m:r>
                            <m:rPr>
                              <m:sty m:val="p"/>
                            </m:rPr>
                            <a:rPr lang="it-IT" sz="255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rPr>
                              </m:ctrlPr>
                            </m:groupChrPr>
                            <m:e>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a:solidFill>
                                <a:srgbClr val="087F83"/>
                              </a:solidFill>
                              <a:latin typeface="Cambria Math" panose="02040503050406030204" pitchFamily="18" charset="0"/>
                              <a:ea typeface="Cambria Math"/>
                              <a:cs typeface="Cambria Math"/>
                            </a:rPr>
                            <m:t>second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a:solidFill>
                                <a:srgbClr val="087F83"/>
                              </a:solidFill>
                              <a:latin typeface="Cambria Math" panose="02040503050406030204" pitchFamily="18" charset="0"/>
                              <a:ea typeface="Cambria Math"/>
                              <a:cs typeface="Cambria Math"/>
                            </a:rPr>
                            <m:t>third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6" name="CasellaDiTesto 5">
                <a:extLst>
                  <a:ext uri="{FF2B5EF4-FFF2-40B4-BE49-F238E27FC236}">
                    <a16:creationId xmlns:a16="http://schemas.microsoft.com/office/drawing/2014/main" id="{A2130D1A-0FFF-E316-CF1A-D120BE0A366A}"/>
                  </a:ext>
                </a:extLst>
              </p:cNvPr>
              <p:cNvSpPr txBox="1">
                <a:spLocks noRot="1" noChangeAspect="1" noMove="1" noResize="1" noEditPoints="1" noAdjustHandles="1" noChangeArrowheads="1" noChangeShapeType="1" noTextEdit="1"/>
              </p:cNvSpPr>
              <p:nvPr/>
            </p:nvSpPr>
            <p:spPr>
              <a:xfrm>
                <a:off x="2341245" y="5378665"/>
                <a:ext cx="8629650" cy="1290931"/>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610679"/>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it-IT" sz="2700" b="0" i="0" smtClean="0">
                          <a:solidFill>
                            <a:srgbClr val="087F83"/>
                          </a:solidFill>
                          <a:latin typeface="Cambria Math" panose="02040503050406030204" pitchFamily="18" charset="0"/>
                          <a:ea typeface="Cambria Math"/>
                          <a:cs typeface="Cambria Math"/>
                        </a:rPr>
                        <m:t>log</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610679"/>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723900" y="2672251"/>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723900" y="2672251"/>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4814888"/>
                <a:ext cx="6094476" cy="1098762"/>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it-IT" sz="2400" i="1">
                                  <a:solidFill>
                                    <a:srgbClr val="0070C0"/>
                                  </a:solidFill>
                                  <a:latin typeface="Cambria Math" panose="02040503050406030204" pitchFamily="18" charset="0"/>
                                  <a:ea typeface="Cambria Math"/>
                                  <a:cs typeface="Cambria Math"/>
                                </a:rPr>
                              </m:ctrlPr>
                            </m:dPr>
                            <m:e>
                              <m:sSub>
                                <m:sSubPr>
                                  <m:ctrlPr>
                                    <a:rPr lang="it-IT" sz="2400" i="1">
                                      <a:solidFill>
                                        <a:srgbClr val="0070C0"/>
                                      </a:solidFill>
                                      <a:latin typeface="Cambria Math" panose="02040503050406030204" pitchFamily="18" charset="0"/>
                                      <a:ea typeface="Cambria Math"/>
                                      <a:cs typeface="Cambria Math"/>
                                    </a:rPr>
                                  </m:ctrlPr>
                                </m:sSubPr>
                                <m:e>
                                  <m:r>
                                    <a:rPr lang="it-IT" sz="2400" i="1">
                                      <a:solidFill>
                                        <a:srgbClr val="0070C0"/>
                                      </a:solidFill>
                                      <a:latin typeface="Cambria Math" panose="02040503050406030204" pitchFamily="18" charset="0"/>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4814888"/>
                <a:ext cx="6094476" cy="1098762"/>
              </a:xfrm>
              <a:prstGeom prst="rect">
                <a:avLst/>
              </a:prstGeom>
              <a:blipFill>
                <a:blip r:embed="rId5"/>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a:t>
            </a:r>
            <a:r>
              <a:rPr sz="2100" b="0" dirty="0">
                <a:solidFill>
                  <a:srgbClr val="FF0000"/>
                </a:solidFill>
                <a:latin typeface="DejaVu Sans"/>
                <a:ea typeface="DejaVu Sans"/>
                <a:cs typeface="DejaVu Sans"/>
              </a:rPr>
              <a:t>sigmoid as a composition </a:t>
            </a:r>
            <a:r>
              <a:rPr sz="2100" b="0" dirty="0">
                <a:solidFill>
                  <a:srgbClr val="526276"/>
                </a:solidFill>
                <a:latin typeface="DejaVu Sans"/>
                <a:ea typeface="DejaVu Sans"/>
                <a:cs typeface="DejaVu Sans"/>
              </a:rPr>
              <a:t>and apply the </a:t>
            </a:r>
            <a:r>
              <a:rPr sz="2100" b="0" dirty="0">
                <a:solidFill>
                  <a:srgbClr val="FF0000"/>
                </a:solidFill>
                <a:latin typeface="DejaVu Sans"/>
                <a:ea typeface="DejaVu Sans"/>
                <a:cs typeface="DejaVu Sans"/>
              </a:rPr>
              <a:t>chain rule </a:t>
            </a:r>
            <a:r>
              <a:rPr sz="2100" b="0" dirty="0">
                <a:solidFill>
                  <a:srgbClr val="526276"/>
                </a:solidFill>
                <a:latin typeface="DejaVu Sans"/>
                <a:ea typeface="DejaVu Sans"/>
                <a:cs typeface="DejaVu Sans"/>
              </a:rPr>
              <a:t>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smtClean="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e>
                      </m:nary>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allAtOnce"/>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326CB2"/>
                              </a:solidFill>
                              <a:latin typeface="Cambria Math"/>
                              <a:ea typeface="Cambria Math"/>
                              <a:cs typeface="Cambria Math"/>
                            </a:rPr>
                          </m:ctrlPr>
                        </m:fPr>
                        <m:num>
                          <m:r>
                            <a:rPr lang="en-GB" sz="2900">
                              <a:solidFill>
                                <a:srgbClr val="326CB2"/>
                              </a:solidFill>
                              <a:latin typeface="Cambria Math"/>
                              <a:ea typeface="Cambria Math"/>
                              <a:cs typeface="Cambria Math"/>
                            </a:rPr>
                            <m:t>𝜕</m:t>
                          </m:r>
                        </m:num>
                        <m:den>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𝜃</m:t>
                              </m:r>
                            </m:e>
                            <m:sub>
                              <m:r>
                                <a:rPr lang="en-GB" sz="2900">
                                  <a:solidFill>
                                    <a:srgbClr val="326CB2"/>
                                  </a:solidFill>
                                  <a:latin typeface="Cambria Math"/>
                                  <a:ea typeface="Cambria Math"/>
                                  <a:cs typeface="Cambria Math"/>
                                </a:rPr>
                                <m:t>𝑗</m:t>
                              </m:r>
                            </m:sub>
                          </m:sSub>
                        </m:den>
                      </m:f>
                      <m:sSub>
                        <m:sSubPr>
                          <m:ctrlPr>
                            <a:rPr lang="en-GB" sz="2900">
                              <a:solidFill>
                                <a:srgbClr val="326CB2"/>
                              </a:solidFill>
                              <a:latin typeface="Cambria Math"/>
                              <a:ea typeface="Cambria Math"/>
                              <a:cs typeface="Cambria Math"/>
                            </a:rPr>
                          </m:ctrlPr>
                        </m:sSubPr>
                        <m:e>
                          <m:r>
                            <m:rPr>
                              <m:sty m:val="p"/>
                            </m:rPr>
                            <a:rPr lang="en-GB" sz="2900">
                              <a:solidFill>
                                <a:srgbClr val="326CB2"/>
                              </a:solidFill>
                              <a:latin typeface="Cambria Math"/>
                              <a:ea typeface="Cambria Math"/>
                              <a:cs typeface="Cambria Math"/>
                            </a:rPr>
                            <m:t>ℓ</m:t>
                          </m:r>
                        </m:e>
                        <m:sub>
                          <m:r>
                            <m:rPr>
                              <m:sty m:val="p"/>
                            </m:rPr>
                            <a:rPr lang="en-GB" sz="2900">
                              <a:solidFill>
                                <a:srgbClr val="326CB2"/>
                              </a:solidFill>
                              <a:latin typeface="Cambria Math"/>
                              <a:ea typeface="Cambria Math"/>
                              <a:cs typeface="Cambria Math"/>
                            </a:rPr>
                            <m:t>log</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𝑝</m:t>
                              </m:r>
                            </m:e>
                            <m:sub>
                              <m:r>
                                <a:rPr lang="en-GB" sz="2900">
                                  <a:solidFill>
                                    <a:srgbClr val="326CB2"/>
                                  </a:solidFill>
                                  <a:latin typeface="Cambria Math"/>
                                  <a:ea typeface="Cambria Math"/>
                                  <a:cs typeface="Cambria Math"/>
                                </a:rPr>
                                <m:t>𝛉</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𝐱</m:t>
                                  </m:r>
                                </m:e>
                                <m:sub>
                                  <m:r>
                                    <a:rPr lang="en-GB" sz="2900">
                                      <a:solidFill>
                                        <a:srgbClr val="326CB2"/>
                                      </a:solidFill>
                                      <a:latin typeface="Cambria Math"/>
                                      <a:ea typeface="Cambria Math"/>
                                      <a:cs typeface="Cambria Math"/>
                                    </a:rPr>
                                    <m:t>𝑖</m:t>
                                  </m:r>
                                </m:sub>
                              </m:sSub>
                            </m:e>
                          </m:d>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𝑦</m:t>
                              </m:r>
                            </m:e>
                            <m:sub>
                              <m:r>
                                <a:rPr lang="en-GB" sz="2900">
                                  <a:solidFill>
                                    <a:srgbClr val="326CB2"/>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solidFill>
                    <a:srgbClr val="326CB2"/>
                  </a:solidFill>
                </a:endParaRPr>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087F83"/>
                          </a:solidFill>
                          <a:latin typeface="Cambria Math"/>
                          <a:ea typeface="Cambria Math"/>
                          <a:cs typeface="Cambria Math"/>
                        </a:rPr>
                        <m:t>𝐩</m:t>
                      </m:r>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𝛉</m:t>
                          </m:r>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𝐩</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Fitting logistic regression</a:t>
            </a:r>
          </a:p>
        </p:txBody>
      </p:sp>
      <mc:AlternateContent xmlns:mc="http://schemas.openxmlformats.org/markup-compatibility/2006" xmlns:a14="http://schemas.microsoft.com/office/drawing/2010/main">
        <mc:Choice Requires="a14">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326CB2"/>
                          </a:solidFill>
                          <a:latin typeface="Cambria Math"/>
                          <a:ea typeface="Cambria Math"/>
                          <a:cs typeface="Cambria Math"/>
                        </a:rPr>
                        <m:t>𝐩</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Stationary points and </a:t>
            </a:r>
            <a:r>
              <a:rPr sz="3150" b="1" dirty="0" err="1">
                <a:solidFill>
                  <a:srgbClr val="182D45"/>
                </a:solidFill>
                <a:latin typeface="DejaVu Sans"/>
                <a:ea typeface="DejaVu Sans"/>
                <a:cs typeface="DejaVu Sans"/>
              </a:rPr>
              <a:t>minimisers</a:t>
            </a:r>
            <a:endParaRPr sz="3150" b="1" dirty="0">
              <a:solidFill>
                <a:srgbClr val="182D45"/>
              </a:solidFill>
              <a:latin typeface="DejaVu Sans"/>
              <a:ea typeface="DejaVu Sans"/>
              <a:cs typeface="DejaVu Sans"/>
            </a:endParaRP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508000" y="116294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Fact</a:t>
            </a:r>
            <a:r>
              <a:rPr lang="it-IT" sz="2400" b="0" dirty="0">
                <a:latin typeface="DejaVu Sans"/>
                <a:ea typeface="DejaVu Sans"/>
                <a:cs typeface="DejaVu Sans"/>
              </a:rPr>
              <a:t>:</a:t>
            </a:r>
            <a:r>
              <a:rPr lang="it-IT" sz="2400" b="0" dirty="0">
                <a:solidFill>
                  <a:srgbClr val="182D45"/>
                </a:solidFill>
                <a:latin typeface="DejaVu Sans"/>
                <a:ea typeface="DejaVu Sans"/>
                <a:cs typeface="DejaVu Sans"/>
              </a:rPr>
              <a:t> t</a:t>
            </a:r>
            <a:r>
              <a:rPr sz="2400" b="0" dirty="0">
                <a:solidFill>
                  <a:srgbClr val="182D45"/>
                </a:solidFill>
                <a:latin typeface="DejaVu Sans"/>
                <a:ea typeface="DejaVu Sans"/>
                <a:cs typeface="DejaVu Sans"/>
              </a:rPr>
              <a:t>he empirical logistic loss is </a:t>
            </a:r>
            <a:r>
              <a:rPr sz="2400" b="0" dirty="0">
                <a:solidFill>
                  <a:srgbClr val="FF0000"/>
                </a:solidFill>
                <a:latin typeface="DejaVu Sans"/>
                <a:ea typeface="DejaVu Sans"/>
                <a:cs typeface="DejaVu Sans"/>
              </a:rPr>
              <a:t>convex</a:t>
            </a:r>
            <a:r>
              <a:rPr sz="2400" b="0" dirty="0">
                <a:solidFill>
                  <a:srgbClr val="182D45"/>
                </a:solidFill>
                <a:latin typeface="DejaVu Sans"/>
                <a:ea typeface="DejaVu Sans"/>
                <a:cs typeface="DejaVu Sans"/>
              </a:rPr>
              <a:t> in the parameters.</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Therefore, </a:t>
            </a:r>
            <a:r>
              <a:rPr sz="2400" b="0" dirty="0">
                <a:solidFill>
                  <a:srgbClr val="FF0000"/>
                </a:solidFill>
                <a:latin typeface="DejaVu Sans"/>
                <a:ea typeface="DejaVu Sans"/>
                <a:cs typeface="DejaVu Sans"/>
              </a:rPr>
              <a:t>any stationary point is a global </a:t>
            </a:r>
            <a:r>
              <a:rPr sz="2400" b="0" dirty="0" err="1">
                <a:solidFill>
                  <a:srgbClr val="FF0000"/>
                </a:solidFill>
                <a:latin typeface="DejaVu Sans"/>
                <a:ea typeface="DejaVu Sans"/>
                <a:cs typeface="DejaVu Sans"/>
              </a:rPr>
              <a:t>minimiser</a:t>
            </a:r>
            <a:r>
              <a:rPr sz="2400" b="0" dirty="0">
                <a:solidFill>
                  <a:srgbClr val="182D45"/>
                </a:solidFill>
                <a:latin typeface="DejaVu Sans"/>
                <a:ea typeface="DejaVu Sans"/>
                <a:cs typeface="DejaVu Sans"/>
              </a:rPr>
              <a:t>.</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508000" y="1890054"/>
            <a:ext cx="11176000" cy="1226312"/>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However</a:t>
            </a:r>
            <a:r>
              <a:rPr lang="it-IT" sz="2400" b="0" dirty="0">
                <a:solidFill>
                  <a:srgbClr val="182D45"/>
                </a:solidFill>
                <a:latin typeface="DejaVu Sans"/>
                <a:ea typeface="DejaVu Sans"/>
                <a:cs typeface="DejaVu Sans"/>
              </a:rPr>
              <a:t>: a</a:t>
            </a:r>
            <a:r>
              <a:rPr sz="2400" b="0" dirty="0">
                <a:solidFill>
                  <a:srgbClr val="182D45"/>
                </a:solidFill>
                <a:latin typeface="DejaVu Sans"/>
                <a:ea typeface="DejaVu Sans"/>
                <a:cs typeface="DejaVu Sans"/>
              </a:rPr>
              <a:t> finite </a:t>
            </a:r>
            <a:r>
              <a:rPr sz="2400" b="0" dirty="0" err="1">
                <a:solidFill>
                  <a:srgbClr val="182D45"/>
                </a:solidFill>
                <a:latin typeface="DejaVu Sans"/>
                <a:ea typeface="DejaVu Sans"/>
                <a:cs typeface="DejaVu Sans"/>
              </a:rPr>
              <a:t>minimiser</a:t>
            </a:r>
            <a:r>
              <a:rPr sz="2400" b="0" dirty="0">
                <a:solidFill>
                  <a:srgbClr val="182D45"/>
                </a:solidFill>
                <a:latin typeface="DejaVu Sans"/>
                <a:ea typeface="DejaVu Sans"/>
                <a:cs typeface="DejaVu Sans"/>
              </a:rPr>
              <a:t> need not exist</a:t>
            </a:r>
            <a:r>
              <a:rPr lang="it-IT" sz="2400" b="0" dirty="0">
                <a:solidFill>
                  <a:srgbClr val="182D45"/>
                </a:solidFill>
                <a:latin typeface="DejaVu Sans"/>
                <a:ea typeface="DejaVu Sans"/>
                <a:cs typeface="DejaVu Sans"/>
              </a:rPr>
              <a:t>!!!</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See the notes for a </a:t>
            </a:r>
            <a:r>
              <a:rPr lang="it-IT" sz="2400" b="0" dirty="0" err="1">
                <a:solidFill>
                  <a:srgbClr val="182D45"/>
                </a:solidFill>
                <a:latin typeface="DejaVu Sans"/>
                <a:ea typeface="DejaVu Sans"/>
                <a:cs typeface="DejaVu Sans"/>
              </a:rPr>
              <a:t>counterexample</a:t>
            </a:r>
            <a:r>
              <a:rPr lang="it-IT" sz="2400" b="0" dirty="0">
                <a:solidFill>
                  <a:srgbClr val="182D45"/>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9" name="warning_mistakes"/>
              <p:cNvSpPr>
                <a:spLocks noGrp="1"/>
              </p:cNvSpPr>
              <p:nvPr/>
            </p:nvSpPr>
            <p:spPr>
              <a:xfrm>
                <a:off x="508000" y="4531408"/>
                <a:ext cx="11176000" cy="762000"/>
              </a:xfrm>
              <a:prstGeom prst="rect">
                <a:avLst/>
              </a:prstGeom>
              <a:noFill/>
              <a:ln w="0">
                <a:noFill/>
              </a:ln>
            </p:spPr>
            <p:txBody>
              <a:bodyPr wrap="square" lIns="0" tIns="0" rIns="0" bIns="0" anchor="ctr">
                <a:noAutofit/>
              </a:bodyPr>
              <a:lstStyle/>
              <a:p>
                <a:pPr algn="ctr">
                  <a:lnSpc>
                    <a:spcPct val="112000"/>
                  </a:lnSpc>
                  <a:defRPr sz="2400" b="0">
                    <a:solidFill>
                      <a:srgbClr val="182D45"/>
                    </a:solidFill>
                    <a:latin typeface="DejaVu Sans"/>
                    <a:ea typeface="DejaVu Sans"/>
                    <a:cs typeface="DejaVu Sans"/>
                  </a:defRPr>
                </a:pPr>
                <a:r>
                  <a:rPr sz="2400" b="0" dirty="0">
                    <a:solidFill>
                      <a:srgbClr val="FF0000"/>
                    </a:solidFill>
                    <a:latin typeface="DejaVu Sans"/>
                    <a:ea typeface="DejaVu Sans"/>
                    <a:cs typeface="DejaVu Sans"/>
                  </a:rPr>
                  <a:t>Warning 1</a:t>
                </a:r>
                <a:r>
                  <a:rPr sz="2400" b="0" dirty="0">
                    <a:solidFill>
                      <a:srgbClr val="182D45"/>
                    </a:solidFill>
                    <a:latin typeface="DejaVu Sans"/>
                    <a:ea typeface="DejaVu Sans"/>
                    <a:cs typeface="DejaVu Sans"/>
                  </a:rPr>
                  <a:t>: decreasing the empirical logistic loss</a:t>
                </a:r>
              </a:p>
              <a:p>
                <a:pPr algn="ctr">
                  <a:lnSpc>
                    <a:spcPct val="112000"/>
                  </a:lnSpc>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does not guarantee fewer mistakes (a lower empirical </a:t>
                </a:r>
                <a14:m>
                  <m:oMath xmlns:m="http://schemas.openxmlformats.org/officeDocument/2006/math">
                    <m:r>
                      <a:rPr lang="it-IT" sz="2400" b="0" i="1" dirty="0" smtClean="0">
                        <a:solidFill>
                          <a:srgbClr val="182D45"/>
                        </a:solidFill>
                        <a:latin typeface="Cambria Math" panose="02040503050406030204" pitchFamily="18" charset="0"/>
                        <a:ea typeface="DejaVu Sans"/>
                        <a:cs typeface="DejaVu Sans"/>
                      </a:rPr>
                      <m:t>0</m:t>
                    </m:r>
                  </m:oMath>
                </a14:m>
                <a:r>
                  <a:rPr lang="it-IT" sz="2400" b="0" dirty="0">
                    <a:solidFill>
                      <a:srgbClr val="182D45"/>
                    </a:solidFill>
                    <a:latin typeface="DejaVu Sans"/>
                    <a:ea typeface="DejaVu Sans"/>
                    <a:cs typeface="DejaVu Sans"/>
                  </a:rPr>
                  <a:t>-</a:t>
                </a:r>
                <a14:m>
                  <m:oMath xmlns:m="http://schemas.openxmlformats.org/officeDocument/2006/math">
                    <m:r>
                      <a:rPr lang="it-IT" sz="2400" i="1" dirty="0">
                        <a:solidFill>
                          <a:srgbClr val="182D45"/>
                        </a:solidFill>
                        <a:latin typeface="Cambria Math" panose="02040503050406030204" pitchFamily="18" charset="0"/>
                        <a:ea typeface="DejaVu Sans"/>
                        <a:cs typeface="DejaVu Sans"/>
                      </a:rPr>
                      <m:t>1</m:t>
                    </m:r>
                  </m:oMath>
                </a14:m>
                <a:r>
                  <a:rPr sz="2400" b="0" dirty="0">
                    <a:solidFill>
                      <a:srgbClr val="182D45"/>
                    </a:solidFill>
                    <a:latin typeface="DejaVu Sans"/>
                    <a:ea typeface="DejaVu Sans"/>
                    <a:cs typeface="DejaVu Sans"/>
                  </a:rPr>
                  <a:t> loss).</a:t>
                </a:r>
              </a:p>
            </p:txBody>
          </p:sp>
        </mc:Choice>
        <mc:Fallback xmlns="">
          <p:sp>
            <p:nvSpPr>
              <p:cNvPr id="9" name="warning_mistakes"/>
              <p:cNvSpPr>
                <a:spLocks noGrp="1" noRot="1" noChangeAspect="1" noMove="1" noResize="1" noEditPoints="1" noAdjustHandles="1" noChangeArrowheads="1" noChangeShapeType="1" noTextEdit="1"/>
              </p:cNvSpPr>
              <p:nvPr/>
            </p:nvSpPr>
            <p:spPr>
              <a:xfrm>
                <a:off x="508000" y="4531408"/>
                <a:ext cx="11176000" cy="762000"/>
              </a:xfrm>
              <a:prstGeom prst="rect">
                <a:avLst/>
              </a:prstGeom>
              <a:blipFill>
                <a:blip r:embed="rId2"/>
                <a:stretch>
                  <a:fillRect t="-13600" b="-25600"/>
                </a:stretch>
              </a:blipFill>
              <a:ln w="0">
                <a:noFill/>
              </a:ln>
            </p:spPr>
            <p:txBody>
              <a:bodyPr/>
              <a:lstStyle/>
              <a:p>
                <a:r>
                  <a:rPr lang="it-IT">
                    <a:noFill/>
                  </a:rPr>
                  <a:t> </a:t>
                </a:r>
              </a:p>
            </p:txBody>
          </p:sp>
        </mc:Fallback>
      </mc:AlternateContent>
      <p:sp>
        <p:nvSpPr>
          <p:cNvPr id="7" name="agenda_3">
            <a:extLst>
              <a:ext uri="{FF2B5EF4-FFF2-40B4-BE49-F238E27FC236}">
                <a16:creationId xmlns:a16="http://schemas.microsoft.com/office/drawing/2014/main" id="{C35903BF-7FDC-425A-86AF-AAABDFFAADC2}"/>
              </a:ext>
            </a:extLst>
          </p:cNvPr>
          <p:cNvSpPr>
            <a:spLocks noGrp="1"/>
          </p:cNvSpPr>
          <p:nvPr/>
        </p:nvSpPr>
        <p:spPr>
          <a:xfrm>
            <a:off x="508000" y="5508121"/>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a:solidFill>
                  <a:srgbClr val="FF0000"/>
                </a:solidFill>
                <a:latin typeface="DejaVu Sans"/>
                <a:ea typeface="DejaVu Sans"/>
                <a:cs typeface="DejaVu Sans"/>
              </a:rPr>
              <a:t>Warning 2</a:t>
            </a:r>
            <a:r>
              <a:rPr lang="it-IT" sz="2400" b="0" dirty="0">
                <a:solidFill>
                  <a:srgbClr val="182D45"/>
                </a:solidFill>
                <a:latin typeface="DejaVu Sans"/>
                <a:ea typeface="DejaVu Sans"/>
                <a:cs typeface="DejaVu Sans"/>
              </a:rPr>
              <a:t>: g</a:t>
            </a:r>
            <a:r>
              <a:rPr sz="2400" b="0" dirty="0" err="1">
                <a:solidFill>
                  <a:srgbClr val="182D45"/>
                </a:solidFill>
                <a:latin typeface="DejaVu Sans"/>
                <a:ea typeface="DejaVu Sans"/>
                <a:cs typeface="DejaVu Sans"/>
              </a:rPr>
              <a:t>radient</a:t>
            </a:r>
            <a:r>
              <a:rPr sz="2400" b="0" dirty="0">
                <a:solidFill>
                  <a:srgbClr val="182D45"/>
                </a:solidFill>
                <a:latin typeface="DejaVu Sans"/>
                <a:ea typeface="DejaVu Sans"/>
                <a:cs typeface="DejaVu Sans"/>
              </a:rPr>
              <a:t> descent still needs an appropriate learning rate.</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A step that is too large can increase the loss.</a:t>
            </a:r>
          </a:p>
        </p:txBody>
      </p:sp>
      <p:sp>
        <p:nvSpPr>
          <p:cNvPr id="10" name="CasellaDiTesto 9">
            <a:extLst>
              <a:ext uri="{FF2B5EF4-FFF2-40B4-BE49-F238E27FC236}">
                <a16:creationId xmlns:a16="http://schemas.microsoft.com/office/drawing/2014/main" id="{956D8344-3A3E-4D83-2002-11C1D59EB8FC}"/>
              </a:ext>
            </a:extLst>
          </p:cNvPr>
          <p:cNvSpPr txBox="1"/>
          <p:nvPr/>
        </p:nvSpPr>
        <p:spPr>
          <a:xfrm>
            <a:off x="366141" y="3116366"/>
            <a:ext cx="10716768" cy="1200329"/>
          </a:xfrm>
          <a:prstGeom prst="rect">
            <a:avLst/>
          </a:prstGeom>
          <a:noFill/>
        </p:spPr>
        <p:txBody>
          <a:bodyPr wrap="square">
            <a:spAutoFit/>
          </a:bodyPr>
          <a:lstStyle/>
          <a:p>
            <a:pPr algn="ctr"/>
            <a:r>
              <a:rPr lang="it-IT" sz="2400" dirty="0">
                <a:solidFill>
                  <a:srgbClr val="FF0000"/>
                </a:solidFill>
                <a:latin typeface="DejaVu Sans"/>
              </a:rPr>
              <a:t>Also</a:t>
            </a:r>
            <a:r>
              <a:rPr lang="it-IT" sz="2400" dirty="0">
                <a:solidFill>
                  <a:srgbClr val="182D45"/>
                </a:solidFill>
                <a:latin typeface="DejaVu Sans"/>
              </a:rPr>
              <a:t>: Even </a:t>
            </a:r>
            <a:r>
              <a:rPr lang="it-IT" sz="2400" dirty="0" err="1">
                <a:solidFill>
                  <a:srgbClr val="182D45"/>
                </a:solidFill>
                <a:latin typeface="DejaVu Sans"/>
              </a:rPr>
              <a:t>when</a:t>
            </a:r>
            <a:r>
              <a:rPr lang="it-IT" sz="2400" dirty="0">
                <a:solidFill>
                  <a:srgbClr val="182D45"/>
                </a:solidFill>
                <a:latin typeface="DejaVu Sans"/>
              </a:rPr>
              <a:t> a finite </a:t>
            </a:r>
            <a:r>
              <a:rPr lang="it-IT" sz="2400" dirty="0" err="1">
                <a:solidFill>
                  <a:srgbClr val="182D45"/>
                </a:solidFill>
                <a:latin typeface="DejaVu Sans"/>
              </a:rPr>
              <a:t>minimiser</a:t>
            </a:r>
            <a:r>
              <a:rPr lang="it-IT" sz="2400" dirty="0">
                <a:solidFill>
                  <a:srgbClr val="182D45"/>
                </a:solidFill>
                <a:latin typeface="DejaVu Sans"/>
              </a:rPr>
              <a:t> </a:t>
            </a:r>
            <a:r>
              <a:rPr lang="it-IT" sz="2400" dirty="0" err="1">
                <a:solidFill>
                  <a:srgbClr val="182D45"/>
                </a:solidFill>
                <a:latin typeface="DejaVu Sans"/>
              </a:rPr>
              <a:t>exists</a:t>
            </a:r>
            <a:r>
              <a:rPr lang="it-IT" sz="2400" dirty="0">
                <a:solidFill>
                  <a:srgbClr val="182D45"/>
                </a:solidFill>
                <a:latin typeface="DejaVu Sans"/>
              </a:rPr>
              <a:t>,</a:t>
            </a:r>
          </a:p>
          <a:p>
            <a:pPr algn="ctr"/>
            <a:r>
              <a:rPr lang="it-IT" sz="2400" dirty="0">
                <a:solidFill>
                  <a:srgbClr val="182D45"/>
                </a:solidFill>
                <a:latin typeface="DejaVu Sans"/>
              </a:rPr>
              <a:t>the </a:t>
            </a:r>
            <a:r>
              <a:rPr lang="it-IT" sz="2400" dirty="0" err="1">
                <a:solidFill>
                  <a:srgbClr val="182D45"/>
                </a:solidFill>
                <a:latin typeface="DejaVu Sans"/>
              </a:rPr>
              <a:t>stationarity</a:t>
            </a:r>
            <a:r>
              <a:rPr lang="it-IT" sz="2400" dirty="0">
                <a:solidFill>
                  <a:srgbClr val="182D45"/>
                </a:solidFill>
                <a:latin typeface="DejaVu Sans"/>
              </a:rPr>
              <a:t> </a:t>
            </a:r>
            <a:r>
              <a:rPr lang="it-IT" sz="2400" dirty="0" err="1">
                <a:solidFill>
                  <a:srgbClr val="182D45"/>
                </a:solidFill>
                <a:latin typeface="DejaVu Sans"/>
              </a:rPr>
              <a:t>equations</a:t>
            </a:r>
            <a:r>
              <a:rPr lang="it-IT" sz="2400" dirty="0">
                <a:solidFill>
                  <a:srgbClr val="182D45"/>
                </a:solidFill>
                <a:latin typeface="DejaVu Sans"/>
              </a:rPr>
              <a:t> form a </a:t>
            </a:r>
            <a:r>
              <a:rPr lang="it-IT" sz="2400" dirty="0" err="1">
                <a:solidFill>
                  <a:srgbClr val="FF0000"/>
                </a:solidFill>
                <a:latin typeface="DejaVu Sans"/>
              </a:rPr>
              <a:t>nonlinear</a:t>
            </a:r>
            <a:r>
              <a:rPr lang="it-IT" sz="2400" dirty="0">
                <a:solidFill>
                  <a:srgbClr val="FF0000"/>
                </a:solidFill>
                <a:latin typeface="DejaVu Sans"/>
              </a:rPr>
              <a:t> system</a:t>
            </a:r>
            <a:r>
              <a:rPr lang="it-IT" sz="2400" dirty="0">
                <a:solidFill>
                  <a:srgbClr val="182D45"/>
                </a:solidFill>
                <a:latin typeface="DejaVu Sans"/>
              </a:rPr>
              <a:t>,</a:t>
            </a:r>
          </a:p>
          <a:p>
            <a:pPr algn="ctr"/>
            <a:r>
              <a:rPr lang="it-IT" sz="2400" dirty="0" err="1">
                <a:solidFill>
                  <a:srgbClr val="182D45"/>
                </a:solidFill>
                <a:latin typeface="DejaVu Sans"/>
              </a:rPr>
              <a:t>generally</a:t>
            </a:r>
            <a:r>
              <a:rPr lang="it-IT" sz="2400" dirty="0">
                <a:solidFill>
                  <a:srgbClr val="182D45"/>
                </a:solidFill>
                <a:latin typeface="DejaVu Sans"/>
              </a:rPr>
              <a:t> with </a:t>
            </a:r>
            <a:r>
              <a:rPr lang="it-IT" sz="2400" dirty="0">
                <a:solidFill>
                  <a:srgbClr val="FF0000"/>
                </a:solidFill>
                <a:latin typeface="DejaVu Sans"/>
              </a:rPr>
              <a:t>no </a:t>
            </a:r>
            <a:r>
              <a:rPr lang="it-IT" sz="2400" dirty="0" err="1">
                <a:solidFill>
                  <a:srgbClr val="FF0000"/>
                </a:solidFill>
                <a:latin typeface="DejaVu Sans"/>
              </a:rPr>
              <a:t>closed</a:t>
            </a:r>
            <a:r>
              <a:rPr lang="it-IT" sz="2400" dirty="0">
                <a:solidFill>
                  <a:srgbClr val="FF0000"/>
                </a:solidFill>
                <a:latin typeface="DejaVu Sans"/>
              </a:rPr>
              <a:t>-form </a:t>
            </a:r>
            <a:r>
              <a:rPr lang="it-IT" sz="2400" dirty="0" err="1">
                <a:solidFill>
                  <a:srgbClr val="FF0000"/>
                </a:solidFill>
                <a:latin typeface="DejaVu Sans"/>
              </a:rPr>
              <a:t>solution</a:t>
            </a:r>
            <a:r>
              <a:rPr lang="it-IT" sz="2400" dirty="0">
                <a:solidFill>
                  <a:srgbClr val="182D45"/>
                </a:solidFill>
                <a:latin typeface="DejaVu Sans"/>
              </a:rPr>
              <a:t>.</a:t>
            </a:r>
          </a:p>
        </p:txBody>
      </p:sp>
    </p:spTree>
    <p:extLst>
      <p:ext uri="{BB962C8B-B14F-4D97-AF65-F5344CB8AC3E}">
        <p14:creationId xmlns:p14="http://schemas.microsoft.com/office/powerpoint/2010/main" val="631502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dirty="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0.001</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Of </a:t>
            </a:r>
            <a:r>
              <a:rPr lang="it-IT" sz="2100" b="1" dirty="0" err="1">
                <a:solidFill>
                  <a:srgbClr val="182D45"/>
                </a:solidFill>
                <a:latin typeface="DejaVu Sans"/>
                <a:ea typeface="DejaVu Sans"/>
                <a:cs typeface="DejaVu Sans"/>
              </a:rPr>
              <a:t>course</a:t>
            </a:r>
            <a:r>
              <a:rPr lang="it-IT" sz="2100" b="1" dirty="0">
                <a:solidFill>
                  <a:srgbClr val="182D45"/>
                </a:solidFill>
                <a:latin typeface="DejaVu Sans"/>
                <a:ea typeface="DejaVu Sans"/>
                <a:cs typeface="DejaVu Sans"/>
              </a:rPr>
              <a:t>: t</a:t>
            </a:r>
            <a:r>
              <a:rPr sz="2100" b="1" dirty="0">
                <a:solidFill>
                  <a:srgbClr val="182D45"/>
                </a:solidFill>
                <a:latin typeface="DejaVu Sans"/>
                <a:ea typeface="DejaVu Sans"/>
                <a:cs typeface="DejaVu Sans"/>
              </a:rPr>
              <a:t>he bound still holds</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dirty="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0.002</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a:t>
            </a:r>
            <a:r>
              <a:rPr lang="it-IT" sz="2100" b="0" dirty="0">
                <a:solidFill>
                  <a:srgbClr val="526276"/>
                </a:solidFill>
                <a:latin typeface="DejaVu Sans"/>
                <a:ea typeface="DejaVu Sans"/>
                <a:cs typeface="DejaVu Sans"/>
              </a:rPr>
              <a:t>,</a:t>
            </a:r>
            <a:r>
              <a:rPr sz="2100" b="0" dirty="0">
                <a:solidFill>
                  <a:srgbClr val="526276"/>
                </a:solidFill>
                <a:latin typeface="DejaVu Sans"/>
                <a:ea typeface="DejaVu Sans"/>
                <a:cs typeface="DejaVu Sans"/>
              </a:rPr>
              <a:t>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19042954-DB60-43CC-8028-080997BC038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58B6D1B5-5C89-4FCF-99B1-736E325A1F1E}"/>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98696A3F-26B5-47F1-9AC7-98A07B617245}"/>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p:sp>
        <p:nvSpPr>
          <p:cNvPr id="4" name="agenda_0">
            <a:extLst>
              <a:ext uri="{FF2B5EF4-FFF2-40B4-BE49-F238E27FC236}">
                <a16:creationId xmlns:a16="http://schemas.microsoft.com/office/drawing/2014/main" id="{8DCEAF25-9271-47EF-A04F-190AE5772F8A}"/>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1E2C002-E9C2-4CDF-9067-3EE40BC67C1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2486C8A5-85E2-4A31-A85A-0AD46AE02930}"/>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7ACA5B7A-A15B-45B5-9E0B-DC5F3DA72954}"/>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FF0000"/>
                </a:solidFill>
                <a:latin typeface="DejaVu Sans"/>
                <a:ea typeface="DejaVu Sans"/>
                <a:cs typeface="DejaVu Sans"/>
              </a:rPr>
              <a:t>We</a:t>
            </a:r>
            <a:r>
              <a:rPr sz="1950" b="1" dirty="0">
                <a:solidFill>
                  <a:srgbClr val="182D45"/>
                </a:solidFill>
                <a:latin typeface="DejaVu Sans"/>
                <a:ea typeface="DejaVu Sans"/>
                <a:cs typeface="DejaVu Sans"/>
              </a:rPr>
              <a:t> </a:t>
            </a:r>
            <a:r>
              <a:rPr sz="1950" b="1" dirty="0">
                <a:solidFill>
                  <a:srgbClr val="FF0000"/>
                </a:solidFill>
                <a:latin typeface="DejaVu Sans"/>
                <a:ea typeface="DejaVu Sans"/>
                <a:cs typeface="DejaVu Sans"/>
              </a:rPr>
              <a:t>predict one probability per class</a:t>
            </a:r>
            <a:endParaRPr sz="195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We number the classes from 1 to K.</a:t>
            </a:r>
          </a:p>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For digits 0 to 9, class index k refers to digit k − 1.</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Each component gives the predicted probability of </a:t>
            </a:r>
            <a:r>
              <a:rPr lang="it-IT" sz="2025" b="0" dirty="0">
                <a:solidFill>
                  <a:srgbClr val="FF0000"/>
                </a:solidFill>
                <a:latin typeface="DejaVu Sans"/>
                <a:ea typeface="DejaVu Sans"/>
                <a:cs typeface="DejaVu Sans"/>
              </a:rPr>
              <a:t>the </a:t>
            </a:r>
            <a:r>
              <a:rPr lang="it-IT" sz="2025" b="0" dirty="0" err="1">
                <a:solidFill>
                  <a:srgbClr val="FF0000"/>
                </a:solidFill>
                <a:latin typeface="DejaVu Sans"/>
                <a:ea typeface="DejaVu Sans"/>
                <a:cs typeface="DejaVu Sans"/>
              </a:rPr>
              <a:t>corresponding</a:t>
            </a:r>
            <a:r>
              <a:rPr sz="2025" b="0" dirty="0">
                <a:solidFill>
                  <a:srgbClr val="FF0000"/>
                </a:solidFill>
                <a:latin typeface="DejaVu Sans"/>
                <a:ea typeface="DejaVu Sans"/>
                <a:cs typeface="DejaVu Sans"/>
              </a:rPr>
              <a:t> class.</a:t>
            </a:r>
            <a:endParaRPr lang="it-IT" sz="2025" b="0"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nary>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95964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597983"/>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597983"/>
                <a:ext cx="10744200" cy="552450"/>
              </a:xfrm>
              <a:prstGeom prst="rect">
                <a:avLst/>
              </a:prstGeom>
              <a:blipFill>
                <a:blip r:embed="rId3"/>
                <a:stretch>
                  <a:fillRect/>
                </a:stretch>
              </a:blipFill>
              <a:ln w="0">
                <a:noFill/>
              </a:ln>
            </p:spPr>
            <p:txBody>
              <a:bodyPr/>
              <a:lstStyle/>
              <a:p>
                <a:r>
                  <a:rPr lang="it-IT">
                    <a:noFill/>
                  </a:rPr>
                  <a:t> </a:t>
                </a:r>
              </a:p>
            </p:txBody>
          </p:sp>
        </mc:Fallback>
      </mc:AlternateContent>
      <p:sp>
        <p:nvSpPr>
          <p:cNvPr id="101" name="plugin" descr="p_{h_{\mathbf p}(\mathbf x)}(\mathbf x)=\max_{k\in\{1,\ldots,K\}}p_k(\mathbf x)">
            <a:extLst>
              <a:ext uri="{FF2B5EF4-FFF2-40B4-BE49-F238E27FC236}">
                <a16:creationId xmlns:a16="http://schemas.microsoft.com/office/drawing/2014/main" id="{7BB5F18C-CC56-4061-A437-0F6DC14C7325}"/>
              </a:ext>
            </a:extLst>
          </p:cNvPr>
          <p:cNvSpPr>
            <a:spLocks noGrp="1"/>
          </p:cNvSpPr>
          <p:nvPr/>
        </p:nvSpPr>
        <p:spPr>
          <a:xfrm>
            <a:off x="713613" y="2224251"/>
            <a:ext cx="10744200" cy="1019175"/>
          </a:xfrm>
          <a:prstGeom prst="rect">
            <a:avLst/>
          </a:prstGeom>
          <a:noFill/>
          <a:ln w="0">
            <a:noFill/>
          </a:ln>
        </p:spPr>
        <p:txBody>
          <a:bodyPr vertOverflow="overflow" horzOverflow="overflow" wrap="none" lIns="0" tIns="0" rIns="0" bIns="0" anchor="ctr">
            <a:noAutofit/>
          </a:bodyPr>
          <a:lstStyle/>
          <a:p>
            <a:pPr algn="ctr"/>
            <a:endParaRPr lang="en-GB" sz="2900" i="1" dirty="0"/>
          </a:p>
        </p:txBody>
      </p:sp>
      <mc:AlternateContent xmlns:mc="http://schemas.openxmlformats.org/markup-compatibility/2006">
        <mc:Choice xmlns:a14="http://schemas.microsoft.com/office/drawing/2010/main"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62000" y="2588195"/>
                <a:ext cx="10744200" cy="191021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ℎ</m:t>
                        </m:r>
                      </m:e>
                      <m:sub>
                        <m:r>
                          <a:rPr lang="en-GB" sz="2400">
                            <a:solidFill>
                              <a:srgbClr val="FF0000"/>
                            </a:solidFill>
                            <a:latin typeface="Cambria Math"/>
                            <a:ea typeface="Cambria Math"/>
                            <a:cs typeface="Cambria Math"/>
                          </a:rPr>
                          <m:t>𝐩</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𝐱</m:t>
                        </m:r>
                      </m:e>
                    </m:d>
                    <m:r>
                      <a:rPr lang="en-GB" sz="2400" i="1">
                        <a:solidFill>
                          <a:srgbClr val="FF0000"/>
                        </a:solidFill>
                        <a:latin typeface="Cambria Math" panose="02040503050406030204" pitchFamily="18" charset="0"/>
                        <a:ea typeface="Cambria Math"/>
                        <a:cs typeface="Cambria Math"/>
                      </a:rPr>
                      <m:t> </m:t>
                    </m:r>
                  </m:oMath>
                </a14:m>
                <a:r>
                  <a:rPr lang="en-GB" sz="2025" b="0" dirty="0">
                    <a:solidFill>
                      <a:srgbClr val="182D45"/>
                    </a:solidFill>
                    <a:latin typeface="DejaVu Sans"/>
                    <a:ea typeface="DejaVu Sans"/>
                    <a:cs typeface="DejaVu Sans"/>
                  </a:rPr>
                  <a:t>returns the index of the class </a:t>
                </a:r>
                <a14:m>
                  <m:oMath xmlns:m="http://schemas.openxmlformats.org/officeDocument/2006/math">
                    <m:r>
                      <a:rPr lang="it-IT" sz="2025" b="0" i="1" smtClean="0">
                        <a:solidFill>
                          <a:srgbClr val="FF0000"/>
                        </a:solidFill>
                        <a:latin typeface="Cambria Math" panose="02040503050406030204" pitchFamily="18" charset="0"/>
                        <a:ea typeface="DejaVu Sans"/>
                        <a:cs typeface="DejaVu Sans"/>
                      </a:rPr>
                      <m:t>𝑘</m:t>
                    </m:r>
                    <m:r>
                      <a:rPr lang="it-IT" sz="2025" b="0" i="1" smtClean="0">
                        <a:solidFill>
                          <a:srgbClr val="182D45"/>
                        </a:solidFill>
                        <a:latin typeface="Cambria Math" panose="02040503050406030204" pitchFamily="18" charset="0"/>
                        <a:ea typeface="DejaVu Sans"/>
                        <a:cs typeface="DejaVu Sans"/>
                      </a:rPr>
                      <m:t>∈</m:t>
                    </m:r>
                    <m:d>
                      <m:dPr>
                        <m:begChr m:val="{"/>
                        <m:endChr m:val="}"/>
                        <m:ctrlPr>
                          <a:rPr lang="it-IT" sz="2025" b="0" i="1" smtClean="0">
                            <a:solidFill>
                              <a:srgbClr val="182D45"/>
                            </a:solidFill>
                            <a:latin typeface="Cambria Math" panose="02040503050406030204" pitchFamily="18" charset="0"/>
                          </a:rPr>
                        </m:ctrlPr>
                      </m:dPr>
                      <m:e>
                        <m:r>
                          <a:rPr lang="it-IT" sz="2025" b="0" i="1" smtClean="0">
                            <a:solidFill>
                              <a:srgbClr val="182D45"/>
                            </a:solidFill>
                            <a:latin typeface="Cambria Math" panose="02040503050406030204" pitchFamily="18" charset="0"/>
                          </a:rPr>
                          <m:t>1,…,</m:t>
                        </m:r>
                        <m:r>
                          <a:rPr lang="it-IT" sz="2025" b="0" i="1" smtClean="0">
                            <a:solidFill>
                              <a:srgbClr val="182D45"/>
                            </a:solidFill>
                            <a:latin typeface="Cambria Math" panose="02040503050406030204" pitchFamily="18" charset="0"/>
                          </a:rPr>
                          <m:t>𝐾</m:t>
                        </m:r>
                      </m:e>
                    </m:d>
                  </m:oMath>
                </a14:m>
                <a:endParaRPr lang="it-IT" sz="2025" b="0" dirty="0">
                  <a:solidFill>
                    <a:srgbClr val="182D45"/>
                  </a:solidFill>
                  <a:latin typeface="DejaVu Sans"/>
                </a:endParaRPr>
              </a:p>
              <a:p>
                <a:pPr algn="ctr">
                  <a:defRPr sz="2025" b="0">
                    <a:solidFill>
                      <a:srgbClr val="182D45"/>
                    </a:solidFill>
                    <a:latin typeface="DejaVu Sans"/>
                    <a:ea typeface="DejaVu Sans"/>
                    <a:cs typeface="DejaVu Sans"/>
                  </a:defRPr>
                </a:pPr>
                <a:r>
                  <a:rPr lang="en-GB" sz="2025" b="0" dirty="0">
                    <a:solidFill>
                      <a:srgbClr val="182D45"/>
                    </a:solidFill>
                    <a:latin typeface="DejaVu Sans"/>
                    <a:ea typeface="DejaVu Sans"/>
                    <a:cs typeface="DejaVu Sans"/>
                  </a:rPr>
                  <a:t>with the </a:t>
                </a:r>
                <a:r>
                  <a:rPr lang="en-GB" sz="2025" b="0" dirty="0">
                    <a:solidFill>
                      <a:srgbClr val="FF0000"/>
                    </a:solidFill>
                    <a:latin typeface="DejaVu Sans"/>
                    <a:ea typeface="DejaVu Sans"/>
                    <a:cs typeface="DejaVu Sans"/>
                  </a:rPr>
                  <a:t>largest predicted probability </a:t>
                </a:r>
                <a14:m>
                  <m:oMath xmlns:m="http://schemas.openxmlformats.org/officeDocument/2006/math">
                    <m:sSub>
                      <m:sSubPr>
                        <m:ctrlPr>
                          <a:rPr lang="it-IT" sz="2025" b="0" i="1" smtClean="0">
                            <a:solidFill>
                              <a:srgbClr val="FF0000"/>
                            </a:solidFill>
                            <a:latin typeface="Cambria Math" panose="02040503050406030204" pitchFamily="18" charset="0"/>
                            <a:ea typeface="DejaVu Sans"/>
                            <a:cs typeface="DejaVu Sans"/>
                          </a:rPr>
                        </m:ctrlPr>
                      </m:sSubPr>
                      <m:e>
                        <m:r>
                          <a:rPr lang="it-IT" sz="2025" b="0" i="1" smtClean="0">
                            <a:solidFill>
                              <a:srgbClr val="FF0000"/>
                            </a:solidFill>
                            <a:latin typeface="Cambria Math" panose="02040503050406030204" pitchFamily="18" charset="0"/>
                            <a:ea typeface="DejaVu Sans"/>
                            <a:cs typeface="DejaVu Sans"/>
                          </a:rPr>
                          <m:t>𝑝</m:t>
                        </m:r>
                      </m:e>
                      <m:sub>
                        <m:r>
                          <a:rPr lang="it-IT" sz="2025" b="0" i="1" smtClean="0">
                            <a:solidFill>
                              <a:srgbClr val="FF0000"/>
                            </a:solidFill>
                            <a:latin typeface="Cambria Math" panose="02040503050406030204" pitchFamily="18" charset="0"/>
                            <a:ea typeface="DejaVu Sans"/>
                            <a:cs typeface="DejaVu Sans"/>
                          </a:rPr>
                          <m:t>𝑘</m:t>
                        </m:r>
                      </m:sub>
                    </m:sSub>
                    <m:d>
                      <m:dPr>
                        <m:ctrlPr>
                          <a:rPr lang="it-IT" sz="2025" b="1" i="0" smtClean="0">
                            <a:solidFill>
                              <a:srgbClr val="FF0000"/>
                            </a:solidFill>
                            <a:latin typeface="Cambria Math" panose="02040503050406030204" pitchFamily="18" charset="0"/>
                            <a:ea typeface="DejaVu Sans"/>
                            <a:cs typeface="DejaVu Sans"/>
                          </a:rPr>
                        </m:ctrlPr>
                      </m:dPr>
                      <m:e>
                        <m:r>
                          <a:rPr lang="it-IT" sz="2025" b="1" i="0" smtClean="0">
                            <a:solidFill>
                              <a:srgbClr val="FF0000"/>
                            </a:solidFill>
                            <a:latin typeface="Cambria Math" panose="02040503050406030204" pitchFamily="18" charset="0"/>
                            <a:ea typeface="DejaVu Sans"/>
                            <a:cs typeface="DejaVu Sans"/>
                          </a:rPr>
                          <m:t>𝐱</m:t>
                        </m:r>
                      </m:e>
                    </m:d>
                  </m:oMath>
                </a14:m>
                <a:r>
                  <a:rPr lang="en-GB" sz="2025"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endParaRPr lang="en-GB" sz="2025" dirty="0">
                  <a:solidFill>
                    <a:srgbClr val="182D45"/>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In case of a tie, </a:t>
                </a:r>
                <a:r>
                  <a:rPr lang="en-GB" sz="2025" b="0" dirty="0">
                    <a:solidFill>
                      <a:srgbClr val="182D45"/>
                    </a:solidFill>
                    <a:latin typeface="DejaVu Sans"/>
                    <a:ea typeface="DejaVu Sans"/>
                    <a:cs typeface="DejaVu Sans"/>
                  </a:rPr>
                  <a:t>we return</a:t>
                </a:r>
              </a:p>
              <a:p>
                <a:pPr algn="ctr">
                  <a:defRPr sz="2025" b="0">
                    <a:solidFill>
                      <a:srgbClr val="182D45"/>
                    </a:solidFill>
                    <a:latin typeface="DejaVu Sans"/>
                    <a:ea typeface="DejaVu Sans"/>
                    <a:cs typeface="DejaVu Sans"/>
                  </a:defRPr>
                </a:pPr>
                <a:r>
                  <a:rPr lang="en-GB" sz="2025" b="0" dirty="0">
                    <a:solidFill>
                      <a:srgbClr val="182D45"/>
                    </a:solidFill>
                    <a:latin typeface="DejaVu Sans"/>
                    <a:ea typeface="DejaVu Sans"/>
                    <a:cs typeface="DejaVu Sans"/>
                  </a:rPr>
                  <a:t>the smallest index among those having the largest predicted probability.</a:t>
                </a:r>
                <a:endParaRPr sz="2025" b="0" dirty="0">
                  <a:solidFill>
                    <a:srgbClr val="182D45"/>
                  </a:solidFill>
                  <a:latin typeface="DejaVu Sans"/>
                  <a:ea typeface="DejaVu Sans"/>
                  <a:cs typeface="DejaVu Sans"/>
                </a:endParaRPr>
              </a:p>
            </p:txBody>
          </p:sp>
        </mc:Choice>
        <mc:Fallback>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62000" y="2588195"/>
                <a:ext cx="10744200" cy="1910210"/>
              </a:xfrm>
              <a:prstGeom prst="rect">
                <a:avLst/>
              </a:prstGeom>
              <a:blipFill>
                <a:blip r:embed="rId4"/>
                <a:stretch>
                  <a:fillRect b="-958"/>
                </a:stretch>
              </a:blipFill>
              <a:ln w="0">
                <a:noFill/>
              </a:ln>
            </p:spPr>
            <p:txBody>
              <a:bodyPr/>
              <a:lstStyle/>
              <a:p>
                <a:r>
                  <a:rPr lang="it-IT">
                    <a:noFill/>
                  </a:rPr>
                  <a:t> </a:t>
                </a:r>
              </a:p>
            </p:txBody>
          </p:sp>
        </mc:Fallback>
      </mc:AlternateContent>
      <p:sp>
        <p:nvSpPr>
          <p:cNvPr id="105" name="bridge">
            <a:extLst>
              <a:ext uri="{FF2B5EF4-FFF2-40B4-BE49-F238E27FC236}">
                <a16:creationId xmlns:a16="http://schemas.microsoft.com/office/drawing/2014/main" id="{ECB8CBE6-A7F8-46B3-AEA0-3F6C541F5B9B}"/>
              </a:ext>
            </a:extLst>
          </p:cNvPr>
          <p:cNvSpPr>
            <a:spLocks noGrp="1"/>
          </p:cNvSpPr>
          <p:nvPr/>
        </p:nvSpPr>
        <p:spPr>
          <a:xfrm>
            <a:off x="352425" y="483149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2755726"/>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FF0000"/>
                        </a:solidFill>
                        <a:latin typeface="Cambria Math" panose="02040503050406030204" pitchFamily="18" charset="0"/>
                        <a:ea typeface="DejaVu Sans"/>
                        <a:cs typeface="DejaVu Sans"/>
                      </a:rPr>
                      <m:t>𝑘</m:t>
                    </m:r>
                  </m:oMath>
                </a14:m>
                <a:r>
                  <a:rPr lang="en-GB" sz="2100" dirty="0">
                    <a:solidFill>
                      <a:srgbClr val="FF0000"/>
                    </a:solidFill>
                    <a:latin typeface="DejaVu Sans"/>
                    <a:ea typeface="DejaVu Sans"/>
                    <a:cs typeface="DejaVu Sans"/>
                  </a:rPr>
                  <a:t>-</a:t>
                </a:r>
                <a:r>
                  <a:rPr lang="en-GB" sz="2100" dirty="0" err="1">
                    <a:solidFill>
                      <a:srgbClr val="FF0000"/>
                    </a:solidFill>
                    <a:latin typeface="DejaVu Sans"/>
                    <a:ea typeface="DejaVu Sans"/>
                    <a:cs typeface="DejaVu Sans"/>
                  </a:rPr>
                  <a:t>th</a:t>
                </a:r>
                <a:r>
                  <a:rPr lang="en-GB" sz="2100" dirty="0">
                    <a:solidFill>
                      <a:srgbClr val="FF0000"/>
                    </a:solidFill>
                    <a:latin typeface="DejaVu Sans"/>
                    <a:ea typeface="DejaVu Sans"/>
                    <a:cs typeface="DejaVu Sans"/>
                  </a:rPr>
                  <a:t> score</a:t>
                </a:r>
                <a:r>
                  <a:rPr lang="en-GB" sz="2100" dirty="0">
                    <a:solidFill>
                      <a:srgbClr val="526276"/>
                    </a:solidFill>
                    <a:latin typeface="DejaVu Sans"/>
                    <a:ea typeface="DejaVu Sans"/>
                    <a:cs typeface="DejaVu Sans"/>
                  </a:rPr>
                  <a:t>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2755726"/>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198198"/>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198198"/>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723900" y="1663495"/>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723900" y="1663495"/>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1668876"/>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1668876"/>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39247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39247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
        <p:nvSpPr>
          <p:cNvPr id="7" name="lead">
            <a:extLst>
              <a:ext uri="{FF2B5EF4-FFF2-40B4-BE49-F238E27FC236}">
                <a16:creationId xmlns:a16="http://schemas.microsoft.com/office/drawing/2014/main" id="{E7A0E0E7-7712-60C4-69C6-01DFD91E3A36}"/>
              </a:ext>
            </a:extLst>
          </p:cNvPr>
          <p:cNvSpPr>
            <a:spLocks noGrp="1"/>
          </p:cNvSpPr>
          <p:nvPr/>
        </p:nvSpPr>
        <p:spPr>
          <a:xfrm>
            <a:off x="723900" y="3930347"/>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a:t>
            </a:r>
            <a:r>
              <a:rPr lang="en-GB" sz="2100" dirty="0">
                <a:solidFill>
                  <a:srgbClr val="FF0000"/>
                </a:solidFill>
                <a:latin typeface="DejaVu Sans"/>
                <a:ea typeface="DejaVu Sans"/>
                <a:cs typeface="DejaVu Sans"/>
              </a:rPr>
              <a:t>logits</a:t>
            </a:r>
            <a:r>
              <a:rPr lang="en-GB" sz="210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793380"/>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277856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277856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24779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247790"/>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3201191"/>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3201191"/>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2281286" y="4409830"/>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2281286" y="4409830"/>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3269530" y="5182013"/>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e>
                      </m:nary>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3269530" y="5182013"/>
                <a:ext cx="10744200" cy="990600"/>
              </a:xfrm>
              <a:prstGeom prst="rect">
                <a:avLst/>
              </a:prstGeom>
              <a:blipFill>
                <a:blip r:embed="rId7"/>
                <a:stretch>
                  <a:fillRect t="-2454" b="-6135"/>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590550" y="976837"/>
            <a:ext cx="10744200" cy="666749"/>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2200" b="0" dirty="0">
                <a:solidFill>
                  <a:srgbClr val="FF0000"/>
                </a:solidFill>
                <a:latin typeface="DejaVu Sans"/>
                <a:ea typeface="DejaVu Sans"/>
                <a:cs typeface="DejaVu Sans"/>
              </a:rPr>
              <a:t>Warning: s</a:t>
            </a:r>
            <a:r>
              <a:rPr sz="2200" b="0" dirty="0" err="1">
                <a:solidFill>
                  <a:srgbClr val="FF0000"/>
                </a:solidFill>
                <a:latin typeface="DejaVu Sans"/>
                <a:ea typeface="DejaVu Sans"/>
                <a:cs typeface="DejaVu Sans"/>
              </a:rPr>
              <a:t>eparate</a:t>
            </a:r>
            <a:r>
              <a:rPr sz="2200" b="0" dirty="0">
                <a:solidFill>
                  <a:srgbClr val="FF0000"/>
                </a:solidFill>
                <a:latin typeface="DejaVu Sans"/>
                <a:ea typeface="DejaVu Sans"/>
                <a:cs typeface="DejaVu Sans"/>
              </a:rPr>
              <a:t> </a:t>
            </a:r>
            <a:r>
              <a:rPr sz="2200" b="0" dirty="0" err="1">
                <a:solidFill>
                  <a:srgbClr val="FF0000"/>
                </a:solidFill>
                <a:latin typeface="DejaVu Sans"/>
                <a:ea typeface="DejaVu Sans"/>
                <a:cs typeface="DejaVu Sans"/>
              </a:rPr>
              <a:t>sigmoids</a:t>
            </a:r>
            <a:r>
              <a:rPr sz="2200" b="0" dirty="0">
                <a:solidFill>
                  <a:srgbClr val="FF0000"/>
                </a:solidFill>
                <a:latin typeface="DejaVu Sans"/>
                <a:ea typeface="DejaVu Sans"/>
                <a:cs typeface="DejaVu Sans"/>
              </a:rPr>
              <a:t> do not ensure a sum of one</a:t>
            </a:r>
            <a:r>
              <a:rPr lang="it-IT" sz="2200" b="0" dirty="0">
                <a:solidFill>
                  <a:srgbClr val="FF0000"/>
                </a:solidFill>
                <a:latin typeface="DejaVu Sans"/>
                <a:ea typeface="DejaVu Sans"/>
                <a:cs typeface="DejaVu Sans"/>
              </a:rPr>
              <a:t>!!!</a:t>
            </a:r>
            <a:endParaRPr sz="2200" b="0" dirty="0">
              <a:solidFill>
                <a:srgbClr val="FF0000"/>
              </a:solidFill>
              <a:latin typeface="DejaVu Sans"/>
              <a:ea typeface="DejaVu Sans"/>
              <a:cs typeface="DejaVu Sans"/>
            </a:endParaRPr>
          </a:p>
          <a:p>
            <a:pPr algn="ctr">
              <a:defRPr sz="18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Three zero scores would give three probabilities of one half.</a:t>
            </a:r>
          </a:p>
        </p:txBody>
      </p:sp>
      <p:sp>
        <p:nvSpPr>
          <p:cNvPr id="5" name="lead">
            <a:extLst>
              <a:ext uri="{FF2B5EF4-FFF2-40B4-BE49-F238E27FC236}">
                <a16:creationId xmlns:a16="http://schemas.microsoft.com/office/drawing/2014/main" id="{31147C63-8F9A-61BD-CFD7-3709F02284F4}"/>
              </a:ext>
            </a:extLst>
          </p:cNvPr>
          <p:cNvSpPr>
            <a:spLocks noGrp="1"/>
          </p:cNvSpPr>
          <p:nvPr/>
        </p:nvSpPr>
        <p:spPr>
          <a:xfrm>
            <a:off x="2281286" y="4405036"/>
            <a:ext cx="3289955"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Positive </a:t>
            </a:r>
            <a:r>
              <a:rPr lang="it-IT" sz="2100" b="0" dirty="0" err="1">
                <a:solidFill>
                  <a:srgbClr val="526276"/>
                </a:solidFill>
                <a:latin typeface="DejaVu Sans"/>
                <a:ea typeface="DejaVu Sans"/>
                <a:cs typeface="DejaVu Sans"/>
              </a:rPr>
              <a:t>numbers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6" name="lead">
            <a:extLst>
              <a:ext uri="{FF2B5EF4-FFF2-40B4-BE49-F238E27FC236}">
                <a16:creationId xmlns:a16="http://schemas.microsoft.com/office/drawing/2014/main" id="{116D40B3-C3A9-9F80-43D8-4E2162D25FFF}"/>
              </a:ext>
            </a:extLst>
          </p:cNvPr>
          <p:cNvSpPr>
            <a:spLocks noGrp="1"/>
          </p:cNvSpPr>
          <p:nvPr/>
        </p:nvSpPr>
        <p:spPr>
          <a:xfrm>
            <a:off x="-1445837" y="5440199"/>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Valid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0" grpId="0"/>
      <p:bldP spid="101" grpId="0"/>
      <p:bldP spid="102" grpId="0"/>
      <p:bldP spid="103" grpId="0"/>
      <p:bldP spid="104" grpId="0"/>
      <p:bldP spid="5" grpId="0"/>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reuse">
                <a:extLst>
                  <a:ext uri="{FF2B5EF4-FFF2-40B4-BE49-F238E27FC236}">
                    <a16:creationId xmlns:a16="http://schemas.microsoft.com/office/drawing/2014/main" id="{E4DC567C-421A-4D20-9FAE-B63FB68E16A2}"/>
                  </a:ext>
                </a:extLst>
              </p:cNvPr>
              <p:cNvSpPr>
                <a:spLocks noGrp="1"/>
              </p:cNvSpPr>
              <p:nvPr/>
            </p:nvSpPr>
            <p:spPr>
              <a:xfrm>
                <a:off x="781050" y="4848225"/>
                <a:ext cx="10744200" cy="14097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200" b="1" dirty="0">
                    <a:solidFill>
                      <a:srgbClr val="FF0000"/>
                    </a:solidFill>
                    <a:latin typeface="DejaVu Sans"/>
                    <a:ea typeface="DejaVu Sans"/>
                    <a:cs typeface="DejaVu Sans"/>
                  </a:rPr>
                  <a:t>Once </a:t>
                </a: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have</a:t>
                </a:r>
                <a:r>
                  <a:rPr lang="it-IT" sz="2200" b="1" dirty="0">
                    <a:solidFill>
                      <a:srgbClr val="FF0000"/>
                    </a:solidFill>
                    <a:latin typeface="DejaVu Sans"/>
                    <a:ea typeface="DejaVu Sans"/>
                    <a:cs typeface="DejaVu Sans"/>
                  </a:rPr>
                  <a:t> the </a:t>
                </a:r>
                <a:r>
                  <a:rPr lang="it-IT" sz="2200" b="1" dirty="0" err="1">
                    <a:solidFill>
                      <a:srgbClr val="FF0000"/>
                    </a:solidFill>
                    <a:latin typeface="DejaVu Sans"/>
                    <a:ea typeface="DejaVu Sans"/>
                    <a:cs typeface="DejaVu Sans"/>
                  </a:rPr>
                  <a:t>probability</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predictor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oMath>
                </a14:m>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can build the plug-in </a:t>
                </a:r>
                <a:r>
                  <a:rPr lang="it-IT" sz="2200" b="1" dirty="0" err="1">
                    <a:solidFill>
                      <a:srgbClr val="FF0000"/>
                    </a:solidFill>
                    <a:latin typeface="DejaVu Sans"/>
                    <a:ea typeface="DejaVu Sans"/>
                    <a:cs typeface="DejaVu Sans"/>
                  </a:rPr>
                  <a:t>classifier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0" i="1">
                            <a:solidFill>
                              <a:srgbClr val="FF0000"/>
                            </a:solidFill>
                            <a:latin typeface="Cambria Math"/>
                            <a:ea typeface="Cambria Math"/>
                            <a:cs typeface="Cambria Math"/>
                          </a:rPr>
                        </m:ctrlPr>
                      </m:sSubPr>
                      <m:e>
                        <m:r>
                          <a:rPr lang="ar-AE" sz="2200" b="0" i="1">
                            <a:solidFill>
                              <a:srgbClr val="FF0000"/>
                            </a:solidFill>
                            <a:latin typeface="Cambria Math"/>
                            <a:ea typeface="Cambria Math"/>
                            <a:cs typeface="Cambria Math"/>
                          </a:rPr>
                          <m:t>ℎ</m:t>
                        </m:r>
                      </m:e>
                      <m:sub>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sub>
                    </m:sSub>
                  </m:oMath>
                </a14:m>
                <a:endParaRPr lang="ar-AE" sz="2200" b="1" dirty="0">
                  <a:solidFill>
                    <a:srgbClr val="FF0000"/>
                  </a:solidFill>
                  <a:latin typeface="DejaVu Sans"/>
                  <a:ea typeface="DejaVu Sans"/>
                  <a:cs typeface="DejaVu Sans"/>
                </a:endParaRPr>
              </a:p>
            </p:txBody>
          </p:sp>
        </mc:Choice>
        <mc:Fallback xmlns="">
          <p:sp>
            <p:nvSpPr>
              <p:cNvPr id="103" name="reuse">
                <a:extLst>
                  <a:ext uri="{FF2B5EF4-FFF2-40B4-BE49-F238E27FC236}">
                    <a16:creationId xmlns:a16="http://schemas.microsoft.com/office/drawing/2014/main" id="{E4DC567C-421A-4D20-9FAE-B63FB68E16A2}"/>
                  </a:ext>
                </a:extLst>
              </p:cNvPr>
              <p:cNvSpPr>
                <a:spLocks noGrp="1" noRot="1" noChangeAspect="1" noMove="1" noResize="1" noEditPoints="1" noAdjustHandles="1" noChangeArrowheads="1" noChangeShapeType="1" noTextEdit="1"/>
              </p:cNvSpPr>
              <p:nvPr/>
            </p:nvSpPr>
            <p:spPr>
              <a:xfrm>
                <a:off x="781050" y="4848225"/>
                <a:ext cx="10744200" cy="1409700"/>
              </a:xfrm>
              <a:prstGeom prst="rect">
                <a:avLst/>
              </a:prstGeom>
              <a:blipFill>
                <a:blip r:embed="rId5"/>
                <a:stretch>
                  <a:fillRect/>
                </a:stretch>
              </a:blipFill>
              <a:ln w="0">
                <a:noFill/>
              </a:ln>
            </p:spPr>
            <p:txBody>
              <a:bodyPr/>
              <a:lstStyle/>
              <a:p>
                <a:r>
                  <a:rPr lang="it-IT">
                    <a:noFill/>
                  </a:rPr>
                  <a:t> </a:t>
                </a:r>
              </a:p>
            </p:txBody>
          </p:sp>
        </mc:Fallback>
      </mc:AlternateContent>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1181588"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The </a:t>
            </a:r>
            <a:r>
              <a:rPr lang="it-IT" sz="2100" dirty="0" err="1">
                <a:solidFill>
                  <a:srgbClr val="526276"/>
                </a:solidFill>
                <a:latin typeface="DejaVu Sans"/>
                <a:ea typeface="DejaVu Sans"/>
                <a:cs typeface="DejaVu Sans"/>
              </a:rPr>
              <a:t>loss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is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minus</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logarithm</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predicted</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probability</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observed</a:t>
            </a:r>
            <a:r>
              <a:rPr lang="it-IT" sz="2100" dirty="0">
                <a:solidFill>
                  <a:srgbClr val="526276"/>
                </a:solidFill>
                <a:latin typeface="DejaVu Sans"/>
                <a:ea typeface="DejaVu Sans"/>
                <a:cs typeface="DejaVu Sans"/>
              </a:rPr>
              <a:t> class</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51</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80585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805855"/>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281237"/>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281237"/>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p:cNvSpPr>
              <p:nvPr/>
            </p:nvSpPr>
            <p:spPr>
              <a:xfrm>
                <a:off x="832104" y="4157705"/>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noRot="1" noChangeAspect="1" noMove="1" noResize="1" noEditPoints="1" noAdjustHandles="1" noChangeArrowheads="1" noChangeShapeType="1" noTextEdit="1"/>
              </p:cNvSpPr>
              <p:nvPr/>
            </p:nvSpPr>
            <p:spPr>
              <a:xfrm>
                <a:off x="832104" y="4157705"/>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2" name="minimise">
            <a:extLst>
              <a:ext uri="{FF2B5EF4-FFF2-40B4-BE49-F238E27FC236}">
                <a16:creationId xmlns:a16="http://schemas.microsoft.com/office/drawing/2014/main" id="{6FF9B7A6-367D-0BBF-650B-87A00D0A6B0D}"/>
              </a:ext>
            </a:extLst>
          </p:cNvPr>
          <p:cNvSpPr>
            <a:spLocks noGrp="1"/>
          </p:cNvSpPr>
          <p:nvPr/>
        </p:nvSpPr>
        <p:spPr>
          <a:xfrm>
            <a:off x="723900" y="5598223"/>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FF0000"/>
                </a:solidFill>
                <a:latin typeface="DejaVu Sans"/>
                <a:ea typeface="DejaVu Sans"/>
                <a:cs typeface="DejaVu Sans"/>
              </a:rPr>
              <a:t>gradient</a:t>
            </a:r>
            <a:r>
              <a:rPr lang="it-IT" sz="2025" b="1" dirty="0">
                <a:solidFill>
                  <a:srgbClr val="FF0000"/>
                </a:solidFill>
                <a:latin typeface="DejaVu Sans"/>
                <a:ea typeface="DejaVu Sans"/>
                <a:cs typeface="DejaVu Sans"/>
              </a:rPr>
              <a:t> </a:t>
            </a:r>
            <a:r>
              <a:rPr lang="it-IT" sz="2025" b="1" dirty="0" err="1">
                <a:solidFill>
                  <a:srgbClr val="FF0000"/>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A37298EE-4764-69E2-76DB-5973C1801F29}"/>
                  </a:ext>
                </a:extLst>
              </p:cNvPr>
              <p:cNvSpPr txBox="1"/>
              <p:nvPr/>
            </p:nvSpPr>
            <p:spPr>
              <a:xfrm>
                <a:off x="1088136" y="3408532"/>
                <a:ext cx="10232136" cy="887359"/>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400" b="0" dirty="0">
                    <a:solidFill>
                      <a:srgbClr val="FF0000"/>
                    </a:solidFill>
                    <a:latin typeface="DejaVu Sans"/>
                    <a:ea typeface="DejaVu Sans"/>
                    <a:cs typeface="DejaVu Sans"/>
                  </a:rPr>
                  <a:t>Dataset: </a:t>
                </a:r>
                <a14:m>
                  <m:oMath xmlns:m="http://schemas.openxmlformats.org/officeDocument/2006/math">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0" smtClean="0">
                                <a:solidFill>
                                  <a:srgbClr val="FF0000"/>
                                </a:solidFill>
                                <a:latin typeface="Cambria Math" panose="02040503050406030204" pitchFamily="18" charset="0"/>
                                <a:ea typeface="Cambria Math"/>
                                <a:cs typeface="Cambria Math"/>
                              </a:rPr>
                              <m:t>1</m:t>
                            </m:r>
                          </m:sub>
                        </m:sSub>
                        <m:r>
                          <a:rPr lang="it-IT" sz="2400" b="0" i="1" smtClean="0">
                            <a:solidFill>
                              <a:srgbClr val="FF0000"/>
                            </a:solidFill>
                            <a:latin typeface="Cambria Math" panose="02040503050406030204" pitchFamily="18" charset="0"/>
                            <a:ea typeface="Cambria Math"/>
                            <a:cs typeface="Cambria Math"/>
                          </a:rPr>
                          <m:t>,</m:t>
                        </m:r>
                        <m:sSub>
                          <m:sSubPr>
                            <m:ctrlPr>
                              <a:rPr lang="it-IT" sz="2400" b="0" i="1" smtClean="0">
                                <a:solidFill>
                                  <a:srgbClr val="FF0000"/>
                                </a:solidFill>
                                <a:latin typeface="Cambria Math" panose="02040503050406030204" pitchFamily="18" charset="0"/>
                                <a:ea typeface="Cambria Math"/>
                                <a:cs typeface="Cambria Math"/>
                              </a:rPr>
                            </m:ctrlPr>
                          </m:sSubPr>
                          <m:e>
                            <m:r>
                              <a:rPr lang="it-IT" sz="2400" b="0" i="1" smtClean="0">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1</m:t>
                            </m:r>
                          </m:sub>
                        </m:sSub>
                      </m:e>
                    </m:d>
                    <m:r>
                      <a:rPr lang="it-IT" sz="2400" b="0" i="1" smtClean="0">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1" smtClean="0">
                                <a:solidFill>
                                  <a:srgbClr val="FF0000"/>
                                </a:solidFill>
                                <a:latin typeface="Cambria Math" panose="02040503050406030204" pitchFamily="18" charset="0"/>
                                <a:ea typeface="Cambria Math"/>
                                <a:cs typeface="Cambria Math"/>
                              </a:rPr>
                              <m:t>𝑁</m:t>
                            </m:r>
                          </m:sub>
                        </m:sSub>
                        <m:r>
                          <a:rPr lang="it-IT" sz="2400" i="1">
                            <a:solidFill>
                              <a:srgbClr val="FF0000"/>
                            </a:solidFill>
                            <a:latin typeface="Cambria Math" panose="02040503050406030204" pitchFamily="18" charset="0"/>
                            <a:ea typeface="Cambria Math"/>
                            <a:cs typeface="Cambria Math"/>
                          </a:rPr>
                          <m:t>,</m:t>
                        </m:r>
                        <m:sSub>
                          <m:sSubPr>
                            <m:ctrlPr>
                              <a:rPr lang="it-IT" sz="2400" i="1">
                                <a:solidFill>
                                  <a:srgbClr val="FF0000"/>
                                </a:solidFill>
                                <a:latin typeface="Cambria Math" panose="02040503050406030204" pitchFamily="18" charset="0"/>
                                <a:ea typeface="Cambria Math"/>
                                <a:cs typeface="Cambria Math"/>
                              </a:rPr>
                            </m:ctrlPr>
                          </m:sSubPr>
                          <m:e>
                            <m:r>
                              <a:rPr lang="it-IT" sz="2400" i="1">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𝑁</m:t>
                            </m:r>
                          </m:sub>
                        </m:sSub>
                      </m:e>
                    </m:d>
                    <m:r>
                      <a:rPr lang="it-IT" sz="2400" b="0" i="1" smtClean="0">
                        <a:solidFill>
                          <a:srgbClr val="FF0000"/>
                        </a:solidFill>
                        <a:latin typeface="Cambria Math" panose="02040503050406030204" pitchFamily="18" charset="0"/>
                        <a:ea typeface="Cambria Math"/>
                        <a:cs typeface="Cambria Math"/>
                      </a:rPr>
                      <m:t>∈</m:t>
                    </m:r>
                    <m:sSup>
                      <m:sSupPr>
                        <m:ctrlPr>
                          <a:rPr lang="it-IT" sz="2400" b="0" i="1" smtClean="0">
                            <a:solidFill>
                              <a:srgbClr val="FF0000"/>
                            </a:solidFill>
                            <a:latin typeface="Cambria Math" panose="02040503050406030204" pitchFamily="18" charset="0"/>
                            <a:ea typeface="Cambria Math"/>
                            <a:cs typeface="Cambria Math"/>
                          </a:rPr>
                        </m:ctrlPr>
                      </m:sSupPr>
                      <m:e>
                        <m:r>
                          <a:rPr lang="it-IT" sz="2400" b="0" i="1" smtClean="0">
                            <a:solidFill>
                              <a:srgbClr val="FF0000"/>
                            </a:solidFill>
                            <a:latin typeface="Cambria Math" panose="02040503050406030204" pitchFamily="18" charset="0"/>
                            <a:ea typeface="Cambria Math"/>
                            <a:cs typeface="Cambria Math"/>
                          </a:rPr>
                          <m:t>ℝ</m:t>
                        </m:r>
                      </m:e>
                      <m:sup>
                        <m:r>
                          <a:rPr lang="it-IT" sz="2400" b="0" i="0"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𝑑</m:t>
                        </m:r>
                      </m:sup>
                    </m:sSup>
                    <m:r>
                      <a:rPr lang="it-IT" sz="2400" b="0" i="1" smtClean="0">
                        <a:solidFill>
                          <a:srgbClr val="FF0000"/>
                        </a:solidFill>
                        <a:latin typeface="Cambria Math" panose="02040503050406030204" pitchFamily="18" charset="0"/>
                        <a:ea typeface="Cambria Math"/>
                        <a:cs typeface="Cambria Math"/>
                      </a:rPr>
                      <m:t>×</m:t>
                    </m:r>
                    <m:d>
                      <m:dPr>
                        <m:begChr m:val="{"/>
                        <m:endChr m:val="}"/>
                        <m:ctrlPr>
                          <a:rPr lang="it-IT" sz="2400" b="0" i="1" smtClean="0">
                            <a:solidFill>
                              <a:srgbClr val="FF0000"/>
                            </a:solidFill>
                            <a:latin typeface="Cambria Math" panose="02040503050406030204" pitchFamily="18" charset="0"/>
                            <a:ea typeface="Cambria Math"/>
                            <a:cs typeface="Cambria Math"/>
                          </a:rPr>
                        </m:ctrlPr>
                      </m:dPr>
                      <m:e>
                        <m:r>
                          <a:rPr lang="it-IT" sz="2400" b="0" i="1"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𝐾</m:t>
                        </m:r>
                      </m:e>
                    </m:d>
                  </m:oMath>
                </a14:m>
                <a:endParaRPr lang="en-GB" sz="24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400" b="1" dirty="0">
                    <a:solidFill>
                      <a:srgbClr val="FF0000"/>
                    </a:solidFill>
                    <a:latin typeface="DejaVu Sans"/>
                    <a:ea typeface="DejaVu Sans"/>
                    <a:cs typeface="DejaVu Sans"/>
                  </a:rPr>
                  <a:t>Empirical cross-entropy</a:t>
                </a:r>
              </a:p>
            </p:txBody>
          </p:sp>
        </mc:Choice>
        <mc:Fallback xmlns="">
          <p:sp>
            <p:nvSpPr>
              <p:cNvPr id="14" name="CasellaDiTesto 13">
                <a:extLst>
                  <a:ext uri="{FF2B5EF4-FFF2-40B4-BE49-F238E27FC236}">
                    <a16:creationId xmlns:a16="http://schemas.microsoft.com/office/drawing/2014/main" id="{A37298EE-4764-69E2-76DB-5973C1801F29}"/>
                  </a:ext>
                </a:extLst>
              </p:cNvPr>
              <p:cNvSpPr txBox="1">
                <a:spLocks noRot="1" noChangeAspect="1" noMove="1" noResize="1" noEditPoints="1" noAdjustHandles="1" noChangeArrowheads="1" noChangeShapeType="1" noTextEdit="1"/>
              </p:cNvSpPr>
              <p:nvPr/>
            </p:nvSpPr>
            <p:spPr>
              <a:xfrm>
                <a:off x="1088136" y="3408532"/>
                <a:ext cx="10232136" cy="887359"/>
              </a:xfrm>
              <a:prstGeom prst="rect">
                <a:avLst/>
              </a:prstGeom>
              <a:blipFill>
                <a:blip r:embed="rId6"/>
                <a:stretch>
                  <a:fillRect t="-4795" b="-14384"/>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4"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dirty="0">
                <a:solidFill>
                  <a:srgbClr val="526276"/>
                </a:solidFill>
                <a:latin typeface="DejaVu Sans"/>
                <a:ea typeface="DejaVu Sans"/>
                <a:cs typeface="DejaVu Sans"/>
              </a:rPr>
              <a:t>5</a:t>
            </a:r>
            <a:r>
              <a:rPr lang="it-IT" sz="1200" b="0" dirty="0">
                <a:solidFill>
                  <a:srgbClr val="526276"/>
                </a:solidFill>
                <a:latin typeface="DejaVu Sans"/>
                <a:ea typeface="DejaVu Sans"/>
                <a:cs typeface="DejaVu Sans"/>
              </a:rPr>
              <a:t>2</a:t>
            </a:r>
            <a:endParaRPr sz="1200" b="0" dirty="0">
              <a:solidFill>
                <a:srgbClr val="526276"/>
              </a:solidFill>
              <a:latin typeface="DejaVu Sans"/>
              <a:ea typeface="DejaVu Sans"/>
              <a:cs typeface="DejaVu Sans"/>
            </a:endParaRPr>
          </a:p>
        </p:txBody>
      </p:sp>
      <p:graphicFrame>
        <p:nvGraphicFramePr>
          <p:cNvPr id="11" name="step_0_table_0"/>
          <p:cNvGraphicFramePr/>
          <p:nvPr>
            <p:extLst>
              <p:ext uri="{D42A27DB-BD31-4B8C-83A1-F6EECF244321}">
                <p14:modId xmlns:p14="http://schemas.microsoft.com/office/powerpoint/2010/main" val="3534775484"/>
              </p:ext>
            </p:extLst>
          </p:nvPr>
        </p:nvGraphicFramePr>
        <p:xfrm>
          <a:off x="914400" y="1333500"/>
          <a:ext cx="10363200" cy="239268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914400" y="402907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a:t>
            </a:r>
            <a:r>
              <a:rPr lang="it-IT" sz="2000" b="1" dirty="0">
                <a:solidFill>
                  <a:srgbClr val="087F83"/>
                </a:solidFill>
                <a:latin typeface="DejaVu Sans"/>
                <a:ea typeface="DejaVu Sans"/>
                <a:cs typeface="DejaVu Sans"/>
              </a:rPr>
              <a:t> </a:t>
            </a:r>
            <a:r>
              <a:rPr lang="it-IT" sz="2000" b="1" dirty="0" err="1">
                <a:solidFill>
                  <a:srgbClr val="087F83"/>
                </a:solidFill>
                <a:latin typeface="DejaVu Sans"/>
                <a:ea typeface="DejaVu Sans"/>
                <a:cs typeface="DejaVu Sans"/>
              </a:rPr>
              <a:t>smooth</a:t>
            </a:r>
            <a:r>
              <a:rPr sz="2000" b="1" dirty="0">
                <a:solidFill>
                  <a:srgbClr val="087F83"/>
                </a:solidFill>
                <a:latin typeface="DejaVu Sans"/>
                <a:ea typeface="DejaVu Sans"/>
                <a:cs typeface="DejaVu Sans"/>
              </a:rPr>
              <a:t> </a:t>
            </a:r>
            <a:r>
              <a:rPr lang="it-IT" sz="2000" b="1" dirty="0">
                <a:solidFill>
                  <a:srgbClr val="087F83"/>
                </a:solidFill>
                <a:latin typeface="DejaVu Sans"/>
                <a:ea typeface="DejaVu Sans"/>
                <a:cs typeface="DejaVu Sans"/>
              </a:rPr>
              <a:t>surrogate</a:t>
            </a:r>
            <a:r>
              <a:rPr sz="2000" b="1" dirty="0">
                <a:solidFill>
                  <a:srgbClr val="087F83"/>
                </a:solidFill>
                <a:latin typeface="DejaVu Sans"/>
                <a:ea typeface="DejaVu Sans"/>
                <a:cs typeface="DejaVu Sans"/>
              </a:rPr>
              <a:t>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1199</TotalTime>
  <Words>9916</Words>
  <Application>Microsoft Office PowerPoint</Application>
  <DocSecurity>0</DocSecurity>
  <PresentationFormat>Widescreen</PresentationFormat>
  <Paragraphs>773</Paragraphs>
  <Slides>52</Slides>
  <Notes>51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52</vt:i4>
      </vt:variant>
    </vt:vector>
  </HeadingPairs>
  <TitlesOfParts>
    <vt:vector size="58"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46</cp:revision>
  <dcterms:created xsi:type="dcterms:W3CDTF">2026-09-28T00:00:05Z</dcterms:created>
  <dcterms:modified xsi:type="dcterms:W3CDTF">2026-10-08T05:33:37Z</dcterms:modified>
</cp:coreProperties>
</file>