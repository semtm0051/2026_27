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notesSlides/notesSlide30.xml" ContentType="application/vnd.openxmlformats-officedocument.presentationml.notesSlide+xml"/>
  <Override PartName="/ppt/charts/chart14.xml" ContentType="application/vnd.openxmlformats-officedocument.drawingml.chart+xml"/>
  <Override PartName="/ppt/charts/chart15.xml" ContentType="application/vnd.openxmlformats-officedocument.drawingml.chart+xml"/>
  <Override PartName="/ppt/notesSlides/notesSlide31.xml" ContentType="application/vnd.openxmlformats-officedocument.presentationml.notesSlide+xml"/>
  <Override PartName="/ppt/charts/chart16.xml" ContentType="application/vnd.openxmlformats-officedocument.drawingml.chart+xml"/>
  <Override PartName="/ppt/charts/chart17.xml" ContentType="application/vnd.openxmlformats-officedocument.drawingml.chart+xml"/>
  <Override PartName="/ppt/notesSlides/notesSlide32.xml" ContentType="application/vnd.openxmlformats-officedocument.presentationml.notesSlide+xml"/>
  <Override PartName="/ppt/charts/chart18.xml" ContentType="application/vnd.openxmlformats-officedocument.drawingml.chart+xml"/>
  <Override PartName="/ppt/charts/chart19.xml" ContentType="application/vnd.openxmlformats-officedocument.drawingml.chart+xml"/>
  <Override PartName="/ppt/notesSlides/notesSlide33.xml" ContentType="application/vnd.openxmlformats-officedocument.presentationml.notesSlide+xml"/>
  <Override PartName="/ppt/charts/chart20.xml" ContentType="application/vnd.openxmlformats-officedocument.drawingml.chart+xml"/>
  <Override PartName="/ppt/charts/chart21.xml" ContentType="application/vnd.openxmlformats-officedocument.drawingml.chart+xml"/>
  <Override PartName="/ppt/notesSlides/notesSlide34.xml" ContentType="application/vnd.openxmlformats-officedocument.presentationml.notesSlide+xml"/>
  <Override PartName="/ppt/charts/chart22.xml" ContentType="application/vnd.openxmlformats-officedocument.drawingml.chart+xml"/>
  <Override PartName="/ppt/charts/chart23.xml" ContentType="application/vnd.openxmlformats-officedocument.drawingml.chart+xml"/>
  <Override PartName="/ppt/notesSlides/notesSlide35.xml" ContentType="application/vnd.openxmlformats-officedocument.presentationml.notesSlide+xml"/>
  <Override PartName="/ppt/charts/chart24.xml" ContentType="application/vnd.openxmlformats-officedocument.drawingml.chart+xml"/>
  <Override PartName="/ppt/notesSlides/notesSlide36.xml" ContentType="application/vnd.openxmlformats-officedocument.presentationml.notesSlide+xml"/>
  <Override PartName="/ppt/charts/chart25.xml" ContentType="application/vnd.openxmlformats-officedocument.drawingml.chart+xml"/>
  <Override PartName="/ppt/charts/chart26.xml" ContentType="application/vnd.openxmlformats-officedocument.drawingml.chart+xml"/>
  <Override PartName="/ppt/notesSlides/notesSlide37.xml" ContentType="application/vnd.openxmlformats-officedocument.presentationml.notesSlide+xml"/>
  <Override PartName="/ppt/charts/chart27.xml" ContentType="application/vnd.openxmlformats-officedocument.drawingml.chart+xml"/>
  <Override PartName="/ppt/charts/chart28.xml" ContentType="application/vnd.openxmlformats-officedocument.drawingml.chart+xml"/>
  <Override PartName="/ppt/notesSlides/notesSlide38.xml" ContentType="application/vnd.openxmlformats-officedocument.presentationml.notesSlide+xml"/>
  <Override PartName="/ppt/charts/chart29.xml" ContentType="application/vnd.openxmlformats-officedocument.drawingml.chart+xml"/>
  <Override PartName="/ppt/charts/chart30.xml" ContentType="application/vnd.openxmlformats-officedocument.drawingml.chart+xml"/>
  <Override PartName="/ppt/notesSlides/notesSlide39.xml" ContentType="application/vnd.openxmlformats-officedocument.presentationml.notesSlide+xml"/>
  <Override PartName="/ppt/charts/chart31.xml" ContentType="application/vnd.openxmlformats-officedocument.drawingml.chart+xml"/>
  <Override PartName="/ppt/charts/chart32.xml" ContentType="application/vnd.openxmlformats-officedocument.drawingml.chart+xml"/>
  <Override PartName="/ppt/notesSlides/notesSlide40.xml" ContentType="application/vnd.openxmlformats-officedocument.presentationml.notesSlide+xml"/>
  <Override PartName="/ppt/charts/chart33.xml" ContentType="application/vnd.openxmlformats-officedocument.drawingml.chart+xml"/>
  <Override PartName="/ppt/charts/chart34.xml" ContentType="application/vnd.openxmlformats-officedocument.drawingml.chart+xml"/>
  <Override PartName="/ppt/notesSlides/notesSlide41.xml" ContentType="application/vnd.openxmlformats-officedocument.presentationml.notesSlide+xml"/>
  <Override PartName="/ppt/charts/chart35.xml" ContentType="application/vnd.openxmlformats-officedocument.drawingml.chart+xml"/>
  <Override PartName="/ppt/charts/chart36.xml" ContentType="application/vnd.openxmlformats-officedocument.drawingml.chart+xml"/>
  <Override PartName="/ppt/notesSlides/notesSlide42.xml" ContentType="application/vnd.openxmlformats-officedocument.presentationml.notesSlide+xml"/>
  <Override PartName="/ppt/charts/chart37.xml" ContentType="application/vnd.openxmlformats-officedocument.drawingml.chart+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Layouts/slideLayout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60"/>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308" r:id="rId12"/>
    <p:sldId id="266" r:id="rId13"/>
    <p:sldId id="267" r:id="rId14"/>
    <p:sldId id="268" r:id="rId15"/>
    <p:sldId id="269" r:id="rId16"/>
    <p:sldId id="270" r:id="rId17"/>
    <p:sldId id="271" r:id="rId18"/>
    <p:sldId id="272" r:id="rId19"/>
    <p:sldId id="273" r:id="rId20"/>
    <p:sldId id="309" r:id="rId21"/>
    <p:sldId id="274" r:id="rId22"/>
    <p:sldId id="275" r:id="rId23"/>
    <p:sldId id="276" r:id="rId24"/>
    <p:sldId id="277" r:id="rId25"/>
    <p:sldId id="278" r:id="rId26"/>
    <p:sldId id="279" r:id="rId27"/>
    <p:sldId id="280" r:id="rId28"/>
    <p:sldId id="281" r:id="rId29"/>
    <p:sldId id="307" r:id="rId30"/>
    <p:sldId id="282" r:id="rId31"/>
    <p:sldId id="284" r:id="rId32"/>
    <p:sldId id="285" r:id="rId33"/>
    <p:sldId id="286" r:id="rId34"/>
    <p:sldId id="287" r:id="rId35"/>
    <p:sldId id="288" r:id="rId36"/>
    <p:sldId id="289" r:id="rId37"/>
    <p:sldId id="297" r:id="rId38"/>
    <p:sldId id="298" r:id="rId39"/>
    <p:sldId id="299" r:id="rId40"/>
    <p:sldId id="300" r:id="rId41"/>
    <p:sldId id="301" r:id="rId42"/>
    <p:sldId id="302" r:id="rId43"/>
    <p:sldId id="296" r:id="rId44"/>
    <p:sldId id="310" r:id="rId45"/>
    <p:sldId id="290" r:id="rId46"/>
    <p:sldId id="303" r:id="rId47"/>
    <p:sldId id="291" r:id="rId48"/>
    <p:sldId id="292" r:id="rId49"/>
    <p:sldId id="293" r:id="rId50"/>
    <p:sldId id="294" r:id="rId51"/>
    <p:sldId id="305" r:id="rId52"/>
    <p:sldId id="295" r:id="rId5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6CB2"/>
    <a:srgbClr val="FFFFFF"/>
    <a:srgbClr val="087F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567F7C-3083-4BBA-BBEE-2750F58AA49B}" v="2" dt="2026-09-29T13:00:27.2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Master" Target="slideMasters/slideMaster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6"/>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BCBF-4E96-A0D9-725248FAAC83}"/>
            </c:ext>
          </c:extLst>
        </c:ser>
        <c:ser>
          <c:idx val="1"/>
          <c:order val="1"/>
          <c:tx>
            <c:v>Class 1</c:v>
          </c:tx>
          <c:spPr>
            <a:ln w="0">
              <a:noFill/>
            </a:ln>
          </c:spPr>
          <c:marker>
            <c:symbol val="triangle"/>
            <c:size val="6"/>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BCBF-4E96-A0D9-725248FAAC83}"/>
            </c:ext>
          </c:extLst>
        </c:ser>
        <c:dLbls>
          <c:showLegendKey val="0"/>
          <c:showVal val="0"/>
          <c:showCatName val="0"/>
          <c:showSerName val="0"/>
          <c:showPercent val="0"/>
          <c:showBubbleSize val="0"/>
        </c:dLbls>
        <c:axId val="48650112"/>
        <c:axId val="48672768"/>
      </c:scatterChart>
      <c:valAx>
        <c:axId val="48672768"/>
        <c:scaling>
          <c:orientation val="minMax"/>
          <c:max val="7.5"/>
          <c:min val="2.5"/>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Nonpositive branch</c:v>
          </c:tx>
          <c:spPr>
            <a:ln w="28575">
              <a:solidFill>
                <a:srgbClr val="326CB2"/>
              </a:solidFill>
            </a:ln>
          </c:spPr>
          <c:marker>
            <c:symbol val="none"/>
          </c:marker>
          <c:xVal>
            <c:numRef>
              <c:f>'Chart Data'!$A$2:$A$3</c:f>
              <c:numCache>
                <c:formatCode>General</c:formatCode>
                <c:ptCount val="2"/>
                <c:pt idx="0">
                  <c:v>-2</c:v>
                </c:pt>
                <c:pt idx="1">
                  <c:v>0</c:v>
                </c:pt>
              </c:numCache>
            </c:numRef>
          </c:xVal>
          <c:yVal>
            <c:numRef>
              <c:f>'Chart Data'!$B$2:$B$3</c:f>
              <c:numCache>
                <c:formatCode>0</c:formatCode>
                <c:ptCount val="2"/>
                <c:pt idx="0">
                  <c:v>0</c:v>
                </c:pt>
                <c:pt idx="1">
                  <c:v>0</c:v>
                </c:pt>
              </c:numCache>
            </c:numRef>
          </c:yVal>
          <c:smooth val="1"/>
          <c:extLst>
            <c:ext xmlns:c16="http://schemas.microsoft.com/office/drawing/2014/chart" uri="{C3380CC4-5D6E-409C-BE32-E72D297353CC}">
              <c16:uniqueId val="{00000000-2271-46C9-8E53-BA43C5DADCB0}"/>
            </c:ext>
          </c:extLst>
        </c:ser>
        <c:ser>
          <c:idx val="1"/>
          <c:order val="1"/>
          <c:tx>
            <c:v>Positive branch</c:v>
          </c:tx>
          <c:spPr>
            <a:ln w="28575">
              <a:solidFill>
                <a:srgbClr val="326CB2"/>
              </a:solidFill>
            </a:ln>
          </c:spPr>
          <c:marker>
            <c:symbol val="none"/>
          </c:marker>
          <c:xVal>
            <c:numRef>
              <c:f>'Chart Data'!$C$2:$C$3</c:f>
              <c:numCache>
                <c:formatCode>General</c:formatCode>
                <c:ptCount val="2"/>
                <c:pt idx="0">
                  <c:v>0</c:v>
                </c:pt>
                <c:pt idx="1">
                  <c:v>2</c:v>
                </c:pt>
              </c:numCache>
            </c:numRef>
          </c:xVal>
          <c:yVal>
            <c:numRef>
              <c:f>'Chart Data'!$D$2:$D$3</c:f>
              <c:numCache>
                <c:formatCode>0</c:formatCode>
                <c:ptCount val="2"/>
                <c:pt idx="0">
                  <c:v>1</c:v>
                </c:pt>
                <c:pt idx="1">
                  <c:v>1</c:v>
                </c:pt>
              </c:numCache>
            </c:numRef>
          </c:yVal>
          <c:smooth val="1"/>
          <c:extLst>
            <c:ext xmlns:c16="http://schemas.microsoft.com/office/drawing/2014/chart" uri="{C3380CC4-5D6E-409C-BE32-E72D297353CC}">
              <c16:uniqueId val="{00000001-2271-46C9-8E53-BA43C5DADCB0}"/>
            </c:ext>
          </c:extLst>
        </c:ser>
        <c:ser>
          <c:idx val="2"/>
          <c:order val="2"/>
          <c:tx>
            <c:v>Excluded endpoint</c:v>
          </c:tx>
          <c:spPr>
            <a:ln w="0">
              <a:noFill/>
            </a:ln>
          </c:spPr>
          <c:marker>
            <c:symbol val="circle"/>
            <c:size val="8"/>
            <c:spPr>
              <a:solidFill>
                <a:srgbClr val="FFFFFF"/>
              </a:solidFill>
              <a:ln w="19050">
                <a:solidFill>
                  <a:srgbClr val="326CB2"/>
                </a:solidFill>
              </a:ln>
            </c:spPr>
          </c:marker>
          <c:xVal>
            <c:numRef>
              <c:f>'Chart Data'!$E$2:$E$2</c:f>
              <c:numCache>
                <c:formatCode>General</c:formatCode>
                <c:ptCount val="1"/>
                <c:pt idx="0">
                  <c:v>0</c:v>
                </c:pt>
              </c:numCache>
            </c:numRef>
          </c:xVal>
          <c:yVal>
            <c:numRef>
              <c:f>'Chart Data'!$F$2:$F$2</c:f>
              <c:numCache>
                <c:formatCode>0</c:formatCode>
                <c:ptCount val="1"/>
                <c:pt idx="0">
                  <c:v>1</c:v>
                </c:pt>
              </c:numCache>
            </c:numRef>
          </c:yVal>
          <c:smooth val="1"/>
          <c:extLst>
            <c:ext xmlns:c16="http://schemas.microsoft.com/office/drawing/2014/chart" uri="{C3380CC4-5D6E-409C-BE32-E72D297353CC}">
              <c16:uniqueId val="{00000002-2271-46C9-8E53-BA43C5DADCB0}"/>
            </c:ext>
          </c:extLst>
        </c:ser>
        <c:ser>
          <c:idx val="3"/>
          <c:order val="3"/>
          <c:tx>
            <c:v>Included endpoint</c:v>
          </c:tx>
          <c:spPr>
            <a:ln w="0">
              <a:noFill/>
            </a:ln>
          </c:spPr>
          <c:marker>
            <c:symbol val="circle"/>
            <c:size val="8"/>
            <c:spPr>
              <a:solidFill>
                <a:srgbClr val="326CB2"/>
              </a:solidFill>
              <a:ln w="19050">
                <a:solidFill>
                  <a:srgbClr val="326CB2"/>
                </a:solidFill>
              </a:ln>
            </c:spPr>
          </c:marker>
          <c:xVal>
            <c:numRef>
              <c:f>'Chart Data'!$G$2:$G$2</c:f>
              <c:numCache>
                <c:formatCode>General</c:formatCode>
                <c:ptCount val="1"/>
                <c:pt idx="0">
                  <c:v>0</c:v>
                </c:pt>
              </c:numCache>
            </c:numRef>
          </c:xVal>
          <c:yVal>
            <c:numRef>
              <c:f>'Chart Data'!$H$2:$H$2</c:f>
              <c:numCache>
                <c:formatCode>0</c:formatCode>
                <c:ptCount val="1"/>
                <c:pt idx="0">
                  <c:v>0</c:v>
                </c:pt>
              </c:numCache>
            </c:numRef>
          </c:yVal>
          <c:smooth val="1"/>
          <c:extLst>
            <c:ext xmlns:c16="http://schemas.microsoft.com/office/drawing/2014/chart" uri="{C3380CC4-5D6E-409C-BE32-E72D297353CC}">
              <c16:uniqueId val="{00000003-2271-46C9-8E53-BA43C5DADCB0}"/>
            </c:ext>
          </c:extLst>
        </c:ser>
        <c:dLbls>
          <c:showLegendKey val="0"/>
          <c:showVal val="0"/>
          <c:showCatName val="0"/>
          <c:showSerName val="0"/>
          <c:showPercent val="0"/>
          <c:showBubbleSize val="0"/>
        </c:dLbls>
        <c:axId val="48650112"/>
        <c:axId val="48672768"/>
      </c:scatterChart>
      <c:valAx>
        <c:axId val="48672768"/>
        <c:scaling>
          <c:orientation val="minMax"/>
          <c:max val="1.2"/>
          <c:min val="0"/>
        </c:scaling>
        <c:delete val="0"/>
        <c:axPos val="l"/>
        <c:title>
          <c:tx>
            <c:rich>
              <a:bodyPr/>
              <a:lstStyle/>
              <a:p>
                <a:r>
                  <a:rPr lang="it-IT" sz="1650" dirty="0">
                    <a:solidFill>
                      <a:srgbClr val="182D45"/>
                    </a:solidFill>
                    <a:latin typeface="DejaVu Sans"/>
                    <a:ea typeface="DejaVu Sans"/>
                    <a:cs typeface="DejaVu Sans"/>
                  </a:rPr>
                  <a:t>step(s)</a:t>
                </a:r>
              </a:p>
            </c:rich>
          </c:tx>
          <c:overlay val="0"/>
        </c:title>
        <c:numFmt formatCode="0" sourceLinked="1"/>
        <c:majorTickMark val="none"/>
        <c:minorTickMark val="none"/>
        <c:tickLblPos val="nextTo"/>
        <c:spPr>
          <a:ln w="9525">
            <a:solidFill>
              <a:srgbClr val="7D8998"/>
            </a:solidFill>
          </a:ln>
        </c:spPr>
        <c:txPr>
          <a:bodyPr anchorCtr="1"/>
          <a:lstStyle/>
          <a:p>
            <a:pPr>
              <a:defRPr sz="1425">
                <a:solidFill>
                  <a:srgbClr val="182D45"/>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2"/>
          <c:min val="-2"/>
        </c:scaling>
        <c:delete val="0"/>
        <c:axPos val="b"/>
        <c:title>
          <c:tx>
            <c:rich>
              <a:bodyPr/>
              <a:lstStyle/>
              <a:p>
                <a:r>
                  <a:rPr lang="it-IT" sz="1650">
                    <a:solidFill>
                      <a:srgbClr val="182D45"/>
                    </a:solidFill>
                    <a:latin typeface="DejaVu Sans"/>
                    <a:ea typeface="DejaVu Sans"/>
                    <a:cs typeface="DejaVu Sans"/>
                  </a:rPr>
                  <a:t>s</a:t>
                </a:r>
              </a:p>
            </c:rich>
          </c:tx>
          <c:overlay val="0"/>
        </c:title>
        <c:numFmt formatCode="General" sourceLinked="1"/>
        <c:majorTickMark val="none"/>
        <c:minorTickMark val="none"/>
        <c:tickLblPos val="nextTo"/>
        <c:spPr>
          <a:ln w="9525">
            <a:solidFill>
              <a:srgbClr val="7D8998"/>
            </a:solidFill>
          </a:ln>
        </c:spPr>
        <c:txPr>
          <a:bodyPr anchorCtr="1"/>
          <a:lstStyle/>
          <a:p>
            <a:pPr>
              <a:defRPr sz="1425">
                <a:solidFill>
                  <a:srgbClr val="182D45"/>
                </a:solidFill>
                <a:latin typeface="DejaVu Sans"/>
                <a:ea typeface="DejaVu Sans"/>
                <a:cs typeface="DejaVu Sans"/>
              </a:defRPr>
            </a:pPr>
            <a:endParaRPr lang="it-IT"/>
          </a:p>
        </c:txPr>
        <c:crossAx val="48672768"/>
        <c:crosses val="autoZero"/>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σ(s)</c:v>
          </c:tx>
          <c:spPr>
            <a:ln w="28575">
              <a:solidFill>
                <a:srgbClr val="087F83"/>
              </a:solidFill>
              <a:prstDash val="solid"/>
            </a:ln>
          </c:spPr>
          <c:marker>
            <c:symbol val="none"/>
          </c:marker>
          <c:xVal>
            <c:numRef>
              <c:f>'Chart Data'!$A$2:$A$162</c:f>
              <c:numCache>
                <c:formatCode>General</c:formatCode>
                <c:ptCount val="161"/>
                <c:pt idx="0">
                  <c:v>-6</c:v>
                </c:pt>
                <c:pt idx="1">
                  <c:v>-5.9249999999999998</c:v>
                </c:pt>
                <c:pt idx="2">
                  <c:v>-5.85</c:v>
                </c:pt>
                <c:pt idx="3">
                  <c:v>-5.7750000000000004</c:v>
                </c:pt>
                <c:pt idx="4">
                  <c:v>-5.7</c:v>
                </c:pt>
                <c:pt idx="5">
                  <c:v>-5.625</c:v>
                </c:pt>
                <c:pt idx="6">
                  <c:v>-5.55</c:v>
                </c:pt>
                <c:pt idx="7">
                  <c:v>-5.4749999999999996</c:v>
                </c:pt>
                <c:pt idx="8">
                  <c:v>-5.4</c:v>
                </c:pt>
                <c:pt idx="9">
                  <c:v>-5.3250000000000002</c:v>
                </c:pt>
                <c:pt idx="10">
                  <c:v>-5.25</c:v>
                </c:pt>
                <c:pt idx="11">
                  <c:v>-5.1749999999999998</c:v>
                </c:pt>
                <c:pt idx="12">
                  <c:v>-5.0999999999999996</c:v>
                </c:pt>
                <c:pt idx="13">
                  <c:v>-5.0250000000000004</c:v>
                </c:pt>
                <c:pt idx="14">
                  <c:v>-4.95</c:v>
                </c:pt>
                <c:pt idx="15">
                  <c:v>-4.875</c:v>
                </c:pt>
                <c:pt idx="16">
                  <c:v>-4.8</c:v>
                </c:pt>
                <c:pt idx="17">
                  <c:v>-4.7249999999999996</c:v>
                </c:pt>
                <c:pt idx="18">
                  <c:v>-4.6500000000000004</c:v>
                </c:pt>
                <c:pt idx="19">
                  <c:v>-4.5750000000000002</c:v>
                </c:pt>
                <c:pt idx="20">
                  <c:v>-4.5</c:v>
                </c:pt>
                <c:pt idx="21">
                  <c:v>-4.4249999999999998</c:v>
                </c:pt>
                <c:pt idx="22">
                  <c:v>-4.3499999999999996</c:v>
                </c:pt>
                <c:pt idx="23">
                  <c:v>-4.2750000000000004</c:v>
                </c:pt>
                <c:pt idx="24">
                  <c:v>-4.2</c:v>
                </c:pt>
                <c:pt idx="25">
                  <c:v>-4.125</c:v>
                </c:pt>
                <c:pt idx="26">
                  <c:v>-4.05</c:v>
                </c:pt>
                <c:pt idx="27">
                  <c:v>-3.9750000000000001</c:v>
                </c:pt>
                <c:pt idx="28">
                  <c:v>-3.9</c:v>
                </c:pt>
                <c:pt idx="29">
                  <c:v>-3.8250000000000002</c:v>
                </c:pt>
                <c:pt idx="30">
                  <c:v>-3.75</c:v>
                </c:pt>
                <c:pt idx="31">
                  <c:v>-3.6749999999999998</c:v>
                </c:pt>
                <c:pt idx="32">
                  <c:v>-3.6</c:v>
                </c:pt>
                <c:pt idx="33">
                  <c:v>-3.5249999999999999</c:v>
                </c:pt>
                <c:pt idx="34">
                  <c:v>-3.45</c:v>
                </c:pt>
                <c:pt idx="35">
                  <c:v>-3.375</c:v>
                </c:pt>
                <c:pt idx="36">
                  <c:v>-3.3</c:v>
                </c:pt>
                <c:pt idx="37">
                  <c:v>-3.2250000000000001</c:v>
                </c:pt>
                <c:pt idx="38">
                  <c:v>-3.15</c:v>
                </c:pt>
                <c:pt idx="39">
                  <c:v>-3.0750000000000002</c:v>
                </c:pt>
                <c:pt idx="40">
                  <c:v>-3</c:v>
                </c:pt>
                <c:pt idx="41">
                  <c:v>-2.9249999999999998</c:v>
                </c:pt>
                <c:pt idx="42">
                  <c:v>-2.85</c:v>
                </c:pt>
                <c:pt idx="43">
                  <c:v>-2.7749999999999999</c:v>
                </c:pt>
                <c:pt idx="44">
                  <c:v>-2.7</c:v>
                </c:pt>
                <c:pt idx="45">
                  <c:v>-2.625</c:v>
                </c:pt>
                <c:pt idx="46">
                  <c:v>-2.5499999999999998</c:v>
                </c:pt>
                <c:pt idx="47">
                  <c:v>-2.4750000000000001</c:v>
                </c:pt>
                <c:pt idx="48">
                  <c:v>-2.4</c:v>
                </c:pt>
                <c:pt idx="49">
                  <c:v>-2.3250000000000002</c:v>
                </c:pt>
                <c:pt idx="50">
                  <c:v>-2.25</c:v>
                </c:pt>
                <c:pt idx="51">
                  <c:v>-2.1749999999999998</c:v>
                </c:pt>
                <c:pt idx="52">
                  <c:v>-2.1</c:v>
                </c:pt>
                <c:pt idx="53">
                  <c:v>-2.0249999999999999</c:v>
                </c:pt>
                <c:pt idx="54">
                  <c:v>-1.95</c:v>
                </c:pt>
                <c:pt idx="55">
                  <c:v>-1.875</c:v>
                </c:pt>
                <c:pt idx="56">
                  <c:v>-1.8</c:v>
                </c:pt>
                <c:pt idx="57">
                  <c:v>-1.7250000000000001</c:v>
                </c:pt>
                <c:pt idx="58">
                  <c:v>-1.65</c:v>
                </c:pt>
                <c:pt idx="59">
                  <c:v>-1.575</c:v>
                </c:pt>
                <c:pt idx="60">
                  <c:v>-1.5</c:v>
                </c:pt>
                <c:pt idx="61">
                  <c:v>-1.425</c:v>
                </c:pt>
                <c:pt idx="62">
                  <c:v>-1.35</c:v>
                </c:pt>
                <c:pt idx="63">
                  <c:v>-1.2749999999999999</c:v>
                </c:pt>
                <c:pt idx="64">
                  <c:v>-1.2</c:v>
                </c:pt>
                <c:pt idx="65">
                  <c:v>-1.125</c:v>
                </c:pt>
                <c:pt idx="66">
                  <c:v>-1.05</c:v>
                </c:pt>
                <c:pt idx="67">
                  <c:v>-0.97499999999999998</c:v>
                </c:pt>
                <c:pt idx="68">
                  <c:v>-0.9</c:v>
                </c:pt>
                <c:pt idx="69">
                  <c:v>-0.82499999999999996</c:v>
                </c:pt>
                <c:pt idx="70">
                  <c:v>-0.75</c:v>
                </c:pt>
                <c:pt idx="71">
                  <c:v>-0.67500000000000004</c:v>
                </c:pt>
                <c:pt idx="72">
                  <c:v>-0.6</c:v>
                </c:pt>
                <c:pt idx="73">
                  <c:v>-0.52500000000000002</c:v>
                </c:pt>
                <c:pt idx="74">
                  <c:v>-0.45</c:v>
                </c:pt>
                <c:pt idx="75">
                  <c:v>-0.375</c:v>
                </c:pt>
                <c:pt idx="76">
                  <c:v>-0.3</c:v>
                </c:pt>
                <c:pt idx="77">
                  <c:v>-0.22500000000000001</c:v>
                </c:pt>
                <c:pt idx="78">
                  <c:v>-0.15</c:v>
                </c:pt>
                <c:pt idx="79">
                  <c:v>-7.4999999999999997E-2</c:v>
                </c:pt>
                <c:pt idx="80">
                  <c:v>0</c:v>
                </c:pt>
                <c:pt idx="81">
                  <c:v>7.4999999999999997E-2</c:v>
                </c:pt>
                <c:pt idx="82">
                  <c:v>0.15</c:v>
                </c:pt>
                <c:pt idx="83">
                  <c:v>0.22500000000000001</c:v>
                </c:pt>
                <c:pt idx="84">
                  <c:v>0.3</c:v>
                </c:pt>
                <c:pt idx="85">
                  <c:v>0.375</c:v>
                </c:pt>
                <c:pt idx="86">
                  <c:v>0.45</c:v>
                </c:pt>
                <c:pt idx="87">
                  <c:v>0.52500000000000002</c:v>
                </c:pt>
                <c:pt idx="88">
                  <c:v>0.6</c:v>
                </c:pt>
                <c:pt idx="89">
                  <c:v>0.67500000000000004</c:v>
                </c:pt>
                <c:pt idx="90">
                  <c:v>0.75</c:v>
                </c:pt>
                <c:pt idx="91">
                  <c:v>0.82499999999999996</c:v>
                </c:pt>
                <c:pt idx="92">
                  <c:v>0.9</c:v>
                </c:pt>
                <c:pt idx="93">
                  <c:v>0.97499999999999998</c:v>
                </c:pt>
                <c:pt idx="94">
                  <c:v>1.05</c:v>
                </c:pt>
                <c:pt idx="95">
                  <c:v>1.125</c:v>
                </c:pt>
                <c:pt idx="96">
                  <c:v>1.2</c:v>
                </c:pt>
                <c:pt idx="97">
                  <c:v>1.2749999999999999</c:v>
                </c:pt>
                <c:pt idx="98">
                  <c:v>1.35</c:v>
                </c:pt>
                <c:pt idx="99">
                  <c:v>1.425</c:v>
                </c:pt>
                <c:pt idx="100">
                  <c:v>1.5</c:v>
                </c:pt>
                <c:pt idx="101">
                  <c:v>1.575</c:v>
                </c:pt>
                <c:pt idx="102">
                  <c:v>1.65</c:v>
                </c:pt>
                <c:pt idx="103">
                  <c:v>1.7250000000000001</c:v>
                </c:pt>
                <c:pt idx="104">
                  <c:v>1.8</c:v>
                </c:pt>
                <c:pt idx="105">
                  <c:v>1.875</c:v>
                </c:pt>
                <c:pt idx="106">
                  <c:v>1.95</c:v>
                </c:pt>
                <c:pt idx="107">
                  <c:v>2.0249999999999999</c:v>
                </c:pt>
                <c:pt idx="108">
                  <c:v>2.1</c:v>
                </c:pt>
                <c:pt idx="109">
                  <c:v>2.1749999999999998</c:v>
                </c:pt>
                <c:pt idx="110">
                  <c:v>2.25</c:v>
                </c:pt>
                <c:pt idx="111">
                  <c:v>2.3250000000000002</c:v>
                </c:pt>
                <c:pt idx="112">
                  <c:v>2.4</c:v>
                </c:pt>
                <c:pt idx="113">
                  <c:v>2.4750000000000001</c:v>
                </c:pt>
                <c:pt idx="114">
                  <c:v>2.5499999999999998</c:v>
                </c:pt>
                <c:pt idx="115">
                  <c:v>2.625</c:v>
                </c:pt>
                <c:pt idx="116">
                  <c:v>2.7</c:v>
                </c:pt>
                <c:pt idx="117">
                  <c:v>2.7749999999999999</c:v>
                </c:pt>
                <c:pt idx="118">
                  <c:v>2.85</c:v>
                </c:pt>
                <c:pt idx="119">
                  <c:v>2.9249999999999998</c:v>
                </c:pt>
                <c:pt idx="120">
                  <c:v>3</c:v>
                </c:pt>
                <c:pt idx="121">
                  <c:v>3.0750000000000002</c:v>
                </c:pt>
                <c:pt idx="122">
                  <c:v>3.15</c:v>
                </c:pt>
                <c:pt idx="123">
                  <c:v>3.2250000000000001</c:v>
                </c:pt>
                <c:pt idx="124">
                  <c:v>3.3</c:v>
                </c:pt>
                <c:pt idx="125">
                  <c:v>3.375</c:v>
                </c:pt>
                <c:pt idx="126">
                  <c:v>3.45</c:v>
                </c:pt>
                <c:pt idx="127">
                  <c:v>3.5249999999999999</c:v>
                </c:pt>
                <c:pt idx="128">
                  <c:v>3.6</c:v>
                </c:pt>
                <c:pt idx="129">
                  <c:v>3.6749999999999998</c:v>
                </c:pt>
                <c:pt idx="130">
                  <c:v>3.75</c:v>
                </c:pt>
                <c:pt idx="131">
                  <c:v>3.8250000000000002</c:v>
                </c:pt>
                <c:pt idx="132">
                  <c:v>3.9</c:v>
                </c:pt>
                <c:pt idx="133">
                  <c:v>3.9750000000000001</c:v>
                </c:pt>
                <c:pt idx="134">
                  <c:v>4.05</c:v>
                </c:pt>
                <c:pt idx="135">
                  <c:v>4.125</c:v>
                </c:pt>
                <c:pt idx="136">
                  <c:v>4.2</c:v>
                </c:pt>
                <c:pt idx="137">
                  <c:v>4.2750000000000004</c:v>
                </c:pt>
                <c:pt idx="138">
                  <c:v>4.3499999999999996</c:v>
                </c:pt>
                <c:pt idx="139">
                  <c:v>4.4249999999999998</c:v>
                </c:pt>
                <c:pt idx="140">
                  <c:v>4.5</c:v>
                </c:pt>
                <c:pt idx="141">
                  <c:v>4.5750000000000002</c:v>
                </c:pt>
                <c:pt idx="142">
                  <c:v>4.6500000000000004</c:v>
                </c:pt>
                <c:pt idx="143">
                  <c:v>4.7249999999999996</c:v>
                </c:pt>
                <c:pt idx="144">
                  <c:v>4.8</c:v>
                </c:pt>
                <c:pt idx="145">
                  <c:v>4.875</c:v>
                </c:pt>
                <c:pt idx="146">
                  <c:v>4.95</c:v>
                </c:pt>
                <c:pt idx="147">
                  <c:v>5.0250000000000004</c:v>
                </c:pt>
                <c:pt idx="148">
                  <c:v>5.0999999999999996</c:v>
                </c:pt>
                <c:pt idx="149">
                  <c:v>5.1749999999999998</c:v>
                </c:pt>
                <c:pt idx="150">
                  <c:v>5.25</c:v>
                </c:pt>
                <c:pt idx="151">
                  <c:v>5.3250000000000002</c:v>
                </c:pt>
                <c:pt idx="152">
                  <c:v>5.4</c:v>
                </c:pt>
                <c:pt idx="153">
                  <c:v>5.4749999999999996</c:v>
                </c:pt>
                <c:pt idx="154">
                  <c:v>5.55</c:v>
                </c:pt>
                <c:pt idx="155">
                  <c:v>5.625</c:v>
                </c:pt>
                <c:pt idx="156">
                  <c:v>5.7</c:v>
                </c:pt>
                <c:pt idx="157">
                  <c:v>5.7750000000000004</c:v>
                </c:pt>
                <c:pt idx="158">
                  <c:v>5.85</c:v>
                </c:pt>
                <c:pt idx="159">
                  <c:v>5.9249999999999998</c:v>
                </c:pt>
                <c:pt idx="160">
                  <c:v>6</c:v>
                </c:pt>
              </c:numCache>
            </c:numRef>
          </c:xVal>
          <c:yVal>
            <c:numRef>
              <c:f>'Chart Data'!$B$2:$B$162</c:f>
              <c:numCache>
                <c:formatCode>0.00</c:formatCode>
                <c:ptCount val="161"/>
                <c:pt idx="0">
                  <c:v>2.47262315663E-3</c:v>
                </c:pt>
                <c:pt idx="1">
                  <c:v>2.6646881509200001E-3</c:v>
                </c:pt>
                <c:pt idx="2">
                  <c:v>2.8716291556999999E-3</c:v>
                </c:pt>
                <c:pt idx="3">
                  <c:v>3.0945914351599999E-3</c:v>
                </c:pt>
                <c:pt idx="4">
                  <c:v>3.3348073074100002E-3</c:v>
                </c:pt>
                <c:pt idx="5">
                  <c:v>3.5936025814199998E-3</c:v>
                </c:pt>
                <c:pt idx="6">
                  <c:v>3.87240344067E-3</c:v>
                </c:pt>
                <c:pt idx="7">
                  <c:v>4.1727437997799996E-3</c:v>
                </c:pt>
                <c:pt idx="8">
                  <c:v>4.4962731609400003E-3</c:v>
                </c:pt>
                <c:pt idx="9">
                  <c:v>4.8447649976399998E-3</c:v>
                </c:pt>
                <c:pt idx="10">
                  <c:v>5.2201256935600002E-3</c:v>
                </c:pt>
                <c:pt idx="11">
                  <c:v>5.6244040645500003E-3</c:v>
                </c:pt>
                <c:pt idx="12">
                  <c:v>6.0598014915799999E-3</c:v>
                </c:pt>
                <c:pt idx="13">
                  <c:v>6.5286826919199997E-3</c:v>
                </c:pt>
                <c:pt idx="14">
                  <c:v>7.0335871549999998E-3</c:v>
                </c:pt>
                <c:pt idx="15">
                  <c:v>7.57724126786E-3</c:v>
                </c:pt>
                <c:pt idx="16">
                  <c:v>8.1625711531600007E-3</c:v>
                </c:pt>
                <c:pt idx="17">
                  <c:v>8.7927162396699999E-3</c:v>
                </c:pt>
                <c:pt idx="18">
                  <c:v>9.4710435819500005E-3</c:v>
                </c:pt>
                <c:pt idx="19">
                  <c:v>1.02011629408E-2</c:v>
                </c:pt>
                <c:pt idx="20">
                  <c:v>1.0986942630600001E-2</c:v>
                </c:pt>
                <c:pt idx="21">
                  <c:v>1.18325261327E-2</c:v>
                </c:pt>
                <c:pt idx="22">
                  <c:v>1.27423494641E-2</c:v>
                </c:pt>
                <c:pt idx="23">
                  <c:v>1.3721159282499999E-2</c:v>
                </c:pt>
                <c:pt idx="24">
                  <c:v>1.4774031693300001E-2</c:v>
                </c:pt>
                <c:pt idx="25">
                  <c:v>1.59063917118E-2</c:v>
                </c:pt>
                <c:pt idx="26">
                  <c:v>1.7124033315700001E-2</c:v>
                </c:pt>
                <c:pt idx="27">
                  <c:v>1.8433140001099999E-2</c:v>
                </c:pt>
                <c:pt idx="28">
                  <c:v>1.9840305734099999E-2</c:v>
                </c:pt>
                <c:pt idx="29">
                  <c:v>2.1352556161E-2</c:v>
                </c:pt>
                <c:pt idx="30">
                  <c:v>2.297736991E-2</c:v>
                </c:pt>
                <c:pt idx="31">
                  <c:v>2.4722699780399999E-2</c:v>
                </c:pt>
                <c:pt idx="32">
                  <c:v>2.6596993576899999E-2</c:v>
                </c:pt>
                <c:pt idx="33">
                  <c:v>2.8609214300500001E-2</c:v>
                </c:pt>
                <c:pt idx="34">
                  <c:v>3.0768859357100001E-2</c:v>
                </c:pt>
                <c:pt idx="35">
                  <c:v>3.3085978388699998E-2</c:v>
                </c:pt>
                <c:pt idx="36">
                  <c:v>3.5571189272600001E-2</c:v>
                </c:pt>
                <c:pt idx="37">
                  <c:v>3.8235691766000002E-2</c:v>
                </c:pt>
                <c:pt idx="38">
                  <c:v>4.10912782005E-2</c:v>
                </c:pt>
                <c:pt idx="39">
                  <c:v>4.4150340558400003E-2</c:v>
                </c:pt>
                <c:pt idx="40">
                  <c:v>4.7425873177599998E-2</c:v>
                </c:pt>
                <c:pt idx="41">
                  <c:v>5.0931470252899999E-2</c:v>
                </c:pt>
                <c:pt idx="42">
                  <c:v>5.4681317215899999E-2</c:v>
                </c:pt>
                <c:pt idx="43">
                  <c:v>5.8690174992099997E-2</c:v>
                </c:pt>
                <c:pt idx="44">
                  <c:v>6.2973356056999996E-2</c:v>
                </c:pt>
                <c:pt idx="45">
                  <c:v>6.7546691139600004E-2</c:v>
                </c:pt>
                <c:pt idx="46">
                  <c:v>7.2426485361499995E-2</c:v>
                </c:pt>
                <c:pt idx="47">
                  <c:v>7.7629462556499995E-2</c:v>
                </c:pt>
                <c:pt idx="48">
                  <c:v>8.3172696493899995E-2</c:v>
                </c:pt>
                <c:pt idx="49">
                  <c:v>8.9073527735599997E-2</c:v>
                </c:pt>
                <c:pt idx="50">
                  <c:v>9.5349464899099998E-2</c:v>
                </c:pt>
                <c:pt idx="51">
                  <c:v>0.102018069189</c:v>
                </c:pt>
                <c:pt idx="52">
                  <c:v>0.109096821196</c:v>
                </c:pt>
                <c:pt idx="53">
                  <c:v>0.11660296916100001</c:v>
                </c:pt>
                <c:pt idx="54">
                  <c:v>0.124553358187</c:v>
                </c:pt>
                <c:pt idx="55">
                  <c:v>0.13296424019799999</c:v>
                </c:pt>
                <c:pt idx="56">
                  <c:v>0.14185106489999999</c:v>
                </c:pt>
                <c:pt idx="57">
                  <c:v>0.15122825250899999</c:v>
                </c:pt>
                <c:pt idx="58">
                  <c:v>0.161108949577</c:v>
                </c:pt>
                <c:pt idx="59">
                  <c:v>0.171504769975</c:v>
                </c:pt>
                <c:pt idx="60">
                  <c:v>0.182425523806</c:v>
                </c:pt>
                <c:pt idx="61">
                  <c:v>0.19387893782400001</c:v>
                </c:pt>
                <c:pt idx="62">
                  <c:v>0.20587037180100001</c:v>
                </c:pt>
                <c:pt idx="63">
                  <c:v>0.21840253609800001</c:v>
                </c:pt>
                <c:pt idx="64">
                  <c:v>0.231475216501</c:v>
                </c:pt>
                <c:pt idx="65">
                  <c:v>0.24508501313200001</c:v>
                </c:pt>
                <c:pt idx="66">
                  <c:v>0.25922510081799999</c:v>
                </c:pt>
                <c:pt idx="67">
                  <c:v>0.27388501873900001</c:v>
                </c:pt>
                <c:pt idx="68">
                  <c:v>0.28905049737499999</c:v>
                </c:pt>
                <c:pt idx="69">
                  <c:v>0.304703330652</c:v>
                </c:pt>
                <c:pt idx="70">
                  <c:v>0.32082130082499999</c:v>
                </c:pt>
                <c:pt idx="71">
                  <c:v>0.33737816282999999</c:v>
                </c:pt>
                <c:pt idx="72">
                  <c:v>0.35434369377399999</c:v>
                </c:pt>
                <c:pt idx="73">
                  <c:v>0.37168381170499998</c:v>
                </c:pt>
                <c:pt idx="74">
                  <c:v>0.38936076605100001</c:v>
                </c:pt>
                <c:pt idx="75">
                  <c:v>0.40733340004599999</c:v>
                </c:pt>
                <c:pt idx="76">
                  <c:v>0.42555748318800002</c:v>
                </c:pt>
                <c:pt idx="77">
                  <c:v>0.443986109455</c:v>
                </c:pt>
                <c:pt idx="78">
                  <c:v>0.46257015465599999</c:v>
                </c:pt>
                <c:pt idx="79">
                  <c:v>0.48125878412099998</c:v>
                </c:pt>
                <c:pt idx="80">
                  <c:v>0.5</c:v>
                </c:pt>
                <c:pt idx="81">
                  <c:v>0.51874121587900002</c:v>
                </c:pt>
                <c:pt idx="82">
                  <c:v>0.53742984534399996</c:v>
                </c:pt>
                <c:pt idx="83">
                  <c:v>0.55601389054499994</c:v>
                </c:pt>
                <c:pt idx="84">
                  <c:v>0.57444251681199998</c:v>
                </c:pt>
                <c:pt idx="85">
                  <c:v>0.59266659995399995</c:v>
                </c:pt>
                <c:pt idx="86">
                  <c:v>0.61063923394899999</c:v>
                </c:pt>
                <c:pt idx="87">
                  <c:v>0.62831618829500002</c:v>
                </c:pt>
                <c:pt idx="88">
                  <c:v>0.64565630622600001</c:v>
                </c:pt>
                <c:pt idx="89">
                  <c:v>0.66262183717000001</c:v>
                </c:pt>
                <c:pt idx="90">
                  <c:v>0.67917869917499996</c:v>
                </c:pt>
                <c:pt idx="91">
                  <c:v>0.69529666934800005</c:v>
                </c:pt>
                <c:pt idx="92">
                  <c:v>0.71094950262500001</c:v>
                </c:pt>
                <c:pt idx="93">
                  <c:v>0.72611498126100005</c:v>
                </c:pt>
                <c:pt idx="94">
                  <c:v>0.74077489918200001</c:v>
                </c:pt>
                <c:pt idx="95">
                  <c:v>0.75491498686799996</c:v>
                </c:pt>
                <c:pt idx="96">
                  <c:v>0.768524783499</c:v>
                </c:pt>
                <c:pt idx="97">
                  <c:v>0.78159746390200002</c:v>
                </c:pt>
                <c:pt idx="98">
                  <c:v>0.79412962819900001</c:v>
                </c:pt>
                <c:pt idx="99">
                  <c:v>0.80612106217599999</c:v>
                </c:pt>
                <c:pt idx="100">
                  <c:v>0.81757447619400003</c:v>
                </c:pt>
                <c:pt idx="101">
                  <c:v>0.82849523002500003</c:v>
                </c:pt>
                <c:pt idx="102">
                  <c:v>0.83889105042300005</c:v>
                </c:pt>
                <c:pt idx="103">
                  <c:v>0.84877174749100004</c:v>
                </c:pt>
                <c:pt idx="104">
                  <c:v>0.85814893510000001</c:v>
                </c:pt>
                <c:pt idx="105">
                  <c:v>0.86703575980199998</c:v>
                </c:pt>
                <c:pt idx="106">
                  <c:v>0.87544664181300003</c:v>
                </c:pt>
                <c:pt idx="107">
                  <c:v>0.88339703083900001</c:v>
                </c:pt>
                <c:pt idx="108">
                  <c:v>0.89090317880400005</c:v>
                </c:pt>
                <c:pt idx="109">
                  <c:v>0.89798193081099997</c:v>
                </c:pt>
                <c:pt idx="110">
                  <c:v>0.90465053510100002</c:v>
                </c:pt>
                <c:pt idx="111">
                  <c:v>0.91092647226400003</c:v>
                </c:pt>
                <c:pt idx="112">
                  <c:v>0.91682730350599995</c:v>
                </c:pt>
                <c:pt idx="113">
                  <c:v>0.92237053744399999</c:v>
                </c:pt>
                <c:pt idx="114">
                  <c:v>0.92757351463799997</c:v>
                </c:pt>
                <c:pt idx="115">
                  <c:v>0.93245330886</c:v>
                </c:pt>
                <c:pt idx="116">
                  <c:v>0.93702664394299995</c:v>
                </c:pt>
                <c:pt idx="117">
                  <c:v>0.94130982500799998</c:v>
                </c:pt>
                <c:pt idx="118">
                  <c:v>0.945318682784</c:v>
                </c:pt>
                <c:pt idx="119">
                  <c:v>0.94906852974699996</c:v>
                </c:pt>
                <c:pt idx="120">
                  <c:v>0.95257412682200004</c:v>
                </c:pt>
                <c:pt idx="121">
                  <c:v>0.95584965944199995</c:v>
                </c:pt>
                <c:pt idx="122">
                  <c:v>0.95890872179999997</c:v>
                </c:pt>
                <c:pt idx="123">
                  <c:v>0.96176430823400005</c:v>
                </c:pt>
                <c:pt idx="124">
                  <c:v>0.96442881072700004</c:v>
                </c:pt>
                <c:pt idx="125">
                  <c:v>0.96691402161100004</c:v>
                </c:pt>
                <c:pt idx="126">
                  <c:v>0.96923114064299998</c:v>
                </c:pt>
                <c:pt idx="127">
                  <c:v>0.97139078569899995</c:v>
                </c:pt>
                <c:pt idx="128">
                  <c:v>0.97340300642300004</c:v>
                </c:pt>
                <c:pt idx="129">
                  <c:v>0.97527730022000003</c:v>
                </c:pt>
                <c:pt idx="130">
                  <c:v>0.97702263009000001</c:v>
                </c:pt>
                <c:pt idx="131">
                  <c:v>0.97864744383900004</c:v>
                </c:pt>
                <c:pt idx="132">
                  <c:v>0.98015969426600003</c:v>
                </c:pt>
                <c:pt idx="133">
                  <c:v>0.98156685999899995</c:v>
                </c:pt>
                <c:pt idx="134">
                  <c:v>0.98287596668400001</c:v>
                </c:pt>
                <c:pt idx="135">
                  <c:v>0.98409360828799997</c:v>
                </c:pt>
                <c:pt idx="136">
                  <c:v>0.98522596830700004</c:v>
                </c:pt>
                <c:pt idx="137">
                  <c:v>0.986278840717</c:v>
                </c:pt>
                <c:pt idx="138">
                  <c:v>0.98725765053600001</c:v>
                </c:pt>
                <c:pt idx="139">
                  <c:v>0.98816747386699999</c:v>
                </c:pt>
                <c:pt idx="140">
                  <c:v>0.98901305736900003</c:v>
                </c:pt>
                <c:pt idx="141">
                  <c:v>0.98979883705899996</c:v>
                </c:pt>
                <c:pt idx="142">
                  <c:v>0.99052895641799998</c:v>
                </c:pt>
                <c:pt idx="143">
                  <c:v>0.99120728376</c:v>
                </c:pt>
                <c:pt idx="144">
                  <c:v>0.99183742884699999</c:v>
                </c:pt>
                <c:pt idx="145">
                  <c:v>0.99242275873200003</c:v>
                </c:pt>
                <c:pt idx="146">
                  <c:v>0.99296641284499998</c:v>
                </c:pt>
                <c:pt idx="147">
                  <c:v>0.99347131730799998</c:v>
                </c:pt>
                <c:pt idx="148">
                  <c:v>0.99394019850799997</c:v>
                </c:pt>
                <c:pt idx="149">
                  <c:v>0.99437559593500002</c:v>
                </c:pt>
                <c:pt idx="150">
                  <c:v>0.99477987430600001</c:v>
                </c:pt>
                <c:pt idx="151">
                  <c:v>0.99515523500199998</c:v>
                </c:pt>
                <c:pt idx="152">
                  <c:v>0.99550372683900001</c:v>
                </c:pt>
                <c:pt idx="153">
                  <c:v>0.99582725620000001</c:v>
                </c:pt>
                <c:pt idx="154">
                  <c:v>0.99612759655899996</c:v>
                </c:pt>
                <c:pt idx="155">
                  <c:v>0.99640639741899995</c:v>
                </c:pt>
                <c:pt idx="156">
                  <c:v>0.99666519269300002</c:v>
                </c:pt>
                <c:pt idx="157">
                  <c:v>0.99690540856499998</c:v>
                </c:pt>
                <c:pt idx="158">
                  <c:v>0.99712837084399997</c:v>
                </c:pt>
                <c:pt idx="159">
                  <c:v>0.99733531184900004</c:v>
                </c:pt>
                <c:pt idx="160">
                  <c:v>0.99752737684299997</c:v>
                </c:pt>
              </c:numCache>
            </c:numRef>
          </c:yVal>
          <c:smooth val="1"/>
          <c:extLst>
            <c:ext xmlns:c16="http://schemas.microsoft.com/office/drawing/2014/chart" uri="{C3380CC4-5D6E-409C-BE32-E72D297353CC}">
              <c16:uniqueId val="{00000000-6933-478F-AD2E-5E086E4F6B79}"/>
            </c:ext>
          </c:extLst>
        </c:ser>
        <c:ser>
          <c:idx val="1"/>
          <c:order val="1"/>
          <c:tx>
            <c:v>σ(0) = 1/2</c:v>
          </c:tx>
          <c:spPr>
            <a:ln w="0">
              <a:noFill/>
            </a:ln>
          </c:spPr>
          <c:marker>
            <c:symbol val="circle"/>
            <c:size val="7"/>
            <c:spPr>
              <a:solidFill>
                <a:srgbClr val="C45C28"/>
              </a:solidFill>
              <a:ln w="12700">
                <a:solidFill>
                  <a:srgbClr val="C45C28"/>
                </a:solidFill>
              </a:ln>
            </c:spPr>
          </c:marker>
          <c:xVal>
            <c:numRef>
              <c:f>'Chart Data'!$C$2:$C$2</c:f>
              <c:numCache>
                <c:formatCode>General</c:formatCode>
                <c:ptCount val="1"/>
                <c:pt idx="0">
                  <c:v>0</c:v>
                </c:pt>
              </c:numCache>
            </c:numRef>
          </c:xVal>
          <c:yVal>
            <c:numRef>
              <c:f>'Chart Data'!$D$2:$D$2</c:f>
              <c:numCache>
                <c:formatCode>0.00</c:formatCode>
                <c:ptCount val="1"/>
                <c:pt idx="0">
                  <c:v>0.5</c:v>
                </c:pt>
              </c:numCache>
            </c:numRef>
          </c:yVal>
          <c:smooth val="1"/>
          <c:extLst>
            <c:ext xmlns:c16="http://schemas.microsoft.com/office/drawing/2014/chart" uri="{C3380CC4-5D6E-409C-BE32-E72D297353CC}">
              <c16:uniqueId val="{00000001-6933-478F-AD2E-5E086E4F6B79}"/>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Probability </a:t>
                </a:r>
                <a:r>
                  <a:rPr lang="el-GR" sz="1575">
                    <a:solidFill>
                      <a:srgbClr val="182D45"/>
                    </a:solidFill>
                    <a:latin typeface="DejaVu Sans"/>
                    <a:ea typeface="DejaVu Sans"/>
                    <a:cs typeface="DejaVu Sans"/>
                  </a:rPr>
                  <a:t>σ(</a:t>
                </a:r>
                <a:r>
                  <a:rPr lang="it-IT" sz="1575">
                    <a:solidFill>
                      <a:srgbClr val="182D45"/>
                    </a:solidFill>
                    <a:latin typeface="DejaVu Sans"/>
                    <a:ea typeface="DejaVu Sans"/>
                    <a:cs typeface="DejaVu Sans"/>
                  </a:rPr>
                  <a:t>s)</a:t>
                </a:r>
              </a:p>
            </c:rich>
          </c:tx>
          <c:overlay val="0"/>
        </c:title>
        <c:numFmt formatCode="0.00"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0.25"/>
      </c:valAx>
      <c:valAx>
        <c:axId val="48650112"/>
        <c:scaling>
          <c:orientation val="minMax"/>
          <c:max val="6"/>
          <c:min val="-6"/>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Score s</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2"/>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CE73-4BFF-9DEA-420C428BD33A}"/>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CE73-4BFF-9DEA-420C428BD33A}"/>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5.75</c:v>
                </c:pt>
                <c:pt idx="1">
                  <c:v>5.75</c:v>
                </c:pt>
              </c:numCache>
            </c:numRef>
          </c:yVal>
          <c:smooth val="0"/>
          <c:extLst>
            <c:ext xmlns:c16="http://schemas.microsoft.com/office/drawing/2014/chart" uri="{C3380CC4-5D6E-409C-BE32-E72D297353CC}">
              <c16:uniqueId val="{00000002-CE73-4BFF-9DEA-420C428BD33A}"/>
            </c:ext>
          </c:extLst>
        </c:ser>
        <c:dLbls>
          <c:showLegendKey val="0"/>
          <c:showVal val="0"/>
          <c:showCatName val="0"/>
          <c:showSerName val="0"/>
          <c:showPercent val="0"/>
          <c:showBubbleSize val="0"/>
        </c:dLbls>
        <c:axId val="48650112"/>
        <c:axId val="48672768"/>
      </c:scatterChart>
      <c:valAx>
        <c:axId val="48672768"/>
        <c:scaling>
          <c:orientation val="minMax"/>
          <c:max val="7.5"/>
          <c:min val="2.5"/>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9C00-40DA-80A8-48F01DD8BF32}"/>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9C00-40DA-80A8-48F01DD8BF32}"/>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3.7</c:v>
                </c:pt>
                <c:pt idx="1">
                  <c:v>5.8</c:v>
                </c:pt>
              </c:numCache>
            </c:numRef>
          </c:yVal>
          <c:smooth val="0"/>
          <c:extLst>
            <c:ext xmlns:c16="http://schemas.microsoft.com/office/drawing/2014/chart" uri="{C3380CC4-5D6E-409C-BE32-E72D297353CC}">
              <c16:uniqueId val="{00000002-9C00-40DA-80A8-48F01DD8BF32}"/>
            </c:ext>
          </c:extLst>
        </c:ser>
        <c:dLbls>
          <c:showLegendKey val="0"/>
          <c:showVal val="0"/>
          <c:showCatName val="0"/>
          <c:showSerName val="0"/>
          <c:showPercent val="0"/>
          <c:showBubbleSize val="0"/>
        </c:dLbls>
        <c:axId val="48650112"/>
        <c:axId val="48672768"/>
      </c:scatterChart>
      <c:valAx>
        <c:axId val="48672768"/>
        <c:scaling>
          <c:orientation val="minMax"/>
          <c:max val="7.5"/>
          <c:min val="2.5"/>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6902-48AA-8CB6-93C1911CE603}"/>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6902-48AA-8CB6-93C1911CE603}"/>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5.75</c:v>
                </c:pt>
                <c:pt idx="1">
                  <c:v>5.75</c:v>
                </c:pt>
              </c:numCache>
            </c:numRef>
          </c:yVal>
          <c:smooth val="0"/>
          <c:extLst>
            <c:ext xmlns:c16="http://schemas.microsoft.com/office/drawing/2014/chart" uri="{C3380CC4-5D6E-409C-BE32-E72D297353CC}">
              <c16:uniqueId val="{00000002-6902-48AA-8CB6-93C1911CE603}"/>
            </c:ext>
          </c:extLst>
        </c:ser>
        <c:dLbls>
          <c:showLegendKey val="0"/>
          <c:showVal val="0"/>
          <c:showCatName val="0"/>
          <c:showSerName val="0"/>
          <c:showPercent val="0"/>
          <c:showBubbleSize val="0"/>
        </c:dLbls>
        <c:axId val="48650112"/>
        <c:axId val="48672768"/>
      </c:scatterChart>
      <c:valAx>
        <c:axId val="48672768"/>
        <c:scaling>
          <c:orientation val="minMax"/>
          <c:max val="7.5"/>
          <c:min val="2.5"/>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Mistakes</c:v>
          </c:tx>
          <c:spPr>
            <a:ln w="23813">
              <a:solidFill>
                <a:srgbClr val="C45C28"/>
              </a:solidFill>
              <a:prstDash val="solid"/>
            </a:ln>
          </c:spPr>
          <c:marker>
            <c:symbol val="none"/>
          </c:marker>
          <c:xVal>
            <c:numRef>
              <c:f>'Chart Data'!$A$2:$A$3</c:f>
              <c:numCache>
                <c:formatCode>General</c:formatCode>
                <c:ptCount val="2"/>
                <c:pt idx="0">
                  <c:v>-7</c:v>
                </c:pt>
                <c:pt idx="1">
                  <c:v>-6.9480000000000004</c:v>
                </c:pt>
              </c:numCache>
            </c:numRef>
          </c:xVal>
          <c:yVal>
            <c:numRef>
              <c:f>'Chart Data'!$B$2:$B$3</c:f>
              <c:numCache>
                <c:formatCode>General</c:formatCode>
                <c:ptCount val="2"/>
                <c:pt idx="0">
                  <c:v>50</c:v>
                </c:pt>
                <c:pt idx="1">
                  <c:v>50</c:v>
                </c:pt>
              </c:numCache>
            </c:numRef>
          </c:yVal>
          <c:smooth val="0"/>
          <c:extLst>
            <c:ext xmlns:c16="http://schemas.microsoft.com/office/drawing/2014/chart" uri="{C3380CC4-5D6E-409C-BE32-E72D297353CC}">
              <c16:uniqueId val="{00000000-37C8-4FB6-A12D-299BC3303051}"/>
            </c:ext>
          </c:extLst>
        </c:ser>
        <c:ser>
          <c:idx val="1"/>
          <c:order val="1"/>
          <c:tx>
            <c:v>Mistakes</c:v>
          </c:tx>
          <c:spPr>
            <a:ln w="23813">
              <a:solidFill>
                <a:srgbClr val="C45C28"/>
              </a:solidFill>
              <a:prstDash val="solid"/>
            </a:ln>
          </c:spPr>
          <c:marker>
            <c:symbol val="none"/>
          </c:marker>
          <c:xVal>
            <c:numRef>
              <c:f>'Chart Data'!$C$2:$C$3</c:f>
              <c:numCache>
                <c:formatCode>General</c:formatCode>
                <c:ptCount val="2"/>
                <c:pt idx="0">
                  <c:v>-6.9480000000000004</c:v>
                </c:pt>
                <c:pt idx="1">
                  <c:v>-6.7720000000000002</c:v>
                </c:pt>
              </c:numCache>
            </c:numRef>
          </c:xVal>
          <c:yVal>
            <c:numRef>
              <c:f>'Chart Data'!$D$2:$D$3</c:f>
              <c:numCache>
                <c:formatCode>General</c:formatCode>
                <c:ptCount val="2"/>
                <c:pt idx="0">
                  <c:v>49</c:v>
                </c:pt>
                <c:pt idx="1">
                  <c:v>49</c:v>
                </c:pt>
              </c:numCache>
            </c:numRef>
          </c:yVal>
          <c:smooth val="0"/>
          <c:extLst>
            <c:ext xmlns:c16="http://schemas.microsoft.com/office/drawing/2014/chart" uri="{C3380CC4-5D6E-409C-BE32-E72D297353CC}">
              <c16:uniqueId val="{00000000-37C8-4FB6-A12D-299BC3303051}"/>
            </c:ext>
          </c:extLst>
        </c:ser>
        <c:ser>
          <c:idx val="2"/>
          <c:order val="2"/>
          <c:tx>
            <c:v>Mistakes</c:v>
          </c:tx>
          <c:spPr>
            <a:ln w="23813">
              <a:solidFill>
                <a:srgbClr val="C45C28"/>
              </a:solidFill>
              <a:prstDash val="solid"/>
            </a:ln>
          </c:spPr>
          <c:marker>
            <c:symbol val="none"/>
          </c:marker>
          <c:xVal>
            <c:numRef>
              <c:f>'Chart Data'!$E$2:$E$3</c:f>
              <c:numCache>
                <c:formatCode>General</c:formatCode>
                <c:ptCount val="2"/>
                <c:pt idx="0">
                  <c:v>-6.7720000000000002</c:v>
                </c:pt>
                <c:pt idx="1">
                  <c:v>-6.6189999999999998</c:v>
                </c:pt>
              </c:numCache>
            </c:numRef>
          </c:xVal>
          <c:yVal>
            <c:numRef>
              <c:f>'Chart Data'!$F$2:$F$3</c:f>
              <c:numCache>
                <c:formatCode>General</c:formatCode>
                <c:ptCount val="2"/>
                <c:pt idx="0">
                  <c:v>48</c:v>
                </c:pt>
                <c:pt idx="1">
                  <c:v>48</c:v>
                </c:pt>
              </c:numCache>
            </c:numRef>
          </c:yVal>
          <c:smooth val="0"/>
          <c:extLst>
            <c:ext xmlns:c16="http://schemas.microsoft.com/office/drawing/2014/chart" uri="{C3380CC4-5D6E-409C-BE32-E72D297353CC}">
              <c16:uniqueId val="{00000000-37C8-4FB6-A12D-299BC3303051}"/>
            </c:ext>
          </c:extLst>
        </c:ser>
        <c:ser>
          <c:idx val="3"/>
          <c:order val="3"/>
          <c:tx>
            <c:v>Mistakes</c:v>
          </c:tx>
          <c:spPr>
            <a:ln w="23813">
              <a:solidFill>
                <a:srgbClr val="C45C28"/>
              </a:solidFill>
              <a:prstDash val="solid"/>
            </a:ln>
          </c:spPr>
          <c:marker>
            <c:symbol val="none"/>
          </c:marker>
          <c:xVal>
            <c:numRef>
              <c:f>'Chart Data'!$G$2:$G$3</c:f>
              <c:numCache>
                <c:formatCode>General</c:formatCode>
                <c:ptCount val="2"/>
                <c:pt idx="0">
                  <c:v>-6.6189999999999998</c:v>
                </c:pt>
                <c:pt idx="1">
                  <c:v>-6.5609999999999999</c:v>
                </c:pt>
              </c:numCache>
            </c:numRef>
          </c:xVal>
          <c:yVal>
            <c:numRef>
              <c:f>'Chart Data'!$H$2:$H$3</c:f>
              <c:numCache>
                <c:formatCode>General</c:formatCode>
                <c:ptCount val="2"/>
                <c:pt idx="0">
                  <c:v>47</c:v>
                </c:pt>
                <c:pt idx="1">
                  <c:v>47</c:v>
                </c:pt>
              </c:numCache>
            </c:numRef>
          </c:yVal>
          <c:smooth val="0"/>
          <c:extLst>
            <c:ext xmlns:c16="http://schemas.microsoft.com/office/drawing/2014/chart" uri="{C3380CC4-5D6E-409C-BE32-E72D297353CC}">
              <c16:uniqueId val="{00000000-37C8-4FB6-A12D-299BC3303051}"/>
            </c:ext>
          </c:extLst>
        </c:ser>
        <c:ser>
          <c:idx val="4"/>
          <c:order val="4"/>
          <c:tx>
            <c:v>Mistakes</c:v>
          </c:tx>
          <c:spPr>
            <a:ln w="23813">
              <a:solidFill>
                <a:srgbClr val="C45C28"/>
              </a:solidFill>
              <a:prstDash val="solid"/>
            </a:ln>
          </c:spPr>
          <c:marker>
            <c:symbol val="none"/>
          </c:marker>
          <c:xVal>
            <c:numRef>
              <c:f>'Chart Data'!$I$2:$I$3</c:f>
              <c:numCache>
                <c:formatCode>General</c:formatCode>
                <c:ptCount val="2"/>
                <c:pt idx="0">
                  <c:v>-6.5609999999999999</c:v>
                </c:pt>
                <c:pt idx="1">
                  <c:v>-6.4</c:v>
                </c:pt>
              </c:numCache>
            </c:numRef>
          </c:xVal>
          <c:yVal>
            <c:numRef>
              <c:f>'Chart Data'!$J$2:$J$3</c:f>
              <c:numCache>
                <c:formatCode>General</c:formatCode>
                <c:ptCount val="2"/>
                <c:pt idx="0">
                  <c:v>46</c:v>
                </c:pt>
                <c:pt idx="1">
                  <c:v>46</c:v>
                </c:pt>
              </c:numCache>
            </c:numRef>
          </c:yVal>
          <c:smooth val="0"/>
          <c:extLst>
            <c:ext xmlns:c16="http://schemas.microsoft.com/office/drawing/2014/chart" uri="{C3380CC4-5D6E-409C-BE32-E72D297353CC}">
              <c16:uniqueId val="{00000000-37C8-4FB6-A12D-299BC3303051}"/>
            </c:ext>
          </c:extLst>
        </c:ser>
        <c:ser>
          <c:idx val="5"/>
          <c:order val="5"/>
          <c:tx>
            <c:v>Mistakes</c:v>
          </c:tx>
          <c:spPr>
            <a:ln w="23813">
              <a:solidFill>
                <a:srgbClr val="C45C28"/>
              </a:solidFill>
              <a:prstDash val="solid"/>
            </a:ln>
          </c:spPr>
          <c:marker>
            <c:symbol val="none"/>
          </c:marker>
          <c:xVal>
            <c:numRef>
              <c:f>'Chart Data'!$K$2:$K$3</c:f>
              <c:numCache>
                <c:formatCode>General</c:formatCode>
                <c:ptCount val="2"/>
                <c:pt idx="0">
                  <c:v>-6.4</c:v>
                </c:pt>
                <c:pt idx="1">
                  <c:v>-6.3</c:v>
                </c:pt>
              </c:numCache>
            </c:numRef>
          </c:xVal>
          <c:yVal>
            <c:numRef>
              <c:f>'Chart Data'!$L$2:$L$3</c:f>
              <c:numCache>
                <c:formatCode>General</c:formatCode>
                <c:ptCount val="2"/>
                <c:pt idx="0">
                  <c:v>45</c:v>
                </c:pt>
                <c:pt idx="1">
                  <c:v>45</c:v>
                </c:pt>
              </c:numCache>
            </c:numRef>
          </c:yVal>
          <c:smooth val="0"/>
          <c:extLst>
            <c:ext xmlns:c16="http://schemas.microsoft.com/office/drawing/2014/chart" uri="{C3380CC4-5D6E-409C-BE32-E72D297353CC}">
              <c16:uniqueId val="{00000000-37C8-4FB6-A12D-299BC3303051}"/>
            </c:ext>
          </c:extLst>
        </c:ser>
        <c:ser>
          <c:idx val="6"/>
          <c:order val="6"/>
          <c:tx>
            <c:v>Mistakes</c:v>
          </c:tx>
          <c:spPr>
            <a:ln w="23813">
              <a:solidFill>
                <a:srgbClr val="C45C28"/>
              </a:solidFill>
              <a:prstDash val="solid"/>
            </a:ln>
          </c:spPr>
          <c:marker>
            <c:symbol val="none"/>
          </c:marker>
          <c:xVal>
            <c:numRef>
              <c:f>'Chart Data'!$M$2:$M$3</c:f>
              <c:numCache>
                <c:formatCode>General</c:formatCode>
                <c:ptCount val="2"/>
                <c:pt idx="0">
                  <c:v>-6.3</c:v>
                </c:pt>
                <c:pt idx="1">
                  <c:v>-6.2080000000000002</c:v>
                </c:pt>
              </c:numCache>
            </c:numRef>
          </c:xVal>
          <c:yVal>
            <c:numRef>
              <c:f>'Chart Data'!$N$2:$N$3</c:f>
              <c:numCache>
                <c:formatCode>General</c:formatCode>
                <c:ptCount val="2"/>
                <c:pt idx="0">
                  <c:v>44</c:v>
                </c:pt>
                <c:pt idx="1">
                  <c:v>44</c:v>
                </c:pt>
              </c:numCache>
            </c:numRef>
          </c:yVal>
          <c:smooth val="0"/>
          <c:extLst>
            <c:ext xmlns:c16="http://schemas.microsoft.com/office/drawing/2014/chart" uri="{C3380CC4-5D6E-409C-BE32-E72D297353CC}">
              <c16:uniqueId val="{00000000-37C8-4FB6-A12D-299BC3303051}"/>
            </c:ext>
          </c:extLst>
        </c:ser>
        <c:ser>
          <c:idx val="7"/>
          <c:order val="7"/>
          <c:tx>
            <c:v>Mistakes</c:v>
          </c:tx>
          <c:spPr>
            <a:ln w="23813">
              <a:solidFill>
                <a:srgbClr val="C45C28"/>
              </a:solidFill>
              <a:prstDash val="solid"/>
            </a:ln>
          </c:spPr>
          <c:marker>
            <c:symbol val="none"/>
          </c:marker>
          <c:xVal>
            <c:numRef>
              <c:f>'Chart Data'!$O$2:$O$3</c:f>
              <c:numCache>
                <c:formatCode>General</c:formatCode>
                <c:ptCount val="2"/>
                <c:pt idx="0">
                  <c:v>-6.2080000000000002</c:v>
                </c:pt>
                <c:pt idx="1">
                  <c:v>-6.1</c:v>
                </c:pt>
              </c:numCache>
            </c:numRef>
          </c:xVal>
          <c:yVal>
            <c:numRef>
              <c:f>'Chart Data'!$P$2:$P$3</c:f>
              <c:numCache>
                <c:formatCode>General</c:formatCode>
                <c:ptCount val="2"/>
                <c:pt idx="0">
                  <c:v>43</c:v>
                </c:pt>
                <c:pt idx="1">
                  <c:v>43</c:v>
                </c:pt>
              </c:numCache>
            </c:numRef>
          </c:yVal>
          <c:smooth val="0"/>
          <c:extLst>
            <c:ext xmlns:c16="http://schemas.microsoft.com/office/drawing/2014/chart" uri="{C3380CC4-5D6E-409C-BE32-E72D297353CC}">
              <c16:uniqueId val="{00000000-37C8-4FB6-A12D-299BC3303051}"/>
            </c:ext>
          </c:extLst>
        </c:ser>
        <c:ser>
          <c:idx val="8"/>
          <c:order val="8"/>
          <c:tx>
            <c:v>Mistakes</c:v>
          </c:tx>
          <c:spPr>
            <a:ln w="23813">
              <a:solidFill>
                <a:srgbClr val="C45C28"/>
              </a:solidFill>
              <a:prstDash val="solid"/>
            </a:ln>
          </c:spPr>
          <c:marker>
            <c:symbol val="none"/>
          </c:marker>
          <c:xVal>
            <c:numRef>
              <c:f>'Chart Data'!$Q$2:$Q$3</c:f>
              <c:numCache>
                <c:formatCode>General</c:formatCode>
                <c:ptCount val="2"/>
                <c:pt idx="0">
                  <c:v>-6.1</c:v>
                </c:pt>
                <c:pt idx="1">
                  <c:v>-6.0869999999999997</c:v>
                </c:pt>
              </c:numCache>
            </c:numRef>
          </c:xVal>
          <c:yVal>
            <c:numRef>
              <c:f>'Chart Data'!$R$2:$R$3</c:f>
              <c:numCache>
                <c:formatCode>General</c:formatCode>
                <c:ptCount val="2"/>
                <c:pt idx="0">
                  <c:v>41</c:v>
                </c:pt>
                <c:pt idx="1">
                  <c:v>41</c:v>
                </c:pt>
              </c:numCache>
            </c:numRef>
          </c:yVal>
          <c:smooth val="0"/>
          <c:extLst>
            <c:ext xmlns:c16="http://schemas.microsoft.com/office/drawing/2014/chart" uri="{C3380CC4-5D6E-409C-BE32-E72D297353CC}">
              <c16:uniqueId val="{00000000-37C8-4FB6-A12D-299BC3303051}"/>
            </c:ext>
          </c:extLst>
        </c:ser>
        <c:ser>
          <c:idx val="9"/>
          <c:order val="9"/>
          <c:tx>
            <c:v>Mistakes</c:v>
          </c:tx>
          <c:spPr>
            <a:ln w="23813">
              <a:solidFill>
                <a:srgbClr val="C45C28"/>
              </a:solidFill>
              <a:prstDash val="solid"/>
            </a:ln>
          </c:spPr>
          <c:marker>
            <c:symbol val="none"/>
          </c:marker>
          <c:xVal>
            <c:numRef>
              <c:f>'Chart Data'!$S$2:$S$3</c:f>
              <c:numCache>
                <c:formatCode>General</c:formatCode>
                <c:ptCount val="2"/>
                <c:pt idx="0">
                  <c:v>-6.0869999999999997</c:v>
                </c:pt>
                <c:pt idx="1">
                  <c:v>-6.07</c:v>
                </c:pt>
              </c:numCache>
            </c:numRef>
          </c:xVal>
          <c:yVal>
            <c:numRef>
              <c:f>'Chart Data'!$T$2:$T$3</c:f>
              <c:numCache>
                <c:formatCode>General</c:formatCode>
                <c:ptCount val="2"/>
                <c:pt idx="0">
                  <c:v>40</c:v>
                </c:pt>
                <c:pt idx="1">
                  <c:v>40</c:v>
                </c:pt>
              </c:numCache>
            </c:numRef>
          </c:yVal>
          <c:smooth val="0"/>
          <c:extLst>
            <c:ext xmlns:c16="http://schemas.microsoft.com/office/drawing/2014/chart" uri="{C3380CC4-5D6E-409C-BE32-E72D297353CC}">
              <c16:uniqueId val="{00000000-37C8-4FB6-A12D-299BC3303051}"/>
            </c:ext>
          </c:extLst>
        </c:ser>
        <c:ser>
          <c:idx val="10"/>
          <c:order val="10"/>
          <c:tx>
            <c:v>Mistakes</c:v>
          </c:tx>
          <c:spPr>
            <a:ln w="23813">
              <a:solidFill>
                <a:srgbClr val="C45C28"/>
              </a:solidFill>
              <a:prstDash val="solid"/>
            </a:ln>
          </c:spPr>
          <c:marker>
            <c:symbol val="none"/>
          </c:marker>
          <c:xVal>
            <c:numRef>
              <c:f>'Chart Data'!$U$2:$U$3</c:f>
              <c:numCache>
                <c:formatCode>General</c:formatCode>
                <c:ptCount val="2"/>
                <c:pt idx="0">
                  <c:v>-6.07</c:v>
                </c:pt>
                <c:pt idx="1">
                  <c:v>-6.0309999999999997</c:v>
                </c:pt>
              </c:numCache>
            </c:numRef>
          </c:xVal>
          <c:yVal>
            <c:numRef>
              <c:f>'Chart Data'!$V$2:$V$3</c:f>
              <c:numCache>
                <c:formatCode>General</c:formatCode>
                <c:ptCount val="2"/>
                <c:pt idx="0">
                  <c:v>39</c:v>
                </c:pt>
                <c:pt idx="1">
                  <c:v>39</c:v>
                </c:pt>
              </c:numCache>
            </c:numRef>
          </c:yVal>
          <c:smooth val="0"/>
          <c:extLst>
            <c:ext xmlns:c16="http://schemas.microsoft.com/office/drawing/2014/chart" uri="{C3380CC4-5D6E-409C-BE32-E72D297353CC}">
              <c16:uniqueId val="{00000000-37C8-4FB6-A12D-299BC3303051}"/>
            </c:ext>
          </c:extLst>
        </c:ser>
        <c:ser>
          <c:idx val="11"/>
          <c:order val="11"/>
          <c:tx>
            <c:v>Mistakes</c:v>
          </c:tx>
          <c:spPr>
            <a:ln w="23813">
              <a:solidFill>
                <a:srgbClr val="C45C28"/>
              </a:solidFill>
              <a:prstDash val="solid"/>
            </a:ln>
          </c:spPr>
          <c:marker>
            <c:symbol val="none"/>
          </c:marker>
          <c:xVal>
            <c:numRef>
              <c:f>'Chart Data'!$W$2:$W$3</c:f>
              <c:numCache>
                <c:formatCode>General</c:formatCode>
                <c:ptCount val="2"/>
                <c:pt idx="0">
                  <c:v>-6.0309999999999997</c:v>
                </c:pt>
                <c:pt idx="1">
                  <c:v>-6.02</c:v>
                </c:pt>
              </c:numCache>
            </c:numRef>
          </c:xVal>
          <c:yVal>
            <c:numRef>
              <c:f>'Chart Data'!$X$2:$X$3</c:f>
              <c:numCache>
                <c:formatCode>General</c:formatCode>
                <c:ptCount val="2"/>
                <c:pt idx="0">
                  <c:v>38</c:v>
                </c:pt>
                <c:pt idx="1">
                  <c:v>38</c:v>
                </c:pt>
              </c:numCache>
            </c:numRef>
          </c:yVal>
          <c:smooth val="0"/>
          <c:extLst>
            <c:ext xmlns:c16="http://schemas.microsoft.com/office/drawing/2014/chart" uri="{C3380CC4-5D6E-409C-BE32-E72D297353CC}">
              <c16:uniqueId val="{00000000-37C8-4FB6-A12D-299BC3303051}"/>
            </c:ext>
          </c:extLst>
        </c:ser>
        <c:ser>
          <c:idx val="12"/>
          <c:order val="12"/>
          <c:tx>
            <c:v>Mistakes</c:v>
          </c:tx>
          <c:spPr>
            <a:ln w="23813">
              <a:solidFill>
                <a:srgbClr val="C45C28"/>
              </a:solidFill>
              <a:prstDash val="solid"/>
            </a:ln>
          </c:spPr>
          <c:marker>
            <c:symbol val="none"/>
          </c:marker>
          <c:xVal>
            <c:numRef>
              <c:f>'Chart Data'!$Y$2:$Y$3</c:f>
              <c:numCache>
                <c:formatCode>General</c:formatCode>
                <c:ptCount val="2"/>
                <c:pt idx="0">
                  <c:v>-6.02</c:v>
                </c:pt>
                <c:pt idx="1">
                  <c:v>-5.9809999999999999</c:v>
                </c:pt>
              </c:numCache>
            </c:numRef>
          </c:xVal>
          <c:yVal>
            <c:numRef>
              <c:f>'Chart Data'!$Z$2:$Z$3</c:f>
              <c:numCache>
                <c:formatCode>General</c:formatCode>
                <c:ptCount val="2"/>
                <c:pt idx="0">
                  <c:v>37</c:v>
                </c:pt>
                <c:pt idx="1">
                  <c:v>37</c:v>
                </c:pt>
              </c:numCache>
            </c:numRef>
          </c:yVal>
          <c:smooth val="0"/>
          <c:extLst>
            <c:ext xmlns:c16="http://schemas.microsoft.com/office/drawing/2014/chart" uri="{C3380CC4-5D6E-409C-BE32-E72D297353CC}">
              <c16:uniqueId val="{00000000-37C8-4FB6-A12D-299BC3303051}"/>
            </c:ext>
          </c:extLst>
        </c:ser>
        <c:ser>
          <c:idx val="13"/>
          <c:order val="13"/>
          <c:tx>
            <c:v>Mistakes</c:v>
          </c:tx>
          <c:spPr>
            <a:ln w="23813">
              <a:solidFill>
                <a:srgbClr val="C45C28"/>
              </a:solidFill>
              <a:prstDash val="solid"/>
            </a:ln>
          </c:spPr>
          <c:marker>
            <c:symbol val="none"/>
          </c:marker>
          <c:xVal>
            <c:numRef>
              <c:f>'Chart Data'!$AA$2:$AA$3</c:f>
              <c:numCache>
                <c:formatCode>General</c:formatCode>
                <c:ptCount val="2"/>
                <c:pt idx="0">
                  <c:v>-5.9809999999999999</c:v>
                </c:pt>
                <c:pt idx="1">
                  <c:v>-5.9359999999999999</c:v>
                </c:pt>
              </c:numCache>
            </c:numRef>
          </c:xVal>
          <c:yVal>
            <c:numRef>
              <c:f>'Chart Data'!$AB$2:$AB$3</c:f>
              <c:numCache>
                <c:formatCode>General</c:formatCode>
                <c:ptCount val="2"/>
                <c:pt idx="0">
                  <c:v>36</c:v>
                </c:pt>
                <c:pt idx="1">
                  <c:v>36</c:v>
                </c:pt>
              </c:numCache>
            </c:numRef>
          </c:yVal>
          <c:smooth val="0"/>
          <c:extLst>
            <c:ext xmlns:c16="http://schemas.microsoft.com/office/drawing/2014/chart" uri="{C3380CC4-5D6E-409C-BE32-E72D297353CC}">
              <c16:uniqueId val="{00000000-37C8-4FB6-A12D-299BC3303051}"/>
            </c:ext>
          </c:extLst>
        </c:ser>
        <c:ser>
          <c:idx val="14"/>
          <c:order val="14"/>
          <c:tx>
            <c:v>Mistakes</c:v>
          </c:tx>
          <c:spPr>
            <a:ln w="23813">
              <a:solidFill>
                <a:srgbClr val="C45C28"/>
              </a:solidFill>
              <a:prstDash val="solid"/>
            </a:ln>
          </c:spPr>
          <c:marker>
            <c:symbol val="none"/>
          </c:marker>
          <c:xVal>
            <c:numRef>
              <c:f>'Chart Data'!$AC$2:$AC$3</c:f>
              <c:numCache>
                <c:formatCode>General</c:formatCode>
                <c:ptCount val="2"/>
                <c:pt idx="0">
                  <c:v>-5.9359999999999999</c:v>
                </c:pt>
                <c:pt idx="1">
                  <c:v>-5.9130000000000003</c:v>
                </c:pt>
              </c:numCache>
            </c:numRef>
          </c:xVal>
          <c:yVal>
            <c:numRef>
              <c:f>'Chart Data'!$AD$2:$AD$3</c:f>
              <c:numCache>
                <c:formatCode>General</c:formatCode>
                <c:ptCount val="2"/>
                <c:pt idx="0">
                  <c:v>35</c:v>
                </c:pt>
                <c:pt idx="1">
                  <c:v>35</c:v>
                </c:pt>
              </c:numCache>
            </c:numRef>
          </c:yVal>
          <c:smooth val="0"/>
          <c:extLst>
            <c:ext xmlns:c16="http://schemas.microsoft.com/office/drawing/2014/chart" uri="{C3380CC4-5D6E-409C-BE32-E72D297353CC}">
              <c16:uniqueId val="{00000000-37C8-4FB6-A12D-299BC3303051}"/>
            </c:ext>
          </c:extLst>
        </c:ser>
        <c:ser>
          <c:idx val="15"/>
          <c:order val="15"/>
          <c:tx>
            <c:v>Mistakes</c:v>
          </c:tx>
          <c:spPr>
            <a:ln w="23813">
              <a:solidFill>
                <a:srgbClr val="C45C28"/>
              </a:solidFill>
              <a:prstDash val="solid"/>
            </a:ln>
          </c:spPr>
          <c:marker>
            <c:symbol val="none"/>
          </c:marker>
          <c:xVal>
            <c:numRef>
              <c:f>'Chart Data'!$AE$2:$AE$3</c:f>
              <c:numCache>
                <c:formatCode>General</c:formatCode>
                <c:ptCount val="2"/>
                <c:pt idx="0">
                  <c:v>-5.9130000000000003</c:v>
                </c:pt>
                <c:pt idx="1">
                  <c:v>-5.8259999999999996</c:v>
                </c:pt>
              </c:numCache>
            </c:numRef>
          </c:xVal>
          <c:yVal>
            <c:numRef>
              <c:f>'Chart Data'!$AF$2:$AF$3</c:f>
              <c:numCache>
                <c:formatCode>General</c:formatCode>
                <c:ptCount val="2"/>
                <c:pt idx="0">
                  <c:v>34</c:v>
                </c:pt>
                <c:pt idx="1">
                  <c:v>34</c:v>
                </c:pt>
              </c:numCache>
            </c:numRef>
          </c:yVal>
          <c:smooth val="0"/>
          <c:extLst>
            <c:ext xmlns:c16="http://schemas.microsoft.com/office/drawing/2014/chart" uri="{C3380CC4-5D6E-409C-BE32-E72D297353CC}">
              <c16:uniqueId val="{00000000-37C8-4FB6-A12D-299BC3303051}"/>
            </c:ext>
          </c:extLst>
        </c:ser>
        <c:ser>
          <c:idx val="16"/>
          <c:order val="16"/>
          <c:tx>
            <c:v>Mistakes</c:v>
          </c:tx>
          <c:spPr>
            <a:ln w="23813">
              <a:solidFill>
                <a:srgbClr val="C45C28"/>
              </a:solidFill>
              <a:prstDash val="solid"/>
            </a:ln>
          </c:spPr>
          <c:marker>
            <c:symbol val="none"/>
          </c:marker>
          <c:xVal>
            <c:numRef>
              <c:f>'Chart Data'!$AG$2:$AG$3</c:f>
              <c:numCache>
                <c:formatCode>General</c:formatCode>
                <c:ptCount val="2"/>
                <c:pt idx="0">
                  <c:v>-5.8259999999999996</c:v>
                </c:pt>
                <c:pt idx="1">
                  <c:v>-5.8070000000000004</c:v>
                </c:pt>
              </c:numCache>
            </c:numRef>
          </c:xVal>
          <c:yVal>
            <c:numRef>
              <c:f>'Chart Data'!$AH$2:$AH$3</c:f>
              <c:numCache>
                <c:formatCode>General</c:formatCode>
                <c:ptCount val="2"/>
                <c:pt idx="0">
                  <c:v>33</c:v>
                </c:pt>
                <c:pt idx="1">
                  <c:v>33</c:v>
                </c:pt>
              </c:numCache>
            </c:numRef>
          </c:yVal>
          <c:smooth val="0"/>
          <c:extLst>
            <c:ext xmlns:c16="http://schemas.microsoft.com/office/drawing/2014/chart" uri="{C3380CC4-5D6E-409C-BE32-E72D297353CC}">
              <c16:uniqueId val="{00000000-37C8-4FB6-A12D-299BC3303051}"/>
            </c:ext>
          </c:extLst>
        </c:ser>
        <c:ser>
          <c:idx val="17"/>
          <c:order val="17"/>
          <c:tx>
            <c:v>Mistakes</c:v>
          </c:tx>
          <c:spPr>
            <a:ln w="23813">
              <a:solidFill>
                <a:srgbClr val="C45C28"/>
              </a:solidFill>
              <a:prstDash val="solid"/>
            </a:ln>
          </c:spPr>
          <c:marker>
            <c:symbol val="none"/>
          </c:marker>
          <c:xVal>
            <c:numRef>
              <c:f>'Chart Data'!$AI$2:$AI$3</c:f>
              <c:numCache>
                <c:formatCode>General</c:formatCode>
                <c:ptCount val="2"/>
                <c:pt idx="0">
                  <c:v>-5.8070000000000004</c:v>
                </c:pt>
                <c:pt idx="1">
                  <c:v>-5.758</c:v>
                </c:pt>
              </c:numCache>
            </c:numRef>
          </c:xVal>
          <c:yVal>
            <c:numRef>
              <c:f>'Chart Data'!$AJ$2:$AJ$3</c:f>
              <c:numCache>
                <c:formatCode>General</c:formatCode>
                <c:ptCount val="2"/>
                <c:pt idx="0">
                  <c:v>32</c:v>
                </c:pt>
                <c:pt idx="1">
                  <c:v>32</c:v>
                </c:pt>
              </c:numCache>
            </c:numRef>
          </c:yVal>
          <c:smooth val="0"/>
          <c:extLst>
            <c:ext xmlns:c16="http://schemas.microsoft.com/office/drawing/2014/chart" uri="{C3380CC4-5D6E-409C-BE32-E72D297353CC}">
              <c16:uniqueId val="{00000000-37C8-4FB6-A12D-299BC3303051}"/>
            </c:ext>
          </c:extLst>
        </c:ser>
        <c:ser>
          <c:idx val="18"/>
          <c:order val="18"/>
          <c:tx>
            <c:v>Mistakes</c:v>
          </c:tx>
          <c:spPr>
            <a:ln w="23813">
              <a:solidFill>
                <a:srgbClr val="C45C28"/>
              </a:solidFill>
              <a:prstDash val="solid"/>
            </a:ln>
          </c:spPr>
          <c:marker>
            <c:symbol val="none"/>
          </c:marker>
          <c:xVal>
            <c:numRef>
              <c:f>'Chart Data'!$AK$2:$AK$3</c:f>
              <c:numCache>
                <c:formatCode>General</c:formatCode>
                <c:ptCount val="2"/>
                <c:pt idx="0">
                  <c:v>-5.758</c:v>
                </c:pt>
                <c:pt idx="1">
                  <c:v>-5.7380000000000004</c:v>
                </c:pt>
              </c:numCache>
            </c:numRef>
          </c:xVal>
          <c:yVal>
            <c:numRef>
              <c:f>'Chart Data'!$AL$2:$AL$3</c:f>
              <c:numCache>
                <c:formatCode>General</c:formatCode>
                <c:ptCount val="2"/>
                <c:pt idx="0">
                  <c:v>31</c:v>
                </c:pt>
                <c:pt idx="1">
                  <c:v>31</c:v>
                </c:pt>
              </c:numCache>
            </c:numRef>
          </c:yVal>
          <c:smooth val="0"/>
          <c:extLst>
            <c:ext xmlns:c16="http://schemas.microsoft.com/office/drawing/2014/chart" uri="{C3380CC4-5D6E-409C-BE32-E72D297353CC}">
              <c16:uniqueId val="{00000000-37C8-4FB6-A12D-299BC3303051}"/>
            </c:ext>
          </c:extLst>
        </c:ser>
        <c:ser>
          <c:idx val="19"/>
          <c:order val="19"/>
          <c:tx>
            <c:v>Mistakes</c:v>
          </c:tx>
          <c:spPr>
            <a:ln w="23813">
              <a:solidFill>
                <a:srgbClr val="C45C28"/>
              </a:solidFill>
              <a:prstDash val="solid"/>
            </a:ln>
          </c:spPr>
          <c:marker>
            <c:symbol val="none"/>
          </c:marker>
          <c:xVal>
            <c:numRef>
              <c:f>'Chart Data'!$AM$2:$AM$3</c:f>
              <c:numCache>
                <c:formatCode>General</c:formatCode>
                <c:ptCount val="2"/>
                <c:pt idx="0">
                  <c:v>-5.7380000000000004</c:v>
                </c:pt>
                <c:pt idx="1">
                  <c:v>-5.7190000000000003</c:v>
                </c:pt>
              </c:numCache>
            </c:numRef>
          </c:xVal>
          <c:yVal>
            <c:numRef>
              <c:f>'Chart Data'!$AN$2:$AN$3</c:f>
              <c:numCache>
                <c:formatCode>General</c:formatCode>
                <c:ptCount val="2"/>
                <c:pt idx="0">
                  <c:v>30</c:v>
                </c:pt>
                <c:pt idx="1">
                  <c:v>30</c:v>
                </c:pt>
              </c:numCache>
            </c:numRef>
          </c:yVal>
          <c:smooth val="0"/>
          <c:extLst>
            <c:ext xmlns:c16="http://schemas.microsoft.com/office/drawing/2014/chart" uri="{C3380CC4-5D6E-409C-BE32-E72D297353CC}">
              <c16:uniqueId val="{00000000-37C8-4FB6-A12D-299BC3303051}"/>
            </c:ext>
          </c:extLst>
        </c:ser>
        <c:ser>
          <c:idx val="20"/>
          <c:order val="20"/>
          <c:tx>
            <c:v>Mistakes</c:v>
          </c:tx>
          <c:spPr>
            <a:ln w="23813">
              <a:solidFill>
                <a:srgbClr val="C45C28"/>
              </a:solidFill>
              <a:prstDash val="solid"/>
            </a:ln>
          </c:spPr>
          <c:marker>
            <c:symbol val="none"/>
          </c:marker>
          <c:xVal>
            <c:numRef>
              <c:f>'Chart Data'!$AO$2:$AO$3</c:f>
              <c:numCache>
                <c:formatCode>General</c:formatCode>
                <c:ptCount val="2"/>
                <c:pt idx="0">
                  <c:v>-5.7190000000000003</c:v>
                </c:pt>
                <c:pt idx="1">
                  <c:v>-5.6980000000000004</c:v>
                </c:pt>
              </c:numCache>
            </c:numRef>
          </c:xVal>
          <c:yVal>
            <c:numRef>
              <c:f>'Chart Data'!$AP$2:$AP$3</c:f>
              <c:numCache>
                <c:formatCode>General</c:formatCode>
                <c:ptCount val="2"/>
                <c:pt idx="0">
                  <c:v>29</c:v>
                </c:pt>
                <c:pt idx="1">
                  <c:v>29</c:v>
                </c:pt>
              </c:numCache>
            </c:numRef>
          </c:yVal>
          <c:smooth val="0"/>
          <c:extLst>
            <c:ext xmlns:c16="http://schemas.microsoft.com/office/drawing/2014/chart" uri="{C3380CC4-5D6E-409C-BE32-E72D297353CC}">
              <c16:uniqueId val="{00000000-37C8-4FB6-A12D-299BC3303051}"/>
            </c:ext>
          </c:extLst>
        </c:ser>
        <c:ser>
          <c:idx val="21"/>
          <c:order val="21"/>
          <c:tx>
            <c:v>Mistakes</c:v>
          </c:tx>
          <c:spPr>
            <a:ln w="23813">
              <a:solidFill>
                <a:srgbClr val="C45C28"/>
              </a:solidFill>
              <a:prstDash val="solid"/>
            </a:ln>
          </c:spPr>
          <c:marker>
            <c:symbol val="none"/>
          </c:marker>
          <c:xVal>
            <c:numRef>
              <c:f>'Chart Data'!$AQ$2:$AQ$3</c:f>
              <c:numCache>
                <c:formatCode>General</c:formatCode>
                <c:ptCount val="2"/>
                <c:pt idx="0">
                  <c:v>-5.6980000000000004</c:v>
                </c:pt>
                <c:pt idx="1">
                  <c:v>-5.6760000000000002</c:v>
                </c:pt>
              </c:numCache>
            </c:numRef>
          </c:xVal>
          <c:yVal>
            <c:numRef>
              <c:f>'Chart Data'!$AR$2:$AR$3</c:f>
              <c:numCache>
                <c:formatCode>General</c:formatCode>
                <c:ptCount val="2"/>
                <c:pt idx="0">
                  <c:v>28</c:v>
                </c:pt>
                <c:pt idx="1">
                  <c:v>28</c:v>
                </c:pt>
              </c:numCache>
            </c:numRef>
          </c:yVal>
          <c:smooth val="0"/>
          <c:extLst>
            <c:ext xmlns:c16="http://schemas.microsoft.com/office/drawing/2014/chart" uri="{C3380CC4-5D6E-409C-BE32-E72D297353CC}">
              <c16:uniqueId val="{00000000-37C8-4FB6-A12D-299BC3303051}"/>
            </c:ext>
          </c:extLst>
        </c:ser>
        <c:ser>
          <c:idx val="22"/>
          <c:order val="22"/>
          <c:tx>
            <c:v>Mistakes</c:v>
          </c:tx>
          <c:spPr>
            <a:ln w="23813">
              <a:solidFill>
                <a:srgbClr val="C45C28"/>
              </a:solidFill>
              <a:prstDash val="solid"/>
            </a:ln>
          </c:spPr>
          <c:marker>
            <c:symbol val="none"/>
          </c:marker>
          <c:xVal>
            <c:numRef>
              <c:f>'Chart Data'!$AS$2:$AS$3</c:f>
              <c:numCache>
                <c:formatCode>General</c:formatCode>
                <c:ptCount val="2"/>
                <c:pt idx="0">
                  <c:v>-5.6760000000000002</c:v>
                </c:pt>
                <c:pt idx="1">
                  <c:v>-5.63</c:v>
                </c:pt>
              </c:numCache>
            </c:numRef>
          </c:xVal>
          <c:yVal>
            <c:numRef>
              <c:f>'Chart Data'!$AT$2:$AT$3</c:f>
              <c:numCache>
                <c:formatCode>General</c:formatCode>
                <c:ptCount val="2"/>
                <c:pt idx="0">
                  <c:v>27</c:v>
                </c:pt>
                <c:pt idx="1">
                  <c:v>27</c:v>
                </c:pt>
              </c:numCache>
            </c:numRef>
          </c:yVal>
          <c:smooth val="0"/>
          <c:extLst>
            <c:ext xmlns:c16="http://schemas.microsoft.com/office/drawing/2014/chart" uri="{C3380CC4-5D6E-409C-BE32-E72D297353CC}">
              <c16:uniqueId val="{00000000-37C8-4FB6-A12D-299BC3303051}"/>
            </c:ext>
          </c:extLst>
        </c:ser>
        <c:ser>
          <c:idx val="23"/>
          <c:order val="23"/>
          <c:tx>
            <c:v>Mistakes</c:v>
          </c:tx>
          <c:spPr>
            <a:ln w="23813">
              <a:solidFill>
                <a:srgbClr val="C45C28"/>
              </a:solidFill>
              <a:prstDash val="solid"/>
            </a:ln>
          </c:spPr>
          <c:marker>
            <c:symbol val="none"/>
          </c:marker>
          <c:xVal>
            <c:numRef>
              <c:f>'Chart Data'!$AU$2:$AU$3</c:f>
              <c:numCache>
                <c:formatCode>General</c:formatCode>
                <c:ptCount val="2"/>
                <c:pt idx="0">
                  <c:v>-5.63</c:v>
                </c:pt>
                <c:pt idx="1">
                  <c:v>-5.5620000000000003</c:v>
                </c:pt>
              </c:numCache>
            </c:numRef>
          </c:xVal>
          <c:yVal>
            <c:numRef>
              <c:f>'Chart Data'!$AV$2:$AV$3</c:f>
              <c:numCache>
                <c:formatCode>General</c:formatCode>
                <c:ptCount val="2"/>
                <c:pt idx="0">
                  <c:v>26</c:v>
                </c:pt>
                <c:pt idx="1">
                  <c:v>26</c:v>
                </c:pt>
              </c:numCache>
            </c:numRef>
          </c:yVal>
          <c:smooth val="0"/>
          <c:extLst>
            <c:ext xmlns:c16="http://schemas.microsoft.com/office/drawing/2014/chart" uri="{C3380CC4-5D6E-409C-BE32-E72D297353CC}">
              <c16:uniqueId val="{00000000-37C8-4FB6-A12D-299BC3303051}"/>
            </c:ext>
          </c:extLst>
        </c:ser>
        <c:ser>
          <c:idx val="24"/>
          <c:order val="24"/>
          <c:tx>
            <c:v>Mistakes</c:v>
          </c:tx>
          <c:spPr>
            <a:ln w="23813">
              <a:solidFill>
                <a:srgbClr val="C45C28"/>
              </a:solidFill>
              <a:prstDash val="solid"/>
            </a:ln>
          </c:spPr>
          <c:marker>
            <c:symbol val="none"/>
          </c:marker>
          <c:xVal>
            <c:numRef>
              <c:f>'Chart Data'!$AW$2:$AW$3</c:f>
              <c:numCache>
                <c:formatCode>General</c:formatCode>
                <c:ptCount val="2"/>
                <c:pt idx="0">
                  <c:v>-5.5620000000000003</c:v>
                </c:pt>
                <c:pt idx="1">
                  <c:v>-5.5419999999999998</c:v>
                </c:pt>
              </c:numCache>
            </c:numRef>
          </c:xVal>
          <c:yVal>
            <c:numRef>
              <c:f>'Chart Data'!$AX$2:$AX$3</c:f>
              <c:numCache>
                <c:formatCode>General</c:formatCode>
                <c:ptCount val="2"/>
                <c:pt idx="0">
                  <c:v>25</c:v>
                </c:pt>
                <c:pt idx="1">
                  <c:v>25</c:v>
                </c:pt>
              </c:numCache>
            </c:numRef>
          </c:yVal>
          <c:smooth val="0"/>
          <c:extLst>
            <c:ext xmlns:c16="http://schemas.microsoft.com/office/drawing/2014/chart" uri="{C3380CC4-5D6E-409C-BE32-E72D297353CC}">
              <c16:uniqueId val="{00000000-37C8-4FB6-A12D-299BC3303051}"/>
            </c:ext>
          </c:extLst>
        </c:ser>
        <c:ser>
          <c:idx val="25"/>
          <c:order val="25"/>
          <c:tx>
            <c:v>Mistakes</c:v>
          </c:tx>
          <c:spPr>
            <a:ln w="23813">
              <a:solidFill>
                <a:srgbClr val="C45C28"/>
              </a:solidFill>
              <a:prstDash val="solid"/>
            </a:ln>
          </c:spPr>
          <c:marker>
            <c:symbol val="none"/>
          </c:marker>
          <c:xVal>
            <c:numRef>
              <c:f>'Chart Data'!$AY$2:$AY$3</c:f>
              <c:numCache>
                <c:formatCode>General</c:formatCode>
                <c:ptCount val="2"/>
                <c:pt idx="0">
                  <c:v>-5.5419999999999998</c:v>
                </c:pt>
                <c:pt idx="1">
                  <c:v>-5.4950000000000001</c:v>
                </c:pt>
              </c:numCache>
            </c:numRef>
          </c:xVal>
          <c:yVal>
            <c:numRef>
              <c:f>'Chart Data'!$AZ$2:$AZ$3</c:f>
              <c:numCache>
                <c:formatCode>General</c:formatCode>
                <c:ptCount val="2"/>
                <c:pt idx="0">
                  <c:v>24</c:v>
                </c:pt>
                <c:pt idx="1">
                  <c:v>24</c:v>
                </c:pt>
              </c:numCache>
            </c:numRef>
          </c:yVal>
          <c:smooth val="0"/>
          <c:extLst>
            <c:ext xmlns:c16="http://schemas.microsoft.com/office/drawing/2014/chart" uri="{C3380CC4-5D6E-409C-BE32-E72D297353CC}">
              <c16:uniqueId val="{00000000-37C8-4FB6-A12D-299BC3303051}"/>
            </c:ext>
          </c:extLst>
        </c:ser>
        <c:ser>
          <c:idx val="26"/>
          <c:order val="26"/>
          <c:tx>
            <c:v>Mistakes</c:v>
          </c:tx>
          <c:spPr>
            <a:ln w="23813">
              <a:solidFill>
                <a:srgbClr val="C45C28"/>
              </a:solidFill>
              <a:prstDash val="solid"/>
            </a:ln>
          </c:spPr>
          <c:marker>
            <c:symbol val="none"/>
          </c:marker>
          <c:xVal>
            <c:numRef>
              <c:f>'Chart Data'!$BA$2:$BA$3</c:f>
              <c:numCache>
                <c:formatCode>General</c:formatCode>
                <c:ptCount val="2"/>
                <c:pt idx="0">
                  <c:v>-5.4950000000000001</c:v>
                </c:pt>
                <c:pt idx="1">
                  <c:v>-5.4729999999999999</c:v>
                </c:pt>
              </c:numCache>
            </c:numRef>
          </c:xVal>
          <c:yVal>
            <c:numRef>
              <c:f>'Chart Data'!$BB$2:$BB$3</c:f>
              <c:numCache>
                <c:formatCode>General</c:formatCode>
                <c:ptCount val="2"/>
                <c:pt idx="0">
                  <c:v>23</c:v>
                </c:pt>
                <c:pt idx="1">
                  <c:v>23</c:v>
                </c:pt>
              </c:numCache>
            </c:numRef>
          </c:yVal>
          <c:smooth val="0"/>
          <c:extLst>
            <c:ext xmlns:c16="http://schemas.microsoft.com/office/drawing/2014/chart" uri="{C3380CC4-5D6E-409C-BE32-E72D297353CC}">
              <c16:uniqueId val="{00000000-37C8-4FB6-A12D-299BC3303051}"/>
            </c:ext>
          </c:extLst>
        </c:ser>
        <c:ser>
          <c:idx val="27"/>
          <c:order val="27"/>
          <c:tx>
            <c:v>Mistakes</c:v>
          </c:tx>
          <c:spPr>
            <a:ln w="23813">
              <a:solidFill>
                <a:srgbClr val="C45C28"/>
              </a:solidFill>
              <a:prstDash val="solid"/>
            </a:ln>
          </c:spPr>
          <c:marker>
            <c:symbol val="none"/>
          </c:marker>
          <c:xVal>
            <c:numRef>
              <c:f>'Chart Data'!$BC$2:$BC$3</c:f>
              <c:numCache>
                <c:formatCode>General</c:formatCode>
                <c:ptCount val="2"/>
                <c:pt idx="0">
                  <c:v>-5.4729999999999999</c:v>
                </c:pt>
                <c:pt idx="1">
                  <c:v>-5.4539999999999997</c:v>
                </c:pt>
              </c:numCache>
            </c:numRef>
          </c:xVal>
          <c:yVal>
            <c:numRef>
              <c:f>'Chart Data'!$BD$2:$BD$3</c:f>
              <c:numCache>
                <c:formatCode>General</c:formatCode>
                <c:ptCount val="2"/>
                <c:pt idx="0">
                  <c:v>22</c:v>
                </c:pt>
                <c:pt idx="1">
                  <c:v>22</c:v>
                </c:pt>
              </c:numCache>
            </c:numRef>
          </c:yVal>
          <c:smooth val="0"/>
          <c:extLst>
            <c:ext xmlns:c16="http://schemas.microsoft.com/office/drawing/2014/chart" uri="{C3380CC4-5D6E-409C-BE32-E72D297353CC}">
              <c16:uniqueId val="{00000000-37C8-4FB6-A12D-299BC3303051}"/>
            </c:ext>
          </c:extLst>
        </c:ser>
        <c:ser>
          <c:idx val="28"/>
          <c:order val="28"/>
          <c:tx>
            <c:v>Mistakes</c:v>
          </c:tx>
          <c:spPr>
            <a:ln w="23813">
              <a:solidFill>
                <a:srgbClr val="C45C28"/>
              </a:solidFill>
              <a:prstDash val="solid"/>
            </a:ln>
          </c:spPr>
          <c:marker>
            <c:symbol val="none"/>
          </c:marker>
          <c:xVal>
            <c:numRef>
              <c:f>'Chart Data'!$BE$2:$BE$3</c:f>
              <c:numCache>
                <c:formatCode>General</c:formatCode>
                <c:ptCount val="2"/>
                <c:pt idx="0">
                  <c:v>-5.4539999999999997</c:v>
                </c:pt>
                <c:pt idx="1">
                  <c:v>-5.41</c:v>
                </c:pt>
              </c:numCache>
            </c:numRef>
          </c:xVal>
          <c:yVal>
            <c:numRef>
              <c:f>'Chart Data'!$BF$2:$BF$3</c:f>
              <c:numCache>
                <c:formatCode>General</c:formatCode>
                <c:ptCount val="2"/>
                <c:pt idx="0">
                  <c:v>21</c:v>
                </c:pt>
                <c:pt idx="1">
                  <c:v>21</c:v>
                </c:pt>
              </c:numCache>
            </c:numRef>
          </c:yVal>
          <c:smooth val="0"/>
          <c:extLst>
            <c:ext xmlns:c16="http://schemas.microsoft.com/office/drawing/2014/chart" uri="{C3380CC4-5D6E-409C-BE32-E72D297353CC}">
              <c16:uniqueId val="{00000000-37C8-4FB6-A12D-299BC3303051}"/>
            </c:ext>
          </c:extLst>
        </c:ser>
        <c:ser>
          <c:idx val="29"/>
          <c:order val="29"/>
          <c:tx>
            <c:v>Mistakes</c:v>
          </c:tx>
          <c:spPr>
            <a:ln w="23813">
              <a:solidFill>
                <a:srgbClr val="C45C28"/>
              </a:solidFill>
              <a:prstDash val="solid"/>
            </a:ln>
          </c:spPr>
          <c:marker>
            <c:symbol val="none"/>
          </c:marker>
          <c:xVal>
            <c:numRef>
              <c:f>'Chart Data'!$BG$2:$BG$3</c:f>
              <c:numCache>
                <c:formatCode>General</c:formatCode>
                <c:ptCount val="2"/>
                <c:pt idx="0">
                  <c:v>-5.41</c:v>
                </c:pt>
                <c:pt idx="1">
                  <c:v>-5.3849999999999998</c:v>
                </c:pt>
              </c:numCache>
            </c:numRef>
          </c:xVal>
          <c:yVal>
            <c:numRef>
              <c:f>'Chart Data'!$BH$2:$BH$3</c:f>
              <c:numCache>
                <c:formatCode>General</c:formatCode>
                <c:ptCount val="2"/>
                <c:pt idx="0">
                  <c:v>20</c:v>
                </c:pt>
                <c:pt idx="1">
                  <c:v>20</c:v>
                </c:pt>
              </c:numCache>
            </c:numRef>
          </c:yVal>
          <c:smooth val="0"/>
          <c:extLst>
            <c:ext xmlns:c16="http://schemas.microsoft.com/office/drawing/2014/chart" uri="{C3380CC4-5D6E-409C-BE32-E72D297353CC}">
              <c16:uniqueId val="{00000000-37C8-4FB6-A12D-299BC3303051}"/>
            </c:ext>
          </c:extLst>
        </c:ser>
        <c:ser>
          <c:idx val="30"/>
          <c:order val="30"/>
          <c:tx>
            <c:v>Mistakes</c:v>
          </c:tx>
          <c:spPr>
            <a:ln w="23813">
              <a:solidFill>
                <a:srgbClr val="C45C28"/>
              </a:solidFill>
              <a:prstDash val="solid"/>
            </a:ln>
          </c:spPr>
          <c:marker>
            <c:symbol val="none"/>
          </c:marker>
          <c:xVal>
            <c:numRef>
              <c:f>'Chart Data'!$BI$2:$BI$3</c:f>
              <c:numCache>
                <c:formatCode>General</c:formatCode>
                <c:ptCount val="2"/>
                <c:pt idx="0">
                  <c:v>-5.3849999999999998</c:v>
                </c:pt>
                <c:pt idx="1">
                  <c:v>-5.3769999999999998</c:v>
                </c:pt>
              </c:numCache>
            </c:numRef>
          </c:xVal>
          <c:yVal>
            <c:numRef>
              <c:f>'Chart Data'!$BJ$2:$BJ$3</c:f>
              <c:numCache>
                <c:formatCode>General</c:formatCode>
                <c:ptCount val="2"/>
                <c:pt idx="0">
                  <c:v>19</c:v>
                </c:pt>
                <c:pt idx="1">
                  <c:v>19</c:v>
                </c:pt>
              </c:numCache>
            </c:numRef>
          </c:yVal>
          <c:smooth val="0"/>
          <c:extLst>
            <c:ext xmlns:c16="http://schemas.microsoft.com/office/drawing/2014/chart" uri="{C3380CC4-5D6E-409C-BE32-E72D297353CC}">
              <c16:uniqueId val="{00000000-37C8-4FB6-A12D-299BC3303051}"/>
            </c:ext>
          </c:extLst>
        </c:ser>
        <c:ser>
          <c:idx val="31"/>
          <c:order val="31"/>
          <c:tx>
            <c:v>Mistakes</c:v>
          </c:tx>
          <c:spPr>
            <a:ln w="23813">
              <a:solidFill>
                <a:srgbClr val="C45C28"/>
              </a:solidFill>
              <a:prstDash val="solid"/>
            </a:ln>
          </c:spPr>
          <c:marker>
            <c:symbol val="none"/>
          </c:marker>
          <c:xVal>
            <c:numRef>
              <c:f>'Chart Data'!$BK$2:$BK$3</c:f>
              <c:numCache>
                <c:formatCode>General</c:formatCode>
                <c:ptCount val="2"/>
                <c:pt idx="0">
                  <c:v>-5.3769999999999998</c:v>
                </c:pt>
                <c:pt idx="1">
                  <c:v>-5.2960000000000003</c:v>
                </c:pt>
              </c:numCache>
            </c:numRef>
          </c:xVal>
          <c:yVal>
            <c:numRef>
              <c:f>'Chart Data'!$BL$2:$BL$3</c:f>
              <c:numCache>
                <c:formatCode>General</c:formatCode>
                <c:ptCount val="2"/>
                <c:pt idx="0">
                  <c:v>20</c:v>
                </c:pt>
                <c:pt idx="1">
                  <c:v>20</c:v>
                </c:pt>
              </c:numCache>
            </c:numRef>
          </c:yVal>
          <c:smooth val="0"/>
          <c:extLst>
            <c:ext xmlns:c16="http://schemas.microsoft.com/office/drawing/2014/chart" uri="{C3380CC4-5D6E-409C-BE32-E72D297353CC}">
              <c16:uniqueId val="{00000000-37C8-4FB6-A12D-299BC3303051}"/>
            </c:ext>
          </c:extLst>
        </c:ser>
        <c:ser>
          <c:idx val="32"/>
          <c:order val="32"/>
          <c:tx>
            <c:v>Mistakes</c:v>
          </c:tx>
          <c:spPr>
            <a:ln w="23813">
              <a:solidFill>
                <a:srgbClr val="C45C28"/>
              </a:solidFill>
              <a:prstDash val="solid"/>
            </a:ln>
          </c:spPr>
          <c:marker>
            <c:symbol val="none"/>
          </c:marker>
          <c:xVal>
            <c:numRef>
              <c:f>'Chart Data'!$BM$2:$BM$3</c:f>
              <c:numCache>
                <c:formatCode>General</c:formatCode>
                <c:ptCount val="2"/>
                <c:pt idx="0">
                  <c:v>-5.2960000000000003</c:v>
                </c:pt>
                <c:pt idx="1">
                  <c:v>-5.2889999999999997</c:v>
                </c:pt>
              </c:numCache>
            </c:numRef>
          </c:xVal>
          <c:yVal>
            <c:numRef>
              <c:f>'Chart Data'!$BN$2:$BN$3</c:f>
              <c:numCache>
                <c:formatCode>General</c:formatCode>
                <c:ptCount val="2"/>
                <c:pt idx="0">
                  <c:v>19</c:v>
                </c:pt>
                <c:pt idx="1">
                  <c:v>19</c:v>
                </c:pt>
              </c:numCache>
            </c:numRef>
          </c:yVal>
          <c:smooth val="0"/>
          <c:extLst>
            <c:ext xmlns:c16="http://schemas.microsoft.com/office/drawing/2014/chart" uri="{C3380CC4-5D6E-409C-BE32-E72D297353CC}">
              <c16:uniqueId val="{00000000-37C8-4FB6-A12D-299BC3303051}"/>
            </c:ext>
          </c:extLst>
        </c:ser>
        <c:ser>
          <c:idx val="33"/>
          <c:order val="33"/>
          <c:tx>
            <c:v>Mistakes</c:v>
          </c:tx>
          <c:spPr>
            <a:ln w="23813">
              <a:solidFill>
                <a:srgbClr val="C45C28"/>
              </a:solidFill>
              <a:prstDash val="solid"/>
            </a:ln>
          </c:spPr>
          <c:marker>
            <c:symbol val="none"/>
          </c:marker>
          <c:xVal>
            <c:numRef>
              <c:f>'Chart Data'!$BO$2:$BO$3</c:f>
              <c:numCache>
                <c:formatCode>General</c:formatCode>
                <c:ptCount val="2"/>
                <c:pt idx="0">
                  <c:v>-5.2889999999999997</c:v>
                </c:pt>
                <c:pt idx="1">
                  <c:v>-5.2279999999999998</c:v>
                </c:pt>
              </c:numCache>
            </c:numRef>
          </c:xVal>
          <c:yVal>
            <c:numRef>
              <c:f>'Chart Data'!$BP$2:$BP$3</c:f>
              <c:numCache>
                <c:formatCode>General</c:formatCode>
                <c:ptCount val="2"/>
                <c:pt idx="0">
                  <c:v>18</c:v>
                </c:pt>
                <c:pt idx="1">
                  <c:v>18</c:v>
                </c:pt>
              </c:numCache>
            </c:numRef>
          </c:yVal>
          <c:smooth val="0"/>
          <c:extLst>
            <c:ext xmlns:c16="http://schemas.microsoft.com/office/drawing/2014/chart" uri="{C3380CC4-5D6E-409C-BE32-E72D297353CC}">
              <c16:uniqueId val="{00000000-37C8-4FB6-A12D-299BC3303051}"/>
            </c:ext>
          </c:extLst>
        </c:ser>
        <c:ser>
          <c:idx val="34"/>
          <c:order val="34"/>
          <c:tx>
            <c:v>Mistakes</c:v>
          </c:tx>
          <c:spPr>
            <a:ln w="23813">
              <a:solidFill>
                <a:srgbClr val="C45C28"/>
              </a:solidFill>
              <a:prstDash val="solid"/>
            </a:ln>
          </c:spPr>
          <c:marker>
            <c:symbol val="none"/>
          </c:marker>
          <c:xVal>
            <c:numRef>
              <c:f>'Chart Data'!$BQ$2:$BQ$3</c:f>
              <c:numCache>
                <c:formatCode>General</c:formatCode>
                <c:ptCount val="2"/>
                <c:pt idx="0">
                  <c:v>-5.2279999999999998</c:v>
                </c:pt>
                <c:pt idx="1">
                  <c:v>-5.2130000000000001</c:v>
                </c:pt>
              </c:numCache>
            </c:numRef>
          </c:xVal>
          <c:yVal>
            <c:numRef>
              <c:f>'Chart Data'!$BR$2:$BR$3</c:f>
              <c:numCache>
                <c:formatCode>General</c:formatCode>
                <c:ptCount val="2"/>
                <c:pt idx="0">
                  <c:v>17</c:v>
                </c:pt>
                <c:pt idx="1">
                  <c:v>17</c:v>
                </c:pt>
              </c:numCache>
            </c:numRef>
          </c:yVal>
          <c:smooth val="0"/>
          <c:extLst>
            <c:ext xmlns:c16="http://schemas.microsoft.com/office/drawing/2014/chart" uri="{C3380CC4-5D6E-409C-BE32-E72D297353CC}">
              <c16:uniqueId val="{00000000-37C8-4FB6-A12D-299BC3303051}"/>
            </c:ext>
          </c:extLst>
        </c:ser>
        <c:ser>
          <c:idx val="35"/>
          <c:order val="35"/>
          <c:tx>
            <c:v>Mistakes</c:v>
          </c:tx>
          <c:spPr>
            <a:ln w="23813">
              <a:solidFill>
                <a:srgbClr val="C45C28"/>
              </a:solidFill>
              <a:prstDash val="solid"/>
            </a:ln>
          </c:spPr>
          <c:marker>
            <c:symbol val="none"/>
          </c:marker>
          <c:xVal>
            <c:numRef>
              <c:f>'Chart Data'!$BS$2:$BS$3</c:f>
              <c:numCache>
                <c:formatCode>General</c:formatCode>
                <c:ptCount val="2"/>
                <c:pt idx="0">
                  <c:v>-5.2130000000000001</c:v>
                </c:pt>
                <c:pt idx="1">
                  <c:v>-5.2080000000000002</c:v>
                </c:pt>
              </c:numCache>
            </c:numRef>
          </c:xVal>
          <c:yVal>
            <c:numRef>
              <c:f>'Chart Data'!$BT$2:$BT$3</c:f>
              <c:numCache>
                <c:formatCode>General</c:formatCode>
                <c:ptCount val="2"/>
                <c:pt idx="0">
                  <c:v>16</c:v>
                </c:pt>
                <c:pt idx="1">
                  <c:v>16</c:v>
                </c:pt>
              </c:numCache>
            </c:numRef>
          </c:yVal>
          <c:smooth val="0"/>
          <c:extLst>
            <c:ext xmlns:c16="http://schemas.microsoft.com/office/drawing/2014/chart" uri="{C3380CC4-5D6E-409C-BE32-E72D297353CC}">
              <c16:uniqueId val="{00000000-37C8-4FB6-A12D-299BC3303051}"/>
            </c:ext>
          </c:extLst>
        </c:ser>
        <c:ser>
          <c:idx val="36"/>
          <c:order val="36"/>
          <c:tx>
            <c:v>Mistakes</c:v>
          </c:tx>
          <c:spPr>
            <a:ln w="23813">
              <a:solidFill>
                <a:srgbClr val="C45C28"/>
              </a:solidFill>
              <a:prstDash val="solid"/>
            </a:ln>
          </c:spPr>
          <c:marker>
            <c:symbol val="none"/>
          </c:marker>
          <c:xVal>
            <c:numRef>
              <c:f>'Chart Data'!$BU$2:$BU$3</c:f>
              <c:numCache>
                <c:formatCode>General</c:formatCode>
                <c:ptCount val="2"/>
                <c:pt idx="0">
                  <c:v>-5.2080000000000002</c:v>
                </c:pt>
                <c:pt idx="1">
                  <c:v>-5.19</c:v>
                </c:pt>
              </c:numCache>
            </c:numRef>
          </c:xVal>
          <c:yVal>
            <c:numRef>
              <c:f>'Chart Data'!$BV$2:$BV$3</c:f>
              <c:numCache>
                <c:formatCode>General</c:formatCode>
                <c:ptCount val="2"/>
                <c:pt idx="0">
                  <c:v>15</c:v>
                </c:pt>
                <c:pt idx="1">
                  <c:v>15</c:v>
                </c:pt>
              </c:numCache>
            </c:numRef>
          </c:yVal>
          <c:smooth val="0"/>
          <c:extLst>
            <c:ext xmlns:c16="http://schemas.microsoft.com/office/drawing/2014/chart" uri="{C3380CC4-5D6E-409C-BE32-E72D297353CC}">
              <c16:uniqueId val="{00000000-37C8-4FB6-A12D-299BC3303051}"/>
            </c:ext>
          </c:extLst>
        </c:ser>
        <c:ser>
          <c:idx val="37"/>
          <c:order val="37"/>
          <c:tx>
            <c:v>Mistakes</c:v>
          </c:tx>
          <c:spPr>
            <a:ln w="23813">
              <a:solidFill>
                <a:srgbClr val="C45C28"/>
              </a:solidFill>
              <a:prstDash val="solid"/>
            </a:ln>
          </c:spPr>
          <c:marker>
            <c:symbol val="none"/>
          </c:marker>
          <c:xVal>
            <c:numRef>
              <c:f>'Chart Data'!$BW$2:$BW$3</c:f>
              <c:numCache>
                <c:formatCode>General</c:formatCode>
                <c:ptCount val="2"/>
                <c:pt idx="0">
                  <c:v>-5.19</c:v>
                </c:pt>
                <c:pt idx="1">
                  <c:v>-5.14</c:v>
                </c:pt>
              </c:numCache>
            </c:numRef>
          </c:xVal>
          <c:yVal>
            <c:numRef>
              <c:f>'Chart Data'!$BX$2:$BX$3</c:f>
              <c:numCache>
                <c:formatCode>General</c:formatCode>
                <c:ptCount val="2"/>
                <c:pt idx="0">
                  <c:v>14</c:v>
                </c:pt>
                <c:pt idx="1">
                  <c:v>14</c:v>
                </c:pt>
              </c:numCache>
            </c:numRef>
          </c:yVal>
          <c:smooth val="0"/>
          <c:extLst>
            <c:ext xmlns:c16="http://schemas.microsoft.com/office/drawing/2014/chart" uri="{C3380CC4-5D6E-409C-BE32-E72D297353CC}">
              <c16:uniqueId val="{00000000-37C8-4FB6-A12D-299BC3303051}"/>
            </c:ext>
          </c:extLst>
        </c:ser>
        <c:ser>
          <c:idx val="38"/>
          <c:order val="38"/>
          <c:tx>
            <c:v>Mistakes</c:v>
          </c:tx>
          <c:spPr>
            <a:ln w="23813">
              <a:solidFill>
                <a:srgbClr val="C45C28"/>
              </a:solidFill>
              <a:prstDash val="solid"/>
            </a:ln>
          </c:spPr>
          <c:marker>
            <c:symbol val="none"/>
          </c:marker>
          <c:xVal>
            <c:numRef>
              <c:f>'Chart Data'!$BY$2:$BY$3</c:f>
              <c:numCache>
                <c:formatCode>General</c:formatCode>
                <c:ptCount val="2"/>
                <c:pt idx="0">
                  <c:v>-5.14</c:v>
                </c:pt>
                <c:pt idx="1">
                  <c:v>-5.1349999999999998</c:v>
                </c:pt>
              </c:numCache>
            </c:numRef>
          </c:xVal>
          <c:yVal>
            <c:numRef>
              <c:f>'Chart Data'!$BZ$2:$BZ$3</c:f>
              <c:numCache>
                <c:formatCode>General</c:formatCode>
                <c:ptCount val="2"/>
                <c:pt idx="0">
                  <c:v>13</c:v>
                </c:pt>
                <c:pt idx="1">
                  <c:v>13</c:v>
                </c:pt>
              </c:numCache>
            </c:numRef>
          </c:yVal>
          <c:smooth val="0"/>
          <c:extLst>
            <c:ext xmlns:c16="http://schemas.microsoft.com/office/drawing/2014/chart" uri="{C3380CC4-5D6E-409C-BE32-E72D297353CC}">
              <c16:uniqueId val="{00000000-37C8-4FB6-A12D-299BC3303051}"/>
            </c:ext>
          </c:extLst>
        </c:ser>
        <c:ser>
          <c:idx val="39"/>
          <c:order val="39"/>
          <c:tx>
            <c:v>Mistakes</c:v>
          </c:tx>
          <c:spPr>
            <a:ln w="23813">
              <a:solidFill>
                <a:srgbClr val="C45C28"/>
              </a:solidFill>
              <a:prstDash val="solid"/>
            </a:ln>
          </c:spPr>
          <c:marker>
            <c:symbol val="none"/>
          </c:marker>
          <c:xVal>
            <c:numRef>
              <c:f>'Chart Data'!$CA$2:$CA$3</c:f>
              <c:numCache>
                <c:formatCode>General</c:formatCode>
                <c:ptCount val="2"/>
                <c:pt idx="0">
                  <c:v>-5.1349999999999998</c:v>
                </c:pt>
                <c:pt idx="1">
                  <c:v>-5.1210000000000004</c:v>
                </c:pt>
              </c:numCache>
            </c:numRef>
          </c:xVal>
          <c:yVal>
            <c:numRef>
              <c:f>'Chart Data'!$CB$2:$CB$3</c:f>
              <c:numCache>
                <c:formatCode>General</c:formatCode>
                <c:ptCount val="2"/>
                <c:pt idx="0">
                  <c:v>12</c:v>
                </c:pt>
                <c:pt idx="1">
                  <c:v>12</c:v>
                </c:pt>
              </c:numCache>
            </c:numRef>
          </c:yVal>
          <c:smooth val="0"/>
          <c:extLst>
            <c:ext xmlns:c16="http://schemas.microsoft.com/office/drawing/2014/chart" uri="{C3380CC4-5D6E-409C-BE32-E72D297353CC}">
              <c16:uniqueId val="{00000000-37C8-4FB6-A12D-299BC3303051}"/>
            </c:ext>
          </c:extLst>
        </c:ser>
        <c:ser>
          <c:idx val="40"/>
          <c:order val="40"/>
          <c:tx>
            <c:v>Mistakes</c:v>
          </c:tx>
          <c:spPr>
            <a:ln w="23813">
              <a:solidFill>
                <a:srgbClr val="C45C28"/>
              </a:solidFill>
              <a:prstDash val="solid"/>
            </a:ln>
          </c:spPr>
          <c:marker>
            <c:symbol val="none"/>
          </c:marker>
          <c:xVal>
            <c:numRef>
              <c:f>'Chart Data'!$CC$2:$CC$3</c:f>
              <c:numCache>
                <c:formatCode>General</c:formatCode>
                <c:ptCount val="2"/>
                <c:pt idx="0">
                  <c:v>-5.1210000000000004</c:v>
                </c:pt>
                <c:pt idx="1">
                  <c:v>-5.0510000000000002</c:v>
                </c:pt>
              </c:numCache>
            </c:numRef>
          </c:xVal>
          <c:yVal>
            <c:numRef>
              <c:f>'Chart Data'!$CD$2:$CD$3</c:f>
              <c:numCache>
                <c:formatCode>General</c:formatCode>
                <c:ptCount val="2"/>
                <c:pt idx="0">
                  <c:v>11</c:v>
                </c:pt>
                <c:pt idx="1">
                  <c:v>11</c:v>
                </c:pt>
              </c:numCache>
            </c:numRef>
          </c:yVal>
          <c:smooth val="0"/>
          <c:extLst>
            <c:ext xmlns:c16="http://schemas.microsoft.com/office/drawing/2014/chart" uri="{C3380CC4-5D6E-409C-BE32-E72D297353CC}">
              <c16:uniqueId val="{00000000-37C8-4FB6-A12D-299BC3303051}"/>
            </c:ext>
          </c:extLst>
        </c:ser>
        <c:ser>
          <c:idx val="41"/>
          <c:order val="41"/>
          <c:tx>
            <c:v>Mistakes</c:v>
          </c:tx>
          <c:spPr>
            <a:ln w="23813">
              <a:solidFill>
                <a:srgbClr val="C45C28"/>
              </a:solidFill>
              <a:prstDash val="solid"/>
            </a:ln>
          </c:spPr>
          <c:marker>
            <c:symbol val="none"/>
          </c:marker>
          <c:xVal>
            <c:numRef>
              <c:f>'Chart Data'!$CE$2:$CE$3</c:f>
              <c:numCache>
                <c:formatCode>General</c:formatCode>
                <c:ptCount val="2"/>
                <c:pt idx="0">
                  <c:v>-5.0510000000000002</c:v>
                </c:pt>
                <c:pt idx="1">
                  <c:v>-5.0339999999999998</c:v>
                </c:pt>
              </c:numCache>
            </c:numRef>
          </c:xVal>
          <c:yVal>
            <c:numRef>
              <c:f>'Chart Data'!$CF$2:$CF$3</c:f>
              <c:numCache>
                <c:formatCode>General</c:formatCode>
                <c:ptCount val="2"/>
                <c:pt idx="0">
                  <c:v>10</c:v>
                </c:pt>
                <c:pt idx="1">
                  <c:v>10</c:v>
                </c:pt>
              </c:numCache>
            </c:numRef>
          </c:yVal>
          <c:smooth val="0"/>
          <c:extLst>
            <c:ext xmlns:c16="http://schemas.microsoft.com/office/drawing/2014/chart" uri="{C3380CC4-5D6E-409C-BE32-E72D297353CC}">
              <c16:uniqueId val="{00000000-37C8-4FB6-A12D-299BC3303051}"/>
            </c:ext>
          </c:extLst>
        </c:ser>
        <c:ser>
          <c:idx val="42"/>
          <c:order val="42"/>
          <c:tx>
            <c:v>Mistakes</c:v>
          </c:tx>
          <c:spPr>
            <a:ln w="23813">
              <a:solidFill>
                <a:srgbClr val="C45C28"/>
              </a:solidFill>
              <a:prstDash val="solid"/>
            </a:ln>
          </c:spPr>
          <c:marker>
            <c:symbol val="none"/>
          </c:marker>
          <c:xVal>
            <c:numRef>
              <c:f>'Chart Data'!$CG$2:$CG$3</c:f>
              <c:numCache>
                <c:formatCode>General</c:formatCode>
                <c:ptCount val="2"/>
                <c:pt idx="0">
                  <c:v>-5.0339999999999998</c:v>
                </c:pt>
                <c:pt idx="1">
                  <c:v>-5.016</c:v>
                </c:pt>
              </c:numCache>
            </c:numRef>
          </c:xVal>
          <c:yVal>
            <c:numRef>
              <c:f>'Chart Data'!$CH$2:$CH$3</c:f>
              <c:numCache>
                <c:formatCode>General</c:formatCode>
                <c:ptCount val="2"/>
                <c:pt idx="0">
                  <c:v>9</c:v>
                </c:pt>
                <c:pt idx="1">
                  <c:v>9</c:v>
                </c:pt>
              </c:numCache>
            </c:numRef>
          </c:yVal>
          <c:smooth val="0"/>
          <c:extLst>
            <c:ext xmlns:c16="http://schemas.microsoft.com/office/drawing/2014/chart" uri="{C3380CC4-5D6E-409C-BE32-E72D297353CC}">
              <c16:uniqueId val="{00000000-37C8-4FB6-A12D-299BC3303051}"/>
            </c:ext>
          </c:extLst>
        </c:ser>
        <c:ser>
          <c:idx val="43"/>
          <c:order val="43"/>
          <c:tx>
            <c:v>Mistakes</c:v>
          </c:tx>
          <c:spPr>
            <a:ln w="23813">
              <a:solidFill>
                <a:srgbClr val="C45C28"/>
              </a:solidFill>
              <a:prstDash val="solid"/>
            </a:ln>
          </c:spPr>
          <c:marker>
            <c:symbol val="none"/>
          </c:marker>
          <c:xVal>
            <c:numRef>
              <c:f>'Chart Data'!$CI$2:$CI$3</c:f>
              <c:numCache>
                <c:formatCode>General</c:formatCode>
                <c:ptCount val="2"/>
                <c:pt idx="0">
                  <c:v>-5.016</c:v>
                </c:pt>
                <c:pt idx="1">
                  <c:v>-4.9630000000000001</c:v>
                </c:pt>
              </c:numCache>
            </c:numRef>
          </c:xVal>
          <c:yVal>
            <c:numRef>
              <c:f>'Chart Data'!$CJ$2:$CJ$3</c:f>
              <c:numCache>
                <c:formatCode>General</c:formatCode>
                <c:ptCount val="2"/>
                <c:pt idx="0">
                  <c:v>8</c:v>
                </c:pt>
                <c:pt idx="1">
                  <c:v>8</c:v>
                </c:pt>
              </c:numCache>
            </c:numRef>
          </c:yVal>
          <c:smooth val="0"/>
          <c:extLst>
            <c:ext xmlns:c16="http://schemas.microsoft.com/office/drawing/2014/chart" uri="{C3380CC4-5D6E-409C-BE32-E72D297353CC}">
              <c16:uniqueId val="{00000000-37C8-4FB6-A12D-299BC3303051}"/>
            </c:ext>
          </c:extLst>
        </c:ser>
        <c:ser>
          <c:idx val="44"/>
          <c:order val="44"/>
          <c:tx>
            <c:v>Mistakes</c:v>
          </c:tx>
          <c:spPr>
            <a:ln w="23813">
              <a:solidFill>
                <a:srgbClr val="C45C28"/>
              </a:solidFill>
              <a:prstDash val="solid"/>
            </a:ln>
          </c:spPr>
          <c:marker>
            <c:symbol val="none"/>
          </c:marker>
          <c:xVal>
            <c:numRef>
              <c:f>'Chart Data'!$CK$2:$CK$3</c:f>
              <c:numCache>
                <c:formatCode>General</c:formatCode>
                <c:ptCount val="2"/>
                <c:pt idx="0">
                  <c:v>-4.9630000000000001</c:v>
                </c:pt>
                <c:pt idx="1">
                  <c:v>-4.9580000000000002</c:v>
                </c:pt>
              </c:numCache>
            </c:numRef>
          </c:xVal>
          <c:yVal>
            <c:numRef>
              <c:f>'Chart Data'!$CL$2:$CL$3</c:f>
              <c:numCache>
                <c:formatCode>General</c:formatCode>
                <c:ptCount val="2"/>
                <c:pt idx="0">
                  <c:v>7</c:v>
                </c:pt>
                <c:pt idx="1">
                  <c:v>7</c:v>
                </c:pt>
              </c:numCache>
            </c:numRef>
          </c:yVal>
          <c:smooth val="0"/>
          <c:extLst>
            <c:ext xmlns:c16="http://schemas.microsoft.com/office/drawing/2014/chart" uri="{C3380CC4-5D6E-409C-BE32-E72D297353CC}">
              <c16:uniqueId val="{00000000-37C8-4FB6-A12D-299BC3303051}"/>
            </c:ext>
          </c:extLst>
        </c:ser>
        <c:ser>
          <c:idx val="45"/>
          <c:order val="45"/>
          <c:tx>
            <c:v>Mistakes</c:v>
          </c:tx>
          <c:spPr>
            <a:ln w="23813">
              <a:solidFill>
                <a:srgbClr val="C45C28"/>
              </a:solidFill>
              <a:prstDash val="solid"/>
            </a:ln>
          </c:spPr>
          <c:marker>
            <c:symbol val="none"/>
          </c:marker>
          <c:xVal>
            <c:numRef>
              <c:f>'Chart Data'!$CM$2:$CM$3</c:f>
              <c:numCache>
                <c:formatCode>General</c:formatCode>
                <c:ptCount val="2"/>
                <c:pt idx="0">
                  <c:v>-4.9580000000000002</c:v>
                </c:pt>
                <c:pt idx="1">
                  <c:v>-4.9459999999999997</c:v>
                </c:pt>
              </c:numCache>
            </c:numRef>
          </c:xVal>
          <c:yVal>
            <c:numRef>
              <c:f>'Chart Data'!$CN$2:$CN$3</c:f>
              <c:numCache>
                <c:formatCode>General</c:formatCode>
                <c:ptCount val="2"/>
                <c:pt idx="0">
                  <c:v>6</c:v>
                </c:pt>
                <c:pt idx="1">
                  <c:v>6</c:v>
                </c:pt>
              </c:numCache>
            </c:numRef>
          </c:yVal>
          <c:smooth val="0"/>
          <c:extLst>
            <c:ext xmlns:c16="http://schemas.microsoft.com/office/drawing/2014/chart" uri="{C3380CC4-5D6E-409C-BE32-E72D297353CC}">
              <c16:uniqueId val="{00000000-37C8-4FB6-A12D-299BC3303051}"/>
            </c:ext>
          </c:extLst>
        </c:ser>
        <c:ser>
          <c:idx val="46"/>
          <c:order val="46"/>
          <c:tx>
            <c:v>Mistakes</c:v>
          </c:tx>
          <c:spPr>
            <a:ln w="23813">
              <a:solidFill>
                <a:srgbClr val="C45C28"/>
              </a:solidFill>
              <a:prstDash val="solid"/>
            </a:ln>
          </c:spPr>
          <c:marker>
            <c:symbol val="none"/>
          </c:marker>
          <c:xVal>
            <c:numRef>
              <c:f>'Chart Data'!$CO$2:$CO$3</c:f>
              <c:numCache>
                <c:formatCode>General</c:formatCode>
                <c:ptCount val="2"/>
                <c:pt idx="0">
                  <c:v>-4.9459999999999997</c:v>
                </c:pt>
                <c:pt idx="1">
                  <c:v>-4.8949999999999996</c:v>
                </c:pt>
              </c:numCache>
            </c:numRef>
          </c:xVal>
          <c:yVal>
            <c:numRef>
              <c:f>'Chart Data'!$CP$2:$CP$3</c:f>
              <c:numCache>
                <c:formatCode>General</c:formatCode>
                <c:ptCount val="2"/>
                <c:pt idx="0">
                  <c:v>7</c:v>
                </c:pt>
                <c:pt idx="1">
                  <c:v>7</c:v>
                </c:pt>
              </c:numCache>
            </c:numRef>
          </c:yVal>
          <c:smooth val="0"/>
          <c:extLst>
            <c:ext xmlns:c16="http://schemas.microsoft.com/office/drawing/2014/chart" uri="{C3380CC4-5D6E-409C-BE32-E72D297353CC}">
              <c16:uniqueId val="{00000000-37C8-4FB6-A12D-299BC3303051}"/>
            </c:ext>
          </c:extLst>
        </c:ser>
        <c:ser>
          <c:idx val="47"/>
          <c:order val="47"/>
          <c:tx>
            <c:v>Mistakes</c:v>
          </c:tx>
          <c:spPr>
            <a:ln w="23813">
              <a:solidFill>
                <a:srgbClr val="C45C28"/>
              </a:solidFill>
              <a:prstDash val="solid"/>
            </a:ln>
          </c:spPr>
          <c:marker>
            <c:symbol val="none"/>
          </c:marker>
          <c:xVal>
            <c:numRef>
              <c:f>'Chart Data'!$CQ$2:$CQ$3</c:f>
              <c:numCache>
                <c:formatCode>General</c:formatCode>
                <c:ptCount val="2"/>
                <c:pt idx="0">
                  <c:v>-4.8949999999999996</c:v>
                </c:pt>
                <c:pt idx="1">
                  <c:v>-4.8840000000000003</c:v>
                </c:pt>
              </c:numCache>
            </c:numRef>
          </c:xVal>
          <c:yVal>
            <c:numRef>
              <c:f>'Chart Data'!$CR$2:$CR$3</c:f>
              <c:numCache>
                <c:formatCode>General</c:formatCode>
                <c:ptCount val="2"/>
                <c:pt idx="0">
                  <c:v>6</c:v>
                </c:pt>
                <c:pt idx="1">
                  <c:v>6</c:v>
                </c:pt>
              </c:numCache>
            </c:numRef>
          </c:yVal>
          <c:smooth val="0"/>
          <c:extLst>
            <c:ext xmlns:c16="http://schemas.microsoft.com/office/drawing/2014/chart" uri="{C3380CC4-5D6E-409C-BE32-E72D297353CC}">
              <c16:uniqueId val="{00000000-37C8-4FB6-A12D-299BC3303051}"/>
            </c:ext>
          </c:extLst>
        </c:ser>
        <c:ser>
          <c:idx val="48"/>
          <c:order val="48"/>
          <c:tx>
            <c:v>Mistakes</c:v>
          </c:tx>
          <c:spPr>
            <a:ln w="23813">
              <a:solidFill>
                <a:srgbClr val="C45C28"/>
              </a:solidFill>
              <a:prstDash val="solid"/>
            </a:ln>
          </c:spPr>
          <c:marker>
            <c:symbol val="none"/>
          </c:marker>
          <c:xVal>
            <c:numRef>
              <c:f>'Chart Data'!$CS$2:$CS$3</c:f>
              <c:numCache>
                <c:formatCode>General</c:formatCode>
                <c:ptCount val="2"/>
                <c:pt idx="0">
                  <c:v>-4.8840000000000003</c:v>
                </c:pt>
                <c:pt idx="1">
                  <c:v>-4.875</c:v>
                </c:pt>
              </c:numCache>
            </c:numRef>
          </c:xVal>
          <c:yVal>
            <c:numRef>
              <c:f>'Chart Data'!$CT$2:$CT$3</c:f>
              <c:numCache>
                <c:formatCode>General</c:formatCode>
                <c:ptCount val="2"/>
                <c:pt idx="0">
                  <c:v>5</c:v>
                </c:pt>
                <c:pt idx="1">
                  <c:v>5</c:v>
                </c:pt>
              </c:numCache>
            </c:numRef>
          </c:yVal>
          <c:smooth val="0"/>
          <c:extLst>
            <c:ext xmlns:c16="http://schemas.microsoft.com/office/drawing/2014/chart" uri="{C3380CC4-5D6E-409C-BE32-E72D297353CC}">
              <c16:uniqueId val="{00000000-37C8-4FB6-A12D-299BC3303051}"/>
            </c:ext>
          </c:extLst>
        </c:ser>
        <c:ser>
          <c:idx val="49"/>
          <c:order val="49"/>
          <c:tx>
            <c:v>Mistakes</c:v>
          </c:tx>
          <c:spPr>
            <a:ln w="23813">
              <a:solidFill>
                <a:srgbClr val="C45C28"/>
              </a:solidFill>
              <a:prstDash val="solid"/>
            </a:ln>
          </c:spPr>
          <c:marker>
            <c:symbol val="none"/>
          </c:marker>
          <c:xVal>
            <c:numRef>
              <c:f>'Chart Data'!$CU$2:$CU$3</c:f>
              <c:numCache>
                <c:formatCode>General</c:formatCode>
                <c:ptCount val="2"/>
                <c:pt idx="0">
                  <c:v>-4.875</c:v>
                </c:pt>
                <c:pt idx="1">
                  <c:v>-4.8730000000000002</c:v>
                </c:pt>
              </c:numCache>
            </c:numRef>
          </c:xVal>
          <c:yVal>
            <c:numRef>
              <c:f>'Chart Data'!$CV$2:$CV$3</c:f>
              <c:numCache>
                <c:formatCode>General</c:formatCode>
                <c:ptCount val="2"/>
                <c:pt idx="0">
                  <c:v>6</c:v>
                </c:pt>
                <c:pt idx="1">
                  <c:v>6</c:v>
                </c:pt>
              </c:numCache>
            </c:numRef>
          </c:yVal>
          <c:smooth val="0"/>
          <c:extLst>
            <c:ext xmlns:c16="http://schemas.microsoft.com/office/drawing/2014/chart" uri="{C3380CC4-5D6E-409C-BE32-E72D297353CC}">
              <c16:uniqueId val="{00000000-37C8-4FB6-A12D-299BC3303051}"/>
            </c:ext>
          </c:extLst>
        </c:ser>
        <c:ser>
          <c:idx val="50"/>
          <c:order val="50"/>
          <c:tx>
            <c:v>Mistakes</c:v>
          </c:tx>
          <c:spPr>
            <a:ln w="23813">
              <a:solidFill>
                <a:srgbClr val="C45C28"/>
              </a:solidFill>
              <a:prstDash val="solid"/>
            </a:ln>
          </c:spPr>
          <c:marker>
            <c:symbol val="none"/>
          </c:marker>
          <c:xVal>
            <c:numRef>
              <c:f>'Chart Data'!$CW$2:$CW$3</c:f>
              <c:numCache>
                <c:formatCode>General</c:formatCode>
                <c:ptCount val="2"/>
                <c:pt idx="0">
                  <c:v>-4.8730000000000002</c:v>
                </c:pt>
                <c:pt idx="1">
                  <c:v>-4.8090000000000002</c:v>
                </c:pt>
              </c:numCache>
            </c:numRef>
          </c:xVal>
          <c:yVal>
            <c:numRef>
              <c:f>'Chart Data'!$CX$2:$CX$3</c:f>
              <c:numCache>
                <c:formatCode>General</c:formatCode>
                <c:ptCount val="2"/>
                <c:pt idx="0">
                  <c:v>7</c:v>
                </c:pt>
                <c:pt idx="1">
                  <c:v>7</c:v>
                </c:pt>
              </c:numCache>
            </c:numRef>
          </c:yVal>
          <c:smooth val="0"/>
          <c:extLst>
            <c:ext xmlns:c16="http://schemas.microsoft.com/office/drawing/2014/chart" uri="{C3380CC4-5D6E-409C-BE32-E72D297353CC}">
              <c16:uniqueId val="{00000000-37C8-4FB6-A12D-299BC3303051}"/>
            </c:ext>
          </c:extLst>
        </c:ser>
        <c:ser>
          <c:idx val="51"/>
          <c:order val="51"/>
          <c:tx>
            <c:v>Mistakes</c:v>
          </c:tx>
          <c:spPr>
            <a:ln w="23813">
              <a:solidFill>
                <a:srgbClr val="C45C28"/>
              </a:solidFill>
              <a:prstDash val="solid"/>
            </a:ln>
          </c:spPr>
          <c:marker>
            <c:symbol val="none"/>
          </c:marker>
          <c:xVal>
            <c:numRef>
              <c:f>'Chart Data'!$CY$2:$CY$3</c:f>
              <c:numCache>
                <c:formatCode>General</c:formatCode>
                <c:ptCount val="2"/>
                <c:pt idx="0">
                  <c:v>-4.8090000000000002</c:v>
                </c:pt>
                <c:pt idx="1">
                  <c:v>-4.806</c:v>
                </c:pt>
              </c:numCache>
            </c:numRef>
          </c:xVal>
          <c:yVal>
            <c:numRef>
              <c:f>'Chart Data'!$CZ$2:$CZ$3</c:f>
              <c:numCache>
                <c:formatCode>General</c:formatCode>
                <c:ptCount val="2"/>
                <c:pt idx="0">
                  <c:v>8</c:v>
                </c:pt>
                <c:pt idx="1">
                  <c:v>8</c:v>
                </c:pt>
              </c:numCache>
            </c:numRef>
          </c:yVal>
          <c:smooth val="0"/>
          <c:extLst>
            <c:ext xmlns:c16="http://schemas.microsoft.com/office/drawing/2014/chart" uri="{C3380CC4-5D6E-409C-BE32-E72D297353CC}">
              <c16:uniqueId val="{00000000-37C8-4FB6-A12D-299BC3303051}"/>
            </c:ext>
          </c:extLst>
        </c:ser>
        <c:ser>
          <c:idx val="52"/>
          <c:order val="52"/>
          <c:tx>
            <c:v>Mistakes</c:v>
          </c:tx>
          <c:spPr>
            <a:ln w="23813">
              <a:solidFill>
                <a:srgbClr val="C45C28"/>
              </a:solidFill>
              <a:prstDash val="solid"/>
            </a:ln>
          </c:spPr>
          <c:marker>
            <c:symbol val="none"/>
          </c:marker>
          <c:xVal>
            <c:numRef>
              <c:f>'Chart Data'!$DA$2:$DA$3</c:f>
              <c:numCache>
                <c:formatCode>General</c:formatCode>
                <c:ptCount val="2"/>
                <c:pt idx="0">
                  <c:v>-4.806</c:v>
                </c:pt>
                <c:pt idx="1">
                  <c:v>-4.7880000000000003</c:v>
                </c:pt>
              </c:numCache>
            </c:numRef>
          </c:xVal>
          <c:yVal>
            <c:numRef>
              <c:f>'Chart Data'!$DB$2:$DB$3</c:f>
              <c:numCache>
                <c:formatCode>General</c:formatCode>
                <c:ptCount val="2"/>
                <c:pt idx="0">
                  <c:v>7</c:v>
                </c:pt>
                <c:pt idx="1">
                  <c:v>7</c:v>
                </c:pt>
              </c:numCache>
            </c:numRef>
          </c:yVal>
          <c:smooth val="0"/>
          <c:extLst>
            <c:ext xmlns:c16="http://schemas.microsoft.com/office/drawing/2014/chart" uri="{C3380CC4-5D6E-409C-BE32-E72D297353CC}">
              <c16:uniqueId val="{00000000-37C8-4FB6-A12D-299BC3303051}"/>
            </c:ext>
          </c:extLst>
        </c:ser>
        <c:ser>
          <c:idx val="53"/>
          <c:order val="53"/>
          <c:tx>
            <c:v>Mistakes</c:v>
          </c:tx>
          <c:spPr>
            <a:ln w="23813">
              <a:solidFill>
                <a:srgbClr val="C45C28"/>
              </a:solidFill>
              <a:prstDash val="solid"/>
            </a:ln>
          </c:spPr>
          <c:marker>
            <c:symbol val="none"/>
          </c:marker>
          <c:xVal>
            <c:numRef>
              <c:f>'Chart Data'!$DC$2:$DC$3</c:f>
              <c:numCache>
                <c:formatCode>General</c:formatCode>
                <c:ptCount val="2"/>
                <c:pt idx="0">
                  <c:v>-4.7880000000000003</c:v>
                </c:pt>
                <c:pt idx="1">
                  <c:v>-4.718</c:v>
                </c:pt>
              </c:numCache>
            </c:numRef>
          </c:xVal>
          <c:yVal>
            <c:numRef>
              <c:f>'Chart Data'!$DD$2:$DD$3</c:f>
              <c:numCache>
                <c:formatCode>General</c:formatCode>
                <c:ptCount val="2"/>
                <c:pt idx="0">
                  <c:v>6</c:v>
                </c:pt>
                <c:pt idx="1">
                  <c:v>6</c:v>
                </c:pt>
              </c:numCache>
            </c:numRef>
          </c:yVal>
          <c:smooth val="0"/>
          <c:extLst>
            <c:ext xmlns:c16="http://schemas.microsoft.com/office/drawing/2014/chart" uri="{C3380CC4-5D6E-409C-BE32-E72D297353CC}">
              <c16:uniqueId val="{00000000-37C8-4FB6-A12D-299BC3303051}"/>
            </c:ext>
          </c:extLst>
        </c:ser>
        <c:ser>
          <c:idx val="54"/>
          <c:order val="54"/>
          <c:tx>
            <c:v>Mistakes</c:v>
          </c:tx>
          <c:spPr>
            <a:ln w="23813">
              <a:solidFill>
                <a:srgbClr val="C45C28"/>
              </a:solidFill>
              <a:prstDash val="solid"/>
            </a:ln>
          </c:spPr>
          <c:marker>
            <c:symbol val="none"/>
          </c:marker>
          <c:xVal>
            <c:numRef>
              <c:f>'Chart Data'!$DE$2:$DE$3</c:f>
              <c:numCache>
                <c:formatCode>General</c:formatCode>
                <c:ptCount val="2"/>
                <c:pt idx="0">
                  <c:v>-4.718</c:v>
                </c:pt>
                <c:pt idx="1">
                  <c:v>-4.7009999999999996</c:v>
                </c:pt>
              </c:numCache>
            </c:numRef>
          </c:xVal>
          <c:yVal>
            <c:numRef>
              <c:f>'Chart Data'!$DF$2:$DF$3</c:f>
              <c:numCache>
                <c:formatCode>General</c:formatCode>
                <c:ptCount val="2"/>
                <c:pt idx="0">
                  <c:v>7</c:v>
                </c:pt>
                <c:pt idx="1">
                  <c:v>7</c:v>
                </c:pt>
              </c:numCache>
            </c:numRef>
          </c:yVal>
          <c:smooth val="0"/>
          <c:extLst>
            <c:ext xmlns:c16="http://schemas.microsoft.com/office/drawing/2014/chart" uri="{C3380CC4-5D6E-409C-BE32-E72D297353CC}">
              <c16:uniqueId val="{00000000-37C8-4FB6-A12D-299BC3303051}"/>
            </c:ext>
          </c:extLst>
        </c:ser>
        <c:ser>
          <c:idx val="55"/>
          <c:order val="55"/>
          <c:tx>
            <c:v>Mistakes</c:v>
          </c:tx>
          <c:spPr>
            <a:ln w="23813">
              <a:solidFill>
                <a:srgbClr val="C45C28"/>
              </a:solidFill>
              <a:prstDash val="solid"/>
            </a:ln>
          </c:spPr>
          <c:marker>
            <c:symbol val="none"/>
          </c:marker>
          <c:xVal>
            <c:numRef>
              <c:f>'Chart Data'!$DG$2:$DG$3</c:f>
              <c:numCache>
                <c:formatCode>General</c:formatCode>
                <c:ptCount val="2"/>
                <c:pt idx="0">
                  <c:v>-4.7009999999999996</c:v>
                </c:pt>
                <c:pt idx="1">
                  <c:v>-4.6749999999999998</c:v>
                </c:pt>
              </c:numCache>
            </c:numRef>
          </c:xVal>
          <c:yVal>
            <c:numRef>
              <c:f>'Chart Data'!$DH$2:$DH$3</c:f>
              <c:numCache>
                <c:formatCode>General</c:formatCode>
                <c:ptCount val="2"/>
                <c:pt idx="0">
                  <c:v>8</c:v>
                </c:pt>
                <c:pt idx="1">
                  <c:v>8</c:v>
                </c:pt>
              </c:numCache>
            </c:numRef>
          </c:yVal>
          <c:smooth val="0"/>
          <c:extLst>
            <c:ext xmlns:c16="http://schemas.microsoft.com/office/drawing/2014/chart" uri="{C3380CC4-5D6E-409C-BE32-E72D297353CC}">
              <c16:uniqueId val="{00000000-37C8-4FB6-A12D-299BC3303051}"/>
            </c:ext>
          </c:extLst>
        </c:ser>
        <c:ser>
          <c:idx val="56"/>
          <c:order val="56"/>
          <c:tx>
            <c:v>Mistakes</c:v>
          </c:tx>
          <c:spPr>
            <a:ln w="23813">
              <a:solidFill>
                <a:srgbClr val="C45C28"/>
              </a:solidFill>
              <a:prstDash val="solid"/>
            </a:ln>
          </c:spPr>
          <c:marker>
            <c:symbol val="none"/>
          </c:marker>
          <c:xVal>
            <c:numRef>
              <c:f>'Chart Data'!$DI$2:$DI$3</c:f>
              <c:numCache>
                <c:formatCode>General</c:formatCode>
                <c:ptCount val="2"/>
                <c:pt idx="0">
                  <c:v>-4.6749999999999998</c:v>
                </c:pt>
                <c:pt idx="1">
                  <c:v>-4.6710000000000003</c:v>
                </c:pt>
              </c:numCache>
            </c:numRef>
          </c:xVal>
          <c:yVal>
            <c:numRef>
              <c:f>'Chart Data'!$DJ$2:$DJ$3</c:f>
              <c:numCache>
                <c:formatCode>General</c:formatCode>
                <c:ptCount val="2"/>
                <c:pt idx="0">
                  <c:v>9</c:v>
                </c:pt>
                <c:pt idx="1">
                  <c:v>9</c:v>
                </c:pt>
              </c:numCache>
            </c:numRef>
          </c:yVal>
          <c:smooth val="0"/>
          <c:extLst>
            <c:ext xmlns:c16="http://schemas.microsoft.com/office/drawing/2014/chart" uri="{C3380CC4-5D6E-409C-BE32-E72D297353CC}">
              <c16:uniqueId val="{00000000-37C8-4FB6-A12D-299BC3303051}"/>
            </c:ext>
          </c:extLst>
        </c:ser>
        <c:ser>
          <c:idx val="57"/>
          <c:order val="57"/>
          <c:tx>
            <c:v>Mistakes</c:v>
          </c:tx>
          <c:spPr>
            <a:ln w="23813">
              <a:solidFill>
                <a:srgbClr val="C45C28"/>
              </a:solidFill>
              <a:prstDash val="solid"/>
            </a:ln>
          </c:spPr>
          <c:marker>
            <c:symbol val="none"/>
          </c:marker>
          <c:xVal>
            <c:numRef>
              <c:f>'Chart Data'!$DK$2:$DK$3</c:f>
              <c:numCache>
                <c:formatCode>General</c:formatCode>
                <c:ptCount val="2"/>
                <c:pt idx="0">
                  <c:v>-4.6710000000000003</c:v>
                </c:pt>
                <c:pt idx="1">
                  <c:v>-4.6509999999999998</c:v>
                </c:pt>
              </c:numCache>
            </c:numRef>
          </c:xVal>
          <c:yVal>
            <c:numRef>
              <c:f>'Chart Data'!$DL$2:$DL$3</c:f>
              <c:numCache>
                <c:formatCode>General</c:formatCode>
                <c:ptCount val="2"/>
                <c:pt idx="0">
                  <c:v>10</c:v>
                </c:pt>
                <c:pt idx="1">
                  <c:v>10</c:v>
                </c:pt>
              </c:numCache>
            </c:numRef>
          </c:yVal>
          <c:smooth val="0"/>
          <c:extLst>
            <c:ext xmlns:c16="http://schemas.microsoft.com/office/drawing/2014/chart" uri="{C3380CC4-5D6E-409C-BE32-E72D297353CC}">
              <c16:uniqueId val="{00000000-37C8-4FB6-A12D-299BC3303051}"/>
            </c:ext>
          </c:extLst>
        </c:ser>
        <c:ser>
          <c:idx val="58"/>
          <c:order val="58"/>
          <c:tx>
            <c:v>Mistakes</c:v>
          </c:tx>
          <c:spPr>
            <a:ln w="23813">
              <a:solidFill>
                <a:srgbClr val="C45C28"/>
              </a:solidFill>
              <a:prstDash val="solid"/>
            </a:ln>
          </c:spPr>
          <c:marker>
            <c:symbol val="none"/>
          </c:marker>
          <c:xVal>
            <c:numRef>
              <c:f>'Chart Data'!$DM$2:$DM$3</c:f>
              <c:numCache>
                <c:formatCode>General</c:formatCode>
                <c:ptCount val="2"/>
                <c:pt idx="0">
                  <c:v>-4.6509999999999998</c:v>
                </c:pt>
                <c:pt idx="1">
                  <c:v>-4.6349999999999998</c:v>
                </c:pt>
              </c:numCache>
            </c:numRef>
          </c:xVal>
          <c:yVal>
            <c:numRef>
              <c:f>'Chart Data'!$DN$2:$DN$3</c:f>
              <c:numCache>
                <c:formatCode>General</c:formatCode>
                <c:ptCount val="2"/>
                <c:pt idx="0">
                  <c:v>11</c:v>
                </c:pt>
                <c:pt idx="1">
                  <c:v>11</c:v>
                </c:pt>
              </c:numCache>
            </c:numRef>
          </c:yVal>
          <c:smooth val="0"/>
          <c:extLst>
            <c:ext xmlns:c16="http://schemas.microsoft.com/office/drawing/2014/chart" uri="{C3380CC4-5D6E-409C-BE32-E72D297353CC}">
              <c16:uniqueId val="{00000000-37C8-4FB6-A12D-299BC3303051}"/>
            </c:ext>
          </c:extLst>
        </c:ser>
        <c:ser>
          <c:idx val="59"/>
          <c:order val="59"/>
          <c:tx>
            <c:v>Mistakes</c:v>
          </c:tx>
          <c:spPr>
            <a:ln w="23813">
              <a:solidFill>
                <a:srgbClr val="C45C28"/>
              </a:solidFill>
              <a:prstDash val="solid"/>
            </a:ln>
          </c:spPr>
          <c:marker>
            <c:symbol val="none"/>
          </c:marker>
          <c:xVal>
            <c:numRef>
              <c:f>'Chart Data'!$DO$2:$DO$3</c:f>
              <c:numCache>
                <c:formatCode>General</c:formatCode>
                <c:ptCount val="2"/>
                <c:pt idx="0">
                  <c:v>-4.6349999999999998</c:v>
                </c:pt>
                <c:pt idx="1">
                  <c:v>-4.6289999999999996</c:v>
                </c:pt>
              </c:numCache>
            </c:numRef>
          </c:xVal>
          <c:yVal>
            <c:numRef>
              <c:f>'Chart Data'!$DP$2:$DP$3</c:f>
              <c:numCache>
                <c:formatCode>General</c:formatCode>
                <c:ptCount val="2"/>
                <c:pt idx="0">
                  <c:v>12</c:v>
                </c:pt>
                <c:pt idx="1">
                  <c:v>12</c:v>
                </c:pt>
              </c:numCache>
            </c:numRef>
          </c:yVal>
          <c:smooth val="0"/>
          <c:extLst>
            <c:ext xmlns:c16="http://schemas.microsoft.com/office/drawing/2014/chart" uri="{C3380CC4-5D6E-409C-BE32-E72D297353CC}">
              <c16:uniqueId val="{00000000-37C8-4FB6-A12D-299BC3303051}"/>
            </c:ext>
          </c:extLst>
        </c:ser>
        <c:ser>
          <c:idx val="60"/>
          <c:order val="60"/>
          <c:tx>
            <c:v>Mistakes</c:v>
          </c:tx>
          <c:spPr>
            <a:ln w="23813">
              <a:solidFill>
                <a:srgbClr val="C45C28"/>
              </a:solidFill>
              <a:prstDash val="solid"/>
            </a:ln>
          </c:spPr>
          <c:marker>
            <c:symbol val="none"/>
          </c:marker>
          <c:xVal>
            <c:numRef>
              <c:f>'Chart Data'!$DQ$2:$DQ$3</c:f>
              <c:numCache>
                <c:formatCode>General</c:formatCode>
                <c:ptCount val="2"/>
                <c:pt idx="0">
                  <c:v>-4.6289999999999996</c:v>
                </c:pt>
                <c:pt idx="1">
                  <c:v>-4.5890000000000004</c:v>
                </c:pt>
              </c:numCache>
            </c:numRef>
          </c:xVal>
          <c:yVal>
            <c:numRef>
              <c:f>'Chart Data'!$DR$2:$DR$3</c:f>
              <c:numCache>
                <c:formatCode>General</c:formatCode>
                <c:ptCount val="2"/>
                <c:pt idx="0">
                  <c:v>13</c:v>
                </c:pt>
                <c:pt idx="1">
                  <c:v>13</c:v>
                </c:pt>
              </c:numCache>
            </c:numRef>
          </c:yVal>
          <c:smooth val="0"/>
          <c:extLst>
            <c:ext xmlns:c16="http://schemas.microsoft.com/office/drawing/2014/chart" uri="{C3380CC4-5D6E-409C-BE32-E72D297353CC}">
              <c16:uniqueId val="{00000000-37C8-4FB6-A12D-299BC3303051}"/>
            </c:ext>
          </c:extLst>
        </c:ser>
        <c:ser>
          <c:idx val="61"/>
          <c:order val="61"/>
          <c:tx>
            <c:v>Mistakes</c:v>
          </c:tx>
          <c:spPr>
            <a:ln w="23813">
              <a:solidFill>
                <a:srgbClr val="C45C28"/>
              </a:solidFill>
              <a:prstDash val="solid"/>
            </a:ln>
          </c:spPr>
          <c:marker>
            <c:symbol val="none"/>
          </c:marker>
          <c:xVal>
            <c:numRef>
              <c:f>'Chart Data'!$DS$2:$DS$3</c:f>
              <c:numCache>
                <c:formatCode>General</c:formatCode>
                <c:ptCount val="2"/>
                <c:pt idx="0">
                  <c:v>-4.5890000000000004</c:v>
                </c:pt>
                <c:pt idx="1">
                  <c:v>-4.5609999999999999</c:v>
                </c:pt>
              </c:numCache>
            </c:numRef>
          </c:xVal>
          <c:yVal>
            <c:numRef>
              <c:f>'Chart Data'!$DT$2:$DT$3</c:f>
              <c:numCache>
                <c:formatCode>General</c:formatCode>
                <c:ptCount val="2"/>
                <c:pt idx="0">
                  <c:v>14</c:v>
                </c:pt>
                <c:pt idx="1">
                  <c:v>14</c:v>
                </c:pt>
              </c:numCache>
            </c:numRef>
          </c:yVal>
          <c:smooth val="0"/>
          <c:extLst>
            <c:ext xmlns:c16="http://schemas.microsoft.com/office/drawing/2014/chart" uri="{C3380CC4-5D6E-409C-BE32-E72D297353CC}">
              <c16:uniqueId val="{00000000-37C8-4FB6-A12D-299BC3303051}"/>
            </c:ext>
          </c:extLst>
        </c:ser>
        <c:ser>
          <c:idx val="62"/>
          <c:order val="62"/>
          <c:tx>
            <c:v>Mistakes</c:v>
          </c:tx>
          <c:spPr>
            <a:ln w="23813">
              <a:solidFill>
                <a:srgbClr val="C45C28"/>
              </a:solidFill>
              <a:prstDash val="solid"/>
            </a:ln>
          </c:spPr>
          <c:marker>
            <c:symbol val="none"/>
          </c:marker>
          <c:xVal>
            <c:numRef>
              <c:f>'Chart Data'!$DU$2:$DU$3</c:f>
              <c:numCache>
                <c:formatCode>General</c:formatCode>
                <c:ptCount val="2"/>
                <c:pt idx="0">
                  <c:v>-4.5609999999999999</c:v>
                </c:pt>
                <c:pt idx="1">
                  <c:v>-4.5570000000000004</c:v>
                </c:pt>
              </c:numCache>
            </c:numRef>
          </c:xVal>
          <c:yVal>
            <c:numRef>
              <c:f>'Chart Data'!$DV$2:$DV$3</c:f>
              <c:numCache>
                <c:formatCode>General</c:formatCode>
                <c:ptCount val="2"/>
                <c:pt idx="0">
                  <c:v>15</c:v>
                </c:pt>
                <c:pt idx="1">
                  <c:v>15</c:v>
                </c:pt>
              </c:numCache>
            </c:numRef>
          </c:yVal>
          <c:smooth val="0"/>
          <c:extLst>
            <c:ext xmlns:c16="http://schemas.microsoft.com/office/drawing/2014/chart" uri="{C3380CC4-5D6E-409C-BE32-E72D297353CC}">
              <c16:uniqueId val="{00000000-37C8-4FB6-A12D-299BC3303051}"/>
            </c:ext>
          </c:extLst>
        </c:ser>
        <c:ser>
          <c:idx val="63"/>
          <c:order val="63"/>
          <c:tx>
            <c:v>Mistakes</c:v>
          </c:tx>
          <c:spPr>
            <a:ln w="23813">
              <a:solidFill>
                <a:srgbClr val="C45C28"/>
              </a:solidFill>
              <a:prstDash val="solid"/>
            </a:ln>
          </c:spPr>
          <c:marker>
            <c:symbol val="none"/>
          </c:marker>
          <c:xVal>
            <c:numRef>
              <c:f>'Chart Data'!$DW$2:$DW$3</c:f>
              <c:numCache>
                <c:formatCode>General</c:formatCode>
                <c:ptCount val="2"/>
                <c:pt idx="0">
                  <c:v>-4.5570000000000004</c:v>
                </c:pt>
                <c:pt idx="1">
                  <c:v>-4.5410000000000004</c:v>
                </c:pt>
              </c:numCache>
            </c:numRef>
          </c:xVal>
          <c:yVal>
            <c:numRef>
              <c:f>'Chart Data'!$DX$2:$DX$3</c:f>
              <c:numCache>
                <c:formatCode>General</c:formatCode>
                <c:ptCount val="2"/>
                <c:pt idx="0">
                  <c:v>16</c:v>
                </c:pt>
                <c:pt idx="1">
                  <c:v>16</c:v>
                </c:pt>
              </c:numCache>
            </c:numRef>
          </c:yVal>
          <c:smooth val="0"/>
          <c:extLst>
            <c:ext xmlns:c16="http://schemas.microsoft.com/office/drawing/2014/chart" uri="{C3380CC4-5D6E-409C-BE32-E72D297353CC}">
              <c16:uniqueId val="{00000000-37C8-4FB6-A12D-299BC3303051}"/>
            </c:ext>
          </c:extLst>
        </c:ser>
        <c:ser>
          <c:idx val="64"/>
          <c:order val="64"/>
          <c:tx>
            <c:v>Mistakes</c:v>
          </c:tx>
          <c:spPr>
            <a:ln w="23813">
              <a:solidFill>
                <a:srgbClr val="C45C28"/>
              </a:solidFill>
              <a:prstDash val="solid"/>
            </a:ln>
          </c:spPr>
          <c:marker>
            <c:symbol val="none"/>
          </c:marker>
          <c:xVal>
            <c:numRef>
              <c:f>'Chart Data'!$DY$2:$DY$3</c:f>
              <c:numCache>
                <c:formatCode>General</c:formatCode>
                <c:ptCount val="2"/>
                <c:pt idx="0">
                  <c:v>-4.5410000000000004</c:v>
                </c:pt>
                <c:pt idx="1">
                  <c:v>-4.5</c:v>
                </c:pt>
              </c:numCache>
            </c:numRef>
          </c:xVal>
          <c:yVal>
            <c:numRef>
              <c:f>'Chart Data'!$DZ$2:$DZ$3</c:f>
              <c:numCache>
                <c:formatCode>General</c:formatCode>
                <c:ptCount val="2"/>
                <c:pt idx="0">
                  <c:v>17</c:v>
                </c:pt>
                <c:pt idx="1">
                  <c:v>17</c:v>
                </c:pt>
              </c:numCache>
            </c:numRef>
          </c:yVal>
          <c:smooth val="0"/>
          <c:extLst>
            <c:ext xmlns:c16="http://schemas.microsoft.com/office/drawing/2014/chart" uri="{C3380CC4-5D6E-409C-BE32-E72D297353CC}">
              <c16:uniqueId val="{00000000-37C8-4FB6-A12D-299BC3303051}"/>
            </c:ext>
          </c:extLst>
        </c:ser>
        <c:ser>
          <c:idx val="65"/>
          <c:order val="65"/>
          <c:tx>
            <c:v>Mistakes</c:v>
          </c:tx>
          <c:spPr>
            <a:ln w="23813">
              <a:solidFill>
                <a:srgbClr val="C45C28"/>
              </a:solidFill>
              <a:prstDash val="solid"/>
            </a:ln>
          </c:spPr>
          <c:marker>
            <c:symbol val="none"/>
          </c:marker>
          <c:xVal>
            <c:numRef>
              <c:f>'Chart Data'!$EA$2:$EA$3</c:f>
              <c:numCache>
                <c:formatCode>General</c:formatCode>
                <c:ptCount val="2"/>
                <c:pt idx="0">
                  <c:v>-4.5</c:v>
                </c:pt>
                <c:pt idx="1">
                  <c:v>-4.4729999999999999</c:v>
                </c:pt>
              </c:numCache>
            </c:numRef>
          </c:xVal>
          <c:yVal>
            <c:numRef>
              <c:f>'Chart Data'!$EB$2:$EB$3</c:f>
              <c:numCache>
                <c:formatCode>General</c:formatCode>
                <c:ptCount val="2"/>
                <c:pt idx="0">
                  <c:v>16</c:v>
                </c:pt>
                <c:pt idx="1">
                  <c:v>16</c:v>
                </c:pt>
              </c:numCache>
            </c:numRef>
          </c:yVal>
          <c:smooth val="0"/>
          <c:extLst>
            <c:ext xmlns:c16="http://schemas.microsoft.com/office/drawing/2014/chart" uri="{C3380CC4-5D6E-409C-BE32-E72D297353CC}">
              <c16:uniqueId val="{00000000-37C8-4FB6-A12D-299BC3303051}"/>
            </c:ext>
          </c:extLst>
        </c:ser>
        <c:ser>
          <c:idx val="66"/>
          <c:order val="66"/>
          <c:tx>
            <c:v>Mistakes</c:v>
          </c:tx>
          <c:spPr>
            <a:ln w="23813">
              <a:solidFill>
                <a:srgbClr val="C45C28"/>
              </a:solidFill>
              <a:prstDash val="solid"/>
            </a:ln>
          </c:spPr>
          <c:marker>
            <c:symbol val="none"/>
          </c:marker>
          <c:xVal>
            <c:numRef>
              <c:f>'Chart Data'!$EC$2:$EC$3</c:f>
              <c:numCache>
                <c:formatCode>General</c:formatCode>
                <c:ptCount val="2"/>
                <c:pt idx="0">
                  <c:v>-4.4729999999999999</c:v>
                </c:pt>
                <c:pt idx="1">
                  <c:v>-4.4669999999999996</c:v>
                </c:pt>
              </c:numCache>
            </c:numRef>
          </c:xVal>
          <c:yVal>
            <c:numRef>
              <c:f>'Chart Data'!$ED$2:$ED$3</c:f>
              <c:numCache>
                <c:formatCode>General</c:formatCode>
                <c:ptCount val="2"/>
                <c:pt idx="0">
                  <c:v>17</c:v>
                </c:pt>
                <c:pt idx="1">
                  <c:v>17</c:v>
                </c:pt>
              </c:numCache>
            </c:numRef>
          </c:yVal>
          <c:smooth val="0"/>
          <c:extLst>
            <c:ext xmlns:c16="http://schemas.microsoft.com/office/drawing/2014/chart" uri="{C3380CC4-5D6E-409C-BE32-E72D297353CC}">
              <c16:uniqueId val="{00000000-37C8-4FB6-A12D-299BC3303051}"/>
            </c:ext>
          </c:extLst>
        </c:ser>
        <c:ser>
          <c:idx val="67"/>
          <c:order val="67"/>
          <c:tx>
            <c:v>Mistakes</c:v>
          </c:tx>
          <c:spPr>
            <a:ln w="23813">
              <a:solidFill>
                <a:srgbClr val="C45C28"/>
              </a:solidFill>
              <a:prstDash val="solid"/>
            </a:ln>
          </c:spPr>
          <c:marker>
            <c:symbol val="none"/>
          </c:marker>
          <c:xVal>
            <c:numRef>
              <c:f>'Chart Data'!$EE$2:$EE$3</c:f>
              <c:numCache>
                <c:formatCode>General</c:formatCode>
                <c:ptCount val="2"/>
                <c:pt idx="0">
                  <c:v>-4.4669999999999996</c:v>
                </c:pt>
                <c:pt idx="1">
                  <c:v>-4.4550000000000001</c:v>
                </c:pt>
              </c:numCache>
            </c:numRef>
          </c:xVal>
          <c:yVal>
            <c:numRef>
              <c:f>'Chart Data'!$EF$2:$EF$3</c:f>
              <c:numCache>
                <c:formatCode>General</c:formatCode>
                <c:ptCount val="2"/>
                <c:pt idx="0">
                  <c:v>18</c:v>
                </c:pt>
                <c:pt idx="1">
                  <c:v>18</c:v>
                </c:pt>
              </c:numCache>
            </c:numRef>
          </c:yVal>
          <c:smooth val="0"/>
          <c:extLst>
            <c:ext xmlns:c16="http://schemas.microsoft.com/office/drawing/2014/chart" uri="{C3380CC4-5D6E-409C-BE32-E72D297353CC}">
              <c16:uniqueId val="{00000000-37C8-4FB6-A12D-299BC3303051}"/>
            </c:ext>
          </c:extLst>
        </c:ser>
        <c:ser>
          <c:idx val="68"/>
          <c:order val="68"/>
          <c:tx>
            <c:v>Mistakes</c:v>
          </c:tx>
          <c:spPr>
            <a:ln w="23813">
              <a:solidFill>
                <a:srgbClr val="C45C28"/>
              </a:solidFill>
              <a:prstDash val="solid"/>
            </a:ln>
          </c:spPr>
          <c:marker>
            <c:symbol val="none"/>
          </c:marker>
          <c:xVal>
            <c:numRef>
              <c:f>'Chart Data'!$EG$2:$EG$3</c:f>
              <c:numCache>
                <c:formatCode>General</c:formatCode>
                <c:ptCount val="2"/>
                <c:pt idx="0">
                  <c:v>-4.4550000000000001</c:v>
                </c:pt>
                <c:pt idx="1">
                  <c:v>-4.3860000000000001</c:v>
                </c:pt>
              </c:numCache>
            </c:numRef>
          </c:xVal>
          <c:yVal>
            <c:numRef>
              <c:f>'Chart Data'!$EH$2:$EH$3</c:f>
              <c:numCache>
                <c:formatCode>General</c:formatCode>
                <c:ptCount val="2"/>
                <c:pt idx="0">
                  <c:v>19</c:v>
                </c:pt>
                <c:pt idx="1">
                  <c:v>19</c:v>
                </c:pt>
              </c:numCache>
            </c:numRef>
          </c:yVal>
          <c:smooth val="0"/>
          <c:extLst>
            <c:ext xmlns:c16="http://schemas.microsoft.com/office/drawing/2014/chart" uri="{C3380CC4-5D6E-409C-BE32-E72D297353CC}">
              <c16:uniqueId val="{00000000-37C8-4FB6-A12D-299BC3303051}"/>
            </c:ext>
          </c:extLst>
        </c:ser>
        <c:ser>
          <c:idx val="69"/>
          <c:order val="69"/>
          <c:tx>
            <c:v>Mistakes</c:v>
          </c:tx>
          <c:spPr>
            <a:ln w="23813">
              <a:solidFill>
                <a:srgbClr val="C45C28"/>
              </a:solidFill>
              <a:prstDash val="solid"/>
            </a:ln>
          </c:spPr>
          <c:marker>
            <c:symbol val="none"/>
          </c:marker>
          <c:xVal>
            <c:numRef>
              <c:f>'Chart Data'!$EI$2:$EI$3</c:f>
              <c:numCache>
                <c:formatCode>General</c:formatCode>
                <c:ptCount val="2"/>
                <c:pt idx="0">
                  <c:v>-4.3860000000000001</c:v>
                </c:pt>
                <c:pt idx="1">
                  <c:v>-4.3840000000000003</c:v>
                </c:pt>
              </c:numCache>
            </c:numRef>
          </c:xVal>
          <c:yVal>
            <c:numRef>
              <c:f>'Chart Data'!$EJ$2:$EJ$3</c:f>
              <c:numCache>
                <c:formatCode>General</c:formatCode>
                <c:ptCount val="2"/>
                <c:pt idx="0">
                  <c:v>20</c:v>
                </c:pt>
                <c:pt idx="1">
                  <c:v>20</c:v>
                </c:pt>
              </c:numCache>
            </c:numRef>
          </c:yVal>
          <c:smooth val="0"/>
          <c:extLst>
            <c:ext xmlns:c16="http://schemas.microsoft.com/office/drawing/2014/chart" uri="{C3380CC4-5D6E-409C-BE32-E72D297353CC}">
              <c16:uniqueId val="{00000000-37C8-4FB6-A12D-299BC3303051}"/>
            </c:ext>
          </c:extLst>
        </c:ser>
        <c:ser>
          <c:idx val="70"/>
          <c:order val="70"/>
          <c:tx>
            <c:v>Mistakes</c:v>
          </c:tx>
          <c:spPr>
            <a:ln w="23813">
              <a:solidFill>
                <a:srgbClr val="C45C28"/>
              </a:solidFill>
              <a:prstDash val="solid"/>
            </a:ln>
          </c:spPr>
          <c:marker>
            <c:symbol val="none"/>
          </c:marker>
          <c:xVal>
            <c:numRef>
              <c:f>'Chart Data'!$EK$2:$EK$3</c:f>
              <c:numCache>
                <c:formatCode>General</c:formatCode>
                <c:ptCount val="2"/>
                <c:pt idx="0">
                  <c:v>-4.3840000000000003</c:v>
                </c:pt>
                <c:pt idx="1">
                  <c:v>-4.3470000000000004</c:v>
                </c:pt>
              </c:numCache>
            </c:numRef>
          </c:xVal>
          <c:yVal>
            <c:numRef>
              <c:f>'Chart Data'!$EL$2:$EL$3</c:f>
              <c:numCache>
                <c:formatCode>General</c:formatCode>
                <c:ptCount val="2"/>
                <c:pt idx="0">
                  <c:v>21</c:v>
                </c:pt>
                <c:pt idx="1">
                  <c:v>21</c:v>
                </c:pt>
              </c:numCache>
            </c:numRef>
          </c:yVal>
          <c:smooth val="0"/>
          <c:extLst>
            <c:ext xmlns:c16="http://schemas.microsoft.com/office/drawing/2014/chart" uri="{C3380CC4-5D6E-409C-BE32-E72D297353CC}">
              <c16:uniqueId val="{00000000-37C8-4FB6-A12D-299BC3303051}"/>
            </c:ext>
          </c:extLst>
        </c:ser>
        <c:ser>
          <c:idx val="71"/>
          <c:order val="71"/>
          <c:tx>
            <c:v>Mistakes</c:v>
          </c:tx>
          <c:spPr>
            <a:ln w="23813">
              <a:solidFill>
                <a:srgbClr val="C45C28"/>
              </a:solidFill>
              <a:prstDash val="solid"/>
            </a:ln>
          </c:spPr>
          <c:marker>
            <c:symbol val="none"/>
          </c:marker>
          <c:xVal>
            <c:numRef>
              <c:f>'Chart Data'!$EM$2:$EM$3</c:f>
              <c:numCache>
                <c:formatCode>General</c:formatCode>
                <c:ptCount val="2"/>
                <c:pt idx="0">
                  <c:v>-4.3470000000000004</c:v>
                </c:pt>
                <c:pt idx="1">
                  <c:v>-4.3070000000000004</c:v>
                </c:pt>
              </c:numCache>
            </c:numRef>
          </c:xVal>
          <c:yVal>
            <c:numRef>
              <c:f>'Chart Data'!$EN$2:$EN$3</c:f>
              <c:numCache>
                <c:formatCode>General</c:formatCode>
                <c:ptCount val="2"/>
                <c:pt idx="0">
                  <c:v>22</c:v>
                </c:pt>
                <c:pt idx="1">
                  <c:v>22</c:v>
                </c:pt>
              </c:numCache>
            </c:numRef>
          </c:yVal>
          <c:smooth val="0"/>
          <c:extLst>
            <c:ext xmlns:c16="http://schemas.microsoft.com/office/drawing/2014/chart" uri="{C3380CC4-5D6E-409C-BE32-E72D297353CC}">
              <c16:uniqueId val="{00000000-37C8-4FB6-A12D-299BC3303051}"/>
            </c:ext>
          </c:extLst>
        </c:ser>
        <c:ser>
          <c:idx val="72"/>
          <c:order val="72"/>
          <c:tx>
            <c:v>Mistakes</c:v>
          </c:tx>
          <c:spPr>
            <a:ln w="23813">
              <a:solidFill>
                <a:srgbClr val="C45C28"/>
              </a:solidFill>
              <a:prstDash val="solid"/>
            </a:ln>
          </c:spPr>
          <c:marker>
            <c:symbol val="none"/>
          </c:marker>
          <c:xVal>
            <c:numRef>
              <c:f>'Chart Data'!$EO$2:$EO$3</c:f>
              <c:numCache>
                <c:formatCode>General</c:formatCode>
                <c:ptCount val="2"/>
                <c:pt idx="0">
                  <c:v>-4.3070000000000004</c:v>
                </c:pt>
                <c:pt idx="1">
                  <c:v>-4.2960000000000003</c:v>
                </c:pt>
              </c:numCache>
            </c:numRef>
          </c:xVal>
          <c:yVal>
            <c:numRef>
              <c:f>'Chart Data'!$EP$2:$EP$3</c:f>
              <c:numCache>
                <c:formatCode>General</c:formatCode>
                <c:ptCount val="2"/>
                <c:pt idx="0">
                  <c:v>23</c:v>
                </c:pt>
                <c:pt idx="1">
                  <c:v>23</c:v>
                </c:pt>
              </c:numCache>
            </c:numRef>
          </c:yVal>
          <c:smooth val="0"/>
          <c:extLst>
            <c:ext xmlns:c16="http://schemas.microsoft.com/office/drawing/2014/chart" uri="{C3380CC4-5D6E-409C-BE32-E72D297353CC}">
              <c16:uniqueId val="{00000000-37C8-4FB6-A12D-299BC3303051}"/>
            </c:ext>
          </c:extLst>
        </c:ser>
        <c:ser>
          <c:idx val="73"/>
          <c:order val="73"/>
          <c:tx>
            <c:v>Mistakes</c:v>
          </c:tx>
          <c:spPr>
            <a:ln w="23813">
              <a:solidFill>
                <a:srgbClr val="C45C28"/>
              </a:solidFill>
              <a:prstDash val="solid"/>
            </a:ln>
          </c:spPr>
          <c:marker>
            <c:symbol val="none"/>
          </c:marker>
          <c:xVal>
            <c:numRef>
              <c:f>'Chart Data'!$EQ$2:$EQ$3</c:f>
              <c:numCache>
                <c:formatCode>General</c:formatCode>
                <c:ptCount val="2"/>
                <c:pt idx="0">
                  <c:v>-4.2960000000000003</c:v>
                </c:pt>
                <c:pt idx="1">
                  <c:v>-4.2910000000000004</c:v>
                </c:pt>
              </c:numCache>
            </c:numRef>
          </c:xVal>
          <c:yVal>
            <c:numRef>
              <c:f>'Chart Data'!$ER$2:$ER$3</c:f>
              <c:numCache>
                <c:formatCode>General</c:formatCode>
                <c:ptCount val="2"/>
                <c:pt idx="0">
                  <c:v>24</c:v>
                </c:pt>
                <c:pt idx="1">
                  <c:v>24</c:v>
                </c:pt>
              </c:numCache>
            </c:numRef>
          </c:yVal>
          <c:smooth val="0"/>
          <c:extLst>
            <c:ext xmlns:c16="http://schemas.microsoft.com/office/drawing/2014/chart" uri="{C3380CC4-5D6E-409C-BE32-E72D297353CC}">
              <c16:uniqueId val="{00000000-37C8-4FB6-A12D-299BC3303051}"/>
            </c:ext>
          </c:extLst>
        </c:ser>
        <c:ser>
          <c:idx val="74"/>
          <c:order val="74"/>
          <c:tx>
            <c:v>Mistakes</c:v>
          </c:tx>
          <c:spPr>
            <a:ln w="23813">
              <a:solidFill>
                <a:srgbClr val="C45C28"/>
              </a:solidFill>
              <a:prstDash val="solid"/>
            </a:ln>
          </c:spPr>
          <c:marker>
            <c:symbol val="none"/>
          </c:marker>
          <c:xVal>
            <c:numRef>
              <c:f>'Chart Data'!$ES$2:$ES$3</c:f>
              <c:numCache>
                <c:formatCode>General</c:formatCode>
                <c:ptCount val="2"/>
                <c:pt idx="0">
                  <c:v>-4.2910000000000004</c:v>
                </c:pt>
                <c:pt idx="1">
                  <c:v>-4.2709999999999999</c:v>
                </c:pt>
              </c:numCache>
            </c:numRef>
          </c:xVal>
          <c:yVal>
            <c:numRef>
              <c:f>'Chart Data'!$ET$2:$ET$3</c:f>
              <c:numCache>
                <c:formatCode>General</c:formatCode>
                <c:ptCount val="2"/>
                <c:pt idx="0">
                  <c:v>25</c:v>
                </c:pt>
                <c:pt idx="1">
                  <c:v>25</c:v>
                </c:pt>
              </c:numCache>
            </c:numRef>
          </c:yVal>
          <c:smooth val="0"/>
          <c:extLst>
            <c:ext xmlns:c16="http://schemas.microsoft.com/office/drawing/2014/chart" uri="{C3380CC4-5D6E-409C-BE32-E72D297353CC}">
              <c16:uniqueId val="{00000000-37C8-4FB6-A12D-299BC3303051}"/>
            </c:ext>
          </c:extLst>
        </c:ser>
        <c:ser>
          <c:idx val="75"/>
          <c:order val="75"/>
          <c:tx>
            <c:v>Mistakes</c:v>
          </c:tx>
          <c:spPr>
            <a:ln w="23813">
              <a:solidFill>
                <a:srgbClr val="C45C28"/>
              </a:solidFill>
              <a:prstDash val="solid"/>
            </a:ln>
          </c:spPr>
          <c:marker>
            <c:symbol val="none"/>
          </c:marker>
          <c:xVal>
            <c:numRef>
              <c:f>'Chart Data'!$EU$2:$EU$3</c:f>
              <c:numCache>
                <c:formatCode>General</c:formatCode>
                <c:ptCount val="2"/>
                <c:pt idx="0">
                  <c:v>-4.2709999999999999</c:v>
                </c:pt>
                <c:pt idx="1">
                  <c:v>-4.2270000000000003</c:v>
                </c:pt>
              </c:numCache>
            </c:numRef>
          </c:xVal>
          <c:yVal>
            <c:numRef>
              <c:f>'Chart Data'!$EV$2:$EV$3</c:f>
              <c:numCache>
                <c:formatCode>General</c:formatCode>
                <c:ptCount val="2"/>
                <c:pt idx="0">
                  <c:v>26</c:v>
                </c:pt>
                <c:pt idx="1">
                  <c:v>26</c:v>
                </c:pt>
              </c:numCache>
            </c:numRef>
          </c:yVal>
          <c:smooth val="0"/>
          <c:extLst>
            <c:ext xmlns:c16="http://schemas.microsoft.com/office/drawing/2014/chart" uri="{C3380CC4-5D6E-409C-BE32-E72D297353CC}">
              <c16:uniqueId val="{00000000-37C8-4FB6-A12D-299BC3303051}"/>
            </c:ext>
          </c:extLst>
        </c:ser>
        <c:ser>
          <c:idx val="76"/>
          <c:order val="76"/>
          <c:tx>
            <c:v>Mistakes</c:v>
          </c:tx>
          <c:spPr>
            <a:ln w="23813">
              <a:solidFill>
                <a:srgbClr val="C45C28"/>
              </a:solidFill>
              <a:prstDash val="solid"/>
            </a:ln>
          </c:spPr>
          <c:marker>
            <c:symbol val="none"/>
          </c:marker>
          <c:xVal>
            <c:numRef>
              <c:f>'Chart Data'!$EW$2:$EW$3</c:f>
              <c:numCache>
                <c:formatCode>General</c:formatCode>
                <c:ptCount val="2"/>
                <c:pt idx="0">
                  <c:v>-4.2270000000000003</c:v>
                </c:pt>
                <c:pt idx="1">
                  <c:v>-4.2080000000000002</c:v>
                </c:pt>
              </c:numCache>
            </c:numRef>
          </c:xVal>
          <c:yVal>
            <c:numRef>
              <c:f>'Chart Data'!$EX$2:$EX$3</c:f>
              <c:numCache>
                <c:formatCode>General</c:formatCode>
                <c:ptCount val="2"/>
                <c:pt idx="0">
                  <c:v>27</c:v>
                </c:pt>
                <c:pt idx="1">
                  <c:v>27</c:v>
                </c:pt>
              </c:numCache>
            </c:numRef>
          </c:yVal>
          <c:smooth val="0"/>
          <c:extLst>
            <c:ext xmlns:c16="http://schemas.microsoft.com/office/drawing/2014/chart" uri="{C3380CC4-5D6E-409C-BE32-E72D297353CC}">
              <c16:uniqueId val="{00000000-37C8-4FB6-A12D-299BC3303051}"/>
            </c:ext>
          </c:extLst>
        </c:ser>
        <c:ser>
          <c:idx val="77"/>
          <c:order val="77"/>
          <c:tx>
            <c:v>Mistakes</c:v>
          </c:tx>
          <c:spPr>
            <a:ln w="23813">
              <a:solidFill>
                <a:srgbClr val="C45C28"/>
              </a:solidFill>
              <a:prstDash val="solid"/>
            </a:ln>
          </c:spPr>
          <c:marker>
            <c:symbol val="none"/>
          </c:marker>
          <c:xVal>
            <c:numRef>
              <c:f>'Chart Data'!$EY$2:$EY$3</c:f>
              <c:numCache>
                <c:formatCode>General</c:formatCode>
                <c:ptCount val="2"/>
                <c:pt idx="0">
                  <c:v>-4.2080000000000002</c:v>
                </c:pt>
                <c:pt idx="1">
                  <c:v>-4.1619999999999999</c:v>
                </c:pt>
              </c:numCache>
            </c:numRef>
          </c:xVal>
          <c:yVal>
            <c:numRef>
              <c:f>'Chart Data'!$EZ$2:$EZ$3</c:f>
              <c:numCache>
                <c:formatCode>General</c:formatCode>
                <c:ptCount val="2"/>
                <c:pt idx="0">
                  <c:v>28</c:v>
                </c:pt>
                <c:pt idx="1">
                  <c:v>28</c:v>
                </c:pt>
              </c:numCache>
            </c:numRef>
          </c:yVal>
          <c:smooth val="0"/>
          <c:extLst>
            <c:ext xmlns:c16="http://schemas.microsoft.com/office/drawing/2014/chart" uri="{C3380CC4-5D6E-409C-BE32-E72D297353CC}">
              <c16:uniqueId val="{00000000-37C8-4FB6-A12D-299BC3303051}"/>
            </c:ext>
          </c:extLst>
        </c:ser>
        <c:ser>
          <c:idx val="78"/>
          <c:order val="78"/>
          <c:tx>
            <c:v>Mistakes</c:v>
          </c:tx>
          <c:spPr>
            <a:ln w="23813">
              <a:solidFill>
                <a:srgbClr val="C45C28"/>
              </a:solidFill>
              <a:prstDash val="solid"/>
            </a:ln>
          </c:spPr>
          <c:marker>
            <c:symbol val="none"/>
          </c:marker>
          <c:xVal>
            <c:numRef>
              <c:f>'Chart Data'!$FA$2:$FA$3</c:f>
              <c:numCache>
                <c:formatCode>General</c:formatCode>
                <c:ptCount val="2"/>
                <c:pt idx="0">
                  <c:v>-4.1619999999999999</c:v>
                </c:pt>
                <c:pt idx="1">
                  <c:v>-4.1559999999999997</c:v>
                </c:pt>
              </c:numCache>
            </c:numRef>
          </c:xVal>
          <c:yVal>
            <c:numRef>
              <c:f>'Chart Data'!$FB$2:$FB$3</c:f>
              <c:numCache>
                <c:formatCode>General</c:formatCode>
                <c:ptCount val="2"/>
                <c:pt idx="0">
                  <c:v>29</c:v>
                </c:pt>
                <c:pt idx="1">
                  <c:v>29</c:v>
                </c:pt>
              </c:numCache>
            </c:numRef>
          </c:yVal>
          <c:smooth val="0"/>
          <c:extLst>
            <c:ext xmlns:c16="http://schemas.microsoft.com/office/drawing/2014/chart" uri="{C3380CC4-5D6E-409C-BE32-E72D297353CC}">
              <c16:uniqueId val="{00000000-37C8-4FB6-A12D-299BC3303051}"/>
            </c:ext>
          </c:extLst>
        </c:ser>
        <c:ser>
          <c:idx val="79"/>
          <c:order val="79"/>
          <c:tx>
            <c:v>Mistakes</c:v>
          </c:tx>
          <c:spPr>
            <a:ln w="23813">
              <a:solidFill>
                <a:srgbClr val="C45C28"/>
              </a:solidFill>
              <a:prstDash val="solid"/>
            </a:ln>
          </c:spPr>
          <c:marker>
            <c:symbol val="none"/>
          </c:marker>
          <c:xVal>
            <c:numRef>
              <c:f>'Chart Data'!$FC$2:$FC$3</c:f>
              <c:numCache>
                <c:formatCode>General</c:formatCode>
                <c:ptCount val="2"/>
                <c:pt idx="0">
                  <c:v>-4.1559999999999997</c:v>
                </c:pt>
                <c:pt idx="1">
                  <c:v>-4.1390000000000002</c:v>
                </c:pt>
              </c:numCache>
            </c:numRef>
          </c:xVal>
          <c:yVal>
            <c:numRef>
              <c:f>'Chart Data'!$FD$2:$FD$3</c:f>
              <c:numCache>
                <c:formatCode>General</c:formatCode>
                <c:ptCount val="2"/>
                <c:pt idx="0">
                  <c:v>30</c:v>
                </c:pt>
                <c:pt idx="1">
                  <c:v>30</c:v>
                </c:pt>
              </c:numCache>
            </c:numRef>
          </c:yVal>
          <c:smooth val="0"/>
          <c:extLst>
            <c:ext xmlns:c16="http://schemas.microsoft.com/office/drawing/2014/chart" uri="{C3380CC4-5D6E-409C-BE32-E72D297353CC}">
              <c16:uniqueId val="{00000000-37C8-4FB6-A12D-299BC3303051}"/>
            </c:ext>
          </c:extLst>
        </c:ser>
        <c:ser>
          <c:idx val="80"/>
          <c:order val="80"/>
          <c:tx>
            <c:v>Mistakes</c:v>
          </c:tx>
          <c:spPr>
            <a:ln w="23813">
              <a:solidFill>
                <a:srgbClr val="C45C28"/>
              </a:solidFill>
              <a:prstDash val="solid"/>
            </a:ln>
          </c:spPr>
          <c:marker>
            <c:symbol val="none"/>
          </c:marker>
          <c:xVal>
            <c:numRef>
              <c:f>'Chart Data'!$FE$2:$FE$3</c:f>
              <c:numCache>
                <c:formatCode>General</c:formatCode>
                <c:ptCount val="2"/>
                <c:pt idx="0">
                  <c:v>-4.1390000000000002</c:v>
                </c:pt>
                <c:pt idx="1">
                  <c:v>-4.1210000000000004</c:v>
                </c:pt>
              </c:numCache>
            </c:numRef>
          </c:xVal>
          <c:yVal>
            <c:numRef>
              <c:f>'Chart Data'!$FF$2:$FF$3</c:f>
              <c:numCache>
                <c:formatCode>General</c:formatCode>
                <c:ptCount val="2"/>
                <c:pt idx="0">
                  <c:v>31</c:v>
                </c:pt>
                <c:pt idx="1">
                  <c:v>31</c:v>
                </c:pt>
              </c:numCache>
            </c:numRef>
          </c:yVal>
          <c:smooth val="0"/>
          <c:extLst>
            <c:ext xmlns:c16="http://schemas.microsoft.com/office/drawing/2014/chart" uri="{C3380CC4-5D6E-409C-BE32-E72D297353CC}">
              <c16:uniqueId val="{00000000-37C8-4FB6-A12D-299BC3303051}"/>
            </c:ext>
          </c:extLst>
        </c:ser>
        <c:ser>
          <c:idx val="81"/>
          <c:order val="81"/>
          <c:tx>
            <c:v>Mistakes</c:v>
          </c:tx>
          <c:spPr>
            <a:ln w="23813">
              <a:solidFill>
                <a:srgbClr val="C45C28"/>
              </a:solidFill>
              <a:prstDash val="solid"/>
            </a:ln>
          </c:spPr>
          <c:marker>
            <c:symbol val="none"/>
          </c:marker>
          <c:xVal>
            <c:numRef>
              <c:f>'Chart Data'!$FG$2:$FG$3</c:f>
              <c:numCache>
                <c:formatCode>General</c:formatCode>
                <c:ptCount val="2"/>
                <c:pt idx="0">
                  <c:v>-4.1210000000000004</c:v>
                </c:pt>
                <c:pt idx="1">
                  <c:v>-4.05</c:v>
                </c:pt>
              </c:numCache>
            </c:numRef>
          </c:xVal>
          <c:yVal>
            <c:numRef>
              <c:f>'Chart Data'!$FH$2:$FH$3</c:f>
              <c:numCache>
                <c:formatCode>General</c:formatCode>
                <c:ptCount val="2"/>
                <c:pt idx="0">
                  <c:v>32</c:v>
                </c:pt>
                <c:pt idx="1">
                  <c:v>32</c:v>
                </c:pt>
              </c:numCache>
            </c:numRef>
          </c:yVal>
          <c:smooth val="0"/>
          <c:extLst>
            <c:ext xmlns:c16="http://schemas.microsoft.com/office/drawing/2014/chart" uri="{C3380CC4-5D6E-409C-BE32-E72D297353CC}">
              <c16:uniqueId val="{00000000-37C8-4FB6-A12D-299BC3303051}"/>
            </c:ext>
          </c:extLst>
        </c:ser>
        <c:ser>
          <c:idx val="82"/>
          <c:order val="82"/>
          <c:tx>
            <c:v>Mistakes</c:v>
          </c:tx>
          <c:spPr>
            <a:ln w="23813">
              <a:solidFill>
                <a:srgbClr val="C45C28"/>
              </a:solidFill>
              <a:prstDash val="solid"/>
            </a:ln>
          </c:spPr>
          <c:marker>
            <c:symbol val="none"/>
          </c:marker>
          <c:xVal>
            <c:numRef>
              <c:f>'Chart Data'!$FI$2:$FI$3</c:f>
              <c:numCache>
                <c:formatCode>General</c:formatCode>
                <c:ptCount val="2"/>
                <c:pt idx="0">
                  <c:v>-4.05</c:v>
                </c:pt>
                <c:pt idx="1">
                  <c:v>-4.0469999999999997</c:v>
                </c:pt>
              </c:numCache>
            </c:numRef>
          </c:xVal>
          <c:yVal>
            <c:numRef>
              <c:f>'Chart Data'!$FJ$2:$FJ$3</c:f>
              <c:numCache>
                <c:formatCode>General</c:formatCode>
                <c:ptCount val="2"/>
                <c:pt idx="0">
                  <c:v>33</c:v>
                </c:pt>
                <c:pt idx="1">
                  <c:v>33</c:v>
                </c:pt>
              </c:numCache>
            </c:numRef>
          </c:yVal>
          <c:smooth val="0"/>
          <c:extLst>
            <c:ext xmlns:c16="http://schemas.microsoft.com/office/drawing/2014/chart" uri="{C3380CC4-5D6E-409C-BE32-E72D297353CC}">
              <c16:uniqueId val="{00000000-37C8-4FB6-A12D-299BC3303051}"/>
            </c:ext>
          </c:extLst>
        </c:ser>
        <c:ser>
          <c:idx val="83"/>
          <c:order val="83"/>
          <c:tx>
            <c:v>Mistakes</c:v>
          </c:tx>
          <c:spPr>
            <a:ln w="23813">
              <a:solidFill>
                <a:srgbClr val="C45C28"/>
              </a:solidFill>
              <a:prstDash val="solid"/>
            </a:ln>
          </c:spPr>
          <c:marker>
            <c:symbol val="none"/>
          </c:marker>
          <c:xVal>
            <c:numRef>
              <c:f>'Chart Data'!$FK$2:$FK$3</c:f>
              <c:numCache>
                <c:formatCode>General</c:formatCode>
                <c:ptCount val="2"/>
                <c:pt idx="0">
                  <c:v>-4.0469999999999997</c:v>
                </c:pt>
                <c:pt idx="1">
                  <c:v>-3.9620000000000002</c:v>
                </c:pt>
              </c:numCache>
            </c:numRef>
          </c:xVal>
          <c:yVal>
            <c:numRef>
              <c:f>'Chart Data'!$FL$2:$FL$3</c:f>
              <c:numCache>
                <c:formatCode>General</c:formatCode>
                <c:ptCount val="2"/>
                <c:pt idx="0">
                  <c:v>34</c:v>
                </c:pt>
                <c:pt idx="1">
                  <c:v>34</c:v>
                </c:pt>
              </c:numCache>
            </c:numRef>
          </c:yVal>
          <c:smooth val="0"/>
          <c:extLst>
            <c:ext xmlns:c16="http://schemas.microsoft.com/office/drawing/2014/chart" uri="{C3380CC4-5D6E-409C-BE32-E72D297353CC}">
              <c16:uniqueId val="{00000000-37C8-4FB6-A12D-299BC3303051}"/>
            </c:ext>
          </c:extLst>
        </c:ser>
        <c:ser>
          <c:idx val="84"/>
          <c:order val="84"/>
          <c:tx>
            <c:v>Mistakes</c:v>
          </c:tx>
          <c:spPr>
            <a:ln w="23813">
              <a:solidFill>
                <a:srgbClr val="C45C28"/>
              </a:solidFill>
              <a:prstDash val="solid"/>
            </a:ln>
          </c:spPr>
          <c:marker>
            <c:symbol val="none"/>
          </c:marker>
          <c:xVal>
            <c:numRef>
              <c:f>'Chart Data'!$FM$2:$FM$3</c:f>
              <c:numCache>
                <c:formatCode>General</c:formatCode>
                <c:ptCount val="2"/>
                <c:pt idx="0">
                  <c:v>-3.9620000000000002</c:v>
                </c:pt>
                <c:pt idx="1">
                  <c:v>-3.9359999999999999</c:v>
                </c:pt>
              </c:numCache>
            </c:numRef>
          </c:xVal>
          <c:yVal>
            <c:numRef>
              <c:f>'Chart Data'!$FN$2:$FN$3</c:f>
              <c:numCache>
                <c:formatCode>General</c:formatCode>
                <c:ptCount val="2"/>
                <c:pt idx="0">
                  <c:v>35</c:v>
                </c:pt>
                <c:pt idx="1">
                  <c:v>35</c:v>
                </c:pt>
              </c:numCache>
            </c:numRef>
          </c:yVal>
          <c:smooth val="0"/>
          <c:extLst>
            <c:ext xmlns:c16="http://schemas.microsoft.com/office/drawing/2014/chart" uri="{C3380CC4-5D6E-409C-BE32-E72D297353CC}">
              <c16:uniqueId val="{00000000-37C8-4FB6-A12D-299BC3303051}"/>
            </c:ext>
          </c:extLst>
        </c:ser>
        <c:ser>
          <c:idx val="85"/>
          <c:order val="85"/>
          <c:tx>
            <c:v>Mistakes</c:v>
          </c:tx>
          <c:spPr>
            <a:ln w="23813">
              <a:solidFill>
                <a:srgbClr val="C45C28"/>
              </a:solidFill>
              <a:prstDash val="solid"/>
            </a:ln>
          </c:spPr>
          <c:marker>
            <c:symbol val="none"/>
          </c:marker>
          <c:xVal>
            <c:numRef>
              <c:f>'Chart Data'!$FO$2:$FO$3</c:f>
              <c:numCache>
                <c:formatCode>General</c:formatCode>
                <c:ptCount val="2"/>
                <c:pt idx="0">
                  <c:v>-3.9359999999999999</c:v>
                </c:pt>
                <c:pt idx="1">
                  <c:v>-3.9319999999999999</c:v>
                </c:pt>
              </c:numCache>
            </c:numRef>
          </c:xVal>
          <c:yVal>
            <c:numRef>
              <c:f>'Chart Data'!$FP$2:$FP$3</c:f>
              <c:numCache>
                <c:formatCode>General</c:formatCode>
                <c:ptCount val="2"/>
                <c:pt idx="0">
                  <c:v>36</c:v>
                </c:pt>
                <c:pt idx="1">
                  <c:v>36</c:v>
                </c:pt>
              </c:numCache>
            </c:numRef>
          </c:yVal>
          <c:smooth val="0"/>
          <c:extLst>
            <c:ext xmlns:c16="http://schemas.microsoft.com/office/drawing/2014/chart" uri="{C3380CC4-5D6E-409C-BE32-E72D297353CC}">
              <c16:uniqueId val="{00000000-37C8-4FB6-A12D-299BC3303051}"/>
            </c:ext>
          </c:extLst>
        </c:ser>
        <c:ser>
          <c:idx val="86"/>
          <c:order val="86"/>
          <c:tx>
            <c:v>Mistakes</c:v>
          </c:tx>
          <c:spPr>
            <a:ln w="23813">
              <a:solidFill>
                <a:srgbClr val="C45C28"/>
              </a:solidFill>
              <a:prstDash val="solid"/>
            </a:ln>
          </c:spPr>
          <c:marker>
            <c:symbol val="none"/>
          </c:marker>
          <c:xVal>
            <c:numRef>
              <c:f>'Chart Data'!$FQ$2:$FQ$3</c:f>
              <c:numCache>
                <c:formatCode>General</c:formatCode>
                <c:ptCount val="2"/>
                <c:pt idx="0">
                  <c:v>-3.9319999999999999</c:v>
                </c:pt>
                <c:pt idx="1">
                  <c:v>-3.9</c:v>
                </c:pt>
              </c:numCache>
            </c:numRef>
          </c:xVal>
          <c:yVal>
            <c:numRef>
              <c:f>'Chart Data'!$FR$2:$FR$3</c:f>
              <c:numCache>
                <c:formatCode>General</c:formatCode>
                <c:ptCount val="2"/>
                <c:pt idx="0">
                  <c:v>37</c:v>
                </c:pt>
                <c:pt idx="1">
                  <c:v>37</c:v>
                </c:pt>
              </c:numCache>
            </c:numRef>
          </c:yVal>
          <c:smooth val="0"/>
          <c:extLst>
            <c:ext xmlns:c16="http://schemas.microsoft.com/office/drawing/2014/chart" uri="{C3380CC4-5D6E-409C-BE32-E72D297353CC}">
              <c16:uniqueId val="{00000000-37C8-4FB6-A12D-299BC3303051}"/>
            </c:ext>
          </c:extLst>
        </c:ser>
        <c:ser>
          <c:idx val="87"/>
          <c:order val="87"/>
          <c:tx>
            <c:v>Mistakes</c:v>
          </c:tx>
          <c:spPr>
            <a:ln w="23813">
              <a:solidFill>
                <a:srgbClr val="C45C28"/>
              </a:solidFill>
              <a:prstDash val="solid"/>
            </a:ln>
          </c:spPr>
          <c:marker>
            <c:symbol val="none"/>
          </c:marker>
          <c:xVal>
            <c:numRef>
              <c:f>'Chart Data'!$FS$2:$FS$3</c:f>
              <c:numCache>
                <c:formatCode>General</c:formatCode>
                <c:ptCount val="2"/>
                <c:pt idx="0">
                  <c:v>-3.9</c:v>
                </c:pt>
                <c:pt idx="1">
                  <c:v>-3.875</c:v>
                </c:pt>
              </c:numCache>
            </c:numRef>
          </c:xVal>
          <c:yVal>
            <c:numRef>
              <c:f>'Chart Data'!$FT$2:$FT$3</c:f>
              <c:numCache>
                <c:formatCode>General</c:formatCode>
                <c:ptCount val="2"/>
                <c:pt idx="0">
                  <c:v>38</c:v>
                </c:pt>
                <c:pt idx="1">
                  <c:v>38</c:v>
                </c:pt>
              </c:numCache>
            </c:numRef>
          </c:yVal>
          <c:smooth val="0"/>
          <c:extLst>
            <c:ext xmlns:c16="http://schemas.microsoft.com/office/drawing/2014/chart" uri="{C3380CC4-5D6E-409C-BE32-E72D297353CC}">
              <c16:uniqueId val="{00000000-37C8-4FB6-A12D-299BC3303051}"/>
            </c:ext>
          </c:extLst>
        </c:ser>
        <c:ser>
          <c:idx val="88"/>
          <c:order val="88"/>
          <c:tx>
            <c:v>Mistakes</c:v>
          </c:tx>
          <c:spPr>
            <a:ln w="23813">
              <a:solidFill>
                <a:srgbClr val="C45C28"/>
              </a:solidFill>
              <a:prstDash val="solid"/>
            </a:ln>
          </c:spPr>
          <c:marker>
            <c:symbol val="none"/>
          </c:marker>
          <c:xVal>
            <c:numRef>
              <c:f>'Chart Data'!$FU$2:$FU$3</c:f>
              <c:numCache>
                <c:formatCode>General</c:formatCode>
                <c:ptCount val="2"/>
                <c:pt idx="0">
                  <c:v>-3.875</c:v>
                </c:pt>
                <c:pt idx="1">
                  <c:v>-3.8220000000000001</c:v>
                </c:pt>
              </c:numCache>
            </c:numRef>
          </c:xVal>
          <c:yVal>
            <c:numRef>
              <c:f>'Chart Data'!$FV$2:$FV$3</c:f>
              <c:numCache>
                <c:formatCode>General</c:formatCode>
                <c:ptCount val="2"/>
                <c:pt idx="0">
                  <c:v>39</c:v>
                </c:pt>
                <c:pt idx="1">
                  <c:v>39</c:v>
                </c:pt>
              </c:numCache>
            </c:numRef>
          </c:yVal>
          <c:smooth val="0"/>
          <c:extLst>
            <c:ext xmlns:c16="http://schemas.microsoft.com/office/drawing/2014/chart" uri="{C3380CC4-5D6E-409C-BE32-E72D297353CC}">
              <c16:uniqueId val="{00000000-37C8-4FB6-A12D-299BC3303051}"/>
            </c:ext>
          </c:extLst>
        </c:ser>
        <c:ser>
          <c:idx val="89"/>
          <c:order val="89"/>
          <c:tx>
            <c:v>Mistakes</c:v>
          </c:tx>
          <c:spPr>
            <a:ln w="23813">
              <a:solidFill>
                <a:srgbClr val="C45C28"/>
              </a:solidFill>
              <a:prstDash val="solid"/>
            </a:ln>
          </c:spPr>
          <c:marker>
            <c:symbol val="none"/>
          </c:marker>
          <c:xVal>
            <c:numRef>
              <c:f>'Chart Data'!$FW$2:$FW$3</c:f>
              <c:numCache>
                <c:formatCode>General</c:formatCode>
                <c:ptCount val="2"/>
                <c:pt idx="0">
                  <c:v>-3.8220000000000001</c:v>
                </c:pt>
                <c:pt idx="1">
                  <c:v>-3.8119999999999998</c:v>
                </c:pt>
              </c:numCache>
            </c:numRef>
          </c:xVal>
          <c:yVal>
            <c:numRef>
              <c:f>'Chart Data'!$FX$2:$FX$3</c:f>
              <c:numCache>
                <c:formatCode>General</c:formatCode>
                <c:ptCount val="2"/>
                <c:pt idx="0">
                  <c:v>40</c:v>
                </c:pt>
                <c:pt idx="1">
                  <c:v>40</c:v>
                </c:pt>
              </c:numCache>
            </c:numRef>
          </c:yVal>
          <c:smooth val="0"/>
          <c:extLst>
            <c:ext xmlns:c16="http://schemas.microsoft.com/office/drawing/2014/chart" uri="{C3380CC4-5D6E-409C-BE32-E72D297353CC}">
              <c16:uniqueId val="{00000000-37C8-4FB6-A12D-299BC3303051}"/>
            </c:ext>
          </c:extLst>
        </c:ser>
        <c:ser>
          <c:idx val="90"/>
          <c:order val="90"/>
          <c:tx>
            <c:v>Mistakes</c:v>
          </c:tx>
          <c:spPr>
            <a:ln w="23813">
              <a:solidFill>
                <a:srgbClr val="C45C28"/>
              </a:solidFill>
              <a:prstDash val="solid"/>
            </a:ln>
          </c:spPr>
          <c:marker>
            <c:symbol val="none"/>
          </c:marker>
          <c:xVal>
            <c:numRef>
              <c:f>'Chart Data'!$FY$2:$FY$3</c:f>
              <c:numCache>
                <c:formatCode>General</c:formatCode>
                <c:ptCount val="2"/>
                <c:pt idx="0">
                  <c:v>-3.8119999999999998</c:v>
                </c:pt>
                <c:pt idx="1">
                  <c:v>-3.706</c:v>
                </c:pt>
              </c:numCache>
            </c:numRef>
          </c:xVal>
          <c:yVal>
            <c:numRef>
              <c:f>'Chart Data'!$FZ$2:$FZ$3</c:f>
              <c:numCache>
                <c:formatCode>General</c:formatCode>
                <c:ptCount val="2"/>
                <c:pt idx="0">
                  <c:v>41</c:v>
                </c:pt>
                <c:pt idx="1">
                  <c:v>41</c:v>
                </c:pt>
              </c:numCache>
            </c:numRef>
          </c:yVal>
          <c:smooth val="0"/>
          <c:extLst>
            <c:ext xmlns:c16="http://schemas.microsoft.com/office/drawing/2014/chart" uri="{C3380CC4-5D6E-409C-BE32-E72D297353CC}">
              <c16:uniqueId val="{00000000-37C8-4FB6-A12D-299BC3303051}"/>
            </c:ext>
          </c:extLst>
        </c:ser>
        <c:ser>
          <c:idx val="91"/>
          <c:order val="91"/>
          <c:tx>
            <c:v>Mistakes</c:v>
          </c:tx>
          <c:spPr>
            <a:ln w="23813">
              <a:solidFill>
                <a:srgbClr val="C45C28"/>
              </a:solidFill>
              <a:prstDash val="solid"/>
            </a:ln>
          </c:spPr>
          <c:marker>
            <c:symbol val="none"/>
          </c:marker>
          <c:xVal>
            <c:numRef>
              <c:f>'Chart Data'!$GA$2:$GA$3</c:f>
              <c:numCache>
                <c:formatCode>General</c:formatCode>
                <c:ptCount val="2"/>
                <c:pt idx="0">
                  <c:v>-3.706</c:v>
                </c:pt>
                <c:pt idx="1">
                  <c:v>-3.5960000000000001</c:v>
                </c:pt>
              </c:numCache>
            </c:numRef>
          </c:xVal>
          <c:yVal>
            <c:numRef>
              <c:f>'Chart Data'!$GB$2:$GB$3</c:f>
              <c:numCache>
                <c:formatCode>General</c:formatCode>
                <c:ptCount val="2"/>
                <c:pt idx="0">
                  <c:v>42</c:v>
                </c:pt>
                <c:pt idx="1">
                  <c:v>42</c:v>
                </c:pt>
              </c:numCache>
            </c:numRef>
          </c:yVal>
          <c:smooth val="0"/>
          <c:extLst>
            <c:ext xmlns:c16="http://schemas.microsoft.com/office/drawing/2014/chart" uri="{C3380CC4-5D6E-409C-BE32-E72D297353CC}">
              <c16:uniqueId val="{00000000-37C8-4FB6-A12D-299BC3303051}"/>
            </c:ext>
          </c:extLst>
        </c:ser>
        <c:ser>
          <c:idx val="92"/>
          <c:order val="92"/>
          <c:tx>
            <c:v>Mistakes</c:v>
          </c:tx>
          <c:spPr>
            <a:ln w="23813">
              <a:solidFill>
                <a:srgbClr val="C45C28"/>
              </a:solidFill>
              <a:prstDash val="solid"/>
            </a:ln>
          </c:spPr>
          <c:marker>
            <c:symbol val="none"/>
          </c:marker>
          <c:xVal>
            <c:numRef>
              <c:f>'Chart Data'!$GC$2:$GC$3</c:f>
              <c:numCache>
                <c:formatCode>General</c:formatCode>
                <c:ptCount val="2"/>
                <c:pt idx="0">
                  <c:v>-3.5960000000000001</c:v>
                </c:pt>
                <c:pt idx="1">
                  <c:v>-3.5870000000000002</c:v>
                </c:pt>
              </c:numCache>
            </c:numRef>
          </c:xVal>
          <c:yVal>
            <c:numRef>
              <c:f>'Chart Data'!$GD$2:$GD$3</c:f>
              <c:numCache>
                <c:formatCode>General</c:formatCode>
                <c:ptCount val="2"/>
                <c:pt idx="0">
                  <c:v>43</c:v>
                </c:pt>
                <c:pt idx="1">
                  <c:v>43</c:v>
                </c:pt>
              </c:numCache>
            </c:numRef>
          </c:yVal>
          <c:smooth val="0"/>
          <c:extLst>
            <c:ext xmlns:c16="http://schemas.microsoft.com/office/drawing/2014/chart" uri="{C3380CC4-5D6E-409C-BE32-E72D297353CC}">
              <c16:uniqueId val="{00000000-37C8-4FB6-A12D-299BC3303051}"/>
            </c:ext>
          </c:extLst>
        </c:ser>
        <c:ser>
          <c:idx val="93"/>
          <c:order val="93"/>
          <c:tx>
            <c:v>Mistakes</c:v>
          </c:tx>
          <c:spPr>
            <a:ln w="23813">
              <a:solidFill>
                <a:srgbClr val="C45C28"/>
              </a:solidFill>
              <a:prstDash val="solid"/>
            </a:ln>
          </c:spPr>
          <c:marker>
            <c:symbol val="none"/>
          </c:marker>
          <c:xVal>
            <c:numRef>
              <c:f>'Chart Data'!$GE$2:$GE$3</c:f>
              <c:numCache>
                <c:formatCode>General</c:formatCode>
                <c:ptCount val="2"/>
                <c:pt idx="0">
                  <c:v>-3.5870000000000002</c:v>
                </c:pt>
                <c:pt idx="1">
                  <c:v>-3.57</c:v>
                </c:pt>
              </c:numCache>
            </c:numRef>
          </c:xVal>
          <c:yVal>
            <c:numRef>
              <c:f>'Chart Data'!$GF$2:$GF$3</c:f>
              <c:numCache>
                <c:formatCode>General</c:formatCode>
                <c:ptCount val="2"/>
                <c:pt idx="0">
                  <c:v>44</c:v>
                </c:pt>
                <c:pt idx="1">
                  <c:v>44</c:v>
                </c:pt>
              </c:numCache>
            </c:numRef>
          </c:yVal>
          <c:smooth val="0"/>
          <c:extLst>
            <c:ext xmlns:c16="http://schemas.microsoft.com/office/drawing/2014/chart" uri="{C3380CC4-5D6E-409C-BE32-E72D297353CC}">
              <c16:uniqueId val="{00000000-37C8-4FB6-A12D-299BC3303051}"/>
            </c:ext>
          </c:extLst>
        </c:ser>
        <c:ser>
          <c:idx val="94"/>
          <c:order val="94"/>
          <c:tx>
            <c:v>Mistakes</c:v>
          </c:tx>
          <c:spPr>
            <a:ln w="23813">
              <a:solidFill>
                <a:srgbClr val="C45C28"/>
              </a:solidFill>
              <a:prstDash val="solid"/>
            </a:ln>
          </c:spPr>
          <c:marker>
            <c:symbol val="none"/>
          </c:marker>
          <c:xVal>
            <c:numRef>
              <c:f>'Chart Data'!$GG$2:$GG$3</c:f>
              <c:numCache>
                <c:formatCode>General</c:formatCode>
                <c:ptCount val="2"/>
                <c:pt idx="0">
                  <c:v>-3.57</c:v>
                </c:pt>
                <c:pt idx="1">
                  <c:v>-3.4809999999999999</c:v>
                </c:pt>
              </c:numCache>
            </c:numRef>
          </c:xVal>
          <c:yVal>
            <c:numRef>
              <c:f>'Chart Data'!$GH$2:$GH$3</c:f>
              <c:numCache>
                <c:formatCode>General</c:formatCode>
                <c:ptCount val="2"/>
                <c:pt idx="0">
                  <c:v>45</c:v>
                </c:pt>
                <c:pt idx="1">
                  <c:v>45</c:v>
                </c:pt>
              </c:numCache>
            </c:numRef>
          </c:yVal>
          <c:smooth val="0"/>
          <c:extLst>
            <c:ext xmlns:c16="http://schemas.microsoft.com/office/drawing/2014/chart" uri="{C3380CC4-5D6E-409C-BE32-E72D297353CC}">
              <c16:uniqueId val="{00000000-37C8-4FB6-A12D-299BC3303051}"/>
            </c:ext>
          </c:extLst>
        </c:ser>
        <c:ser>
          <c:idx val="95"/>
          <c:order val="95"/>
          <c:tx>
            <c:v>Mistakes</c:v>
          </c:tx>
          <c:spPr>
            <a:ln w="23813">
              <a:solidFill>
                <a:srgbClr val="C45C28"/>
              </a:solidFill>
              <a:prstDash val="solid"/>
            </a:ln>
          </c:spPr>
          <c:marker>
            <c:symbol val="none"/>
          </c:marker>
          <c:xVal>
            <c:numRef>
              <c:f>'Chart Data'!$GI$2:$GI$3</c:f>
              <c:numCache>
                <c:formatCode>General</c:formatCode>
                <c:ptCount val="2"/>
                <c:pt idx="0">
                  <c:v>-3.4809999999999999</c:v>
                </c:pt>
                <c:pt idx="1">
                  <c:v>-3.3660000000000001</c:v>
                </c:pt>
              </c:numCache>
            </c:numRef>
          </c:xVal>
          <c:yVal>
            <c:numRef>
              <c:f>'Chart Data'!$GJ$2:$GJ$3</c:f>
              <c:numCache>
                <c:formatCode>General</c:formatCode>
                <c:ptCount val="2"/>
                <c:pt idx="0">
                  <c:v>46</c:v>
                </c:pt>
                <c:pt idx="1">
                  <c:v>46</c:v>
                </c:pt>
              </c:numCache>
            </c:numRef>
          </c:yVal>
          <c:smooth val="0"/>
          <c:extLst>
            <c:ext xmlns:c16="http://schemas.microsoft.com/office/drawing/2014/chart" uri="{C3380CC4-5D6E-409C-BE32-E72D297353CC}">
              <c16:uniqueId val="{00000000-37C8-4FB6-A12D-299BC3303051}"/>
            </c:ext>
          </c:extLst>
        </c:ser>
        <c:ser>
          <c:idx val="96"/>
          <c:order val="96"/>
          <c:tx>
            <c:v>Mistakes</c:v>
          </c:tx>
          <c:spPr>
            <a:ln w="23813">
              <a:solidFill>
                <a:srgbClr val="C45C28"/>
              </a:solidFill>
              <a:prstDash val="solid"/>
            </a:ln>
          </c:spPr>
          <c:marker>
            <c:symbol val="none"/>
          </c:marker>
          <c:xVal>
            <c:numRef>
              <c:f>'Chart Data'!$GK$2:$GK$3</c:f>
              <c:numCache>
                <c:formatCode>General</c:formatCode>
                <c:ptCount val="2"/>
                <c:pt idx="0">
                  <c:v>-3.3660000000000001</c:v>
                </c:pt>
                <c:pt idx="1">
                  <c:v>-3.3039999999999998</c:v>
                </c:pt>
              </c:numCache>
            </c:numRef>
          </c:xVal>
          <c:yVal>
            <c:numRef>
              <c:f>'Chart Data'!$GL$2:$GL$3</c:f>
              <c:numCache>
                <c:formatCode>General</c:formatCode>
                <c:ptCount val="2"/>
                <c:pt idx="0">
                  <c:v>47</c:v>
                </c:pt>
                <c:pt idx="1">
                  <c:v>47</c:v>
                </c:pt>
              </c:numCache>
            </c:numRef>
          </c:yVal>
          <c:smooth val="0"/>
          <c:extLst>
            <c:ext xmlns:c16="http://schemas.microsoft.com/office/drawing/2014/chart" uri="{C3380CC4-5D6E-409C-BE32-E72D297353CC}">
              <c16:uniqueId val="{00000000-37C8-4FB6-A12D-299BC3303051}"/>
            </c:ext>
          </c:extLst>
        </c:ser>
        <c:ser>
          <c:idx val="97"/>
          <c:order val="97"/>
          <c:tx>
            <c:v>Mistakes</c:v>
          </c:tx>
          <c:spPr>
            <a:ln w="23813">
              <a:solidFill>
                <a:srgbClr val="C45C28"/>
              </a:solidFill>
              <a:prstDash val="solid"/>
            </a:ln>
          </c:spPr>
          <c:marker>
            <c:symbol val="none"/>
          </c:marker>
          <c:xVal>
            <c:numRef>
              <c:f>'Chart Data'!$GM$2:$GM$3</c:f>
              <c:numCache>
                <c:formatCode>General</c:formatCode>
                <c:ptCount val="2"/>
                <c:pt idx="0">
                  <c:v>-3.3039999999999998</c:v>
                </c:pt>
                <c:pt idx="1">
                  <c:v>-3.226</c:v>
                </c:pt>
              </c:numCache>
            </c:numRef>
          </c:xVal>
          <c:yVal>
            <c:numRef>
              <c:f>'Chart Data'!$GN$2:$GN$3</c:f>
              <c:numCache>
                <c:formatCode>General</c:formatCode>
                <c:ptCount val="2"/>
                <c:pt idx="0">
                  <c:v>48</c:v>
                </c:pt>
                <c:pt idx="1">
                  <c:v>48</c:v>
                </c:pt>
              </c:numCache>
            </c:numRef>
          </c:yVal>
          <c:smooth val="0"/>
          <c:extLst>
            <c:ext xmlns:c16="http://schemas.microsoft.com/office/drawing/2014/chart" uri="{C3380CC4-5D6E-409C-BE32-E72D297353CC}">
              <c16:uniqueId val="{00000000-37C8-4FB6-A12D-299BC3303051}"/>
            </c:ext>
          </c:extLst>
        </c:ser>
        <c:ser>
          <c:idx val="98"/>
          <c:order val="98"/>
          <c:tx>
            <c:v>Mistakes</c:v>
          </c:tx>
          <c:spPr>
            <a:ln w="23813">
              <a:solidFill>
                <a:srgbClr val="C45C28"/>
              </a:solidFill>
              <a:prstDash val="solid"/>
            </a:ln>
          </c:spPr>
          <c:marker>
            <c:symbol val="none"/>
          </c:marker>
          <c:xVal>
            <c:numRef>
              <c:f>'Chart Data'!$GO$2:$GO$3</c:f>
              <c:numCache>
                <c:formatCode>General</c:formatCode>
                <c:ptCount val="2"/>
                <c:pt idx="0">
                  <c:v>-3.226</c:v>
                </c:pt>
                <c:pt idx="1">
                  <c:v>-3</c:v>
                </c:pt>
              </c:numCache>
            </c:numRef>
          </c:xVal>
          <c:yVal>
            <c:numRef>
              <c:f>'Chart Data'!$GP$2:$GP$3</c:f>
              <c:numCache>
                <c:formatCode>General</c:formatCode>
                <c:ptCount val="2"/>
                <c:pt idx="0">
                  <c:v>49</c:v>
                </c:pt>
                <c:pt idx="1">
                  <c:v>49</c:v>
                </c:pt>
              </c:numCache>
            </c:numRef>
          </c:yVal>
          <c:smooth val="0"/>
          <c:extLst>
            <c:ext xmlns:c16="http://schemas.microsoft.com/office/drawing/2014/chart" uri="{C3380CC4-5D6E-409C-BE32-E72D297353CC}">
              <c16:uniqueId val="{00000000-37C8-4FB6-A12D-299BC3303051}"/>
            </c:ext>
          </c:extLst>
        </c:ser>
        <c:ser>
          <c:idx val="99"/>
          <c:order val="99"/>
          <c:tx>
            <c:v>Mistakes</c:v>
          </c:tx>
          <c:spPr>
            <a:ln w="23813">
              <a:solidFill>
                <a:srgbClr val="C45C28"/>
              </a:solidFill>
              <a:prstDash val="solid"/>
            </a:ln>
          </c:spPr>
          <c:marker>
            <c:symbol val="none"/>
          </c:marker>
          <c:xVal>
            <c:numRef>
              <c:f>'Chart Data'!$GQ$2:$GQ$3</c:f>
              <c:numCache>
                <c:formatCode>General</c:formatCode>
                <c:ptCount val="2"/>
                <c:pt idx="0">
                  <c:v>-3</c:v>
                </c:pt>
                <c:pt idx="1">
                  <c:v>-2.8</c:v>
                </c:pt>
              </c:numCache>
            </c:numRef>
          </c:xVal>
          <c:yVal>
            <c:numRef>
              <c:f>'Chart Data'!$GR$2:$GR$3</c:f>
              <c:numCache>
                <c:formatCode>General</c:formatCode>
                <c:ptCount val="2"/>
                <c:pt idx="0">
                  <c:v>50</c:v>
                </c:pt>
                <c:pt idx="1">
                  <c:v>50</c:v>
                </c:pt>
              </c:numCache>
            </c:numRef>
          </c:yVal>
          <c:smooth val="0"/>
          <c:extLst>
            <c:ext xmlns:c16="http://schemas.microsoft.com/office/drawing/2014/chart" uri="{C3380CC4-5D6E-409C-BE32-E72D297353CC}">
              <c16:uniqueId val="{00000000-37C8-4FB6-A12D-299BC3303051}"/>
            </c:ext>
          </c:extLst>
        </c:ser>
        <c:ser>
          <c:idx val="100"/>
          <c:order val="100"/>
          <c:tx>
            <c:v>Included endpoint</c:v>
          </c:tx>
          <c:spPr>
            <a:ln w="0">
              <a:noFill/>
            </a:ln>
          </c:spPr>
          <c:marker>
            <c:symbol val="circle"/>
            <c:size val="3"/>
            <c:spPr>
              <a:solidFill>
                <a:srgbClr val="C45C28"/>
              </a:solidFill>
              <a:ln w="12700">
                <a:solidFill>
                  <a:srgbClr val="C45C28"/>
                </a:solidFill>
              </a:ln>
            </c:spPr>
          </c:marker>
          <c:xVal>
            <c:numRef>
              <c:f>'Chart Data'!$GS$2:$GS$100</c:f>
              <c:numCache>
                <c:formatCode>General</c:formatCode>
                <c:ptCount val="99"/>
                <c:pt idx="0">
                  <c:v>-6.9480000000000004</c:v>
                </c:pt>
                <c:pt idx="1">
                  <c:v>-6.7720000000000002</c:v>
                </c:pt>
                <c:pt idx="2">
                  <c:v>-6.6189999999999998</c:v>
                </c:pt>
                <c:pt idx="3">
                  <c:v>-6.5609999999999999</c:v>
                </c:pt>
                <c:pt idx="4">
                  <c:v>-6.4</c:v>
                </c:pt>
                <c:pt idx="5">
                  <c:v>-6.3</c:v>
                </c:pt>
                <c:pt idx="6">
                  <c:v>-6.2080000000000002</c:v>
                </c:pt>
                <c:pt idx="7">
                  <c:v>-6.1</c:v>
                </c:pt>
                <c:pt idx="8">
                  <c:v>-6.0869999999999997</c:v>
                </c:pt>
                <c:pt idx="9">
                  <c:v>-6.07</c:v>
                </c:pt>
                <c:pt idx="10">
                  <c:v>-6.0309999999999997</c:v>
                </c:pt>
                <c:pt idx="11">
                  <c:v>-6.02</c:v>
                </c:pt>
                <c:pt idx="12">
                  <c:v>-5.9809999999999999</c:v>
                </c:pt>
                <c:pt idx="13">
                  <c:v>-5.9359999999999999</c:v>
                </c:pt>
                <c:pt idx="14">
                  <c:v>-5.9130000000000003</c:v>
                </c:pt>
                <c:pt idx="15">
                  <c:v>-5.8259999999999996</c:v>
                </c:pt>
                <c:pt idx="16">
                  <c:v>-5.8070000000000004</c:v>
                </c:pt>
                <c:pt idx="17">
                  <c:v>-5.758</c:v>
                </c:pt>
                <c:pt idx="18">
                  <c:v>-5.7380000000000004</c:v>
                </c:pt>
                <c:pt idx="19">
                  <c:v>-5.7190000000000003</c:v>
                </c:pt>
                <c:pt idx="20">
                  <c:v>-5.6980000000000004</c:v>
                </c:pt>
                <c:pt idx="21">
                  <c:v>-5.6760000000000002</c:v>
                </c:pt>
                <c:pt idx="22">
                  <c:v>-5.63</c:v>
                </c:pt>
                <c:pt idx="23">
                  <c:v>-5.5620000000000003</c:v>
                </c:pt>
                <c:pt idx="24">
                  <c:v>-5.5419999999999998</c:v>
                </c:pt>
                <c:pt idx="25">
                  <c:v>-5.4950000000000001</c:v>
                </c:pt>
                <c:pt idx="26">
                  <c:v>-5.4729999999999999</c:v>
                </c:pt>
                <c:pt idx="27">
                  <c:v>-5.4539999999999997</c:v>
                </c:pt>
                <c:pt idx="28">
                  <c:v>-5.41</c:v>
                </c:pt>
                <c:pt idx="29">
                  <c:v>-5.3849999999999998</c:v>
                </c:pt>
                <c:pt idx="30">
                  <c:v>-5.3769999999999998</c:v>
                </c:pt>
                <c:pt idx="31">
                  <c:v>-5.2960000000000003</c:v>
                </c:pt>
                <c:pt idx="32">
                  <c:v>-5.2889999999999997</c:v>
                </c:pt>
                <c:pt idx="33">
                  <c:v>-5.2279999999999998</c:v>
                </c:pt>
                <c:pt idx="34">
                  <c:v>-5.2130000000000001</c:v>
                </c:pt>
                <c:pt idx="35">
                  <c:v>-5.2080000000000002</c:v>
                </c:pt>
                <c:pt idx="36">
                  <c:v>-5.19</c:v>
                </c:pt>
                <c:pt idx="37">
                  <c:v>-5.14</c:v>
                </c:pt>
                <c:pt idx="38">
                  <c:v>-5.1349999999999998</c:v>
                </c:pt>
                <c:pt idx="39">
                  <c:v>-5.1210000000000004</c:v>
                </c:pt>
                <c:pt idx="40">
                  <c:v>-5.0510000000000002</c:v>
                </c:pt>
                <c:pt idx="41">
                  <c:v>-5.0339999999999998</c:v>
                </c:pt>
                <c:pt idx="42">
                  <c:v>-5.016</c:v>
                </c:pt>
                <c:pt idx="43">
                  <c:v>-4.9630000000000001</c:v>
                </c:pt>
                <c:pt idx="44">
                  <c:v>-4.9580000000000002</c:v>
                </c:pt>
                <c:pt idx="45">
                  <c:v>-4.9459999999999997</c:v>
                </c:pt>
                <c:pt idx="46">
                  <c:v>-4.8949999999999996</c:v>
                </c:pt>
                <c:pt idx="47">
                  <c:v>-4.8840000000000003</c:v>
                </c:pt>
                <c:pt idx="48">
                  <c:v>-4.875</c:v>
                </c:pt>
                <c:pt idx="49">
                  <c:v>-4.8730000000000002</c:v>
                </c:pt>
                <c:pt idx="50">
                  <c:v>-4.8090000000000002</c:v>
                </c:pt>
                <c:pt idx="51">
                  <c:v>-4.806</c:v>
                </c:pt>
                <c:pt idx="52">
                  <c:v>-4.7880000000000003</c:v>
                </c:pt>
                <c:pt idx="53">
                  <c:v>-4.718</c:v>
                </c:pt>
                <c:pt idx="54">
                  <c:v>-4.7009999999999996</c:v>
                </c:pt>
                <c:pt idx="55">
                  <c:v>-4.6749999999999998</c:v>
                </c:pt>
                <c:pt idx="56">
                  <c:v>-4.6710000000000003</c:v>
                </c:pt>
                <c:pt idx="57">
                  <c:v>-4.6509999999999998</c:v>
                </c:pt>
                <c:pt idx="58">
                  <c:v>-4.6349999999999998</c:v>
                </c:pt>
                <c:pt idx="59">
                  <c:v>-4.6289999999999996</c:v>
                </c:pt>
                <c:pt idx="60">
                  <c:v>-4.5890000000000004</c:v>
                </c:pt>
                <c:pt idx="61">
                  <c:v>-4.5609999999999999</c:v>
                </c:pt>
                <c:pt idx="62">
                  <c:v>-4.5570000000000004</c:v>
                </c:pt>
                <c:pt idx="63">
                  <c:v>-4.5410000000000004</c:v>
                </c:pt>
                <c:pt idx="64">
                  <c:v>-4.5</c:v>
                </c:pt>
                <c:pt idx="65">
                  <c:v>-4.4729999999999999</c:v>
                </c:pt>
                <c:pt idx="66">
                  <c:v>-4.4669999999999996</c:v>
                </c:pt>
                <c:pt idx="67">
                  <c:v>-4.4550000000000001</c:v>
                </c:pt>
                <c:pt idx="68">
                  <c:v>-4.3860000000000001</c:v>
                </c:pt>
                <c:pt idx="69">
                  <c:v>-4.3840000000000003</c:v>
                </c:pt>
                <c:pt idx="70">
                  <c:v>-4.3470000000000004</c:v>
                </c:pt>
                <c:pt idx="71">
                  <c:v>-4.3070000000000004</c:v>
                </c:pt>
                <c:pt idx="72">
                  <c:v>-4.2960000000000003</c:v>
                </c:pt>
                <c:pt idx="73">
                  <c:v>-4.2910000000000004</c:v>
                </c:pt>
                <c:pt idx="74">
                  <c:v>-4.2709999999999999</c:v>
                </c:pt>
                <c:pt idx="75">
                  <c:v>-4.2270000000000003</c:v>
                </c:pt>
                <c:pt idx="76">
                  <c:v>-4.2080000000000002</c:v>
                </c:pt>
                <c:pt idx="77">
                  <c:v>-4.1619999999999999</c:v>
                </c:pt>
                <c:pt idx="78">
                  <c:v>-4.1559999999999997</c:v>
                </c:pt>
                <c:pt idx="79">
                  <c:v>-4.1390000000000002</c:v>
                </c:pt>
                <c:pt idx="80">
                  <c:v>-4.1210000000000004</c:v>
                </c:pt>
                <c:pt idx="81">
                  <c:v>-4.05</c:v>
                </c:pt>
                <c:pt idx="82">
                  <c:v>-4.0469999999999997</c:v>
                </c:pt>
                <c:pt idx="83">
                  <c:v>-3.9620000000000002</c:v>
                </c:pt>
                <c:pt idx="84">
                  <c:v>-3.9359999999999999</c:v>
                </c:pt>
                <c:pt idx="85">
                  <c:v>-3.9319999999999999</c:v>
                </c:pt>
                <c:pt idx="86">
                  <c:v>-3.9</c:v>
                </c:pt>
                <c:pt idx="87">
                  <c:v>-3.875</c:v>
                </c:pt>
                <c:pt idx="88">
                  <c:v>-3.8220000000000001</c:v>
                </c:pt>
                <c:pt idx="89">
                  <c:v>-3.8119999999999998</c:v>
                </c:pt>
                <c:pt idx="90">
                  <c:v>-3.706</c:v>
                </c:pt>
                <c:pt idx="91">
                  <c:v>-3.5960000000000001</c:v>
                </c:pt>
                <c:pt idx="92">
                  <c:v>-3.5870000000000002</c:v>
                </c:pt>
                <c:pt idx="93">
                  <c:v>-3.57</c:v>
                </c:pt>
                <c:pt idx="94">
                  <c:v>-3.4809999999999999</c:v>
                </c:pt>
                <c:pt idx="95">
                  <c:v>-3.3660000000000001</c:v>
                </c:pt>
                <c:pt idx="96">
                  <c:v>-3.3039999999999998</c:v>
                </c:pt>
                <c:pt idx="97">
                  <c:v>-3.226</c:v>
                </c:pt>
                <c:pt idx="98">
                  <c:v>-3</c:v>
                </c:pt>
              </c:numCache>
            </c:numRef>
          </c:xVal>
          <c:yVal>
            <c:numRef>
              <c:f>'Chart Data'!$GT$2:$GT$100</c:f>
              <c:numCache>
                <c:formatCode>General</c:formatCode>
                <c:ptCount val="99"/>
                <c:pt idx="0">
                  <c:v>50</c:v>
                </c:pt>
                <c:pt idx="1">
                  <c:v>49</c:v>
                </c:pt>
                <c:pt idx="2">
                  <c:v>48</c:v>
                </c:pt>
                <c:pt idx="3">
                  <c:v>47</c:v>
                </c:pt>
                <c:pt idx="4">
                  <c:v>46</c:v>
                </c:pt>
                <c:pt idx="5">
                  <c:v>45</c:v>
                </c:pt>
                <c:pt idx="6">
                  <c:v>44</c:v>
                </c:pt>
                <c:pt idx="7">
                  <c:v>43</c:v>
                </c:pt>
                <c:pt idx="8">
                  <c:v>41</c:v>
                </c:pt>
                <c:pt idx="9">
                  <c:v>40</c:v>
                </c:pt>
                <c:pt idx="10">
                  <c:v>39</c:v>
                </c:pt>
                <c:pt idx="11">
                  <c:v>38</c:v>
                </c:pt>
                <c:pt idx="12">
                  <c:v>37</c:v>
                </c:pt>
                <c:pt idx="13">
                  <c:v>36</c:v>
                </c:pt>
                <c:pt idx="14">
                  <c:v>35</c:v>
                </c:pt>
                <c:pt idx="15">
                  <c:v>34</c:v>
                </c:pt>
                <c:pt idx="16">
                  <c:v>33</c:v>
                </c:pt>
                <c:pt idx="17">
                  <c:v>32</c:v>
                </c:pt>
                <c:pt idx="18">
                  <c:v>31</c:v>
                </c:pt>
                <c:pt idx="19">
                  <c:v>30</c:v>
                </c:pt>
                <c:pt idx="20">
                  <c:v>29</c:v>
                </c:pt>
                <c:pt idx="21">
                  <c:v>28</c:v>
                </c:pt>
                <c:pt idx="22">
                  <c:v>27</c:v>
                </c:pt>
                <c:pt idx="23">
                  <c:v>26</c:v>
                </c:pt>
                <c:pt idx="24">
                  <c:v>25</c:v>
                </c:pt>
                <c:pt idx="25">
                  <c:v>24</c:v>
                </c:pt>
                <c:pt idx="26">
                  <c:v>23</c:v>
                </c:pt>
                <c:pt idx="27">
                  <c:v>22</c:v>
                </c:pt>
                <c:pt idx="28">
                  <c:v>21</c:v>
                </c:pt>
                <c:pt idx="29">
                  <c:v>20</c:v>
                </c:pt>
                <c:pt idx="30">
                  <c:v>19</c:v>
                </c:pt>
                <c:pt idx="31">
                  <c:v>20</c:v>
                </c:pt>
                <c:pt idx="32">
                  <c:v>19</c:v>
                </c:pt>
                <c:pt idx="33">
                  <c:v>18</c:v>
                </c:pt>
                <c:pt idx="34">
                  <c:v>17</c:v>
                </c:pt>
                <c:pt idx="35">
                  <c:v>16</c:v>
                </c:pt>
                <c:pt idx="36">
                  <c:v>15</c:v>
                </c:pt>
                <c:pt idx="37">
                  <c:v>14</c:v>
                </c:pt>
                <c:pt idx="38">
                  <c:v>13</c:v>
                </c:pt>
                <c:pt idx="39">
                  <c:v>12</c:v>
                </c:pt>
                <c:pt idx="40">
                  <c:v>11</c:v>
                </c:pt>
                <c:pt idx="41">
                  <c:v>10</c:v>
                </c:pt>
                <c:pt idx="42">
                  <c:v>9</c:v>
                </c:pt>
                <c:pt idx="43">
                  <c:v>8</c:v>
                </c:pt>
                <c:pt idx="44">
                  <c:v>7</c:v>
                </c:pt>
                <c:pt idx="45">
                  <c:v>6</c:v>
                </c:pt>
                <c:pt idx="46">
                  <c:v>7</c:v>
                </c:pt>
                <c:pt idx="47">
                  <c:v>6</c:v>
                </c:pt>
                <c:pt idx="48">
                  <c:v>5</c:v>
                </c:pt>
                <c:pt idx="49">
                  <c:v>6</c:v>
                </c:pt>
                <c:pt idx="50">
                  <c:v>7</c:v>
                </c:pt>
                <c:pt idx="51">
                  <c:v>8</c:v>
                </c:pt>
                <c:pt idx="52">
                  <c:v>7</c:v>
                </c:pt>
                <c:pt idx="53">
                  <c:v>6</c:v>
                </c:pt>
                <c:pt idx="54">
                  <c:v>7</c:v>
                </c:pt>
                <c:pt idx="55">
                  <c:v>8</c:v>
                </c:pt>
                <c:pt idx="56">
                  <c:v>9</c:v>
                </c:pt>
                <c:pt idx="57">
                  <c:v>10</c:v>
                </c:pt>
                <c:pt idx="58">
                  <c:v>11</c:v>
                </c:pt>
                <c:pt idx="59">
                  <c:v>12</c:v>
                </c:pt>
                <c:pt idx="60">
                  <c:v>13</c:v>
                </c:pt>
                <c:pt idx="61">
                  <c:v>14</c:v>
                </c:pt>
                <c:pt idx="62">
                  <c:v>15</c:v>
                </c:pt>
                <c:pt idx="63">
                  <c:v>16</c:v>
                </c:pt>
                <c:pt idx="64">
                  <c:v>17</c:v>
                </c:pt>
                <c:pt idx="65">
                  <c:v>16</c:v>
                </c:pt>
                <c:pt idx="66">
                  <c:v>17</c:v>
                </c:pt>
                <c:pt idx="67">
                  <c:v>18</c:v>
                </c:pt>
                <c:pt idx="68">
                  <c:v>19</c:v>
                </c:pt>
                <c:pt idx="69">
                  <c:v>20</c:v>
                </c:pt>
                <c:pt idx="70">
                  <c:v>21</c:v>
                </c:pt>
                <c:pt idx="71">
                  <c:v>22</c:v>
                </c:pt>
                <c:pt idx="72">
                  <c:v>23</c:v>
                </c:pt>
                <c:pt idx="73">
                  <c:v>24</c:v>
                </c:pt>
                <c:pt idx="74">
                  <c:v>25</c:v>
                </c:pt>
                <c:pt idx="75">
                  <c:v>26</c:v>
                </c:pt>
                <c:pt idx="76">
                  <c:v>27</c:v>
                </c:pt>
                <c:pt idx="77">
                  <c:v>28</c:v>
                </c:pt>
                <c:pt idx="78">
                  <c:v>29</c:v>
                </c:pt>
                <c:pt idx="79">
                  <c:v>30</c:v>
                </c:pt>
                <c:pt idx="80">
                  <c:v>31</c:v>
                </c:pt>
                <c:pt idx="81">
                  <c:v>32</c:v>
                </c:pt>
                <c:pt idx="82">
                  <c:v>33</c:v>
                </c:pt>
                <c:pt idx="83">
                  <c:v>34</c:v>
                </c:pt>
                <c:pt idx="84">
                  <c:v>35</c:v>
                </c:pt>
                <c:pt idx="85">
                  <c:v>36</c:v>
                </c:pt>
                <c:pt idx="86">
                  <c:v>37</c:v>
                </c:pt>
                <c:pt idx="87">
                  <c:v>38</c:v>
                </c:pt>
                <c:pt idx="88">
                  <c:v>39</c:v>
                </c:pt>
                <c:pt idx="89">
                  <c:v>40</c:v>
                </c:pt>
                <c:pt idx="90">
                  <c:v>41</c:v>
                </c:pt>
                <c:pt idx="91">
                  <c:v>42</c:v>
                </c:pt>
                <c:pt idx="92">
                  <c:v>43</c:v>
                </c:pt>
                <c:pt idx="93">
                  <c:v>44</c:v>
                </c:pt>
                <c:pt idx="94">
                  <c:v>45</c:v>
                </c:pt>
                <c:pt idx="95">
                  <c:v>46</c:v>
                </c:pt>
                <c:pt idx="96">
                  <c:v>47</c:v>
                </c:pt>
                <c:pt idx="97">
                  <c:v>48</c:v>
                </c:pt>
                <c:pt idx="98">
                  <c:v>49</c:v>
                </c:pt>
              </c:numCache>
            </c:numRef>
          </c:yVal>
          <c:smooth val="0"/>
          <c:extLst>
            <c:ext xmlns:c16="http://schemas.microsoft.com/office/drawing/2014/chart" uri="{C3380CC4-5D6E-409C-BE32-E72D297353CC}">
              <c16:uniqueId val="{00000023-37C8-4FB6-A12D-299BC3303051}"/>
            </c:ext>
          </c:extLst>
        </c:ser>
        <c:ser>
          <c:idx val="101"/>
          <c:order val="101"/>
          <c:tx>
            <c:v>Current boundary</c:v>
          </c:tx>
          <c:spPr>
            <a:ln w="0">
              <a:noFill/>
            </a:ln>
          </c:spPr>
          <c:marker>
            <c:symbol val="circle"/>
            <c:size val="9"/>
            <c:spPr>
              <a:solidFill>
                <a:srgbClr val="087F83"/>
              </a:solidFill>
              <a:ln w="12700">
                <a:solidFill>
                  <a:srgbClr val="087F83"/>
                </a:solidFill>
              </a:ln>
            </c:spPr>
          </c:marker>
          <c:xVal>
            <c:numRef>
              <c:f>'Chart Data'!$GU$2:$GU$2</c:f>
              <c:numCache>
                <c:formatCode>General</c:formatCode>
                <c:ptCount val="1"/>
                <c:pt idx="0">
                  <c:v>-5.75</c:v>
                </c:pt>
              </c:numCache>
            </c:numRef>
          </c:xVal>
          <c:yVal>
            <c:numRef>
              <c:f>'Chart Data'!$GV$2:$GV$2</c:f>
              <c:numCache>
                <c:formatCode>General</c:formatCode>
                <c:ptCount val="1"/>
                <c:pt idx="0">
                  <c:v>31</c:v>
                </c:pt>
              </c:numCache>
            </c:numRef>
          </c:yVal>
          <c:smooth val="0"/>
          <c:extLst>
            <c:ext xmlns:c16="http://schemas.microsoft.com/office/drawing/2014/chart" uri="{C3380CC4-5D6E-409C-BE32-E72D297353CC}">
              <c16:uniqueId val="{00000024-37C8-4FB6-A12D-299BC3303051}"/>
            </c:ext>
          </c:extLst>
        </c:ser>
        <c:dLbls>
          <c:showLegendKey val="0"/>
          <c:showVal val="0"/>
          <c:showCatName val="0"/>
          <c:showSerName val="0"/>
          <c:showPercent val="0"/>
          <c:showBubbleSize val="0"/>
        </c:dLbls>
        <c:axId val="48650112"/>
        <c:axId val="48672768"/>
      </c:scatterChart>
      <c:valAx>
        <c:axId val="48672768"/>
        <c:scaling>
          <c:orientation val="minMax"/>
          <c:max val="5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Number of mistakes</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0"/>
      </c:valAx>
      <c:valAx>
        <c:axId val="48650112"/>
        <c:scaling>
          <c:orientation val="minMax"/>
          <c:max val="-3"/>
          <c:min val="-7"/>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Intercept b</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BA2E-421B-B490-73DCAF76EB79}"/>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BA2E-421B-B490-73DCAF76EB79}"/>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5.55</c:v>
                </c:pt>
                <c:pt idx="1">
                  <c:v>5.55</c:v>
                </c:pt>
              </c:numCache>
            </c:numRef>
          </c:yVal>
          <c:smooth val="0"/>
          <c:extLst>
            <c:ext xmlns:c16="http://schemas.microsoft.com/office/drawing/2014/chart" uri="{C3380CC4-5D6E-409C-BE32-E72D297353CC}">
              <c16:uniqueId val="{00000002-BA2E-421B-B490-73DCAF76EB79}"/>
            </c:ext>
          </c:extLst>
        </c:ser>
        <c:dLbls>
          <c:showLegendKey val="0"/>
          <c:showVal val="0"/>
          <c:showCatName val="0"/>
          <c:showSerName val="0"/>
          <c:showPercent val="0"/>
          <c:showBubbleSize val="0"/>
        </c:dLbls>
        <c:axId val="48650112"/>
        <c:axId val="48672768"/>
      </c:scatterChart>
      <c:valAx>
        <c:axId val="48672768"/>
        <c:scaling>
          <c:orientation val="minMax"/>
          <c:max val="7.5"/>
          <c:min val="2.5"/>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Mistakes</c:v>
          </c:tx>
          <c:spPr>
            <a:ln w="23813">
              <a:solidFill>
                <a:srgbClr val="C45C28"/>
              </a:solidFill>
              <a:prstDash val="solid"/>
            </a:ln>
          </c:spPr>
          <c:marker>
            <c:symbol val="none"/>
          </c:marker>
          <c:xVal>
            <c:numRef>
              <c:f>'Chart Data'!$A$2:$A$3</c:f>
              <c:numCache>
                <c:formatCode>General</c:formatCode>
                <c:ptCount val="2"/>
                <c:pt idx="0">
                  <c:v>-7</c:v>
                </c:pt>
                <c:pt idx="1">
                  <c:v>-6.9480000000000004</c:v>
                </c:pt>
              </c:numCache>
            </c:numRef>
          </c:xVal>
          <c:yVal>
            <c:numRef>
              <c:f>'Chart Data'!$B$2:$B$3</c:f>
              <c:numCache>
                <c:formatCode>General</c:formatCode>
                <c:ptCount val="2"/>
                <c:pt idx="0">
                  <c:v>50</c:v>
                </c:pt>
                <c:pt idx="1">
                  <c:v>50</c:v>
                </c:pt>
              </c:numCache>
            </c:numRef>
          </c:yVal>
          <c:smooth val="0"/>
          <c:extLst>
            <c:ext xmlns:c16="http://schemas.microsoft.com/office/drawing/2014/chart" uri="{C3380CC4-5D6E-409C-BE32-E72D297353CC}">
              <c16:uniqueId val="{00000000-DB0D-4F47-A31A-903FBCD88526}"/>
            </c:ext>
          </c:extLst>
        </c:ser>
        <c:ser>
          <c:idx val="1"/>
          <c:order val="1"/>
          <c:tx>
            <c:v>Mistakes</c:v>
          </c:tx>
          <c:spPr>
            <a:ln w="23813">
              <a:solidFill>
                <a:srgbClr val="C45C28"/>
              </a:solidFill>
              <a:prstDash val="solid"/>
            </a:ln>
          </c:spPr>
          <c:marker>
            <c:symbol val="none"/>
          </c:marker>
          <c:xVal>
            <c:numRef>
              <c:f>'Chart Data'!$C$2:$C$3</c:f>
              <c:numCache>
                <c:formatCode>General</c:formatCode>
                <c:ptCount val="2"/>
                <c:pt idx="0">
                  <c:v>-6.9480000000000004</c:v>
                </c:pt>
                <c:pt idx="1">
                  <c:v>-6.7720000000000002</c:v>
                </c:pt>
              </c:numCache>
            </c:numRef>
          </c:xVal>
          <c:yVal>
            <c:numRef>
              <c:f>'Chart Data'!$D$2:$D$3</c:f>
              <c:numCache>
                <c:formatCode>General</c:formatCode>
                <c:ptCount val="2"/>
                <c:pt idx="0">
                  <c:v>49</c:v>
                </c:pt>
                <c:pt idx="1">
                  <c:v>49</c:v>
                </c:pt>
              </c:numCache>
            </c:numRef>
          </c:yVal>
          <c:smooth val="0"/>
          <c:extLst>
            <c:ext xmlns:c16="http://schemas.microsoft.com/office/drawing/2014/chart" uri="{C3380CC4-5D6E-409C-BE32-E72D297353CC}">
              <c16:uniqueId val="{00000000-DB0D-4F47-A31A-903FBCD88526}"/>
            </c:ext>
          </c:extLst>
        </c:ser>
        <c:ser>
          <c:idx val="2"/>
          <c:order val="2"/>
          <c:tx>
            <c:v>Mistakes</c:v>
          </c:tx>
          <c:spPr>
            <a:ln w="23813">
              <a:solidFill>
                <a:srgbClr val="C45C28"/>
              </a:solidFill>
              <a:prstDash val="solid"/>
            </a:ln>
          </c:spPr>
          <c:marker>
            <c:symbol val="none"/>
          </c:marker>
          <c:xVal>
            <c:numRef>
              <c:f>'Chart Data'!$E$2:$E$3</c:f>
              <c:numCache>
                <c:formatCode>General</c:formatCode>
                <c:ptCount val="2"/>
                <c:pt idx="0">
                  <c:v>-6.7720000000000002</c:v>
                </c:pt>
                <c:pt idx="1">
                  <c:v>-6.6189999999999998</c:v>
                </c:pt>
              </c:numCache>
            </c:numRef>
          </c:xVal>
          <c:yVal>
            <c:numRef>
              <c:f>'Chart Data'!$F$2:$F$3</c:f>
              <c:numCache>
                <c:formatCode>General</c:formatCode>
                <c:ptCount val="2"/>
                <c:pt idx="0">
                  <c:v>48</c:v>
                </c:pt>
                <c:pt idx="1">
                  <c:v>48</c:v>
                </c:pt>
              </c:numCache>
            </c:numRef>
          </c:yVal>
          <c:smooth val="0"/>
          <c:extLst>
            <c:ext xmlns:c16="http://schemas.microsoft.com/office/drawing/2014/chart" uri="{C3380CC4-5D6E-409C-BE32-E72D297353CC}">
              <c16:uniqueId val="{00000000-DB0D-4F47-A31A-903FBCD88526}"/>
            </c:ext>
          </c:extLst>
        </c:ser>
        <c:ser>
          <c:idx val="3"/>
          <c:order val="3"/>
          <c:tx>
            <c:v>Mistakes</c:v>
          </c:tx>
          <c:spPr>
            <a:ln w="23813">
              <a:solidFill>
                <a:srgbClr val="C45C28"/>
              </a:solidFill>
              <a:prstDash val="solid"/>
            </a:ln>
          </c:spPr>
          <c:marker>
            <c:symbol val="none"/>
          </c:marker>
          <c:xVal>
            <c:numRef>
              <c:f>'Chart Data'!$G$2:$G$3</c:f>
              <c:numCache>
                <c:formatCode>General</c:formatCode>
                <c:ptCount val="2"/>
                <c:pt idx="0">
                  <c:v>-6.6189999999999998</c:v>
                </c:pt>
                <c:pt idx="1">
                  <c:v>-6.5609999999999999</c:v>
                </c:pt>
              </c:numCache>
            </c:numRef>
          </c:xVal>
          <c:yVal>
            <c:numRef>
              <c:f>'Chart Data'!$H$2:$H$3</c:f>
              <c:numCache>
                <c:formatCode>General</c:formatCode>
                <c:ptCount val="2"/>
                <c:pt idx="0">
                  <c:v>47</c:v>
                </c:pt>
                <c:pt idx="1">
                  <c:v>47</c:v>
                </c:pt>
              </c:numCache>
            </c:numRef>
          </c:yVal>
          <c:smooth val="0"/>
          <c:extLst>
            <c:ext xmlns:c16="http://schemas.microsoft.com/office/drawing/2014/chart" uri="{C3380CC4-5D6E-409C-BE32-E72D297353CC}">
              <c16:uniqueId val="{00000000-DB0D-4F47-A31A-903FBCD88526}"/>
            </c:ext>
          </c:extLst>
        </c:ser>
        <c:ser>
          <c:idx val="4"/>
          <c:order val="4"/>
          <c:tx>
            <c:v>Mistakes</c:v>
          </c:tx>
          <c:spPr>
            <a:ln w="23813">
              <a:solidFill>
                <a:srgbClr val="C45C28"/>
              </a:solidFill>
              <a:prstDash val="solid"/>
            </a:ln>
          </c:spPr>
          <c:marker>
            <c:symbol val="none"/>
          </c:marker>
          <c:xVal>
            <c:numRef>
              <c:f>'Chart Data'!$I$2:$I$3</c:f>
              <c:numCache>
                <c:formatCode>General</c:formatCode>
                <c:ptCount val="2"/>
                <c:pt idx="0">
                  <c:v>-6.5609999999999999</c:v>
                </c:pt>
                <c:pt idx="1">
                  <c:v>-6.4</c:v>
                </c:pt>
              </c:numCache>
            </c:numRef>
          </c:xVal>
          <c:yVal>
            <c:numRef>
              <c:f>'Chart Data'!$J$2:$J$3</c:f>
              <c:numCache>
                <c:formatCode>General</c:formatCode>
                <c:ptCount val="2"/>
                <c:pt idx="0">
                  <c:v>46</c:v>
                </c:pt>
                <c:pt idx="1">
                  <c:v>46</c:v>
                </c:pt>
              </c:numCache>
            </c:numRef>
          </c:yVal>
          <c:smooth val="0"/>
          <c:extLst>
            <c:ext xmlns:c16="http://schemas.microsoft.com/office/drawing/2014/chart" uri="{C3380CC4-5D6E-409C-BE32-E72D297353CC}">
              <c16:uniqueId val="{00000000-DB0D-4F47-A31A-903FBCD88526}"/>
            </c:ext>
          </c:extLst>
        </c:ser>
        <c:ser>
          <c:idx val="5"/>
          <c:order val="5"/>
          <c:tx>
            <c:v>Mistakes</c:v>
          </c:tx>
          <c:spPr>
            <a:ln w="23813">
              <a:solidFill>
                <a:srgbClr val="C45C28"/>
              </a:solidFill>
              <a:prstDash val="solid"/>
            </a:ln>
          </c:spPr>
          <c:marker>
            <c:symbol val="none"/>
          </c:marker>
          <c:xVal>
            <c:numRef>
              <c:f>'Chart Data'!$K$2:$K$3</c:f>
              <c:numCache>
                <c:formatCode>General</c:formatCode>
                <c:ptCount val="2"/>
                <c:pt idx="0">
                  <c:v>-6.4</c:v>
                </c:pt>
                <c:pt idx="1">
                  <c:v>-6.3</c:v>
                </c:pt>
              </c:numCache>
            </c:numRef>
          </c:xVal>
          <c:yVal>
            <c:numRef>
              <c:f>'Chart Data'!$L$2:$L$3</c:f>
              <c:numCache>
                <c:formatCode>General</c:formatCode>
                <c:ptCount val="2"/>
                <c:pt idx="0">
                  <c:v>45</c:v>
                </c:pt>
                <c:pt idx="1">
                  <c:v>45</c:v>
                </c:pt>
              </c:numCache>
            </c:numRef>
          </c:yVal>
          <c:smooth val="0"/>
          <c:extLst>
            <c:ext xmlns:c16="http://schemas.microsoft.com/office/drawing/2014/chart" uri="{C3380CC4-5D6E-409C-BE32-E72D297353CC}">
              <c16:uniqueId val="{00000000-DB0D-4F47-A31A-903FBCD88526}"/>
            </c:ext>
          </c:extLst>
        </c:ser>
        <c:ser>
          <c:idx val="6"/>
          <c:order val="6"/>
          <c:tx>
            <c:v>Mistakes</c:v>
          </c:tx>
          <c:spPr>
            <a:ln w="23813">
              <a:solidFill>
                <a:srgbClr val="C45C28"/>
              </a:solidFill>
              <a:prstDash val="solid"/>
            </a:ln>
          </c:spPr>
          <c:marker>
            <c:symbol val="none"/>
          </c:marker>
          <c:xVal>
            <c:numRef>
              <c:f>'Chart Data'!$M$2:$M$3</c:f>
              <c:numCache>
                <c:formatCode>General</c:formatCode>
                <c:ptCount val="2"/>
                <c:pt idx="0">
                  <c:v>-6.3</c:v>
                </c:pt>
                <c:pt idx="1">
                  <c:v>-6.2080000000000002</c:v>
                </c:pt>
              </c:numCache>
            </c:numRef>
          </c:xVal>
          <c:yVal>
            <c:numRef>
              <c:f>'Chart Data'!$N$2:$N$3</c:f>
              <c:numCache>
                <c:formatCode>General</c:formatCode>
                <c:ptCount val="2"/>
                <c:pt idx="0">
                  <c:v>44</c:v>
                </c:pt>
                <c:pt idx="1">
                  <c:v>44</c:v>
                </c:pt>
              </c:numCache>
            </c:numRef>
          </c:yVal>
          <c:smooth val="0"/>
          <c:extLst>
            <c:ext xmlns:c16="http://schemas.microsoft.com/office/drawing/2014/chart" uri="{C3380CC4-5D6E-409C-BE32-E72D297353CC}">
              <c16:uniqueId val="{00000000-DB0D-4F47-A31A-903FBCD88526}"/>
            </c:ext>
          </c:extLst>
        </c:ser>
        <c:ser>
          <c:idx val="7"/>
          <c:order val="7"/>
          <c:tx>
            <c:v>Mistakes</c:v>
          </c:tx>
          <c:spPr>
            <a:ln w="23813">
              <a:solidFill>
                <a:srgbClr val="C45C28"/>
              </a:solidFill>
              <a:prstDash val="solid"/>
            </a:ln>
          </c:spPr>
          <c:marker>
            <c:symbol val="none"/>
          </c:marker>
          <c:xVal>
            <c:numRef>
              <c:f>'Chart Data'!$O$2:$O$3</c:f>
              <c:numCache>
                <c:formatCode>General</c:formatCode>
                <c:ptCount val="2"/>
                <c:pt idx="0">
                  <c:v>-6.2080000000000002</c:v>
                </c:pt>
                <c:pt idx="1">
                  <c:v>-6.1</c:v>
                </c:pt>
              </c:numCache>
            </c:numRef>
          </c:xVal>
          <c:yVal>
            <c:numRef>
              <c:f>'Chart Data'!$P$2:$P$3</c:f>
              <c:numCache>
                <c:formatCode>General</c:formatCode>
                <c:ptCount val="2"/>
                <c:pt idx="0">
                  <c:v>43</c:v>
                </c:pt>
                <c:pt idx="1">
                  <c:v>43</c:v>
                </c:pt>
              </c:numCache>
            </c:numRef>
          </c:yVal>
          <c:smooth val="0"/>
          <c:extLst>
            <c:ext xmlns:c16="http://schemas.microsoft.com/office/drawing/2014/chart" uri="{C3380CC4-5D6E-409C-BE32-E72D297353CC}">
              <c16:uniqueId val="{00000000-DB0D-4F47-A31A-903FBCD88526}"/>
            </c:ext>
          </c:extLst>
        </c:ser>
        <c:ser>
          <c:idx val="8"/>
          <c:order val="8"/>
          <c:tx>
            <c:v>Mistakes</c:v>
          </c:tx>
          <c:spPr>
            <a:ln w="23813">
              <a:solidFill>
                <a:srgbClr val="C45C28"/>
              </a:solidFill>
              <a:prstDash val="solid"/>
            </a:ln>
          </c:spPr>
          <c:marker>
            <c:symbol val="none"/>
          </c:marker>
          <c:xVal>
            <c:numRef>
              <c:f>'Chart Data'!$Q$2:$Q$3</c:f>
              <c:numCache>
                <c:formatCode>General</c:formatCode>
                <c:ptCount val="2"/>
                <c:pt idx="0">
                  <c:v>-6.1</c:v>
                </c:pt>
                <c:pt idx="1">
                  <c:v>-6.0869999999999997</c:v>
                </c:pt>
              </c:numCache>
            </c:numRef>
          </c:xVal>
          <c:yVal>
            <c:numRef>
              <c:f>'Chart Data'!$R$2:$R$3</c:f>
              <c:numCache>
                <c:formatCode>General</c:formatCode>
                <c:ptCount val="2"/>
                <c:pt idx="0">
                  <c:v>41</c:v>
                </c:pt>
                <c:pt idx="1">
                  <c:v>41</c:v>
                </c:pt>
              </c:numCache>
            </c:numRef>
          </c:yVal>
          <c:smooth val="0"/>
          <c:extLst>
            <c:ext xmlns:c16="http://schemas.microsoft.com/office/drawing/2014/chart" uri="{C3380CC4-5D6E-409C-BE32-E72D297353CC}">
              <c16:uniqueId val="{00000000-DB0D-4F47-A31A-903FBCD88526}"/>
            </c:ext>
          </c:extLst>
        </c:ser>
        <c:ser>
          <c:idx val="9"/>
          <c:order val="9"/>
          <c:tx>
            <c:v>Mistakes</c:v>
          </c:tx>
          <c:spPr>
            <a:ln w="23813">
              <a:solidFill>
                <a:srgbClr val="C45C28"/>
              </a:solidFill>
              <a:prstDash val="solid"/>
            </a:ln>
          </c:spPr>
          <c:marker>
            <c:symbol val="none"/>
          </c:marker>
          <c:xVal>
            <c:numRef>
              <c:f>'Chart Data'!$S$2:$S$3</c:f>
              <c:numCache>
                <c:formatCode>General</c:formatCode>
                <c:ptCount val="2"/>
                <c:pt idx="0">
                  <c:v>-6.0869999999999997</c:v>
                </c:pt>
                <c:pt idx="1">
                  <c:v>-6.07</c:v>
                </c:pt>
              </c:numCache>
            </c:numRef>
          </c:xVal>
          <c:yVal>
            <c:numRef>
              <c:f>'Chart Data'!$T$2:$T$3</c:f>
              <c:numCache>
                <c:formatCode>General</c:formatCode>
                <c:ptCount val="2"/>
                <c:pt idx="0">
                  <c:v>40</c:v>
                </c:pt>
                <c:pt idx="1">
                  <c:v>40</c:v>
                </c:pt>
              </c:numCache>
            </c:numRef>
          </c:yVal>
          <c:smooth val="0"/>
          <c:extLst>
            <c:ext xmlns:c16="http://schemas.microsoft.com/office/drawing/2014/chart" uri="{C3380CC4-5D6E-409C-BE32-E72D297353CC}">
              <c16:uniqueId val="{00000000-DB0D-4F47-A31A-903FBCD88526}"/>
            </c:ext>
          </c:extLst>
        </c:ser>
        <c:ser>
          <c:idx val="10"/>
          <c:order val="10"/>
          <c:tx>
            <c:v>Mistakes</c:v>
          </c:tx>
          <c:spPr>
            <a:ln w="23813">
              <a:solidFill>
                <a:srgbClr val="C45C28"/>
              </a:solidFill>
              <a:prstDash val="solid"/>
            </a:ln>
          </c:spPr>
          <c:marker>
            <c:symbol val="none"/>
          </c:marker>
          <c:xVal>
            <c:numRef>
              <c:f>'Chart Data'!$U$2:$U$3</c:f>
              <c:numCache>
                <c:formatCode>General</c:formatCode>
                <c:ptCount val="2"/>
                <c:pt idx="0">
                  <c:v>-6.07</c:v>
                </c:pt>
                <c:pt idx="1">
                  <c:v>-6.0309999999999997</c:v>
                </c:pt>
              </c:numCache>
            </c:numRef>
          </c:xVal>
          <c:yVal>
            <c:numRef>
              <c:f>'Chart Data'!$V$2:$V$3</c:f>
              <c:numCache>
                <c:formatCode>General</c:formatCode>
                <c:ptCount val="2"/>
                <c:pt idx="0">
                  <c:v>39</c:v>
                </c:pt>
                <c:pt idx="1">
                  <c:v>39</c:v>
                </c:pt>
              </c:numCache>
            </c:numRef>
          </c:yVal>
          <c:smooth val="0"/>
          <c:extLst>
            <c:ext xmlns:c16="http://schemas.microsoft.com/office/drawing/2014/chart" uri="{C3380CC4-5D6E-409C-BE32-E72D297353CC}">
              <c16:uniqueId val="{00000000-DB0D-4F47-A31A-903FBCD88526}"/>
            </c:ext>
          </c:extLst>
        </c:ser>
        <c:ser>
          <c:idx val="11"/>
          <c:order val="11"/>
          <c:tx>
            <c:v>Mistakes</c:v>
          </c:tx>
          <c:spPr>
            <a:ln w="23813">
              <a:solidFill>
                <a:srgbClr val="C45C28"/>
              </a:solidFill>
              <a:prstDash val="solid"/>
            </a:ln>
          </c:spPr>
          <c:marker>
            <c:symbol val="none"/>
          </c:marker>
          <c:xVal>
            <c:numRef>
              <c:f>'Chart Data'!$W$2:$W$3</c:f>
              <c:numCache>
                <c:formatCode>General</c:formatCode>
                <c:ptCount val="2"/>
                <c:pt idx="0">
                  <c:v>-6.0309999999999997</c:v>
                </c:pt>
                <c:pt idx="1">
                  <c:v>-6.02</c:v>
                </c:pt>
              </c:numCache>
            </c:numRef>
          </c:xVal>
          <c:yVal>
            <c:numRef>
              <c:f>'Chart Data'!$X$2:$X$3</c:f>
              <c:numCache>
                <c:formatCode>General</c:formatCode>
                <c:ptCount val="2"/>
                <c:pt idx="0">
                  <c:v>38</c:v>
                </c:pt>
                <c:pt idx="1">
                  <c:v>38</c:v>
                </c:pt>
              </c:numCache>
            </c:numRef>
          </c:yVal>
          <c:smooth val="0"/>
          <c:extLst>
            <c:ext xmlns:c16="http://schemas.microsoft.com/office/drawing/2014/chart" uri="{C3380CC4-5D6E-409C-BE32-E72D297353CC}">
              <c16:uniqueId val="{00000000-DB0D-4F47-A31A-903FBCD88526}"/>
            </c:ext>
          </c:extLst>
        </c:ser>
        <c:ser>
          <c:idx val="12"/>
          <c:order val="12"/>
          <c:tx>
            <c:v>Mistakes</c:v>
          </c:tx>
          <c:spPr>
            <a:ln w="23813">
              <a:solidFill>
                <a:srgbClr val="C45C28"/>
              </a:solidFill>
              <a:prstDash val="solid"/>
            </a:ln>
          </c:spPr>
          <c:marker>
            <c:symbol val="none"/>
          </c:marker>
          <c:xVal>
            <c:numRef>
              <c:f>'Chart Data'!$Y$2:$Y$3</c:f>
              <c:numCache>
                <c:formatCode>General</c:formatCode>
                <c:ptCount val="2"/>
                <c:pt idx="0">
                  <c:v>-6.02</c:v>
                </c:pt>
                <c:pt idx="1">
                  <c:v>-5.9809999999999999</c:v>
                </c:pt>
              </c:numCache>
            </c:numRef>
          </c:xVal>
          <c:yVal>
            <c:numRef>
              <c:f>'Chart Data'!$Z$2:$Z$3</c:f>
              <c:numCache>
                <c:formatCode>General</c:formatCode>
                <c:ptCount val="2"/>
                <c:pt idx="0">
                  <c:v>37</c:v>
                </c:pt>
                <c:pt idx="1">
                  <c:v>37</c:v>
                </c:pt>
              </c:numCache>
            </c:numRef>
          </c:yVal>
          <c:smooth val="0"/>
          <c:extLst>
            <c:ext xmlns:c16="http://schemas.microsoft.com/office/drawing/2014/chart" uri="{C3380CC4-5D6E-409C-BE32-E72D297353CC}">
              <c16:uniqueId val="{00000000-DB0D-4F47-A31A-903FBCD88526}"/>
            </c:ext>
          </c:extLst>
        </c:ser>
        <c:ser>
          <c:idx val="13"/>
          <c:order val="13"/>
          <c:tx>
            <c:v>Mistakes</c:v>
          </c:tx>
          <c:spPr>
            <a:ln w="23813">
              <a:solidFill>
                <a:srgbClr val="C45C28"/>
              </a:solidFill>
              <a:prstDash val="solid"/>
            </a:ln>
          </c:spPr>
          <c:marker>
            <c:symbol val="none"/>
          </c:marker>
          <c:xVal>
            <c:numRef>
              <c:f>'Chart Data'!$AA$2:$AA$3</c:f>
              <c:numCache>
                <c:formatCode>General</c:formatCode>
                <c:ptCount val="2"/>
                <c:pt idx="0">
                  <c:v>-5.9809999999999999</c:v>
                </c:pt>
                <c:pt idx="1">
                  <c:v>-5.9359999999999999</c:v>
                </c:pt>
              </c:numCache>
            </c:numRef>
          </c:xVal>
          <c:yVal>
            <c:numRef>
              <c:f>'Chart Data'!$AB$2:$AB$3</c:f>
              <c:numCache>
                <c:formatCode>General</c:formatCode>
                <c:ptCount val="2"/>
                <c:pt idx="0">
                  <c:v>36</c:v>
                </c:pt>
                <c:pt idx="1">
                  <c:v>36</c:v>
                </c:pt>
              </c:numCache>
            </c:numRef>
          </c:yVal>
          <c:smooth val="0"/>
          <c:extLst>
            <c:ext xmlns:c16="http://schemas.microsoft.com/office/drawing/2014/chart" uri="{C3380CC4-5D6E-409C-BE32-E72D297353CC}">
              <c16:uniqueId val="{00000000-DB0D-4F47-A31A-903FBCD88526}"/>
            </c:ext>
          </c:extLst>
        </c:ser>
        <c:ser>
          <c:idx val="14"/>
          <c:order val="14"/>
          <c:tx>
            <c:v>Mistakes</c:v>
          </c:tx>
          <c:spPr>
            <a:ln w="23813">
              <a:solidFill>
                <a:srgbClr val="C45C28"/>
              </a:solidFill>
              <a:prstDash val="solid"/>
            </a:ln>
          </c:spPr>
          <c:marker>
            <c:symbol val="none"/>
          </c:marker>
          <c:xVal>
            <c:numRef>
              <c:f>'Chart Data'!$AC$2:$AC$3</c:f>
              <c:numCache>
                <c:formatCode>General</c:formatCode>
                <c:ptCount val="2"/>
                <c:pt idx="0">
                  <c:v>-5.9359999999999999</c:v>
                </c:pt>
                <c:pt idx="1">
                  <c:v>-5.9130000000000003</c:v>
                </c:pt>
              </c:numCache>
            </c:numRef>
          </c:xVal>
          <c:yVal>
            <c:numRef>
              <c:f>'Chart Data'!$AD$2:$AD$3</c:f>
              <c:numCache>
                <c:formatCode>General</c:formatCode>
                <c:ptCount val="2"/>
                <c:pt idx="0">
                  <c:v>35</c:v>
                </c:pt>
                <c:pt idx="1">
                  <c:v>35</c:v>
                </c:pt>
              </c:numCache>
            </c:numRef>
          </c:yVal>
          <c:smooth val="0"/>
          <c:extLst>
            <c:ext xmlns:c16="http://schemas.microsoft.com/office/drawing/2014/chart" uri="{C3380CC4-5D6E-409C-BE32-E72D297353CC}">
              <c16:uniqueId val="{00000000-DB0D-4F47-A31A-903FBCD88526}"/>
            </c:ext>
          </c:extLst>
        </c:ser>
        <c:ser>
          <c:idx val="15"/>
          <c:order val="15"/>
          <c:tx>
            <c:v>Mistakes</c:v>
          </c:tx>
          <c:spPr>
            <a:ln w="23813">
              <a:solidFill>
                <a:srgbClr val="C45C28"/>
              </a:solidFill>
              <a:prstDash val="solid"/>
            </a:ln>
          </c:spPr>
          <c:marker>
            <c:symbol val="none"/>
          </c:marker>
          <c:xVal>
            <c:numRef>
              <c:f>'Chart Data'!$AE$2:$AE$3</c:f>
              <c:numCache>
                <c:formatCode>General</c:formatCode>
                <c:ptCount val="2"/>
                <c:pt idx="0">
                  <c:v>-5.9130000000000003</c:v>
                </c:pt>
                <c:pt idx="1">
                  <c:v>-5.8259999999999996</c:v>
                </c:pt>
              </c:numCache>
            </c:numRef>
          </c:xVal>
          <c:yVal>
            <c:numRef>
              <c:f>'Chart Data'!$AF$2:$AF$3</c:f>
              <c:numCache>
                <c:formatCode>General</c:formatCode>
                <c:ptCount val="2"/>
                <c:pt idx="0">
                  <c:v>34</c:v>
                </c:pt>
                <c:pt idx="1">
                  <c:v>34</c:v>
                </c:pt>
              </c:numCache>
            </c:numRef>
          </c:yVal>
          <c:smooth val="0"/>
          <c:extLst>
            <c:ext xmlns:c16="http://schemas.microsoft.com/office/drawing/2014/chart" uri="{C3380CC4-5D6E-409C-BE32-E72D297353CC}">
              <c16:uniqueId val="{00000000-DB0D-4F47-A31A-903FBCD88526}"/>
            </c:ext>
          </c:extLst>
        </c:ser>
        <c:ser>
          <c:idx val="16"/>
          <c:order val="16"/>
          <c:tx>
            <c:v>Mistakes</c:v>
          </c:tx>
          <c:spPr>
            <a:ln w="23813">
              <a:solidFill>
                <a:srgbClr val="C45C28"/>
              </a:solidFill>
              <a:prstDash val="solid"/>
            </a:ln>
          </c:spPr>
          <c:marker>
            <c:symbol val="none"/>
          </c:marker>
          <c:xVal>
            <c:numRef>
              <c:f>'Chart Data'!$AG$2:$AG$3</c:f>
              <c:numCache>
                <c:formatCode>General</c:formatCode>
                <c:ptCount val="2"/>
                <c:pt idx="0">
                  <c:v>-5.8259999999999996</c:v>
                </c:pt>
                <c:pt idx="1">
                  <c:v>-5.8070000000000004</c:v>
                </c:pt>
              </c:numCache>
            </c:numRef>
          </c:xVal>
          <c:yVal>
            <c:numRef>
              <c:f>'Chart Data'!$AH$2:$AH$3</c:f>
              <c:numCache>
                <c:formatCode>General</c:formatCode>
                <c:ptCount val="2"/>
                <c:pt idx="0">
                  <c:v>33</c:v>
                </c:pt>
                <c:pt idx="1">
                  <c:v>33</c:v>
                </c:pt>
              </c:numCache>
            </c:numRef>
          </c:yVal>
          <c:smooth val="0"/>
          <c:extLst>
            <c:ext xmlns:c16="http://schemas.microsoft.com/office/drawing/2014/chart" uri="{C3380CC4-5D6E-409C-BE32-E72D297353CC}">
              <c16:uniqueId val="{00000000-DB0D-4F47-A31A-903FBCD88526}"/>
            </c:ext>
          </c:extLst>
        </c:ser>
        <c:ser>
          <c:idx val="17"/>
          <c:order val="17"/>
          <c:tx>
            <c:v>Mistakes</c:v>
          </c:tx>
          <c:spPr>
            <a:ln w="23813">
              <a:solidFill>
                <a:srgbClr val="C45C28"/>
              </a:solidFill>
              <a:prstDash val="solid"/>
            </a:ln>
          </c:spPr>
          <c:marker>
            <c:symbol val="none"/>
          </c:marker>
          <c:xVal>
            <c:numRef>
              <c:f>'Chart Data'!$AI$2:$AI$3</c:f>
              <c:numCache>
                <c:formatCode>General</c:formatCode>
                <c:ptCount val="2"/>
                <c:pt idx="0">
                  <c:v>-5.8070000000000004</c:v>
                </c:pt>
                <c:pt idx="1">
                  <c:v>-5.758</c:v>
                </c:pt>
              </c:numCache>
            </c:numRef>
          </c:xVal>
          <c:yVal>
            <c:numRef>
              <c:f>'Chart Data'!$AJ$2:$AJ$3</c:f>
              <c:numCache>
                <c:formatCode>General</c:formatCode>
                <c:ptCount val="2"/>
                <c:pt idx="0">
                  <c:v>32</c:v>
                </c:pt>
                <c:pt idx="1">
                  <c:v>32</c:v>
                </c:pt>
              </c:numCache>
            </c:numRef>
          </c:yVal>
          <c:smooth val="0"/>
          <c:extLst>
            <c:ext xmlns:c16="http://schemas.microsoft.com/office/drawing/2014/chart" uri="{C3380CC4-5D6E-409C-BE32-E72D297353CC}">
              <c16:uniqueId val="{00000000-DB0D-4F47-A31A-903FBCD88526}"/>
            </c:ext>
          </c:extLst>
        </c:ser>
        <c:ser>
          <c:idx val="18"/>
          <c:order val="18"/>
          <c:tx>
            <c:v>Mistakes</c:v>
          </c:tx>
          <c:spPr>
            <a:ln w="23813">
              <a:solidFill>
                <a:srgbClr val="C45C28"/>
              </a:solidFill>
              <a:prstDash val="solid"/>
            </a:ln>
          </c:spPr>
          <c:marker>
            <c:symbol val="none"/>
          </c:marker>
          <c:xVal>
            <c:numRef>
              <c:f>'Chart Data'!$AK$2:$AK$3</c:f>
              <c:numCache>
                <c:formatCode>General</c:formatCode>
                <c:ptCount val="2"/>
                <c:pt idx="0">
                  <c:v>-5.758</c:v>
                </c:pt>
                <c:pt idx="1">
                  <c:v>-5.7380000000000004</c:v>
                </c:pt>
              </c:numCache>
            </c:numRef>
          </c:xVal>
          <c:yVal>
            <c:numRef>
              <c:f>'Chart Data'!$AL$2:$AL$3</c:f>
              <c:numCache>
                <c:formatCode>General</c:formatCode>
                <c:ptCount val="2"/>
                <c:pt idx="0">
                  <c:v>31</c:v>
                </c:pt>
                <c:pt idx="1">
                  <c:v>31</c:v>
                </c:pt>
              </c:numCache>
            </c:numRef>
          </c:yVal>
          <c:smooth val="0"/>
          <c:extLst>
            <c:ext xmlns:c16="http://schemas.microsoft.com/office/drawing/2014/chart" uri="{C3380CC4-5D6E-409C-BE32-E72D297353CC}">
              <c16:uniqueId val="{00000000-DB0D-4F47-A31A-903FBCD88526}"/>
            </c:ext>
          </c:extLst>
        </c:ser>
        <c:ser>
          <c:idx val="19"/>
          <c:order val="19"/>
          <c:tx>
            <c:v>Mistakes</c:v>
          </c:tx>
          <c:spPr>
            <a:ln w="23813">
              <a:solidFill>
                <a:srgbClr val="C45C28"/>
              </a:solidFill>
              <a:prstDash val="solid"/>
            </a:ln>
          </c:spPr>
          <c:marker>
            <c:symbol val="none"/>
          </c:marker>
          <c:xVal>
            <c:numRef>
              <c:f>'Chart Data'!$AM$2:$AM$3</c:f>
              <c:numCache>
                <c:formatCode>General</c:formatCode>
                <c:ptCount val="2"/>
                <c:pt idx="0">
                  <c:v>-5.7380000000000004</c:v>
                </c:pt>
                <c:pt idx="1">
                  <c:v>-5.7190000000000003</c:v>
                </c:pt>
              </c:numCache>
            </c:numRef>
          </c:xVal>
          <c:yVal>
            <c:numRef>
              <c:f>'Chart Data'!$AN$2:$AN$3</c:f>
              <c:numCache>
                <c:formatCode>General</c:formatCode>
                <c:ptCount val="2"/>
                <c:pt idx="0">
                  <c:v>30</c:v>
                </c:pt>
                <c:pt idx="1">
                  <c:v>30</c:v>
                </c:pt>
              </c:numCache>
            </c:numRef>
          </c:yVal>
          <c:smooth val="0"/>
          <c:extLst>
            <c:ext xmlns:c16="http://schemas.microsoft.com/office/drawing/2014/chart" uri="{C3380CC4-5D6E-409C-BE32-E72D297353CC}">
              <c16:uniqueId val="{00000000-DB0D-4F47-A31A-903FBCD88526}"/>
            </c:ext>
          </c:extLst>
        </c:ser>
        <c:ser>
          <c:idx val="20"/>
          <c:order val="20"/>
          <c:tx>
            <c:v>Mistakes</c:v>
          </c:tx>
          <c:spPr>
            <a:ln w="23813">
              <a:solidFill>
                <a:srgbClr val="C45C28"/>
              </a:solidFill>
              <a:prstDash val="solid"/>
            </a:ln>
          </c:spPr>
          <c:marker>
            <c:symbol val="none"/>
          </c:marker>
          <c:xVal>
            <c:numRef>
              <c:f>'Chart Data'!$AO$2:$AO$3</c:f>
              <c:numCache>
                <c:formatCode>General</c:formatCode>
                <c:ptCount val="2"/>
                <c:pt idx="0">
                  <c:v>-5.7190000000000003</c:v>
                </c:pt>
                <c:pt idx="1">
                  <c:v>-5.6980000000000004</c:v>
                </c:pt>
              </c:numCache>
            </c:numRef>
          </c:xVal>
          <c:yVal>
            <c:numRef>
              <c:f>'Chart Data'!$AP$2:$AP$3</c:f>
              <c:numCache>
                <c:formatCode>General</c:formatCode>
                <c:ptCount val="2"/>
                <c:pt idx="0">
                  <c:v>29</c:v>
                </c:pt>
                <c:pt idx="1">
                  <c:v>29</c:v>
                </c:pt>
              </c:numCache>
            </c:numRef>
          </c:yVal>
          <c:smooth val="0"/>
          <c:extLst>
            <c:ext xmlns:c16="http://schemas.microsoft.com/office/drawing/2014/chart" uri="{C3380CC4-5D6E-409C-BE32-E72D297353CC}">
              <c16:uniqueId val="{00000000-DB0D-4F47-A31A-903FBCD88526}"/>
            </c:ext>
          </c:extLst>
        </c:ser>
        <c:ser>
          <c:idx val="21"/>
          <c:order val="21"/>
          <c:tx>
            <c:v>Mistakes</c:v>
          </c:tx>
          <c:spPr>
            <a:ln w="23813">
              <a:solidFill>
                <a:srgbClr val="C45C28"/>
              </a:solidFill>
              <a:prstDash val="solid"/>
            </a:ln>
          </c:spPr>
          <c:marker>
            <c:symbol val="none"/>
          </c:marker>
          <c:xVal>
            <c:numRef>
              <c:f>'Chart Data'!$AQ$2:$AQ$3</c:f>
              <c:numCache>
                <c:formatCode>General</c:formatCode>
                <c:ptCount val="2"/>
                <c:pt idx="0">
                  <c:v>-5.6980000000000004</c:v>
                </c:pt>
                <c:pt idx="1">
                  <c:v>-5.6760000000000002</c:v>
                </c:pt>
              </c:numCache>
            </c:numRef>
          </c:xVal>
          <c:yVal>
            <c:numRef>
              <c:f>'Chart Data'!$AR$2:$AR$3</c:f>
              <c:numCache>
                <c:formatCode>General</c:formatCode>
                <c:ptCount val="2"/>
                <c:pt idx="0">
                  <c:v>28</c:v>
                </c:pt>
                <c:pt idx="1">
                  <c:v>28</c:v>
                </c:pt>
              </c:numCache>
            </c:numRef>
          </c:yVal>
          <c:smooth val="0"/>
          <c:extLst>
            <c:ext xmlns:c16="http://schemas.microsoft.com/office/drawing/2014/chart" uri="{C3380CC4-5D6E-409C-BE32-E72D297353CC}">
              <c16:uniqueId val="{00000000-DB0D-4F47-A31A-903FBCD88526}"/>
            </c:ext>
          </c:extLst>
        </c:ser>
        <c:ser>
          <c:idx val="22"/>
          <c:order val="22"/>
          <c:tx>
            <c:v>Mistakes</c:v>
          </c:tx>
          <c:spPr>
            <a:ln w="23813">
              <a:solidFill>
                <a:srgbClr val="C45C28"/>
              </a:solidFill>
              <a:prstDash val="solid"/>
            </a:ln>
          </c:spPr>
          <c:marker>
            <c:symbol val="none"/>
          </c:marker>
          <c:xVal>
            <c:numRef>
              <c:f>'Chart Data'!$AS$2:$AS$3</c:f>
              <c:numCache>
                <c:formatCode>General</c:formatCode>
                <c:ptCount val="2"/>
                <c:pt idx="0">
                  <c:v>-5.6760000000000002</c:v>
                </c:pt>
                <c:pt idx="1">
                  <c:v>-5.63</c:v>
                </c:pt>
              </c:numCache>
            </c:numRef>
          </c:xVal>
          <c:yVal>
            <c:numRef>
              <c:f>'Chart Data'!$AT$2:$AT$3</c:f>
              <c:numCache>
                <c:formatCode>General</c:formatCode>
                <c:ptCount val="2"/>
                <c:pt idx="0">
                  <c:v>27</c:v>
                </c:pt>
                <c:pt idx="1">
                  <c:v>27</c:v>
                </c:pt>
              </c:numCache>
            </c:numRef>
          </c:yVal>
          <c:smooth val="0"/>
          <c:extLst>
            <c:ext xmlns:c16="http://schemas.microsoft.com/office/drawing/2014/chart" uri="{C3380CC4-5D6E-409C-BE32-E72D297353CC}">
              <c16:uniqueId val="{00000000-DB0D-4F47-A31A-903FBCD88526}"/>
            </c:ext>
          </c:extLst>
        </c:ser>
        <c:ser>
          <c:idx val="23"/>
          <c:order val="23"/>
          <c:tx>
            <c:v>Mistakes</c:v>
          </c:tx>
          <c:spPr>
            <a:ln w="23813">
              <a:solidFill>
                <a:srgbClr val="C45C28"/>
              </a:solidFill>
              <a:prstDash val="solid"/>
            </a:ln>
          </c:spPr>
          <c:marker>
            <c:symbol val="none"/>
          </c:marker>
          <c:xVal>
            <c:numRef>
              <c:f>'Chart Data'!$AU$2:$AU$3</c:f>
              <c:numCache>
                <c:formatCode>General</c:formatCode>
                <c:ptCount val="2"/>
                <c:pt idx="0">
                  <c:v>-5.63</c:v>
                </c:pt>
                <c:pt idx="1">
                  <c:v>-5.5620000000000003</c:v>
                </c:pt>
              </c:numCache>
            </c:numRef>
          </c:xVal>
          <c:yVal>
            <c:numRef>
              <c:f>'Chart Data'!$AV$2:$AV$3</c:f>
              <c:numCache>
                <c:formatCode>General</c:formatCode>
                <c:ptCount val="2"/>
                <c:pt idx="0">
                  <c:v>26</c:v>
                </c:pt>
                <c:pt idx="1">
                  <c:v>26</c:v>
                </c:pt>
              </c:numCache>
            </c:numRef>
          </c:yVal>
          <c:smooth val="0"/>
          <c:extLst>
            <c:ext xmlns:c16="http://schemas.microsoft.com/office/drawing/2014/chart" uri="{C3380CC4-5D6E-409C-BE32-E72D297353CC}">
              <c16:uniqueId val="{00000000-DB0D-4F47-A31A-903FBCD88526}"/>
            </c:ext>
          </c:extLst>
        </c:ser>
        <c:ser>
          <c:idx val="24"/>
          <c:order val="24"/>
          <c:tx>
            <c:v>Mistakes</c:v>
          </c:tx>
          <c:spPr>
            <a:ln w="23813">
              <a:solidFill>
                <a:srgbClr val="C45C28"/>
              </a:solidFill>
              <a:prstDash val="solid"/>
            </a:ln>
          </c:spPr>
          <c:marker>
            <c:symbol val="none"/>
          </c:marker>
          <c:xVal>
            <c:numRef>
              <c:f>'Chart Data'!$AW$2:$AW$3</c:f>
              <c:numCache>
                <c:formatCode>General</c:formatCode>
                <c:ptCount val="2"/>
                <c:pt idx="0">
                  <c:v>-5.5620000000000003</c:v>
                </c:pt>
                <c:pt idx="1">
                  <c:v>-5.5419999999999998</c:v>
                </c:pt>
              </c:numCache>
            </c:numRef>
          </c:xVal>
          <c:yVal>
            <c:numRef>
              <c:f>'Chart Data'!$AX$2:$AX$3</c:f>
              <c:numCache>
                <c:formatCode>General</c:formatCode>
                <c:ptCount val="2"/>
                <c:pt idx="0">
                  <c:v>25</c:v>
                </c:pt>
                <c:pt idx="1">
                  <c:v>25</c:v>
                </c:pt>
              </c:numCache>
            </c:numRef>
          </c:yVal>
          <c:smooth val="0"/>
          <c:extLst>
            <c:ext xmlns:c16="http://schemas.microsoft.com/office/drawing/2014/chart" uri="{C3380CC4-5D6E-409C-BE32-E72D297353CC}">
              <c16:uniqueId val="{00000000-DB0D-4F47-A31A-903FBCD88526}"/>
            </c:ext>
          </c:extLst>
        </c:ser>
        <c:ser>
          <c:idx val="25"/>
          <c:order val="25"/>
          <c:tx>
            <c:v>Mistakes</c:v>
          </c:tx>
          <c:spPr>
            <a:ln w="23813">
              <a:solidFill>
                <a:srgbClr val="C45C28"/>
              </a:solidFill>
              <a:prstDash val="solid"/>
            </a:ln>
          </c:spPr>
          <c:marker>
            <c:symbol val="none"/>
          </c:marker>
          <c:xVal>
            <c:numRef>
              <c:f>'Chart Data'!$AY$2:$AY$3</c:f>
              <c:numCache>
                <c:formatCode>General</c:formatCode>
                <c:ptCount val="2"/>
                <c:pt idx="0">
                  <c:v>-5.5419999999999998</c:v>
                </c:pt>
                <c:pt idx="1">
                  <c:v>-5.4950000000000001</c:v>
                </c:pt>
              </c:numCache>
            </c:numRef>
          </c:xVal>
          <c:yVal>
            <c:numRef>
              <c:f>'Chart Data'!$AZ$2:$AZ$3</c:f>
              <c:numCache>
                <c:formatCode>General</c:formatCode>
                <c:ptCount val="2"/>
                <c:pt idx="0">
                  <c:v>24</c:v>
                </c:pt>
                <c:pt idx="1">
                  <c:v>24</c:v>
                </c:pt>
              </c:numCache>
            </c:numRef>
          </c:yVal>
          <c:smooth val="0"/>
          <c:extLst>
            <c:ext xmlns:c16="http://schemas.microsoft.com/office/drawing/2014/chart" uri="{C3380CC4-5D6E-409C-BE32-E72D297353CC}">
              <c16:uniqueId val="{00000000-DB0D-4F47-A31A-903FBCD88526}"/>
            </c:ext>
          </c:extLst>
        </c:ser>
        <c:ser>
          <c:idx val="26"/>
          <c:order val="26"/>
          <c:tx>
            <c:v>Mistakes</c:v>
          </c:tx>
          <c:spPr>
            <a:ln w="23813">
              <a:solidFill>
                <a:srgbClr val="C45C28"/>
              </a:solidFill>
              <a:prstDash val="solid"/>
            </a:ln>
          </c:spPr>
          <c:marker>
            <c:symbol val="none"/>
          </c:marker>
          <c:xVal>
            <c:numRef>
              <c:f>'Chart Data'!$BA$2:$BA$3</c:f>
              <c:numCache>
                <c:formatCode>General</c:formatCode>
                <c:ptCount val="2"/>
                <c:pt idx="0">
                  <c:v>-5.4950000000000001</c:v>
                </c:pt>
                <c:pt idx="1">
                  <c:v>-5.4729999999999999</c:v>
                </c:pt>
              </c:numCache>
            </c:numRef>
          </c:xVal>
          <c:yVal>
            <c:numRef>
              <c:f>'Chart Data'!$BB$2:$BB$3</c:f>
              <c:numCache>
                <c:formatCode>General</c:formatCode>
                <c:ptCount val="2"/>
                <c:pt idx="0">
                  <c:v>23</c:v>
                </c:pt>
                <c:pt idx="1">
                  <c:v>23</c:v>
                </c:pt>
              </c:numCache>
            </c:numRef>
          </c:yVal>
          <c:smooth val="0"/>
          <c:extLst>
            <c:ext xmlns:c16="http://schemas.microsoft.com/office/drawing/2014/chart" uri="{C3380CC4-5D6E-409C-BE32-E72D297353CC}">
              <c16:uniqueId val="{00000000-DB0D-4F47-A31A-903FBCD88526}"/>
            </c:ext>
          </c:extLst>
        </c:ser>
        <c:ser>
          <c:idx val="27"/>
          <c:order val="27"/>
          <c:tx>
            <c:v>Mistakes</c:v>
          </c:tx>
          <c:spPr>
            <a:ln w="23813">
              <a:solidFill>
                <a:srgbClr val="C45C28"/>
              </a:solidFill>
              <a:prstDash val="solid"/>
            </a:ln>
          </c:spPr>
          <c:marker>
            <c:symbol val="none"/>
          </c:marker>
          <c:xVal>
            <c:numRef>
              <c:f>'Chart Data'!$BC$2:$BC$3</c:f>
              <c:numCache>
                <c:formatCode>General</c:formatCode>
                <c:ptCount val="2"/>
                <c:pt idx="0">
                  <c:v>-5.4729999999999999</c:v>
                </c:pt>
                <c:pt idx="1">
                  <c:v>-5.4539999999999997</c:v>
                </c:pt>
              </c:numCache>
            </c:numRef>
          </c:xVal>
          <c:yVal>
            <c:numRef>
              <c:f>'Chart Data'!$BD$2:$BD$3</c:f>
              <c:numCache>
                <c:formatCode>General</c:formatCode>
                <c:ptCount val="2"/>
                <c:pt idx="0">
                  <c:v>22</c:v>
                </c:pt>
                <c:pt idx="1">
                  <c:v>22</c:v>
                </c:pt>
              </c:numCache>
            </c:numRef>
          </c:yVal>
          <c:smooth val="0"/>
          <c:extLst>
            <c:ext xmlns:c16="http://schemas.microsoft.com/office/drawing/2014/chart" uri="{C3380CC4-5D6E-409C-BE32-E72D297353CC}">
              <c16:uniqueId val="{00000000-DB0D-4F47-A31A-903FBCD88526}"/>
            </c:ext>
          </c:extLst>
        </c:ser>
        <c:ser>
          <c:idx val="28"/>
          <c:order val="28"/>
          <c:tx>
            <c:v>Mistakes</c:v>
          </c:tx>
          <c:spPr>
            <a:ln w="23813">
              <a:solidFill>
                <a:srgbClr val="C45C28"/>
              </a:solidFill>
              <a:prstDash val="solid"/>
            </a:ln>
          </c:spPr>
          <c:marker>
            <c:symbol val="none"/>
          </c:marker>
          <c:xVal>
            <c:numRef>
              <c:f>'Chart Data'!$BE$2:$BE$3</c:f>
              <c:numCache>
                <c:formatCode>General</c:formatCode>
                <c:ptCount val="2"/>
                <c:pt idx="0">
                  <c:v>-5.4539999999999997</c:v>
                </c:pt>
                <c:pt idx="1">
                  <c:v>-5.41</c:v>
                </c:pt>
              </c:numCache>
            </c:numRef>
          </c:xVal>
          <c:yVal>
            <c:numRef>
              <c:f>'Chart Data'!$BF$2:$BF$3</c:f>
              <c:numCache>
                <c:formatCode>General</c:formatCode>
                <c:ptCount val="2"/>
                <c:pt idx="0">
                  <c:v>21</c:v>
                </c:pt>
                <c:pt idx="1">
                  <c:v>21</c:v>
                </c:pt>
              </c:numCache>
            </c:numRef>
          </c:yVal>
          <c:smooth val="0"/>
          <c:extLst>
            <c:ext xmlns:c16="http://schemas.microsoft.com/office/drawing/2014/chart" uri="{C3380CC4-5D6E-409C-BE32-E72D297353CC}">
              <c16:uniqueId val="{00000000-DB0D-4F47-A31A-903FBCD88526}"/>
            </c:ext>
          </c:extLst>
        </c:ser>
        <c:ser>
          <c:idx val="29"/>
          <c:order val="29"/>
          <c:tx>
            <c:v>Mistakes</c:v>
          </c:tx>
          <c:spPr>
            <a:ln w="23813">
              <a:solidFill>
                <a:srgbClr val="C45C28"/>
              </a:solidFill>
              <a:prstDash val="solid"/>
            </a:ln>
          </c:spPr>
          <c:marker>
            <c:symbol val="none"/>
          </c:marker>
          <c:xVal>
            <c:numRef>
              <c:f>'Chart Data'!$BG$2:$BG$3</c:f>
              <c:numCache>
                <c:formatCode>General</c:formatCode>
                <c:ptCount val="2"/>
                <c:pt idx="0">
                  <c:v>-5.41</c:v>
                </c:pt>
                <c:pt idx="1">
                  <c:v>-5.3849999999999998</c:v>
                </c:pt>
              </c:numCache>
            </c:numRef>
          </c:xVal>
          <c:yVal>
            <c:numRef>
              <c:f>'Chart Data'!$BH$2:$BH$3</c:f>
              <c:numCache>
                <c:formatCode>General</c:formatCode>
                <c:ptCount val="2"/>
                <c:pt idx="0">
                  <c:v>20</c:v>
                </c:pt>
                <c:pt idx="1">
                  <c:v>20</c:v>
                </c:pt>
              </c:numCache>
            </c:numRef>
          </c:yVal>
          <c:smooth val="0"/>
          <c:extLst>
            <c:ext xmlns:c16="http://schemas.microsoft.com/office/drawing/2014/chart" uri="{C3380CC4-5D6E-409C-BE32-E72D297353CC}">
              <c16:uniqueId val="{00000000-DB0D-4F47-A31A-903FBCD88526}"/>
            </c:ext>
          </c:extLst>
        </c:ser>
        <c:ser>
          <c:idx val="30"/>
          <c:order val="30"/>
          <c:tx>
            <c:v>Mistakes</c:v>
          </c:tx>
          <c:spPr>
            <a:ln w="23813">
              <a:solidFill>
                <a:srgbClr val="C45C28"/>
              </a:solidFill>
              <a:prstDash val="solid"/>
            </a:ln>
          </c:spPr>
          <c:marker>
            <c:symbol val="none"/>
          </c:marker>
          <c:xVal>
            <c:numRef>
              <c:f>'Chart Data'!$BI$2:$BI$3</c:f>
              <c:numCache>
                <c:formatCode>General</c:formatCode>
                <c:ptCount val="2"/>
                <c:pt idx="0">
                  <c:v>-5.3849999999999998</c:v>
                </c:pt>
                <c:pt idx="1">
                  <c:v>-5.3769999999999998</c:v>
                </c:pt>
              </c:numCache>
            </c:numRef>
          </c:xVal>
          <c:yVal>
            <c:numRef>
              <c:f>'Chart Data'!$BJ$2:$BJ$3</c:f>
              <c:numCache>
                <c:formatCode>General</c:formatCode>
                <c:ptCount val="2"/>
                <c:pt idx="0">
                  <c:v>19</c:v>
                </c:pt>
                <c:pt idx="1">
                  <c:v>19</c:v>
                </c:pt>
              </c:numCache>
            </c:numRef>
          </c:yVal>
          <c:smooth val="0"/>
          <c:extLst>
            <c:ext xmlns:c16="http://schemas.microsoft.com/office/drawing/2014/chart" uri="{C3380CC4-5D6E-409C-BE32-E72D297353CC}">
              <c16:uniqueId val="{00000000-DB0D-4F47-A31A-903FBCD88526}"/>
            </c:ext>
          </c:extLst>
        </c:ser>
        <c:ser>
          <c:idx val="31"/>
          <c:order val="31"/>
          <c:tx>
            <c:v>Mistakes</c:v>
          </c:tx>
          <c:spPr>
            <a:ln w="23813">
              <a:solidFill>
                <a:srgbClr val="C45C28"/>
              </a:solidFill>
              <a:prstDash val="solid"/>
            </a:ln>
          </c:spPr>
          <c:marker>
            <c:symbol val="none"/>
          </c:marker>
          <c:xVal>
            <c:numRef>
              <c:f>'Chart Data'!$BK$2:$BK$3</c:f>
              <c:numCache>
                <c:formatCode>General</c:formatCode>
                <c:ptCount val="2"/>
                <c:pt idx="0">
                  <c:v>-5.3769999999999998</c:v>
                </c:pt>
                <c:pt idx="1">
                  <c:v>-5.2960000000000003</c:v>
                </c:pt>
              </c:numCache>
            </c:numRef>
          </c:xVal>
          <c:yVal>
            <c:numRef>
              <c:f>'Chart Data'!$BL$2:$BL$3</c:f>
              <c:numCache>
                <c:formatCode>General</c:formatCode>
                <c:ptCount val="2"/>
                <c:pt idx="0">
                  <c:v>20</c:v>
                </c:pt>
                <c:pt idx="1">
                  <c:v>20</c:v>
                </c:pt>
              </c:numCache>
            </c:numRef>
          </c:yVal>
          <c:smooth val="0"/>
          <c:extLst>
            <c:ext xmlns:c16="http://schemas.microsoft.com/office/drawing/2014/chart" uri="{C3380CC4-5D6E-409C-BE32-E72D297353CC}">
              <c16:uniqueId val="{00000000-DB0D-4F47-A31A-903FBCD88526}"/>
            </c:ext>
          </c:extLst>
        </c:ser>
        <c:ser>
          <c:idx val="32"/>
          <c:order val="32"/>
          <c:tx>
            <c:v>Mistakes</c:v>
          </c:tx>
          <c:spPr>
            <a:ln w="23813">
              <a:solidFill>
                <a:srgbClr val="C45C28"/>
              </a:solidFill>
              <a:prstDash val="solid"/>
            </a:ln>
          </c:spPr>
          <c:marker>
            <c:symbol val="none"/>
          </c:marker>
          <c:xVal>
            <c:numRef>
              <c:f>'Chart Data'!$BM$2:$BM$3</c:f>
              <c:numCache>
                <c:formatCode>General</c:formatCode>
                <c:ptCount val="2"/>
                <c:pt idx="0">
                  <c:v>-5.2960000000000003</c:v>
                </c:pt>
                <c:pt idx="1">
                  <c:v>-5.2889999999999997</c:v>
                </c:pt>
              </c:numCache>
            </c:numRef>
          </c:xVal>
          <c:yVal>
            <c:numRef>
              <c:f>'Chart Data'!$BN$2:$BN$3</c:f>
              <c:numCache>
                <c:formatCode>General</c:formatCode>
                <c:ptCount val="2"/>
                <c:pt idx="0">
                  <c:v>19</c:v>
                </c:pt>
                <c:pt idx="1">
                  <c:v>19</c:v>
                </c:pt>
              </c:numCache>
            </c:numRef>
          </c:yVal>
          <c:smooth val="0"/>
          <c:extLst>
            <c:ext xmlns:c16="http://schemas.microsoft.com/office/drawing/2014/chart" uri="{C3380CC4-5D6E-409C-BE32-E72D297353CC}">
              <c16:uniqueId val="{00000000-DB0D-4F47-A31A-903FBCD88526}"/>
            </c:ext>
          </c:extLst>
        </c:ser>
        <c:ser>
          <c:idx val="33"/>
          <c:order val="33"/>
          <c:tx>
            <c:v>Mistakes</c:v>
          </c:tx>
          <c:spPr>
            <a:ln w="23813">
              <a:solidFill>
                <a:srgbClr val="C45C28"/>
              </a:solidFill>
              <a:prstDash val="solid"/>
            </a:ln>
          </c:spPr>
          <c:marker>
            <c:symbol val="none"/>
          </c:marker>
          <c:xVal>
            <c:numRef>
              <c:f>'Chart Data'!$BO$2:$BO$3</c:f>
              <c:numCache>
                <c:formatCode>General</c:formatCode>
                <c:ptCount val="2"/>
                <c:pt idx="0">
                  <c:v>-5.2889999999999997</c:v>
                </c:pt>
                <c:pt idx="1">
                  <c:v>-5.2279999999999998</c:v>
                </c:pt>
              </c:numCache>
            </c:numRef>
          </c:xVal>
          <c:yVal>
            <c:numRef>
              <c:f>'Chart Data'!$BP$2:$BP$3</c:f>
              <c:numCache>
                <c:formatCode>General</c:formatCode>
                <c:ptCount val="2"/>
                <c:pt idx="0">
                  <c:v>18</c:v>
                </c:pt>
                <c:pt idx="1">
                  <c:v>18</c:v>
                </c:pt>
              </c:numCache>
            </c:numRef>
          </c:yVal>
          <c:smooth val="0"/>
          <c:extLst>
            <c:ext xmlns:c16="http://schemas.microsoft.com/office/drawing/2014/chart" uri="{C3380CC4-5D6E-409C-BE32-E72D297353CC}">
              <c16:uniqueId val="{00000000-DB0D-4F47-A31A-903FBCD88526}"/>
            </c:ext>
          </c:extLst>
        </c:ser>
        <c:ser>
          <c:idx val="34"/>
          <c:order val="34"/>
          <c:tx>
            <c:v>Mistakes</c:v>
          </c:tx>
          <c:spPr>
            <a:ln w="23813">
              <a:solidFill>
                <a:srgbClr val="C45C28"/>
              </a:solidFill>
              <a:prstDash val="solid"/>
            </a:ln>
          </c:spPr>
          <c:marker>
            <c:symbol val="none"/>
          </c:marker>
          <c:xVal>
            <c:numRef>
              <c:f>'Chart Data'!$BQ$2:$BQ$3</c:f>
              <c:numCache>
                <c:formatCode>General</c:formatCode>
                <c:ptCount val="2"/>
                <c:pt idx="0">
                  <c:v>-5.2279999999999998</c:v>
                </c:pt>
                <c:pt idx="1">
                  <c:v>-5.2130000000000001</c:v>
                </c:pt>
              </c:numCache>
            </c:numRef>
          </c:xVal>
          <c:yVal>
            <c:numRef>
              <c:f>'Chart Data'!$BR$2:$BR$3</c:f>
              <c:numCache>
                <c:formatCode>General</c:formatCode>
                <c:ptCount val="2"/>
                <c:pt idx="0">
                  <c:v>17</c:v>
                </c:pt>
                <c:pt idx="1">
                  <c:v>17</c:v>
                </c:pt>
              </c:numCache>
            </c:numRef>
          </c:yVal>
          <c:smooth val="0"/>
          <c:extLst>
            <c:ext xmlns:c16="http://schemas.microsoft.com/office/drawing/2014/chart" uri="{C3380CC4-5D6E-409C-BE32-E72D297353CC}">
              <c16:uniqueId val="{00000000-DB0D-4F47-A31A-903FBCD88526}"/>
            </c:ext>
          </c:extLst>
        </c:ser>
        <c:ser>
          <c:idx val="35"/>
          <c:order val="35"/>
          <c:tx>
            <c:v>Mistakes</c:v>
          </c:tx>
          <c:spPr>
            <a:ln w="23813">
              <a:solidFill>
                <a:srgbClr val="C45C28"/>
              </a:solidFill>
              <a:prstDash val="solid"/>
            </a:ln>
          </c:spPr>
          <c:marker>
            <c:symbol val="none"/>
          </c:marker>
          <c:xVal>
            <c:numRef>
              <c:f>'Chart Data'!$BS$2:$BS$3</c:f>
              <c:numCache>
                <c:formatCode>General</c:formatCode>
                <c:ptCount val="2"/>
                <c:pt idx="0">
                  <c:v>-5.2130000000000001</c:v>
                </c:pt>
                <c:pt idx="1">
                  <c:v>-5.2080000000000002</c:v>
                </c:pt>
              </c:numCache>
            </c:numRef>
          </c:xVal>
          <c:yVal>
            <c:numRef>
              <c:f>'Chart Data'!$BT$2:$BT$3</c:f>
              <c:numCache>
                <c:formatCode>General</c:formatCode>
                <c:ptCount val="2"/>
                <c:pt idx="0">
                  <c:v>16</c:v>
                </c:pt>
                <c:pt idx="1">
                  <c:v>16</c:v>
                </c:pt>
              </c:numCache>
            </c:numRef>
          </c:yVal>
          <c:smooth val="0"/>
          <c:extLst>
            <c:ext xmlns:c16="http://schemas.microsoft.com/office/drawing/2014/chart" uri="{C3380CC4-5D6E-409C-BE32-E72D297353CC}">
              <c16:uniqueId val="{00000000-DB0D-4F47-A31A-903FBCD88526}"/>
            </c:ext>
          </c:extLst>
        </c:ser>
        <c:ser>
          <c:idx val="36"/>
          <c:order val="36"/>
          <c:tx>
            <c:v>Mistakes</c:v>
          </c:tx>
          <c:spPr>
            <a:ln w="23813">
              <a:solidFill>
                <a:srgbClr val="C45C28"/>
              </a:solidFill>
              <a:prstDash val="solid"/>
            </a:ln>
          </c:spPr>
          <c:marker>
            <c:symbol val="none"/>
          </c:marker>
          <c:xVal>
            <c:numRef>
              <c:f>'Chart Data'!$BU$2:$BU$3</c:f>
              <c:numCache>
                <c:formatCode>General</c:formatCode>
                <c:ptCount val="2"/>
                <c:pt idx="0">
                  <c:v>-5.2080000000000002</c:v>
                </c:pt>
                <c:pt idx="1">
                  <c:v>-5.19</c:v>
                </c:pt>
              </c:numCache>
            </c:numRef>
          </c:xVal>
          <c:yVal>
            <c:numRef>
              <c:f>'Chart Data'!$BV$2:$BV$3</c:f>
              <c:numCache>
                <c:formatCode>General</c:formatCode>
                <c:ptCount val="2"/>
                <c:pt idx="0">
                  <c:v>15</c:v>
                </c:pt>
                <c:pt idx="1">
                  <c:v>15</c:v>
                </c:pt>
              </c:numCache>
            </c:numRef>
          </c:yVal>
          <c:smooth val="0"/>
          <c:extLst>
            <c:ext xmlns:c16="http://schemas.microsoft.com/office/drawing/2014/chart" uri="{C3380CC4-5D6E-409C-BE32-E72D297353CC}">
              <c16:uniqueId val="{00000000-DB0D-4F47-A31A-903FBCD88526}"/>
            </c:ext>
          </c:extLst>
        </c:ser>
        <c:ser>
          <c:idx val="37"/>
          <c:order val="37"/>
          <c:tx>
            <c:v>Mistakes</c:v>
          </c:tx>
          <c:spPr>
            <a:ln w="23813">
              <a:solidFill>
                <a:srgbClr val="C45C28"/>
              </a:solidFill>
              <a:prstDash val="solid"/>
            </a:ln>
          </c:spPr>
          <c:marker>
            <c:symbol val="none"/>
          </c:marker>
          <c:xVal>
            <c:numRef>
              <c:f>'Chart Data'!$BW$2:$BW$3</c:f>
              <c:numCache>
                <c:formatCode>General</c:formatCode>
                <c:ptCount val="2"/>
                <c:pt idx="0">
                  <c:v>-5.19</c:v>
                </c:pt>
                <c:pt idx="1">
                  <c:v>-5.14</c:v>
                </c:pt>
              </c:numCache>
            </c:numRef>
          </c:xVal>
          <c:yVal>
            <c:numRef>
              <c:f>'Chart Data'!$BX$2:$BX$3</c:f>
              <c:numCache>
                <c:formatCode>General</c:formatCode>
                <c:ptCount val="2"/>
                <c:pt idx="0">
                  <c:v>14</c:v>
                </c:pt>
                <c:pt idx="1">
                  <c:v>14</c:v>
                </c:pt>
              </c:numCache>
            </c:numRef>
          </c:yVal>
          <c:smooth val="0"/>
          <c:extLst>
            <c:ext xmlns:c16="http://schemas.microsoft.com/office/drawing/2014/chart" uri="{C3380CC4-5D6E-409C-BE32-E72D297353CC}">
              <c16:uniqueId val="{00000000-DB0D-4F47-A31A-903FBCD88526}"/>
            </c:ext>
          </c:extLst>
        </c:ser>
        <c:ser>
          <c:idx val="38"/>
          <c:order val="38"/>
          <c:tx>
            <c:v>Mistakes</c:v>
          </c:tx>
          <c:spPr>
            <a:ln w="23813">
              <a:solidFill>
                <a:srgbClr val="C45C28"/>
              </a:solidFill>
              <a:prstDash val="solid"/>
            </a:ln>
          </c:spPr>
          <c:marker>
            <c:symbol val="none"/>
          </c:marker>
          <c:xVal>
            <c:numRef>
              <c:f>'Chart Data'!$BY$2:$BY$3</c:f>
              <c:numCache>
                <c:formatCode>General</c:formatCode>
                <c:ptCount val="2"/>
                <c:pt idx="0">
                  <c:v>-5.14</c:v>
                </c:pt>
                <c:pt idx="1">
                  <c:v>-5.1349999999999998</c:v>
                </c:pt>
              </c:numCache>
            </c:numRef>
          </c:xVal>
          <c:yVal>
            <c:numRef>
              <c:f>'Chart Data'!$BZ$2:$BZ$3</c:f>
              <c:numCache>
                <c:formatCode>General</c:formatCode>
                <c:ptCount val="2"/>
                <c:pt idx="0">
                  <c:v>13</c:v>
                </c:pt>
                <c:pt idx="1">
                  <c:v>13</c:v>
                </c:pt>
              </c:numCache>
            </c:numRef>
          </c:yVal>
          <c:smooth val="0"/>
          <c:extLst>
            <c:ext xmlns:c16="http://schemas.microsoft.com/office/drawing/2014/chart" uri="{C3380CC4-5D6E-409C-BE32-E72D297353CC}">
              <c16:uniqueId val="{00000000-DB0D-4F47-A31A-903FBCD88526}"/>
            </c:ext>
          </c:extLst>
        </c:ser>
        <c:ser>
          <c:idx val="39"/>
          <c:order val="39"/>
          <c:tx>
            <c:v>Mistakes</c:v>
          </c:tx>
          <c:spPr>
            <a:ln w="23813">
              <a:solidFill>
                <a:srgbClr val="C45C28"/>
              </a:solidFill>
              <a:prstDash val="solid"/>
            </a:ln>
          </c:spPr>
          <c:marker>
            <c:symbol val="none"/>
          </c:marker>
          <c:xVal>
            <c:numRef>
              <c:f>'Chart Data'!$CA$2:$CA$3</c:f>
              <c:numCache>
                <c:formatCode>General</c:formatCode>
                <c:ptCount val="2"/>
                <c:pt idx="0">
                  <c:v>-5.1349999999999998</c:v>
                </c:pt>
                <c:pt idx="1">
                  <c:v>-5.1210000000000004</c:v>
                </c:pt>
              </c:numCache>
            </c:numRef>
          </c:xVal>
          <c:yVal>
            <c:numRef>
              <c:f>'Chart Data'!$CB$2:$CB$3</c:f>
              <c:numCache>
                <c:formatCode>General</c:formatCode>
                <c:ptCount val="2"/>
                <c:pt idx="0">
                  <c:v>12</c:v>
                </c:pt>
                <c:pt idx="1">
                  <c:v>12</c:v>
                </c:pt>
              </c:numCache>
            </c:numRef>
          </c:yVal>
          <c:smooth val="0"/>
          <c:extLst>
            <c:ext xmlns:c16="http://schemas.microsoft.com/office/drawing/2014/chart" uri="{C3380CC4-5D6E-409C-BE32-E72D297353CC}">
              <c16:uniqueId val="{00000000-DB0D-4F47-A31A-903FBCD88526}"/>
            </c:ext>
          </c:extLst>
        </c:ser>
        <c:ser>
          <c:idx val="40"/>
          <c:order val="40"/>
          <c:tx>
            <c:v>Mistakes</c:v>
          </c:tx>
          <c:spPr>
            <a:ln w="23813">
              <a:solidFill>
                <a:srgbClr val="C45C28"/>
              </a:solidFill>
              <a:prstDash val="solid"/>
            </a:ln>
          </c:spPr>
          <c:marker>
            <c:symbol val="none"/>
          </c:marker>
          <c:xVal>
            <c:numRef>
              <c:f>'Chart Data'!$CC$2:$CC$3</c:f>
              <c:numCache>
                <c:formatCode>General</c:formatCode>
                <c:ptCount val="2"/>
                <c:pt idx="0">
                  <c:v>-5.1210000000000004</c:v>
                </c:pt>
                <c:pt idx="1">
                  <c:v>-5.0510000000000002</c:v>
                </c:pt>
              </c:numCache>
            </c:numRef>
          </c:xVal>
          <c:yVal>
            <c:numRef>
              <c:f>'Chart Data'!$CD$2:$CD$3</c:f>
              <c:numCache>
                <c:formatCode>General</c:formatCode>
                <c:ptCount val="2"/>
                <c:pt idx="0">
                  <c:v>11</c:v>
                </c:pt>
                <c:pt idx="1">
                  <c:v>11</c:v>
                </c:pt>
              </c:numCache>
            </c:numRef>
          </c:yVal>
          <c:smooth val="0"/>
          <c:extLst>
            <c:ext xmlns:c16="http://schemas.microsoft.com/office/drawing/2014/chart" uri="{C3380CC4-5D6E-409C-BE32-E72D297353CC}">
              <c16:uniqueId val="{00000000-DB0D-4F47-A31A-903FBCD88526}"/>
            </c:ext>
          </c:extLst>
        </c:ser>
        <c:ser>
          <c:idx val="41"/>
          <c:order val="41"/>
          <c:tx>
            <c:v>Mistakes</c:v>
          </c:tx>
          <c:spPr>
            <a:ln w="23813">
              <a:solidFill>
                <a:srgbClr val="C45C28"/>
              </a:solidFill>
              <a:prstDash val="solid"/>
            </a:ln>
          </c:spPr>
          <c:marker>
            <c:symbol val="none"/>
          </c:marker>
          <c:xVal>
            <c:numRef>
              <c:f>'Chart Data'!$CE$2:$CE$3</c:f>
              <c:numCache>
                <c:formatCode>General</c:formatCode>
                <c:ptCount val="2"/>
                <c:pt idx="0">
                  <c:v>-5.0510000000000002</c:v>
                </c:pt>
                <c:pt idx="1">
                  <c:v>-5.0339999999999998</c:v>
                </c:pt>
              </c:numCache>
            </c:numRef>
          </c:xVal>
          <c:yVal>
            <c:numRef>
              <c:f>'Chart Data'!$CF$2:$CF$3</c:f>
              <c:numCache>
                <c:formatCode>General</c:formatCode>
                <c:ptCount val="2"/>
                <c:pt idx="0">
                  <c:v>10</c:v>
                </c:pt>
                <c:pt idx="1">
                  <c:v>10</c:v>
                </c:pt>
              </c:numCache>
            </c:numRef>
          </c:yVal>
          <c:smooth val="0"/>
          <c:extLst>
            <c:ext xmlns:c16="http://schemas.microsoft.com/office/drawing/2014/chart" uri="{C3380CC4-5D6E-409C-BE32-E72D297353CC}">
              <c16:uniqueId val="{00000000-DB0D-4F47-A31A-903FBCD88526}"/>
            </c:ext>
          </c:extLst>
        </c:ser>
        <c:ser>
          <c:idx val="42"/>
          <c:order val="42"/>
          <c:tx>
            <c:v>Mistakes</c:v>
          </c:tx>
          <c:spPr>
            <a:ln w="23813">
              <a:solidFill>
                <a:srgbClr val="C45C28"/>
              </a:solidFill>
              <a:prstDash val="solid"/>
            </a:ln>
          </c:spPr>
          <c:marker>
            <c:symbol val="none"/>
          </c:marker>
          <c:xVal>
            <c:numRef>
              <c:f>'Chart Data'!$CG$2:$CG$3</c:f>
              <c:numCache>
                <c:formatCode>General</c:formatCode>
                <c:ptCount val="2"/>
                <c:pt idx="0">
                  <c:v>-5.0339999999999998</c:v>
                </c:pt>
                <c:pt idx="1">
                  <c:v>-5.016</c:v>
                </c:pt>
              </c:numCache>
            </c:numRef>
          </c:xVal>
          <c:yVal>
            <c:numRef>
              <c:f>'Chart Data'!$CH$2:$CH$3</c:f>
              <c:numCache>
                <c:formatCode>General</c:formatCode>
                <c:ptCount val="2"/>
                <c:pt idx="0">
                  <c:v>9</c:v>
                </c:pt>
                <c:pt idx="1">
                  <c:v>9</c:v>
                </c:pt>
              </c:numCache>
            </c:numRef>
          </c:yVal>
          <c:smooth val="0"/>
          <c:extLst>
            <c:ext xmlns:c16="http://schemas.microsoft.com/office/drawing/2014/chart" uri="{C3380CC4-5D6E-409C-BE32-E72D297353CC}">
              <c16:uniqueId val="{00000000-DB0D-4F47-A31A-903FBCD88526}"/>
            </c:ext>
          </c:extLst>
        </c:ser>
        <c:ser>
          <c:idx val="43"/>
          <c:order val="43"/>
          <c:tx>
            <c:v>Mistakes</c:v>
          </c:tx>
          <c:spPr>
            <a:ln w="23813">
              <a:solidFill>
                <a:srgbClr val="C45C28"/>
              </a:solidFill>
              <a:prstDash val="solid"/>
            </a:ln>
          </c:spPr>
          <c:marker>
            <c:symbol val="none"/>
          </c:marker>
          <c:xVal>
            <c:numRef>
              <c:f>'Chart Data'!$CI$2:$CI$3</c:f>
              <c:numCache>
                <c:formatCode>General</c:formatCode>
                <c:ptCount val="2"/>
                <c:pt idx="0">
                  <c:v>-5.016</c:v>
                </c:pt>
                <c:pt idx="1">
                  <c:v>-4.9630000000000001</c:v>
                </c:pt>
              </c:numCache>
            </c:numRef>
          </c:xVal>
          <c:yVal>
            <c:numRef>
              <c:f>'Chart Data'!$CJ$2:$CJ$3</c:f>
              <c:numCache>
                <c:formatCode>General</c:formatCode>
                <c:ptCount val="2"/>
                <c:pt idx="0">
                  <c:v>8</c:v>
                </c:pt>
                <c:pt idx="1">
                  <c:v>8</c:v>
                </c:pt>
              </c:numCache>
            </c:numRef>
          </c:yVal>
          <c:smooth val="0"/>
          <c:extLst>
            <c:ext xmlns:c16="http://schemas.microsoft.com/office/drawing/2014/chart" uri="{C3380CC4-5D6E-409C-BE32-E72D297353CC}">
              <c16:uniqueId val="{00000000-DB0D-4F47-A31A-903FBCD88526}"/>
            </c:ext>
          </c:extLst>
        </c:ser>
        <c:ser>
          <c:idx val="44"/>
          <c:order val="44"/>
          <c:tx>
            <c:v>Mistakes</c:v>
          </c:tx>
          <c:spPr>
            <a:ln w="23813">
              <a:solidFill>
                <a:srgbClr val="C45C28"/>
              </a:solidFill>
              <a:prstDash val="solid"/>
            </a:ln>
          </c:spPr>
          <c:marker>
            <c:symbol val="none"/>
          </c:marker>
          <c:xVal>
            <c:numRef>
              <c:f>'Chart Data'!$CK$2:$CK$3</c:f>
              <c:numCache>
                <c:formatCode>General</c:formatCode>
                <c:ptCount val="2"/>
                <c:pt idx="0">
                  <c:v>-4.9630000000000001</c:v>
                </c:pt>
                <c:pt idx="1">
                  <c:v>-4.9580000000000002</c:v>
                </c:pt>
              </c:numCache>
            </c:numRef>
          </c:xVal>
          <c:yVal>
            <c:numRef>
              <c:f>'Chart Data'!$CL$2:$CL$3</c:f>
              <c:numCache>
                <c:formatCode>General</c:formatCode>
                <c:ptCount val="2"/>
                <c:pt idx="0">
                  <c:v>7</c:v>
                </c:pt>
                <c:pt idx="1">
                  <c:v>7</c:v>
                </c:pt>
              </c:numCache>
            </c:numRef>
          </c:yVal>
          <c:smooth val="0"/>
          <c:extLst>
            <c:ext xmlns:c16="http://schemas.microsoft.com/office/drawing/2014/chart" uri="{C3380CC4-5D6E-409C-BE32-E72D297353CC}">
              <c16:uniqueId val="{00000000-DB0D-4F47-A31A-903FBCD88526}"/>
            </c:ext>
          </c:extLst>
        </c:ser>
        <c:ser>
          <c:idx val="45"/>
          <c:order val="45"/>
          <c:tx>
            <c:v>Mistakes</c:v>
          </c:tx>
          <c:spPr>
            <a:ln w="23813">
              <a:solidFill>
                <a:srgbClr val="C45C28"/>
              </a:solidFill>
              <a:prstDash val="solid"/>
            </a:ln>
          </c:spPr>
          <c:marker>
            <c:symbol val="none"/>
          </c:marker>
          <c:xVal>
            <c:numRef>
              <c:f>'Chart Data'!$CM$2:$CM$3</c:f>
              <c:numCache>
                <c:formatCode>General</c:formatCode>
                <c:ptCount val="2"/>
                <c:pt idx="0">
                  <c:v>-4.9580000000000002</c:v>
                </c:pt>
                <c:pt idx="1">
                  <c:v>-4.9459999999999997</c:v>
                </c:pt>
              </c:numCache>
            </c:numRef>
          </c:xVal>
          <c:yVal>
            <c:numRef>
              <c:f>'Chart Data'!$CN$2:$CN$3</c:f>
              <c:numCache>
                <c:formatCode>General</c:formatCode>
                <c:ptCount val="2"/>
                <c:pt idx="0">
                  <c:v>6</c:v>
                </c:pt>
                <c:pt idx="1">
                  <c:v>6</c:v>
                </c:pt>
              </c:numCache>
            </c:numRef>
          </c:yVal>
          <c:smooth val="0"/>
          <c:extLst>
            <c:ext xmlns:c16="http://schemas.microsoft.com/office/drawing/2014/chart" uri="{C3380CC4-5D6E-409C-BE32-E72D297353CC}">
              <c16:uniqueId val="{00000000-DB0D-4F47-A31A-903FBCD88526}"/>
            </c:ext>
          </c:extLst>
        </c:ser>
        <c:ser>
          <c:idx val="46"/>
          <c:order val="46"/>
          <c:tx>
            <c:v>Mistakes</c:v>
          </c:tx>
          <c:spPr>
            <a:ln w="23813">
              <a:solidFill>
                <a:srgbClr val="C45C28"/>
              </a:solidFill>
              <a:prstDash val="solid"/>
            </a:ln>
          </c:spPr>
          <c:marker>
            <c:symbol val="none"/>
          </c:marker>
          <c:xVal>
            <c:numRef>
              <c:f>'Chart Data'!$CO$2:$CO$3</c:f>
              <c:numCache>
                <c:formatCode>General</c:formatCode>
                <c:ptCount val="2"/>
                <c:pt idx="0">
                  <c:v>-4.9459999999999997</c:v>
                </c:pt>
                <c:pt idx="1">
                  <c:v>-4.8949999999999996</c:v>
                </c:pt>
              </c:numCache>
            </c:numRef>
          </c:xVal>
          <c:yVal>
            <c:numRef>
              <c:f>'Chart Data'!$CP$2:$CP$3</c:f>
              <c:numCache>
                <c:formatCode>General</c:formatCode>
                <c:ptCount val="2"/>
                <c:pt idx="0">
                  <c:v>7</c:v>
                </c:pt>
                <c:pt idx="1">
                  <c:v>7</c:v>
                </c:pt>
              </c:numCache>
            </c:numRef>
          </c:yVal>
          <c:smooth val="0"/>
          <c:extLst>
            <c:ext xmlns:c16="http://schemas.microsoft.com/office/drawing/2014/chart" uri="{C3380CC4-5D6E-409C-BE32-E72D297353CC}">
              <c16:uniqueId val="{00000000-DB0D-4F47-A31A-903FBCD88526}"/>
            </c:ext>
          </c:extLst>
        </c:ser>
        <c:ser>
          <c:idx val="47"/>
          <c:order val="47"/>
          <c:tx>
            <c:v>Mistakes</c:v>
          </c:tx>
          <c:spPr>
            <a:ln w="23813">
              <a:solidFill>
                <a:srgbClr val="C45C28"/>
              </a:solidFill>
              <a:prstDash val="solid"/>
            </a:ln>
          </c:spPr>
          <c:marker>
            <c:symbol val="none"/>
          </c:marker>
          <c:xVal>
            <c:numRef>
              <c:f>'Chart Data'!$CQ$2:$CQ$3</c:f>
              <c:numCache>
                <c:formatCode>General</c:formatCode>
                <c:ptCount val="2"/>
                <c:pt idx="0">
                  <c:v>-4.8949999999999996</c:v>
                </c:pt>
                <c:pt idx="1">
                  <c:v>-4.8840000000000003</c:v>
                </c:pt>
              </c:numCache>
            </c:numRef>
          </c:xVal>
          <c:yVal>
            <c:numRef>
              <c:f>'Chart Data'!$CR$2:$CR$3</c:f>
              <c:numCache>
                <c:formatCode>General</c:formatCode>
                <c:ptCount val="2"/>
                <c:pt idx="0">
                  <c:v>6</c:v>
                </c:pt>
                <c:pt idx="1">
                  <c:v>6</c:v>
                </c:pt>
              </c:numCache>
            </c:numRef>
          </c:yVal>
          <c:smooth val="0"/>
          <c:extLst>
            <c:ext xmlns:c16="http://schemas.microsoft.com/office/drawing/2014/chart" uri="{C3380CC4-5D6E-409C-BE32-E72D297353CC}">
              <c16:uniqueId val="{00000000-DB0D-4F47-A31A-903FBCD88526}"/>
            </c:ext>
          </c:extLst>
        </c:ser>
        <c:ser>
          <c:idx val="48"/>
          <c:order val="48"/>
          <c:tx>
            <c:v>Mistakes</c:v>
          </c:tx>
          <c:spPr>
            <a:ln w="23813">
              <a:solidFill>
                <a:srgbClr val="C45C28"/>
              </a:solidFill>
              <a:prstDash val="solid"/>
            </a:ln>
          </c:spPr>
          <c:marker>
            <c:symbol val="none"/>
          </c:marker>
          <c:xVal>
            <c:numRef>
              <c:f>'Chart Data'!$CS$2:$CS$3</c:f>
              <c:numCache>
                <c:formatCode>General</c:formatCode>
                <c:ptCount val="2"/>
                <c:pt idx="0">
                  <c:v>-4.8840000000000003</c:v>
                </c:pt>
                <c:pt idx="1">
                  <c:v>-4.875</c:v>
                </c:pt>
              </c:numCache>
            </c:numRef>
          </c:xVal>
          <c:yVal>
            <c:numRef>
              <c:f>'Chart Data'!$CT$2:$CT$3</c:f>
              <c:numCache>
                <c:formatCode>General</c:formatCode>
                <c:ptCount val="2"/>
                <c:pt idx="0">
                  <c:v>5</c:v>
                </c:pt>
                <c:pt idx="1">
                  <c:v>5</c:v>
                </c:pt>
              </c:numCache>
            </c:numRef>
          </c:yVal>
          <c:smooth val="0"/>
          <c:extLst>
            <c:ext xmlns:c16="http://schemas.microsoft.com/office/drawing/2014/chart" uri="{C3380CC4-5D6E-409C-BE32-E72D297353CC}">
              <c16:uniqueId val="{00000000-DB0D-4F47-A31A-903FBCD88526}"/>
            </c:ext>
          </c:extLst>
        </c:ser>
        <c:ser>
          <c:idx val="49"/>
          <c:order val="49"/>
          <c:tx>
            <c:v>Mistakes</c:v>
          </c:tx>
          <c:spPr>
            <a:ln w="23813">
              <a:solidFill>
                <a:srgbClr val="C45C28"/>
              </a:solidFill>
              <a:prstDash val="solid"/>
            </a:ln>
          </c:spPr>
          <c:marker>
            <c:symbol val="none"/>
          </c:marker>
          <c:xVal>
            <c:numRef>
              <c:f>'Chart Data'!$CU$2:$CU$3</c:f>
              <c:numCache>
                <c:formatCode>General</c:formatCode>
                <c:ptCount val="2"/>
                <c:pt idx="0">
                  <c:v>-4.875</c:v>
                </c:pt>
                <c:pt idx="1">
                  <c:v>-4.8730000000000002</c:v>
                </c:pt>
              </c:numCache>
            </c:numRef>
          </c:xVal>
          <c:yVal>
            <c:numRef>
              <c:f>'Chart Data'!$CV$2:$CV$3</c:f>
              <c:numCache>
                <c:formatCode>General</c:formatCode>
                <c:ptCount val="2"/>
                <c:pt idx="0">
                  <c:v>6</c:v>
                </c:pt>
                <c:pt idx="1">
                  <c:v>6</c:v>
                </c:pt>
              </c:numCache>
            </c:numRef>
          </c:yVal>
          <c:smooth val="0"/>
          <c:extLst>
            <c:ext xmlns:c16="http://schemas.microsoft.com/office/drawing/2014/chart" uri="{C3380CC4-5D6E-409C-BE32-E72D297353CC}">
              <c16:uniqueId val="{00000000-DB0D-4F47-A31A-903FBCD88526}"/>
            </c:ext>
          </c:extLst>
        </c:ser>
        <c:ser>
          <c:idx val="50"/>
          <c:order val="50"/>
          <c:tx>
            <c:v>Mistakes</c:v>
          </c:tx>
          <c:spPr>
            <a:ln w="23813">
              <a:solidFill>
                <a:srgbClr val="C45C28"/>
              </a:solidFill>
              <a:prstDash val="solid"/>
            </a:ln>
          </c:spPr>
          <c:marker>
            <c:symbol val="none"/>
          </c:marker>
          <c:xVal>
            <c:numRef>
              <c:f>'Chart Data'!$CW$2:$CW$3</c:f>
              <c:numCache>
                <c:formatCode>General</c:formatCode>
                <c:ptCount val="2"/>
                <c:pt idx="0">
                  <c:v>-4.8730000000000002</c:v>
                </c:pt>
                <c:pt idx="1">
                  <c:v>-4.8090000000000002</c:v>
                </c:pt>
              </c:numCache>
            </c:numRef>
          </c:xVal>
          <c:yVal>
            <c:numRef>
              <c:f>'Chart Data'!$CX$2:$CX$3</c:f>
              <c:numCache>
                <c:formatCode>General</c:formatCode>
                <c:ptCount val="2"/>
                <c:pt idx="0">
                  <c:v>7</c:v>
                </c:pt>
                <c:pt idx="1">
                  <c:v>7</c:v>
                </c:pt>
              </c:numCache>
            </c:numRef>
          </c:yVal>
          <c:smooth val="0"/>
          <c:extLst>
            <c:ext xmlns:c16="http://schemas.microsoft.com/office/drawing/2014/chart" uri="{C3380CC4-5D6E-409C-BE32-E72D297353CC}">
              <c16:uniqueId val="{00000000-DB0D-4F47-A31A-903FBCD88526}"/>
            </c:ext>
          </c:extLst>
        </c:ser>
        <c:ser>
          <c:idx val="51"/>
          <c:order val="51"/>
          <c:tx>
            <c:v>Mistakes</c:v>
          </c:tx>
          <c:spPr>
            <a:ln w="23813">
              <a:solidFill>
                <a:srgbClr val="C45C28"/>
              </a:solidFill>
              <a:prstDash val="solid"/>
            </a:ln>
          </c:spPr>
          <c:marker>
            <c:symbol val="none"/>
          </c:marker>
          <c:xVal>
            <c:numRef>
              <c:f>'Chart Data'!$CY$2:$CY$3</c:f>
              <c:numCache>
                <c:formatCode>General</c:formatCode>
                <c:ptCount val="2"/>
                <c:pt idx="0">
                  <c:v>-4.8090000000000002</c:v>
                </c:pt>
                <c:pt idx="1">
                  <c:v>-4.806</c:v>
                </c:pt>
              </c:numCache>
            </c:numRef>
          </c:xVal>
          <c:yVal>
            <c:numRef>
              <c:f>'Chart Data'!$CZ$2:$CZ$3</c:f>
              <c:numCache>
                <c:formatCode>General</c:formatCode>
                <c:ptCount val="2"/>
                <c:pt idx="0">
                  <c:v>8</c:v>
                </c:pt>
                <c:pt idx="1">
                  <c:v>8</c:v>
                </c:pt>
              </c:numCache>
            </c:numRef>
          </c:yVal>
          <c:smooth val="0"/>
          <c:extLst>
            <c:ext xmlns:c16="http://schemas.microsoft.com/office/drawing/2014/chart" uri="{C3380CC4-5D6E-409C-BE32-E72D297353CC}">
              <c16:uniqueId val="{00000000-DB0D-4F47-A31A-903FBCD88526}"/>
            </c:ext>
          </c:extLst>
        </c:ser>
        <c:ser>
          <c:idx val="52"/>
          <c:order val="52"/>
          <c:tx>
            <c:v>Mistakes</c:v>
          </c:tx>
          <c:spPr>
            <a:ln w="23813">
              <a:solidFill>
                <a:srgbClr val="C45C28"/>
              </a:solidFill>
              <a:prstDash val="solid"/>
            </a:ln>
          </c:spPr>
          <c:marker>
            <c:symbol val="none"/>
          </c:marker>
          <c:xVal>
            <c:numRef>
              <c:f>'Chart Data'!$DA$2:$DA$3</c:f>
              <c:numCache>
                <c:formatCode>General</c:formatCode>
                <c:ptCount val="2"/>
                <c:pt idx="0">
                  <c:v>-4.806</c:v>
                </c:pt>
                <c:pt idx="1">
                  <c:v>-4.7880000000000003</c:v>
                </c:pt>
              </c:numCache>
            </c:numRef>
          </c:xVal>
          <c:yVal>
            <c:numRef>
              <c:f>'Chart Data'!$DB$2:$DB$3</c:f>
              <c:numCache>
                <c:formatCode>General</c:formatCode>
                <c:ptCount val="2"/>
                <c:pt idx="0">
                  <c:v>7</c:v>
                </c:pt>
                <c:pt idx="1">
                  <c:v>7</c:v>
                </c:pt>
              </c:numCache>
            </c:numRef>
          </c:yVal>
          <c:smooth val="0"/>
          <c:extLst>
            <c:ext xmlns:c16="http://schemas.microsoft.com/office/drawing/2014/chart" uri="{C3380CC4-5D6E-409C-BE32-E72D297353CC}">
              <c16:uniqueId val="{00000000-DB0D-4F47-A31A-903FBCD88526}"/>
            </c:ext>
          </c:extLst>
        </c:ser>
        <c:ser>
          <c:idx val="53"/>
          <c:order val="53"/>
          <c:tx>
            <c:v>Mistakes</c:v>
          </c:tx>
          <c:spPr>
            <a:ln w="23813">
              <a:solidFill>
                <a:srgbClr val="C45C28"/>
              </a:solidFill>
              <a:prstDash val="solid"/>
            </a:ln>
          </c:spPr>
          <c:marker>
            <c:symbol val="none"/>
          </c:marker>
          <c:xVal>
            <c:numRef>
              <c:f>'Chart Data'!$DC$2:$DC$3</c:f>
              <c:numCache>
                <c:formatCode>General</c:formatCode>
                <c:ptCount val="2"/>
                <c:pt idx="0">
                  <c:v>-4.7880000000000003</c:v>
                </c:pt>
                <c:pt idx="1">
                  <c:v>-4.718</c:v>
                </c:pt>
              </c:numCache>
            </c:numRef>
          </c:xVal>
          <c:yVal>
            <c:numRef>
              <c:f>'Chart Data'!$DD$2:$DD$3</c:f>
              <c:numCache>
                <c:formatCode>General</c:formatCode>
                <c:ptCount val="2"/>
                <c:pt idx="0">
                  <c:v>6</c:v>
                </c:pt>
                <c:pt idx="1">
                  <c:v>6</c:v>
                </c:pt>
              </c:numCache>
            </c:numRef>
          </c:yVal>
          <c:smooth val="0"/>
          <c:extLst>
            <c:ext xmlns:c16="http://schemas.microsoft.com/office/drawing/2014/chart" uri="{C3380CC4-5D6E-409C-BE32-E72D297353CC}">
              <c16:uniqueId val="{00000000-DB0D-4F47-A31A-903FBCD88526}"/>
            </c:ext>
          </c:extLst>
        </c:ser>
        <c:ser>
          <c:idx val="54"/>
          <c:order val="54"/>
          <c:tx>
            <c:v>Mistakes</c:v>
          </c:tx>
          <c:spPr>
            <a:ln w="23813">
              <a:solidFill>
                <a:srgbClr val="C45C28"/>
              </a:solidFill>
              <a:prstDash val="solid"/>
            </a:ln>
          </c:spPr>
          <c:marker>
            <c:symbol val="none"/>
          </c:marker>
          <c:xVal>
            <c:numRef>
              <c:f>'Chart Data'!$DE$2:$DE$3</c:f>
              <c:numCache>
                <c:formatCode>General</c:formatCode>
                <c:ptCount val="2"/>
                <c:pt idx="0">
                  <c:v>-4.718</c:v>
                </c:pt>
                <c:pt idx="1">
                  <c:v>-4.7009999999999996</c:v>
                </c:pt>
              </c:numCache>
            </c:numRef>
          </c:xVal>
          <c:yVal>
            <c:numRef>
              <c:f>'Chart Data'!$DF$2:$DF$3</c:f>
              <c:numCache>
                <c:formatCode>General</c:formatCode>
                <c:ptCount val="2"/>
                <c:pt idx="0">
                  <c:v>7</c:v>
                </c:pt>
                <c:pt idx="1">
                  <c:v>7</c:v>
                </c:pt>
              </c:numCache>
            </c:numRef>
          </c:yVal>
          <c:smooth val="0"/>
          <c:extLst>
            <c:ext xmlns:c16="http://schemas.microsoft.com/office/drawing/2014/chart" uri="{C3380CC4-5D6E-409C-BE32-E72D297353CC}">
              <c16:uniqueId val="{00000000-DB0D-4F47-A31A-903FBCD88526}"/>
            </c:ext>
          </c:extLst>
        </c:ser>
        <c:ser>
          <c:idx val="55"/>
          <c:order val="55"/>
          <c:tx>
            <c:v>Mistakes</c:v>
          </c:tx>
          <c:spPr>
            <a:ln w="23813">
              <a:solidFill>
                <a:srgbClr val="C45C28"/>
              </a:solidFill>
              <a:prstDash val="solid"/>
            </a:ln>
          </c:spPr>
          <c:marker>
            <c:symbol val="none"/>
          </c:marker>
          <c:xVal>
            <c:numRef>
              <c:f>'Chart Data'!$DG$2:$DG$3</c:f>
              <c:numCache>
                <c:formatCode>General</c:formatCode>
                <c:ptCount val="2"/>
                <c:pt idx="0">
                  <c:v>-4.7009999999999996</c:v>
                </c:pt>
                <c:pt idx="1">
                  <c:v>-4.6749999999999998</c:v>
                </c:pt>
              </c:numCache>
            </c:numRef>
          </c:xVal>
          <c:yVal>
            <c:numRef>
              <c:f>'Chart Data'!$DH$2:$DH$3</c:f>
              <c:numCache>
                <c:formatCode>General</c:formatCode>
                <c:ptCount val="2"/>
                <c:pt idx="0">
                  <c:v>8</c:v>
                </c:pt>
                <c:pt idx="1">
                  <c:v>8</c:v>
                </c:pt>
              </c:numCache>
            </c:numRef>
          </c:yVal>
          <c:smooth val="0"/>
          <c:extLst>
            <c:ext xmlns:c16="http://schemas.microsoft.com/office/drawing/2014/chart" uri="{C3380CC4-5D6E-409C-BE32-E72D297353CC}">
              <c16:uniqueId val="{00000000-DB0D-4F47-A31A-903FBCD88526}"/>
            </c:ext>
          </c:extLst>
        </c:ser>
        <c:ser>
          <c:idx val="56"/>
          <c:order val="56"/>
          <c:tx>
            <c:v>Mistakes</c:v>
          </c:tx>
          <c:spPr>
            <a:ln w="23813">
              <a:solidFill>
                <a:srgbClr val="C45C28"/>
              </a:solidFill>
              <a:prstDash val="solid"/>
            </a:ln>
          </c:spPr>
          <c:marker>
            <c:symbol val="none"/>
          </c:marker>
          <c:xVal>
            <c:numRef>
              <c:f>'Chart Data'!$DI$2:$DI$3</c:f>
              <c:numCache>
                <c:formatCode>General</c:formatCode>
                <c:ptCount val="2"/>
                <c:pt idx="0">
                  <c:v>-4.6749999999999998</c:v>
                </c:pt>
                <c:pt idx="1">
                  <c:v>-4.6710000000000003</c:v>
                </c:pt>
              </c:numCache>
            </c:numRef>
          </c:xVal>
          <c:yVal>
            <c:numRef>
              <c:f>'Chart Data'!$DJ$2:$DJ$3</c:f>
              <c:numCache>
                <c:formatCode>General</c:formatCode>
                <c:ptCount val="2"/>
                <c:pt idx="0">
                  <c:v>9</c:v>
                </c:pt>
                <c:pt idx="1">
                  <c:v>9</c:v>
                </c:pt>
              </c:numCache>
            </c:numRef>
          </c:yVal>
          <c:smooth val="0"/>
          <c:extLst>
            <c:ext xmlns:c16="http://schemas.microsoft.com/office/drawing/2014/chart" uri="{C3380CC4-5D6E-409C-BE32-E72D297353CC}">
              <c16:uniqueId val="{00000000-DB0D-4F47-A31A-903FBCD88526}"/>
            </c:ext>
          </c:extLst>
        </c:ser>
        <c:ser>
          <c:idx val="57"/>
          <c:order val="57"/>
          <c:tx>
            <c:v>Mistakes</c:v>
          </c:tx>
          <c:spPr>
            <a:ln w="23813">
              <a:solidFill>
                <a:srgbClr val="C45C28"/>
              </a:solidFill>
              <a:prstDash val="solid"/>
            </a:ln>
          </c:spPr>
          <c:marker>
            <c:symbol val="none"/>
          </c:marker>
          <c:xVal>
            <c:numRef>
              <c:f>'Chart Data'!$DK$2:$DK$3</c:f>
              <c:numCache>
                <c:formatCode>General</c:formatCode>
                <c:ptCount val="2"/>
                <c:pt idx="0">
                  <c:v>-4.6710000000000003</c:v>
                </c:pt>
                <c:pt idx="1">
                  <c:v>-4.6509999999999998</c:v>
                </c:pt>
              </c:numCache>
            </c:numRef>
          </c:xVal>
          <c:yVal>
            <c:numRef>
              <c:f>'Chart Data'!$DL$2:$DL$3</c:f>
              <c:numCache>
                <c:formatCode>General</c:formatCode>
                <c:ptCount val="2"/>
                <c:pt idx="0">
                  <c:v>10</c:v>
                </c:pt>
                <c:pt idx="1">
                  <c:v>10</c:v>
                </c:pt>
              </c:numCache>
            </c:numRef>
          </c:yVal>
          <c:smooth val="0"/>
          <c:extLst>
            <c:ext xmlns:c16="http://schemas.microsoft.com/office/drawing/2014/chart" uri="{C3380CC4-5D6E-409C-BE32-E72D297353CC}">
              <c16:uniqueId val="{00000000-DB0D-4F47-A31A-903FBCD88526}"/>
            </c:ext>
          </c:extLst>
        </c:ser>
        <c:ser>
          <c:idx val="58"/>
          <c:order val="58"/>
          <c:tx>
            <c:v>Mistakes</c:v>
          </c:tx>
          <c:spPr>
            <a:ln w="23813">
              <a:solidFill>
                <a:srgbClr val="C45C28"/>
              </a:solidFill>
              <a:prstDash val="solid"/>
            </a:ln>
          </c:spPr>
          <c:marker>
            <c:symbol val="none"/>
          </c:marker>
          <c:xVal>
            <c:numRef>
              <c:f>'Chart Data'!$DM$2:$DM$3</c:f>
              <c:numCache>
                <c:formatCode>General</c:formatCode>
                <c:ptCount val="2"/>
                <c:pt idx="0">
                  <c:v>-4.6509999999999998</c:v>
                </c:pt>
                <c:pt idx="1">
                  <c:v>-4.6349999999999998</c:v>
                </c:pt>
              </c:numCache>
            </c:numRef>
          </c:xVal>
          <c:yVal>
            <c:numRef>
              <c:f>'Chart Data'!$DN$2:$DN$3</c:f>
              <c:numCache>
                <c:formatCode>General</c:formatCode>
                <c:ptCount val="2"/>
                <c:pt idx="0">
                  <c:v>11</c:v>
                </c:pt>
                <c:pt idx="1">
                  <c:v>11</c:v>
                </c:pt>
              </c:numCache>
            </c:numRef>
          </c:yVal>
          <c:smooth val="0"/>
          <c:extLst>
            <c:ext xmlns:c16="http://schemas.microsoft.com/office/drawing/2014/chart" uri="{C3380CC4-5D6E-409C-BE32-E72D297353CC}">
              <c16:uniqueId val="{00000000-DB0D-4F47-A31A-903FBCD88526}"/>
            </c:ext>
          </c:extLst>
        </c:ser>
        <c:ser>
          <c:idx val="59"/>
          <c:order val="59"/>
          <c:tx>
            <c:v>Mistakes</c:v>
          </c:tx>
          <c:spPr>
            <a:ln w="23813">
              <a:solidFill>
                <a:srgbClr val="C45C28"/>
              </a:solidFill>
              <a:prstDash val="solid"/>
            </a:ln>
          </c:spPr>
          <c:marker>
            <c:symbol val="none"/>
          </c:marker>
          <c:xVal>
            <c:numRef>
              <c:f>'Chart Data'!$DO$2:$DO$3</c:f>
              <c:numCache>
                <c:formatCode>General</c:formatCode>
                <c:ptCount val="2"/>
                <c:pt idx="0">
                  <c:v>-4.6349999999999998</c:v>
                </c:pt>
                <c:pt idx="1">
                  <c:v>-4.6289999999999996</c:v>
                </c:pt>
              </c:numCache>
            </c:numRef>
          </c:xVal>
          <c:yVal>
            <c:numRef>
              <c:f>'Chart Data'!$DP$2:$DP$3</c:f>
              <c:numCache>
                <c:formatCode>General</c:formatCode>
                <c:ptCount val="2"/>
                <c:pt idx="0">
                  <c:v>12</c:v>
                </c:pt>
                <c:pt idx="1">
                  <c:v>12</c:v>
                </c:pt>
              </c:numCache>
            </c:numRef>
          </c:yVal>
          <c:smooth val="0"/>
          <c:extLst>
            <c:ext xmlns:c16="http://schemas.microsoft.com/office/drawing/2014/chart" uri="{C3380CC4-5D6E-409C-BE32-E72D297353CC}">
              <c16:uniqueId val="{00000000-DB0D-4F47-A31A-903FBCD88526}"/>
            </c:ext>
          </c:extLst>
        </c:ser>
        <c:ser>
          <c:idx val="60"/>
          <c:order val="60"/>
          <c:tx>
            <c:v>Mistakes</c:v>
          </c:tx>
          <c:spPr>
            <a:ln w="23813">
              <a:solidFill>
                <a:srgbClr val="C45C28"/>
              </a:solidFill>
              <a:prstDash val="solid"/>
            </a:ln>
          </c:spPr>
          <c:marker>
            <c:symbol val="none"/>
          </c:marker>
          <c:xVal>
            <c:numRef>
              <c:f>'Chart Data'!$DQ$2:$DQ$3</c:f>
              <c:numCache>
                <c:formatCode>General</c:formatCode>
                <c:ptCount val="2"/>
                <c:pt idx="0">
                  <c:v>-4.6289999999999996</c:v>
                </c:pt>
                <c:pt idx="1">
                  <c:v>-4.5890000000000004</c:v>
                </c:pt>
              </c:numCache>
            </c:numRef>
          </c:xVal>
          <c:yVal>
            <c:numRef>
              <c:f>'Chart Data'!$DR$2:$DR$3</c:f>
              <c:numCache>
                <c:formatCode>General</c:formatCode>
                <c:ptCount val="2"/>
                <c:pt idx="0">
                  <c:v>13</c:v>
                </c:pt>
                <c:pt idx="1">
                  <c:v>13</c:v>
                </c:pt>
              </c:numCache>
            </c:numRef>
          </c:yVal>
          <c:smooth val="0"/>
          <c:extLst>
            <c:ext xmlns:c16="http://schemas.microsoft.com/office/drawing/2014/chart" uri="{C3380CC4-5D6E-409C-BE32-E72D297353CC}">
              <c16:uniqueId val="{00000000-DB0D-4F47-A31A-903FBCD88526}"/>
            </c:ext>
          </c:extLst>
        </c:ser>
        <c:ser>
          <c:idx val="61"/>
          <c:order val="61"/>
          <c:tx>
            <c:v>Mistakes</c:v>
          </c:tx>
          <c:spPr>
            <a:ln w="23813">
              <a:solidFill>
                <a:srgbClr val="C45C28"/>
              </a:solidFill>
              <a:prstDash val="solid"/>
            </a:ln>
          </c:spPr>
          <c:marker>
            <c:symbol val="none"/>
          </c:marker>
          <c:xVal>
            <c:numRef>
              <c:f>'Chart Data'!$DS$2:$DS$3</c:f>
              <c:numCache>
                <c:formatCode>General</c:formatCode>
                <c:ptCount val="2"/>
                <c:pt idx="0">
                  <c:v>-4.5890000000000004</c:v>
                </c:pt>
                <c:pt idx="1">
                  <c:v>-4.5609999999999999</c:v>
                </c:pt>
              </c:numCache>
            </c:numRef>
          </c:xVal>
          <c:yVal>
            <c:numRef>
              <c:f>'Chart Data'!$DT$2:$DT$3</c:f>
              <c:numCache>
                <c:formatCode>General</c:formatCode>
                <c:ptCount val="2"/>
                <c:pt idx="0">
                  <c:v>14</c:v>
                </c:pt>
                <c:pt idx="1">
                  <c:v>14</c:v>
                </c:pt>
              </c:numCache>
            </c:numRef>
          </c:yVal>
          <c:smooth val="0"/>
          <c:extLst>
            <c:ext xmlns:c16="http://schemas.microsoft.com/office/drawing/2014/chart" uri="{C3380CC4-5D6E-409C-BE32-E72D297353CC}">
              <c16:uniqueId val="{00000000-DB0D-4F47-A31A-903FBCD88526}"/>
            </c:ext>
          </c:extLst>
        </c:ser>
        <c:ser>
          <c:idx val="62"/>
          <c:order val="62"/>
          <c:tx>
            <c:v>Mistakes</c:v>
          </c:tx>
          <c:spPr>
            <a:ln w="23813">
              <a:solidFill>
                <a:srgbClr val="C45C28"/>
              </a:solidFill>
              <a:prstDash val="solid"/>
            </a:ln>
          </c:spPr>
          <c:marker>
            <c:symbol val="none"/>
          </c:marker>
          <c:xVal>
            <c:numRef>
              <c:f>'Chart Data'!$DU$2:$DU$3</c:f>
              <c:numCache>
                <c:formatCode>General</c:formatCode>
                <c:ptCount val="2"/>
                <c:pt idx="0">
                  <c:v>-4.5609999999999999</c:v>
                </c:pt>
                <c:pt idx="1">
                  <c:v>-4.5570000000000004</c:v>
                </c:pt>
              </c:numCache>
            </c:numRef>
          </c:xVal>
          <c:yVal>
            <c:numRef>
              <c:f>'Chart Data'!$DV$2:$DV$3</c:f>
              <c:numCache>
                <c:formatCode>General</c:formatCode>
                <c:ptCount val="2"/>
                <c:pt idx="0">
                  <c:v>15</c:v>
                </c:pt>
                <c:pt idx="1">
                  <c:v>15</c:v>
                </c:pt>
              </c:numCache>
            </c:numRef>
          </c:yVal>
          <c:smooth val="0"/>
          <c:extLst>
            <c:ext xmlns:c16="http://schemas.microsoft.com/office/drawing/2014/chart" uri="{C3380CC4-5D6E-409C-BE32-E72D297353CC}">
              <c16:uniqueId val="{00000000-DB0D-4F47-A31A-903FBCD88526}"/>
            </c:ext>
          </c:extLst>
        </c:ser>
        <c:ser>
          <c:idx val="63"/>
          <c:order val="63"/>
          <c:tx>
            <c:v>Mistakes</c:v>
          </c:tx>
          <c:spPr>
            <a:ln w="23813">
              <a:solidFill>
                <a:srgbClr val="C45C28"/>
              </a:solidFill>
              <a:prstDash val="solid"/>
            </a:ln>
          </c:spPr>
          <c:marker>
            <c:symbol val="none"/>
          </c:marker>
          <c:xVal>
            <c:numRef>
              <c:f>'Chart Data'!$DW$2:$DW$3</c:f>
              <c:numCache>
                <c:formatCode>General</c:formatCode>
                <c:ptCount val="2"/>
                <c:pt idx="0">
                  <c:v>-4.5570000000000004</c:v>
                </c:pt>
                <c:pt idx="1">
                  <c:v>-4.5410000000000004</c:v>
                </c:pt>
              </c:numCache>
            </c:numRef>
          </c:xVal>
          <c:yVal>
            <c:numRef>
              <c:f>'Chart Data'!$DX$2:$DX$3</c:f>
              <c:numCache>
                <c:formatCode>General</c:formatCode>
                <c:ptCount val="2"/>
                <c:pt idx="0">
                  <c:v>16</c:v>
                </c:pt>
                <c:pt idx="1">
                  <c:v>16</c:v>
                </c:pt>
              </c:numCache>
            </c:numRef>
          </c:yVal>
          <c:smooth val="0"/>
          <c:extLst>
            <c:ext xmlns:c16="http://schemas.microsoft.com/office/drawing/2014/chart" uri="{C3380CC4-5D6E-409C-BE32-E72D297353CC}">
              <c16:uniqueId val="{00000000-DB0D-4F47-A31A-903FBCD88526}"/>
            </c:ext>
          </c:extLst>
        </c:ser>
        <c:ser>
          <c:idx val="64"/>
          <c:order val="64"/>
          <c:tx>
            <c:v>Mistakes</c:v>
          </c:tx>
          <c:spPr>
            <a:ln w="23813">
              <a:solidFill>
                <a:srgbClr val="C45C28"/>
              </a:solidFill>
              <a:prstDash val="solid"/>
            </a:ln>
          </c:spPr>
          <c:marker>
            <c:symbol val="none"/>
          </c:marker>
          <c:xVal>
            <c:numRef>
              <c:f>'Chart Data'!$DY$2:$DY$3</c:f>
              <c:numCache>
                <c:formatCode>General</c:formatCode>
                <c:ptCount val="2"/>
                <c:pt idx="0">
                  <c:v>-4.5410000000000004</c:v>
                </c:pt>
                <c:pt idx="1">
                  <c:v>-4.5</c:v>
                </c:pt>
              </c:numCache>
            </c:numRef>
          </c:xVal>
          <c:yVal>
            <c:numRef>
              <c:f>'Chart Data'!$DZ$2:$DZ$3</c:f>
              <c:numCache>
                <c:formatCode>General</c:formatCode>
                <c:ptCount val="2"/>
                <c:pt idx="0">
                  <c:v>17</c:v>
                </c:pt>
                <c:pt idx="1">
                  <c:v>17</c:v>
                </c:pt>
              </c:numCache>
            </c:numRef>
          </c:yVal>
          <c:smooth val="0"/>
          <c:extLst>
            <c:ext xmlns:c16="http://schemas.microsoft.com/office/drawing/2014/chart" uri="{C3380CC4-5D6E-409C-BE32-E72D297353CC}">
              <c16:uniqueId val="{00000000-DB0D-4F47-A31A-903FBCD88526}"/>
            </c:ext>
          </c:extLst>
        </c:ser>
        <c:ser>
          <c:idx val="65"/>
          <c:order val="65"/>
          <c:tx>
            <c:v>Mistakes</c:v>
          </c:tx>
          <c:spPr>
            <a:ln w="23813">
              <a:solidFill>
                <a:srgbClr val="C45C28"/>
              </a:solidFill>
              <a:prstDash val="solid"/>
            </a:ln>
          </c:spPr>
          <c:marker>
            <c:symbol val="none"/>
          </c:marker>
          <c:xVal>
            <c:numRef>
              <c:f>'Chart Data'!$EA$2:$EA$3</c:f>
              <c:numCache>
                <c:formatCode>General</c:formatCode>
                <c:ptCount val="2"/>
                <c:pt idx="0">
                  <c:v>-4.5</c:v>
                </c:pt>
                <c:pt idx="1">
                  <c:v>-4.4729999999999999</c:v>
                </c:pt>
              </c:numCache>
            </c:numRef>
          </c:xVal>
          <c:yVal>
            <c:numRef>
              <c:f>'Chart Data'!$EB$2:$EB$3</c:f>
              <c:numCache>
                <c:formatCode>General</c:formatCode>
                <c:ptCount val="2"/>
                <c:pt idx="0">
                  <c:v>16</c:v>
                </c:pt>
                <c:pt idx="1">
                  <c:v>16</c:v>
                </c:pt>
              </c:numCache>
            </c:numRef>
          </c:yVal>
          <c:smooth val="0"/>
          <c:extLst>
            <c:ext xmlns:c16="http://schemas.microsoft.com/office/drawing/2014/chart" uri="{C3380CC4-5D6E-409C-BE32-E72D297353CC}">
              <c16:uniqueId val="{00000000-DB0D-4F47-A31A-903FBCD88526}"/>
            </c:ext>
          </c:extLst>
        </c:ser>
        <c:ser>
          <c:idx val="66"/>
          <c:order val="66"/>
          <c:tx>
            <c:v>Mistakes</c:v>
          </c:tx>
          <c:spPr>
            <a:ln w="23813">
              <a:solidFill>
                <a:srgbClr val="C45C28"/>
              </a:solidFill>
              <a:prstDash val="solid"/>
            </a:ln>
          </c:spPr>
          <c:marker>
            <c:symbol val="none"/>
          </c:marker>
          <c:xVal>
            <c:numRef>
              <c:f>'Chart Data'!$EC$2:$EC$3</c:f>
              <c:numCache>
                <c:formatCode>General</c:formatCode>
                <c:ptCount val="2"/>
                <c:pt idx="0">
                  <c:v>-4.4729999999999999</c:v>
                </c:pt>
                <c:pt idx="1">
                  <c:v>-4.4669999999999996</c:v>
                </c:pt>
              </c:numCache>
            </c:numRef>
          </c:xVal>
          <c:yVal>
            <c:numRef>
              <c:f>'Chart Data'!$ED$2:$ED$3</c:f>
              <c:numCache>
                <c:formatCode>General</c:formatCode>
                <c:ptCount val="2"/>
                <c:pt idx="0">
                  <c:v>17</c:v>
                </c:pt>
                <c:pt idx="1">
                  <c:v>17</c:v>
                </c:pt>
              </c:numCache>
            </c:numRef>
          </c:yVal>
          <c:smooth val="0"/>
          <c:extLst>
            <c:ext xmlns:c16="http://schemas.microsoft.com/office/drawing/2014/chart" uri="{C3380CC4-5D6E-409C-BE32-E72D297353CC}">
              <c16:uniqueId val="{00000000-DB0D-4F47-A31A-903FBCD88526}"/>
            </c:ext>
          </c:extLst>
        </c:ser>
        <c:ser>
          <c:idx val="67"/>
          <c:order val="67"/>
          <c:tx>
            <c:v>Mistakes</c:v>
          </c:tx>
          <c:spPr>
            <a:ln w="23813">
              <a:solidFill>
                <a:srgbClr val="C45C28"/>
              </a:solidFill>
              <a:prstDash val="solid"/>
            </a:ln>
          </c:spPr>
          <c:marker>
            <c:symbol val="none"/>
          </c:marker>
          <c:xVal>
            <c:numRef>
              <c:f>'Chart Data'!$EE$2:$EE$3</c:f>
              <c:numCache>
                <c:formatCode>General</c:formatCode>
                <c:ptCount val="2"/>
                <c:pt idx="0">
                  <c:v>-4.4669999999999996</c:v>
                </c:pt>
                <c:pt idx="1">
                  <c:v>-4.4550000000000001</c:v>
                </c:pt>
              </c:numCache>
            </c:numRef>
          </c:xVal>
          <c:yVal>
            <c:numRef>
              <c:f>'Chart Data'!$EF$2:$EF$3</c:f>
              <c:numCache>
                <c:formatCode>General</c:formatCode>
                <c:ptCount val="2"/>
                <c:pt idx="0">
                  <c:v>18</c:v>
                </c:pt>
                <c:pt idx="1">
                  <c:v>18</c:v>
                </c:pt>
              </c:numCache>
            </c:numRef>
          </c:yVal>
          <c:smooth val="0"/>
          <c:extLst>
            <c:ext xmlns:c16="http://schemas.microsoft.com/office/drawing/2014/chart" uri="{C3380CC4-5D6E-409C-BE32-E72D297353CC}">
              <c16:uniqueId val="{00000000-DB0D-4F47-A31A-903FBCD88526}"/>
            </c:ext>
          </c:extLst>
        </c:ser>
        <c:ser>
          <c:idx val="68"/>
          <c:order val="68"/>
          <c:tx>
            <c:v>Mistakes</c:v>
          </c:tx>
          <c:spPr>
            <a:ln w="23813">
              <a:solidFill>
                <a:srgbClr val="C45C28"/>
              </a:solidFill>
              <a:prstDash val="solid"/>
            </a:ln>
          </c:spPr>
          <c:marker>
            <c:symbol val="none"/>
          </c:marker>
          <c:xVal>
            <c:numRef>
              <c:f>'Chart Data'!$EG$2:$EG$3</c:f>
              <c:numCache>
                <c:formatCode>General</c:formatCode>
                <c:ptCount val="2"/>
                <c:pt idx="0">
                  <c:v>-4.4550000000000001</c:v>
                </c:pt>
                <c:pt idx="1">
                  <c:v>-4.3860000000000001</c:v>
                </c:pt>
              </c:numCache>
            </c:numRef>
          </c:xVal>
          <c:yVal>
            <c:numRef>
              <c:f>'Chart Data'!$EH$2:$EH$3</c:f>
              <c:numCache>
                <c:formatCode>General</c:formatCode>
                <c:ptCount val="2"/>
                <c:pt idx="0">
                  <c:v>19</c:v>
                </c:pt>
                <c:pt idx="1">
                  <c:v>19</c:v>
                </c:pt>
              </c:numCache>
            </c:numRef>
          </c:yVal>
          <c:smooth val="0"/>
          <c:extLst>
            <c:ext xmlns:c16="http://schemas.microsoft.com/office/drawing/2014/chart" uri="{C3380CC4-5D6E-409C-BE32-E72D297353CC}">
              <c16:uniqueId val="{00000000-DB0D-4F47-A31A-903FBCD88526}"/>
            </c:ext>
          </c:extLst>
        </c:ser>
        <c:ser>
          <c:idx val="69"/>
          <c:order val="69"/>
          <c:tx>
            <c:v>Mistakes</c:v>
          </c:tx>
          <c:spPr>
            <a:ln w="23813">
              <a:solidFill>
                <a:srgbClr val="C45C28"/>
              </a:solidFill>
              <a:prstDash val="solid"/>
            </a:ln>
          </c:spPr>
          <c:marker>
            <c:symbol val="none"/>
          </c:marker>
          <c:xVal>
            <c:numRef>
              <c:f>'Chart Data'!$EI$2:$EI$3</c:f>
              <c:numCache>
                <c:formatCode>General</c:formatCode>
                <c:ptCount val="2"/>
                <c:pt idx="0">
                  <c:v>-4.3860000000000001</c:v>
                </c:pt>
                <c:pt idx="1">
                  <c:v>-4.3840000000000003</c:v>
                </c:pt>
              </c:numCache>
            </c:numRef>
          </c:xVal>
          <c:yVal>
            <c:numRef>
              <c:f>'Chart Data'!$EJ$2:$EJ$3</c:f>
              <c:numCache>
                <c:formatCode>General</c:formatCode>
                <c:ptCount val="2"/>
                <c:pt idx="0">
                  <c:v>20</c:v>
                </c:pt>
                <c:pt idx="1">
                  <c:v>20</c:v>
                </c:pt>
              </c:numCache>
            </c:numRef>
          </c:yVal>
          <c:smooth val="0"/>
          <c:extLst>
            <c:ext xmlns:c16="http://schemas.microsoft.com/office/drawing/2014/chart" uri="{C3380CC4-5D6E-409C-BE32-E72D297353CC}">
              <c16:uniqueId val="{00000000-DB0D-4F47-A31A-903FBCD88526}"/>
            </c:ext>
          </c:extLst>
        </c:ser>
        <c:ser>
          <c:idx val="70"/>
          <c:order val="70"/>
          <c:tx>
            <c:v>Mistakes</c:v>
          </c:tx>
          <c:spPr>
            <a:ln w="23813">
              <a:solidFill>
                <a:srgbClr val="C45C28"/>
              </a:solidFill>
              <a:prstDash val="solid"/>
            </a:ln>
          </c:spPr>
          <c:marker>
            <c:symbol val="none"/>
          </c:marker>
          <c:xVal>
            <c:numRef>
              <c:f>'Chart Data'!$EK$2:$EK$3</c:f>
              <c:numCache>
                <c:formatCode>General</c:formatCode>
                <c:ptCount val="2"/>
                <c:pt idx="0">
                  <c:v>-4.3840000000000003</c:v>
                </c:pt>
                <c:pt idx="1">
                  <c:v>-4.3470000000000004</c:v>
                </c:pt>
              </c:numCache>
            </c:numRef>
          </c:xVal>
          <c:yVal>
            <c:numRef>
              <c:f>'Chart Data'!$EL$2:$EL$3</c:f>
              <c:numCache>
                <c:formatCode>General</c:formatCode>
                <c:ptCount val="2"/>
                <c:pt idx="0">
                  <c:v>21</c:v>
                </c:pt>
                <c:pt idx="1">
                  <c:v>21</c:v>
                </c:pt>
              </c:numCache>
            </c:numRef>
          </c:yVal>
          <c:smooth val="0"/>
          <c:extLst>
            <c:ext xmlns:c16="http://schemas.microsoft.com/office/drawing/2014/chart" uri="{C3380CC4-5D6E-409C-BE32-E72D297353CC}">
              <c16:uniqueId val="{00000000-DB0D-4F47-A31A-903FBCD88526}"/>
            </c:ext>
          </c:extLst>
        </c:ser>
        <c:ser>
          <c:idx val="71"/>
          <c:order val="71"/>
          <c:tx>
            <c:v>Mistakes</c:v>
          </c:tx>
          <c:spPr>
            <a:ln w="23813">
              <a:solidFill>
                <a:srgbClr val="C45C28"/>
              </a:solidFill>
              <a:prstDash val="solid"/>
            </a:ln>
          </c:spPr>
          <c:marker>
            <c:symbol val="none"/>
          </c:marker>
          <c:xVal>
            <c:numRef>
              <c:f>'Chart Data'!$EM$2:$EM$3</c:f>
              <c:numCache>
                <c:formatCode>General</c:formatCode>
                <c:ptCount val="2"/>
                <c:pt idx="0">
                  <c:v>-4.3470000000000004</c:v>
                </c:pt>
                <c:pt idx="1">
                  <c:v>-4.3070000000000004</c:v>
                </c:pt>
              </c:numCache>
            </c:numRef>
          </c:xVal>
          <c:yVal>
            <c:numRef>
              <c:f>'Chart Data'!$EN$2:$EN$3</c:f>
              <c:numCache>
                <c:formatCode>General</c:formatCode>
                <c:ptCount val="2"/>
                <c:pt idx="0">
                  <c:v>22</c:v>
                </c:pt>
                <c:pt idx="1">
                  <c:v>22</c:v>
                </c:pt>
              </c:numCache>
            </c:numRef>
          </c:yVal>
          <c:smooth val="0"/>
          <c:extLst>
            <c:ext xmlns:c16="http://schemas.microsoft.com/office/drawing/2014/chart" uri="{C3380CC4-5D6E-409C-BE32-E72D297353CC}">
              <c16:uniqueId val="{00000000-DB0D-4F47-A31A-903FBCD88526}"/>
            </c:ext>
          </c:extLst>
        </c:ser>
        <c:ser>
          <c:idx val="72"/>
          <c:order val="72"/>
          <c:tx>
            <c:v>Mistakes</c:v>
          </c:tx>
          <c:spPr>
            <a:ln w="23813">
              <a:solidFill>
                <a:srgbClr val="C45C28"/>
              </a:solidFill>
              <a:prstDash val="solid"/>
            </a:ln>
          </c:spPr>
          <c:marker>
            <c:symbol val="none"/>
          </c:marker>
          <c:xVal>
            <c:numRef>
              <c:f>'Chart Data'!$EO$2:$EO$3</c:f>
              <c:numCache>
                <c:formatCode>General</c:formatCode>
                <c:ptCount val="2"/>
                <c:pt idx="0">
                  <c:v>-4.3070000000000004</c:v>
                </c:pt>
                <c:pt idx="1">
                  <c:v>-4.2960000000000003</c:v>
                </c:pt>
              </c:numCache>
            </c:numRef>
          </c:xVal>
          <c:yVal>
            <c:numRef>
              <c:f>'Chart Data'!$EP$2:$EP$3</c:f>
              <c:numCache>
                <c:formatCode>General</c:formatCode>
                <c:ptCount val="2"/>
                <c:pt idx="0">
                  <c:v>23</c:v>
                </c:pt>
                <c:pt idx="1">
                  <c:v>23</c:v>
                </c:pt>
              </c:numCache>
            </c:numRef>
          </c:yVal>
          <c:smooth val="0"/>
          <c:extLst>
            <c:ext xmlns:c16="http://schemas.microsoft.com/office/drawing/2014/chart" uri="{C3380CC4-5D6E-409C-BE32-E72D297353CC}">
              <c16:uniqueId val="{00000000-DB0D-4F47-A31A-903FBCD88526}"/>
            </c:ext>
          </c:extLst>
        </c:ser>
        <c:ser>
          <c:idx val="73"/>
          <c:order val="73"/>
          <c:tx>
            <c:v>Mistakes</c:v>
          </c:tx>
          <c:spPr>
            <a:ln w="23813">
              <a:solidFill>
                <a:srgbClr val="C45C28"/>
              </a:solidFill>
              <a:prstDash val="solid"/>
            </a:ln>
          </c:spPr>
          <c:marker>
            <c:symbol val="none"/>
          </c:marker>
          <c:xVal>
            <c:numRef>
              <c:f>'Chart Data'!$EQ$2:$EQ$3</c:f>
              <c:numCache>
                <c:formatCode>General</c:formatCode>
                <c:ptCount val="2"/>
                <c:pt idx="0">
                  <c:v>-4.2960000000000003</c:v>
                </c:pt>
                <c:pt idx="1">
                  <c:v>-4.2910000000000004</c:v>
                </c:pt>
              </c:numCache>
            </c:numRef>
          </c:xVal>
          <c:yVal>
            <c:numRef>
              <c:f>'Chart Data'!$ER$2:$ER$3</c:f>
              <c:numCache>
                <c:formatCode>General</c:formatCode>
                <c:ptCount val="2"/>
                <c:pt idx="0">
                  <c:v>24</c:v>
                </c:pt>
                <c:pt idx="1">
                  <c:v>24</c:v>
                </c:pt>
              </c:numCache>
            </c:numRef>
          </c:yVal>
          <c:smooth val="0"/>
          <c:extLst>
            <c:ext xmlns:c16="http://schemas.microsoft.com/office/drawing/2014/chart" uri="{C3380CC4-5D6E-409C-BE32-E72D297353CC}">
              <c16:uniqueId val="{00000000-DB0D-4F47-A31A-903FBCD88526}"/>
            </c:ext>
          </c:extLst>
        </c:ser>
        <c:ser>
          <c:idx val="74"/>
          <c:order val="74"/>
          <c:tx>
            <c:v>Mistakes</c:v>
          </c:tx>
          <c:spPr>
            <a:ln w="23813">
              <a:solidFill>
                <a:srgbClr val="C45C28"/>
              </a:solidFill>
              <a:prstDash val="solid"/>
            </a:ln>
          </c:spPr>
          <c:marker>
            <c:symbol val="none"/>
          </c:marker>
          <c:xVal>
            <c:numRef>
              <c:f>'Chart Data'!$ES$2:$ES$3</c:f>
              <c:numCache>
                <c:formatCode>General</c:formatCode>
                <c:ptCount val="2"/>
                <c:pt idx="0">
                  <c:v>-4.2910000000000004</c:v>
                </c:pt>
                <c:pt idx="1">
                  <c:v>-4.2709999999999999</c:v>
                </c:pt>
              </c:numCache>
            </c:numRef>
          </c:xVal>
          <c:yVal>
            <c:numRef>
              <c:f>'Chart Data'!$ET$2:$ET$3</c:f>
              <c:numCache>
                <c:formatCode>General</c:formatCode>
                <c:ptCount val="2"/>
                <c:pt idx="0">
                  <c:v>25</c:v>
                </c:pt>
                <c:pt idx="1">
                  <c:v>25</c:v>
                </c:pt>
              </c:numCache>
            </c:numRef>
          </c:yVal>
          <c:smooth val="0"/>
          <c:extLst>
            <c:ext xmlns:c16="http://schemas.microsoft.com/office/drawing/2014/chart" uri="{C3380CC4-5D6E-409C-BE32-E72D297353CC}">
              <c16:uniqueId val="{00000000-DB0D-4F47-A31A-903FBCD88526}"/>
            </c:ext>
          </c:extLst>
        </c:ser>
        <c:ser>
          <c:idx val="75"/>
          <c:order val="75"/>
          <c:tx>
            <c:v>Mistakes</c:v>
          </c:tx>
          <c:spPr>
            <a:ln w="23813">
              <a:solidFill>
                <a:srgbClr val="C45C28"/>
              </a:solidFill>
              <a:prstDash val="solid"/>
            </a:ln>
          </c:spPr>
          <c:marker>
            <c:symbol val="none"/>
          </c:marker>
          <c:xVal>
            <c:numRef>
              <c:f>'Chart Data'!$EU$2:$EU$3</c:f>
              <c:numCache>
                <c:formatCode>General</c:formatCode>
                <c:ptCount val="2"/>
                <c:pt idx="0">
                  <c:v>-4.2709999999999999</c:v>
                </c:pt>
                <c:pt idx="1">
                  <c:v>-4.2270000000000003</c:v>
                </c:pt>
              </c:numCache>
            </c:numRef>
          </c:xVal>
          <c:yVal>
            <c:numRef>
              <c:f>'Chart Data'!$EV$2:$EV$3</c:f>
              <c:numCache>
                <c:formatCode>General</c:formatCode>
                <c:ptCount val="2"/>
                <c:pt idx="0">
                  <c:v>26</c:v>
                </c:pt>
                <c:pt idx="1">
                  <c:v>26</c:v>
                </c:pt>
              </c:numCache>
            </c:numRef>
          </c:yVal>
          <c:smooth val="0"/>
          <c:extLst>
            <c:ext xmlns:c16="http://schemas.microsoft.com/office/drawing/2014/chart" uri="{C3380CC4-5D6E-409C-BE32-E72D297353CC}">
              <c16:uniqueId val="{00000000-DB0D-4F47-A31A-903FBCD88526}"/>
            </c:ext>
          </c:extLst>
        </c:ser>
        <c:ser>
          <c:idx val="76"/>
          <c:order val="76"/>
          <c:tx>
            <c:v>Mistakes</c:v>
          </c:tx>
          <c:spPr>
            <a:ln w="23813">
              <a:solidFill>
                <a:srgbClr val="C45C28"/>
              </a:solidFill>
              <a:prstDash val="solid"/>
            </a:ln>
          </c:spPr>
          <c:marker>
            <c:symbol val="none"/>
          </c:marker>
          <c:xVal>
            <c:numRef>
              <c:f>'Chart Data'!$EW$2:$EW$3</c:f>
              <c:numCache>
                <c:formatCode>General</c:formatCode>
                <c:ptCount val="2"/>
                <c:pt idx="0">
                  <c:v>-4.2270000000000003</c:v>
                </c:pt>
                <c:pt idx="1">
                  <c:v>-4.2080000000000002</c:v>
                </c:pt>
              </c:numCache>
            </c:numRef>
          </c:xVal>
          <c:yVal>
            <c:numRef>
              <c:f>'Chart Data'!$EX$2:$EX$3</c:f>
              <c:numCache>
                <c:formatCode>General</c:formatCode>
                <c:ptCount val="2"/>
                <c:pt idx="0">
                  <c:v>27</c:v>
                </c:pt>
                <c:pt idx="1">
                  <c:v>27</c:v>
                </c:pt>
              </c:numCache>
            </c:numRef>
          </c:yVal>
          <c:smooth val="0"/>
          <c:extLst>
            <c:ext xmlns:c16="http://schemas.microsoft.com/office/drawing/2014/chart" uri="{C3380CC4-5D6E-409C-BE32-E72D297353CC}">
              <c16:uniqueId val="{00000000-DB0D-4F47-A31A-903FBCD88526}"/>
            </c:ext>
          </c:extLst>
        </c:ser>
        <c:ser>
          <c:idx val="77"/>
          <c:order val="77"/>
          <c:tx>
            <c:v>Mistakes</c:v>
          </c:tx>
          <c:spPr>
            <a:ln w="23813">
              <a:solidFill>
                <a:srgbClr val="C45C28"/>
              </a:solidFill>
              <a:prstDash val="solid"/>
            </a:ln>
          </c:spPr>
          <c:marker>
            <c:symbol val="none"/>
          </c:marker>
          <c:xVal>
            <c:numRef>
              <c:f>'Chart Data'!$EY$2:$EY$3</c:f>
              <c:numCache>
                <c:formatCode>General</c:formatCode>
                <c:ptCount val="2"/>
                <c:pt idx="0">
                  <c:v>-4.2080000000000002</c:v>
                </c:pt>
                <c:pt idx="1">
                  <c:v>-4.1619999999999999</c:v>
                </c:pt>
              </c:numCache>
            </c:numRef>
          </c:xVal>
          <c:yVal>
            <c:numRef>
              <c:f>'Chart Data'!$EZ$2:$EZ$3</c:f>
              <c:numCache>
                <c:formatCode>General</c:formatCode>
                <c:ptCount val="2"/>
                <c:pt idx="0">
                  <c:v>28</c:v>
                </c:pt>
                <c:pt idx="1">
                  <c:v>28</c:v>
                </c:pt>
              </c:numCache>
            </c:numRef>
          </c:yVal>
          <c:smooth val="0"/>
          <c:extLst>
            <c:ext xmlns:c16="http://schemas.microsoft.com/office/drawing/2014/chart" uri="{C3380CC4-5D6E-409C-BE32-E72D297353CC}">
              <c16:uniqueId val="{00000000-DB0D-4F47-A31A-903FBCD88526}"/>
            </c:ext>
          </c:extLst>
        </c:ser>
        <c:ser>
          <c:idx val="78"/>
          <c:order val="78"/>
          <c:tx>
            <c:v>Mistakes</c:v>
          </c:tx>
          <c:spPr>
            <a:ln w="23813">
              <a:solidFill>
                <a:srgbClr val="C45C28"/>
              </a:solidFill>
              <a:prstDash val="solid"/>
            </a:ln>
          </c:spPr>
          <c:marker>
            <c:symbol val="none"/>
          </c:marker>
          <c:xVal>
            <c:numRef>
              <c:f>'Chart Data'!$FA$2:$FA$3</c:f>
              <c:numCache>
                <c:formatCode>General</c:formatCode>
                <c:ptCount val="2"/>
                <c:pt idx="0">
                  <c:v>-4.1619999999999999</c:v>
                </c:pt>
                <c:pt idx="1">
                  <c:v>-4.1559999999999997</c:v>
                </c:pt>
              </c:numCache>
            </c:numRef>
          </c:xVal>
          <c:yVal>
            <c:numRef>
              <c:f>'Chart Data'!$FB$2:$FB$3</c:f>
              <c:numCache>
                <c:formatCode>General</c:formatCode>
                <c:ptCount val="2"/>
                <c:pt idx="0">
                  <c:v>29</c:v>
                </c:pt>
                <c:pt idx="1">
                  <c:v>29</c:v>
                </c:pt>
              </c:numCache>
            </c:numRef>
          </c:yVal>
          <c:smooth val="0"/>
          <c:extLst>
            <c:ext xmlns:c16="http://schemas.microsoft.com/office/drawing/2014/chart" uri="{C3380CC4-5D6E-409C-BE32-E72D297353CC}">
              <c16:uniqueId val="{00000000-DB0D-4F47-A31A-903FBCD88526}"/>
            </c:ext>
          </c:extLst>
        </c:ser>
        <c:ser>
          <c:idx val="79"/>
          <c:order val="79"/>
          <c:tx>
            <c:v>Mistakes</c:v>
          </c:tx>
          <c:spPr>
            <a:ln w="23813">
              <a:solidFill>
                <a:srgbClr val="C45C28"/>
              </a:solidFill>
              <a:prstDash val="solid"/>
            </a:ln>
          </c:spPr>
          <c:marker>
            <c:symbol val="none"/>
          </c:marker>
          <c:xVal>
            <c:numRef>
              <c:f>'Chart Data'!$FC$2:$FC$3</c:f>
              <c:numCache>
                <c:formatCode>General</c:formatCode>
                <c:ptCount val="2"/>
                <c:pt idx="0">
                  <c:v>-4.1559999999999997</c:v>
                </c:pt>
                <c:pt idx="1">
                  <c:v>-4.1390000000000002</c:v>
                </c:pt>
              </c:numCache>
            </c:numRef>
          </c:xVal>
          <c:yVal>
            <c:numRef>
              <c:f>'Chart Data'!$FD$2:$FD$3</c:f>
              <c:numCache>
                <c:formatCode>General</c:formatCode>
                <c:ptCount val="2"/>
                <c:pt idx="0">
                  <c:v>30</c:v>
                </c:pt>
                <c:pt idx="1">
                  <c:v>30</c:v>
                </c:pt>
              </c:numCache>
            </c:numRef>
          </c:yVal>
          <c:smooth val="0"/>
          <c:extLst>
            <c:ext xmlns:c16="http://schemas.microsoft.com/office/drawing/2014/chart" uri="{C3380CC4-5D6E-409C-BE32-E72D297353CC}">
              <c16:uniqueId val="{00000000-DB0D-4F47-A31A-903FBCD88526}"/>
            </c:ext>
          </c:extLst>
        </c:ser>
        <c:ser>
          <c:idx val="80"/>
          <c:order val="80"/>
          <c:tx>
            <c:v>Mistakes</c:v>
          </c:tx>
          <c:spPr>
            <a:ln w="23813">
              <a:solidFill>
                <a:srgbClr val="C45C28"/>
              </a:solidFill>
              <a:prstDash val="solid"/>
            </a:ln>
          </c:spPr>
          <c:marker>
            <c:symbol val="none"/>
          </c:marker>
          <c:xVal>
            <c:numRef>
              <c:f>'Chart Data'!$FE$2:$FE$3</c:f>
              <c:numCache>
                <c:formatCode>General</c:formatCode>
                <c:ptCount val="2"/>
                <c:pt idx="0">
                  <c:v>-4.1390000000000002</c:v>
                </c:pt>
                <c:pt idx="1">
                  <c:v>-4.1210000000000004</c:v>
                </c:pt>
              </c:numCache>
            </c:numRef>
          </c:xVal>
          <c:yVal>
            <c:numRef>
              <c:f>'Chart Data'!$FF$2:$FF$3</c:f>
              <c:numCache>
                <c:formatCode>General</c:formatCode>
                <c:ptCount val="2"/>
                <c:pt idx="0">
                  <c:v>31</c:v>
                </c:pt>
                <c:pt idx="1">
                  <c:v>31</c:v>
                </c:pt>
              </c:numCache>
            </c:numRef>
          </c:yVal>
          <c:smooth val="0"/>
          <c:extLst>
            <c:ext xmlns:c16="http://schemas.microsoft.com/office/drawing/2014/chart" uri="{C3380CC4-5D6E-409C-BE32-E72D297353CC}">
              <c16:uniqueId val="{00000000-DB0D-4F47-A31A-903FBCD88526}"/>
            </c:ext>
          </c:extLst>
        </c:ser>
        <c:ser>
          <c:idx val="81"/>
          <c:order val="81"/>
          <c:tx>
            <c:v>Mistakes</c:v>
          </c:tx>
          <c:spPr>
            <a:ln w="23813">
              <a:solidFill>
                <a:srgbClr val="C45C28"/>
              </a:solidFill>
              <a:prstDash val="solid"/>
            </a:ln>
          </c:spPr>
          <c:marker>
            <c:symbol val="none"/>
          </c:marker>
          <c:xVal>
            <c:numRef>
              <c:f>'Chart Data'!$FG$2:$FG$3</c:f>
              <c:numCache>
                <c:formatCode>General</c:formatCode>
                <c:ptCount val="2"/>
                <c:pt idx="0">
                  <c:v>-4.1210000000000004</c:v>
                </c:pt>
                <c:pt idx="1">
                  <c:v>-4.05</c:v>
                </c:pt>
              </c:numCache>
            </c:numRef>
          </c:xVal>
          <c:yVal>
            <c:numRef>
              <c:f>'Chart Data'!$FH$2:$FH$3</c:f>
              <c:numCache>
                <c:formatCode>General</c:formatCode>
                <c:ptCount val="2"/>
                <c:pt idx="0">
                  <c:v>32</c:v>
                </c:pt>
                <c:pt idx="1">
                  <c:v>32</c:v>
                </c:pt>
              </c:numCache>
            </c:numRef>
          </c:yVal>
          <c:smooth val="0"/>
          <c:extLst>
            <c:ext xmlns:c16="http://schemas.microsoft.com/office/drawing/2014/chart" uri="{C3380CC4-5D6E-409C-BE32-E72D297353CC}">
              <c16:uniqueId val="{00000000-DB0D-4F47-A31A-903FBCD88526}"/>
            </c:ext>
          </c:extLst>
        </c:ser>
        <c:ser>
          <c:idx val="82"/>
          <c:order val="82"/>
          <c:tx>
            <c:v>Mistakes</c:v>
          </c:tx>
          <c:spPr>
            <a:ln w="23813">
              <a:solidFill>
                <a:srgbClr val="C45C28"/>
              </a:solidFill>
              <a:prstDash val="solid"/>
            </a:ln>
          </c:spPr>
          <c:marker>
            <c:symbol val="none"/>
          </c:marker>
          <c:xVal>
            <c:numRef>
              <c:f>'Chart Data'!$FI$2:$FI$3</c:f>
              <c:numCache>
                <c:formatCode>General</c:formatCode>
                <c:ptCount val="2"/>
                <c:pt idx="0">
                  <c:v>-4.05</c:v>
                </c:pt>
                <c:pt idx="1">
                  <c:v>-4.0469999999999997</c:v>
                </c:pt>
              </c:numCache>
            </c:numRef>
          </c:xVal>
          <c:yVal>
            <c:numRef>
              <c:f>'Chart Data'!$FJ$2:$FJ$3</c:f>
              <c:numCache>
                <c:formatCode>General</c:formatCode>
                <c:ptCount val="2"/>
                <c:pt idx="0">
                  <c:v>33</c:v>
                </c:pt>
                <c:pt idx="1">
                  <c:v>33</c:v>
                </c:pt>
              </c:numCache>
            </c:numRef>
          </c:yVal>
          <c:smooth val="0"/>
          <c:extLst>
            <c:ext xmlns:c16="http://schemas.microsoft.com/office/drawing/2014/chart" uri="{C3380CC4-5D6E-409C-BE32-E72D297353CC}">
              <c16:uniqueId val="{00000000-DB0D-4F47-A31A-903FBCD88526}"/>
            </c:ext>
          </c:extLst>
        </c:ser>
        <c:ser>
          <c:idx val="83"/>
          <c:order val="83"/>
          <c:tx>
            <c:v>Mistakes</c:v>
          </c:tx>
          <c:spPr>
            <a:ln w="23813">
              <a:solidFill>
                <a:srgbClr val="C45C28"/>
              </a:solidFill>
              <a:prstDash val="solid"/>
            </a:ln>
          </c:spPr>
          <c:marker>
            <c:symbol val="none"/>
          </c:marker>
          <c:xVal>
            <c:numRef>
              <c:f>'Chart Data'!$FK$2:$FK$3</c:f>
              <c:numCache>
                <c:formatCode>General</c:formatCode>
                <c:ptCount val="2"/>
                <c:pt idx="0">
                  <c:v>-4.0469999999999997</c:v>
                </c:pt>
                <c:pt idx="1">
                  <c:v>-3.9620000000000002</c:v>
                </c:pt>
              </c:numCache>
            </c:numRef>
          </c:xVal>
          <c:yVal>
            <c:numRef>
              <c:f>'Chart Data'!$FL$2:$FL$3</c:f>
              <c:numCache>
                <c:formatCode>General</c:formatCode>
                <c:ptCount val="2"/>
                <c:pt idx="0">
                  <c:v>34</c:v>
                </c:pt>
                <c:pt idx="1">
                  <c:v>34</c:v>
                </c:pt>
              </c:numCache>
            </c:numRef>
          </c:yVal>
          <c:smooth val="0"/>
          <c:extLst>
            <c:ext xmlns:c16="http://schemas.microsoft.com/office/drawing/2014/chart" uri="{C3380CC4-5D6E-409C-BE32-E72D297353CC}">
              <c16:uniqueId val="{00000000-DB0D-4F47-A31A-903FBCD88526}"/>
            </c:ext>
          </c:extLst>
        </c:ser>
        <c:ser>
          <c:idx val="84"/>
          <c:order val="84"/>
          <c:tx>
            <c:v>Mistakes</c:v>
          </c:tx>
          <c:spPr>
            <a:ln w="23813">
              <a:solidFill>
                <a:srgbClr val="C45C28"/>
              </a:solidFill>
              <a:prstDash val="solid"/>
            </a:ln>
          </c:spPr>
          <c:marker>
            <c:symbol val="none"/>
          </c:marker>
          <c:xVal>
            <c:numRef>
              <c:f>'Chart Data'!$FM$2:$FM$3</c:f>
              <c:numCache>
                <c:formatCode>General</c:formatCode>
                <c:ptCount val="2"/>
                <c:pt idx="0">
                  <c:v>-3.9620000000000002</c:v>
                </c:pt>
                <c:pt idx="1">
                  <c:v>-3.9359999999999999</c:v>
                </c:pt>
              </c:numCache>
            </c:numRef>
          </c:xVal>
          <c:yVal>
            <c:numRef>
              <c:f>'Chart Data'!$FN$2:$FN$3</c:f>
              <c:numCache>
                <c:formatCode>General</c:formatCode>
                <c:ptCount val="2"/>
                <c:pt idx="0">
                  <c:v>35</c:v>
                </c:pt>
                <c:pt idx="1">
                  <c:v>35</c:v>
                </c:pt>
              </c:numCache>
            </c:numRef>
          </c:yVal>
          <c:smooth val="0"/>
          <c:extLst>
            <c:ext xmlns:c16="http://schemas.microsoft.com/office/drawing/2014/chart" uri="{C3380CC4-5D6E-409C-BE32-E72D297353CC}">
              <c16:uniqueId val="{00000000-DB0D-4F47-A31A-903FBCD88526}"/>
            </c:ext>
          </c:extLst>
        </c:ser>
        <c:ser>
          <c:idx val="85"/>
          <c:order val="85"/>
          <c:tx>
            <c:v>Mistakes</c:v>
          </c:tx>
          <c:spPr>
            <a:ln w="23813">
              <a:solidFill>
                <a:srgbClr val="C45C28"/>
              </a:solidFill>
              <a:prstDash val="solid"/>
            </a:ln>
          </c:spPr>
          <c:marker>
            <c:symbol val="none"/>
          </c:marker>
          <c:xVal>
            <c:numRef>
              <c:f>'Chart Data'!$FO$2:$FO$3</c:f>
              <c:numCache>
                <c:formatCode>General</c:formatCode>
                <c:ptCount val="2"/>
                <c:pt idx="0">
                  <c:v>-3.9359999999999999</c:v>
                </c:pt>
                <c:pt idx="1">
                  <c:v>-3.9319999999999999</c:v>
                </c:pt>
              </c:numCache>
            </c:numRef>
          </c:xVal>
          <c:yVal>
            <c:numRef>
              <c:f>'Chart Data'!$FP$2:$FP$3</c:f>
              <c:numCache>
                <c:formatCode>General</c:formatCode>
                <c:ptCount val="2"/>
                <c:pt idx="0">
                  <c:v>36</c:v>
                </c:pt>
                <c:pt idx="1">
                  <c:v>36</c:v>
                </c:pt>
              </c:numCache>
            </c:numRef>
          </c:yVal>
          <c:smooth val="0"/>
          <c:extLst>
            <c:ext xmlns:c16="http://schemas.microsoft.com/office/drawing/2014/chart" uri="{C3380CC4-5D6E-409C-BE32-E72D297353CC}">
              <c16:uniqueId val="{00000000-DB0D-4F47-A31A-903FBCD88526}"/>
            </c:ext>
          </c:extLst>
        </c:ser>
        <c:ser>
          <c:idx val="86"/>
          <c:order val="86"/>
          <c:tx>
            <c:v>Mistakes</c:v>
          </c:tx>
          <c:spPr>
            <a:ln w="23813">
              <a:solidFill>
                <a:srgbClr val="C45C28"/>
              </a:solidFill>
              <a:prstDash val="solid"/>
            </a:ln>
          </c:spPr>
          <c:marker>
            <c:symbol val="none"/>
          </c:marker>
          <c:xVal>
            <c:numRef>
              <c:f>'Chart Data'!$FQ$2:$FQ$3</c:f>
              <c:numCache>
                <c:formatCode>General</c:formatCode>
                <c:ptCount val="2"/>
                <c:pt idx="0">
                  <c:v>-3.9319999999999999</c:v>
                </c:pt>
                <c:pt idx="1">
                  <c:v>-3.9</c:v>
                </c:pt>
              </c:numCache>
            </c:numRef>
          </c:xVal>
          <c:yVal>
            <c:numRef>
              <c:f>'Chart Data'!$FR$2:$FR$3</c:f>
              <c:numCache>
                <c:formatCode>General</c:formatCode>
                <c:ptCount val="2"/>
                <c:pt idx="0">
                  <c:v>37</c:v>
                </c:pt>
                <c:pt idx="1">
                  <c:v>37</c:v>
                </c:pt>
              </c:numCache>
            </c:numRef>
          </c:yVal>
          <c:smooth val="0"/>
          <c:extLst>
            <c:ext xmlns:c16="http://schemas.microsoft.com/office/drawing/2014/chart" uri="{C3380CC4-5D6E-409C-BE32-E72D297353CC}">
              <c16:uniqueId val="{00000000-DB0D-4F47-A31A-903FBCD88526}"/>
            </c:ext>
          </c:extLst>
        </c:ser>
        <c:ser>
          <c:idx val="87"/>
          <c:order val="87"/>
          <c:tx>
            <c:v>Mistakes</c:v>
          </c:tx>
          <c:spPr>
            <a:ln w="23813">
              <a:solidFill>
                <a:srgbClr val="C45C28"/>
              </a:solidFill>
              <a:prstDash val="solid"/>
            </a:ln>
          </c:spPr>
          <c:marker>
            <c:symbol val="none"/>
          </c:marker>
          <c:xVal>
            <c:numRef>
              <c:f>'Chart Data'!$FS$2:$FS$3</c:f>
              <c:numCache>
                <c:formatCode>General</c:formatCode>
                <c:ptCount val="2"/>
                <c:pt idx="0">
                  <c:v>-3.9</c:v>
                </c:pt>
                <c:pt idx="1">
                  <c:v>-3.875</c:v>
                </c:pt>
              </c:numCache>
            </c:numRef>
          </c:xVal>
          <c:yVal>
            <c:numRef>
              <c:f>'Chart Data'!$FT$2:$FT$3</c:f>
              <c:numCache>
                <c:formatCode>General</c:formatCode>
                <c:ptCount val="2"/>
                <c:pt idx="0">
                  <c:v>38</c:v>
                </c:pt>
                <c:pt idx="1">
                  <c:v>38</c:v>
                </c:pt>
              </c:numCache>
            </c:numRef>
          </c:yVal>
          <c:smooth val="0"/>
          <c:extLst>
            <c:ext xmlns:c16="http://schemas.microsoft.com/office/drawing/2014/chart" uri="{C3380CC4-5D6E-409C-BE32-E72D297353CC}">
              <c16:uniqueId val="{00000000-DB0D-4F47-A31A-903FBCD88526}"/>
            </c:ext>
          </c:extLst>
        </c:ser>
        <c:ser>
          <c:idx val="88"/>
          <c:order val="88"/>
          <c:tx>
            <c:v>Mistakes</c:v>
          </c:tx>
          <c:spPr>
            <a:ln w="23813">
              <a:solidFill>
                <a:srgbClr val="C45C28"/>
              </a:solidFill>
              <a:prstDash val="solid"/>
            </a:ln>
          </c:spPr>
          <c:marker>
            <c:symbol val="none"/>
          </c:marker>
          <c:xVal>
            <c:numRef>
              <c:f>'Chart Data'!$FU$2:$FU$3</c:f>
              <c:numCache>
                <c:formatCode>General</c:formatCode>
                <c:ptCount val="2"/>
                <c:pt idx="0">
                  <c:v>-3.875</c:v>
                </c:pt>
                <c:pt idx="1">
                  <c:v>-3.8220000000000001</c:v>
                </c:pt>
              </c:numCache>
            </c:numRef>
          </c:xVal>
          <c:yVal>
            <c:numRef>
              <c:f>'Chart Data'!$FV$2:$FV$3</c:f>
              <c:numCache>
                <c:formatCode>General</c:formatCode>
                <c:ptCount val="2"/>
                <c:pt idx="0">
                  <c:v>39</c:v>
                </c:pt>
                <c:pt idx="1">
                  <c:v>39</c:v>
                </c:pt>
              </c:numCache>
            </c:numRef>
          </c:yVal>
          <c:smooth val="0"/>
          <c:extLst>
            <c:ext xmlns:c16="http://schemas.microsoft.com/office/drawing/2014/chart" uri="{C3380CC4-5D6E-409C-BE32-E72D297353CC}">
              <c16:uniqueId val="{00000000-DB0D-4F47-A31A-903FBCD88526}"/>
            </c:ext>
          </c:extLst>
        </c:ser>
        <c:ser>
          <c:idx val="89"/>
          <c:order val="89"/>
          <c:tx>
            <c:v>Mistakes</c:v>
          </c:tx>
          <c:spPr>
            <a:ln w="23813">
              <a:solidFill>
                <a:srgbClr val="C45C28"/>
              </a:solidFill>
              <a:prstDash val="solid"/>
            </a:ln>
          </c:spPr>
          <c:marker>
            <c:symbol val="none"/>
          </c:marker>
          <c:xVal>
            <c:numRef>
              <c:f>'Chart Data'!$FW$2:$FW$3</c:f>
              <c:numCache>
                <c:formatCode>General</c:formatCode>
                <c:ptCount val="2"/>
                <c:pt idx="0">
                  <c:v>-3.8220000000000001</c:v>
                </c:pt>
                <c:pt idx="1">
                  <c:v>-3.8119999999999998</c:v>
                </c:pt>
              </c:numCache>
            </c:numRef>
          </c:xVal>
          <c:yVal>
            <c:numRef>
              <c:f>'Chart Data'!$FX$2:$FX$3</c:f>
              <c:numCache>
                <c:formatCode>General</c:formatCode>
                <c:ptCount val="2"/>
                <c:pt idx="0">
                  <c:v>40</c:v>
                </c:pt>
                <c:pt idx="1">
                  <c:v>40</c:v>
                </c:pt>
              </c:numCache>
            </c:numRef>
          </c:yVal>
          <c:smooth val="0"/>
          <c:extLst>
            <c:ext xmlns:c16="http://schemas.microsoft.com/office/drawing/2014/chart" uri="{C3380CC4-5D6E-409C-BE32-E72D297353CC}">
              <c16:uniqueId val="{00000000-DB0D-4F47-A31A-903FBCD88526}"/>
            </c:ext>
          </c:extLst>
        </c:ser>
        <c:ser>
          <c:idx val="90"/>
          <c:order val="90"/>
          <c:tx>
            <c:v>Mistakes</c:v>
          </c:tx>
          <c:spPr>
            <a:ln w="23813">
              <a:solidFill>
                <a:srgbClr val="C45C28"/>
              </a:solidFill>
              <a:prstDash val="solid"/>
            </a:ln>
          </c:spPr>
          <c:marker>
            <c:symbol val="none"/>
          </c:marker>
          <c:xVal>
            <c:numRef>
              <c:f>'Chart Data'!$FY$2:$FY$3</c:f>
              <c:numCache>
                <c:formatCode>General</c:formatCode>
                <c:ptCount val="2"/>
                <c:pt idx="0">
                  <c:v>-3.8119999999999998</c:v>
                </c:pt>
                <c:pt idx="1">
                  <c:v>-3.706</c:v>
                </c:pt>
              </c:numCache>
            </c:numRef>
          </c:xVal>
          <c:yVal>
            <c:numRef>
              <c:f>'Chart Data'!$FZ$2:$FZ$3</c:f>
              <c:numCache>
                <c:formatCode>General</c:formatCode>
                <c:ptCount val="2"/>
                <c:pt idx="0">
                  <c:v>41</c:v>
                </c:pt>
                <c:pt idx="1">
                  <c:v>41</c:v>
                </c:pt>
              </c:numCache>
            </c:numRef>
          </c:yVal>
          <c:smooth val="0"/>
          <c:extLst>
            <c:ext xmlns:c16="http://schemas.microsoft.com/office/drawing/2014/chart" uri="{C3380CC4-5D6E-409C-BE32-E72D297353CC}">
              <c16:uniqueId val="{00000000-DB0D-4F47-A31A-903FBCD88526}"/>
            </c:ext>
          </c:extLst>
        </c:ser>
        <c:ser>
          <c:idx val="91"/>
          <c:order val="91"/>
          <c:tx>
            <c:v>Mistakes</c:v>
          </c:tx>
          <c:spPr>
            <a:ln w="23813">
              <a:solidFill>
                <a:srgbClr val="C45C28"/>
              </a:solidFill>
              <a:prstDash val="solid"/>
            </a:ln>
          </c:spPr>
          <c:marker>
            <c:symbol val="none"/>
          </c:marker>
          <c:xVal>
            <c:numRef>
              <c:f>'Chart Data'!$GA$2:$GA$3</c:f>
              <c:numCache>
                <c:formatCode>General</c:formatCode>
                <c:ptCount val="2"/>
                <c:pt idx="0">
                  <c:v>-3.706</c:v>
                </c:pt>
                <c:pt idx="1">
                  <c:v>-3.5960000000000001</c:v>
                </c:pt>
              </c:numCache>
            </c:numRef>
          </c:xVal>
          <c:yVal>
            <c:numRef>
              <c:f>'Chart Data'!$GB$2:$GB$3</c:f>
              <c:numCache>
                <c:formatCode>General</c:formatCode>
                <c:ptCount val="2"/>
                <c:pt idx="0">
                  <c:v>42</c:v>
                </c:pt>
                <c:pt idx="1">
                  <c:v>42</c:v>
                </c:pt>
              </c:numCache>
            </c:numRef>
          </c:yVal>
          <c:smooth val="0"/>
          <c:extLst>
            <c:ext xmlns:c16="http://schemas.microsoft.com/office/drawing/2014/chart" uri="{C3380CC4-5D6E-409C-BE32-E72D297353CC}">
              <c16:uniqueId val="{00000000-DB0D-4F47-A31A-903FBCD88526}"/>
            </c:ext>
          </c:extLst>
        </c:ser>
        <c:ser>
          <c:idx val="92"/>
          <c:order val="92"/>
          <c:tx>
            <c:v>Mistakes</c:v>
          </c:tx>
          <c:spPr>
            <a:ln w="23813">
              <a:solidFill>
                <a:srgbClr val="C45C28"/>
              </a:solidFill>
              <a:prstDash val="solid"/>
            </a:ln>
          </c:spPr>
          <c:marker>
            <c:symbol val="none"/>
          </c:marker>
          <c:xVal>
            <c:numRef>
              <c:f>'Chart Data'!$GC$2:$GC$3</c:f>
              <c:numCache>
                <c:formatCode>General</c:formatCode>
                <c:ptCount val="2"/>
                <c:pt idx="0">
                  <c:v>-3.5960000000000001</c:v>
                </c:pt>
                <c:pt idx="1">
                  <c:v>-3.5870000000000002</c:v>
                </c:pt>
              </c:numCache>
            </c:numRef>
          </c:xVal>
          <c:yVal>
            <c:numRef>
              <c:f>'Chart Data'!$GD$2:$GD$3</c:f>
              <c:numCache>
                <c:formatCode>General</c:formatCode>
                <c:ptCount val="2"/>
                <c:pt idx="0">
                  <c:v>43</c:v>
                </c:pt>
                <c:pt idx="1">
                  <c:v>43</c:v>
                </c:pt>
              </c:numCache>
            </c:numRef>
          </c:yVal>
          <c:smooth val="0"/>
          <c:extLst>
            <c:ext xmlns:c16="http://schemas.microsoft.com/office/drawing/2014/chart" uri="{C3380CC4-5D6E-409C-BE32-E72D297353CC}">
              <c16:uniqueId val="{00000000-DB0D-4F47-A31A-903FBCD88526}"/>
            </c:ext>
          </c:extLst>
        </c:ser>
        <c:ser>
          <c:idx val="93"/>
          <c:order val="93"/>
          <c:tx>
            <c:v>Mistakes</c:v>
          </c:tx>
          <c:spPr>
            <a:ln w="23813">
              <a:solidFill>
                <a:srgbClr val="C45C28"/>
              </a:solidFill>
              <a:prstDash val="solid"/>
            </a:ln>
          </c:spPr>
          <c:marker>
            <c:symbol val="none"/>
          </c:marker>
          <c:xVal>
            <c:numRef>
              <c:f>'Chart Data'!$GE$2:$GE$3</c:f>
              <c:numCache>
                <c:formatCode>General</c:formatCode>
                <c:ptCount val="2"/>
                <c:pt idx="0">
                  <c:v>-3.5870000000000002</c:v>
                </c:pt>
                <c:pt idx="1">
                  <c:v>-3.57</c:v>
                </c:pt>
              </c:numCache>
            </c:numRef>
          </c:xVal>
          <c:yVal>
            <c:numRef>
              <c:f>'Chart Data'!$GF$2:$GF$3</c:f>
              <c:numCache>
                <c:formatCode>General</c:formatCode>
                <c:ptCount val="2"/>
                <c:pt idx="0">
                  <c:v>44</c:v>
                </c:pt>
                <c:pt idx="1">
                  <c:v>44</c:v>
                </c:pt>
              </c:numCache>
            </c:numRef>
          </c:yVal>
          <c:smooth val="0"/>
          <c:extLst>
            <c:ext xmlns:c16="http://schemas.microsoft.com/office/drawing/2014/chart" uri="{C3380CC4-5D6E-409C-BE32-E72D297353CC}">
              <c16:uniqueId val="{00000000-DB0D-4F47-A31A-903FBCD88526}"/>
            </c:ext>
          </c:extLst>
        </c:ser>
        <c:ser>
          <c:idx val="94"/>
          <c:order val="94"/>
          <c:tx>
            <c:v>Mistakes</c:v>
          </c:tx>
          <c:spPr>
            <a:ln w="23813">
              <a:solidFill>
                <a:srgbClr val="C45C28"/>
              </a:solidFill>
              <a:prstDash val="solid"/>
            </a:ln>
          </c:spPr>
          <c:marker>
            <c:symbol val="none"/>
          </c:marker>
          <c:xVal>
            <c:numRef>
              <c:f>'Chart Data'!$GG$2:$GG$3</c:f>
              <c:numCache>
                <c:formatCode>General</c:formatCode>
                <c:ptCount val="2"/>
                <c:pt idx="0">
                  <c:v>-3.57</c:v>
                </c:pt>
                <c:pt idx="1">
                  <c:v>-3.4809999999999999</c:v>
                </c:pt>
              </c:numCache>
            </c:numRef>
          </c:xVal>
          <c:yVal>
            <c:numRef>
              <c:f>'Chart Data'!$GH$2:$GH$3</c:f>
              <c:numCache>
                <c:formatCode>General</c:formatCode>
                <c:ptCount val="2"/>
                <c:pt idx="0">
                  <c:v>45</c:v>
                </c:pt>
                <c:pt idx="1">
                  <c:v>45</c:v>
                </c:pt>
              </c:numCache>
            </c:numRef>
          </c:yVal>
          <c:smooth val="0"/>
          <c:extLst>
            <c:ext xmlns:c16="http://schemas.microsoft.com/office/drawing/2014/chart" uri="{C3380CC4-5D6E-409C-BE32-E72D297353CC}">
              <c16:uniqueId val="{00000000-DB0D-4F47-A31A-903FBCD88526}"/>
            </c:ext>
          </c:extLst>
        </c:ser>
        <c:ser>
          <c:idx val="95"/>
          <c:order val="95"/>
          <c:tx>
            <c:v>Mistakes</c:v>
          </c:tx>
          <c:spPr>
            <a:ln w="23813">
              <a:solidFill>
                <a:srgbClr val="C45C28"/>
              </a:solidFill>
              <a:prstDash val="solid"/>
            </a:ln>
          </c:spPr>
          <c:marker>
            <c:symbol val="none"/>
          </c:marker>
          <c:xVal>
            <c:numRef>
              <c:f>'Chart Data'!$GI$2:$GI$3</c:f>
              <c:numCache>
                <c:formatCode>General</c:formatCode>
                <c:ptCount val="2"/>
                <c:pt idx="0">
                  <c:v>-3.4809999999999999</c:v>
                </c:pt>
                <c:pt idx="1">
                  <c:v>-3.3660000000000001</c:v>
                </c:pt>
              </c:numCache>
            </c:numRef>
          </c:xVal>
          <c:yVal>
            <c:numRef>
              <c:f>'Chart Data'!$GJ$2:$GJ$3</c:f>
              <c:numCache>
                <c:formatCode>General</c:formatCode>
                <c:ptCount val="2"/>
                <c:pt idx="0">
                  <c:v>46</c:v>
                </c:pt>
                <c:pt idx="1">
                  <c:v>46</c:v>
                </c:pt>
              </c:numCache>
            </c:numRef>
          </c:yVal>
          <c:smooth val="0"/>
          <c:extLst>
            <c:ext xmlns:c16="http://schemas.microsoft.com/office/drawing/2014/chart" uri="{C3380CC4-5D6E-409C-BE32-E72D297353CC}">
              <c16:uniqueId val="{00000000-DB0D-4F47-A31A-903FBCD88526}"/>
            </c:ext>
          </c:extLst>
        </c:ser>
        <c:ser>
          <c:idx val="96"/>
          <c:order val="96"/>
          <c:tx>
            <c:v>Mistakes</c:v>
          </c:tx>
          <c:spPr>
            <a:ln w="23813">
              <a:solidFill>
                <a:srgbClr val="C45C28"/>
              </a:solidFill>
              <a:prstDash val="solid"/>
            </a:ln>
          </c:spPr>
          <c:marker>
            <c:symbol val="none"/>
          </c:marker>
          <c:xVal>
            <c:numRef>
              <c:f>'Chart Data'!$GK$2:$GK$3</c:f>
              <c:numCache>
                <c:formatCode>General</c:formatCode>
                <c:ptCount val="2"/>
                <c:pt idx="0">
                  <c:v>-3.3660000000000001</c:v>
                </c:pt>
                <c:pt idx="1">
                  <c:v>-3.3039999999999998</c:v>
                </c:pt>
              </c:numCache>
            </c:numRef>
          </c:xVal>
          <c:yVal>
            <c:numRef>
              <c:f>'Chart Data'!$GL$2:$GL$3</c:f>
              <c:numCache>
                <c:formatCode>General</c:formatCode>
                <c:ptCount val="2"/>
                <c:pt idx="0">
                  <c:v>47</c:v>
                </c:pt>
                <c:pt idx="1">
                  <c:v>47</c:v>
                </c:pt>
              </c:numCache>
            </c:numRef>
          </c:yVal>
          <c:smooth val="0"/>
          <c:extLst>
            <c:ext xmlns:c16="http://schemas.microsoft.com/office/drawing/2014/chart" uri="{C3380CC4-5D6E-409C-BE32-E72D297353CC}">
              <c16:uniqueId val="{00000000-DB0D-4F47-A31A-903FBCD88526}"/>
            </c:ext>
          </c:extLst>
        </c:ser>
        <c:ser>
          <c:idx val="97"/>
          <c:order val="97"/>
          <c:tx>
            <c:v>Mistakes</c:v>
          </c:tx>
          <c:spPr>
            <a:ln w="23813">
              <a:solidFill>
                <a:srgbClr val="C45C28"/>
              </a:solidFill>
              <a:prstDash val="solid"/>
            </a:ln>
          </c:spPr>
          <c:marker>
            <c:symbol val="none"/>
          </c:marker>
          <c:xVal>
            <c:numRef>
              <c:f>'Chart Data'!$GM$2:$GM$3</c:f>
              <c:numCache>
                <c:formatCode>General</c:formatCode>
                <c:ptCount val="2"/>
                <c:pt idx="0">
                  <c:v>-3.3039999999999998</c:v>
                </c:pt>
                <c:pt idx="1">
                  <c:v>-3.226</c:v>
                </c:pt>
              </c:numCache>
            </c:numRef>
          </c:xVal>
          <c:yVal>
            <c:numRef>
              <c:f>'Chart Data'!$GN$2:$GN$3</c:f>
              <c:numCache>
                <c:formatCode>General</c:formatCode>
                <c:ptCount val="2"/>
                <c:pt idx="0">
                  <c:v>48</c:v>
                </c:pt>
                <c:pt idx="1">
                  <c:v>48</c:v>
                </c:pt>
              </c:numCache>
            </c:numRef>
          </c:yVal>
          <c:smooth val="0"/>
          <c:extLst>
            <c:ext xmlns:c16="http://schemas.microsoft.com/office/drawing/2014/chart" uri="{C3380CC4-5D6E-409C-BE32-E72D297353CC}">
              <c16:uniqueId val="{00000000-DB0D-4F47-A31A-903FBCD88526}"/>
            </c:ext>
          </c:extLst>
        </c:ser>
        <c:ser>
          <c:idx val="98"/>
          <c:order val="98"/>
          <c:tx>
            <c:v>Mistakes</c:v>
          </c:tx>
          <c:spPr>
            <a:ln w="23813">
              <a:solidFill>
                <a:srgbClr val="C45C28"/>
              </a:solidFill>
              <a:prstDash val="solid"/>
            </a:ln>
          </c:spPr>
          <c:marker>
            <c:symbol val="none"/>
          </c:marker>
          <c:xVal>
            <c:numRef>
              <c:f>'Chart Data'!$GO$2:$GO$3</c:f>
              <c:numCache>
                <c:formatCode>General</c:formatCode>
                <c:ptCount val="2"/>
                <c:pt idx="0">
                  <c:v>-3.226</c:v>
                </c:pt>
                <c:pt idx="1">
                  <c:v>-3</c:v>
                </c:pt>
              </c:numCache>
            </c:numRef>
          </c:xVal>
          <c:yVal>
            <c:numRef>
              <c:f>'Chart Data'!$GP$2:$GP$3</c:f>
              <c:numCache>
                <c:formatCode>General</c:formatCode>
                <c:ptCount val="2"/>
                <c:pt idx="0">
                  <c:v>49</c:v>
                </c:pt>
                <c:pt idx="1">
                  <c:v>49</c:v>
                </c:pt>
              </c:numCache>
            </c:numRef>
          </c:yVal>
          <c:smooth val="0"/>
          <c:extLst>
            <c:ext xmlns:c16="http://schemas.microsoft.com/office/drawing/2014/chart" uri="{C3380CC4-5D6E-409C-BE32-E72D297353CC}">
              <c16:uniqueId val="{00000000-DB0D-4F47-A31A-903FBCD88526}"/>
            </c:ext>
          </c:extLst>
        </c:ser>
        <c:ser>
          <c:idx val="99"/>
          <c:order val="99"/>
          <c:tx>
            <c:v>Mistakes</c:v>
          </c:tx>
          <c:spPr>
            <a:ln w="23813">
              <a:solidFill>
                <a:srgbClr val="C45C28"/>
              </a:solidFill>
              <a:prstDash val="solid"/>
            </a:ln>
          </c:spPr>
          <c:marker>
            <c:symbol val="none"/>
          </c:marker>
          <c:xVal>
            <c:numRef>
              <c:f>'Chart Data'!$GQ$2:$GQ$3</c:f>
              <c:numCache>
                <c:formatCode>General</c:formatCode>
                <c:ptCount val="2"/>
                <c:pt idx="0">
                  <c:v>-3</c:v>
                </c:pt>
                <c:pt idx="1">
                  <c:v>-2.8</c:v>
                </c:pt>
              </c:numCache>
            </c:numRef>
          </c:xVal>
          <c:yVal>
            <c:numRef>
              <c:f>'Chart Data'!$GR$2:$GR$3</c:f>
              <c:numCache>
                <c:formatCode>General</c:formatCode>
                <c:ptCount val="2"/>
                <c:pt idx="0">
                  <c:v>50</c:v>
                </c:pt>
                <c:pt idx="1">
                  <c:v>50</c:v>
                </c:pt>
              </c:numCache>
            </c:numRef>
          </c:yVal>
          <c:smooth val="0"/>
          <c:extLst>
            <c:ext xmlns:c16="http://schemas.microsoft.com/office/drawing/2014/chart" uri="{C3380CC4-5D6E-409C-BE32-E72D297353CC}">
              <c16:uniqueId val="{00000000-DB0D-4F47-A31A-903FBCD88526}"/>
            </c:ext>
          </c:extLst>
        </c:ser>
        <c:ser>
          <c:idx val="100"/>
          <c:order val="100"/>
          <c:tx>
            <c:v>Included endpoint</c:v>
          </c:tx>
          <c:spPr>
            <a:ln w="0">
              <a:noFill/>
            </a:ln>
          </c:spPr>
          <c:marker>
            <c:symbol val="circle"/>
            <c:size val="3"/>
            <c:spPr>
              <a:solidFill>
                <a:srgbClr val="C45C28"/>
              </a:solidFill>
              <a:ln w="12700">
                <a:solidFill>
                  <a:srgbClr val="C45C28"/>
                </a:solidFill>
              </a:ln>
            </c:spPr>
          </c:marker>
          <c:xVal>
            <c:numRef>
              <c:f>'Chart Data'!$GS$2:$GS$100</c:f>
              <c:numCache>
                <c:formatCode>General</c:formatCode>
                <c:ptCount val="99"/>
                <c:pt idx="0">
                  <c:v>-6.9480000000000004</c:v>
                </c:pt>
                <c:pt idx="1">
                  <c:v>-6.7720000000000002</c:v>
                </c:pt>
                <c:pt idx="2">
                  <c:v>-6.6189999999999998</c:v>
                </c:pt>
                <c:pt idx="3">
                  <c:v>-6.5609999999999999</c:v>
                </c:pt>
                <c:pt idx="4">
                  <c:v>-6.4</c:v>
                </c:pt>
                <c:pt idx="5">
                  <c:v>-6.3</c:v>
                </c:pt>
                <c:pt idx="6">
                  <c:v>-6.2080000000000002</c:v>
                </c:pt>
                <c:pt idx="7">
                  <c:v>-6.1</c:v>
                </c:pt>
                <c:pt idx="8">
                  <c:v>-6.0869999999999997</c:v>
                </c:pt>
                <c:pt idx="9">
                  <c:v>-6.07</c:v>
                </c:pt>
                <c:pt idx="10">
                  <c:v>-6.0309999999999997</c:v>
                </c:pt>
                <c:pt idx="11">
                  <c:v>-6.02</c:v>
                </c:pt>
                <c:pt idx="12">
                  <c:v>-5.9809999999999999</c:v>
                </c:pt>
                <c:pt idx="13">
                  <c:v>-5.9359999999999999</c:v>
                </c:pt>
                <c:pt idx="14">
                  <c:v>-5.9130000000000003</c:v>
                </c:pt>
                <c:pt idx="15">
                  <c:v>-5.8259999999999996</c:v>
                </c:pt>
                <c:pt idx="16">
                  <c:v>-5.8070000000000004</c:v>
                </c:pt>
                <c:pt idx="17">
                  <c:v>-5.758</c:v>
                </c:pt>
                <c:pt idx="18">
                  <c:v>-5.7380000000000004</c:v>
                </c:pt>
                <c:pt idx="19">
                  <c:v>-5.7190000000000003</c:v>
                </c:pt>
                <c:pt idx="20">
                  <c:v>-5.6980000000000004</c:v>
                </c:pt>
                <c:pt idx="21">
                  <c:v>-5.6760000000000002</c:v>
                </c:pt>
                <c:pt idx="22">
                  <c:v>-5.63</c:v>
                </c:pt>
                <c:pt idx="23">
                  <c:v>-5.5620000000000003</c:v>
                </c:pt>
                <c:pt idx="24">
                  <c:v>-5.5419999999999998</c:v>
                </c:pt>
                <c:pt idx="25">
                  <c:v>-5.4950000000000001</c:v>
                </c:pt>
                <c:pt idx="26">
                  <c:v>-5.4729999999999999</c:v>
                </c:pt>
                <c:pt idx="27">
                  <c:v>-5.4539999999999997</c:v>
                </c:pt>
                <c:pt idx="28">
                  <c:v>-5.41</c:v>
                </c:pt>
                <c:pt idx="29">
                  <c:v>-5.3849999999999998</c:v>
                </c:pt>
                <c:pt idx="30">
                  <c:v>-5.3769999999999998</c:v>
                </c:pt>
                <c:pt idx="31">
                  <c:v>-5.2960000000000003</c:v>
                </c:pt>
                <c:pt idx="32">
                  <c:v>-5.2889999999999997</c:v>
                </c:pt>
                <c:pt idx="33">
                  <c:v>-5.2279999999999998</c:v>
                </c:pt>
                <c:pt idx="34">
                  <c:v>-5.2130000000000001</c:v>
                </c:pt>
                <c:pt idx="35">
                  <c:v>-5.2080000000000002</c:v>
                </c:pt>
                <c:pt idx="36">
                  <c:v>-5.19</c:v>
                </c:pt>
                <c:pt idx="37">
                  <c:v>-5.14</c:v>
                </c:pt>
                <c:pt idx="38">
                  <c:v>-5.1349999999999998</c:v>
                </c:pt>
                <c:pt idx="39">
                  <c:v>-5.1210000000000004</c:v>
                </c:pt>
                <c:pt idx="40">
                  <c:v>-5.0510000000000002</c:v>
                </c:pt>
                <c:pt idx="41">
                  <c:v>-5.0339999999999998</c:v>
                </c:pt>
                <c:pt idx="42">
                  <c:v>-5.016</c:v>
                </c:pt>
                <c:pt idx="43">
                  <c:v>-4.9630000000000001</c:v>
                </c:pt>
                <c:pt idx="44">
                  <c:v>-4.9580000000000002</c:v>
                </c:pt>
                <c:pt idx="45">
                  <c:v>-4.9459999999999997</c:v>
                </c:pt>
                <c:pt idx="46">
                  <c:v>-4.8949999999999996</c:v>
                </c:pt>
                <c:pt idx="47">
                  <c:v>-4.8840000000000003</c:v>
                </c:pt>
                <c:pt idx="48">
                  <c:v>-4.875</c:v>
                </c:pt>
                <c:pt idx="49">
                  <c:v>-4.8730000000000002</c:v>
                </c:pt>
                <c:pt idx="50">
                  <c:v>-4.8090000000000002</c:v>
                </c:pt>
                <c:pt idx="51">
                  <c:v>-4.806</c:v>
                </c:pt>
                <c:pt idx="52">
                  <c:v>-4.7880000000000003</c:v>
                </c:pt>
                <c:pt idx="53">
                  <c:v>-4.718</c:v>
                </c:pt>
                <c:pt idx="54">
                  <c:v>-4.7009999999999996</c:v>
                </c:pt>
                <c:pt idx="55">
                  <c:v>-4.6749999999999998</c:v>
                </c:pt>
                <c:pt idx="56">
                  <c:v>-4.6710000000000003</c:v>
                </c:pt>
                <c:pt idx="57">
                  <c:v>-4.6509999999999998</c:v>
                </c:pt>
                <c:pt idx="58">
                  <c:v>-4.6349999999999998</c:v>
                </c:pt>
                <c:pt idx="59">
                  <c:v>-4.6289999999999996</c:v>
                </c:pt>
                <c:pt idx="60">
                  <c:v>-4.5890000000000004</c:v>
                </c:pt>
                <c:pt idx="61">
                  <c:v>-4.5609999999999999</c:v>
                </c:pt>
                <c:pt idx="62">
                  <c:v>-4.5570000000000004</c:v>
                </c:pt>
                <c:pt idx="63">
                  <c:v>-4.5410000000000004</c:v>
                </c:pt>
                <c:pt idx="64">
                  <c:v>-4.5</c:v>
                </c:pt>
                <c:pt idx="65">
                  <c:v>-4.4729999999999999</c:v>
                </c:pt>
                <c:pt idx="66">
                  <c:v>-4.4669999999999996</c:v>
                </c:pt>
                <c:pt idx="67">
                  <c:v>-4.4550000000000001</c:v>
                </c:pt>
                <c:pt idx="68">
                  <c:v>-4.3860000000000001</c:v>
                </c:pt>
                <c:pt idx="69">
                  <c:v>-4.3840000000000003</c:v>
                </c:pt>
                <c:pt idx="70">
                  <c:v>-4.3470000000000004</c:v>
                </c:pt>
                <c:pt idx="71">
                  <c:v>-4.3070000000000004</c:v>
                </c:pt>
                <c:pt idx="72">
                  <c:v>-4.2960000000000003</c:v>
                </c:pt>
                <c:pt idx="73">
                  <c:v>-4.2910000000000004</c:v>
                </c:pt>
                <c:pt idx="74">
                  <c:v>-4.2709999999999999</c:v>
                </c:pt>
                <c:pt idx="75">
                  <c:v>-4.2270000000000003</c:v>
                </c:pt>
                <c:pt idx="76">
                  <c:v>-4.2080000000000002</c:v>
                </c:pt>
                <c:pt idx="77">
                  <c:v>-4.1619999999999999</c:v>
                </c:pt>
                <c:pt idx="78">
                  <c:v>-4.1559999999999997</c:v>
                </c:pt>
                <c:pt idx="79">
                  <c:v>-4.1390000000000002</c:v>
                </c:pt>
                <c:pt idx="80">
                  <c:v>-4.1210000000000004</c:v>
                </c:pt>
                <c:pt idx="81">
                  <c:v>-4.05</c:v>
                </c:pt>
                <c:pt idx="82">
                  <c:v>-4.0469999999999997</c:v>
                </c:pt>
                <c:pt idx="83">
                  <c:v>-3.9620000000000002</c:v>
                </c:pt>
                <c:pt idx="84">
                  <c:v>-3.9359999999999999</c:v>
                </c:pt>
                <c:pt idx="85">
                  <c:v>-3.9319999999999999</c:v>
                </c:pt>
                <c:pt idx="86">
                  <c:v>-3.9</c:v>
                </c:pt>
                <c:pt idx="87">
                  <c:v>-3.875</c:v>
                </c:pt>
                <c:pt idx="88">
                  <c:v>-3.8220000000000001</c:v>
                </c:pt>
                <c:pt idx="89">
                  <c:v>-3.8119999999999998</c:v>
                </c:pt>
                <c:pt idx="90">
                  <c:v>-3.706</c:v>
                </c:pt>
                <c:pt idx="91">
                  <c:v>-3.5960000000000001</c:v>
                </c:pt>
                <c:pt idx="92">
                  <c:v>-3.5870000000000002</c:v>
                </c:pt>
                <c:pt idx="93">
                  <c:v>-3.57</c:v>
                </c:pt>
                <c:pt idx="94">
                  <c:v>-3.4809999999999999</c:v>
                </c:pt>
                <c:pt idx="95">
                  <c:v>-3.3660000000000001</c:v>
                </c:pt>
                <c:pt idx="96">
                  <c:v>-3.3039999999999998</c:v>
                </c:pt>
                <c:pt idx="97">
                  <c:v>-3.226</c:v>
                </c:pt>
                <c:pt idx="98">
                  <c:v>-3</c:v>
                </c:pt>
              </c:numCache>
            </c:numRef>
          </c:xVal>
          <c:yVal>
            <c:numRef>
              <c:f>'Chart Data'!$GT$2:$GT$100</c:f>
              <c:numCache>
                <c:formatCode>General</c:formatCode>
                <c:ptCount val="99"/>
                <c:pt idx="0">
                  <c:v>50</c:v>
                </c:pt>
                <c:pt idx="1">
                  <c:v>49</c:v>
                </c:pt>
                <c:pt idx="2">
                  <c:v>48</c:v>
                </c:pt>
                <c:pt idx="3">
                  <c:v>47</c:v>
                </c:pt>
                <c:pt idx="4">
                  <c:v>46</c:v>
                </c:pt>
                <c:pt idx="5">
                  <c:v>45</c:v>
                </c:pt>
                <c:pt idx="6">
                  <c:v>44</c:v>
                </c:pt>
                <c:pt idx="7">
                  <c:v>43</c:v>
                </c:pt>
                <c:pt idx="8">
                  <c:v>41</c:v>
                </c:pt>
                <c:pt idx="9">
                  <c:v>40</c:v>
                </c:pt>
                <c:pt idx="10">
                  <c:v>39</c:v>
                </c:pt>
                <c:pt idx="11">
                  <c:v>38</c:v>
                </c:pt>
                <c:pt idx="12">
                  <c:v>37</c:v>
                </c:pt>
                <c:pt idx="13">
                  <c:v>36</c:v>
                </c:pt>
                <c:pt idx="14">
                  <c:v>35</c:v>
                </c:pt>
                <c:pt idx="15">
                  <c:v>34</c:v>
                </c:pt>
                <c:pt idx="16">
                  <c:v>33</c:v>
                </c:pt>
                <c:pt idx="17">
                  <c:v>32</c:v>
                </c:pt>
                <c:pt idx="18">
                  <c:v>31</c:v>
                </c:pt>
                <c:pt idx="19">
                  <c:v>30</c:v>
                </c:pt>
                <c:pt idx="20">
                  <c:v>29</c:v>
                </c:pt>
                <c:pt idx="21">
                  <c:v>28</c:v>
                </c:pt>
                <c:pt idx="22">
                  <c:v>27</c:v>
                </c:pt>
                <c:pt idx="23">
                  <c:v>26</c:v>
                </c:pt>
                <c:pt idx="24">
                  <c:v>25</c:v>
                </c:pt>
                <c:pt idx="25">
                  <c:v>24</c:v>
                </c:pt>
                <c:pt idx="26">
                  <c:v>23</c:v>
                </c:pt>
                <c:pt idx="27">
                  <c:v>22</c:v>
                </c:pt>
                <c:pt idx="28">
                  <c:v>21</c:v>
                </c:pt>
                <c:pt idx="29">
                  <c:v>20</c:v>
                </c:pt>
                <c:pt idx="30">
                  <c:v>19</c:v>
                </c:pt>
                <c:pt idx="31">
                  <c:v>20</c:v>
                </c:pt>
                <c:pt idx="32">
                  <c:v>19</c:v>
                </c:pt>
                <c:pt idx="33">
                  <c:v>18</c:v>
                </c:pt>
                <c:pt idx="34">
                  <c:v>17</c:v>
                </c:pt>
                <c:pt idx="35">
                  <c:v>16</c:v>
                </c:pt>
                <c:pt idx="36">
                  <c:v>15</c:v>
                </c:pt>
                <c:pt idx="37">
                  <c:v>14</c:v>
                </c:pt>
                <c:pt idx="38">
                  <c:v>13</c:v>
                </c:pt>
                <c:pt idx="39">
                  <c:v>12</c:v>
                </c:pt>
                <c:pt idx="40">
                  <c:v>11</c:v>
                </c:pt>
                <c:pt idx="41">
                  <c:v>10</c:v>
                </c:pt>
                <c:pt idx="42">
                  <c:v>9</c:v>
                </c:pt>
                <c:pt idx="43">
                  <c:v>8</c:v>
                </c:pt>
                <c:pt idx="44">
                  <c:v>7</c:v>
                </c:pt>
                <c:pt idx="45">
                  <c:v>6</c:v>
                </c:pt>
                <c:pt idx="46">
                  <c:v>7</c:v>
                </c:pt>
                <c:pt idx="47">
                  <c:v>6</c:v>
                </c:pt>
                <c:pt idx="48">
                  <c:v>5</c:v>
                </c:pt>
                <c:pt idx="49">
                  <c:v>6</c:v>
                </c:pt>
                <c:pt idx="50">
                  <c:v>7</c:v>
                </c:pt>
                <c:pt idx="51">
                  <c:v>8</c:v>
                </c:pt>
                <c:pt idx="52">
                  <c:v>7</c:v>
                </c:pt>
                <c:pt idx="53">
                  <c:v>6</c:v>
                </c:pt>
                <c:pt idx="54">
                  <c:v>7</c:v>
                </c:pt>
                <c:pt idx="55">
                  <c:v>8</c:v>
                </c:pt>
                <c:pt idx="56">
                  <c:v>9</c:v>
                </c:pt>
                <c:pt idx="57">
                  <c:v>10</c:v>
                </c:pt>
                <c:pt idx="58">
                  <c:v>11</c:v>
                </c:pt>
                <c:pt idx="59">
                  <c:v>12</c:v>
                </c:pt>
                <c:pt idx="60">
                  <c:v>13</c:v>
                </c:pt>
                <c:pt idx="61">
                  <c:v>14</c:v>
                </c:pt>
                <c:pt idx="62">
                  <c:v>15</c:v>
                </c:pt>
                <c:pt idx="63">
                  <c:v>16</c:v>
                </c:pt>
                <c:pt idx="64">
                  <c:v>17</c:v>
                </c:pt>
                <c:pt idx="65">
                  <c:v>16</c:v>
                </c:pt>
                <c:pt idx="66">
                  <c:v>17</c:v>
                </c:pt>
                <c:pt idx="67">
                  <c:v>18</c:v>
                </c:pt>
                <c:pt idx="68">
                  <c:v>19</c:v>
                </c:pt>
                <c:pt idx="69">
                  <c:v>20</c:v>
                </c:pt>
                <c:pt idx="70">
                  <c:v>21</c:v>
                </c:pt>
                <c:pt idx="71">
                  <c:v>22</c:v>
                </c:pt>
                <c:pt idx="72">
                  <c:v>23</c:v>
                </c:pt>
                <c:pt idx="73">
                  <c:v>24</c:v>
                </c:pt>
                <c:pt idx="74">
                  <c:v>25</c:v>
                </c:pt>
                <c:pt idx="75">
                  <c:v>26</c:v>
                </c:pt>
                <c:pt idx="76">
                  <c:v>27</c:v>
                </c:pt>
                <c:pt idx="77">
                  <c:v>28</c:v>
                </c:pt>
                <c:pt idx="78">
                  <c:v>29</c:v>
                </c:pt>
                <c:pt idx="79">
                  <c:v>30</c:v>
                </c:pt>
                <c:pt idx="80">
                  <c:v>31</c:v>
                </c:pt>
                <c:pt idx="81">
                  <c:v>32</c:v>
                </c:pt>
                <c:pt idx="82">
                  <c:v>33</c:v>
                </c:pt>
                <c:pt idx="83">
                  <c:v>34</c:v>
                </c:pt>
                <c:pt idx="84">
                  <c:v>35</c:v>
                </c:pt>
                <c:pt idx="85">
                  <c:v>36</c:v>
                </c:pt>
                <c:pt idx="86">
                  <c:v>37</c:v>
                </c:pt>
                <c:pt idx="87">
                  <c:v>38</c:v>
                </c:pt>
                <c:pt idx="88">
                  <c:v>39</c:v>
                </c:pt>
                <c:pt idx="89">
                  <c:v>40</c:v>
                </c:pt>
                <c:pt idx="90">
                  <c:v>41</c:v>
                </c:pt>
                <c:pt idx="91">
                  <c:v>42</c:v>
                </c:pt>
                <c:pt idx="92">
                  <c:v>43</c:v>
                </c:pt>
                <c:pt idx="93">
                  <c:v>44</c:v>
                </c:pt>
                <c:pt idx="94">
                  <c:v>45</c:v>
                </c:pt>
                <c:pt idx="95">
                  <c:v>46</c:v>
                </c:pt>
                <c:pt idx="96">
                  <c:v>47</c:v>
                </c:pt>
                <c:pt idx="97">
                  <c:v>48</c:v>
                </c:pt>
                <c:pt idx="98">
                  <c:v>49</c:v>
                </c:pt>
              </c:numCache>
            </c:numRef>
          </c:yVal>
          <c:smooth val="0"/>
          <c:extLst>
            <c:ext xmlns:c16="http://schemas.microsoft.com/office/drawing/2014/chart" uri="{C3380CC4-5D6E-409C-BE32-E72D297353CC}">
              <c16:uniqueId val="{00000023-DB0D-4F47-A31A-903FBCD88526}"/>
            </c:ext>
          </c:extLst>
        </c:ser>
        <c:ser>
          <c:idx val="101"/>
          <c:order val="101"/>
          <c:tx>
            <c:v>Current boundary</c:v>
          </c:tx>
          <c:spPr>
            <a:ln w="0">
              <a:noFill/>
            </a:ln>
          </c:spPr>
          <c:marker>
            <c:symbol val="circle"/>
            <c:size val="9"/>
            <c:spPr>
              <a:solidFill>
                <a:srgbClr val="087F83"/>
              </a:solidFill>
              <a:ln w="12700">
                <a:solidFill>
                  <a:srgbClr val="087F83"/>
                </a:solidFill>
              </a:ln>
            </c:spPr>
          </c:marker>
          <c:xVal>
            <c:numRef>
              <c:f>'Chart Data'!$GU$2:$GU$2</c:f>
              <c:numCache>
                <c:formatCode>General</c:formatCode>
                <c:ptCount val="1"/>
                <c:pt idx="0">
                  <c:v>-5.55</c:v>
                </c:pt>
              </c:numCache>
            </c:numRef>
          </c:xVal>
          <c:yVal>
            <c:numRef>
              <c:f>'Chart Data'!$GV$2:$GV$2</c:f>
              <c:numCache>
                <c:formatCode>General</c:formatCode>
                <c:ptCount val="1"/>
                <c:pt idx="0">
                  <c:v>25</c:v>
                </c:pt>
              </c:numCache>
            </c:numRef>
          </c:yVal>
          <c:smooth val="0"/>
          <c:extLst>
            <c:ext xmlns:c16="http://schemas.microsoft.com/office/drawing/2014/chart" uri="{C3380CC4-5D6E-409C-BE32-E72D297353CC}">
              <c16:uniqueId val="{00000024-DB0D-4F47-A31A-903FBCD88526}"/>
            </c:ext>
          </c:extLst>
        </c:ser>
        <c:dLbls>
          <c:showLegendKey val="0"/>
          <c:showVal val="0"/>
          <c:showCatName val="0"/>
          <c:showSerName val="0"/>
          <c:showPercent val="0"/>
          <c:showBubbleSize val="0"/>
        </c:dLbls>
        <c:axId val="48650112"/>
        <c:axId val="48672768"/>
      </c:scatterChart>
      <c:valAx>
        <c:axId val="48672768"/>
        <c:scaling>
          <c:orientation val="minMax"/>
          <c:max val="5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Number of mistakes</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0"/>
      </c:valAx>
      <c:valAx>
        <c:axId val="48650112"/>
        <c:scaling>
          <c:orientation val="minMax"/>
          <c:max val="-3"/>
          <c:min val="-7"/>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Intercept b</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8575">
              <a:solidFill>
                <a:srgbClr val="087F83"/>
              </a:solidFill>
              <a:prstDash val="solid"/>
            </a:ln>
          </c:spPr>
          <c:marker>
            <c:symbol val="none"/>
          </c:marker>
          <c:xVal>
            <c:numRef>
              <c:f>'Chart Data'!$A$2:$A$162</c:f>
              <c:numCache>
                <c:formatCode>General</c:formatCode>
                <c:ptCount val="161"/>
                <c:pt idx="0">
                  <c:v>-4</c:v>
                </c:pt>
                <c:pt idx="1">
                  <c:v>-3.95</c:v>
                </c:pt>
                <c:pt idx="2">
                  <c:v>-3.9</c:v>
                </c:pt>
                <c:pt idx="3">
                  <c:v>-3.85</c:v>
                </c:pt>
                <c:pt idx="4">
                  <c:v>-3.8</c:v>
                </c:pt>
                <c:pt idx="5">
                  <c:v>-3.75</c:v>
                </c:pt>
                <c:pt idx="6">
                  <c:v>-3.7</c:v>
                </c:pt>
                <c:pt idx="7">
                  <c:v>-3.65</c:v>
                </c:pt>
                <c:pt idx="8">
                  <c:v>-3.6</c:v>
                </c:pt>
                <c:pt idx="9">
                  <c:v>-3.55</c:v>
                </c:pt>
                <c:pt idx="10">
                  <c:v>-3.5</c:v>
                </c:pt>
                <c:pt idx="11">
                  <c:v>-3.45</c:v>
                </c:pt>
                <c:pt idx="12">
                  <c:v>-3.4</c:v>
                </c:pt>
                <c:pt idx="13">
                  <c:v>-3.35</c:v>
                </c:pt>
                <c:pt idx="14">
                  <c:v>-3.3</c:v>
                </c:pt>
                <c:pt idx="15">
                  <c:v>-3.25</c:v>
                </c:pt>
                <c:pt idx="16">
                  <c:v>-3.2</c:v>
                </c:pt>
                <c:pt idx="17">
                  <c:v>-3.15</c:v>
                </c:pt>
                <c:pt idx="18">
                  <c:v>-3.1</c:v>
                </c:pt>
                <c:pt idx="19">
                  <c:v>-3.05</c:v>
                </c:pt>
                <c:pt idx="20">
                  <c:v>-3</c:v>
                </c:pt>
                <c:pt idx="21">
                  <c:v>-2.95</c:v>
                </c:pt>
                <c:pt idx="22">
                  <c:v>-2.9</c:v>
                </c:pt>
                <c:pt idx="23">
                  <c:v>-2.85</c:v>
                </c:pt>
                <c:pt idx="24">
                  <c:v>-2.8</c:v>
                </c:pt>
                <c:pt idx="25">
                  <c:v>-2.75</c:v>
                </c:pt>
                <c:pt idx="26">
                  <c:v>-2.7</c:v>
                </c:pt>
                <c:pt idx="27">
                  <c:v>-2.65</c:v>
                </c:pt>
                <c:pt idx="28">
                  <c:v>-2.6</c:v>
                </c:pt>
                <c:pt idx="29">
                  <c:v>-2.5499999999999998</c:v>
                </c:pt>
                <c:pt idx="30">
                  <c:v>-2.5</c:v>
                </c:pt>
                <c:pt idx="31">
                  <c:v>-2.4500000000000002</c:v>
                </c:pt>
                <c:pt idx="32">
                  <c:v>-2.4</c:v>
                </c:pt>
                <c:pt idx="33">
                  <c:v>-2.35</c:v>
                </c:pt>
                <c:pt idx="34">
                  <c:v>-2.2999999999999998</c:v>
                </c:pt>
                <c:pt idx="35">
                  <c:v>-2.25</c:v>
                </c:pt>
                <c:pt idx="36">
                  <c:v>-2.2000000000000002</c:v>
                </c:pt>
                <c:pt idx="37">
                  <c:v>-2.15</c:v>
                </c:pt>
                <c:pt idx="38">
                  <c:v>-2.1</c:v>
                </c:pt>
                <c:pt idx="39">
                  <c:v>-2.0499999999999998</c:v>
                </c:pt>
                <c:pt idx="40">
                  <c:v>-2</c:v>
                </c:pt>
                <c:pt idx="41">
                  <c:v>-1.95</c:v>
                </c:pt>
                <c:pt idx="42">
                  <c:v>-1.9</c:v>
                </c:pt>
                <c:pt idx="43">
                  <c:v>-1.85</c:v>
                </c:pt>
                <c:pt idx="44">
                  <c:v>-1.8</c:v>
                </c:pt>
                <c:pt idx="45">
                  <c:v>-1.75</c:v>
                </c:pt>
                <c:pt idx="46">
                  <c:v>-1.7</c:v>
                </c:pt>
                <c:pt idx="47">
                  <c:v>-1.65</c:v>
                </c:pt>
                <c:pt idx="48">
                  <c:v>-1.6</c:v>
                </c:pt>
                <c:pt idx="49">
                  <c:v>-1.55</c:v>
                </c:pt>
                <c:pt idx="50">
                  <c:v>-1.5</c:v>
                </c:pt>
                <c:pt idx="51">
                  <c:v>-1.45</c:v>
                </c:pt>
                <c:pt idx="52">
                  <c:v>-1.4</c:v>
                </c:pt>
                <c:pt idx="53">
                  <c:v>-1.35</c:v>
                </c:pt>
                <c:pt idx="54">
                  <c:v>-1.3</c:v>
                </c:pt>
                <c:pt idx="55">
                  <c:v>-1.25</c:v>
                </c:pt>
                <c:pt idx="56">
                  <c:v>-1.2</c:v>
                </c:pt>
                <c:pt idx="57">
                  <c:v>-1.1499999999999999</c:v>
                </c:pt>
                <c:pt idx="58">
                  <c:v>-1.1000000000000001</c:v>
                </c:pt>
                <c:pt idx="59">
                  <c:v>-1.05</c:v>
                </c:pt>
                <c:pt idx="60">
                  <c:v>-1</c:v>
                </c:pt>
                <c:pt idx="61">
                  <c:v>-0.95</c:v>
                </c:pt>
                <c:pt idx="62">
                  <c:v>-0.9</c:v>
                </c:pt>
                <c:pt idx="63">
                  <c:v>-0.85</c:v>
                </c:pt>
                <c:pt idx="64">
                  <c:v>-0.8</c:v>
                </c:pt>
                <c:pt idx="65">
                  <c:v>-0.75</c:v>
                </c:pt>
                <c:pt idx="66">
                  <c:v>-0.7</c:v>
                </c:pt>
                <c:pt idx="67">
                  <c:v>-0.65</c:v>
                </c:pt>
                <c:pt idx="68">
                  <c:v>-0.6</c:v>
                </c:pt>
                <c:pt idx="69">
                  <c:v>-0.55000000000000004</c:v>
                </c:pt>
                <c:pt idx="70">
                  <c:v>-0.5</c:v>
                </c:pt>
                <c:pt idx="71">
                  <c:v>-0.45</c:v>
                </c:pt>
                <c:pt idx="72">
                  <c:v>-0.4</c:v>
                </c:pt>
                <c:pt idx="73">
                  <c:v>-0.35</c:v>
                </c:pt>
                <c:pt idx="74">
                  <c:v>-0.3</c:v>
                </c:pt>
                <c:pt idx="75">
                  <c:v>-0.25</c:v>
                </c:pt>
                <c:pt idx="76">
                  <c:v>-0.2</c:v>
                </c:pt>
                <c:pt idx="77">
                  <c:v>-0.15</c:v>
                </c:pt>
                <c:pt idx="78">
                  <c:v>-0.1</c:v>
                </c:pt>
                <c:pt idx="79">
                  <c:v>-0.05</c:v>
                </c:pt>
                <c:pt idx="80">
                  <c:v>0</c:v>
                </c:pt>
                <c:pt idx="81">
                  <c:v>0.05</c:v>
                </c:pt>
                <c:pt idx="82">
                  <c:v>0.1</c:v>
                </c:pt>
                <c:pt idx="83">
                  <c:v>0.15</c:v>
                </c:pt>
                <c:pt idx="84">
                  <c:v>0.2</c:v>
                </c:pt>
                <c:pt idx="85">
                  <c:v>0.25</c:v>
                </c:pt>
                <c:pt idx="86">
                  <c:v>0.3</c:v>
                </c:pt>
                <c:pt idx="87">
                  <c:v>0.35</c:v>
                </c:pt>
                <c:pt idx="88">
                  <c:v>0.4</c:v>
                </c:pt>
                <c:pt idx="89">
                  <c:v>0.45</c:v>
                </c:pt>
                <c:pt idx="90">
                  <c:v>0.5</c:v>
                </c:pt>
                <c:pt idx="91">
                  <c:v>0.55000000000000004</c:v>
                </c:pt>
                <c:pt idx="92">
                  <c:v>0.6</c:v>
                </c:pt>
                <c:pt idx="93">
                  <c:v>0.65</c:v>
                </c:pt>
                <c:pt idx="94">
                  <c:v>0.7</c:v>
                </c:pt>
                <c:pt idx="95">
                  <c:v>0.75</c:v>
                </c:pt>
                <c:pt idx="96">
                  <c:v>0.8</c:v>
                </c:pt>
                <c:pt idx="97">
                  <c:v>0.85</c:v>
                </c:pt>
                <c:pt idx="98">
                  <c:v>0.9</c:v>
                </c:pt>
                <c:pt idx="99">
                  <c:v>0.95</c:v>
                </c:pt>
                <c:pt idx="100">
                  <c:v>1</c:v>
                </c:pt>
                <c:pt idx="101">
                  <c:v>1.05</c:v>
                </c:pt>
                <c:pt idx="102">
                  <c:v>1.1000000000000001</c:v>
                </c:pt>
                <c:pt idx="103">
                  <c:v>1.1499999999999999</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2.0499999999999998</c:v>
                </c:pt>
                <c:pt idx="122">
                  <c:v>2.1</c:v>
                </c:pt>
                <c:pt idx="123">
                  <c:v>2.15</c:v>
                </c:pt>
                <c:pt idx="124">
                  <c:v>2.2000000000000002</c:v>
                </c:pt>
                <c:pt idx="125">
                  <c:v>2.25</c:v>
                </c:pt>
                <c:pt idx="126">
                  <c:v>2.2999999999999998</c:v>
                </c:pt>
                <c:pt idx="127">
                  <c:v>2.35</c:v>
                </c:pt>
                <c:pt idx="128">
                  <c:v>2.4</c:v>
                </c:pt>
                <c:pt idx="129">
                  <c:v>2.4500000000000002</c:v>
                </c:pt>
                <c:pt idx="130">
                  <c:v>2.5</c:v>
                </c:pt>
                <c:pt idx="131">
                  <c:v>2.5499999999999998</c:v>
                </c:pt>
                <c:pt idx="132">
                  <c:v>2.6</c:v>
                </c:pt>
                <c:pt idx="133">
                  <c:v>2.65</c:v>
                </c:pt>
                <c:pt idx="134">
                  <c:v>2.7</c:v>
                </c:pt>
                <c:pt idx="135">
                  <c:v>2.75</c:v>
                </c:pt>
                <c:pt idx="136">
                  <c:v>2.8</c:v>
                </c:pt>
                <c:pt idx="137">
                  <c:v>2.85</c:v>
                </c:pt>
                <c:pt idx="138">
                  <c:v>2.9</c:v>
                </c:pt>
                <c:pt idx="139">
                  <c:v>2.95</c:v>
                </c:pt>
                <c:pt idx="140">
                  <c:v>3</c:v>
                </c:pt>
                <c:pt idx="141">
                  <c:v>3.05</c:v>
                </c:pt>
                <c:pt idx="142">
                  <c:v>3.1</c:v>
                </c:pt>
                <c:pt idx="143">
                  <c:v>3.15</c:v>
                </c:pt>
                <c:pt idx="144">
                  <c:v>3.2</c:v>
                </c:pt>
                <c:pt idx="145">
                  <c:v>3.25</c:v>
                </c:pt>
                <c:pt idx="146">
                  <c:v>3.3</c:v>
                </c:pt>
                <c:pt idx="147">
                  <c:v>3.35</c:v>
                </c:pt>
                <c:pt idx="148">
                  <c:v>3.4</c:v>
                </c:pt>
                <c:pt idx="149">
                  <c:v>3.45</c:v>
                </c:pt>
                <c:pt idx="150">
                  <c:v>3.5</c:v>
                </c:pt>
                <c:pt idx="151">
                  <c:v>3.55</c:v>
                </c:pt>
                <c:pt idx="152">
                  <c:v>3.6</c:v>
                </c:pt>
                <c:pt idx="153">
                  <c:v>3.65</c:v>
                </c:pt>
                <c:pt idx="154">
                  <c:v>3.7</c:v>
                </c:pt>
                <c:pt idx="155">
                  <c:v>3.75</c:v>
                </c:pt>
                <c:pt idx="156">
                  <c:v>3.8</c:v>
                </c:pt>
                <c:pt idx="157">
                  <c:v>3.85</c:v>
                </c:pt>
                <c:pt idx="158">
                  <c:v>3.9</c:v>
                </c:pt>
                <c:pt idx="159">
                  <c:v>3.95</c:v>
                </c:pt>
                <c:pt idx="160">
                  <c:v>4</c:v>
                </c:pt>
              </c:numCache>
            </c:numRef>
          </c:xVal>
          <c:yVal>
            <c:numRef>
              <c:f>'Chart Data'!$B$2:$B$162</c:f>
              <c:numCache>
                <c:formatCode>0</c:formatCode>
                <c:ptCount val="161"/>
                <c:pt idx="0">
                  <c:v>2.6184810999499999E-2</c:v>
                </c:pt>
                <c:pt idx="1">
                  <c:v>2.7514611928100001E-2</c:v>
                </c:pt>
                <c:pt idx="2">
                  <c:v>2.89112728471E-2</c:v>
                </c:pt>
                <c:pt idx="3">
                  <c:v>3.0378085702800001E-2</c:v>
                </c:pt>
                <c:pt idx="4">
                  <c:v>3.1918497363000002E-2</c:v>
                </c:pt>
                <c:pt idx="5">
                  <c:v>3.3536116173299997E-2</c:v>
                </c:pt>
                <c:pt idx="6">
                  <c:v>3.5234718713100001E-2</c:v>
                </c:pt>
                <c:pt idx="7">
                  <c:v>3.7018256751799997E-2</c:v>
                </c:pt>
                <c:pt idx="8">
                  <c:v>3.8890864399699999E-2</c:v>
                </c:pt>
                <c:pt idx="9">
                  <c:v>4.0856865450299998E-2</c:v>
                </c:pt>
                <c:pt idx="10">
                  <c:v>4.2920780906299999E-2</c:v>
                </c:pt>
                <c:pt idx="11">
                  <c:v>4.5087336683699998E-2</c:v>
                </c:pt>
                <c:pt idx="12">
                  <c:v>4.7361471481900001E-2</c:v>
                </c:pt>
                <c:pt idx="13">
                  <c:v>4.9748344810599997E-2</c:v>
                </c:pt>
                <c:pt idx="14">
                  <c:v>5.2253345157400002E-2</c:v>
                </c:pt>
                <c:pt idx="15">
                  <c:v>5.4882098282600003E-2</c:v>
                </c:pt>
                <c:pt idx="16">
                  <c:v>5.7640475620399999E-2</c:v>
                </c:pt>
                <c:pt idx="17">
                  <c:v>6.0534602766500002E-2</c:v>
                </c:pt>
                <c:pt idx="18">
                  <c:v>6.3570868026899999E-2</c:v>
                </c:pt>
                <c:pt idx="19">
                  <c:v>6.6755931000499993E-2</c:v>
                </c:pt>
                <c:pt idx="20">
                  <c:v>7.0096731165399995E-2</c:v>
                </c:pt>
                <c:pt idx="21">
                  <c:v>7.36004964318E-2</c:v>
                </c:pt>
                <c:pt idx="22">
                  <c:v>7.7274751625900001E-2</c:v>
                </c:pt>
                <c:pt idx="23">
                  <c:v>8.11273268587E-2</c:v>
                </c:pt>
                <c:pt idx="24">
                  <c:v>8.5166365735299995E-2</c:v>
                </c:pt>
                <c:pt idx="25">
                  <c:v>8.9400333350799999E-2</c:v>
                </c:pt>
                <c:pt idx="26">
                  <c:v>9.3838024016799998E-2</c:v>
                </c:pt>
                <c:pt idx="27">
                  <c:v>9.8488568657700004E-2</c:v>
                </c:pt>
                <c:pt idx="28">
                  <c:v>0.103361441808</c:v>
                </c:pt>
                <c:pt idx="29">
                  <c:v>0.108466468139</c:v>
                </c:pt>
                <c:pt idx="30">
                  <c:v>0.11381382844100001</c:v>
                </c:pt>
                <c:pt idx="31">
                  <c:v>0.119414064971</c:v>
                </c:pt>
                <c:pt idx="32">
                  <c:v>0.125278086082</c:v>
                </c:pt>
                <c:pt idx="33">
                  <c:v>0.13141717004600001</c:v>
                </c:pt>
                <c:pt idx="34">
                  <c:v>0.13784296795500001</c:v>
                </c:pt>
                <c:pt idx="35">
                  <c:v>0.144567505614</c:v>
                </c:pt>
                <c:pt idx="36">
                  <c:v>0.15160318431</c:v>
                </c:pt>
                <c:pt idx="37">
                  <c:v>0.158962780346</c:v>
                </c:pt>
                <c:pt idx="38">
                  <c:v>0.16665944321699999</c:v>
                </c:pt>
                <c:pt idx="39">
                  <c:v>0.17470669232200001</c:v>
                </c:pt>
                <c:pt idx="40">
                  <c:v>0.183118412082</c:v>
                </c:pt>
                <c:pt idx="41">
                  <c:v>0.191908845341</c:v>
                </c:pt>
                <c:pt idx="42">
                  <c:v>0.20109258494000001</c:v>
                </c:pt>
                <c:pt idx="43">
                  <c:v>0.21068456332300001</c:v>
                </c:pt>
                <c:pt idx="44">
                  <c:v>0.22070004007300001</c:v>
                </c:pt>
                <c:pt idx="45">
                  <c:v>0.23115458726800001</c:v>
                </c:pt>
                <c:pt idx="46">
                  <c:v>0.24206407252600001</c:v>
                </c:pt>
                <c:pt idx="47">
                  <c:v>0.25344463966899999</c:v>
                </c:pt>
                <c:pt idx="48">
                  <c:v>0.26531268689499998</c:v>
                </c:pt>
                <c:pt idx="49">
                  <c:v>0.27768484239000002</c:v>
                </c:pt>
                <c:pt idx="50">
                  <c:v>0.29057793731499998</c:v>
                </c:pt>
                <c:pt idx="51">
                  <c:v>0.30400897613</c:v>
                </c:pt>
                <c:pt idx="52">
                  <c:v>0.31799510421499999</c:v>
                </c:pt>
                <c:pt idx="53">
                  <c:v>0.332553572789</c:v>
                </c:pt>
                <c:pt idx="54">
                  <c:v>0.347701701157</c:v>
                </c:pt>
                <c:pt idx="55">
                  <c:v>0.36345683631300002</c:v>
                </c:pt>
                <c:pt idx="56">
                  <c:v>0.37983630998200002</c:v>
                </c:pt>
                <c:pt idx="57">
                  <c:v>0.39685739320800001</c:v>
                </c:pt>
                <c:pt idx="58">
                  <c:v>0.414537248616</c:v>
                </c:pt>
                <c:pt idx="59">
                  <c:v>0.432892880521</c:v>
                </c:pt>
                <c:pt idx="60">
                  <c:v>0.45194108308300002</c:v>
                </c:pt>
                <c:pt idx="61">
                  <c:v>0.47169838675100001</c:v>
                </c:pt>
                <c:pt idx="62">
                  <c:v>0.492181003256</c:v>
                </c:pt>
                <c:pt idx="63">
                  <c:v>0.51340476946699998</c:v>
                </c:pt>
                <c:pt idx="64">
                  <c:v>0.53538509043299998</c:v>
                </c:pt>
                <c:pt idx="65">
                  <c:v>0.55813688198599998</c:v>
                </c:pt>
                <c:pt idx="66">
                  <c:v>0.58167451328300002</c:v>
                </c:pt>
                <c:pt idx="67">
                  <c:v>0.606011749717</c:v>
                </c:pt>
                <c:pt idx="68">
                  <c:v>0.63116169661499999</c:v>
                </c:pt>
                <c:pt idx="69">
                  <c:v>0.65713674416900003</c:v>
                </c:pt>
                <c:pt idx="70">
                  <c:v>0.68394851407599999</c:v>
                </c:pt>
                <c:pt idx="71">
                  <c:v>0.71160780831399995</c:v>
                </c:pt>
                <c:pt idx="72">
                  <c:v>0.74012456053800002</c:v>
                </c:pt>
                <c:pt idx="73">
                  <c:v>0.76950779052100005</c:v>
                </c:pt>
                <c:pt idx="74">
                  <c:v>0.79976556208600003</c:v>
                </c:pt>
                <c:pt idx="75">
                  <c:v>0.83090494491199995</c:v>
                </c:pt>
                <c:pt idx="76">
                  <c:v>0.86293198061999998</c:v>
                </c:pt>
                <c:pt idx="77">
                  <c:v>0.89585165345100004</c:v>
                </c:pt>
                <c:pt idx="78">
                  <c:v>0.92966786585399996</c:v>
                </c:pt>
                <c:pt idx="79">
                  <c:v>0.96438341922299997</c:v>
                </c:pt>
                <c:pt idx="80">
                  <c:v>1</c:v>
                </c:pt>
                <c:pt idx="81">
                  <c:v>1.03651817127</c:v>
                </c:pt>
                <c:pt idx="82">
                  <c:v>1.0739373699400001</c:v>
                </c:pt>
                <c:pt idx="83">
                  <c:v>1.11225590958</c:v>
                </c:pt>
                <c:pt idx="84">
                  <c:v>1.1514709888000001</c:v>
                </c:pt>
                <c:pt idx="85">
                  <c:v>1.19157870513</c:v>
                </c:pt>
                <c:pt idx="86">
                  <c:v>1.23257407435</c:v>
                </c:pt>
                <c:pt idx="87">
                  <c:v>1.2744510548300001</c:v>
                </c:pt>
                <c:pt idx="88">
                  <c:v>1.31720257689</c:v>
                </c:pt>
                <c:pt idx="89">
                  <c:v>1.3608205767099999</c:v>
                </c:pt>
                <c:pt idx="90">
                  <c:v>1.4052960345200001</c:v>
                </c:pt>
                <c:pt idx="91">
                  <c:v>1.4506190166599999</c:v>
                </c:pt>
                <c:pt idx="92">
                  <c:v>1.4967787211500001</c:v>
                </c:pt>
                <c:pt idx="93">
                  <c:v>1.5437635263</c:v>
                </c:pt>
                <c:pt idx="94">
                  <c:v>1.5915610418999999</c:v>
                </c:pt>
                <c:pt idx="95">
                  <c:v>1.6401581626499999</c:v>
                </c:pt>
                <c:pt idx="96">
                  <c:v>1.6895411231399999</c:v>
                </c:pt>
                <c:pt idx="97">
                  <c:v>1.7396955542200001</c:v>
                </c:pt>
                <c:pt idx="98">
                  <c:v>1.79060654006</c:v>
                </c:pt>
                <c:pt idx="99">
                  <c:v>1.8422586755999999</c:v>
                </c:pt>
                <c:pt idx="100">
                  <c:v>1.89463612397</c:v>
                </c:pt>
                <c:pt idx="101">
                  <c:v>1.9477226734499999</c:v>
                </c:pt>
                <c:pt idx="102">
                  <c:v>2.0015017935900001</c:v>
                </c:pt>
                <c:pt idx="103">
                  <c:v>2.0559566902299999</c:v>
                </c:pt>
                <c:pt idx="104">
                  <c:v>2.1110703590500002</c:v>
                </c:pt>
                <c:pt idx="105">
                  <c:v>2.1668256374200001</c:v>
                </c:pt>
                <c:pt idx="106">
                  <c:v>2.2232052543099998</c:v>
                </c:pt>
                <c:pt idx="107">
                  <c:v>2.2801918779900001</c:v>
                </c:pt>
                <c:pt idx="108">
                  <c:v>2.3377681614600001</c:v>
                </c:pt>
                <c:pt idx="109">
                  <c:v>2.3959167854199999</c:v>
                </c:pt>
                <c:pt idx="110">
                  <c:v>2.4546204986500002</c:v>
                </c:pt>
                <c:pt idx="111">
                  <c:v>2.5138621557700001</c:v>
                </c:pt>
                <c:pt idx="112">
                  <c:v>2.5736247523200002</c:v>
                </c:pt>
                <c:pt idx="113">
                  <c:v>2.6338914571399998</c:v>
                </c:pt>
                <c:pt idx="114">
                  <c:v>2.6946456420399998</c:v>
                </c:pt>
                <c:pt idx="115">
                  <c:v>2.75587090882</c:v>
                </c:pt>
                <c:pt idx="116">
                  <c:v>2.81755111367</c:v>
                </c:pt>
                <c:pt idx="117">
                  <c:v>2.8796703889700002</c:v>
                </c:pt>
                <c:pt idx="118">
                  <c:v>2.9422131626299999</c:v>
                </c:pt>
                <c:pt idx="119">
                  <c:v>3.00516417507</c:v>
                </c:pt>
                <c:pt idx="120">
                  <c:v>3.06850849386</c:v>
                </c:pt>
                <c:pt idx="121">
                  <c:v>3.13223152614</c:v>
                </c:pt>
                <c:pt idx="122">
                  <c:v>3.1963190290800001</c:v>
                </c:pt>
                <c:pt idx="123">
                  <c:v>3.2607571182599999</c:v>
                </c:pt>
                <c:pt idx="124">
                  <c:v>3.32553227427</c:v>
                </c:pt>
                <c:pt idx="125">
                  <c:v>3.3906313476099998</c:v>
                </c:pt>
                <c:pt idx="126">
                  <c:v>3.4560415619999998</c:v>
                </c:pt>
                <c:pt idx="127">
                  <c:v>3.52175051614</c:v>
                </c:pt>
                <c:pt idx="128">
                  <c:v>3.5877461842199998</c:v>
                </c:pt>
                <c:pt idx="129">
                  <c:v>3.6540169151500002</c:v>
                </c:pt>
                <c:pt idx="130">
                  <c:v>3.72055143066</c:v>
                </c:pt>
                <c:pt idx="131">
                  <c:v>3.7873388224100002</c:v>
                </c:pt>
                <c:pt idx="132">
                  <c:v>3.8543685481200001</c:v>
                </c:pt>
                <c:pt idx="133">
                  <c:v>3.9216304270100002</c:v>
                </c:pt>
                <c:pt idx="134">
                  <c:v>3.9891146344199999</c:v>
                </c:pt>
                <c:pt idx="135">
                  <c:v>4.0568116957999996</c:v>
                </c:pt>
                <c:pt idx="136">
                  <c:v>4.1247124802200004</c:v>
                </c:pt>
                <c:pt idx="137">
                  <c:v>4.1928081933900003</c:v>
                </c:pt>
                <c:pt idx="138">
                  <c:v>4.2610903701999998</c:v>
                </c:pt>
                <c:pt idx="139">
                  <c:v>4.32955086705</c:v>
                </c:pt>
                <c:pt idx="140">
                  <c:v>4.3981818538299997</c:v>
                </c:pt>
                <c:pt idx="141">
                  <c:v>4.4669758057099997</c:v>
                </c:pt>
                <c:pt idx="142">
                  <c:v>4.5359254947799998</c:v>
                </c:pt>
                <c:pt idx="143">
                  <c:v>4.6050239815699996</c:v>
                </c:pt>
                <c:pt idx="144">
                  <c:v>4.6742646064700004</c:v>
                </c:pt>
                <c:pt idx="145">
                  <c:v>4.7436409811700004</c:v>
                </c:pt>
                <c:pt idx="146">
                  <c:v>4.81314698009</c:v>
                </c:pt>
                <c:pt idx="147">
                  <c:v>4.8827767317899999</c:v>
                </c:pt>
                <c:pt idx="148">
                  <c:v>4.9525246105000003</c:v>
                </c:pt>
                <c:pt idx="149">
                  <c:v>5.0223852277500001</c:v>
                </c:pt>
                <c:pt idx="150">
                  <c:v>5.0923534240199997</c:v>
                </c:pt>
                <c:pt idx="151">
                  <c:v>5.1624242606099999</c:v>
                </c:pt>
                <c:pt idx="152">
                  <c:v>5.2325930115999997</c:v>
                </c:pt>
                <c:pt idx="153">
                  <c:v>5.3028551559999997</c:v>
                </c:pt>
                <c:pt idx="154">
                  <c:v>5.3732063700000001</c:v>
                </c:pt>
                <c:pt idx="155">
                  <c:v>5.44364251951</c:v>
                </c:pt>
                <c:pt idx="156">
                  <c:v>5.5141596527400001</c:v>
                </c:pt>
                <c:pt idx="157">
                  <c:v>5.5847539931299996</c:v>
                </c:pt>
                <c:pt idx="158">
                  <c:v>5.6554219323100003</c:v>
                </c:pt>
                <c:pt idx="159">
                  <c:v>5.7261600234400003</c:v>
                </c:pt>
                <c:pt idx="160">
                  <c:v>5.7969649745599998</c:v>
                </c:pt>
              </c:numCache>
            </c:numRef>
          </c:yVal>
          <c:smooth val="1"/>
          <c:extLst>
            <c:ext xmlns:c16="http://schemas.microsoft.com/office/drawing/2014/chart" uri="{C3380CC4-5D6E-409C-BE32-E72D297353CC}">
              <c16:uniqueId val="{00000000-304A-411A-8AC9-5A832DF92C5E}"/>
            </c:ext>
          </c:extLst>
        </c:ser>
        <c:ser>
          <c:idx val="1"/>
          <c:order val="1"/>
          <c:tx>
            <c:v>Zero–one loss</c:v>
          </c:tx>
          <c:spPr>
            <a:ln w="28575">
              <a:solidFill>
                <a:srgbClr val="C45C28"/>
              </a:solidFill>
              <a:prstDash val="solid"/>
            </a:ln>
          </c:spPr>
          <c:marker>
            <c:symbol val="none"/>
          </c:marker>
          <c:xVal>
            <c:numRef>
              <c:f>'Chart Data'!$C$2:$C$3</c:f>
              <c:numCache>
                <c:formatCode>General</c:formatCode>
                <c:ptCount val="2"/>
                <c:pt idx="0">
                  <c:v>-4</c:v>
                </c:pt>
                <c:pt idx="1">
                  <c:v>0</c:v>
                </c:pt>
              </c:numCache>
            </c:numRef>
          </c:xVal>
          <c:yVal>
            <c:numRef>
              <c:f>'Chart Data'!$D$2:$D$3</c:f>
              <c:numCache>
                <c:formatCode>0</c:formatCode>
                <c:ptCount val="2"/>
                <c:pt idx="0">
                  <c:v>0</c:v>
                </c:pt>
                <c:pt idx="1">
                  <c:v>0</c:v>
                </c:pt>
              </c:numCache>
            </c:numRef>
          </c:yVal>
          <c:smooth val="1"/>
          <c:extLst>
            <c:ext xmlns:c16="http://schemas.microsoft.com/office/drawing/2014/chart" uri="{C3380CC4-5D6E-409C-BE32-E72D297353CC}">
              <c16:uniqueId val="{00000001-304A-411A-8AC9-5A832DF92C5E}"/>
            </c:ext>
          </c:extLst>
        </c:ser>
        <c:ser>
          <c:idx val="2"/>
          <c:order val="2"/>
          <c:tx>
            <c:v>Zero–one loss</c:v>
          </c:tx>
          <c:spPr>
            <a:ln w="28575">
              <a:solidFill>
                <a:srgbClr val="C45C28"/>
              </a:solidFill>
              <a:prstDash val="solid"/>
            </a:ln>
          </c:spPr>
          <c:marker>
            <c:symbol val="none"/>
          </c:marker>
          <c:xVal>
            <c:numRef>
              <c:f>'Chart Data'!$E$2:$E$3</c:f>
              <c:numCache>
                <c:formatCode>General</c:formatCode>
                <c:ptCount val="2"/>
                <c:pt idx="0">
                  <c:v>0</c:v>
                </c:pt>
                <c:pt idx="1">
                  <c:v>4</c:v>
                </c:pt>
              </c:numCache>
            </c:numRef>
          </c:xVal>
          <c:yVal>
            <c:numRef>
              <c:f>'Chart Data'!$F$2:$F$3</c:f>
              <c:numCache>
                <c:formatCode>0</c:formatCode>
                <c:ptCount val="2"/>
                <c:pt idx="0">
                  <c:v>1</c:v>
                </c:pt>
                <c:pt idx="1">
                  <c:v>1</c:v>
                </c:pt>
              </c:numCache>
            </c:numRef>
          </c:yVal>
          <c:smooth val="1"/>
          <c:extLst>
            <c:ext xmlns:c16="http://schemas.microsoft.com/office/drawing/2014/chart" uri="{C3380CC4-5D6E-409C-BE32-E72D297353CC}">
              <c16:uniqueId val="{00000002-304A-411A-8AC9-5A832DF92C5E}"/>
            </c:ext>
          </c:extLst>
        </c:ser>
        <c:ser>
          <c:idx val="3"/>
          <c:order val="3"/>
          <c:tx>
            <c:v>Excluded endpoint</c:v>
          </c:tx>
          <c:spPr>
            <a:ln w="0">
              <a:noFill/>
            </a:ln>
          </c:spPr>
          <c:marker>
            <c:symbol val="circle"/>
            <c:size val="7"/>
            <c:spPr>
              <a:solidFill>
                <a:srgbClr val="FFFFFF"/>
              </a:solidFill>
              <a:ln w="12700">
                <a:solidFill>
                  <a:srgbClr val="C45C28"/>
                </a:solidFill>
              </a:ln>
            </c:spPr>
          </c:marker>
          <c:xVal>
            <c:numRef>
              <c:f>'Chart Data'!$G$2:$G$2</c:f>
              <c:numCache>
                <c:formatCode>General</c:formatCode>
                <c:ptCount val="1"/>
                <c:pt idx="0">
                  <c:v>0</c:v>
                </c:pt>
              </c:numCache>
            </c:numRef>
          </c:xVal>
          <c:yVal>
            <c:numRef>
              <c:f>'Chart Data'!$H$2:$H$2</c:f>
              <c:numCache>
                <c:formatCode>0</c:formatCode>
                <c:ptCount val="1"/>
                <c:pt idx="0">
                  <c:v>1</c:v>
                </c:pt>
              </c:numCache>
            </c:numRef>
          </c:yVal>
          <c:smooth val="1"/>
          <c:extLst>
            <c:ext xmlns:c16="http://schemas.microsoft.com/office/drawing/2014/chart" uri="{C3380CC4-5D6E-409C-BE32-E72D297353CC}">
              <c16:uniqueId val="{00000003-304A-411A-8AC9-5A832DF92C5E}"/>
            </c:ext>
          </c:extLst>
        </c:ser>
        <c:ser>
          <c:idx val="4"/>
          <c:order val="4"/>
          <c:tx>
            <c:v>Included endpoint</c:v>
          </c:tx>
          <c:spPr>
            <a:ln w="0">
              <a:noFill/>
            </a:ln>
          </c:spPr>
          <c:marker>
            <c:symbol val="circle"/>
            <c:size val="7"/>
            <c:spPr>
              <a:solidFill>
                <a:srgbClr val="C45C28"/>
              </a:solidFill>
              <a:ln w="12700">
                <a:solidFill>
                  <a:srgbClr val="C45C28"/>
                </a:solidFill>
              </a:ln>
            </c:spPr>
          </c:marker>
          <c:xVal>
            <c:numRef>
              <c:f>'Chart Data'!$I$2:$I$2</c:f>
              <c:numCache>
                <c:formatCode>General</c:formatCode>
                <c:ptCount val="1"/>
                <c:pt idx="0">
                  <c:v>0</c:v>
                </c:pt>
              </c:numCache>
            </c:numRef>
          </c:xVal>
          <c:yVal>
            <c:numRef>
              <c:f>'Chart Data'!$J$2:$J$2</c:f>
              <c:numCache>
                <c:formatCode>0</c:formatCode>
                <c:ptCount val="1"/>
                <c:pt idx="0">
                  <c:v>0</c:v>
                </c:pt>
              </c:numCache>
            </c:numRef>
          </c:yVal>
          <c:smooth val="1"/>
          <c:extLst>
            <c:ext xmlns:c16="http://schemas.microsoft.com/office/drawing/2014/chart" uri="{C3380CC4-5D6E-409C-BE32-E72D297353CC}">
              <c16:uniqueId val="{00000004-304A-411A-8AC9-5A832DF92C5E}"/>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a:t>
                </a:r>
              </a:p>
            </c:rich>
          </c:tx>
          <c:overlay val="0"/>
        </c:title>
        <c:numFmt formatCode="0"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4"/>
          <c:min val="-4"/>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Score s</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2"/>
      </c:valAx>
      <c:spPr>
        <a:solidFill>
          <a:srgbClr val="FFFFFF"/>
        </a:solidFill>
        <a:ln w="0">
          <a:noFill/>
        </a:ln>
      </c:spPr>
    </c:plotArea>
    <c:legend>
      <c:legendPos val="b"/>
      <c:legendEntry>
        <c:idx val="2"/>
        <c:delete val="1"/>
      </c:legendEntry>
      <c:legendEntry>
        <c:idx val="3"/>
        <c:delete val="1"/>
      </c:legendEntry>
      <c:legendEntry>
        <c:idx val="4"/>
        <c:delete val="1"/>
      </c:legendEntry>
      <c:overlay val="0"/>
      <c:txPr>
        <a:bodyPr anchorCtr="1"/>
        <a:lstStyle/>
        <a:p>
          <a:pPr>
            <a:defRPr sz="1200">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8575">
              <a:solidFill>
                <a:srgbClr val="087F83"/>
              </a:solidFill>
              <a:prstDash val="solid"/>
            </a:ln>
          </c:spPr>
          <c:marker>
            <c:symbol val="none"/>
          </c:marker>
          <c:xVal>
            <c:numRef>
              <c:f>'Chart Data'!$A$2:$A$162</c:f>
              <c:numCache>
                <c:formatCode>General</c:formatCode>
                <c:ptCount val="161"/>
                <c:pt idx="0">
                  <c:v>-4</c:v>
                </c:pt>
                <c:pt idx="1">
                  <c:v>-3.95</c:v>
                </c:pt>
                <c:pt idx="2">
                  <c:v>-3.9</c:v>
                </c:pt>
                <c:pt idx="3">
                  <c:v>-3.85</c:v>
                </c:pt>
                <c:pt idx="4">
                  <c:v>-3.8</c:v>
                </c:pt>
                <c:pt idx="5">
                  <c:v>-3.75</c:v>
                </c:pt>
                <c:pt idx="6">
                  <c:v>-3.7</c:v>
                </c:pt>
                <c:pt idx="7">
                  <c:v>-3.65</c:v>
                </c:pt>
                <c:pt idx="8">
                  <c:v>-3.6</c:v>
                </c:pt>
                <c:pt idx="9">
                  <c:v>-3.55</c:v>
                </c:pt>
                <c:pt idx="10">
                  <c:v>-3.5</c:v>
                </c:pt>
                <c:pt idx="11">
                  <c:v>-3.45</c:v>
                </c:pt>
                <c:pt idx="12">
                  <c:v>-3.4</c:v>
                </c:pt>
                <c:pt idx="13">
                  <c:v>-3.35</c:v>
                </c:pt>
                <c:pt idx="14">
                  <c:v>-3.3</c:v>
                </c:pt>
                <c:pt idx="15">
                  <c:v>-3.25</c:v>
                </c:pt>
                <c:pt idx="16">
                  <c:v>-3.2</c:v>
                </c:pt>
                <c:pt idx="17">
                  <c:v>-3.15</c:v>
                </c:pt>
                <c:pt idx="18">
                  <c:v>-3.1</c:v>
                </c:pt>
                <c:pt idx="19">
                  <c:v>-3.05</c:v>
                </c:pt>
                <c:pt idx="20">
                  <c:v>-3</c:v>
                </c:pt>
                <c:pt idx="21">
                  <c:v>-2.95</c:v>
                </c:pt>
                <c:pt idx="22">
                  <c:v>-2.9</c:v>
                </c:pt>
                <c:pt idx="23">
                  <c:v>-2.85</c:v>
                </c:pt>
                <c:pt idx="24">
                  <c:v>-2.8</c:v>
                </c:pt>
                <c:pt idx="25">
                  <c:v>-2.75</c:v>
                </c:pt>
                <c:pt idx="26">
                  <c:v>-2.7</c:v>
                </c:pt>
                <c:pt idx="27">
                  <c:v>-2.65</c:v>
                </c:pt>
                <c:pt idx="28">
                  <c:v>-2.6</c:v>
                </c:pt>
                <c:pt idx="29">
                  <c:v>-2.5499999999999998</c:v>
                </c:pt>
                <c:pt idx="30">
                  <c:v>-2.5</c:v>
                </c:pt>
                <c:pt idx="31">
                  <c:v>-2.4500000000000002</c:v>
                </c:pt>
                <c:pt idx="32">
                  <c:v>-2.4</c:v>
                </c:pt>
                <c:pt idx="33">
                  <c:v>-2.35</c:v>
                </c:pt>
                <c:pt idx="34">
                  <c:v>-2.2999999999999998</c:v>
                </c:pt>
                <c:pt idx="35">
                  <c:v>-2.25</c:v>
                </c:pt>
                <c:pt idx="36">
                  <c:v>-2.2000000000000002</c:v>
                </c:pt>
                <c:pt idx="37">
                  <c:v>-2.15</c:v>
                </c:pt>
                <c:pt idx="38">
                  <c:v>-2.1</c:v>
                </c:pt>
                <c:pt idx="39">
                  <c:v>-2.0499999999999998</c:v>
                </c:pt>
                <c:pt idx="40">
                  <c:v>-2</c:v>
                </c:pt>
                <c:pt idx="41">
                  <c:v>-1.95</c:v>
                </c:pt>
                <c:pt idx="42">
                  <c:v>-1.9</c:v>
                </c:pt>
                <c:pt idx="43">
                  <c:v>-1.85</c:v>
                </c:pt>
                <c:pt idx="44">
                  <c:v>-1.8</c:v>
                </c:pt>
                <c:pt idx="45">
                  <c:v>-1.75</c:v>
                </c:pt>
                <c:pt idx="46">
                  <c:v>-1.7</c:v>
                </c:pt>
                <c:pt idx="47">
                  <c:v>-1.65</c:v>
                </c:pt>
                <c:pt idx="48">
                  <c:v>-1.6</c:v>
                </c:pt>
                <c:pt idx="49">
                  <c:v>-1.55</c:v>
                </c:pt>
                <c:pt idx="50">
                  <c:v>-1.5</c:v>
                </c:pt>
                <c:pt idx="51">
                  <c:v>-1.45</c:v>
                </c:pt>
                <c:pt idx="52">
                  <c:v>-1.4</c:v>
                </c:pt>
                <c:pt idx="53">
                  <c:v>-1.35</c:v>
                </c:pt>
                <c:pt idx="54">
                  <c:v>-1.3</c:v>
                </c:pt>
                <c:pt idx="55">
                  <c:v>-1.25</c:v>
                </c:pt>
                <c:pt idx="56">
                  <c:v>-1.2</c:v>
                </c:pt>
                <c:pt idx="57">
                  <c:v>-1.1499999999999999</c:v>
                </c:pt>
                <c:pt idx="58">
                  <c:v>-1.1000000000000001</c:v>
                </c:pt>
                <c:pt idx="59">
                  <c:v>-1.05</c:v>
                </c:pt>
                <c:pt idx="60">
                  <c:v>-1</c:v>
                </c:pt>
                <c:pt idx="61">
                  <c:v>-0.95</c:v>
                </c:pt>
                <c:pt idx="62">
                  <c:v>-0.9</c:v>
                </c:pt>
                <c:pt idx="63">
                  <c:v>-0.85</c:v>
                </c:pt>
                <c:pt idx="64">
                  <c:v>-0.8</c:v>
                </c:pt>
                <c:pt idx="65">
                  <c:v>-0.75</c:v>
                </c:pt>
                <c:pt idx="66">
                  <c:v>-0.7</c:v>
                </c:pt>
                <c:pt idx="67">
                  <c:v>-0.65</c:v>
                </c:pt>
                <c:pt idx="68">
                  <c:v>-0.6</c:v>
                </c:pt>
                <c:pt idx="69">
                  <c:v>-0.55000000000000004</c:v>
                </c:pt>
                <c:pt idx="70">
                  <c:v>-0.5</c:v>
                </c:pt>
                <c:pt idx="71">
                  <c:v>-0.45</c:v>
                </c:pt>
                <c:pt idx="72">
                  <c:v>-0.4</c:v>
                </c:pt>
                <c:pt idx="73">
                  <c:v>-0.35</c:v>
                </c:pt>
                <c:pt idx="74">
                  <c:v>-0.3</c:v>
                </c:pt>
                <c:pt idx="75">
                  <c:v>-0.25</c:v>
                </c:pt>
                <c:pt idx="76">
                  <c:v>-0.2</c:v>
                </c:pt>
                <c:pt idx="77">
                  <c:v>-0.15</c:v>
                </c:pt>
                <c:pt idx="78">
                  <c:v>-0.1</c:v>
                </c:pt>
                <c:pt idx="79">
                  <c:v>-0.05</c:v>
                </c:pt>
                <c:pt idx="80">
                  <c:v>0</c:v>
                </c:pt>
                <c:pt idx="81">
                  <c:v>0.05</c:v>
                </c:pt>
                <c:pt idx="82">
                  <c:v>0.1</c:v>
                </c:pt>
                <c:pt idx="83">
                  <c:v>0.15</c:v>
                </c:pt>
                <c:pt idx="84">
                  <c:v>0.2</c:v>
                </c:pt>
                <c:pt idx="85">
                  <c:v>0.25</c:v>
                </c:pt>
                <c:pt idx="86">
                  <c:v>0.3</c:v>
                </c:pt>
                <c:pt idx="87">
                  <c:v>0.35</c:v>
                </c:pt>
                <c:pt idx="88">
                  <c:v>0.4</c:v>
                </c:pt>
                <c:pt idx="89">
                  <c:v>0.45</c:v>
                </c:pt>
                <c:pt idx="90">
                  <c:v>0.5</c:v>
                </c:pt>
                <c:pt idx="91">
                  <c:v>0.55000000000000004</c:v>
                </c:pt>
                <c:pt idx="92">
                  <c:v>0.6</c:v>
                </c:pt>
                <c:pt idx="93">
                  <c:v>0.65</c:v>
                </c:pt>
                <c:pt idx="94">
                  <c:v>0.7</c:v>
                </c:pt>
                <c:pt idx="95">
                  <c:v>0.75</c:v>
                </c:pt>
                <c:pt idx="96">
                  <c:v>0.8</c:v>
                </c:pt>
                <c:pt idx="97">
                  <c:v>0.85</c:v>
                </c:pt>
                <c:pt idx="98">
                  <c:v>0.9</c:v>
                </c:pt>
                <c:pt idx="99">
                  <c:v>0.95</c:v>
                </c:pt>
                <c:pt idx="100">
                  <c:v>1</c:v>
                </c:pt>
                <c:pt idx="101">
                  <c:v>1.05</c:v>
                </c:pt>
                <c:pt idx="102">
                  <c:v>1.1000000000000001</c:v>
                </c:pt>
                <c:pt idx="103">
                  <c:v>1.1499999999999999</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2.0499999999999998</c:v>
                </c:pt>
                <c:pt idx="122">
                  <c:v>2.1</c:v>
                </c:pt>
                <c:pt idx="123">
                  <c:v>2.15</c:v>
                </c:pt>
                <c:pt idx="124">
                  <c:v>2.2000000000000002</c:v>
                </c:pt>
                <c:pt idx="125">
                  <c:v>2.25</c:v>
                </c:pt>
                <c:pt idx="126">
                  <c:v>2.2999999999999998</c:v>
                </c:pt>
                <c:pt idx="127">
                  <c:v>2.35</c:v>
                </c:pt>
                <c:pt idx="128">
                  <c:v>2.4</c:v>
                </c:pt>
                <c:pt idx="129">
                  <c:v>2.4500000000000002</c:v>
                </c:pt>
                <c:pt idx="130">
                  <c:v>2.5</c:v>
                </c:pt>
                <c:pt idx="131">
                  <c:v>2.5499999999999998</c:v>
                </c:pt>
                <c:pt idx="132">
                  <c:v>2.6</c:v>
                </c:pt>
                <c:pt idx="133">
                  <c:v>2.65</c:v>
                </c:pt>
                <c:pt idx="134">
                  <c:v>2.7</c:v>
                </c:pt>
                <c:pt idx="135">
                  <c:v>2.75</c:v>
                </c:pt>
                <c:pt idx="136">
                  <c:v>2.8</c:v>
                </c:pt>
                <c:pt idx="137">
                  <c:v>2.85</c:v>
                </c:pt>
                <c:pt idx="138">
                  <c:v>2.9</c:v>
                </c:pt>
                <c:pt idx="139">
                  <c:v>2.95</c:v>
                </c:pt>
                <c:pt idx="140">
                  <c:v>3</c:v>
                </c:pt>
                <c:pt idx="141">
                  <c:v>3.05</c:v>
                </c:pt>
                <c:pt idx="142">
                  <c:v>3.1</c:v>
                </c:pt>
                <c:pt idx="143">
                  <c:v>3.15</c:v>
                </c:pt>
                <c:pt idx="144">
                  <c:v>3.2</c:v>
                </c:pt>
                <c:pt idx="145">
                  <c:v>3.25</c:v>
                </c:pt>
                <c:pt idx="146">
                  <c:v>3.3</c:v>
                </c:pt>
                <c:pt idx="147">
                  <c:v>3.35</c:v>
                </c:pt>
                <c:pt idx="148">
                  <c:v>3.4</c:v>
                </c:pt>
                <c:pt idx="149">
                  <c:v>3.45</c:v>
                </c:pt>
                <c:pt idx="150">
                  <c:v>3.5</c:v>
                </c:pt>
                <c:pt idx="151">
                  <c:v>3.55</c:v>
                </c:pt>
                <c:pt idx="152">
                  <c:v>3.6</c:v>
                </c:pt>
                <c:pt idx="153">
                  <c:v>3.65</c:v>
                </c:pt>
                <c:pt idx="154">
                  <c:v>3.7</c:v>
                </c:pt>
                <c:pt idx="155">
                  <c:v>3.75</c:v>
                </c:pt>
                <c:pt idx="156">
                  <c:v>3.8</c:v>
                </c:pt>
                <c:pt idx="157">
                  <c:v>3.85</c:v>
                </c:pt>
                <c:pt idx="158">
                  <c:v>3.9</c:v>
                </c:pt>
                <c:pt idx="159">
                  <c:v>3.95</c:v>
                </c:pt>
                <c:pt idx="160">
                  <c:v>4</c:v>
                </c:pt>
              </c:numCache>
            </c:numRef>
          </c:xVal>
          <c:yVal>
            <c:numRef>
              <c:f>'Chart Data'!$B$2:$B$162</c:f>
              <c:numCache>
                <c:formatCode>0</c:formatCode>
                <c:ptCount val="161"/>
                <c:pt idx="0">
                  <c:v>5.7969649745599998</c:v>
                </c:pt>
                <c:pt idx="1">
                  <c:v>5.7261600234400003</c:v>
                </c:pt>
                <c:pt idx="2">
                  <c:v>5.6554219323100003</c:v>
                </c:pt>
                <c:pt idx="3">
                  <c:v>5.5847539931299996</c:v>
                </c:pt>
                <c:pt idx="4">
                  <c:v>5.5141596527400001</c:v>
                </c:pt>
                <c:pt idx="5">
                  <c:v>5.44364251951</c:v>
                </c:pt>
                <c:pt idx="6">
                  <c:v>5.3732063700000001</c:v>
                </c:pt>
                <c:pt idx="7">
                  <c:v>5.3028551559999997</c:v>
                </c:pt>
                <c:pt idx="8">
                  <c:v>5.2325930115999997</c:v>
                </c:pt>
                <c:pt idx="9">
                  <c:v>5.1624242606099999</c:v>
                </c:pt>
                <c:pt idx="10">
                  <c:v>5.0923534240199997</c:v>
                </c:pt>
                <c:pt idx="11">
                  <c:v>5.0223852277500001</c:v>
                </c:pt>
                <c:pt idx="12">
                  <c:v>4.9525246105000003</c:v>
                </c:pt>
                <c:pt idx="13">
                  <c:v>4.8827767317899999</c:v>
                </c:pt>
                <c:pt idx="14">
                  <c:v>4.81314698009</c:v>
                </c:pt>
                <c:pt idx="15">
                  <c:v>4.7436409811700004</c:v>
                </c:pt>
                <c:pt idx="16">
                  <c:v>4.6742646064700004</c:v>
                </c:pt>
                <c:pt idx="17">
                  <c:v>4.6050239815699996</c:v>
                </c:pt>
                <c:pt idx="18">
                  <c:v>4.5359254947799998</c:v>
                </c:pt>
                <c:pt idx="19">
                  <c:v>4.4669758057099997</c:v>
                </c:pt>
                <c:pt idx="20">
                  <c:v>4.3981818538299997</c:v>
                </c:pt>
                <c:pt idx="21">
                  <c:v>4.32955086705</c:v>
                </c:pt>
                <c:pt idx="22">
                  <c:v>4.2610903701999998</c:v>
                </c:pt>
                <c:pt idx="23">
                  <c:v>4.1928081933900003</c:v>
                </c:pt>
                <c:pt idx="24">
                  <c:v>4.1247124802200004</c:v>
                </c:pt>
                <c:pt idx="25">
                  <c:v>4.0568116957999996</c:v>
                </c:pt>
                <c:pt idx="26">
                  <c:v>3.9891146344199999</c:v>
                </c:pt>
                <c:pt idx="27">
                  <c:v>3.9216304270100002</c:v>
                </c:pt>
                <c:pt idx="28">
                  <c:v>3.8543685481200001</c:v>
                </c:pt>
                <c:pt idx="29">
                  <c:v>3.7873388224100002</c:v>
                </c:pt>
                <c:pt idx="30">
                  <c:v>3.72055143066</c:v>
                </c:pt>
                <c:pt idx="31">
                  <c:v>3.6540169151500002</c:v>
                </c:pt>
                <c:pt idx="32">
                  <c:v>3.5877461842199998</c:v>
                </c:pt>
                <c:pt idx="33">
                  <c:v>3.52175051614</c:v>
                </c:pt>
                <c:pt idx="34">
                  <c:v>3.4560415619999998</c:v>
                </c:pt>
                <c:pt idx="35">
                  <c:v>3.3906313476099998</c:v>
                </c:pt>
                <c:pt idx="36">
                  <c:v>3.32553227427</c:v>
                </c:pt>
                <c:pt idx="37">
                  <c:v>3.2607571182599999</c:v>
                </c:pt>
                <c:pt idx="38">
                  <c:v>3.1963190290800001</c:v>
                </c:pt>
                <c:pt idx="39">
                  <c:v>3.13223152614</c:v>
                </c:pt>
                <c:pt idx="40">
                  <c:v>3.06850849386</c:v>
                </c:pt>
                <c:pt idx="41">
                  <c:v>3.00516417507</c:v>
                </c:pt>
                <c:pt idx="42">
                  <c:v>2.9422131626299999</c:v>
                </c:pt>
                <c:pt idx="43">
                  <c:v>2.8796703889700002</c:v>
                </c:pt>
                <c:pt idx="44">
                  <c:v>2.81755111367</c:v>
                </c:pt>
                <c:pt idx="45">
                  <c:v>2.75587090882</c:v>
                </c:pt>
                <c:pt idx="46">
                  <c:v>2.6946456420399998</c:v>
                </c:pt>
                <c:pt idx="47">
                  <c:v>2.6338914571399998</c:v>
                </c:pt>
                <c:pt idx="48">
                  <c:v>2.5736247523200002</c:v>
                </c:pt>
                <c:pt idx="49">
                  <c:v>2.5138621557700001</c:v>
                </c:pt>
                <c:pt idx="50">
                  <c:v>2.4546204986500002</c:v>
                </c:pt>
                <c:pt idx="51">
                  <c:v>2.3959167854199999</c:v>
                </c:pt>
                <c:pt idx="52">
                  <c:v>2.3377681614600001</c:v>
                </c:pt>
                <c:pt idx="53">
                  <c:v>2.2801918779900001</c:v>
                </c:pt>
                <c:pt idx="54">
                  <c:v>2.2232052543099998</c:v>
                </c:pt>
                <c:pt idx="55">
                  <c:v>2.1668256374200001</c:v>
                </c:pt>
                <c:pt idx="56">
                  <c:v>2.1110703590500002</c:v>
                </c:pt>
                <c:pt idx="57">
                  <c:v>2.0559566902299999</c:v>
                </c:pt>
                <c:pt idx="58">
                  <c:v>2.0015017935900001</c:v>
                </c:pt>
                <c:pt idx="59">
                  <c:v>1.9477226734499999</c:v>
                </c:pt>
                <c:pt idx="60">
                  <c:v>1.89463612397</c:v>
                </c:pt>
                <c:pt idx="61">
                  <c:v>1.8422586755999999</c:v>
                </c:pt>
                <c:pt idx="62">
                  <c:v>1.79060654006</c:v>
                </c:pt>
                <c:pt idx="63">
                  <c:v>1.7396955542200001</c:v>
                </c:pt>
                <c:pt idx="64">
                  <c:v>1.6895411231399999</c:v>
                </c:pt>
                <c:pt idx="65">
                  <c:v>1.6401581626499999</c:v>
                </c:pt>
                <c:pt idx="66">
                  <c:v>1.5915610418999999</c:v>
                </c:pt>
                <c:pt idx="67">
                  <c:v>1.5437635263</c:v>
                </c:pt>
                <c:pt idx="68">
                  <c:v>1.4967787211500001</c:v>
                </c:pt>
                <c:pt idx="69">
                  <c:v>1.4506190166599999</c:v>
                </c:pt>
                <c:pt idx="70">
                  <c:v>1.4052960345200001</c:v>
                </c:pt>
                <c:pt idx="71">
                  <c:v>1.3608205767099999</c:v>
                </c:pt>
                <c:pt idx="72">
                  <c:v>1.31720257689</c:v>
                </c:pt>
                <c:pt idx="73">
                  <c:v>1.2744510548300001</c:v>
                </c:pt>
                <c:pt idx="74">
                  <c:v>1.23257407435</c:v>
                </c:pt>
                <c:pt idx="75">
                  <c:v>1.19157870513</c:v>
                </c:pt>
                <c:pt idx="76">
                  <c:v>1.1514709888000001</c:v>
                </c:pt>
                <c:pt idx="77">
                  <c:v>1.11225590958</c:v>
                </c:pt>
                <c:pt idx="78">
                  <c:v>1.0739373699400001</c:v>
                </c:pt>
                <c:pt idx="79">
                  <c:v>1.03651817127</c:v>
                </c:pt>
                <c:pt idx="80">
                  <c:v>1</c:v>
                </c:pt>
                <c:pt idx="81">
                  <c:v>0.96438341922299997</c:v>
                </c:pt>
                <c:pt idx="82">
                  <c:v>0.92966786585399996</c:v>
                </c:pt>
                <c:pt idx="83">
                  <c:v>0.89585165345100004</c:v>
                </c:pt>
                <c:pt idx="84">
                  <c:v>0.86293198061999998</c:v>
                </c:pt>
                <c:pt idx="85">
                  <c:v>0.83090494491199995</c:v>
                </c:pt>
                <c:pt idx="86">
                  <c:v>0.79976556208600003</c:v>
                </c:pt>
                <c:pt idx="87">
                  <c:v>0.76950779052100005</c:v>
                </c:pt>
                <c:pt idx="88">
                  <c:v>0.74012456053800002</c:v>
                </c:pt>
                <c:pt idx="89">
                  <c:v>0.71160780831399995</c:v>
                </c:pt>
                <c:pt idx="90">
                  <c:v>0.68394851407599999</c:v>
                </c:pt>
                <c:pt idx="91">
                  <c:v>0.65713674416900003</c:v>
                </c:pt>
                <c:pt idx="92">
                  <c:v>0.63116169661499999</c:v>
                </c:pt>
                <c:pt idx="93">
                  <c:v>0.606011749717</c:v>
                </c:pt>
                <c:pt idx="94">
                  <c:v>0.58167451328300002</c:v>
                </c:pt>
                <c:pt idx="95">
                  <c:v>0.55813688198599998</c:v>
                </c:pt>
                <c:pt idx="96">
                  <c:v>0.53538509043299998</c:v>
                </c:pt>
                <c:pt idx="97">
                  <c:v>0.51340476946699998</c:v>
                </c:pt>
                <c:pt idx="98">
                  <c:v>0.492181003256</c:v>
                </c:pt>
                <c:pt idx="99">
                  <c:v>0.47169838675100001</c:v>
                </c:pt>
                <c:pt idx="100">
                  <c:v>0.45194108308300002</c:v>
                </c:pt>
                <c:pt idx="101">
                  <c:v>0.432892880521</c:v>
                </c:pt>
                <c:pt idx="102">
                  <c:v>0.414537248616</c:v>
                </c:pt>
                <c:pt idx="103">
                  <c:v>0.39685739320800001</c:v>
                </c:pt>
                <c:pt idx="104">
                  <c:v>0.37983630998200002</c:v>
                </c:pt>
                <c:pt idx="105">
                  <c:v>0.36345683631300002</c:v>
                </c:pt>
                <c:pt idx="106">
                  <c:v>0.347701701157</c:v>
                </c:pt>
                <c:pt idx="107">
                  <c:v>0.332553572789</c:v>
                </c:pt>
                <c:pt idx="108">
                  <c:v>0.31799510421499999</c:v>
                </c:pt>
                <c:pt idx="109">
                  <c:v>0.30400897613</c:v>
                </c:pt>
                <c:pt idx="110">
                  <c:v>0.29057793731499998</c:v>
                </c:pt>
                <c:pt idx="111">
                  <c:v>0.27768484239000002</c:v>
                </c:pt>
                <c:pt idx="112">
                  <c:v>0.26531268689499998</c:v>
                </c:pt>
                <c:pt idx="113">
                  <c:v>0.25344463966899999</c:v>
                </c:pt>
                <c:pt idx="114">
                  <c:v>0.24206407252600001</c:v>
                </c:pt>
                <c:pt idx="115">
                  <c:v>0.23115458726800001</c:v>
                </c:pt>
                <c:pt idx="116">
                  <c:v>0.22070004007300001</c:v>
                </c:pt>
                <c:pt idx="117">
                  <c:v>0.21068456332300001</c:v>
                </c:pt>
                <c:pt idx="118">
                  <c:v>0.20109258494000001</c:v>
                </c:pt>
                <c:pt idx="119">
                  <c:v>0.191908845341</c:v>
                </c:pt>
                <c:pt idx="120">
                  <c:v>0.183118412082</c:v>
                </c:pt>
                <c:pt idx="121">
                  <c:v>0.17470669232200001</c:v>
                </c:pt>
                <c:pt idx="122">
                  <c:v>0.16665944321699999</c:v>
                </c:pt>
                <c:pt idx="123">
                  <c:v>0.158962780346</c:v>
                </c:pt>
                <c:pt idx="124">
                  <c:v>0.15160318431</c:v>
                </c:pt>
                <c:pt idx="125">
                  <c:v>0.144567505614</c:v>
                </c:pt>
                <c:pt idx="126">
                  <c:v>0.13784296795500001</c:v>
                </c:pt>
                <c:pt idx="127">
                  <c:v>0.13141717004600001</c:v>
                </c:pt>
                <c:pt idx="128">
                  <c:v>0.125278086082</c:v>
                </c:pt>
                <c:pt idx="129">
                  <c:v>0.119414064971</c:v>
                </c:pt>
                <c:pt idx="130">
                  <c:v>0.11381382844100001</c:v>
                </c:pt>
                <c:pt idx="131">
                  <c:v>0.108466468139</c:v>
                </c:pt>
                <c:pt idx="132">
                  <c:v>0.103361441808</c:v>
                </c:pt>
                <c:pt idx="133">
                  <c:v>9.8488568657700004E-2</c:v>
                </c:pt>
                <c:pt idx="134">
                  <c:v>9.3838024016799998E-2</c:v>
                </c:pt>
                <c:pt idx="135">
                  <c:v>8.9400333350799999E-2</c:v>
                </c:pt>
                <c:pt idx="136">
                  <c:v>8.5166365735299995E-2</c:v>
                </c:pt>
                <c:pt idx="137">
                  <c:v>8.11273268587E-2</c:v>
                </c:pt>
                <c:pt idx="138">
                  <c:v>7.7274751625900001E-2</c:v>
                </c:pt>
                <c:pt idx="139">
                  <c:v>7.36004964318E-2</c:v>
                </c:pt>
                <c:pt idx="140">
                  <c:v>7.0096731165399995E-2</c:v>
                </c:pt>
                <c:pt idx="141">
                  <c:v>6.6755931000499993E-2</c:v>
                </c:pt>
                <c:pt idx="142">
                  <c:v>6.3570868026899999E-2</c:v>
                </c:pt>
                <c:pt idx="143">
                  <c:v>6.0534602766500002E-2</c:v>
                </c:pt>
                <c:pt idx="144">
                  <c:v>5.7640475620399999E-2</c:v>
                </c:pt>
                <c:pt idx="145">
                  <c:v>5.4882098282600003E-2</c:v>
                </c:pt>
                <c:pt idx="146">
                  <c:v>5.2253345157400002E-2</c:v>
                </c:pt>
                <c:pt idx="147">
                  <c:v>4.9748344810599997E-2</c:v>
                </c:pt>
                <c:pt idx="148">
                  <c:v>4.7361471481900001E-2</c:v>
                </c:pt>
                <c:pt idx="149">
                  <c:v>4.5087336683699998E-2</c:v>
                </c:pt>
                <c:pt idx="150">
                  <c:v>4.2920780906299999E-2</c:v>
                </c:pt>
                <c:pt idx="151">
                  <c:v>4.0856865450299998E-2</c:v>
                </c:pt>
                <c:pt idx="152">
                  <c:v>3.8890864399699999E-2</c:v>
                </c:pt>
                <c:pt idx="153">
                  <c:v>3.7018256751799997E-2</c:v>
                </c:pt>
                <c:pt idx="154">
                  <c:v>3.5234718713100001E-2</c:v>
                </c:pt>
                <c:pt idx="155">
                  <c:v>3.3536116173299997E-2</c:v>
                </c:pt>
                <c:pt idx="156">
                  <c:v>3.1918497363000002E-2</c:v>
                </c:pt>
                <c:pt idx="157">
                  <c:v>3.0378085702800001E-2</c:v>
                </c:pt>
                <c:pt idx="158">
                  <c:v>2.89112728471E-2</c:v>
                </c:pt>
                <c:pt idx="159">
                  <c:v>2.7514611928100001E-2</c:v>
                </c:pt>
                <c:pt idx="160">
                  <c:v>2.6184810999499999E-2</c:v>
                </c:pt>
              </c:numCache>
            </c:numRef>
          </c:yVal>
          <c:smooth val="1"/>
          <c:extLst>
            <c:ext xmlns:c16="http://schemas.microsoft.com/office/drawing/2014/chart" uri="{C3380CC4-5D6E-409C-BE32-E72D297353CC}">
              <c16:uniqueId val="{00000000-3A2F-4971-AA5F-E2634557EAD8}"/>
            </c:ext>
          </c:extLst>
        </c:ser>
        <c:ser>
          <c:idx val="1"/>
          <c:order val="1"/>
          <c:tx>
            <c:v>Zero–one loss</c:v>
          </c:tx>
          <c:spPr>
            <a:ln w="28575">
              <a:solidFill>
                <a:srgbClr val="C45C28"/>
              </a:solidFill>
              <a:prstDash val="solid"/>
            </a:ln>
          </c:spPr>
          <c:marker>
            <c:symbol val="none"/>
          </c:marker>
          <c:xVal>
            <c:numRef>
              <c:f>'Chart Data'!$C$2:$C$3</c:f>
              <c:numCache>
                <c:formatCode>General</c:formatCode>
                <c:ptCount val="2"/>
                <c:pt idx="0">
                  <c:v>-4</c:v>
                </c:pt>
                <c:pt idx="1">
                  <c:v>0</c:v>
                </c:pt>
              </c:numCache>
            </c:numRef>
          </c:xVal>
          <c:yVal>
            <c:numRef>
              <c:f>'Chart Data'!$D$2:$D$3</c:f>
              <c:numCache>
                <c:formatCode>0</c:formatCode>
                <c:ptCount val="2"/>
                <c:pt idx="0">
                  <c:v>1</c:v>
                </c:pt>
                <c:pt idx="1">
                  <c:v>1</c:v>
                </c:pt>
              </c:numCache>
            </c:numRef>
          </c:yVal>
          <c:smooth val="1"/>
          <c:extLst>
            <c:ext xmlns:c16="http://schemas.microsoft.com/office/drawing/2014/chart" uri="{C3380CC4-5D6E-409C-BE32-E72D297353CC}">
              <c16:uniqueId val="{00000001-3A2F-4971-AA5F-E2634557EAD8}"/>
            </c:ext>
          </c:extLst>
        </c:ser>
        <c:ser>
          <c:idx val="2"/>
          <c:order val="2"/>
          <c:tx>
            <c:v>Zero–one loss</c:v>
          </c:tx>
          <c:spPr>
            <a:ln w="28575">
              <a:solidFill>
                <a:srgbClr val="C45C28"/>
              </a:solidFill>
              <a:prstDash val="solid"/>
            </a:ln>
          </c:spPr>
          <c:marker>
            <c:symbol val="none"/>
          </c:marker>
          <c:xVal>
            <c:numRef>
              <c:f>'Chart Data'!$E$2:$E$3</c:f>
              <c:numCache>
                <c:formatCode>General</c:formatCode>
                <c:ptCount val="2"/>
                <c:pt idx="0">
                  <c:v>0</c:v>
                </c:pt>
                <c:pt idx="1">
                  <c:v>4</c:v>
                </c:pt>
              </c:numCache>
            </c:numRef>
          </c:xVal>
          <c:yVal>
            <c:numRef>
              <c:f>'Chart Data'!$F$2:$F$3</c:f>
              <c:numCache>
                <c:formatCode>0</c:formatCode>
                <c:ptCount val="2"/>
                <c:pt idx="0">
                  <c:v>0</c:v>
                </c:pt>
                <c:pt idx="1">
                  <c:v>0</c:v>
                </c:pt>
              </c:numCache>
            </c:numRef>
          </c:yVal>
          <c:smooth val="1"/>
          <c:extLst>
            <c:ext xmlns:c16="http://schemas.microsoft.com/office/drawing/2014/chart" uri="{C3380CC4-5D6E-409C-BE32-E72D297353CC}">
              <c16:uniqueId val="{00000002-3A2F-4971-AA5F-E2634557EAD8}"/>
            </c:ext>
          </c:extLst>
        </c:ser>
        <c:ser>
          <c:idx val="3"/>
          <c:order val="3"/>
          <c:tx>
            <c:v>Excluded endpoint</c:v>
          </c:tx>
          <c:spPr>
            <a:ln w="0">
              <a:noFill/>
            </a:ln>
          </c:spPr>
          <c:marker>
            <c:symbol val="circle"/>
            <c:size val="7"/>
            <c:spPr>
              <a:solidFill>
                <a:srgbClr val="FFFFFF"/>
              </a:solidFill>
              <a:ln w="12700">
                <a:solidFill>
                  <a:srgbClr val="C45C28"/>
                </a:solidFill>
              </a:ln>
            </c:spPr>
          </c:marker>
          <c:xVal>
            <c:numRef>
              <c:f>'Chart Data'!$G$2:$G$2</c:f>
              <c:numCache>
                <c:formatCode>General</c:formatCode>
                <c:ptCount val="1"/>
                <c:pt idx="0">
                  <c:v>0</c:v>
                </c:pt>
              </c:numCache>
            </c:numRef>
          </c:xVal>
          <c:yVal>
            <c:numRef>
              <c:f>'Chart Data'!$H$2:$H$2</c:f>
              <c:numCache>
                <c:formatCode>0</c:formatCode>
                <c:ptCount val="1"/>
                <c:pt idx="0">
                  <c:v>0</c:v>
                </c:pt>
              </c:numCache>
            </c:numRef>
          </c:yVal>
          <c:smooth val="1"/>
          <c:extLst>
            <c:ext xmlns:c16="http://schemas.microsoft.com/office/drawing/2014/chart" uri="{C3380CC4-5D6E-409C-BE32-E72D297353CC}">
              <c16:uniqueId val="{00000003-3A2F-4971-AA5F-E2634557EAD8}"/>
            </c:ext>
          </c:extLst>
        </c:ser>
        <c:ser>
          <c:idx val="4"/>
          <c:order val="4"/>
          <c:tx>
            <c:v>Included endpoint</c:v>
          </c:tx>
          <c:spPr>
            <a:ln w="0">
              <a:noFill/>
            </a:ln>
          </c:spPr>
          <c:marker>
            <c:symbol val="circle"/>
            <c:size val="7"/>
            <c:spPr>
              <a:solidFill>
                <a:srgbClr val="C45C28"/>
              </a:solidFill>
              <a:ln w="12700">
                <a:solidFill>
                  <a:srgbClr val="C45C28"/>
                </a:solidFill>
              </a:ln>
            </c:spPr>
          </c:marker>
          <c:xVal>
            <c:numRef>
              <c:f>'Chart Data'!$I$2:$I$2</c:f>
              <c:numCache>
                <c:formatCode>General</c:formatCode>
                <c:ptCount val="1"/>
                <c:pt idx="0">
                  <c:v>0</c:v>
                </c:pt>
              </c:numCache>
            </c:numRef>
          </c:xVal>
          <c:yVal>
            <c:numRef>
              <c:f>'Chart Data'!$J$2:$J$2</c:f>
              <c:numCache>
                <c:formatCode>0</c:formatCode>
                <c:ptCount val="1"/>
                <c:pt idx="0">
                  <c:v>1</c:v>
                </c:pt>
              </c:numCache>
            </c:numRef>
          </c:yVal>
          <c:smooth val="1"/>
          <c:extLst>
            <c:ext xmlns:c16="http://schemas.microsoft.com/office/drawing/2014/chart" uri="{C3380CC4-5D6E-409C-BE32-E72D297353CC}">
              <c16:uniqueId val="{00000004-3A2F-4971-AA5F-E2634557EAD8}"/>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a:t>
                </a:r>
              </a:p>
            </c:rich>
          </c:tx>
          <c:overlay val="0"/>
        </c:title>
        <c:numFmt formatCode="0"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4"/>
          <c:min val="-4"/>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Score s</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2"/>
      </c:valAx>
      <c:spPr>
        <a:solidFill>
          <a:srgbClr val="FFFFFF"/>
        </a:solidFill>
        <a:ln w="0">
          <a:noFill/>
        </a:ln>
      </c:spPr>
    </c:plotArea>
    <c:legend>
      <c:legendPos val="b"/>
      <c:legendEntry>
        <c:idx val="2"/>
        <c:delete val="1"/>
      </c:legendEntry>
      <c:legendEntry>
        <c:idx val="3"/>
        <c:delete val="1"/>
      </c:legendEntry>
      <c:legendEntry>
        <c:idx val="4"/>
        <c:delete val="1"/>
      </c:legendEntry>
      <c:overlay val="0"/>
      <c:txPr>
        <a:bodyPr anchorCtr="1"/>
        <a:lstStyle/>
        <a:p>
          <a:pPr>
            <a:defRPr sz="1200">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B675-4537-8A21-84A8A18449D0}"/>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B675-4537-8A21-84A8A18449D0}"/>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5.75</c:v>
                </c:pt>
                <c:pt idx="1">
                  <c:v>5.75</c:v>
                </c:pt>
              </c:numCache>
            </c:numRef>
          </c:yVal>
          <c:smooth val="0"/>
          <c:extLst>
            <c:ext xmlns:c16="http://schemas.microsoft.com/office/drawing/2014/chart" uri="{C3380CC4-5D6E-409C-BE32-E72D297353CC}">
              <c16:uniqueId val="{00000002-B675-4537-8A21-84A8A18449D0}"/>
            </c:ext>
          </c:extLst>
        </c:ser>
        <c:dLbls>
          <c:showLegendKey val="0"/>
          <c:showVal val="0"/>
          <c:showCatName val="0"/>
          <c:showSerName val="0"/>
          <c:showPercent val="0"/>
          <c:showBubbleSize val="0"/>
        </c:dLbls>
        <c:axId val="48650112"/>
        <c:axId val="48672768"/>
      </c:scatterChart>
      <c:valAx>
        <c:axId val="48672768"/>
        <c:scaling>
          <c:orientation val="minMax"/>
          <c:max val="7.5"/>
          <c:min val="2"/>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Data'!$A$2:$A$2</c:f>
              <c:numCache>
                <c:formatCode>General</c:formatCode>
                <c:ptCount val="1"/>
                <c:pt idx="0">
                  <c:v>0</c:v>
                </c:pt>
              </c:numCache>
            </c:numRef>
          </c:xVal>
          <c:yVal>
            <c:numRef>
              <c:f>'Chart Data'!$B$2:$B$2</c:f>
              <c:numCache>
                <c:formatCode>General</c:formatCode>
                <c:ptCount val="1"/>
                <c:pt idx="0">
                  <c:v>73.646865606999995</c:v>
                </c:pt>
              </c:numCache>
            </c:numRef>
          </c:yVal>
          <c:smooth val="0"/>
          <c:extLst>
            <c:ext xmlns:c16="http://schemas.microsoft.com/office/drawing/2014/chart" uri="{C3380CC4-5D6E-409C-BE32-E72D297353CC}">
              <c16:uniqueId val="{00000000-70B1-4782-A1F5-30A8CDF56E83}"/>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Data'!$C$2:$C$2</c:f>
              <c:numCache>
                <c:formatCode>General</c:formatCode>
                <c:ptCount val="1"/>
                <c:pt idx="0">
                  <c:v>0</c:v>
                </c:pt>
              </c:numCache>
            </c:numRef>
          </c:xVal>
          <c:yVal>
            <c:numRef>
              <c:f>'Chart Data'!$D$2:$D$2</c:f>
              <c:numCache>
                <c:formatCode>General</c:formatCode>
                <c:ptCount val="1"/>
                <c:pt idx="0">
                  <c:v>31</c:v>
                </c:pt>
              </c:numCache>
            </c:numRef>
          </c:yVal>
          <c:smooth val="0"/>
          <c:extLst>
            <c:ext xmlns:c16="http://schemas.microsoft.com/office/drawing/2014/chart" uri="{C3380CC4-5D6E-409C-BE32-E72D297353CC}">
              <c16:uniqueId val="{00000001-70B1-4782-A1F5-30A8CDF56E83}"/>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4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723F-48A4-868B-B617AF4C3240}"/>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723F-48A4-868B-B617AF4C3240}"/>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4.7120606002500001</c:v>
                </c:pt>
                <c:pt idx="1">
                  <c:v>4.34274720275</c:v>
                </c:pt>
              </c:numCache>
            </c:numRef>
          </c:yVal>
          <c:smooth val="0"/>
          <c:extLst>
            <c:ext xmlns:c16="http://schemas.microsoft.com/office/drawing/2014/chart" uri="{C3380CC4-5D6E-409C-BE32-E72D297353CC}">
              <c16:uniqueId val="{00000002-723F-48A4-868B-B617AF4C3240}"/>
            </c:ext>
          </c:extLst>
        </c:ser>
        <c:dLbls>
          <c:showLegendKey val="0"/>
          <c:showVal val="0"/>
          <c:showCatName val="0"/>
          <c:showSerName val="0"/>
          <c:showPercent val="0"/>
          <c:showBubbleSize val="0"/>
        </c:dLbls>
        <c:axId val="48650112"/>
        <c:axId val="48672768"/>
      </c:scatterChart>
      <c:valAx>
        <c:axId val="48672768"/>
        <c:scaling>
          <c:orientation val="minMax"/>
          <c:max val="7.5"/>
          <c:min val="2"/>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Data'!$A$2:$A$3</c:f>
              <c:numCache>
                <c:formatCode>General</c:formatCode>
                <c:ptCount val="2"/>
                <c:pt idx="0">
                  <c:v>0</c:v>
                </c:pt>
                <c:pt idx="1">
                  <c:v>1</c:v>
                </c:pt>
              </c:numCache>
            </c:numRef>
          </c:xVal>
          <c:yVal>
            <c:numRef>
              <c:f>'Chart Data'!$B$2:$B$3</c:f>
              <c:numCache>
                <c:formatCode>General</c:formatCode>
                <c:ptCount val="2"/>
                <c:pt idx="0">
                  <c:v>73.646865606999995</c:v>
                </c:pt>
                <c:pt idx="1">
                  <c:v>61.650461714000002</c:v>
                </c:pt>
              </c:numCache>
            </c:numRef>
          </c:yVal>
          <c:smooth val="0"/>
          <c:extLst>
            <c:ext xmlns:c16="http://schemas.microsoft.com/office/drawing/2014/chart" uri="{C3380CC4-5D6E-409C-BE32-E72D297353CC}">
              <c16:uniqueId val="{00000000-B320-4CA6-B72B-2D13CD73AD53}"/>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Data'!$C$2:$C$3</c:f>
              <c:numCache>
                <c:formatCode>General</c:formatCode>
                <c:ptCount val="2"/>
                <c:pt idx="0">
                  <c:v>0</c:v>
                </c:pt>
                <c:pt idx="1">
                  <c:v>1</c:v>
                </c:pt>
              </c:numCache>
            </c:numRef>
          </c:xVal>
          <c:yVal>
            <c:numRef>
              <c:f>'Chart Data'!$D$2:$D$3</c:f>
              <c:numCache>
                <c:formatCode>General</c:formatCode>
                <c:ptCount val="2"/>
                <c:pt idx="0">
                  <c:v>31</c:v>
                </c:pt>
                <c:pt idx="1">
                  <c:v>15</c:v>
                </c:pt>
              </c:numCache>
            </c:numRef>
          </c:yVal>
          <c:smooth val="0"/>
          <c:extLst>
            <c:ext xmlns:c16="http://schemas.microsoft.com/office/drawing/2014/chart" uri="{C3380CC4-5D6E-409C-BE32-E72D297353CC}">
              <c16:uniqueId val="{00000001-B320-4CA6-B72B-2D13CD73AD53}"/>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4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723F-48A4-868B-B617AF4C3240}"/>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723F-48A4-868B-B617AF4C3240}"/>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5.0174521085699997</c:v>
                </c:pt>
                <c:pt idx="1">
                  <c:v>4.7898682141300002</c:v>
                </c:pt>
              </c:numCache>
            </c:numRef>
          </c:yVal>
          <c:smooth val="0"/>
          <c:extLst>
            <c:ext xmlns:c16="http://schemas.microsoft.com/office/drawing/2014/chart" uri="{C3380CC4-5D6E-409C-BE32-E72D297353CC}">
              <c16:uniqueId val="{00000002-723F-48A4-868B-B617AF4C3240}"/>
            </c:ext>
          </c:extLst>
        </c:ser>
        <c:dLbls>
          <c:showLegendKey val="0"/>
          <c:showVal val="0"/>
          <c:showCatName val="0"/>
          <c:showSerName val="0"/>
          <c:showPercent val="0"/>
          <c:showBubbleSize val="0"/>
        </c:dLbls>
        <c:axId val="48650112"/>
        <c:axId val="48672768"/>
      </c:scatterChart>
      <c:valAx>
        <c:axId val="48672768"/>
        <c:scaling>
          <c:orientation val="minMax"/>
          <c:max val="7.5"/>
          <c:min val="2"/>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Data'!$A$2:$A$4</c:f>
              <c:numCache>
                <c:formatCode>General</c:formatCode>
                <c:ptCount val="3"/>
                <c:pt idx="0">
                  <c:v>0</c:v>
                </c:pt>
                <c:pt idx="1">
                  <c:v>1</c:v>
                </c:pt>
                <c:pt idx="2">
                  <c:v>2</c:v>
                </c:pt>
              </c:numCache>
            </c:numRef>
          </c:xVal>
          <c:yVal>
            <c:numRef>
              <c:f>'Chart Data'!$B$2:$B$4</c:f>
              <c:numCache>
                <c:formatCode>General</c:formatCode>
                <c:ptCount val="3"/>
                <c:pt idx="0">
                  <c:v>73.646865606999995</c:v>
                </c:pt>
                <c:pt idx="1">
                  <c:v>61.650461714000002</c:v>
                </c:pt>
                <c:pt idx="2">
                  <c:v>60.114290732900002</c:v>
                </c:pt>
              </c:numCache>
            </c:numRef>
          </c:yVal>
          <c:smooth val="0"/>
          <c:extLst>
            <c:ext xmlns:c16="http://schemas.microsoft.com/office/drawing/2014/chart" uri="{C3380CC4-5D6E-409C-BE32-E72D297353CC}">
              <c16:uniqueId val="{00000000-B320-4CA6-B72B-2D13CD73AD53}"/>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Data'!$C$2:$C$4</c:f>
              <c:numCache>
                <c:formatCode>General</c:formatCode>
                <c:ptCount val="3"/>
                <c:pt idx="0">
                  <c:v>0</c:v>
                </c:pt>
                <c:pt idx="1">
                  <c:v>1</c:v>
                </c:pt>
                <c:pt idx="2">
                  <c:v>2</c:v>
                </c:pt>
              </c:numCache>
            </c:numRef>
          </c:xVal>
          <c:yVal>
            <c:numRef>
              <c:f>'Chart Data'!$D$2:$D$4</c:f>
              <c:numCache>
                <c:formatCode>General</c:formatCode>
                <c:ptCount val="3"/>
                <c:pt idx="0">
                  <c:v>31</c:v>
                </c:pt>
                <c:pt idx="1">
                  <c:v>15</c:v>
                </c:pt>
                <c:pt idx="2">
                  <c:v>7</c:v>
                </c:pt>
              </c:numCache>
            </c:numRef>
          </c:yVal>
          <c:smooth val="0"/>
          <c:extLst>
            <c:ext xmlns:c16="http://schemas.microsoft.com/office/drawing/2014/chart" uri="{C3380CC4-5D6E-409C-BE32-E72D297353CC}">
              <c16:uniqueId val="{00000001-B320-4CA6-B72B-2D13CD73AD53}"/>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4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723F-48A4-868B-B617AF4C3240}"/>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723F-48A4-868B-B617AF4C3240}"/>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4.9162598197799996</c:v>
                </c:pt>
                <c:pt idx="1">
                  <c:v>4.7192218460499999</c:v>
                </c:pt>
              </c:numCache>
            </c:numRef>
          </c:yVal>
          <c:smooth val="0"/>
          <c:extLst>
            <c:ext xmlns:c16="http://schemas.microsoft.com/office/drawing/2014/chart" uri="{C3380CC4-5D6E-409C-BE32-E72D297353CC}">
              <c16:uniqueId val="{00000002-723F-48A4-868B-B617AF4C3240}"/>
            </c:ext>
          </c:extLst>
        </c:ser>
        <c:dLbls>
          <c:showLegendKey val="0"/>
          <c:showVal val="0"/>
          <c:showCatName val="0"/>
          <c:showSerName val="0"/>
          <c:showPercent val="0"/>
          <c:showBubbleSize val="0"/>
        </c:dLbls>
        <c:axId val="48650112"/>
        <c:axId val="48672768"/>
      </c:scatterChart>
      <c:valAx>
        <c:axId val="48672768"/>
        <c:scaling>
          <c:orientation val="minMax"/>
          <c:max val="7.5"/>
          <c:min val="2"/>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Data'!$A$2:$A$7</c:f>
              <c:numCache>
                <c:formatCode>General</c:formatCode>
                <c:ptCount val="6"/>
                <c:pt idx="0">
                  <c:v>0</c:v>
                </c:pt>
                <c:pt idx="1">
                  <c:v>1</c:v>
                </c:pt>
                <c:pt idx="2">
                  <c:v>2</c:v>
                </c:pt>
                <c:pt idx="3">
                  <c:v>3</c:v>
                </c:pt>
                <c:pt idx="4">
                  <c:v>4</c:v>
                </c:pt>
                <c:pt idx="5">
                  <c:v>5</c:v>
                </c:pt>
              </c:numCache>
            </c:numRef>
          </c:xVal>
          <c:yVal>
            <c:numRef>
              <c:f>'Chart Data'!$B$2:$B$7</c:f>
              <c:numCache>
                <c:formatCode>General</c:formatCode>
                <c:ptCount val="6"/>
                <c:pt idx="0">
                  <c:v>73.646865606999995</c:v>
                </c:pt>
                <c:pt idx="1">
                  <c:v>61.650461714000002</c:v>
                </c:pt>
                <c:pt idx="2">
                  <c:v>60.114290732900002</c:v>
                </c:pt>
                <c:pt idx="3">
                  <c:v>59.864375701500002</c:v>
                </c:pt>
                <c:pt idx="4">
                  <c:v>59.717824469299998</c:v>
                </c:pt>
                <c:pt idx="5">
                  <c:v>59.583260602999999</c:v>
                </c:pt>
              </c:numCache>
            </c:numRef>
          </c:yVal>
          <c:smooth val="0"/>
          <c:extLst>
            <c:ext xmlns:c16="http://schemas.microsoft.com/office/drawing/2014/chart" uri="{C3380CC4-5D6E-409C-BE32-E72D297353CC}">
              <c16:uniqueId val="{00000000-B320-4CA6-B72B-2D13CD73AD53}"/>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Data'!$C$2:$C$7</c:f>
              <c:numCache>
                <c:formatCode>General</c:formatCode>
                <c:ptCount val="6"/>
                <c:pt idx="0">
                  <c:v>0</c:v>
                </c:pt>
                <c:pt idx="1">
                  <c:v>1</c:v>
                </c:pt>
                <c:pt idx="2">
                  <c:v>2</c:v>
                </c:pt>
                <c:pt idx="3">
                  <c:v>3</c:v>
                </c:pt>
                <c:pt idx="4">
                  <c:v>4</c:v>
                </c:pt>
                <c:pt idx="5">
                  <c:v>5</c:v>
                </c:pt>
              </c:numCache>
            </c:numRef>
          </c:xVal>
          <c:yVal>
            <c:numRef>
              <c:f>'Chart Data'!$D$2:$D$7</c:f>
              <c:numCache>
                <c:formatCode>General</c:formatCode>
                <c:ptCount val="6"/>
                <c:pt idx="0">
                  <c:v>31</c:v>
                </c:pt>
                <c:pt idx="1">
                  <c:v>15</c:v>
                </c:pt>
                <c:pt idx="2">
                  <c:v>7</c:v>
                </c:pt>
                <c:pt idx="3">
                  <c:v>7</c:v>
                </c:pt>
                <c:pt idx="4">
                  <c:v>8</c:v>
                </c:pt>
                <c:pt idx="5">
                  <c:v>8</c:v>
                </c:pt>
              </c:numCache>
            </c:numRef>
          </c:yVal>
          <c:smooth val="0"/>
          <c:extLst>
            <c:ext xmlns:c16="http://schemas.microsoft.com/office/drawing/2014/chart" uri="{C3380CC4-5D6E-409C-BE32-E72D297353CC}">
              <c16:uniqueId val="{00000001-B320-4CA6-B72B-2D13CD73AD53}"/>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4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723F-48A4-868B-B617AF4C3240}"/>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723F-48A4-868B-B617AF4C3240}"/>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4.87563317626</c:v>
                </c:pt>
                <c:pt idx="1">
                  <c:v>4.77118770502</c:v>
                </c:pt>
              </c:numCache>
            </c:numRef>
          </c:yVal>
          <c:smooth val="0"/>
          <c:extLst>
            <c:ext xmlns:c16="http://schemas.microsoft.com/office/drawing/2014/chart" uri="{C3380CC4-5D6E-409C-BE32-E72D297353CC}">
              <c16:uniqueId val="{00000002-723F-48A4-868B-B617AF4C3240}"/>
            </c:ext>
          </c:extLst>
        </c:ser>
        <c:dLbls>
          <c:showLegendKey val="0"/>
          <c:showVal val="0"/>
          <c:showCatName val="0"/>
          <c:showSerName val="0"/>
          <c:showPercent val="0"/>
          <c:showBubbleSize val="0"/>
        </c:dLbls>
        <c:axId val="48650112"/>
        <c:axId val="48672768"/>
      </c:scatterChart>
      <c:valAx>
        <c:axId val="48672768"/>
        <c:scaling>
          <c:orientation val="minMax"/>
          <c:max val="7.5"/>
          <c:min val="2"/>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Data'!$A$2:$A$12</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'Chart Data'!$B$2:$B$12</c:f>
              <c:numCache>
                <c:formatCode>General</c:formatCode>
                <c:ptCount val="11"/>
                <c:pt idx="0">
                  <c:v>73.646865606999995</c:v>
                </c:pt>
                <c:pt idx="1">
                  <c:v>61.650461714000002</c:v>
                </c:pt>
                <c:pt idx="2">
                  <c:v>60.114290732900002</c:v>
                </c:pt>
                <c:pt idx="3">
                  <c:v>59.864375701500002</c:v>
                </c:pt>
                <c:pt idx="4">
                  <c:v>59.717824469299998</c:v>
                </c:pt>
                <c:pt idx="5">
                  <c:v>59.583260602999999</c:v>
                </c:pt>
                <c:pt idx="6">
                  <c:v>59.450770374999998</c:v>
                </c:pt>
                <c:pt idx="7">
                  <c:v>59.3193688964</c:v>
                </c:pt>
                <c:pt idx="8">
                  <c:v>59.188948717099997</c:v>
                </c:pt>
                <c:pt idx="9">
                  <c:v>59.059490722900001</c:v>
                </c:pt>
                <c:pt idx="10">
                  <c:v>58.930984596499997</c:v>
                </c:pt>
              </c:numCache>
            </c:numRef>
          </c:yVal>
          <c:smooth val="0"/>
          <c:extLst>
            <c:ext xmlns:c16="http://schemas.microsoft.com/office/drawing/2014/chart" uri="{C3380CC4-5D6E-409C-BE32-E72D297353CC}">
              <c16:uniqueId val="{00000000-B320-4CA6-B72B-2D13CD73AD53}"/>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Data'!$C$2:$C$12</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'Chart Data'!$D$2:$D$12</c:f>
              <c:numCache>
                <c:formatCode>General</c:formatCode>
                <c:ptCount val="11"/>
                <c:pt idx="0">
                  <c:v>31</c:v>
                </c:pt>
                <c:pt idx="1">
                  <c:v>15</c:v>
                </c:pt>
                <c:pt idx="2">
                  <c:v>7</c:v>
                </c:pt>
                <c:pt idx="3">
                  <c:v>7</c:v>
                </c:pt>
                <c:pt idx="4">
                  <c:v>8</c:v>
                </c:pt>
                <c:pt idx="5">
                  <c:v>8</c:v>
                </c:pt>
                <c:pt idx="6">
                  <c:v>8</c:v>
                </c:pt>
                <c:pt idx="7">
                  <c:v>8</c:v>
                </c:pt>
                <c:pt idx="8">
                  <c:v>8</c:v>
                </c:pt>
                <c:pt idx="9">
                  <c:v>8</c:v>
                </c:pt>
                <c:pt idx="10">
                  <c:v>8</c:v>
                </c:pt>
              </c:numCache>
            </c:numRef>
          </c:yVal>
          <c:smooth val="0"/>
          <c:extLst>
            <c:ext xmlns:c16="http://schemas.microsoft.com/office/drawing/2014/chart" uri="{C3380CC4-5D6E-409C-BE32-E72D297353CC}">
              <c16:uniqueId val="{00000001-B320-4CA6-B72B-2D13CD73AD53}"/>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4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3E1F-4847-9300-AD178A42F29B}"/>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3E1F-4847-9300-AD178A42F29B}"/>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4.7997548308000004</c:v>
                </c:pt>
                <c:pt idx="1">
                  <c:v>4.8575417038699999</c:v>
                </c:pt>
              </c:numCache>
            </c:numRef>
          </c:yVal>
          <c:smooth val="0"/>
          <c:extLst>
            <c:ext xmlns:c16="http://schemas.microsoft.com/office/drawing/2014/chart" uri="{C3380CC4-5D6E-409C-BE32-E72D297353CC}">
              <c16:uniqueId val="{00000002-3E1F-4847-9300-AD178A42F29B}"/>
            </c:ext>
          </c:extLst>
        </c:ser>
        <c:dLbls>
          <c:showLegendKey val="0"/>
          <c:showVal val="0"/>
          <c:showCatName val="0"/>
          <c:showSerName val="0"/>
          <c:showPercent val="0"/>
          <c:showBubbleSize val="0"/>
        </c:dLbls>
        <c:axId val="48650112"/>
        <c:axId val="48672768"/>
      </c:scatterChart>
      <c:valAx>
        <c:axId val="48672768"/>
        <c:scaling>
          <c:orientation val="minMax"/>
          <c:max val="7.5"/>
          <c:min val="2"/>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'Chart Data'!$B$2:$B$22</c:f>
              <c:numCache>
                <c:formatCode>General</c:formatCode>
                <c:ptCount val="21"/>
                <c:pt idx="0">
                  <c:v>73.646865606999995</c:v>
                </c:pt>
                <c:pt idx="1">
                  <c:v>61.650461714000002</c:v>
                </c:pt>
                <c:pt idx="2">
                  <c:v>60.114290732900002</c:v>
                </c:pt>
                <c:pt idx="3">
                  <c:v>59.864375701500002</c:v>
                </c:pt>
                <c:pt idx="4">
                  <c:v>59.717824469299998</c:v>
                </c:pt>
                <c:pt idx="5">
                  <c:v>59.583260602999999</c:v>
                </c:pt>
                <c:pt idx="6">
                  <c:v>59.450770374999998</c:v>
                </c:pt>
                <c:pt idx="7">
                  <c:v>59.3193688964</c:v>
                </c:pt>
                <c:pt idx="8">
                  <c:v>59.188948717099997</c:v>
                </c:pt>
                <c:pt idx="9">
                  <c:v>59.059490722900001</c:v>
                </c:pt>
                <c:pt idx="10">
                  <c:v>58.930984596499997</c:v>
                </c:pt>
                <c:pt idx="11">
                  <c:v>58.8034209777</c:v>
                </c:pt>
                <c:pt idx="12">
                  <c:v>58.676790694799998</c:v>
                </c:pt>
                <c:pt idx="13">
                  <c:v>58.551084688499998</c:v>
                </c:pt>
                <c:pt idx="14">
                  <c:v>58.426294004200003</c:v>
                </c:pt>
                <c:pt idx="15">
                  <c:v>58.302409789400002</c:v>
                </c:pt>
                <c:pt idx="16">
                  <c:v>58.179423292999999</c:v>
                </c:pt>
                <c:pt idx="17">
                  <c:v>58.057325863499997</c:v>
                </c:pt>
                <c:pt idx="18">
                  <c:v>57.936108948099999</c:v>
                </c:pt>
                <c:pt idx="19">
                  <c:v>57.815764091600002</c:v>
                </c:pt>
                <c:pt idx="20">
                  <c:v>57.696282934599999</c:v>
                </c:pt>
              </c:numCache>
            </c:numRef>
          </c:yVal>
          <c:smooth val="0"/>
          <c:extLst>
            <c:ext xmlns:c16="http://schemas.microsoft.com/office/drawing/2014/chart" uri="{C3380CC4-5D6E-409C-BE32-E72D297353CC}">
              <c16:uniqueId val="{00000000-F79B-4013-BD18-42AAA301E1A2}"/>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'Chart Data'!$D$2:$D$22</c:f>
              <c:numCache>
                <c:formatCode>General</c:formatCode>
                <c:ptCount val="21"/>
                <c:pt idx="0">
                  <c:v>31</c:v>
                </c:pt>
                <c:pt idx="1">
                  <c:v>15</c:v>
                </c:pt>
                <c:pt idx="2">
                  <c:v>7</c:v>
                </c:pt>
                <c:pt idx="3">
                  <c:v>7</c:v>
                </c:pt>
                <c:pt idx="4">
                  <c:v>8</c:v>
                </c:pt>
                <c:pt idx="5">
                  <c:v>8</c:v>
                </c:pt>
                <c:pt idx="6">
                  <c:v>8</c:v>
                </c:pt>
                <c:pt idx="7">
                  <c:v>8</c:v>
                </c:pt>
                <c:pt idx="8">
                  <c:v>8</c:v>
                </c:pt>
                <c:pt idx="9">
                  <c:v>8</c:v>
                </c:pt>
                <c:pt idx="10">
                  <c:v>8</c:v>
                </c:pt>
                <c:pt idx="11">
                  <c:v>8</c:v>
                </c:pt>
                <c:pt idx="12">
                  <c:v>7</c:v>
                </c:pt>
                <c:pt idx="13">
                  <c:v>7</c:v>
                </c:pt>
                <c:pt idx="14">
                  <c:v>7</c:v>
                </c:pt>
                <c:pt idx="15">
                  <c:v>7</c:v>
                </c:pt>
                <c:pt idx="16">
                  <c:v>7</c:v>
                </c:pt>
                <c:pt idx="17">
                  <c:v>7</c:v>
                </c:pt>
                <c:pt idx="18">
                  <c:v>7</c:v>
                </c:pt>
                <c:pt idx="19">
                  <c:v>7</c:v>
                </c:pt>
                <c:pt idx="20">
                  <c:v>7</c:v>
                </c:pt>
              </c:numCache>
            </c:numRef>
          </c:yVal>
          <c:smooth val="0"/>
          <c:extLst>
            <c:ext xmlns:c16="http://schemas.microsoft.com/office/drawing/2014/chart" uri="{C3380CC4-5D6E-409C-BE32-E72D297353CC}">
              <c16:uniqueId val="{00000001-F79B-4013-BD18-42AAA301E1A2}"/>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4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'Chart Data'!$B$2:$B$22</c:f>
              <c:numCache>
                <c:formatCode>General</c:formatCode>
                <c:ptCount val="21"/>
                <c:pt idx="0">
                  <c:v>73.646865606999995</c:v>
                </c:pt>
                <c:pt idx="1">
                  <c:v>61.650461714000002</c:v>
                </c:pt>
                <c:pt idx="2">
                  <c:v>60.114290732900002</c:v>
                </c:pt>
                <c:pt idx="3">
                  <c:v>59.864375701500002</c:v>
                </c:pt>
                <c:pt idx="4">
                  <c:v>59.717824469299998</c:v>
                </c:pt>
                <c:pt idx="5">
                  <c:v>59.583260602999999</c:v>
                </c:pt>
                <c:pt idx="6">
                  <c:v>59.450770374999998</c:v>
                </c:pt>
                <c:pt idx="7">
                  <c:v>59.3193688964</c:v>
                </c:pt>
                <c:pt idx="8">
                  <c:v>59.188948717099997</c:v>
                </c:pt>
                <c:pt idx="9">
                  <c:v>59.059490722900001</c:v>
                </c:pt>
                <c:pt idx="10">
                  <c:v>58.930984596499997</c:v>
                </c:pt>
                <c:pt idx="11">
                  <c:v>58.8034209777</c:v>
                </c:pt>
                <c:pt idx="12">
                  <c:v>58.676790694799998</c:v>
                </c:pt>
                <c:pt idx="13">
                  <c:v>58.551084688499998</c:v>
                </c:pt>
                <c:pt idx="14">
                  <c:v>58.426294004200003</c:v>
                </c:pt>
                <c:pt idx="15">
                  <c:v>58.302409789400002</c:v>
                </c:pt>
                <c:pt idx="16">
                  <c:v>58.179423292999999</c:v>
                </c:pt>
                <c:pt idx="17">
                  <c:v>58.057325863499997</c:v>
                </c:pt>
                <c:pt idx="18">
                  <c:v>57.936108948099999</c:v>
                </c:pt>
                <c:pt idx="19">
                  <c:v>57.815764091600002</c:v>
                </c:pt>
                <c:pt idx="20">
                  <c:v>57.696282934599999</c:v>
                </c:pt>
              </c:numCache>
            </c:numRef>
          </c:yVal>
          <c:smooth val="0"/>
          <c:extLst>
            <c:ext xmlns:c16="http://schemas.microsoft.com/office/drawing/2014/chart" uri="{C3380CC4-5D6E-409C-BE32-E72D297353CC}">
              <c16:uniqueId val="{00000000-7968-497F-A0E4-6370050E8FF0}"/>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'Chart Data'!$D$2:$D$22</c:f>
              <c:numCache>
                <c:formatCode>General</c:formatCode>
                <c:ptCount val="21"/>
                <c:pt idx="0">
                  <c:v>31</c:v>
                </c:pt>
                <c:pt idx="1">
                  <c:v>15</c:v>
                </c:pt>
                <c:pt idx="2">
                  <c:v>7</c:v>
                </c:pt>
                <c:pt idx="3">
                  <c:v>7</c:v>
                </c:pt>
                <c:pt idx="4">
                  <c:v>8</c:v>
                </c:pt>
                <c:pt idx="5">
                  <c:v>8</c:v>
                </c:pt>
                <c:pt idx="6">
                  <c:v>8</c:v>
                </c:pt>
                <c:pt idx="7">
                  <c:v>8</c:v>
                </c:pt>
                <c:pt idx="8">
                  <c:v>8</c:v>
                </c:pt>
                <c:pt idx="9">
                  <c:v>8</c:v>
                </c:pt>
                <c:pt idx="10">
                  <c:v>8</c:v>
                </c:pt>
                <c:pt idx="11">
                  <c:v>8</c:v>
                </c:pt>
                <c:pt idx="12">
                  <c:v>7</c:v>
                </c:pt>
                <c:pt idx="13">
                  <c:v>7</c:v>
                </c:pt>
                <c:pt idx="14">
                  <c:v>7</c:v>
                </c:pt>
                <c:pt idx="15">
                  <c:v>7</c:v>
                </c:pt>
                <c:pt idx="16">
                  <c:v>7</c:v>
                </c:pt>
                <c:pt idx="17">
                  <c:v>7</c:v>
                </c:pt>
                <c:pt idx="18">
                  <c:v>7</c:v>
                </c:pt>
                <c:pt idx="19">
                  <c:v>7</c:v>
                </c:pt>
                <c:pt idx="20">
                  <c:v>7</c:v>
                </c:pt>
              </c:numCache>
            </c:numRef>
          </c:yVal>
          <c:smooth val="0"/>
          <c:extLst>
            <c:ext xmlns:c16="http://schemas.microsoft.com/office/drawing/2014/chart" uri="{C3380CC4-5D6E-409C-BE32-E72D297353CC}">
              <c16:uniqueId val="{00000001-7968-497F-A0E4-6370050E8FF0}"/>
            </c:ext>
          </c:extLst>
        </c:ser>
        <c:ser>
          <c:idx val="2"/>
          <c:order val="2"/>
          <c:tx>
            <c:v>Iterations 3 and 4</c:v>
          </c:tx>
          <c:spPr>
            <a:ln w="0">
              <a:noFill/>
            </a:ln>
          </c:spPr>
          <c:marker>
            <c:symbol val="circle"/>
            <c:size val="9"/>
            <c:spPr>
              <a:solidFill>
                <a:srgbClr val="C45C28"/>
              </a:solidFill>
              <a:ln w="12700">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7</c:v>
                </c:pt>
              </c:numCache>
            </c:numRef>
          </c:yVal>
          <c:smooth val="0"/>
          <c:extLst>
            <c:ext xmlns:c16="http://schemas.microsoft.com/office/drawing/2014/chart" uri="{C3380CC4-5D6E-409C-BE32-E72D297353CC}">
              <c16:uniqueId val="{00000002-7968-497F-A0E4-6370050E8FF0}"/>
            </c:ext>
          </c:extLst>
        </c:ser>
        <c:ser>
          <c:idx val="3"/>
          <c:order val="3"/>
          <c:tx>
            <c:v>Iterations 3 and 4</c:v>
          </c:tx>
          <c:spPr>
            <a:ln w="0">
              <a:noFill/>
            </a:ln>
          </c:spPr>
          <c:marker>
            <c:symbol val="circle"/>
            <c:size val="9"/>
            <c:spPr>
              <a:solidFill>
                <a:srgbClr val="C45C28"/>
              </a:solidFill>
              <a:ln w="12700">
                <a:solidFill>
                  <a:srgbClr val="C45C28"/>
                </a:solidFill>
              </a:ln>
            </c:spPr>
          </c:marker>
          <c:xVal>
            <c:numRef>
              <c:f>'Chart Data'!$G$2:$G$2</c:f>
              <c:numCache>
                <c:formatCode>General</c:formatCode>
                <c:ptCount val="1"/>
                <c:pt idx="0">
                  <c:v>4</c:v>
                </c:pt>
              </c:numCache>
            </c:numRef>
          </c:xVal>
          <c:yVal>
            <c:numRef>
              <c:f>'Chart Data'!$H$2:$H$2</c:f>
              <c:numCache>
                <c:formatCode>General</c:formatCode>
                <c:ptCount val="1"/>
                <c:pt idx="0">
                  <c:v>8</c:v>
                </c:pt>
              </c:numCache>
            </c:numRef>
          </c:yVal>
          <c:smooth val="0"/>
          <c:extLst>
            <c:ext xmlns:c16="http://schemas.microsoft.com/office/drawing/2014/chart" uri="{C3380CC4-5D6E-409C-BE32-E72D297353CC}">
              <c16:uniqueId val="{00000003-7968-497F-A0E4-6370050E8FF0}"/>
            </c:ext>
          </c:extLst>
        </c:ser>
        <c:dLbls>
          <c:showLegendKey val="0"/>
          <c:showVal val="0"/>
          <c:showCatName val="0"/>
          <c:showSerName val="0"/>
          <c:showPercent val="0"/>
          <c:showBubbleSize val="0"/>
        </c:dLbls>
        <c:axId val="48650112"/>
        <c:axId val="48672768"/>
      </c:scatterChart>
      <c:valAx>
        <c:axId val="48672768"/>
        <c:scaling>
          <c:orientation val="minMax"/>
          <c:max val="8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2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legendEntry>
        <c:idx val="2"/>
        <c:delete val="1"/>
      </c:legendEntry>
      <c:legendEntry>
        <c:idx val="3"/>
        <c:delete val="1"/>
      </c:legendEntry>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B675-4537-8A21-84A8A18449D0}"/>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B675-4537-8A21-84A8A18449D0}"/>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5.75</c:v>
                </c:pt>
                <c:pt idx="1">
                  <c:v>5.75</c:v>
                </c:pt>
              </c:numCache>
            </c:numRef>
          </c:yVal>
          <c:smooth val="0"/>
          <c:extLst>
            <c:ext xmlns:c16="http://schemas.microsoft.com/office/drawing/2014/chart" uri="{C3380CC4-5D6E-409C-BE32-E72D297353CC}">
              <c16:uniqueId val="{00000002-B675-4537-8A21-84A8A18449D0}"/>
            </c:ext>
          </c:extLst>
        </c:ser>
        <c:dLbls>
          <c:showLegendKey val="0"/>
          <c:showVal val="0"/>
          <c:showCatName val="0"/>
          <c:showSerName val="0"/>
          <c:showPercent val="0"/>
          <c:showBubbleSize val="0"/>
        </c:dLbls>
        <c:axId val="48650112"/>
        <c:axId val="48672768"/>
      </c:scatterChart>
      <c:valAx>
        <c:axId val="48672768"/>
        <c:scaling>
          <c:orientation val="minMax"/>
          <c:max val="7.5"/>
          <c:min val="2"/>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Data'!$A$2:$A$2</c:f>
              <c:numCache>
                <c:formatCode>General</c:formatCode>
                <c:ptCount val="1"/>
                <c:pt idx="0">
                  <c:v>0</c:v>
                </c:pt>
              </c:numCache>
            </c:numRef>
          </c:xVal>
          <c:yVal>
            <c:numRef>
              <c:f>'Chart Data'!$B$2:$B$2</c:f>
              <c:numCache>
                <c:formatCode>General</c:formatCode>
                <c:ptCount val="1"/>
                <c:pt idx="0">
                  <c:v>73.646865606999995</c:v>
                </c:pt>
              </c:numCache>
            </c:numRef>
          </c:yVal>
          <c:smooth val="0"/>
          <c:extLst>
            <c:ext xmlns:c16="http://schemas.microsoft.com/office/drawing/2014/chart" uri="{C3380CC4-5D6E-409C-BE32-E72D297353CC}">
              <c16:uniqueId val="{00000000-70B1-4782-A1F5-30A8CDF56E83}"/>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Data'!$C$2:$C$2</c:f>
              <c:numCache>
                <c:formatCode>General</c:formatCode>
                <c:ptCount val="1"/>
                <c:pt idx="0">
                  <c:v>0</c:v>
                </c:pt>
              </c:numCache>
            </c:numRef>
          </c:xVal>
          <c:yVal>
            <c:numRef>
              <c:f>'Chart Data'!$D$2:$D$2</c:f>
              <c:numCache>
                <c:formatCode>General</c:formatCode>
                <c:ptCount val="1"/>
                <c:pt idx="0">
                  <c:v>31</c:v>
                </c:pt>
              </c:numCache>
            </c:numRef>
          </c:yVal>
          <c:smooth val="0"/>
          <c:extLst>
            <c:ext xmlns:c16="http://schemas.microsoft.com/office/drawing/2014/chart" uri="{C3380CC4-5D6E-409C-BE32-E72D297353CC}">
              <c16:uniqueId val="{00000001-70B1-4782-A1F5-30A8CDF56E83}"/>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4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723F-48A4-868B-B617AF4C3240}"/>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723F-48A4-868B-B617AF4C3240}"/>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3.8545508530300001</c:v>
                </c:pt>
                <c:pt idx="1">
                  <c:v>3.1801234592499998</c:v>
                </c:pt>
              </c:numCache>
            </c:numRef>
          </c:yVal>
          <c:smooth val="0"/>
          <c:extLst>
            <c:ext xmlns:c16="http://schemas.microsoft.com/office/drawing/2014/chart" uri="{C3380CC4-5D6E-409C-BE32-E72D297353CC}">
              <c16:uniqueId val="{00000002-723F-48A4-868B-B617AF4C3240}"/>
            </c:ext>
          </c:extLst>
        </c:ser>
        <c:dLbls>
          <c:showLegendKey val="0"/>
          <c:showVal val="0"/>
          <c:showCatName val="0"/>
          <c:showSerName val="0"/>
          <c:showPercent val="0"/>
          <c:showBubbleSize val="0"/>
        </c:dLbls>
        <c:axId val="48650112"/>
        <c:axId val="48672768"/>
      </c:scatterChart>
      <c:valAx>
        <c:axId val="48672768"/>
        <c:scaling>
          <c:orientation val="minMax"/>
          <c:max val="7.5"/>
          <c:min val="2"/>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Data'!$A$2:$A$3</c:f>
              <c:numCache>
                <c:formatCode>General</c:formatCode>
                <c:ptCount val="2"/>
                <c:pt idx="0">
                  <c:v>0</c:v>
                </c:pt>
                <c:pt idx="1">
                  <c:v>1</c:v>
                </c:pt>
              </c:numCache>
            </c:numRef>
          </c:xVal>
          <c:yVal>
            <c:numRef>
              <c:f>'Chart Data'!$B$2:$B$3</c:f>
              <c:numCache>
                <c:formatCode>General</c:formatCode>
                <c:ptCount val="2"/>
                <c:pt idx="0">
                  <c:v>73.646865606999995</c:v>
                </c:pt>
                <c:pt idx="1">
                  <c:v>93.134746451200002</c:v>
                </c:pt>
              </c:numCache>
            </c:numRef>
          </c:yVal>
          <c:smooth val="0"/>
          <c:extLst>
            <c:ext xmlns:c16="http://schemas.microsoft.com/office/drawing/2014/chart" uri="{C3380CC4-5D6E-409C-BE32-E72D297353CC}">
              <c16:uniqueId val="{00000000-B320-4CA6-B72B-2D13CD73AD53}"/>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Data'!$C$2:$C$3</c:f>
              <c:numCache>
                <c:formatCode>General</c:formatCode>
                <c:ptCount val="2"/>
                <c:pt idx="0">
                  <c:v>0</c:v>
                </c:pt>
                <c:pt idx="1">
                  <c:v>1</c:v>
                </c:pt>
              </c:numCache>
            </c:numRef>
          </c:xVal>
          <c:yVal>
            <c:numRef>
              <c:f>'Chart Data'!$D$2:$D$3</c:f>
              <c:numCache>
                <c:formatCode>General</c:formatCode>
                <c:ptCount val="2"/>
                <c:pt idx="0">
                  <c:v>31</c:v>
                </c:pt>
                <c:pt idx="1">
                  <c:v>42</c:v>
                </c:pt>
              </c:numCache>
            </c:numRef>
          </c:yVal>
          <c:smooth val="0"/>
          <c:extLst>
            <c:ext xmlns:c16="http://schemas.microsoft.com/office/drawing/2014/chart" uri="{C3380CC4-5D6E-409C-BE32-E72D297353CC}">
              <c16:uniqueId val="{00000001-B320-4CA6-B72B-2D13CD73AD53}"/>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4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723F-48A4-868B-B617AF4C3240}"/>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723F-48A4-868B-B617AF4C3240}"/>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6.5059089584000001</c:v>
                </c:pt>
                <c:pt idx="1">
                  <c:v>6.9223273115300001</c:v>
                </c:pt>
              </c:numCache>
            </c:numRef>
          </c:yVal>
          <c:smooth val="0"/>
          <c:extLst>
            <c:ext xmlns:c16="http://schemas.microsoft.com/office/drawing/2014/chart" uri="{C3380CC4-5D6E-409C-BE32-E72D297353CC}">
              <c16:uniqueId val="{00000002-723F-48A4-868B-B617AF4C3240}"/>
            </c:ext>
          </c:extLst>
        </c:ser>
        <c:dLbls>
          <c:showLegendKey val="0"/>
          <c:showVal val="0"/>
          <c:showCatName val="0"/>
          <c:showSerName val="0"/>
          <c:showPercent val="0"/>
          <c:showBubbleSize val="0"/>
        </c:dLbls>
        <c:axId val="48650112"/>
        <c:axId val="48672768"/>
      </c:scatterChart>
      <c:valAx>
        <c:axId val="48672768"/>
        <c:scaling>
          <c:orientation val="minMax"/>
          <c:max val="7.5"/>
          <c:min val="2"/>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Data'!$A$2:$A$4</c:f>
              <c:numCache>
                <c:formatCode>General</c:formatCode>
                <c:ptCount val="3"/>
                <c:pt idx="0">
                  <c:v>0</c:v>
                </c:pt>
                <c:pt idx="1">
                  <c:v>1</c:v>
                </c:pt>
                <c:pt idx="2">
                  <c:v>2</c:v>
                </c:pt>
              </c:numCache>
            </c:numRef>
          </c:xVal>
          <c:yVal>
            <c:numRef>
              <c:f>'Chart Data'!$B$2:$B$4</c:f>
              <c:numCache>
                <c:formatCode>General</c:formatCode>
                <c:ptCount val="3"/>
                <c:pt idx="0">
                  <c:v>73.646865606999995</c:v>
                </c:pt>
                <c:pt idx="1">
                  <c:v>93.134746451200002</c:v>
                </c:pt>
                <c:pt idx="2">
                  <c:v>109.54162624999999</c:v>
                </c:pt>
              </c:numCache>
            </c:numRef>
          </c:yVal>
          <c:smooth val="0"/>
          <c:extLst>
            <c:ext xmlns:c16="http://schemas.microsoft.com/office/drawing/2014/chart" uri="{C3380CC4-5D6E-409C-BE32-E72D297353CC}">
              <c16:uniqueId val="{00000000-B320-4CA6-B72B-2D13CD73AD53}"/>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Data'!$C$2:$C$4</c:f>
              <c:numCache>
                <c:formatCode>General</c:formatCode>
                <c:ptCount val="3"/>
                <c:pt idx="0">
                  <c:v>0</c:v>
                </c:pt>
                <c:pt idx="1">
                  <c:v>1</c:v>
                </c:pt>
                <c:pt idx="2">
                  <c:v>2</c:v>
                </c:pt>
              </c:numCache>
            </c:numRef>
          </c:xVal>
          <c:yVal>
            <c:numRef>
              <c:f>'Chart Data'!$D$2:$D$4</c:f>
              <c:numCache>
                <c:formatCode>General</c:formatCode>
                <c:ptCount val="3"/>
                <c:pt idx="0">
                  <c:v>31</c:v>
                </c:pt>
                <c:pt idx="1">
                  <c:v>42</c:v>
                </c:pt>
                <c:pt idx="2">
                  <c:v>49</c:v>
                </c:pt>
              </c:numCache>
            </c:numRef>
          </c:yVal>
          <c:smooth val="0"/>
          <c:extLst>
            <c:ext xmlns:c16="http://schemas.microsoft.com/office/drawing/2014/chart" uri="{C3380CC4-5D6E-409C-BE32-E72D297353CC}">
              <c16:uniqueId val="{00000001-B320-4CA6-B72B-2D13CD73AD53}"/>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4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723F-48A4-868B-B617AF4C3240}"/>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723F-48A4-868B-B617AF4C3240}"/>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3.1507763036099998</c:v>
                </c:pt>
                <c:pt idx="1">
                  <c:v>2.4067417931400001</c:v>
                </c:pt>
              </c:numCache>
            </c:numRef>
          </c:yVal>
          <c:smooth val="0"/>
          <c:extLst>
            <c:ext xmlns:c16="http://schemas.microsoft.com/office/drawing/2014/chart" uri="{C3380CC4-5D6E-409C-BE32-E72D297353CC}">
              <c16:uniqueId val="{00000002-723F-48A4-868B-B617AF4C3240}"/>
            </c:ext>
          </c:extLst>
        </c:ser>
        <c:dLbls>
          <c:showLegendKey val="0"/>
          <c:showVal val="0"/>
          <c:showCatName val="0"/>
          <c:showSerName val="0"/>
          <c:showPercent val="0"/>
          <c:showBubbleSize val="0"/>
        </c:dLbls>
        <c:axId val="48650112"/>
        <c:axId val="48672768"/>
      </c:scatterChart>
      <c:valAx>
        <c:axId val="48672768"/>
        <c:scaling>
          <c:orientation val="minMax"/>
          <c:max val="7.5"/>
          <c:min val="2"/>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Data'!$A$2:$A$7</c:f>
              <c:numCache>
                <c:formatCode>General</c:formatCode>
                <c:ptCount val="6"/>
                <c:pt idx="0">
                  <c:v>0</c:v>
                </c:pt>
                <c:pt idx="1">
                  <c:v>1</c:v>
                </c:pt>
                <c:pt idx="2">
                  <c:v>2</c:v>
                </c:pt>
                <c:pt idx="3">
                  <c:v>3</c:v>
                </c:pt>
                <c:pt idx="4">
                  <c:v>4</c:v>
                </c:pt>
                <c:pt idx="5">
                  <c:v>5</c:v>
                </c:pt>
              </c:numCache>
            </c:numRef>
          </c:xVal>
          <c:yVal>
            <c:numRef>
              <c:f>'Chart Data'!$B$2:$B$7</c:f>
              <c:numCache>
                <c:formatCode>General</c:formatCode>
                <c:ptCount val="6"/>
                <c:pt idx="0">
                  <c:v>73.646865606999995</c:v>
                </c:pt>
                <c:pt idx="1">
                  <c:v>93.134746451200002</c:v>
                </c:pt>
                <c:pt idx="2">
                  <c:v>109.54162624999999</c:v>
                </c:pt>
                <c:pt idx="3">
                  <c:v>146.23757175099999</c:v>
                </c:pt>
                <c:pt idx="4">
                  <c:v>118.156418379</c:v>
                </c:pt>
                <c:pt idx="5">
                  <c:v>151.97824445399999</c:v>
                </c:pt>
              </c:numCache>
            </c:numRef>
          </c:yVal>
          <c:smooth val="0"/>
          <c:extLst>
            <c:ext xmlns:c16="http://schemas.microsoft.com/office/drawing/2014/chart" uri="{C3380CC4-5D6E-409C-BE32-E72D297353CC}">
              <c16:uniqueId val="{00000000-B320-4CA6-B72B-2D13CD73AD53}"/>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Data'!$C$2:$C$7</c:f>
              <c:numCache>
                <c:formatCode>General</c:formatCode>
                <c:ptCount val="6"/>
                <c:pt idx="0">
                  <c:v>0</c:v>
                </c:pt>
                <c:pt idx="1">
                  <c:v>1</c:v>
                </c:pt>
                <c:pt idx="2">
                  <c:v>2</c:v>
                </c:pt>
                <c:pt idx="3">
                  <c:v>3</c:v>
                </c:pt>
                <c:pt idx="4">
                  <c:v>4</c:v>
                </c:pt>
                <c:pt idx="5">
                  <c:v>5</c:v>
                </c:pt>
              </c:numCache>
            </c:numRef>
          </c:xVal>
          <c:yVal>
            <c:numRef>
              <c:f>'Chart Data'!$D$2:$D$7</c:f>
              <c:numCache>
                <c:formatCode>General</c:formatCode>
                <c:ptCount val="6"/>
                <c:pt idx="0">
                  <c:v>31</c:v>
                </c:pt>
                <c:pt idx="1">
                  <c:v>42</c:v>
                </c:pt>
                <c:pt idx="2">
                  <c:v>49</c:v>
                </c:pt>
                <c:pt idx="3">
                  <c:v>49</c:v>
                </c:pt>
                <c:pt idx="4">
                  <c:v>50</c:v>
                </c:pt>
                <c:pt idx="5">
                  <c:v>49</c:v>
                </c:pt>
              </c:numCache>
            </c:numRef>
          </c:yVal>
          <c:smooth val="0"/>
          <c:extLst>
            <c:ext xmlns:c16="http://schemas.microsoft.com/office/drawing/2014/chart" uri="{C3380CC4-5D6E-409C-BE32-E72D297353CC}">
              <c16:uniqueId val="{00000001-B320-4CA6-B72B-2D13CD73AD53}"/>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4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723F-48A4-868B-B617AF4C3240}"/>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723F-48A4-868B-B617AF4C3240}"/>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6.1666191459800004</c:v>
                </c:pt>
                <c:pt idx="1">
                  <c:v>6.9604515149699999</c:v>
                </c:pt>
              </c:numCache>
            </c:numRef>
          </c:yVal>
          <c:smooth val="0"/>
          <c:extLst>
            <c:ext xmlns:c16="http://schemas.microsoft.com/office/drawing/2014/chart" uri="{C3380CC4-5D6E-409C-BE32-E72D297353CC}">
              <c16:uniqueId val="{00000002-723F-48A4-868B-B617AF4C3240}"/>
            </c:ext>
          </c:extLst>
        </c:ser>
        <c:dLbls>
          <c:showLegendKey val="0"/>
          <c:showVal val="0"/>
          <c:showCatName val="0"/>
          <c:showSerName val="0"/>
          <c:showPercent val="0"/>
          <c:showBubbleSize val="0"/>
        </c:dLbls>
        <c:axId val="48650112"/>
        <c:axId val="48672768"/>
      </c:scatterChart>
      <c:valAx>
        <c:axId val="48672768"/>
        <c:scaling>
          <c:orientation val="minMax"/>
          <c:max val="7.5"/>
          <c:min val="2"/>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Data'!$A$2:$A$12</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'Chart Data'!$B$2:$B$12</c:f>
              <c:numCache>
                <c:formatCode>General</c:formatCode>
                <c:ptCount val="11"/>
                <c:pt idx="0">
                  <c:v>73.646865606999995</c:v>
                </c:pt>
                <c:pt idx="1">
                  <c:v>93.134746451200002</c:v>
                </c:pt>
                <c:pt idx="2">
                  <c:v>109.54162624999999</c:v>
                </c:pt>
                <c:pt idx="3">
                  <c:v>146.23757175099999</c:v>
                </c:pt>
                <c:pt idx="4">
                  <c:v>118.156418379</c:v>
                </c:pt>
                <c:pt idx="5">
                  <c:v>151.97824445399999</c:v>
                </c:pt>
                <c:pt idx="6">
                  <c:v>114.774964588</c:v>
                </c:pt>
                <c:pt idx="7">
                  <c:v>148.01419930399999</c:v>
                </c:pt>
                <c:pt idx="8">
                  <c:v>113.57799269</c:v>
                </c:pt>
                <c:pt idx="9">
                  <c:v>145.668826701</c:v>
                </c:pt>
                <c:pt idx="10">
                  <c:v>111.999193678</c:v>
                </c:pt>
              </c:numCache>
            </c:numRef>
          </c:yVal>
          <c:smooth val="0"/>
          <c:extLst>
            <c:ext xmlns:c16="http://schemas.microsoft.com/office/drawing/2014/chart" uri="{C3380CC4-5D6E-409C-BE32-E72D297353CC}">
              <c16:uniqueId val="{00000000-B320-4CA6-B72B-2D13CD73AD53}"/>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Data'!$C$2:$C$12</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'Chart Data'!$D$2:$D$12</c:f>
              <c:numCache>
                <c:formatCode>General</c:formatCode>
                <c:ptCount val="11"/>
                <c:pt idx="0">
                  <c:v>31</c:v>
                </c:pt>
                <c:pt idx="1">
                  <c:v>42</c:v>
                </c:pt>
                <c:pt idx="2">
                  <c:v>49</c:v>
                </c:pt>
                <c:pt idx="3">
                  <c:v>49</c:v>
                </c:pt>
                <c:pt idx="4">
                  <c:v>50</c:v>
                </c:pt>
                <c:pt idx="5">
                  <c:v>49</c:v>
                </c:pt>
                <c:pt idx="6">
                  <c:v>50</c:v>
                </c:pt>
                <c:pt idx="7">
                  <c:v>49</c:v>
                </c:pt>
                <c:pt idx="8">
                  <c:v>49</c:v>
                </c:pt>
                <c:pt idx="9">
                  <c:v>49</c:v>
                </c:pt>
                <c:pt idx="10">
                  <c:v>49</c:v>
                </c:pt>
              </c:numCache>
            </c:numRef>
          </c:yVal>
          <c:smooth val="0"/>
          <c:extLst>
            <c:ext xmlns:c16="http://schemas.microsoft.com/office/drawing/2014/chart" uri="{C3380CC4-5D6E-409C-BE32-E72D297353CC}">
              <c16:uniqueId val="{00000001-B320-4CA6-B72B-2D13CD73AD53}"/>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4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Class 0</c:v>
          </c:tx>
          <c:spPr>
            <a:ln w="0">
              <a:noFill/>
            </a:ln>
          </c:spPr>
          <c:marker>
            <c:symbol val="circle"/>
            <c:size val="5"/>
            <c:spPr>
              <a:solidFill>
                <a:srgbClr val="326CB2"/>
              </a:solidFill>
              <a:ln w="12700">
                <a:solidFill>
                  <a:srgbClr val="326CB2"/>
                </a:solidFill>
              </a:ln>
            </c:spPr>
          </c:marker>
          <c:xVal>
            <c:numRef>
              <c:f>'Chart Data'!$A$2:$A$51</c:f>
              <c:numCache>
                <c:formatCode>General</c:formatCode>
                <c:ptCount val="50"/>
                <c:pt idx="0">
                  <c:v>7.0209999999999999</c:v>
                </c:pt>
                <c:pt idx="1">
                  <c:v>6.3730000000000002</c:v>
                </c:pt>
                <c:pt idx="2">
                  <c:v>6.9139999999999997</c:v>
                </c:pt>
                <c:pt idx="3">
                  <c:v>5.4260000000000002</c:v>
                </c:pt>
                <c:pt idx="4">
                  <c:v>6.4850000000000003</c:v>
                </c:pt>
                <c:pt idx="5">
                  <c:v>5.7409999999999997</c:v>
                </c:pt>
                <c:pt idx="6">
                  <c:v>6.26</c:v>
                </c:pt>
                <c:pt idx="7">
                  <c:v>4.8940000000000001</c:v>
                </c:pt>
                <c:pt idx="8">
                  <c:v>6.5979999999999999</c:v>
                </c:pt>
                <c:pt idx="9">
                  <c:v>5.2</c:v>
                </c:pt>
                <c:pt idx="10">
                  <c:v>4.9980000000000002</c:v>
                </c:pt>
                <c:pt idx="11">
                  <c:v>5.9219999999999997</c:v>
                </c:pt>
                <c:pt idx="12">
                  <c:v>6.0030000000000001</c:v>
                </c:pt>
                <c:pt idx="13">
                  <c:v>6.0949999999999998</c:v>
                </c:pt>
                <c:pt idx="14">
                  <c:v>5.5839999999999996</c:v>
                </c:pt>
                <c:pt idx="15">
                  <c:v>6.7050000000000001</c:v>
                </c:pt>
                <c:pt idx="16">
                  <c:v>5.58</c:v>
                </c:pt>
                <c:pt idx="17">
                  <c:v>5.8330000000000002</c:v>
                </c:pt>
                <c:pt idx="18">
                  <c:v>6.1769999999999996</c:v>
                </c:pt>
                <c:pt idx="19">
                  <c:v>5.6029999999999998</c:v>
                </c:pt>
                <c:pt idx="20">
                  <c:v>5.8689999999999998</c:v>
                </c:pt>
                <c:pt idx="21">
                  <c:v>6.1159999999999997</c:v>
                </c:pt>
                <c:pt idx="22">
                  <c:v>6.29</c:v>
                </c:pt>
                <c:pt idx="23">
                  <c:v>6.0650000000000004</c:v>
                </c:pt>
                <c:pt idx="24">
                  <c:v>6.4550000000000001</c:v>
                </c:pt>
                <c:pt idx="25">
                  <c:v>6.5880000000000001</c:v>
                </c:pt>
                <c:pt idx="26">
                  <c:v>6.7990000000000004</c:v>
                </c:pt>
                <c:pt idx="27">
                  <c:v>6.6630000000000003</c:v>
                </c:pt>
                <c:pt idx="28">
                  <c:v>6.0339999999999998</c:v>
                </c:pt>
                <c:pt idx="29">
                  <c:v>5.694</c:v>
                </c:pt>
                <c:pt idx="30">
                  <c:v>5.4050000000000002</c:v>
                </c:pt>
                <c:pt idx="31">
                  <c:v>5.4939999999999998</c:v>
                </c:pt>
                <c:pt idx="32">
                  <c:v>5.8040000000000003</c:v>
                </c:pt>
                <c:pt idx="33">
                  <c:v>5.9340000000000002</c:v>
                </c:pt>
                <c:pt idx="34">
                  <c:v>5.3579999999999997</c:v>
                </c:pt>
                <c:pt idx="35">
                  <c:v>5.952</c:v>
                </c:pt>
                <c:pt idx="36">
                  <c:v>6.7149999999999999</c:v>
                </c:pt>
                <c:pt idx="37">
                  <c:v>6.3419999999999996</c:v>
                </c:pt>
                <c:pt idx="38">
                  <c:v>5.625</c:v>
                </c:pt>
                <c:pt idx="39">
                  <c:v>5.5149999999999997</c:v>
                </c:pt>
                <c:pt idx="40">
                  <c:v>5.47</c:v>
                </c:pt>
                <c:pt idx="41">
                  <c:v>6.1470000000000002</c:v>
                </c:pt>
                <c:pt idx="42">
                  <c:v>5.8230000000000004</c:v>
                </c:pt>
                <c:pt idx="43">
                  <c:v>5.008</c:v>
                </c:pt>
                <c:pt idx="44">
                  <c:v>5.5359999999999996</c:v>
                </c:pt>
                <c:pt idx="45">
                  <c:v>5.7350000000000003</c:v>
                </c:pt>
                <c:pt idx="46">
                  <c:v>5.6459999999999999</c:v>
                </c:pt>
                <c:pt idx="47">
                  <c:v>6.2290000000000001</c:v>
                </c:pt>
                <c:pt idx="48">
                  <c:v>5.0999999999999996</c:v>
                </c:pt>
                <c:pt idx="49">
                  <c:v>5.7130000000000001</c:v>
                </c:pt>
              </c:numCache>
            </c:numRef>
          </c:xVal>
          <c:yVal>
            <c:numRef>
              <c:f>'Chart Data'!$B$2:$B$51</c:f>
              <c:numCache>
                <c:formatCode>General</c:formatCode>
                <c:ptCount val="50"/>
                <c:pt idx="0">
                  <c:v>4.6749999999999998</c:v>
                </c:pt>
                <c:pt idx="1">
                  <c:v>4.4729999999999999</c:v>
                </c:pt>
                <c:pt idx="2">
                  <c:v>4.8090000000000002</c:v>
                </c:pt>
                <c:pt idx="3">
                  <c:v>4.1559999999999997</c:v>
                </c:pt>
                <c:pt idx="4">
                  <c:v>4.5609999999999999</c:v>
                </c:pt>
                <c:pt idx="5">
                  <c:v>4.5890000000000004</c:v>
                </c:pt>
                <c:pt idx="6">
                  <c:v>4.3840000000000003</c:v>
                </c:pt>
                <c:pt idx="7">
                  <c:v>3.3039999999999998</c:v>
                </c:pt>
                <c:pt idx="8">
                  <c:v>4.6509999999999998</c:v>
                </c:pt>
                <c:pt idx="9">
                  <c:v>3.9</c:v>
                </c:pt>
                <c:pt idx="10">
                  <c:v>3.57</c:v>
                </c:pt>
                <c:pt idx="11">
                  <c:v>4.1210000000000004</c:v>
                </c:pt>
                <c:pt idx="12">
                  <c:v>3.875</c:v>
                </c:pt>
                <c:pt idx="13">
                  <c:v>4.875</c:v>
                </c:pt>
                <c:pt idx="14">
                  <c:v>3.3660000000000001</c:v>
                </c:pt>
                <c:pt idx="15">
                  <c:v>4.2910000000000004</c:v>
                </c:pt>
                <c:pt idx="16">
                  <c:v>4.6710000000000003</c:v>
                </c:pt>
                <c:pt idx="17">
                  <c:v>4.3470000000000004</c:v>
                </c:pt>
                <c:pt idx="18">
                  <c:v>4.6289999999999996</c:v>
                </c:pt>
                <c:pt idx="19">
                  <c:v>3.706</c:v>
                </c:pt>
                <c:pt idx="20">
                  <c:v>4.7009999999999996</c:v>
                </c:pt>
                <c:pt idx="21">
                  <c:v>3.9620000000000002</c:v>
                </c:pt>
                <c:pt idx="22">
                  <c:v>4.718</c:v>
                </c:pt>
                <c:pt idx="23">
                  <c:v>4.5410000000000004</c:v>
                </c:pt>
                <c:pt idx="24">
                  <c:v>4.2270000000000003</c:v>
                </c:pt>
                <c:pt idx="25">
                  <c:v>4.3070000000000004</c:v>
                </c:pt>
                <c:pt idx="26">
                  <c:v>4.8730000000000002</c:v>
                </c:pt>
                <c:pt idx="27">
                  <c:v>4.9459999999999997</c:v>
                </c:pt>
                <c:pt idx="28">
                  <c:v>4.2080000000000002</c:v>
                </c:pt>
                <c:pt idx="29">
                  <c:v>3.4809999999999999</c:v>
                </c:pt>
                <c:pt idx="30">
                  <c:v>3.8119999999999998</c:v>
                </c:pt>
                <c:pt idx="31">
                  <c:v>3.5870000000000002</c:v>
                </c:pt>
                <c:pt idx="32">
                  <c:v>3.5960000000000001</c:v>
                </c:pt>
                <c:pt idx="33">
                  <c:v>5.3769999999999998</c:v>
                </c:pt>
                <c:pt idx="34">
                  <c:v>4.4669999999999996</c:v>
                </c:pt>
                <c:pt idx="35">
                  <c:v>4.4550000000000001</c:v>
                </c:pt>
                <c:pt idx="36">
                  <c:v>4.6349999999999998</c:v>
                </c:pt>
                <c:pt idx="37">
                  <c:v>4.1390000000000002</c:v>
                </c:pt>
                <c:pt idx="38">
                  <c:v>4.0469999999999997</c:v>
                </c:pt>
                <c:pt idx="39">
                  <c:v>3.9319999999999999</c:v>
                </c:pt>
                <c:pt idx="40">
                  <c:v>4.5570000000000004</c:v>
                </c:pt>
                <c:pt idx="41">
                  <c:v>4.2960000000000003</c:v>
                </c:pt>
                <c:pt idx="42">
                  <c:v>3.9359999999999999</c:v>
                </c:pt>
                <c:pt idx="43">
                  <c:v>3.226</c:v>
                </c:pt>
                <c:pt idx="44">
                  <c:v>4.2709999999999999</c:v>
                </c:pt>
                <c:pt idx="45">
                  <c:v>4.1619999999999999</c:v>
                </c:pt>
                <c:pt idx="46">
                  <c:v>4.3860000000000001</c:v>
                </c:pt>
                <c:pt idx="47">
                  <c:v>4.05</c:v>
                </c:pt>
                <c:pt idx="48">
                  <c:v>3</c:v>
                </c:pt>
                <c:pt idx="49">
                  <c:v>3.8220000000000001</c:v>
                </c:pt>
              </c:numCache>
            </c:numRef>
          </c:yVal>
          <c:smooth val="0"/>
          <c:extLst>
            <c:ext xmlns:c16="http://schemas.microsoft.com/office/drawing/2014/chart" uri="{C3380CC4-5D6E-409C-BE32-E72D297353CC}">
              <c16:uniqueId val="{00000000-3E1F-4847-9300-AD178A42F29B}"/>
            </c:ext>
          </c:extLst>
        </c:ser>
        <c:ser>
          <c:idx val="1"/>
          <c:order val="1"/>
          <c:tx>
            <c:v>Class 1</c:v>
          </c:tx>
          <c:spPr>
            <a:ln w="0">
              <a:noFill/>
            </a:ln>
          </c:spPr>
          <c:marker>
            <c:symbol val="triangle"/>
            <c:size val="5"/>
            <c:spPr>
              <a:solidFill>
                <a:srgbClr val="C45C28"/>
              </a:solidFill>
              <a:ln w="12700">
                <a:solidFill>
                  <a:srgbClr val="C45C28"/>
                </a:solidFill>
              </a:ln>
            </c:spPr>
          </c:marker>
          <c:xVal>
            <c:numRef>
              <c:f>'Chart Data'!$C$2:$C$51</c:f>
              <c:numCache>
                <c:formatCode>General</c:formatCode>
                <c:ptCount val="50"/>
                <c:pt idx="0">
                  <c:v>6.3259999999999996</c:v>
                </c:pt>
                <c:pt idx="1">
                  <c:v>5.7859999999999996</c:v>
                </c:pt>
                <c:pt idx="2">
                  <c:v>7.0949999999999998</c:v>
                </c:pt>
                <c:pt idx="3">
                  <c:v>6.2140000000000004</c:v>
                </c:pt>
                <c:pt idx="4">
                  <c:v>6.569</c:v>
                </c:pt>
                <c:pt idx="5">
                  <c:v>7.5679999999999996</c:v>
                </c:pt>
                <c:pt idx="6">
                  <c:v>4.9000000000000004</c:v>
                </c:pt>
                <c:pt idx="7">
                  <c:v>7.3</c:v>
                </c:pt>
                <c:pt idx="8">
                  <c:v>6.7279999999999998</c:v>
                </c:pt>
                <c:pt idx="9">
                  <c:v>7.1660000000000004</c:v>
                </c:pt>
                <c:pt idx="10">
                  <c:v>6.516</c:v>
                </c:pt>
                <c:pt idx="11">
                  <c:v>6.4329999999999998</c:v>
                </c:pt>
                <c:pt idx="12">
                  <c:v>6.8209999999999997</c:v>
                </c:pt>
                <c:pt idx="13">
                  <c:v>5.6719999999999997</c:v>
                </c:pt>
                <c:pt idx="14">
                  <c:v>5.8220000000000001</c:v>
                </c:pt>
                <c:pt idx="15">
                  <c:v>6.351</c:v>
                </c:pt>
                <c:pt idx="16">
                  <c:v>6.577</c:v>
                </c:pt>
                <c:pt idx="17">
                  <c:v>7.6829999999999998</c:v>
                </c:pt>
                <c:pt idx="18">
                  <c:v>7.6749999999999998</c:v>
                </c:pt>
                <c:pt idx="19">
                  <c:v>6.0129999999999999</c:v>
                </c:pt>
                <c:pt idx="20">
                  <c:v>6.9089999999999998</c:v>
                </c:pt>
                <c:pt idx="21">
                  <c:v>5.5650000000000004</c:v>
                </c:pt>
                <c:pt idx="22">
                  <c:v>7.7750000000000004</c:v>
                </c:pt>
                <c:pt idx="23">
                  <c:v>6.4029999999999996</c:v>
                </c:pt>
                <c:pt idx="24">
                  <c:v>6.766</c:v>
                </c:pt>
                <c:pt idx="25">
                  <c:v>7.2530000000000001</c:v>
                </c:pt>
                <c:pt idx="26">
                  <c:v>6.2080000000000002</c:v>
                </c:pt>
                <c:pt idx="27">
                  <c:v>6.1260000000000003</c:v>
                </c:pt>
                <c:pt idx="28">
                  <c:v>6.3810000000000002</c:v>
                </c:pt>
                <c:pt idx="29">
                  <c:v>7.1859999999999999</c:v>
                </c:pt>
                <c:pt idx="30">
                  <c:v>7.4</c:v>
                </c:pt>
                <c:pt idx="31">
                  <c:v>7.9</c:v>
                </c:pt>
                <c:pt idx="32">
                  <c:v>6.4939999999999998</c:v>
                </c:pt>
                <c:pt idx="33">
                  <c:v>6.2380000000000004</c:v>
                </c:pt>
                <c:pt idx="34">
                  <c:v>6.048</c:v>
                </c:pt>
                <c:pt idx="35">
                  <c:v>7.7</c:v>
                </c:pt>
                <c:pt idx="36">
                  <c:v>6.2679999999999998</c:v>
                </c:pt>
                <c:pt idx="37">
                  <c:v>6.4640000000000004</c:v>
                </c:pt>
                <c:pt idx="38">
                  <c:v>5.9820000000000002</c:v>
                </c:pt>
                <c:pt idx="39">
                  <c:v>6.9459999999999997</c:v>
                </c:pt>
                <c:pt idx="40">
                  <c:v>6.6909999999999998</c:v>
                </c:pt>
                <c:pt idx="41">
                  <c:v>6.875</c:v>
                </c:pt>
                <c:pt idx="42">
                  <c:v>5.7080000000000002</c:v>
                </c:pt>
                <c:pt idx="43">
                  <c:v>6.8419999999999996</c:v>
                </c:pt>
                <c:pt idx="44">
                  <c:v>6.6520000000000001</c:v>
                </c:pt>
                <c:pt idx="45">
                  <c:v>6.7460000000000004</c:v>
                </c:pt>
                <c:pt idx="46">
                  <c:v>6.3209999999999997</c:v>
                </c:pt>
                <c:pt idx="47">
                  <c:v>6.5460000000000003</c:v>
                </c:pt>
                <c:pt idx="48">
                  <c:v>6.1559999999999997</c:v>
                </c:pt>
                <c:pt idx="49">
                  <c:v>5.9</c:v>
                </c:pt>
              </c:numCache>
            </c:numRef>
          </c:xVal>
          <c:yVal>
            <c:numRef>
              <c:f>'Chart Data'!$D$2:$D$51</c:f>
              <c:numCache>
                <c:formatCode>General</c:formatCode>
                <c:ptCount val="50"/>
                <c:pt idx="0">
                  <c:v>6.0309999999999997</c:v>
                </c:pt>
                <c:pt idx="1">
                  <c:v>4.9580000000000002</c:v>
                </c:pt>
                <c:pt idx="2">
                  <c:v>5.9130000000000003</c:v>
                </c:pt>
                <c:pt idx="3">
                  <c:v>5.9359999999999999</c:v>
                </c:pt>
                <c:pt idx="4">
                  <c:v>6.07</c:v>
                </c:pt>
                <c:pt idx="5">
                  <c:v>6.6189999999999998</c:v>
                </c:pt>
                <c:pt idx="6">
                  <c:v>4.5</c:v>
                </c:pt>
                <c:pt idx="7">
                  <c:v>6.3</c:v>
                </c:pt>
                <c:pt idx="8">
                  <c:v>6.0869999999999997</c:v>
                </c:pt>
                <c:pt idx="9">
                  <c:v>6.2080000000000002</c:v>
                </c:pt>
                <c:pt idx="10">
                  <c:v>4.8949999999999996</c:v>
                </c:pt>
                <c:pt idx="11">
                  <c:v>5.14</c:v>
                </c:pt>
                <c:pt idx="12">
                  <c:v>5.4539999999999997</c:v>
                </c:pt>
                <c:pt idx="13">
                  <c:v>4.8840000000000003</c:v>
                </c:pt>
                <c:pt idx="14">
                  <c:v>5.2889999999999997</c:v>
                </c:pt>
                <c:pt idx="15">
                  <c:v>5.3849999999999998</c:v>
                </c:pt>
                <c:pt idx="16">
                  <c:v>5.5620000000000003</c:v>
                </c:pt>
                <c:pt idx="17">
                  <c:v>6.5609999999999999</c:v>
                </c:pt>
                <c:pt idx="18">
                  <c:v>6.9480000000000004</c:v>
                </c:pt>
                <c:pt idx="19">
                  <c:v>5.1210000000000004</c:v>
                </c:pt>
                <c:pt idx="20">
                  <c:v>5.7380000000000004</c:v>
                </c:pt>
                <c:pt idx="21">
                  <c:v>5.016</c:v>
                </c:pt>
                <c:pt idx="22">
                  <c:v>6.7720000000000002</c:v>
                </c:pt>
                <c:pt idx="23">
                  <c:v>4.806</c:v>
                </c:pt>
                <c:pt idx="24">
                  <c:v>5.758</c:v>
                </c:pt>
                <c:pt idx="25">
                  <c:v>5.9809999999999999</c:v>
                </c:pt>
                <c:pt idx="26">
                  <c:v>4.9630000000000001</c:v>
                </c:pt>
                <c:pt idx="27">
                  <c:v>5.2080000000000002</c:v>
                </c:pt>
                <c:pt idx="28">
                  <c:v>5.7190000000000003</c:v>
                </c:pt>
                <c:pt idx="29">
                  <c:v>5.6980000000000004</c:v>
                </c:pt>
                <c:pt idx="30">
                  <c:v>6.1</c:v>
                </c:pt>
                <c:pt idx="31">
                  <c:v>6.4</c:v>
                </c:pt>
                <c:pt idx="32">
                  <c:v>5.8070000000000004</c:v>
                </c:pt>
                <c:pt idx="33">
                  <c:v>5.2960000000000003</c:v>
                </c:pt>
                <c:pt idx="34">
                  <c:v>5.6760000000000002</c:v>
                </c:pt>
                <c:pt idx="35">
                  <c:v>6.1</c:v>
                </c:pt>
                <c:pt idx="36">
                  <c:v>5.63</c:v>
                </c:pt>
                <c:pt idx="37">
                  <c:v>5.4729999999999999</c:v>
                </c:pt>
                <c:pt idx="38">
                  <c:v>4.7880000000000003</c:v>
                </c:pt>
                <c:pt idx="39">
                  <c:v>5.41</c:v>
                </c:pt>
                <c:pt idx="40">
                  <c:v>5.4950000000000001</c:v>
                </c:pt>
                <c:pt idx="41">
                  <c:v>5.1349999999999998</c:v>
                </c:pt>
                <c:pt idx="42">
                  <c:v>5.2130000000000001</c:v>
                </c:pt>
                <c:pt idx="43">
                  <c:v>6.02</c:v>
                </c:pt>
                <c:pt idx="44">
                  <c:v>5.8259999999999996</c:v>
                </c:pt>
                <c:pt idx="45">
                  <c:v>5.19</c:v>
                </c:pt>
                <c:pt idx="46">
                  <c:v>5.0510000000000002</c:v>
                </c:pt>
                <c:pt idx="47">
                  <c:v>5.2279999999999998</c:v>
                </c:pt>
                <c:pt idx="48">
                  <c:v>5.5419999999999998</c:v>
                </c:pt>
                <c:pt idx="49">
                  <c:v>5.0339999999999998</c:v>
                </c:pt>
              </c:numCache>
            </c:numRef>
          </c:yVal>
          <c:smooth val="0"/>
          <c:extLst>
            <c:ext xmlns:c16="http://schemas.microsoft.com/office/drawing/2014/chart" uri="{C3380CC4-5D6E-409C-BE32-E72D297353CC}">
              <c16:uniqueId val="{00000001-3E1F-4847-9300-AD178A42F29B}"/>
            </c:ext>
          </c:extLst>
        </c:ser>
        <c:ser>
          <c:idx val="2"/>
          <c:order val="2"/>
          <c:tx>
            <c:v>Decision boundary</c:v>
          </c:tx>
          <c:spPr>
            <a:ln w="26670">
              <a:solidFill>
                <a:srgbClr val="087F83"/>
              </a:solidFill>
              <a:prstDash val="solid"/>
            </a:ln>
          </c:spPr>
          <c:marker>
            <c:symbol val="none"/>
          </c:marker>
          <c:xVal>
            <c:numRef>
              <c:f>'Chart Data'!$E$2:$E$3</c:f>
              <c:numCache>
                <c:formatCode>General</c:formatCode>
                <c:ptCount val="2"/>
                <c:pt idx="0">
                  <c:v>4.5</c:v>
                </c:pt>
                <c:pt idx="1">
                  <c:v>8</c:v>
                </c:pt>
              </c:numCache>
            </c:numRef>
          </c:xVal>
          <c:yVal>
            <c:numRef>
              <c:f>'Chart Data'!$F$2:$F$3</c:f>
              <c:numCache>
                <c:formatCode>General</c:formatCode>
                <c:ptCount val="2"/>
                <c:pt idx="0">
                  <c:v>5.7334345603500001</c:v>
                </c:pt>
                <c:pt idx="1">
                  <c:v>6.7885371964100001</c:v>
                </c:pt>
              </c:numCache>
            </c:numRef>
          </c:yVal>
          <c:smooth val="0"/>
          <c:extLst>
            <c:ext xmlns:c16="http://schemas.microsoft.com/office/drawing/2014/chart" uri="{C3380CC4-5D6E-409C-BE32-E72D297353CC}">
              <c16:uniqueId val="{00000002-3E1F-4847-9300-AD178A42F29B}"/>
            </c:ext>
          </c:extLst>
        </c:ser>
        <c:dLbls>
          <c:showLegendKey val="0"/>
          <c:showVal val="0"/>
          <c:showCatName val="0"/>
          <c:showSerName val="0"/>
          <c:showPercent val="0"/>
          <c:showBubbleSize val="0"/>
        </c:dLbls>
        <c:axId val="48650112"/>
        <c:axId val="48672768"/>
      </c:scatterChart>
      <c:valAx>
        <c:axId val="48672768"/>
        <c:scaling>
          <c:orientation val="minMax"/>
          <c:max val="7.5"/>
          <c:min val="2"/>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1"/>
      </c:valAx>
      <c:valAx>
        <c:axId val="48650112"/>
        <c:scaling>
          <c:orientation val="minMax"/>
          <c:max val="8"/>
          <c:min val="4.5"/>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x₁</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0.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Logistic loss / log 2</c:v>
          </c:tx>
          <c:spPr>
            <a:ln w="23813">
              <a:solidFill>
                <a:srgbClr val="087F83"/>
              </a:solidFill>
              <a:prstDash val="solid"/>
            </a:ln>
          </c:spPr>
          <c:marker>
            <c:symbol val="circle"/>
            <c:size val="4"/>
            <c:spPr>
              <a:solidFill>
                <a:srgbClr val="087F83"/>
              </a:solidFill>
              <a:ln w="12700">
                <a:solidFill>
                  <a:srgbClr val="087F83"/>
                </a:solidFill>
              </a:ln>
            </c:spPr>
          </c:marker>
          <c:xVal>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'Chart Data'!$B$2:$B$22</c:f>
              <c:numCache>
                <c:formatCode>General</c:formatCode>
                <c:ptCount val="21"/>
                <c:pt idx="0">
                  <c:v>73.646865606999995</c:v>
                </c:pt>
                <c:pt idx="1">
                  <c:v>93.134746451200002</c:v>
                </c:pt>
                <c:pt idx="2">
                  <c:v>109.54162624999999</c:v>
                </c:pt>
                <c:pt idx="3">
                  <c:v>146.23757175099999</c:v>
                </c:pt>
                <c:pt idx="4">
                  <c:v>118.156418379</c:v>
                </c:pt>
                <c:pt idx="5">
                  <c:v>151.97824445399999</c:v>
                </c:pt>
                <c:pt idx="6">
                  <c:v>114.774964588</c:v>
                </c:pt>
                <c:pt idx="7">
                  <c:v>148.01419930399999</c:v>
                </c:pt>
                <c:pt idx="8">
                  <c:v>113.57799269</c:v>
                </c:pt>
                <c:pt idx="9">
                  <c:v>145.668826701</c:v>
                </c:pt>
                <c:pt idx="10">
                  <c:v>111.999193678</c:v>
                </c:pt>
                <c:pt idx="11">
                  <c:v>143.020382767</c:v>
                </c:pt>
                <c:pt idx="12">
                  <c:v>110.47600264800001</c:v>
                </c:pt>
                <c:pt idx="13">
                  <c:v>140.40953783699999</c:v>
                </c:pt>
                <c:pt idx="14">
                  <c:v>108.93740411500001</c:v>
                </c:pt>
                <c:pt idx="15">
                  <c:v>137.782174129</c:v>
                </c:pt>
                <c:pt idx="16">
                  <c:v>107.393081138</c:v>
                </c:pt>
                <c:pt idx="17">
                  <c:v>135.14776822600001</c:v>
                </c:pt>
                <c:pt idx="18">
                  <c:v>105.84096080800001</c:v>
                </c:pt>
                <c:pt idx="19">
                  <c:v>132.50632424200001</c:v>
                </c:pt>
                <c:pt idx="20">
                  <c:v>104.28063310100001</c:v>
                </c:pt>
              </c:numCache>
            </c:numRef>
          </c:yVal>
          <c:smooth val="0"/>
          <c:extLst>
            <c:ext xmlns:c16="http://schemas.microsoft.com/office/drawing/2014/chart" uri="{C3380CC4-5D6E-409C-BE32-E72D297353CC}">
              <c16:uniqueId val="{00000000-F79B-4013-BD18-42AAA301E1A2}"/>
            </c:ext>
          </c:extLst>
        </c:ser>
        <c:ser>
          <c:idx val="1"/>
          <c:order val="1"/>
          <c:tx>
            <c:v>Number of mistakes</c:v>
          </c:tx>
          <c:spPr>
            <a:ln w="23813">
              <a:solidFill>
                <a:srgbClr val="C45C28"/>
              </a:solidFill>
              <a:prstDash val="solid"/>
            </a:ln>
          </c:spPr>
          <c:marker>
            <c:symbol val="circle"/>
            <c:size val="4"/>
            <c:spPr>
              <a:solidFill>
                <a:srgbClr val="C45C28"/>
              </a:solidFill>
              <a:ln w="12700">
                <a:solidFill>
                  <a:srgbClr val="C45C28"/>
                </a:solidFill>
              </a:ln>
            </c:spPr>
          </c:marker>
          <c:xVal>
            <c:numRef>
              <c:f>'Chart Data'!$C$2:$C$22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'Chart Data'!$D$2:$D$22</c:f>
              <c:numCache>
                <c:formatCode>General</c:formatCode>
                <c:ptCount val="21"/>
                <c:pt idx="0">
                  <c:v>31</c:v>
                </c:pt>
                <c:pt idx="1">
                  <c:v>42</c:v>
                </c:pt>
                <c:pt idx="2">
                  <c:v>49</c:v>
                </c:pt>
                <c:pt idx="3">
                  <c:v>49</c:v>
                </c:pt>
                <c:pt idx="4">
                  <c:v>50</c:v>
                </c:pt>
                <c:pt idx="5">
                  <c:v>49</c:v>
                </c:pt>
                <c:pt idx="6">
                  <c:v>50</c:v>
                </c:pt>
                <c:pt idx="7">
                  <c:v>49</c:v>
                </c:pt>
                <c:pt idx="8">
                  <c:v>49</c:v>
                </c:pt>
                <c:pt idx="9">
                  <c:v>49</c:v>
                </c:pt>
                <c:pt idx="10">
                  <c:v>49</c:v>
                </c:pt>
                <c:pt idx="11">
                  <c:v>49</c:v>
                </c:pt>
                <c:pt idx="12">
                  <c:v>49</c:v>
                </c:pt>
                <c:pt idx="13">
                  <c:v>49</c:v>
                </c:pt>
                <c:pt idx="14">
                  <c:v>49</c:v>
                </c:pt>
                <c:pt idx="15">
                  <c:v>48</c:v>
                </c:pt>
                <c:pt idx="16">
                  <c:v>49</c:v>
                </c:pt>
                <c:pt idx="17">
                  <c:v>48</c:v>
                </c:pt>
                <c:pt idx="18">
                  <c:v>48</c:v>
                </c:pt>
                <c:pt idx="19">
                  <c:v>47</c:v>
                </c:pt>
                <c:pt idx="20">
                  <c:v>48</c:v>
                </c:pt>
              </c:numCache>
            </c:numRef>
          </c:yVal>
          <c:smooth val="0"/>
          <c:extLst>
            <c:ext xmlns:c16="http://schemas.microsoft.com/office/drawing/2014/chart" uri="{C3380CC4-5D6E-409C-BE32-E72D297353CC}">
              <c16:uniqueId val="{00000001-F79B-4013-BD18-42AAA301E1A2}"/>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Loss or count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4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η = 0.001</c:v>
          </c:tx>
          <c:spPr>
            <a:ln w="23813">
              <a:solidFill>
                <a:srgbClr val="087F83"/>
              </a:solidFill>
              <a:prstDash val="solid"/>
            </a:ln>
          </c:spPr>
          <c:marker>
            <c:symbol val="circle"/>
            <c:size val="4"/>
            <c:spPr>
              <a:solidFill>
                <a:srgbClr val="087F83"/>
              </a:solidFill>
              <a:ln w="12700">
                <a:solidFill>
                  <a:srgbClr val="087F83"/>
                </a:solidFill>
              </a:ln>
            </c:spPr>
          </c:marker>
          <c:xVal>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'Chart Data'!$B$2:$B$22</c:f>
              <c:numCache>
                <c:formatCode>General</c:formatCode>
                <c:ptCount val="21"/>
                <c:pt idx="0">
                  <c:v>51.048117252499999</c:v>
                </c:pt>
                <c:pt idx="1">
                  <c:v>42.7328437173</c:v>
                </c:pt>
                <c:pt idx="2">
                  <c:v>41.668051132899997</c:v>
                </c:pt>
                <c:pt idx="3">
                  <c:v>41.4948232335</c:v>
                </c:pt>
                <c:pt idx="4">
                  <c:v>41.393241660000001</c:v>
                </c:pt>
                <c:pt idx="5">
                  <c:v>41.299969095500003</c:v>
                </c:pt>
                <c:pt idx="6">
                  <c:v>41.208133867599997</c:v>
                </c:pt>
                <c:pt idx="7">
                  <c:v>41.117053303100001</c:v>
                </c:pt>
                <c:pt idx="8">
                  <c:v>41.026652923599997</c:v>
                </c:pt>
                <c:pt idx="9">
                  <c:v>40.936919479899998</c:v>
                </c:pt>
                <c:pt idx="10">
                  <c:v>40.847845820700002</c:v>
                </c:pt>
                <c:pt idx="11">
                  <c:v>40.759425458000003</c:v>
                </c:pt>
                <c:pt idx="12">
                  <c:v>40.671652034399997</c:v>
                </c:pt>
                <c:pt idx="13">
                  <c:v>40.584519270599998</c:v>
                </c:pt>
                <c:pt idx="14">
                  <c:v>40.498020959599998</c:v>
                </c:pt>
                <c:pt idx="15">
                  <c:v>40.412150965400002</c:v>
                </c:pt>
                <c:pt idx="16">
                  <c:v>40.326903222200002</c:v>
                </c:pt>
                <c:pt idx="17">
                  <c:v>40.242271733099997</c:v>
                </c:pt>
                <c:pt idx="18">
                  <c:v>40.15825057</c:v>
                </c:pt>
                <c:pt idx="19">
                  <c:v>40.074833871999999</c:v>
                </c:pt>
                <c:pt idx="20">
                  <c:v>39.992015844900003</c:v>
                </c:pt>
              </c:numCache>
            </c:numRef>
          </c:yVal>
          <c:smooth val="0"/>
          <c:extLst>
            <c:ext xmlns:c16="http://schemas.microsoft.com/office/drawing/2014/chart" uri="{C3380CC4-5D6E-409C-BE32-E72D297353CC}">
              <c16:uniqueId val="{00000000-7968-497F-A0E4-6370050E8FF0}"/>
            </c:ext>
          </c:extLst>
        </c:ser>
        <c:ser>
          <c:idx val="1"/>
          <c:order val="1"/>
          <c:tx>
            <c:v>η = 0.002</c:v>
          </c:tx>
          <c:spPr>
            <a:ln w="23813">
              <a:solidFill>
                <a:srgbClr val="C45C28"/>
              </a:solidFill>
              <a:prstDash val="solid"/>
            </a:ln>
          </c:spPr>
          <c:marker>
            <c:symbol val="circle"/>
            <c:size val="4"/>
            <c:spPr>
              <a:solidFill>
                <a:srgbClr val="C45C28"/>
              </a:solidFill>
              <a:ln w="12700">
                <a:solidFill>
                  <a:srgbClr val="C45C28"/>
                </a:solidFill>
              </a:ln>
            </c:spPr>
          </c:marker>
          <c:xVal>
            <c:numRef>
              <c:f>'Chart Data'!$C$2:$C$22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'Chart Data'!$D$2:$D$22</c:f>
              <c:numCache>
                <c:formatCode>General</c:formatCode>
                <c:ptCount val="21"/>
                <c:pt idx="0">
                  <c:v>51.048117252499999</c:v>
                </c:pt>
                <c:pt idx="1">
                  <c:v>64.556086914800005</c:v>
                </c:pt>
                <c:pt idx="2">
                  <c:v>75.928469389200004</c:v>
                </c:pt>
                <c:pt idx="3">
                  <c:v>101.364160551</c:v>
                </c:pt>
                <c:pt idx="4">
                  <c:v>81.899788264199998</c:v>
                </c:pt>
                <c:pt idx="5">
                  <c:v>105.34329165</c:v>
                </c:pt>
                <c:pt idx="6">
                  <c:v>79.555943103000004</c:v>
                </c:pt>
                <c:pt idx="7">
                  <c:v>102.59562493</c:v>
                </c:pt>
                <c:pt idx="8">
                  <c:v>78.726265406899998</c:v>
                </c:pt>
                <c:pt idx="9">
                  <c:v>100.969936524</c:v>
                </c:pt>
                <c:pt idx="10">
                  <c:v>77.631925322699999</c:v>
                </c:pt>
                <c:pt idx="11">
                  <c:v>99.1341750773</c:v>
                </c:pt>
                <c:pt idx="12">
                  <c:v>76.576129754899995</c:v>
                </c:pt>
                <c:pt idx="13">
                  <c:v>97.324475275400005</c:v>
                </c:pt>
                <c:pt idx="14">
                  <c:v>75.5096545201</c:v>
                </c:pt>
                <c:pt idx="15">
                  <c:v>95.503325528900007</c:v>
                </c:pt>
                <c:pt idx="16">
                  <c:v>74.439211402200002</c:v>
                </c:pt>
                <c:pt idx="17">
                  <c:v>93.677294504900004</c:v>
                </c:pt>
                <c:pt idx="18">
                  <c:v>73.363363572099999</c:v>
                </c:pt>
                <c:pt idx="19">
                  <c:v>91.846385054799995</c:v>
                </c:pt>
                <c:pt idx="20">
                  <c:v>72.281826821199999</c:v>
                </c:pt>
              </c:numCache>
            </c:numRef>
          </c:yVal>
          <c:smooth val="0"/>
          <c:extLst>
            <c:ext xmlns:c16="http://schemas.microsoft.com/office/drawing/2014/chart" uri="{C3380CC4-5D6E-409C-BE32-E72D297353CC}">
              <c16:uniqueId val="{00000001-7968-497F-A0E4-6370050E8FF0}"/>
            </c:ext>
          </c:extLst>
        </c:ser>
        <c:dLbls>
          <c:showLegendKey val="0"/>
          <c:showVal val="0"/>
          <c:showCatName val="0"/>
          <c:showSerName val="0"/>
          <c:showPercent val="0"/>
          <c:showBubbleSize val="0"/>
        </c:dLbls>
        <c:axId val="48650112"/>
        <c:axId val="48672768"/>
      </c:scatterChart>
      <c:valAx>
        <c:axId val="48672768"/>
        <c:scaling>
          <c:orientation val="minMax"/>
          <c:max val="120"/>
          <c:min val="0"/>
        </c:scaling>
        <c:delete val="0"/>
        <c:axPos val="l"/>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50112"/>
        <c:crosses val="autoZero"/>
        <c:crossBetween val="midCat"/>
        <c:majorUnit val="20"/>
      </c:valAx>
      <c:valAx>
        <c:axId val="48650112"/>
        <c:scaling>
          <c:orientation val="minMax"/>
          <c:max val="20"/>
          <c:min val="0"/>
        </c:scaling>
        <c:delete val="0"/>
        <c:axPos val="b"/>
        <c:majorGridlines>
          <c:spPr>
            <a:ln w="6668">
              <a:solidFill>
                <a:srgbClr val="E3E8EE"/>
              </a:solidFill>
            </a:ln>
          </c:spPr>
        </c:majorGridlines>
        <c:title>
          <c:tx>
            <c:rich>
              <a:bodyPr/>
              <a:lstStyle/>
              <a:p>
                <a:r>
                  <a:rPr lang="it-IT" sz="1575">
                    <a:solidFill>
                      <a:srgbClr val="182D45"/>
                    </a:solidFill>
                    <a:latin typeface="DejaVu Sans"/>
                    <a:ea typeface="DejaVu Sans"/>
                    <a:cs typeface="DejaVu Sans"/>
                  </a:rPr>
                  <a:t>Iteration t</a:t>
                </a:r>
              </a:p>
            </c:rich>
          </c:tx>
          <c:overlay val="0"/>
        </c:title>
        <c:numFmt formatCode="General" sourceLinked="1"/>
        <c:majorTickMark val="none"/>
        <c:minorTickMark val="none"/>
        <c:tickLblPos val="low"/>
        <c:spPr>
          <a:ln w="9525">
            <a:solidFill>
              <a:srgbClr val="7D8998"/>
            </a:solidFill>
          </a:ln>
        </c:spPr>
        <c:txPr>
          <a:bodyPr anchorCtr="1"/>
          <a:lstStyle/>
          <a:p>
            <a:pPr>
              <a:defRPr sz="1350">
                <a:solidFill>
                  <a:srgbClr val="526276"/>
                </a:solidFill>
                <a:latin typeface="DejaVu Sans"/>
                <a:ea typeface="DejaVu Sans"/>
                <a:cs typeface="DejaVu Sans"/>
              </a:defRPr>
            </a:pPr>
            <a:endParaRPr lang="it-IT"/>
          </a:p>
        </c:txPr>
        <c:crossAx val="48672768"/>
        <c:crosses val="autoZero"/>
        <c:crossBetween val="midCat"/>
        <c:majorUnit val="5"/>
      </c:valAx>
      <c:spPr>
        <a:solidFill>
          <a:srgbClr val="FFFFFF"/>
        </a:solidFill>
        <a:ln w="0">
          <a:noFill/>
        </a:ln>
      </c:spPr>
    </c:plotArea>
    <c:legend>
      <c:legendPos val="b"/>
      <c:overlay val="0"/>
      <c:txPr>
        <a:bodyPr anchorCtr="1"/>
        <a:lstStyle/>
        <a:p>
          <a:pPr>
            <a:defRPr sz="1275">
              <a:solidFill>
                <a:srgbClr val="182D45"/>
              </a:solidFill>
              <a:latin typeface="DejaVu Sans"/>
              <a:ea typeface="DejaVu Sans"/>
              <a:cs typeface="DejaVu Sans"/>
            </a:defRPr>
          </a:pPr>
          <a:endParaRPr lang="it-IT"/>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Binary classification with one input, gradient descent, and extensions to several features and classes. Based on the supplied Lecture 3 notes.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Pacing: 0.75 min. Suggested elapsed time 0.25–1 min.</a:t>
            </a:r>
          </a:p>
          <a:p>
            <a:endParaRPr/>
          </a:p>
          <a:p>
            <a:r>
              <a:t>Use the highlighted topic to locate this part of the lecture.</a:t>
            </a:r>
          </a:p>
          <a:p>
            <a:endParaRPr/>
          </a:p>
          <a:p>
            <a:r>
              <a:t>Reference: Lecture 3, Linear classification, notes version 27 September 2026 (SEMTM0051_week3_classification (13).tex). The planar numerical examples use the synthetic dataset Week_03_classification_distinct.csv, with eta=0.001.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synthetic teaching dataset with 100 observations and 50 labels in each class. x1 and x2 are numerical input features without physical units. Each observation has a distinct coordinate pair. The CSV Week_03_classification_distinct.csv gives the exact coordinates used in every planar plot, error count and gradient descent calculation. The layout is adapted from the earlier two-feature Iris illustration by changing the coordinates to separate observations. These are synthetic coordinates, not original flower measurements. The labels here are generic class 0 and class 1. Keep the CSV in the same folder as the presentation to use the link. Underlying source layout: Fisher, R. (1936), Iris, UCI Machine Learning Repository, https://doi.org/10.24432/C56C76, CC BY 4.0 https://creativecommons.org/licenses/by/4.0/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Pacing: 1.5 min. Suggested elapsed time 2–3.5 min.</a:t>
            </a:r>
          </a:p>
          <a:p>
            <a:endParaRPr/>
          </a:p>
          <a:p>
            <a:r>
              <a:t>Recall squared loss in regression: it compares numerical values. Here labels are names, and a wrong label costs one. Define h as the classifier and hat y as its predicted label. Lowercase ell is one loss; E is its sum. The sum counts mistakes, and dividing by N gives the error rate. Fitting performance is distinct from performance on new observations.</a:t>
            </a:r>
          </a:p>
          <a:p>
            <a:endParaRPr/>
          </a:p>
          <a:p>
            <a:r>
              <a:t>Reference: Lecture 3, Linear classification, notes version 27 September 2026 (SEMTM0051_week3_classification (13).tex). The planar numerical examples use the synthetic dataset Week_03_classification_distinct.csv, with eta=0.001.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Pacing: 0.75 min. Suggested elapsed time 3.5–4.25 min.</a:t>
            </a:r>
          </a:p>
          <a:p>
            <a:endParaRPr/>
          </a:p>
          <a:p>
            <a:r>
              <a:t>Call p a probability function or probability predictor. These are probabilities assigned by a model, not probabilities already known to be correct. For equal mistake costs, the natural decision is the more probable label. This introduces the plug-in rule before choosing a parametric probability model.</a:t>
            </a:r>
          </a:p>
          <a:p>
            <a:endParaRPr/>
          </a:p>
          <a:p>
            <a:r>
              <a:t>Reference: Lecture 3, Linear classification, notes version 27 September 2026 (SEMTM0051_week3_classification (13).tex). The planar numerical examples use the synthetic dataset Week_03_classification_distinct.csv, with eta=0.001.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Pacing: 1.25 min. Suggested elapsed time 4.25–5.5 min.</a:t>
            </a:r>
          </a:p>
          <a:p>
            <a:endParaRPr/>
          </a:p>
          <a:p>
            <a:r>
              <a:t>Define the step function before its shorthand is used. At probability one half the argument to step is zero and the result is zero. Do not write step(p): the probability threshold requires p minus one half. Transition back to the affine construction from regression.</a:t>
            </a:r>
          </a:p>
          <a:p>
            <a:endParaRPr/>
          </a:p>
          <a:p>
            <a:r>
              <a:t>Reference: Lecture 3, Linear classification, notes version 27 September 2026 (SEMTM0051_week3_classification (13).tex). The planar numerical examples use the synthetic dataset Week_03_classification_distinct.csv, with eta=0.001.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Pacing: 1 min. Suggested elapsed time 5.5–6.5 min.</a:t>
            </a:r>
          </a:p>
          <a:p>
            <a:endParaRPr/>
          </a:p>
          <a:p>
            <a:r>
              <a:t>Input x is a row and weight w a column. Theta contains b first. In the plane theta=(b,w1,w2)^T. Unlike the regression output, this affine value is now an intermediate SCORE. We need a map from real scores to probabilities.</a:t>
            </a:r>
          </a:p>
          <a:p>
            <a:endParaRPr/>
          </a:p>
          <a:p>
            <a:r>
              <a:t>Reference: Lecture 3, Linear classification, notes version 27 September 2026 (SEMTM0051_week3_classification (13).tex). The planar numerical examples use the synthetic dataset Week_03_classification_distinct.csv, with eta=0.001.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Pacing: 1.25 min. Suggested elapsed time 6.5–7.75 min.</a:t>
            </a:r>
          </a:p>
          <a:p>
            <a:endParaRPr/>
          </a:p>
          <a:p>
            <a:r>
              <a:t>Name s as a score, sigma as the logistic sigmoid. Every finite score produces a probability strictly inside (0,1). Point to sigma(0)=1/2, which will locate the decision boundary. This is a modelling choice that pairs conveniently with logistic loss.</a:t>
            </a:r>
          </a:p>
          <a:p>
            <a:endParaRPr/>
          </a:p>
          <a:p>
            <a:r>
              <a:t>Reference: Lecture 3, Linear classification, notes version 27 September 2026 (SEMTM0051_week3_classification (13).tex). The planar numerical examples use the synthetic dataset Week_03_classification_distinct.csv, with eta=0.001.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Pacing: 1.25 min. Suggested elapsed time 7.75–9 min.</a:t>
            </a:r>
          </a:p>
          <a:p>
            <a:endParaRPr/>
          </a:p>
          <a:p>
            <a:r>
              <a:t>Reconstruct the model orally: affine score, sigmoid probability, plug-in class label. The middle equivalence uses the tie rule and monotonicity. The bottom equality is the boundary in two input dimensions. On the boundary predict class 0. If every weight is zero, the classifier is constant. The probability itself is not affine.</a:t>
            </a:r>
          </a:p>
          <a:p>
            <a:endParaRPr/>
          </a:p>
          <a:p>
            <a:r>
              <a:t>Reference: Lecture 3, Linear classification, notes version 27 September 2026 (SEMTM0051_week3_classification (13).tex). The planar numerical examples use the synthetic dataset Week_03_classification_distinct.csv, with eta=0.001.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two hand-chosen classifiers on Week_03_classification_distinct.csv. Class1 is predicted above the line, class0 on and below it. Candidate A has theta=(-5.75,0,1), x2=5.75 and 31 mistakes. Candidate B has theta=(-1,-0.6,1), x2=0.6*x1+1 and 9 mistakes. Both plots show the same100 synthetic observations on fixed axes. These are not claimed optimal. We start gradient descent from A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now examine why counting classification mistakes is difficult to use with gradient descent, and introduce logistic loss as a smooth fitting objective.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Pacing: 1.5 min. Suggested elapsed time 10–11.5 min.</a:t>
            </a:r>
          </a:p>
          <a:p>
            <a:endParaRPr/>
          </a:p>
          <a:p>
            <a:r>
              <a:t>We seek an argmin of the number of mistakes over affine classifiers. There is no comparable least-squares normal-equation solution in general; direct inspection is not the only possible algorithm. Present the gradient formula as an attempted method, not the final fitting algorithm. Its decisive problem is the locally flat objective, explored next.</a:t>
            </a:r>
          </a:p>
          <a:p>
            <a:endParaRPr/>
          </a:p>
          <a:p>
            <a:r>
              <a:t>Reference: Lecture 3, Linear classification, notes version 27 September 2026 (SEMTM0051_week3_classification (13).tex). The planar numerical examples use the synthetic dataset Week_03_classification_distinct.csv, with eta=0.001.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w1=0,w2=1 and compare b=-5.75 with b=-5.55 on Week_03_classification_distinct.csv. Initially the horizontal boundary x2=5.75 produces 31 mistakes. One click replaces both charts and the parameter line with b=-5.55, giving 25 mistakes. The staircase uses all exact observed x2 coordinates, with class0 at score zero. Each plateau ends where an observed score crosses zero. Both animation states use the same synthetic observations.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all observed scores are nonzero, a small neighbourhood of parameter values preserves all predicted labels, so the empirical mistake count is locally constant and its gradient is zero. Gradient descent on this count does not move within a flat region. On the synthetic dataset Week_03_classification_distinct.csv, candidate B has 9 mistakes, but this does not imply it is optimal. The next slides introduce a smooth fitting objective.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Bridge from the zero-gradient problem to a smooth fitting loss. The observed class is 0. Predicting class-1 probability .51 or .90 gives the same wrong label and zero-one loss 1. At .51 the model is nearly undecided, so we want a relatively mild penalty. At .90 it is confidently predicting the wrong class, so we want a larger penalty. The observed class gets probabilities .49 and .10, respectively. Reveal each interpretation, then the requirement: a smooth loss should decrease when more probability is assigned to the observed class. The next slide chooses the negative logarithm and computes both penalties. This develops the motivation in section 2.4 of the lecture notes. About 90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decreasing function of the probability assigned to the observed class can distinguish predictions that the hard error count treats identically. Choose its negative natural logarithm. If y=1 the observed-class probability is p; if y=0 it is 1-p. Derive the single expression by checking y=0 and y=1. Return to the two wrong predictions with true label 0. At p=.51 the loss is -log(.49)=.7133498879; at p=.90 it is -log(.10)=2.302585093. The uncertain wrong prediction gets a relatively mild penalty, while the confidently wrong prediction gets a much larger one. The smaller loss is not zero: both predictions are wrong. As more probability is assigned to the observed class, the loss decreases smoothly. Logistic loss is also called binary cross-entropy. About 105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Pacing: 0.75 min. Suggested elapsed time 17.25–18 min.</a:t>
            </a:r>
          </a:p>
          <a:p>
            <a:endParaRPr/>
          </a:p>
          <a:p>
            <a:r>
              <a:t>We use a SUM throughout, without1/N. These two objectives evaluate different things. Before differentiating the surrogate, justify its connection to the original classification task.</a:t>
            </a:r>
          </a:p>
          <a:p>
            <a:endParaRPr/>
          </a:p>
          <a:p>
            <a:r>
              <a:t>Reference: Lecture 3, Linear classification, notes version 27 September 2026 (SEMTM0051_week3_classification (13).tex). The planar numerical examples use the synthetic dataset Week_03_classification_distinct.csv, with eta=0.001.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Combine the argument and the plots. If y=1 is misclassified then p&lt;=1/2 and -log(p)&gt;=log(2). If y=0 is misclassified then 1-p&lt;1/2 and -log(1-p)&gt;log(2). For a correct label the zero-one loss is zero and logistic loss is nonnegative. Therefore the rescaled logistic loss bounds zero-one loss pointwise. At s=0, the rescaled logistic loss equals 1 and the tie rule predicts class 0, as the open and closed endpoints show. Add the pointwise inequalities on the next slide. About 90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 the pointwise inequality from the preceding slide. The number of mistakes is the unscaled sum of zero-one losses. Substituting the hard classifier keeps the zero-one loss. Only the upper bound uses logistic loss divided by log(2). This gives E(theta)&lt;=L_log(theta)/log(2). The result applies to every parameter choice and every dataset, including the synthetic example used in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now calculate the gradient of the empirical logistic loss and use it to update the model parameters.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differentiating, organise the inputs and parameters as in Lecture 2. Each row of X is one observation with an initial 1. Write the parameter column explicitly: b, w_1, ..., w_d. The coordinate theta_1 is the intercept; theta_{k+1} is feature weight w_k. X_{i1}=1 and X_{i,k+1}=x_{ik}. This is the general d-feature setting. Source: lecture notes, Writing all observations with one design matrix. About 60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Fix (x_i,y_i). Name the parameter-to-score function F_i(theta)=f_theta(x_i). The input x_i is fixed and theta varies. Its domain is the parameter space and its output is a real score. Keep the sigmoid name sigma; it maps real scores to probabilities in (0,1). Name the one-variable loss function G_i(p)=ell_log(p,y_i), with y_i held fixed. G_i therefore has one scalar argument and an ordinary derivative G_i prime. These names will let us explicitly identify the composition before applying the chain rule. The affine-score identity (1,x_i)theta follows the user reference slide. About 60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show the identity ell_log(p_theta(x_i),y_i)=(G_i composed with sigma composed with F_i)(theta)=G_i(sigma(F_i(theta))). Read the composition from right to left: compute the affine score, then the sigmoid probability, then the loss for the fixed observed label. State that this is the quantity we differentiate, and that we apply the chain rule to this composition. For theta_j, keeping the other parameter coordinates fixed, the named product is G_i prime evaluated at sigma(F_i(theta)), times sigma prime evaluated at F_i(theta), times the partial derivative of F_i with respect to theta_j evaluated at theta. Finally replace the names with their definitions to obtain the full formula in the lecture notes. The three functions and every evaluation point remain explicit. Reveal the composition first, the application statement next, then the named product, then the original-notation product. About 90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Pacing: 1.75 min. Suggested elapsed time 25–26.75 min. Differentiating log(1-p) brings a minus sign that cancels the prefactor minus. Use a common denominator p(1-p); +yp and-yp cancel. The result holds for0&lt;p&lt;1. Source derivation is retained as native Office math. Reference: Lecture 3, Linear classification, notes version 27 September 2026 (SEMTM0051_week3_classification (13).tex). The planar numerical examples use the synthetic dataset Week_03_classification_distinct.csv, with eta=0.001.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the inner function u(s)=1+exp(-s), with derivative u prime(s)=-exp(-s). Define the outer reciprocal function v(z)=1/z for z&gt;0, with derivative v prime(z)=-1/z squared. The value u(s) is greater than 1 for real s, so this composition is well defined. The sigmoid is sigma(s)=v(u(s))=(v composed with u)(s). Apply the chain rule: sigma prime(s)=v prime(u(s))u prime(s). Substitute the two derivatives. The negative signs cancel, yielding exp(-s)/(1+exp(-s)) squared. Factor this as 1/(1+exp(-s)) times exp(-s)/(1+exp(-s)), hence sigma(s)(1-sigma(s)). Finally evaluate at the observation score f_theta(x_i), giving p_theta(x_i)(1-p_theta(x_i)). Reveal composition, chain-rule substitution, simplification, then the observation-specific evaluation. About 90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third term marked in the chain-rule product. The score is the sum of X_ir theta_r over r=1,...,d+1. Define the Kronecker delta explicitly: delta_rj=1 if r=j and 0 otherwise. Thus partial theta_r / partial theta_j = delta_rj. Differentiate the score sum term by term, keeping every X_ir fixed. The result is the sum of X_ir delta_rj, which selects X_ij. This holds for j=1,...,d+1. For the intercept j=1, X_i1=1; for a feature weight w_k, use j=k+1 and X_i,k+1=x_ik. Source: lecture notes, Writing all observations with one design matrix, equation score-coordinate-derivatives. About 75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terms have now been derived separately. Substitute the derivative of the logistic loss with respect to probability, the sigmoid derivative evaluated at the score, and the derivative of the affine score. Keep the full probability notation p_theta(x_i). Since this probability is strictly between 0 and 1 for finite parameters, the denominator cancels with the sigmoid derivative. The observation contribution is (p_theta(x_i)-y_i)X_ij. Fitting sigmoid probabilities with logistic loss is called logistic regression. Next, add these derivatives across all observations. Source: lecture notes, Putting the three derivatives together. About 60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define the bold sigmoid as the function that applies the scalar sigmoid separately to every entry of a score column. Then define bold p with subscript bold theta as the column whose ith entry is the scalar probability p_theta(x_i). These entries refer to different observations; each is the probability assigned to class 1 for that observation. Since X theta is the column of scores, the probability column equals bold sigma(X theta). Define the label column y. Add the per-observation derivatives using the full scalar notation p_theta(x_i), without introducing p_i. The coordinate sums form the gradient X transpose (bold p_theta minus y). Gradient descent uses the probability column evaluated at the current parameter vector theta^(t), then updates all parameter coordinates together. There is no factor 1/N because this empirical loss is a sum. Source: lecture notes, The gradient of the empirical objective and Gradient descent. The probability-vector notation follows the user request: bold p with subscript bold theta. About 100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0 on the fixed synthetic dataset Week_03_classification_distinct.csv. Parameters: b=-5.750000000000, w1=0.000000000000, w2=1.000000000000. Loss=51.048117252543; mistakes=31 of 100. Initial theta=(-5.75,0,1), learning rate eta=0.001, summed logistic loss with natural logarithms and simultaneous full-batch updates of all three coefficients. Predict class 1 for scores strictly greater than zero. No scaling or centring is applied. The same exact CSV coordinates appear at every iteration. The right-hand chart displays logistic loss divided by log(2); the printed numeric loss is unscaled. The boundary equation is rounded to four decimal places; calculations use full precision. At t=0 the coefficients are b=-5.75,w1=0,w2=1 and the boundary is x2=5.75.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1 on the fixed synthetic dataset Week_03_classification_distinct.csv. Parameters: b=-5.732582200752, w1=0.116619209873, w2=1.105205598596. Loss=42.732843717261; mistakes=15 of 100. Initial theta=(-5.75,0,1), learning rate eta=0.001, summed logistic loss with natural logarithms and simultaneous full-batch updates of all three coefficients. Predict class 1 for scores strictly greater than zero. No scaling or centring is applied. The same exact CSV coordinates appear at every iteration. The right-hand chart displays logistic loss divided by log(2); the printed numeric loss is unscaled. The boundary equation is rounded to four decimal places; calculations use full precision. At t=0 the coefficients are b=-5.75,w1=0,w2=1 and the boundary is x2=5.75.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2 on the fixed synthetic dataset Week_03_classification_distinct.csv. Parameters: b=-5.740878108919, w1=0.070299523341, w2=1.081132442623. Loss=41.668051132865; mistakes=7 of 100. Initial theta=(-5.75,0,1), learning rate eta=0.001, summed logistic loss with natural logarithms and simultaneous full-batch updates of all three coefficients. Predict class 1 for scores strictly greater than zero. No scaling or centring is applied. The same exact CSV coordinates appear at every iteration. The right-hand chart displays logistic loss divided by log(2); the printed numeric loss is unscaled. The boundary equation is rounded to four decimal places; calculations use full precision. At t=0 the coefficients are b=-5.75,w1=0,w2=1 and the boundary is x2=5.75.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5 on the fixed synthetic dataset Week_03_classification_distinct.csv. Parameters: b=-5.744794892947, w1=0.062560462302, w2=1.111266086996. Loss=41.299969095536; mistakes=8 of 100. Initial theta=(-5.75,0,1), learning rate eta=0.001, summed logistic loss with natural logarithms and simultaneous full-batch updates of all three coefficients. Predict class 1 for scores strictly greater than zero. No scaling or centring is applied. The same exact CSV coordinates appear at every iteration. The right-hand chart displays logistic loss divided by log(2); the printed numeric loss is unscaled. The boundary equation is rounded to four decimal places; calculations use full precision. At t=0 the coefficients are b=-5.75,w1=0,w2=1 and the boundary is x2=5.75.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10 on the fixed synthetic dataset Week_03_classification_distinct.csv. Parameters: b=-5.753742684547, w1=0.034272137840, w2=1.148469924179. Loss=40.847845820690; mistakes=8 of 100. Initial theta=(-5.75,0,1), learning rate eta=0.001, summed logistic loss with natural logarithms and simultaneous full-batch updates of all three coefficients. Predict class 1 for scores strictly greater than zero. No scaling or centring is applied. The same exact CSV coordinates appear at every iteration. The right-hand chart displays logistic loss divided by log(2); the printed numeric loss is unscaled. The boundary equation is rounded to four decimal places; calculations use full precision. At t=0 the coefficients are b=-5.75,w1=0,w2=1 and the boundary is x2=5.75.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20 on the fixed synthetic dataset Week_03_classification_distinct.csv. Parameters: b=-5.771209836865, w1=-0.020164346945, w2=1.221301838274. Loss=39.992015844938; mistakes=7 of 100. Initial theta=(-5.75,0,1), learning rate eta=0.001, summed logistic loss with natural logarithms and simultaneous full-batch updates of all three coefficients. Predict class 1 for scores strictly greater than zero. No scaling or centring is applied. The same exact CSV coordinates appear at every iteration. The right-hand chart displays logistic loss divided by log(2); the printed numeric loss is unscaled. The boundary equation is rounded to four decimal places; calculations use full precision. At t=0 the coefficients are b=-5.75,w1=0,w2=1 and the boundary is x2=5.75.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same synthetic run gives a concrete counterexample at t=3 and t=4. At t=3, loss=41.494823233508 and mistakes=7. At t=4, loss=41.393241660042 and mistakes=8. Thus the summed logistic loss falls while the mistake count increases. The chart shows all iterations 0 through20 and highlights the two table rows. The curve uses loss/log(2), whereas the table uses the unscaled loss. Both parameter choices satisfy the error bound. The twentieth iterate is not claimed to minimize either objective. Data: Week_03_classification_distinct.csv.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0 with the larger learning rate eta=0.002. Use the same 100 exact observations from Week_03_classification_distinct.csv and the same initialization theta0=(-5.75,0,1). Full-batch gradient descent with simultaneous updates minimizes the SUM of logistic losses, with natural logarithms and no feature scaling. Current parameters in order b,w1,w2: [-5.75, 0, 1]. Current unscaled logistic loss=51.048117252543; mistakes=31 of100. The right chart displays loss/log(2) and mistakes, using every state from0 through0. The boundary is x2=5.750000000000+0.000000000000*x1. Predict class1 at scores&gt;0. All six snapshots use common axes, also shared with the smaller-step sequence: x1=[4.5,8], x2=[2,7.5], and loss/count=[0,160]. Displayed coefficients are rounded to six decimals and boundary equations to four; calculations use full precision. Class1 is above the line because w2 remains positive. The final comparison slide follows this six-frame sequence.</a:t>
            </a:r>
          </a:p>
        </p:txBody>
      </p:sp>
      <p:sp>
        <p:nvSpPr>
          <p:cNvPr id="4" name="Slide Number Placeholder 3"/>
          <p:cNvSpPr>
            <a:spLocks noGrp="1"/>
          </p:cNvSpPr>
          <p:nvPr>
            <p:ph type="sldNum" idx="5"/>
          </p:nvPr>
        </p:nvSpPr>
        <p:spPr/>
        <p:txBody>
          <a:bodyPr/>
          <a:lstStyle/>
          <a:p>
            <a:r>
              <a:t>34</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1 with the larger learning rate eta=0.002. Use the same 100 exact observations from Week_03_classification_distinct.csv and the same initialization theta0=(-5.75,0,1). Full-batch gradient descent with simultaneous updates minimizes the SUM of logistic losses, with natural logarithms and no feature scaling. Current parameters in order b,w1,w2: [-5.715164401503869, 0.23323841974652645, 1.2104111971912264]. Current unscaled logistic loss=64.556086914804; mistakes=42 of100. The right chart displays loss/log(2) and mistakes, using every state from0 through1. The boundary is x2=4.721671787873-0.192693541077*x1. Predict class1 at scores&gt;0. All six snapshots use common axes, also shared with the smaller-step sequence: x1=[4.5,8], x2=[2,7.5], and loss/count=[0,160]. Displayed coefficients are rounded to six decimals and boundary equations to four; calculations use full precision. Class1 is above the line because w2 remains positive. The final comparison slide follows this six-frame sequence.</a:t>
            </a:r>
          </a:p>
        </p:txBody>
      </p:sp>
      <p:sp>
        <p:nvSpPr>
          <p:cNvPr id="4" name="Slide Number Placeholder 3"/>
          <p:cNvSpPr>
            <a:spLocks noGrp="1"/>
          </p:cNvSpPr>
          <p:nvPr>
            <p:ph type="sldNum" idx="5"/>
          </p:nvPr>
        </p:nvSpPr>
        <p:spPr/>
        <p:txBody>
          <a:bodyPr/>
          <a:lstStyle/>
          <a:p>
            <a:r>
              <a:t>35</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2 with the larger learning rate eta=0.002. Use the same 100 exact observations from Week_03_classification_distinct.csv and the same initialization theta0=(-5.75,0,1). Full-batch gradient descent with simultaneous updates minimizes the SUM of logistic losses, with natural logarithms and no feature scaling. Current parameters in order b,w1,w2: [-5.773416015695164, -0.11504902814070592, 0.9669881153507064]. Current unscaled logistic loss=75.928469389240; mistakes=49 of100. The right chart displays loss/log(2) and mistakes, using every state from0 through2. The boundary is x2=5.970513932947+0.118976672323*x1. Predict class1 at scores&gt;0. All six snapshots use common axes, also shared with the smaller-step sequence: x1=[4.5,8], x2=[2,7.5], and loss/count=[0,160]. Displayed coefficients are rounded to six decimals and boundary equations to four; calculations use full precision. Class1 is above the line because w2 remains positive. The final comparison slide follows this six-frame sequence.</a:t>
            </a:r>
          </a:p>
        </p:txBody>
      </p:sp>
      <p:sp>
        <p:nvSpPr>
          <p:cNvPr id="4" name="Slide Number Placeholder 3"/>
          <p:cNvSpPr>
            <a:spLocks noGrp="1"/>
          </p:cNvSpPr>
          <p:nvPr>
            <p:ph type="sldNum" idx="5"/>
          </p:nvPr>
        </p:nvSpPr>
        <p:spPr/>
        <p:txBody>
          <a:bodyPr/>
          <a:lstStyle/>
          <a:p>
            <a:r>
              <a:t>36</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5 with the larger learning rate eta=0.002. Use the same 100 exact observations from Week_03_classification_distinct.csv and the same initialization theta0=(-5.75,0,1). Full-batch gradient descent with simultaneous updates minimizes the SUM of logistic losses, with natural logarithms and no feature scaling. Current parameters in order b,w1,w2: [-5.718820554583115, 0.2959820277570571, 1.3923239884245995]. Current unscaled logistic loss=105.343291649936; mistakes=49 of100. The right chart displays loss/log(2) and mistakes, using every state from0 through5. The boundary is x2=4.107392102792-0.212581288707*x1. Predict class1 at scores&gt;0. All six snapshots use common axes, also shared with the smaller-step sequence: x1=[4.5,8], x2=[2,7.5], and loss/count=[0,160]. Displayed coefficients are rounded to six decimals and boundary equations to four; calculations use full precision. Class1 is above the line because w2 remains positive. The final comparison slide follows this six-frame sequence.</a:t>
            </a:r>
          </a:p>
        </p:txBody>
      </p:sp>
      <p:sp>
        <p:nvSpPr>
          <p:cNvPr id="4" name="Slide Number Placeholder 3"/>
          <p:cNvSpPr>
            <a:spLocks noGrp="1"/>
          </p:cNvSpPr>
          <p:nvPr>
            <p:ph type="sldNum" idx="5"/>
          </p:nvPr>
        </p:nvSpPr>
        <p:spPr/>
        <p:txBody>
          <a:bodyPr/>
          <a:lstStyle/>
          <a:p>
            <a:r>
              <a:t>37</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10 with the larger learning rate eta=0.002. Use the same 100 exact observations from Week_03_classification_distinct.csv and the same initialization theta0=(-5.75,0,1). Full-batch gradient descent with simultaneous updates minimizes the SUM of logistic losses, with natural logarithms and no feature scaling. Current parameters in order b,w1,w2: [-5.825631064207245, -0.25676501599138746, 1.1320747188876807]. Current unscaled logistic loss=77.631925322662; mistakes=49 of100. The right chart displays loss/log(2) and mistakes, using every state from0 through10. The boundary is x2=5.145977528702+0.226809248283*x1. Predict class1 at scores&gt;0. All six snapshots use common axes, also shared with the smaller-step sequence: x1=[4.5,8], x2=[2,7.5], and loss/count=[0,160]. Displayed coefficients are rounded to six decimals and boundary equations to four; calculations use full precision. Class1 is above the line because w2 remains positive. The final comparison slide follows this six-frame sequence.</a:t>
            </a:r>
          </a:p>
        </p:txBody>
      </p:sp>
      <p:sp>
        <p:nvSpPr>
          <p:cNvPr id="4" name="Slide Number Placeholder 3"/>
          <p:cNvSpPr>
            <a:spLocks noGrp="1"/>
          </p:cNvSpPr>
          <p:nvPr>
            <p:ph type="sldNum" idx="5"/>
          </p:nvPr>
        </p:nvSpPr>
        <p:spPr/>
        <p:txBody>
          <a:bodyPr/>
          <a:lstStyle/>
          <a:p>
            <a:r>
              <a:t>38</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20 with the larger learning rate eta=0.002. Use the same 100 exact observations from Week_03_classification_distinct.csv and the same initialization theta0=(-5.75,0,1). Full-batch gradient descent with simultaneous updates minimizes the SUM of logistic losses, with natural logarithms and no feature scaling. Current parameters in order b,w1,w2: [-5.8848028169142435, -0.40531673157394843, 1.3445218616961205]. Current unscaled logistic loss=72.281826821169; mistakes=48 of100. The right chart displays loss/log(2) and mistakes, using every state from0 through20. The boundary is x2=4.376874028281+0.301457896016*x1. Predict class1 at scores&gt;0. All six snapshots use common axes, also shared with the smaller-step sequence: x1=[4.5,8], x2=[2,7.5], and loss/count=[0,160]. Displayed coefficients are rounded to six decimals and boundary equations to four; calculations use full precision. Class1 is above the line because w2 remains positive. The final comparison slide follows this six-frame sequence.</a:t>
            </a:r>
          </a:p>
        </p:txBody>
      </p:sp>
      <p:sp>
        <p:nvSpPr>
          <p:cNvPr id="4" name="Slide Number Placeholder 3"/>
          <p:cNvSpPr>
            <a:spLocks noGrp="1"/>
          </p:cNvSpPr>
          <p:nvPr>
            <p:ph type="sldNum" idx="5"/>
          </p:nvPr>
        </p:nvSpPr>
        <p:spPr/>
        <p:txBody>
          <a:bodyPr/>
          <a:lstStyle/>
          <a:p>
            <a:r>
              <a:t>39</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Repeat full-batch gradient descent on Week_03_classification_distinct.csv from theta0=(-5.75,0,1). Compare eta=0.001 with eta=0.002 using the SUM of logistic losses and natural logarithms, no scaling, and simultaneous updates. Both histories contain all iterations 0 through 20. The chart and table show unscaled logistic loss, not loss/log(2). For eta=0.001, loss decreases from 51.048117252543 to 39.992015844938. For eta=0.002, the first update increases loss from 51.048117252543 to 64.556086914804; subsequent values oscillate. The finite plot does not establish divergence. At a point with nonzero gradient, minus the gradient is a direction of local decrease: sufficiently small positive steps decrease the loss. A step that is too large can increase the loss. The objective remains the same convex logistic loss; changing only the learning rate explains the difference. The companion step-size CSV contains all coefficients, gradients, losses and error counts for both runs. The earlier sequence and its parameters remain unchanged.</a:t>
            </a:r>
          </a:p>
        </p:txBody>
      </p:sp>
      <p:sp>
        <p:nvSpPr>
          <p:cNvPr id="4" name="Slide Number Placeholder 3"/>
          <p:cNvSpPr>
            <a:spLocks noGrp="1"/>
          </p:cNvSpPr>
          <p:nvPr>
            <p:ph type="sldNum" idx="5"/>
          </p:nvPr>
        </p:nvSpPr>
        <p:spPr/>
        <p:txBody>
          <a:bodyPr/>
          <a:lstStyle/>
          <a:p>
            <a:r>
              <a:t>34</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now extend the probability model and fitting loss to problems with more than two classes.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Handwritten-digit recognition motivates multiclass classification. Each image belongs to one of the ten digit classes 0 through 9. Within a class, handwriting varies. We want one probability per class, then choose the largest. Source: supplied lecture notes, Week_03 - Linear Classification.pdf, Figure 8, page 19. Figure reproduced directly from the original PDF. Each row contains 16 examples of the same digit. The image is now represented as a row vector before introducing the model.</a:t>
            </a:r>
          </a:p>
          <a:p>
            <a:r>
              <a:t>Input representation: a greyscale image is a matrix of pixel intensities, represented numerically by real values. Read its entries row by row in the same fixed order for every image to form a row vector x=(x_1,...,x_d). Here d is the number of pixels, and each coordinate contains one pixel intensity. No intensity range or normalization convention is assumed on this slide. The next slide denotes the row vector of observation i by x_i in bold; the subscripts of the scalar coordinates on this slide index pixels.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a general probabilistic predictor, before choosing any parametric model. K is the number of classes and d is the number of input features. Label the classes 1,...,K. The K components are predicted probabilities, each between zero and one, and sum to one. In the digit example the ten indices stand for digits 0,...,9. This is a row-valued function. It parallels the binary probability predictor, where one scalar determines both probabilities.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plug-in classification rule turns any probability row into a label. Argmax returns all indices attaining the largest component. We choose the smallest index in a tie, consistently with the binary convention. This is argmax, not softmax: softmax will later construct a probability row from scores. In the example (0.40,0.35,0.25), class1 is predicted although no probability exceeds one half. If probabilities are(0.40,0.40,0.20), the convention predicts1.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each class k=1,...,K, define the scalar intercept b_k and column w_k of d feature weights. Weight w_jk belongs to feature j and class k. Stack the intercept and weights in theta_k. The augmented input row (1,x) has d+1 entries, so its product with theta_k is one real score. Collect the K columns in Theta, of shape(d+1)byK. The row f_Theta(x) contains the K scores and equals(1,x)Theta. All required symbols are defined here. Batch matrix X is not needed in this single-input construction or the later summed loss.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softmax first as a map on an arbitrary row of real scores. All exponentials are positive, and dividing by their sum makes the output components sum to one. For K&gt;=2 the components lie strictly between0and1. Use square brackets to denote a component of the softmax row. Separate sigmoids do not impose the sum-one constraint: three zero scores yield three one-half values.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parametric probability predictor is p_Theta(x)=softmax(f_Theta(x)). Its kth component is exp(f_theta_k(x)) divided by the sum of those exponentials over all classes. Only now do we introduce p_Theta; all its constituent functions and parameters have already been defined. Reuse the generic plug-in rule with p=p_Theta. The exponential is increasing and every component has the same positive denominator, so maximizers of scores and probabilities coincide, including ties. The smallest-index tie convention remains in force.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a probability row p and observed class y, categorical cross-entropy is minus the logarithm of p_y. The softmax model assigns strictly positive probabilities, so this is finite. If one extends the loss to general probability rows, a zero probability for the observed class gives infinite loss. With(1/6,1/3,1/2)and observed class2, the plug-in prediction is3 but the loss is-log(1/3)=log3. The observed class determines which probability enters the loss. Use natural logarithms and the lecture notes notation ell_multi.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Course materials: https://github.com/semtm0051/2026_27. The lecture notes cover today's material in more detail and include exercises. Each week, the lecturer will post the exercise solutions before the next lecture. The visible link and QR code point to the same course repository. Wording and publication schedule supplied by the lecturer.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github.com/semtm0051/2026_27/tree/main/Week_03/Examples" TargetMode="External"/><Relationship Id="rId5" Type="http://schemas.openxmlformats.org/officeDocument/2006/relationships/image" Target="../media/image4.png"/><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1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10.png"/></Relationships>
</file>

<file path=ppt/slides/_rels/slide6.xml.rels><?xml version="1.0" encoding="UTF-8" standalone="yes"?>
<Relationships xmlns="http://schemas.openxmlformats.org/package/2006/relationships"><Relationship Id="rId3" Type="http://schemas.openxmlformats.org/officeDocument/2006/relationships/image" Target="../media/image12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image" Target="../media/image13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6.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chart" Target="../charts/chart6.xml"/><Relationship Id="rId7" Type="http://schemas.openxmlformats.org/officeDocument/2006/relationships/chart" Target="../charts/chart9.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chart" Target="../charts/chart8.xml"/><Relationship Id="rId5" Type="http://schemas.openxmlformats.org/officeDocument/2006/relationships/image" Target="../media/image270.png"/><Relationship Id="rId4" Type="http://schemas.openxmlformats.org/officeDocument/2006/relationships/chart" Target="../charts/chart7.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50.png"/><Relationship Id="rId5" Type="http://schemas.openxmlformats.org/officeDocument/2006/relationships/image" Target="../media/image340.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9.png"/><Relationship Id="rId7" Type="http://schemas.openxmlformats.org/officeDocument/2006/relationships/chart" Target="../charts/chart11.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chart" Target="../charts/chart10.xml"/><Relationship Id="rId5" Type="http://schemas.openxmlformats.org/officeDocument/2006/relationships/image" Target="../media/image41.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0.png"/><Relationship Id="rId4" Type="http://schemas.openxmlformats.org/officeDocument/2006/relationships/image" Target="../media/image420.png"/></Relationships>
</file>

<file path=ppt/slides/_rels/slide2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1.png"/></Relationships>
</file>

<file path=ppt/slides/_rels/slide23.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2.png"/><Relationship Id="rId7"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480.png"/></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8" Type="http://schemas.openxmlformats.org/officeDocument/2006/relationships/image" Target="../media/image600.png"/><Relationship Id="rId3" Type="http://schemas.openxmlformats.org/officeDocument/2006/relationships/image" Target="../media/image550.png"/><Relationship Id="rId7" Type="http://schemas.openxmlformats.org/officeDocument/2006/relationships/image" Target="../media/image6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80.png"/><Relationship Id="rId5" Type="http://schemas.openxmlformats.org/officeDocument/2006/relationships/image" Target="../media/image570.png"/><Relationship Id="rId10" Type="http://schemas.openxmlformats.org/officeDocument/2006/relationships/image" Target="../media/image62.png"/><Relationship Id="rId4" Type="http://schemas.openxmlformats.org/officeDocument/2006/relationships/image" Target="../media/image560.png"/><Relationship Id="rId9"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670.png"/><Relationship Id="rId7" Type="http://schemas.openxmlformats.org/officeDocument/2006/relationships/image" Target="../media/image74.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2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60.png"/><Relationship Id="rId7" Type="http://schemas.openxmlformats.org/officeDocument/2006/relationships/image" Target="../media/image78.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chart" Target="../charts/chart13.xml"/><Relationship Id="rId4" Type="http://schemas.openxmlformats.org/officeDocument/2006/relationships/chart" Target="../charts/chart12.xml"/></Relationships>
</file>

<file path=ppt/slides/_rels/slide31.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80.png"/><Relationship Id="rId7" Type="http://schemas.openxmlformats.org/officeDocument/2006/relationships/image" Target="../media/image800.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790.png"/><Relationship Id="rId5" Type="http://schemas.openxmlformats.org/officeDocument/2006/relationships/chart" Target="../charts/chart15.xml"/><Relationship Id="rId4" Type="http://schemas.openxmlformats.org/officeDocument/2006/relationships/chart" Target="../charts/chart14.xml"/><Relationship Id="rId9" Type="http://schemas.openxmlformats.org/officeDocument/2006/relationships/image" Target="../media/image82.png"/></Relationships>
</file>

<file path=ppt/slides/_rels/slide32.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3.png"/><Relationship Id="rId7" Type="http://schemas.openxmlformats.org/officeDocument/2006/relationships/image" Target="../media/image84.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830.png"/><Relationship Id="rId5" Type="http://schemas.openxmlformats.org/officeDocument/2006/relationships/chart" Target="../charts/chart17.xml"/><Relationship Id="rId4" Type="http://schemas.openxmlformats.org/officeDocument/2006/relationships/chart" Target="../charts/chart16.xml"/><Relationship Id="rId9" Type="http://schemas.openxmlformats.org/officeDocument/2006/relationships/image" Target="../media/image87.png"/></Relationships>
</file>

<file path=ppt/slides/_rels/slide33.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89.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chart" Target="../charts/chart19.xml"/><Relationship Id="rId4" Type="http://schemas.openxmlformats.org/officeDocument/2006/relationships/chart" Target="../charts/chart18.xml"/><Relationship Id="rId9" Type="http://schemas.openxmlformats.org/officeDocument/2006/relationships/image" Target="../media/image92.png"/></Relationships>
</file>

<file path=ppt/slides/_rels/slide34.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chart" Target="../charts/chart21.xml"/><Relationship Id="rId4" Type="http://schemas.openxmlformats.org/officeDocument/2006/relationships/chart" Target="../charts/chart20.xml"/><Relationship Id="rId9" Type="http://schemas.openxmlformats.org/officeDocument/2006/relationships/image" Target="../media/image96.png"/></Relationships>
</file>

<file path=ppt/slides/_rels/slide35.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7.png"/><Relationship Id="rId7" Type="http://schemas.openxmlformats.org/officeDocument/2006/relationships/image" Target="../media/image98.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970.png"/><Relationship Id="rId5" Type="http://schemas.openxmlformats.org/officeDocument/2006/relationships/chart" Target="../charts/chart23.xml"/><Relationship Id="rId4" Type="http://schemas.openxmlformats.org/officeDocument/2006/relationships/chart" Target="../charts/chart22.xml"/><Relationship Id="rId9" Type="http://schemas.openxmlformats.org/officeDocument/2006/relationships/image" Target="../media/image100.png"/></Relationships>
</file>

<file path=ppt/slides/_rels/slide36.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101.png"/><Relationship Id="rId7" Type="http://schemas.openxmlformats.org/officeDocument/2006/relationships/image" Target="../media/image7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chart" Target="../charts/chart26.xml"/><Relationship Id="rId4" Type="http://schemas.openxmlformats.org/officeDocument/2006/relationships/chart" Target="../charts/chart25.xml"/></Relationships>
</file>

<file path=ppt/slides/_rels/slide38.xml.rels><?xml version="1.0" encoding="UTF-8" standalone="yes"?>
<Relationships xmlns="http://schemas.openxmlformats.org/package/2006/relationships"><Relationship Id="rId8" Type="http://schemas.openxmlformats.org/officeDocument/2006/relationships/image" Target="../media/image1030.png"/><Relationship Id="rId3" Type="http://schemas.openxmlformats.org/officeDocument/2006/relationships/image" Target="../media/image103.png"/><Relationship Id="rId7" Type="http://schemas.openxmlformats.org/officeDocument/2006/relationships/image" Target="../media/image1020.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1011.png"/><Relationship Id="rId5" Type="http://schemas.openxmlformats.org/officeDocument/2006/relationships/chart" Target="../charts/chart28.xml"/><Relationship Id="rId4" Type="http://schemas.openxmlformats.org/officeDocument/2006/relationships/chart" Target="../charts/chart27.xml"/><Relationship Id="rId9" Type="http://schemas.openxmlformats.org/officeDocument/2006/relationships/image" Target="../media/image104.png"/></Relationships>
</file>

<file path=ppt/slides/_rels/slide39.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5.png"/><Relationship Id="rId7" Type="http://schemas.openxmlformats.org/officeDocument/2006/relationships/image" Target="../media/image106.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050.png"/><Relationship Id="rId5" Type="http://schemas.openxmlformats.org/officeDocument/2006/relationships/chart" Target="../charts/chart30.xml"/><Relationship Id="rId4" Type="http://schemas.openxmlformats.org/officeDocument/2006/relationships/chart" Target="../charts/chart29.xml"/><Relationship Id="rId9" Type="http://schemas.openxmlformats.org/officeDocument/2006/relationships/image" Target="../media/image108.png"/></Relationships>
</file>

<file path=ppt/slides/_rels/slide40.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9.png"/><Relationship Id="rId7" Type="http://schemas.openxmlformats.org/officeDocument/2006/relationships/image" Target="../media/image110.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090.png"/><Relationship Id="rId5" Type="http://schemas.openxmlformats.org/officeDocument/2006/relationships/chart" Target="../charts/chart32.xml"/><Relationship Id="rId4" Type="http://schemas.openxmlformats.org/officeDocument/2006/relationships/chart" Target="../charts/chart31.xml"/><Relationship Id="rId9" Type="http://schemas.openxmlformats.org/officeDocument/2006/relationships/image" Target="../media/image112.png"/></Relationships>
</file>

<file path=ppt/slides/_rels/slide41.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3.png"/><Relationship Id="rId7" Type="http://schemas.openxmlformats.org/officeDocument/2006/relationships/image" Target="../media/image114.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130.png"/><Relationship Id="rId5" Type="http://schemas.openxmlformats.org/officeDocument/2006/relationships/chart" Target="../charts/chart34.xml"/><Relationship Id="rId4" Type="http://schemas.openxmlformats.org/officeDocument/2006/relationships/chart" Target="../charts/chart33.xml"/><Relationship Id="rId9" Type="http://schemas.openxmlformats.org/officeDocument/2006/relationships/image" Target="../media/image116.png"/></Relationships>
</file>

<file path=ppt/slides/_rels/slide42.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7.png"/><Relationship Id="rId7" Type="http://schemas.openxmlformats.org/officeDocument/2006/relationships/image" Target="../media/image118.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1170.png"/><Relationship Id="rId5" Type="http://schemas.openxmlformats.org/officeDocument/2006/relationships/chart" Target="../charts/chart36.xml"/><Relationship Id="rId4" Type="http://schemas.openxmlformats.org/officeDocument/2006/relationships/chart" Target="../charts/chart35.xml"/><Relationship Id="rId9" Type="http://schemas.openxmlformats.org/officeDocument/2006/relationships/image" Target="../media/image120.png"/></Relationships>
</file>

<file path=ppt/slides/_rels/slide43.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122.png"/><Relationship Id="rId4" Type="http://schemas.openxmlformats.org/officeDocument/2006/relationships/image" Target="../media/image12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900.png"/></Relationships>
</file>

<file path=ppt/slides/_rels/slide4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31.png"/></Relationships>
</file>

<file path=ppt/slides/_rels/slide48.xml.rels><?xml version="1.0" encoding="UTF-8" standalone="yes"?>
<Relationships xmlns="http://schemas.openxmlformats.org/package/2006/relationships"><Relationship Id="rId8" Type="http://schemas.openxmlformats.org/officeDocument/2006/relationships/image" Target="../media/image1380.png"/><Relationship Id="rId3" Type="http://schemas.openxmlformats.org/officeDocument/2006/relationships/image" Target="../media/image135.png"/><Relationship Id="rId7" Type="http://schemas.openxmlformats.org/officeDocument/2006/relationships/image" Target="../media/image13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38.png"/><Relationship Id="rId5" Type="http://schemas.openxmlformats.org/officeDocument/2006/relationships/image" Target="../media/image137.png"/><Relationship Id="rId10" Type="http://schemas.openxmlformats.org/officeDocument/2006/relationships/image" Target="../media/image134.png"/><Relationship Id="rId4" Type="http://schemas.openxmlformats.org/officeDocument/2006/relationships/image" Target="../media/image136.png"/><Relationship Id="rId9" Type="http://schemas.openxmlformats.org/officeDocument/2006/relationships/image" Target="../media/image133.png"/></Relationships>
</file>

<file path=ppt/slides/_rels/slide49.xml.rels><?xml version="1.0" encoding="UTF-8" standalone="yes"?>
<Relationships xmlns="http://schemas.openxmlformats.org/package/2006/relationships"><Relationship Id="rId3" Type="http://schemas.openxmlformats.org/officeDocument/2006/relationships/image" Target="../media/image1340.png"/><Relationship Id="rId7" Type="http://schemas.openxmlformats.org/officeDocument/2006/relationships/image" Target="../media/image143.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image" Target="../media/image139.png"/></Relationships>
</file>

<file path=ppt/slides/_rels/slide5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144.png"/><Relationship Id="rId4" Type="http://schemas.openxmlformats.org/officeDocument/2006/relationships/image" Target="../media/image147.png"/></Relationships>
</file>

<file path=ppt/slides/_rels/slide51.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150.png"/><Relationship Id="rId5" Type="http://schemas.openxmlformats.org/officeDocument/2006/relationships/image" Target="../media/image148.png"/><Relationship Id="rId4" Type="http://schemas.openxmlformats.org/officeDocument/2006/relationships/image" Target="../media/image149.png"/></Relationships>
</file>

<file path=ppt/slides/_rels/slide52.xml.rels><?xml version='1.0' encoding='utf-8' standalone='yes'?>
<Relationships xmlns="http://schemas.openxmlformats.org/package/2006/relationships"><Relationship Id="rId3" Type="http://schemas.openxmlformats.org/officeDocument/2006/relationships/hyperlink" Target="https://github.com/semtm0051/2026_27"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14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D45"/>
        </a:solidFill>
        <a:effectLst/>
      </p:bgPr>
    </p:bg>
    <p:spTree>
      <p:nvGrpSpPr>
        <p:cNvPr id="1" name=""/>
        <p:cNvGrpSpPr/>
        <p:nvPr/>
      </p:nvGrpSpPr>
      <p:grpSpPr>
        <a:xfrm>
          <a:off x="0" y="0"/>
          <a:ext cx="0" cy="0"/>
          <a:chOff x="0" y="0"/>
          <a:chExt cx="0" cy="0"/>
        </a:xfrm>
      </p:grpSpPr>
      <p:pic>
        <p:nvPicPr>
          <p:cNvPr id="14" name="Immagine 10"/>
          <p:cNvPicPr/>
          <p:nvPr/>
        </p:nvPicPr>
        <p:blipFill>
          <a:blip r:embed="rId3"/>
          <a:srcRect l="19825" r="19825"/>
          <a:stretch/>
        </p:blipFill>
        <p:spPr>
          <a:xfrm>
            <a:off x="6858000" y="1333440"/>
            <a:ext cx="5333760" cy="5524200"/>
          </a:xfrm>
          <a:prstGeom prst="rect">
            <a:avLst/>
          </a:prstGeom>
          <a:noFill/>
          <a:ln w="0">
            <a:noFill/>
          </a:ln>
        </p:spPr>
      </p:pic>
      <p:sp>
        <p:nvSpPr>
          <p:cNvPr id="15" name="cover_image_blend"/>
          <p:cNvSpPr/>
          <p:nvPr/>
        </p:nvSpPr>
        <p:spPr>
          <a:xfrm>
            <a:off x="6705720" y="1333440"/>
            <a:ext cx="685440" cy="5524200"/>
          </a:xfrm>
          <a:prstGeom prst="rect">
            <a:avLst/>
          </a:prstGeom>
          <a:gradFill rotWithShape="0">
            <a:gsLst>
              <a:gs pos="0">
                <a:srgbClr val="182D45"/>
              </a:gs>
              <a:gs pos="100000">
                <a:srgbClr val="182D45">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u="none" strike="noStrike">
              <a:solidFill>
                <a:schemeClr val="dk1"/>
              </a:solidFill>
              <a:effectLst/>
              <a:uFillTx/>
              <a:latin typeface="Calibri"/>
              <a:ea typeface="Calibri"/>
            </a:endParaRPr>
          </a:p>
        </p:txBody>
      </p:sp>
      <p:sp>
        <p:nvSpPr>
          <p:cNvPr id="16" name="university_header"/>
          <p:cNvSpPr/>
          <p:nvPr/>
        </p:nvSpPr>
        <p:spPr>
          <a:xfrm>
            <a:off x="9144" y="0"/>
            <a:ext cx="12191760" cy="13330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u="none" strike="noStrike">
              <a:solidFill>
                <a:schemeClr val="dk1"/>
              </a:solidFill>
              <a:effectLst/>
              <a:uFillTx/>
              <a:latin typeface="Calibri"/>
              <a:ea typeface="Calibri"/>
            </a:endParaRPr>
          </a:p>
        </p:txBody>
      </p:sp>
      <p:pic>
        <p:nvPicPr>
          <p:cNvPr id="17" name="Immagine 13"/>
          <p:cNvPicPr/>
          <p:nvPr/>
        </p:nvPicPr>
        <p:blipFill>
          <a:blip r:embed="rId4"/>
          <a:stretch/>
        </p:blipFill>
        <p:spPr>
          <a:xfrm>
            <a:off x="609480" y="285840"/>
            <a:ext cx="2723760" cy="787320"/>
          </a:xfrm>
          <a:prstGeom prst="rect">
            <a:avLst/>
          </a:prstGeom>
          <a:noFill/>
          <a:ln w="0">
            <a:noFill/>
          </a:ln>
        </p:spPr>
      </p:pic>
      <p:sp>
        <p:nvSpPr>
          <p:cNvPr id="18" name="lecture_number"/>
          <p:cNvSpPr/>
          <p:nvPr/>
        </p:nvSpPr>
        <p:spPr>
          <a:xfrm>
            <a:off x="609480" y="1952640"/>
            <a:ext cx="523836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1870" b="1" u="none" strike="noStrike">
                <a:solidFill>
                  <a:srgbClr val="86D2CE"/>
                </a:solidFill>
                <a:effectLst/>
                <a:uFillTx/>
                <a:latin typeface="DejaVu Sans"/>
                <a:ea typeface="DejaVu Sans"/>
              </a:rPr>
              <a:t>LECTURE 3</a:t>
            </a:r>
            <a:endParaRPr lang="en-US" sz="1870" b="0" u="none" strike="noStrike">
              <a:solidFill>
                <a:srgbClr val="FFFFFF"/>
              </a:solidFill>
              <a:effectLst/>
              <a:uFillTx/>
              <a:latin typeface="Arial"/>
            </a:endParaRPr>
          </a:p>
        </p:txBody>
      </p:sp>
      <p:sp>
        <p:nvSpPr>
          <p:cNvPr id="19" name="lecture_title"/>
          <p:cNvSpPr/>
          <p:nvPr/>
        </p:nvSpPr>
        <p:spPr>
          <a:xfrm>
            <a:off x="609480" y="2505240"/>
            <a:ext cx="6000480" cy="156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4650" b="1" u="none" strike="noStrike">
                <a:solidFill>
                  <a:srgbClr val="FFFFFF"/>
                </a:solidFill>
                <a:effectLst/>
                <a:uFillTx/>
                <a:latin typeface="DejaVu Sans"/>
                <a:ea typeface="DejaVu Sans"/>
              </a:rPr>
              <a:t>Linear</a:t>
            </a:r>
            <a:endParaRPr lang="en-US" sz="4650" b="0" u="none" strike="noStrike">
              <a:solidFill>
                <a:srgbClr val="FFFFFF"/>
              </a:solidFill>
              <a:effectLst/>
              <a:uFillTx/>
              <a:latin typeface="Arial"/>
            </a:endParaRPr>
          </a:p>
          <a:p>
            <a:pPr defTabSz="914400">
              <a:lnSpc>
                <a:spcPct val="100000"/>
              </a:lnSpc>
            </a:pPr>
            <a:r>
              <a:rPr lang="it-IT" sz="4650" b="1" u="none" strike="noStrike">
                <a:solidFill>
                  <a:srgbClr val="FFFFFF"/>
                </a:solidFill>
                <a:effectLst/>
                <a:uFillTx/>
                <a:latin typeface="DejaVu Sans"/>
                <a:ea typeface="DejaVu Sans"/>
              </a:rPr>
              <a:t>classification</a:t>
            </a:r>
            <a:endParaRPr lang="en-US" sz="4650" b="0" u="none" strike="noStrike">
              <a:solidFill>
                <a:srgbClr val="FFFFFF"/>
              </a:solidFill>
              <a:effectLst/>
              <a:uFillTx/>
              <a:latin typeface="Arial"/>
            </a:endParaRPr>
          </a:p>
        </p:txBody>
      </p:sp>
      <p:sp>
        <p:nvSpPr>
          <p:cNvPr id="20" name="course_name"/>
          <p:cNvSpPr/>
          <p:nvPr/>
        </p:nvSpPr>
        <p:spPr>
          <a:xfrm>
            <a:off x="609480" y="4362480"/>
            <a:ext cx="5981400" cy="475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2020" b="0" u="none" strike="noStrike">
                <a:solidFill>
                  <a:srgbClr val="FFFFFF"/>
                </a:solidFill>
                <a:effectLst/>
                <a:uFillTx/>
                <a:latin typeface="DejaVu Sans"/>
                <a:ea typeface="DejaVu Sans"/>
              </a:rPr>
              <a:t>Foundations of Artificial Intelligence</a:t>
            </a:r>
            <a:endParaRPr lang="en-US" sz="2020" b="0" u="none" strike="noStrike">
              <a:solidFill>
                <a:srgbClr val="FFFFFF"/>
              </a:solidFill>
              <a:effectLst/>
              <a:uFillTx/>
              <a:latin typeface="Arial"/>
            </a:endParaRPr>
          </a:p>
        </p:txBody>
      </p:sp>
      <p:sp>
        <p:nvSpPr>
          <p:cNvPr id="21" name="course_code_year"/>
          <p:cNvSpPr/>
          <p:nvPr/>
        </p:nvSpPr>
        <p:spPr>
          <a:xfrm>
            <a:off x="609480" y="4857840"/>
            <a:ext cx="598140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1729" b="0" u="none" strike="noStrike">
                <a:solidFill>
                  <a:srgbClr val="C7D7E7"/>
                </a:solidFill>
                <a:effectLst/>
                <a:uFillTx/>
                <a:latin typeface="DejaVu Sans"/>
                <a:ea typeface="DejaVu Sans"/>
              </a:rPr>
              <a:t>SEMTM0051   ·   2026/27</a:t>
            </a:r>
            <a:endParaRPr lang="en-US" sz="1729" b="0" u="none" strike="noStrike">
              <a:solidFill>
                <a:srgbClr val="FFFFFF"/>
              </a:solidFill>
              <a:effectLst/>
              <a:uFillTx/>
              <a:latin typeface="Arial"/>
            </a:endParaRPr>
          </a:p>
        </p:txBody>
      </p:sp>
      <p:sp>
        <p:nvSpPr>
          <p:cNvPr id="22" name="lecturer"/>
          <p:cNvSpPr/>
          <p:nvPr/>
        </p:nvSpPr>
        <p:spPr>
          <a:xfrm>
            <a:off x="609480" y="6076800"/>
            <a:ext cx="5981400" cy="41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1870" b="0" u="none" strike="noStrike">
                <a:solidFill>
                  <a:srgbClr val="FFFFFF"/>
                </a:solidFill>
                <a:effectLst/>
                <a:uFillTx/>
                <a:latin typeface="DejaVu Sans"/>
                <a:ea typeface="DejaVu Sans"/>
              </a:rPr>
              <a:t>Lecturer: Dr Roberto Colomboni</a:t>
            </a:r>
            <a:endParaRPr lang="en-US" sz="187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EB527222-3DFA-4B53-8316-B23754BDAC09}"/>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l">
              <a:lnSpc>
                <a:spcPct val="112000"/>
              </a:lnSpc>
              <a:buNone/>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Today's lecture</a:t>
            </a:r>
          </a:p>
        </p:txBody>
      </p:sp>
      <p:sp>
        <p:nvSpPr>
          <p:cNvPr id="2" name="footer_course">
            <a:extLst>
              <a:ext uri="{FF2B5EF4-FFF2-40B4-BE49-F238E27FC236}">
                <a16:creationId xmlns:a16="http://schemas.microsoft.com/office/drawing/2014/main" id="{7FE024BE-15B2-460A-988C-1AF46B3388B8}"/>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3" name="footer_number">
            <a:extLst>
              <a:ext uri="{FF2B5EF4-FFF2-40B4-BE49-F238E27FC236}">
                <a16:creationId xmlns:a16="http://schemas.microsoft.com/office/drawing/2014/main" id="{2926976D-B955-4F1D-9337-DB06744A724E}"/>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2</a:t>
            </a:r>
          </a:p>
        </p:txBody>
      </p:sp>
      <p:sp>
        <p:nvSpPr>
          <p:cNvPr id="4" name="agenda_0">
            <a:extLst>
              <a:ext uri="{FF2B5EF4-FFF2-40B4-BE49-F238E27FC236}">
                <a16:creationId xmlns:a16="http://schemas.microsoft.com/office/drawing/2014/main" id="{0ECC5740-FEC1-4713-9ED9-3177183C46D6}"/>
              </a:ext>
            </a:extLst>
          </p:cNvPr>
          <p:cNvSpPr>
            <a:spLocks noGrp="1"/>
          </p:cNvSpPr>
          <p:nvPr/>
        </p:nvSpPr>
        <p:spPr>
          <a:xfrm>
            <a:off x="1038225" y="21526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Binary classification</a:t>
            </a:r>
          </a:p>
        </p:txBody>
      </p:sp>
      <p:sp>
        <p:nvSpPr>
          <p:cNvPr id="5" name="agenda_1">
            <a:extLst>
              <a:ext uri="{FF2B5EF4-FFF2-40B4-BE49-F238E27FC236}">
                <a16:creationId xmlns:a16="http://schemas.microsoft.com/office/drawing/2014/main" id="{6CC5AE40-FE87-4180-93E6-A509857ADC0A}"/>
              </a:ext>
            </a:extLst>
          </p:cNvPr>
          <p:cNvSpPr>
            <a:spLocks noGrp="1"/>
          </p:cNvSpPr>
          <p:nvPr/>
        </p:nvSpPr>
        <p:spPr>
          <a:xfrm>
            <a:off x="1038225" y="31051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Classification error and logistic loss</a:t>
            </a:r>
          </a:p>
        </p:txBody>
      </p:sp>
      <p:sp>
        <p:nvSpPr>
          <p:cNvPr id="6" name="agenda_2">
            <a:extLst>
              <a:ext uri="{FF2B5EF4-FFF2-40B4-BE49-F238E27FC236}">
                <a16:creationId xmlns:a16="http://schemas.microsoft.com/office/drawing/2014/main" id="{3312F965-09C1-4D12-84D5-4BBA1DEBD5BA}"/>
              </a:ext>
            </a:extLst>
          </p:cNvPr>
          <p:cNvSpPr>
            <a:spLocks noGrp="1"/>
          </p:cNvSpPr>
          <p:nvPr/>
        </p:nvSpPr>
        <p:spPr>
          <a:xfrm>
            <a:off x="1038225" y="40576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Gradient descent</a:t>
            </a:r>
          </a:p>
        </p:txBody>
      </p:sp>
      <p:sp>
        <p:nvSpPr>
          <p:cNvPr id="7" name="agenda_3">
            <a:extLst>
              <a:ext uri="{FF2B5EF4-FFF2-40B4-BE49-F238E27FC236}">
                <a16:creationId xmlns:a16="http://schemas.microsoft.com/office/drawing/2014/main" id="{C35903BF-7FDC-425A-86AF-AAABDFFAADC2}"/>
              </a:ext>
            </a:extLst>
          </p:cNvPr>
          <p:cNvSpPr>
            <a:spLocks noGrp="1"/>
          </p:cNvSpPr>
          <p:nvPr/>
        </p:nvSpPr>
        <p:spPr>
          <a:xfrm>
            <a:off x="1038225" y="50101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More than two classes</a:t>
            </a:r>
          </a:p>
        </p:txBody>
      </p:sp>
    </p:spTree>
    <p:extLst>
      <p:ext uri="{BB962C8B-B14F-4D97-AF65-F5344CB8AC3E}">
        <p14:creationId xmlns:p14="http://schemas.microsoft.com/office/powerpoint/2010/main" val="631502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 fill="hold"/>
                                        <p:tgtEl>
                                          <p:spTgt spid="4"/>
                                        </p:tgtEl>
                                        <p:attrNameLst>
                                          <p:attrName>style.color</p:attrName>
                                        </p:attrNameLst>
                                      </p:cBhvr>
                                      <p:to>
                                        <a:srgbClr val="087F83"/>
                                      </p:to>
                                    </p:animClr>
                                    <p:set>
                                      <p:cBhvr>
                                        <p:cTn id="7" dur="10" fill="hold">
                                          <p:stCondLst>
                                            <p:cond delay="0"/>
                                          </p:stCondLst>
                                        </p:cTn>
                                        <p:tgtEl>
                                          <p:spTgt spid="4"/>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F094736-C3FE-41BC-B7B5-63176B4DE853}"/>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Binary classification</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77FDC530-267E-4369-A76A-6C9A4691B0D0}"/>
                  </a:ext>
                </a:extLst>
              </p:cNvPr>
              <p:cNvSpPr>
                <a:spLocks noGrp="1"/>
              </p:cNvSpPr>
              <p:nvPr/>
            </p:nvSpPr>
            <p:spPr>
              <a:xfrm>
                <a:off x="723900" y="909638"/>
                <a:ext cx="10744200" cy="9715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it-IT" sz="2100" b="0" dirty="0">
                    <a:solidFill>
                      <a:srgbClr val="526276"/>
                    </a:solidFill>
                    <a:latin typeface="DejaVu Sans"/>
                    <a:ea typeface="DejaVu Sans"/>
                    <a:cs typeface="DejaVu Sans"/>
                  </a:rPr>
                  <a:t>A synthetic dataset adapted from Iris:</a:t>
                </a:r>
              </a:p>
              <a:p>
                <a:pPr algn="ctr">
                  <a:lnSpc>
                    <a:spcPct val="112000"/>
                  </a:lnSpc>
                  <a:buNone/>
                  <a:defRPr sz="2100" b="0">
                    <a:solidFill>
                      <a:srgbClr val="526276"/>
                    </a:solidFill>
                    <a:latin typeface="DejaVu Sans"/>
                    <a:ea typeface="DejaVu Sans"/>
                    <a:cs typeface="DejaVu Sans"/>
                  </a:defRPr>
                </a:pPr>
                <a:r>
                  <a:rPr lang="it-IT" sz="2100" b="0" dirty="0">
                    <a:solidFill>
                      <a:srgbClr val="526276"/>
                    </a:solidFill>
                    <a:latin typeface="DejaVu Sans"/>
                    <a:ea typeface="DejaVu Sans"/>
                    <a:cs typeface="DejaVu Sans"/>
                  </a:rPr>
                  <a:t>100 observations </a:t>
                </a:r>
                <a14:m>
                  <m:oMath xmlns:m="http://schemas.openxmlformats.org/officeDocument/2006/math">
                    <m:d>
                      <m:dPr>
                        <m:ctrlPr>
                          <a:rPr lang="it-IT" sz="2100" b="1" i="1" smtClean="0">
                            <a:solidFill>
                              <a:srgbClr val="526276"/>
                            </a:solidFill>
                            <a:latin typeface="Cambria Math" panose="02040503050406030204" pitchFamily="18" charset="0"/>
                          </a:rPr>
                        </m:ctrlPr>
                      </m:dPr>
                      <m:e>
                        <m:sSub>
                          <m:sSubPr>
                            <m:ctrlPr>
                              <a:rPr lang="it-IT" sz="2100" b="1" i="0" smtClean="0">
                                <a:solidFill>
                                  <a:srgbClr val="526276"/>
                                </a:solidFill>
                                <a:latin typeface="Cambria Math" panose="02040503050406030204" pitchFamily="18" charset="0"/>
                              </a:rPr>
                            </m:ctrlPr>
                          </m:sSubPr>
                          <m:e>
                            <m:r>
                              <a:rPr lang="it-IT" sz="2100" b="1" i="0" smtClean="0">
                                <a:solidFill>
                                  <a:srgbClr val="526276"/>
                                </a:solidFill>
                                <a:latin typeface="Cambria Math" panose="02040503050406030204" pitchFamily="18" charset="0"/>
                              </a:rPr>
                              <m:t>𝐱</m:t>
                            </m:r>
                          </m:e>
                          <m:sub>
                            <m:r>
                              <a:rPr lang="it-IT" sz="2100" b="0" i="0" smtClean="0">
                                <a:solidFill>
                                  <a:srgbClr val="526276"/>
                                </a:solidFill>
                                <a:latin typeface="Cambria Math" panose="02040503050406030204" pitchFamily="18" charset="0"/>
                              </a:rPr>
                              <m:t>1</m:t>
                            </m:r>
                          </m:sub>
                        </m:sSub>
                        <m:r>
                          <a:rPr lang="it-IT" sz="2100" b="0" i="0" smtClean="0">
                            <a:solidFill>
                              <a:srgbClr val="526276"/>
                            </a:solidFill>
                            <a:latin typeface="Cambria Math" panose="02040503050406030204" pitchFamily="18" charset="0"/>
                          </a:rPr>
                          <m:t>,</m:t>
                        </m:r>
                        <m:sSub>
                          <m:sSubPr>
                            <m:ctrlPr>
                              <a:rPr lang="it-IT" sz="2100" b="0" i="1" smtClean="0">
                                <a:solidFill>
                                  <a:srgbClr val="526276"/>
                                </a:solidFill>
                                <a:latin typeface="Cambria Math" panose="02040503050406030204" pitchFamily="18" charset="0"/>
                              </a:rPr>
                            </m:ctrlPr>
                          </m:sSubPr>
                          <m:e>
                            <m:r>
                              <a:rPr lang="it-IT" sz="2100" b="0" i="1" smtClean="0">
                                <a:solidFill>
                                  <a:srgbClr val="526276"/>
                                </a:solidFill>
                                <a:latin typeface="Cambria Math" panose="02040503050406030204" pitchFamily="18" charset="0"/>
                              </a:rPr>
                              <m:t>𝑦</m:t>
                            </m:r>
                          </m:e>
                          <m:sub>
                            <m:r>
                              <a:rPr lang="it-IT" sz="2100" b="0" i="0" smtClean="0">
                                <a:solidFill>
                                  <a:srgbClr val="526276"/>
                                </a:solidFill>
                                <a:latin typeface="Cambria Math" panose="02040503050406030204" pitchFamily="18" charset="0"/>
                              </a:rPr>
                              <m:t>1</m:t>
                            </m:r>
                          </m:sub>
                        </m:sSub>
                      </m:e>
                    </m:d>
                    <m:r>
                      <a:rPr lang="it-IT" sz="2100" b="0" i="1" smtClean="0">
                        <a:solidFill>
                          <a:srgbClr val="526276"/>
                        </a:solidFill>
                        <a:latin typeface="Cambria Math" panose="02040503050406030204" pitchFamily="18" charset="0"/>
                      </a:rPr>
                      <m:t>,…,</m:t>
                    </m:r>
                    <m:d>
                      <m:dPr>
                        <m:ctrlPr>
                          <a:rPr lang="it-IT" sz="2100" b="1" i="1">
                            <a:solidFill>
                              <a:srgbClr val="526276"/>
                            </a:solidFill>
                            <a:latin typeface="Cambria Math" panose="02040503050406030204" pitchFamily="18" charset="0"/>
                          </a:rPr>
                        </m:ctrlPr>
                      </m:dPr>
                      <m:e>
                        <m:sSub>
                          <m:sSubPr>
                            <m:ctrlPr>
                              <a:rPr lang="it-IT" sz="2100" b="1">
                                <a:solidFill>
                                  <a:srgbClr val="526276"/>
                                </a:solidFill>
                                <a:latin typeface="Cambria Math" panose="02040503050406030204" pitchFamily="18" charset="0"/>
                              </a:rPr>
                            </m:ctrlPr>
                          </m:sSubPr>
                          <m:e>
                            <m:r>
                              <a:rPr lang="it-IT" sz="2100" b="1">
                                <a:solidFill>
                                  <a:srgbClr val="526276"/>
                                </a:solidFill>
                                <a:latin typeface="Cambria Math" panose="02040503050406030204" pitchFamily="18" charset="0"/>
                              </a:rPr>
                              <m:t>𝐱</m:t>
                            </m:r>
                          </m:e>
                          <m:sub>
                            <m:r>
                              <a:rPr lang="it-IT" sz="2100" b="0" i="1">
                                <a:solidFill>
                                  <a:srgbClr val="526276"/>
                                </a:solidFill>
                                <a:latin typeface="Cambria Math" panose="02040503050406030204" pitchFamily="18" charset="0"/>
                              </a:rPr>
                              <m:t>1</m:t>
                            </m:r>
                            <m:r>
                              <a:rPr lang="it-IT" sz="2100" b="0" i="1" smtClean="0">
                                <a:solidFill>
                                  <a:srgbClr val="526276"/>
                                </a:solidFill>
                                <a:latin typeface="Cambria Math" panose="02040503050406030204" pitchFamily="18" charset="0"/>
                              </a:rPr>
                              <m:t>00</m:t>
                            </m:r>
                          </m:sub>
                        </m:sSub>
                        <m:r>
                          <a:rPr lang="it-IT" sz="2100">
                            <a:solidFill>
                              <a:srgbClr val="526276"/>
                            </a:solidFill>
                            <a:latin typeface="Cambria Math" panose="02040503050406030204" pitchFamily="18" charset="0"/>
                          </a:rPr>
                          <m:t>,</m:t>
                        </m:r>
                        <m:sSub>
                          <m:sSubPr>
                            <m:ctrlPr>
                              <a:rPr lang="it-IT" sz="2100" i="1">
                                <a:solidFill>
                                  <a:srgbClr val="526276"/>
                                </a:solidFill>
                                <a:latin typeface="Cambria Math" panose="02040503050406030204" pitchFamily="18" charset="0"/>
                              </a:rPr>
                            </m:ctrlPr>
                          </m:sSubPr>
                          <m:e>
                            <m:r>
                              <a:rPr lang="it-IT" sz="2100" i="1">
                                <a:solidFill>
                                  <a:srgbClr val="526276"/>
                                </a:solidFill>
                                <a:latin typeface="Cambria Math" panose="02040503050406030204" pitchFamily="18" charset="0"/>
                              </a:rPr>
                              <m:t>𝑦</m:t>
                            </m:r>
                          </m:e>
                          <m:sub>
                            <m:r>
                              <a:rPr lang="it-IT" sz="2100">
                                <a:solidFill>
                                  <a:srgbClr val="526276"/>
                                </a:solidFill>
                                <a:latin typeface="Cambria Math" panose="02040503050406030204" pitchFamily="18" charset="0"/>
                              </a:rPr>
                              <m:t>1</m:t>
                            </m:r>
                            <m:r>
                              <a:rPr lang="it-IT" sz="2100" b="0" i="0" smtClean="0">
                                <a:solidFill>
                                  <a:srgbClr val="526276"/>
                                </a:solidFill>
                                <a:latin typeface="Cambria Math" panose="02040503050406030204" pitchFamily="18" charset="0"/>
                              </a:rPr>
                              <m:t>00</m:t>
                            </m:r>
                          </m:sub>
                        </m:sSub>
                      </m:e>
                    </m:d>
                  </m:oMath>
                </a14:m>
                <a:r>
                  <a:rPr lang="it-IT" sz="2100" b="0" dirty="0">
                    <a:solidFill>
                      <a:srgbClr val="526276"/>
                    </a:solidFill>
                    <a:latin typeface="DejaVu Sans"/>
                    <a:ea typeface="DejaVu Sans"/>
                    <a:cs typeface="DejaVu Sans"/>
                  </a:rPr>
                  <a:t>, with</a:t>
                </a:r>
                <a:r>
                  <a:rPr lang="ar-AE" sz="2100" b="0" dirty="0">
                    <a:solidFill>
                      <a:srgbClr val="526276"/>
                    </a:solidFill>
                    <a:latin typeface="DejaVu Sans"/>
                    <a:ea typeface="DejaVu Sans"/>
                    <a:cs typeface="DejaVu Sans"/>
                  </a:rPr>
                  <a:t> </a:t>
                </a:r>
                <a:r>
                  <a:rPr lang="it-IT" sz="2100" b="0" dirty="0">
                    <a:solidFill>
                      <a:srgbClr val="526276"/>
                    </a:solidFill>
                    <a:latin typeface="DejaVu Sans"/>
                    <a:ea typeface="DejaVu Sans"/>
                    <a:cs typeface="DejaVu Sans"/>
                  </a:rPr>
                  <a:t>two input features and two classes.</a:t>
                </a:r>
                <a:endParaRPr sz="2100" b="0" dirty="0">
                  <a:solidFill>
                    <a:srgbClr val="526276"/>
                  </a:solidFill>
                  <a:latin typeface="DejaVu Sans"/>
                  <a:ea typeface="DejaVu Sans"/>
                  <a:cs typeface="DejaVu Sans"/>
                </a:endParaRPr>
              </a:p>
            </p:txBody>
          </p:sp>
        </mc:Choice>
        <mc:Fallback xmlns="">
          <p:sp>
            <p:nvSpPr>
              <p:cNvPr id="2" name="lead">
                <a:extLst>
                  <a:ext uri="{FF2B5EF4-FFF2-40B4-BE49-F238E27FC236}">
                    <a16:creationId xmlns:a16="http://schemas.microsoft.com/office/drawing/2014/main" id="{77FDC530-267E-4369-A76A-6C9A4691B0D0}"/>
                  </a:ext>
                </a:extLst>
              </p:cNvPr>
              <p:cNvSpPr>
                <a:spLocks noGrp="1" noRot="1" noChangeAspect="1" noMove="1" noResize="1" noEditPoints="1" noAdjustHandles="1" noChangeArrowheads="1" noChangeShapeType="1" noTextEdit="1"/>
              </p:cNvSpPr>
              <p:nvPr/>
            </p:nvSpPr>
            <p:spPr>
              <a:xfrm>
                <a:off x="723900" y="909638"/>
                <a:ext cx="10744200" cy="971550"/>
              </a:xfrm>
              <a:prstGeom prst="rect">
                <a:avLst/>
              </a:prstGeom>
              <a:blipFill>
                <a:blip r:embed="rId3"/>
                <a:stretch>
                  <a:fillRect l="-795" r="-795" b="-1875"/>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0CAD2AFF-A09F-45DF-BB78-D9D0B6DED294}"/>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C9F7BCFB-C991-4F0E-A730-38C326695644}"/>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3</a:t>
            </a:r>
          </a:p>
        </p:txBody>
      </p:sp>
      <p:graphicFrame>
        <p:nvGraphicFramePr>
          <p:cNvPr id="13" name="step_0_chart_0"/>
          <p:cNvGraphicFramePr/>
          <p:nvPr/>
        </p:nvGraphicFramePr>
        <p:xfrm>
          <a:off x="723900" y="1790700"/>
          <a:ext cx="7191375" cy="4019550"/>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14" name="step_0_equation_1" descr="\boldsymbol x_i=(x_{i1},x_{i2}),\quad y_i\in\{0,1\}">
                <a:extLst>
                  <a:ext uri="{FF2B5EF4-FFF2-40B4-BE49-F238E27FC236}">
                    <a16:creationId xmlns:a16="http://schemas.microsoft.com/office/drawing/2014/main" id="{5F4B1681-0A56-4561-B128-884CDDE1EF05}"/>
                  </a:ext>
                </a:extLst>
              </p:cNvPr>
              <p:cNvSpPr>
                <a:spLocks noGrp="1"/>
              </p:cNvSpPr>
              <p:nvPr/>
            </p:nvSpPr>
            <p:spPr>
              <a:xfrm>
                <a:off x="7953375" y="2114550"/>
                <a:ext cx="3476625" cy="704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50">
                              <a:solidFill>
                                <a:srgbClr val="087F83"/>
                              </a:solidFill>
                              <a:latin typeface="Cambria Math"/>
                              <a:ea typeface="Cambria Math"/>
                              <a:cs typeface="Cambria Math"/>
                            </a:rPr>
                          </m:ctrlPr>
                        </m:sSubPr>
                        <m:e>
                          <m:r>
                            <a:rPr lang="en-GB" sz="2250">
                              <a:solidFill>
                                <a:srgbClr val="087F83"/>
                              </a:solidFill>
                              <a:latin typeface="Cambria Math"/>
                              <a:ea typeface="Cambria Math"/>
                              <a:cs typeface="Cambria Math"/>
                            </a:rPr>
                            <m:t>𝐱</m:t>
                          </m:r>
                        </m:e>
                        <m:sub>
                          <m:r>
                            <a:rPr lang="en-GB" sz="2250">
                              <a:solidFill>
                                <a:srgbClr val="087F83"/>
                              </a:solidFill>
                              <a:latin typeface="Cambria Math"/>
                              <a:ea typeface="Cambria Math"/>
                              <a:cs typeface="Cambria Math"/>
                            </a:rPr>
                            <m:t>𝑖</m:t>
                          </m:r>
                        </m:sub>
                      </m:sSub>
                      <m:r>
                        <a:rPr lang="en-GB" sz="2250">
                          <a:solidFill>
                            <a:srgbClr val="087F83"/>
                          </a:solidFill>
                          <a:latin typeface="Cambria Math"/>
                          <a:ea typeface="Cambria Math"/>
                          <a:cs typeface="Cambria Math"/>
                        </a:rPr>
                        <m:t>=</m:t>
                      </m:r>
                      <m:d>
                        <m:dPr>
                          <m:ctrlPr>
                            <a:rPr lang="en-GB" sz="2250" i="1">
                              <a:solidFill>
                                <a:srgbClr val="087F83"/>
                              </a:solidFill>
                              <a:latin typeface="Cambria Math" panose="02040503050406030204" pitchFamily="18" charset="0"/>
                              <a:ea typeface="Cambria Math"/>
                              <a:cs typeface="Cambria Math"/>
                            </a:rPr>
                          </m:ctrlPr>
                        </m:dPr>
                        <m:e>
                          <m:sSub>
                            <m:sSubPr>
                              <m:ctrlPr>
                                <a:rPr lang="en-GB" sz="2250">
                                  <a:solidFill>
                                    <a:srgbClr val="087F83"/>
                                  </a:solidFill>
                                  <a:latin typeface="Cambria Math"/>
                                  <a:ea typeface="Cambria Math"/>
                                  <a:cs typeface="Cambria Math"/>
                                </a:rPr>
                              </m:ctrlPr>
                            </m:sSubPr>
                            <m:e>
                              <m:r>
                                <a:rPr lang="en-GB" sz="2250">
                                  <a:solidFill>
                                    <a:srgbClr val="087F83"/>
                                  </a:solidFill>
                                  <a:latin typeface="Cambria Math"/>
                                  <a:ea typeface="Cambria Math"/>
                                  <a:cs typeface="Cambria Math"/>
                                </a:rPr>
                                <m:t>𝑥</m:t>
                              </m:r>
                            </m:e>
                            <m:sub>
                              <m:r>
                                <a:rPr lang="en-GB" sz="2250">
                                  <a:solidFill>
                                    <a:srgbClr val="087F83"/>
                                  </a:solidFill>
                                  <a:latin typeface="Cambria Math"/>
                                  <a:ea typeface="Cambria Math"/>
                                  <a:cs typeface="Cambria Math"/>
                                </a:rPr>
                                <m:t>𝑖</m:t>
                              </m:r>
                              <m:r>
                                <a:rPr lang="en-GB" sz="2250">
                                  <a:solidFill>
                                    <a:srgbClr val="087F83"/>
                                  </a:solidFill>
                                  <a:latin typeface="Cambria Math"/>
                                  <a:ea typeface="Cambria Math"/>
                                  <a:cs typeface="Cambria Math"/>
                                </a:rPr>
                                <m:t>1</m:t>
                              </m:r>
                            </m:sub>
                          </m:sSub>
                          <m:r>
                            <a:rPr lang="en-GB" sz="2250">
                              <a:solidFill>
                                <a:srgbClr val="087F83"/>
                              </a:solidFill>
                              <a:latin typeface="Cambria Math"/>
                              <a:ea typeface="Cambria Math"/>
                              <a:cs typeface="Cambria Math"/>
                            </a:rPr>
                            <m:t>,</m:t>
                          </m:r>
                          <m:sSub>
                            <m:sSubPr>
                              <m:ctrlPr>
                                <a:rPr lang="en-GB" sz="2250">
                                  <a:solidFill>
                                    <a:srgbClr val="087F83"/>
                                  </a:solidFill>
                                  <a:latin typeface="Cambria Math"/>
                                  <a:ea typeface="Cambria Math"/>
                                  <a:cs typeface="Cambria Math"/>
                                </a:rPr>
                              </m:ctrlPr>
                            </m:sSubPr>
                            <m:e>
                              <m:r>
                                <a:rPr lang="en-GB" sz="2250">
                                  <a:solidFill>
                                    <a:srgbClr val="087F83"/>
                                  </a:solidFill>
                                  <a:latin typeface="Cambria Math"/>
                                  <a:ea typeface="Cambria Math"/>
                                  <a:cs typeface="Cambria Math"/>
                                </a:rPr>
                                <m:t>𝑥</m:t>
                              </m:r>
                            </m:e>
                            <m:sub>
                              <m:r>
                                <a:rPr lang="en-GB" sz="2250">
                                  <a:solidFill>
                                    <a:srgbClr val="087F83"/>
                                  </a:solidFill>
                                  <a:latin typeface="Cambria Math"/>
                                  <a:ea typeface="Cambria Math"/>
                                  <a:cs typeface="Cambria Math"/>
                                </a:rPr>
                                <m:t>𝑖</m:t>
                              </m:r>
                              <m:r>
                                <a:rPr lang="en-GB" sz="2250">
                                  <a:solidFill>
                                    <a:srgbClr val="087F83"/>
                                  </a:solidFill>
                                  <a:latin typeface="Cambria Math"/>
                                  <a:ea typeface="Cambria Math"/>
                                  <a:cs typeface="Cambria Math"/>
                                </a:rPr>
                                <m:t>2</m:t>
                              </m:r>
                            </m:sub>
                          </m:sSub>
                        </m:e>
                      </m:d>
                      <m:r>
                        <a:rPr lang="en-GB" sz="2250">
                          <a:solidFill>
                            <a:srgbClr val="087F83"/>
                          </a:solidFill>
                          <a:latin typeface="Cambria Math"/>
                          <a:ea typeface="Cambria Math"/>
                          <a:cs typeface="Cambria Math"/>
                        </a:rPr>
                        <m:t>, </m:t>
                      </m:r>
                      <m:sSub>
                        <m:sSubPr>
                          <m:ctrlPr>
                            <a:rPr lang="en-GB" sz="2250">
                              <a:solidFill>
                                <a:srgbClr val="087F83"/>
                              </a:solidFill>
                              <a:latin typeface="Cambria Math"/>
                              <a:ea typeface="Cambria Math"/>
                              <a:cs typeface="Cambria Math"/>
                            </a:rPr>
                          </m:ctrlPr>
                        </m:sSubPr>
                        <m:e>
                          <m:r>
                            <a:rPr lang="en-GB" sz="2250">
                              <a:solidFill>
                                <a:srgbClr val="087F83"/>
                              </a:solidFill>
                              <a:latin typeface="Cambria Math"/>
                              <a:ea typeface="Cambria Math"/>
                              <a:cs typeface="Cambria Math"/>
                            </a:rPr>
                            <m:t>𝑦</m:t>
                          </m:r>
                        </m:e>
                        <m:sub>
                          <m:r>
                            <a:rPr lang="en-GB" sz="2250">
                              <a:solidFill>
                                <a:srgbClr val="087F83"/>
                              </a:solidFill>
                              <a:latin typeface="Cambria Math"/>
                              <a:ea typeface="Cambria Math"/>
                              <a:cs typeface="Cambria Math"/>
                            </a:rPr>
                            <m:t>𝑖</m:t>
                          </m:r>
                        </m:sub>
                      </m:sSub>
                      <m:r>
                        <a:rPr lang="en-GB" sz="2250">
                          <a:solidFill>
                            <a:srgbClr val="087F83"/>
                          </a:solidFill>
                          <a:latin typeface="Cambria Math"/>
                          <a:ea typeface="Cambria Math"/>
                          <a:cs typeface="Cambria Math"/>
                        </a:rPr>
                        <m:t>∈{0,1}</m:t>
                      </m:r>
                    </m:oMath>
                  </m:oMathPara>
                </a14:m>
                <a:endParaRPr lang="en-GB" sz="2250" dirty="0"/>
              </a:p>
            </p:txBody>
          </p:sp>
        </mc:Choice>
        <mc:Fallback xmlns="">
          <p:sp>
            <p:nvSpPr>
              <p:cNvPr id="14" name="step_0_equation_1" descr="\boldsymbol x_i=(x_{i1},x_{i2}),\quad y_i\in\{0,1\}">
                <a:extLst>
                  <a:ext uri="{FF2B5EF4-FFF2-40B4-BE49-F238E27FC236}">
                    <a16:creationId xmlns:a16="http://schemas.microsoft.com/office/drawing/2014/main" id="{5F4B1681-0A56-4561-B128-884CDDE1EF05}"/>
                  </a:ext>
                </a:extLst>
              </p:cNvPr>
              <p:cNvSpPr>
                <a:spLocks noGrp="1" noRot="1" noChangeAspect="1" noMove="1" noResize="1" noEditPoints="1" noAdjustHandles="1" noChangeArrowheads="1" noChangeShapeType="1" noTextEdit="1"/>
              </p:cNvSpPr>
              <p:nvPr/>
            </p:nvSpPr>
            <p:spPr>
              <a:xfrm>
                <a:off x="7953375" y="2114550"/>
                <a:ext cx="3476625" cy="704850"/>
              </a:xfrm>
              <a:prstGeom prst="rect">
                <a:avLst/>
              </a:prstGeom>
              <a:blipFill>
                <a:blip r:embed="rId5"/>
                <a:stretch>
                  <a:fillRect/>
                </a:stretch>
              </a:blipFill>
              <a:ln w="0">
                <a:noFill/>
              </a:ln>
            </p:spPr>
            <p:txBody>
              <a:bodyPr/>
              <a:lstStyle/>
              <a:p>
                <a:r>
                  <a:rPr lang="it-IT">
                    <a:noFill/>
                  </a:rPr>
                  <a:t> </a:t>
                </a:r>
              </a:p>
            </p:txBody>
          </p:sp>
        </mc:Fallback>
      </mc:AlternateContent>
      <p:sp>
        <p:nvSpPr>
          <p:cNvPr id="15" name="step_1_feature_one">
            <a:extLst>
              <a:ext uri="{FF2B5EF4-FFF2-40B4-BE49-F238E27FC236}">
                <a16:creationId xmlns:a16="http://schemas.microsoft.com/office/drawing/2014/main" id="{7A11D686-4DF2-4C06-A2B3-A1699D2CC9A0}"/>
              </a:ext>
            </a:extLst>
          </p:cNvPr>
          <p:cNvSpPr>
            <a:spLocks noGrp="1"/>
          </p:cNvSpPr>
          <p:nvPr/>
        </p:nvSpPr>
        <p:spPr>
          <a:xfrm>
            <a:off x="7953375" y="3114675"/>
            <a:ext cx="3476625" cy="381000"/>
          </a:xfrm>
          <a:prstGeom prst="rect">
            <a:avLst/>
          </a:prstGeom>
          <a:noFill/>
          <a:ln w="0">
            <a:noFill/>
          </a:ln>
        </p:spPr>
        <p:txBody>
          <a:bodyPr wrap="square" lIns="0" tIns="0" rIns="0" bIns="0" anchor="ctr">
            <a:noAutofit/>
          </a:bodyPr>
          <a:lstStyle/>
          <a:p>
            <a:pPr algn="l">
              <a:lnSpc>
                <a:spcPct val="110000"/>
              </a:lnSpc>
              <a:buNone/>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x₁: first input feature</a:t>
            </a:r>
          </a:p>
        </p:txBody>
      </p:sp>
      <p:sp>
        <p:nvSpPr>
          <p:cNvPr id="16" name="step_1_feature_two">
            <a:extLst>
              <a:ext uri="{FF2B5EF4-FFF2-40B4-BE49-F238E27FC236}">
                <a16:creationId xmlns:a16="http://schemas.microsoft.com/office/drawing/2014/main" id="{5CFB33C1-1704-484F-81FA-88381800D051}"/>
              </a:ext>
            </a:extLst>
          </p:cNvPr>
          <p:cNvSpPr>
            <a:spLocks noGrp="1"/>
          </p:cNvSpPr>
          <p:nvPr/>
        </p:nvSpPr>
        <p:spPr>
          <a:xfrm>
            <a:off x="7953375" y="3552825"/>
            <a:ext cx="3476625" cy="381000"/>
          </a:xfrm>
          <a:prstGeom prst="rect">
            <a:avLst/>
          </a:prstGeom>
          <a:noFill/>
          <a:ln w="0">
            <a:noFill/>
          </a:ln>
        </p:spPr>
        <p:txBody>
          <a:bodyPr wrap="square" lIns="0" tIns="0" rIns="0" bIns="0" anchor="ctr">
            <a:noAutofit/>
          </a:bodyPr>
          <a:lstStyle/>
          <a:p>
            <a:pPr algn="l">
              <a:lnSpc>
                <a:spcPct val="110000"/>
              </a:lnSpc>
              <a:buNone/>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x₂: second input feature</a:t>
            </a:r>
          </a:p>
        </p:txBody>
      </p:sp>
      <p:sp>
        <p:nvSpPr>
          <p:cNvPr id="17" name="step_1_class_zero">
            <a:extLst>
              <a:ext uri="{FF2B5EF4-FFF2-40B4-BE49-F238E27FC236}">
                <a16:creationId xmlns:a16="http://schemas.microsoft.com/office/drawing/2014/main" id="{DDED5207-AE99-4579-9333-6D61F05F0AF9}"/>
              </a:ext>
            </a:extLst>
          </p:cNvPr>
          <p:cNvSpPr>
            <a:spLocks noGrp="1"/>
          </p:cNvSpPr>
          <p:nvPr/>
        </p:nvSpPr>
        <p:spPr>
          <a:xfrm>
            <a:off x="7953375" y="4162425"/>
            <a:ext cx="3476625" cy="381000"/>
          </a:xfrm>
          <a:prstGeom prst="rect">
            <a:avLst/>
          </a:prstGeom>
          <a:noFill/>
          <a:ln w="0">
            <a:noFill/>
          </a:ln>
        </p:spPr>
        <p:txBody>
          <a:bodyPr wrap="square" lIns="0" tIns="0" rIns="0" bIns="0" anchor="ctr">
            <a:noAutofit/>
          </a:bodyPr>
          <a:lstStyle/>
          <a:p>
            <a:pPr algn="l">
              <a:lnSpc>
                <a:spcPct val="110000"/>
              </a:lnSpc>
              <a:buNone/>
              <a:defRPr sz="1950" b="0">
                <a:solidFill>
                  <a:srgbClr val="326CB2"/>
                </a:solidFill>
                <a:latin typeface="DejaVu Sans"/>
                <a:ea typeface="DejaVu Sans"/>
                <a:cs typeface="DejaVu Sans"/>
              </a:defRPr>
            </a:pPr>
            <a:r>
              <a:rPr sz="1950" b="0">
                <a:solidFill>
                  <a:srgbClr val="326CB2"/>
                </a:solidFill>
                <a:latin typeface="DejaVu Sans"/>
                <a:ea typeface="DejaVu Sans"/>
                <a:cs typeface="DejaVu Sans"/>
              </a:rPr>
              <a:t>Class 0: 50 observations</a:t>
            </a:r>
          </a:p>
        </p:txBody>
      </p:sp>
      <p:sp>
        <p:nvSpPr>
          <p:cNvPr id="18" name="step_1_class_one">
            <a:extLst>
              <a:ext uri="{FF2B5EF4-FFF2-40B4-BE49-F238E27FC236}">
                <a16:creationId xmlns:a16="http://schemas.microsoft.com/office/drawing/2014/main" id="{6DB08BC3-AF32-40C9-9940-14C73DFDB31E}"/>
              </a:ext>
            </a:extLst>
          </p:cNvPr>
          <p:cNvSpPr>
            <a:spLocks noGrp="1"/>
          </p:cNvSpPr>
          <p:nvPr/>
        </p:nvSpPr>
        <p:spPr>
          <a:xfrm>
            <a:off x="7953375" y="4581525"/>
            <a:ext cx="3476625" cy="381000"/>
          </a:xfrm>
          <a:prstGeom prst="rect">
            <a:avLst/>
          </a:prstGeom>
          <a:noFill/>
          <a:ln w="0">
            <a:noFill/>
          </a:ln>
        </p:spPr>
        <p:txBody>
          <a:bodyPr wrap="square" lIns="0" tIns="0" rIns="0" bIns="0" anchor="ctr">
            <a:noAutofit/>
          </a:bodyPr>
          <a:lstStyle/>
          <a:p>
            <a:pPr algn="l">
              <a:lnSpc>
                <a:spcPct val="110000"/>
              </a:lnSpc>
              <a:buNone/>
              <a:defRPr sz="1950" b="0">
                <a:solidFill>
                  <a:srgbClr val="C45C28"/>
                </a:solidFill>
                <a:latin typeface="DejaVu Sans"/>
                <a:ea typeface="DejaVu Sans"/>
                <a:cs typeface="DejaVu Sans"/>
              </a:defRPr>
            </a:pPr>
            <a:r>
              <a:rPr sz="1950" b="0" dirty="0">
                <a:solidFill>
                  <a:srgbClr val="C45C28"/>
                </a:solidFill>
                <a:latin typeface="DejaVu Sans"/>
                <a:ea typeface="DejaVu Sans"/>
                <a:cs typeface="DejaVu Sans"/>
              </a:rPr>
              <a:t>Class 1: 50 observations</a:t>
            </a:r>
          </a:p>
        </p:txBody>
      </p:sp>
      <p:sp>
        <p:nvSpPr>
          <p:cNvPr id="19" name="step_2_goal">
            <a:extLst>
              <a:ext uri="{FF2B5EF4-FFF2-40B4-BE49-F238E27FC236}">
                <a16:creationId xmlns:a16="http://schemas.microsoft.com/office/drawing/2014/main" id="{E2729E76-BC93-4D4F-B767-661A10AB1D23}"/>
              </a:ext>
            </a:extLst>
          </p:cNvPr>
          <p:cNvSpPr>
            <a:spLocks noGrp="1"/>
          </p:cNvSpPr>
          <p:nvPr/>
        </p:nvSpPr>
        <p:spPr>
          <a:xfrm>
            <a:off x="7953375" y="5210175"/>
            <a:ext cx="3476625" cy="771525"/>
          </a:xfrm>
          <a:prstGeom prst="rect">
            <a:avLst/>
          </a:prstGeom>
          <a:noFill/>
          <a:ln w="0">
            <a:noFill/>
          </a:ln>
        </p:spPr>
        <p:txBody>
          <a:bodyPr wrap="square" lIns="0" tIns="0" rIns="0" bIns="0" anchor="ctr">
            <a:noAutofit/>
          </a:bodyPr>
          <a:lstStyle/>
          <a:p>
            <a:pPr algn="l">
              <a:lnSpc>
                <a:spcPct val="110000"/>
              </a:lnSpc>
              <a:buNone/>
              <a:defRPr sz="2025" b="1">
                <a:solidFill>
                  <a:srgbClr val="087F83"/>
                </a:solidFill>
                <a:latin typeface="DejaVu Sans"/>
                <a:ea typeface="DejaVu Sans"/>
                <a:cs typeface="DejaVu Sans"/>
              </a:defRPr>
            </a:pPr>
            <a:r>
              <a:rPr sz="2025" b="1" dirty="0">
                <a:solidFill>
                  <a:srgbClr val="087F83"/>
                </a:solidFill>
                <a:latin typeface="DejaVu Sans"/>
                <a:ea typeface="DejaVu Sans"/>
                <a:cs typeface="DejaVu Sans"/>
              </a:rPr>
              <a:t>Learn a rule to predict</a:t>
            </a:r>
          </a:p>
          <a:p>
            <a:pPr algn="l">
              <a:lnSpc>
                <a:spcPct val="110000"/>
              </a:lnSpc>
              <a:buNone/>
              <a:defRPr sz="2025" b="1">
                <a:solidFill>
                  <a:srgbClr val="087F83"/>
                </a:solidFill>
                <a:latin typeface="DejaVu Sans"/>
                <a:ea typeface="DejaVu Sans"/>
                <a:cs typeface="DejaVu Sans"/>
              </a:defRPr>
            </a:pPr>
            <a:r>
              <a:rPr sz="2025" b="1" dirty="0">
                <a:solidFill>
                  <a:srgbClr val="087F83"/>
                </a:solidFill>
                <a:latin typeface="DejaVu Sans"/>
                <a:ea typeface="DejaVu Sans"/>
                <a:cs typeface="DejaVu Sans"/>
              </a:rPr>
              <a:t>the class of an input.</a:t>
            </a:r>
          </a:p>
        </p:txBody>
      </p:sp>
      <p:sp>
        <p:nvSpPr>
          <p:cNvPr id="20" name="step_0_dataset_file">
            <a:extLst>
              <a:ext uri="{FF2B5EF4-FFF2-40B4-BE49-F238E27FC236}">
                <a16:creationId xmlns:a16="http://schemas.microsoft.com/office/drawing/2014/main" id="{F3F1D677-CFCE-4BBC-A585-53F9560F53D3}"/>
              </a:ext>
            </a:extLst>
          </p:cNvPr>
          <p:cNvSpPr>
            <a:spLocks noGrp="1"/>
          </p:cNvSpPr>
          <p:nvPr/>
        </p:nvSpPr>
        <p:spPr>
          <a:xfrm>
            <a:off x="857250" y="6010275"/>
            <a:ext cx="10477500" cy="666750"/>
          </a:xfrm>
          <a:prstGeom prst="rect">
            <a:avLst/>
          </a:prstGeom>
          <a:noFill/>
          <a:ln w="0">
            <a:noFill/>
          </a:ln>
        </p:spPr>
        <p:txBody>
          <a:bodyPr wrap="square" lIns="0" tIns="0" rIns="0" bIns="0" anchor="ctr">
            <a:noAutofit/>
          </a:bodyPr>
          <a:lstStyle/>
          <a:p>
            <a:pPr algn="ctr">
              <a:lnSpc>
                <a:spcPct val="110000"/>
              </a:lnSpc>
              <a:buNone/>
              <a:defRPr sz="1725" b="0">
                <a:solidFill>
                  <a:srgbClr val="326CB2"/>
                </a:solidFill>
                <a:latin typeface="DejaVu Sans"/>
                <a:ea typeface="DejaVu Sans"/>
                <a:cs typeface="DejaVu Sans"/>
              </a:defRPr>
            </a:pPr>
            <a:r>
              <a:rPr lang="en-GB" sz="1725" b="0" u="sng" dirty="0">
                <a:solidFill>
                  <a:srgbClr val="326CB2"/>
                </a:solidFill>
                <a:latin typeface="DejaVu Sans"/>
                <a:ea typeface="DejaVu Sans"/>
                <a:cs typeface="DejaVu Sans"/>
                <a:hlinkClick r:id="rId6" tooltip="Open the accompanying data file"/>
              </a:rPr>
              <a:t>Dataset and instructions in the folder: Week 3 </a:t>
            </a:r>
            <a:r>
              <a:rPr lang="en-GB" sz="1725" b="0" u="sng">
                <a:solidFill>
                  <a:srgbClr val="326CB2"/>
                </a:solidFill>
                <a:latin typeface="DejaVu Sans"/>
                <a:ea typeface="DejaVu Sans"/>
                <a:cs typeface="DejaVu Sans"/>
                <a:hlinkClick r:id="rId6" tooltip="Open the accompanying data file"/>
              </a:rPr>
              <a:t>- Examples</a:t>
            </a:r>
            <a:endParaRPr sz="1725" b="0" u="sng" dirty="0">
              <a:solidFill>
                <a:srgbClr val="326CB2"/>
              </a:solidFill>
              <a:latin typeface="DejaVu Sans"/>
              <a:ea typeface="DejaVu Sans"/>
              <a:cs typeface="DejaVu Sans"/>
              <a:hlinkClick r:id="rId6" tooltip="Open the accompanying data file"/>
            </a:endParaRPr>
          </a:p>
        </p:txBody>
      </p:sp>
    </p:spTree>
    <p:extLst>
      <p:ext uri="{BB962C8B-B14F-4D97-AF65-F5344CB8AC3E}">
        <p14:creationId xmlns:p14="http://schemas.microsoft.com/office/powerpoint/2010/main" val="1359862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0935B4A5-BE9F-45F9-B260-7298449C7B1F}"/>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Measuring classification error</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B0EC8ED1-F01F-4144-9CB7-EF185776FCA9}"/>
                  </a:ext>
                </a:extLst>
              </p:cNvPr>
              <p:cNvSpPr>
                <a:spLocks noGrp="1"/>
              </p:cNvSpPr>
              <p:nvPr/>
            </p:nvSpPr>
            <p:spPr>
              <a:xfrm>
                <a:off x="477036" y="1146239"/>
                <a:ext cx="569595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A regression </a:t>
                </a:r>
                <a:r>
                  <a:rPr sz="2100" b="0" dirty="0">
                    <a:solidFill>
                      <a:srgbClr val="FF0000"/>
                    </a:solidFill>
                    <a:latin typeface="DejaVu Sans"/>
                    <a:ea typeface="DejaVu Sans"/>
                    <a:cs typeface="DejaVu Sans"/>
                  </a:rPr>
                  <a:t>predictor</a:t>
                </a:r>
                <a:r>
                  <a:rPr sz="2100" b="0" dirty="0">
                    <a:solidFill>
                      <a:srgbClr val="526276"/>
                    </a:solidFill>
                    <a:latin typeface="DejaVu Sans"/>
                    <a:ea typeface="DejaVu Sans"/>
                    <a:cs typeface="DejaVu Sans"/>
                  </a:rPr>
                  <a:t> </a:t>
                </a:r>
                <a14:m>
                  <m:oMath xmlns:m="http://schemas.openxmlformats.org/officeDocument/2006/math">
                    <m:r>
                      <a:rPr lang="it-IT" sz="2100" b="0" i="1" dirty="0" smtClean="0">
                        <a:solidFill>
                          <a:srgbClr val="526276"/>
                        </a:solidFill>
                        <a:latin typeface="Cambria Math" panose="02040503050406030204" pitchFamily="18" charset="0"/>
                        <a:ea typeface="DejaVu Sans"/>
                        <a:cs typeface="DejaVu Sans"/>
                      </a:rPr>
                      <m:t>𝑓</m:t>
                    </m:r>
                    <m:r>
                      <a:rPr lang="it-IT" sz="2100" b="0" i="0" dirty="0" smtClean="0">
                        <a:solidFill>
                          <a:srgbClr val="526276"/>
                        </a:solidFill>
                        <a:latin typeface="Cambria Math" panose="02040503050406030204" pitchFamily="18" charset="0"/>
                        <a:ea typeface="DejaVu Sans"/>
                        <a:cs typeface="DejaVu Sans"/>
                      </a:rPr>
                      <m:t>: </m:t>
                    </m:r>
                    <m:sSup>
                      <m:sSupPr>
                        <m:ctrlPr>
                          <a:rPr lang="it-IT" sz="2100" b="0" i="0" dirty="0" smtClean="0">
                            <a:solidFill>
                              <a:srgbClr val="526276"/>
                            </a:solidFill>
                            <a:latin typeface="Cambria Math" panose="02040503050406030204" pitchFamily="18" charset="0"/>
                            <a:ea typeface="DejaVu Sans"/>
                            <a:cs typeface="DejaVu Sans"/>
                          </a:rPr>
                        </m:ctrlPr>
                      </m:sSupPr>
                      <m:e>
                        <m:r>
                          <a:rPr lang="it-IT" sz="2100" b="0" i="0" dirty="0" smtClean="0">
                            <a:solidFill>
                              <a:srgbClr val="526276"/>
                            </a:solidFill>
                            <a:latin typeface="Cambria Math" panose="02040503050406030204" pitchFamily="18" charset="0"/>
                            <a:ea typeface="DejaVu Sans"/>
                            <a:cs typeface="DejaVu Sans"/>
                          </a:rPr>
                          <m:t>ℝ</m:t>
                        </m:r>
                      </m:e>
                      <m:sup>
                        <m:r>
                          <a:rPr lang="it-IT" sz="2100" b="0" i="0" dirty="0" smtClean="0">
                            <a:solidFill>
                              <a:srgbClr val="526276"/>
                            </a:solidFill>
                            <a:latin typeface="Cambria Math" panose="02040503050406030204" pitchFamily="18" charset="0"/>
                            <a:ea typeface="DejaVu Sans"/>
                            <a:cs typeface="DejaVu Sans"/>
                          </a:rPr>
                          <m:t>𝑑</m:t>
                        </m:r>
                      </m:sup>
                    </m:sSup>
                    <m:r>
                      <a:rPr lang="it-IT" sz="2100" b="0" i="0" dirty="0" smtClean="0">
                        <a:solidFill>
                          <a:srgbClr val="526276"/>
                        </a:solidFill>
                        <a:latin typeface="Cambria Math" panose="02040503050406030204" pitchFamily="18" charset="0"/>
                        <a:ea typeface="DejaVu Sans"/>
                        <a:cs typeface="DejaVu Sans"/>
                      </a:rPr>
                      <m:t> → </m:t>
                    </m:r>
                    <m:r>
                      <a:rPr lang="it-IT" sz="2100" b="0" i="0" dirty="0" smtClean="0">
                        <a:solidFill>
                          <a:srgbClr val="526276"/>
                        </a:solidFill>
                        <a:latin typeface="Cambria Math" panose="02040503050406030204" pitchFamily="18" charset="0"/>
                        <a:ea typeface="DejaVu Sans"/>
                        <a:cs typeface="DejaVu Sans"/>
                      </a:rPr>
                      <m:t>ℝ</m:t>
                    </m:r>
                  </m:oMath>
                </a14:m>
                <a:endParaRPr lang="it-IT" sz="2100" b="0" dirty="0">
                  <a:solidFill>
                    <a:srgbClr val="526276"/>
                  </a:solidFill>
                  <a:latin typeface="DejaVu Sans"/>
                  <a:ea typeface="DejaVu Sans"/>
                  <a:cs typeface="DejaVu Sans"/>
                </a:endParaRPr>
              </a:p>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 returns a </a:t>
                </a:r>
                <a:r>
                  <a:rPr sz="2100" b="0" dirty="0">
                    <a:solidFill>
                      <a:srgbClr val="FF0000"/>
                    </a:solidFill>
                    <a:latin typeface="DejaVu Sans"/>
                    <a:ea typeface="DejaVu Sans"/>
                    <a:cs typeface="DejaVu Sans"/>
                  </a:rPr>
                  <a:t>number</a:t>
                </a:r>
              </a:p>
            </p:txBody>
          </p:sp>
        </mc:Choice>
        <mc:Fallback xmlns="">
          <p:sp>
            <p:nvSpPr>
              <p:cNvPr id="2" name="lead">
                <a:extLst>
                  <a:ext uri="{FF2B5EF4-FFF2-40B4-BE49-F238E27FC236}">
                    <a16:creationId xmlns:a16="http://schemas.microsoft.com/office/drawing/2014/main" id="{B0EC8ED1-F01F-4144-9CB7-EF185776FCA9}"/>
                  </a:ext>
                </a:extLst>
              </p:cNvPr>
              <p:cNvSpPr>
                <a:spLocks noGrp="1" noRot="1" noChangeAspect="1" noMove="1" noResize="1" noEditPoints="1" noAdjustHandles="1" noChangeArrowheads="1" noChangeShapeType="1" noTextEdit="1"/>
              </p:cNvSpPr>
              <p:nvPr/>
            </p:nvSpPr>
            <p:spPr>
              <a:xfrm>
                <a:off x="477036" y="1146239"/>
                <a:ext cx="5695950" cy="666750"/>
              </a:xfrm>
              <a:prstGeom prst="rect">
                <a:avLst/>
              </a:prstGeom>
              <a:blipFill>
                <a:blip r:embed="rId3"/>
                <a:stretch>
                  <a:fillRect t="-13761" b="-2660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46B0248E-8CD8-435C-BA5C-B4524DD5796C}"/>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6A871518-2FE9-4B90-ADD8-7B99C257AAB4}"/>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4</a:t>
            </a:r>
          </a:p>
        </p:txBody>
      </p:sp>
      <p:sp>
        <p:nvSpPr>
          <p:cNvPr id="10" name="step_0_heading_regression">
            <a:extLst>
              <a:ext uri="{FF2B5EF4-FFF2-40B4-BE49-F238E27FC236}">
                <a16:creationId xmlns:a16="http://schemas.microsoft.com/office/drawing/2014/main" id="{17D1615A-E91F-4A15-B360-01D40CE48DD7}"/>
              </a:ext>
            </a:extLst>
          </p:cNvPr>
          <p:cNvSpPr>
            <a:spLocks noGrp="1"/>
          </p:cNvSpPr>
          <p:nvPr/>
        </p:nvSpPr>
        <p:spPr>
          <a:xfrm>
            <a:off x="723900" y="1952625"/>
            <a:ext cx="5048250" cy="428625"/>
          </a:xfrm>
          <a:prstGeom prst="rect">
            <a:avLst/>
          </a:prstGeom>
          <a:noFill/>
          <a:ln w="0">
            <a:noFill/>
          </a:ln>
        </p:spPr>
        <p:txBody>
          <a:bodyPr wrap="square" lIns="0" tIns="0" rIns="0" bIns="0" anchor="ctr">
            <a:noAutofit/>
          </a:bodyPr>
          <a:lstStyle/>
          <a:p>
            <a:pPr algn="ctr">
              <a:lnSpc>
                <a:spcPct val="110000"/>
              </a:lnSpc>
              <a:buNone/>
              <a:defRPr sz="2250" b="1">
                <a:solidFill>
                  <a:srgbClr val="326CB2"/>
                </a:solidFill>
                <a:latin typeface="DejaVu Sans"/>
                <a:ea typeface="DejaVu Sans"/>
                <a:cs typeface="DejaVu Sans"/>
              </a:defRPr>
            </a:pPr>
            <a:r>
              <a:rPr sz="2250" b="1" dirty="0">
                <a:solidFill>
                  <a:srgbClr val="326CB2"/>
                </a:solidFill>
                <a:latin typeface="DejaVu Sans"/>
                <a:ea typeface="DejaVu Sans"/>
                <a:cs typeface="DejaVu Sans"/>
              </a:rPr>
              <a:t>Regression</a:t>
            </a:r>
            <a:endParaRPr lang="it-IT" sz="2250" b="1" dirty="0">
              <a:solidFill>
                <a:srgbClr val="326CB2"/>
              </a:solidFill>
              <a:latin typeface="DejaVu Sans"/>
              <a:ea typeface="DejaVu Sans"/>
              <a:cs typeface="DejaVu Sans"/>
            </a:endParaRPr>
          </a:p>
        </p:txBody>
      </p:sp>
      <p:sp>
        <p:nvSpPr>
          <p:cNvPr id="11" name="step_0_heading_classification">
            <a:extLst>
              <a:ext uri="{FF2B5EF4-FFF2-40B4-BE49-F238E27FC236}">
                <a16:creationId xmlns:a16="http://schemas.microsoft.com/office/drawing/2014/main" id="{0B957027-3695-4290-97EE-E30873ADB14A}"/>
              </a:ext>
            </a:extLst>
          </p:cNvPr>
          <p:cNvSpPr>
            <a:spLocks noGrp="1"/>
          </p:cNvSpPr>
          <p:nvPr/>
        </p:nvSpPr>
        <p:spPr>
          <a:xfrm>
            <a:off x="6419850" y="1944243"/>
            <a:ext cx="5048250" cy="428625"/>
          </a:xfrm>
          <a:prstGeom prst="rect">
            <a:avLst/>
          </a:prstGeom>
          <a:noFill/>
          <a:ln w="0">
            <a:noFill/>
          </a:ln>
        </p:spPr>
        <p:txBody>
          <a:bodyPr wrap="square" lIns="0" tIns="0" rIns="0" bIns="0" anchor="ctr">
            <a:noAutofit/>
          </a:bodyPr>
          <a:lstStyle/>
          <a:p>
            <a:pPr algn="ctr">
              <a:lnSpc>
                <a:spcPct val="110000"/>
              </a:lnSpc>
              <a:buNone/>
              <a:defRPr sz="2250" b="1">
                <a:solidFill>
                  <a:srgbClr val="087F83"/>
                </a:solidFill>
                <a:latin typeface="DejaVu Sans"/>
                <a:ea typeface="DejaVu Sans"/>
                <a:cs typeface="DejaVu Sans"/>
              </a:defRPr>
            </a:pPr>
            <a:r>
              <a:rPr sz="2250" b="1" dirty="0">
                <a:solidFill>
                  <a:srgbClr val="087F83"/>
                </a:solidFill>
                <a:latin typeface="DejaVu Sans"/>
                <a:ea typeface="DejaVu Sans"/>
                <a:cs typeface="DejaVu Sans"/>
              </a:rPr>
              <a:t>Classification</a:t>
            </a:r>
          </a:p>
        </p:txBody>
      </p:sp>
      <mc:AlternateContent xmlns:mc="http://schemas.openxmlformats.org/markup-compatibility/2006" xmlns:a14="http://schemas.microsoft.com/office/drawing/2010/main">
        <mc:Choice Requires="a14">
          <p:sp>
            <p:nvSpPr>
              <p:cNvPr id="12" name="step_0_squared_loss" descr="\ell_{\mathrm{sq}}(\widehat y,y)=(\widehat y-y)^2">
                <a:extLst>
                  <a:ext uri="{FF2B5EF4-FFF2-40B4-BE49-F238E27FC236}">
                    <a16:creationId xmlns:a16="http://schemas.microsoft.com/office/drawing/2014/main" id="{2DB570CE-68F8-4AD4-8B30-2DAA18A18DA1}"/>
                  </a:ext>
                </a:extLst>
              </p:cNvPr>
              <p:cNvSpPr>
                <a:spLocks noGrp="1"/>
              </p:cNvSpPr>
              <p:nvPr/>
            </p:nvSpPr>
            <p:spPr>
              <a:xfrm>
                <a:off x="723900" y="2486025"/>
                <a:ext cx="5048250" cy="12096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326CB2"/>
                              </a:solidFill>
                              <a:latin typeface="Cambria Math"/>
                              <a:ea typeface="Cambria Math"/>
                              <a:cs typeface="Cambria Math"/>
                            </a:rPr>
                          </m:ctrlPr>
                        </m:sSubPr>
                        <m:e>
                          <m:r>
                            <m:rPr>
                              <m:sty m:val="p"/>
                            </m:rPr>
                            <a:rPr lang="en-GB" sz="2700">
                              <a:solidFill>
                                <a:srgbClr val="326CB2"/>
                              </a:solidFill>
                              <a:latin typeface="Cambria Math"/>
                              <a:ea typeface="Cambria Math"/>
                              <a:cs typeface="Cambria Math"/>
                            </a:rPr>
                            <m:t>ℓ</m:t>
                          </m:r>
                        </m:e>
                        <m:sub>
                          <m:r>
                            <m:rPr>
                              <m:sty m:val="p"/>
                            </m:rPr>
                            <a:rPr lang="en-GB" sz="2700">
                              <a:solidFill>
                                <a:srgbClr val="326CB2"/>
                              </a:solidFill>
                              <a:latin typeface="Cambria Math"/>
                              <a:ea typeface="Cambria Math"/>
                              <a:cs typeface="Cambria Math"/>
                            </a:rPr>
                            <m:t>sq</m:t>
                          </m:r>
                        </m:sub>
                      </m:sSub>
                      <m:d>
                        <m:dPr>
                          <m:ctrlPr>
                            <a:rPr lang="en-GB" sz="2700" i="1">
                              <a:solidFill>
                                <a:srgbClr val="326CB2"/>
                              </a:solidFill>
                              <a:latin typeface="Cambria Math" panose="02040503050406030204" pitchFamily="18" charset="0"/>
                              <a:ea typeface="Cambria Math"/>
                              <a:cs typeface="Cambria Math"/>
                            </a:rPr>
                          </m:ctrlPr>
                        </m:dPr>
                        <m:e>
                          <m:acc>
                            <m:accPr>
                              <m:chr m:val="̂"/>
                              <m:ctrlPr>
                                <a:rPr lang="en-GB" sz="2700">
                                  <a:solidFill>
                                    <a:srgbClr val="326CB2"/>
                                  </a:solidFill>
                                  <a:latin typeface="Cambria Math"/>
                                  <a:ea typeface="Cambria Math"/>
                                  <a:cs typeface="Cambria Math"/>
                                </a:rPr>
                              </m:ctrlPr>
                            </m:accPr>
                            <m:e>
                              <m:r>
                                <a:rPr lang="en-GB" sz="2700">
                                  <a:solidFill>
                                    <a:srgbClr val="326CB2"/>
                                  </a:solidFill>
                                  <a:latin typeface="Cambria Math"/>
                                  <a:ea typeface="Cambria Math"/>
                                  <a:cs typeface="Cambria Math"/>
                                </a:rPr>
                                <m:t>𝑦</m:t>
                              </m:r>
                            </m:e>
                          </m:acc>
                          <m:r>
                            <a:rPr lang="en-GB" sz="2700">
                              <a:solidFill>
                                <a:srgbClr val="326CB2"/>
                              </a:solidFill>
                              <a:latin typeface="Cambria Math"/>
                              <a:ea typeface="Cambria Math"/>
                              <a:cs typeface="Cambria Math"/>
                            </a:rPr>
                            <m:t>,</m:t>
                          </m:r>
                          <m:r>
                            <a:rPr lang="en-GB" sz="2700">
                              <a:solidFill>
                                <a:srgbClr val="326CB2"/>
                              </a:solidFill>
                              <a:latin typeface="Cambria Math"/>
                              <a:ea typeface="Cambria Math"/>
                              <a:cs typeface="Cambria Math"/>
                            </a:rPr>
                            <m:t>𝑦</m:t>
                          </m:r>
                        </m:e>
                      </m:d>
                      <m:r>
                        <a:rPr lang="en-GB" sz="2700">
                          <a:solidFill>
                            <a:srgbClr val="326CB2"/>
                          </a:solidFill>
                          <a:latin typeface="Cambria Math"/>
                          <a:ea typeface="Cambria Math"/>
                          <a:cs typeface="Cambria Math"/>
                        </a:rPr>
                        <m:t>=</m:t>
                      </m:r>
                      <m:sSup>
                        <m:sSupPr>
                          <m:ctrlPr>
                            <a:rPr lang="en-GB" sz="2700" i="1">
                              <a:solidFill>
                                <a:srgbClr val="326CB2"/>
                              </a:solidFill>
                              <a:latin typeface="Cambria Math" panose="02040503050406030204" pitchFamily="18" charset="0"/>
                              <a:ea typeface="Cambria Math"/>
                              <a:cs typeface="Cambria Math"/>
                            </a:rPr>
                          </m:ctrlPr>
                        </m:sSupPr>
                        <m:e>
                          <m:d>
                            <m:dPr>
                              <m:ctrlPr>
                                <a:rPr lang="en-GB" sz="2700" i="1">
                                  <a:solidFill>
                                    <a:srgbClr val="326CB2"/>
                                  </a:solidFill>
                                  <a:latin typeface="Cambria Math" panose="02040503050406030204" pitchFamily="18" charset="0"/>
                                  <a:ea typeface="Cambria Math"/>
                                  <a:cs typeface="Cambria Math"/>
                                </a:rPr>
                              </m:ctrlPr>
                            </m:dPr>
                            <m:e>
                              <m:acc>
                                <m:accPr>
                                  <m:chr m:val="̂"/>
                                  <m:ctrlPr>
                                    <a:rPr lang="en-GB" sz="2700">
                                      <a:solidFill>
                                        <a:srgbClr val="326CB2"/>
                                      </a:solidFill>
                                      <a:latin typeface="Cambria Math"/>
                                      <a:ea typeface="Cambria Math"/>
                                      <a:cs typeface="Cambria Math"/>
                                    </a:rPr>
                                  </m:ctrlPr>
                                </m:accPr>
                                <m:e>
                                  <m:r>
                                    <a:rPr lang="en-GB" sz="2700">
                                      <a:solidFill>
                                        <a:srgbClr val="326CB2"/>
                                      </a:solidFill>
                                      <a:latin typeface="Cambria Math"/>
                                      <a:ea typeface="Cambria Math"/>
                                      <a:cs typeface="Cambria Math"/>
                                    </a:rPr>
                                    <m:t>𝑦</m:t>
                                  </m:r>
                                </m:e>
                              </m:acc>
                              <m:r>
                                <a:rPr lang="en-GB" sz="2700">
                                  <a:solidFill>
                                    <a:srgbClr val="326CB2"/>
                                  </a:solidFill>
                                  <a:latin typeface="Cambria Math"/>
                                  <a:ea typeface="Cambria Math"/>
                                  <a:cs typeface="Cambria Math"/>
                                </a:rPr>
                                <m:t>−</m:t>
                              </m:r>
                              <m:r>
                                <a:rPr lang="en-GB" sz="2700">
                                  <a:solidFill>
                                    <a:srgbClr val="326CB2"/>
                                  </a:solidFill>
                                  <a:latin typeface="Cambria Math"/>
                                  <a:ea typeface="Cambria Math"/>
                                  <a:cs typeface="Cambria Math"/>
                                </a:rPr>
                                <m:t>𝑦</m:t>
                              </m:r>
                            </m:e>
                          </m:d>
                        </m:e>
                        <m:sup>
                          <m:r>
                            <a:rPr lang="en-GB" sz="2700">
                              <a:solidFill>
                                <a:srgbClr val="326CB2"/>
                              </a:solidFill>
                              <a:latin typeface="Cambria Math"/>
                              <a:ea typeface="Cambria Math"/>
                              <a:cs typeface="Cambria Math"/>
                            </a:rPr>
                            <m:t>2</m:t>
                          </m:r>
                        </m:sup>
                      </m:sSup>
                    </m:oMath>
                  </m:oMathPara>
                </a14:m>
                <a:endParaRPr lang="en-GB" sz="2700" dirty="0"/>
              </a:p>
            </p:txBody>
          </p:sp>
        </mc:Choice>
        <mc:Fallback xmlns="">
          <p:sp>
            <p:nvSpPr>
              <p:cNvPr id="12" name="step_0_squared_loss" descr="\ell_{\mathrm{sq}}(\widehat y,y)=(\widehat y-y)^2">
                <a:extLst>
                  <a:ext uri="{FF2B5EF4-FFF2-40B4-BE49-F238E27FC236}">
                    <a16:creationId xmlns:a16="http://schemas.microsoft.com/office/drawing/2014/main" id="{2DB570CE-68F8-4AD4-8B30-2DAA18A18DA1}"/>
                  </a:ext>
                </a:extLst>
              </p:cNvPr>
              <p:cNvSpPr>
                <a:spLocks noGrp="1" noRot="1" noChangeAspect="1" noMove="1" noResize="1" noEditPoints="1" noAdjustHandles="1" noChangeArrowheads="1" noChangeShapeType="1" noTextEdit="1"/>
              </p:cNvSpPr>
              <p:nvPr/>
            </p:nvSpPr>
            <p:spPr>
              <a:xfrm>
                <a:off x="723900" y="2486025"/>
                <a:ext cx="5048250" cy="12096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step_1_zero_one_loss" descr="\ell_{0,1}(\widehat y,y)=\begin{cases}0,&amp;\widehat y=y\\1,&amp;\widehat y\ne y\end{cases}">
                <a:extLst>
                  <a:ext uri="{FF2B5EF4-FFF2-40B4-BE49-F238E27FC236}">
                    <a16:creationId xmlns:a16="http://schemas.microsoft.com/office/drawing/2014/main" id="{93D5B921-BB16-449A-9403-83CF96A7F0A9}"/>
                  </a:ext>
                </a:extLst>
              </p:cNvPr>
              <p:cNvSpPr>
                <a:spLocks noGrp="1"/>
              </p:cNvSpPr>
              <p:nvPr/>
            </p:nvSpPr>
            <p:spPr>
              <a:xfrm>
                <a:off x="6419850" y="2477643"/>
                <a:ext cx="5048250" cy="12096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087F83"/>
                              </a:solidFill>
                              <a:latin typeface="Cambria Math"/>
                              <a:ea typeface="Cambria Math"/>
                              <a:cs typeface="Cambria Math"/>
                            </a:rPr>
                          </m:ctrlPr>
                        </m:sSubPr>
                        <m:e>
                          <m:r>
                            <m:rPr>
                              <m:sty m:val="p"/>
                            </m:rPr>
                            <a:rPr lang="en-GB" sz="2500">
                              <a:solidFill>
                                <a:srgbClr val="087F83"/>
                              </a:solidFill>
                              <a:latin typeface="Cambria Math"/>
                              <a:ea typeface="Cambria Math"/>
                              <a:cs typeface="Cambria Math"/>
                            </a:rPr>
                            <m:t>ℓ</m:t>
                          </m:r>
                        </m:e>
                        <m:sub>
                          <m:r>
                            <a:rPr lang="en-GB" sz="2500">
                              <a:solidFill>
                                <a:srgbClr val="087F83"/>
                              </a:solidFill>
                              <a:latin typeface="Cambria Math"/>
                              <a:ea typeface="Cambria Math"/>
                              <a:cs typeface="Cambria Math"/>
                            </a:rPr>
                            <m:t>0,1</m:t>
                          </m:r>
                        </m:sub>
                      </m:sSub>
                      <m:d>
                        <m:dPr>
                          <m:ctrlPr>
                            <a:rPr lang="en-GB" sz="2500" i="1">
                              <a:solidFill>
                                <a:srgbClr val="087F83"/>
                              </a:solidFill>
                              <a:latin typeface="Cambria Math" panose="02040503050406030204" pitchFamily="18" charset="0"/>
                              <a:ea typeface="Cambria Math"/>
                              <a:cs typeface="Cambria Math"/>
                            </a:rPr>
                          </m:ctrlPr>
                        </m:dPr>
                        <m:e>
                          <m:acc>
                            <m:accPr>
                              <m:chr m:val="̂"/>
                              <m:ctrlPr>
                                <a:rPr lang="en-GB" sz="2500">
                                  <a:solidFill>
                                    <a:srgbClr val="087F83"/>
                                  </a:solidFill>
                                  <a:latin typeface="Cambria Math"/>
                                  <a:ea typeface="Cambria Math"/>
                                  <a:cs typeface="Cambria Math"/>
                                </a:rPr>
                              </m:ctrlPr>
                            </m:accPr>
                            <m:e>
                              <m:r>
                                <a:rPr lang="en-GB" sz="2500">
                                  <a:solidFill>
                                    <a:srgbClr val="087F83"/>
                                  </a:solidFill>
                                  <a:latin typeface="Cambria Math"/>
                                  <a:ea typeface="Cambria Math"/>
                                  <a:cs typeface="Cambria Math"/>
                                </a:rPr>
                                <m:t>𝑦</m:t>
                              </m:r>
                            </m:e>
                          </m:acc>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𝑦</m:t>
                          </m:r>
                        </m:e>
                      </m:d>
                      <m:r>
                        <a:rPr lang="en-GB" sz="2500">
                          <a:solidFill>
                            <a:srgbClr val="087F83"/>
                          </a:solidFill>
                          <a:latin typeface="Cambria Math"/>
                          <a:ea typeface="Cambria Math"/>
                          <a:cs typeface="Cambria Math"/>
                        </a:rPr>
                        <m:t>=</m:t>
                      </m:r>
                      <m:d>
                        <m:dPr>
                          <m:begChr m:val="{"/>
                          <m:endChr m:val=""/>
                          <m:ctrlPr>
                            <a:rPr lang="en-GB" sz="250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2500" i="1">
                                  <a:solidFill>
                                    <a:srgbClr val="087F83"/>
                                  </a:solidFill>
                                  <a:latin typeface="Cambria Math" panose="02040503050406030204" pitchFamily="18" charset="0"/>
                                  <a:ea typeface="Cambria Math"/>
                                  <a:cs typeface="Cambria Math"/>
                                </a:rPr>
                              </m:ctrlPr>
                            </m:mPr>
                            <m:mr>
                              <m:e>
                                <m:r>
                                  <a:rPr lang="en-GB" sz="2500">
                                    <a:solidFill>
                                      <a:srgbClr val="087F83"/>
                                    </a:solidFill>
                                    <a:latin typeface="Cambria Math"/>
                                    <a:ea typeface="Cambria Math"/>
                                    <a:cs typeface="Cambria Math"/>
                                  </a:rPr>
                                  <m:t>0,</m:t>
                                </m:r>
                              </m:e>
                              <m:e>
                                <m:acc>
                                  <m:accPr>
                                    <m:chr m:val="̂"/>
                                    <m:ctrlPr>
                                      <a:rPr lang="en-GB" sz="2500">
                                        <a:solidFill>
                                          <a:srgbClr val="087F83"/>
                                        </a:solidFill>
                                        <a:latin typeface="Cambria Math"/>
                                        <a:ea typeface="Cambria Math"/>
                                        <a:cs typeface="Cambria Math"/>
                                      </a:rPr>
                                    </m:ctrlPr>
                                  </m:accPr>
                                  <m:e>
                                    <m:r>
                                      <a:rPr lang="en-GB" sz="2500">
                                        <a:solidFill>
                                          <a:srgbClr val="087F83"/>
                                        </a:solidFill>
                                        <a:latin typeface="Cambria Math"/>
                                        <a:ea typeface="Cambria Math"/>
                                        <a:cs typeface="Cambria Math"/>
                                      </a:rPr>
                                      <m:t>𝑦</m:t>
                                    </m:r>
                                  </m:e>
                                </m:acc>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𝑦</m:t>
                                </m:r>
                              </m:e>
                            </m:mr>
                            <m:mr>
                              <m:e>
                                <m:r>
                                  <a:rPr lang="en-GB" sz="2500">
                                    <a:solidFill>
                                      <a:srgbClr val="087F83"/>
                                    </a:solidFill>
                                    <a:latin typeface="Cambria Math"/>
                                    <a:ea typeface="Cambria Math"/>
                                    <a:cs typeface="Cambria Math"/>
                                  </a:rPr>
                                  <m:t>1,</m:t>
                                </m:r>
                              </m:e>
                              <m:e>
                                <m:acc>
                                  <m:accPr>
                                    <m:chr m:val="̂"/>
                                    <m:ctrlPr>
                                      <a:rPr lang="en-GB" sz="2500">
                                        <a:solidFill>
                                          <a:srgbClr val="087F83"/>
                                        </a:solidFill>
                                        <a:latin typeface="Cambria Math"/>
                                        <a:ea typeface="Cambria Math"/>
                                        <a:cs typeface="Cambria Math"/>
                                      </a:rPr>
                                    </m:ctrlPr>
                                  </m:accPr>
                                  <m:e>
                                    <m:r>
                                      <a:rPr lang="en-GB" sz="2500">
                                        <a:solidFill>
                                          <a:srgbClr val="087F83"/>
                                        </a:solidFill>
                                        <a:latin typeface="Cambria Math"/>
                                        <a:ea typeface="Cambria Math"/>
                                        <a:cs typeface="Cambria Math"/>
                                      </a:rPr>
                                      <m:t>𝑦</m:t>
                                    </m:r>
                                  </m:e>
                                </m:acc>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𝑦</m:t>
                                </m:r>
                              </m:e>
                            </m:mr>
                          </m:m>
                        </m:e>
                      </m:d>
                    </m:oMath>
                  </m:oMathPara>
                </a14:m>
                <a:endParaRPr lang="en-GB" sz="2500" dirty="0"/>
              </a:p>
            </p:txBody>
          </p:sp>
        </mc:Choice>
        <mc:Fallback xmlns="">
          <p:sp>
            <p:nvSpPr>
              <p:cNvPr id="13" name="step_1_zero_one_loss" descr="\ell_{0,1}(\widehat y,y)=\begin{cases}0,&amp;\widehat y=y\\1,&amp;\widehat y\ne y\end{cases}">
                <a:extLst>
                  <a:ext uri="{FF2B5EF4-FFF2-40B4-BE49-F238E27FC236}">
                    <a16:creationId xmlns:a16="http://schemas.microsoft.com/office/drawing/2014/main" id="{93D5B921-BB16-449A-9403-83CF96A7F0A9}"/>
                  </a:ext>
                </a:extLst>
              </p:cNvPr>
              <p:cNvSpPr>
                <a:spLocks noGrp="1" noRot="1" noChangeAspect="1" noMove="1" noResize="1" noEditPoints="1" noAdjustHandles="1" noChangeArrowheads="1" noChangeShapeType="1" noTextEdit="1"/>
              </p:cNvSpPr>
              <p:nvPr/>
            </p:nvSpPr>
            <p:spPr>
              <a:xfrm>
                <a:off x="6419850" y="2477643"/>
                <a:ext cx="5048250" cy="1209675"/>
              </a:xfrm>
              <a:prstGeom prst="rect">
                <a:avLst/>
              </a:prstGeom>
              <a:blipFill>
                <a:blip r:embed="rId5"/>
                <a:stretch>
                  <a:fillRect/>
                </a:stretch>
              </a:blipFill>
              <a:ln w="0">
                <a:noFill/>
              </a:ln>
            </p:spPr>
            <p:txBody>
              <a:bodyPr/>
              <a:lstStyle/>
              <a:p>
                <a:r>
                  <a:rPr lang="it-IT">
                    <a:noFill/>
                  </a:rPr>
                  <a:t> </a:t>
                </a:r>
              </a:p>
            </p:txBody>
          </p:sp>
        </mc:Fallback>
      </mc:AlternateContent>
      <p:sp>
        <p:nvSpPr>
          <p:cNvPr id="14" name="step_0_empirical_heading">
            <a:extLst>
              <a:ext uri="{FF2B5EF4-FFF2-40B4-BE49-F238E27FC236}">
                <a16:creationId xmlns:a16="http://schemas.microsoft.com/office/drawing/2014/main" id="{46BA1106-A7B8-4EF8-B553-0C9CF1D74E2E}"/>
              </a:ext>
            </a:extLst>
          </p:cNvPr>
          <p:cNvSpPr>
            <a:spLocks noGrp="1"/>
          </p:cNvSpPr>
          <p:nvPr/>
        </p:nvSpPr>
        <p:spPr>
          <a:xfrm>
            <a:off x="723900" y="3876675"/>
            <a:ext cx="5048250" cy="371475"/>
          </a:xfrm>
          <a:prstGeom prst="rect">
            <a:avLst/>
          </a:prstGeom>
          <a:noFill/>
          <a:ln w="0">
            <a:noFill/>
          </a:ln>
        </p:spPr>
        <p:txBody>
          <a:bodyPr wrap="square" lIns="0" tIns="0" rIns="0" bIns="0" anchor="ctr">
            <a:noAutofit/>
          </a:bodyPr>
          <a:lstStyle/>
          <a:p>
            <a:pPr algn="ctr">
              <a:lnSpc>
                <a:spcPct val="110000"/>
              </a:lnSpc>
              <a:buNone/>
              <a:defRPr sz="1875" b="0">
                <a:solidFill>
                  <a:srgbClr val="326CB2"/>
                </a:solidFill>
                <a:latin typeface="DejaVu Sans"/>
                <a:ea typeface="DejaVu Sans"/>
                <a:cs typeface="DejaVu Sans"/>
              </a:defRPr>
            </a:pPr>
            <a:r>
              <a:rPr sz="1875" b="0">
                <a:solidFill>
                  <a:srgbClr val="326CB2"/>
                </a:solidFill>
                <a:latin typeface="DejaVu Sans"/>
                <a:ea typeface="DejaVu Sans"/>
                <a:cs typeface="DejaVu Sans"/>
              </a:rPr>
              <a:t>Empirical squared loss</a:t>
            </a:r>
          </a:p>
        </p:txBody>
      </p:sp>
      <p:sp>
        <p:nvSpPr>
          <p:cNvPr id="15" name="step_2_error_heading">
            <a:extLst>
              <a:ext uri="{FF2B5EF4-FFF2-40B4-BE49-F238E27FC236}">
                <a16:creationId xmlns:a16="http://schemas.microsoft.com/office/drawing/2014/main" id="{8F8A99EE-953A-4E73-922A-0D76580D3B8A}"/>
              </a:ext>
            </a:extLst>
          </p:cNvPr>
          <p:cNvSpPr>
            <a:spLocks noGrp="1"/>
          </p:cNvSpPr>
          <p:nvPr/>
        </p:nvSpPr>
        <p:spPr>
          <a:xfrm>
            <a:off x="6419850" y="3868293"/>
            <a:ext cx="5048250" cy="371475"/>
          </a:xfrm>
          <a:prstGeom prst="rect">
            <a:avLst/>
          </a:prstGeom>
          <a:noFill/>
          <a:ln w="0">
            <a:noFill/>
          </a:ln>
        </p:spPr>
        <p:txBody>
          <a:bodyPr wrap="square" lIns="0" tIns="0" rIns="0" bIns="0" anchor="ctr">
            <a:noAutofit/>
          </a:bodyPr>
          <a:lstStyle/>
          <a:p>
            <a:pPr algn="ctr">
              <a:lnSpc>
                <a:spcPct val="110000"/>
              </a:lnSpc>
              <a:buNone/>
              <a:defRPr sz="1875" b="0">
                <a:solidFill>
                  <a:srgbClr val="087F83"/>
                </a:solidFill>
                <a:latin typeface="DejaVu Sans"/>
                <a:ea typeface="DejaVu Sans"/>
                <a:cs typeface="DejaVu Sans"/>
              </a:defRPr>
            </a:pPr>
            <a:r>
              <a:rPr sz="1875" b="0" dirty="0">
                <a:solidFill>
                  <a:srgbClr val="087F83"/>
                </a:solidFill>
                <a:latin typeface="DejaVu Sans"/>
                <a:ea typeface="DejaVu Sans"/>
                <a:cs typeface="DejaVu Sans"/>
              </a:rPr>
              <a:t>Number of mistakes</a:t>
            </a:r>
            <a:r>
              <a:rPr lang="it-IT" sz="1875" b="0" dirty="0">
                <a:solidFill>
                  <a:srgbClr val="087F83"/>
                </a:solidFill>
                <a:latin typeface="DejaVu Sans"/>
                <a:ea typeface="DejaVu Sans"/>
                <a:cs typeface="DejaVu Sans"/>
              </a:rPr>
              <a:t> / </a:t>
            </a:r>
            <a:r>
              <a:rPr lang="it-IT" sz="1875" b="0" dirty="0" err="1">
                <a:solidFill>
                  <a:srgbClr val="087F83"/>
                </a:solidFill>
                <a:latin typeface="DejaVu Sans"/>
                <a:ea typeface="DejaVu Sans"/>
                <a:cs typeface="DejaVu Sans"/>
              </a:rPr>
              <a:t>Empirical</a:t>
            </a:r>
            <a:r>
              <a:rPr lang="it-IT" sz="1875" b="0" dirty="0">
                <a:solidFill>
                  <a:srgbClr val="087F83"/>
                </a:solidFill>
                <a:latin typeface="DejaVu Sans"/>
                <a:ea typeface="DejaVu Sans"/>
                <a:cs typeface="DejaVu Sans"/>
              </a:rPr>
              <a:t> 0-1 </a:t>
            </a:r>
            <a:r>
              <a:rPr lang="it-IT" sz="1875" b="0" dirty="0" err="1">
                <a:solidFill>
                  <a:srgbClr val="087F83"/>
                </a:solidFill>
                <a:latin typeface="DejaVu Sans"/>
                <a:ea typeface="DejaVu Sans"/>
                <a:cs typeface="DejaVu Sans"/>
              </a:rPr>
              <a:t>loss</a:t>
            </a:r>
            <a:endParaRPr sz="1875" b="0" dirty="0">
              <a:solidFill>
                <a:srgbClr val="087F83"/>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16" name="step_0_empirical_squared_loss" descr="\sum_{i=1}^{N}\ell_{\mathrm{sq}}(f(\mathbf x_i),y_i)">
                <a:extLst>
                  <a:ext uri="{FF2B5EF4-FFF2-40B4-BE49-F238E27FC236}">
                    <a16:creationId xmlns:a16="http://schemas.microsoft.com/office/drawing/2014/main" id="{87EB1130-DC2A-4BCF-86B9-1F6FCC8F2653}"/>
                  </a:ext>
                </a:extLst>
              </p:cNvPr>
              <p:cNvSpPr>
                <a:spLocks noGrp="1"/>
              </p:cNvSpPr>
              <p:nvPr/>
            </p:nvSpPr>
            <p:spPr>
              <a:xfrm>
                <a:off x="723900" y="4371975"/>
                <a:ext cx="5048250" cy="1085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nary>
                        <m:naryPr>
                          <m:chr m:val="∑"/>
                          <m:limLoc m:val="undOvr"/>
                          <m:ctrlPr>
                            <a:rPr lang="en-GB" sz="2300">
                              <a:solidFill>
                                <a:srgbClr val="326CB2"/>
                              </a:solidFill>
                              <a:latin typeface="Cambria Math"/>
                              <a:ea typeface="Cambria Math"/>
                              <a:cs typeface="Cambria Math"/>
                            </a:rPr>
                          </m:ctrlPr>
                        </m:naryPr>
                        <m:sub>
                          <m:r>
                            <a:rPr lang="en-GB" sz="2300">
                              <a:solidFill>
                                <a:srgbClr val="326CB2"/>
                              </a:solidFill>
                              <a:latin typeface="Cambria Math"/>
                              <a:ea typeface="Cambria Math"/>
                              <a:cs typeface="Cambria Math"/>
                            </a:rPr>
                            <m:t>𝑖</m:t>
                          </m:r>
                          <m:r>
                            <a:rPr lang="en-GB" sz="2300">
                              <a:solidFill>
                                <a:srgbClr val="326CB2"/>
                              </a:solidFill>
                              <a:latin typeface="Cambria Math"/>
                              <a:ea typeface="Cambria Math"/>
                              <a:cs typeface="Cambria Math"/>
                            </a:rPr>
                            <m:t>=1</m:t>
                          </m:r>
                        </m:sub>
                        <m:sup>
                          <m:r>
                            <a:rPr lang="en-GB" sz="2300">
                              <a:solidFill>
                                <a:srgbClr val="326CB2"/>
                              </a:solidFill>
                              <a:latin typeface="Cambria Math"/>
                              <a:ea typeface="Cambria Math"/>
                              <a:cs typeface="Cambria Math"/>
                            </a:rPr>
                            <m:t>𝑁</m:t>
                          </m:r>
                        </m:sup>
                        <m:e>
                          <m:sSub>
                            <m:sSubPr>
                              <m:ctrlPr>
                                <a:rPr lang="en-GB" sz="2300">
                                  <a:solidFill>
                                    <a:srgbClr val="326CB2"/>
                                  </a:solidFill>
                                  <a:latin typeface="Cambria Math"/>
                                  <a:ea typeface="Cambria Math"/>
                                  <a:cs typeface="Cambria Math"/>
                                </a:rPr>
                              </m:ctrlPr>
                            </m:sSubPr>
                            <m:e>
                              <m:r>
                                <m:rPr>
                                  <m:sty m:val="p"/>
                                </m:rPr>
                                <a:rPr lang="en-GB" sz="2300">
                                  <a:solidFill>
                                    <a:srgbClr val="326CB2"/>
                                  </a:solidFill>
                                  <a:latin typeface="Cambria Math"/>
                                  <a:ea typeface="Cambria Math"/>
                                  <a:cs typeface="Cambria Math"/>
                                </a:rPr>
                                <m:t>ℓ</m:t>
                              </m:r>
                            </m:e>
                            <m:sub>
                              <m:r>
                                <m:rPr>
                                  <m:sty m:val="p"/>
                                </m:rPr>
                                <a:rPr lang="en-GB" sz="2300">
                                  <a:solidFill>
                                    <a:srgbClr val="326CB2"/>
                                  </a:solidFill>
                                  <a:latin typeface="Cambria Math"/>
                                  <a:ea typeface="Cambria Math"/>
                                  <a:cs typeface="Cambria Math"/>
                                </a:rPr>
                                <m:t>sq</m:t>
                              </m:r>
                            </m:sub>
                          </m:sSub>
                          <m:d>
                            <m:dPr>
                              <m:ctrlPr>
                                <a:rPr lang="en-GB" sz="2300">
                                  <a:solidFill>
                                    <a:srgbClr val="326CB2"/>
                                  </a:solidFill>
                                  <a:latin typeface="Cambria Math"/>
                                  <a:ea typeface="Cambria Math"/>
                                  <a:cs typeface="Cambria Math"/>
                                </a:rPr>
                              </m:ctrlPr>
                            </m:dPr>
                            <m:e>
                              <m:r>
                                <a:rPr lang="en-GB" sz="2300">
                                  <a:solidFill>
                                    <a:srgbClr val="326CB2"/>
                                  </a:solidFill>
                                  <a:latin typeface="Cambria Math"/>
                                  <a:ea typeface="Cambria Math"/>
                                  <a:cs typeface="Cambria Math"/>
                                </a:rPr>
                                <m:t>𝑓</m:t>
                              </m:r>
                              <m:d>
                                <m:dPr>
                                  <m:ctrlPr>
                                    <a:rPr lang="en-GB" sz="2300" i="1">
                                      <a:solidFill>
                                        <a:srgbClr val="326CB2"/>
                                      </a:solidFill>
                                      <a:latin typeface="Cambria Math" panose="02040503050406030204" pitchFamily="18" charset="0"/>
                                      <a:ea typeface="Cambria Math"/>
                                      <a:cs typeface="Cambria Math"/>
                                    </a:rPr>
                                  </m:ctrlPr>
                                </m:dPr>
                                <m:e>
                                  <m:sSub>
                                    <m:sSubPr>
                                      <m:ctrlPr>
                                        <a:rPr lang="en-GB" sz="2300">
                                          <a:solidFill>
                                            <a:srgbClr val="326CB2"/>
                                          </a:solidFill>
                                          <a:latin typeface="Cambria Math"/>
                                          <a:ea typeface="Cambria Math"/>
                                          <a:cs typeface="Cambria Math"/>
                                        </a:rPr>
                                      </m:ctrlPr>
                                    </m:sSubPr>
                                    <m:e>
                                      <m:r>
                                        <a:rPr lang="en-GB" sz="2300">
                                          <a:solidFill>
                                            <a:srgbClr val="326CB2"/>
                                          </a:solidFill>
                                          <a:latin typeface="Cambria Math"/>
                                          <a:ea typeface="Cambria Math"/>
                                          <a:cs typeface="Cambria Math"/>
                                        </a:rPr>
                                        <m:t>𝐱</m:t>
                                      </m:r>
                                    </m:e>
                                    <m:sub>
                                      <m:r>
                                        <a:rPr lang="en-GB" sz="2300">
                                          <a:solidFill>
                                            <a:srgbClr val="326CB2"/>
                                          </a:solidFill>
                                          <a:latin typeface="Cambria Math"/>
                                          <a:ea typeface="Cambria Math"/>
                                          <a:cs typeface="Cambria Math"/>
                                        </a:rPr>
                                        <m:t>𝑖</m:t>
                                      </m:r>
                                    </m:sub>
                                  </m:sSub>
                                </m:e>
                              </m:d>
                              <m:r>
                                <a:rPr lang="en-GB" sz="2300">
                                  <a:solidFill>
                                    <a:srgbClr val="326CB2"/>
                                  </a:solidFill>
                                  <a:latin typeface="Cambria Math"/>
                                  <a:ea typeface="Cambria Math"/>
                                  <a:cs typeface="Cambria Math"/>
                                </a:rPr>
                                <m:t>,</m:t>
                              </m:r>
                              <m:sSub>
                                <m:sSubPr>
                                  <m:ctrlPr>
                                    <a:rPr lang="en-GB" sz="2300">
                                      <a:solidFill>
                                        <a:srgbClr val="326CB2"/>
                                      </a:solidFill>
                                      <a:latin typeface="Cambria Math"/>
                                      <a:ea typeface="Cambria Math"/>
                                      <a:cs typeface="Cambria Math"/>
                                    </a:rPr>
                                  </m:ctrlPr>
                                </m:sSubPr>
                                <m:e>
                                  <m:r>
                                    <a:rPr lang="en-GB" sz="2300">
                                      <a:solidFill>
                                        <a:srgbClr val="326CB2"/>
                                      </a:solidFill>
                                      <a:latin typeface="Cambria Math"/>
                                      <a:ea typeface="Cambria Math"/>
                                      <a:cs typeface="Cambria Math"/>
                                    </a:rPr>
                                    <m:t>𝑦</m:t>
                                  </m:r>
                                </m:e>
                                <m:sub>
                                  <m:r>
                                    <a:rPr lang="en-GB" sz="2300">
                                      <a:solidFill>
                                        <a:srgbClr val="326CB2"/>
                                      </a:solidFill>
                                      <a:latin typeface="Cambria Math"/>
                                      <a:ea typeface="Cambria Math"/>
                                      <a:cs typeface="Cambria Math"/>
                                    </a:rPr>
                                    <m:t>𝑖</m:t>
                                  </m:r>
                                </m:sub>
                              </m:sSub>
                            </m:e>
                          </m:d>
                        </m:e>
                      </m:nary>
                    </m:oMath>
                  </m:oMathPara>
                </a14:m>
                <a:endParaRPr lang="en-GB" sz="2300" dirty="0"/>
              </a:p>
            </p:txBody>
          </p:sp>
        </mc:Choice>
        <mc:Fallback xmlns="">
          <p:sp>
            <p:nvSpPr>
              <p:cNvPr id="16" name="step_0_empirical_squared_loss" descr="\sum_{i=1}^{N}\ell_{\mathrm{sq}}(f(\mathbf x_i),y_i)">
                <a:extLst>
                  <a:ext uri="{FF2B5EF4-FFF2-40B4-BE49-F238E27FC236}">
                    <a16:creationId xmlns:a16="http://schemas.microsoft.com/office/drawing/2014/main" id="{87EB1130-DC2A-4BCF-86B9-1F6FCC8F2653}"/>
                  </a:ext>
                </a:extLst>
              </p:cNvPr>
              <p:cNvSpPr>
                <a:spLocks noGrp="1" noRot="1" noChangeAspect="1" noMove="1" noResize="1" noEditPoints="1" noAdjustHandles="1" noChangeArrowheads="1" noChangeShapeType="1" noTextEdit="1"/>
              </p:cNvSpPr>
              <p:nvPr/>
            </p:nvSpPr>
            <p:spPr>
              <a:xfrm>
                <a:off x="723900" y="4371975"/>
                <a:ext cx="5048250" cy="108585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step_2_empirical_error" descr="\sum_{i=1}^{N}\ell_{0,1}(h(\mathbf x_i),y_i)">
                <a:extLst>
                  <a:ext uri="{FF2B5EF4-FFF2-40B4-BE49-F238E27FC236}">
                    <a16:creationId xmlns:a16="http://schemas.microsoft.com/office/drawing/2014/main" id="{AD4B9B0F-28F9-44B6-A9C8-31BB9520CBA1}"/>
                  </a:ext>
                </a:extLst>
              </p:cNvPr>
              <p:cNvSpPr>
                <a:spLocks noGrp="1"/>
              </p:cNvSpPr>
              <p:nvPr/>
            </p:nvSpPr>
            <p:spPr>
              <a:xfrm>
                <a:off x="6419850" y="4363593"/>
                <a:ext cx="5048250" cy="1085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nary>
                        <m:naryPr>
                          <m:chr m:val="∑"/>
                          <m:limLoc m:val="undOvr"/>
                          <m:ctrlPr>
                            <a:rPr lang="en-GB" sz="2300">
                              <a:solidFill>
                                <a:srgbClr val="087F83"/>
                              </a:solidFill>
                              <a:latin typeface="Cambria Math"/>
                              <a:ea typeface="Cambria Math"/>
                              <a:cs typeface="Cambria Math"/>
                            </a:rPr>
                          </m:ctrlPr>
                        </m:naryPr>
                        <m:sub>
                          <m:r>
                            <a:rPr lang="en-GB" sz="2300">
                              <a:solidFill>
                                <a:srgbClr val="087F83"/>
                              </a:solidFill>
                              <a:latin typeface="Cambria Math"/>
                              <a:ea typeface="Cambria Math"/>
                              <a:cs typeface="Cambria Math"/>
                            </a:rPr>
                            <m:t>𝑖</m:t>
                          </m:r>
                          <m:r>
                            <a:rPr lang="en-GB" sz="2300">
                              <a:solidFill>
                                <a:srgbClr val="087F83"/>
                              </a:solidFill>
                              <a:latin typeface="Cambria Math"/>
                              <a:ea typeface="Cambria Math"/>
                              <a:cs typeface="Cambria Math"/>
                            </a:rPr>
                            <m:t>=1</m:t>
                          </m:r>
                        </m:sub>
                        <m:sup>
                          <m:r>
                            <a:rPr lang="en-GB" sz="2300">
                              <a:solidFill>
                                <a:srgbClr val="087F83"/>
                              </a:solidFill>
                              <a:latin typeface="Cambria Math"/>
                              <a:ea typeface="Cambria Math"/>
                              <a:cs typeface="Cambria Math"/>
                            </a:rPr>
                            <m:t>𝑁</m:t>
                          </m:r>
                        </m:sup>
                        <m:e>
                          <m:sSub>
                            <m:sSubPr>
                              <m:ctrlPr>
                                <a:rPr lang="en-GB" sz="2300">
                                  <a:solidFill>
                                    <a:srgbClr val="087F83"/>
                                  </a:solidFill>
                                  <a:latin typeface="Cambria Math"/>
                                  <a:ea typeface="Cambria Math"/>
                                  <a:cs typeface="Cambria Math"/>
                                </a:rPr>
                              </m:ctrlPr>
                            </m:sSubPr>
                            <m:e>
                              <m:r>
                                <m:rPr>
                                  <m:sty m:val="p"/>
                                </m:rPr>
                                <a:rPr lang="en-GB" sz="2300">
                                  <a:solidFill>
                                    <a:srgbClr val="087F83"/>
                                  </a:solidFill>
                                  <a:latin typeface="Cambria Math"/>
                                  <a:ea typeface="Cambria Math"/>
                                  <a:cs typeface="Cambria Math"/>
                                </a:rPr>
                                <m:t>ℓ</m:t>
                              </m:r>
                            </m:e>
                            <m:sub>
                              <m:r>
                                <a:rPr lang="en-GB" sz="2300">
                                  <a:solidFill>
                                    <a:srgbClr val="087F83"/>
                                  </a:solidFill>
                                  <a:latin typeface="Cambria Math"/>
                                  <a:ea typeface="Cambria Math"/>
                                  <a:cs typeface="Cambria Math"/>
                                </a:rPr>
                                <m:t>0,1</m:t>
                              </m:r>
                            </m:sub>
                          </m:sSub>
                          <m:d>
                            <m:dPr>
                              <m:ctrlPr>
                                <a:rPr lang="en-GB" sz="2300">
                                  <a:solidFill>
                                    <a:srgbClr val="087F83"/>
                                  </a:solidFill>
                                  <a:latin typeface="Cambria Math"/>
                                  <a:ea typeface="Cambria Math"/>
                                  <a:cs typeface="Cambria Math"/>
                                </a:rPr>
                              </m:ctrlPr>
                            </m:dPr>
                            <m:e>
                              <m:r>
                                <a:rPr lang="en-GB" sz="2300">
                                  <a:solidFill>
                                    <a:srgbClr val="087F83"/>
                                  </a:solidFill>
                                  <a:latin typeface="Cambria Math"/>
                                  <a:ea typeface="Cambria Math"/>
                                  <a:cs typeface="Cambria Math"/>
                                </a:rPr>
                                <m:t>ℎ</m:t>
                              </m:r>
                              <m:d>
                                <m:dPr>
                                  <m:ctrlPr>
                                    <a:rPr lang="en-GB" sz="2300" i="1">
                                      <a:solidFill>
                                        <a:srgbClr val="087F83"/>
                                      </a:solidFill>
                                      <a:latin typeface="Cambria Math" panose="02040503050406030204" pitchFamily="18" charset="0"/>
                                      <a:ea typeface="Cambria Math"/>
                                      <a:cs typeface="Cambria Math"/>
                                    </a:rPr>
                                  </m:ctrlPr>
                                </m:dPr>
                                <m:e>
                                  <m:sSub>
                                    <m:sSubPr>
                                      <m:ctrlPr>
                                        <a:rPr lang="en-GB" sz="2300">
                                          <a:solidFill>
                                            <a:srgbClr val="087F83"/>
                                          </a:solidFill>
                                          <a:latin typeface="Cambria Math"/>
                                          <a:ea typeface="Cambria Math"/>
                                          <a:cs typeface="Cambria Math"/>
                                        </a:rPr>
                                      </m:ctrlPr>
                                    </m:sSubPr>
                                    <m:e>
                                      <m:r>
                                        <a:rPr lang="en-GB" sz="2300">
                                          <a:solidFill>
                                            <a:srgbClr val="087F83"/>
                                          </a:solidFill>
                                          <a:latin typeface="Cambria Math"/>
                                          <a:ea typeface="Cambria Math"/>
                                          <a:cs typeface="Cambria Math"/>
                                        </a:rPr>
                                        <m:t>𝐱</m:t>
                                      </m:r>
                                    </m:e>
                                    <m:sub>
                                      <m:r>
                                        <a:rPr lang="en-GB" sz="2300">
                                          <a:solidFill>
                                            <a:srgbClr val="087F83"/>
                                          </a:solidFill>
                                          <a:latin typeface="Cambria Math"/>
                                          <a:ea typeface="Cambria Math"/>
                                          <a:cs typeface="Cambria Math"/>
                                        </a:rPr>
                                        <m:t>𝑖</m:t>
                                      </m:r>
                                    </m:sub>
                                  </m:sSub>
                                </m:e>
                              </m:d>
                              <m:r>
                                <a:rPr lang="en-GB" sz="2300">
                                  <a:solidFill>
                                    <a:srgbClr val="087F83"/>
                                  </a:solidFill>
                                  <a:latin typeface="Cambria Math"/>
                                  <a:ea typeface="Cambria Math"/>
                                  <a:cs typeface="Cambria Math"/>
                                </a:rPr>
                                <m:t>,</m:t>
                              </m:r>
                              <m:sSub>
                                <m:sSubPr>
                                  <m:ctrlPr>
                                    <a:rPr lang="en-GB" sz="2300">
                                      <a:solidFill>
                                        <a:srgbClr val="087F83"/>
                                      </a:solidFill>
                                      <a:latin typeface="Cambria Math"/>
                                      <a:ea typeface="Cambria Math"/>
                                      <a:cs typeface="Cambria Math"/>
                                    </a:rPr>
                                  </m:ctrlPr>
                                </m:sSubPr>
                                <m:e>
                                  <m:r>
                                    <a:rPr lang="en-GB" sz="2300">
                                      <a:solidFill>
                                        <a:srgbClr val="087F83"/>
                                      </a:solidFill>
                                      <a:latin typeface="Cambria Math"/>
                                      <a:ea typeface="Cambria Math"/>
                                      <a:cs typeface="Cambria Math"/>
                                    </a:rPr>
                                    <m:t>𝑦</m:t>
                                  </m:r>
                                </m:e>
                                <m:sub>
                                  <m:r>
                                    <a:rPr lang="en-GB" sz="2300">
                                      <a:solidFill>
                                        <a:srgbClr val="087F83"/>
                                      </a:solidFill>
                                      <a:latin typeface="Cambria Math"/>
                                      <a:ea typeface="Cambria Math"/>
                                      <a:cs typeface="Cambria Math"/>
                                    </a:rPr>
                                    <m:t>𝑖</m:t>
                                  </m:r>
                                </m:sub>
                              </m:sSub>
                            </m:e>
                          </m:d>
                        </m:e>
                      </m:nary>
                    </m:oMath>
                  </m:oMathPara>
                </a14:m>
                <a:endParaRPr lang="en-GB" sz="2300" dirty="0"/>
              </a:p>
            </p:txBody>
          </p:sp>
        </mc:Choice>
        <mc:Fallback xmlns="">
          <p:sp>
            <p:nvSpPr>
              <p:cNvPr id="17" name="step_2_empirical_error" descr="\sum_{i=1}^{N}\ell_{0,1}(h(\mathbf x_i),y_i)">
                <a:extLst>
                  <a:ext uri="{FF2B5EF4-FFF2-40B4-BE49-F238E27FC236}">
                    <a16:creationId xmlns:a16="http://schemas.microsoft.com/office/drawing/2014/main" id="{AD4B9B0F-28F9-44B6-A9C8-31BB9520CBA1}"/>
                  </a:ext>
                </a:extLst>
              </p:cNvPr>
              <p:cNvSpPr>
                <a:spLocks noGrp="1" noRot="1" noChangeAspect="1" noMove="1" noResize="1" noEditPoints="1" noAdjustHandles="1" noChangeArrowheads="1" noChangeShapeType="1" noTextEdit="1"/>
              </p:cNvSpPr>
              <p:nvPr/>
            </p:nvSpPr>
            <p:spPr>
              <a:xfrm>
                <a:off x="6419850" y="4363593"/>
                <a:ext cx="5048250" cy="1085850"/>
              </a:xfrm>
              <a:prstGeom prst="rect">
                <a:avLst/>
              </a:prstGeom>
              <a:blipFill>
                <a:blip r:embed="rId7"/>
                <a:stretch>
                  <a:fillRect/>
                </a:stretch>
              </a:blipFill>
              <a:ln w="0">
                <a:noFill/>
              </a:ln>
            </p:spPr>
            <p:txBody>
              <a:bodyPr/>
              <a:lstStyle/>
              <a:p>
                <a:r>
                  <a:rPr lang="it-IT">
                    <a:noFill/>
                  </a:rPr>
                  <a:t> </a:t>
                </a:r>
              </a:p>
            </p:txBody>
          </p:sp>
        </mc:Fallback>
      </mc:AlternateContent>
      <p:sp>
        <p:nvSpPr>
          <p:cNvPr id="18" name="step_0_regression_explanation">
            <a:extLst>
              <a:ext uri="{FF2B5EF4-FFF2-40B4-BE49-F238E27FC236}">
                <a16:creationId xmlns:a16="http://schemas.microsoft.com/office/drawing/2014/main" id="{7677AE48-4DF4-4A02-8F47-E2DF65D21C18}"/>
              </a:ext>
            </a:extLst>
          </p:cNvPr>
          <p:cNvSpPr>
            <a:spLocks noGrp="1"/>
          </p:cNvSpPr>
          <p:nvPr/>
        </p:nvSpPr>
        <p:spPr>
          <a:xfrm>
            <a:off x="6419850" y="5643372"/>
            <a:ext cx="5048250" cy="533400"/>
          </a:xfrm>
          <a:prstGeom prst="rect">
            <a:avLst/>
          </a:prstGeom>
          <a:noFill/>
          <a:ln w="0">
            <a:noFill/>
          </a:ln>
        </p:spPr>
        <p:txBody>
          <a:bodyPr wrap="square" lIns="0" tIns="0" rIns="0" bIns="0" anchor="ctr">
            <a:noAutofit/>
          </a:bodyPr>
          <a:lstStyle/>
          <a:p>
            <a:pPr algn="ctr">
              <a:lnSpc>
                <a:spcPct val="110000"/>
              </a:lnSpc>
              <a:buNone/>
              <a:defRPr sz="1800" b="0">
                <a:solidFill>
                  <a:srgbClr val="526276"/>
                </a:solidFill>
                <a:latin typeface="DejaVu Sans"/>
                <a:ea typeface="DejaVu Sans"/>
                <a:cs typeface="DejaVu Sans"/>
              </a:defRPr>
            </a:pPr>
            <a:r>
              <a:rPr lang="it-IT" sz="1800" b="0" dirty="0">
                <a:solidFill>
                  <a:srgbClr val="526276"/>
                </a:solidFill>
                <a:latin typeface="DejaVu Sans"/>
                <a:ea typeface="DejaVu Sans"/>
                <a:cs typeface="DejaVu Sans"/>
              </a:rPr>
              <a:t>All </a:t>
            </a:r>
            <a:r>
              <a:rPr lang="it-IT" sz="1800" b="0" dirty="0" err="1">
                <a:solidFill>
                  <a:srgbClr val="526276"/>
                </a:solidFill>
                <a:latin typeface="DejaVu Sans"/>
                <a:ea typeface="DejaVu Sans"/>
                <a:cs typeface="DejaVu Sans"/>
              </a:rPr>
              <a:t>mistakes</a:t>
            </a:r>
            <a:r>
              <a:rPr lang="it-IT" sz="1800" b="0" dirty="0">
                <a:solidFill>
                  <a:srgbClr val="526276"/>
                </a:solidFill>
                <a:latin typeface="DejaVu Sans"/>
                <a:ea typeface="DejaVu Sans"/>
                <a:cs typeface="DejaVu Sans"/>
              </a:rPr>
              <a:t> are </a:t>
            </a:r>
            <a:r>
              <a:rPr lang="it-IT" sz="1800" b="0" dirty="0" err="1">
                <a:solidFill>
                  <a:srgbClr val="526276"/>
                </a:solidFill>
                <a:latin typeface="DejaVu Sans"/>
                <a:ea typeface="DejaVu Sans"/>
                <a:cs typeface="DejaVu Sans"/>
              </a:rPr>
              <a:t>penalized</a:t>
            </a:r>
            <a:endParaRPr lang="it-IT" dirty="0">
              <a:solidFill>
                <a:srgbClr val="526276"/>
              </a:solidFill>
              <a:latin typeface="DejaVu Sans"/>
              <a:ea typeface="DejaVu Sans"/>
              <a:cs typeface="DejaVu Sans"/>
            </a:endParaRPr>
          </a:p>
          <a:p>
            <a:pPr algn="ctr">
              <a:lnSpc>
                <a:spcPct val="110000"/>
              </a:lnSpc>
              <a:buNone/>
              <a:defRPr sz="1800" b="0">
                <a:solidFill>
                  <a:srgbClr val="526276"/>
                </a:solidFill>
                <a:latin typeface="DejaVu Sans"/>
                <a:ea typeface="DejaVu Sans"/>
                <a:cs typeface="DejaVu Sans"/>
              </a:defRPr>
            </a:pPr>
            <a:r>
              <a:rPr lang="it-IT" sz="1800" b="0" dirty="0">
                <a:solidFill>
                  <a:srgbClr val="526276"/>
                </a:solidFill>
                <a:latin typeface="DejaVu Sans"/>
                <a:ea typeface="DejaVu Sans"/>
                <a:cs typeface="DejaVu Sans"/>
              </a:rPr>
              <a:t>the </a:t>
            </a:r>
            <a:r>
              <a:rPr lang="it-IT" sz="1800" b="0" dirty="0" err="1">
                <a:solidFill>
                  <a:srgbClr val="526276"/>
                </a:solidFill>
                <a:latin typeface="DejaVu Sans"/>
                <a:ea typeface="DejaVu Sans"/>
                <a:cs typeface="DejaVu Sans"/>
              </a:rPr>
              <a:t>same</a:t>
            </a:r>
            <a:r>
              <a:rPr lang="it-IT" sz="1800" b="0" dirty="0">
                <a:solidFill>
                  <a:srgbClr val="526276"/>
                </a:solidFill>
                <a:latin typeface="DejaVu Sans"/>
                <a:ea typeface="DejaVu Sans"/>
                <a:cs typeface="DejaVu Sans"/>
              </a:rPr>
              <a:t> way</a:t>
            </a:r>
            <a:endParaRPr sz="1800" b="0" dirty="0">
              <a:solidFill>
                <a:srgbClr val="526276"/>
              </a:solidFill>
              <a:latin typeface="DejaVu Sans"/>
              <a:ea typeface="DejaVu Sans"/>
              <a:cs typeface="DejaVu Sans"/>
            </a:endParaRPr>
          </a:p>
        </p:txBody>
      </p:sp>
      <p:sp>
        <p:nvSpPr>
          <p:cNvPr id="7" name="step_0_regression_explanation">
            <a:extLst>
              <a:ext uri="{FF2B5EF4-FFF2-40B4-BE49-F238E27FC236}">
                <a16:creationId xmlns:a16="http://schemas.microsoft.com/office/drawing/2014/main" id="{04161160-1107-CF79-A21D-93DF1EE54661}"/>
              </a:ext>
            </a:extLst>
          </p:cNvPr>
          <p:cNvSpPr>
            <a:spLocks noGrp="1"/>
          </p:cNvSpPr>
          <p:nvPr/>
        </p:nvSpPr>
        <p:spPr>
          <a:xfrm>
            <a:off x="800886" y="5643372"/>
            <a:ext cx="5048250" cy="533400"/>
          </a:xfrm>
          <a:prstGeom prst="rect">
            <a:avLst/>
          </a:prstGeom>
          <a:noFill/>
          <a:ln w="0">
            <a:noFill/>
          </a:ln>
        </p:spPr>
        <p:txBody>
          <a:bodyPr wrap="square" lIns="0" tIns="0" rIns="0" bIns="0" anchor="ctr">
            <a:noAutofit/>
          </a:bodyPr>
          <a:lstStyle/>
          <a:p>
            <a:pPr algn="ctr">
              <a:lnSpc>
                <a:spcPct val="110000"/>
              </a:lnSpc>
              <a:buNone/>
              <a:defRPr sz="1800" b="0">
                <a:solidFill>
                  <a:srgbClr val="526276"/>
                </a:solidFill>
                <a:latin typeface="DejaVu Sans"/>
                <a:ea typeface="DejaVu Sans"/>
                <a:cs typeface="DejaVu Sans"/>
              </a:defRPr>
            </a:pPr>
            <a:r>
              <a:rPr sz="1800" b="0" dirty="0">
                <a:solidFill>
                  <a:srgbClr val="526276"/>
                </a:solidFill>
                <a:latin typeface="DejaVu Sans"/>
                <a:ea typeface="DejaVu Sans"/>
                <a:cs typeface="DejaVu Sans"/>
              </a:rPr>
              <a:t>Larger numerical errors</a:t>
            </a:r>
          </a:p>
          <a:p>
            <a:pPr algn="ctr">
              <a:lnSpc>
                <a:spcPct val="110000"/>
              </a:lnSpc>
              <a:buNone/>
              <a:defRPr sz="1800" b="0">
                <a:solidFill>
                  <a:srgbClr val="526276"/>
                </a:solidFill>
                <a:latin typeface="DejaVu Sans"/>
                <a:ea typeface="DejaVu Sans"/>
                <a:cs typeface="DejaVu Sans"/>
              </a:defRPr>
            </a:pPr>
            <a:r>
              <a:rPr sz="1800" b="0" dirty="0">
                <a:solidFill>
                  <a:srgbClr val="526276"/>
                </a:solidFill>
                <a:latin typeface="DejaVu Sans"/>
                <a:ea typeface="DejaVu Sans"/>
                <a:cs typeface="DejaVu Sans"/>
              </a:rPr>
              <a:t>receive larger penalties</a:t>
            </a:r>
          </a:p>
        </p:txBody>
      </p:sp>
      <mc:AlternateContent xmlns:mc="http://schemas.openxmlformats.org/markup-compatibility/2006" xmlns:a14="http://schemas.microsoft.com/office/drawing/2010/main">
        <mc:Choice Requires="a14">
          <p:sp>
            <p:nvSpPr>
              <p:cNvPr id="21" name="lead">
                <a:extLst>
                  <a:ext uri="{FF2B5EF4-FFF2-40B4-BE49-F238E27FC236}">
                    <a16:creationId xmlns:a16="http://schemas.microsoft.com/office/drawing/2014/main" id="{68C1D842-82D8-8BA6-DC6F-A60C70DAA476}"/>
                  </a:ext>
                </a:extLst>
              </p:cNvPr>
              <p:cNvSpPr>
                <a:spLocks noGrp="1"/>
              </p:cNvSpPr>
              <p:nvPr/>
            </p:nvSpPr>
            <p:spPr>
              <a:xfrm>
                <a:off x="6507745" y="1146239"/>
                <a:ext cx="487246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A </a:t>
                </a:r>
                <a:r>
                  <a:rPr sz="2100" b="0" dirty="0">
                    <a:solidFill>
                      <a:srgbClr val="FF0000"/>
                    </a:solidFill>
                    <a:latin typeface="DejaVu Sans"/>
                    <a:ea typeface="DejaVu Sans"/>
                    <a:cs typeface="DejaVu Sans"/>
                  </a:rPr>
                  <a:t>classifier</a:t>
                </a:r>
                <a:r>
                  <a:rPr sz="2100" b="0" dirty="0">
                    <a:solidFill>
                      <a:srgbClr val="526276"/>
                    </a:solidFill>
                    <a:latin typeface="DejaVu Sans"/>
                    <a:ea typeface="DejaVu Sans"/>
                    <a:cs typeface="DejaVu Sans"/>
                  </a:rPr>
                  <a:t> </a:t>
                </a:r>
                <a14:m>
                  <m:oMath xmlns:m="http://schemas.openxmlformats.org/officeDocument/2006/math">
                    <m:r>
                      <a:rPr lang="it-IT" sz="2100" b="0" i="1" dirty="0" smtClean="0">
                        <a:solidFill>
                          <a:srgbClr val="526276"/>
                        </a:solidFill>
                        <a:latin typeface="Cambria Math" panose="02040503050406030204" pitchFamily="18" charset="0"/>
                        <a:ea typeface="DejaVu Sans"/>
                        <a:cs typeface="DejaVu Sans"/>
                      </a:rPr>
                      <m:t>ℎ</m:t>
                    </m:r>
                    <m:r>
                      <a:rPr lang="it-IT" sz="2100" b="0" i="0" dirty="0" smtClean="0">
                        <a:solidFill>
                          <a:srgbClr val="526276"/>
                        </a:solidFill>
                        <a:latin typeface="Cambria Math" panose="02040503050406030204" pitchFamily="18" charset="0"/>
                        <a:ea typeface="DejaVu Sans"/>
                        <a:cs typeface="DejaVu Sans"/>
                      </a:rPr>
                      <m:t>: </m:t>
                    </m:r>
                    <m:sSup>
                      <m:sSupPr>
                        <m:ctrlPr>
                          <a:rPr lang="it-IT" sz="2100" b="0" i="0" dirty="0" smtClean="0">
                            <a:solidFill>
                              <a:srgbClr val="526276"/>
                            </a:solidFill>
                            <a:latin typeface="Cambria Math" panose="02040503050406030204" pitchFamily="18" charset="0"/>
                            <a:ea typeface="DejaVu Sans"/>
                            <a:cs typeface="DejaVu Sans"/>
                          </a:rPr>
                        </m:ctrlPr>
                      </m:sSupPr>
                      <m:e>
                        <m:r>
                          <a:rPr lang="it-IT" sz="2100" b="0" i="0" dirty="0" smtClean="0">
                            <a:solidFill>
                              <a:srgbClr val="526276"/>
                            </a:solidFill>
                            <a:latin typeface="Cambria Math" panose="02040503050406030204" pitchFamily="18" charset="0"/>
                            <a:ea typeface="DejaVu Sans"/>
                            <a:cs typeface="DejaVu Sans"/>
                          </a:rPr>
                          <m:t>ℝ</m:t>
                        </m:r>
                      </m:e>
                      <m:sup>
                        <m:r>
                          <a:rPr lang="it-IT" sz="2100" b="0" i="0" dirty="0" smtClean="0">
                            <a:solidFill>
                              <a:srgbClr val="526276"/>
                            </a:solidFill>
                            <a:latin typeface="Cambria Math" panose="02040503050406030204" pitchFamily="18" charset="0"/>
                            <a:ea typeface="DejaVu Sans"/>
                            <a:cs typeface="DejaVu Sans"/>
                          </a:rPr>
                          <m:t>𝑑</m:t>
                        </m:r>
                      </m:sup>
                    </m:sSup>
                    <m:r>
                      <a:rPr lang="it-IT" sz="2100" b="0" i="0" dirty="0" smtClean="0">
                        <a:solidFill>
                          <a:srgbClr val="526276"/>
                        </a:solidFill>
                        <a:latin typeface="Cambria Math" panose="02040503050406030204" pitchFamily="18" charset="0"/>
                        <a:ea typeface="DejaVu Sans"/>
                        <a:cs typeface="DejaVu Sans"/>
                      </a:rPr>
                      <m:t> → {0,1}</m:t>
                    </m:r>
                  </m:oMath>
                </a14:m>
                <a:endParaRPr lang="it-IT" sz="2100" b="0" dirty="0">
                  <a:solidFill>
                    <a:srgbClr val="526276"/>
                  </a:solidFill>
                  <a:latin typeface="DejaVu Sans"/>
                  <a:ea typeface="DejaVu Sans"/>
                  <a:cs typeface="DejaVu Sans"/>
                </a:endParaRPr>
              </a:p>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 returns a class </a:t>
                </a:r>
                <a:r>
                  <a:rPr sz="2100" b="0" dirty="0">
                    <a:solidFill>
                      <a:srgbClr val="FF0000"/>
                    </a:solidFill>
                    <a:latin typeface="DejaVu Sans"/>
                    <a:ea typeface="DejaVu Sans"/>
                    <a:cs typeface="DejaVu Sans"/>
                  </a:rPr>
                  <a:t>label</a:t>
                </a:r>
                <a:r>
                  <a:rPr sz="2100" b="0" dirty="0">
                    <a:solidFill>
                      <a:srgbClr val="526276"/>
                    </a:solidFill>
                    <a:latin typeface="DejaVu Sans"/>
                    <a:ea typeface="DejaVu Sans"/>
                    <a:cs typeface="DejaVu Sans"/>
                  </a:rPr>
                  <a:t>.</a:t>
                </a:r>
              </a:p>
            </p:txBody>
          </p:sp>
        </mc:Choice>
        <mc:Fallback xmlns="">
          <p:sp>
            <p:nvSpPr>
              <p:cNvPr id="21" name="lead">
                <a:extLst>
                  <a:ext uri="{FF2B5EF4-FFF2-40B4-BE49-F238E27FC236}">
                    <a16:creationId xmlns:a16="http://schemas.microsoft.com/office/drawing/2014/main" id="{68C1D842-82D8-8BA6-DC6F-A60C70DAA476}"/>
                  </a:ext>
                </a:extLst>
              </p:cNvPr>
              <p:cNvSpPr>
                <a:spLocks noGrp="1" noRot="1" noChangeAspect="1" noMove="1" noResize="1" noEditPoints="1" noAdjustHandles="1" noChangeArrowheads="1" noChangeShapeType="1" noTextEdit="1"/>
              </p:cNvSpPr>
              <p:nvPr/>
            </p:nvSpPr>
            <p:spPr>
              <a:xfrm>
                <a:off x="6507745" y="1146239"/>
                <a:ext cx="4872460" cy="666750"/>
              </a:xfrm>
              <a:prstGeom prst="rect">
                <a:avLst/>
              </a:prstGeom>
              <a:blipFill>
                <a:blip r:embed="rId8"/>
                <a:stretch>
                  <a:fillRect t="-13761" b="-26606"/>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597700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8"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71963459-5CB8-4A81-9FE3-46E8609DA3A2}"/>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Predicting a probability first</a:t>
            </a:r>
          </a:p>
        </p:txBody>
      </p:sp>
      <p:sp>
        <p:nvSpPr>
          <p:cNvPr id="2" name="lead">
            <a:extLst>
              <a:ext uri="{FF2B5EF4-FFF2-40B4-BE49-F238E27FC236}">
                <a16:creationId xmlns:a16="http://schemas.microsoft.com/office/drawing/2014/main" id="{65408368-80EB-4ACC-9547-51EE5DD25430}"/>
              </a:ext>
            </a:extLst>
          </p:cNvPr>
          <p:cNvSpPr>
            <a:spLocks noGrp="1"/>
          </p:cNvSpPr>
          <p:nvPr/>
        </p:nvSpPr>
        <p:spPr>
          <a:xfrm>
            <a:off x="352425" y="1159913"/>
            <a:ext cx="10744200" cy="778933"/>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A label gives a </a:t>
            </a:r>
            <a:r>
              <a:rPr sz="2100" b="0" dirty="0">
                <a:solidFill>
                  <a:srgbClr val="FF0000"/>
                </a:solidFill>
                <a:latin typeface="DejaVu Sans"/>
                <a:ea typeface="DejaVu Sans"/>
                <a:cs typeface="DejaVu Sans"/>
              </a:rPr>
              <a:t>decision</a:t>
            </a:r>
            <a:r>
              <a:rPr sz="2100" b="0" dirty="0">
                <a:solidFill>
                  <a:srgbClr val="526276"/>
                </a:solidFill>
                <a:latin typeface="DejaVu Sans"/>
                <a:ea typeface="DejaVu Sans"/>
                <a:cs typeface="DejaVu Sans"/>
              </a:rPr>
              <a:t>.</a:t>
            </a:r>
            <a:endParaRPr lang="it-IT" sz="2100" b="0" dirty="0">
              <a:solidFill>
                <a:srgbClr val="526276"/>
              </a:solidFill>
              <a:latin typeface="DejaVu Sans"/>
              <a:ea typeface="DejaVu Sans"/>
              <a:cs typeface="DejaVu Sans"/>
            </a:endParaRPr>
          </a:p>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A </a:t>
            </a:r>
            <a:r>
              <a:rPr sz="2100" b="0" dirty="0">
                <a:solidFill>
                  <a:srgbClr val="FF0000"/>
                </a:solidFill>
                <a:latin typeface="DejaVu Sans"/>
                <a:ea typeface="DejaVu Sans"/>
                <a:cs typeface="DejaVu Sans"/>
              </a:rPr>
              <a:t>probability</a:t>
            </a:r>
            <a:r>
              <a:rPr sz="2100" b="0" dirty="0">
                <a:solidFill>
                  <a:srgbClr val="526276"/>
                </a:solidFill>
                <a:latin typeface="DejaVu Sans"/>
                <a:ea typeface="DejaVu Sans"/>
                <a:cs typeface="DejaVu Sans"/>
              </a:rPr>
              <a:t> also records how strongly the model </a:t>
            </a:r>
            <a:r>
              <a:rPr sz="2100" b="0" dirty="0" err="1">
                <a:solidFill>
                  <a:srgbClr val="526276"/>
                </a:solidFill>
                <a:latin typeface="DejaVu Sans"/>
                <a:ea typeface="DejaVu Sans"/>
                <a:cs typeface="DejaVu Sans"/>
              </a:rPr>
              <a:t>favours</a:t>
            </a:r>
            <a:r>
              <a:rPr sz="2100" b="0" dirty="0">
                <a:solidFill>
                  <a:srgbClr val="526276"/>
                </a:solidFill>
                <a:latin typeface="DejaVu Sans"/>
                <a:ea typeface="DejaVu Sans"/>
                <a:cs typeface="DejaVu Sans"/>
              </a:rPr>
              <a:t> that label.</a:t>
            </a:r>
            <a:endParaRPr lang="it-IT" sz="1200" b="0" dirty="0">
              <a:solidFill>
                <a:srgbClr val="526276"/>
              </a:solidFill>
              <a:latin typeface="DejaVu Sans"/>
              <a:ea typeface="DejaVu Sans"/>
              <a:cs typeface="DejaVu Sans"/>
            </a:endParaRPr>
          </a:p>
          <a:p>
            <a:pPr algn="ctr">
              <a:lnSpc>
                <a:spcPct val="112000"/>
              </a:lnSpc>
              <a:buNone/>
              <a:defRPr sz="2100" b="0">
                <a:solidFill>
                  <a:srgbClr val="526276"/>
                </a:solidFill>
                <a:latin typeface="DejaVu Sans"/>
                <a:ea typeface="DejaVu Sans"/>
                <a:cs typeface="DejaVu Sans"/>
              </a:defRPr>
            </a:pPr>
            <a:endParaRPr lang="it-IT" sz="600" b="0" dirty="0">
              <a:solidFill>
                <a:srgbClr val="526276"/>
              </a:solidFill>
              <a:latin typeface="DejaVu Sans"/>
              <a:ea typeface="DejaVu Sans"/>
              <a:cs typeface="DejaVu Sans"/>
            </a:endParaRPr>
          </a:p>
          <a:p>
            <a:pPr algn="ctr">
              <a:lnSpc>
                <a:spcPct val="112000"/>
              </a:lnSpc>
              <a:buNone/>
              <a:defRPr sz="2100" b="0">
                <a:solidFill>
                  <a:srgbClr val="526276"/>
                </a:solidFill>
                <a:latin typeface="DejaVu Sans"/>
                <a:ea typeface="DejaVu Sans"/>
                <a:cs typeface="DejaVu Sans"/>
              </a:defRPr>
            </a:pPr>
            <a:r>
              <a:rPr lang="it-IT" sz="2000" b="1" dirty="0" err="1">
                <a:solidFill>
                  <a:srgbClr val="FF0000"/>
                </a:solidFill>
                <a:latin typeface="DejaVu Sans"/>
                <a:ea typeface="DejaVu Sans"/>
                <a:cs typeface="DejaVu Sans"/>
              </a:rPr>
              <a:t>Probabilistic</a:t>
            </a:r>
            <a:r>
              <a:rPr lang="it-IT" sz="2000" b="1" dirty="0">
                <a:solidFill>
                  <a:srgbClr val="FF0000"/>
                </a:solidFill>
                <a:latin typeface="DejaVu Sans"/>
                <a:ea typeface="DejaVu Sans"/>
                <a:cs typeface="DejaVu Sans"/>
              </a:rPr>
              <a:t> </a:t>
            </a:r>
            <a:r>
              <a:rPr lang="it-IT" sz="2000" b="1" dirty="0" err="1">
                <a:solidFill>
                  <a:srgbClr val="FF0000"/>
                </a:solidFill>
                <a:latin typeface="DejaVu Sans"/>
                <a:ea typeface="DejaVu Sans"/>
                <a:cs typeface="DejaVu Sans"/>
              </a:rPr>
              <a:t>predictor</a:t>
            </a:r>
            <a:endParaRPr sz="2100" b="1" dirty="0">
              <a:solidFill>
                <a:srgbClr val="526276"/>
              </a:solidFill>
              <a:latin typeface="DejaVu Sans"/>
              <a:ea typeface="DejaVu Sans"/>
              <a:cs typeface="DejaVu Sans"/>
            </a:endParaRPr>
          </a:p>
        </p:txBody>
      </p:sp>
      <p:sp>
        <p:nvSpPr>
          <p:cNvPr id="3" name="footer_course">
            <a:extLst>
              <a:ext uri="{FF2B5EF4-FFF2-40B4-BE49-F238E27FC236}">
                <a16:creationId xmlns:a16="http://schemas.microsoft.com/office/drawing/2014/main" id="{B0AB88AE-FE69-4604-9373-9CA3B02AB469}"/>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0EB089E9-108B-4C28-87E6-8AA3621AE9AE}"/>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5</a:t>
            </a:r>
          </a:p>
        </p:txBody>
      </p:sp>
      <mc:AlternateContent xmlns:mc="http://schemas.openxmlformats.org/markup-compatibility/2006" xmlns:a14="http://schemas.microsoft.com/office/drawing/2010/main">
        <mc:Choice Requires="a14">
          <p:sp>
            <p:nvSpPr>
              <p:cNvPr id="5" name="step_0_equation_0" descr="p:\mathbb R^d\longrightarrow[0,1]">
                <a:extLst>
                  <a:ext uri="{FF2B5EF4-FFF2-40B4-BE49-F238E27FC236}">
                    <a16:creationId xmlns:a16="http://schemas.microsoft.com/office/drawing/2014/main" id="{477F52F4-4DCD-4E39-9E34-73AEED91E31B}"/>
                  </a:ext>
                </a:extLst>
              </p:cNvPr>
              <p:cNvSpPr>
                <a:spLocks noGrp="1"/>
              </p:cNvSpPr>
              <p:nvPr/>
            </p:nvSpPr>
            <p:spPr>
              <a:xfrm>
                <a:off x="400050" y="2146977"/>
                <a:ext cx="10744200" cy="744166"/>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𝑝</m:t>
                      </m:r>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m:t>
                      </m:r>
                      <m:sSup>
                        <m:sSupPr>
                          <m:ctrlPr>
                            <a:rPr lang="en-GB" sz="3000">
                              <a:solidFill>
                                <a:srgbClr val="087F83"/>
                              </a:solidFill>
                              <a:latin typeface="Cambria Math"/>
                              <a:ea typeface="Cambria Math"/>
                              <a:cs typeface="Cambria Math"/>
                            </a:rPr>
                          </m:ctrlPr>
                        </m:sSupPr>
                        <m:e>
                          <m:r>
                            <a:rPr lang="en-GB" sz="3000">
                              <a:solidFill>
                                <a:srgbClr val="087F83"/>
                              </a:solidFill>
                              <a:latin typeface="Cambria Math"/>
                              <a:ea typeface="Cambria Math"/>
                              <a:cs typeface="Cambria Math"/>
                            </a:rPr>
                            <m:t>ℝ</m:t>
                          </m:r>
                        </m:e>
                        <m:sup>
                          <m:r>
                            <a:rPr lang="en-GB" sz="3000">
                              <a:solidFill>
                                <a:srgbClr val="087F83"/>
                              </a:solidFill>
                              <a:latin typeface="Cambria Math"/>
                              <a:ea typeface="Cambria Math"/>
                              <a:cs typeface="Cambria Math"/>
                            </a:rPr>
                            <m:t>𝑑</m:t>
                          </m:r>
                        </m:sup>
                      </m:sSup>
                      <m:r>
                        <a:rPr lang="en-GB" sz="3000">
                          <a:solidFill>
                            <a:srgbClr val="087F83"/>
                          </a:solidFill>
                          <a:latin typeface="Cambria Math"/>
                          <a:ea typeface="Cambria Math"/>
                          <a:cs typeface="Cambria Math"/>
                        </a:rPr>
                        <m:t>⟶[0,1]</m:t>
                      </m:r>
                    </m:oMath>
                  </m:oMathPara>
                </a14:m>
                <a:endParaRPr lang="en-GB" sz="3000" dirty="0"/>
              </a:p>
            </p:txBody>
          </p:sp>
        </mc:Choice>
        <mc:Fallback xmlns="">
          <p:sp>
            <p:nvSpPr>
              <p:cNvPr id="5" name="step_0_equation_0" descr="p:\mathbb R^d\longrightarrow[0,1]">
                <a:extLst>
                  <a:ext uri="{FF2B5EF4-FFF2-40B4-BE49-F238E27FC236}">
                    <a16:creationId xmlns:a16="http://schemas.microsoft.com/office/drawing/2014/main" id="{477F52F4-4DCD-4E39-9E34-73AEED91E31B}"/>
                  </a:ext>
                </a:extLst>
              </p:cNvPr>
              <p:cNvSpPr>
                <a:spLocks noGrp="1" noRot="1" noChangeAspect="1" noMove="1" noResize="1" noEditPoints="1" noAdjustHandles="1" noChangeArrowheads="1" noChangeShapeType="1" noTextEdit="1"/>
              </p:cNvSpPr>
              <p:nvPr/>
            </p:nvSpPr>
            <p:spPr>
              <a:xfrm>
                <a:off x="400050" y="2146977"/>
                <a:ext cx="10744200" cy="744166"/>
              </a:xfrm>
              <a:prstGeom prst="rect">
                <a:avLst/>
              </a:prstGeom>
              <a:blipFill>
                <a:blip r:embed="rId3"/>
                <a:stretch>
                  <a:fillRect/>
                </a:stretch>
              </a:blipFill>
              <a:ln w="0">
                <a:noFill/>
              </a:ln>
            </p:spPr>
            <p:txBody>
              <a:bodyPr/>
              <a:lstStyle/>
              <a:p>
                <a:r>
                  <a:rPr lang="it-IT">
                    <a:noFill/>
                  </a:rPr>
                  <a:t> </a:t>
                </a:r>
              </a:p>
            </p:txBody>
          </p:sp>
        </mc:Fallback>
      </mc:AlternateContent>
      <p:sp>
        <p:nvSpPr>
          <p:cNvPr id="6" name="step_1_text_1">
            <a:extLst>
              <a:ext uri="{FF2B5EF4-FFF2-40B4-BE49-F238E27FC236}">
                <a16:creationId xmlns:a16="http://schemas.microsoft.com/office/drawing/2014/main" id="{270DBBF3-F65C-46A0-94DA-EA6874978B4B}"/>
              </a:ext>
            </a:extLst>
          </p:cNvPr>
          <p:cNvSpPr>
            <a:spLocks noGrp="1"/>
          </p:cNvSpPr>
          <p:nvPr/>
        </p:nvSpPr>
        <p:spPr>
          <a:xfrm>
            <a:off x="685800" y="2943225"/>
            <a:ext cx="4429125" cy="552450"/>
          </a:xfrm>
          <a:prstGeom prst="rect">
            <a:avLst/>
          </a:prstGeom>
          <a:noFill/>
          <a:ln w="0">
            <a:noFill/>
          </a:ln>
        </p:spPr>
        <p:txBody>
          <a:bodyPr wrap="square" lIns="0" tIns="0" rIns="0" bIns="0" anchor="ctr">
            <a:noAutofit/>
          </a:bodyPr>
          <a:lstStyle/>
          <a:p>
            <a:pPr algn="ctr">
              <a:lnSpc>
                <a:spcPct val="112000"/>
              </a:lnSpc>
              <a:buNone/>
              <a:defRPr sz="2100" b="1">
                <a:solidFill>
                  <a:srgbClr val="087F83"/>
                </a:solidFill>
                <a:latin typeface="DejaVu Sans"/>
                <a:ea typeface="DejaVu Sans"/>
                <a:cs typeface="DejaVu Sans"/>
              </a:defRPr>
            </a:pPr>
            <a:r>
              <a:rPr sz="2100" b="1" dirty="0">
                <a:solidFill>
                  <a:srgbClr val="087F83"/>
                </a:solidFill>
                <a:latin typeface="DejaVu Sans"/>
                <a:ea typeface="DejaVu Sans"/>
                <a:cs typeface="DejaVu Sans"/>
              </a:rPr>
              <a:t>Probability of class 1</a:t>
            </a:r>
          </a:p>
        </p:txBody>
      </p:sp>
      <p:sp>
        <p:nvSpPr>
          <p:cNvPr id="7" name="step_1_text_2">
            <a:extLst>
              <a:ext uri="{FF2B5EF4-FFF2-40B4-BE49-F238E27FC236}">
                <a16:creationId xmlns:a16="http://schemas.microsoft.com/office/drawing/2014/main" id="{6AE717C4-EB35-4CB5-9F05-BA0FE723402F}"/>
              </a:ext>
            </a:extLst>
          </p:cNvPr>
          <p:cNvSpPr>
            <a:spLocks noGrp="1"/>
          </p:cNvSpPr>
          <p:nvPr/>
        </p:nvSpPr>
        <p:spPr>
          <a:xfrm>
            <a:off x="6715125" y="2895600"/>
            <a:ext cx="4429125" cy="552450"/>
          </a:xfrm>
          <a:prstGeom prst="rect">
            <a:avLst/>
          </a:prstGeom>
          <a:noFill/>
          <a:ln w="0">
            <a:noFill/>
          </a:ln>
        </p:spPr>
        <p:txBody>
          <a:bodyPr wrap="square" lIns="0" tIns="0" rIns="0" bIns="0" anchor="ctr">
            <a:noAutofit/>
          </a:bodyPr>
          <a:lstStyle/>
          <a:p>
            <a:pPr algn="ctr">
              <a:lnSpc>
                <a:spcPct val="112000"/>
              </a:lnSpc>
              <a:buNone/>
              <a:defRPr sz="2100" b="1">
                <a:solidFill>
                  <a:srgbClr val="326CB2"/>
                </a:solidFill>
                <a:latin typeface="DejaVu Sans"/>
                <a:ea typeface="DejaVu Sans"/>
                <a:cs typeface="DejaVu Sans"/>
              </a:defRPr>
            </a:pPr>
            <a:r>
              <a:rPr sz="2100" b="1" dirty="0">
                <a:solidFill>
                  <a:srgbClr val="326CB2"/>
                </a:solidFill>
                <a:latin typeface="DejaVu Sans"/>
                <a:ea typeface="DejaVu Sans"/>
                <a:cs typeface="DejaVu Sans"/>
              </a:rPr>
              <a:t>Probability of class 0</a:t>
            </a:r>
          </a:p>
        </p:txBody>
      </p:sp>
      <mc:AlternateContent xmlns:mc="http://schemas.openxmlformats.org/markup-compatibility/2006" xmlns:a14="http://schemas.microsoft.com/office/drawing/2010/main">
        <mc:Choice Requires="a14">
          <p:sp>
            <p:nvSpPr>
              <p:cNvPr id="8" name="step_1_equation_3" descr="p(\mathbf x)">
                <a:extLst>
                  <a:ext uri="{FF2B5EF4-FFF2-40B4-BE49-F238E27FC236}">
                    <a16:creationId xmlns:a16="http://schemas.microsoft.com/office/drawing/2014/main" id="{450B3704-0AC1-4EBB-86AB-E0CC4ABED8DA}"/>
                  </a:ext>
                </a:extLst>
              </p:cNvPr>
              <p:cNvSpPr>
                <a:spLocks noGrp="1"/>
              </p:cNvSpPr>
              <p:nvPr/>
            </p:nvSpPr>
            <p:spPr>
              <a:xfrm>
                <a:off x="685799" y="3429000"/>
                <a:ext cx="4429125"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600" smtClean="0">
                          <a:solidFill>
                            <a:srgbClr val="087F83"/>
                          </a:solidFill>
                          <a:latin typeface="Cambria Math"/>
                          <a:ea typeface="Cambria Math"/>
                          <a:cs typeface="Cambria Math"/>
                        </a:rPr>
                        <m:t>𝑝</m:t>
                      </m:r>
                      <m:d>
                        <m:dPr>
                          <m:ctrlPr>
                            <a:rPr lang="en-GB" sz="3600">
                              <a:solidFill>
                                <a:srgbClr val="087F83"/>
                              </a:solidFill>
                              <a:latin typeface="Cambria Math"/>
                              <a:ea typeface="Cambria Math"/>
                              <a:cs typeface="Cambria Math"/>
                            </a:rPr>
                          </m:ctrlPr>
                        </m:dPr>
                        <m:e>
                          <m:r>
                            <a:rPr lang="en-GB" sz="3600">
                              <a:solidFill>
                                <a:srgbClr val="087F83"/>
                              </a:solidFill>
                              <a:latin typeface="Cambria Math"/>
                              <a:ea typeface="Cambria Math"/>
                              <a:cs typeface="Cambria Math"/>
                            </a:rPr>
                            <m:t>𝐱</m:t>
                          </m:r>
                        </m:e>
                      </m:d>
                    </m:oMath>
                  </m:oMathPara>
                </a14:m>
                <a:endParaRPr lang="en-GB" sz="3600" dirty="0"/>
              </a:p>
            </p:txBody>
          </p:sp>
        </mc:Choice>
        <mc:Fallback xmlns="">
          <p:sp>
            <p:nvSpPr>
              <p:cNvPr id="8" name="step_1_equation_3" descr="p(\mathbf x)">
                <a:extLst>
                  <a:ext uri="{FF2B5EF4-FFF2-40B4-BE49-F238E27FC236}">
                    <a16:creationId xmlns:a16="http://schemas.microsoft.com/office/drawing/2014/main" id="{450B3704-0AC1-4EBB-86AB-E0CC4ABED8DA}"/>
                  </a:ext>
                </a:extLst>
              </p:cNvPr>
              <p:cNvSpPr>
                <a:spLocks noGrp="1" noRot="1" noChangeAspect="1" noMove="1" noResize="1" noEditPoints="1" noAdjustHandles="1" noChangeArrowheads="1" noChangeShapeType="1" noTextEdit="1"/>
              </p:cNvSpPr>
              <p:nvPr/>
            </p:nvSpPr>
            <p:spPr>
              <a:xfrm>
                <a:off x="685799" y="3429000"/>
                <a:ext cx="4429125" cy="7143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step_1_equation_4" descr="1-p(\mathbf x)">
                <a:extLst>
                  <a:ext uri="{FF2B5EF4-FFF2-40B4-BE49-F238E27FC236}">
                    <a16:creationId xmlns:a16="http://schemas.microsoft.com/office/drawing/2014/main" id="{B54CF25E-9448-468E-8828-705BBA297FCC}"/>
                  </a:ext>
                </a:extLst>
              </p:cNvPr>
              <p:cNvSpPr>
                <a:spLocks noGrp="1"/>
              </p:cNvSpPr>
              <p:nvPr/>
            </p:nvSpPr>
            <p:spPr>
              <a:xfrm>
                <a:off x="6715125" y="3381375"/>
                <a:ext cx="4429125"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326CB2"/>
                          </a:solidFill>
                          <a:latin typeface="Cambria Math"/>
                          <a:ea typeface="Cambria Math"/>
                          <a:cs typeface="Cambria Math"/>
                        </a:rPr>
                        <m:t>1−</m:t>
                      </m:r>
                      <m:r>
                        <a:rPr lang="en-GB" sz="3000" smtClean="0">
                          <a:solidFill>
                            <a:srgbClr val="326CB2"/>
                          </a:solidFill>
                          <a:latin typeface="Cambria Math"/>
                          <a:ea typeface="Cambria Math"/>
                          <a:cs typeface="Cambria Math"/>
                        </a:rPr>
                        <m:t>𝑝</m:t>
                      </m:r>
                      <m:d>
                        <m:dPr>
                          <m:ctrlPr>
                            <a:rPr lang="en-GB" sz="3000">
                              <a:solidFill>
                                <a:srgbClr val="326CB2"/>
                              </a:solidFill>
                              <a:latin typeface="Cambria Math"/>
                              <a:ea typeface="Cambria Math"/>
                              <a:cs typeface="Cambria Math"/>
                            </a:rPr>
                          </m:ctrlPr>
                        </m:dPr>
                        <m:e>
                          <m:r>
                            <a:rPr lang="en-GB" sz="3000">
                              <a:solidFill>
                                <a:srgbClr val="326CB2"/>
                              </a:solidFill>
                              <a:latin typeface="Cambria Math"/>
                              <a:ea typeface="Cambria Math"/>
                              <a:cs typeface="Cambria Math"/>
                            </a:rPr>
                            <m:t>𝐱</m:t>
                          </m:r>
                        </m:e>
                      </m:d>
                    </m:oMath>
                  </m:oMathPara>
                </a14:m>
                <a:endParaRPr lang="en-GB" sz="3000" dirty="0"/>
              </a:p>
            </p:txBody>
          </p:sp>
        </mc:Choice>
        <mc:Fallback xmlns="">
          <p:sp>
            <p:nvSpPr>
              <p:cNvPr id="9" name="step_1_equation_4" descr="1-p(\mathbf x)">
                <a:extLst>
                  <a:ext uri="{FF2B5EF4-FFF2-40B4-BE49-F238E27FC236}">
                    <a16:creationId xmlns:a16="http://schemas.microsoft.com/office/drawing/2014/main" id="{B54CF25E-9448-468E-8828-705BBA297FCC}"/>
                  </a:ext>
                </a:extLst>
              </p:cNvPr>
              <p:cNvSpPr>
                <a:spLocks noGrp="1" noRot="1" noChangeAspect="1" noMove="1" noResize="1" noEditPoints="1" noAdjustHandles="1" noChangeArrowheads="1" noChangeShapeType="1" noTextEdit="1"/>
              </p:cNvSpPr>
              <p:nvPr/>
            </p:nvSpPr>
            <p:spPr>
              <a:xfrm>
                <a:off x="6715125" y="3381375"/>
                <a:ext cx="4429125" cy="714375"/>
              </a:xfrm>
              <a:prstGeom prst="rect">
                <a:avLst/>
              </a:prstGeom>
              <a:blipFill>
                <a:blip r:embed="rId5"/>
                <a:stretch>
                  <a:fillRect/>
                </a:stretch>
              </a:blipFill>
              <a:ln w="0">
                <a:noFill/>
              </a:ln>
            </p:spPr>
            <p:txBody>
              <a:bodyPr/>
              <a:lstStyle/>
              <a:p>
                <a:r>
                  <a:rPr lang="it-IT">
                    <a:noFill/>
                  </a:rPr>
                  <a:t> </a:t>
                </a:r>
              </a:p>
            </p:txBody>
          </p:sp>
        </mc:Fallback>
      </mc:AlternateContent>
      <p:sp>
        <p:nvSpPr>
          <p:cNvPr id="12" name="step_2_text_5">
            <a:extLst>
              <a:ext uri="{FF2B5EF4-FFF2-40B4-BE49-F238E27FC236}">
                <a16:creationId xmlns:a16="http://schemas.microsoft.com/office/drawing/2014/main" id="{CEC96BD8-F79B-01AC-B76A-E3A67D4731FC}"/>
              </a:ext>
            </a:extLst>
          </p:cNvPr>
          <p:cNvSpPr>
            <a:spLocks noGrp="1"/>
          </p:cNvSpPr>
          <p:nvPr/>
        </p:nvSpPr>
        <p:spPr>
          <a:xfrm>
            <a:off x="875919" y="5529262"/>
            <a:ext cx="10744200" cy="695325"/>
          </a:xfrm>
          <a:prstGeom prst="rect">
            <a:avLst/>
          </a:prstGeom>
          <a:noFill/>
          <a:ln w="0">
            <a:noFill/>
          </a:ln>
        </p:spPr>
        <p:txBody>
          <a:bodyPr wrap="square" lIns="0" tIns="0" rIns="0" bIns="0" anchor="ctr">
            <a:noAutofit/>
          </a:bodyPr>
          <a:lstStyle/>
          <a:p>
            <a:pPr algn="ctr">
              <a:lnSpc>
                <a:spcPct val="112000"/>
              </a:lnSpc>
              <a:buNone/>
              <a:defRPr sz="2325" b="1">
                <a:solidFill>
                  <a:srgbClr val="182D45"/>
                </a:solidFill>
                <a:latin typeface="DejaVu Sans"/>
                <a:ea typeface="DejaVu Sans"/>
                <a:cs typeface="DejaVu Sans"/>
              </a:defRPr>
            </a:pPr>
            <a:r>
              <a:rPr sz="2325" b="1" dirty="0">
                <a:solidFill>
                  <a:srgbClr val="FF0000"/>
                </a:solidFill>
                <a:latin typeface="DejaVu Sans"/>
                <a:ea typeface="DejaVu Sans"/>
                <a:cs typeface="DejaVu Sans"/>
              </a:rPr>
              <a:t>If we must choose one label, which should we predict?</a:t>
            </a:r>
          </a:p>
        </p:txBody>
      </p:sp>
      <mc:AlternateContent xmlns:mc="http://schemas.openxmlformats.org/markup-compatibility/2006" xmlns:a14="http://schemas.microsoft.com/office/drawing/2010/main">
        <mc:Choice Requires="a14">
          <p:sp>
            <p:nvSpPr>
              <p:cNvPr id="14" name="CasellaDiTesto 13">
                <a:extLst>
                  <a:ext uri="{FF2B5EF4-FFF2-40B4-BE49-F238E27FC236}">
                    <a16:creationId xmlns:a16="http://schemas.microsoft.com/office/drawing/2014/main" id="{440A36D6-E9E6-E1EE-2FB0-3B9502ABEE97}"/>
                  </a:ext>
                </a:extLst>
              </p:cNvPr>
              <p:cNvSpPr txBox="1"/>
              <p:nvPr/>
            </p:nvSpPr>
            <p:spPr>
              <a:xfrm>
                <a:off x="857250" y="4291923"/>
                <a:ext cx="10648950" cy="1146852"/>
              </a:xfrm>
              <a:prstGeom prst="rect">
                <a:avLst/>
              </a:prstGeom>
              <a:noFill/>
            </p:spPr>
            <p:txBody>
              <a:bodyPr wrap="square">
                <a:spAutoFit/>
              </a:bodyPr>
              <a:lstStyle/>
              <a:p>
                <a:pPr algn="ctr">
                  <a:lnSpc>
                    <a:spcPct val="112000"/>
                  </a:lnSpc>
                  <a:defRPr sz="2100" b="0">
                    <a:solidFill>
                      <a:srgbClr val="526276"/>
                    </a:solidFill>
                    <a:latin typeface="DejaVu Sans"/>
                    <a:ea typeface="DejaVu Sans"/>
                    <a:cs typeface="DejaVu Sans"/>
                  </a:defRPr>
                </a:pPr>
                <a:r>
                  <a:rPr lang="en-GB" sz="2100" b="0" dirty="0">
                    <a:solidFill>
                      <a:srgbClr val="526276"/>
                    </a:solidFill>
                    <a:latin typeface="DejaVu Sans"/>
                    <a:ea typeface="DejaVu Sans"/>
                    <a:cs typeface="DejaVu Sans"/>
                  </a:rPr>
                  <a:t>Example: if </a:t>
                </a:r>
                <a14:m>
                  <m:oMath xmlns:m="http://schemas.openxmlformats.org/officeDocument/2006/math">
                    <m:r>
                      <a:rPr lang="it-IT" sz="2100" b="0" i="1" smtClean="0">
                        <a:solidFill>
                          <a:srgbClr val="526276"/>
                        </a:solidFill>
                        <a:latin typeface="Cambria Math" panose="02040503050406030204" pitchFamily="18" charset="0"/>
                        <a:ea typeface="DejaVu Sans"/>
                        <a:cs typeface="DejaVu Sans"/>
                      </a:rPr>
                      <m:t>𝑝</m:t>
                    </m:r>
                    <m:d>
                      <m:dPr>
                        <m:ctrlPr>
                          <a:rPr lang="it-IT" sz="2100" b="1" i="0" smtClean="0">
                            <a:solidFill>
                              <a:srgbClr val="526276"/>
                            </a:solidFill>
                            <a:latin typeface="Cambria Math" panose="02040503050406030204" pitchFamily="18" charset="0"/>
                            <a:ea typeface="DejaVu Sans"/>
                            <a:cs typeface="DejaVu Sans"/>
                          </a:rPr>
                        </m:ctrlPr>
                      </m:dPr>
                      <m:e>
                        <m:r>
                          <a:rPr lang="it-IT" sz="2100" b="1" i="0" smtClean="0">
                            <a:solidFill>
                              <a:srgbClr val="526276"/>
                            </a:solidFill>
                            <a:latin typeface="Cambria Math" panose="02040503050406030204" pitchFamily="18" charset="0"/>
                            <a:ea typeface="DejaVu Sans"/>
                            <a:cs typeface="DejaVu Sans"/>
                          </a:rPr>
                          <m:t>𝐱</m:t>
                        </m:r>
                      </m:e>
                    </m:d>
                    <m:r>
                      <a:rPr lang="it-IT" sz="2100" b="0" i="1" smtClean="0">
                        <a:solidFill>
                          <a:srgbClr val="526276"/>
                        </a:solidFill>
                        <a:latin typeface="Cambria Math" panose="02040503050406030204" pitchFamily="18" charset="0"/>
                        <a:ea typeface="DejaVu Sans"/>
                        <a:cs typeface="DejaVu Sans"/>
                      </a:rPr>
                      <m:t>=0.51</m:t>
                    </m:r>
                  </m:oMath>
                </a14:m>
                <a:r>
                  <a:rPr lang="en-GB" sz="2100" b="0" dirty="0">
                    <a:solidFill>
                      <a:srgbClr val="526276"/>
                    </a:solidFill>
                    <a:latin typeface="DejaVu Sans"/>
                    <a:ea typeface="DejaVu Sans"/>
                    <a:cs typeface="DejaVu Sans"/>
                  </a:rPr>
                  <a:t> we think that there is</a:t>
                </a:r>
              </a:p>
              <a:p>
                <a:pPr algn="ctr">
                  <a:lnSpc>
                    <a:spcPct val="112000"/>
                  </a:lnSpc>
                  <a:defRPr sz="2100" b="0">
                    <a:solidFill>
                      <a:srgbClr val="526276"/>
                    </a:solidFill>
                    <a:latin typeface="DejaVu Sans"/>
                    <a:ea typeface="DejaVu Sans"/>
                    <a:cs typeface="DejaVu Sans"/>
                  </a:defRPr>
                </a:pPr>
                <a:r>
                  <a:rPr lang="en-GB" sz="2100" b="0" dirty="0">
                    <a:solidFill>
                      <a:srgbClr val="526276"/>
                    </a:solidFill>
                    <a:latin typeface="DejaVu Sans"/>
                    <a:ea typeface="DejaVu Sans"/>
                    <a:cs typeface="DejaVu Sans"/>
                  </a:rPr>
                  <a:t>- a </a:t>
                </a:r>
                <a14:m>
                  <m:oMath xmlns:m="http://schemas.openxmlformats.org/officeDocument/2006/math">
                    <m:r>
                      <a:rPr lang="it-IT" sz="2100" i="1">
                        <a:solidFill>
                          <a:srgbClr val="526276"/>
                        </a:solidFill>
                        <a:latin typeface="Cambria Math" panose="02040503050406030204" pitchFamily="18" charset="0"/>
                        <a:ea typeface="DejaVu Sans"/>
                        <a:cs typeface="DejaVu Sans"/>
                      </a:rPr>
                      <m:t>0.51</m:t>
                    </m:r>
                  </m:oMath>
                </a14:m>
                <a:r>
                  <a:rPr lang="en-GB" sz="2100" b="0" dirty="0">
                    <a:solidFill>
                      <a:srgbClr val="526276"/>
                    </a:solidFill>
                    <a:latin typeface="DejaVu Sans"/>
                    <a:ea typeface="DejaVu Sans"/>
                    <a:cs typeface="DejaVu Sans"/>
                  </a:rPr>
                  <a:t> probability that the correct class of input </a:t>
                </a:r>
                <a14:m>
                  <m:oMath xmlns:m="http://schemas.openxmlformats.org/officeDocument/2006/math">
                    <m:r>
                      <a:rPr lang="it-IT" sz="2100" b="1">
                        <a:solidFill>
                          <a:srgbClr val="526276"/>
                        </a:solidFill>
                        <a:latin typeface="Cambria Math" panose="02040503050406030204" pitchFamily="18" charset="0"/>
                        <a:ea typeface="DejaVu Sans"/>
                        <a:cs typeface="DejaVu Sans"/>
                      </a:rPr>
                      <m:t>𝐱</m:t>
                    </m:r>
                  </m:oMath>
                </a14:m>
                <a:r>
                  <a:rPr lang="en-GB" sz="2100" b="0" dirty="0">
                    <a:solidFill>
                      <a:srgbClr val="526276"/>
                    </a:solidFill>
                    <a:latin typeface="DejaVu Sans"/>
                    <a:ea typeface="DejaVu Sans"/>
                    <a:cs typeface="DejaVu Sans"/>
                  </a:rPr>
                  <a:t> is </a:t>
                </a:r>
                <a14:m>
                  <m:oMath xmlns:m="http://schemas.openxmlformats.org/officeDocument/2006/math">
                    <m:r>
                      <a:rPr lang="it-IT" sz="2100" b="0" i="1" smtClean="0">
                        <a:solidFill>
                          <a:srgbClr val="526276"/>
                        </a:solidFill>
                        <a:latin typeface="Cambria Math" panose="02040503050406030204" pitchFamily="18" charset="0"/>
                        <a:ea typeface="DejaVu Sans"/>
                        <a:cs typeface="DejaVu Sans"/>
                      </a:rPr>
                      <m:t>1</m:t>
                    </m:r>
                  </m:oMath>
                </a14:m>
                <a:endParaRPr lang="it-IT" sz="2100" b="0" dirty="0">
                  <a:solidFill>
                    <a:srgbClr val="526276"/>
                  </a:solidFill>
                  <a:latin typeface="DejaVu Sans"/>
                  <a:ea typeface="DejaVu Sans"/>
                  <a:cs typeface="DejaVu Sans"/>
                </a:endParaRPr>
              </a:p>
              <a:p>
                <a:pPr algn="ctr">
                  <a:lnSpc>
                    <a:spcPct val="112000"/>
                  </a:lnSpc>
                  <a:defRPr sz="2100" b="0">
                    <a:solidFill>
                      <a:srgbClr val="526276"/>
                    </a:solidFill>
                    <a:latin typeface="DejaVu Sans"/>
                    <a:ea typeface="DejaVu Sans"/>
                    <a:cs typeface="DejaVu Sans"/>
                  </a:defRPr>
                </a:pPr>
                <a:r>
                  <a:rPr lang="en-GB" sz="2100" b="0" dirty="0">
                    <a:solidFill>
                      <a:srgbClr val="526276"/>
                    </a:solidFill>
                    <a:latin typeface="DejaVu Sans"/>
                    <a:ea typeface="DejaVu Sans"/>
                    <a:cs typeface="DejaVu Sans"/>
                  </a:rPr>
                  <a:t>- a </a:t>
                </a:r>
                <a14:m>
                  <m:oMath xmlns:m="http://schemas.openxmlformats.org/officeDocument/2006/math">
                    <m:r>
                      <a:rPr lang="it-IT" sz="2100" i="1">
                        <a:solidFill>
                          <a:srgbClr val="526276"/>
                        </a:solidFill>
                        <a:latin typeface="Cambria Math" panose="02040503050406030204" pitchFamily="18" charset="0"/>
                        <a:ea typeface="DejaVu Sans"/>
                        <a:cs typeface="DejaVu Sans"/>
                      </a:rPr>
                      <m:t>0.</m:t>
                    </m:r>
                    <m:r>
                      <a:rPr lang="it-IT" sz="2100" b="0" i="1" smtClean="0">
                        <a:solidFill>
                          <a:srgbClr val="526276"/>
                        </a:solidFill>
                        <a:latin typeface="Cambria Math" panose="02040503050406030204" pitchFamily="18" charset="0"/>
                        <a:ea typeface="DejaVu Sans"/>
                        <a:cs typeface="DejaVu Sans"/>
                      </a:rPr>
                      <m:t>49</m:t>
                    </m:r>
                  </m:oMath>
                </a14:m>
                <a:r>
                  <a:rPr lang="en-GB" sz="2100" dirty="0">
                    <a:solidFill>
                      <a:srgbClr val="526276"/>
                    </a:solidFill>
                    <a:latin typeface="DejaVu Sans"/>
                    <a:ea typeface="DejaVu Sans"/>
                    <a:cs typeface="DejaVu Sans"/>
                  </a:rPr>
                  <a:t> probability that the correct class of input </a:t>
                </a:r>
                <a14:m>
                  <m:oMath xmlns:m="http://schemas.openxmlformats.org/officeDocument/2006/math">
                    <m:r>
                      <a:rPr lang="it-IT" sz="2100" b="1">
                        <a:solidFill>
                          <a:srgbClr val="526276"/>
                        </a:solidFill>
                        <a:latin typeface="Cambria Math" panose="02040503050406030204" pitchFamily="18" charset="0"/>
                        <a:ea typeface="DejaVu Sans"/>
                        <a:cs typeface="DejaVu Sans"/>
                      </a:rPr>
                      <m:t>𝐱</m:t>
                    </m:r>
                  </m:oMath>
                </a14:m>
                <a:r>
                  <a:rPr lang="en-GB" sz="2100" dirty="0">
                    <a:solidFill>
                      <a:srgbClr val="526276"/>
                    </a:solidFill>
                    <a:latin typeface="DejaVu Sans"/>
                    <a:ea typeface="DejaVu Sans"/>
                    <a:cs typeface="DejaVu Sans"/>
                  </a:rPr>
                  <a:t> is </a:t>
                </a:r>
                <a14:m>
                  <m:oMath xmlns:m="http://schemas.openxmlformats.org/officeDocument/2006/math">
                    <m:r>
                      <a:rPr lang="it-IT" sz="2100" b="0" i="1" smtClean="0">
                        <a:solidFill>
                          <a:srgbClr val="526276"/>
                        </a:solidFill>
                        <a:latin typeface="Cambria Math" panose="02040503050406030204" pitchFamily="18" charset="0"/>
                        <a:ea typeface="DejaVu Sans"/>
                        <a:cs typeface="DejaVu Sans"/>
                      </a:rPr>
                      <m:t>0</m:t>
                    </m:r>
                  </m:oMath>
                </a14:m>
                <a:endParaRPr lang="en-GB" sz="2100" dirty="0">
                  <a:solidFill>
                    <a:srgbClr val="526276"/>
                  </a:solidFill>
                  <a:latin typeface="DejaVu Sans"/>
                  <a:ea typeface="DejaVu Sans"/>
                  <a:cs typeface="DejaVu Sans"/>
                </a:endParaRPr>
              </a:p>
            </p:txBody>
          </p:sp>
        </mc:Choice>
        <mc:Fallback xmlns="">
          <p:sp>
            <p:nvSpPr>
              <p:cNvPr id="14" name="CasellaDiTesto 13">
                <a:extLst>
                  <a:ext uri="{FF2B5EF4-FFF2-40B4-BE49-F238E27FC236}">
                    <a16:creationId xmlns:a16="http://schemas.microsoft.com/office/drawing/2014/main" id="{440A36D6-E9E6-E1EE-2FB0-3B9502ABEE97}"/>
                  </a:ext>
                </a:extLst>
              </p:cNvPr>
              <p:cNvSpPr txBox="1">
                <a:spLocks noRot="1" noChangeAspect="1" noMove="1" noResize="1" noEditPoints="1" noAdjustHandles="1" noChangeArrowheads="1" noChangeShapeType="1" noTextEdit="1"/>
              </p:cNvSpPr>
              <p:nvPr/>
            </p:nvSpPr>
            <p:spPr>
              <a:xfrm>
                <a:off x="857250" y="4291923"/>
                <a:ext cx="10648950" cy="1146852"/>
              </a:xfrm>
              <a:prstGeom prst="rect">
                <a:avLst/>
              </a:prstGeom>
              <a:blipFill>
                <a:blip r:embed="rId6"/>
                <a:stretch>
                  <a:fillRect t="-3191" b="-9574"/>
                </a:stretch>
              </a:blipFill>
            </p:spPr>
            <p:txBody>
              <a:bodyPr/>
              <a:lstStyle/>
              <a:p>
                <a:r>
                  <a:rPr lang="it-IT">
                    <a:noFill/>
                  </a:rPr>
                  <a:t> </a:t>
                </a:r>
              </a:p>
            </p:txBody>
          </p:sp>
        </mc:Fallback>
      </mc:AlternateContent>
    </p:spTree>
    <p:extLst>
      <p:ext uri="{BB962C8B-B14F-4D97-AF65-F5344CB8AC3E}">
        <p14:creationId xmlns:p14="http://schemas.microsoft.com/office/powerpoint/2010/main" val="84403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4C16CDF4-E7FF-4E7A-B141-B0CA131CBEB0}"/>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The plug-in classification rule</a:t>
            </a:r>
          </a:p>
        </p:txBody>
      </p:sp>
      <p:sp>
        <p:nvSpPr>
          <p:cNvPr id="2" name="lead">
            <a:extLst>
              <a:ext uri="{FF2B5EF4-FFF2-40B4-BE49-F238E27FC236}">
                <a16:creationId xmlns:a16="http://schemas.microsoft.com/office/drawing/2014/main" id="{98C884A3-A929-4147-BFC1-13315456BB38}"/>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FF0000"/>
                </a:solidFill>
                <a:latin typeface="DejaVu Sans"/>
                <a:ea typeface="DejaVu Sans"/>
                <a:cs typeface="DejaVu Sans"/>
              </a:rPr>
              <a:t>Choose the label with the larger probability</a:t>
            </a:r>
            <a:r>
              <a:rPr sz="2100" b="0" dirty="0">
                <a:solidFill>
                  <a:srgbClr val="526276"/>
                </a:solidFill>
                <a:latin typeface="DejaVu Sans"/>
                <a:ea typeface="DejaVu Sans"/>
                <a:cs typeface="DejaVu Sans"/>
              </a:rPr>
              <a:t>. At a tie, we choose class 0.</a:t>
            </a:r>
          </a:p>
        </p:txBody>
      </p:sp>
      <p:sp>
        <p:nvSpPr>
          <p:cNvPr id="3" name="footer_course">
            <a:extLst>
              <a:ext uri="{FF2B5EF4-FFF2-40B4-BE49-F238E27FC236}">
                <a16:creationId xmlns:a16="http://schemas.microsoft.com/office/drawing/2014/main" id="{0BCEB3B0-4373-4125-AA26-7BB6C95B0732}"/>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ED36C4B1-0E53-434B-A617-70435078DD27}"/>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6</a:t>
            </a:r>
          </a:p>
        </p:txBody>
      </p:sp>
      <mc:AlternateContent xmlns:mc="http://schemas.openxmlformats.org/markup-compatibility/2006" xmlns:a14="http://schemas.microsoft.com/office/drawing/2010/main">
        <mc:Choice Requires="a14">
          <p:sp>
            <p:nvSpPr>
              <p:cNvPr id="5" name="step_0_equation_0" descr="h_p(\mathbf x)=\begin{cases}0,&amp;p(\mathbf x)\leq1/2\\1,&amp;p(\mathbf x)&gt;1/2\end{cases}">
                <a:extLst>
                  <a:ext uri="{FF2B5EF4-FFF2-40B4-BE49-F238E27FC236}">
                    <a16:creationId xmlns:a16="http://schemas.microsoft.com/office/drawing/2014/main" id="{0D92BB69-1A97-4FFD-B31F-803659A5321B}"/>
                  </a:ext>
                </a:extLst>
              </p:cNvPr>
              <p:cNvSpPr>
                <a:spLocks noGrp="1"/>
              </p:cNvSpPr>
              <p:nvPr/>
            </p:nvSpPr>
            <p:spPr>
              <a:xfrm>
                <a:off x="723900" y="1962150"/>
                <a:ext cx="5619750" cy="1276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ℎ</m:t>
                          </m:r>
                        </m:e>
                        <m:sub>
                          <m:r>
                            <a:rPr lang="en-GB" sz="2800">
                              <a:solidFill>
                                <a:srgbClr val="087F83"/>
                              </a:solidFill>
                              <a:latin typeface="Cambria Math"/>
                              <a:ea typeface="Cambria Math"/>
                              <a:cs typeface="Cambria Math"/>
                            </a:rPr>
                            <m:t>𝑝</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en-GB" sz="2800">
                          <a:solidFill>
                            <a:srgbClr val="087F83"/>
                          </a:solidFill>
                          <a:latin typeface="Cambria Math"/>
                          <a:ea typeface="Cambria Math"/>
                          <a:cs typeface="Cambria Math"/>
                        </a:rPr>
                        <m:t>=</m:t>
                      </m:r>
                      <m:d>
                        <m:dPr>
                          <m:begChr m:val="{"/>
                          <m:endChr m:val=""/>
                          <m:ctrlPr>
                            <a:rPr lang="en-GB" sz="280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2800" i="1">
                                  <a:solidFill>
                                    <a:srgbClr val="087F83"/>
                                  </a:solidFill>
                                  <a:latin typeface="Cambria Math" panose="02040503050406030204" pitchFamily="18" charset="0"/>
                                  <a:ea typeface="Cambria Math"/>
                                  <a:cs typeface="Cambria Math"/>
                                </a:rPr>
                              </m:ctrlPr>
                            </m:mPr>
                            <m:mr>
                              <m:e>
                                <m:r>
                                  <a:rPr lang="en-GB" sz="2800">
                                    <a:solidFill>
                                      <a:srgbClr val="087F83"/>
                                    </a:solidFill>
                                    <a:latin typeface="Cambria Math"/>
                                    <a:ea typeface="Cambria Math"/>
                                    <a:cs typeface="Cambria Math"/>
                                  </a:rPr>
                                  <m:t>0,</m:t>
                                </m:r>
                              </m:e>
                              <m:e>
                                <m:r>
                                  <a:rPr lang="en-GB" sz="2800">
                                    <a:solidFill>
                                      <a:srgbClr val="087F83"/>
                                    </a:solidFill>
                                    <a:latin typeface="Cambria Math"/>
                                    <a:ea typeface="Cambria Math"/>
                                    <a:cs typeface="Cambria Math"/>
                                  </a:rPr>
                                  <m:t>𝑝</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en-GB" sz="2800">
                                    <a:solidFill>
                                      <a:srgbClr val="087F83"/>
                                    </a:solidFill>
                                    <a:latin typeface="Cambria Math"/>
                                    <a:ea typeface="Cambria Math"/>
                                    <a:cs typeface="Cambria Math"/>
                                  </a:rPr>
                                  <m:t>≤1/2</m:t>
                                </m:r>
                              </m:e>
                            </m:mr>
                            <m:mr>
                              <m:e>
                                <m:r>
                                  <a:rPr lang="en-GB" sz="2800">
                                    <a:solidFill>
                                      <a:srgbClr val="087F83"/>
                                    </a:solidFill>
                                    <a:latin typeface="Cambria Math"/>
                                    <a:ea typeface="Cambria Math"/>
                                    <a:cs typeface="Cambria Math"/>
                                  </a:rPr>
                                  <m:t>1,</m:t>
                                </m:r>
                              </m:e>
                              <m:e>
                                <m:r>
                                  <a:rPr lang="en-GB" sz="2800">
                                    <a:solidFill>
                                      <a:srgbClr val="087F83"/>
                                    </a:solidFill>
                                    <a:latin typeface="Cambria Math"/>
                                    <a:ea typeface="Cambria Math"/>
                                    <a:cs typeface="Cambria Math"/>
                                  </a:rPr>
                                  <m:t>𝑝</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en-GB" sz="2800">
                                    <a:solidFill>
                                      <a:srgbClr val="087F83"/>
                                    </a:solidFill>
                                    <a:latin typeface="Cambria Math"/>
                                    <a:ea typeface="Cambria Math"/>
                                    <a:cs typeface="Cambria Math"/>
                                  </a:rPr>
                                  <m:t>&gt;1/2</m:t>
                                </m:r>
                              </m:e>
                            </m:mr>
                          </m:m>
                        </m:e>
                      </m:d>
                    </m:oMath>
                  </m:oMathPara>
                </a14:m>
                <a:endParaRPr lang="en-GB" sz="2800" dirty="0"/>
              </a:p>
            </p:txBody>
          </p:sp>
        </mc:Choice>
        <mc:Fallback xmlns="">
          <p:sp>
            <p:nvSpPr>
              <p:cNvPr id="5" name="step_0_equation_0" descr="h_p(\mathbf x)=\begin{cases}0,&amp;p(\mathbf x)\leq1/2\\1,&amp;p(\mathbf x)&gt;1/2\end{cases}">
                <a:extLst>
                  <a:ext uri="{FF2B5EF4-FFF2-40B4-BE49-F238E27FC236}">
                    <a16:creationId xmlns:a16="http://schemas.microsoft.com/office/drawing/2014/main" id="{0D92BB69-1A97-4FFD-B31F-803659A5321B}"/>
                  </a:ext>
                </a:extLst>
              </p:cNvPr>
              <p:cNvSpPr>
                <a:spLocks noGrp="1" noRot="1" noChangeAspect="1" noMove="1" noResize="1" noEditPoints="1" noAdjustHandles="1" noChangeArrowheads="1" noChangeShapeType="1" noTextEdit="1"/>
              </p:cNvSpPr>
              <p:nvPr/>
            </p:nvSpPr>
            <p:spPr>
              <a:xfrm>
                <a:off x="723900" y="1962150"/>
                <a:ext cx="5619750" cy="127635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step_1_equation_1" descr="\operatorname{step}(s)\coloneqq\begin{cases}0,&amp;s\leq0,\\1,&amp;s&gt;0.\end{cases}">
                <a:extLst>
                  <a:ext uri="{FF2B5EF4-FFF2-40B4-BE49-F238E27FC236}">
                    <a16:creationId xmlns:a16="http://schemas.microsoft.com/office/drawing/2014/main" id="{48832274-F66A-470C-B162-0767C5CC8E76}"/>
                  </a:ext>
                </a:extLst>
              </p:cNvPr>
              <p:cNvSpPr>
                <a:spLocks noGrp="1"/>
              </p:cNvSpPr>
              <p:nvPr/>
            </p:nvSpPr>
            <p:spPr>
              <a:xfrm>
                <a:off x="767525" y="4000500"/>
                <a:ext cx="5619750" cy="1085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500" smtClean="0">
                          <a:solidFill>
                            <a:srgbClr val="0070C0"/>
                          </a:solidFill>
                          <a:latin typeface="Cambria Math"/>
                          <a:ea typeface="Cambria Math"/>
                          <a:cs typeface="Cambria Math"/>
                        </a:rPr>
                        <m:t>step</m:t>
                      </m:r>
                      <m:d>
                        <m:dPr>
                          <m:ctrlPr>
                            <a:rPr lang="en-GB" sz="2500">
                              <a:solidFill>
                                <a:srgbClr val="0070C0"/>
                              </a:solidFill>
                              <a:latin typeface="Cambria Math"/>
                              <a:ea typeface="Cambria Math"/>
                              <a:cs typeface="Cambria Math"/>
                            </a:rPr>
                          </m:ctrlPr>
                        </m:dPr>
                        <m:e>
                          <m:r>
                            <a:rPr lang="en-GB" sz="2500">
                              <a:solidFill>
                                <a:srgbClr val="0070C0"/>
                              </a:solidFill>
                              <a:latin typeface="Cambria Math"/>
                              <a:ea typeface="Cambria Math"/>
                              <a:cs typeface="Cambria Math"/>
                            </a:rPr>
                            <m:t>𝑠</m:t>
                          </m:r>
                        </m:e>
                      </m:d>
                      <m:r>
                        <a:rPr lang="en-GB" sz="2500">
                          <a:solidFill>
                            <a:srgbClr val="0070C0"/>
                          </a:solidFill>
                          <a:latin typeface="Cambria Math"/>
                          <a:ea typeface="Cambria Math"/>
                          <a:cs typeface="Cambria Math"/>
                        </a:rPr>
                        <m:t>≔</m:t>
                      </m:r>
                      <m:d>
                        <m:dPr>
                          <m:begChr m:val="{"/>
                          <m:endChr m:val=""/>
                          <m:ctrlPr>
                            <a:rPr lang="en-GB" sz="2500" i="1">
                              <a:solidFill>
                                <a:srgbClr val="0070C0"/>
                              </a:solidFill>
                              <a:latin typeface="Cambria Math" panose="02040503050406030204" pitchFamily="18" charset="0"/>
                              <a:ea typeface="Cambria Math"/>
                              <a:cs typeface="Cambria Math"/>
                            </a:rPr>
                          </m:ctrlPr>
                        </m:dPr>
                        <m:e>
                          <m:m>
                            <m:mPr>
                              <m:plcHide m:val="on"/>
                              <m:mcs>
                                <m:mc>
                                  <m:mcPr>
                                    <m:count m:val="2"/>
                                    <m:mcJc m:val="center"/>
                                  </m:mcPr>
                                </m:mc>
                              </m:mcs>
                              <m:ctrlPr>
                                <a:rPr lang="en-GB" sz="2500" i="1">
                                  <a:solidFill>
                                    <a:srgbClr val="0070C0"/>
                                  </a:solidFill>
                                  <a:latin typeface="Cambria Math" panose="02040503050406030204" pitchFamily="18" charset="0"/>
                                  <a:ea typeface="Cambria Math"/>
                                  <a:cs typeface="Cambria Math"/>
                                </a:rPr>
                              </m:ctrlPr>
                            </m:mPr>
                            <m:mr>
                              <m:e>
                                <m:r>
                                  <a:rPr lang="en-GB" sz="2500">
                                    <a:solidFill>
                                      <a:srgbClr val="0070C0"/>
                                    </a:solidFill>
                                    <a:latin typeface="Cambria Math"/>
                                    <a:ea typeface="Cambria Math"/>
                                    <a:cs typeface="Cambria Math"/>
                                  </a:rPr>
                                  <m:t>0,</m:t>
                                </m:r>
                              </m:e>
                              <m:e>
                                <m:r>
                                  <a:rPr lang="en-GB" sz="2500">
                                    <a:solidFill>
                                      <a:srgbClr val="0070C0"/>
                                    </a:solidFill>
                                    <a:latin typeface="Cambria Math"/>
                                    <a:ea typeface="Cambria Math"/>
                                    <a:cs typeface="Cambria Math"/>
                                  </a:rPr>
                                  <m:t>𝑠</m:t>
                                </m:r>
                                <m:r>
                                  <a:rPr lang="en-GB" sz="2500">
                                    <a:solidFill>
                                      <a:srgbClr val="0070C0"/>
                                    </a:solidFill>
                                    <a:latin typeface="Cambria Math"/>
                                    <a:ea typeface="Cambria Math"/>
                                    <a:cs typeface="Cambria Math"/>
                                  </a:rPr>
                                  <m:t>≤0,</m:t>
                                </m:r>
                              </m:e>
                            </m:mr>
                            <m:mr>
                              <m:e>
                                <m:r>
                                  <a:rPr lang="en-GB" sz="2500">
                                    <a:solidFill>
                                      <a:srgbClr val="0070C0"/>
                                    </a:solidFill>
                                    <a:latin typeface="Cambria Math"/>
                                    <a:ea typeface="Cambria Math"/>
                                    <a:cs typeface="Cambria Math"/>
                                  </a:rPr>
                                  <m:t>1,</m:t>
                                </m:r>
                              </m:e>
                              <m:e>
                                <m:r>
                                  <a:rPr lang="en-GB" sz="2500">
                                    <a:solidFill>
                                      <a:srgbClr val="0070C0"/>
                                    </a:solidFill>
                                    <a:latin typeface="Cambria Math"/>
                                    <a:ea typeface="Cambria Math"/>
                                    <a:cs typeface="Cambria Math"/>
                                  </a:rPr>
                                  <m:t>𝑠</m:t>
                                </m:r>
                                <m:r>
                                  <a:rPr lang="en-GB" sz="2500">
                                    <a:solidFill>
                                      <a:srgbClr val="0070C0"/>
                                    </a:solidFill>
                                    <a:latin typeface="Cambria Math"/>
                                    <a:ea typeface="Cambria Math"/>
                                    <a:cs typeface="Cambria Math"/>
                                  </a:rPr>
                                  <m:t>&gt;0.</m:t>
                                </m:r>
                              </m:e>
                            </m:mr>
                          </m:m>
                        </m:e>
                      </m:d>
                    </m:oMath>
                  </m:oMathPara>
                </a14:m>
                <a:endParaRPr lang="en-GB" sz="2500" dirty="0">
                  <a:solidFill>
                    <a:srgbClr val="0070C0"/>
                  </a:solidFill>
                </a:endParaRPr>
              </a:p>
            </p:txBody>
          </p:sp>
        </mc:Choice>
        <mc:Fallback xmlns="">
          <p:sp>
            <p:nvSpPr>
              <p:cNvPr id="6" name="step_1_equation_1" descr="\operatorname{step}(s)\coloneqq\begin{cases}0,&amp;s\leq0,\\1,&amp;s&gt;0.\end{cases}">
                <a:extLst>
                  <a:ext uri="{FF2B5EF4-FFF2-40B4-BE49-F238E27FC236}">
                    <a16:creationId xmlns:a16="http://schemas.microsoft.com/office/drawing/2014/main" id="{48832274-F66A-470C-B162-0767C5CC8E76}"/>
                  </a:ext>
                </a:extLst>
              </p:cNvPr>
              <p:cNvSpPr>
                <a:spLocks noGrp="1" noRot="1" noChangeAspect="1" noMove="1" noResize="1" noEditPoints="1" noAdjustHandles="1" noChangeArrowheads="1" noChangeShapeType="1" noTextEdit="1"/>
              </p:cNvSpPr>
              <p:nvPr/>
            </p:nvSpPr>
            <p:spPr>
              <a:xfrm>
                <a:off x="767525" y="4000500"/>
                <a:ext cx="5619750" cy="10858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step_2_equation_2" descr="h_p(\mathbf x)=\operatorname{step}\left(p(\mathbf x)-\frac12\right)">
                <a:extLst>
                  <a:ext uri="{FF2B5EF4-FFF2-40B4-BE49-F238E27FC236}">
                    <a16:creationId xmlns:a16="http://schemas.microsoft.com/office/drawing/2014/main" id="{7FE66808-BDA7-437B-B8F6-9481FC55DD8E}"/>
                  </a:ext>
                </a:extLst>
              </p:cNvPr>
              <p:cNvSpPr>
                <a:spLocks noGrp="1"/>
              </p:cNvSpPr>
              <p:nvPr/>
            </p:nvSpPr>
            <p:spPr>
              <a:xfrm>
                <a:off x="723900" y="5261800"/>
                <a:ext cx="10744200" cy="7715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ℎ</m:t>
                          </m:r>
                        </m:e>
                        <m:sub>
                          <m:r>
                            <a:rPr lang="en-GB" sz="2600">
                              <a:solidFill>
                                <a:srgbClr val="087F83"/>
                              </a:solidFill>
                              <a:latin typeface="Cambria Math"/>
                              <a:ea typeface="Cambria Math"/>
                              <a:cs typeface="Cambria Math"/>
                            </a:rPr>
                            <m:t>𝑝</m:t>
                          </m:r>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step</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𝑝</m:t>
                          </m:r>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1</m:t>
                              </m:r>
                            </m:num>
                            <m:den>
                              <m:r>
                                <a:rPr lang="en-GB" sz="2600">
                                  <a:solidFill>
                                    <a:srgbClr val="087F83"/>
                                  </a:solidFill>
                                  <a:latin typeface="Cambria Math"/>
                                  <a:ea typeface="Cambria Math"/>
                                  <a:cs typeface="Cambria Math"/>
                                </a:rPr>
                                <m:t>2</m:t>
                              </m:r>
                            </m:den>
                          </m:f>
                        </m:e>
                      </m:d>
                    </m:oMath>
                  </m:oMathPara>
                </a14:m>
                <a:endParaRPr lang="en-GB" sz="2600" dirty="0"/>
              </a:p>
            </p:txBody>
          </p:sp>
        </mc:Choice>
        <mc:Fallback xmlns="">
          <p:sp>
            <p:nvSpPr>
              <p:cNvPr id="7" name="step_2_equation_2" descr="h_p(\mathbf x)=\operatorname{step}\left(p(\mathbf x)-\frac12\right)">
                <a:extLst>
                  <a:ext uri="{FF2B5EF4-FFF2-40B4-BE49-F238E27FC236}">
                    <a16:creationId xmlns:a16="http://schemas.microsoft.com/office/drawing/2014/main" id="{7FE66808-BDA7-437B-B8F6-9481FC55DD8E}"/>
                  </a:ext>
                </a:extLst>
              </p:cNvPr>
              <p:cNvSpPr>
                <a:spLocks noGrp="1" noRot="1" noChangeAspect="1" noMove="1" noResize="1" noEditPoints="1" noAdjustHandles="1" noChangeArrowheads="1" noChangeShapeType="1" noTextEdit="1"/>
              </p:cNvSpPr>
              <p:nvPr/>
            </p:nvSpPr>
            <p:spPr>
              <a:xfrm>
                <a:off x="723900" y="5261800"/>
                <a:ext cx="10744200" cy="771525"/>
              </a:xfrm>
              <a:prstGeom prst="rect">
                <a:avLst/>
              </a:prstGeom>
              <a:blipFill>
                <a:blip r:embed="rId5"/>
                <a:stretch>
                  <a:fillRect t="-1575" b="-7087"/>
                </a:stretch>
              </a:blipFill>
              <a:ln w="0">
                <a:noFill/>
              </a:ln>
            </p:spPr>
            <p:txBody>
              <a:bodyPr/>
              <a:lstStyle/>
              <a:p>
                <a:r>
                  <a:rPr lang="it-IT">
                    <a:noFill/>
                  </a:rPr>
                  <a:t> </a:t>
                </a:r>
              </a:p>
            </p:txBody>
          </p:sp>
        </mc:Fallback>
      </mc:AlternateContent>
      <p:sp>
        <p:nvSpPr>
          <p:cNvPr id="8" name="step_3_text_3">
            <a:extLst>
              <a:ext uri="{FF2B5EF4-FFF2-40B4-BE49-F238E27FC236}">
                <a16:creationId xmlns:a16="http://schemas.microsoft.com/office/drawing/2014/main" id="{83785425-7513-44A4-AAF1-102F34A9726C}"/>
              </a:ext>
            </a:extLst>
          </p:cNvPr>
          <p:cNvSpPr>
            <a:spLocks noGrp="1"/>
          </p:cNvSpPr>
          <p:nvPr/>
        </p:nvSpPr>
        <p:spPr>
          <a:xfrm>
            <a:off x="723900" y="6193917"/>
            <a:ext cx="10744200" cy="381000"/>
          </a:xfrm>
          <a:prstGeom prst="rect">
            <a:avLst/>
          </a:prstGeom>
          <a:noFill/>
          <a:ln w="0">
            <a:noFill/>
          </a:ln>
        </p:spPr>
        <p:txBody>
          <a:bodyPr wrap="square" lIns="0" tIns="0" rIns="0" bIns="0" anchor="ctr">
            <a:noAutofit/>
          </a:bodyPr>
          <a:lstStyle/>
          <a:p>
            <a:pPr algn="ctr">
              <a:lnSpc>
                <a:spcPct val="112000"/>
              </a:lnSpc>
              <a:buNone/>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How do we choose the probability function?</a:t>
            </a:r>
            <a:endParaRPr lang="it-IT" sz="2100" b="1" dirty="0">
              <a:solidFill>
                <a:srgbClr val="182D45"/>
              </a:solidFill>
              <a:latin typeface="DejaVu Sans"/>
              <a:ea typeface="DejaVu Sans"/>
              <a:cs typeface="DejaVu Sans"/>
            </a:endParaRPr>
          </a:p>
        </p:txBody>
      </p:sp>
      <p:graphicFrame>
        <p:nvGraphicFramePr>
          <p:cNvPr id="10" name="step_1_heaviside_chart"/>
          <p:cNvGraphicFramePr/>
          <p:nvPr/>
        </p:nvGraphicFramePr>
        <p:xfrm>
          <a:off x="6905625" y="2095500"/>
          <a:ext cx="4524375" cy="2952750"/>
        </p:xfrm>
        <a:graphic>
          <a:graphicData uri="http://schemas.openxmlformats.org/drawingml/2006/chart">
            <c:chart xmlns:c="http://schemas.openxmlformats.org/drawingml/2006/chart" xmlns:r="http://schemas.openxmlformats.org/officeDocument/2006/relationships" r:id="rId6"/>
          </a:graphicData>
        </a:graphic>
      </p:graphicFrame>
      <p:sp>
        <p:nvSpPr>
          <p:cNvPr id="12" name="CasellaDiTesto 11">
            <a:extLst>
              <a:ext uri="{FF2B5EF4-FFF2-40B4-BE49-F238E27FC236}">
                <a16:creationId xmlns:a16="http://schemas.microsoft.com/office/drawing/2014/main" id="{7018195C-B9BA-C254-71D2-03D23291EDEF}"/>
              </a:ext>
            </a:extLst>
          </p:cNvPr>
          <p:cNvSpPr txBox="1"/>
          <p:nvPr/>
        </p:nvSpPr>
        <p:spPr>
          <a:xfrm>
            <a:off x="530162" y="3641696"/>
            <a:ext cx="6094476" cy="419667"/>
          </a:xfrm>
          <a:prstGeom prst="rect">
            <a:avLst/>
          </a:prstGeom>
          <a:noFill/>
        </p:spPr>
        <p:txBody>
          <a:bodyPr wrap="square">
            <a:spAutoFit/>
          </a:bodyPr>
          <a:lstStyle/>
          <a:p>
            <a:pPr algn="ctr">
              <a:lnSpc>
                <a:spcPct val="112000"/>
              </a:lnSpc>
              <a:buNone/>
              <a:defRPr sz="2100" b="0">
                <a:solidFill>
                  <a:srgbClr val="526276"/>
                </a:solidFill>
                <a:latin typeface="DejaVu Sans"/>
                <a:ea typeface="DejaVu Sans"/>
                <a:cs typeface="DejaVu Sans"/>
              </a:defRPr>
            </a:pPr>
            <a:r>
              <a:rPr lang="en-GB" sz="2100" b="0" dirty="0">
                <a:solidFill>
                  <a:srgbClr val="0070C0"/>
                </a:solidFill>
                <a:latin typeface="DejaVu Sans"/>
                <a:ea typeface="DejaVu Sans"/>
                <a:cs typeface="DejaVu Sans"/>
              </a:rPr>
              <a:t>Heaviside step function</a:t>
            </a:r>
          </a:p>
        </p:txBody>
      </p:sp>
    </p:spTree>
    <p:extLst>
      <p:ext uri="{BB962C8B-B14F-4D97-AF65-F5344CB8AC3E}">
        <p14:creationId xmlns:p14="http://schemas.microsoft.com/office/powerpoint/2010/main" val="162380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Graphic spid="10" grpId="0">
        <p:bldAsOne/>
      </p:bldGraphic>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7CFC036-1E1A-42DA-8E67-FDB6FEEC09D4}"/>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lang="it-IT" sz="3150" b="1" dirty="0">
                <a:solidFill>
                  <a:srgbClr val="182D45"/>
                </a:solidFill>
                <a:latin typeface="DejaVu Sans"/>
                <a:ea typeface="DejaVu Sans"/>
                <a:cs typeface="DejaVu Sans"/>
              </a:rPr>
              <a:t>How do </a:t>
            </a:r>
            <a:r>
              <a:rPr lang="it-IT" sz="3150" b="1" dirty="0" err="1">
                <a:solidFill>
                  <a:srgbClr val="182D45"/>
                </a:solidFill>
                <a:latin typeface="DejaVu Sans"/>
                <a:ea typeface="DejaVu Sans"/>
                <a:cs typeface="DejaVu Sans"/>
              </a:rPr>
              <a:t>we</a:t>
            </a:r>
            <a:r>
              <a:rPr lang="it-IT" sz="3150" b="1" dirty="0">
                <a:solidFill>
                  <a:srgbClr val="182D45"/>
                </a:solidFill>
                <a:latin typeface="DejaVu Sans"/>
                <a:ea typeface="DejaVu Sans"/>
                <a:cs typeface="DejaVu Sans"/>
              </a:rPr>
              <a:t> build </a:t>
            </a:r>
            <a:r>
              <a:rPr lang="it-IT" sz="3150" b="1" dirty="0" err="1">
                <a:solidFill>
                  <a:srgbClr val="182D45"/>
                </a:solidFill>
                <a:latin typeface="DejaVu Sans"/>
                <a:ea typeface="DejaVu Sans"/>
                <a:cs typeface="DejaVu Sans"/>
              </a:rPr>
              <a:t>probability</a:t>
            </a:r>
            <a:r>
              <a:rPr lang="it-IT" sz="3150" b="1" dirty="0">
                <a:solidFill>
                  <a:srgbClr val="182D45"/>
                </a:solidFill>
                <a:latin typeface="DejaVu Sans"/>
                <a:ea typeface="DejaVu Sans"/>
                <a:cs typeface="DejaVu Sans"/>
              </a:rPr>
              <a:t> </a:t>
            </a:r>
            <a:r>
              <a:rPr lang="it-IT" sz="3150" b="1" dirty="0" err="1">
                <a:solidFill>
                  <a:srgbClr val="182D45"/>
                </a:solidFill>
                <a:latin typeface="DejaVu Sans"/>
                <a:ea typeface="DejaVu Sans"/>
                <a:cs typeface="DejaVu Sans"/>
              </a:rPr>
              <a:t>predictions</a:t>
            </a:r>
            <a:r>
              <a:rPr lang="it-IT" sz="3150" b="1" dirty="0">
                <a:solidFill>
                  <a:srgbClr val="182D45"/>
                </a:solidFill>
                <a:latin typeface="DejaVu Sans"/>
                <a:ea typeface="DejaVu Sans"/>
                <a:cs typeface="DejaVu Sans"/>
              </a:rPr>
              <a:t>?</a:t>
            </a:r>
            <a:endParaRPr sz="3150" b="1" dirty="0">
              <a:solidFill>
                <a:srgbClr val="182D45"/>
              </a:solidFill>
              <a:latin typeface="DejaVu Sans"/>
              <a:ea typeface="DejaVu Sans"/>
              <a:cs typeface="DejaVu Sans"/>
            </a:endParaRPr>
          </a:p>
        </p:txBody>
      </p:sp>
      <p:sp>
        <p:nvSpPr>
          <p:cNvPr id="2" name="lead">
            <a:extLst>
              <a:ext uri="{FF2B5EF4-FFF2-40B4-BE49-F238E27FC236}">
                <a16:creationId xmlns:a16="http://schemas.microsoft.com/office/drawing/2014/main" id="{D410C49E-74D5-4BFA-9D70-AE4BBEB4ECB3}"/>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l">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Regression suggests using an intercept and one weight for each input feature.</a:t>
            </a:r>
          </a:p>
        </p:txBody>
      </p:sp>
      <p:sp>
        <p:nvSpPr>
          <p:cNvPr id="3" name="footer_course">
            <a:extLst>
              <a:ext uri="{FF2B5EF4-FFF2-40B4-BE49-F238E27FC236}">
                <a16:creationId xmlns:a16="http://schemas.microsoft.com/office/drawing/2014/main" id="{F96507B7-EF51-4BF2-BB8E-64B5FBEA691F}"/>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D343334A-2ACD-4F9E-B48A-DB89F39B3594}"/>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7</a:t>
            </a:r>
          </a:p>
        </p:txBody>
      </p:sp>
      <mc:AlternateContent xmlns:mc="http://schemas.openxmlformats.org/markup-compatibility/2006" xmlns:a14="http://schemas.microsoft.com/office/drawing/2010/main">
        <mc:Choice Requires="a14">
          <p:sp>
            <p:nvSpPr>
              <p:cNvPr id="5" name="step_0_equation_0" descr="f_{\boldsymbol\theta}(\mathbf x)=b+\mathbf x\mathbf w=b+\sum_{j=1}^{d}x_jw_j">
                <a:extLst>
                  <a:ext uri="{FF2B5EF4-FFF2-40B4-BE49-F238E27FC236}">
                    <a16:creationId xmlns:a16="http://schemas.microsoft.com/office/drawing/2014/main" id="{1626431D-F379-4EDB-8B8D-AE82E4004F57}"/>
                  </a:ext>
                </a:extLst>
              </p:cNvPr>
              <p:cNvSpPr>
                <a:spLocks noGrp="1"/>
              </p:cNvSpPr>
              <p:nvPr/>
            </p:nvSpPr>
            <p:spPr>
              <a:xfrm>
                <a:off x="723900" y="2047875"/>
                <a:ext cx="10744200" cy="1123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𝑓</m:t>
                          </m:r>
                        </m:e>
                        <m:sub>
                          <m:r>
                            <a:rPr lang="en-GB" sz="3000">
                              <a:solidFill>
                                <a:srgbClr val="087F83"/>
                              </a:solidFill>
                              <a:latin typeface="Cambria Math"/>
                              <a:ea typeface="Cambria Math"/>
                              <a:cs typeface="Cambria Math"/>
                            </a:rPr>
                            <m:t>𝛉</m:t>
                          </m:r>
                        </m:sub>
                      </m:sSub>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𝐱</m:t>
                          </m:r>
                        </m:e>
                      </m:d>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𝑏</m:t>
                      </m:r>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𝐱𝐰</m:t>
                      </m:r>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𝑏</m:t>
                      </m:r>
                      <m:r>
                        <a:rPr lang="en-GB" sz="3000">
                          <a:solidFill>
                            <a:srgbClr val="087F83"/>
                          </a:solidFill>
                          <a:latin typeface="Cambria Math"/>
                          <a:ea typeface="Cambria Math"/>
                          <a:cs typeface="Cambria Math"/>
                        </a:rPr>
                        <m:t>+</m:t>
                      </m:r>
                      <m:nary>
                        <m:naryPr>
                          <m:chr m:val="∑"/>
                          <m:limLoc m:val="undOvr"/>
                          <m:ctrlPr>
                            <a:rPr lang="en-GB" sz="3000">
                              <a:solidFill>
                                <a:srgbClr val="087F83"/>
                              </a:solidFill>
                              <a:latin typeface="Cambria Math"/>
                              <a:ea typeface="Cambria Math"/>
                              <a:cs typeface="Cambria Math"/>
                            </a:rPr>
                          </m:ctrlPr>
                        </m:naryPr>
                        <m:sub>
                          <m:r>
                            <a:rPr lang="en-GB" sz="3000">
                              <a:solidFill>
                                <a:srgbClr val="087F83"/>
                              </a:solidFill>
                              <a:latin typeface="Cambria Math"/>
                              <a:ea typeface="Cambria Math"/>
                              <a:cs typeface="Cambria Math"/>
                            </a:rPr>
                            <m:t>𝑗</m:t>
                          </m:r>
                          <m:r>
                            <a:rPr lang="en-GB" sz="3000">
                              <a:solidFill>
                                <a:srgbClr val="087F83"/>
                              </a:solidFill>
                              <a:latin typeface="Cambria Math"/>
                              <a:ea typeface="Cambria Math"/>
                              <a:cs typeface="Cambria Math"/>
                            </a:rPr>
                            <m:t>=1</m:t>
                          </m:r>
                        </m:sub>
                        <m:sup>
                          <m:r>
                            <a:rPr lang="en-GB" sz="3000">
                              <a:solidFill>
                                <a:srgbClr val="087F83"/>
                              </a:solidFill>
                              <a:latin typeface="Cambria Math"/>
                              <a:ea typeface="Cambria Math"/>
                              <a:cs typeface="Cambria Math"/>
                            </a:rPr>
                            <m:t>𝑑</m:t>
                          </m:r>
                        </m:sup>
                        <m:e>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𝑥</m:t>
                              </m:r>
                            </m:e>
                            <m:sub>
                              <m:r>
                                <a:rPr lang="en-GB" sz="3000">
                                  <a:solidFill>
                                    <a:srgbClr val="087F83"/>
                                  </a:solidFill>
                                  <a:latin typeface="Cambria Math"/>
                                  <a:ea typeface="Cambria Math"/>
                                  <a:cs typeface="Cambria Math"/>
                                </a:rPr>
                                <m:t>𝑗</m:t>
                              </m:r>
                            </m:sub>
                          </m:sSub>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𝑤</m:t>
                              </m:r>
                            </m:e>
                            <m:sub>
                              <m:r>
                                <a:rPr lang="en-GB" sz="3000">
                                  <a:solidFill>
                                    <a:srgbClr val="087F83"/>
                                  </a:solidFill>
                                  <a:latin typeface="Cambria Math"/>
                                  <a:ea typeface="Cambria Math"/>
                                  <a:cs typeface="Cambria Math"/>
                                </a:rPr>
                                <m:t>𝑗</m:t>
                              </m:r>
                            </m:sub>
                          </m:sSub>
                        </m:e>
                      </m:nary>
                    </m:oMath>
                  </m:oMathPara>
                </a14:m>
                <a:endParaRPr lang="en-GB" sz="3000" dirty="0"/>
              </a:p>
            </p:txBody>
          </p:sp>
        </mc:Choice>
        <mc:Fallback xmlns="">
          <p:sp>
            <p:nvSpPr>
              <p:cNvPr id="5" name="step_0_equation_0" descr="f_{\boldsymbol\theta}(\mathbf x)=b+\mathbf x\mathbf w=b+\sum_{j=1}^{d}x_jw_j">
                <a:extLst>
                  <a:ext uri="{FF2B5EF4-FFF2-40B4-BE49-F238E27FC236}">
                    <a16:creationId xmlns:a16="http://schemas.microsoft.com/office/drawing/2014/main" id="{1626431D-F379-4EDB-8B8D-AE82E4004F57}"/>
                  </a:ext>
                </a:extLst>
              </p:cNvPr>
              <p:cNvSpPr>
                <a:spLocks noGrp="1" noRot="1" noChangeAspect="1" noMove="1" noResize="1" noEditPoints="1" noAdjustHandles="1" noChangeArrowheads="1" noChangeShapeType="1" noTextEdit="1"/>
              </p:cNvSpPr>
              <p:nvPr/>
            </p:nvSpPr>
            <p:spPr>
              <a:xfrm>
                <a:off x="723900" y="2047875"/>
                <a:ext cx="10744200" cy="1123950"/>
              </a:xfrm>
              <a:prstGeom prst="rect">
                <a:avLst/>
              </a:prstGeom>
              <a:blipFill>
                <a:blip r:embed="rId3"/>
                <a:stretch>
                  <a:fillRect t="-5978" b="-978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step_1_equation_1" descr="\boldsymbol\theta=\begin{pmatrix}b\\\mathbf w\end{pmatrix}\in\mathbb R^{(d+1)\times1}">
                <a:extLst>
                  <a:ext uri="{FF2B5EF4-FFF2-40B4-BE49-F238E27FC236}">
                    <a16:creationId xmlns:a16="http://schemas.microsoft.com/office/drawing/2014/main" id="{7FC2BAA1-1E4D-4D57-90AD-6E60D6D665A4}"/>
                  </a:ext>
                </a:extLst>
              </p:cNvPr>
              <p:cNvSpPr>
                <a:spLocks noGrp="1"/>
              </p:cNvSpPr>
              <p:nvPr/>
            </p:nvSpPr>
            <p:spPr>
              <a:xfrm>
                <a:off x="3319463" y="3409950"/>
                <a:ext cx="5667374" cy="14900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1" smtClean="0">
                          <a:solidFill>
                            <a:srgbClr val="326CB2"/>
                          </a:solidFill>
                          <a:latin typeface="Cambria Math" panose="02040503050406030204" pitchFamily="18" charset="0"/>
                          <a:ea typeface="Cambria Math"/>
                          <a:cs typeface="Cambria Math"/>
                        </a:rPr>
                        <m:t>𝑏</m:t>
                      </m:r>
                      <m:r>
                        <a:rPr lang="it-IT" sz="2500" b="0" i="1" smtClean="0">
                          <a:solidFill>
                            <a:srgbClr val="326CB2"/>
                          </a:solidFill>
                          <a:latin typeface="Cambria Math" panose="02040503050406030204" pitchFamily="18" charset="0"/>
                          <a:ea typeface="Cambria Math"/>
                          <a:cs typeface="Cambria Math"/>
                        </a:rPr>
                        <m:t>∈</m:t>
                      </m:r>
                      <m:r>
                        <a:rPr lang="it-IT" sz="2500" b="0" i="1" smtClean="0">
                          <a:solidFill>
                            <a:srgbClr val="326CB2"/>
                          </a:solidFill>
                          <a:latin typeface="Cambria Math" panose="02040503050406030204" pitchFamily="18" charset="0"/>
                          <a:ea typeface="Cambria Math"/>
                          <a:cs typeface="Cambria Math"/>
                        </a:rPr>
                        <m:t>ℝ</m:t>
                      </m:r>
                      <m:r>
                        <a:rPr lang="it-IT" sz="2500" b="0" i="1" smtClean="0">
                          <a:solidFill>
                            <a:srgbClr val="326CB2"/>
                          </a:solidFill>
                          <a:latin typeface="Cambria Math" panose="02040503050406030204" pitchFamily="18" charset="0"/>
                          <a:ea typeface="Cambria Math"/>
                          <a:cs typeface="Cambria Math"/>
                        </a:rPr>
                        <m:t>,  </m:t>
                      </m:r>
                      <m:r>
                        <a:rPr lang="en-GB" sz="2500" smtClean="0">
                          <a:solidFill>
                            <a:srgbClr val="326CB2"/>
                          </a:solidFill>
                          <a:latin typeface="Cambria Math"/>
                          <a:ea typeface="Cambria Math"/>
                          <a:cs typeface="Cambria Math"/>
                        </a:rPr>
                        <m:t>𝐰</m:t>
                      </m:r>
                      <m:r>
                        <a:rPr lang="it-IT" sz="2500" b="0" i="0" smtClean="0">
                          <a:solidFill>
                            <a:srgbClr val="326CB2"/>
                          </a:solidFill>
                          <a:latin typeface="Cambria Math" panose="02040503050406030204" pitchFamily="18" charset="0"/>
                          <a:ea typeface="Cambria Math"/>
                          <a:cs typeface="Cambria Math"/>
                        </a:rPr>
                        <m:t>=</m:t>
                      </m:r>
                      <m:sSup>
                        <m:sSupPr>
                          <m:ctrlPr>
                            <a:rPr lang="it-IT" sz="2500" b="0" i="1" smtClean="0">
                              <a:solidFill>
                                <a:srgbClr val="326CB2"/>
                              </a:solidFill>
                              <a:latin typeface="Cambria Math" panose="02040503050406030204" pitchFamily="18" charset="0"/>
                              <a:ea typeface="Cambria Math"/>
                              <a:cs typeface="Cambria Math"/>
                            </a:rPr>
                          </m:ctrlPr>
                        </m:sSupPr>
                        <m:e>
                          <m:d>
                            <m:dPr>
                              <m:ctrlPr>
                                <a:rPr lang="it-IT" sz="2500" b="0" i="1" smtClean="0">
                                  <a:solidFill>
                                    <a:srgbClr val="326CB2"/>
                                  </a:solidFill>
                                  <a:latin typeface="Cambria Math" panose="02040503050406030204" pitchFamily="18" charset="0"/>
                                  <a:ea typeface="Cambria Math"/>
                                  <a:cs typeface="Cambria Math"/>
                                </a:rPr>
                              </m:ctrlPr>
                            </m:dPr>
                            <m:e>
                              <m:sSub>
                                <m:sSubPr>
                                  <m:ctrlPr>
                                    <a:rPr lang="it-IT" sz="2500" b="0" i="1" smtClean="0">
                                      <a:solidFill>
                                        <a:srgbClr val="326CB2"/>
                                      </a:solidFill>
                                      <a:latin typeface="Cambria Math" panose="02040503050406030204" pitchFamily="18" charset="0"/>
                                      <a:ea typeface="Cambria Math"/>
                                      <a:cs typeface="Cambria Math"/>
                                    </a:rPr>
                                  </m:ctrlPr>
                                </m:sSubPr>
                                <m:e>
                                  <m:r>
                                    <a:rPr lang="it-IT" sz="2500" b="0" i="1" smtClean="0">
                                      <a:solidFill>
                                        <a:srgbClr val="326CB2"/>
                                      </a:solidFill>
                                      <a:latin typeface="Cambria Math" panose="02040503050406030204" pitchFamily="18" charset="0"/>
                                      <a:ea typeface="Cambria Math"/>
                                      <a:cs typeface="Cambria Math"/>
                                    </a:rPr>
                                    <m:t>𝑤</m:t>
                                  </m:r>
                                </m:e>
                                <m:sub>
                                  <m:r>
                                    <a:rPr lang="it-IT" sz="2500" b="0" i="1" smtClean="0">
                                      <a:solidFill>
                                        <a:srgbClr val="326CB2"/>
                                      </a:solidFill>
                                      <a:latin typeface="Cambria Math" panose="02040503050406030204" pitchFamily="18" charset="0"/>
                                      <a:ea typeface="Cambria Math"/>
                                      <a:cs typeface="Cambria Math"/>
                                    </a:rPr>
                                    <m:t>1</m:t>
                                  </m:r>
                                </m:sub>
                              </m:sSub>
                              <m:r>
                                <a:rPr lang="it-IT" sz="2500" b="0" i="1" smtClean="0">
                                  <a:solidFill>
                                    <a:srgbClr val="326CB2"/>
                                  </a:solidFill>
                                  <a:latin typeface="Cambria Math" panose="02040503050406030204" pitchFamily="18" charset="0"/>
                                  <a:ea typeface="Cambria Math"/>
                                  <a:cs typeface="Cambria Math"/>
                                </a:rPr>
                                <m:t>,…,</m:t>
                              </m:r>
                              <m:sSub>
                                <m:sSubPr>
                                  <m:ctrlPr>
                                    <a:rPr lang="it-IT" sz="2500" b="0" i="1" smtClean="0">
                                      <a:solidFill>
                                        <a:srgbClr val="326CB2"/>
                                      </a:solidFill>
                                      <a:latin typeface="Cambria Math" panose="02040503050406030204" pitchFamily="18" charset="0"/>
                                      <a:ea typeface="Cambria Math"/>
                                      <a:cs typeface="Cambria Math"/>
                                    </a:rPr>
                                  </m:ctrlPr>
                                </m:sSubPr>
                                <m:e>
                                  <m:r>
                                    <a:rPr lang="it-IT" sz="2500" b="0" i="1" smtClean="0">
                                      <a:solidFill>
                                        <a:srgbClr val="326CB2"/>
                                      </a:solidFill>
                                      <a:latin typeface="Cambria Math" panose="02040503050406030204" pitchFamily="18" charset="0"/>
                                      <a:ea typeface="Cambria Math"/>
                                      <a:cs typeface="Cambria Math"/>
                                    </a:rPr>
                                    <m:t>𝑤</m:t>
                                  </m:r>
                                </m:e>
                                <m:sub>
                                  <m:r>
                                    <a:rPr lang="it-IT" sz="2500" b="0" i="1" smtClean="0">
                                      <a:solidFill>
                                        <a:srgbClr val="326CB2"/>
                                      </a:solidFill>
                                      <a:latin typeface="Cambria Math" panose="02040503050406030204" pitchFamily="18" charset="0"/>
                                      <a:ea typeface="Cambria Math"/>
                                      <a:cs typeface="Cambria Math"/>
                                    </a:rPr>
                                    <m:t>𝑑</m:t>
                                  </m:r>
                                </m:sub>
                              </m:sSub>
                            </m:e>
                          </m:d>
                        </m:e>
                        <m:sup>
                          <m:r>
                            <a:rPr lang="it-IT" sz="2500" b="0" i="1" smtClean="0">
                              <a:solidFill>
                                <a:srgbClr val="326CB2"/>
                              </a:solidFill>
                              <a:latin typeface="Cambria Math" panose="02040503050406030204" pitchFamily="18" charset="0"/>
                              <a:ea typeface="Cambria Math"/>
                              <a:cs typeface="Cambria Math"/>
                            </a:rPr>
                            <m:t>⊤</m:t>
                          </m:r>
                        </m:sup>
                      </m:sSup>
                      <m:r>
                        <a:rPr lang="it-IT" sz="2500" b="0" i="1" smtClean="0">
                          <a:solidFill>
                            <a:srgbClr val="326CB2"/>
                          </a:solidFill>
                          <a:latin typeface="Cambria Math" panose="02040503050406030204" pitchFamily="18" charset="0"/>
                          <a:ea typeface="Cambria Math"/>
                          <a:cs typeface="Cambria Math"/>
                        </a:rPr>
                        <m:t>∈</m:t>
                      </m:r>
                      <m:sSup>
                        <m:sSupPr>
                          <m:ctrlPr>
                            <a:rPr lang="en-GB" sz="2500">
                              <a:solidFill>
                                <a:srgbClr val="326CB2"/>
                              </a:solidFill>
                              <a:latin typeface="Cambria Math"/>
                              <a:ea typeface="Cambria Math"/>
                              <a:cs typeface="Cambria Math"/>
                            </a:rPr>
                          </m:ctrlPr>
                        </m:sSupPr>
                        <m:e>
                          <m:r>
                            <a:rPr lang="en-GB" sz="2500">
                              <a:solidFill>
                                <a:srgbClr val="326CB2"/>
                              </a:solidFill>
                              <a:latin typeface="Cambria Math"/>
                              <a:ea typeface="Cambria Math"/>
                              <a:cs typeface="Cambria Math"/>
                            </a:rPr>
                            <m:t>ℝ</m:t>
                          </m:r>
                        </m:e>
                        <m:sup>
                          <m:r>
                            <a:rPr lang="it-IT" sz="2500" b="0" i="1" smtClean="0">
                              <a:solidFill>
                                <a:srgbClr val="326CB2"/>
                              </a:solidFill>
                              <a:latin typeface="Cambria Math" panose="02040503050406030204" pitchFamily="18" charset="0"/>
                              <a:ea typeface="Cambria Math"/>
                              <a:cs typeface="Cambria Math"/>
                            </a:rPr>
                            <m:t>𝑑</m:t>
                          </m:r>
                          <m:r>
                            <a:rPr lang="en-GB" sz="2500">
                              <a:solidFill>
                                <a:srgbClr val="326CB2"/>
                              </a:solidFill>
                              <a:latin typeface="Cambria Math"/>
                              <a:ea typeface="Cambria Math"/>
                              <a:cs typeface="Cambria Math"/>
                            </a:rPr>
                            <m:t>×1</m:t>
                          </m:r>
                        </m:sup>
                      </m:sSup>
                    </m:oMath>
                  </m:oMathPara>
                </a14:m>
                <a:endParaRPr lang="it-IT" sz="1200" b="0" i="0" dirty="0">
                  <a:solidFill>
                    <a:srgbClr val="326CB2"/>
                  </a:solidFill>
                  <a:latin typeface="Cambria Math" panose="02040503050406030204" pitchFamily="18" charset="0"/>
                  <a:ea typeface="Cambria Math"/>
                  <a:cs typeface="Cambria Math"/>
                </a:endParaRPr>
              </a:p>
              <a:p>
                <a:pPr algn="ctr"/>
                <a:endParaRPr lang="it-IT" sz="800" b="0" i="0" dirty="0">
                  <a:solidFill>
                    <a:srgbClr val="326CB2"/>
                  </a:solidFill>
                  <a:latin typeface="Cambria Math" panose="02040503050406030204" pitchFamily="18" charset="0"/>
                  <a:ea typeface="Cambria Math"/>
                  <a:cs typeface="Cambria Math"/>
                </a:endParaRPr>
              </a:p>
              <a:p>
                <a:pPr algn="ctr"/>
                <a14:m>
                  <m:oMathPara xmlns:m="http://schemas.openxmlformats.org/officeDocument/2006/math">
                    <m:oMath>
                      <m:r>
                        <a:rPr lang="en-GB" sz="2500">
                          <a:solidFill>
                            <a:srgbClr val="326CB2"/>
                          </a:solidFill>
                          <a:latin typeface="Cambria Math"/>
                          <a:ea typeface="Cambria Math"/>
                          <a:cs typeface="Cambria Math"/>
                        </a:rPr>
                        <m:t>𝛉</m:t>
                      </m:r>
                      <m:r>
                        <a:rPr lang="en-GB" sz="2500">
                          <a:solidFill>
                            <a:srgbClr val="326CB2"/>
                          </a:solidFill>
                          <a:latin typeface="Cambria Math"/>
                          <a:ea typeface="Cambria Math"/>
                          <a:cs typeface="Cambria Math"/>
                        </a:rPr>
                        <m:t>=</m:t>
                      </m:r>
                      <m:d>
                        <m:dPr>
                          <m:ctrlPr>
                            <a:rPr lang="en-GB" sz="2500" i="1">
                              <a:solidFill>
                                <a:srgbClr val="326CB2"/>
                              </a:solidFill>
                              <a:latin typeface="Cambria Math" panose="02040503050406030204" pitchFamily="18" charset="0"/>
                              <a:ea typeface="Cambria Math"/>
                              <a:cs typeface="Cambria Math"/>
                            </a:rPr>
                          </m:ctrlPr>
                        </m:dPr>
                        <m:e>
                          <m:m>
                            <m:mPr>
                              <m:mcs>
                                <m:mc>
                                  <m:mcPr>
                                    <m:count m:val="1"/>
                                    <m:mcJc m:val="center"/>
                                  </m:mcPr>
                                </m:mc>
                              </m:mcs>
                              <m:ctrlPr>
                                <a:rPr lang="en-GB" sz="2500" i="1">
                                  <a:solidFill>
                                    <a:srgbClr val="326CB2"/>
                                  </a:solidFill>
                                  <a:latin typeface="Cambria Math" panose="02040503050406030204" pitchFamily="18" charset="0"/>
                                  <a:ea typeface="Cambria Math"/>
                                  <a:cs typeface="Cambria Math"/>
                                </a:rPr>
                              </m:ctrlPr>
                            </m:mPr>
                            <m:mr>
                              <m:e>
                                <m:r>
                                  <a:rPr lang="en-GB" sz="2500">
                                    <a:solidFill>
                                      <a:srgbClr val="326CB2"/>
                                    </a:solidFill>
                                    <a:latin typeface="Cambria Math"/>
                                    <a:ea typeface="Cambria Math"/>
                                    <a:cs typeface="Cambria Math"/>
                                  </a:rPr>
                                  <m:t>𝑏</m:t>
                                </m:r>
                              </m:e>
                            </m:mr>
                            <m:mr>
                              <m:e>
                                <m:r>
                                  <a:rPr lang="en-GB" sz="2500">
                                    <a:solidFill>
                                      <a:srgbClr val="326CB2"/>
                                    </a:solidFill>
                                    <a:latin typeface="Cambria Math"/>
                                    <a:ea typeface="Cambria Math"/>
                                    <a:cs typeface="Cambria Math"/>
                                  </a:rPr>
                                  <m:t>𝐰</m:t>
                                </m:r>
                              </m:e>
                            </m:mr>
                          </m:m>
                        </m:e>
                      </m:d>
                      <m:r>
                        <a:rPr lang="it-IT" sz="2500" b="0" i="1" smtClean="0">
                          <a:solidFill>
                            <a:srgbClr val="326CB2"/>
                          </a:solidFill>
                          <a:latin typeface="Cambria Math" panose="02040503050406030204" pitchFamily="18" charset="0"/>
                          <a:ea typeface="Cambria Math"/>
                          <a:cs typeface="Cambria Math"/>
                        </a:rPr>
                        <m:t>=</m:t>
                      </m:r>
                      <m:sSup>
                        <m:sSupPr>
                          <m:ctrlPr>
                            <a:rPr lang="it-IT" sz="2500" b="0" i="1" smtClean="0">
                              <a:solidFill>
                                <a:srgbClr val="326CB2"/>
                              </a:solidFill>
                              <a:latin typeface="Cambria Math" panose="02040503050406030204" pitchFamily="18" charset="0"/>
                              <a:ea typeface="Cambria Math"/>
                            </a:rPr>
                          </m:ctrlPr>
                        </m:sSupPr>
                        <m:e>
                          <m:d>
                            <m:dPr>
                              <m:ctrlPr>
                                <a:rPr lang="it-IT" sz="2500" b="0" i="1" smtClean="0">
                                  <a:solidFill>
                                    <a:srgbClr val="326CB2"/>
                                  </a:solidFill>
                                  <a:latin typeface="Cambria Math" panose="02040503050406030204" pitchFamily="18" charset="0"/>
                                  <a:ea typeface="Cambria Math"/>
                                </a:rPr>
                              </m:ctrlPr>
                            </m:dPr>
                            <m:e>
                              <m:r>
                                <a:rPr lang="it-IT" sz="2500" b="0" i="1" smtClean="0">
                                  <a:solidFill>
                                    <a:srgbClr val="326CB2"/>
                                  </a:solidFill>
                                  <a:latin typeface="Cambria Math" panose="02040503050406030204" pitchFamily="18" charset="0"/>
                                  <a:ea typeface="Cambria Math"/>
                                </a:rPr>
                                <m:t>𝑏</m:t>
                              </m:r>
                              <m:r>
                                <a:rPr lang="it-IT" sz="2500" b="0" i="1" smtClean="0">
                                  <a:solidFill>
                                    <a:srgbClr val="326CB2"/>
                                  </a:solidFill>
                                  <a:latin typeface="Cambria Math" panose="02040503050406030204" pitchFamily="18" charset="0"/>
                                  <a:ea typeface="Cambria Math"/>
                                </a:rPr>
                                <m:t>,</m:t>
                              </m:r>
                              <m:sSub>
                                <m:sSubPr>
                                  <m:ctrlPr>
                                    <a:rPr lang="it-IT" sz="2500" b="0" i="1" smtClean="0">
                                      <a:solidFill>
                                        <a:srgbClr val="326CB2"/>
                                      </a:solidFill>
                                      <a:latin typeface="Cambria Math" panose="02040503050406030204" pitchFamily="18" charset="0"/>
                                      <a:ea typeface="Cambria Math"/>
                                    </a:rPr>
                                  </m:ctrlPr>
                                </m:sSubPr>
                                <m:e>
                                  <m:r>
                                    <a:rPr lang="it-IT" sz="2500" b="0" i="1" smtClean="0">
                                      <a:solidFill>
                                        <a:srgbClr val="326CB2"/>
                                      </a:solidFill>
                                      <a:latin typeface="Cambria Math" panose="02040503050406030204" pitchFamily="18" charset="0"/>
                                      <a:ea typeface="Cambria Math"/>
                                    </a:rPr>
                                    <m:t>𝑤</m:t>
                                  </m:r>
                                </m:e>
                                <m:sub>
                                  <m:r>
                                    <a:rPr lang="it-IT" sz="2500" b="0" i="1" smtClean="0">
                                      <a:solidFill>
                                        <a:srgbClr val="326CB2"/>
                                      </a:solidFill>
                                      <a:latin typeface="Cambria Math" panose="02040503050406030204" pitchFamily="18" charset="0"/>
                                      <a:ea typeface="Cambria Math"/>
                                    </a:rPr>
                                    <m:t>1</m:t>
                                  </m:r>
                                </m:sub>
                              </m:sSub>
                              <m:r>
                                <a:rPr lang="it-IT" sz="2500" b="0" i="1" smtClean="0">
                                  <a:solidFill>
                                    <a:srgbClr val="326CB2"/>
                                  </a:solidFill>
                                  <a:latin typeface="Cambria Math" panose="02040503050406030204" pitchFamily="18" charset="0"/>
                                  <a:ea typeface="Cambria Math"/>
                                </a:rPr>
                                <m:t>,…,</m:t>
                              </m:r>
                              <m:sSub>
                                <m:sSubPr>
                                  <m:ctrlPr>
                                    <a:rPr lang="it-IT" sz="2500" b="0" i="1" smtClean="0">
                                      <a:solidFill>
                                        <a:srgbClr val="326CB2"/>
                                      </a:solidFill>
                                      <a:latin typeface="Cambria Math" panose="02040503050406030204" pitchFamily="18" charset="0"/>
                                      <a:ea typeface="Cambria Math"/>
                                    </a:rPr>
                                  </m:ctrlPr>
                                </m:sSubPr>
                                <m:e>
                                  <m:r>
                                    <a:rPr lang="it-IT" sz="2500" b="0" i="1" smtClean="0">
                                      <a:solidFill>
                                        <a:srgbClr val="326CB2"/>
                                      </a:solidFill>
                                      <a:latin typeface="Cambria Math" panose="02040503050406030204" pitchFamily="18" charset="0"/>
                                      <a:ea typeface="Cambria Math"/>
                                    </a:rPr>
                                    <m:t>𝑤</m:t>
                                  </m:r>
                                </m:e>
                                <m:sub>
                                  <m:r>
                                    <a:rPr lang="it-IT" sz="2500" b="0" i="1" smtClean="0">
                                      <a:solidFill>
                                        <a:srgbClr val="326CB2"/>
                                      </a:solidFill>
                                      <a:latin typeface="Cambria Math" panose="02040503050406030204" pitchFamily="18" charset="0"/>
                                      <a:ea typeface="Cambria Math"/>
                                    </a:rPr>
                                    <m:t>𝑑</m:t>
                                  </m:r>
                                </m:sub>
                              </m:sSub>
                            </m:e>
                          </m:d>
                        </m:e>
                        <m:sup>
                          <m:r>
                            <a:rPr lang="it-IT" sz="2500" b="0" i="1" smtClean="0">
                              <a:solidFill>
                                <a:srgbClr val="326CB2"/>
                              </a:solidFill>
                              <a:latin typeface="Cambria Math" panose="02040503050406030204" pitchFamily="18" charset="0"/>
                              <a:ea typeface="Cambria Math"/>
                            </a:rPr>
                            <m:t>⊤</m:t>
                          </m:r>
                        </m:sup>
                      </m:sSup>
                      <m:r>
                        <a:rPr lang="en-GB" sz="2500">
                          <a:solidFill>
                            <a:srgbClr val="326CB2"/>
                          </a:solidFill>
                          <a:latin typeface="Cambria Math"/>
                          <a:ea typeface="Cambria Math"/>
                          <a:cs typeface="Cambria Math"/>
                        </a:rPr>
                        <m:t>∈</m:t>
                      </m:r>
                      <m:sSup>
                        <m:sSupPr>
                          <m:ctrlPr>
                            <a:rPr lang="en-GB" sz="2500">
                              <a:solidFill>
                                <a:srgbClr val="326CB2"/>
                              </a:solidFill>
                              <a:latin typeface="Cambria Math"/>
                              <a:ea typeface="Cambria Math"/>
                              <a:cs typeface="Cambria Math"/>
                            </a:rPr>
                          </m:ctrlPr>
                        </m:sSupPr>
                        <m:e>
                          <m:r>
                            <a:rPr lang="en-GB" sz="2500">
                              <a:solidFill>
                                <a:srgbClr val="326CB2"/>
                              </a:solidFill>
                              <a:latin typeface="Cambria Math"/>
                              <a:ea typeface="Cambria Math"/>
                              <a:cs typeface="Cambria Math"/>
                            </a:rPr>
                            <m:t>ℝ</m:t>
                          </m:r>
                        </m:e>
                        <m:sup>
                          <m:r>
                            <a:rPr lang="en-GB" sz="2500">
                              <a:solidFill>
                                <a:srgbClr val="326CB2"/>
                              </a:solidFill>
                              <a:latin typeface="Cambria Math"/>
                              <a:ea typeface="Cambria Math"/>
                              <a:cs typeface="Cambria Math"/>
                            </a:rPr>
                            <m:t>(</m:t>
                          </m:r>
                          <m:r>
                            <a:rPr lang="en-GB" sz="2500">
                              <a:solidFill>
                                <a:srgbClr val="326CB2"/>
                              </a:solidFill>
                              <a:latin typeface="Cambria Math"/>
                              <a:ea typeface="Cambria Math"/>
                              <a:cs typeface="Cambria Math"/>
                            </a:rPr>
                            <m:t>𝑑</m:t>
                          </m:r>
                          <m:r>
                            <a:rPr lang="en-GB" sz="2500">
                              <a:solidFill>
                                <a:srgbClr val="326CB2"/>
                              </a:solidFill>
                              <a:latin typeface="Cambria Math"/>
                              <a:ea typeface="Cambria Math"/>
                              <a:cs typeface="Cambria Math"/>
                            </a:rPr>
                            <m:t>+1)×1</m:t>
                          </m:r>
                        </m:sup>
                      </m:sSup>
                    </m:oMath>
                  </m:oMathPara>
                </a14:m>
                <a:endParaRPr lang="en-GB" sz="2500" dirty="0"/>
              </a:p>
            </p:txBody>
          </p:sp>
        </mc:Choice>
        <mc:Fallback xmlns="">
          <p:sp>
            <p:nvSpPr>
              <p:cNvPr id="6" name="step_1_equation_1" descr="\boldsymbol\theta=\begin{pmatrix}b\\\mathbf w\end{pmatrix}\in\mathbb R^{(d+1)\times1}">
                <a:extLst>
                  <a:ext uri="{FF2B5EF4-FFF2-40B4-BE49-F238E27FC236}">
                    <a16:creationId xmlns:a16="http://schemas.microsoft.com/office/drawing/2014/main" id="{7FC2BAA1-1E4D-4D57-90AD-6E60D6D665A4}"/>
                  </a:ext>
                </a:extLst>
              </p:cNvPr>
              <p:cNvSpPr>
                <a:spLocks noGrp="1" noRot="1" noChangeAspect="1" noMove="1" noResize="1" noEditPoints="1" noAdjustHandles="1" noChangeArrowheads="1" noChangeShapeType="1" noTextEdit="1"/>
              </p:cNvSpPr>
              <p:nvPr/>
            </p:nvSpPr>
            <p:spPr>
              <a:xfrm>
                <a:off x="3319463" y="3409950"/>
                <a:ext cx="5667374" cy="1490091"/>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step_2_text_3">
                <a:extLst>
                  <a:ext uri="{FF2B5EF4-FFF2-40B4-BE49-F238E27FC236}">
                    <a16:creationId xmlns:a16="http://schemas.microsoft.com/office/drawing/2014/main" id="{83511110-EA7A-4273-A9A2-5A13E9D3EDFC}"/>
                  </a:ext>
                </a:extLst>
              </p:cNvPr>
              <p:cNvSpPr>
                <a:spLocks noGrp="1"/>
              </p:cNvSpPr>
              <p:nvPr/>
            </p:nvSpPr>
            <p:spPr>
              <a:xfrm>
                <a:off x="781050" y="5098542"/>
                <a:ext cx="10744200" cy="1664208"/>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en-GB" sz="2100" b="0" dirty="0">
                    <a:solidFill>
                      <a:srgbClr val="526276"/>
                    </a:solidFill>
                    <a:latin typeface="DejaVu Sans"/>
                    <a:ea typeface="DejaVu Sans"/>
                    <a:cs typeface="DejaVu Sans"/>
                  </a:rPr>
                  <a:t>However, </a:t>
                </a:r>
                <a14:m>
                  <m:oMath xmlns:m="http://schemas.openxmlformats.org/officeDocument/2006/math">
                    <m:sSub>
                      <m:sSubPr>
                        <m:ctrlPr>
                          <a:rPr lang="it-IT" sz="2100" b="0" i="1" smtClean="0">
                            <a:solidFill>
                              <a:srgbClr val="526276"/>
                            </a:solidFill>
                            <a:latin typeface="Cambria Math" panose="02040503050406030204" pitchFamily="18" charset="0"/>
                            <a:ea typeface="DejaVu Sans"/>
                            <a:cs typeface="DejaVu Sans"/>
                          </a:rPr>
                        </m:ctrlPr>
                      </m:sSubPr>
                      <m:e>
                        <m:r>
                          <a:rPr lang="it-IT" sz="2100" b="0" i="1" smtClean="0">
                            <a:solidFill>
                              <a:srgbClr val="526276"/>
                            </a:solidFill>
                            <a:latin typeface="Cambria Math" panose="02040503050406030204" pitchFamily="18" charset="0"/>
                            <a:ea typeface="DejaVu Sans"/>
                            <a:cs typeface="DejaVu Sans"/>
                          </a:rPr>
                          <m:t>𝑓</m:t>
                        </m:r>
                      </m:e>
                      <m:sub>
                        <m:r>
                          <a:rPr lang="it-IT" sz="2100" b="1" i="0" smtClean="0">
                            <a:solidFill>
                              <a:srgbClr val="526276"/>
                            </a:solidFill>
                            <a:latin typeface="Cambria Math" panose="02040503050406030204" pitchFamily="18" charset="0"/>
                            <a:ea typeface="DejaVu Sans"/>
                            <a:cs typeface="DejaVu Sans"/>
                          </a:rPr>
                          <m:t>𝛉</m:t>
                        </m:r>
                      </m:sub>
                    </m:sSub>
                    <m:d>
                      <m:dPr>
                        <m:ctrlPr>
                          <a:rPr lang="it-IT" sz="2100" b="1" i="0" smtClean="0">
                            <a:solidFill>
                              <a:srgbClr val="526276"/>
                            </a:solidFill>
                            <a:latin typeface="Cambria Math" panose="02040503050406030204" pitchFamily="18" charset="0"/>
                            <a:ea typeface="DejaVu Sans"/>
                            <a:cs typeface="DejaVu Sans"/>
                          </a:rPr>
                        </m:ctrlPr>
                      </m:dPr>
                      <m:e>
                        <m:r>
                          <a:rPr lang="it-IT" sz="2100" b="1" i="0" smtClean="0">
                            <a:solidFill>
                              <a:srgbClr val="526276"/>
                            </a:solidFill>
                            <a:latin typeface="Cambria Math" panose="02040503050406030204" pitchFamily="18" charset="0"/>
                            <a:ea typeface="DejaVu Sans"/>
                            <a:cs typeface="DejaVu Sans"/>
                          </a:rPr>
                          <m:t>𝐱</m:t>
                        </m:r>
                      </m:e>
                    </m:d>
                  </m:oMath>
                </a14:m>
                <a:r>
                  <a:rPr lang="en-GB" sz="2100" b="0" dirty="0">
                    <a:solidFill>
                      <a:srgbClr val="526276"/>
                    </a:solidFill>
                    <a:latin typeface="DejaVu Sans"/>
                    <a:ea typeface="DejaVu Sans"/>
                    <a:cs typeface="DejaVu Sans"/>
                  </a:rPr>
                  <a:t> can be </a:t>
                </a:r>
                <a:r>
                  <a:rPr lang="en-GB" sz="2100" b="0" dirty="0">
                    <a:solidFill>
                      <a:srgbClr val="FF0000"/>
                    </a:solidFill>
                    <a:latin typeface="DejaVu Sans"/>
                    <a:ea typeface="DejaVu Sans"/>
                    <a:cs typeface="DejaVu Sans"/>
                  </a:rPr>
                  <a:t>any real number</a:t>
                </a:r>
                <a:r>
                  <a:rPr lang="en-GB" sz="2100" dirty="0">
                    <a:solidFill>
                      <a:srgbClr val="526276"/>
                    </a:solidFill>
                    <a:latin typeface="DejaVu Sans"/>
                    <a:ea typeface="DejaVu Sans"/>
                    <a:cs typeface="DejaVu Sans"/>
                  </a:rPr>
                  <a:t>!</a:t>
                </a:r>
              </a:p>
              <a:p>
                <a:pPr algn="ctr">
                  <a:lnSpc>
                    <a:spcPct val="112000"/>
                  </a:lnSpc>
                  <a:buNone/>
                  <a:defRPr sz="2100" b="0">
                    <a:solidFill>
                      <a:srgbClr val="526276"/>
                    </a:solidFill>
                    <a:latin typeface="DejaVu Sans"/>
                    <a:ea typeface="DejaVu Sans"/>
                    <a:cs typeface="DejaVu Sans"/>
                  </a:defRPr>
                </a:pPr>
                <a:r>
                  <a:rPr lang="en-GB" sz="2100" b="0" dirty="0">
                    <a:solidFill>
                      <a:srgbClr val="526276"/>
                    </a:solidFill>
                    <a:latin typeface="DejaVu Sans"/>
                    <a:ea typeface="DejaVu Sans"/>
                    <a:cs typeface="DejaVu Sans"/>
                  </a:rPr>
                  <a:t>Hence, it cannot serve directly as a probability.</a:t>
                </a:r>
              </a:p>
              <a:p>
                <a:pPr algn="ctr">
                  <a:lnSpc>
                    <a:spcPct val="112000"/>
                  </a:lnSpc>
                  <a:defRPr sz="2100" b="0">
                    <a:solidFill>
                      <a:srgbClr val="526276"/>
                    </a:solidFill>
                    <a:latin typeface="DejaVu Sans"/>
                    <a:ea typeface="DejaVu Sans"/>
                    <a:cs typeface="DejaVu Sans"/>
                  </a:defRPr>
                </a:pPr>
                <a:r>
                  <a:rPr lang="en-GB" sz="2100" dirty="0">
                    <a:solidFill>
                      <a:srgbClr val="526276"/>
                    </a:solidFill>
                    <a:latin typeface="DejaVu Sans"/>
                    <a:ea typeface="DejaVu Sans"/>
                    <a:cs typeface="DejaVu Sans"/>
                  </a:rPr>
                  <a:t>Rather, </a:t>
                </a:r>
                <a14:m>
                  <m:oMath xmlns:m="http://schemas.openxmlformats.org/officeDocument/2006/math">
                    <m:sSub>
                      <m:sSubPr>
                        <m:ctrlPr>
                          <a:rPr lang="en-GB" sz="2100" i="1">
                            <a:solidFill>
                              <a:srgbClr val="526276"/>
                            </a:solidFill>
                            <a:latin typeface="Cambria Math" panose="02040503050406030204" pitchFamily="18" charset="0"/>
                            <a:ea typeface="DejaVu Sans"/>
                            <a:cs typeface="DejaVu Sans"/>
                          </a:rPr>
                        </m:ctrlPr>
                      </m:sSubPr>
                      <m:e>
                        <m:r>
                          <a:rPr lang="en-GB" sz="2100" i="1">
                            <a:solidFill>
                              <a:srgbClr val="526276"/>
                            </a:solidFill>
                            <a:latin typeface="Cambria Math" panose="02040503050406030204" pitchFamily="18" charset="0"/>
                            <a:ea typeface="DejaVu Sans"/>
                            <a:cs typeface="DejaVu Sans"/>
                          </a:rPr>
                          <m:t>𝑓</m:t>
                        </m:r>
                      </m:e>
                      <m:sub>
                        <m:r>
                          <a:rPr lang="it-IT" sz="2100" b="1">
                            <a:solidFill>
                              <a:srgbClr val="526276"/>
                            </a:solidFill>
                            <a:latin typeface="Cambria Math" panose="02040503050406030204" pitchFamily="18" charset="0"/>
                            <a:ea typeface="DejaVu Sans"/>
                            <a:cs typeface="DejaVu Sans"/>
                          </a:rPr>
                          <m:t>𝛉</m:t>
                        </m:r>
                      </m:sub>
                    </m:sSub>
                    <m:d>
                      <m:dPr>
                        <m:ctrlPr>
                          <a:rPr lang="it-IT" sz="2100" b="1">
                            <a:solidFill>
                              <a:srgbClr val="526276"/>
                            </a:solidFill>
                            <a:latin typeface="Cambria Math" panose="02040503050406030204" pitchFamily="18" charset="0"/>
                            <a:ea typeface="DejaVu Sans"/>
                            <a:cs typeface="DejaVu Sans"/>
                          </a:rPr>
                        </m:ctrlPr>
                      </m:dPr>
                      <m:e>
                        <m:r>
                          <a:rPr lang="it-IT" sz="2100" b="1">
                            <a:solidFill>
                              <a:srgbClr val="526276"/>
                            </a:solidFill>
                            <a:latin typeface="Cambria Math" panose="02040503050406030204" pitchFamily="18" charset="0"/>
                            <a:ea typeface="DejaVu Sans"/>
                            <a:cs typeface="DejaVu Sans"/>
                          </a:rPr>
                          <m:t>𝐱</m:t>
                        </m:r>
                      </m:e>
                    </m:d>
                  </m:oMath>
                </a14:m>
                <a:r>
                  <a:rPr lang="en-GB" sz="2100" dirty="0">
                    <a:solidFill>
                      <a:srgbClr val="526276"/>
                    </a:solidFill>
                    <a:latin typeface="DejaVu Sans"/>
                    <a:ea typeface="DejaVu Sans"/>
                    <a:cs typeface="DejaVu Sans"/>
                  </a:rPr>
                  <a:t> is a </a:t>
                </a:r>
                <a:r>
                  <a:rPr lang="en-GB" sz="2100" dirty="0">
                    <a:solidFill>
                      <a:srgbClr val="FF0000"/>
                    </a:solidFill>
                    <a:latin typeface="DejaVu Sans"/>
                    <a:ea typeface="DejaVu Sans"/>
                    <a:cs typeface="DejaVu Sans"/>
                  </a:rPr>
                  <a:t>score</a:t>
                </a:r>
                <a:r>
                  <a:rPr lang="en-GB" sz="2100" dirty="0">
                    <a:solidFill>
                      <a:srgbClr val="526276"/>
                    </a:solidFill>
                    <a:latin typeface="DejaVu Sans"/>
                    <a:ea typeface="DejaVu Sans"/>
                    <a:cs typeface="DejaVu Sans"/>
                  </a:rPr>
                  <a:t> (also called a </a:t>
                </a:r>
                <a:r>
                  <a:rPr lang="en-GB" sz="2100" dirty="0">
                    <a:solidFill>
                      <a:srgbClr val="FF0000"/>
                    </a:solidFill>
                    <a:latin typeface="DejaVu Sans"/>
                    <a:ea typeface="DejaVu Sans"/>
                    <a:cs typeface="DejaVu Sans"/>
                  </a:rPr>
                  <a:t>logit</a:t>
                </a:r>
                <a:r>
                  <a:rPr lang="en-GB" sz="2100" dirty="0">
                    <a:latin typeface="DejaVu Sans"/>
                    <a:ea typeface="DejaVu Sans"/>
                    <a:cs typeface="DejaVu Sans"/>
                  </a:rPr>
                  <a:t>)</a:t>
                </a:r>
              </a:p>
              <a:p>
                <a:pPr algn="ctr">
                  <a:lnSpc>
                    <a:spcPct val="112000"/>
                  </a:lnSpc>
                  <a:defRPr sz="2100" b="0">
                    <a:solidFill>
                      <a:srgbClr val="526276"/>
                    </a:solidFill>
                    <a:latin typeface="DejaVu Sans"/>
                    <a:ea typeface="DejaVu Sans"/>
                    <a:cs typeface="DejaVu Sans"/>
                  </a:defRPr>
                </a:pPr>
                <a:r>
                  <a:rPr lang="en-GB" sz="2100" dirty="0">
                    <a:latin typeface="DejaVu Sans"/>
                    <a:ea typeface="DejaVu Sans"/>
                    <a:cs typeface="DejaVu Sans"/>
                  </a:rPr>
                  <a:t>that we have to turn into a probability</a:t>
                </a:r>
                <a:r>
                  <a:rPr lang="en-GB" sz="2100" dirty="0">
                    <a:solidFill>
                      <a:srgbClr val="526276"/>
                    </a:solidFill>
                    <a:latin typeface="DejaVu Sans"/>
                    <a:ea typeface="DejaVu Sans"/>
                    <a:cs typeface="DejaVu Sans"/>
                  </a:rPr>
                  <a:t>.</a:t>
                </a:r>
              </a:p>
              <a:p>
                <a:pPr algn="ctr">
                  <a:lnSpc>
                    <a:spcPct val="112000"/>
                  </a:lnSpc>
                  <a:buNone/>
                  <a:defRPr sz="2100" b="0">
                    <a:solidFill>
                      <a:srgbClr val="526276"/>
                    </a:solidFill>
                    <a:latin typeface="DejaVu Sans"/>
                    <a:ea typeface="DejaVu Sans"/>
                    <a:cs typeface="DejaVu Sans"/>
                  </a:defRPr>
                </a:pPr>
                <a:endParaRPr sz="2100" b="0" dirty="0">
                  <a:solidFill>
                    <a:srgbClr val="526276"/>
                  </a:solidFill>
                  <a:latin typeface="DejaVu Sans"/>
                  <a:ea typeface="DejaVu Sans"/>
                  <a:cs typeface="DejaVu Sans"/>
                </a:endParaRPr>
              </a:p>
            </p:txBody>
          </p:sp>
        </mc:Choice>
        <mc:Fallback xmlns="">
          <p:sp>
            <p:nvSpPr>
              <p:cNvPr id="8" name="step_2_text_3">
                <a:extLst>
                  <a:ext uri="{FF2B5EF4-FFF2-40B4-BE49-F238E27FC236}">
                    <a16:creationId xmlns:a16="http://schemas.microsoft.com/office/drawing/2014/main" id="{83511110-EA7A-4273-A9A2-5A13E9D3EDFC}"/>
                  </a:ext>
                </a:extLst>
              </p:cNvPr>
              <p:cNvSpPr>
                <a:spLocks noGrp="1" noRot="1" noChangeAspect="1" noMove="1" noResize="1" noEditPoints="1" noAdjustHandles="1" noChangeArrowheads="1" noChangeShapeType="1" noTextEdit="1"/>
              </p:cNvSpPr>
              <p:nvPr/>
            </p:nvSpPr>
            <p:spPr>
              <a:xfrm>
                <a:off x="781050" y="5098542"/>
                <a:ext cx="10744200" cy="1664208"/>
              </a:xfrm>
              <a:prstGeom prst="rect">
                <a:avLst/>
              </a:prstGeom>
              <a:blipFill>
                <a:blip r:embed="rId5"/>
                <a:stretch>
                  <a:fillRect t="-7692"/>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972292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259EBB4E-E20C-431A-A0D7-90A0DFEA446B}"/>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The sigmoid function</a:t>
            </a:r>
          </a:p>
        </p:txBody>
      </p:sp>
      <p:sp>
        <p:nvSpPr>
          <p:cNvPr id="2" name="lead">
            <a:extLst>
              <a:ext uri="{FF2B5EF4-FFF2-40B4-BE49-F238E27FC236}">
                <a16:creationId xmlns:a16="http://schemas.microsoft.com/office/drawing/2014/main" id="{D6579C10-4AFF-48FC-B577-99F57ADC04E7}"/>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A </a:t>
            </a:r>
            <a:r>
              <a:rPr sz="2100" b="0" dirty="0">
                <a:solidFill>
                  <a:srgbClr val="FF0000"/>
                </a:solidFill>
                <a:latin typeface="DejaVu Sans"/>
                <a:ea typeface="DejaVu Sans"/>
                <a:cs typeface="DejaVu Sans"/>
              </a:rPr>
              <a:t>smooth</a:t>
            </a:r>
            <a:r>
              <a:rPr sz="2100" b="0" dirty="0">
                <a:solidFill>
                  <a:srgbClr val="526276"/>
                </a:solidFill>
                <a:latin typeface="DejaVu Sans"/>
                <a:ea typeface="DejaVu Sans"/>
                <a:cs typeface="DejaVu Sans"/>
              </a:rPr>
              <a:t>, </a:t>
            </a:r>
            <a:r>
              <a:rPr sz="2100" b="0" dirty="0">
                <a:solidFill>
                  <a:srgbClr val="FF0000"/>
                </a:solidFill>
                <a:latin typeface="DejaVu Sans"/>
                <a:ea typeface="DejaVu Sans"/>
                <a:cs typeface="DejaVu Sans"/>
              </a:rPr>
              <a:t>increasing function </a:t>
            </a:r>
            <a:r>
              <a:rPr sz="2100" b="0" dirty="0">
                <a:solidFill>
                  <a:srgbClr val="526276"/>
                </a:solidFill>
                <a:latin typeface="DejaVu Sans"/>
                <a:ea typeface="DejaVu Sans"/>
                <a:cs typeface="DejaVu Sans"/>
              </a:rPr>
              <a:t>turns each </a:t>
            </a:r>
            <a:r>
              <a:rPr sz="2100" b="0" dirty="0">
                <a:solidFill>
                  <a:srgbClr val="FF0000"/>
                </a:solidFill>
                <a:latin typeface="DejaVu Sans"/>
                <a:ea typeface="DejaVu Sans"/>
                <a:cs typeface="DejaVu Sans"/>
              </a:rPr>
              <a:t>real score</a:t>
            </a:r>
            <a:endParaRPr lang="it-IT" sz="2100" b="0" dirty="0">
              <a:solidFill>
                <a:srgbClr val="FF0000"/>
              </a:solidFill>
              <a:latin typeface="DejaVu Sans"/>
              <a:ea typeface="DejaVu Sans"/>
              <a:cs typeface="DejaVu Sans"/>
            </a:endParaRPr>
          </a:p>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into a number </a:t>
            </a:r>
            <a:r>
              <a:rPr sz="2100" b="0" dirty="0">
                <a:solidFill>
                  <a:srgbClr val="FF0000"/>
                </a:solidFill>
                <a:latin typeface="DejaVu Sans"/>
                <a:ea typeface="DejaVu Sans"/>
                <a:cs typeface="DejaVu Sans"/>
              </a:rPr>
              <a:t>between zero and one</a:t>
            </a:r>
            <a:r>
              <a:rPr sz="2100" b="0" dirty="0">
                <a:solidFill>
                  <a:srgbClr val="526276"/>
                </a:solidFill>
                <a:latin typeface="DejaVu Sans"/>
                <a:ea typeface="DejaVu Sans"/>
                <a:cs typeface="DejaVu Sans"/>
              </a:rPr>
              <a:t>.</a:t>
            </a:r>
          </a:p>
        </p:txBody>
      </p:sp>
      <p:sp>
        <p:nvSpPr>
          <p:cNvPr id="3" name="footer_course">
            <a:extLst>
              <a:ext uri="{FF2B5EF4-FFF2-40B4-BE49-F238E27FC236}">
                <a16:creationId xmlns:a16="http://schemas.microsoft.com/office/drawing/2014/main" id="{B8A6AB1D-87F2-4E15-B5DB-E78EA4AF738B}"/>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FC93B770-5BC0-461C-B2B8-7AAA0C9453E6}"/>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8</a:t>
            </a:r>
          </a:p>
        </p:txBody>
      </p:sp>
      <p:graphicFrame>
        <p:nvGraphicFramePr>
          <p:cNvPr id="14" name="step_0_chart_0"/>
          <p:cNvGraphicFramePr/>
          <p:nvPr/>
        </p:nvGraphicFramePr>
        <p:xfrm>
          <a:off x="619125" y="2047875"/>
          <a:ext cx="6667500" cy="3476625"/>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6" name="step_1_equation_1" descr="\sigma(s)\coloneqq\frac{1}{1+e^{-s}}">
                <a:extLst>
                  <a:ext uri="{FF2B5EF4-FFF2-40B4-BE49-F238E27FC236}">
                    <a16:creationId xmlns:a16="http://schemas.microsoft.com/office/drawing/2014/main" id="{9F4B1EAF-A13B-4681-9732-483B2B786DEC}"/>
                  </a:ext>
                </a:extLst>
              </p:cNvPr>
              <p:cNvSpPr>
                <a:spLocks noGrp="1"/>
              </p:cNvSpPr>
              <p:nvPr/>
            </p:nvSpPr>
            <p:spPr>
              <a:xfrm>
                <a:off x="7781925" y="2333625"/>
                <a:ext cx="3524250" cy="9239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600" smtClean="0">
                          <a:solidFill>
                            <a:srgbClr val="087F83"/>
                          </a:solidFill>
                          <a:latin typeface="Cambria Math"/>
                          <a:ea typeface="Cambria Math"/>
                          <a:cs typeface="Cambria Math"/>
                        </a:rPr>
                        <m:t>𝜎</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𝑠</m:t>
                          </m:r>
                        </m:e>
                      </m:d>
                      <m:r>
                        <a:rPr lang="en-GB" sz="2600">
                          <a:solidFill>
                            <a:srgbClr val="087F83"/>
                          </a:solidFill>
                          <a:latin typeface="Cambria Math"/>
                          <a:ea typeface="Cambria Math"/>
                          <a:cs typeface="Cambria Math"/>
                        </a:rPr>
                        <m:t>≔</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1</m:t>
                          </m:r>
                        </m:num>
                        <m:den>
                          <m:r>
                            <a:rPr lang="en-GB" sz="2600">
                              <a:solidFill>
                                <a:srgbClr val="087F83"/>
                              </a:solidFill>
                              <a:latin typeface="Cambria Math"/>
                              <a:ea typeface="Cambria Math"/>
                              <a:cs typeface="Cambria Math"/>
                            </a:rPr>
                            <m:t>1+</m:t>
                          </m:r>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𝑒</m:t>
                              </m:r>
                            </m:e>
                            <m:sup>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𝑠</m:t>
                              </m:r>
                            </m:sup>
                          </m:sSup>
                        </m:den>
                      </m:f>
                      <m:r>
                        <a:rPr lang="it-IT" sz="2600" b="0" i="1" smtClean="0">
                          <a:solidFill>
                            <a:srgbClr val="087F83"/>
                          </a:solidFill>
                          <a:latin typeface="Cambria Math" panose="02040503050406030204" pitchFamily="18" charset="0"/>
                          <a:ea typeface="Cambria Math"/>
                          <a:cs typeface="Cambria Math"/>
                        </a:rPr>
                        <m:t>=</m:t>
                      </m:r>
                      <m:f>
                        <m:fPr>
                          <m:ctrlPr>
                            <a:rPr lang="en-GB" sz="2600" i="1">
                              <a:solidFill>
                                <a:srgbClr val="087F83"/>
                              </a:solidFill>
                              <a:latin typeface="Cambria Math" panose="02040503050406030204" pitchFamily="18" charset="0"/>
                              <a:ea typeface="Cambria Math"/>
                              <a:cs typeface="Cambria Math"/>
                            </a:rPr>
                          </m:ctrlPr>
                        </m:fPr>
                        <m:num>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𝑒</m:t>
                              </m:r>
                            </m:e>
                            <m:sup>
                              <m:r>
                                <a:rPr lang="en-GB" sz="2600">
                                  <a:solidFill>
                                    <a:srgbClr val="087F83"/>
                                  </a:solidFill>
                                  <a:latin typeface="Cambria Math"/>
                                  <a:ea typeface="Cambria Math"/>
                                  <a:cs typeface="Cambria Math"/>
                                </a:rPr>
                                <m:t>𝑠</m:t>
                              </m:r>
                            </m:sup>
                          </m:sSup>
                        </m:num>
                        <m:den>
                          <m:r>
                            <a:rPr lang="en-GB" sz="2600">
                              <a:solidFill>
                                <a:srgbClr val="087F83"/>
                              </a:solidFill>
                              <a:latin typeface="Cambria Math"/>
                              <a:ea typeface="Cambria Math"/>
                              <a:cs typeface="Cambria Math"/>
                            </a:rPr>
                            <m:t>1+</m:t>
                          </m:r>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𝑒</m:t>
                              </m:r>
                            </m:e>
                            <m:sup>
                              <m:r>
                                <a:rPr lang="en-GB" sz="2600">
                                  <a:solidFill>
                                    <a:srgbClr val="087F83"/>
                                  </a:solidFill>
                                  <a:latin typeface="Cambria Math"/>
                                  <a:ea typeface="Cambria Math"/>
                                  <a:cs typeface="Cambria Math"/>
                                </a:rPr>
                                <m:t>𝑠</m:t>
                              </m:r>
                            </m:sup>
                          </m:sSup>
                        </m:den>
                      </m:f>
                    </m:oMath>
                  </m:oMathPara>
                </a14:m>
                <a:endParaRPr lang="en-GB" sz="2600" dirty="0"/>
              </a:p>
            </p:txBody>
          </p:sp>
        </mc:Choice>
        <mc:Fallback xmlns="">
          <p:sp>
            <p:nvSpPr>
              <p:cNvPr id="6" name="step_1_equation_1" descr="\sigma(s)\coloneqq\frac{1}{1+e^{-s}}">
                <a:extLst>
                  <a:ext uri="{FF2B5EF4-FFF2-40B4-BE49-F238E27FC236}">
                    <a16:creationId xmlns:a16="http://schemas.microsoft.com/office/drawing/2014/main" id="{9F4B1EAF-A13B-4681-9732-483B2B786DEC}"/>
                  </a:ext>
                </a:extLst>
              </p:cNvPr>
              <p:cNvSpPr>
                <a:spLocks noGrp="1" noRot="1" noChangeAspect="1" noMove="1" noResize="1" noEditPoints="1" noAdjustHandles="1" noChangeArrowheads="1" noChangeShapeType="1" noTextEdit="1"/>
              </p:cNvSpPr>
              <p:nvPr/>
            </p:nvSpPr>
            <p:spPr>
              <a:xfrm>
                <a:off x="7781925" y="2333625"/>
                <a:ext cx="3524250" cy="923925"/>
              </a:xfrm>
              <a:prstGeom prst="rect">
                <a:avLst/>
              </a:prstGeom>
              <a:blipFill>
                <a:blip r:embed="rId4"/>
                <a:stretch>
                  <a:fillRect l="-51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step_2_equation_2" descr="0&lt;\sigma(s)&lt;1">
                <a:extLst>
                  <a:ext uri="{FF2B5EF4-FFF2-40B4-BE49-F238E27FC236}">
                    <a16:creationId xmlns:a16="http://schemas.microsoft.com/office/drawing/2014/main" id="{4B6D0D99-DFCD-4297-A0F1-9D3C0712C551}"/>
                  </a:ext>
                </a:extLst>
              </p:cNvPr>
              <p:cNvSpPr>
                <a:spLocks noGrp="1"/>
              </p:cNvSpPr>
              <p:nvPr/>
            </p:nvSpPr>
            <p:spPr>
              <a:xfrm>
                <a:off x="7600950" y="3486150"/>
                <a:ext cx="3895725" cy="571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600" smtClean="0">
                          <a:solidFill>
                            <a:srgbClr val="087F83"/>
                          </a:solidFill>
                          <a:latin typeface="Cambria Math"/>
                          <a:ea typeface="Cambria Math"/>
                          <a:cs typeface="Cambria Math"/>
                        </a:rPr>
                        <m:t>0&lt;</m:t>
                      </m:r>
                      <m:r>
                        <a:rPr lang="en-GB" sz="2600" smtClean="0">
                          <a:solidFill>
                            <a:srgbClr val="087F83"/>
                          </a:solidFill>
                          <a:latin typeface="Cambria Math"/>
                          <a:ea typeface="Cambria Math"/>
                          <a:cs typeface="Cambria Math"/>
                        </a:rPr>
                        <m:t>𝜎</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𝑠</m:t>
                          </m:r>
                        </m:e>
                      </m:d>
                      <m:r>
                        <a:rPr lang="en-GB" sz="2600">
                          <a:solidFill>
                            <a:srgbClr val="087F83"/>
                          </a:solidFill>
                          <a:latin typeface="Cambria Math"/>
                          <a:ea typeface="Cambria Math"/>
                          <a:cs typeface="Cambria Math"/>
                        </a:rPr>
                        <m:t>&lt;1</m:t>
                      </m:r>
                    </m:oMath>
                  </m:oMathPara>
                </a14:m>
                <a:endParaRPr lang="en-GB" sz="2600" dirty="0"/>
              </a:p>
            </p:txBody>
          </p:sp>
        </mc:Choice>
        <mc:Fallback xmlns="">
          <p:sp>
            <p:nvSpPr>
              <p:cNvPr id="7" name="step_2_equation_2" descr="0&lt;\sigma(s)&lt;1">
                <a:extLst>
                  <a:ext uri="{FF2B5EF4-FFF2-40B4-BE49-F238E27FC236}">
                    <a16:creationId xmlns:a16="http://schemas.microsoft.com/office/drawing/2014/main" id="{4B6D0D99-DFCD-4297-A0F1-9D3C0712C551}"/>
                  </a:ext>
                </a:extLst>
              </p:cNvPr>
              <p:cNvSpPr>
                <a:spLocks noGrp="1" noRot="1" noChangeAspect="1" noMove="1" noResize="1" noEditPoints="1" noAdjustHandles="1" noChangeArrowheads="1" noChangeShapeType="1" noTextEdit="1"/>
              </p:cNvSpPr>
              <p:nvPr/>
            </p:nvSpPr>
            <p:spPr>
              <a:xfrm>
                <a:off x="7600950" y="3486150"/>
                <a:ext cx="3895725" cy="5715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step_2_equation_3" descr="\sigma(0)=\frac12">
                <a:extLst>
                  <a:ext uri="{FF2B5EF4-FFF2-40B4-BE49-F238E27FC236}">
                    <a16:creationId xmlns:a16="http://schemas.microsoft.com/office/drawing/2014/main" id="{965A025C-91E8-4BA3-B3F7-7DDE0DDAB407}"/>
                  </a:ext>
                </a:extLst>
              </p:cNvPr>
              <p:cNvSpPr>
                <a:spLocks noGrp="1"/>
              </p:cNvSpPr>
              <p:nvPr/>
            </p:nvSpPr>
            <p:spPr>
              <a:xfrm>
                <a:off x="7600950" y="4205287"/>
                <a:ext cx="3895725"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600" smtClean="0">
                          <a:solidFill>
                            <a:srgbClr val="087F83"/>
                          </a:solidFill>
                          <a:latin typeface="Cambria Math"/>
                          <a:ea typeface="Cambria Math"/>
                          <a:cs typeface="Cambria Math"/>
                        </a:rPr>
                        <m:t>𝜎</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0</m:t>
                          </m:r>
                        </m:e>
                      </m:d>
                      <m:r>
                        <a:rPr lang="en-GB" sz="2600">
                          <a:solidFill>
                            <a:srgbClr val="087F83"/>
                          </a:solidFill>
                          <a:latin typeface="Cambria Math"/>
                          <a:ea typeface="Cambria Math"/>
                          <a:cs typeface="Cambria Math"/>
                        </a:rPr>
                        <m:t>=</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1</m:t>
                          </m:r>
                        </m:num>
                        <m:den>
                          <m:r>
                            <a:rPr lang="en-GB" sz="2600">
                              <a:solidFill>
                                <a:srgbClr val="087F83"/>
                              </a:solidFill>
                              <a:latin typeface="Cambria Math"/>
                              <a:ea typeface="Cambria Math"/>
                              <a:cs typeface="Cambria Math"/>
                            </a:rPr>
                            <m:t>2</m:t>
                          </m:r>
                        </m:den>
                      </m:f>
                    </m:oMath>
                  </m:oMathPara>
                </a14:m>
                <a:endParaRPr lang="en-GB" sz="2600" dirty="0"/>
              </a:p>
            </p:txBody>
          </p:sp>
        </mc:Choice>
        <mc:Fallback xmlns="">
          <p:sp>
            <p:nvSpPr>
              <p:cNvPr id="8" name="step_2_equation_3" descr="\sigma(0)=\frac12">
                <a:extLst>
                  <a:ext uri="{FF2B5EF4-FFF2-40B4-BE49-F238E27FC236}">
                    <a16:creationId xmlns:a16="http://schemas.microsoft.com/office/drawing/2014/main" id="{965A025C-91E8-4BA3-B3F7-7DDE0DDAB407}"/>
                  </a:ext>
                </a:extLst>
              </p:cNvPr>
              <p:cNvSpPr>
                <a:spLocks noGrp="1" noRot="1" noChangeAspect="1" noMove="1" noResize="1" noEditPoints="1" noAdjustHandles="1" noChangeArrowheads="1" noChangeShapeType="1" noTextEdit="1"/>
              </p:cNvSpPr>
              <p:nvPr/>
            </p:nvSpPr>
            <p:spPr>
              <a:xfrm>
                <a:off x="7600950" y="4205287"/>
                <a:ext cx="3895725" cy="762000"/>
              </a:xfrm>
              <a:prstGeom prst="rect">
                <a:avLst/>
              </a:prstGeom>
              <a:blipFill>
                <a:blip r:embed="rId6"/>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638065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E4C20FD-2290-4BEC-B6DD-B2BAB33713B0}"/>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Probabilities, labels and the boundary</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D0FC44FF-8C08-42A1-A56C-9C15E1ECE33A}"/>
                  </a:ext>
                </a:extLst>
              </p:cNvPr>
              <p:cNvSpPr>
                <a:spLocks noGrp="1"/>
              </p:cNvSpPr>
              <p:nvPr/>
            </p:nvSpPr>
            <p:spPr>
              <a:xfrm>
                <a:off x="352425" y="2098631"/>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it-IT" sz="2100" b="0" dirty="0">
                    <a:solidFill>
                      <a:srgbClr val="526276"/>
                    </a:solidFill>
                    <a:latin typeface="DejaVu Sans"/>
                    <a:ea typeface="DejaVu Sans"/>
                    <a:cs typeface="DejaVu Sans"/>
                  </a:rPr>
                  <a:t>The </a:t>
                </a:r>
                <a:r>
                  <a:rPr lang="it-IT" sz="2100" b="0" dirty="0" err="1">
                    <a:solidFill>
                      <a:srgbClr val="526276"/>
                    </a:solidFill>
                    <a:latin typeface="DejaVu Sans"/>
                    <a:ea typeface="DejaVu Sans"/>
                    <a:cs typeface="DejaVu Sans"/>
                  </a:rPr>
                  <a:t>corresponding</a:t>
                </a:r>
                <a:r>
                  <a:rPr lang="it-IT" sz="2100" b="0" dirty="0">
                    <a:solidFill>
                      <a:srgbClr val="526276"/>
                    </a:solidFill>
                    <a:latin typeface="DejaVu Sans"/>
                    <a:ea typeface="DejaVu Sans"/>
                    <a:cs typeface="DejaVu Sans"/>
                  </a:rPr>
                  <a:t> </a:t>
                </a:r>
                <a:r>
                  <a:rPr lang="it-IT" sz="2100" b="0" dirty="0">
                    <a:solidFill>
                      <a:srgbClr val="FF0000"/>
                    </a:solidFill>
                    <a:latin typeface="DejaVu Sans"/>
                    <a:ea typeface="DejaVu Sans"/>
                    <a:cs typeface="DejaVu Sans"/>
                  </a:rPr>
                  <a:t>plug-in</a:t>
                </a:r>
                <a:r>
                  <a:rPr lang="it-IT" sz="2100" b="0" dirty="0">
                    <a:solidFill>
                      <a:srgbClr val="526276"/>
                    </a:solidFill>
                    <a:latin typeface="DejaVu Sans"/>
                    <a:ea typeface="DejaVu Sans"/>
                    <a:cs typeface="DejaVu Sans"/>
                  </a:rPr>
                  <a:t> </a:t>
                </a:r>
                <a:r>
                  <a:rPr lang="it-IT" sz="2100" b="0" dirty="0" err="1">
                    <a:solidFill>
                      <a:srgbClr val="FF0000"/>
                    </a:solidFill>
                    <a:latin typeface="DejaVu Sans"/>
                    <a:ea typeface="DejaVu Sans"/>
                    <a:cs typeface="DejaVu Sans"/>
                  </a:rPr>
                  <a:t>classifier</a:t>
                </a:r>
                <a:r>
                  <a:rPr lang="it-IT" sz="2100" b="0" dirty="0">
                    <a:solidFill>
                      <a:srgbClr val="FF0000"/>
                    </a:solidFill>
                    <a:latin typeface="DejaVu Sans"/>
                    <a:ea typeface="DejaVu Sans"/>
                    <a:cs typeface="DejaVu Sans"/>
                  </a:rPr>
                  <a:t> </a:t>
                </a:r>
                <a14:m>
                  <m:oMath xmlns:m="http://schemas.openxmlformats.org/officeDocument/2006/math">
                    <m:sSub>
                      <m:sSubPr>
                        <m:ctrlPr>
                          <a:rPr lang="en-GB" sz="2400">
                            <a:solidFill>
                              <a:srgbClr val="FF0000"/>
                            </a:solidFill>
                            <a:latin typeface="Cambria Math"/>
                            <a:ea typeface="Cambria Math"/>
                            <a:cs typeface="Cambria Math"/>
                          </a:rPr>
                        </m:ctrlPr>
                      </m:sSubPr>
                      <m:e>
                        <m:r>
                          <a:rPr lang="en-GB" sz="2400">
                            <a:solidFill>
                              <a:srgbClr val="FF0000"/>
                            </a:solidFill>
                            <a:latin typeface="Cambria Math"/>
                            <a:ea typeface="Cambria Math"/>
                            <a:cs typeface="Cambria Math"/>
                          </a:rPr>
                          <m:t>ℎ</m:t>
                        </m:r>
                      </m:e>
                      <m:sub>
                        <m:sSub>
                          <m:sSubPr>
                            <m:ctrlPr>
                              <a:rPr lang="en-GB" sz="2400">
                                <a:solidFill>
                                  <a:srgbClr val="FF0000"/>
                                </a:solidFill>
                                <a:latin typeface="Cambria Math"/>
                                <a:ea typeface="Cambria Math"/>
                                <a:cs typeface="Cambria Math"/>
                              </a:rPr>
                            </m:ctrlPr>
                          </m:sSubPr>
                          <m:e>
                            <m:r>
                              <a:rPr lang="en-GB" sz="2400">
                                <a:solidFill>
                                  <a:srgbClr val="FF0000"/>
                                </a:solidFill>
                                <a:latin typeface="Cambria Math"/>
                                <a:ea typeface="Cambria Math"/>
                                <a:cs typeface="Cambria Math"/>
                              </a:rPr>
                              <m:t>𝑝</m:t>
                            </m:r>
                          </m:e>
                          <m:sub>
                            <m:r>
                              <a:rPr lang="en-GB" sz="2400">
                                <a:solidFill>
                                  <a:srgbClr val="FF0000"/>
                                </a:solidFill>
                                <a:latin typeface="Cambria Math"/>
                                <a:ea typeface="Cambria Math"/>
                                <a:cs typeface="Cambria Math"/>
                              </a:rPr>
                              <m:t>𝛉</m:t>
                            </m:r>
                          </m:sub>
                        </m:sSub>
                      </m:sub>
                    </m:sSub>
                  </m:oMath>
                </a14:m>
                <a:r>
                  <a:rPr lang="it-IT" sz="2100" b="0" dirty="0">
                    <a:solidFill>
                      <a:srgbClr val="526276"/>
                    </a:solidFill>
                    <a:latin typeface="DejaVu Sans"/>
                    <a:ea typeface="DejaVu Sans"/>
                    <a:cs typeface="DejaVu Sans"/>
                  </a:rPr>
                  <a:t> </a:t>
                </a:r>
                <a:r>
                  <a:rPr lang="it-IT" sz="2100" b="0" dirty="0" err="1">
                    <a:solidFill>
                      <a:srgbClr val="526276"/>
                    </a:solidFill>
                    <a:latin typeface="DejaVu Sans"/>
                    <a:ea typeface="DejaVu Sans"/>
                    <a:cs typeface="DejaVu Sans"/>
                  </a:rPr>
                  <a:t>satisfies</a:t>
                </a:r>
                <a:endParaRPr sz="2100" b="0" dirty="0">
                  <a:solidFill>
                    <a:srgbClr val="526276"/>
                  </a:solidFill>
                  <a:latin typeface="DejaVu Sans"/>
                  <a:ea typeface="DejaVu Sans"/>
                  <a:cs typeface="DejaVu Sans"/>
                </a:endParaRPr>
              </a:p>
            </p:txBody>
          </p:sp>
        </mc:Choice>
        <mc:Fallback xmlns="">
          <p:sp>
            <p:nvSpPr>
              <p:cNvPr id="2" name="lead">
                <a:extLst>
                  <a:ext uri="{FF2B5EF4-FFF2-40B4-BE49-F238E27FC236}">
                    <a16:creationId xmlns:a16="http://schemas.microsoft.com/office/drawing/2014/main" id="{D0FC44FF-8C08-42A1-A56C-9C15E1ECE33A}"/>
                  </a:ext>
                </a:extLst>
              </p:cNvPr>
              <p:cNvSpPr>
                <a:spLocks noGrp="1" noRot="1" noChangeAspect="1" noMove="1" noResize="1" noEditPoints="1" noAdjustHandles="1" noChangeArrowheads="1" noChangeShapeType="1" noTextEdit="1"/>
              </p:cNvSpPr>
              <p:nvPr/>
            </p:nvSpPr>
            <p:spPr>
              <a:xfrm>
                <a:off x="352425" y="2098631"/>
                <a:ext cx="10744200" cy="6667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4E087683-AC7D-4EB0-9C07-7C274DBEB38C}"/>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4037B32D-1C6B-4A74-8F40-3B3B31FC4AC4}"/>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9</a:t>
            </a:r>
          </a:p>
        </p:txBody>
      </p:sp>
      <mc:AlternateContent xmlns:mc="http://schemas.openxmlformats.org/markup-compatibility/2006" xmlns:a14="http://schemas.microsoft.com/office/drawing/2010/main">
        <mc:Choice Requires="a14">
          <p:sp>
            <p:nvSpPr>
              <p:cNvPr id="5" name="step_0_equation_0" descr="p_{\boldsymbol\theta}(\mathbf x)=\sigma(b+\mathbf x\mathbf w)">
                <a:extLst>
                  <a:ext uri="{FF2B5EF4-FFF2-40B4-BE49-F238E27FC236}">
                    <a16:creationId xmlns:a16="http://schemas.microsoft.com/office/drawing/2014/main" id="{D873C43B-143D-4D28-A04C-39F7C45E6B8E}"/>
                  </a:ext>
                </a:extLst>
              </p:cNvPr>
              <p:cNvSpPr>
                <a:spLocks noGrp="1"/>
              </p:cNvSpPr>
              <p:nvPr/>
            </p:nvSpPr>
            <p:spPr>
              <a:xfrm>
                <a:off x="723900" y="1333333"/>
                <a:ext cx="10744200" cy="809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𝑝</m:t>
                          </m:r>
                        </m:e>
                        <m:sub>
                          <m:r>
                            <a:rPr lang="en-GB" sz="2500">
                              <a:solidFill>
                                <a:srgbClr val="087F83"/>
                              </a:solidFill>
                              <a:latin typeface="Cambria Math"/>
                              <a:ea typeface="Cambria Math"/>
                              <a:cs typeface="Cambria Math"/>
                            </a:rPr>
                            <m:t>𝛉</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4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𝜎</m:t>
                      </m:r>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𝑓</m:t>
                              </m:r>
                            </m:e>
                            <m:sub>
                              <m:r>
                                <a:rPr lang="en-GB" sz="2500">
                                  <a:solidFill>
                                    <a:srgbClr val="087F83"/>
                                  </a:solidFill>
                                  <a:latin typeface="Cambria Math"/>
                                  <a:ea typeface="Cambria Math"/>
                                  <a:cs typeface="Cambria Math"/>
                                </a:rPr>
                                <m:t>𝛉</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e>
                      </m:d>
                      <m:r>
                        <a:rPr lang="it-IT" sz="2500" b="0" i="0" smtClean="0">
                          <a:solidFill>
                            <a:srgbClr val="087F83"/>
                          </a:solidFill>
                          <a:latin typeface="Cambria Math" panose="02040503050406030204" pitchFamily="18" charset="0"/>
                          <a:ea typeface="Cambria Math"/>
                          <a:cs typeface="Cambria Math"/>
                        </a:rPr>
                        <m:t>=</m:t>
                      </m:r>
                      <m:r>
                        <a:rPr lang="en-GB" sz="2500">
                          <a:solidFill>
                            <a:srgbClr val="087F83"/>
                          </a:solidFill>
                          <a:latin typeface="Cambria Math"/>
                          <a:ea typeface="Cambria Math"/>
                          <a:cs typeface="Cambria Math"/>
                        </a:rPr>
                        <m:t>𝜎</m:t>
                      </m:r>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𝑏</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𝐱𝐰</m:t>
                          </m:r>
                        </m:e>
                      </m:d>
                    </m:oMath>
                  </m:oMathPara>
                </a14:m>
                <a:endParaRPr lang="en-GB" sz="2500" dirty="0"/>
              </a:p>
            </p:txBody>
          </p:sp>
        </mc:Choice>
        <mc:Fallback xmlns="">
          <p:sp>
            <p:nvSpPr>
              <p:cNvPr id="5" name="step_0_equation_0" descr="p_{\boldsymbol\theta}(\mathbf x)=\sigma(b+\mathbf x\mathbf w)">
                <a:extLst>
                  <a:ext uri="{FF2B5EF4-FFF2-40B4-BE49-F238E27FC236}">
                    <a16:creationId xmlns:a16="http://schemas.microsoft.com/office/drawing/2014/main" id="{D873C43B-143D-4D28-A04C-39F7C45E6B8E}"/>
                  </a:ext>
                </a:extLst>
              </p:cNvPr>
              <p:cNvSpPr>
                <a:spLocks noGrp="1" noRot="1" noChangeAspect="1" noMove="1" noResize="1" noEditPoints="1" noAdjustHandles="1" noChangeArrowheads="1" noChangeShapeType="1" noTextEdit="1"/>
              </p:cNvSpPr>
              <p:nvPr/>
            </p:nvSpPr>
            <p:spPr>
              <a:xfrm>
                <a:off x="723900" y="1333333"/>
                <a:ext cx="10744200" cy="80962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step_1_equation_1" descr="h_{p_{\boldsymbol\theta}}(\mathbf x)=1\quad\Longleftrightarrow\quad p_{\boldsymbol\theta}(\mathbf x)&gt;\frac12\quad\Longleftrightarrow\quad b+\mathbf x\mathbf w&gt;0">
                <a:extLst>
                  <a:ext uri="{FF2B5EF4-FFF2-40B4-BE49-F238E27FC236}">
                    <a16:creationId xmlns:a16="http://schemas.microsoft.com/office/drawing/2014/main" id="{B678DBC0-B18C-4CB4-A4C0-F0E771051D5A}"/>
                  </a:ext>
                </a:extLst>
              </p:cNvPr>
              <p:cNvSpPr>
                <a:spLocks noGrp="1"/>
              </p:cNvSpPr>
              <p:nvPr/>
            </p:nvSpPr>
            <p:spPr>
              <a:xfrm>
                <a:off x="723900" y="2721054"/>
                <a:ext cx="107442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ℎ</m:t>
                          </m:r>
                        </m:e>
                        <m:sub>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𝑝</m:t>
                              </m:r>
                            </m:e>
                            <m:sub>
                              <m:r>
                                <a:rPr lang="en-GB" sz="2500">
                                  <a:solidFill>
                                    <a:srgbClr val="087F83"/>
                                  </a:solidFill>
                                  <a:latin typeface="Cambria Math"/>
                                  <a:ea typeface="Cambria Math"/>
                                  <a:cs typeface="Cambria Math"/>
                                </a:rPr>
                                <m:t>𝛉</m:t>
                              </m:r>
                            </m:sub>
                          </m:sSub>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500">
                          <a:solidFill>
                            <a:srgbClr val="087F83"/>
                          </a:solidFill>
                          <a:latin typeface="Cambria Math"/>
                          <a:ea typeface="Cambria Math"/>
                          <a:cs typeface="Cambria Math"/>
                        </a:rPr>
                        <m:t>=1 ⟺ 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𝑝</m:t>
                          </m:r>
                        </m:e>
                        <m:sub>
                          <m:r>
                            <a:rPr lang="en-GB" sz="2500">
                              <a:solidFill>
                                <a:srgbClr val="087F83"/>
                              </a:solidFill>
                              <a:latin typeface="Cambria Math"/>
                              <a:ea typeface="Cambria Math"/>
                              <a:cs typeface="Cambria Math"/>
                            </a:rPr>
                            <m:t>𝛉</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500">
                          <a:solidFill>
                            <a:srgbClr val="087F83"/>
                          </a:solidFill>
                          <a:latin typeface="Cambria Math"/>
                          <a:ea typeface="Cambria Math"/>
                          <a:cs typeface="Cambria Math"/>
                        </a:rPr>
                        <m:t>&gt;</m:t>
                      </m:r>
                      <m:f>
                        <m:fPr>
                          <m:ctrlPr>
                            <a:rPr lang="en-GB" sz="2500">
                              <a:solidFill>
                                <a:srgbClr val="087F83"/>
                              </a:solidFill>
                              <a:latin typeface="Cambria Math"/>
                              <a:ea typeface="Cambria Math"/>
                              <a:cs typeface="Cambria Math"/>
                            </a:rPr>
                          </m:ctrlPr>
                        </m:fPr>
                        <m:num>
                          <m:r>
                            <a:rPr lang="en-GB" sz="2500">
                              <a:solidFill>
                                <a:srgbClr val="087F83"/>
                              </a:solidFill>
                              <a:latin typeface="Cambria Math"/>
                              <a:ea typeface="Cambria Math"/>
                              <a:cs typeface="Cambria Math"/>
                            </a:rPr>
                            <m:t>1</m:t>
                          </m:r>
                        </m:num>
                        <m:den>
                          <m:r>
                            <a:rPr lang="en-GB" sz="2500">
                              <a:solidFill>
                                <a:srgbClr val="087F83"/>
                              </a:solidFill>
                              <a:latin typeface="Cambria Math"/>
                              <a:ea typeface="Cambria Math"/>
                              <a:cs typeface="Cambria Math"/>
                            </a:rPr>
                            <m:t>2</m:t>
                          </m:r>
                        </m:den>
                      </m:f>
                      <m:r>
                        <a:rPr lang="en-GB" sz="2500">
                          <a:solidFill>
                            <a:srgbClr val="087F83"/>
                          </a:solidFill>
                          <a:latin typeface="Cambria Math"/>
                          <a:ea typeface="Cambria Math"/>
                          <a:cs typeface="Cambria Math"/>
                        </a:rPr>
                        <m:t> ⟺</m:t>
                      </m:r>
                      <m:r>
                        <a:rPr lang="it-IT" sz="2500" b="0" i="1" smtClean="0">
                          <a:solidFill>
                            <a:srgbClr val="087F83"/>
                          </a:solidFill>
                          <a:latin typeface="Cambria Math" panose="02040503050406030204" pitchFamily="18" charset="0"/>
                          <a:ea typeface="Cambria Math"/>
                          <a:cs typeface="Cambria Math"/>
                        </a:rPr>
                        <m:t>    </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𝑓</m:t>
                          </m:r>
                        </m:e>
                        <m:sub>
                          <m:r>
                            <a:rPr lang="en-GB" sz="2800">
                              <a:solidFill>
                                <a:srgbClr val="087F83"/>
                              </a:solidFill>
                              <a:latin typeface="Cambria Math"/>
                              <a:ea typeface="Cambria Math"/>
                              <a:cs typeface="Cambria Math"/>
                            </a:rPr>
                            <m:t>𝛉</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it-IT" sz="2800" b="0" i="1" smtClean="0">
                          <a:solidFill>
                            <a:srgbClr val="087F83"/>
                          </a:solidFill>
                          <a:latin typeface="Cambria Math" panose="02040503050406030204" pitchFamily="18" charset="0"/>
                          <a:ea typeface="Cambria Math"/>
                          <a:cs typeface="Cambria Math"/>
                        </a:rPr>
                        <m:t>&gt;0   </m:t>
                      </m:r>
                      <m:r>
                        <a:rPr lang="en-GB" sz="2500">
                          <a:solidFill>
                            <a:srgbClr val="087F83"/>
                          </a:solidFill>
                          <a:latin typeface="Cambria Math"/>
                          <a:ea typeface="Cambria Math"/>
                          <a:cs typeface="Cambria Math"/>
                        </a:rPr>
                        <m:t>⟺ </m:t>
                      </m:r>
                      <m:r>
                        <a:rPr lang="en-GB" sz="2500">
                          <a:solidFill>
                            <a:srgbClr val="087F83"/>
                          </a:solidFill>
                          <a:latin typeface="Cambria Math"/>
                          <a:ea typeface="Cambria Math"/>
                          <a:cs typeface="Cambria Math"/>
                        </a:rPr>
                        <m:t>𝑏</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𝐱𝐰</m:t>
                      </m:r>
                      <m:r>
                        <a:rPr lang="en-GB" sz="2500">
                          <a:solidFill>
                            <a:srgbClr val="087F83"/>
                          </a:solidFill>
                          <a:latin typeface="Cambria Math"/>
                          <a:ea typeface="Cambria Math"/>
                          <a:cs typeface="Cambria Math"/>
                        </a:rPr>
                        <m:t>&gt;0</m:t>
                      </m:r>
                    </m:oMath>
                  </m:oMathPara>
                </a14:m>
                <a:endParaRPr lang="en-GB" sz="2500" dirty="0"/>
              </a:p>
            </p:txBody>
          </p:sp>
        </mc:Choice>
        <mc:Fallback xmlns="">
          <p:sp>
            <p:nvSpPr>
              <p:cNvPr id="6" name="step_1_equation_1" descr="h_{p_{\boldsymbol\theta}}(\mathbf x)=1\quad\Longleftrightarrow\quad p_{\boldsymbol\theta}(\mathbf x)&gt;\frac12\quad\Longleftrightarrow\quad b+\mathbf x\mathbf w&gt;0">
                <a:extLst>
                  <a:ext uri="{FF2B5EF4-FFF2-40B4-BE49-F238E27FC236}">
                    <a16:creationId xmlns:a16="http://schemas.microsoft.com/office/drawing/2014/main" id="{B678DBC0-B18C-4CB4-A4C0-F0E771051D5A}"/>
                  </a:ext>
                </a:extLst>
              </p:cNvPr>
              <p:cNvSpPr>
                <a:spLocks noGrp="1" noRot="1" noChangeAspect="1" noMove="1" noResize="1" noEditPoints="1" noAdjustHandles="1" noChangeArrowheads="1" noChangeShapeType="1" noTextEdit="1"/>
              </p:cNvSpPr>
              <p:nvPr/>
            </p:nvSpPr>
            <p:spPr>
              <a:xfrm>
                <a:off x="723900" y="2721054"/>
                <a:ext cx="10744200" cy="9525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step_2_equation_2" descr="b+x_1w_1+x_2w_2=0">
                <a:extLst>
                  <a:ext uri="{FF2B5EF4-FFF2-40B4-BE49-F238E27FC236}">
                    <a16:creationId xmlns:a16="http://schemas.microsoft.com/office/drawing/2014/main" id="{F55D7220-D79C-408D-A26A-3568130C96DA}"/>
                  </a:ext>
                </a:extLst>
              </p:cNvPr>
              <p:cNvSpPr>
                <a:spLocks noGrp="1"/>
              </p:cNvSpPr>
              <p:nvPr/>
            </p:nvSpPr>
            <p:spPr>
              <a:xfrm>
                <a:off x="723900" y="3673554"/>
                <a:ext cx="10744200" cy="69704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it-IT" sz="2500" b="0" i="0" smtClean="0">
                          <a:solidFill>
                            <a:srgbClr val="087F83"/>
                          </a:solidFill>
                          <a:latin typeface="Cambria Math" panose="02040503050406030204" pitchFamily="18" charset="0"/>
                          <a:ea typeface="Cambria Math"/>
                          <a:cs typeface="Cambria Math"/>
                        </a:rPr>
                        <m:t>Decision</m:t>
                      </m:r>
                      <m:r>
                        <a:rPr lang="it-IT" sz="2500" b="0" i="0" smtClean="0">
                          <a:solidFill>
                            <a:srgbClr val="087F83"/>
                          </a:solidFill>
                          <a:latin typeface="Cambria Math" panose="02040503050406030204" pitchFamily="18" charset="0"/>
                          <a:ea typeface="Cambria Math"/>
                          <a:cs typeface="Cambria Math"/>
                        </a:rPr>
                        <m:t> </m:t>
                      </m:r>
                      <m:r>
                        <m:rPr>
                          <m:sty m:val="p"/>
                        </m:rPr>
                        <a:rPr lang="it-IT" sz="2500" b="0" i="0" smtClean="0">
                          <a:solidFill>
                            <a:srgbClr val="087F83"/>
                          </a:solidFill>
                          <a:latin typeface="Cambria Math" panose="02040503050406030204" pitchFamily="18" charset="0"/>
                          <a:ea typeface="Cambria Math"/>
                          <a:cs typeface="Cambria Math"/>
                        </a:rPr>
                        <m:t>boundary</m:t>
                      </m:r>
                      <m:r>
                        <a:rPr lang="it-IT" sz="2500" b="0" i="0" smtClean="0">
                          <a:solidFill>
                            <a:srgbClr val="087F83"/>
                          </a:solidFill>
                          <a:latin typeface="Cambria Math" panose="02040503050406030204" pitchFamily="18" charset="0"/>
                          <a:ea typeface="Cambria Math"/>
                          <a:cs typeface="Cambria Math"/>
                        </a:rPr>
                        <m:t>:</m:t>
                      </m:r>
                      <m:r>
                        <m:rPr>
                          <m:sty m:val="p"/>
                        </m:rPr>
                        <a:rPr lang="it-IT" sz="2500" b="0" i="0" smtClean="0">
                          <a:solidFill>
                            <a:srgbClr val="087F83"/>
                          </a:solidFill>
                          <a:latin typeface="Cambria Math" panose="02040503050406030204" pitchFamily="18" charset="0"/>
                          <a:ea typeface="Cambria Math"/>
                          <a:cs typeface="Cambria Math"/>
                        </a:rPr>
                        <m:t>the</m:t>
                      </m:r>
                      <m:r>
                        <a:rPr lang="it-IT" sz="2500" b="0" i="0" smtClean="0">
                          <a:solidFill>
                            <a:srgbClr val="087F83"/>
                          </a:solidFill>
                          <a:latin typeface="Cambria Math" panose="02040503050406030204" pitchFamily="18" charset="0"/>
                          <a:ea typeface="Cambria Math"/>
                          <a:cs typeface="Cambria Math"/>
                        </a:rPr>
                        <m:t> </m:t>
                      </m:r>
                      <m:r>
                        <m:rPr>
                          <m:sty m:val="p"/>
                        </m:rPr>
                        <a:rPr lang="it-IT" sz="2500" b="0" i="0" smtClean="0">
                          <a:solidFill>
                            <a:srgbClr val="087F83"/>
                          </a:solidFill>
                          <a:latin typeface="Cambria Math" panose="02040503050406030204" pitchFamily="18" charset="0"/>
                          <a:ea typeface="Cambria Math"/>
                          <a:cs typeface="Cambria Math"/>
                        </a:rPr>
                        <m:t>set</m:t>
                      </m:r>
                      <m:r>
                        <a:rPr lang="it-IT" sz="2500" b="0" i="0" smtClean="0">
                          <a:solidFill>
                            <a:srgbClr val="087F83"/>
                          </a:solidFill>
                          <a:latin typeface="Cambria Math" panose="02040503050406030204" pitchFamily="18" charset="0"/>
                          <a:ea typeface="Cambria Math"/>
                          <a:cs typeface="Cambria Math"/>
                        </a:rPr>
                        <m:t> </m:t>
                      </m:r>
                      <m:r>
                        <m:rPr>
                          <m:sty m:val="p"/>
                        </m:rPr>
                        <a:rPr lang="it-IT" sz="2500" b="0" i="0" smtClean="0">
                          <a:solidFill>
                            <a:srgbClr val="087F83"/>
                          </a:solidFill>
                          <a:latin typeface="Cambria Math" panose="02040503050406030204" pitchFamily="18" charset="0"/>
                          <a:ea typeface="Cambria Math"/>
                          <a:cs typeface="Cambria Math"/>
                        </a:rPr>
                        <m:t>of</m:t>
                      </m:r>
                      <m:r>
                        <a:rPr lang="it-IT" sz="2500" b="0" i="0" smtClean="0">
                          <a:solidFill>
                            <a:srgbClr val="087F83"/>
                          </a:solidFill>
                          <a:latin typeface="Cambria Math" panose="02040503050406030204" pitchFamily="18" charset="0"/>
                          <a:ea typeface="Cambria Math"/>
                          <a:cs typeface="Cambria Math"/>
                        </a:rPr>
                        <m:t> </m:t>
                      </m:r>
                      <m:r>
                        <a:rPr lang="en-GB" sz="2500">
                          <a:solidFill>
                            <a:srgbClr val="087F83"/>
                          </a:solidFill>
                          <a:latin typeface="Cambria Math"/>
                          <a:ea typeface="Cambria Math"/>
                          <a:cs typeface="Cambria Math"/>
                        </a:rPr>
                        <m:t>𝐱</m:t>
                      </m:r>
                      <m:r>
                        <a:rPr lang="it-IT" sz="2500" b="0" i="1" smtClean="0">
                          <a:solidFill>
                            <a:srgbClr val="087F83"/>
                          </a:solidFill>
                          <a:latin typeface="Cambria Math" panose="02040503050406030204" pitchFamily="18" charset="0"/>
                          <a:ea typeface="Cambria Math"/>
                          <a:cs typeface="Cambria Math"/>
                        </a:rPr>
                        <m:t>∈</m:t>
                      </m:r>
                      <m:sSup>
                        <m:sSupPr>
                          <m:ctrlPr>
                            <a:rPr lang="it-IT" sz="2500" b="0" i="1" smtClean="0">
                              <a:solidFill>
                                <a:srgbClr val="087F83"/>
                              </a:solidFill>
                              <a:latin typeface="Cambria Math" panose="02040503050406030204" pitchFamily="18" charset="0"/>
                              <a:ea typeface="Cambria Math"/>
                              <a:cs typeface="Cambria Math"/>
                            </a:rPr>
                          </m:ctrlPr>
                        </m:sSupPr>
                        <m:e>
                          <m:r>
                            <a:rPr lang="it-IT" sz="2500" b="0" i="1" smtClean="0">
                              <a:solidFill>
                                <a:srgbClr val="087F83"/>
                              </a:solidFill>
                              <a:latin typeface="Cambria Math" panose="02040503050406030204" pitchFamily="18" charset="0"/>
                              <a:ea typeface="Cambria Math"/>
                              <a:cs typeface="Cambria Math"/>
                            </a:rPr>
                            <m:t>ℝ</m:t>
                          </m:r>
                        </m:e>
                        <m:sup>
                          <m:r>
                            <a:rPr lang="it-IT" sz="2500" b="0" i="1" smtClean="0">
                              <a:solidFill>
                                <a:srgbClr val="087F83"/>
                              </a:solidFill>
                              <a:latin typeface="Cambria Math" panose="02040503050406030204" pitchFamily="18" charset="0"/>
                              <a:ea typeface="Cambria Math"/>
                              <a:cs typeface="Cambria Math"/>
                            </a:rPr>
                            <m:t>𝑑</m:t>
                          </m:r>
                        </m:sup>
                      </m:sSup>
                      <m:r>
                        <a:rPr lang="it-IT" sz="2500" b="0" i="0" smtClean="0">
                          <a:solidFill>
                            <a:srgbClr val="087F83"/>
                          </a:solidFill>
                          <a:latin typeface="Cambria Math" panose="02040503050406030204" pitchFamily="18" charset="0"/>
                          <a:ea typeface="Cambria Math"/>
                          <a:cs typeface="Cambria Math"/>
                        </a:rPr>
                        <m:t> </m:t>
                      </m:r>
                      <m:r>
                        <m:rPr>
                          <m:sty m:val="p"/>
                        </m:rPr>
                        <a:rPr lang="it-IT" sz="2500" b="0" i="0" smtClean="0">
                          <a:solidFill>
                            <a:srgbClr val="087F83"/>
                          </a:solidFill>
                          <a:latin typeface="Cambria Math" panose="02040503050406030204" pitchFamily="18" charset="0"/>
                          <a:ea typeface="Cambria Math"/>
                          <a:cs typeface="Cambria Math"/>
                        </a:rPr>
                        <m:t>such</m:t>
                      </m:r>
                      <m:r>
                        <a:rPr lang="it-IT" sz="2500" b="0" i="0" smtClean="0">
                          <a:solidFill>
                            <a:srgbClr val="087F83"/>
                          </a:solidFill>
                          <a:latin typeface="Cambria Math" panose="02040503050406030204" pitchFamily="18" charset="0"/>
                          <a:ea typeface="Cambria Math"/>
                          <a:cs typeface="Cambria Math"/>
                        </a:rPr>
                        <m:t> </m:t>
                      </m:r>
                      <m:r>
                        <m:rPr>
                          <m:sty m:val="p"/>
                        </m:rPr>
                        <a:rPr lang="it-IT" sz="2500" b="0" i="0" smtClean="0">
                          <a:solidFill>
                            <a:srgbClr val="087F83"/>
                          </a:solidFill>
                          <a:latin typeface="Cambria Math" panose="02040503050406030204" pitchFamily="18" charset="0"/>
                          <a:ea typeface="Cambria Math"/>
                          <a:cs typeface="Cambria Math"/>
                        </a:rPr>
                        <m:t>that</m:t>
                      </m:r>
                      <m:r>
                        <a:rPr lang="it-IT" sz="2500" b="0" i="0" smtClean="0">
                          <a:solidFill>
                            <a:srgbClr val="087F83"/>
                          </a:solidFill>
                          <a:latin typeface="Cambria Math" panose="02040503050406030204" pitchFamily="18" charset="0"/>
                          <a:ea typeface="Cambria Math"/>
                          <a:cs typeface="Cambria Math"/>
                        </a:rPr>
                        <m:t> </m:t>
                      </m:r>
                      <m:r>
                        <a:rPr lang="en-GB" sz="2500">
                          <a:solidFill>
                            <a:srgbClr val="087F83"/>
                          </a:solidFill>
                          <a:latin typeface="Cambria Math"/>
                          <a:ea typeface="Cambria Math"/>
                          <a:cs typeface="Cambria Math"/>
                        </a:rPr>
                        <m:t>𝑏</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𝐱𝐰</m:t>
                      </m:r>
                      <m:r>
                        <a:rPr lang="en-GB" sz="2500">
                          <a:solidFill>
                            <a:srgbClr val="087F83"/>
                          </a:solidFill>
                          <a:latin typeface="Cambria Math"/>
                          <a:ea typeface="Cambria Math"/>
                          <a:cs typeface="Cambria Math"/>
                        </a:rPr>
                        <m:t>=0</m:t>
                      </m:r>
                    </m:oMath>
                  </m:oMathPara>
                </a14:m>
                <a:endParaRPr lang="en-GB" sz="2500" dirty="0"/>
              </a:p>
            </p:txBody>
          </p:sp>
        </mc:Choice>
        <mc:Fallback xmlns="">
          <p:sp>
            <p:nvSpPr>
              <p:cNvPr id="7" name="step_2_equation_2" descr="b+x_1w_1+x_2w_2=0">
                <a:extLst>
                  <a:ext uri="{FF2B5EF4-FFF2-40B4-BE49-F238E27FC236}">
                    <a16:creationId xmlns:a16="http://schemas.microsoft.com/office/drawing/2014/main" id="{F55D7220-D79C-408D-A26A-3568130C96DA}"/>
                  </a:ext>
                </a:extLst>
              </p:cNvPr>
              <p:cNvSpPr>
                <a:spLocks noGrp="1" noRot="1" noChangeAspect="1" noMove="1" noResize="1" noEditPoints="1" noAdjustHandles="1" noChangeArrowheads="1" noChangeShapeType="1" noTextEdit="1"/>
              </p:cNvSpPr>
              <p:nvPr/>
            </p:nvSpPr>
            <p:spPr>
              <a:xfrm>
                <a:off x="723900" y="3673554"/>
                <a:ext cx="10744200" cy="69704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step_2_text_3">
                <a:extLst>
                  <a:ext uri="{FF2B5EF4-FFF2-40B4-BE49-F238E27FC236}">
                    <a16:creationId xmlns:a16="http://schemas.microsoft.com/office/drawing/2014/main" id="{D66F8975-9F4B-452C-9572-533C48966A7D}"/>
                  </a:ext>
                </a:extLst>
              </p:cNvPr>
              <p:cNvSpPr>
                <a:spLocks noGrp="1"/>
              </p:cNvSpPr>
              <p:nvPr/>
            </p:nvSpPr>
            <p:spPr>
              <a:xfrm>
                <a:off x="723900" y="4327946"/>
                <a:ext cx="10744200" cy="2088642"/>
              </a:xfrm>
              <a:prstGeom prst="rect">
                <a:avLst/>
              </a:prstGeom>
              <a:noFill/>
              <a:ln w="0">
                <a:noFill/>
              </a:ln>
            </p:spPr>
            <p:txBody>
              <a:bodyPr wrap="square" lIns="0" tIns="0" rIns="0" bIns="0" anchor="ctr">
                <a:noAutofit/>
              </a:bodyPr>
              <a:lstStyle/>
              <a:p>
                <a:pPr algn="ctr">
                  <a:lnSpc>
                    <a:spcPct val="112000"/>
                  </a:lnSpc>
                  <a:buNone/>
                  <a:defRPr sz="1875" b="0">
                    <a:solidFill>
                      <a:srgbClr val="526276"/>
                    </a:solidFill>
                    <a:latin typeface="DejaVu Sans"/>
                    <a:ea typeface="DejaVu Sans"/>
                    <a:cs typeface="DejaVu Sans"/>
                  </a:defRPr>
                </a:pPr>
                <a:r>
                  <a:rPr lang="en-GB" b="0" dirty="0">
                    <a:solidFill>
                      <a:schemeClr val="tx1"/>
                    </a:solidFill>
                    <a:latin typeface="DejaVu Sans"/>
                    <a:ea typeface="DejaVu Sans"/>
                    <a:cs typeface="DejaVu Sans"/>
                  </a:rPr>
                  <a:t>The </a:t>
                </a:r>
                <a:r>
                  <a:rPr lang="en-GB" b="0" dirty="0">
                    <a:solidFill>
                      <a:srgbClr val="FF0000"/>
                    </a:solidFill>
                    <a:latin typeface="DejaVu Sans"/>
                    <a:ea typeface="DejaVu Sans"/>
                    <a:cs typeface="DejaVu Sans"/>
                  </a:rPr>
                  <a:t>decision boundary </a:t>
                </a:r>
                <a:r>
                  <a:rPr lang="en-GB" b="0" dirty="0">
                    <a:solidFill>
                      <a:schemeClr val="tx1"/>
                    </a:solidFill>
                    <a:latin typeface="DejaVu Sans"/>
                    <a:ea typeface="DejaVu Sans"/>
                    <a:cs typeface="DejaVu Sans"/>
                  </a:rPr>
                  <a:t>is a hyperplane with </a:t>
                </a:r>
                <a14:m>
                  <m:oMath xmlns:m="http://schemas.openxmlformats.org/officeDocument/2006/math">
                    <m:r>
                      <a:rPr lang="en-GB" b="0" i="1" dirty="0" smtClean="0">
                        <a:solidFill>
                          <a:schemeClr val="tx1"/>
                        </a:solidFill>
                        <a:latin typeface="Cambria Math" panose="02040503050406030204" pitchFamily="18" charset="0"/>
                        <a:ea typeface="DejaVu Sans"/>
                        <a:cs typeface="DejaVu Sans"/>
                      </a:rPr>
                      <m:t>𝑑</m:t>
                    </m:r>
                  </m:oMath>
                </a14:m>
                <a:r>
                  <a:rPr lang="en-GB" b="0" dirty="0">
                    <a:solidFill>
                      <a:schemeClr val="tx1"/>
                    </a:solidFill>
                    <a:latin typeface="DejaVu Sans"/>
                    <a:ea typeface="DejaVu Sans"/>
                    <a:cs typeface="DejaVu Sans"/>
                  </a:rPr>
                  <a:t> features,</a:t>
                </a:r>
              </a:p>
              <a:p>
                <a:pPr algn="ctr">
                  <a:lnSpc>
                    <a:spcPct val="112000"/>
                  </a:lnSpc>
                  <a:buNone/>
                  <a:defRPr sz="1875" b="0">
                    <a:solidFill>
                      <a:srgbClr val="526276"/>
                    </a:solidFill>
                    <a:latin typeface="DejaVu Sans"/>
                    <a:ea typeface="DejaVu Sans"/>
                    <a:cs typeface="DejaVu Sans"/>
                  </a:defRPr>
                </a:pPr>
                <a:r>
                  <a:rPr lang="en-GB" b="0" dirty="0">
                    <a:solidFill>
                      <a:schemeClr val="tx1"/>
                    </a:solidFill>
                    <a:latin typeface="DejaVu Sans"/>
                    <a:ea typeface="DejaVu Sans"/>
                    <a:cs typeface="DejaVu Sans"/>
                  </a:rPr>
                  <a:t>provided the weight vector </a:t>
                </a:r>
                <a14:m>
                  <m:oMath xmlns:m="http://schemas.openxmlformats.org/officeDocument/2006/math">
                    <m:r>
                      <a:rPr lang="en-GB" b="1" i="0" smtClean="0">
                        <a:solidFill>
                          <a:schemeClr val="tx1"/>
                        </a:solidFill>
                        <a:latin typeface="Cambria Math" panose="02040503050406030204" pitchFamily="18" charset="0"/>
                        <a:ea typeface="DejaVu Sans"/>
                        <a:cs typeface="DejaVu Sans"/>
                      </a:rPr>
                      <m:t>𝐰</m:t>
                    </m:r>
                  </m:oMath>
                </a14:m>
                <a:r>
                  <a:rPr lang="en-GB" b="0" dirty="0">
                    <a:solidFill>
                      <a:schemeClr val="tx1"/>
                    </a:solidFill>
                    <a:latin typeface="DejaVu Sans"/>
                    <a:ea typeface="DejaVu Sans"/>
                    <a:cs typeface="DejaVu Sans"/>
                  </a:rPr>
                  <a:t> is nonzero.</a:t>
                </a:r>
              </a:p>
              <a:p>
                <a:pPr algn="ctr">
                  <a:lnSpc>
                    <a:spcPct val="112000"/>
                  </a:lnSpc>
                  <a:buNone/>
                  <a:defRPr sz="1875" b="0">
                    <a:solidFill>
                      <a:srgbClr val="526276"/>
                    </a:solidFill>
                    <a:latin typeface="DejaVu Sans"/>
                    <a:ea typeface="DejaVu Sans"/>
                    <a:cs typeface="DejaVu Sans"/>
                  </a:defRPr>
                </a:pPr>
                <a:endParaRPr lang="en-GB" sz="800" dirty="0">
                  <a:solidFill>
                    <a:schemeClr val="tx1"/>
                  </a:solidFill>
                  <a:latin typeface="DejaVu Sans"/>
                  <a:ea typeface="DejaVu Sans"/>
                  <a:cs typeface="DejaVu Sans"/>
                </a:endParaRPr>
              </a:p>
              <a:p>
                <a:pPr algn="ctr">
                  <a:lnSpc>
                    <a:spcPct val="112000"/>
                  </a:lnSpc>
                  <a:buNone/>
                  <a:defRPr sz="1875" b="0">
                    <a:solidFill>
                      <a:srgbClr val="526276"/>
                    </a:solidFill>
                    <a:latin typeface="DejaVu Sans"/>
                    <a:ea typeface="DejaVu Sans"/>
                    <a:cs typeface="DejaVu Sans"/>
                  </a:defRPr>
                </a:pPr>
                <a:r>
                  <a:rPr lang="en-GB" dirty="0">
                    <a:solidFill>
                      <a:schemeClr val="tx1"/>
                    </a:solidFill>
                    <a:latin typeface="DejaVu Sans"/>
                    <a:ea typeface="DejaVu Sans"/>
                    <a:cs typeface="DejaVu Sans"/>
                  </a:rPr>
                  <a:t>If </a:t>
                </a:r>
                <a14:m>
                  <m:oMath xmlns:m="http://schemas.openxmlformats.org/officeDocument/2006/math">
                    <m:r>
                      <a:rPr lang="en-GB" b="0" i="1" smtClean="0">
                        <a:solidFill>
                          <a:schemeClr val="tx1"/>
                        </a:solidFill>
                        <a:latin typeface="Cambria Math" panose="02040503050406030204" pitchFamily="18" charset="0"/>
                        <a:ea typeface="DejaVu Sans"/>
                        <a:cs typeface="DejaVu Sans"/>
                      </a:rPr>
                      <m:t>𝑑</m:t>
                    </m:r>
                    <m:r>
                      <a:rPr lang="en-GB" b="0" i="1" smtClean="0">
                        <a:solidFill>
                          <a:schemeClr val="tx1"/>
                        </a:solidFill>
                        <a:latin typeface="Cambria Math" panose="02040503050406030204" pitchFamily="18" charset="0"/>
                        <a:ea typeface="DejaVu Sans"/>
                        <a:cs typeface="DejaVu Sans"/>
                      </a:rPr>
                      <m:t>=1</m:t>
                    </m:r>
                  </m:oMath>
                </a14:m>
                <a:r>
                  <a:rPr lang="en-GB" b="0" dirty="0">
                    <a:solidFill>
                      <a:schemeClr val="tx1"/>
                    </a:solidFill>
                    <a:latin typeface="DejaVu Sans"/>
                    <a:ea typeface="DejaVu Sans"/>
                    <a:cs typeface="DejaVu Sans"/>
                  </a:rPr>
                  <a:t>, </a:t>
                </a:r>
                <a14:m>
                  <m:oMath xmlns:m="http://schemas.openxmlformats.org/officeDocument/2006/math">
                    <m:r>
                      <a:rPr lang="en-GB" smtClean="0">
                        <a:solidFill>
                          <a:schemeClr val="tx1"/>
                        </a:solidFill>
                        <a:latin typeface="Cambria Math"/>
                        <a:ea typeface="Cambria Math"/>
                        <a:cs typeface="Cambria Math"/>
                      </a:rPr>
                      <m:t>𝑏</m:t>
                    </m:r>
                    <m:r>
                      <a:rPr lang="en-GB" smtClean="0">
                        <a:solidFill>
                          <a:schemeClr val="tx1"/>
                        </a:solidFill>
                        <a:latin typeface="Cambria Math"/>
                        <a:ea typeface="Cambria Math"/>
                        <a:cs typeface="Cambria Math"/>
                      </a:rPr>
                      <m:t>+</m:t>
                    </m:r>
                    <m:sSub>
                      <m:sSubPr>
                        <m:ctrlPr>
                          <a:rPr lang="ar-AE">
                            <a:solidFill>
                              <a:schemeClr val="tx1"/>
                            </a:solidFill>
                            <a:latin typeface="Cambria Math"/>
                            <a:ea typeface="Cambria Math"/>
                            <a:cs typeface="Cambria Math"/>
                          </a:rPr>
                        </m:ctrlPr>
                      </m:sSubPr>
                      <m:e>
                        <m:r>
                          <a:rPr lang="ar-AE">
                            <a:solidFill>
                              <a:schemeClr val="tx1"/>
                            </a:solidFill>
                            <a:latin typeface="Cambria Math"/>
                            <a:ea typeface="Cambria Math"/>
                            <a:cs typeface="Cambria Math"/>
                          </a:rPr>
                          <m:t>𝑥</m:t>
                        </m:r>
                      </m:e>
                      <m:sub>
                        <m:r>
                          <a:rPr lang="ar-AE">
                            <a:solidFill>
                              <a:schemeClr val="tx1"/>
                            </a:solidFill>
                            <a:latin typeface="Cambria Math"/>
                            <a:ea typeface="Cambria Math"/>
                            <a:cs typeface="Cambria Math"/>
                          </a:rPr>
                          <m:t>1</m:t>
                        </m:r>
                      </m:sub>
                    </m:sSub>
                    <m:sSub>
                      <m:sSubPr>
                        <m:ctrlPr>
                          <a:rPr lang="ar-AE" i="1">
                            <a:solidFill>
                              <a:schemeClr val="tx1"/>
                            </a:solidFill>
                            <a:latin typeface="Cambria Math" panose="02040503050406030204" pitchFamily="18" charset="0"/>
                            <a:ea typeface="Cambria Math"/>
                            <a:cs typeface="Cambria Math"/>
                          </a:rPr>
                        </m:ctrlPr>
                      </m:sSubPr>
                      <m:e>
                        <m:r>
                          <a:rPr lang="ar-AE" i="1">
                            <a:solidFill>
                              <a:schemeClr val="tx1"/>
                            </a:solidFill>
                            <a:latin typeface="Cambria Math" panose="02040503050406030204" pitchFamily="18" charset="0"/>
                            <a:ea typeface="Cambria Math"/>
                            <a:cs typeface="Cambria Math"/>
                          </a:rPr>
                          <m:t>𝑤</m:t>
                        </m:r>
                      </m:e>
                      <m:sub>
                        <m:r>
                          <a:rPr lang="ar-AE" i="1">
                            <a:solidFill>
                              <a:schemeClr val="tx1"/>
                            </a:solidFill>
                            <a:latin typeface="Cambria Math" panose="02040503050406030204" pitchFamily="18" charset="0"/>
                            <a:ea typeface="Cambria Math"/>
                            <a:cs typeface="Cambria Math"/>
                          </a:rPr>
                          <m:t>1</m:t>
                        </m:r>
                      </m:sub>
                    </m:sSub>
                    <m:r>
                      <a:rPr lang="ar-AE" b="0" i="1" smtClean="0">
                        <a:solidFill>
                          <a:schemeClr val="tx1"/>
                        </a:solidFill>
                        <a:latin typeface="Cambria Math" panose="02040503050406030204" pitchFamily="18" charset="0"/>
                        <a:ea typeface="Cambria Math"/>
                        <a:cs typeface="Cambria Math"/>
                      </a:rPr>
                      <m:t>=0</m:t>
                    </m:r>
                  </m:oMath>
                </a14:m>
                <a:r>
                  <a:rPr lang="ar-AE" b="0" dirty="0">
                    <a:solidFill>
                      <a:schemeClr val="tx1"/>
                    </a:solidFill>
                    <a:latin typeface="DejaVu Sans"/>
                    <a:ea typeface="DejaVu Sans"/>
                    <a:cs typeface="DejaVu Sans"/>
                  </a:rPr>
                  <a:t> </a:t>
                </a:r>
                <a:r>
                  <a:rPr lang="en-GB" dirty="0">
                    <a:solidFill>
                      <a:schemeClr val="tx1"/>
                    </a:solidFill>
                    <a:latin typeface="DejaVu Sans"/>
                    <a:ea typeface="DejaVu Sans"/>
                    <a:cs typeface="DejaVu Sans"/>
                  </a:rPr>
                  <a:t>determines</a:t>
                </a:r>
                <a:r>
                  <a:rPr lang="en-GB" b="0" dirty="0">
                    <a:solidFill>
                      <a:schemeClr val="tx1"/>
                    </a:solidFill>
                    <a:latin typeface="DejaVu Sans"/>
                    <a:ea typeface="DejaVu Sans"/>
                    <a:cs typeface="DejaVu Sans"/>
                  </a:rPr>
                  <a:t> a point of the </a:t>
                </a:r>
                <a:r>
                  <a:rPr lang="en-GB" b="0" dirty="0" err="1">
                    <a:solidFill>
                      <a:schemeClr val="tx1"/>
                    </a:solidFill>
                    <a:latin typeface="DejaVu Sans"/>
                    <a:ea typeface="DejaVu Sans"/>
                    <a:cs typeface="DejaVu Sans"/>
                  </a:rPr>
                  <a:t>Euclidean</a:t>
                </a:r>
                <a:r>
                  <a:rPr lang="en-GB" b="0" dirty="0">
                    <a:solidFill>
                      <a:schemeClr val="tx1"/>
                    </a:solidFill>
                    <a:latin typeface="DejaVu Sans"/>
                    <a:ea typeface="DejaVu Sans"/>
                    <a:cs typeface="DejaVu Sans"/>
                  </a:rPr>
                  <a:t> line</a:t>
                </a:r>
              </a:p>
              <a:p>
                <a:pPr algn="ctr">
                  <a:lnSpc>
                    <a:spcPct val="112000"/>
                  </a:lnSpc>
                  <a:buNone/>
                  <a:defRPr sz="1875" b="0">
                    <a:solidFill>
                      <a:srgbClr val="526276"/>
                    </a:solidFill>
                    <a:latin typeface="DejaVu Sans"/>
                    <a:ea typeface="DejaVu Sans"/>
                    <a:cs typeface="DejaVu Sans"/>
                  </a:defRPr>
                </a:pPr>
                <a:endParaRPr lang="en-GB" sz="800" dirty="0">
                  <a:solidFill>
                    <a:schemeClr val="tx1"/>
                  </a:solidFill>
                  <a:latin typeface="DejaVu Sans"/>
                  <a:ea typeface="DejaVu Sans"/>
                  <a:cs typeface="DejaVu Sans"/>
                </a:endParaRPr>
              </a:p>
              <a:p>
                <a:pPr algn="ctr">
                  <a:lnSpc>
                    <a:spcPct val="112000"/>
                  </a:lnSpc>
                  <a:buNone/>
                  <a:defRPr sz="1875" b="0">
                    <a:solidFill>
                      <a:srgbClr val="526276"/>
                    </a:solidFill>
                    <a:latin typeface="DejaVu Sans"/>
                    <a:ea typeface="DejaVu Sans"/>
                    <a:cs typeface="DejaVu Sans"/>
                  </a:defRPr>
                </a:pPr>
                <a:r>
                  <a:rPr lang="en-GB" dirty="0" err="1">
                    <a:solidFill>
                      <a:schemeClr val="tx1"/>
                    </a:solidFill>
                    <a:latin typeface="DejaVu Sans"/>
                    <a:ea typeface="DejaVu Sans"/>
                    <a:cs typeface="DejaVu Sans"/>
                  </a:rPr>
                  <a:t>I</a:t>
                </a:r>
                <a:r>
                  <a:rPr lang="en-GB" b="0" dirty="0" err="1">
                    <a:solidFill>
                      <a:schemeClr val="tx1"/>
                    </a:solidFill>
                    <a:latin typeface="DejaVu Sans"/>
                    <a:ea typeface="DejaVu Sans"/>
                    <a:cs typeface="DejaVu Sans"/>
                  </a:rPr>
                  <a:t>f</a:t>
                </a:r>
                <a:r>
                  <a:rPr lang="en-GB" b="0" dirty="0">
                    <a:solidFill>
                      <a:schemeClr val="tx1"/>
                    </a:solidFill>
                    <a:latin typeface="DejaVu Sans"/>
                    <a:ea typeface="DejaVu Sans"/>
                    <a:cs typeface="DejaVu Sans"/>
                  </a:rPr>
                  <a:t> </a:t>
                </a:r>
                <a14:m>
                  <m:oMath xmlns:m="http://schemas.openxmlformats.org/officeDocument/2006/math">
                    <m:r>
                      <a:rPr lang="en-GB" i="1">
                        <a:solidFill>
                          <a:schemeClr val="tx1"/>
                        </a:solidFill>
                        <a:latin typeface="Cambria Math" panose="02040503050406030204" pitchFamily="18" charset="0"/>
                        <a:ea typeface="DejaVu Sans"/>
                        <a:cs typeface="DejaVu Sans"/>
                      </a:rPr>
                      <m:t>𝑑</m:t>
                    </m:r>
                    <m:r>
                      <a:rPr lang="en-GB" i="1">
                        <a:solidFill>
                          <a:schemeClr val="tx1"/>
                        </a:solidFill>
                        <a:latin typeface="Cambria Math" panose="02040503050406030204" pitchFamily="18" charset="0"/>
                        <a:ea typeface="DejaVu Sans"/>
                        <a:cs typeface="DejaVu Sans"/>
                      </a:rPr>
                      <m:t>=2</m:t>
                    </m:r>
                  </m:oMath>
                </a14:m>
                <a:r>
                  <a:rPr lang="en-GB" dirty="0">
                    <a:solidFill>
                      <a:schemeClr val="tx1"/>
                    </a:solidFill>
                    <a:latin typeface="DejaVu Sans"/>
                    <a:ea typeface="DejaVu Sans"/>
                    <a:cs typeface="DejaVu Sans"/>
                  </a:rPr>
                  <a:t>, </a:t>
                </a:r>
                <a14:m>
                  <m:oMath xmlns:m="http://schemas.openxmlformats.org/officeDocument/2006/math">
                    <m:r>
                      <a:rPr lang="en-GB">
                        <a:solidFill>
                          <a:schemeClr val="tx1"/>
                        </a:solidFill>
                        <a:latin typeface="Cambria Math"/>
                        <a:ea typeface="Cambria Math"/>
                        <a:cs typeface="Cambria Math"/>
                      </a:rPr>
                      <m:t>𝑏</m:t>
                    </m:r>
                    <m:r>
                      <a:rPr lang="en-GB">
                        <a:solidFill>
                          <a:schemeClr val="tx1"/>
                        </a:solidFill>
                        <a:latin typeface="Cambria Math"/>
                        <a:ea typeface="Cambria Math"/>
                        <a:cs typeface="Cambria Math"/>
                      </a:rPr>
                      <m:t>+</m:t>
                    </m:r>
                    <m:sSub>
                      <m:sSubPr>
                        <m:ctrlPr>
                          <a:rPr lang="ar-AE">
                            <a:solidFill>
                              <a:schemeClr val="tx1"/>
                            </a:solidFill>
                            <a:latin typeface="Cambria Math"/>
                            <a:ea typeface="Cambria Math"/>
                            <a:cs typeface="Cambria Math"/>
                          </a:rPr>
                        </m:ctrlPr>
                      </m:sSubPr>
                      <m:e>
                        <m:r>
                          <a:rPr lang="ar-AE">
                            <a:solidFill>
                              <a:schemeClr val="tx1"/>
                            </a:solidFill>
                            <a:latin typeface="Cambria Math"/>
                            <a:ea typeface="Cambria Math"/>
                            <a:cs typeface="Cambria Math"/>
                          </a:rPr>
                          <m:t>𝑥</m:t>
                        </m:r>
                      </m:e>
                      <m:sub>
                        <m:r>
                          <a:rPr lang="ar-AE">
                            <a:solidFill>
                              <a:schemeClr val="tx1"/>
                            </a:solidFill>
                            <a:latin typeface="Cambria Math"/>
                            <a:ea typeface="Cambria Math"/>
                            <a:cs typeface="Cambria Math"/>
                          </a:rPr>
                          <m:t>1</m:t>
                        </m:r>
                      </m:sub>
                    </m:sSub>
                    <m:sSub>
                      <m:sSubPr>
                        <m:ctrlPr>
                          <a:rPr lang="ar-AE" i="1">
                            <a:solidFill>
                              <a:schemeClr val="tx1"/>
                            </a:solidFill>
                            <a:latin typeface="Cambria Math" panose="02040503050406030204" pitchFamily="18" charset="0"/>
                            <a:ea typeface="Cambria Math"/>
                            <a:cs typeface="Cambria Math"/>
                          </a:rPr>
                        </m:ctrlPr>
                      </m:sSubPr>
                      <m:e>
                        <m:r>
                          <a:rPr lang="ar-AE" i="1">
                            <a:solidFill>
                              <a:schemeClr val="tx1"/>
                            </a:solidFill>
                            <a:latin typeface="Cambria Math" panose="02040503050406030204" pitchFamily="18" charset="0"/>
                            <a:ea typeface="Cambria Math"/>
                            <a:cs typeface="Cambria Math"/>
                          </a:rPr>
                          <m:t>𝑤</m:t>
                        </m:r>
                      </m:e>
                      <m:sub>
                        <m:r>
                          <a:rPr lang="ar-AE" i="1">
                            <a:solidFill>
                              <a:schemeClr val="tx1"/>
                            </a:solidFill>
                            <a:latin typeface="Cambria Math" panose="02040503050406030204" pitchFamily="18" charset="0"/>
                            <a:ea typeface="Cambria Math"/>
                            <a:cs typeface="Cambria Math"/>
                          </a:rPr>
                          <m:t>1</m:t>
                        </m:r>
                      </m:sub>
                    </m:sSub>
                    <m:r>
                      <a:rPr lang="it-IT" b="0" i="1" smtClean="0">
                        <a:solidFill>
                          <a:schemeClr val="tx1"/>
                        </a:solidFill>
                        <a:latin typeface="Cambria Math" panose="02040503050406030204" pitchFamily="18" charset="0"/>
                        <a:ea typeface="Cambria Math"/>
                        <a:cs typeface="Cambria Math"/>
                      </a:rPr>
                      <m:t>+</m:t>
                    </m:r>
                    <m:sSub>
                      <m:sSubPr>
                        <m:ctrlPr>
                          <a:rPr lang="it-IT" b="0" i="1" smtClean="0">
                            <a:solidFill>
                              <a:schemeClr val="tx1"/>
                            </a:solidFill>
                            <a:latin typeface="Cambria Math" panose="02040503050406030204" pitchFamily="18" charset="0"/>
                            <a:ea typeface="Cambria Math"/>
                            <a:cs typeface="Cambria Math"/>
                          </a:rPr>
                        </m:ctrlPr>
                      </m:sSubPr>
                      <m:e>
                        <m:r>
                          <a:rPr lang="it-IT" b="0" i="1" smtClean="0">
                            <a:solidFill>
                              <a:schemeClr val="tx1"/>
                            </a:solidFill>
                            <a:latin typeface="Cambria Math" panose="02040503050406030204" pitchFamily="18" charset="0"/>
                            <a:ea typeface="Cambria Math"/>
                            <a:cs typeface="Cambria Math"/>
                          </a:rPr>
                          <m:t>𝑥</m:t>
                        </m:r>
                      </m:e>
                      <m:sub>
                        <m:r>
                          <a:rPr lang="it-IT" b="0" i="1" smtClean="0">
                            <a:solidFill>
                              <a:schemeClr val="tx1"/>
                            </a:solidFill>
                            <a:latin typeface="Cambria Math" panose="02040503050406030204" pitchFamily="18" charset="0"/>
                            <a:ea typeface="Cambria Math"/>
                            <a:cs typeface="Cambria Math"/>
                          </a:rPr>
                          <m:t>2</m:t>
                        </m:r>
                      </m:sub>
                    </m:sSub>
                    <m:sSub>
                      <m:sSubPr>
                        <m:ctrlPr>
                          <a:rPr lang="it-IT" b="0" i="1" smtClean="0">
                            <a:solidFill>
                              <a:schemeClr val="tx1"/>
                            </a:solidFill>
                            <a:latin typeface="Cambria Math" panose="02040503050406030204" pitchFamily="18" charset="0"/>
                            <a:ea typeface="Cambria Math"/>
                            <a:cs typeface="Cambria Math"/>
                          </a:rPr>
                        </m:ctrlPr>
                      </m:sSubPr>
                      <m:e>
                        <m:r>
                          <a:rPr lang="it-IT" b="0" i="1" smtClean="0">
                            <a:solidFill>
                              <a:schemeClr val="tx1"/>
                            </a:solidFill>
                            <a:latin typeface="Cambria Math" panose="02040503050406030204" pitchFamily="18" charset="0"/>
                            <a:ea typeface="Cambria Math"/>
                            <a:cs typeface="Cambria Math"/>
                          </a:rPr>
                          <m:t>𝑤</m:t>
                        </m:r>
                      </m:e>
                      <m:sub>
                        <m:r>
                          <a:rPr lang="it-IT" b="0" i="1" smtClean="0">
                            <a:solidFill>
                              <a:schemeClr val="tx1"/>
                            </a:solidFill>
                            <a:latin typeface="Cambria Math" panose="02040503050406030204" pitchFamily="18" charset="0"/>
                            <a:ea typeface="Cambria Math"/>
                            <a:cs typeface="Cambria Math"/>
                          </a:rPr>
                          <m:t>2</m:t>
                        </m:r>
                      </m:sub>
                    </m:sSub>
                    <m:r>
                      <a:rPr lang="ar-AE" i="1">
                        <a:solidFill>
                          <a:schemeClr val="tx1"/>
                        </a:solidFill>
                        <a:latin typeface="Cambria Math" panose="02040503050406030204" pitchFamily="18" charset="0"/>
                        <a:ea typeface="Cambria Math"/>
                        <a:cs typeface="Cambria Math"/>
                      </a:rPr>
                      <m:t>=0</m:t>
                    </m:r>
                  </m:oMath>
                </a14:m>
                <a:r>
                  <a:rPr lang="en-GB" dirty="0">
                    <a:solidFill>
                      <a:schemeClr val="tx1"/>
                    </a:solidFill>
                    <a:latin typeface="DejaVu Sans"/>
                    <a:ea typeface="DejaVu Sans"/>
                    <a:cs typeface="DejaVu Sans"/>
                  </a:rPr>
                  <a:t>  determines a </a:t>
                </a:r>
                <a:r>
                  <a:rPr lang="en-GB" dirty="0" err="1">
                    <a:solidFill>
                      <a:schemeClr val="tx1"/>
                    </a:solidFill>
                    <a:latin typeface="DejaVu Sans"/>
                    <a:ea typeface="DejaVu Sans"/>
                    <a:cs typeface="DejaVu Sans"/>
                  </a:rPr>
                  <a:t>straight</a:t>
                </a:r>
                <a:r>
                  <a:rPr lang="en-GB" dirty="0">
                    <a:solidFill>
                      <a:schemeClr val="tx1"/>
                    </a:solidFill>
                    <a:latin typeface="DejaVu Sans"/>
                    <a:ea typeface="DejaVu Sans"/>
                    <a:cs typeface="DejaVu Sans"/>
                  </a:rPr>
                  <a:t> line of the </a:t>
                </a:r>
                <a:r>
                  <a:rPr lang="en-GB" dirty="0" err="1">
                    <a:solidFill>
                      <a:schemeClr val="tx1"/>
                    </a:solidFill>
                    <a:latin typeface="DejaVu Sans"/>
                    <a:ea typeface="DejaVu Sans"/>
                    <a:cs typeface="DejaVu Sans"/>
                  </a:rPr>
                  <a:t>Euclidean</a:t>
                </a:r>
                <a:r>
                  <a:rPr lang="en-GB" dirty="0">
                    <a:solidFill>
                      <a:schemeClr val="tx1"/>
                    </a:solidFill>
                    <a:latin typeface="DejaVu Sans"/>
                    <a:ea typeface="DejaVu Sans"/>
                    <a:cs typeface="DejaVu Sans"/>
                  </a:rPr>
                  <a:t> </a:t>
                </a:r>
                <a:r>
                  <a:rPr lang="en-GB" dirty="0" err="1">
                    <a:solidFill>
                      <a:schemeClr val="tx1"/>
                    </a:solidFill>
                    <a:latin typeface="DejaVu Sans"/>
                    <a:ea typeface="DejaVu Sans"/>
                    <a:cs typeface="DejaVu Sans"/>
                  </a:rPr>
                  <a:t>plane</a:t>
                </a:r>
                <a:endParaRPr lang="en-GB" dirty="0">
                  <a:solidFill>
                    <a:schemeClr val="tx1"/>
                  </a:solidFill>
                  <a:latin typeface="DejaVu Sans"/>
                  <a:ea typeface="DejaVu Sans"/>
                  <a:cs typeface="DejaVu Sans"/>
                </a:endParaRPr>
              </a:p>
              <a:p>
                <a:pPr algn="ctr">
                  <a:lnSpc>
                    <a:spcPct val="112000"/>
                  </a:lnSpc>
                  <a:buNone/>
                  <a:defRPr sz="1875" b="0">
                    <a:solidFill>
                      <a:srgbClr val="526276"/>
                    </a:solidFill>
                    <a:latin typeface="DejaVu Sans"/>
                    <a:ea typeface="DejaVu Sans"/>
                    <a:cs typeface="DejaVu Sans"/>
                  </a:defRPr>
                </a:pPr>
                <a:endParaRPr lang="en-GB" sz="800" dirty="0">
                  <a:solidFill>
                    <a:schemeClr val="tx1"/>
                  </a:solidFill>
                  <a:latin typeface="DejaVu Sans"/>
                  <a:ea typeface="DejaVu Sans"/>
                  <a:cs typeface="DejaVu Sans"/>
                </a:endParaRPr>
              </a:p>
              <a:p>
                <a:pPr algn="ctr">
                  <a:lnSpc>
                    <a:spcPct val="112000"/>
                  </a:lnSpc>
                  <a:buNone/>
                  <a:defRPr sz="1875" b="0">
                    <a:solidFill>
                      <a:srgbClr val="526276"/>
                    </a:solidFill>
                    <a:latin typeface="DejaVu Sans"/>
                    <a:ea typeface="DejaVu Sans"/>
                    <a:cs typeface="DejaVu Sans"/>
                  </a:defRPr>
                </a:pPr>
                <a:r>
                  <a:rPr lang="en-GB" dirty="0" err="1">
                    <a:solidFill>
                      <a:schemeClr val="tx1"/>
                    </a:solidFill>
                    <a:latin typeface="DejaVu Sans"/>
                    <a:ea typeface="DejaVu Sans"/>
                    <a:cs typeface="DejaVu Sans"/>
                  </a:rPr>
                  <a:t>If</a:t>
                </a:r>
                <a:r>
                  <a:rPr lang="en-GB" dirty="0">
                    <a:solidFill>
                      <a:schemeClr val="tx1"/>
                    </a:solidFill>
                    <a:latin typeface="DejaVu Sans"/>
                    <a:ea typeface="DejaVu Sans"/>
                    <a:cs typeface="DejaVu Sans"/>
                  </a:rPr>
                  <a:t> </a:t>
                </a:r>
                <a14:m>
                  <m:oMath xmlns:m="http://schemas.openxmlformats.org/officeDocument/2006/math">
                    <m:r>
                      <a:rPr lang="en-GB" i="1">
                        <a:solidFill>
                          <a:schemeClr val="tx1"/>
                        </a:solidFill>
                        <a:latin typeface="Cambria Math" panose="02040503050406030204" pitchFamily="18" charset="0"/>
                        <a:ea typeface="DejaVu Sans"/>
                        <a:cs typeface="DejaVu Sans"/>
                      </a:rPr>
                      <m:t>𝑑</m:t>
                    </m:r>
                    <m:r>
                      <a:rPr lang="en-GB" i="1">
                        <a:solidFill>
                          <a:schemeClr val="tx1"/>
                        </a:solidFill>
                        <a:latin typeface="Cambria Math" panose="02040503050406030204" pitchFamily="18" charset="0"/>
                        <a:ea typeface="DejaVu Sans"/>
                        <a:cs typeface="DejaVu Sans"/>
                      </a:rPr>
                      <m:t>=3</m:t>
                    </m:r>
                  </m:oMath>
                </a14:m>
                <a:r>
                  <a:rPr lang="en-GB" dirty="0">
                    <a:solidFill>
                      <a:schemeClr val="tx1"/>
                    </a:solidFill>
                    <a:latin typeface="DejaVu Sans"/>
                    <a:ea typeface="DejaVu Sans"/>
                    <a:cs typeface="DejaVu Sans"/>
                  </a:rPr>
                  <a:t>, </a:t>
                </a:r>
                <a14:m>
                  <m:oMath xmlns:m="http://schemas.openxmlformats.org/officeDocument/2006/math">
                    <m:r>
                      <a:rPr lang="en-GB">
                        <a:solidFill>
                          <a:schemeClr val="tx1"/>
                        </a:solidFill>
                        <a:latin typeface="Cambria Math"/>
                        <a:ea typeface="Cambria Math"/>
                        <a:cs typeface="Cambria Math"/>
                      </a:rPr>
                      <m:t>𝑏</m:t>
                    </m:r>
                    <m:r>
                      <a:rPr lang="en-GB">
                        <a:solidFill>
                          <a:schemeClr val="tx1"/>
                        </a:solidFill>
                        <a:latin typeface="Cambria Math"/>
                        <a:ea typeface="Cambria Math"/>
                        <a:cs typeface="Cambria Math"/>
                      </a:rPr>
                      <m:t>+</m:t>
                    </m:r>
                    <m:sSub>
                      <m:sSubPr>
                        <m:ctrlPr>
                          <a:rPr lang="ar-AE">
                            <a:solidFill>
                              <a:schemeClr val="tx1"/>
                            </a:solidFill>
                            <a:latin typeface="Cambria Math"/>
                            <a:ea typeface="Cambria Math"/>
                            <a:cs typeface="Cambria Math"/>
                          </a:rPr>
                        </m:ctrlPr>
                      </m:sSubPr>
                      <m:e>
                        <m:r>
                          <a:rPr lang="ar-AE">
                            <a:solidFill>
                              <a:schemeClr val="tx1"/>
                            </a:solidFill>
                            <a:latin typeface="Cambria Math"/>
                            <a:ea typeface="Cambria Math"/>
                            <a:cs typeface="Cambria Math"/>
                          </a:rPr>
                          <m:t>𝑥</m:t>
                        </m:r>
                      </m:e>
                      <m:sub>
                        <m:r>
                          <a:rPr lang="ar-AE">
                            <a:solidFill>
                              <a:schemeClr val="tx1"/>
                            </a:solidFill>
                            <a:latin typeface="Cambria Math"/>
                            <a:ea typeface="Cambria Math"/>
                            <a:cs typeface="Cambria Math"/>
                          </a:rPr>
                          <m:t>1</m:t>
                        </m:r>
                      </m:sub>
                    </m:sSub>
                    <m:sSub>
                      <m:sSubPr>
                        <m:ctrlPr>
                          <a:rPr lang="ar-AE" i="1">
                            <a:solidFill>
                              <a:schemeClr val="tx1"/>
                            </a:solidFill>
                            <a:latin typeface="Cambria Math" panose="02040503050406030204" pitchFamily="18" charset="0"/>
                            <a:ea typeface="Cambria Math"/>
                            <a:cs typeface="Cambria Math"/>
                          </a:rPr>
                        </m:ctrlPr>
                      </m:sSubPr>
                      <m:e>
                        <m:r>
                          <a:rPr lang="ar-AE" i="1">
                            <a:solidFill>
                              <a:schemeClr val="tx1"/>
                            </a:solidFill>
                            <a:latin typeface="Cambria Math" panose="02040503050406030204" pitchFamily="18" charset="0"/>
                            <a:ea typeface="Cambria Math"/>
                            <a:cs typeface="Cambria Math"/>
                          </a:rPr>
                          <m:t>𝑤</m:t>
                        </m:r>
                      </m:e>
                      <m:sub>
                        <m:r>
                          <a:rPr lang="ar-AE" i="1">
                            <a:solidFill>
                              <a:schemeClr val="tx1"/>
                            </a:solidFill>
                            <a:latin typeface="Cambria Math" panose="02040503050406030204" pitchFamily="18" charset="0"/>
                            <a:ea typeface="Cambria Math"/>
                            <a:cs typeface="Cambria Math"/>
                          </a:rPr>
                          <m:t>1</m:t>
                        </m:r>
                      </m:sub>
                    </m:sSub>
                    <m:r>
                      <a:rPr lang="it-IT" i="1">
                        <a:solidFill>
                          <a:schemeClr val="tx1"/>
                        </a:solidFill>
                        <a:latin typeface="Cambria Math" panose="02040503050406030204" pitchFamily="18" charset="0"/>
                        <a:ea typeface="Cambria Math"/>
                        <a:cs typeface="Cambria Math"/>
                      </a:rPr>
                      <m:t>+</m:t>
                    </m:r>
                    <m:sSub>
                      <m:sSubPr>
                        <m:ctrlPr>
                          <a:rPr lang="it-IT" i="1">
                            <a:solidFill>
                              <a:schemeClr val="tx1"/>
                            </a:solidFill>
                            <a:latin typeface="Cambria Math" panose="02040503050406030204" pitchFamily="18" charset="0"/>
                            <a:ea typeface="Cambria Math"/>
                            <a:cs typeface="Cambria Math"/>
                          </a:rPr>
                        </m:ctrlPr>
                      </m:sSubPr>
                      <m:e>
                        <m:r>
                          <a:rPr lang="it-IT" i="1">
                            <a:solidFill>
                              <a:schemeClr val="tx1"/>
                            </a:solidFill>
                            <a:latin typeface="Cambria Math" panose="02040503050406030204" pitchFamily="18" charset="0"/>
                            <a:ea typeface="Cambria Math"/>
                            <a:cs typeface="Cambria Math"/>
                          </a:rPr>
                          <m:t>𝑥</m:t>
                        </m:r>
                      </m:e>
                      <m:sub>
                        <m:r>
                          <a:rPr lang="it-IT" i="1">
                            <a:solidFill>
                              <a:schemeClr val="tx1"/>
                            </a:solidFill>
                            <a:latin typeface="Cambria Math" panose="02040503050406030204" pitchFamily="18" charset="0"/>
                            <a:ea typeface="Cambria Math"/>
                            <a:cs typeface="Cambria Math"/>
                          </a:rPr>
                          <m:t>2</m:t>
                        </m:r>
                      </m:sub>
                    </m:sSub>
                    <m:sSub>
                      <m:sSubPr>
                        <m:ctrlPr>
                          <a:rPr lang="it-IT" i="1">
                            <a:solidFill>
                              <a:schemeClr val="tx1"/>
                            </a:solidFill>
                            <a:latin typeface="Cambria Math" panose="02040503050406030204" pitchFamily="18" charset="0"/>
                            <a:ea typeface="Cambria Math"/>
                            <a:cs typeface="Cambria Math"/>
                          </a:rPr>
                        </m:ctrlPr>
                      </m:sSubPr>
                      <m:e>
                        <m:r>
                          <a:rPr lang="it-IT" i="1">
                            <a:solidFill>
                              <a:schemeClr val="tx1"/>
                            </a:solidFill>
                            <a:latin typeface="Cambria Math" panose="02040503050406030204" pitchFamily="18" charset="0"/>
                            <a:ea typeface="Cambria Math"/>
                            <a:cs typeface="Cambria Math"/>
                          </a:rPr>
                          <m:t>𝑤</m:t>
                        </m:r>
                      </m:e>
                      <m:sub>
                        <m:r>
                          <a:rPr lang="it-IT" i="1">
                            <a:solidFill>
                              <a:schemeClr val="tx1"/>
                            </a:solidFill>
                            <a:latin typeface="Cambria Math" panose="02040503050406030204" pitchFamily="18" charset="0"/>
                            <a:ea typeface="Cambria Math"/>
                            <a:cs typeface="Cambria Math"/>
                          </a:rPr>
                          <m:t>2</m:t>
                        </m:r>
                      </m:sub>
                    </m:sSub>
                    <m:r>
                      <a:rPr lang="it-IT" b="0" i="1" smtClean="0">
                        <a:solidFill>
                          <a:schemeClr val="tx1"/>
                        </a:solidFill>
                        <a:latin typeface="Cambria Math" panose="02040503050406030204" pitchFamily="18" charset="0"/>
                        <a:ea typeface="Cambria Math"/>
                        <a:cs typeface="Cambria Math"/>
                      </a:rPr>
                      <m:t>+</m:t>
                    </m:r>
                    <m:sSub>
                      <m:sSubPr>
                        <m:ctrlPr>
                          <a:rPr lang="it-IT" b="0" i="1" smtClean="0">
                            <a:solidFill>
                              <a:schemeClr val="tx1"/>
                            </a:solidFill>
                            <a:latin typeface="Cambria Math" panose="02040503050406030204" pitchFamily="18" charset="0"/>
                            <a:ea typeface="Cambria Math"/>
                            <a:cs typeface="Cambria Math"/>
                          </a:rPr>
                        </m:ctrlPr>
                      </m:sSubPr>
                      <m:e>
                        <m:r>
                          <a:rPr lang="it-IT" b="0" i="1" smtClean="0">
                            <a:solidFill>
                              <a:schemeClr val="tx1"/>
                            </a:solidFill>
                            <a:latin typeface="Cambria Math" panose="02040503050406030204" pitchFamily="18" charset="0"/>
                            <a:ea typeface="Cambria Math"/>
                            <a:cs typeface="Cambria Math"/>
                          </a:rPr>
                          <m:t>𝑥</m:t>
                        </m:r>
                      </m:e>
                      <m:sub>
                        <m:r>
                          <a:rPr lang="it-IT" b="0" i="1" smtClean="0">
                            <a:solidFill>
                              <a:schemeClr val="tx1"/>
                            </a:solidFill>
                            <a:latin typeface="Cambria Math" panose="02040503050406030204" pitchFamily="18" charset="0"/>
                            <a:ea typeface="Cambria Math"/>
                            <a:cs typeface="Cambria Math"/>
                          </a:rPr>
                          <m:t>3</m:t>
                        </m:r>
                      </m:sub>
                    </m:sSub>
                    <m:sSub>
                      <m:sSubPr>
                        <m:ctrlPr>
                          <a:rPr lang="it-IT" b="0" i="1" smtClean="0">
                            <a:solidFill>
                              <a:schemeClr val="tx1"/>
                            </a:solidFill>
                            <a:latin typeface="Cambria Math" panose="02040503050406030204" pitchFamily="18" charset="0"/>
                            <a:ea typeface="Cambria Math"/>
                            <a:cs typeface="Cambria Math"/>
                          </a:rPr>
                        </m:ctrlPr>
                      </m:sSubPr>
                      <m:e>
                        <m:r>
                          <a:rPr lang="it-IT" b="0" i="1" smtClean="0">
                            <a:solidFill>
                              <a:schemeClr val="tx1"/>
                            </a:solidFill>
                            <a:latin typeface="Cambria Math" panose="02040503050406030204" pitchFamily="18" charset="0"/>
                            <a:ea typeface="Cambria Math"/>
                            <a:cs typeface="Cambria Math"/>
                          </a:rPr>
                          <m:t>𝑤</m:t>
                        </m:r>
                      </m:e>
                      <m:sub>
                        <m:r>
                          <a:rPr lang="it-IT" b="0" i="1" smtClean="0">
                            <a:solidFill>
                              <a:schemeClr val="tx1"/>
                            </a:solidFill>
                            <a:latin typeface="Cambria Math" panose="02040503050406030204" pitchFamily="18" charset="0"/>
                            <a:ea typeface="Cambria Math"/>
                            <a:cs typeface="Cambria Math"/>
                          </a:rPr>
                          <m:t>3</m:t>
                        </m:r>
                      </m:sub>
                    </m:sSub>
                    <m:r>
                      <a:rPr lang="ar-AE" i="1">
                        <a:solidFill>
                          <a:schemeClr val="tx1"/>
                        </a:solidFill>
                        <a:latin typeface="Cambria Math" panose="02040503050406030204" pitchFamily="18" charset="0"/>
                        <a:ea typeface="Cambria Math"/>
                        <a:cs typeface="Cambria Math"/>
                      </a:rPr>
                      <m:t>=0</m:t>
                    </m:r>
                  </m:oMath>
                </a14:m>
                <a:r>
                  <a:rPr lang="en-GB" dirty="0">
                    <a:solidFill>
                      <a:schemeClr val="tx1"/>
                    </a:solidFill>
                    <a:latin typeface="DejaVu Sans"/>
                    <a:ea typeface="DejaVu Sans"/>
                    <a:cs typeface="DejaVu Sans"/>
                  </a:rPr>
                  <a:t> determines a </a:t>
                </a:r>
                <a:r>
                  <a:rPr lang="en-GB" dirty="0" err="1">
                    <a:solidFill>
                      <a:schemeClr val="tx1"/>
                    </a:solidFill>
                    <a:latin typeface="DejaVu Sans"/>
                    <a:ea typeface="DejaVu Sans"/>
                    <a:cs typeface="DejaVu Sans"/>
                  </a:rPr>
                  <a:t>plane</a:t>
                </a:r>
                <a:r>
                  <a:rPr lang="en-GB" dirty="0">
                    <a:solidFill>
                      <a:schemeClr val="tx1"/>
                    </a:solidFill>
                    <a:latin typeface="DejaVu Sans"/>
                    <a:ea typeface="DejaVu Sans"/>
                    <a:cs typeface="DejaVu Sans"/>
                  </a:rPr>
                  <a:t> of the </a:t>
                </a:r>
                <a:r>
                  <a:rPr lang="en-GB" dirty="0" err="1">
                    <a:solidFill>
                      <a:schemeClr val="tx1"/>
                    </a:solidFill>
                    <a:latin typeface="DejaVu Sans"/>
                    <a:ea typeface="DejaVu Sans"/>
                    <a:cs typeface="DejaVu Sans"/>
                  </a:rPr>
                  <a:t>Euclidean</a:t>
                </a:r>
                <a:r>
                  <a:rPr lang="en-GB" dirty="0">
                    <a:solidFill>
                      <a:schemeClr val="tx1"/>
                    </a:solidFill>
                    <a:latin typeface="DejaVu Sans"/>
                    <a:ea typeface="DejaVu Sans"/>
                    <a:cs typeface="DejaVu Sans"/>
                  </a:rPr>
                  <a:t> </a:t>
                </a:r>
                <a:r>
                  <a:rPr lang="en-GB" dirty="0" err="1">
                    <a:solidFill>
                      <a:schemeClr val="tx1"/>
                    </a:solidFill>
                    <a:latin typeface="DejaVu Sans"/>
                    <a:ea typeface="DejaVu Sans"/>
                    <a:cs typeface="DejaVu Sans"/>
                  </a:rPr>
                  <a:t>space</a:t>
                </a:r>
                <a:endParaRPr lang="en-GB" b="0" dirty="0">
                  <a:solidFill>
                    <a:schemeClr val="tx1"/>
                  </a:solidFill>
                  <a:latin typeface="DejaVu Sans"/>
                  <a:ea typeface="DejaVu Sans"/>
                  <a:cs typeface="DejaVu Sans"/>
                </a:endParaRPr>
              </a:p>
            </p:txBody>
          </p:sp>
        </mc:Choice>
        <mc:Fallback xmlns="">
          <p:sp>
            <p:nvSpPr>
              <p:cNvPr id="8" name="step_2_text_3">
                <a:extLst>
                  <a:ext uri="{FF2B5EF4-FFF2-40B4-BE49-F238E27FC236}">
                    <a16:creationId xmlns:a16="http://schemas.microsoft.com/office/drawing/2014/main" id="{D66F8975-9F4B-452C-9572-533C48966A7D}"/>
                  </a:ext>
                </a:extLst>
              </p:cNvPr>
              <p:cNvSpPr>
                <a:spLocks noGrp="1" noRot="1" noChangeAspect="1" noMove="1" noResize="1" noEditPoints="1" noAdjustHandles="1" noChangeArrowheads="1" noChangeShapeType="1" noTextEdit="1"/>
              </p:cNvSpPr>
              <p:nvPr/>
            </p:nvSpPr>
            <p:spPr>
              <a:xfrm>
                <a:off x="723900" y="4327946"/>
                <a:ext cx="10744200" cy="2088642"/>
              </a:xfrm>
              <a:prstGeom prst="rect">
                <a:avLst/>
              </a:prstGeom>
              <a:blipFill>
                <a:blip r:embed="rId7"/>
                <a:stretch>
                  <a:fillRect t="-1166" b="-437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lead">
                <a:extLst>
                  <a:ext uri="{FF2B5EF4-FFF2-40B4-BE49-F238E27FC236}">
                    <a16:creationId xmlns:a16="http://schemas.microsoft.com/office/drawing/2014/main" id="{BDF2D73F-A253-FD14-8772-32661D6576DD}"/>
                  </a:ext>
                </a:extLst>
              </p:cNvPr>
              <p:cNvSpPr>
                <a:spLocks noGrp="1"/>
              </p:cNvSpPr>
              <p:nvPr/>
            </p:nvSpPr>
            <p:spPr>
              <a:xfrm>
                <a:off x="781050" y="911471"/>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it-IT" sz="2100" b="0" dirty="0">
                    <a:solidFill>
                      <a:srgbClr val="526276"/>
                    </a:solidFill>
                    <a:latin typeface="DejaVu Sans"/>
                    <a:ea typeface="DejaVu Sans"/>
                    <a:cs typeface="DejaVu Sans"/>
                  </a:rPr>
                  <a:t>Using the </a:t>
                </a:r>
                <a:r>
                  <a:rPr lang="it-IT" sz="2100" b="0" dirty="0" err="1">
                    <a:solidFill>
                      <a:srgbClr val="526276"/>
                    </a:solidFill>
                    <a:latin typeface="DejaVu Sans"/>
                    <a:ea typeface="DejaVu Sans"/>
                    <a:cs typeface="DejaVu Sans"/>
                  </a:rPr>
                  <a:t>sigmoid</a:t>
                </a:r>
                <a:r>
                  <a:rPr lang="it-IT" sz="2100" b="0" dirty="0">
                    <a:solidFill>
                      <a:srgbClr val="526276"/>
                    </a:solidFill>
                    <a:latin typeface="DejaVu Sans"/>
                    <a:ea typeface="DejaVu Sans"/>
                    <a:cs typeface="DejaVu Sans"/>
                  </a:rPr>
                  <a:t> </a:t>
                </a:r>
                <a14:m>
                  <m:oMath xmlns:m="http://schemas.openxmlformats.org/officeDocument/2006/math">
                    <m:r>
                      <a:rPr lang="it-IT" sz="2100" b="0" i="1" smtClean="0">
                        <a:solidFill>
                          <a:srgbClr val="526276"/>
                        </a:solidFill>
                        <a:latin typeface="Cambria Math" panose="02040503050406030204" pitchFamily="18" charset="0"/>
                        <a:ea typeface="DejaVu Sans"/>
                        <a:cs typeface="DejaVu Sans"/>
                      </a:rPr>
                      <m:t>𝜎</m:t>
                    </m:r>
                  </m:oMath>
                </a14:m>
                <a:r>
                  <a:rPr lang="it-IT" sz="2100" b="0" dirty="0">
                    <a:solidFill>
                      <a:srgbClr val="526276"/>
                    </a:solidFill>
                    <a:latin typeface="DejaVu Sans"/>
                    <a:ea typeface="DejaVu Sans"/>
                    <a:cs typeface="DejaVu Sans"/>
                  </a:rPr>
                  <a:t> </a:t>
                </a:r>
                <a:r>
                  <a:rPr lang="it-IT" sz="2100" b="0" dirty="0" err="1">
                    <a:solidFill>
                      <a:srgbClr val="526276"/>
                    </a:solidFill>
                    <a:latin typeface="DejaVu Sans"/>
                    <a:ea typeface="DejaVu Sans"/>
                    <a:cs typeface="DejaVu Sans"/>
                  </a:rPr>
                  <a:t>we</a:t>
                </a:r>
                <a:r>
                  <a:rPr lang="it-IT" sz="2100" b="0" dirty="0">
                    <a:solidFill>
                      <a:srgbClr val="526276"/>
                    </a:solidFill>
                    <a:latin typeface="DejaVu Sans"/>
                    <a:ea typeface="DejaVu Sans"/>
                    <a:cs typeface="DejaVu Sans"/>
                  </a:rPr>
                  <a:t> can turn scores </a:t>
                </a:r>
                <a:r>
                  <a:rPr lang="it-IT" sz="2100" b="0" dirty="0" err="1">
                    <a:solidFill>
                      <a:srgbClr val="526276"/>
                    </a:solidFill>
                    <a:latin typeface="DejaVu Sans"/>
                    <a:ea typeface="DejaVu Sans"/>
                    <a:cs typeface="DejaVu Sans"/>
                  </a:rPr>
                  <a:t>into</a:t>
                </a:r>
                <a:r>
                  <a:rPr lang="it-IT" sz="2100" b="0" dirty="0">
                    <a:solidFill>
                      <a:srgbClr val="526276"/>
                    </a:solidFill>
                    <a:latin typeface="DejaVu Sans"/>
                    <a:ea typeface="DejaVu Sans"/>
                    <a:cs typeface="DejaVu Sans"/>
                  </a:rPr>
                  <a:t> </a:t>
                </a:r>
                <a:r>
                  <a:rPr lang="it-IT" sz="2100" b="0" dirty="0" err="1">
                    <a:solidFill>
                      <a:srgbClr val="526276"/>
                    </a:solidFill>
                    <a:latin typeface="DejaVu Sans"/>
                    <a:ea typeface="DejaVu Sans"/>
                    <a:cs typeface="DejaVu Sans"/>
                  </a:rPr>
                  <a:t>probabilities</a:t>
                </a:r>
                <a:r>
                  <a:rPr lang="it-IT" sz="2100" b="0" dirty="0">
                    <a:solidFill>
                      <a:srgbClr val="526276"/>
                    </a:solidFill>
                    <a:latin typeface="DejaVu Sans"/>
                    <a:ea typeface="DejaVu Sans"/>
                    <a:cs typeface="DejaVu Sans"/>
                  </a:rPr>
                  <a:t>:</a:t>
                </a:r>
                <a:endParaRPr sz="2100" b="0" dirty="0">
                  <a:solidFill>
                    <a:srgbClr val="526276"/>
                  </a:solidFill>
                  <a:latin typeface="DejaVu Sans"/>
                  <a:ea typeface="DejaVu Sans"/>
                  <a:cs typeface="DejaVu Sans"/>
                </a:endParaRPr>
              </a:p>
            </p:txBody>
          </p:sp>
        </mc:Choice>
        <mc:Fallback xmlns="">
          <p:sp>
            <p:nvSpPr>
              <p:cNvPr id="11" name="lead">
                <a:extLst>
                  <a:ext uri="{FF2B5EF4-FFF2-40B4-BE49-F238E27FC236}">
                    <a16:creationId xmlns:a16="http://schemas.microsoft.com/office/drawing/2014/main" id="{BDF2D73F-A253-FD14-8772-32661D6576DD}"/>
                  </a:ext>
                </a:extLst>
              </p:cNvPr>
              <p:cNvSpPr>
                <a:spLocks noGrp="1" noRot="1" noChangeAspect="1" noMove="1" noResize="1" noEditPoints="1" noAdjustHandles="1" noChangeArrowheads="1" noChangeShapeType="1" noTextEdit="1"/>
              </p:cNvSpPr>
              <p:nvPr/>
            </p:nvSpPr>
            <p:spPr>
              <a:xfrm>
                <a:off x="781050" y="911471"/>
                <a:ext cx="10744200" cy="666750"/>
              </a:xfrm>
              <a:prstGeom prst="rect">
                <a:avLst/>
              </a:prstGeom>
              <a:blipFill>
                <a:blip r:embed="rId8"/>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55500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9"/>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EC2A582-9FE6-4EAB-A2B3-3579874F512E}"/>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Comparing two candidate boundaries</a:t>
            </a:r>
          </a:p>
        </p:txBody>
      </p:sp>
      <p:sp>
        <p:nvSpPr>
          <p:cNvPr id="2" name="lead">
            <a:extLst>
              <a:ext uri="{FF2B5EF4-FFF2-40B4-BE49-F238E27FC236}">
                <a16:creationId xmlns:a16="http://schemas.microsoft.com/office/drawing/2014/main" id="{B895FAC1-AD79-4996-BBB5-C605BBFA183D}"/>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it-IT" sz="2100" b="0" dirty="0" err="1">
                <a:solidFill>
                  <a:srgbClr val="526276"/>
                </a:solidFill>
                <a:latin typeface="DejaVu Sans"/>
                <a:ea typeface="DejaVu Sans"/>
                <a:cs typeface="DejaVu Sans"/>
              </a:rPr>
              <a:t>Which of these two classifiers is better?</a:t>
            </a:r>
          </a:p>
          <a:p>
            <a:pPr algn="ctr">
              <a:lnSpc>
                <a:spcPct val="112000"/>
              </a:lnSpc>
              <a:buNone/>
              <a:defRPr sz="2100" b="0">
                <a:solidFill>
                  <a:srgbClr val="526276"/>
                </a:solidFill>
                <a:latin typeface="DejaVu Sans"/>
                <a:ea typeface="DejaVu Sans"/>
                <a:cs typeface="DejaVu Sans"/>
              </a:defRPr>
            </a:pPr>
            <a:r>
              <a:rPr lang="it-IT" sz="2100" dirty="0">
                <a:solidFill>
                  <a:srgbClr val="526276"/>
                </a:solidFill>
                <a:latin typeface="DejaVu Sans"/>
                <a:ea typeface="DejaVu Sans"/>
                <a:cs typeface="DejaVu Sans"/>
              </a:rPr>
              <a:t>Count the </a:t>
            </a:r>
            <a:r>
              <a:rPr lang="it-IT" sz="2100" dirty="0" err="1">
                <a:solidFill>
                  <a:srgbClr val="526276"/>
                </a:solidFill>
                <a:latin typeface="DejaVu Sans"/>
                <a:ea typeface="DejaVu Sans"/>
                <a:cs typeface="DejaVu Sans"/>
              </a:rPr>
              <a:t>number</a:t>
            </a:r>
            <a:r>
              <a:rPr lang="it-IT" sz="2100" dirty="0">
                <a:solidFill>
                  <a:srgbClr val="526276"/>
                </a:solidFill>
                <a:latin typeface="DejaVu Sans"/>
                <a:ea typeface="DejaVu Sans"/>
                <a:cs typeface="DejaVu Sans"/>
              </a:rPr>
              <a:t> of </a:t>
            </a:r>
            <a:r>
              <a:rPr lang="it-IT" sz="2100" dirty="0" err="1">
                <a:solidFill>
                  <a:srgbClr val="526276"/>
                </a:solidFill>
                <a:latin typeface="DejaVu Sans"/>
                <a:ea typeface="DejaVu Sans"/>
                <a:cs typeface="DejaVu Sans"/>
              </a:rPr>
              <a:t>mistakes</a:t>
            </a:r>
            <a:r>
              <a:rPr lang="it-IT" sz="2100" dirty="0">
                <a:solidFill>
                  <a:srgbClr val="526276"/>
                </a:solidFill>
                <a:latin typeface="DejaVu Sans"/>
                <a:ea typeface="DejaVu Sans"/>
                <a:cs typeface="DejaVu Sans"/>
              </a:rPr>
              <a:t>!</a:t>
            </a:r>
            <a:endParaRPr sz="2100" b="0" dirty="0">
              <a:solidFill>
                <a:srgbClr val="526276"/>
              </a:solidFill>
              <a:latin typeface="DejaVu Sans"/>
              <a:ea typeface="DejaVu Sans"/>
              <a:cs typeface="DejaVu Sans"/>
            </a:endParaRPr>
          </a:p>
        </p:txBody>
      </p:sp>
      <p:sp>
        <p:nvSpPr>
          <p:cNvPr id="3" name="footer_course">
            <a:extLst>
              <a:ext uri="{FF2B5EF4-FFF2-40B4-BE49-F238E27FC236}">
                <a16:creationId xmlns:a16="http://schemas.microsoft.com/office/drawing/2014/main" id="{E649E216-A573-47C6-BD62-4D026AB6B60F}"/>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127FA9AC-73A3-49B0-A2F4-5FAF569025F0}"/>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10</a:t>
            </a:r>
          </a:p>
        </p:txBody>
      </p:sp>
      <p:graphicFrame>
        <p:nvGraphicFramePr>
          <p:cNvPr id="15" name="step_0_chart_0"/>
          <p:cNvGraphicFramePr/>
          <p:nvPr/>
        </p:nvGraphicFramePr>
        <p:xfrm>
          <a:off x="619125" y="1962150"/>
          <a:ext cx="5238750" cy="32861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step_1_chart_1"/>
          <p:cNvGraphicFramePr/>
          <p:nvPr/>
        </p:nvGraphicFramePr>
        <p:xfrm>
          <a:off x="6324600" y="1962150"/>
          <a:ext cx="5238750" cy="3286125"/>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7" name="step_0_equation_2" descr="x_2=5.75">
                <a:extLst>
                  <a:ext uri="{FF2B5EF4-FFF2-40B4-BE49-F238E27FC236}">
                    <a16:creationId xmlns:a16="http://schemas.microsoft.com/office/drawing/2014/main" id="{F0BF7E50-4AD3-4BC8-936B-F0F07B599C95}"/>
                  </a:ext>
                </a:extLst>
              </p:cNvPr>
              <p:cNvSpPr>
                <a:spLocks noGrp="1"/>
              </p:cNvSpPr>
              <p:nvPr/>
            </p:nvSpPr>
            <p:spPr>
              <a:xfrm>
                <a:off x="666750" y="5257800"/>
                <a:ext cx="5238750" cy="5429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700" b="1" i="0" smtClean="0">
                          <a:solidFill>
                            <a:srgbClr val="087F83"/>
                          </a:solidFill>
                          <a:latin typeface="Cambria Math" panose="02040503050406030204" pitchFamily="18" charset="0"/>
                          <a:ea typeface="Cambria Math"/>
                          <a:cs typeface="Cambria Math"/>
                        </a:rPr>
                        <m:t>𝛉</m:t>
                      </m:r>
                      <m:r>
                        <a:rPr lang="it-IT" sz="2700" b="0" i="0" smtClean="0">
                          <a:solidFill>
                            <a:srgbClr val="087F83"/>
                          </a:solidFill>
                          <a:latin typeface="Cambria Math" panose="02040503050406030204" pitchFamily="18" charset="0"/>
                          <a:ea typeface="Cambria Math"/>
                          <a:cs typeface="Cambria Math"/>
                        </a:rPr>
                        <m:t>=</m:t>
                      </m:r>
                      <m:sSup>
                        <m:sSupPr>
                          <m:ctrlPr>
                            <a:rPr lang="it-IT" sz="2700" b="0" i="1" smtClean="0">
                              <a:solidFill>
                                <a:srgbClr val="087F83"/>
                              </a:solidFill>
                              <a:latin typeface="Cambria Math" panose="02040503050406030204" pitchFamily="18" charset="0"/>
                              <a:ea typeface="Cambria Math"/>
                            </a:rPr>
                          </m:ctrlPr>
                        </m:sSupPr>
                        <m:e>
                          <m:d>
                            <m:dPr>
                              <m:ctrlPr>
                                <a:rPr lang="it-IT" sz="2700" b="0" i="1" smtClean="0">
                                  <a:solidFill>
                                    <a:srgbClr val="087F83"/>
                                  </a:solidFill>
                                  <a:latin typeface="Cambria Math" panose="02040503050406030204" pitchFamily="18" charset="0"/>
                                  <a:ea typeface="Cambria Math"/>
                                </a:rPr>
                              </m:ctrlPr>
                            </m:dPr>
                            <m:e>
                              <m:r>
                                <a:rPr lang="it-IT" sz="2700" b="0" i="1" smtClean="0">
                                  <a:solidFill>
                                    <a:srgbClr val="087F83"/>
                                  </a:solidFill>
                                  <a:latin typeface="Cambria Math" panose="02040503050406030204" pitchFamily="18" charset="0"/>
                                  <a:ea typeface="Cambria Math"/>
                                </a:rPr>
                                <m:t>−5.75,0,1</m:t>
                              </m:r>
                            </m:e>
                          </m:d>
                        </m:e>
                        <m:sup>
                          <m:r>
                            <a:rPr lang="it-IT" sz="2700" b="0" i="1" smtClean="0">
                              <a:solidFill>
                                <a:srgbClr val="087F83"/>
                              </a:solidFill>
                              <a:latin typeface="Cambria Math" panose="02040503050406030204" pitchFamily="18" charset="0"/>
                              <a:ea typeface="Cambria Math"/>
                            </a:rPr>
                            <m:t>⊤</m:t>
                          </m:r>
                        </m:sup>
                      </m:sSup>
                      <m:r>
                        <a:rPr lang="it-IT" sz="2700" b="0" i="1" smtClean="0">
                          <a:solidFill>
                            <a:srgbClr val="087F83"/>
                          </a:solidFill>
                          <a:latin typeface="Cambria Math" panose="02040503050406030204" pitchFamily="18" charset="0"/>
                          <a:ea typeface="Cambria Math"/>
                        </a:rPr>
                        <m:t>,  </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𝑥</m:t>
                          </m:r>
                        </m:e>
                        <m:sub>
                          <m:r>
                            <a:rPr lang="en-GB" sz="2700">
                              <a:solidFill>
                                <a:srgbClr val="087F83"/>
                              </a:solidFill>
                              <a:latin typeface="Cambria Math"/>
                              <a:ea typeface="Cambria Math"/>
                              <a:cs typeface="Cambria Math"/>
                            </a:rPr>
                            <m:t>2</m:t>
                          </m:r>
                        </m:sub>
                      </m:sSub>
                      <m:r>
                        <a:rPr lang="en-GB" sz="2700">
                          <a:solidFill>
                            <a:srgbClr val="087F83"/>
                          </a:solidFill>
                          <a:latin typeface="Cambria Math"/>
                          <a:ea typeface="Cambria Math"/>
                          <a:cs typeface="Cambria Math"/>
                        </a:rPr>
                        <m:t>=5.75</m:t>
                      </m:r>
                    </m:oMath>
                  </m:oMathPara>
                </a14:m>
                <a:endParaRPr lang="en-GB" sz="2700" dirty="0"/>
              </a:p>
            </p:txBody>
          </p:sp>
        </mc:Choice>
        <mc:Fallback xmlns="">
          <p:sp>
            <p:nvSpPr>
              <p:cNvPr id="7" name="step_0_equation_2" descr="x_2=5.75">
                <a:extLst>
                  <a:ext uri="{FF2B5EF4-FFF2-40B4-BE49-F238E27FC236}">
                    <a16:creationId xmlns:a16="http://schemas.microsoft.com/office/drawing/2014/main" id="{F0BF7E50-4AD3-4BC8-936B-F0F07B599C95}"/>
                  </a:ext>
                </a:extLst>
              </p:cNvPr>
              <p:cNvSpPr>
                <a:spLocks noGrp="1" noRot="1" noChangeAspect="1" noMove="1" noResize="1" noEditPoints="1" noAdjustHandles="1" noChangeArrowheads="1" noChangeShapeType="1" noTextEdit="1"/>
              </p:cNvSpPr>
              <p:nvPr/>
            </p:nvSpPr>
            <p:spPr>
              <a:xfrm>
                <a:off x="666750" y="5257800"/>
                <a:ext cx="5238750" cy="54292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step_1_equation_3" descr="x_2=0.6x_1+1">
                <a:extLst>
                  <a:ext uri="{FF2B5EF4-FFF2-40B4-BE49-F238E27FC236}">
                    <a16:creationId xmlns:a16="http://schemas.microsoft.com/office/drawing/2014/main" id="{BE0A0AB5-247E-42B0-B790-F4AE8FE94D90}"/>
                  </a:ext>
                </a:extLst>
              </p:cNvPr>
              <p:cNvSpPr>
                <a:spLocks noGrp="1"/>
              </p:cNvSpPr>
              <p:nvPr/>
            </p:nvSpPr>
            <p:spPr>
              <a:xfrm>
                <a:off x="6324600" y="5257800"/>
                <a:ext cx="5238750" cy="5429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700" b="1" smtClean="0">
                          <a:solidFill>
                            <a:srgbClr val="087F83"/>
                          </a:solidFill>
                          <a:latin typeface="Cambria Math" panose="02040503050406030204" pitchFamily="18" charset="0"/>
                          <a:ea typeface="Cambria Math"/>
                          <a:cs typeface="Cambria Math"/>
                        </a:rPr>
                        <m:t>𝛉</m:t>
                      </m:r>
                      <m:r>
                        <a:rPr lang="it-IT" sz="2700">
                          <a:solidFill>
                            <a:srgbClr val="087F83"/>
                          </a:solidFill>
                          <a:latin typeface="Cambria Math" panose="02040503050406030204" pitchFamily="18" charset="0"/>
                          <a:ea typeface="Cambria Math"/>
                          <a:cs typeface="Cambria Math"/>
                        </a:rPr>
                        <m:t>=</m:t>
                      </m:r>
                      <m:sSup>
                        <m:sSupPr>
                          <m:ctrlPr>
                            <a:rPr lang="it-IT" sz="2700" b="0" i="1" smtClean="0">
                              <a:solidFill>
                                <a:srgbClr val="087F83"/>
                              </a:solidFill>
                              <a:latin typeface="Cambria Math" panose="02040503050406030204" pitchFamily="18" charset="0"/>
                              <a:ea typeface="Cambria Math"/>
                            </a:rPr>
                          </m:ctrlPr>
                        </m:sSupPr>
                        <m:e>
                          <m:d>
                            <m:dPr>
                              <m:ctrlPr>
                                <a:rPr lang="it-IT" sz="2700" b="0" i="1" smtClean="0">
                                  <a:solidFill>
                                    <a:srgbClr val="087F83"/>
                                  </a:solidFill>
                                  <a:latin typeface="Cambria Math" panose="02040503050406030204" pitchFamily="18" charset="0"/>
                                  <a:ea typeface="Cambria Math"/>
                                </a:rPr>
                              </m:ctrlPr>
                            </m:dPr>
                            <m:e>
                              <m:r>
                                <a:rPr lang="it-IT" sz="2700" b="0" i="1" smtClean="0">
                                  <a:solidFill>
                                    <a:srgbClr val="087F83"/>
                                  </a:solidFill>
                                  <a:latin typeface="Cambria Math" panose="02040503050406030204" pitchFamily="18" charset="0"/>
                                  <a:ea typeface="Cambria Math"/>
                                </a:rPr>
                                <m:t>−1</m:t>
                              </m:r>
                              <m:r>
                                <a:rPr lang="it-IT" sz="2700" i="1">
                                  <a:solidFill>
                                    <a:srgbClr val="087F83"/>
                                  </a:solidFill>
                                  <a:latin typeface="Cambria Math" panose="02040503050406030204" pitchFamily="18" charset="0"/>
                                  <a:ea typeface="Cambria Math"/>
                                </a:rPr>
                                <m:t>,</m:t>
                              </m:r>
                              <m:r>
                                <a:rPr lang="it-IT" sz="2700" b="0" i="1" smtClean="0">
                                  <a:solidFill>
                                    <a:srgbClr val="087F83"/>
                                  </a:solidFill>
                                  <a:latin typeface="Cambria Math" panose="02040503050406030204" pitchFamily="18" charset="0"/>
                                  <a:ea typeface="Cambria Math"/>
                                </a:rPr>
                                <m:t>−</m:t>
                              </m:r>
                              <m:r>
                                <a:rPr lang="it-IT" sz="2700" i="1">
                                  <a:solidFill>
                                    <a:srgbClr val="087F83"/>
                                  </a:solidFill>
                                  <a:latin typeface="Cambria Math" panose="02040503050406030204" pitchFamily="18" charset="0"/>
                                  <a:ea typeface="Cambria Math"/>
                                </a:rPr>
                                <m:t>0</m:t>
                              </m:r>
                              <m:r>
                                <a:rPr lang="it-IT" sz="2700" b="0" i="1" smtClean="0">
                                  <a:solidFill>
                                    <a:srgbClr val="087F83"/>
                                  </a:solidFill>
                                  <a:latin typeface="Cambria Math" panose="02040503050406030204" pitchFamily="18" charset="0"/>
                                  <a:ea typeface="Cambria Math"/>
                                </a:rPr>
                                <m:t>.6</m:t>
                              </m:r>
                              <m:r>
                                <a:rPr lang="it-IT" sz="2700" i="1">
                                  <a:solidFill>
                                    <a:srgbClr val="087F83"/>
                                  </a:solidFill>
                                  <a:latin typeface="Cambria Math" panose="02040503050406030204" pitchFamily="18" charset="0"/>
                                  <a:ea typeface="Cambria Math"/>
                                </a:rPr>
                                <m:t>,1</m:t>
                              </m:r>
                            </m:e>
                          </m:d>
                        </m:e>
                        <m:sup>
                          <m:r>
                            <a:rPr lang="it-IT" sz="2700" i="1">
                              <a:solidFill>
                                <a:srgbClr val="087F83"/>
                              </a:solidFill>
                              <a:latin typeface="Cambria Math" panose="02040503050406030204" pitchFamily="18" charset="0"/>
                              <a:ea typeface="Cambria Math"/>
                            </a:rPr>
                            <m:t>⊤</m:t>
                          </m:r>
                        </m:sup>
                      </m:sSup>
                      <m:r>
                        <a:rPr lang="it-IT" sz="2700" b="0" i="1" smtClean="0">
                          <a:solidFill>
                            <a:srgbClr val="087F83"/>
                          </a:solidFill>
                          <a:latin typeface="Cambria Math" panose="02040503050406030204" pitchFamily="18" charset="0"/>
                          <a:ea typeface="Cambria Math"/>
                        </a:rPr>
                        <m:t>,  </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𝑥</m:t>
                          </m:r>
                        </m:e>
                        <m:sub>
                          <m:r>
                            <a:rPr lang="en-GB" sz="2700">
                              <a:solidFill>
                                <a:srgbClr val="087F83"/>
                              </a:solidFill>
                              <a:latin typeface="Cambria Math"/>
                              <a:ea typeface="Cambria Math"/>
                              <a:cs typeface="Cambria Math"/>
                            </a:rPr>
                            <m:t>2</m:t>
                          </m:r>
                        </m:sub>
                      </m:sSub>
                      <m:r>
                        <a:rPr lang="en-GB" sz="2700">
                          <a:solidFill>
                            <a:srgbClr val="087F83"/>
                          </a:solidFill>
                          <a:latin typeface="Cambria Math"/>
                          <a:ea typeface="Cambria Math"/>
                          <a:cs typeface="Cambria Math"/>
                        </a:rPr>
                        <m:t>=0.6</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𝑥</m:t>
                          </m:r>
                        </m:e>
                        <m:sub>
                          <m:r>
                            <a:rPr lang="en-GB" sz="2700">
                              <a:solidFill>
                                <a:srgbClr val="087F83"/>
                              </a:solidFill>
                              <a:latin typeface="Cambria Math"/>
                              <a:ea typeface="Cambria Math"/>
                              <a:cs typeface="Cambria Math"/>
                            </a:rPr>
                            <m:t>1</m:t>
                          </m:r>
                        </m:sub>
                      </m:sSub>
                      <m:r>
                        <a:rPr lang="en-GB" sz="2700">
                          <a:solidFill>
                            <a:srgbClr val="087F83"/>
                          </a:solidFill>
                          <a:latin typeface="Cambria Math"/>
                          <a:ea typeface="Cambria Math"/>
                          <a:cs typeface="Cambria Math"/>
                        </a:rPr>
                        <m:t>+1</m:t>
                      </m:r>
                    </m:oMath>
                  </m:oMathPara>
                </a14:m>
                <a:endParaRPr lang="en-GB" sz="2700" dirty="0"/>
              </a:p>
            </p:txBody>
          </p:sp>
        </mc:Choice>
        <mc:Fallback xmlns="">
          <p:sp>
            <p:nvSpPr>
              <p:cNvPr id="8" name="step_1_equation_3" descr="x_2=0.6x_1+1">
                <a:extLst>
                  <a:ext uri="{FF2B5EF4-FFF2-40B4-BE49-F238E27FC236}">
                    <a16:creationId xmlns:a16="http://schemas.microsoft.com/office/drawing/2014/main" id="{BE0A0AB5-247E-42B0-B790-F4AE8FE94D90}"/>
                  </a:ext>
                </a:extLst>
              </p:cNvPr>
              <p:cNvSpPr>
                <a:spLocks noGrp="1" noRot="1" noChangeAspect="1" noMove="1" noResize="1" noEditPoints="1" noAdjustHandles="1" noChangeArrowheads="1" noChangeShapeType="1" noTextEdit="1"/>
              </p:cNvSpPr>
              <p:nvPr/>
            </p:nvSpPr>
            <p:spPr>
              <a:xfrm>
                <a:off x="6324600" y="5257800"/>
                <a:ext cx="5238750" cy="542925"/>
              </a:xfrm>
              <a:prstGeom prst="rect">
                <a:avLst/>
              </a:prstGeom>
              <a:blipFill>
                <a:blip r:embed="rId6"/>
                <a:stretch>
                  <a:fillRect l="-3725" r="-2212"/>
                </a:stretch>
              </a:blipFill>
              <a:ln w="0">
                <a:noFill/>
              </a:ln>
            </p:spPr>
            <p:txBody>
              <a:bodyPr/>
              <a:lstStyle/>
              <a:p>
                <a:r>
                  <a:rPr lang="it-IT">
                    <a:noFill/>
                  </a:rPr>
                  <a:t> </a:t>
                </a:r>
              </a:p>
            </p:txBody>
          </p:sp>
        </mc:Fallback>
      </mc:AlternateContent>
      <p:sp>
        <p:nvSpPr>
          <p:cNvPr id="6" name="CasellaDiTesto 5">
            <a:extLst>
              <a:ext uri="{FF2B5EF4-FFF2-40B4-BE49-F238E27FC236}">
                <a16:creationId xmlns:a16="http://schemas.microsoft.com/office/drawing/2014/main" id="{30D91C1F-D386-0701-A889-F59BA15D30FC}"/>
              </a:ext>
            </a:extLst>
          </p:cNvPr>
          <p:cNvSpPr txBox="1"/>
          <p:nvPr/>
        </p:nvSpPr>
        <p:spPr>
          <a:xfrm>
            <a:off x="874776" y="5948079"/>
            <a:ext cx="10442448" cy="419667"/>
          </a:xfrm>
          <a:prstGeom prst="rect">
            <a:avLst/>
          </a:prstGeom>
          <a:noFill/>
        </p:spPr>
        <p:txBody>
          <a:bodyPr wrap="square">
            <a:spAutoFit/>
          </a:bodyPr>
          <a:lstStyle/>
          <a:p>
            <a:pPr algn="ctr">
              <a:lnSpc>
                <a:spcPct val="112000"/>
              </a:lnSpc>
              <a:buNone/>
              <a:defRPr sz="2100" b="0">
                <a:solidFill>
                  <a:srgbClr val="526276"/>
                </a:solidFill>
                <a:latin typeface="DejaVu Sans"/>
                <a:ea typeface="DejaVu Sans"/>
                <a:cs typeface="DejaVu Sans"/>
              </a:defRPr>
            </a:pPr>
            <a:r>
              <a:rPr lang="en-GB" sz="2100" dirty="0">
                <a:solidFill>
                  <a:srgbClr val="526276"/>
                </a:solidFill>
                <a:latin typeface="DejaVu Sans"/>
                <a:ea typeface="DejaVu Sans"/>
                <a:cs typeface="DejaVu Sans"/>
              </a:rPr>
              <a:t>The classifier on the right makes fewer mistakes on these observations</a:t>
            </a:r>
            <a:endParaRPr lang="en-GB" sz="2100" b="0" dirty="0">
              <a:solidFill>
                <a:srgbClr val="526276"/>
              </a:solidFill>
              <a:latin typeface="DejaVu Sans"/>
              <a:ea typeface="DejaVu Sans"/>
              <a:cs typeface="DejaVu Sans"/>
            </a:endParaRPr>
          </a:p>
        </p:txBody>
      </p:sp>
      <p:sp>
        <p:nvSpPr>
          <p:cNvPr id="17" name="step_0_left_class1">
            <a:extLst>
              <a:ext uri="{FF2B5EF4-FFF2-40B4-BE49-F238E27FC236}">
                <a16:creationId xmlns:a16="http://schemas.microsoft.com/office/drawing/2014/main" id="{F19B077B-32AD-40D8-AA93-2BA4031AEC09}"/>
              </a:ext>
            </a:extLst>
          </p:cNvPr>
          <p:cNvSpPr>
            <a:spLocks noGrp="1"/>
          </p:cNvSpPr>
          <p:nvPr/>
        </p:nvSpPr>
        <p:spPr>
          <a:xfrm>
            <a:off x="1828800" y="2257425"/>
            <a:ext cx="1133475" cy="314325"/>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8" name="step_0_left_class0">
            <a:extLst>
              <a:ext uri="{FF2B5EF4-FFF2-40B4-BE49-F238E27FC236}">
                <a16:creationId xmlns:a16="http://schemas.microsoft.com/office/drawing/2014/main" id="{7F91DA4C-9CC9-451E-BA40-9F312BF0EC44}"/>
              </a:ext>
            </a:extLst>
          </p:cNvPr>
          <p:cNvSpPr>
            <a:spLocks noGrp="1"/>
          </p:cNvSpPr>
          <p:nvPr/>
        </p:nvSpPr>
        <p:spPr>
          <a:xfrm>
            <a:off x="4467225" y="3781425"/>
            <a:ext cx="1133475" cy="314325"/>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
        <p:nvSpPr>
          <p:cNvPr id="19" name="step_1_right_class1">
            <a:extLst>
              <a:ext uri="{FF2B5EF4-FFF2-40B4-BE49-F238E27FC236}">
                <a16:creationId xmlns:a16="http://schemas.microsoft.com/office/drawing/2014/main" id="{B5837226-9418-4239-A8D4-E0E9128AE895}"/>
              </a:ext>
            </a:extLst>
          </p:cNvPr>
          <p:cNvSpPr>
            <a:spLocks noGrp="1"/>
          </p:cNvSpPr>
          <p:nvPr/>
        </p:nvSpPr>
        <p:spPr>
          <a:xfrm>
            <a:off x="7524750" y="2257425"/>
            <a:ext cx="1133475" cy="314325"/>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20" name="step_1_right_class0">
            <a:extLst>
              <a:ext uri="{FF2B5EF4-FFF2-40B4-BE49-F238E27FC236}">
                <a16:creationId xmlns:a16="http://schemas.microsoft.com/office/drawing/2014/main" id="{C509D4D0-884B-4610-ADF6-714EF818681A}"/>
              </a:ext>
            </a:extLst>
          </p:cNvPr>
          <p:cNvSpPr>
            <a:spLocks noGrp="1"/>
          </p:cNvSpPr>
          <p:nvPr/>
        </p:nvSpPr>
        <p:spPr>
          <a:xfrm>
            <a:off x="10163175" y="3781425"/>
            <a:ext cx="1133475" cy="314325"/>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Tree>
    <p:extLst>
      <p:ext uri="{BB962C8B-B14F-4D97-AF65-F5344CB8AC3E}">
        <p14:creationId xmlns:p14="http://schemas.microsoft.com/office/powerpoint/2010/main" val="1014181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B91429AF-C9F4-4577-9A43-952AAEF55B5B}"/>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l">
              <a:lnSpc>
                <a:spcPct val="112000"/>
              </a:lnSpc>
              <a:buNone/>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Today's lecture</a:t>
            </a:r>
          </a:p>
        </p:txBody>
      </p:sp>
      <p:sp>
        <p:nvSpPr>
          <p:cNvPr id="2" name="footer_course">
            <a:extLst>
              <a:ext uri="{FF2B5EF4-FFF2-40B4-BE49-F238E27FC236}">
                <a16:creationId xmlns:a16="http://schemas.microsoft.com/office/drawing/2014/main" id="{B24D9DCE-6359-4148-B73A-1D4D4D26EAA5}"/>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3" name="footer_number">
            <a:extLst>
              <a:ext uri="{FF2B5EF4-FFF2-40B4-BE49-F238E27FC236}">
                <a16:creationId xmlns:a16="http://schemas.microsoft.com/office/drawing/2014/main" id="{DC45E5F1-199C-4702-B973-BE05D9671B7F}"/>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11</a:t>
            </a:r>
          </a:p>
        </p:txBody>
      </p:sp>
      <p:sp>
        <p:nvSpPr>
          <p:cNvPr id="4" name="agenda_0">
            <a:extLst>
              <a:ext uri="{FF2B5EF4-FFF2-40B4-BE49-F238E27FC236}">
                <a16:creationId xmlns:a16="http://schemas.microsoft.com/office/drawing/2014/main" id="{15B1D87C-22DA-4ACD-AF84-14784CB18DFD}"/>
              </a:ext>
            </a:extLst>
          </p:cNvPr>
          <p:cNvSpPr>
            <a:spLocks noGrp="1"/>
          </p:cNvSpPr>
          <p:nvPr/>
        </p:nvSpPr>
        <p:spPr>
          <a:xfrm>
            <a:off x="1038225" y="21526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Binary classification</a:t>
            </a:r>
          </a:p>
        </p:txBody>
      </p:sp>
      <p:sp>
        <p:nvSpPr>
          <p:cNvPr id="5" name="agenda_1">
            <a:extLst>
              <a:ext uri="{FF2B5EF4-FFF2-40B4-BE49-F238E27FC236}">
                <a16:creationId xmlns:a16="http://schemas.microsoft.com/office/drawing/2014/main" id="{CF8BB44D-C2A4-4278-A20F-C4DFAB22393E}"/>
              </a:ext>
            </a:extLst>
          </p:cNvPr>
          <p:cNvSpPr>
            <a:spLocks noGrp="1"/>
          </p:cNvSpPr>
          <p:nvPr/>
        </p:nvSpPr>
        <p:spPr>
          <a:xfrm>
            <a:off x="1038225" y="3105150"/>
            <a:ext cx="10144125" cy="609600"/>
          </a:xfrm>
          <a:prstGeom prst="rect">
            <a:avLst/>
          </a:prstGeom>
          <a:noFill/>
          <a:ln w="0">
            <a:noFill/>
          </a:ln>
        </p:spPr>
        <p:txBody>
          <a:bodyPr wrap="square" lIns="0" tIns="0" rIns="0" bIns="0" anchor="ctr">
            <a:noAutofit/>
          </a:bodyPr>
          <a:lstStyle/>
          <a:p>
            <a:pPr algn="l">
              <a:lnSpc>
                <a:spcPct val="112000"/>
              </a:lnSpc>
              <a:buNone/>
              <a:defRPr sz="2775" b="1">
                <a:solidFill>
                  <a:srgbClr val="087F83"/>
                </a:solidFill>
                <a:latin typeface="DejaVu Sans"/>
                <a:ea typeface="DejaVu Sans"/>
                <a:cs typeface="DejaVu Sans"/>
              </a:defRPr>
            </a:pPr>
            <a:r>
              <a:rPr sz="2775" b="1">
                <a:solidFill>
                  <a:srgbClr val="087F83"/>
                </a:solidFill>
                <a:latin typeface="DejaVu Sans"/>
                <a:ea typeface="DejaVu Sans"/>
                <a:cs typeface="DejaVu Sans"/>
              </a:rPr>
              <a:t>Classification error and logistic loss</a:t>
            </a:r>
          </a:p>
        </p:txBody>
      </p:sp>
      <p:sp>
        <p:nvSpPr>
          <p:cNvPr id="6" name="agenda_2">
            <a:extLst>
              <a:ext uri="{FF2B5EF4-FFF2-40B4-BE49-F238E27FC236}">
                <a16:creationId xmlns:a16="http://schemas.microsoft.com/office/drawing/2014/main" id="{B530C4F8-AA01-4C12-A283-22893A1BEDDB}"/>
              </a:ext>
            </a:extLst>
          </p:cNvPr>
          <p:cNvSpPr>
            <a:spLocks noGrp="1"/>
          </p:cNvSpPr>
          <p:nvPr/>
        </p:nvSpPr>
        <p:spPr>
          <a:xfrm>
            <a:off x="1038225" y="40576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Gradient descent</a:t>
            </a:r>
          </a:p>
        </p:txBody>
      </p:sp>
      <p:sp>
        <p:nvSpPr>
          <p:cNvPr id="7" name="agenda_3">
            <a:extLst>
              <a:ext uri="{FF2B5EF4-FFF2-40B4-BE49-F238E27FC236}">
                <a16:creationId xmlns:a16="http://schemas.microsoft.com/office/drawing/2014/main" id="{E9488CD0-123F-4F69-8212-5A006220B060}"/>
              </a:ext>
            </a:extLst>
          </p:cNvPr>
          <p:cNvSpPr>
            <a:spLocks noGrp="1"/>
          </p:cNvSpPr>
          <p:nvPr/>
        </p:nvSpPr>
        <p:spPr>
          <a:xfrm>
            <a:off x="1038225" y="50101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More than two classes</a:t>
            </a:r>
          </a:p>
        </p:txBody>
      </p:sp>
    </p:spTree>
    <p:extLst>
      <p:ext uri="{BB962C8B-B14F-4D97-AF65-F5344CB8AC3E}">
        <p14:creationId xmlns:p14="http://schemas.microsoft.com/office/powerpoint/2010/main" val="631502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08589605-26BF-41DD-B385-C6E0E9E9CDFC}"/>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Finding the parameters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C11ACB78-6888-484A-9E3A-D86285E1703C}"/>
                  </a:ext>
                </a:extLst>
              </p:cNvPr>
              <p:cNvSpPr>
                <a:spLocks noGrp="1"/>
              </p:cNvSpPr>
              <p:nvPr/>
            </p:nvSpPr>
            <p:spPr>
              <a:xfrm>
                <a:off x="352425" y="1074979"/>
                <a:ext cx="10744200" cy="1214437"/>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en-GB" sz="2300" b="0" dirty="0">
                    <a:solidFill>
                      <a:srgbClr val="526276"/>
                    </a:solidFill>
                    <a:latin typeface="DejaVu Sans"/>
                    <a:ea typeface="DejaVu Sans"/>
                    <a:cs typeface="DejaVu Sans"/>
                  </a:rPr>
                  <a:t>We want the </a:t>
                </a:r>
                <a:r>
                  <a:rPr lang="en-GB" sz="2300" b="0" dirty="0">
                    <a:solidFill>
                      <a:srgbClr val="FF0000"/>
                    </a:solidFill>
                    <a:latin typeface="DejaVu Sans"/>
                    <a:ea typeface="DejaVu Sans"/>
                    <a:cs typeface="DejaVu Sans"/>
                  </a:rPr>
                  <a:t>smallest mistake count</a:t>
                </a:r>
                <a:r>
                  <a:rPr lang="en-GB" sz="2300" b="0" dirty="0">
                    <a:solidFill>
                      <a:srgbClr val="526276"/>
                    </a:solidFill>
                    <a:latin typeface="DejaVu Sans"/>
                    <a:ea typeface="DejaVu Sans"/>
                    <a:cs typeface="DejaVu Sans"/>
                  </a:rPr>
                  <a:t>.</a:t>
                </a:r>
              </a:p>
              <a:p>
                <a:pPr algn="ctr">
                  <a:lnSpc>
                    <a:spcPct val="112000"/>
                  </a:lnSpc>
                  <a:defRPr sz="2100" b="0">
                    <a:solidFill>
                      <a:srgbClr val="526276"/>
                    </a:solidFill>
                    <a:latin typeface="DejaVu Sans"/>
                    <a:ea typeface="DejaVu Sans"/>
                    <a:cs typeface="DejaVu Sans"/>
                  </a:defRPr>
                </a:pPr>
                <a:r>
                  <a:rPr lang="it-IT" sz="2300" b="0" dirty="0">
                    <a:solidFill>
                      <a:srgbClr val="526276"/>
                    </a:solidFill>
                    <a:latin typeface="DejaVu Sans"/>
                    <a:ea typeface="DejaVu Sans"/>
                    <a:cs typeface="DejaVu Sans"/>
                  </a:rPr>
                  <a:t>Finding the </a:t>
                </a:r>
                <a:r>
                  <a:rPr lang="it-IT" sz="2300" b="0" dirty="0" err="1">
                    <a:solidFill>
                      <a:srgbClr val="526276"/>
                    </a:solidFill>
                    <a:latin typeface="DejaVu Sans"/>
                    <a:ea typeface="DejaVu Sans"/>
                    <a:cs typeface="DejaVu Sans"/>
                  </a:rPr>
                  <a:t>parameter</a:t>
                </a:r>
                <a:r>
                  <a:rPr lang="it-IT" sz="2300" b="0" dirty="0">
                    <a:solidFill>
                      <a:srgbClr val="526276"/>
                    </a:solidFill>
                    <a:latin typeface="DejaVu Sans"/>
                    <a:ea typeface="DejaVu Sans"/>
                    <a:cs typeface="DejaVu Sans"/>
                  </a:rPr>
                  <a:t> </a:t>
                </a:r>
                <a14:m>
                  <m:oMath xmlns:m="http://schemas.openxmlformats.org/officeDocument/2006/math">
                    <m:sSup>
                      <m:sSupPr>
                        <m:ctrlPr>
                          <a:rPr lang="it-IT" sz="2300" b="1" i="0" smtClean="0">
                            <a:solidFill>
                              <a:srgbClr val="526276"/>
                            </a:solidFill>
                            <a:latin typeface="Cambria Math" panose="02040503050406030204" pitchFamily="18" charset="0"/>
                            <a:ea typeface="DejaVu Sans"/>
                            <a:cs typeface="DejaVu Sans"/>
                          </a:rPr>
                        </m:ctrlPr>
                      </m:sSupPr>
                      <m:e>
                        <m:r>
                          <a:rPr lang="it-IT" sz="2300" b="1" i="0" smtClean="0">
                            <a:solidFill>
                              <a:srgbClr val="526276"/>
                            </a:solidFill>
                            <a:latin typeface="Cambria Math" panose="02040503050406030204" pitchFamily="18" charset="0"/>
                            <a:ea typeface="DejaVu Sans"/>
                            <a:cs typeface="DejaVu Sans"/>
                          </a:rPr>
                          <m:t>𝛉</m:t>
                        </m:r>
                      </m:e>
                      <m:sup>
                        <m:r>
                          <a:rPr lang="it-IT" sz="2300" b="0" i="1" smtClean="0">
                            <a:solidFill>
                              <a:srgbClr val="526276"/>
                            </a:solidFill>
                            <a:latin typeface="Cambria Math" panose="02040503050406030204" pitchFamily="18" charset="0"/>
                            <a:ea typeface="DejaVu Sans"/>
                            <a:cs typeface="DejaVu Sans"/>
                          </a:rPr>
                          <m:t>∗</m:t>
                        </m:r>
                      </m:sup>
                    </m:sSup>
                  </m:oMath>
                </a14:m>
                <a:r>
                  <a:rPr lang="it-IT" sz="2300" b="0" dirty="0">
                    <a:solidFill>
                      <a:srgbClr val="526276"/>
                    </a:solidFill>
                    <a:latin typeface="DejaVu Sans"/>
                    <a:ea typeface="DejaVu Sans"/>
                    <a:cs typeface="DejaVu Sans"/>
                  </a:rPr>
                  <a:t> </a:t>
                </a:r>
                <a:r>
                  <a:rPr lang="it-IT" sz="2300" b="0" dirty="0" err="1">
                    <a:solidFill>
                      <a:srgbClr val="526276"/>
                    </a:solidFill>
                    <a:latin typeface="DejaVu Sans"/>
                    <a:ea typeface="DejaVu Sans"/>
                    <a:cs typeface="DejaVu Sans"/>
                  </a:rPr>
                  <a:t>that</a:t>
                </a:r>
                <a:r>
                  <a:rPr lang="it-IT" sz="2300" b="0" dirty="0">
                    <a:solidFill>
                      <a:srgbClr val="526276"/>
                    </a:solidFill>
                    <a:latin typeface="DejaVu Sans"/>
                    <a:ea typeface="DejaVu Sans"/>
                    <a:cs typeface="DejaVu Sans"/>
                  </a:rPr>
                  <a:t> </a:t>
                </a:r>
                <a:r>
                  <a:rPr lang="it-IT" sz="2300" b="0" dirty="0" err="1">
                    <a:solidFill>
                      <a:srgbClr val="526276"/>
                    </a:solidFill>
                    <a:latin typeface="DejaVu Sans"/>
                    <a:ea typeface="DejaVu Sans"/>
                    <a:cs typeface="DejaVu Sans"/>
                  </a:rPr>
                  <a:t>minimizes</a:t>
                </a:r>
                <a:r>
                  <a:rPr lang="it-IT" sz="2300" b="0" dirty="0">
                    <a:solidFill>
                      <a:srgbClr val="526276"/>
                    </a:solidFill>
                    <a:latin typeface="DejaVu Sans"/>
                    <a:ea typeface="DejaVu Sans"/>
                    <a:cs typeface="DejaVu Sans"/>
                  </a:rPr>
                  <a:t> the </a:t>
                </a:r>
                <a:r>
                  <a:rPr lang="it-IT" sz="2300" b="0" dirty="0" err="1">
                    <a:solidFill>
                      <a:srgbClr val="526276"/>
                    </a:solidFill>
                    <a:latin typeface="DejaVu Sans"/>
                    <a:ea typeface="DejaVu Sans"/>
                    <a:cs typeface="DejaVu Sans"/>
                  </a:rPr>
                  <a:t>empirical</a:t>
                </a:r>
                <a:r>
                  <a:rPr lang="it-IT" sz="2300" b="0" dirty="0">
                    <a:solidFill>
                      <a:srgbClr val="526276"/>
                    </a:solidFill>
                    <a:latin typeface="DejaVu Sans"/>
                    <a:ea typeface="DejaVu Sans"/>
                    <a:cs typeface="DejaVu Sans"/>
                  </a:rPr>
                  <a:t> 0-1 </a:t>
                </a:r>
                <a:r>
                  <a:rPr lang="it-IT" sz="2300" b="0" dirty="0" err="1">
                    <a:solidFill>
                      <a:srgbClr val="526276"/>
                    </a:solidFill>
                    <a:latin typeface="DejaVu Sans"/>
                    <a:ea typeface="DejaVu Sans"/>
                    <a:cs typeface="DejaVu Sans"/>
                  </a:rPr>
                  <a:t>loss</a:t>
                </a:r>
                <a:r>
                  <a:rPr lang="it-IT" sz="2300" b="0" dirty="0">
                    <a:solidFill>
                      <a:srgbClr val="526276"/>
                    </a:solidFill>
                    <a:latin typeface="DejaVu Sans"/>
                    <a:ea typeface="DejaVu Sans"/>
                    <a:cs typeface="DejaVu Sans"/>
                  </a:rPr>
                  <a:t>:</a:t>
                </a:r>
                <a:endParaRPr sz="2300" b="0" dirty="0">
                  <a:solidFill>
                    <a:srgbClr val="526276"/>
                  </a:solidFill>
                  <a:latin typeface="DejaVu Sans"/>
                  <a:ea typeface="DejaVu Sans"/>
                  <a:cs typeface="DejaVu Sans"/>
                </a:endParaRPr>
              </a:p>
            </p:txBody>
          </p:sp>
        </mc:Choice>
        <mc:Fallback xmlns="">
          <p:sp>
            <p:nvSpPr>
              <p:cNvPr id="2" name="lead">
                <a:extLst>
                  <a:ext uri="{FF2B5EF4-FFF2-40B4-BE49-F238E27FC236}">
                    <a16:creationId xmlns:a16="http://schemas.microsoft.com/office/drawing/2014/main" id="{C11ACB78-6888-484A-9E3A-D86285E1703C}"/>
                  </a:ext>
                </a:extLst>
              </p:cNvPr>
              <p:cNvSpPr>
                <a:spLocks noGrp="1" noRot="1" noChangeAspect="1" noMove="1" noResize="1" noEditPoints="1" noAdjustHandles="1" noChangeArrowheads="1" noChangeShapeType="1" noTextEdit="1"/>
              </p:cNvSpPr>
              <p:nvPr/>
            </p:nvSpPr>
            <p:spPr>
              <a:xfrm>
                <a:off x="352425" y="1074979"/>
                <a:ext cx="10744200" cy="1214437"/>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FCC56FE7-2B05-4AE5-AAC2-2B2E4EF21B03}"/>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2876F901-A61C-41D5-AD33-F6CA6B8538A4}"/>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12</a:t>
            </a:r>
          </a:p>
        </p:txBody>
      </p:sp>
      <mc:AlternateContent xmlns:mc="http://schemas.openxmlformats.org/markup-compatibility/2006" xmlns:a14="http://schemas.microsoft.com/office/drawing/2010/main">
        <mc:Choice Requires="a14">
          <p:sp>
            <p:nvSpPr>
              <p:cNvPr id="5" name="step_0_equation_0" descr="\mathcal E(\boldsymbol\theta)=\sum_{i=1}^{N}\ell_{0,1}(h_{p_{\boldsymbol\theta}}(\mathbf x_i),y_i)">
                <a:extLst>
                  <a:ext uri="{FF2B5EF4-FFF2-40B4-BE49-F238E27FC236}">
                    <a16:creationId xmlns:a16="http://schemas.microsoft.com/office/drawing/2014/main" id="{16056DDB-BE31-489B-AB14-BB27681EC3E6}"/>
                  </a:ext>
                </a:extLst>
              </p:cNvPr>
              <p:cNvSpPr>
                <a:spLocks noGrp="1"/>
              </p:cNvSpPr>
              <p:nvPr/>
            </p:nvSpPr>
            <p:spPr>
              <a:xfrm>
                <a:off x="590550" y="2127885"/>
                <a:ext cx="10744200" cy="1047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smtClean="0">
                          <a:solidFill>
                            <a:srgbClr val="087F83"/>
                          </a:solidFill>
                          <a:latin typeface="Cambria Math"/>
                          <a:ea typeface="Cambria Math"/>
                          <a:cs typeface="Cambria Math"/>
                        </a:rPr>
                        <m:t>𝛉</m:t>
                      </m:r>
                      <m:r>
                        <a:rPr lang="it-IT" sz="2700" b="0" i="1" smtClean="0">
                          <a:solidFill>
                            <a:srgbClr val="087F83"/>
                          </a:solidFill>
                          <a:latin typeface="Cambria Math" panose="02040503050406030204" pitchFamily="18" charset="0"/>
                          <a:ea typeface="Cambria Math"/>
                          <a:cs typeface="Cambria Math"/>
                        </a:rPr>
                        <m:t>⟼</m:t>
                      </m:r>
                      <m:r>
                        <a:rPr lang="en-GB" sz="2700">
                          <a:solidFill>
                            <a:srgbClr val="087F83"/>
                          </a:solidFill>
                          <a:latin typeface="Cambria Math"/>
                          <a:ea typeface="Cambria Math"/>
                          <a:cs typeface="Cambria Math"/>
                        </a:rPr>
                        <m:t>ℰ</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𝛉</m:t>
                          </m:r>
                        </m:e>
                      </m:d>
                      <m:r>
                        <a:rPr lang="en-GB" sz="2700">
                          <a:solidFill>
                            <a:srgbClr val="087F83"/>
                          </a:solidFill>
                          <a:latin typeface="Cambria Math"/>
                          <a:ea typeface="Cambria Math"/>
                          <a:cs typeface="Cambria Math"/>
                        </a:rPr>
                        <m:t>=</m:t>
                      </m:r>
                      <m:nary>
                        <m:naryPr>
                          <m:chr m:val="∑"/>
                          <m:limLoc m:val="undOvr"/>
                          <m:ctrlPr>
                            <a:rPr lang="en-GB" sz="2700">
                              <a:solidFill>
                                <a:srgbClr val="087F83"/>
                              </a:solidFill>
                              <a:latin typeface="Cambria Math"/>
                              <a:ea typeface="Cambria Math"/>
                              <a:cs typeface="Cambria Math"/>
                            </a:rPr>
                          </m:ctrlPr>
                        </m:naryPr>
                        <m:sub>
                          <m:r>
                            <a:rPr lang="en-GB" sz="2700">
                              <a:solidFill>
                                <a:srgbClr val="087F83"/>
                              </a:solidFill>
                              <a:latin typeface="Cambria Math"/>
                              <a:ea typeface="Cambria Math"/>
                              <a:cs typeface="Cambria Math"/>
                            </a:rPr>
                            <m:t>𝑖</m:t>
                          </m:r>
                          <m:r>
                            <a:rPr lang="en-GB" sz="2700">
                              <a:solidFill>
                                <a:srgbClr val="087F83"/>
                              </a:solidFill>
                              <a:latin typeface="Cambria Math"/>
                              <a:ea typeface="Cambria Math"/>
                              <a:cs typeface="Cambria Math"/>
                            </a:rPr>
                            <m:t>=1</m:t>
                          </m:r>
                        </m:sub>
                        <m:sup>
                          <m:r>
                            <a:rPr lang="en-GB" sz="2700">
                              <a:solidFill>
                                <a:srgbClr val="087F83"/>
                              </a:solidFill>
                              <a:latin typeface="Cambria Math"/>
                              <a:ea typeface="Cambria Math"/>
                              <a:cs typeface="Cambria Math"/>
                            </a:rPr>
                            <m:t>𝑁</m:t>
                          </m:r>
                        </m:sup>
                        <m:e>
                          <m:sSub>
                            <m:sSubPr>
                              <m:ctrlPr>
                                <a:rPr lang="en-GB" sz="2700">
                                  <a:solidFill>
                                    <a:srgbClr val="087F83"/>
                                  </a:solidFill>
                                  <a:latin typeface="Cambria Math"/>
                                  <a:ea typeface="Cambria Math"/>
                                  <a:cs typeface="Cambria Math"/>
                                </a:rPr>
                              </m:ctrlPr>
                            </m:sSubPr>
                            <m:e>
                              <m:r>
                                <m:rPr>
                                  <m:sty m:val="p"/>
                                </m:rPr>
                                <a:rPr lang="en-GB" sz="2700">
                                  <a:solidFill>
                                    <a:srgbClr val="087F83"/>
                                  </a:solidFill>
                                  <a:latin typeface="Cambria Math"/>
                                  <a:ea typeface="Cambria Math"/>
                                  <a:cs typeface="Cambria Math"/>
                                </a:rPr>
                                <m:t>ℓ</m:t>
                              </m:r>
                            </m:e>
                            <m:sub>
                              <m:r>
                                <a:rPr lang="en-GB" sz="2700">
                                  <a:solidFill>
                                    <a:srgbClr val="087F83"/>
                                  </a:solidFill>
                                  <a:latin typeface="Cambria Math"/>
                                  <a:ea typeface="Cambria Math"/>
                                  <a:cs typeface="Cambria Math"/>
                                </a:rPr>
                                <m:t>0,1</m:t>
                              </m:r>
                            </m:sub>
                          </m:sSub>
                          <m:d>
                            <m:dPr>
                              <m:ctrlPr>
                                <a:rPr lang="en-GB" sz="2700" i="1">
                                  <a:solidFill>
                                    <a:srgbClr val="087F83"/>
                                  </a:solidFill>
                                  <a:latin typeface="Cambria Math" panose="02040503050406030204" pitchFamily="18" charset="0"/>
                                  <a:ea typeface="Cambria Math"/>
                                  <a:cs typeface="Cambria Math"/>
                                </a:rPr>
                              </m:ctrlPr>
                            </m:dPr>
                            <m:e>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ℎ</m:t>
                                  </m:r>
                                </m:e>
                                <m:sub>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𝑝</m:t>
                                      </m:r>
                                    </m:e>
                                    <m:sub>
                                      <m:r>
                                        <a:rPr lang="en-GB" sz="2700">
                                          <a:solidFill>
                                            <a:srgbClr val="087F83"/>
                                          </a:solidFill>
                                          <a:latin typeface="Cambria Math"/>
                                          <a:ea typeface="Cambria Math"/>
                                          <a:cs typeface="Cambria Math"/>
                                        </a:rPr>
                                        <m:t>𝛉</m:t>
                                      </m:r>
                                    </m:sub>
                                  </m:sSub>
                                </m:sub>
                              </m:sSub>
                              <m:d>
                                <m:dPr>
                                  <m:ctrlPr>
                                    <a:rPr lang="en-GB" sz="2700" i="1">
                                      <a:solidFill>
                                        <a:srgbClr val="087F83"/>
                                      </a:solidFill>
                                      <a:latin typeface="Cambria Math" panose="02040503050406030204" pitchFamily="18" charset="0"/>
                                      <a:ea typeface="Cambria Math"/>
                                      <a:cs typeface="Cambria Math"/>
                                    </a:rPr>
                                  </m:ctrlPr>
                                </m:dPr>
                                <m:e>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𝐱</m:t>
                                      </m:r>
                                    </m:e>
                                    <m:sub>
                                      <m:r>
                                        <a:rPr lang="en-GB" sz="2700">
                                          <a:solidFill>
                                            <a:srgbClr val="087F83"/>
                                          </a:solidFill>
                                          <a:latin typeface="Cambria Math"/>
                                          <a:ea typeface="Cambria Math"/>
                                          <a:cs typeface="Cambria Math"/>
                                        </a:rPr>
                                        <m:t>𝑖</m:t>
                                      </m:r>
                                    </m:sub>
                                  </m:sSub>
                                </m:e>
                              </m:d>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𝑦</m:t>
                                  </m:r>
                                </m:e>
                                <m:sub>
                                  <m:r>
                                    <a:rPr lang="en-GB" sz="2700">
                                      <a:solidFill>
                                        <a:srgbClr val="087F83"/>
                                      </a:solidFill>
                                      <a:latin typeface="Cambria Math"/>
                                      <a:ea typeface="Cambria Math"/>
                                      <a:cs typeface="Cambria Math"/>
                                    </a:rPr>
                                    <m:t>𝑖</m:t>
                                  </m:r>
                                </m:sub>
                              </m:sSub>
                            </m:e>
                          </m:d>
                        </m:e>
                      </m:nary>
                    </m:oMath>
                  </m:oMathPara>
                </a14:m>
                <a:endParaRPr lang="en-GB" sz="2700" dirty="0"/>
              </a:p>
            </p:txBody>
          </p:sp>
        </mc:Choice>
        <mc:Fallback xmlns="">
          <p:sp>
            <p:nvSpPr>
              <p:cNvPr id="5" name="step_0_equation_0" descr="\mathcal E(\boldsymbol\theta)=\sum_{i=1}^{N}\ell_{0,1}(h_{p_{\boldsymbol\theta}}(\mathbf x_i),y_i)">
                <a:extLst>
                  <a:ext uri="{FF2B5EF4-FFF2-40B4-BE49-F238E27FC236}">
                    <a16:creationId xmlns:a16="http://schemas.microsoft.com/office/drawing/2014/main" id="{16056DDB-BE31-489B-AB14-BB27681EC3E6}"/>
                  </a:ext>
                </a:extLst>
              </p:cNvPr>
              <p:cNvSpPr>
                <a:spLocks noGrp="1" noRot="1" noChangeAspect="1" noMove="1" noResize="1" noEditPoints="1" noAdjustHandles="1" noChangeArrowheads="1" noChangeShapeType="1" noTextEdit="1"/>
              </p:cNvSpPr>
              <p:nvPr/>
            </p:nvSpPr>
            <p:spPr>
              <a:xfrm>
                <a:off x="590550" y="2127885"/>
                <a:ext cx="10744200" cy="1047750"/>
              </a:xfrm>
              <a:prstGeom prst="rect">
                <a:avLst/>
              </a:prstGeom>
              <a:blipFill>
                <a:blip r:embed="rId4"/>
                <a:stretch>
                  <a:fillRect t="-581" b="-523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step_2_equation_2" descr="\boldsymbol\theta^{(t+1)}=\boldsymbol\theta^{(t)}-\eta\nabla\mathcal E(\boldsymbol\theta^{(t)}),\qquad\eta&gt;0">
                <a:extLst>
                  <a:ext uri="{FF2B5EF4-FFF2-40B4-BE49-F238E27FC236}">
                    <a16:creationId xmlns:a16="http://schemas.microsoft.com/office/drawing/2014/main" id="{40BA2EB6-A61C-4044-8DAB-B3D0AA4DF7BB}"/>
                  </a:ext>
                </a:extLst>
              </p:cNvPr>
              <p:cNvSpPr>
                <a:spLocks noGrp="1"/>
              </p:cNvSpPr>
              <p:nvPr/>
            </p:nvSpPr>
            <p:spPr>
              <a:xfrm>
                <a:off x="723900" y="4622853"/>
                <a:ext cx="10744200" cy="1000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700">
                              <a:solidFill>
                                <a:srgbClr val="087F83"/>
                              </a:solidFill>
                              <a:latin typeface="Cambria Math"/>
                              <a:ea typeface="Cambria Math"/>
                              <a:cs typeface="Cambria Math"/>
                            </a:rPr>
                          </m:ctrlPr>
                        </m:sSupPr>
                        <m:e>
                          <m:r>
                            <a:rPr lang="en-GB" sz="2700">
                              <a:solidFill>
                                <a:srgbClr val="087F83"/>
                              </a:solidFill>
                              <a:latin typeface="Cambria Math"/>
                              <a:ea typeface="Cambria Math"/>
                              <a:cs typeface="Cambria Math"/>
                            </a:rPr>
                            <m:t>𝛉</m:t>
                          </m:r>
                        </m:e>
                        <m:sup>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𝑡</m:t>
                              </m:r>
                              <m:r>
                                <a:rPr lang="en-GB" sz="2700">
                                  <a:solidFill>
                                    <a:srgbClr val="087F83"/>
                                  </a:solidFill>
                                  <a:latin typeface="Cambria Math"/>
                                  <a:ea typeface="Cambria Math"/>
                                  <a:cs typeface="Cambria Math"/>
                                </a:rPr>
                                <m:t>+1</m:t>
                              </m:r>
                            </m:e>
                          </m:d>
                        </m:sup>
                      </m:sSup>
                      <m:r>
                        <a:rPr lang="en-GB" sz="2700">
                          <a:solidFill>
                            <a:srgbClr val="087F83"/>
                          </a:solidFill>
                          <a:latin typeface="Cambria Math"/>
                          <a:ea typeface="Cambria Math"/>
                          <a:cs typeface="Cambria Math"/>
                        </a:rPr>
                        <m:t>=</m:t>
                      </m:r>
                      <m:sSup>
                        <m:sSupPr>
                          <m:ctrlPr>
                            <a:rPr lang="en-GB" sz="2700">
                              <a:solidFill>
                                <a:srgbClr val="087F83"/>
                              </a:solidFill>
                              <a:latin typeface="Cambria Math"/>
                              <a:ea typeface="Cambria Math"/>
                              <a:cs typeface="Cambria Math"/>
                            </a:rPr>
                          </m:ctrlPr>
                        </m:sSupPr>
                        <m:e>
                          <m:r>
                            <a:rPr lang="en-GB" sz="2700">
                              <a:solidFill>
                                <a:srgbClr val="087F83"/>
                              </a:solidFill>
                              <a:latin typeface="Cambria Math"/>
                              <a:ea typeface="Cambria Math"/>
                              <a:cs typeface="Cambria Math"/>
                            </a:rPr>
                            <m:t>𝛉</m:t>
                          </m:r>
                        </m:e>
                        <m:sup>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𝑡</m:t>
                              </m:r>
                            </m:e>
                          </m:d>
                        </m:sup>
                      </m:sSup>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𝜂</m:t>
                      </m:r>
                      <m:r>
                        <m:rPr>
                          <m:sty m:val="p"/>
                        </m:rP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ℰ</m:t>
                      </m:r>
                      <m:d>
                        <m:dPr>
                          <m:ctrlPr>
                            <a:rPr lang="en-GB" sz="2700" i="1">
                              <a:solidFill>
                                <a:srgbClr val="087F83"/>
                              </a:solidFill>
                              <a:latin typeface="Cambria Math" panose="02040503050406030204" pitchFamily="18" charset="0"/>
                              <a:ea typeface="Cambria Math"/>
                              <a:cs typeface="Cambria Math"/>
                            </a:rPr>
                          </m:ctrlPr>
                        </m:dPr>
                        <m:e>
                          <m:sSup>
                            <m:sSupPr>
                              <m:ctrlPr>
                                <a:rPr lang="en-GB" sz="2700">
                                  <a:solidFill>
                                    <a:srgbClr val="087F83"/>
                                  </a:solidFill>
                                  <a:latin typeface="Cambria Math"/>
                                  <a:ea typeface="Cambria Math"/>
                                  <a:cs typeface="Cambria Math"/>
                                </a:rPr>
                              </m:ctrlPr>
                            </m:sSupPr>
                            <m:e>
                              <m:r>
                                <a:rPr lang="en-GB" sz="2700">
                                  <a:solidFill>
                                    <a:srgbClr val="087F83"/>
                                  </a:solidFill>
                                  <a:latin typeface="Cambria Math"/>
                                  <a:ea typeface="Cambria Math"/>
                                  <a:cs typeface="Cambria Math"/>
                                </a:rPr>
                                <m:t>𝛉</m:t>
                              </m:r>
                            </m:e>
                            <m:sup>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𝑡</m:t>
                                  </m:r>
                                </m:e>
                              </m:d>
                            </m:sup>
                          </m:sSup>
                        </m:e>
                      </m:d>
                      <m:r>
                        <a:rPr lang="en-GB" sz="2700">
                          <a:solidFill>
                            <a:srgbClr val="087F83"/>
                          </a:solidFill>
                          <a:latin typeface="Cambria Math"/>
                          <a:ea typeface="Cambria Math"/>
                          <a:cs typeface="Cambria Math"/>
                        </a:rPr>
                        <m:t>,  </m:t>
                      </m:r>
                      <m:r>
                        <a:rPr lang="en-GB" sz="2700">
                          <a:solidFill>
                            <a:srgbClr val="087F83"/>
                          </a:solidFill>
                          <a:latin typeface="Cambria Math"/>
                          <a:ea typeface="Cambria Math"/>
                          <a:cs typeface="Cambria Math"/>
                        </a:rPr>
                        <m:t>𝜂</m:t>
                      </m:r>
                      <m:r>
                        <a:rPr lang="en-GB" sz="2700">
                          <a:solidFill>
                            <a:srgbClr val="087F83"/>
                          </a:solidFill>
                          <a:latin typeface="Cambria Math"/>
                          <a:ea typeface="Cambria Math"/>
                          <a:cs typeface="Cambria Math"/>
                        </a:rPr>
                        <m:t>&gt;0</m:t>
                      </m:r>
                    </m:oMath>
                  </m:oMathPara>
                </a14:m>
                <a:endParaRPr lang="en-GB" sz="2700" dirty="0"/>
              </a:p>
            </p:txBody>
          </p:sp>
        </mc:Choice>
        <mc:Fallback xmlns="">
          <p:sp>
            <p:nvSpPr>
              <p:cNvPr id="7" name="step_2_equation_2" descr="\boldsymbol\theta^{(t+1)}=\boldsymbol\theta^{(t)}-\eta\nabla\mathcal E(\boldsymbol\theta^{(t)}),\qquad\eta&gt;0">
                <a:extLst>
                  <a:ext uri="{FF2B5EF4-FFF2-40B4-BE49-F238E27FC236}">
                    <a16:creationId xmlns:a16="http://schemas.microsoft.com/office/drawing/2014/main" id="{40BA2EB6-A61C-4044-8DAB-B3D0AA4DF7BB}"/>
                  </a:ext>
                </a:extLst>
              </p:cNvPr>
              <p:cNvSpPr>
                <a:spLocks noGrp="1" noRot="1" noChangeAspect="1" noMove="1" noResize="1" noEditPoints="1" noAdjustHandles="1" noChangeArrowheads="1" noChangeShapeType="1" noTextEdit="1"/>
              </p:cNvSpPr>
              <p:nvPr/>
            </p:nvSpPr>
            <p:spPr>
              <a:xfrm>
                <a:off x="723900" y="4622853"/>
                <a:ext cx="10744200" cy="1000125"/>
              </a:xfrm>
              <a:prstGeom prst="rect">
                <a:avLst/>
              </a:prstGeom>
              <a:blipFill>
                <a:blip r:embed="rId5"/>
                <a:stretch>
                  <a:fillRect/>
                </a:stretch>
              </a:blipFill>
              <a:ln w="0">
                <a:noFill/>
              </a:ln>
            </p:spPr>
            <p:txBody>
              <a:bodyPr/>
              <a:lstStyle/>
              <a:p>
                <a:r>
                  <a:rPr lang="it-IT">
                    <a:noFill/>
                  </a:rPr>
                  <a:t> </a:t>
                </a:r>
              </a:p>
            </p:txBody>
          </p:sp>
        </mc:Fallback>
      </mc:AlternateContent>
      <p:sp>
        <p:nvSpPr>
          <p:cNvPr id="8" name="step_2_text_3">
            <a:extLst>
              <a:ext uri="{FF2B5EF4-FFF2-40B4-BE49-F238E27FC236}">
                <a16:creationId xmlns:a16="http://schemas.microsoft.com/office/drawing/2014/main" id="{541D7E14-32B2-4AEF-BAF1-7FA5C5106B62}"/>
              </a:ext>
            </a:extLst>
          </p:cNvPr>
          <p:cNvSpPr>
            <a:spLocks noGrp="1"/>
          </p:cNvSpPr>
          <p:nvPr/>
        </p:nvSpPr>
        <p:spPr>
          <a:xfrm>
            <a:off x="723900" y="5577549"/>
            <a:ext cx="10744200" cy="485775"/>
          </a:xfrm>
          <a:prstGeom prst="rect">
            <a:avLst/>
          </a:prstGeom>
          <a:noFill/>
          <a:ln w="0">
            <a:noFill/>
          </a:ln>
        </p:spPr>
        <p:txBody>
          <a:bodyPr wrap="square" lIns="0" tIns="0" rIns="0" bIns="0" anchor="ctr">
            <a:noAutofit/>
          </a:bodyPr>
          <a:lstStyle/>
          <a:p>
            <a:pPr algn="ctr">
              <a:lnSpc>
                <a:spcPct val="112000"/>
              </a:lnSpc>
              <a:buNone/>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What happens to the mistake count when we move the boundary a little?</a:t>
            </a:r>
          </a:p>
        </p:txBody>
      </p:sp>
      <p:sp>
        <p:nvSpPr>
          <p:cNvPr id="11" name="CasellaDiTesto 10">
            <a:extLst>
              <a:ext uri="{FF2B5EF4-FFF2-40B4-BE49-F238E27FC236}">
                <a16:creationId xmlns:a16="http://schemas.microsoft.com/office/drawing/2014/main" id="{C7DC9C78-7B88-F2A6-8FEF-16A679FB3B13}"/>
              </a:ext>
            </a:extLst>
          </p:cNvPr>
          <p:cNvSpPr txBox="1"/>
          <p:nvPr/>
        </p:nvSpPr>
        <p:spPr>
          <a:xfrm>
            <a:off x="2432304" y="3449663"/>
            <a:ext cx="7141463" cy="1243610"/>
          </a:xfrm>
          <a:prstGeom prst="rect">
            <a:avLst/>
          </a:prstGeom>
          <a:noFill/>
        </p:spPr>
        <p:txBody>
          <a:bodyPr wrap="square">
            <a:spAutoFit/>
          </a:bodyPr>
          <a:lstStyle/>
          <a:p>
            <a:pPr algn="ctr">
              <a:lnSpc>
                <a:spcPct val="112000"/>
              </a:lnSpc>
              <a:buNone/>
              <a:defRPr sz="2100" b="0">
                <a:solidFill>
                  <a:srgbClr val="526276"/>
                </a:solidFill>
                <a:latin typeface="DejaVu Sans"/>
                <a:ea typeface="DejaVu Sans"/>
                <a:cs typeface="DejaVu Sans"/>
              </a:defRPr>
            </a:pPr>
            <a:r>
              <a:rPr lang="en-GB" sz="2300" dirty="0">
                <a:solidFill>
                  <a:srgbClr val="526276"/>
                </a:solidFill>
                <a:latin typeface="DejaVu Sans"/>
                <a:ea typeface="DejaVu Sans"/>
                <a:cs typeface="DejaVu Sans"/>
              </a:rPr>
              <a:t>is a </a:t>
            </a:r>
            <a:r>
              <a:rPr lang="en-GB" sz="2300" dirty="0">
                <a:solidFill>
                  <a:srgbClr val="FF0000"/>
                </a:solidFill>
                <a:latin typeface="DejaVu Sans"/>
                <a:ea typeface="DejaVu Sans"/>
                <a:cs typeface="DejaVu Sans"/>
              </a:rPr>
              <a:t>combinatorial</a:t>
            </a:r>
            <a:r>
              <a:rPr lang="en-GB" sz="2300" dirty="0">
                <a:solidFill>
                  <a:srgbClr val="526276"/>
                </a:solidFill>
                <a:latin typeface="DejaVu Sans"/>
                <a:ea typeface="DejaVu Sans"/>
                <a:cs typeface="DejaVu Sans"/>
              </a:rPr>
              <a:t> problem.</a:t>
            </a:r>
            <a:endParaRPr lang="en-GB" sz="2300" b="1" dirty="0">
              <a:solidFill>
                <a:srgbClr val="526276"/>
              </a:solidFill>
              <a:latin typeface="DejaVu Sans"/>
              <a:ea typeface="DejaVu Sans"/>
              <a:cs typeface="DejaVu Sans"/>
            </a:endParaRPr>
          </a:p>
          <a:p>
            <a:pPr algn="ctr">
              <a:lnSpc>
                <a:spcPct val="112000"/>
              </a:lnSpc>
              <a:buNone/>
              <a:defRPr sz="2100" b="0">
                <a:solidFill>
                  <a:srgbClr val="526276"/>
                </a:solidFill>
                <a:latin typeface="DejaVu Sans"/>
                <a:ea typeface="DejaVu Sans"/>
                <a:cs typeface="DejaVu Sans"/>
              </a:defRPr>
            </a:pPr>
            <a:r>
              <a:rPr lang="en-GB" sz="2300" b="0" dirty="0">
                <a:solidFill>
                  <a:srgbClr val="526276"/>
                </a:solidFill>
                <a:latin typeface="DejaVu Sans"/>
                <a:ea typeface="DejaVu Sans"/>
                <a:cs typeface="DejaVu Sans"/>
              </a:rPr>
              <a:t>Can we compute an </a:t>
            </a:r>
            <a:r>
              <a:rPr lang="en-GB" sz="2300" b="0" dirty="0">
                <a:solidFill>
                  <a:srgbClr val="FF0000"/>
                </a:solidFill>
                <a:latin typeface="DejaVu Sans"/>
                <a:ea typeface="DejaVu Sans"/>
                <a:cs typeface="DejaVu Sans"/>
              </a:rPr>
              <a:t>approximate solution </a:t>
            </a:r>
            <a:r>
              <a:rPr lang="en-GB" sz="2300" b="0" dirty="0">
                <a:solidFill>
                  <a:srgbClr val="526276"/>
                </a:solidFill>
                <a:latin typeface="DejaVu Sans"/>
                <a:ea typeface="DejaVu Sans"/>
                <a:cs typeface="DejaVu Sans"/>
              </a:rPr>
              <a:t>via </a:t>
            </a:r>
            <a:r>
              <a:rPr lang="en-GB" sz="2300" b="0" dirty="0">
                <a:solidFill>
                  <a:srgbClr val="FF0000"/>
                </a:solidFill>
                <a:latin typeface="DejaVu Sans"/>
                <a:ea typeface="DejaVu Sans"/>
                <a:cs typeface="DejaVu Sans"/>
              </a:rPr>
              <a:t>gradient descent</a:t>
            </a:r>
            <a:r>
              <a:rPr lang="en-GB" sz="2300" b="0" dirty="0">
                <a:solidFill>
                  <a:srgbClr val="526276"/>
                </a:solidFill>
                <a:latin typeface="DejaVu Sans"/>
                <a:ea typeface="DejaVu Sans"/>
                <a:cs typeface="DejaVu Sans"/>
              </a:rPr>
              <a:t> as in regression?</a:t>
            </a:r>
          </a:p>
        </p:txBody>
      </p:sp>
    </p:spTree>
    <p:extLst>
      <p:ext uri="{BB962C8B-B14F-4D97-AF65-F5344CB8AC3E}">
        <p14:creationId xmlns:p14="http://schemas.microsoft.com/office/powerpoint/2010/main" val="1936008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5DDF3CFC-43C0-400C-A442-5E2A96AD4E88}"/>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Moving the boundary and counting mistakes</a:t>
            </a:r>
          </a:p>
        </p:txBody>
      </p:sp>
      <p:sp>
        <p:nvSpPr>
          <p:cNvPr id="2" name="lead">
            <a:extLst>
              <a:ext uri="{FF2B5EF4-FFF2-40B4-BE49-F238E27FC236}">
                <a16:creationId xmlns:a16="http://schemas.microsoft.com/office/drawing/2014/main" id="{51CAFDFF-77D4-4C1D-9FAF-04E8B3BAE7A4}"/>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Fix the weights and vary only the intercept. The line moves parallel to itself.</a:t>
            </a:r>
          </a:p>
        </p:txBody>
      </p:sp>
      <p:sp>
        <p:nvSpPr>
          <p:cNvPr id="3" name="footer_course">
            <a:extLst>
              <a:ext uri="{FF2B5EF4-FFF2-40B4-BE49-F238E27FC236}">
                <a16:creationId xmlns:a16="http://schemas.microsoft.com/office/drawing/2014/main" id="{A607329C-71B8-4BA7-8F15-6B5B9E518D15}"/>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BFFF2BF9-43EB-4BE1-91C3-68394A72FDD4}"/>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13</a:t>
            </a:r>
          </a:p>
        </p:txBody>
      </p:sp>
      <p:graphicFrame>
        <p:nvGraphicFramePr>
          <p:cNvPr id="13" name="stateA_step_0_chart_0"/>
          <p:cNvGraphicFramePr/>
          <p:nvPr/>
        </p:nvGraphicFramePr>
        <p:xfrm>
          <a:off x="542925" y="1952625"/>
          <a:ext cx="5429250" cy="3429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stateA_step_0_chart_1"/>
          <p:cNvGraphicFramePr/>
          <p:nvPr/>
        </p:nvGraphicFramePr>
        <p:xfrm>
          <a:off x="6315075" y="1952625"/>
          <a:ext cx="5381625" cy="3429000"/>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7" name="stateA_step_0_equation_2" descr="b=-5.75,\qquad w_1=0,\quad w_2=1">
                <a:extLst>
                  <a:ext uri="{FF2B5EF4-FFF2-40B4-BE49-F238E27FC236}">
                    <a16:creationId xmlns:a16="http://schemas.microsoft.com/office/drawing/2014/main" id="{C8C357EF-A129-4337-99FE-C335A4F8A0CE}"/>
                  </a:ext>
                </a:extLst>
              </p:cNvPr>
              <p:cNvSpPr>
                <a:spLocks noGrp="1"/>
              </p:cNvSpPr>
              <p:nvPr/>
            </p:nvSpPr>
            <p:spPr>
              <a:xfrm>
                <a:off x="723900" y="5524500"/>
                <a:ext cx="10744200" cy="4095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600">
                          <a:solidFill>
                            <a:srgbClr val="087F83"/>
                          </a:solidFill>
                          <a:latin typeface="Cambria Math"/>
                          <a:ea typeface="Cambria Math"/>
                          <a:cs typeface="Cambria Math"/>
                        </a:rPr>
                        <m:t>𝑏</m:t>
                      </m:r>
                      <m:r>
                        <a:rPr lang="en-GB" sz="2600">
                          <a:solidFill>
                            <a:srgbClr val="087F83"/>
                          </a:solidFill>
                          <a:latin typeface="Cambria Math"/>
                          <a:ea typeface="Cambria Math"/>
                          <a:cs typeface="Cambria Math"/>
                        </a:rPr>
                        <m:t>=−5.75,  </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=0, </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=1</m:t>
                      </m:r>
                    </m:oMath>
                  </m:oMathPara>
                </a14:m>
                <a:endParaRPr lang="en-GB" sz="2600"/>
              </a:p>
            </p:txBody>
          </p:sp>
        </mc:Choice>
        <mc:Fallback xmlns="">
          <p:sp>
            <p:nvSpPr>
              <p:cNvPr id="7" name="stateA_step_0_equation_2" descr="b=-5.75,\qquad w_1=0,\quad w_2=1">
                <a:extLst>
                  <a:ext uri="{FF2B5EF4-FFF2-40B4-BE49-F238E27FC236}">
                    <a16:creationId xmlns:a16="http://schemas.microsoft.com/office/drawing/2014/main" id="{C8C357EF-A129-4337-99FE-C335A4F8A0CE}"/>
                  </a:ext>
                </a:extLst>
              </p:cNvPr>
              <p:cNvSpPr>
                <a:spLocks noGrp="1" noRot="1" noChangeAspect="1" noMove="1" noResize="1" noEditPoints="1" noAdjustHandles="1" noChangeArrowheads="1" noChangeShapeType="1" noTextEdit="1"/>
              </p:cNvSpPr>
              <p:nvPr/>
            </p:nvSpPr>
            <p:spPr>
              <a:xfrm>
                <a:off x="723900" y="5524500"/>
                <a:ext cx="10744200" cy="409575"/>
              </a:xfrm>
              <a:prstGeom prst="rect">
                <a:avLst/>
              </a:prstGeom>
              <a:blipFill>
                <a:blip r:embed="rId5"/>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393225DE-49A7-4719-B68E-4A80A51E7A9E}"/>
              </a:ext>
            </a:extLst>
          </p:cNvPr>
          <p:cNvSpPr>
            <a:spLocks noGrp="1"/>
          </p:cNvSpPr>
          <p:nvPr/>
        </p:nvSpPr>
        <p:spPr>
          <a:xfrm>
            <a:off x="723900" y="6048375"/>
            <a:ext cx="10744200" cy="409575"/>
          </a:xfrm>
          <a:prstGeom prst="rect">
            <a:avLst/>
          </a:prstGeom>
          <a:noFill/>
          <a:ln w="0">
            <a:noFill/>
          </a:ln>
        </p:spPr>
        <p:txBody>
          <a:bodyPr wrap="square" lIns="0" tIns="0" rIns="0" bIns="0" anchor="ctr">
            <a:noAutofit/>
          </a:bodyPr>
          <a:lstStyle/>
          <a:p>
            <a:pPr algn="ctr">
              <a:lnSpc>
                <a:spcPct val="112000"/>
              </a:lnSpc>
              <a:buNone/>
              <a:defRPr sz="1875" b="0">
                <a:solidFill>
                  <a:srgbClr val="526276"/>
                </a:solidFill>
                <a:latin typeface="DejaVu Sans"/>
                <a:ea typeface="DejaVu Sans"/>
                <a:cs typeface="DejaVu Sans"/>
              </a:defRPr>
            </a:pPr>
            <a:r>
              <a:rPr sz="1875" b="0" dirty="0">
                <a:solidFill>
                  <a:schemeClr val="tx2"/>
                </a:solidFill>
                <a:latin typeface="DejaVu Sans"/>
                <a:ea typeface="DejaVu Sans"/>
                <a:cs typeface="DejaVu Sans"/>
              </a:rPr>
              <a:t>The count</a:t>
            </a:r>
            <a:r>
              <a:rPr lang="it-IT" sz="1875" b="0" dirty="0">
                <a:solidFill>
                  <a:schemeClr val="tx2"/>
                </a:solidFill>
                <a:latin typeface="DejaVu Sans"/>
                <a:ea typeface="DejaVu Sans"/>
                <a:cs typeface="DejaVu Sans"/>
              </a:rPr>
              <a:t> </a:t>
            </a:r>
            <a:r>
              <a:rPr lang="it-IT" sz="1875" b="0" dirty="0" err="1">
                <a:solidFill>
                  <a:schemeClr val="tx2"/>
                </a:solidFill>
                <a:latin typeface="DejaVu Sans"/>
                <a:ea typeface="DejaVu Sans"/>
                <a:cs typeface="DejaVu Sans"/>
              </a:rPr>
              <a:t>is</a:t>
            </a:r>
            <a:r>
              <a:rPr lang="it-IT" sz="1875" b="0" dirty="0">
                <a:solidFill>
                  <a:schemeClr val="tx2"/>
                </a:solidFill>
                <a:latin typeface="DejaVu Sans"/>
                <a:ea typeface="DejaVu Sans"/>
                <a:cs typeface="DejaVu Sans"/>
              </a:rPr>
              <a:t> </a:t>
            </a:r>
            <a:r>
              <a:rPr lang="it-IT" sz="1875" b="0" dirty="0" err="1">
                <a:solidFill>
                  <a:srgbClr val="FF0000"/>
                </a:solidFill>
                <a:latin typeface="DejaVu Sans"/>
                <a:ea typeface="DejaVu Sans"/>
                <a:cs typeface="DejaVu Sans"/>
              </a:rPr>
              <a:t>locally</a:t>
            </a:r>
            <a:r>
              <a:rPr lang="it-IT" sz="1875" b="0" dirty="0">
                <a:solidFill>
                  <a:srgbClr val="FF0000"/>
                </a:solidFill>
                <a:latin typeface="DejaVu Sans"/>
                <a:ea typeface="DejaVu Sans"/>
                <a:cs typeface="DejaVu Sans"/>
              </a:rPr>
              <a:t> </a:t>
            </a:r>
            <a:r>
              <a:rPr lang="it-IT" sz="1875" b="0" dirty="0" err="1">
                <a:solidFill>
                  <a:srgbClr val="FF0000"/>
                </a:solidFill>
                <a:latin typeface="DejaVu Sans"/>
                <a:ea typeface="DejaVu Sans"/>
                <a:cs typeface="DejaVu Sans"/>
              </a:rPr>
              <a:t>constant</a:t>
            </a:r>
            <a:r>
              <a:rPr lang="it-IT" sz="1875" b="0" dirty="0">
                <a:solidFill>
                  <a:srgbClr val="FF0000"/>
                </a:solidFill>
                <a:latin typeface="DejaVu Sans"/>
                <a:ea typeface="DejaVu Sans"/>
                <a:cs typeface="DejaVu Sans"/>
              </a:rPr>
              <a:t> </a:t>
            </a:r>
            <a:r>
              <a:rPr lang="it-IT" sz="1875" b="0" dirty="0">
                <a:solidFill>
                  <a:schemeClr val="tx2"/>
                </a:solidFill>
                <a:latin typeface="DejaVu Sans"/>
                <a:ea typeface="DejaVu Sans"/>
                <a:cs typeface="DejaVu Sans"/>
              </a:rPr>
              <a:t>and</a:t>
            </a:r>
            <a:r>
              <a:rPr sz="1875" b="0" dirty="0">
                <a:solidFill>
                  <a:schemeClr val="tx2"/>
                </a:solidFill>
                <a:latin typeface="DejaVu Sans"/>
                <a:ea typeface="DejaVu Sans"/>
                <a:cs typeface="DejaVu Sans"/>
              </a:rPr>
              <a:t> changes only when the line crosses an observed point.</a:t>
            </a:r>
          </a:p>
        </p:txBody>
      </p:sp>
      <p:graphicFrame>
        <p:nvGraphicFramePr>
          <p:cNvPr id="15" name="stateB_step_0_chart_0"/>
          <p:cNvGraphicFramePr/>
          <p:nvPr/>
        </p:nvGraphicFramePr>
        <p:xfrm>
          <a:off x="542925" y="1952625"/>
          <a:ext cx="5429250" cy="3429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6" name="stateB_step_0_chart_1"/>
          <p:cNvGraphicFramePr/>
          <p:nvPr/>
        </p:nvGraphicFramePr>
        <p:xfrm>
          <a:off x="6315075" y="1952625"/>
          <a:ext cx="5381625" cy="3429000"/>
        </p:xfrm>
        <a:graphic>
          <a:graphicData uri="http://schemas.openxmlformats.org/drawingml/2006/chart">
            <c:chart xmlns:c="http://schemas.openxmlformats.org/drawingml/2006/chart" xmlns:r="http://schemas.openxmlformats.org/officeDocument/2006/relationships" r:id="rId7"/>
          </a:graphicData>
        </a:graphic>
      </p:graphicFrame>
      <mc:AlternateContent xmlns:mc="http://schemas.openxmlformats.org/markup-compatibility/2006" xmlns:a14="http://schemas.microsoft.com/office/drawing/2010/main">
        <mc:Choice Requires="a14">
          <p:sp>
            <p:nvSpPr>
              <p:cNvPr id="17" name="stateB_step_0_equation_2" descr="b=-5.55,\qquad w_1=0,\quad w_2=1">
                <a:extLst>
                  <a:ext uri="{FF2B5EF4-FFF2-40B4-BE49-F238E27FC236}">
                    <a16:creationId xmlns:a16="http://schemas.microsoft.com/office/drawing/2014/main" id="{C448C414-9115-4C3E-B8DC-0A0751197F18}"/>
                  </a:ext>
                </a:extLst>
              </p:cNvPr>
              <p:cNvSpPr>
                <a:spLocks noGrp="1"/>
              </p:cNvSpPr>
              <p:nvPr/>
            </p:nvSpPr>
            <p:spPr>
              <a:xfrm>
                <a:off x="723900" y="5419725"/>
                <a:ext cx="10744200" cy="6381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600">
                          <a:solidFill>
                            <a:srgbClr val="087F83"/>
                          </a:solidFill>
                          <a:latin typeface="Cambria Math"/>
                          <a:ea typeface="Cambria Math"/>
                          <a:cs typeface="Cambria Math"/>
                        </a:rPr>
                        <m:t>𝑏</m:t>
                      </m:r>
                      <m:r>
                        <a:rPr lang="en-GB" sz="2600">
                          <a:solidFill>
                            <a:srgbClr val="087F83"/>
                          </a:solidFill>
                          <a:latin typeface="Cambria Math"/>
                          <a:ea typeface="Cambria Math"/>
                          <a:cs typeface="Cambria Math"/>
                        </a:rPr>
                        <m:t>=−5.55,  </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=0, </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=1</m:t>
                      </m:r>
                    </m:oMath>
                  </m:oMathPara>
                </a14:m>
                <a:endParaRPr lang="en-GB" sz="2600"/>
              </a:p>
            </p:txBody>
          </p:sp>
        </mc:Choice>
        <mc:Fallback xmlns="">
          <p:sp>
            <p:nvSpPr>
              <p:cNvPr id="17" name="stateB_step_0_equation_2" descr="b=-5.55,\qquad w_1=0,\quad w_2=1">
                <a:extLst>
                  <a:ext uri="{FF2B5EF4-FFF2-40B4-BE49-F238E27FC236}">
                    <a16:creationId xmlns:a16="http://schemas.microsoft.com/office/drawing/2014/main" id="{C448C414-9115-4C3E-B8DC-0A0751197F18}"/>
                  </a:ext>
                </a:extLst>
              </p:cNvPr>
              <p:cNvSpPr>
                <a:spLocks noGrp="1" noRot="1" noChangeAspect="1" noMove="1" noResize="1" noEditPoints="1" noAdjustHandles="1" noChangeArrowheads="1" noChangeShapeType="1" noTextEdit="1"/>
              </p:cNvSpPr>
              <p:nvPr/>
            </p:nvSpPr>
            <p:spPr>
              <a:xfrm>
                <a:off x="723900" y="5419725"/>
                <a:ext cx="10744200" cy="638175"/>
              </a:xfrm>
              <a:prstGeom prst="rect">
                <a:avLst/>
              </a:prstGeom>
              <a:blipFill>
                <a:blip r:embed="rId8"/>
                <a:stretch>
                  <a:fillRect/>
                </a:stretch>
              </a:blipFill>
              <a:ln w="0">
                <a:noFill/>
              </a:ln>
            </p:spPr>
            <p:txBody>
              <a:bodyPr/>
              <a:lstStyle/>
              <a:p>
                <a:r>
                  <a:rPr lang="it-IT">
                    <a:noFill/>
                  </a:rPr>
                  <a:t> </a:t>
                </a:r>
              </a:p>
            </p:txBody>
          </p:sp>
        </mc:Fallback>
      </mc:AlternateContent>
      <p:sp>
        <p:nvSpPr>
          <p:cNvPr id="18" name="decision_region_class1">
            <a:extLst>
              <a:ext uri="{FF2B5EF4-FFF2-40B4-BE49-F238E27FC236}">
                <a16:creationId xmlns:a16="http://schemas.microsoft.com/office/drawing/2014/main" id="{A09FD26E-A94D-4C9A-82E1-9E2791BB1CDF}"/>
              </a:ext>
            </a:extLst>
          </p:cNvPr>
          <p:cNvSpPr>
            <a:spLocks noGrp="1"/>
          </p:cNvSpPr>
          <p:nvPr/>
        </p:nvSpPr>
        <p:spPr>
          <a:xfrm>
            <a:off x="1691641" y="2209229"/>
            <a:ext cx="1133475" cy="314325"/>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9" name="decision_region_class0">
            <a:extLst>
              <a:ext uri="{FF2B5EF4-FFF2-40B4-BE49-F238E27FC236}">
                <a16:creationId xmlns:a16="http://schemas.microsoft.com/office/drawing/2014/main" id="{E9276DFE-F168-45ED-863E-0AB906FA5848}"/>
              </a:ext>
            </a:extLst>
          </p:cNvPr>
          <p:cNvSpPr>
            <a:spLocks noGrp="1"/>
          </p:cNvSpPr>
          <p:nvPr/>
        </p:nvSpPr>
        <p:spPr>
          <a:xfrm>
            <a:off x="4517485" y="3804412"/>
            <a:ext cx="1133475" cy="314325"/>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Tree>
    <p:extLst>
      <p:ext uri="{BB962C8B-B14F-4D97-AF65-F5344CB8AC3E}">
        <p14:creationId xmlns:p14="http://schemas.microsoft.com/office/powerpoint/2010/main" val="592898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9"/>
                                          </p:stCondLst>
                                        </p:cTn>
                                        <p:tgtEl>
                                          <p:spTgt spid="13"/>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9"/>
                                          </p:stCondLst>
                                        </p:cTn>
                                        <p:tgtEl>
                                          <p:spTgt spid="14"/>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9"/>
                                          </p:stCondLst>
                                        </p:cTn>
                                        <p:tgtEl>
                                          <p:spTgt spid="7"/>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9"/>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9"/>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Graphic spid="14" grpId="0">
        <p:bldAsOne/>
      </p:bldGraphic>
      <p:bldP spid="7" grpId="0"/>
      <p:bldGraphic spid="15" grpId="0">
        <p:bldAsOne/>
      </p:bldGraphic>
      <p:bldGraphic spid="16" grpId="0">
        <p:bldAsOne/>
      </p:bldGraphic>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DD9B7D8E-0832-449E-9346-32CBF4EF3C5E}"/>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Flat regions give no direction</a:t>
            </a:r>
          </a:p>
        </p:txBody>
      </p:sp>
      <p:sp>
        <p:nvSpPr>
          <p:cNvPr id="2" name="lead">
            <a:extLst>
              <a:ext uri="{FF2B5EF4-FFF2-40B4-BE49-F238E27FC236}">
                <a16:creationId xmlns:a16="http://schemas.microsoft.com/office/drawing/2014/main" id="{A8F64468-9010-43C6-9DD6-68C57605DAB4}"/>
              </a:ext>
            </a:extLst>
          </p:cNvPr>
          <p:cNvSpPr>
            <a:spLocks noGrp="1"/>
          </p:cNvSpPr>
          <p:nvPr/>
        </p:nvSpPr>
        <p:spPr>
          <a:xfrm>
            <a:off x="723900" y="1074885"/>
            <a:ext cx="10744200" cy="1157666"/>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If every observed score is </a:t>
            </a:r>
            <a:r>
              <a:rPr sz="2100" b="0" dirty="0">
                <a:solidFill>
                  <a:srgbClr val="FF0000"/>
                </a:solidFill>
                <a:latin typeface="DejaVu Sans"/>
                <a:ea typeface="DejaVu Sans"/>
                <a:cs typeface="DejaVu Sans"/>
              </a:rPr>
              <a:t>nonzero</a:t>
            </a:r>
            <a:endParaRPr lang="it-IT" sz="2100" dirty="0">
              <a:solidFill>
                <a:srgbClr val="FF0000"/>
              </a:solidFill>
              <a:latin typeface="DejaVu Sans"/>
              <a:ea typeface="DejaVu Sans"/>
              <a:cs typeface="DejaVu Sans"/>
            </a:endParaRPr>
          </a:p>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small parameter changes preserve</a:t>
            </a:r>
            <a:r>
              <a:rPr lang="it-IT" sz="2100" b="0" dirty="0">
                <a:solidFill>
                  <a:srgbClr val="526276"/>
                </a:solidFill>
                <a:latin typeface="DejaVu Sans"/>
                <a:ea typeface="DejaVu Sans"/>
                <a:cs typeface="DejaVu Sans"/>
              </a:rPr>
              <a:t> </a:t>
            </a:r>
            <a:r>
              <a:rPr lang="it-IT" sz="2100" b="0" dirty="0">
                <a:solidFill>
                  <a:srgbClr val="FF0000"/>
                </a:solidFill>
                <a:latin typeface="DejaVu Sans"/>
                <a:ea typeface="DejaVu Sans"/>
                <a:cs typeface="DejaVu Sans"/>
              </a:rPr>
              <a:t>the </a:t>
            </a:r>
            <a:r>
              <a:rPr lang="it-IT" sz="2100" b="0" dirty="0" err="1">
                <a:solidFill>
                  <a:srgbClr val="FF0000"/>
                </a:solidFill>
                <a:latin typeface="DejaVu Sans"/>
                <a:ea typeface="DejaVu Sans"/>
                <a:cs typeface="DejaVu Sans"/>
              </a:rPr>
              <a:t>signs</a:t>
            </a:r>
            <a:r>
              <a:rPr lang="it-IT" sz="2100" b="0" dirty="0">
                <a:solidFill>
                  <a:srgbClr val="526276"/>
                </a:solidFill>
                <a:latin typeface="DejaVu Sans"/>
                <a:ea typeface="DejaVu Sans"/>
                <a:cs typeface="DejaVu Sans"/>
              </a:rPr>
              <a:t> of the scores</a:t>
            </a:r>
          </a:p>
          <a:p>
            <a:pPr algn="ctr">
              <a:lnSpc>
                <a:spcPct val="112000"/>
              </a:lnSpc>
              <a:buNone/>
              <a:defRPr sz="2100" b="0">
                <a:solidFill>
                  <a:srgbClr val="526276"/>
                </a:solidFill>
                <a:latin typeface="DejaVu Sans"/>
                <a:ea typeface="DejaVu Sans"/>
                <a:cs typeface="DejaVu Sans"/>
              </a:defRPr>
            </a:pPr>
            <a:r>
              <a:rPr lang="it-IT" sz="2100" dirty="0">
                <a:solidFill>
                  <a:srgbClr val="526276"/>
                </a:solidFill>
                <a:latin typeface="DejaVu Sans"/>
                <a:ea typeface="DejaVu Sans"/>
                <a:cs typeface="DejaVu Sans"/>
              </a:rPr>
              <a:t>and </a:t>
            </a:r>
            <a:r>
              <a:rPr lang="it-IT" sz="2100" dirty="0" err="1">
                <a:solidFill>
                  <a:srgbClr val="526276"/>
                </a:solidFill>
                <a:latin typeface="DejaVu Sans"/>
                <a:ea typeface="DejaVu Sans"/>
                <a:cs typeface="DejaVu Sans"/>
              </a:rPr>
              <a:t>hence</a:t>
            </a:r>
            <a:r>
              <a:rPr sz="2100" b="0" dirty="0">
                <a:solidFill>
                  <a:srgbClr val="526276"/>
                </a:solidFill>
                <a:latin typeface="DejaVu Sans"/>
                <a:ea typeface="DejaVu Sans"/>
                <a:cs typeface="DejaVu Sans"/>
              </a:rPr>
              <a:t> </a:t>
            </a:r>
            <a:r>
              <a:rPr sz="2100" b="0" dirty="0">
                <a:solidFill>
                  <a:srgbClr val="FF0000"/>
                </a:solidFill>
                <a:latin typeface="DejaVu Sans"/>
                <a:ea typeface="DejaVu Sans"/>
                <a:cs typeface="DejaVu Sans"/>
              </a:rPr>
              <a:t>all predicted labels</a:t>
            </a:r>
            <a:r>
              <a:rPr lang="it-IT" sz="2100" b="0" dirty="0">
                <a:solidFill>
                  <a:srgbClr val="FF0000"/>
                </a:solidFill>
                <a:latin typeface="DejaVu Sans"/>
                <a:ea typeface="DejaVu Sans"/>
                <a:cs typeface="DejaVu Sans"/>
              </a:rPr>
              <a:t> stay the </a:t>
            </a:r>
            <a:r>
              <a:rPr lang="it-IT" sz="2100" b="0" dirty="0" err="1">
                <a:solidFill>
                  <a:srgbClr val="FF0000"/>
                </a:solidFill>
                <a:latin typeface="DejaVu Sans"/>
                <a:ea typeface="DejaVu Sans"/>
                <a:cs typeface="DejaVu Sans"/>
              </a:rPr>
              <a:t>same</a:t>
            </a:r>
            <a:r>
              <a:rPr sz="2100" b="0" dirty="0">
                <a:solidFill>
                  <a:srgbClr val="526276"/>
                </a:solidFill>
                <a:latin typeface="DejaVu Sans"/>
                <a:ea typeface="DejaVu Sans"/>
                <a:cs typeface="DejaVu Sans"/>
              </a:rPr>
              <a:t>.</a:t>
            </a:r>
          </a:p>
        </p:txBody>
      </p:sp>
      <p:sp>
        <p:nvSpPr>
          <p:cNvPr id="3" name="footer_course">
            <a:extLst>
              <a:ext uri="{FF2B5EF4-FFF2-40B4-BE49-F238E27FC236}">
                <a16:creationId xmlns:a16="http://schemas.microsoft.com/office/drawing/2014/main" id="{78BF5594-0702-4FDF-9576-77BE8BC809E8}"/>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C9CD0C9A-A2A6-40C8-8090-732630224ACE}"/>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14</a:t>
            </a:r>
          </a:p>
        </p:txBody>
      </p:sp>
      <mc:AlternateContent xmlns:mc="http://schemas.openxmlformats.org/markup-compatibility/2006" xmlns:a14="http://schemas.microsoft.com/office/drawing/2010/main">
        <mc:Choice Requires="a14">
          <p:sp>
            <p:nvSpPr>
              <p:cNvPr id="5" name="step_0_equation_0" descr="\mathcal E(\boldsymbol\theta+\boldsymbol\Delta)=\mathcal E(\boldsymbol\theta)\quad\text{for sufficiently small }\boldsymbol\Delta">
                <a:extLst>
                  <a:ext uri="{FF2B5EF4-FFF2-40B4-BE49-F238E27FC236}">
                    <a16:creationId xmlns:a16="http://schemas.microsoft.com/office/drawing/2014/main" id="{CF1F2C79-1A41-4AD1-ACB1-23DADC463AF8}"/>
                  </a:ext>
                </a:extLst>
              </p:cNvPr>
              <p:cNvSpPr>
                <a:spLocks noGrp="1"/>
              </p:cNvSpPr>
              <p:nvPr/>
            </p:nvSpPr>
            <p:spPr>
              <a:xfrm>
                <a:off x="723900" y="2467164"/>
                <a:ext cx="10744200" cy="584074"/>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300" smtClean="0">
                          <a:solidFill>
                            <a:srgbClr val="087F83"/>
                          </a:solidFill>
                          <a:latin typeface="Cambria Math"/>
                          <a:ea typeface="Cambria Math"/>
                          <a:cs typeface="Cambria Math"/>
                        </a:rPr>
                        <m:t>ℰ</m:t>
                      </m:r>
                      <m:d>
                        <m:dPr>
                          <m:ctrlPr>
                            <a:rPr lang="en-GB" sz="3300" smtClean="0">
                              <a:solidFill>
                                <a:srgbClr val="087F83"/>
                              </a:solidFill>
                              <a:latin typeface="Cambria Math"/>
                              <a:ea typeface="Cambria Math"/>
                              <a:cs typeface="Cambria Math"/>
                            </a:rPr>
                          </m:ctrlPr>
                        </m:dPr>
                        <m:e>
                          <m:r>
                            <a:rPr lang="en-GB" sz="3300" smtClean="0">
                              <a:solidFill>
                                <a:srgbClr val="087F83"/>
                              </a:solidFill>
                              <a:latin typeface="Cambria Math"/>
                              <a:ea typeface="Cambria Math"/>
                              <a:cs typeface="Cambria Math"/>
                            </a:rPr>
                            <m:t>𝛉</m:t>
                          </m:r>
                          <m:r>
                            <a:rPr lang="en-GB" sz="3300" smtClean="0">
                              <a:solidFill>
                                <a:srgbClr val="087F83"/>
                              </a:solidFill>
                              <a:latin typeface="Cambria Math"/>
                              <a:ea typeface="Cambria Math"/>
                              <a:cs typeface="Cambria Math"/>
                            </a:rPr>
                            <m:t>+</m:t>
                          </m:r>
                          <m:r>
                            <a:rPr lang="en-GB" sz="3300" smtClean="0">
                              <a:solidFill>
                                <a:srgbClr val="087F83"/>
                              </a:solidFill>
                              <a:latin typeface="Cambria Math"/>
                              <a:ea typeface="Cambria Math"/>
                              <a:cs typeface="Cambria Math"/>
                            </a:rPr>
                            <m:t>𝚫</m:t>
                          </m:r>
                        </m:e>
                      </m:d>
                      <m:r>
                        <a:rPr lang="en-GB" sz="3300" smtClean="0">
                          <a:solidFill>
                            <a:srgbClr val="087F83"/>
                          </a:solidFill>
                          <a:latin typeface="Cambria Math"/>
                          <a:ea typeface="Cambria Math"/>
                          <a:cs typeface="Cambria Math"/>
                        </a:rPr>
                        <m:t>=</m:t>
                      </m:r>
                      <m:r>
                        <a:rPr lang="en-GB" sz="3300" smtClean="0">
                          <a:solidFill>
                            <a:srgbClr val="087F83"/>
                          </a:solidFill>
                          <a:latin typeface="Cambria Math"/>
                          <a:ea typeface="Cambria Math"/>
                          <a:cs typeface="Cambria Math"/>
                        </a:rPr>
                        <m:t>ℰ</m:t>
                      </m:r>
                      <m:d>
                        <m:dPr>
                          <m:ctrlPr>
                            <a:rPr lang="en-GB" sz="3300">
                              <a:solidFill>
                                <a:srgbClr val="087F83"/>
                              </a:solidFill>
                              <a:latin typeface="Cambria Math"/>
                              <a:ea typeface="Cambria Math"/>
                              <a:cs typeface="Cambria Math"/>
                            </a:rPr>
                          </m:ctrlPr>
                        </m:dPr>
                        <m:e>
                          <m:r>
                            <a:rPr lang="en-GB" sz="3300">
                              <a:solidFill>
                                <a:srgbClr val="087F83"/>
                              </a:solidFill>
                              <a:latin typeface="Cambria Math"/>
                              <a:ea typeface="Cambria Math"/>
                              <a:cs typeface="Cambria Math"/>
                            </a:rPr>
                            <m:t>𝛉</m:t>
                          </m:r>
                        </m:e>
                      </m:d>
                      <m:r>
                        <a:rPr lang="en-GB" sz="3300">
                          <a:solidFill>
                            <a:srgbClr val="087F83"/>
                          </a:solidFill>
                          <a:latin typeface="Cambria Math"/>
                          <a:ea typeface="Cambria Math"/>
                          <a:cs typeface="Cambria Math"/>
                        </a:rPr>
                        <m:t> </m:t>
                      </m:r>
                      <m:r>
                        <m:rPr>
                          <m:nor/>
                        </m:rPr>
                        <a:rPr lang="en-GB" sz="3300" i="0">
                          <a:solidFill>
                            <a:srgbClr val="087F83"/>
                          </a:solidFill>
                          <a:latin typeface="Cambria Math"/>
                          <a:ea typeface="Cambria Math"/>
                          <a:cs typeface="Cambria Math"/>
                        </a:rPr>
                        <m:t>for sufficiently small </m:t>
                      </m:r>
                      <m:r>
                        <a:rPr lang="en-GB" sz="3300">
                          <a:solidFill>
                            <a:srgbClr val="087F83"/>
                          </a:solidFill>
                          <a:latin typeface="Cambria Math"/>
                          <a:ea typeface="Cambria Math"/>
                          <a:cs typeface="Cambria Math"/>
                        </a:rPr>
                        <m:t>𝚫</m:t>
                      </m:r>
                    </m:oMath>
                  </m:oMathPara>
                </a14:m>
                <a:endParaRPr lang="en-GB" sz="3300" dirty="0"/>
              </a:p>
            </p:txBody>
          </p:sp>
        </mc:Choice>
        <mc:Fallback xmlns="">
          <p:sp>
            <p:nvSpPr>
              <p:cNvPr id="5" name="step_0_equation_0" descr="\mathcal E(\boldsymbol\theta+\boldsymbol\Delta)=\mathcal E(\boldsymbol\theta)\quad\text{for sufficiently small }\boldsymbol\Delta">
                <a:extLst>
                  <a:ext uri="{FF2B5EF4-FFF2-40B4-BE49-F238E27FC236}">
                    <a16:creationId xmlns:a16="http://schemas.microsoft.com/office/drawing/2014/main" id="{CF1F2C79-1A41-4AD1-ACB1-23DADC463AF8}"/>
                  </a:ext>
                </a:extLst>
              </p:cNvPr>
              <p:cNvSpPr>
                <a:spLocks noGrp="1" noRot="1" noChangeAspect="1" noMove="1" noResize="1" noEditPoints="1" noAdjustHandles="1" noChangeArrowheads="1" noChangeShapeType="1" noTextEdit="1"/>
              </p:cNvSpPr>
              <p:nvPr/>
            </p:nvSpPr>
            <p:spPr>
              <a:xfrm>
                <a:off x="723900" y="2467164"/>
                <a:ext cx="10744200" cy="584074"/>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step_1_equation_1" descr="\nabla\mathcal E(\boldsymbol\theta)=\mathbf0">
                <a:extLst>
                  <a:ext uri="{FF2B5EF4-FFF2-40B4-BE49-F238E27FC236}">
                    <a16:creationId xmlns:a16="http://schemas.microsoft.com/office/drawing/2014/main" id="{3807A932-70F8-4174-81C7-8EFF5F4A62EE}"/>
                  </a:ext>
                </a:extLst>
              </p:cNvPr>
              <p:cNvSpPr>
                <a:spLocks noGrp="1"/>
              </p:cNvSpPr>
              <p:nvPr/>
            </p:nvSpPr>
            <p:spPr>
              <a:xfrm>
                <a:off x="723900" y="3785997"/>
                <a:ext cx="10744200" cy="647699"/>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3300" smtClean="0">
                          <a:solidFill>
                            <a:srgbClr val="087F83"/>
                          </a:solidFill>
                          <a:latin typeface="Cambria Math"/>
                          <a:ea typeface="Cambria Math"/>
                          <a:cs typeface="Cambria Math"/>
                        </a:rPr>
                        <m:t>∇</m:t>
                      </m:r>
                      <m:r>
                        <a:rPr lang="en-GB" sz="3300" smtClean="0">
                          <a:solidFill>
                            <a:srgbClr val="087F83"/>
                          </a:solidFill>
                          <a:latin typeface="Cambria Math"/>
                          <a:ea typeface="Cambria Math"/>
                          <a:cs typeface="Cambria Math"/>
                        </a:rPr>
                        <m:t>ℰ</m:t>
                      </m:r>
                      <m:d>
                        <m:dPr>
                          <m:ctrlPr>
                            <a:rPr lang="en-GB" sz="3300">
                              <a:solidFill>
                                <a:srgbClr val="087F83"/>
                              </a:solidFill>
                              <a:latin typeface="Cambria Math"/>
                              <a:ea typeface="Cambria Math"/>
                              <a:cs typeface="Cambria Math"/>
                            </a:rPr>
                          </m:ctrlPr>
                        </m:dPr>
                        <m:e>
                          <m:r>
                            <a:rPr lang="en-GB" sz="3300">
                              <a:solidFill>
                                <a:srgbClr val="087F83"/>
                              </a:solidFill>
                              <a:latin typeface="Cambria Math"/>
                              <a:ea typeface="Cambria Math"/>
                              <a:cs typeface="Cambria Math"/>
                            </a:rPr>
                            <m:t>𝛉</m:t>
                          </m:r>
                        </m:e>
                      </m:d>
                      <m:r>
                        <a:rPr lang="en-GB" sz="3300">
                          <a:solidFill>
                            <a:srgbClr val="087F83"/>
                          </a:solidFill>
                          <a:latin typeface="Cambria Math"/>
                          <a:ea typeface="Cambria Math"/>
                          <a:cs typeface="Cambria Math"/>
                        </a:rPr>
                        <m:t>=</m:t>
                      </m:r>
                      <m:r>
                        <a:rPr lang="en-GB" sz="3300">
                          <a:solidFill>
                            <a:srgbClr val="087F83"/>
                          </a:solidFill>
                          <a:latin typeface="Cambria Math"/>
                          <a:ea typeface="Cambria Math"/>
                          <a:cs typeface="Cambria Math"/>
                        </a:rPr>
                        <m:t>𝟎</m:t>
                      </m:r>
                    </m:oMath>
                  </m:oMathPara>
                </a14:m>
                <a:endParaRPr lang="en-GB" sz="3300" dirty="0"/>
              </a:p>
            </p:txBody>
          </p:sp>
        </mc:Choice>
        <mc:Fallback xmlns="">
          <p:sp>
            <p:nvSpPr>
              <p:cNvPr id="6" name="step_1_equation_1" descr="\nabla\mathcal E(\boldsymbol\theta)=\mathbf0">
                <a:extLst>
                  <a:ext uri="{FF2B5EF4-FFF2-40B4-BE49-F238E27FC236}">
                    <a16:creationId xmlns:a16="http://schemas.microsoft.com/office/drawing/2014/main" id="{3807A932-70F8-4174-81C7-8EFF5F4A62EE}"/>
                  </a:ext>
                </a:extLst>
              </p:cNvPr>
              <p:cNvSpPr>
                <a:spLocks noGrp="1" noRot="1" noChangeAspect="1" noMove="1" noResize="1" noEditPoints="1" noAdjustHandles="1" noChangeArrowheads="1" noChangeShapeType="1" noTextEdit="1"/>
              </p:cNvSpPr>
              <p:nvPr/>
            </p:nvSpPr>
            <p:spPr>
              <a:xfrm>
                <a:off x="723900" y="3785997"/>
                <a:ext cx="10744200" cy="647699"/>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step_2_equation_2" descr="\boldsymbol\theta-\eta\mathbf0=\boldsymbol\theta">
                <a:extLst>
                  <a:ext uri="{FF2B5EF4-FFF2-40B4-BE49-F238E27FC236}">
                    <a16:creationId xmlns:a16="http://schemas.microsoft.com/office/drawing/2014/main" id="{55381BD5-44DD-4242-A6EB-49B3B78A8809}"/>
                  </a:ext>
                </a:extLst>
              </p:cNvPr>
              <p:cNvSpPr>
                <a:spLocks noGrp="1"/>
              </p:cNvSpPr>
              <p:nvPr/>
            </p:nvSpPr>
            <p:spPr>
              <a:xfrm>
                <a:off x="723900" y="4878797"/>
                <a:ext cx="10744200" cy="86506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3300" smtClean="0">
                              <a:solidFill>
                                <a:srgbClr val="087F83"/>
                              </a:solidFill>
                              <a:latin typeface="Cambria Math"/>
                              <a:ea typeface="Cambria Math"/>
                              <a:cs typeface="Cambria Math"/>
                            </a:rPr>
                          </m:ctrlPr>
                        </m:sSupPr>
                        <m:e>
                          <m:r>
                            <a:rPr lang="en-GB" sz="3300" smtClean="0">
                              <a:solidFill>
                                <a:srgbClr val="087F83"/>
                              </a:solidFill>
                              <a:latin typeface="Cambria Math"/>
                              <a:ea typeface="Cambria Math"/>
                              <a:cs typeface="Cambria Math"/>
                            </a:rPr>
                            <m:t>𝛉</m:t>
                          </m:r>
                        </m:e>
                        <m:sup>
                          <m:d>
                            <m:dPr>
                              <m:ctrlPr>
                                <a:rPr lang="it-IT" sz="3300" b="0" i="1" smtClean="0">
                                  <a:solidFill>
                                    <a:srgbClr val="087F83"/>
                                  </a:solidFill>
                                  <a:latin typeface="Cambria Math" panose="02040503050406030204" pitchFamily="18" charset="0"/>
                                  <a:ea typeface="Cambria Math"/>
                                </a:rPr>
                              </m:ctrlPr>
                            </m:dPr>
                            <m:e>
                              <m:r>
                                <a:rPr lang="it-IT" sz="3300" b="0" i="1" smtClean="0">
                                  <a:solidFill>
                                    <a:srgbClr val="087F83"/>
                                  </a:solidFill>
                                  <a:latin typeface="Cambria Math" panose="02040503050406030204" pitchFamily="18" charset="0"/>
                                  <a:ea typeface="Cambria Math"/>
                                </a:rPr>
                                <m:t>𝑡</m:t>
                              </m:r>
                              <m:r>
                                <a:rPr lang="it-IT" sz="3300" b="0" i="1" smtClean="0">
                                  <a:solidFill>
                                    <a:srgbClr val="087F83"/>
                                  </a:solidFill>
                                  <a:latin typeface="Cambria Math" panose="02040503050406030204" pitchFamily="18" charset="0"/>
                                  <a:ea typeface="Cambria Math"/>
                                </a:rPr>
                                <m:t>+1</m:t>
                              </m:r>
                            </m:e>
                          </m:d>
                        </m:sup>
                      </m:sSup>
                      <m:r>
                        <a:rPr lang="en-GB" sz="3300">
                          <a:solidFill>
                            <a:srgbClr val="087F83"/>
                          </a:solidFill>
                          <a:latin typeface="Cambria Math"/>
                          <a:ea typeface="Cambria Math"/>
                          <a:cs typeface="Cambria Math"/>
                        </a:rPr>
                        <m:t>=</m:t>
                      </m:r>
                      <m:sSup>
                        <m:sSupPr>
                          <m:ctrlPr>
                            <a:rPr lang="en-GB" sz="3300">
                              <a:solidFill>
                                <a:srgbClr val="087F83"/>
                              </a:solidFill>
                              <a:latin typeface="Cambria Math"/>
                              <a:ea typeface="Cambria Math"/>
                              <a:cs typeface="Cambria Math"/>
                            </a:rPr>
                          </m:ctrlPr>
                        </m:sSupPr>
                        <m:e>
                          <m:r>
                            <a:rPr lang="en-GB" sz="3300">
                              <a:solidFill>
                                <a:srgbClr val="087F83"/>
                              </a:solidFill>
                              <a:latin typeface="Cambria Math"/>
                              <a:ea typeface="Cambria Math"/>
                              <a:cs typeface="Cambria Math"/>
                            </a:rPr>
                            <m:t>𝛉</m:t>
                          </m:r>
                        </m:e>
                        <m:sup>
                          <m:d>
                            <m:dPr>
                              <m:ctrlPr>
                                <a:rPr lang="it-IT" sz="3300" b="0" i="1" smtClean="0">
                                  <a:solidFill>
                                    <a:srgbClr val="087F83"/>
                                  </a:solidFill>
                                  <a:latin typeface="Cambria Math" panose="02040503050406030204" pitchFamily="18" charset="0"/>
                                  <a:ea typeface="Cambria Math"/>
                                </a:rPr>
                              </m:ctrlPr>
                            </m:dPr>
                            <m:e>
                              <m:r>
                                <a:rPr lang="it-IT" sz="3300" b="0" i="1" smtClean="0">
                                  <a:solidFill>
                                    <a:srgbClr val="087F83"/>
                                  </a:solidFill>
                                  <a:latin typeface="Cambria Math" panose="02040503050406030204" pitchFamily="18" charset="0"/>
                                  <a:ea typeface="Cambria Math"/>
                                </a:rPr>
                                <m:t>𝑡</m:t>
                              </m:r>
                            </m:e>
                          </m:d>
                        </m:sup>
                      </m:sSup>
                      <m:r>
                        <a:rPr lang="en-GB" sz="3300">
                          <a:solidFill>
                            <a:srgbClr val="087F83"/>
                          </a:solidFill>
                          <a:latin typeface="Cambria Math"/>
                          <a:ea typeface="Cambria Math"/>
                          <a:cs typeface="Cambria Math"/>
                        </a:rPr>
                        <m:t>−</m:t>
                      </m:r>
                      <m:r>
                        <a:rPr lang="en-GB" sz="3300">
                          <a:solidFill>
                            <a:srgbClr val="087F83"/>
                          </a:solidFill>
                          <a:latin typeface="Cambria Math"/>
                          <a:ea typeface="Cambria Math"/>
                          <a:cs typeface="Cambria Math"/>
                        </a:rPr>
                        <m:t>𝜂</m:t>
                      </m:r>
                      <m:r>
                        <m:rPr>
                          <m:sty m:val="p"/>
                        </m:rPr>
                        <a:rPr lang="en-GB" sz="3300">
                          <a:solidFill>
                            <a:srgbClr val="087F83"/>
                          </a:solidFill>
                          <a:latin typeface="Cambria Math"/>
                          <a:ea typeface="Cambria Math"/>
                          <a:cs typeface="Cambria Math"/>
                        </a:rPr>
                        <m:t>∇</m:t>
                      </m:r>
                      <m:r>
                        <a:rPr lang="en-GB" sz="3300">
                          <a:solidFill>
                            <a:srgbClr val="087F83"/>
                          </a:solidFill>
                          <a:latin typeface="Cambria Math"/>
                          <a:ea typeface="Cambria Math"/>
                          <a:cs typeface="Cambria Math"/>
                        </a:rPr>
                        <m:t>ℰ</m:t>
                      </m:r>
                      <m:d>
                        <m:dPr>
                          <m:ctrlPr>
                            <a:rPr lang="en-GB" sz="3300" i="1">
                              <a:solidFill>
                                <a:srgbClr val="087F83"/>
                              </a:solidFill>
                              <a:latin typeface="Cambria Math" panose="02040503050406030204" pitchFamily="18" charset="0"/>
                              <a:ea typeface="Cambria Math"/>
                              <a:cs typeface="Cambria Math"/>
                            </a:rPr>
                          </m:ctrlPr>
                        </m:dPr>
                        <m:e>
                          <m:sSup>
                            <m:sSupPr>
                              <m:ctrlPr>
                                <a:rPr lang="en-GB" sz="3300">
                                  <a:solidFill>
                                    <a:srgbClr val="087F83"/>
                                  </a:solidFill>
                                  <a:latin typeface="Cambria Math"/>
                                  <a:ea typeface="Cambria Math"/>
                                  <a:cs typeface="Cambria Math"/>
                                </a:rPr>
                              </m:ctrlPr>
                            </m:sSupPr>
                            <m:e>
                              <m:r>
                                <a:rPr lang="en-GB" sz="3300">
                                  <a:solidFill>
                                    <a:srgbClr val="087F83"/>
                                  </a:solidFill>
                                  <a:latin typeface="Cambria Math"/>
                                  <a:ea typeface="Cambria Math"/>
                                  <a:cs typeface="Cambria Math"/>
                                </a:rPr>
                                <m:t>𝛉</m:t>
                              </m:r>
                            </m:e>
                            <m:sup>
                              <m:d>
                                <m:dPr>
                                  <m:ctrlPr>
                                    <a:rPr lang="it-IT" sz="3300" i="1">
                                      <a:solidFill>
                                        <a:srgbClr val="087F83"/>
                                      </a:solidFill>
                                      <a:latin typeface="Cambria Math" panose="02040503050406030204" pitchFamily="18" charset="0"/>
                                      <a:ea typeface="Cambria Math"/>
                                    </a:rPr>
                                  </m:ctrlPr>
                                </m:dPr>
                                <m:e>
                                  <m:r>
                                    <a:rPr lang="it-IT" sz="3300" i="1">
                                      <a:solidFill>
                                        <a:srgbClr val="087F83"/>
                                      </a:solidFill>
                                      <a:latin typeface="Cambria Math" panose="02040503050406030204" pitchFamily="18" charset="0"/>
                                      <a:ea typeface="Cambria Math"/>
                                    </a:rPr>
                                    <m:t>𝑡</m:t>
                                  </m:r>
                                </m:e>
                              </m:d>
                            </m:sup>
                          </m:sSup>
                        </m:e>
                      </m:d>
                      <m:r>
                        <a:rPr lang="it-IT" sz="3300" b="0" i="1" smtClean="0">
                          <a:solidFill>
                            <a:srgbClr val="087F83"/>
                          </a:solidFill>
                          <a:latin typeface="Cambria Math" panose="02040503050406030204" pitchFamily="18" charset="0"/>
                          <a:ea typeface="Cambria Math"/>
                          <a:cs typeface="Cambria Math"/>
                        </a:rPr>
                        <m:t>=</m:t>
                      </m:r>
                      <m:sSup>
                        <m:sSupPr>
                          <m:ctrlPr>
                            <a:rPr lang="en-GB" sz="3300">
                              <a:solidFill>
                                <a:srgbClr val="087F83"/>
                              </a:solidFill>
                              <a:latin typeface="Cambria Math"/>
                              <a:ea typeface="Cambria Math"/>
                              <a:cs typeface="Cambria Math"/>
                            </a:rPr>
                          </m:ctrlPr>
                        </m:sSupPr>
                        <m:e>
                          <m:r>
                            <a:rPr lang="en-GB" sz="3300">
                              <a:solidFill>
                                <a:srgbClr val="087F83"/>
                              </a:solidFill>
                              <a:latin typeface="Cambria Math"/>
                              <a:ea typeface="Cambria Math"/>
                              <a:cs typeface="Cambria Math"/>
                            </a:rPr>
                            <m:t>𝛉</m:t>
                          </m:r>
                        </m:e>
                        <m:sup>
                          <m:d>
                            <m:dPr>
                              <m:ctrlPr>
                                <a:rPr lang="it-IT" sz="3300" i="1">
                                  <a:solidFill>
                                    <a:srgbClr val="087F83"/>
                                  </a:solidFill>
                                  <a:latin typeface="Cambria Math" panose="02040503050406030204" pitchFamily="18" charset="0"/>
                                  <a:ea typeface="Cambria Math"/>
                                </a:rPr>
                              </m:ctrlPr>
                            </m:dPr>
                            <m:e>
                              <m:r>
                                <a:rPr lang="it-IT" sz="3300" i="1">
                                  <a:solidFill>
                                    <a:srgbClr val="087F83"/>
                                  </a:solidFill>
                                  <a:latin typeface="Cambria Math" panose="02040503050406030204" pitchFamily="18" charset="0"/>
                                  <a:ea typeface="Cambria Math"/>
                                </a:rPr>
                                <m:t>𝑡</m:t>
                              </m:r>
                            </m:e>
                          </m:d>
                        </m:sup>
                      </m:sSup>
                    </m:oMath>
                  </m:oMathPara>
                </a14:m>
                <a:endParaRPr lang="en-GB" sz="3300" dirty="0"/>
              </a:p>
            </p:txBody>
          </p:sp>
        </mc:Choice>
        <mc:Fallback xmlns="">
          <p:sp>
            <p:nvSpPr>
              <p:cNvPr id="7" name="step_2_equation_2" descr="\boldsymbol\theta-\eta\mathbf0=\boldsymbol\theta">
                <a:extLst>
                  <a:ext uri="{FF2B5EF4-FFF2-40B4-BE49-F238E27FC236}">
                    <a16:creationId xmlns:a16="http://schemas.microsoft.com/office/drawing/2014/main" id="{55381BD5-44DD-4242-A6EB-49B3B78A8809}"/>
                  </a:ext>
                </a:extLst>
              </p:cNvPr>
              <p:cNvSpPr>
                <a:spLocks noGrp="1" noRot="1" noChangeAspect="1" noMove="1" noResize="1" noEditPoints="1" noAdjustHandles="1" noChangeArrowheads="1" noChangeShapeType="1" noTextEdit="1"/>
              </p:cNvSpPr>
              <p:nvPr/>
            </p:nvSpPr>
            <p:spPr>
              <a:xfrm>
                <a:off x="723900" y="4878797"/>
                <a:ext cx="10744200" cy="865061"/>
              </a:xfrm>
              <a:prstGeom prst="rect">
                <a:avLst/>
              </a:prstGeom>
              <a:blipFill>
                <a:blip r:embed="rId5"/>
                <a:stretch>
                  <a:fillRect/>
                </a:stretch>
              </a:blipFill>
              <a:ln w="0">
                <a:noFill/>
              </a:ln>
            </p:spPr>
            <p:txBody>
              <a:bodyPr/>
              <a:lstStyle/>
              <a:p>
                <a:r>
                  <a:rPr lang="it-IT">
                    <a:noFill/>
                  </a:rPr>
                  <a:t> </a:t>
                </a:r>
              </a:p>
            </p:txBody>
          </p:sp>
        </mc:Fallback>
      </mc:AlternateContent>
      <p:sp>
        <p:nvSpPr>
          <p:cNvPr id="8" name="step_3_text_3">
            <a:extLst>
              <a:ext uri="{FF2B5EF4-FFF2-40B4-BE49-F238E27FC236}">
                <a16:creationId xmlns:a16="http://schemas.microsoft.com/office/drawing/2014/main" id="{60008545-D14E-4F98-AB53-31559EDEEC27}"/>
              </a:ext>
            </a:extLst>
          </p:cNvPr>
          <p:cNvSpPr>
            <a:spLocks noGrp="1"/>
          </p:cNvSpPr>
          <p:nvPr/>
        </p:nvSpPr>
        <p:spPr>
          <a:xfrm>
            <a:off x="723900" y="5686425"/>
            <a:ext cx="10744200" cy="600075"/>
          </a:xfrm>
          <a:prstGeom prst="rect">
            <a:avLst/>
          </a:prstGeom>
          <a:noFill/>
          <a:ln w="0">
            <a:noFill/>
          </a:ln>
        </p:spPr>
        <p:txBody>
          <a:bodyPr wrap="square" lIns="0" tIns="0" rIns="0" bIns="0" anchor="ctr">
            <a:noAutofit/>
          </a:bodyPr>
          <a:lstStyle/>
          <a:p>
            <a:pPr algn="ctr">
              <a:lnSpc>
                <a:spcPct val="112000"/>
              </a:lnSpc>
              <a:buNone/>
              <a:defRPr sz="2100" b="1">
                <a:solidFill>
                  <a:srgbClr val="182D45"/>
                </a:solidFill>
                <a:latin typeface="DejaVu Sans"/>
                <a:ea typeface="DejaVu Sans"/>
                <a:cs typeface="DejaVu Sans"/>
              </a:defRPr>
            </a:pPr>
            <a:r>
              <a:rPr lang="it-IT" sz="2400" b="1" dirty="0" err="1">
                <a:solidFill>
                  <a:srgbClr val="182D45"/>
                </a:solidFill>
                <a:latin typeface="DejaVu Sans"/>
                <a:ea typeface="DejaVu Sans"/>
                <a:cs typeface="DejaVu Sans"/>
              </a:rPr>
              <a:t>Gradient</a:t>
            </a:r>
            <a:r>
              <a:rPr lang="it-IT" sz="2400" b="1" dirty="0">
                <a:solidFill>
                  <a:srgbClr val="182D45"/>
                </a:solidFill>
                <a:latin typeface="DejaVu Sans"/>
                <a:ea typeface="DejaVu Sans"/>
                <a:cs typeface="DejaVu Sans"/>
              </a:rPr>
              <a:t> </a:t>
            </a:r>
            <a:r>
              <a:rPr lang="it-IT" sz="2400" b="1" dirty="0" err="1">
                <a:solidFill>
                  <a:srgbClr val="182D45"/>
                </a:solidFill>
                <a:latin typeface="DejaVu Sans"/>
                <a:ea typeface="DejaVu Sans"/>
                <a:cs typeface="DejaVu Sans"/>
              </a:rPr>
              <a:t>descent</a:t>
            </a:r>
            <a:r>
              <a:rPr lang="it-IT" sz="2400" b="1" dirty="0">
                <a:solidFill>
                  <a:srgbClr val="182D45"/>
                </a:solidFill>
                <a:latin typeface="DejaVu Sans"/>
                <a:ea typeface="DejaVu Sans"/>
                <a:cs typeface="DejaVu Sans"/>
              </a:rPr>
              <a:t> </a:t>
            </a:r>
            <a:r>
              <a:rPr lang="it-IT" sz="2400" b="1" dirty="0" err="1">
                <a:solidFill>
                  <a:srgbClr val="182D45"/>
                </a:solidFill>
                <a:latin typeface="DejaVu Sans"/>
                <a:ea typeface="DejaVu Sans"/>
                <a:cs typeface="DejaVu Sans"/>
              </a:rPr>
              <a:t>will</a:t>
            </a:r>
            <a:r>
              <a:rPr lang="it-IT" sz="2400" b="1" dirty="0">
                <a:solidFill>
                  <a:srgbClr val="182D45"/>
                </a:solidFill>
                <a:latin typeface="DejaVu Sans"/>
                <a:ea typeface="DejaVu Sans"/>
                <a:cs typeface="DejaVu Sans"/>
              </a:rPr>
              <a:t> </a:t>
            </a:r>
            <a:r>
              <a:rPr lang="it-IT" sz="2400" b="1" dirty="0" err="1">
                <a:solidFill>
                  <a:srgbClr val="FF0000"/>
                </a:solidFill>
                <a:latin typeface="DejaVu Sans"/>
                <a:ea typeface="DejaVu Sans"/>
                <a:cs typeface="DejaVu Sans"/>
              </a:rPr>
              <a:t>not</a:t>
            </a:r>
            <a:r>
              <a:rPr lang="it-IT" sz="2400" b="1" dirty="0">
                <a:solidFill>
                  <a:srgbClr val="182D45"/>
                </a:solidFill>
                <a:latin typeface="DejaVu Sans"/>
                <a:ea typeface="DejaVu Sans"/>
                <a:cs typeface="DejaVu Sans"/>
              </a:rPr>
              <a:t> </a:t>
            </a:r>
            <a:r>
              <a:rPr lang="it-IT" sz="2400" b="1" dirty="0" err="1">
                <a:solidFill>
                  <a:srgbClr val="182D45"/>
                </a:solidFill>
                <a:latin typeface="DejaVu Sans"/>
                <a:ea typeface="DejaVu Sans"/>
                <a:cs typeface="DejaVu Sans"/>
              </a:rPr>
              <a:t>move</a:t>
            </a:r>
            <a:r>
              <a:rPr lang="it-IT" sz="2400" b="1" dirty="0">
                <a:solidFill>
                  <a:srgbClr val="182D45"/>
                </a:solidFill>
                <a:latin typeface="DejaVu Sans"/>
                <a:ea typeface="DejaVu Sans"/>
                <a:cs typeface="DejaVu Sans"/>
              </a:rPr>
              <a:t>!!!</a:t>
            </a:r>
            <a:endParaRPr sz="2400" b="1" dirty="0">
              <a:solidFill>
                <a:srgbClr val="182D45"/>
              </a:solidFill>
              <a:latin typeface="DejaVu Sans"/>
              <a:ea typeface="DejaVu Sans"/>
              <a:cs typeface="DejaVu Sans"/>
            </a:endParaRPr>
          </a:p>
        </p:txBody>
      </p:sp>
      <p:sp>
        <p:nvSpPr>
          <p:cNvPr id="11" name="CasellaDiTesto 10">
            <a:extLst>
              <a:ext uri="{FF2B5EF4-FFF2-40B4-BE49-F238E27FC236}">
                <a16:creationId xmlns:a16="http://schemas.microsoft.com/office/drawing/2014/main" id="{5732A688-AE50-34BA-F925-E334BA09DFA6}"/>
              </a:ext>
            </a:extLst>
          </p:cNvPr>
          <p:cNvSpPr txBox="1"/>
          <p:nvPr/>
        </p:nvSpPr>
        <p:spPr>
          <a:xfrm>
            <a:off x="1848612" y="3304713"/>
            <a:ext cx="7751826" cy="419667"/>
          </a:xfrm>
          <a:prstGeom prst="rect">
            <a:avLst/>
          </a:prstGeom>
          <a:noFill/>
        </p:spPr>
        <p:txBody>
          <a:bodyPr wrap="square">
            <a:spAutoFit/>
          </a:bodyPr>
          <a:lstStyle/>
          <a:p>
            <a:pPr algn="ctr">
              <a:lnSpc>
                <a:spcPct val="112000"/>
              </a:lnSpc>
              <a:buNone/>
              <a:defRPr sz="2100" b="0">
                <a:solidFill>
                  <a:srgbClr val="526276"/>
                </a:solidFill>
                <a:latin typeface="DejaVu Sans"/>
                <a:ea typeface="DejaVu Sans"/>
                <a:cs typeface="DejaVu Sans"/>
              </a:defRPr>
            </a:pPr>
            <a:r>
              <a:rPr lang="en-GB" sz="2100" dirty="0">
                <a:solidFill>
                  <a:srgbClr val="526276"/>
                </a:solidFill>
                <a:latin typeface="DejaVu Sans"/>
                <a:ea typeface="DejaVu Sans"/>
                <a:cs typeface="DejaVu Sans"/>
              </a:rPr>
              <a:t>The </a:t>
            </a:r>
            <a:r>
              <a:rPr lang="en-GB" sz="2100" dirty="0">
                <a:solidFill>
                  <a:srgbClr val="FF0000"/>
                </a:solidFill>
                <a:latin typeface="DejaVu Sans"/>
                <a:ea typeface="DejaVu Sans"/>
                <a:cs typeface="DejaVu Sans"/>
              </a:rPr>
              <a:t>gradient</a:t>
            </a:r>
            <a:r>
              <a:rPr lang="en-GB" sz="2100" dirty="0">
                <a:solidFill>
                  <a:srgbClr val="526276"/>
                </a:solidFill>
                <a:latin typeface="DejaVu Sans"/>
                <a:ea typeface="DejaVu Sans"/>
                <a:cs typeface="DejaVu Sans"/>
              </a:rPr>
              <a:t> of a </a:t>
            </a:r>
            <a:r>
              <a:rPr lang="en-GB" sz="2100" dirty="0">
                <a:solidFill>
                  <a:srgbClr val="FF0000"/>
                </a:solidFill>
                <a:latin typeface="DejaVu Sans"/>
                <a:ea typeface="DejaVu Sans"/>
                <a:cs typeface="DejaVu Sans"/>
              </a:rPr>
              <a:t>locally constant</a:t>
            </a:r>
            <a:r>
              <a:rPr lang="en-GB" sz="2100" dirty="0">
                <a:solidFill>
                  <a:srgbClr val="526276"/>
                </a:solidFill>
                <a:latin typeface="DejaVu Sans"/>
                <a:ea typeface="DejaVu Sans"/>
                <a:cs typeface="DejaVu Sans"/>
              </a:rPr>
              <a:t> function is </a:t>
            </a:r>
            <a:r>
              <a:rPr lang="en-GB" sz="2100" dirty="0">
                <a:solidFill>
                  <a:srgbClr val="FF0000"/>
                </a:solidFill>
                <a:latin typeface="DejaVu Sans"/>
                <a:ea typeface="DejaVu Sans"/>
                <a:cs typeface="DejaVu Sans"/>
              </a:rPr>
              <a:t>zero</a:t>
            </a:r>
            <a:r>
              <a:rPr lang="en-GB" sz="2100" dirty="0">
                <a:solidFill>
                  <a:srgbClr val="526276"/>
                </a:solidFill>
                <a:latin typeface="DejaVu Sans"/>
                <a:ea typeface="DejaVu Sans"/>
                <a:cs typeface="DejaVu Sans"/>
              </a:rPr>
              <a:t>!</a:t>
            </a:r>
            <a:endParaRPr lang="en-GB" sz="2100" b="0" dirty="0">
              <a:solidFill>
                <a:srgbClr val="526276"/>
              </a:solidFill>
              <a:latin typeface="DejaVu Sans"/>
              <a:ea typeface="DejaVu Sans"/>
              <a:cs typeface="DejaVu Sans"/>
            </a:endParaRPr>
          </a:p>
        </p:txBody>
      </p:sp>
      <p:sp>
        <p:nvSpPr>
          <p:cNvPr id="13" name="CasellaDiTesto 12">
            <a:extLst>
              <a:ext uri="{FF2B5EF4-FFF2-40B4-BE49-F238E27FC236}">
                <a16:creationId xmlns:a16="http://schemas.microsoft.com/office/drawing/2014/main" id="{600CEF02-44AA-C08B-C3AB-F56058D9B240}"/>
              </a:ext>
            </a:extLst>
          </p:cNvPr>
          <p:cNvSpPr txBox="1"/>
          <p:nvPr/>
        </p:nvSpPr>
        <p:spPr>
          <a:xfrm>
            <a:off x="2220087" y="4535614"/>
            <a:ext cx="7751826" cy="419667"/>
          </a:xfrm>
          <a:prstGeom prst="rect">
            <a:avLst/>
          </a:prstGeom>
          <a:noFill/>
        </p:spPr>
        <p:txBody>
          <a:bodyPr wrap="square">
            <a:spAutoFit/>
          </a:bodyPr>
          <a:lstStyle/>
          <a:p>
            <a:pPr algn="ctr">
              <a:lnSpc>
                <a:spcPct val="112000"/>
              </a:lnSpc>
              <a:buNone/>
              <a:defRPr sz="2100" b="0">
                <a:solidFill>
                  <a:srgbClr val="526276"/>
                </a:solidFill>
                <a:latin typeface="DejaVu Sans"/>
                <a:ea typeface="DejaVu Sans"/>
                <a:cs typeface="DejaVu Sans"/>
              </a:defRPr>
            </a:pPr>
            <a:r>
              <a:rPr lang="en-GB" sz="2100" b="0" dirty="0">
                <a:solidFill>
                  <a:srgbClr val="526276"/>
                </a:solidFill>
                <a:latin typeface="DejaVu Sans"/>
                <a:ea typeface="DejaVu Sans"/>
                <a:cs typeface="DejaVu Sans"/>
              </a:rPr>
              <a:t>Hence</a:t>
            </a:r>
          </a:p>
        </p:txBody>
      </p:sp>
    </p:spTree>
    <p:extLst>
      <p:ext uri="{BB962C8B-B14F-4D97-AF65-F5344CB8AC3E}">
        <p14:creationId xmlns:p14="http://schemas.microsoft.com/office/powerpoint/2010/main" val="89703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1"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EED1D404-DE89-46FB-B360-133C530BB287}"/>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What does the mistake count miss?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DF7D6D0B-B562-469C-BE8B-A06E1BBE013B}"/>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Suppose the </a:t>
                </a:r>
                <a:r>
                  <a:rPr lang="it-IT" sz="2100" b="0" dirty="0">
                    <a:solidFill>
                      <a:srgbClr val="FF0000"/>
                    </a:solidFill>
                    <a:latin typeface="DejaVu Sans"/>
                    <a:ea typeface="DejaVu Sans"/>
                    <a:cs typeface="DejaVu Sans"/>
                  </a:rPr>
                  <a:t>observed class is </a:t>
                </a:r>
                <a14:m>
                  <m:oMath xmlns:m="http://schemas.openxmlformats.org/officeDocument/2006/math">
                    <m:r>
                      <a:rPr lang="it-IT" sz="2100" b="0" i="1" dirty="0" smtClean="0">
                        <a:solidFill>
                          <a:srgbClr val="FF0000"/>
                        </a:solidFill>
                        <a:latin typeface="Cambria Math" panose="02040503050406030204" pitchFamily="18" charset="0"/>
                        <a:ea typeface="DejaVu Sans"/>
                        <a:cs typeface="DejaVu Sans"/>
                      </a:rPr>
                      <m:t>0</m:t>
                    </m:r>
                  </m:oMath>
                </a14:m>
                <a:r>
                  <a:rPr sz="2100" b="0" dirty="0">
                    <a:solidFill>
                      <a:srgbClr val="526276"/>
                    </a:solidFill>
                    <a:latin typeface="DejaVu Sans"/>
                    <a:ea typeface="DejaVu Sans"/>
                    <a:cs typeface="DejaVu Sans"/>
                  </a:rPr>
                  <a:t>. Both predictions below choose class </a:t>
                </a:r>
                <a14:m>
                  <m:oMath xmlns:m="http://schemas.openxmlformats.org/officeDocument/2006/math">
                    <m:r>
                      <a:rPr lang="it-IT" sz="2100" b="0" i="1" dirty="0" smtClean="0">
                        <a:solidFill>
                          <a:srgbClr val="526276"/>
                        </a:solidFill>
                        <a:latin typeface="Cambria Math" panose="02040503050406030204" pitchFamily="18" charset="0"/>
                        <a:ea typeface="DejaVu Sans"/>
                        <a:cs typeface="DejaVu Sans"/>
                      </a:rPr>
                      <m:t>1</m:t>
                    </m:r>
                  </m:oMath>
                </a14:m>
                <a:r>
                  <a:rPr sz="2100"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DF7D6D0B-B562-469C-BE8B-A06E1BBE013B}"/>
                  </a:ext>
                </a:extLst>
              </p:cNvPr>
              <p:cNvSpPr>
                <a:spLocks noGrp="1" noRot="1" noChangeAspect="1" noMove="1" noResize="1" noEditPoints="1" noAdjustHandles="1" noChangeArrowheads="1" noChangeShapeType="1" noTextEdit="1"/>
              </p:cNvSpPr>
              <p:nvPr/>
            </p:nvSpPr>
            <p:spPr>
              <a:xfrm>
                <a:off x="723900" y="1143000"/>
                <a:ext cx="10744200" cy="6667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EF1891B3-AFCA-4622-BD94-835D6F2E006C}"/>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53BDDD7B-A944-42D1-BBCF-553DD4774882}"/>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15</a:t>
            </a:r>
          </a:p>
        </p:txBody>
      </p:sp>
      <p:graphicFrame>
        <p:nvGraphicFramePr>
          <p:cNvPr id="10" name="step_0_probability_comparison"/>
          <p:cNvGraphicFramePr/>
          <p:nvPr/>
        </p:nvGraphicFramePr>
        <p:xfrm>
          <a:off x="952500" y="2066925"/>
          <a:ext cx="10287000" cy="2476500"/>
        </p:xfrm>
        <a:graphic>
          <a:graphicData uri="http://schemas.openxmlformats.org/drawingml/2006/table">
            <a:tbl>
              <a:tblPr/>
              <a:tblGrid>
                <a:gridCol w="5715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95300">
                <a:tc>
                  <a:txBody>
                    <a:bodyPr/>
                    <a:lstStyle/>
                    <a:p>
                      <a:endParaRPr/>
                    </a:p>
                  </a:txBody>
                  <a:tcPr anchor="ctr">
                    <a:solidFill>
                      <a:srgbClr val="EDF3F6"/>
                    </a:solidFill>
                  </a:tcPr>
                </a:tc>
                <a:tc>
                  <a:txBody>
                    <a:bodyPr/>
                    <a:lstStyle/>
                    <a:p>
                      <a:pPr algn="ctr"/>
                      <a:r>
                        <a:rPr sz="1875" b="1">
                          <a:solidFill>
                            <a:srgbClr val="182D45"/>
                          </a:solidFill>
                          <a:latin typeface="DejaVu Sans"/>
                          <a:ea typeface="DejaVu Sans"/>
                          <a:cs typeface="DejaVu Sans"/>
                        </a:rPr>
                        <a:t>Prediction A</a:t>
                      </a:r>
                    </a:p>
                  </a:txBody>
                  <a:tcPr anchor="ctr">
                    <a:solidFill>
                      <a:srgbClr val="EDF3F6"/>
                    </a:solidFill>
                  </a:tcPr>
                </a:tc>
                <a:tc>
                  <a:txBody>
                    <a:bodyPr/>
                    <a:lstStyle/>
                    <a:p>
                      <a:pPr algn="ctr"/>
                      <a:r>
                        <a:rPr sz="1875" b="1">
                          <a:solidFill>
                            <a:srgbClr val="182D45"/>
                          </a:solidFill>
                          <a:latin typeface="DejaVu Sans"/>
                          <a:ea typeface="DejaVu Sans"/>
                          <a:cs typeface="DejaVu Sans"/>
                        </a:rPr>
                        <a:t>Prediction B</a:t>
                      </a:r>
                    </a:p>
                  </a:txBody>
                  <a:tcPr anchor="ctr">
                    <a:solidFill>
                      <a:srgbClr val="EDF3F6"/>
                    </a:solidFill>
                  </a:tcPr>
                </a:tc>
                <a:extLst>
                  <a:ext uri="{0D108BD9-81ED-4DB2-BD59-A6C34878D82A}">
                    <a16:rowId xmlns:a16="http://schemas.microsoft.com/office/drawing/2014/main" val="10000"/>
                  </a:ext>
                </a:extLst>
              </a:tr>
              <a:tr h="495300">
                <a:tc>
                  <a:txBody>
                    <a:bodyPr/>
                    <a:lstStyle/>
                    <a:p>
                      <a:pPr algn="l"/>
                      <a:r>
                        <a:rPr sz="1875" b="0">
                          <a:solidFill>
                            <a:srgbClr val="182D45"/>
                          </a:solidFill>
                          <a:latin typeface="DejaVu Sans"/>
                          <a:ea typeface="DejaVu Sans"/>
                          <a:cs typeface="DejaVu Sans"/>
                        </a:rPr>
                        <a:t>Probability of class 1</a:t>
                      </a:r>
                    </a:p>
                  </a:txBody>
                  <a:tcPr anchor="ctr">
                    <a:solidFill>
                      <a:srgbClr val="FFFFFF"/>
                    </a:solidFill>
                  </a:tcPr>
                </a:tc>
                <a:tc>
                  <a:txBody>
                    <a:bodyPr/>
                    <a:lstStyle/>
                    <a:p>
                      <a:pPr algn="ctr"/>
                      <a:r>
                        <a:rPr sz="1875" b="0" dirty="0">
                          <a:solidFill>
                            <a:srgbClr val="182D45"/>
                          </a:solidFill>
                          <a:latin typeface="DejaVu Sans"/>
                          <a:ea typeface="DejaVu Sans"/>
                          <a:cs typeface="DejaVu Sans"/>
                        </a:rPr>
                        <a:t>0.51</a:t>
                      </a:r>
                    </a:p>
                  </a:txBody>
                  <a:tcPr anchor="ctr">
                    <a:solidFill>
                      <a:srgbClr val="FFFFFF"/>
                    </a:solidFill>
                  </a:tcPr>
                </a:tc>
                <a:tc>
                  <a:txBody>
                    <a:bodyPr/>
                    <a:lstStyle/>
                    <a:p>
                      <a:pPr algn="ctr"/>
                      <a:r>
                        <a:rPr sz="1875" b="0">
                          <a:solidFill>
                            <a:srgbClr val="182D45"/>
                          </a:solidFill>
                          <a:latin typeface="DejaVu Sans"/>
                          <a:ea typeface="DejaVu Sans"/>
                          <a:cs typeface="DejaVu Sans"/>
                        </a:rPr>
                        <a:t>0.90</a:t>
                      </a:r>
                    </a:p>
                  </a:txBody>
                  <a:tcPr anchor="ctr">
                    <a:solidFill>
                      <a:srgbClr val="FFFFFF"/>
                    </a:solidFill>
                  </a:tcPr>
                </a:tc>
                <a:extLst>
                  <a:ext uri="{0D108BD9-81ED-4DB2-BD59-A6C34878D82A}">
                    <a16:rowId xmlns:a16="http://schemas.microsoft.com/office/drawing/2014/main" val="10001"/>
                  </a:ext>
                </a:extLst>
              </a:tr>
              <a:tr h="495300">
                <a:tc>
                  <a:txBody>
                    <a:bodyPr/>
                    <a:lstStyle/>
                    <a:p>
                      <a:pPr algn="l"/>
                      <a:r>
                        <a:rPr sz="1875" b="0">
                          <a:solidFill>
                            <a:srgbClr val="182D45"/>
                          </a:solidFill>
                          <a:latin typeface="DejaVu Sans"/>
                          <a:ea typeface="DejaVu Sans"/>
                          <a:cs typeface="DejaVu Sans"/>
                        </a:rPr>
                        <a:t>Predicted class</a:t>
                      </a:r>
                    </a:p>
                  </a:txBody>
                  <a:tcPr anchor="ctr">
                    <a:solidFill>
                      <a:srgbClr val="FFFFFF"/>
                    </a:solidFill>
                  </a:tcPr>
                </a:tc>
                <a:tc>
                  <a:txBody>
                    <a:bodyPr/>
                    <a:lstStyle/>
                    <a:p>
                      <a:pPr algn="ctr"/>
                      <a:r>
                        <a:rPr sz="1875" b="0" dirty="0">
                          <a:solidFill>
                            <a:srgbClr val="182D45"/>
                          </a:solidFill>
                          <a:latin typeface="DejaVu Sans"/>
                          <a:ea typeface="DejaVu Sans"/>
                          <a:cs typeface="DejaVu Sans"/>
                        </a:rPr>
                        <a:t>1</a:t>
                      </a:r>
                    </a:p>
                  </a:txBody>
                  <a:tcPr anchor="ctr">
                    <a:solidFill>
                      <a:srgbClr val="FFFFFF"/>
                    </a:solidFill>
                  </a:tcPr>
                </a:tc>
                <a:tc>
                  <a:txBody>
                    <a:bodyPr/>
                    <a:lstStyle/>
                    <a:p>
                      <a:pPr algn="ctr"/>
                      <a:r>
                        <a:rPr sz="1875" b="0" dirty="0">
                          <a:solidFill>
                            <a:srgbClr val="182D45"/>
                          </a:solidFill>
                          <a:latin typeface="DejaVu Sans"/>
                          <a:ea typeface="DejaVu Sans"/>
                          <a:cs typeface="DejaVu Sans"/>
                        </a:rPr>
                        <a:t>1</a:t>
                      </a:r>
                    </a:p>
                  </a:txBody>
                  <a:tcPr anchor="ctr">
                    <a:solidFill>
                      <a:srgbClr val="FFFFFF"/>
                    </a:solidFill>
                  </a:tcPr>
                </a:tc>
                <a:extLst>
                  <a:ext uri="{0D108BD9-81ED-4DB2-BD59-A6C34878D82A}">
                    <a16:rowId xmlns:a16="http://schemas.microsoft.com/office/drawing/2014/main" val="10002"/>
                  </a:ext>
                </a:extLst>
              </a:tr>
              <a:tr h="495300">
                <a:tc>
                  <a:txBody>
                    <a:bodyPr/>
                    <a:lstStyle/>
                    <a:p>
                      <a:pPr algn="l"/>
                      <a:r>
                        <a:rPr sz="1875" b="0">
                          <a:solidFill>
                            <a:srgbClr val="182D45"/>
                          </a:solidFill>
                          <a:latin typeface="DejaVu Sans"/>
                          <a:ea typeface="DejaVu Sans"/>
                          <a:cs typeface="DejaVu Sans"/>
                        </a:rPr>
                        <a:t>Zero–one loss</a:t>
                      </a:r>
                    </a:p>
                  </a:txBody>
                  <a:tcPr anchor="ctr">
                    <a:solidFill>
                      <a:srgbClr val="FFFFFF"/>
                    </a:solidFill>
                  </a:tcPr>
                </a:tc>
                <a:tc>
                  <a:txBody>
                    <a:bodyPr/>
                    <a:lstStyle/>
                    <a:p>
                      <a:pPr algn="ctr"/>
                      <a:r>
                        <a:rPr sz="1875" b="0" dirty="0">
                          <a:solidFill>
                            <a:srgbClr val="182D45"/>
                          </a:solidFill>
                          <a:latin typeface="DejaVu Sans"/>
                          <a:ea typeface="DejaVu Sans"/>
                          <a:cs typeface="DejaVu Sans"/>
                        </a:rPr>
                        <a:t>1</a:t>
                      </a:r>
                    </a:p>
                  </a:txBody>
                  <a:tcPr anchor="ctr">
                    <a:solidFill>
                      <a:srgbClr val="FFFFFF"/>
                    </a:solidFill>
                  </a:tcPr>
                </a:tc>
                <a:tc>
                  <a:txBody>
                    <a:bodyPr/>
                    <a:lstStyle/>
                    <a:p>
                      <a:pPr algn="ctr"/>
                      <a:r>
                        <a:rPr sz="1875" b="0" dirty="0">
                          <a:solidFill>
                            <a:srgbClr val="182D45"/>
                          </a:solidFill>
                          <a:latin typeface="DejaVu Sans"/>
                          <a:ea typeface="DejaVu Sans"/>
                          <a:cs typeface="DejaVu Sans"/>
                        </a:rPr>
                        <a:t>1</a:t>
                      </a:r>
                    </a:p>
                  </a:txBody>
                  <a:tcPr anchor="ctr">
                    <a:solidFill>
                      <a:srgbClr val="FFFFFF"/>
                    </a:solidFill>
                  </a:tcPr>
                </a:tc>
                <a:extLst>
                  <a:ext uri="{0D108BD9-81ED-4DB2-BD59-A6C34878D82A}">
                    <a16:rowId xmlns:a16="http://schemas.microsoft.com/office/drawing/2014/main" val="10003"/>
                  </a:ext>
                </a:extLst>
              </a:tr>
              <a:tr h="495300">
                <a:tc>
                  <a:txBody>
                    <a:bodyPr/>
                    <a:lstStyle/>
                    <a:p>
                      <a:pPr algn="l"/>
                      <a:r>
                        <a:rPr sz="1875" b="1">
                          <a:solidFill>
                            <a:srgbClr val="087F83"/>
                          </a:solidFill>
                          <a:latin typeface="DejaVu Sans"/>
                          <a:ea typeface="DejaVu Sans"/>
                          <a:cs typeface="DejaVu Sans"/>
                        </a:rPr>
                        <a:t>Probability of the observed class</a:t>
                      </a:r>
                    </a:p>
                  </a:txBody>
                  <a:tcPr anchor="ctr">
                    <a:solidFill>
                      <a:srgbClr val="FFFFFF"/>
                    </a:solidFill>
                  </a:tcPr>
                </a:tc>
                <a:tc>
                  <a:txBody>
                    <a:bodyPr/>
                    <a:lstStyle/>
                    <a:p>
                      <a:pPr algn="ctr"/>
                      <a:r>
                        <a:rPr sz="1875" b="1" dirty="0">
                          <a:solidFill>
                            <a:srgbClr val="087F83"/>
                          </a:solidFill>
                          <a:latin typeface="DejaVu Sans"/>
                          <a:ea typeface="DejaVu Sans"/>
                          <a:cs typeface="DejaVu Sans"/>
                        </a:rPr>
                        <a:t>0.49</a:t>
                      </a:r>
                    </a:p>
                  </a:txBody>
                  <a:tcPr anchor="ctr">
                    <a:solidFill>
                      <a:srgbClr val="FFFFFF"/>
                    </a:solidFill>
                  </a:tcPr>
                </a:tc>
                <a:tc>
                  <a:txBody>
                    <a:bodyPr/>
                    <a:lstStyle/>
                    <a:p>
                      <a:pPr algn="ctr"/>
                      <a:r>
                        <a:rPr sz="1875" b="1" dirty="0">
                          <a:solidFill>
                            <a:srgbClr val="087F83"/>
                          </a:solidFill>
                          <a:latin typeface="DejaVu Sans"/>
                          <a:ea typeface="DejaVu Sans"/>
                          <a:cs typeface="DejaVu Sans"/>
                        </a:rPr>
                        <a:t>0.10</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11" name="step_1_uncertain">
            <a:extLst>
              <a:ext uri="{FF2B5EF4-FFF2-40B4-BE49-F238E27FC236}">
                <a16:creationId xmlns:a16="http://schemas.microsoft.com/office/drawing/2014/main" id="{3A3EA7A4-04C9-49E7-A4F1-37C1FEA5C604}"/>
              </a:ext>
            </a:extLst>
          </p:cNvPr>
          <p:cNvSpPr>
            <a:spLocks noGrp="1"/>
          </p:cNvSpPr>
          <p:nvPr/>
        </p:nvSpPr>
        <p:spPr>
          <a:xfrm>
            <a:off x="857250" y="4752975"/>
            <a:ext cx="10477500" cy="371475"/>
          </a:xfrm>
          <a:prstGeom prst="rect">
            <a:avLst/>
          </a:prstGeom>
          <a:noFill/>
          <a:ln w="0">
            <a:noFill/>
          </a:ln>
        </p:spPr>
        <p:txBody>
          <a:bodyPr wrap="square" lIns="0" tIns="0" rIns="0" bIns="0" anchor="ctr">
            <a:noAutofit/>
          </a:bodyPr>
          <a:lstStyle/>
          <a:p>
            <a:pPr algn="ctr">
              <a:lnSpc>
                <a:spcPct val="110000"/>
              </a:lnSpc>
              <a:buNone/>
              <a:defRPr sz="1875" b="1">
                <a:solidFill>
                  <a:srgbClr val="326CB2"/>
                </a:solidFill>
                <a:latin typeface="DejaVu Sans"/>
                <a:ea typeface="DejaVu Sans"/>
                <a:cs typeface="DejaVu Sans"/>
              </a:defRPr>
            </a:pPr>
            <a:r>
              <a:rPr sz="1875" b="1" dirty="0">
                <a:solidFill>
                  <a:srgbClr val="326CB2"/>
                </a:solidFill>
                <a:latin typeface="DejaVu Sans"/>
                <a:ea typeface="DejaVu Sans"/>
                <a:cs typeface="DejaVu Sans"/>
              </a:rPr>
              <a:t>At 0.51, the model is almost guessing: we want a milder penalty.</a:t>
            </a:r>
          </a:p>
        </p:txBody>
      </p:sp>
      <p:sp>
        <p:nvSpPr>
          <p:cNvPr id="12" name="step_2_confident">
            <a:extLst>
              <a:ext uri="{FF2B5EF4-FFF2-40B4-BE49-F238E27FC236}">
                <a16:creationId xmlns:a16="http://schemas.microsoft.com/office/drawing/2014/main" id="{701B8738-4E2E-4D1D-999F-CB10FAD985F1}"/>
              </a:ext>
            </a:extLst>
          </p:cNvPr>
          <p:cNvSpPr>
            <a:spLocks noGrp="1"/>
          </p:cNvSpPr>
          <p:nvPr/>
        </p:nvSpPr>
        <p:spPr>
          <a:xfrm>
            <a:off x="857250" y="5181600"/>
            <a:ext cx="10477500" cy="371475"/>
          </a:xfrm>
          <a:prstGeom prst="rect">
            <a:avLst/>
          </a:prstGeom>
          <a:noFill/>
          <a:ln w="0">
            <a:noFill/>
          </a:ln>
        </p:spPr>
        <p:txBody>
          <a:bodyPr wrap="square" lIns="0" tIns="0" rIns="0" bIns="0" anchor="ctr">
            <a:noAutofit/>
          </a:bodyPr>
          <a:lstStyle/>
          <a:p>
            <a:pPr algn="ctr">
              <a:lnSpc>
                <a:spcPct val="110000"/>
              </a:lnSpc>
              <a:buNone/>
              <a:defRPr sz="1875" b="1">
                <a:solidFill>
                  <a:srgbClr val="C45C28"/>
                </a:solidFill>
                <a:latin typeface="DejaVu Sans"/>
                <a:ea typeface="DejaVu Sans"/>
                <a:cs typeface="DejaVu Sans"/>
              </a:defRPr>
            </a:pPr>
            <a:r>
              <a:rPr sz="1875" b="1" dirty="0">
                <a:solidFill>
                  <a:srgbClr val="C45C28"/>
                </a:solidFill>
                <a:latin typeface="DejaVu Sans"/>
                <a:ea typeface="DejaVu Sans"/>
                <a:cs typeface="DejaVu Sans"/>
              </a:rPr>
              <a:t>At 0.90, it is confidently wrong: we want a larger penalty.</a:t>
            </a:r>
          </a:p>
        </p:txBody>
      </p:sp>
      <p:sp>
        <p:nvSpPr>
          <p:cNvPr id="13" name="step_3_requirement">
            <a:extLst>
              <a:ext uri="{FF2B5EF4-FFF2-40B4-BE49-F238E27FC236}">
                <a16:creationId xmlns:a16="http://schemas.microsoft.com/office/drawing/2014/main" id="{8632D8A0-39BD-4FF8-A388-A213C7D4A977}"/>
              </a:ext>
            </a:extLst>
          </p:cNvPr>
          <p:cNvSpPr>
            <a:spLocks noGrp="1"/>
          </p:cNvSpPr>
          <p:nvPr/>
        </p:nvSpPr>
        <p:spPr>
          <a:xfrm>
            <a:off x="857250" y="5762625"/>
            <a:ext cx="10477500" cy="619125"/>
          </a:xfrm>
          <a:prstGeom prst="rect">
            <a:avLst/>
          </a:prstGeom>
          <a:noFill/>
          <a:ln w="0">
            <a:noFill/>
          </a:ln>
        </p:spPr>
        <p:txBody>
          <a:bodyPr wrap="square" lIns="0" tIns="0" rIns="0" bIns="0" anchor="ctr">
            <a:noAutofit/>
          </a:bodyPr>
          <a:lstStyle/>
          <a:p>
            <a:pPr algn="ctr">
              <a:lnSpc>
                <a:spcPct val="110000"/>
              </a:lnSpc>
              <a:buNone/>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Rather than scoring only the predicted label,</a:t>
            </a:r>
          </a:p>
          <a:p>
            <a:pPr algn="ctr">
              <a:lnSpc>
                <a:spcPct val="110000"/>
              </a:lnSpc>
              <a:buNone/>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we </a:t>
            </a:r>
            <a:r>
              <a:rPr sz="2025" b="0" dirty="0">
                <a:solidFill>
                  <a:srgbClr val="FF0000"/>
                </a:solidFill>
                <a:latin typeface="DejaVu Sans"/>
                <a:ea typeface="DejaVu Sans"/>
                <a:cs typeface="DejaVu Sans"/>
              </a:rPr>
              <a:t>penalise assigning low probability to the observed class</a:t>
            </a:r>
            <a:r>
              <a:rPr sz="2025" b="0" dirty="0">
                <a:solidFill>
                  <a:srgbClr val="182D45"/>
                </a:solidFill>
                <a:latin typeface="DejaVu Sans"/>
                <a:ea typeface="DejaVu Sans"/>
                <a:cs typeface="DejaVu Sans"/>
              </a:rPr>
              <a:t>.</a:t>
            </a:r>
          </a:p>
        </p:txBody>
      </p:sp>
    </p:spTree>
    <p:extLst>
      <p:ext uri="{BB962C8B-B14F-4D97-AF65-F5344CB8AC3E}">
        <p14:creationId xmlns:p14="http://schemas.microsoft.com/office/powerpoint/2010/main" val="290270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CB6546F1-948A-46AF-9F8D-8D5068E43DA8}"/>
              </a:ext>
            </a:extLst>
          </p:cNvPr>
          <p:cNvSpPr>
            <a:spLocks noGrp="1"/>
          </p:cNvSpPr>
          <p:nvPr/>
        </p:nvSpPr>
        <p:spPr>
          <a:xfrm>
            <a:off x="100584" y="333375"/>
            <a:ext cx="1216152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lang="it-IT" sz="3150" b="1" dirty="0" err="1">
                <a:solidFill>
                  <a:srgbClr val="182D45"/>
                </a:solidFill>
                <a:latin typeface="DejaVu Sans"/>
                <a:ea typeface="DejaVu Sans"/>
                <a:cs typeface="DejaVu Sans"/>
              </a:rPr>
              <a:t>Logistic</a:t>
            </a:r>
            <a:r>
              <a:rPr lang="it-IT" sz="3150" b="1" dirty="0">
                <a:solidFill>
                  <a:srgbClr val="182D45"/>
                </a:solidFill>
                <a:latin typeface="DejaVu Sans"/>
                <a:ea typeface="DejaVu Sans"/>
                <a:cs typeface="DejaVu Sans"/>
              </a:rPr>
              <a:t> </a:t>
            </a:r>
            <a:r>
              <a:rPr lang="it-IT" sz="3150" b="1" dirty="0" err="1">
                <a:solidFill>
                  <a:srgbClr val="182D45"/>
                </a:solidFill>
                <a:latin typeface="DejaVu Sans"/>
                <a:ea typeface="DejaVu Sans"/>
                <a:cs typeface="DejaVu Sans"/>
              </a:rPr>
              <a:t>loss</a:t>
            </a:r>
            <a:r>
              <a:rPr lang="it-IT" sz="3150" b="1" dirty="0">
                <a:solidFill>
                  <a:srgbClr val="182D45"/>
                </a:solidFill>
                <a:latin typeface="DejaVu Sans"/>
                <a:ea typeface="DejaVu Sans"/>
                <a:cs typeface="DejaVu Sans"/>
              </a:rPr>
              <a:t>: a surrogate</a:t>
            </a:r>
            <a:r>
              <a:rPr sz="3150" b="1" dirty="0">
                <a:solidFill>
                  <a:srgbClr val="182D45"/>
                </a:solidFill>
                <a:latin typeface="DejaVu Sans"/>
                <a:ea typeface="DejaVu Sans"/>
                <a:cs typeface="DejaVu Sans"/>
              </a:rPr>
              <a:t> for fitting probabilities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1AB1B69D-BFE0-47A5-9F2B-E48BEE8CF2B3}"/>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For </a:t>
                </a:r>
                <a14:m>
                  <m:oMath xmlns:m="http://schemas.openxmlformats.org/officeDocument/2006/math">
                    <m:r>
                      <a:rPr lang="it-IT" sz="2100" b="0" i="1" dirty="0" smtClean="0">
                        <a:solidFill>
                          <a:srgbClr val="526276"/>
                        </a:solidFill>
                        <a:latin typeface="Cambria Math" panose="02040503050406030204" pitchFamily="18" charset="0"/>
                        <a:ea typeface="DejaVu Sans"/>
                        <a:cs typeface="DejaVu Sans"/>
                      </a:rPr>
                      <m:t>0&lt;</m:t>
                    </m:r>
                    <m:r>
                      <a:rPr lang="it-IT" sz="2100" b="0" i="1" dirty="0" smtClean="0">
                        <a:solidFill>
                          <a:srgbClr val="526276"/>
                        </a:solidFill>
                        <a:latin typeface="Cambria Math" panose="02040503050406030204" pitchFamily="18" charset="0"/>
                        <a:ea typeface="DejaVu Sans"/>
                        <a:cs typeface="DejaVu Sans"/>
                      </a:rPr>
                      <m:t>𝑝</m:t>
                    </m:r>
                    <m:r>
                      <a:rPr lang="it-IT" sz="2100" b="0" i="1" dirty="0" smtClean="0">
                        <a:solidFill>
                          <a:srgbClr val="526276"/>
                        </a:solidFill>
                        <a:latin typeface="Cambria Math" panose="02040503050406030204" pitchFamily="18" charset="0"/>
                        <a:ea typeface="DejaVu Sans"/>
                        <a:cs typeface="DejaVu Sans"/>
                      </a:rPr>
                      <m:t>&lt;1 </m:t>
                    </m:r>
                  </m:oMath>
                </a14:m>
                <a:r>
                  <a:rPr sz="2100" b="0" dirty="0">
                    <a:solidFill>
                      <a:srgbClr val="526276"/>
                    </a:solidFill>
                    <a:latin typeface="DejaVu Sans"/>
                    <a:ea typeface="DejaVu Sans"/>
                    <a:cs typeface="DejaVu Sans"/>
                  </a:rPr>
                  <a:t>and </a:t>
                </a:r>
                <a14:m>
                  <m:oMath xmlns:m="http://schemas.openxmlformats.org/officeDocument/2006/math">
                    <m:r>
                      <a:rPr lang="it-IT" sz="2100" b="0" i="1" dirty="0" smtClean="0">
                        <a:solidFill>
                          <a:srgbClr val="526276"/>
                        </a:solidFill>
                        <a:latin typeface="Cambria Math" panose="02040503050406030204" pitchFamily="18" charset="0"/>
                        <a:ea typeface="DejaVu Sans"/>
                        <a:cs typeface="DejaVu Sans"/>
                      </a:rPr>
                      <m:t>𝑦</m:t>
                    </m:r>
                    <m:r>
                      <a:rPr lang="it-IT" sz="2100" b="0" i="1" dirty="0" smtClean="0">
                        <a:solidFill>
                          <a:srgbClr val="526276"/>
                        </a:solidFill>
                        <a:latin typeface="Cambria Math" panose="02040503050406030204" pitchFamily="18" charset="0"/>
                        <a:ea typeface="DejaVu Sans"/>
                        <a:cs typeface="DejaVu Sans"/>
                      </a:rPr>
                      <m:t>∈{0, 1}</m:t>
                    </m:r>
                  </m:oMath>
                </a14:m>
                <a:r>
                  <a:rPr sz="2100" b="0" dirty="0">
                    <a:solidFill>
                      <a:srgbClr val="526276"/>
                    </a:solidFill>
                    <a:latin typeface="DejaVu Sans"/>
                    <a:ea typeface="DejaVu Sans"/>
                    <a:cs typeface="DejaVu Sans"/>
                  </a:rPr>
                  <a:t>, take the </a:t>
                </a:r>
                <a:r>
                  <a:rPr sz="2100" b="0" dirty="0">
                    <a:solidFill>
                      <a:srgbClr val="FF0000"/>
                    </a:solidFill>
                    <a:latin typeface="DejaVu Sans"/>
                    <a:ea typeface="DejaVu Sans"/>
                    <a:cs typeface="DejaVu Sans"/>
                  </a:rPr>
                  <a:t>negative logarithm</a:t>
                </a:r>
              </a:p>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of the probability assigned to the observed class.</a:t>
                </a:r>
              </a:p>
            </p:txBody>
          </p:sp>
        </mc:Choice>
        <mc:Fallback xmlns="">
          <p:sp>
            <p:nvSpPr>
              <p:cNvPr id="2" name="lead">
                <a:extLst>
                  <a:ext uri="{FF2B5EF4-FFF2-40B4-BE49-F238E27FC236}">
                    <a16:creationId xmlns:a16="http://schemas.microsoft.com/office/drawing/2014/main" id="{1AB1B69D-BFE0-47A5-9F2B-E48BEE8CF2B3}"/>
                  </a:ext>
                </a:extLst>
              </p:cNvPr>
              <p:cNvSpPr>
                <a:spLocks noGrp="1" noRot="1" noChangeAspect="1" noMove="1" noResize="1" noEditPoints="1" noAdjustHandles="1" noChangeArrowheads="1" noChangeShapeType="1" noTextEdit="1"/>
              </p:cNvSpPr>
              <p:nvPr/>
            </p:nvSpPr>
            <p:spPr>
              <a:xfrm>
                <a:off x="723900" y="1143000"/>
                <a:ext cx="10744200" cy="666750"/>
              </a:xfrm>
              <a:prstGeom prst="rect">
                <a:avLst/>
              </a:prstGeom>
              <a:blipFill>
                <a:blip r:embed="rId3"/>
                <a:stretch>
                  <a:fillRect t="-14679" b="-25688"/>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F713A632-3E0B-4714-87CB-79A5364CA406}"/>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824584E6-F4E9-4578-AE43-913881CD7D67}"/>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16</a:t>
            </a:r>
          </a:p>
        </p:txBody>
      </p:sp>
      <mc:AlternateContent xmlns:mc="http://schemas.openxmlformats.org/markup-compatibility/2006" xmlns:a14="http://schemas.microsoft.com/office/drawing/2010/main">
        <mc:Choice Requires="a14">
          <p:sp>
            <p:nvSpPr>
              <p:cNvPr id="10" name="step_0_definition" descr="\ell_{\log}(p,y)=\begin{cases}-\log p,&amp;y=1,\\-\log(1-p),&amp;y=0.\end{cases}">
                <a:extLst>
                  <a:ext uri="{FF2B5EF4-FFF2-40B4-BE49-F238E27FC236}">
                    <a16:creationId xmlns:a16="http://schemas.microsoft.com/office/drawing/2014/main" id="{ED9E60F9-DE23-436D-9E46-6689BF297B08}"/>
                  </a:ext>
                </a:extLst>
              </p:cNvPr>
              <p:cNvSpPr>
                <a:spLocks noGrp="1"/>
              </p:cNvSpPr>
              <p:nvPr/>
            </p:nvSpPr>
            <p:spPr>
              <a:xfrm>
                <a:off x="146304" y="1916332"/>
                <a:ext cx="11899392" cy="12668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900">
                              <a:solidFill>
                                <a:srgbClr val="087F83"/>
                              </a:solidFill>
                              <a:latin typeface="Cambria Math"/>
                              <a:ea typeface="Cambria Math"/>
                              <a:cs typeface="Cambria Math"/>
                            </a:rPr>
                          </m:ctrlPr>
                        </m:sSubPr>
                        <m:e>
                          <m:r>
                            <m:rPr>
                              <m:sty m:val="p"/>
                            </m:rPr>
                            <a:rPr lang="en-GB" sz="2900">
                              <a:solidFill>
                                <a:srgbClr val="087F83"/>
                              </a:solidFill>
                              <a:latin typeface="Cambria Math"/>
                              <a:ea typeface="Cambria Math"/>
                              <a:cs typeface="Cambria Math"/>
                            </a:rPr>
                            <m:t>ℓ</m:t>
                          </m:r>
                        </m:e>
                        <m:sub>
                          <m:r>
                            <m:rPr>
                              <m:sty m:val="p"/>
                            </m:rPr>
                            <a:rPr lang="en-GB" sz="2900">
                              <a:solidFill>
                                <a:srgbClr val="087F83"/>
                              </a:solidFill>
                              <a:latin typeface="Cambria Math"/>
                              <a:ea typeface="Cambria Math"/>
                              <a:cs typeface="Cambria Math"/>
                            </a:rPr>
                            <m:t>log</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𝑝</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𝑦</m:t>
                          </m:r>
                        </m:e>
                      </m:d>
                      <m:r>
                        <a:rPr lang="it-IT" sz="2900" b="0" i="0" smtClean="0">
                          <a:solidFill>
                            <a:srgbClr val="087F83"/>
                          </a:solidFill>
                          <a:latin typeface="Cambria Math" panose="02040503050406030204" pitchFamily="18" charset="0"/>
                          <a:ea typeface="Cambria Math"/>
                          <a:cs typeface="Cambria Math"/>
                        </a:rPr>
                        <m:t>=</m:t>
                      </m:r>
                      <m:r>
                        <a:rPr lang="en-GB" sz="3200" smtClean="0">
                          <a:solidFill>
                            <a:srgbClr val="087F83"/>
                          </a:solidFill>
                          <a:latin typeface="Cambria Math"/>
                          <a:ea typeface="Cambria Math"/>
                          <a:cs typeface="Cambria Math"/>
                        </a:rPr>
                        <m:t>−</m:t>
                      </m:r>
                      <m:r>
                        <a:rPr lang="en-GB" sz="3200" smtClean="0">
                          <a:solidFill>
                            <a:srgbClr val="087F83"/>
                          </a:solidFill>
                          <a:latin typeface="Cambria Math"/>
                          <a:ea typeface="Cambria Math"/>
                          <a:cs typeface="Cambria Math"/>
                        </a:rPr>
                        <m:t>𝑦</m:t>
                      </m:r>
                      <m:r>
                        <m:rPr>
                          <m:sty m:val="p"/>
                        </m:rPr>
                        <a:rPr lang="en-GB" sz="3200" smtClean="0">
                          <a:solidFill>
                            <a:srgbClr val="087F83"/>
                          </a:solidFill>
                          <a:latin typeface="Cambria Math"/>
                          <a:ea typeface="Cambria Math"/>
                          <a:cs typeface="Cambria Math"/>
                        </a:rPr>
                        <m:t>log</m:t>
                      </m:r>
                      <m:d>
                        <m:dPr>
                          <m:ctrlPr>
                            <a:rPr lang="en-GB" sz="3200">
                              <a:solidFill>
                                <a:srgbClr val="087F83"/>
                              </a:solidFill>
                              <a:latin typeface="Cambria Math"/>
                              <a:ea typeface="Cambria Math"/>
                              <a:cs typeface="Cambria Math"/>
                            </a:rPr>
                          </m:ctrlPr>
                        </m:dPr>
                        <m:e>
                          <m:r>
                            <a:rPr lang="en-GB" sz="3200">
                              <a:solidFill>
                                <a:srgbClr val="087F83"/>
                              </a:solidFill>
                              <a:latin typeface="Cambria Math"/>
                              <a:ea typeface="Cambria Math"/>
                              <a:cs typeface="Cambria Math"/>
                            </a:rPr>
                            <m:t>𝑝</m:t>
                          </m:r>
                        </m:e>
                      </m:d>
                      <m:r>
                        <a:rPr lang="en-GB" sz="3200">
                          <a:solidFill>
                            <a:srgbClr val="087F83"/>
                          </a:solidFill>
                          <a:latin typeface="Cambria Math"/>
                          <a:ea typeface="Cambria Math"/>
                          <a:cs typeface="Cambria Math"/>
                        </a:rPr>
                        <m:t>−</m:t>
                      </m:r>
                      <m:d>
                        <m:dPr>
                          <m:ctrlPr>
                            <a:rPr lang="en-GB" sz="3200">
                              <a:solidFill>
                                <a:srgbClr val="087F83"/>
                              </a:solidFill>
                              <a:latin typeface="Cambria Math"/>
                              <a:ea typeface="Cambria Math"/>
                              <a:cs typeface="Cambria Math"/>
                            </a:rPr>
                          </m:ctrlPr>
                        </m:dPr>
                        <m:e>
                          <m:r>
                            <a:rPr lang="en-GB" sz="3200">
                              <a:solidFill>
                                <a:srgbClr val="087F83"/>
                              </a:solidFill>
                              <a:latin typeface="Cambria Math"/>
                              <a:ea typeface="Cambria Math"/>
                              <a:cs typeface="Cambria Math"/>
                            </a:rPr>
                            <m:t>1−</m:t>
                          </m:r>
                          <m:r>
                            <a:rPr lang="en-GB" sz="3200">
                              <a:solidFill>
                                <a:srgbClr val="087F83"/>
                              </a:solidFill>
                              <a:latin typeface="Cambria Math"/>
                              <a:ea typeface="Cambria Math"/>
                              <a:cs typeface="Cambria Math"/>
                            </a:rPr>
                            <m:t>𝑦</m:t>
                          </m:r>
                        </m:e>
                      </m:d>
                      <m:r>
                        <m:rPr>
                          <m:sty m:val="p"/>
                        </m:rPr>
                        <a:rPr lang="en-GB" sz="3200">
                          <a:solidFill>
                            <a:srgbClr val="087F83"/>
                          </a:solidFill>
                          <a:latin typeface="Cambria Math"/>
                          <a:ea typeface="Cambria Math"/>
                          <a:cs typeface="Cambria Math"/>
                        </a:rPr>
                        <m:t>log</m:t>
                      </m:r>
                      <m:d>
                        <m:dPr>
                          <m:ctrlPr>
                            <a:rPr lang="en-GB" sz="3200">
                              <a:solidFill>
                                <a:srgbClr val="087F83"/>
                              </a:solidFill>
                              <a:latin typeface="Cambria Math"/>
                              <a:ea typeface="Cambria Math"/>
                              <a:cs typeface="Cambria Math"/>
                            </a:rPr>
                          </m:ctrlPr>
                        </m:dPr>
                        <m:e>
                          <m:r>
                            <a:rPr lang="en-GB" sz="3200">
                              <a:solidFill>
                                <a:srgbClr val="087F83"/>
                              </a:solidFill>
                              <a:latin typeface="Cambria Math"/>
                              <a:ea typeface="Cambria Math"/>
                              <a:cs typeface="Cambria Math"/>
                            </a:rPr>
                            <m:t>1−</m:t>
                          </m:r>
                          <m:r>
                            <a:rPr lang="en-GB" sz="3200">
                              <a:solidFill>
                                <a:srgbClr val="087F83"/>
                              </a:solidFill>
                              <a:latin typeface="Cambria Math"/>
                              <a:ea typeface="Cambria Math"/>
                              <a:cs typeface="Cambria Math"/>
                            </a:rPr>
                            <m:t>𝑝</m:t>
                          </m:r>
                        </m:e>
                      </m:d>
                      <m:r>
                        <a:rPr lang="en-GB" sz="2900">
                          <a:solidFill>
                            <a:srgbClr val="087F83"/>
                          </a:solidFill>
                          <a:latin typeface="Cambria Math"/>
                          <a:ea typeface="Cambria Math"/>
                          <a:cs typeface="Cambria Math"/>
                        </a:rPr>
                        <m:t>=</m:t>
                      </m:r>
                      <m:d>
                        <m:dPr>
                          <m:begChr m:val="{"/>
                          <m:endChr m:val=""/>
                          <m:ctrlPr>
                            <a:rPr lang="en-GB" sz="290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2900" i="1">
                                  <a:solidFill>
                                    <a:srgbClr val="087F83"/>
                                  </a:solidFill>
                                  <a:latin typeface="Cambria Math" panose="02040503050406030204" pitchFamily="18" charset="0"/>
                                  <a:ea typeface="Cambria Math"/>
                                  <a:cs typeface="Cambria Math"/>
                                </a:rPr>
                              </m:ctrlPr>
                            </m:mPr>
                            <m:mr>
                              <m:e>
                                <m:r>
                                  <a:rPr lang="en-GB" sz="2900">
                                    <a:solidFill>
                                      <a:srgbClr val="087F83"/>
                                    </a:solidFill>
                                    <a:latin typeface="Cambria Math"/>
                                    <a:ea typeface="Cambria Math"/>
                                    <a:cs typeface="Cambria Math"/>
                                  </a:rPr>
                                  <m:t>−</m:t>
                                </m:r>
                                <m:r>
                                  <m:rPr>
                                    <m:sty m:val="p"/>
                                  </m:rPr>
                                  <a:rPr lang="en-GB" sz="2900">
                                    <a:solidFill>
                                      <a:srgbClr val="087F83"/>
                                    </a:solidFill>
                                    <a:latin typeface="Cambria Math"/>
                                    <a:ea typeface="Cambria Math"/>
                                    <a:cs typeface="Cambria Math"/>
                                  </a:rPr>
                                  <m:t>log</m:t>
                                </m:r>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𝑝</m:t>
                                    </m:r>
                                  </m:e>
                                </m:d>
                                <m:r>
                                  <a:rPr lang="en-GB" sz="2900">
                                    <a:solidFill>
                                      <a:srgbClr val="087F83"/>
                                    </a:solidFill>
                                    <a:latin typeface="Cambria Math"/>
                                    <a:ea typeface="Cambria Math"/>
                                    <a:cs typeface="Cambria Math"/>
                                  </a:rPr>
                                  <m:t>,</m:t>
                                </m:r>
                              </m:e>
                              <m:e>
                                <m:r>
                                  <a:rPr lang="en-GB" sz="2900">
                                    <a:solidFill>
                                      <a:srgbClr val="087F83"/>
                                    </a:solidFill>
                                    <a:latin typeface="Cambria Math"/>
                                    <a:ea typeface="Cambria Math"/>
                                    <a:cs typeface="Cambria Math"/>
                                  </a:rPr>
                                  <m:t>𝑦</m:t>
                                </m:r>
                                <m:r>
                                  <a:rPr lang="en-GB" sz="2900">
                                    <a:solidFill>
                                      <a:srgbClr val="087F83"/>
                                    </a:solidFill>
                                    <a:latin typeface="Cambria Math"/>
                                    <a:ea typeface="Cambria Math"/>
                                    <a:cs typeface="Cambria Math"/>
                                  </a:rPr>
                                  <m:t>=1,</m:t>
                                </m:r>
                              </m:e>
                            </m:mr>
                            <m:mr>
                              <m:e>
                                <m:r>
                                  <a:rPr lang="en-GB" sz="2900">
                                    <a:solidFill>
                                      <a:srgbClr val="087F83"/>
                                    </a:solidFill>
                                    <a:latin typeface="Cambria Math"/>
                                    <a:ea typeface="Cambria Math"/>
                                    <a:cs typeface="Cambria Math"/>
                                  </a:rPr>
                                  <m:t>−</m:t>
                                </m:r>
                                <m:r>
                                  <m:rPr>
                                    <m:sty m:val="p"/>
                                  </m:rPr>
                                  <a:rPr lang="en-GB" sz="2900">
                                    <a:solidFill>
                                      <a:srgbClr val="087F83"/>
                                    </a:solidFill>
                                    <a:latin typeface="Cambria Math"/>
                                    <a:ea typeface="Cambria Math"/>
                                    <a:cs typeface="Cambria Math"/>
                                  </a:rPr>
                                  <m:t>log</m:t>
                                </m:r>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1−</m:t>
                                    </m:r>
                                    <m:r>
                                      <a:rPr lang="en-GB" sz="2900">
                                        <a:solidFill>
                                          <a:srgbClr val="087F83"/>
                                        </a:solidFill>
                                        <a:latin typeface="Cambria Math"/>
                                        <a:ea typeface="Cambria Math"/>
                                        <a:cs typeface="Cambria Math"/>
                                      </a:rPr>
                                      <m:t>𝑝</m:t>
                                    </m:r>
                                  </m:e>
                                </m:d>
                                <m:r>
                                  <a:rPr lang="en-GB" sz="2900">
                                    <a:solidFill>
                                      <a:srgbClr val="087F83"/>
                                    </a:solidFill>
                                    <a:latin typeface="Cambria Math"/>
                                    <a:ea typeface="Cambria Math"/>
                                    <a:cs typeface="Cambria Math"/>
                                  </a:rPr>
                                  <m:t>,</m:t>
                                </m:r>
                              </m:e>
                              <m:e>
                                <m:r>
                                  <a:rPr lang="en-GB" sz="2900">
                                    <a:solidFill>
                                      <a:srgbClr val="087F83"/>
                                    </a:solidFill>
                                    <a:latin typeface="Cambria Math"/>
                                    <a:ea typeface="Cambria Math"/>
                                    <a:cs typeface="Cambria Math"/>
                                  </a:rPr>
                                  <m:t>𝑦</m:t>
                                </m:r>
                                <m:r>
                                  <a:rPr lang="en-GB" sz="2900">
                                    <a:solidFill>
                                      <a:srgbClr val="087F83"/>
                                    </a:solidFill>
                                    <a:latin typeface="Cambria Math"/>
                                    <a:ea typeface="Cambria Math"/>
                                    <a:cs typeface="Cambria Math"/>
                                  </a:rPr>
                                  <m:t>=0.</m:t>
                                </m:r>
                              </m:e>
                            </m:mr>
                          </m:m>
                        </m:e>
                      </m:d>
                    </m:oMath>
                  </m:oMathPara>
                </a14:m>
                <a:endParaRPr lang="en-GB" sz="2900" dirty="0"/>
              </a:p>
            </p:txBody>
          </p:sp>
        </mc:Choice>
        <mc:Fallback xmlns="">
          <p:sp>
            <p:nvSpPr>
              <p:cNvPr id="10" name="step_0_definition" descr="\ell_{\log}(p,y)=\begin{cases}-\log p,&amp;y=1,\\-\log(1-p),&amp;y=0.\end{cases}">
                <a:extLst>
                  <a:ext uri="{FF2B5EF4-FFF2-40B4-BE49-F238E27FC236}">
                    <a16:creationId xmlns:a16="http://schemas.microsoft.com/office/drawing/2014/main" id="{ED9E60F9-DE23-436D-9E46-6689BF297B08}"/>
                  </a:ext>
                </a:extLst>
              </p:cNvPr>
              <p:cNvSpPr>
                <a:spLocks noGrp="1" noRot="1" noChangeAspect="1" noMove="1" noResize="1" noEditPoints="1" noAdjustHandles="1" noChangeArrowheads="1" noChangeShapeType="1" noTextEdit="1"/>
              </p:cNvSpPr>
              <p:nvPr/>
            </p:nvSpPr>
            <p:spPr>
              <a:xfrm>
                <a:off x="146304" y="1916332"/>
                <a:ext cx="11899392" cy="1266825"/>
              </a:xfrm>
              <a:prstGeom prst="rect">
                <a:avLst/>
              </a:prstGeom>
              <a:blipFill>
                <a:blip r:embed="rId4"/>
                <a:stretch>
                  <a:fillRect/>
                </a:stretch>
              </a:blipFill>
              <a:ln w="0">
                <a:noFill/>
              </a:ln>
            </p:spPr>
            <p:txBody>
              <a:bodyPr/>
              <a:lstStyle/>
              <a:p>
                <a:r>
                  <a:rPr lang="it-IT">
                    <a:noFill/>
                  </a:rPr>
                  <a:t> </a:t>
                </a:r>
              </a:p>
            </p:txBody>
          </p:sp>
        </mc:Fallback>
      </mc:AlternateContent>
      <p:sp>
        <p:nvSpPr>
          <p:cNvPr id="12" name="step_2_uncertain_heading">
            <a:extLst>
              <a:ext uri="{FF2B5EF4-FFF2-40B4-BE49-F238E27FC236}">
                <a16:creationId xmlns:a16="http://schemas.microsoft.com/office/drawing/2014/main" id="{46E91B01-1BB9-4DCA-9075-495256135DBC}"/>
              </a:ext>
            </a:extLst>
          </p:cNvPr>
          <p:cNvSpPr>
            <a:spLocks noGrp="1"/>
          </p:cNvSpPr>
          <p:nvPr/>
        </p:nvSpPr>
        <p:spPr>
          <a:xfrm>
            <a:off x="809625" y="4314825"/>
            <a:ext cx="5048250" cy="381000"/>
          </a:xfrm>
          <a:prstGeom prst="rect">
            <a:avLst/>
          </a:prstGeom>
          <a:noFill/>
          <a:ln w="0">
            <a:noFill/>
          </a:ln>
        </p:spPr>
        <p:txBody>
          <a:bodyPr wrap="square" lIns="0" tIns="0" rIns="0" bIns="0" anchor="ctr">
            <a:noAutofit/>
          </a:bodyPr>
          <a:lstStyle/>
          <a:p>
            <a:pPr algn="ctr">
              <a:lnSpc>
                <a:spcPct val="110000"/>
              </a:lnSpc>
              <a:buNone/>
              <a:defRPr sz="1950" b="1">
                <a:solidFill>
                  <a:srgbClr val="326CB2"/>
                </a:solidFill>
                <a:latin typeface="DejaVu Sans"/>
                <a:ea typeface="DejaVu Sans"/>
                <a:cs typeface="DejaVu Sans"/>
              </a:defRPr>
            </a:pPr>
            <a:r>
              <a:rPr sz="1950" b="1">
                <a:solidFill>
                  <a:srgbClr val="326CB2"/>
                </a:solidFill>
                <a:latin typeface="DejaVu Sans"/>
                <a:ea typeface="DejaVu Sans"/>
                <a:cs typeface="DejaVu Sans"/>
              </a:rPr>
              <a:t>Wrong, but uncertain</a:t>
            </a:r>
          </a:p>
        </p:txBody>
      </p:sp>
      <p:sp>
        <p:nvSpPr>
          <p:cNvPr id="13" name="step_2_confident_heading">
            <a:extLst>
              <a:ext uri="{FF2B5EF4-FFF2-40B4-BE49-F238E27FC236}">
                <a16:creationId xmlns:a16="http://schemas.microsoft.com/office/drawing/2014/main" id="{029B2D7D-D202-4E2F-934C-E1D861BF5F21}"/>
              </a:ext>
            </a:extLst>
          </p:cNvPr>
          <p:cNvSpPr>
            <a:spLocks noGrp="1"/>
          </p:cNvSpPr>
          <p:nvPr/>
        </p:nvSpPr>
        <p:spPr>
          <a:xfrm>
            <a:off x="6334125" y="4314825"/>
            <a:ext cx="5048250" cy="381000"/>
          </a:xfrm>
          <a:prstGeom prst="rect">
            <a:avLst/>
          </a:prstGeom>
          <a:noFill/>
          <a:ln w="0">
            <a:noFill/>
          </a:ln>
        </p:spPr>
        <p:txBody>
          <a:bodyPr wrap="square" lIns="0" tIns="0" rIns="0" bIns="0" anchor="ctr">
            <a:noAutofit/>
          </a:bodyPr>
          <a:lstStyle/>
          <a:p>
            <a:pPr algn="ctr">
              <a:lnSpc>
                <a:spcPct val="110000"/>
              </a:lnSpc>
              <a:buNone/>
              <a:defRPr sz="1950" b="1">
                <a:solidFill>
                  <a:srgbClr val="C45C28"/>
                </a:solidFill>
                <a:latin typeface="DejaVu Sans"/>
                <a:ea typeface="DejaVu Sans"/>
                <a:cs typeface="DejaVu Sans"/>
              </a:defRPr>
            </a:pPr>
            <a:r>
              <a:rPr sz="1950" b="1">
                <a:solidFill>
                  <a:srgbClr val="C45C28"/>
                </a:solidFill>
                <a:latin typeface="DejaVu Sans"/>
                <a:ea typeface="DejaVu Sans"/>
                <a:cs typeface="DejaVu Sans"/>
              </a:rPr>
              <a:t>Confidently wrong</a:t>
            </a:r>
          </a:p>
        </p:txBody>
      </p:sp>
      <mc:AlternateContent xmlns:mc="http://schemas.openxmlformats.org/markup-compatibility/2006" xmlns:a14="http://schemas.microsoft.com/office/drawing/2010/main">
        <mc:Choice Requires="a14">
          <p:sp>
            <p:nvSpPr>
              <p:cNvPr id="14" name="step_2_uncertain_loss" descr="\begin{aligned}\ell_{\log}(0.51,0)&amp;=-\log(0.49)\\&amp;\approx0.713\end{aligned}">
                <a:extLst>
                  <a:ext uri="{FF2B5EF4-FFF2-40B4-BE49-F238E27FC236}">
                    <a16:creationId xmlns:a16="http://schemas.microsoft.com/office/drawing/2014/main" id="{B3E77B98-9612-4DCB-BEDF-A436F05BA8DA}"/>
                  </a:ext>
                </a:extLst>
              </p:cNvPr>
              <p:cNvSpPr>
                <a:spLocks noGrp="1"/>
              </p:cNvSpPr>
              <p:nvPr/>
            </p:nvSpPr>
            <p:spPr>
              <a:xfrm>
                <a:off x="809625" y="4791075"/>
                <a:ext cx="5048250" cy="1057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m>
                        <m:mPr>
                          <m:mcs>
                            <m:mc>
                              <m:mcPr>
                                <m:count m:val="2"/>
                                <m:mcJc m:val="center"/>
                              </m:mcPr>
                            </m:mc>
                          </m:mcs>
                          <m:ctrlPr>
                            <a:rPr lang="en-GB" sz="2200" i="1">
                              <a:solidFill>
                                <a:srgbClr val="326CB2"/>
                              </a:solidFill>
                              <a:latin typeface="Cambria Math" panose="02040503050406030204" pitchFamily="18" charset="0"/>
                              <a:ea typeface="Cambria Math"/>
                              <a:cs typeface="Cambria Math"/>
                            </a:rPr>
                          </m:ctrlPr>
                        </m:mPr>
                        <m:mr>
                          <m:e>
                            <m:sSub>
                              <m:sSubPr>
                                <m:ctrlPr>
                                  <a:rPr lang="en-GB" sz="2200">
                                    <a:solidFill>
                                      <a:srgbClr val="326CB2"/>
                                    </a:solidFill>
                                    <a:latin typeface="Cambria Math"/>
                                    <a:ea typeface="Cambria Math"/>
                                    <a:cs typeface="Cambria Math"/>
                                  </a:rPr>
                                </m:ctrlPr>
                              </m:sSubPr>
                              <m:e>
                                <m:r>
                                  <m:rPr>
                                    <m:sty m:val="p"/>
                                  </m:rPr>
                                  <a:rPr lang="en-GB" sz="2200">
                                    <a:solidFill>
                                      <a:srgbClr val="326CB2"/>
                                    </a:solidFill>
                                    <a:latin typeface="Cambria Math"/>
                                    <a:ea typeface="Cambria Math"/>
                                    <a:cs typeface="Cambria Math"/>
                                  </a:rPr>
                                  <m:t>ℓ</m:t>
                                </m:r>
                              </m:e>
                              <m:sub>
                                <m:r>
                                  <m:rPr>
                                    <m:sty m:val="p"/>
                                  </m:rPr>
                                  <a:rPr lang="en-GB" sz="2200">
                                    <a:solidFill>
                                      <a:srgbClr val="326CB2"/>
                                    </a:solidFill>
                                    <a:latin typeface="Cambria Math"/>
                                    <a:ea typeface="Cambria Math"/>
                                    <a:cs typeface="Cambria Math"/>
                                  </a:rPr>
                                  <m:t>log</m:t>
                                </m:r>
                              </m:sub>
                            </m:sSub>
                            <m:r>
                              <a:rPr lang="en-GB" sz="2200">
                                <a:solidFill>
                                  <a:srgbClr val="326CB2"/>
                                </a:solidFill>
                                <a:latin typeface="Cambria Math"/>
                                <a:ea typeface="Cambria Math"/>
                                <a:cs typeface="Cambria Math"/>
                              </a:rPr>
                              <m:t>(0.51,0)</m:t>
                            </m:r>
                          </m:e>
                          <m:e>
                            <m:r>
                              <a:rPr lang="en-GB" sz="2200">
                                <a:solidFill>
                                  <a:srgbClr val="326CB2"/>
                                </a:solidFill>
                                <a:latin typeface="Cambria Math"/>
                                <a:ea typeface="Cambria Math"/>
                                <a:cs typeface="Cambria Math"/>
                              </a:rPr>
                              <m:t>=−</m:t>
                            </m:r>
                            <m:r>
                              <m:rPr>
                                <m:sty m:val="p"/>
                              </m:rPr>
                              <a:rPr lang="en-GB" sz="2200">
                                <a:solidFill>
                                  <a:srgbClr val="326CB2"/>
                                </a:solidFill>
                                <a:latin typeface="Cambria Math"/>
                                <a:ea typeface="Cambria Math"/>
                                <a:cs typeface="Cambria Math"/>
                              </a:rPr>
                              <m:t>log</m:t>
                            </m:r>
                            <m:r>
                              <a:rPr lang="en-GB" sz="2200">
                                <a:solidFill>
                                  <a:srgbClr val="326CB2"/>
                                </a:solidFill>
                                <a:latin typeface="Cambria Math"/>
                                <a:ea typeface="Cambria Math"/>
                                <a:cs typeface="Cambria Math"/>
                              </a:rPr>
                              <m:t>(0.49)</m:t>
                            </m:r>
                          </m:e>
                        </m:mr>
                        <m:mr>
                          <m:e/>
                          <m:e>
                            <m:r>
                              <a:rPr lang="en-GB" sz="2200">
                                <a:solidFill>
                                  <a:srgbClr val="326CB2"/>
                                </a:solidFill>
                                <a:latin typeface="Cambria Math"/>
                                <a:ea typeface="Cambria Math"/>
                                <a:cs typeface="Cambria Math"/>
                              </a:rPr>
                              <m:t>≈0.713</m:t>
                            </m:r>
                          </m:e>
                        </m:mr>
                      </m:m>
                    </m:oMath>
                  </m:oMathPara>
                </a14:m>
                <a:endParaRPr lang="en-GB" sz="2200" dirty="0"/>
              </a:p>
            </p:txBody>
          </p:sp>
        </mc:Choice>
        <mc:Fallback xmlns="">
          <p:sp>
            <p:nvSpPr>
              <p:cNvPr id="14" name="step_2_uncertain_loss" descr="\begin{aligned}\ell_{\log}(0.51,0)&amp;=-\log(0.49)\\&amp;\approx0.713\end{aligned}">
                <a:extLst>
                  <a:ext uri="{FF2B5EF4-FFF2-40B4-BE49-F238E27FC236}">
                    <a16:creationId xmlns:a16="http://schemas.microsoft.com/office/drawing/2014/main" id="{B3E77B98-9612-4DCB-BEDF-A436F05BA8DA}"/>
                  </a:ext>
                </a:extLst>
              </p:cNvPr>
              <p:cNvSpPr>
                <a:spLocks noGrp="1" noRot="1" noChangeAspect="1" noMove="1" noResize="1" noEditPoints="1" noAdjustHandles="1" noChangeArrowheads="1" noChangeShapeType="1" noTextEdit="1"/>
              </p:cNvSpPr>
              <p:nvPr/>
            </p:nvSpPr>
            <p:spPr>
              <a:xfrm>
                <a:off x="809625" y="4791075"/>
                <a:ext cx="5048250" cy="105727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step_2_confident_loss" descr="\begin{aligned}\ell_{\log}(0.90,0)&amp;=-\log(0.10)\\&amp;\approx2.303\end{aligned}">
                <a:extLst>
                  <a:ext uri="{FF2B5EF4-FFF2-40B4-BE49-F238E27FC236}">
                    <a16:creationId xmlns:a16="http://schemas.microsoft.com/office/drawing/2014/main" id="{9F8EE018-E70E-43BF-9E61-4EEFF8883898}"/>
                  </a:ext>
                </a:extLst>
              </p:cNvPr>
              <p:cNvSpPr>
                <a:spLocks noGrp="1"/>
              </p:cNvSpPr>
              <p:nvPr/>
            </p:nvSpPr>
            <p:spPr>
              <a:xfrm>
                <a:off x="6334125" y="4791075"/>
                <a:ext cx="5048250" cy="1057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m>
                        <m:mPr>
                          <m:mcs>
                            <m:mc>
                              <m:mcPr>
                                <m:count m:val="2"/>
                                <m:mcJc m:val="center"/>
                              </m:mcPr>
                            </m:mc>
                          </m:mcs>
                          <m:ctrlPr>
                            <a:rPr lang="en-GB" sz="2200" i="1">
                              <a:solidFill>
                                <a:srgbClr val="C45C28"/>
                              </a:solidFill>
                              <a:latin typeface="Cambria Math" panose="02040503050406030204" pitchFamily="18" charset="0"/>
                              <a:ea typeface="Cambria Math"/>
                              <a:cs typeface="Cambria Math"/>
                            </a:rPr>
                          </m:ctrlPr>
                        </m:mPr>
                        <m:mr>
                          <m:e>
                            <m:sSub>
                              <m:sSubPr>
                                <m:ctrlPr>
                                  <a:rPr lang="en-GB" sz="2200">
                                    <a:solidFill>
                                      <a:srgbClr val="C45C28"/>
                                    </a:solidFill>
                                    <a:latin typeface="Cambria Math"/>
                                    <a:ea typeface="Cambria Math"/>
                                    <a:cs typeface="Cambria Math"/>
                                  </a:rPr>
                                </m:ctrlPr>
                              </m:sSubPr>
                              <m:e>
                                <m:r>
                                  <m:rPr>
                                    <m:sty m:val="p"/>
                                  </m:rPr>
                                  <a:rPr lang="en-GB" sz="2200">
                                    <a:solidFill>
                                      <a:srgbClr val="C45C28"/>
                                    </a:solidFill>
                                    <a:latin typeface="Cambria Math"/>
                                    <a:ea typeface="Cambria Math"/>
                                    <a:cs typeface="Cambria Math"/>
                                  </a:rPr>
                                  <m:t>ℓ</m:t>
                                </m:r>
                              </m:e>
                              <m:sub>
                                <m:r>
                                  <m:rPr>
                                    <m:sty m:val="p"/>
                                  </m:rPr>
                                  <a:rPr lang="en-GB" sz="2200">
                                    <a:solidFill>
                                      <a:srgbClr val="C45C28"/>
                                    </a:solidFill>
                                    <a:latin typeface="Cambria Math"/>
                                    <a:ea typeface="Cambria Math"/>
                                    <a:cs typeface="Cambria Math"/>
                                  </a:rPr>
                                  <m:t>log</m:t>
                                </m:r>
                              </m:sub>
                            </m:sSub>
                            <m:r>
                              <a:rPr lang="en-GB" sz="2200">
                                <a:solidFill>
                                  <a:srgbClr val="C45C28"/>
                                </a:solidFill>
                                <a:latin typeface="Cambria Math"/>
                                <a:ea typeface="Cambria Math"/>
                                <a:cs typeface="Cambria Math"/>
                              </a:rPr>
                              <m:t>(0.90,0)</m:t>
                            </m:r>
                          </m:e>
                          <m:e>
                            <m:r>
                              <a:rPr lang="en-GB" sz="2200">
                                <a:solidFill>
                                  <a:srgbClr val="C45C28"/>
                                </a:solidFill>
                                <a:latin typeface="Cambria Math"/>
                                <a:ea typeface="Cambria Math"/>
                                <a:cs typeface="Cambria Math"/>
                              </a:rPr>
                              <m:t>=−</m:t>
                            </m:r>
                            <m:r>
                              <m:rPr>
                                <m:sty m:val="p"/>
                              </m:rPr>
                              <a:rPr lang="en-GB" sz="2200">
                                <a:solidFill>
                                  <a:srgbClr val="C45C28"/>
                                </a:solidFill>
                                <a:latin typeface="Cambria Math"/>
                                <a:ea typeface="Cambria Math"/>
                                <a:cs typeface="Cambria Math"/>
                              </a:rPr>
                              <m:t>log</m:t>
                            </m:r>
                            <m:r>
                              <a:rPr lang="en-GB" sz="2200">
                                <a:solidFill>
                                  <a:srgbClr val="C45C28"/>
                                </a:solidFill>
                                <a:latin typeface="Cambria Math"/>
                                <a:ea typeface="Cambria Math"/>
                                <a:cs typeface="Cambria Math"/>
                              </a:rPr>
                              <m:t>(0.10)</m:t>
                            </m:r>
                          </m:e>
                        </m:mr>
                        <m:mr>
                          <m:e/>
                          <m:e>
                            <m:r>
                              <a:rPr lang="en-GB" sz="2200">
                                <a:solidFill>
                                  <a:srgbClr val="C45C28"/>
                                </a:solidFill>
                                <a:latin typeface="Cambria Math"/>
                                <a:ea typeface="Cambria Math"/>
                                <a:cs typeface="Cambria Math"/>
                              </a:rPr>
                              <m:t>≈2.303</m:t>
                            </m:r>
                          </m:e>
                        </m:mr>
                      </m:m>
                    </m:oMath>
                  </m:oMathPara>
                </a14:m>
                <a:endParaRPr lang="en-GB" sz="2200"/>
              </a:p>
            </p:txBody>
          </p:sp>
        </mc:Choice>
        <mc:Fallback xmlns="">
          <p:sp>
            <p:nvSpPr>
              <p:cNvPr id="15" name="step_2_confident_loss" descr="\begin{aligned}\ell_{\log}(0.90,0)&amp;=-\log(0.10)\\&amp;\approx2.303\end{aligned}">
                <a:extLst>
                  <a:ext uri="{FF2B5EF4-FFF2-40B4-BE49-F238E27FC236}">
                    <a16:creationId xmlns:a16="http://schemas.microsoft.com/office/drawing/2014/main" id="{9F8EE018-E70E-43BF-9E61-4EEFF8883898}"/>
                  </a:ext>
                </a:extLst>
              </p:cNvPr>
              <p:cNvSpPr>
                <a:spLocks noGrp="1" noRot="1" noChangeAspect="1" noMove="1" noResize="1" noEditPoints="1" noAdjustHandles="1" noChangeArrowheads="1" noChangeShapeType="1" noTextEdit="1"/>
              </p:cNvSpPr>
              <p:nvPr/>
            </p:nvSpPr>
            <p:spPr>
              <a:xfrm>
                <a:off x="6334125" y="4791075"/>
                <a:ext cx="5048250" cy="1057275"/>
              </a:xfrm>
              <a:prstGeom prst="rect">
                <a:avLst/>
              </a:prstGeom>
              <a:blipFill>
                <a:blip r:embed="rId6"/>
                <a:stretch>
                  <a:fillRect/>
                </a:stretch>
              </a:blipFill>
              <a:ln w="0">
                <a:noFill/>
              </a:ln>
            </p:spPr>
            <p:txBody>
              <a:bodyPr/>
              <a:lstStyle/>
              <a:p>
                <a:r>
                  <a:rPr lang="it-IT">
                    <a:noFill/>
                  </a:rPr>
                  <a:t> </a:t>
                </a:r>
              </a:p>
            </p:txBody>
          </p:sp>
        </mc:Fallback>
      </mc:AlternateContent>
      <p:sp>
        <p:nvSpPr>
          <p:cNvPr id="16" name="step_2_names">
            <a:extLst>
              <a:ext uri="{FF2B5EF4-FFF2-40B4-BE49-F238E27FC236}">
                <a16:creationId xmlns:a16="http://schemas.microsoft.com/office/drawing/2014/main" id="{F583F032-C1D3-4180-BC2D-4E135990E955}"/>
              </a:ext>
            </a:extLst>
          </p:cNvPr>
          <p:cNvSpPr>
            <a:spLocks noGrp="1"/>
          </p:cNvSpPr>
          <p:nvPr/>
        </p:nvSpPr>
        <p:spPr>
          <a:xfrm>
            <a:off x="723900" y="5986463"/>
            <a:ext cx="10744200" cy="352425"/>
          </a:xfrm>
          <a:prstGeom prst="rect">
            <a:avLst/>
          </a:prstGeom>
          <a:noFill/>
          <a:ln w="0">
            <a:noFill/>
          </a:ln>
        </p:spPr>
        <p:txBody>
          <a:bodyPr wrap="square" lIns="0" tIns="0" rIns="0" bIns="0" anchor="ctr">
            <a:noAutofit/>
          </a:bodyPr>
          <a:lstStyle/>
          <a:p>
            <a:pPr algn="ctr">
              <a:lnSpc>
                <a:spcPct val="110000"/>
              </a:lnSpc>
              <a:buNone/>
              <a:defRPr sz="1725" b="0">
                <a:solidFill>
                  <a:srgbClr val="526276"/>
                </a:solidFill>
                <a:latin typeface="DejaVu Sans"/>
                <a:ea typeface="DejaVu Sans"/>
                <a:cs typeface="DejaVu Sans"/>
              </a:defRPr>
            </a:pPr>
            <a:r>
              <a:rPr sz="1725" b="0" dirty="0">
                <a:solidFill>
                  <a:srgbClr val="526276"/>
                </a:solidFill>
                <a:latin typeface="DejaVu Sans"/>
                <a:ea typeface="DejaVu Sans"/>
                <a:cs typeface="DejaVu Sans"/>
              </a:rPr>
              <a:t>Logistic loss is also called </a:t>
            </a:r>
            <a:r>
              <a:rPr sz="1725" b="0" dirty="0">
                <a:solidFill>
                  <a:srgbClr val="FF0000"/>
                </a:solidFill>
                <a:latin typeface="DejaVu Sans"/>
                <a:ea typeface="DejaVu Sans"/>
                <a:cs typeface="DejaVu Sans"/>
              </a:rPr>
              <a:t>binary cross-entropy</a:t>
            </a:r>
            <a:r>
              <a:rPr sz="1725" b="0" dirty="0">
                <a:solidFill>
                  <a:srgbClr val="526276"/>
                </a:solidFill>
                <a:latin typeface="DejaVu Sans"/>
                <a:ea typeface="DejaVu Sans"/>
                <a:cs typeface="DejaVu Sans"/>
              </a:rPr>
              <a:t>. We use natural logarithms.</a:t>
            </a:r>
          </a:p>
        </p:txBody>
      </p:sp>
      <p:sp>
        <p:nvSpPr>
          <p:cNvPr id="6" name="CasellaDiTesto 5">
            <a:extLst>
              <a:ext uri="{FF2B5EF4-FFF2-40B4-BE49-F238E27FC236}">
                <a16:creationId xmlns:a16="http://schemas.microsoft.com/office/drawing/2014/main" id="{63D6C8E2-16CC-19D2-23CC-49A7A2E9563D}"/>
              </a:ext>
            </a:extLst>
          </p:cNvPr>
          <p:cNvSpPr txBox="1"/>
          <p:nvPr/>
        </p:nvSpPr>
        <p:spPr>
          <a:xfrm>
            <a:off x="750189" y="3195063"/>
            <a:ext cx="11167872" cy="781624"/>
          </a:xfrm>
          <a:prstGeom prst="rect">
            <a:avLst/>
          </a:prstGeom>
          <a:noFill/>
        </p:spPr>
        <p:txBody>
          <a:bodyPr wrap="square">
            <a:spAutoFit/>
          </a:bodyPr>
          <a:lstStyle/>
          <a:p>
            <a:pPr algn="ctr">
              <a:lnSpc>
                <a:spcPct val="112000"/>
              </a:lnSpc>
              <a:buNone/>
              <a:defRPr sz="2100" b="0">
                <a:solidFill>
                  <a:srgbClr val="526276"/>
                </a:solidFill>
                <a:latin typeface="DejaVu Sans"/>
                <a:ea typeface="DejaVu Sans"/>
                <a:cs typeface="DejaVu Sans"/>
              </a:defRPr>
            </a:pPr>
            <a:r>
              <a:rPr lang="en-GB" sz="2100" b="0" dirty="0">
                <a:solidFill>
                  <a:srgbClr val="526276"/>
                </a:solidFill>
                <a:latin typeface="DejaVu Sans"/>
                <a:ea typeface="DejaVu Sans"/>
                <a:cs typeface="DejaVu Sans"/>
              </a:rPr>
              <a:t>The </a:t>
            </a:r>
            <a:r>
              <a:rPr lang="en-GB" sz="2100" b="0" dirty="0">
                <a:solidFill>
                  <a:srgbClr val="FF0000"/>
                </a:solidFill>
                <a:latin typeface="DejaVu Sans"/>
                <a:ea typeface="DejaVu Sans"/>
                <a:cs typeface="DejaVu Sans"/>
              </a:rPr>
              <a:t>logistic loss </a:t>
            </a:r>
            <a:r>
              <a:rPr lang="en-GB" sz="2100" b="0" dirty="0">
                <a:solidFill>
                  <a:srgbClr val="526276"/>
                </a:solidFill>
                <a:latin typeface="DejaVu Sans"/>
                <a:ea typeface="DejaVu Sans"/>
                <a:cs typeface="DejaVu Sans"/>
              </a:rPr>
              <a:t>makes us pay the negative logarithm</a:t>
            </a:r>
          </a:p>
          <a:p>
            <a:pPr algn="ctr">
              <a:lnSpc>
                <a:spcPct val="112000"/>
              </a:lnSpc>
              <a:buNone/>
              <a:defRPr sz="2100" b="0">
                <a:solidFill>
                  <a:srgbClr val="526276"/>
                </a:solidFill>
                <a:latin typeface="DejaVu Sans"/>
                <a:ea typeface="DejaVu Sans"/>
                <a:cs typeface="DejaVu Sans"/>
              </a:defRPr>
            </a:pPr>
            <a:r>
              <a:rPr lang="en-GB" sz="2100" b="0" dirty="0">
                <a:solidFill>
                  <a:srgbClr val="526276"/>
                </a:solidFill>
                <a:latin typeface="DejaVu Sans"/>
                <a:ea typeface="DejaVu Sans"/>
                <a:cs typeface="DejaVu Sans"/>
              </a:rPr>
              <a:t>of the probability we assign to the correct label.</a:t>
            </a:r>
          </a:p>
        </p:txBody>
      </p:sp>
    </p:spTree>
    <p:extLst>
      <p:ext uri="{BB962C8B-B14F-4D97-AF65-F5344CB8AC3E}">
        <p14:creationId xmlns:p14="http://schemas.microsoft.com/office/powerpoint/2010/main" val="1644997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8339B31C-2707-468A-8F62-958416A274EE}"/>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The empirical logistic loss</a:t>
            </a:r>
          </a:p>
        </p:txBody>
      </p:sp>
      <p:sp>
        <p:nvSpPr>
          <p:cNvPr id="2" name="lead">
            <a:extLst>
              <a:ext uri="{FF2B5EF4-FFF2-40B4-BE49-F238E27FC236}">
                <a16:creationId xmlns:a16="http://schemas.microsoft.com/office/drawing/2014/main" id="{0CD5D7FE-A535-46F3-B431-1FBD85665A50}"/>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The observations stay fixed.</a:t>
            </a:r>
            <a:endParaRPr lang="it-IT" sz="2100" b="0" dirty="0">
              <a:solidFill>
                <a:srgbClr val="526276"/>
              </a:solidFill>
              <a:latin typeface="DejaVu Sans"/>
              <a:ea typeface="DejaVu Sans"/>
              <a:cs typeface="DejaVu Sans"/>
            </a:endParaRPr>
          </a:p>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The </a:t>
            </a:r>
            <a:r>
              <a:rPr sz="2100" b="0" dirty="0">
                <a:solidFill>
                  <a:srgbClr val="FF0000"/>
                </a:solidFill>
                <a:latin typeface="DejaVu Sans"/>
                <a:ea typeface="DejaVu Sans"/>
                <a:cs typeface="DejaVu Sans"/>
              </a:rPr>
              <a:t>probability predictions</a:t>
            </a:r>
            <a:r>
              <a:rPr sz="2100" b="0" dirty="0">
                <a:solidFill>
                  <a:srgbClr val="526276"/>
                </a:solidFill>
                <a:latin typeface="DejaVu Sans"/>
                <a:ea typeface="DejaVu Sans"/>
                <a:cs typeface="DejaVu Sans"/>
              </a:rPr>
              <a:t> depend on the parameters.</a:t>
            </a:r>
          </a:p>
        </p:txBody>
      </p:sp>
      <p:sp>
        <p:nvSpPr>
          <p:cNvPr id="3" name="footer_course">
            <a:extLst>
              <a:ext uri="{FF2B5EF4-FFF2-40B4-BE49-F238E27FC236}">
                <a16:creationId xmlns:a16="http://schemas.microsoft.com/office/drawing/2014/main" id="{4E97C464-4871-4F32-AFEF-643A82A27C12}"/>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7E33FE27-CE73-40C1-8954-5E903D42A90E}"/>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17</a:t>
            </a:r>
          </a:p>
        </p:txBody>
      </p:sp>
      <mc:AlternateContent xmlns:mc="http://schemas.openxmlformats.org/markup-compatibility/2006" xmlns:a14="http://schemas.microsoft.com/office/drawing/2010/main">
        <mc:Choice Requires="a14">
          <p:sp>
            <p:nvSpPr>
              <p:cNvPr id="5" name="step_0_equation_0" descr="p_{\boldsymbol\theta}(\mathbf x_i)=\sigma(b+\mathbf x_i\mathbf w)">
                <a:extLst>
                  <a:ext uri="{FF2B5EF4-FFF2-40B4-BE49-F238E27FC236}">
                    <a16:creationId xmlns:a16="http://schemas.microsoft.com/office/drawing/2014/main" id="{548F33CC-D9DB-4553-999C-45995D1D4017}"/>
                  </a:ext>
                </a:extLst>
              </p:cNvPr>
              <p:cNvSpPr>
                <a:spLocks noGrp="1"/>
              </p:cNvSpPr>
              <p:nvPr/>
            </p:nvSpPr>
            <p:spPr>
              <a:xfrm>
                <a:off x="723900" y="1981200"/>
                <a:ext cx="10744200" cy="933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𝑝</m:t>
                          </m:r>
                        </m:e>
                        <m:sub>
                          <m:r>
                            <a:rPr lang="en-GB" sz="3000">
                              <a:solidFill>
                                <a:srgbClr val="087F83"/>
                              </a:solidFill>
                              <a:latin typeface="Cambria Math"/>
                              <a:ea typeface="Cambria Math"/>
                              <a:cs typeface="Cambria Math"/>
                            </a:rPr>
                            <m:t>𝛉</m:t>
                          </m:r>
                        </m:sub>
                      </m:sSub>
                      <m:d>
                        <m:dPr>
                          <m:ctrlPr>
                            <a:rPr lang="en-GB" sz="3000" i="1">
                              <a:solidFill>
                                <a:srgbClr val="087F83"/>
                              </a:solidFill>
                              <a:latin typeface="Cambria Math" panose="02040503050406030204" pitchFamily="18" charset="0"/>
                              <a:ea typeface="Cambria Math"/>
                              <a:cs typeface="Cambria Math"/>
                            </a:rPr>
                          </m:ctrlPr>
                        </m:dPr>
                        <m:e>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𝐱</m:t>
                              </m:r>
                            </m:e>
                            <m:sub>
                              <m:r>
                                <a:rPr lang="en-GB" sz="3000">
                                  <a:solidFill>
                                    <a:srgbClr val="087F83"/>
                                  </a:solidFill>
                                  <a:latin typeface="Cambria Math"/>
                                  <a:ea typeface="Cambria Math"/>
                                  <a:cs typeface="Cambria Math"/>
                                </a:rPr>
                                <m:t>𝑖</m:t>
                              </m:r>
                            </m:sub>
                          </m:sSub>
                        </m:e>
                      </m:d>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𝜎</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𝑏</m:t>
                          </m:r>
                          <m:r>
                            <a:rPr lang="en-GB" sz="300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𝐱</m:t>
                              </m:r>
                            </m:e>
                            <m:sub>
                              <m:r>
                                <a:rPr lang="en-GB" sz="3000">
                                  <a:solidFill>
                                    <a:srgbClr val="087F83"/>
                                  </a:solidFill>
                                  <a:latin typeface="Cambria Math"/>
                                  <a:ea typeface="Cambria Math"/>
                                  <a:cs typeface="Cambria Math"/>
                                </a:rPr>
                                <m:t>𝑖</m:t>
                              </m:r>
                            </m:sub>
                          </m:sSub>
                          <m:r>
                            <a:rPr lang="en-GB" sz="3000">
                              <a:solidFill>
                                <a:srgbClr val="087F83"/>
                              </a:solidFill>
                              <a:latin typeface="Cambria Math"/>
                              <a:ea typeface="Cambria Math"/>
                              <a:cs typeface="Cambria Math"/>
                            </a:rPr>
                            <m:t>𝐰</m:t>
                          </m:r>
                        </m:e>
                      </m:d>
                    </m:oMath>
                  </m:oMathPara>
                </a14:m>
                <a:endParaRPr lang="en-GB" sz="3000" dirty="0"/>
              </a:p>
            </p:txBody>
          </p:sp>
        </mc:Choice>
        <mc:Fallback xmlns="">
          <p:sp>
            <p:nvSpPr>
              <p:cNvPr id="5" name="step_0_equation_0" descr="p_{\boldsymbol\theta}(\mathbf x_i)=\sigma(b+\mathbf x_i\mathbf w)">
                <a:extLst>
                  <a:ext uri="{FF2B5EF4-FFF2-40B4-BE49-F238E27FC236}">
                    <a16:creationId xmlns:a16="http://schemas.microsoft.com/office/drawing/2014/main" id="{548F33CC-D9DB-4553-999C-45995D1D4017}"/>
                  </a:ext>
                </a:extLst>
              </p:cNvPr>
              <p:cNvSpPr>
                <a:spLocks noGrp="1" noRot="1" noChangeAspect="1" noMove="1" noResize="1" noEditPoints="1" noAdjustHandles="1" noChangeArrowheads="1" noChangeShapeType="1" noTextEdit="1"/>
              </p:cNvSpPr>
              <p:nvPr/>
            </p:nvSpPr>
            <p:spPr>
              <a:xfrm>
                <a:off x="723900" y="1981200"/>
                <a:ext cx="10744200" cy="93345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step_1_equation_1" descr="\mathcal L_{\mathrm{log}}(\boldsymbol\theta)=\sum_{i=1}^N\ell_{\mathrm{log}}\!\left(p_{\boldsymbol\theta}(\mathbf x_i),y_i\right)">
                <a:extLst>
                  <a:ext uri="{FF2B5EF4-FFF2-40B4-BE49-F238E27FC236}">
                    <a16:creationId xmlns:a16="http://schemas.microsoft.com/office/drawing/2014/main" id="{4F9587BF-9F19-49F4-BA03-83421A85D4CE}"/>
                  </a:ext>
                </a:extLst>
              </p:cNvPr>
              <p:cNvSpPr>
                <a:spLocks noGrp="1"/>
              </p:cNvSpPr>
              <p:nvPr/>
            </p:nvSpPr>
            <p:spPr>
              <a:xfrm>
                <a:off x="723900" y="3043237"/>
                <a:ext cx="10744200" cy="1428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ℒ</m:t>
                          </m:r>
                        </m:e>
                        <m:sub>
                          <m:r>
                            <m:rPr>
                              <m:sty m:val="p"/>
                            </m:rPr>
                            <a:rPr lang="en-GB" sz="3100">
                              <a:solidFill>
                                <a:srgbClr val="087F83"/>
                              </a:solidFill>
                              <a:latin typeface="Cambria Math"/>
                              <a:ea typeface="Cambria Math"/>
                              <a:cs typeface="Cambria Math"/>
                            </a:rPr>
                            <m:t>log</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𝛉</m:t>
                          </m:r>
                        </m:e>
                      </m:d>
                      <m:r>
                        <a:rPr lang="it-IT" sz="3100" b="0" i="0" smtClean="0">
                          <a:solidFill>
                            <a:srgbClr val="087F83"/>
                          </a:solidFill>
                          <a:latin typeface="Cambria Math" panose="02040503050406030204" pitchFamily="18" charset="0"/>
                          <a:ea typeface="Cambria Math"/>
                          <a:cs typeface="Cambria Math"/>
                        </a:rPr>
                        <m:t>=</m:t>
                      </m:r>
                      <m:nary>
                        <m:naryPr>
                          <m:chr m:val="∑"/>
                          <m:limLoc m:val="undOvr"/>
                          <m:ctrlPr>
                            <a:rPr lang="en-GB" sz="3100">
                              <a:solidFill>
                                <a:srgbClr val="087F83"/>
                              </a:solidFill>
                              <a:latin typeface="Cambria Math"/>
                              <a:ea typeface="Cambria Math"/>
                              <a:cs typeface="Cambria Math"/>
                            </a:rPr>
                          </m:ctrlPr>
                        </m:naryPr>
                        <m:sub>
                          <m:r>
                            <a:rPr lang="en-GB" sz="3100">
                              <a:solidFill>
                                <a:srgbClr val="087F83"/>
                              </a:solidFill>
                              <a:latin typeface="Cambria Math"/>
                              <a:ea typeface="Cambria Math"/>
                              <a:cs typeface="Cambria Math"/>
                            </a:rPr>
                            <m:t>𝑖</m:t>
                          </m:r>
                          <m:r>
                            <a:rPr lang="en-GB" sz="3100">
                              <a:solidFill>
                                <a:srgbClr val="087F83"/>
                              </a:solidFill>
                              <a:latin typeface="Cambria Math"/>
                              <a:ea typeface="Cambria Math"/>
                              <a:cs typeface="Cambria Math"/>
                            </a:rPr>
                            <m:t>=1</m:t>
                          </m:r>
                        </m:sub>
                        <m:sup>
                          <m:r>
                            <a:rPr lang="en-GB" sz="3100">
                              <a:solidFill>
                                <a:srgbClr val="087F83"/>
                              </a:solidFill>
                              <a:latin typeface="Cambria Math"/>
                              <a:ea typeface="Cambria Math"/>
                              <a:cs typeface="Cambria Math"/>
                            </a:rPr>
                            <m:t>𝑁</m:t>
                          </m:r>
                        </m:sup>
                        <m:e>
                          <m:sSub>
                            <m:sSubPr>
                              <m:ctrlPr>
                                <a:rPr lang="en-GB" sz="3100">
                                  <a:solidFill>
                                    <a:srgbClr val="087F83"/>
                                  </a:solidFill>
                                  <a:latin typeface="Cambria Math"/>
                                  <a:ea typeface="Cambria Math"/>
                                  <a:cs typeface="Cambria Math"/>
                                </a:rPr>
                              </m:ctrlPr>
                            </m:sSubPr>
                            <m:e>
                              <m:r>
                                <m:rPr>
                                  <m:sty m:val="p"/>
                                </m:rPr>
                                <a:rPr lang="en-GB" sz="3100">
                                  <a:solidFill>
                                    <a:srgbClr val="087F83"/>
                                  </a:solidFill>
                                  <a:latin typeface="Cambria Math"/>
                                  <a:ea typeface="Cambria Math"/>
                                  <a:cs typeface="Cambria Math"/>
                                </a:rPr>
                                <m:t>ℓ</m:t>
                              </m:r>
                            </m:e>
                            <m:sub>
                              <m:r>
                                <m:rPr>
                                  <m:sty m:val="p"/>
                                </m:rPr>
                                <a:rPr lang="en-GB" sz="3100">
                                  <a:solidFill>
                                    <a:srgbClr val="087F83"/>
                                  </a:solidFill>
                                  <a:latin typeface="Cambria Math"/>
                                  <a:ea typeface="Cambria Math"/>
                                  <a:cs typeface="Cambria Math"/>
                                </a:rPr>
                                <m:t>log</m:t>
                              </m:r>
                            </m:sub>
                          </m:sSub>
                          <m:d>
                            <m:dPr>
                              <m:ctrlPr>
                                <a:rPr lang="en-GB" sz="3100" i="1">
                                  <a:solidFill>
                                    <a:srgbClr val="087F83"/>
                                  </a:solidFill>
                                  <a:latin typeface="Cambria Math" panose="02040503050406030204" pitchFamily="18" charset="0"/>
                                  <a:ea typeface="Cambria Math"/>
                                  <a:cs typeface="Cambria Math"/>
                                </a:rPr>
                              </m:ctrlPr>
                            </m:dPr>
                            <m:e>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𝑝</m:t>
                                  </m:r>
                                </m:e>
                                <m:sub>
                                  <m:r>
                                    <a:rPr lang="en-GB" sz="3100">
                                      <a:solidFill>
                                        <a:srgbClr val="087F83"/>
                                      </a:solidFill>
                                      <a:latin typeface="Cambria Math"/>
                                      <a:ea typeface="Cambria Math"/>
                                      <a:cs typeface="Cambria Math"/>
                                    </a:rPr>
                                    <m:t>𝛉</m:t>
                                  </m:r>
                                </m:sub>
                              </m:sSub>
                              <m:d>
                                <m:dPr>
                                  <m:ctrlPr>
                                    <a:rPr lang="en-GB" sz="3100" i="1">
                                      <a:solidFill>
                                        <a:srgbClr val="087F83"/>
                                      </a:solidFill>
                                      <a:latin typeface="Cambria Math" panose="02040503050406030204" pitchFamily="18" charset="0"/>
                                      <a:ea typeface="Cambria Math"/>
                                      <a:cs typeface="Cambria Math"/>
                                    </a:rPr>
                                  </m:ctrlPr>
                                </m:dPr>
                                <m:e>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𝐱</m:t>
                                      </m:r>
                                    </m:e>
                                    <m:sub>
                                      <m:r>
                                        <a:rPr lang="en-GB" sz="3100">
                                          <a:solidFill>
                                            <a:srgbClr val="087F83"/>
                                          </a:solidFill>
                                          <a:latin typeface="Cambria Math"/>
                                          <a:ea typeface="Cambria Math"/>
                                          <a:cs typeface="Cambria Math"/>
                                        </a:rPr>
                                        <m:t>𝑖</m:t>
                                      </m:r>
                                    </m:sub>
                                  </m:sSub>
                                </m:e>
                              </m:d>
                              <m:r>
                                <a:rPr lang="en-GB" sz="3100">
                                  <a:solidFill>
                                    <a:srgbClr val="087F83"/>
                                  </a:solidFill>
                                  <a:latin typeface="Cambria Math"/>
                                  <a:ea typeface="Cambria Math"/>
                                  <a:cs typeface="Cambria Math"/>
                                </a:rPr>
                                <m:t>,</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𝑦</m:t>
                                  </m:r>
                                </m:e>
                                <m:sub>
                                  <m:r>
                                    <a:rPr lang="en-GB" sz="3100">
                                      <a:solidFill>
                                        <a:srgbClr val="087F83"/>
                                      </a:solidFill>
                                      <a:latin typeface="Cambria Math"/>
                                      <a:ea typeface="Cambria Math"/>
                                      <a:cs typeface="Cambria Math"/>
                                    </a:rPr>
                                    <m:t>𝑖</m:t>
                                  </m:r>
                                </m:sub>
                              </m:sSub>
                            </m:e>
                          </m:d>
                        </m:e>
                      </m:nary>
                      <m:r>
                        <a:rPr lang="en-GB" sz="3100">
                          <a:solidFill>
                            <a:srgbClr val="087F83"/>
                          </a:solidFill>
                          <a:latin typeface="Cambria Math"/>
                          <a:ea typeface="Cambria Math"/>
                          <a:cs typeface="Cambria Math"/>
                        </a:rPr>
                        <m:t>​</m:t>
                      </m:r>
                    </m:oMath>
                  </m:oMathPara>
                </a14:m>
                <a:endParaRPr lang="en-GB" sz="3100" dirty="0"/>
              </a:p>
            </p:txBody>
          </p:sp>
        </mc:Choice>
        <mc:Fallback xmlns="">
          <p:sp>
            <p:nvSpPr>
              <p:cNvPr id="6" name="step_1_equation_1" descr="\mathcal L_{\mathrm{log}}(\boldsymbol\theta)=\sum_{i=1}^N\ell_{\mathrm{log}}\!\left(p_{\boldsymbol\theta}(\mathbf x_i),y_i\right)">
                <a:extLst>
                  <a:ext uri="{FF2B5EF4-FFF2-40B4-BE49-F238E27FC236}">
                    <a16:creationId xmlns:a16="http://schemas.microsoft.com/office/drawing/2014/main" id="{4F9587BF-9F19-49F4-BA03-83421A85D4CE}"/>
                  </a:ext>
                </a:extLst>
              </p:cNvPr>
              <p:cNvSpPr>
                <a:spLocks noGrp="1" noRot="1" noChangeAspect="1" noMove="1" noResize="1" noEditPoints="1" noAdjustHandles="1" noChangeArrowheads="1" noChangeShapeType="1" noTextEdit="1"/>
              </p:cNvSpPr>
              <p:nvPr/>
            </p:nvSpPr>
            <p:spPr>
              <a:xfrm>
                <a:off x="723900" y="3043237"/>
                <a:ext cx="10744200" cy="14287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step_2_text_3">
                <a:extLst>
                  <a:ext uri="{FF2B5EF4-FFF2-40B4-BE49-F238E27FC236}">
                    <a16:creationId xmlns:a16="http://schemas.microsoft.com/office/drawing/2014/main" id="{1A5FA9CC-0CF3-4F34-A242-45627AE5F9B1}"/>
                  </a:ext>
                </a:extLst>
              </p:cNvPr>
              <p:cNvSpPr>
                <a:spLocks noGrp="1"/>
              </p:cNvSpPr>
              <p:nvPr/>
            </p:nvSpPr>
            <p:spPr>
              <a:xfrm>
                <a:off x="723900" y="4895850"/>
                <a:ext cx="10744200" cy="1175766"/>
              </a:xfrm>
              <a:prstGeom prst="rect">
                <a:avLst/>
              </a:prstGeom>
              <a:noFill/>
              <a:ln w="0">
                <a:noFill/>
              </a:ln>
            </p:spPr>
            <p:txBody>
              <a:bodyPr wrap="square" lIns="0" tIns="0" rIns="0" bIns="0" anchor="ctr">
                <a:noAutofit/>
              </a:bodyPr>
              <a:lstStyle/>
              <a:p>
                <a:pPr algn="ctr">
                  <a:lnSpc>
                    <a:spcPct val="112000"/>
                  </a:lnSpc>
                  <a:buNone/>
                  <a:defRPr sz="1950" b="1">
                    <a:solidFill>
                      <a:srgbClr val="182D45"/>
                    </a:solidFill>
                    <a:latin typeface="DejaVu Sans"/>
                    <a:ea typeface="DejaVu Sans"/>
                    <a:cs typeface="DejaVu Sans"/>
                  </a:defRPr>
                </a:pPr>
                <a:r>
                  <a:rPr lang="en-GB" sz="1950" b="1" dirty="0">
                    <a:solidFill>
                      <a:srgbClr val="182D45"/>
                    </a:solidFill>
                    <a:latin typeface="DejaVu Sans"/>
                    <a:ea typeface="DejaVu Sans"/>
                    <a:cs typeface="DejaVu Sans"/>
                  </a:rPr>
                  <a:t>We fit this </a:t>
                </a:r>
                <a:r>
                  <a:rPr lang="en-GB" sz="1950" b="1" dirty="0">
                    <a:solidFill>
                      <a:srgbClr val="FF0000"/>
                    </a:solidFill>
                    <a:latin typeface="DejaVu Sans"/>
                    <a:ea typeface="DejaVu Sans"/>
                    <a:cs typeface="DejaVu Sans"/>
                  </a:rPr>
                  <a:t>smooth surrogate loss</a:t>
                </a:r>
                <a:r>
                  <a:rPr lang="en-GB" sz="1950" b="1" dirty="0">
                    <a:solidFill>
                      <a:srgbClr val="182D45"/>
                    </a:solidFill>
                    <a:latin typeface="DejaVu Sans"/>
                    <a:ea typeface="DejaVu Sans"/>
                    <a:cs typeface="DejaVu Sans"/>
                  </a:rPr>
                  <a:t> using </a:t>
                </a:r>
                <a:r>
                  <a:rPr lang="en-GB" sz="1950" b="1" dirty="0">
                    <a:solidFill>
                      <a:srgbClr val="FF0000"/>
                    </a:solidFill>
                    <a:latin typeface="DejaVu Sans"/>
                    <a:ea typeface="DejaVu Sans"/>
                    <a:cs typeface="DejaVu Sans"/>
                  </a:rPr>
                  <a:t>gradient descent</a:t>
                </a:r>
                <a:r>
                  <a:rPr lang="en-GB" sz="1950" b="1" dirty="0">
                    <a:solidFill>
                      <a:srgbClr val="182D45"/>
                    </a:solidFill>
                    <a:latin typeface="DejaVu Sans"/>
                    <a:ea typeface="DejaVu Sans"/>
                    <a:cs typeface="DejaVu Sans"/>
                  </a:rPr>
                  <a:t>,</a:t>
                </a:r>
              </a:p>
              <a:p>
                <a:pPr algn="ctr">
                  <a:lnSpc>
                    <a:spcPct val="112000"/>
                  </a:lnSpc>
                  <a:buNone/>
                  <a:defRPr sz="1950" b="1">
                    <a:solidFill>
                      <a:srgbClr val="182D45"/>
                    </a:solidFill>
                    <a:latin typeface="DejaVu Sans"/>
                    <a:ea typeface="DejaVu Sans"/>
                    <a:cs typeface="DejaVu Sans"/>
                  </a:defRPr>
                </a:pPr>
                <a:r>
                  <a:rPr lang="en-GB" sz="1950" b="1" dirty="0">
                    <a:solidFill>
                      <a:srgbClr val="182D45"/>
                    </a:solidFill>
                    <a:latin typeface="DejaVu Sans"/>
                    <a:ea typeface="DejaVu Sans"/>
                    <a:cs typeface="DejaVu Sans"/>
                  </a:rPr>
                  <a:t>while the mistake count </a:t>
                </a:r>
                <a14:m>
                  <m:oMath xmlns:m="http://schemas.openxmlformats.org/officeDocument/2006/math">
                    <m:r>
                      <a:rPr lang="en-GB" sz="1950" b="1" i="1" smtClean="0">
                        <a:solidFill>
                          <a:srgbClr val="182D45"/>
                        </a:solidFill>
                        <a:latin typeface="Cambria Math" panose="02040503050406030204" pitchFamily="18" charset="0"/>
                        <a:ea typeface="DejaVu Sans"/>
                        <a:cs typeface="DejaVu Sans"/>
                      </a:rPr>
                      <m:t>ℰ</m:t>
                    </m:r>
                    <m:d>
                      <m:dPr>
                        <m:ctrlPr>
                          <a:rPr lang="it-IT" sz="1950" b="1" i="0" smtClean="0">
                            <a:solidFill>
                              <a:srgbClr val="182D45"/>
                            </a:solidFill>
                            <a:latin typeface="Cambria Math" panose="02040503050406030204" pitchFamily="18" charset="0"/>
                            <a:ea typeface="DejaVu Sans"/>
                            <a:cs typeface="DejaVu Sans"/>
                          </a:rPr>
                        </m:ctrlPr>
                      </m:dPr>
                      <m:e>
                        <m:r>
                          <a:rPr lang="it-IT" sz="1950" b="1" i="0" smtClean="0">
                            <a:solidFill>
                              <a:srgbClr val="182D45"/>
                            </a:solidFill>
                            <a:latin typeface="Cambria Math" panose="02040503050406030204" pitchFamily="18" charset="0"/>
                            <a:ea typeface="DejaVu Sans"/>
                            <a:cs typeface="DejaVu Sans"/>
                          </a:rPr>
                          <m:t>𝛉</m:t>
                        </m:r>
                      </m:e>
                    </m:d>
                  </m:oMath>
                </a14:m>
                <a:r>
                  <a:rPr lang="en-GB" sz="1950" b="1" dirty="0">
                    <a:solidFill>
                      <a:srgbClr val="182D45"/>
                    </a:solidFill>
                    <a:latin typeface="DejaVu Sans"/>
                    <a:ea typeface="DejaVu Sans"/>
                    <a:cs typeface="DejaVu Sans"/>
                  </a:rPr>
                  <a:t> remains our classification measure.</a:t>
                </a:r>
                <a:endParaRPr sz="1950" b="1" dirty="0">
                  <a:solidFill>
                    <a:srgbClr val="182D45"/>
                  </a:solidFill>
                  <a:latin typeface="DejaVu Sans"/>
                  <a:ea typeface="DejaVu Sans"/>
                  <a:cs typeface="DejaVu Sans"/>
                </a:endParaRPr>
              </a:p>
            </p:txBody>
          </p:sp>
        </mc:Choice>
        <mc:Fallback xmlns="">
          <p:sp>
            <p:nvSpPr>
              <p:cNvPr id="8" name="step_2_text_3">
                <a:extLst>
                  <a:ext uri="{FF2B5EF4-FFF2-40B4-BE49-F238E27FC236}">
                    <a16:creationId xmlns:a16="http://schemas.microsoft.com/office/drawing/2014/main" id="{1A5FA9CC-0CF3-4F34-A242-45627AE5F9B1}"/>
                  </a:ext>
                </a:extLst>
              </p:cNvPr>
              <p:cNvSpPr>
                <a:spLocks noGrp="1" noRot="1" noChangeAspect="1" noMove="1" noResize="1" noEditPoints="1" noAdjustHandles="1" noChangeArrowheads="1" noChangeShapeType="1" noTextEdit="1"/>
              </p:cNvSpPr>
              <p:nvPr/>
            </p:nvSpPr>
            <p:spPr>
              <a:xfrm>
                <a:off x="723900" y="4895850"/>
                <a:ext cx="10744200" cy="1175766"/>
              </a:xfrm>
              <a:prstGeom prst="rect">
                <a:avLst/>
              </a:prstGeom>
              <a:blipFill>
                <a:blip r:embed="rId5"/>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370334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845A2AA6-7347-428B-8450-2406B12C6362}"/>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Comparing the two losses</a:t>
            </a:r>
          </a:p>
        </p:txBody>
      </p:sp>
      <mc:AlternateContent xmlns:mc="http://schemas.openxmlformats.org/markup-compatibility/2006">
        <mc:Choice xmlns:a14="http://schemas.microsoft.com/office/drawing/2010/main" Requires="a14">
          <p:sp>
            <p:nvSpPr>
              <p:cNvPr id="2" name="lead">
                <a:extLst>
                  <a:ext uri="{FF2B5EF4-FFF2-40B4-BE49-F238E27FC236}">
                    <a16:creationId xmlns:a16="http://schemas.microsoft.com/office/drawing/2014/main" id="{DA97DD64-BC74-4CC7-A2A4-30D860CD4417}"/>
                  </a:ext>
                </a:extLst>
              </p:cNvPr>
              <p:cNvSpPr>
                <a:spLocks noGrp="1"/>
              </p:cNvSpPr>
              <p:nvPr/>
            </p:nvSpPr>
            <p:spPr>
              <a:xfrm>
                <a:off x="723900" y="1028699"/>
                <a:ext cx="10744200" cy="828675"/>
              </a:xfrm>
              <a:prstGeom prst="rect">
                <a:avLst/>
              </a:prstGeom>
              <a:noFill/>
              <a:ln w="0">
                <a:noFill/>
              </a:ln>
            </p:spPr>
            <p:txBody>
              <a:bodyPr wrap="square" lIns="0" tIns="0" rIns="0" bIns="0" anchor="ctr">
                <a:noAutofit/>
              </a:bodyPr>
              <a:lstStyle/>
              <a:p>
                <a:pPr algn="ctr">
                  <a:lnSpc>
                    <a:spcPct val="112000"/>
                  </a:lnSpc>
                  <a:buNone/>
                  <a:defRPr sz="2050" b="0">
                    <a:solidFill>
                      <a:srgbClr val="526276"/>
                    </a:solidFill>
                    <a:latin typeface="DejaVu Sans"/>
                    <a:ea typeface="DejaVu Sans"/>
                    <a:cs typeface="DejaVu Sans"/>
                  </a:defRPr>
                </a:pPr>
                <a:r>
                  <a:rPr lang="en-GB" sz="2050" b="0" dirty="0">
                    <a:solidFill>
                      <a:srgbClr val="526276"/>
                    </a:solidFill>
                    <a:latin typeface="DejaVu Sans"/>
                    <a:ea typeface="DejaVu Sans"/>
                    <a:cs typeface="DejaVu Sans"/>
                  </a:rPr>
                  <a:t>A mistake gives the observed class probability at most </a:t>
                </a:r>
                <a14:m>
                  <m:oMath xmlns:m="http://schemas.openxmlformats.org/officeDocument/2006/math">
                    <m:r>
                      <a:rPr lang="en-GB" sz="2050" b="0" i="1" dirty="0" smtClean="0">
                        <a:solidFill>
                          <a:srgbClr val="526276"/>
                        </a:solidFill>
                        <a:latin typeface="Cambria Math" panose="02040503050406030204" pitchFamily="18" charset="0"/>
                        <a:ea typeface="DejaVu Sans"/>
                        <a:cs typeface="DejaVu Sans"/>
                      </a:rPr>
                      <m:t>1/2</m:t>
                    </m:r>
                  </m:oMath>
                </a14:m>
                <a:r>
                  <a:rPr lang="en-GB" sz="2050" b="0" dirty="0">
                    <a:solidFill>
                      <a:srgbClr val="526276"/>
                    </a:solidFill>
                    <a:latin typeface="DejaVu Sans"/>
                    <a:ea typeface="DejaVu Sans"/>
                    <a:cs typeface="DejaVu Sans"/>
                  </a:rPr>
                  <a:t>,</a:t>
                </a:r>
              </a:p>
              <a:p>
                <a:pPr algn="ctr">
                  <a:lnSpc>
                    <a:spcPct val="112000"/>
                  </a:lnSpc>
                  <a:buNone/>
                  <a:defRPr sz="2050" b="0">
                    <a:solidFill>
                      <a:srgbClr val="526276"/>
                    </a:solidFill>
                    <a:latin typeface="DejaVu Sans"/>
                    <a:ea typeface="DejaVu Sans"/>
                    <a:cs typeface="DejaVu Sans"/>
                  </a:defRPr>
                </a:pPr>
                <a:r>
                  <a:rPr lang="en-GB" sz="2050" b="0" dirty="0">
                    <a:solidFill>
                      <a:srgbClr val="526276"/>
                    </a:solidFill>
                    <a:latin typeface="DejaVu Sans"/>
                    <a:ea typeface="DejaVu Sans"/>
                    <a:cs typeface="DejaVu Sans"/>
                  </a:rPr>
                  <a:t>so its logistic loss is at least </a:t>
                </a:r>
                <a14:m>
                  <m:oMath xmlns:m="http://schemas.openxmlformats.org/officeDocument/2006/math">
                    <m:r>
                      <a:rPr lang="it-IT" sz="2050" b="0" i="0" dirty="0" smtClean="0">
                        <a:solidFill>
                          <a:srgbClr val="526276"/>
                        </a:solidFill>
                        <a:latin typeface="Cambria Math" panose="02040503050406030204" pitchFamily="18" charset="0"/>
                        <a:ea typeface="DejaVu Sans"/>
                        <a:cs typeface="DejaVu Sans"/>
                      </a:rPr>
                      <m:t>−</m:t>
                    </m:r>
                    <m:r>
                      <m:rPr>
                        <m:sty m:val="p"/>
                      </m:rPr>
                      <a:rPr lang="it-IT" sz="2050" b="0" i="0" dirty="0" smtClean="0">
                        <a:solidFill>
                          <a:srgbClr val="526276"/>
                        </a:solidFill>
                        <a:latin typeface="Cambria Math" panose="02040503050406030204" pitchFamily="18" charset="0"/>
                        <a:ea typeface="DejaVu Sans"/>
                        <a:cs typeface="DejaVu Sans"/>
                      </a:rPr>
                      <m:t>log</m:t>
                    </m:r>
                    <m:d>
                      <m:dPr>
                        <m:ctrlPr>
                          <a:rPr lang="it-IT" sz="2050" b="0" i="1" dirty="0" smtClean="0">
                            <a:solidFill>
                              <a:srgbClr val="526276"/>
                            </a:solidFill>
                            <a:latin typeface="Cambria Math" panose="02040503050406030204" pitchFamily="18" charset="0"/>
                            <a:ea typeface="DejaVu Sans"/>
                            <a:cs typeface="DejaVu Sans"/>
                          </a:rPr>
                        </m:ctrlPr>
                      </m:dPr>
                      <m:e>
                        <m:f>
                          <m:fPr>
                            <m:ctrlPr>
                              <a:rPr lang="it-IT" sz="2050" b="0" i="1" dirty="0" smtClean="0">
                                <a:solidFill>
                                  <a:srgbClr val="526276"/>
                                </a:solidFill>
                                <a:latin typeface="Cambria Math" panose="02040503050406030204" pitchFamily="18" charset="0"/>
                                <a:ea typeface="DejaVu Sans"/>
                                <a:cs typeface="DejaVu Sans"/>
                              </a:rPr>
                            </m:ctrlPr>
                          </m:fPr>
                          <m:num>
                            <m:r>
                              <a:rPr lang="it-IT" sz="2050" b="0" i="1" dirty="0" smtClean="0">
                                <a:solidFill>
                                  <a:srgbClr val="526276"/>
                                </a:solidFill>
                                <a:latin typeface="Cambria Math" panose="02040503050406030204" pitchFamily="18" charset="0"/>
                                <a:ea typeface="DejaVu Sans"/>
                                <a:cs typeface="DejaVu Sans"/>
                              </a:rPr>
                              <m:t>1</m:t>
                            </m:r>
                          </m:num>
                          <m:den>
                            <m:r>
                              <a:rPr lang="it-IT" sz="2050" b="0" i="1" dirty="0" smtClean="0">
                                <a:solidFill>
                                  <a:srgbClr val="526276"/>
                                </a:solidFill>
                                <a:latin typeface="Cambria Math" panose="02040503050406030204" pitchFamily="18" charset="0"/>
                                <a:ea typeface="DejaVu Sans"/>
                                <a:cs typeface="DejaVu Sans"/>
                              </a:rPr>
                              <m:t>2</m:t>
                            </m:r>
                          </m:den>
                        </m:f>
                      </m:e>
                    </m:d>
                    <m:r>
                      <a:rPr lang="en-GB" sz="2050" b="0" i="0" dirty="0" smtClean="0">
                        <a:solidFill>
                          <a:srgbClr val="526276"/>
                        </a:solidFill>
                        <a:latin typeface="Cambria Math" panose="02040503050406030204" pitchFamily="18" charset="0"/>
                        <a:ea typeface="DejaVu Sans"/>
                        <a:cs typeface="DejaVu Sans"/>
                      </a:rPr>
                      <m:t>=</m:t>
                    </m:r>
                    <m:func>
                      <m:funcPr>
                        <m:ctrlPr>
                          <a:rPr lang="en-GB" sz="2050" b="0" i="0" dirty="0" smtClean="0">
                            <a:solidFill>
                              <a:srgbClr val="526276"/>
                            </a:solidFill>
                            <a:latin typeface="Cambria Math" panose="02040503050406030204" pitchFamily="18" charset="0"/>
                            <a:ea typeface="DejaVu Sans"/>
                            <a:cs typeface="DejaVu Sans"/>
                          </a:rPr>
                        </m:ctrlPr>
                      </m:funcPr>
                      <m:fName>
                        <m:r>
                          <m:rPr>
                            <m:sty m:val="p"/>
                          </m:rPr>
                          <a:rPr lang="en-GB" sz="2050" b="0" i="0" dirty="0" smtClean="0">
                            <a:solidFill>
                              <a:srgbClr val="526276"/>
                            </a:solidFill>
                            <a:latin typeface="Cambria Math" panose="02040503050406030204" pitchFamily="18" charset="0"/>
                            <a:ea typeface="DejaVu Sans"/>
                            <a:cs typeface="DejaVu Sans"/>
                          </a:rPr>
                          <m:t>log</m:t>
                        </m:r>
                      </m:fName>
                      <m:e>
                        <m:d>
                          <m:dPr>
                            <m:ctrlPr>
                              <a:rPr lang="en-GB" sz="2050" i="1" dirty="0">
                                <a:solidFill>
                                  <a:srgbClr val="526276"/>
                                </a:solidFill>
                                <a:latin typeface="Cambria Math" panose="02040503050406030204" pitchFamily="18" charset="0"/>
                                <a:ea typeface="DejaVu Sans"/>
                                <a:cs typeface="DejaVu Sans"/>
                              </a:rPr>
                            </m:ctrlPr>
                          </m:dPr>
                          <m:e>
                            <m:r>
                              <a:rPr lang="en-GB" sz="2050" i="1" dirty="0">
                                <a:solidFill>
                                  <a:srgbClr val="526276"/>
                                </a:solidFill>
                                <a:latin typeface="Cambria Math" panose="02040503050406030204" pitchFamily="18" charset="0"/>
                                <a:ea typeface="DejaVu Sans"/>
                                <a:cs typeface="DejaVu Sans"/>
                              </a:rPr>
                              <m:t>2</m:t>
                            </m:r>
                          </m:e>
                        </m:d>
                      </m:e>
                    </m:func>
                  </m:oMath>
                </a14:m>
                <a:r>
                  <a:rPr lang="en-GB" sz="2050" b="0" dirty="0">
                    <a:solidFill>
                      <a:srgbClr val="526276"/>
                    </a:solidFill>
                    <a:latin typeface="DejaVu Sans"/>
                    <a:ea typeface="DejaVu Sans"/>
                    <a:cs typeface="DejaVu Sans"/>
                  </a:rPr>
                  <a:t>.</a:t>
                </a:r>
                <a:endParaRPr sz="2050" b="0" dirty="0">
                  <a:solidFill>
                    <a:srgbClr val="526276"/>
                  </a:solidFill>
                  <a:latin typeface="DejaVu Sans"/>
                  <a:ea typeface="DejaVu Sans"/>
                  <a:cs typeface="DejaVu Sans"/>
                </a:endParaRPr>
              </a:p>
            </p:txBody>
          </p:sp>
        </mc:Choice>
        <mc:Fallback>
          <p:sp>
            <p:nvSpPr>
              <p:cNvPr id="2" name="lead">
                <a:extLst>
                  <a:ext uri="{FF2B5EF4-FFF2-40B4-BE49-F238E27FC236}">
                    <a16:creationId xmlns:a16="http://schemas.microsoft.com/office/drawing/2014/main" id="{DA97DD64-BC74-4CC7-A2A4-30D860CD4417}"/>
                  </a:ext>
                </a:extLst>
              </p:cNvPr>
              <p:cNvSpPr>
                <a:spLocks noGrp="1" noRot="1" noChangeAspect="1" noMove="1" noResize="1" noEditPoints="1" noAdjustHandles="1" noChangeArrowheads="1" noChangeShapeType="1" noTextEdit="1"/>
              </p:cNvSpPr>
              <p:nvPr/>
            </p:nvSpPr>
            <p:spPr>
              <a:xfrm>
                <a:off x="723900" y="1028699"/>
                <a:ext cx="10744200" cy="828675"/>
              </a:xfrm>
              <a:prstGeom prst="rect">
                <a:avLst/>
              </a:prstGeom>
              <a:blipFill>
                <a:blip r:embed="rId3"/>
                <a:stretch>
                  <a:fillRect t="-12500" b="-11765"/>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D450644D-AD7F-43BB-B28C-9E2D485F2914}"/>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F5D9ED9C-FF05-424F-A74B-214E0ABEC5B1}"/>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18</a:t>
            </a:r>
          </a:p>
        </p:txBody>
      </p:sp>
      <mc:AlternateContent xmlns:mc="http://schemas.openxmlformats.org/markup-compatibility/2006" xmlns:a14="http://schemas.microsoft.com/office/drawing/2010/main">
        <mc:Choice Requires="a14">
          <p:sp>
            <p:nvSpPr>
              <p:cNvPr id="5" name="step_0_text_0">
                <a:extLst>
                  <a:ext uri="{FF2B5EF4-FFF2-40B4-BE49-F238E27FC236}">
                    <a16:creationId xmlns:a16="http://schemas.microsoft.com/office/drawing/2014/main" id="{AA5F4D47-8123-4E52-BB8C-7C64BF6F00E9}"/>
                  </a:ext>
                </a:extLst>
              </p:cNvPr>
              <p:cNvSpPr>
                <a:spLocks noGrp="1"/>
              </p:cNvSpPr>
              <p:nvPr/>
            </p:nvSpPr>
            <p:spPr>
              <a:xfrm>
                <a:off x="609600" y="1857375"/>
                <a:ext cx="5257800" cy="381000"/>
              </a:xfrm>
              <a:prstGeom prst="rect">
                <a:avLst/>
              </a:prstGeom>
              <a:noFill/>
              <a:ln w="0">
                <a:noFill/>
              </a:ln>
            </p:spPr>
            <p:txBody>
              <a:bodyPr wrap="square" lIns="0" tIns="0" rIns="0" bIns="0" anchor="ctr">
                <a:noAutofit/>
              </a:bodyPr>
              <a:lstStyle/>
              <a:p>
                <a:pPr algn="ctr">
                  <a:lnSpc>
                    <a:spcPct val="112000"/>
                  </a:lnSpc>
                  <a:buNone/>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Observed label </a:t>
                </a:r>
                <a14:m>
                  <m:oMath xmlns:m="http://schemas.openxmlformats.org/officeDocument/2006/math">
                    <m:r>
                      <a:rPr lang="it-IT" sz="2025" b="1" i="1" dirty="0" smtClean="0">
                        <a:solidFill>
                          <a:srgbClr val="182D45"/>
                        </a:solidFill>
                        <a:latin typeface="Cambria Math" panose="02040503050406030204" pitchFamily="18" charset="0"/>
                        <a:ea typeface="DejaVu Sans"/>
                        <a:cs typeface="DejaVu Sans"/>
                      </a:rPr>
                      <m:t>𝒚</m:t>
                    </m:r>
                    <m:r>
                      <a:rPr lang="it-IT" sz="2025" b="1" i="1" dirty="0" smtClean="0">
                        <a:solidFill>
                          <a:srgbClr val="182D45"/>
                        </a:solidFill>
                        <a:latin typeface="Cambria Math" panose="02040503050406030204" pitchFamily="18" charset="0"/>
                        <a:ea typeface="DejaVu Sans"/>
                        <a:cs typeface="DejaVu Sans"/>
                      </a:rPr>
                      <m:t> = </m:t>
                    </m:r>
                    <m:r>
                      <a:rPr lang="it-IT" sz="2025" b="1" i="1" dirty="0" smtClean="0">
                        <a:solidFill>
                          <a:srgbClr val="182D45"/>
                        </a:solidFill>
                        <a:latin typeface="Cambria Math" panose="02040503050406030204" pitchFamily="18" charset="0"/>
                        <a:ea typeface="DejaVu Sans"/>
                        <a:cs typeface="DejaVu Sans"/>
                      </a:rPr>
                      <m:t>𝟎</m:t>
                    </m:r>
                  </m:oMath>
                </a14:m>
                <a:endParaRPr sz="2025" b="1" dirty="0">
                  <a:solidFill>
                    <a:srgbClr val="182D45"/>
                  </a:solidFill>
                  <a:latin typeface="DejaVu Sans"/>
                  <a:ea typeface="DejaVu Sans"/>
                  <a:cs typeface="DejaVu Sans"/>
                </a:endParaRPr>
              </a:p>
            </p:txBody>
          </p:sp>
        </mc:Choice>
        <mc:Fallback xmlns="">
          <p:sp>
            <p:nvSpPr>
              <p:cNvPr id="5" name="step_0_text_0">
                <a:extLst>
                  <a:ext uri="{FF2B5EF4-FFF2-40B4-BE49-F238E27FC236}">
                    <a16:creationId xmlns:a16="http://schemas.microsoft.com/office/drawing/2014/main" id="{AA5F4D47-8123-4E52-BB8C-7C64BF6F00E9}"/>
                  </a:ext>
                </a:extLst>
              </p:cNvPr>
              <p:cNvSpPr>
                <a:spLocks noGrp="1" noRot="1" noChangeAspect="1" noMove="1" noResize="1" noEditPoints="1" noAdjustHandles="1" noChangeArrowheads="1" noChangeShapeType="1" noTextEdit="1"/>
              </p:cNvSpPr>
              <p:nvPr/>
            </p:nvSpPr>
            <p:spPr>
              <a:xfrm>
                <a:off x="609600" y="1857375"/>
                <a:ext cx="5257800" cy="381000"/>
              </a:xfrm>
              <a:prstGeom prst="rect">
                <a:avLst/>
              </a:prstGeom>
              <a:blipFill>
                <a:blip r:embed="rId4"/>
                <a:stretch>
                  <a:fillRect t="-9677" b="-338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step_0_text_1">
                <a:extLst>
                  <a:ext uri="{FF2B5EF4-FFF2-40B4-BE49-F238E27FC236}">
                    <a16:creationId xmlns:a16="http://schemas.microsoft.com/office/drawing/2014/main" id="{0B51A1D5-3982-4D55-B430-D876AC23676A}"/>
                  </a:ext>
                </a:extLst>
              </p:cNvPr>
              <p:cNvSpPr>
                <a:spLocks noGrp="1"/>
              </p:cNvSpPr>
              <p:nvPr/>
            </p:nvSpPr>
            <p:spPr>
              <a:xfrm>
                <a:off x="6324600" y="1857375"/>
                <a:ext cx="5257800" cy="381000"/>
              </a:xfrm>
              <a:prstGeom prst="rect">
                <a:avLst/>
              </a:prstGeom>
              <a:noFill/>
              <a:ln w="0">
                <a:noFill/>
              </a:ln>
            </p:spPr>
            <p:txBody>
              <a:bodyPr wrap="square" lIns="0" tIns="0" rIns="0" bIns="0" anchor="ctr">
                <a:noAutofit/>
              </a:bodyPr>
              <a:lstStyle/>
              <a:p>
                <a:pPr algn="ctr">
                  <a:lnSpc>
                    <a:spcPct val="112000"/>
                  </a:lnSpc>
                  <a:buNone/>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Observed label </a:t>
                </a:r>
                <a14:m>
                  <m:oMath xmlns:m="http://schemas.openxmlformats.org/officeDocument/2006/math">
                    <m:r>
                      <a:rPr lang="it-IT" sz="2025" b="1" i="1" dirty="0" smtClean="0">
                        <a:solidFill>
                          <a:srgbClr val="182D45"/>
                        </a:solidFill>
                        <a:latin typeface="Cambria Math" panose="02040503050406030204" pitchFamily="18" charset="0"/>
                        <a:ea typeface="DejaVu Sans"/>
                        <a:cs typeface="DejaVu Sans"/>
                      </a:rPr>
                      <m:t>𝒚</m:t>
                    </m:r>
                    <m:r>
                      <a:rPr lang="it-IT" sz="2025" b="1" i="1" dirty="0" smtClean="0">
                        <a:solidFill>
                          <a:srgbClr val="182D45"/>
                        </a:solidFill>
                        <a:latin typeface="Cambria Math" panose="02040503050406030204" pitchFamily="18" charset="0"/>
                        <a:ea typeface="DejaVu Sans"/>
                        <a:cs typeface="DejaVu Sans"/>
                      </a:rPr>
                      <m:t> = </m:t>
                    </m:r>
                    <m:r>
                      <a:rPr lang="it-IT" sz="2025" b="1" i="1" dirty="0" smtClean="0">
                        <a:solidFill>
                          <a:srgbClr val="182D45"/>
                        </a:solidFill>
                        <a:latin typeface="Cambria Math" panose="02040503050406030204" pitchFamily="18" charset="0"/>
                        <a:ea typeface="DejaVu Sans"/>
                        <a:cs typeface="DejaVu Sans"/>
                      </a:rPr>
                      <m:t>𝟏</m:t>
                    </m:r>
                  </m:oMath>
                </a14:m>
                <a:endParaRPr sz="2025" b="1" dirty="0">
                  <a:solidFill>
                    <a:srgbClr val="182D45"/>
                  </a:solidFill>
                  <a:latin typeface="DejaVu Sans"/>
                  <a:ea typeface="DejaVu Sans"/>
                  <a:cs typeface="DejaVu Sans"/>
                </a:endParaRPr>
              </a:p>
            </p:txBody>
          </p:sp>
        </mc:Choice>
        <mc:Fallback xmlns="">
          <p:sp>
            <p:nvSpPr>
              <p:cNvPr id="6" name="step_0_text_1">
                <a:extLst>
                  <a:ext uri="{FF2B5EF4-FFF2-40B4-BE49-F238E27FC236}">
                    <a16:creationId xmlns:a16="http://schemas.microsoft.com/office/drawing/2014/main" id="{0B51A1D5-3982-4D55-B430-D876AC23676A}"/>
                  </a:ext>
                </a:extLst>
              </p:cNvPr>
              <p:cNvSpPr>
                <a:spLocks noGrp="1" noRot="1" noChangeAspect="1" noMove="1" noResize="1" noEditPoints="1" noAdjustHandles="1" noChangeArrowheads="1" noChangeShapeType="1" noTextEdit="1"/>
              </p:cNvSpPr>
              <p:nvPr/>
            </p:nvSpPr>
            <p:spPr>
              <a:xfrm>
                <a:off x="6324600" y="1857375"/>
                <a:ext cx="5257800" cy="381000"/>
              </a:xfrm>
              <a:prstGeom prst="rect">
                <a:avLst/>
              </a:prstGeom>
              <a:blipFill>
                <a:blip r:embed="rId5"/>
                <a:stretch>
                  <a:fillRect t="-9677" b="-33871"/>
                </a:stretch>
              </a:blipFill>
              <a:ln w="0">
                <a:noFill/>
              </a:ln>
            </p:spPr>
            <p:txBody>
              <a:bodyPr/>
              <a:lstStyle/>
              <a:p>
                <a:r>
                  <a:rPr lang="it-IT">
                    <a:noFill/>
                  </a:rPr>
                  <a:t> </a:t>
                </a:r>
              </a:p>
            </p:txBody>
          </p:sp>
        </mc:Fallback>
      </mc:AlternateContent>
      <p:graphicFrame>
        <p:nvGraphicFramePr>
          <p:cNvPr id="17" name="step_0_chart_2"/>
          <p:cNvGraphicFramePr/>
          <p:nvPr>
            <p:extLst>
              <p:ext uri="{D42A27DB-BD31-4B8C-83A1-F6EECF244321}">
                <p14:modId xmlns:p14="http://schemas.microsoft.com/office/powerpoint/2010/main" val="44864926"/>
              </p:ext>
            </p:extLst>
          </p:nvPr>
        </p:nvGraphicFramePr>
        <p:xfrm>
          <a:off x="552450" y="2266950"/>
          <a:ext cx="5381625" cy="290512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8" name="step_0_chart_3"/>
          <p:cNvGraphicFramePr/>
          <p:nvPr/>
        </p:nvGraphicFramePr>
        <p:xfrm>
          <a:off x="6267450" y="2266950"/>
          <a:ext cx="5381625" cy="2905125"/>
        </p:xfrm>
        <a:graphic>
          <a:graphicData uri="http://schemas.openxmlformats.org/drawingml/2006/chart">
            <c:chart xmlns:c="http://schemas.openxmlformats.org/drawingml/2006/chart" xmlns:r="http://schemas.openxmlformats.org/officeDocument/2006/relationships" r:id="rId7"/>
          </a:graphicData>
        </a:graphic>
      </p:graphicFrame>
      <mc:AlternateContent xmlns:mc="http://schemas.openxmlformats.org/markup-compatibility/2006" xmlns:a14="http://schemas.microsoft.com/office/drawing/2010/main">
        <mc:Choice Requires="a14">
          <p:sp>
            <p:nvSpPr>
              <p:cNvPr id="9" name="step_1_equation_4" descr="\ell_{0,1}(\operatorname{step}(s),y)\leq\frac{\ell_{\mathrm{log}}(\sigma(s),y)}{\log2}">
                <a:extLst>
                  <a:ext uri="{FF2B5EF4-FFF2-40B4-BE49-F238E27FC236}">
                    <a16:creationId xmlns:a16="http://schemas.microsoft.com/office/drawing/2014/main" id="{26526340-FEC4-46E3-90B7-B36C8AC89AE2}"/>
                  </a:ext>
                </a:extLst>
              </p:cNvPr>
              <p:cNvSpPr>
                <a:spLocks noGrp="1"/>
              </p:cNvSpPr>
              <p:nvPr/>
            </p:nvSpPr>
            <p:spPr>
              <a:xfrm>
                <a:off x="723900" y="5629275"/>
                <a:ext cx="10744200" cy="7905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m:rPr>
                              <m:sty m:val="p"/>
                            </m:rPr>
                            <a:rPr lang="en-GB" sz="2800">
                              <a:solidFill>
                                <a:srgbClr val="087F83"/>
                              </a:solidFill>
                              <a:latin typeface="Cambria Math"/>
                              <a:ea typeface="Cambria Math"/>
                              <a:cs typeface="Cambria Math"/>
                            </a:rPr>
                            <m:t>ℓ</m:t>
                          </m:r>
                        </m:e>
                        <m:sub>
                          <m:r>
                            <a:rPr lang="en-GB" sz="2800">
                              <a:solidFill>
                                <a:srgbClr val="087F83"/>
                              </a:solidFill>
                              <a:latin typeface="Cambria Math"/>
                              <a:ea typeface="Cambria Math"/>
                              <a:cs typeface="Cambria Math"/>
                            </a:rPr>
                            <m:t>0,1</m:t>
                          </m:r>
                        </m:sub>
                      </m:sSub>
                      <m:d>
                        <m:dPr>
                          <m:ctrlPr>
                            <a:rPr lang="it-IT" sz="2800" i="1">
                              <a:solidFill>
                                <a:srgbClr val="087F83"/>
                              </a:solidFill>
                              <a:latin typeface="Cambria Math" panose="02040503050406030204" pitchFamily="18" charset="0"/>
                              <a:ea typeface="Cambria Math"/>
                              <a:cs typeface="Cambria Math"/>
                            </a:rPr>
                          </m:ctrlPr>
                        </m:dPr>
                        <m:e>
                          <m:func>
                            <m:funcPr>
                              <m:ctrlPr>
                                <a:rPr lang="it-IT" sz="2800">
                                  <a:solidFill>
                                    <a:srgbClr val="087F83"/>
                                  </a:solidFill>
                                  <a:latin typeface="Cambria Math" panose="02040503050406030204" pitchFamily="18" charset="0"/>
                                  <a:ea typeface="Cambria Math"/>
                                  <a:cs typeface="Cambria Math"/>
                                </a:rPr>
                              </m:ctrlPr>
                            </m:funcPr>
                            <m:fName>
                              <m:r>
                                <m:rPr>
                                  <m:sty m:val="p"/>
                                </m:rPr>
                                <a:rPr lang="it-IT" sz="2800">
                                  <a:solidFill>
                                    <a:srgbClr val="087F83"/>
                                  </a:solidFill>
                                  <a:latin typeface="Cambria Math" panose="02040503050406030204" pitchFamily="18" charset="0"/>
                                  <a:ea typeface="Cambria Math"/>
                                  <a:cs typeface="Cambria Math"/>
                                </a:rPr>
                                <m:t>step</m:t>
                              </m:r>
                            </m:fName>
                            <m:e>
                              <m:d>
                                <m:dPr>
                                  <m:ctrlPr>
                                    <a:rPr lang="it-IT" sz="2800" i="1">
                                      <a:solidFill>
                                        <a:srgbClr val="087F83"/>
                                      </a:solidFill>
                                      <a:latin typeface="Cambria Math" panose="02040503050406030204" pitchFamily="18" charset="0"/>
                                      <a:ea typeface="Cambria Math"/>
                                      <a:cs typeface="Cambria Math"/>
                                    </a:rPr>
                                  </m:ctrlPr>
                                </m:dPr>
                                <m:e>
                                  <m:r>
                                    <a:rPr lang="it-IT" sz="2800" i="1">
                                      <a:solidFill>
                                        <a:srgbClr val="087F83"/>
                                      </a:solidFill>
                                      <a:latin typeface="Cambria Math" panose="02040503050406030204" pitchFamily="18" charset="0"/>
                                      <a:ea typeface="Cambria Math"/>
                                      <a:cs typeface="Cambria Math"/>
                                    </a:rPr>
                                    <m:t>𝜎</m:t>
                                  </m:r>
                                  <m:d>
                                    <m:dPr>
                                      <m:ctrlPr>
                                        <a:rPr lang="it-IT" sz="2800" i="1">
                                          <a:solidFill>
                                            <a:srgbClr val="087F83"/>
                                          </a:solidFill>
                                          <a:latin typeface="Cambria Math" panose="02040503050406030204" pitchFamily="18" charset="0"/>
                                          <a:ea typeface="Cambria Math"/>
                                          <a:cs typeface="Cambria Math"/>
                                        </a:rPr>
                                      </m:ctrlPr>
                                    </m:dPr>
                                    <m:e>
                                      <m:r>
                                        <a:rPr lang="it-IT" sz="2800" i="1">
                                          <a:solidFill>
                                            <a:srgbClr val="087F83"/>
                                          </a:solidFill>
                                          <a:latin typeface="Cambria Math" panose="02040503050406030204" pitchFamily="18" charset="0"/>
                                          <a:ea typeface="Cambria Math"/>
                                          <a:cs typeface="Cambria Math"/>
                                        </a:rPr>
                                        <m:t>𝑠</m:t>
                                      </m:r>
                                    </m:e>
                                  </m:d>
                                  <m:r>
                                    <a:rPr lang="it-IT" sz="2800" b="0" i="1" smtClean="0">
                                      <a:solidFill>
                                        <a:srgbClr val="087F83"/>
                                      </a:solidFill>
                                      <a:latin typeface="Cambria Math" panose="02040503050406030204" pitchFamily="18" charset="0"/>
                                      <a:ea typeface="Cambria Math"/>
                                      <a:cs typeface="Cambria Math"/>
                                    </a:rPr>
                                    <m:t>−</m:t>
                                  </m:r>
                                  <m:f>
                                    <m:fPr>
                                      <m:ctrlPr>
                                        <a:rPr lang="it-IT" sz="2800" b="0" i="1" smtClean="0">
                                          <a:solidFill>
                                            <a:srgbClr val="087F83"/>
                                          </a:solidFill>
                                          <a:latin typeface="Cambria Math" panose="02040503050406030204" pitchFamily="18" charset="0"/>
                                          <a:ea typeface="Cambria Math"/>
                                          <a:cs typeface="Cambria Math"/>
                                        </a:rPr>
                                      </m:ctrlPr>
                                    </m:fPr>
                                    <m:num>
                                      <m:r>
                                        <a:rPr lang="it-IT" sz="2800" b="0" i="1" smtClean="0">
                                          <a:solidFill>
                                            <a:srgbClr val="087F83"/>
                                          </a:solidFill>
                                          <a:latin typeface="Cambria Math" panose="02040503050406030204" pitchFamily="18" charset="0"/>
                                          <a:ea typeface="Cambria Math"/>
                                          <a:cs typeface="Cambria Math"/>
                                        </a:rPr>
                                        <m:t>1</m:t>
                                      </m:r>
                                    </m:num>
                                    <m:den>
                                      <m:r>
                                        <a:rPr lang="it-IT" sz="2800" b="0" i="1" smtClean="0">
                                          <a:solidFill>
                                            <a:srgbClr val="087F83"/>
                                          </a:solidFill>
                                          <a:latin typeface="Cambria Math" panose="02040503050406030204" pitchFamily="18" charset="0"/>
                                          <a:ea typeface="Cambria Math"/>
                                          <a:cs typeface="Cambria Math"/>
                                        </a:rPr>
                                        <m:t>2</m:t>
                                      </m:r>
                                    </m:den>
                                  </m:f>
                                </m:e>
                              </m:d>
                            </m:e>
                          </m:func>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𝑦</m:t>
                          </m:r>
                        </m:e>
                      </m:d>
                      <m:r>
                        <a:rPr lang="en-GB" sz="2800">
                          <a:solidFill>
                            <a:srgbClr val="087F83"/>
                          </a:solidFill>
                          <a:latin typeface="Cambria Math"/>
                          <a:ea typeface="Cambria Math"/>
                          <a:cs typeface="Cambria Math"/>
                        </a:rPr>
                        <m:t>≤</m:t>
                      </m:r>
                      <m:f>
                        <m:fPr>
                          <m:ctrlPr>
                            <a:rPr lang="en-GB" sz="2800" i="1">
                              <a:solidFill>
                                <a:srgbClr val="087F83"/>
                              </a:solidFill>
                              <a:latin typeface="Cambria Math" panose="02040503050406030204" pitchFamily="18" charset="0"/>
                              <a:ea typeface="Cambria Math"/>
                              <a:cs typeface="Cambria Math"/>
                            </a:rPr>
                          </m:ctrlPr>
                        </m:fPr>
                        <m:num>
                          <m:sSub>
                            <m:sSubPr>
                              <m:ctrlPr>
                                <a:rPr lang="en-GB" sz="2800">
                                  <a:solidFill>
                                    <a:srgbClr val="087F83"/>
                                  </a:solidFill>
                                  <a:latin typeface="Cambria Math"/>
                                  <a:ea typeface="Cambria Math"/>
                                  <a:cs typeface="Cambria Math"/>
                                </a:rPr>
                              </m:ctrlPr>
                            </m:sSubPr>
                            <m:e>
                              <m:r>
                                <m:rPr>
                                  <m:sty m:val="p"/>
                                </m:rPr>
                                <a:rPr lang="en-GB" sz="2800">
                                  <a:solidFill>
                                    <a:srgbClr val="087F83"/>
                                  </a:solidFill>
                                  <a:latin typeface="Cambria Math"/>
                                  <a:ea typeface="Cambria Math"/>
                                  <a:cs typeface="Cambria Math"/>
                                </a:rPr>
                                <m:t>ℓ</m:t>
                              </m:r>
                            </m:e>
                            <m:sub>
                              <m:r>
                                <m:rPr>
                                  <m:sty m:val="p"/>
                                </m:rPr>
                                <a:rPr lang="en-GB" sz="2800">
                                  <a:solidFill>
                                    <a:srgbClr val="087F83"/>
                                  </a:solidFill>
                                  <a:latin typeface="Cambria Math"/>
                                  <a:ea typeface="Cambria Math"/>
                                  <a:cs typeface="Cambria Math"/>
                                </a:rPr>
                                <m:t>log</m:t>
                              </m:r>
                            </m:sub>
                          </m:sSub>
                          <m:d>
                            <m:dPr>
                              <m:ctrlPr>
                                <a:rPr lang="it-IT" sz="2800" b="0" i="1" smtClean="0">
                                  <a:solidFill>
                                    <a:srgbClr val="087F83"/>
                                  </a:solidFill>
                                  <a:latin typeface="Cambria Math" panose="02040503050406030204" pitchFamily="18" charset="0"/>
                                  <a:ea typeface="Cambria Math"/>
                                  <a:cs typeface="Cambria Math"/>
                                </a:rPr>
                              </m:ctrlPr>
                            </m:dPr>
                            <m:e>
                              <m:r>
                                <a:rPr lang="it-IT" sz="2800" b="0" i="1" smtClean="0">
                                  <a:solidFill>
                                    <a:srgbClr val="087F83"/>
                                  </a:solidFill>
                                  <a:latin typeface="Cambria Math" panose="02040503050406030204" pitchFamily="18" charset="0"/>
                                  <a:ea typeface="Cambria Math"/>
                                  <a:cs typeface="Cambria Math"/>
                                </a:rPr>
                                <m:t>𝜎</m:t>
                              </m:r>
                              <m:d>
                                <m:dPr>
                                  <m:ctrlPr>
                                    <a:rPr lang="it-IT" sz="2800" i="1">
                                      <a:solidFill>
                                        <a:srgbClr val="087F83"/>
                                      </a:solidFill>
                                      <a:latin typeface="Cambria Math" panose="02040503050406030204" pitchFamily="18" charset="0"/>
                                      <a:ea typeface="Cambria Math"/>
                                      <a:cs typeface="Cambria Math"/>
                                    </a:rPr>
                                  </m:ctrlPr>
                                </m:dPr>
                                <m:e>
                                  <m:r>
                                    <a:rPr lang="it-IT" sz="2800" i="1">
                                      <a:solidFill>
                                        <a:srgbClr val="087F83"/>
                                      </a:solidFill>
                                      <a:latin typeface="Cambria Math" panose="02040503050406030204" pitchFamily="18" charset="0"/>
                                      <a:ea typeface="Cambria Math"/>
                                      <a:cs typeface="Cambria Math"/>
                                    </a:rPr>
                                    <m:t>𝑠</m:t>
                                  </m:r>
                                </m:e>
                              </m:d>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𝑦</m:t>
                              </m:r>
                            </m:e>
                          </m:d>
                        </m:num>
                        <m:den>
                          <m:r>
                            <m:rPr>
                              <m:sty m:val="p"/>
                            </m:rPr>
                            <a:rPr lang="en-GB" sz="2800">
                              <a:solidFill>
                                <a:srgbClr val="087F83"/>
                              </a:solidFill>
                              <a:latin typeface="Cambria Math"/>
                              <a:ea typeface="Cambria Math"/>
                              <a:cs typeface="Cambria Math"/>
                            </a:rPr>
                            <m:t>log</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2</m:t>
                              </m:r>
                            </m:e>
                          </m:d>
                        </m:den>
                      </m:f>
                    </m:oMath>
                  </m:oMathPara>
                </a14:m>
                <a:endParaRPr lang="en-GB" sz="2800" dirty="0"/>
              </a:p>
            </p:txBody>
          </p:sp>
        </mc:Choice>
        <mc:Fallback xmlns="">
          <p:sp>
            <p:nvSpPr>
              <p:cNvPr id="9" name="step_1_equation_4" descr="\ell_{0,1}(\operatorname{step}(s),y)\leq\frac{\ell_{\mathrm{log}}(\sigma(s),y)}{\log2}">
                <a:extLst>
                  <a:ext uri="{FF2B5EF4-FFF2-40B4-BE49-F238E27FC236}">
                    <a16:creationId xmlns:a16="http://schemas.microsoft.com/office/drawing/2014/main" id="{26526340-FEC4-46E3-90B7-B36C8AC89AE2}"/>
                  </a:ext>
                </a:extLst>
              </p:cNvPr>
              <p:cNvSpPr>
                <a:spLocks noGrp="1" noRot="1" noChangeAspect="1" noMove="1" noResize="1" noEditPoints="1" noAdjustHandles="1" noChangeArrowheads="1" noChangeShapeType="1" noTextEdit="1"/>
              </p:cNvSpPr>
              <p:nvPr/>
            </p:nvSpPr>
            <p:spPr>
              <a:xfrm>
                <a:off x="723900" y="5629275"/>
                <a:ext cx="10744200" cy="790575"/>
              </a:xfrm>
              <a:prstGeom prst="rect">
                <a:avLst/>
              </a:prstGeom>
              <a:blipFill>
                <a:blip r:embed="rId8"/>
                <a:stretch>
                  <a:fillRect t="-3846" b="-10769"/>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622167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76E5E44F-F996-4148-B31C-D1590F4FA17E}"/>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Bounding the number of mistakes</a:t>
            </a:r>
          </a:p>
        </p:txBody>
      </p:sp>
      <p:sp>
        <p:nvSpPr>
          <p:cNvPr id="2" name="lead">
            <a:extLst>
              <a:ext uri="{FF2B5EF4-FFF2-40B4-BE49-F238E27FC236}">
                <a16:creationId xmlns:a16="http://schemas.microsoft.com/office/drawing/2014/main" id="{59A13E35-BA72-4B07-8DBE-294653747DBD}"/>
              </a:ext>
            </a:extLst>
          </p:cNvPr>
          <p:cNvSpPr>
            <a:spLocks noGrp="1"/>
          </p:cNvSpPr>
          <p:nvPr/>
        </p:nvSpPr>
        <p:spPr>
          <a:xfrm>
            <a:off x="723900" y="1112233"/>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The inequality holds for each observation</a:t>
            </a:r>
            <a:endParaRPr lang="it-IT" sz="2100" b="0" dirty="0">
              <a:solidFill>
                <a:srgbClr val="526276"/>
              </a:solidFill>
              <a:latin typeface="DejaVu Sans"/>
              <a:ea typeface="DejaVu Sans"/>
              <a:cs typeface="DejaVu Sans"/>
            </a:endParaRPr>
          </a:p>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We can therefore add it over the dataset</a:t>
            </a:r>
          </a:p>
        </p:txBody>
      </p:sp>
      <p:sp>
        <p:nvSpPr>
          <p:cNvPr id="3" name="footer_course">
            <a:extLst>
              <a:ext uri="{FF2B5EF4-FFF2-40B4-BE49-F238E27FC236}">
                <a16:creationId xmlns:a16="http://schemas.microsoft.com/office/drawing/2014/main" id="{743F4890-A639-411B-9F33-5690372BF1E8}"/>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21B39628-68CB-451C-9CCC-39FC5F80CB50}"/>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19</a:t>
            </a:r>
          </a:p>
        </p:txBody>
      </p:sp>
      <mc:AlternateContent xmlns:mc="http://schemas.openxmlformats.org/markup-compatibility/2006">
        <mc:Choice xmlns:a14="http://schemas.microsoft.com/office/drawing/2010/main" Requires="a14">
          <p:sp>
            <p:nvSpPr>
              <p:cNvPr id="5" name="step_0_equation_0" descr="\begin{aligned}\mathcal E(\boldsymbol\theta)=\sum_{i=1}^N\ell_{0,1}\bigl(h_{p_{\boldsymbol\theta}}(\boldsymbol x_i),y_i\bigr)\\=\sum_{i=1}^N\ell_{0,1}\bigl(\operatorname{step}(f_{\boldsymbol\theta}(\boldsymbol x_i)),y_i\bigr)\\\le\sum_{i=1}^N\frac{\ell_{\log}\bigl(\sigma(f_{\boldsymbol\theta}(\boldsymbol x_i)),y_i\bigr)}{\log 2}=\frac{\mathcal L_{\log}(\boldsymbol\theta)}{\log 2}\end{aligned}">
                <a:extLst>
                  <a:ext uri="{FF2B5EF4-FFF2-40B4-BE49-F238E27FC236}">
                    <a16:creationId xmlns:a16="http://schemas.microsoft.com/office/drawing/2014/main" id="{6425B1B0-AA0C-43CF-AE6C-DFE9E7B4F4F5}"/>
                  </a:ext>
                </a:extLst>
              </p:cNvPr>
              <p:cNvSpPr>
                <a:spLocks noGrp="1"/>
              </p:cNvSpPr>
              <p:nvPr/>
            </p:nvSpPr>
            <p:spPr>
              <a:xfrm>
                <a:off x="762000" y="2009775"/>
                <a:ext cx="10668000" cy="3381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m>
                        <m:mPr>
                          <m:mcs>
                            <m:mc>
                              <m:mcPr>
                                <m:count m:val="1"/>
                                <m:mcJc m:val="center"/>
                              </m:mcPr>
                            </m:mc>
                          </m:mcs>
                          <m:ctrlPr>
                            <a:rPr lang="en-GB" sz="2600" i="1" smtClean="0">
                              <a:solidFill>
                                <a:srgbClr val="087F83"/>
                              </a:solidFill>
                              <a:latin typeface="Cambria Math" panose="02040503050406030204" pitchFamily="18" charset="0"/>
                              <a:ea typeface="Cambria Math"/>
                              <a:cs typeface="Cambria Math"/>
                            </a:rPr>
                          </m:ctrlPr>
                        </m:mPr>
                        <m:mr>
                          <m:e>
                            <m:r>
                              <a:rPr lang="en-GB" sz="2600">
                                <a:solidFill>
                                  <a:srgbClr val="087F83"/>
                                </a:solidFill>
                                <a:latin typeface="Cambria Math"/>
                                <a:ea typeface="Cambria Math"/>
                                <a:cs typeface="Cambria Math"/>
                              </a:rPr>
                              <m:t>ℰ</m:t>
                            </m:r>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𝛉</m:t>
                            </m:r>
                            <m:r>
                              <a:rPr lang="en-GB" sz="2600">
                                <a:solidFill>
                                  <a:srgbClr val="087F83"/>
                                </a:solidFill>
                                <a:latin typeface="Cambria Math"/>
                                <a:ea typeface="Cambria Math"/>
                                <a:cs typeface="Cambria Math"/>
                              </a:rPr>
                              <m:t>)=</m:t>
                            </m:r>
                            <m:nary>
                              <m:naryPr>
                                <m:chr m:val="∑"/>
                                <m:limLoc m:val="undOvr"/>
                                <m:ctrlPr>
                                  <a:rPr lang="en-GB" sz="2600">
                                    <a:solidFill>
                                      <a:srgbClr val="087F83"/>
                                    </a:solidFill>
                                    <a:latin typeface="Cambria Math"/>
                                    <a:ea typeface="Cambria Math"/>
                                    <a:cs typeface="Cambria Math"/>
                                  </a:rPr>
                                </m:ctrlPr>
                              </m:naryPr>
                              <m:sub>
                                <m:r>
                                  <a:rPr lang="en-GB" sz="2600">
                                    <a:solidFill>
                                      <a:srgbClr val="087F83"/>
                                    </a:solidFill>
                                    <a:latin typeface="Cambria Math"/>
                                    <a:ea typeface="Cambria Math"/>
                                    <a:cs typeface="Cambria Math"/>
                                  </a:rPr>
                                  <m:t>𝑖</m:t>
                                </m:r>
                                <m:r>
                                  <a:rPr lang="en-GB" sz="2600">
                                    <a:solidFill>
                                      <a:srgbClr val="087F83"/>
                                    </a:solidFill>
                                    <a:latin typeface="Cambria Math"/>
                                    <a:ea typeface="Cambria Math"/>
                                    <a:cs typeface="Cambria Math"/>
                                  </a:rPr>
                                  <m:t>=1</m:t>
                                </m:r>
                              </m:sub>
                              <m:sup>
                                <m:r>
                                  <a:rPr lang="en-GB" sz="2600">
                                    <a:solidFill>
                                      <a:srgbClr val="087F83"/>
                                    </a:solidFill>
                                    <a:latin typeface="Cambria Math"/>
                                    <a:ea typeface="Cambria Math"/>
                                    <a:cs typeface="Cambria Math"/>
                                  </a:rPr>
                                  <m:t>𝑁</m:t>
                                </m:r>
                              </m:sup>
                              <m:e>
                                <m:sSub>
                                  <m:sSubPr>
                                    <m:ctrlPr>
                                      <a:rPr lang="en-GB" sz="2600">
                                        <a:solidFill>
                                          <a:srgbClr val="087F83"/>
                                        </a:solidFill>
                                        <a:latin typeface="Cambria Math"/>
                                        <a:ea typeface="Cambria Math"/>
                                        <a:cs typeface="Cambria Math"/>
                                      </a:rPr>
                                    </m:ctrlPr>
                                  </m:sSubPr>
                                  <m:e>
                                    <m:r>
                                      <m:rPr>
                                        <m:sty m:val="p"/>
                                      </m:rPr>
                                      <a:rPr lang="en-GB" sz="2600">
                                        <a:solidFill>
                                          <a:srgbClr val="087F83"/>
                                        </a:solidFill>
                                        <a:latin typeface="Cambria Math"/>
                                        <a:ea typeface="Cambria Math"/>
                                        <a:cs typeface="Cambria Math"/>
                                      </a:rPr>
                                      <m:t>ℓ</m:t>
                                    </m:r>
                                  </m:e>
                                  <m:sub>
                                    <m:r>
                                      <a:rPr lang="en-GB" sz="2600">
                                        <a:solidFill>
                                          <a:srgbClr val="087F83"/>
                                        </a:solidFill>
                                        <a:latin typeface="Cambria Math"/>
                                        <a:ea typeface="Cambria Math"/>
                                        <a:cs typeface="Cambria Math"/>
                                      </a:rPr>
                                      <m:t>0,1</m:t>
                                    </m:r>
                                  </m:sub>
                                </m:sSub>
                              </m:e>
                            </m:nary>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ℎ</m:t>
                                    </m:r>
                                  </m:e>
                                  <m:sub>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𝛉</m:t>
                                        </m:r>
                                      </m:sub>
                                    </m:sSub>
                                  </m:sub>
                                </m:sSub>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𝐱</m:t>
                                        </m:r>
                                      </m:e>
                                      <m:sub>
                                        <m:r>
                                          <a:rPr lang="en-GB" sz="2600">
                                            <a:solidFill>
                                              <a:srgbClr val="087F83"/>
                                            </a:solidFill>
                                            <a:latin typeface="Cambria Math"/>
                                            <a:ea typeface="Cambria Math"/>
                                            <a:cs typeface="Cambria Math"/>
                                          </a:rPr>
                                          <m:t>𝑖</m:t>
                                        </m:r>
                                      </m:sub>
                                    </m:sSub>
                                  </m:e>
                                </m:d>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𝑦</m:t>
                                    </m:r>
                                  </m:e>
                                  <m:sub>
                                    <m:r>
                                      <a:rPr lang="en-GB" sz="2600">
                                        <a:solidFill>
                                          <a:srgbClr val="087F83"/>
                                        </a:solidFill>
                                        <a:latin typeface="Cambria Math"/>
                                        <a:ea typeface="Cambria Math"/>
                                        <a:cs typeface="Cambria Math"/>
                                      </a:rPr>
                                      <m:t>𝑖</m:t>
                                    </m:r>
                                  </m:sub>
                                </m:sSub>
                              </m:e>
                            </m:d>
                          </m:e>
                        </m:mr>
                        <m:mr>
                          <m:e>
                            <m:r>
                              <a:rPr lang="en-GB" sz="2600">
                                <a:solidFill>
                                  <a:srgbClr val="087F83"/>
                                </a:solidFill>
                                <a:latin typeface="Cambria Math"/>
                                <a:ea typeface="Cambria Math"/>
                                <a:cs typeface="Cambria Math"/>
                              </a:rPr>
                              <m:t>=</m:t>
                            </m:r>
                            <m:nary>
                              <m:naryPr>
                                <m:chr m:val="∑"/>
                                <m:limLoc m:val="undOvr"/>
                                <m:ctrlPr>
                                  <a:rPr lang="en-GB" sz="2600">
                                    <a:solidFill>
                                      <a:srgbClr val="087F83"/>
                                    </a:solidFill>
                                    <a:latin typeface="Cambria Math"/>
                                    <a:ea typeface="Cambria Math"/>
                                    <a:cs typeface="Cambria Math"/>
                                  </a:rPr>
                                </m:ctrlPr>
                              </m:naryPr>
                              <m:sub>
                                <m:r>
                                  <a:rPr lang="en-GB" sz="2600">
                                    <a:solidFill>
                                      <a:srgbClr val="087F83"/>
                                    </a:solidFill>
                                    <a:latin typeface="Cambria Math"/>
                                    <a:ea typeface="Cambria Math"/>
                                    <a:cs typeface="Cambria Math"/>
                                  </a:rPr>
                                  <m:t>𝑖</m:t>
                                </m:r>
                                <m:r>
                                  <a:rPr lang="en-GB" sz="2600">
                                    <a:solidFill>
                                      <a:srgbClr val="087F83"/>
                                    </a:solidFill>
                                    <a:latin typeface="Cambria Math"/>
                                    <a:ea typeface="Cambria Math"/>
                                    <a:cs typeface="Cambria Math"/>
                                  </a:rPr>
                                  <m:t>=1</m:t>
                                </m:r>
                              </m:sub>
                              <m:sup>
                                <m:r>
                                  <a:rPr lang="en-GB" sz="2600">
                                    <a:solidFill>
                                      <a:srgbClr val="087F83"/>
                                    </a:solidFill>
                                    <a:latin typeface="Cambria Math"/>
                                    <a:ea typeface="Cambria Math"/>
                                    <a:cs typeface="Cambria Math"/>
                                  </a:rPr>
                                  <m:t>𝑁</m:t>
                                </m:r>
                              </m:sup>
                              <m:e>
                                <m:sSub>
                                  <m:sSubPr>
                                    <m:ctrlPr>
                                      <a:rPr lang="en-GB" sz="2600">
                                        <a:solidFill>
                                          <a:srgbClr val="087F83"/>
                                        </a:solidFill>
                                        <a:latin typeface="Cambria Math"/>
                                        <a:ea typeface="Cambria Math"/>
                                        <a:cs typeface="Cambria Math"/>
                                      </a:rPr>
                                    </m:ctrlPr>
                                  </m:sSubPr>
                                  <m:e>
                                    <m:r>
                                      <m:rPr>
                                        <m:sty m:val="p"/>
                                      </m:rPr>
                                      <a:rPr lang="en-GB" sz="2600">
                                        <a:solidFill>
                                          <a:srgbClr val="087F83"/>
                                        </a:solidFill>
                                        <a:latin typeface="Cambria Math"/>
                                        <a:ea typeface="Cambria Math"/>
                                        <a:cs typeface="Cambria Math"/>
                                      </a:rPr>
                                      <m:t>ℓ</m:t>
                                    </m:r>
                                  </m:e>
                                  <m:sub>
                                    <m:r>
                                      <a:rPr lang="en-GB" sz="2600">
                                        <a:solidFill>
                                          <a:srgbClr val="087F83"/>
                                        </a:solidFill>
                                        <a:latin typeface="Cambria Math"/>
                                        <a:ea typeface="Cambria Math"/>
                                        <a:cs typeface="Cambria Math"/>
                                      </a:rPr>
                                      <m:t>0,1</m:t>
                                    </m:r>
                                  </m:sub>
                                </m:sSub>
                              </m:e>
                            </m:nary>
                            <m:d>
                              <m:dPr>
                                <m:ctrlPr>
                                  <a:rPr lang="it-IT" sz="2400" i="1">
                                    <a:solidFill>
                                      <a:srgbClr val="087F83"/>
                                    </a:solidFill>
                                    <a:latin typeface="Cambria Math" panose="02040503050406030204" pitchFamily="18" charset="0"/>
                                    <a:ea typeface="Cambria Math"/>
                                    <a:cs typeface="Cambria Math"/>
                                  </a:rPr>
                                </m:ctrlPr>
                              </m:dPr>
                              <m:e>
                                <m:func>
                                  <m:funcPr>
                                    <m:ctrlPr>
                                      <a:rPr lang="it-IT" sz="2400">
                                        <a:solidFill>
                                          <a:srgbClr val="087F83"/>
                                        </a:solidFill>
                                        <a:latin typeface="Cambria Math" panose="02040503050406030204" pitchFamily="18" charset="0"/>
                                        <a:ea typeface="Cambria Math"/>
                                        <a:cs typeface="Cambria Math"/>
                                      </a:rPr>
                                    </m:ctrlPr>
                                  </m:funcPr>
                                  <m:fName>
                                    <m:r>
                                      <m:rPr>
                                        <m:sty m:val="p"/>
                                      </m:rPr>
                                      <a:rPr lang="it-IT" sz="2400">
                                        <a:solidFill>
                                          <a:srgbClr val="087F83"/>
                                        </a:solidFill>
                                        <a:latin typeface="Cambria Math" panose="02040503050406030204" pitchFamily="18" charset="0"/>
                                        <a:ea typeface="Cambria Math"/>
                                        <a:cs typeface="Cambria Math"/>
                                      </a:rPr>
                                      <m:t>step</m:t>
                                    </m:r>
                                  </m:fName>
                                  <m:e>
                                    <m:d>
                                      <m:dPr>
                                        <m:ctrlPr>
                                          <a:rPr lang="it-IT" sz="2400" i="1">
                                            <a:solidFill>
                                              <a:srgbClr val="087F83"/>
                                            </a:solidFill>
                                            <a:latin typeface="Cambria Math" panose="02040503050406030204" pitchFamily="18" charset="0"/>
                                            <a:ea typeface="Cambria Math"/>
                                            <a:cs typeface="Cambria Math"/>
                                          </a:rPr>
                                        </m:ctrlPr>
                                      </m:dPr>
                                      <m:e>
                                        <m:r>
                                          <a:rPr lang="it-IT" sz="2400" i="1">
                                            <a:solidFill>
                                              <a:srgbClr val="087F83"/>
                                            </a:solidFill>
                                            <a:latin typeface="Cambria Math" panose="02040503050406030204" pitchFamily="18" charset="0"/>
                                            <a:ea typeface="Cambria Math"/>
                                            <a:cs typeface="Cambria Math"/>
                                          </a:rPr>
                                          <m:t>𝜎</m:t>
                                        </m:r>
                                        <m:d>
                                          <m:dPr>
                                            <m:ctrlPr>
                                              <a:rPr lang="en-GB" sz="2400" i="1">
                                                <a:solidFill>
                                                  <a:srgbClr val="087F83"/>
                                                </a:solidFill>
                                                <a:latin typeface="Cambria Math" panose="02040503050406030204" pitchFamily="18" charset="0"/>
                                                <a:ea typeface="Cambria Math"/>
                                                <a:cs typeface="Cambria Math"/>
                                              </a:rPr>
                                            </m:ctrlPr>
                                          </m:dPr>
                                          <m:e>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𝑓</m:t>
                                                </m:r>
                                              </m:e>
                                              <m:sub>
                                                <m:r>
                                                  <a:rPr lang="en-GB" sz="2400">
                                                    <a:solidFill>
                                                      <a:srgbClr val="087F83"/>
                                                    </a:solidFill>
                                                    <a:latin typeface="Cambria Math"/>
                                                    <a:ea typeface="Cambria Math"/>
                                                    <a:cs typeface="Cambria Math"/>
                                                  </a:rPr>
                                                  <m:t>𝛉</m:t>
                                                </m:r>
                                              </m:sub>
                                            </m:sSub>
                                            <m:d>
                                              <m:dPr>
                                                <m:ctrlPr>
                                                  <a:rPr lang="en-GB" sz="2400" i="1">
                                                    <a:solidFill>
                                                      <a:srgbClr val="087F83"/>
                                                    </a:solidFill>
                                                    <a:latin typeface="Cambria Math" panose="02040503050406030204" pitchFamily="18" charset="0"/>
                                                    <a:ea typeface="Cambria Math"/>
                                                    <a:cs typeface="Cambria Math"/>
                                                  </a:rPr>
                                                </m:ctrlPr>
                                              </m:dPr>
                                              <m:e>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𝐱</m:t>
                                                    </m:r>
                                                  </m:e>
                                                  <m:sub>
                                                    <m:r>
                                                      <a:rPr lang="en-GB" sz="2400">
                                                        <a:solidFill>
                                                          <a:srgbClr val="087F83"/>
                                                        </a:solidFill>
                                                        <a:latin typeface="Cambria Math"/>
                                                        <a:ea typeface="Cambria Math"/>
                                                        <a:cs typeface="Cambria Math"/>
                                                      </a:rPr>
                                                      <m:t>𝑖</m:t>
                                                    </m:r>
                                                  </m:sub>
                                                </m:sSub>
                                              </m:e>
                                            </m:d>
                                          </m:e>
                                        </m:d>
                                        <m:r>
                                          <a:rPr lang="it-IT" sz="2400" i="1">
                                            <a:solidFill>
                                              <a:srgbClr val="087F83"/>
                                            </a:solidFill>
                                            <a:latin typeface="Cambria Math" panose="02040503050406030204" pitchFamily="18" charset="0"/>
                                            <a:ea typeface="Cambria Math"/>
                                            <a:cs typeface="Cambria Math"/>
                                          </a:rPr>
                                          <m:t>−</m:t>
                                        </m:r>
                                        <m:f>
                                          <m:fPr>
                                            <m:ctrlPr>
                                              <a:rPr lang="it-IT" sz="2400" i="1">
                                                <a:solidFill>
                                                  <a:srgbClr val="087F83"/>
                                                </a:solidFill>
                                                <a:latin typeface="Cambria Math" panose="02040503050406030204" pitchFamily="18" charset="0"/>
                                                <a:ea typeface="Cambria Math"/>
                                                <a:cs typeface="Cambria Math"/>
                                              </a:rPr>
                                            </m:ctrlPr>
                                          </m:fPr>
                                          <m:num>
                                            <m:r>
                                              <a:rPr lang="it-IT" sz="2400" i="1">
                                                <a:solidFill>
                                                  <a:srgbClr val="087F83"/>
                                                </a:solidFill>
                                                <a:latin typeface="Cambria Math" panose="02040503050406030204" pitchFamily="18" charset="0"/>
                                                <a:ea typeface="Cambria Math"/>
                                                <a:cs typeface="Cambria Math"/>
                                              </a:rPr>
                                              <m:t>1</m:t>
                                            </m:r>
                                          </m:num>
                                          <m:den>
                                            <m:r>
                                              <a:rPr lang="it-IT" sz="2400" i="1">
                                                <a:solidFill>
                                                  <a:srgbClr val="087F83"/>
                                                </a:solidFill>
                                                <a:latin typeface="Cambria Math" panose="02040503050406030204" pitchFamily="18" charset="0"/>
                                                <a:ea typeface="Cambria Math"/>
                                                <a:cs typeface="Cambria Math"/>
                                              </a:rPr>
                                              <m:t>2</m:t>
                                            </m:r>
                                          </m:den>
                                        </m:f>
                                      </m:e>
                                    </m:d>
                                  </m:e>
                                </m:func>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𝑦</m:t>
                                    </m:r>
                                  </m:e>
                                  <m:sub>
                                    <m:r>
                                      <a:rPr lang="en-GB" sz="2600">
                                        <a:solidFill>
                                          <a:srgbClr val="087F83"/>
                                        </a:solidFill>
                                        <a:latin typeface="Cambria Math"/>
                                        <a:ea typeface="Cambria Math"/>
                                        <a:cs typeface="Cambria Math"/>
                                      </a:rPr>
                                      <m:t>𝑖</m:t>
                                    </m:r>
                                  </m:sub>
                                </m:sSub>
                              </m:e>
                            </m:d>
                            <m:r>
                              <a:rPr lang="en-GB" sz="2600">
                                <a:solidFill>
                                  <a:srgbClr val="087F83"/>
                                </a:solidFill>
                                <a:latin typeface="Cambria Math"/>
                                <a:ea typeface="Cambria Math"/>
                                <a:cs typeface="Cambria Math"/>
                              </a:rPr>
                              <m:t>≤</m:t>
                            </m:r>
                            <m:nary>
                              <m:naryPr>
                                <m:chr m:val="∑"/>
                                <m:limLoc m:val="undOvr"/>
                                <m:ctrlPr>
                                  <a:rPr lang="en-GB" sz="2600">
                                    <a:solidFill>
                                      <a:srgbClr val="087F83"/>
                                    </a:solidFill>
                                    <a:latin typeface="Cambria Math"/>
                                    <a:ea typeface="Cambria Math"/>
                                    <a:cs typeface="Cambria Math"/>
                                  </a:rPr>
                                </m:ctrlPr>
                              </m:naryPr>
                              <m:sub>
                                <m:r>
                                  <a:rPr lang="en-GB" sz="2600">
                                    <a:solidFill>
                                      <a:srgbClr val="087F83"/>
                                    </a:solidFill>
                                    <a:latin typeface="Cambria Math"/>
                                    <a:ea typeface="Cambria Math"/>
                                    <a:cs typeface="Cambria Math"/>
                                  </a:rPr>
                                  <m:t>𝑖</m:t>
                                </m:r>
                                <m:r>
                                  <a:rPr lang="en-GB" sz="2600">
                                    <a:solidFill>
                                      <a:srgbClr val="087F83"/>
                                    </a:solidFill>
                                    <a:latin typeface="Cambria Math"/>
                                    <a:ea typeface="Cambria Math"/>
                                    <a:cs typeface="Cambria Math"/>
                                  </a:rPr>
                                  <m:t>=1</m:t>
                                </m:r>
                              </m:sub>
                              <m:sup>
                                <m:r>
                                  <a:rPr lang="en-GB" sz="2600">
                                    <a:solidFill>
                                      <a:srgbClr val="087F83"/>
                                    </a:solidFill>
                                    <a:latin typeface="Cambria Math"/>
                                    <a:ea typeface="Cambria Math"/>
                                    <a:cs typeface="Cambria Math"/>
                                  </a:rPr>
                                  <m:t>𝑁</m:t>
                                </m:r>
                              </m:sup>
                              <m:e>
                                <m:f>
                                  <m:fPr>
                                    <m:ctrlPr>
                                      <a:rPr lang="en-GB" sz="2600" i="1">
                                        <a:solidFill>
                                          <a:srgbClr val="087F83"/>
                                        </a:solidFill>
                                        <a:latin typeface="Cambria Math" panose="02040503050406030204" pitchFamily="18" charset="0"/>
                                        <a:ea typeface="Cambria Math"/>
                                        <a:cs typeface="Cambria Math"/>
                                      </a:rPr>
                                    </m:ctrlPr>
                                  </m:fPr>
                                  <m:num>
                                    <m:sSub>
                                      <m:sSubPr>
                                        <m:ctrlPr>
                                          <a:rPr lang="en-GB" sz="2600">
                                            <a:solidFill>
                                              <a:srgbClr val="087F83"/>
                                            </a:solidFill>
                                            <a:latin typeface="Cambria Math"/>
                                            <a:ea typeface="Cambria Math"/>
                                            <a:cs typeface="Cambria Math"/>
                                          </a:rPr>
                                        </m:ctrlPr>
                                      </m:sSubPr>
                                      <m:e>
                                        <m:r>
                                          <m:rPr>
                                            <m:sty m:val="p"/>
                                          </m:rPr>
                                          <a:rPr lang="en-GB" sz="2600">
                                            <a:solidFill>
                                              <a:srgbClr val="087F83"/>
                                            </a:solidFill>
                                            <a:latin typeface="Cambria Math"/>
                                            <a:ea typeface="Cambria Math"/>
                                            <a:cs typeface="Cambria Math"/>
                                          </a:rPr>
                                          <m:t>ℓ</m:t>
                                        </m:r>
                                      </m:e>
                                      <m:sub>
                                        <m:r>
                                          <m:rPr>
                                            <m:sty m:val="p"/>
                                          </m:rPr>
                                          <a:rPr lang="en-GB" sz="2600">
                                            <a:solidFill>
                                              <a:srgbClr val="087F83"/>
                                            </a:solidFill>
                                            <a:latin typeface="Cambria Math"/>
                                            <a:ea typeface="Cambria Math"/>
                                            <a:cs typeface="Cambria Math"/>
                                          </a:rPr>
                                          <m:t>log</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𝜎</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𝑓</m:t>
                                                </m:r>
                                              </m:e>
                                              <m:sub>
                                                <m:r>
                                                  <a:rPr lang="en-GB" sz="2600">
                                                    <a:solidFill>
                                                      <a:srgbClr val="087F83"/>
                                                    </a:solidFill>
                                                    <a:latin typeface="Cambria Math"/>
                                                    <a:ea typeface="Cambria Math"/>
                                                    <a:cs typeface="Cambria Math"/>
                                                  </a:rPr>
                                                  <m:t>𝛉</m:t>
                                                </m:r>
                                              </m:sub>
                                            </m:sSub>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𝐱</m:t>
                                                    </m:r>
                                                  </m:e>
                                                  <m:sub>
                                                    <m:r>
                                                      <a:rPr lang="en-GB" sz="2600">
                                                        <a:solidFill>
                                                          <a:srgbClr val="087F83"/>
                                                        </a:solidFill>
                                                        <a:latin typeface="Cambria Math"/>
                                                        <a:ea typeface="Cambria Math"/>
                                                        <a:cs typeface="Cambria Math"/>
                                                      </a:rPr>
                                                      <m:t>𝑖</m:t>
                                                    </m:r>
                                                  </m:sub>
                                                </m:sSub>
                                              </m:e>
                                            </m:d>
                                          </m:e>
                                        </m:d>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𝑦</m:t>
                                            </m:r>
                                          </m:e>
                                          <m:sub>
                                            <m:r>
                                              <a:rPr lang="en-GB" sz="2600">
                                                <a:solidFill>
                                                  <a:srgbClr val="087F83"/>
                                                </a:solidFill>
                                                <a:latin typeface="Cambria Math"/>
                                                <a:ea typeface="Cambria Math"/>
                                                <a:cs typeface="Cambria Math"/>
                                              </a:rPr>
                                              <m:t>𝑖</m:t>
                                            </m:r>
                                          </m:sub>
                                        </m:sSub>
                                      </m:e>
                                    </m:d>
                                  </m:num>
                                  <m:den>
                                    <m:r>
                                      <m:rPr>
                                        <m:sty m:val="p"/>
                                      </m:rPr>
                                      <a:rPr lang="en-GB" sz="2600">
                                        <a:solidFill>
                                          <a:srgbClr val="087F83"/>
                                        </a:solidFill>
                                        <a:latin typeface="Cambria Math"/>
                                        <a:ea typeface="Cambria Math"/>
                                        <a:cs typeface="Cambria Math"/>
                                      </a:rPr>
                                      <m:t>log</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2</m:t>
                                        </m:r>
                                      </m:e>
                                    </m:d>
                                  </m:den>
                                </m:f>
                              </m:e>
                            </m:nary>
                          </m:e>
                        </m:mr>
                        <m:mr>
                          <m:e>
                            <m:r>
                              <a:rPr lang="it-IT" sz="2600" b="0" i="1" smtClean="0">
                                <a:solidFill>
                                  <a:srgbClr val="087F83"/>
                                </a:solidFill>
                                <a:latin typeface="Cambria Math" panose="02040503050406030204" pitchFamily="18" charset="0"/>
                                <a:ea typeface="Cambria Math"/>
                                <a:cs typeface="Cambria Math"/>
                              </a:rPr>
                              <m:t>=</m:t>
                            </m:r>
                            <m:f>
                              <m:fPr>
                                <m:ctrlPr>
                                  <a:rPr lang="it-IT" sz="2600" b="0" i="1" smtClean="0">
                                    <a:solidFill>
                                      <a:srgbClr val="087F83"/>
                                    </a:solidFill>
                                    <a:latin typeface="Cambria Math" panose="02040503050406030204" pitchFamily="18" charset="0"/>
                                    <a:ea typeface="Cambria Math"/>
                                    <a:cs typeface="Cambria Math"/>
                                  </a:rPr>
                                </m:ctrlPr>
                              </m:fPr>
                              <m:num>
                                <m:r>
                                  <a:rPr lang="it-IT" sz="2600" b="0" i="1" smtClean="0">
                                    <a:solidFill>
                                      <a:srgbClr val="087F83"/>
                                    </a:solidFill>
                                    <a:latin typeface="Cambria Math" panose="02040503050406030204" pitchFamily="18" charset="0"/>
                                    <a:ea typeface="Cambria Math"/>
                                    <a:cs typeface="Cambria Math"/>
                                  </a:rPr>
                                  <m:t>1</m:t>
                                </m:r>
                              </m:num>
                              <m:den>
                                <m:func>
                                  <m:funcPr>
                                    <m:ctrlPr>
                                      <a:rPr lang="it-IT" sz="2600" b="0" i="0" smtClean="0">
                                        <a:solidFill>
                                          <a:srgbClr val="087F83"/>
                                        </a:solidFill>
                                        <a:latin typeface="Cambria Math" panose="02040503050406030204" pitchFamily="18" charset="0"/>
                                        <a:ea typeface="Cambria Math"/>
                                        <a:cs typeface="Cambria Math"/>
                                      </a:rPr>
                                    </m:ctrlPr>
                                  </m:funcPr>
                                  <m:fName>
                                    <m:r>
                                      <m:rPr>
                                        <m:sty m:val="p"/>
                                      </m:rPr>
                                      <a:rPr lang="it-IT" sz="2600" b="0" i="0" smtClean="0">
                                        <a:solidFill>
                                          <a:srgbClr val="087F83"/>
                                        </a:solidFill>
                                        <a:latin typeface="Cambria Math" panose="02040503050406030204" pitchFamily="18" charset="0"/>
                                        <a:ea typeface="Cambria Math"/>
                                        <a:cs typeface="Cambria Math"/>
                                      </a:rPr>
                                      <m:t>log</m:t>
                                    </m:r>
                                  </m:fName>
                                  <m:e>
                                    <m:d>
                                      <m:dPr>
                                        <m:ctrlPr>
                                          <a:rPr lang="it-IT" sz="2600" b="0" i="1" smtClean="0">
                                            <a:solidFill>
                                              <a:srgbClr val="087F83"/>
                                            </a:solidFill>
                                            <a:latin typeface="Cambria Math" panose="02040503050406030204" pitchFamily="18" charset="0"/>
                                            <a:ea typeface="Cambria Math"/>
                                          </a:rPr>
                                        </m:ctrlPr>
                                      </m:dPr>
                                      <m:e>
                                        <m:r>
                                          <a:rPr lang="it-IT" sz="2600" b="0" i="1" smtClean="0">
                                            <a:solidFill>
                                              <a:srgbClr val="087F83"/>
                                            </a:solidFill>
                                            <a:latin typeface="Cambria Math" panose="02040503050406030204" pitchFamily="18" charset="0"/>
                                            <a:ea typeface="Cambria Math"/>
                                          </a:rPr>
                                          <m:t>2</m:t>
                                        </m:r>
                                      </m:e>
                                    </m:d>
                                  </m:e>
                                </m:func>
                              </m:den>
                            </m:f>
                            <m:nary>
                              <m:naryPr>
                                <m:chr m:val="∑"/>
                                <m:limLoc m:val="undOvr"/>
                                <m:ctrlPr>
                                  <a:rPr lang="en-GB" sz="2600">
                                    <a:solidFill>
                                      <a:srgbClr val="087F83"/>
                                    </a:solidFill>
                                    <a:latin typeface="Cambria Math"/>
                                    <a:ea typeface="Cambria Math"/>
                                    <a:cs typeface="Cambria Math"/>
                                  </a:rPr>
                                </m:ctrlPr>
                              </m:naryPr>
                              <m:sub>
                                <m:r>
                                  <a:rPr lang="en-GB" sz="2600">
                                    <a:solidFill>
                                      <a:srgbClr val="087F83"/>
                                    </a:solidFill>
                                    <a:latin typeface="Cambria Math"/>
                                    <a:ea typeface="Cambria Math"/>
                                    <a:cs typeface="Cambria Math"/>
                                  </a:rPr>
                                  <m:t>𝑖</m:t>
                                </m:r>
                                <m:r>
                                  <a:rPr lang="en-GB" sz="2600">
                                    <a:solidFill>
                                      <a:srgbClr val="087F83"/>
                                    </a:solidFill>
                                    <a:latin typeface="Cambria Math"/>
                                    <a:ea typeface="Cambria Math"/>
                                    <a:cs typeface="Cambria Math"/>
                                  </a:rPr>
                                  <m:t>=1</m:t>
                                </m:r>
                              </m:sub>
                              <m:sup>
                                <m:r>
                                  <a:rPr lang="en-GB" sz="2600">
                                    <a:solidFill>
                                      <a:srgbClr val="087F83"/>
                                    </a:solidFill>
                                    <a:latin typeface="Cambria Math"/>
                                    <a:ea typeface="Cambria Math"/>
                                    <a:cs typeface="Cambria Math"/>
                                  </a:rPr>
                                  <m:t>𝑁</m:t>
                                </m:r>
                              </m:sup>
                              <m:e>
                                <m:sSub>
                                  <m:sSubPr>
                                    <m:ctrlPr>
                                      <a:rPr lang="en-GB" sz="2800">
                                        <a:solidFill>
                                          <a:srgbClr val="087F83"/>
                                        </a:solidFill>
                                        <a:latin typeface="Cambria Math"/>
                                        <a:ea typeface="Cambria Math"/>
                                        <a:cs typeface="Cambria Math"/>
                                      </a:rPr>
                                    </m:ctrlPr>
                                  </m:sSubPr>
                                  <m:e>
                                    <m:r>
                                      <m:rPr>
                                        <m:sty m:val="p"/>
                                      </m:rPr>
                                      <a:rPr lang="en-GB" sz="2800">
                                        <a:solidFill>
                                          <a:srgbClr val="087F83"/>
                                        </a:solidFill>
                                        <a:latin typeface="Cambria Math"/>
                                        <a:ea typeface="Cambria Math"/>
                                        <a:cs typeface="Cambria Math"/>
                                      </a:rPr>
                                      <m:t>ℓ</m:t>
                                    </m:r>
                                  </m:e>
                                  <m:sub>
                                    <m:r>
                                      <m:rPr>
                                        <m:sty m:val="p"/>
                                      </m:rPr>
                                      <a:rPr lang="en-GB" sz="2800">
                                        <a:solidFill>
                                          <a:srgbClr val="087F83"/>
                                        </a:solidFill>
                                        <a:latin typeface="Cambria Math"/>
                                        <a:ea typeface="Cambria Math"/>
                                        <a:cs typeface="Cambria Math"/>
                                      </a:rPr>
                                      <m:t>log</m:t>
                                    </m:r>
                                  </m:sub>
                                </m:sSub>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𝑝</m:t>
                                        </m:r>
                                      </m:e>
                                      <m:sub>
                                        <m:r>
                                          <a:rPr lang="en-GB" sz="2800">
                                            <a:solidFill>
                                              <a:srgbClr val="087F83"/>
                                            </a:solidFill>
                                            <a:latin typeface="Cambria Math"/>
                                            <a:ea typeface="Cambria Math"/>
                                            <a:cs typeface="Cambria Math"/>
                                          </a:rPr>
                                          <m:t>𝛉</m:t>
                                        </m:r>
                                      </m:sub>
                                    </m:sSub>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𝐱</m:t>
                                            </m:r>
                                          </m:e>
                                          <m:sub>
                                            <m:r>
                                              <a:rPr lang="en-GB" sz="2800">
                                                <a:solidFill>
                                                  <a:srgbClr val="087F83"/>
                                                </a:solidFill>
                                                <a:latin typeface="Cambria Math"/>
                                                <a:ea typeface="Cambria Math"/>
                                                <a:cs typeface="Cambria Math"/>
                                              </a:rPr>
                                              <m:t>𝑖</m:t>
                                            </m:r>
                                          </m:sub>
                                        </m:sSub>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𝑦</m:t>
                                        </m:r>
                                      </m:e>
                                      <m:sub>
                                        <m:r>
                                          <a:rPr lang="en-GB" sz="2800">
                                            <a:solidFill>
                                              <a:srgbClr val="087F83"/>
                                            </a:solidFill>
                                            <a:latin typeface="Cambria Math"/>
                                            <a:ea typeface="Cambria Math"/>
                                            <a:cs typeface="Cambria Math"/>
                                          </a:rPr>
                                          <m:t>𝑖</m:t>
                                        </m:r>
                                      </m:sub>
                                    </m:sSub>
                                  </m:e>
                                </m:d>
                              </m:e>
                            </m:nary>
                            <m:r>
                              <a:rPr lang="en-GB" sz="2600">
                                <a:solidFill>
                                  <a:srgbClr val="087F83"/>
                                </a:solidFill>
                                <a:latin typeface="Cambria Math"/>
                                <a:ea typeface="Cambria Math"/>
                                <a:cs typeface="Cambria Math"/>
                              </a:rPr>
                              <m:t>=</m:t>
                            </m:r>
                            <m:f>
                              <m:fPr>
                                <m:ctrlPr>
                                  <a:rPr lang="it-IT" sz="2600" i="1">
                                    <a:solidFill>
                                      <a:srgbClr val="087F83"/>
                                    </a:solidFill>
                                    <a:latin typeface="Cambria Math" panose="02040503050406030204" pitchFamily="18" charset="0"/>
                                    <a:ea typeface="Cambria Math"/>
                                    <a:cs typeface="Cambria Math"/>
                                  </a:rPr>
                                </m:ctrlPr>
                              </m:fPr>
                              <m:num>
                                <m:r>
                                  <a:rPr lang="it-IT" sz="2600" i="1">
                                    <a:solidFill>
                                      <a:srgbClr val="087F83"/>
                                    </a:solidFill>
                                    <a:latin typeface="Cambria Math" panose="02040503050406030204" pitchFamily="18" charset="0"/>
                                    <a:ea typeface="Cambria Math"/>
                                    <a:cs typeface="Cambria Math"/>
                                  </a:rPr>
                                  <m:t>1</m:t>
                                </m:r>
                              </m:num>
                              <m:den>
                                <m:func>
                                  <m:funcPr>
                                    <m:ctrlPr>
                                      <a:rPr lang="it-IT" sz="2600">
                                        <a:solidFill>
                                          <a:srgbClr val="087F83"/>
                                        </a:solidFill>
                                        <a:latin typeface="Cambria Math" panose="02040503050406030204" pitchFamily="18" charset="0"/>
                                        <a:ea typeface="Cambria Math"/>
                                        <a:cs typeface="Cambria Math"/>
                                      </a:rPr>
                                    </m:ctrlPr>
                                  </m:funcPr>
                                  <m:fName>
                                    <m:r>
                                      <m:rPr>
                                        <m:sty m:val="p"/>
                                      </m:rPr>
                                      <a:rPr lang="it-IT" sz="2600">
                                        <a:solidFill>
                                          <a:srgbClr val="087F83"/>
                                        </a:solidFill>
                                        <a:latin typeface="Cambria Math" panose="02040503050406030204" pitchFamily="18" charset="0"/>
                                        <a:ea typeface="Cambria Math"/>
                                        <a:cs typeface="Cambria Math"/>
                                      </a:rPr>
                                      <m:t>log</m:t>
                                    </m:r>
                                  </m:fName>
                                  <m:e>
                                    <m:d>
                                      <m:dPr>
                                        <m:ctrlPr>
                                          <a:rPr lang="it-IT" sz="2600" i="1">
                                            <a:solidFill>
                                              <a:srgbClr val="087F83"/>
                                            </a:solidFill>
                                            <a:latin typeface="Cambria Math" panose="02040503050406030204" pitchFamily="18" charset="0"/>
                                            <a:ea typeface="Cambria Math"/>
                                          </a:rPr>
                                        </m:ctrlPr>
                                      </m:dPr>
                                      <m:e>
                                        <m:r>
                                          <a:rPr lang="it-IT" sz="2600" i="1">
                                            <a:solidFill>
                                              <a:srgbClr val="087F83"/>
                                            </a:solidFill>
                                            <a:latin typeface="Cambria Math" panose="02040503050406030204" pitchFamily="18" charset="0"/>
                                            <a:ea typeface="Cambria Math"/>
                                          </a:rPr>
                                          <m:t>2</m:t>
                                        </m:r>
                                      </m:e>
                                    </m:d>
                                  </m:e>
                                </m:func>
                              </m:den>
                            </m:f>
                            <m:r>
                              <a:rPr lang="it-IT" sz="2600" b="0" i="1" smtClean="0">
                                <a:solidFill>
                                  <a:srgbClr val="087F83"/>
                                </a:solidFill>
                                <a:latin typeface="Cambria Math" panose="02040503050406030204" pitchFamily="18" charset="0"/>
                                <a:ea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ℒ</m:t>
                                </m:r>
                              </m:e>
                              <m:sub>
                                <m:r>
                                  <m:rPr>
                                    <m:sty m:val="p"/>
                                  </m:rPr>
                                  <a:rPr lang="en-GB" sz="2600">
                                    <a:solidFill>
                                      <a:srgbClr val="087F83"/>
                                    </a:solidFill>
                                    <a:latin typeface="Cambria Math"/>
                                    <a:ea typeface="Cambria Math"/>
                                    <a:cs typeface="Cambria Math"/>
                                  </a:rPr>
                                  <m:t>log</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𝛉</m:t>
                                </m:r>
                              </m:e>
                            </m:d>
                          </m:e>
                        </m:mr>
                      </m:m>
                    </m:oMath>
                  </m:oMathPara>
                </a14:m>
                <a:endParaRPr lang="en-GB" sz="2600" dirty="0"/>
              </a:p>
            </p:txBody>
          </p:sp>
        </mc:Choice>
        <mc:Fallback>
          <p:sp>
            <p:nvSpPr>
              <p:cNvPr id="5" name="step_0_equation_0" descr="\begin{aligned}\mathcal E(\boldsymbol\theta)=\sum_{i=1}^N\ell_{0,1}\bigl(h_{p_{\boldsymbol\theta}}(\boldsymbol x_i),y_i\bigr)\\=\sum_{i=1}^N\ell_{0,1}\bigl(\operatorname{step}(f_{\boldsymbol\theta}(\boldsymbol x_i)),y_i\bigr)\\\le\sum_{i=1}^N\frac{\ell_{\log}\bigl(\sigma(f_{\boldsymbol\theta}(\boldsymbol x_i)),y_i\bigr)}{\log 2}=\frac{\mathcal L_{\log}(\boldsymbol\theta)}{\log 2}\end{aligned}">
                <a:extLst>
                  <a:ext uri="{FF2B5EF4-FFF2-40B4-BE49-F238E27FC236}">
                    <a16:creationId xmlns:a16="http://schemas.microsoft.com/office/drawing/2014/main" id="{6425B1B0-AA0C-43CF-AE6C-DFE9E7B4F4F5}"/>
                  </a:ext>
                </a:extLst>
              </p:cNvPr>
              <p:cNvSpPr>
                <a:spLocks noGrp="1" noRot="1" noChangeAspect="1" noMove="1" noResize="1" noEditPoints="1" noAdjustHandles="1" noChangeArrowheads="1" noChangeShapeType="1" noTextEdit="1"/>
              </p:cNvSpPr>
              <p:nvPr/>
            </p:nvSpPr>
            <p:spPr>
              <a:xfrm>
                <a:off x="762000" y="2009775"/>
                <a:ext cx="10668000" cy="3381375"/>
              </a:xfrm>
              <a:prstGeom prst="rect">
                <a:avLst/>
              </a:prstGeom>
              <a:blipFill>
                <a:blip r:embed="rId3"/>
                <a:stretch>
                  <a:fillRect b="-1264"/>
                </a:stretch>
              </a:blipFill>
              <a:ln w="0">
                <a:noFill/>
              </a:ln>
            </p:spPr>
            <p:txBody>
              <a:bodyPr/>
              <a:lstStyle/>
              <a:p>
                <a:r>
                  <a:rPr lang="it-IT">
                    <a:noFill/>
                  </a:rPr>
                  <a:t> </a:t>
                </a:r>
              </a:p>
            </p:txBody>
          </p:sp>
        </mc:Fallback>
      </mc:AlternateContent>
      <p:sp>
        <p:nvSpPr>
          <p:cNvPr id="7" name="CasellaDiTesto 6">
            <a:extLst>
              <a:ext uri="{FF2B5EF4-FFF2-40B4-BE49-F238E27FC236}">
                <a16:creationId xmlns:a16="http://schemas.microsoft.com/office/drawing/2014/main" id="{25C78583-33C3-AD6D-7757-35ED2C8EF46B}"/>
              </a:ext>
            </a:extLst>
          </p:cNvPr>
          <p:cNvSpPr txBox="1"/>
          <p:nvPr/>
        </p:nvSpPr>
        <p:spPr>
          <a:xfrm>
            <a:off x="3048762" y="5562313"/>
            <a:ext cx="6094476" cy="781624"/>
          </a:xfrm>
          <a:prstGeom prst="rect">
            <a:avLst/>
          </a:prstGeom>
          <a:noFill/>
        </p:spPr>
        <p:txBody>
          <a:bodyPr wrap="square">
            <a:spAutoFit/>
          </a:bodyPr>
          <a:lstStyle/>
          <a:p>
            <a:pPr algn="ctr">
              <a:lnSpc>
                <a:spcPct val="112000"/>
              </a:lnSpc>
              <a:buNone/>
              <a:defRPr sz="2100" b="0">
                <a:solidFill>
                  <a:srgbClr val="526276"/>
                </a:solidFill>
                <a:latin typeface="DejaVu Sans"/>
                <a:ea typeface="DejaVu Sans"/>
                <a:cs typeface="DejaVu Sans"/>
              </a:defRPr>
            </a:pPr>
            <a:r>
              <a:rPr lang="en-GB" sz="2100" b="0" dirty="0">
                <a:solidFill>
                  <a:srgbClr val="FF0000"/>
                </a:solidFill>
                <a:latin typeface="DejaVu Sans"/>
                <a:ea typeface="DejaVu Sans"/>
                <a:cs typeface="DejaVu Sans"/>
              </a:rPr>
              <a:t>A contro</a:t>
            </a:r>
            <a:r>
              <a:rPr lang="en-GB" sz="2100" dirty="0">
                <a:solidFill>
                  <a:srgbClr val="FF0000"/>
                </a:solidFill>
                <a:latin typeface="DejaVu Sans"/>
                <a:ea typeface="DejaVu Sans"/>
                <a:cs typeface="DejaVu Sans"/>
              </a:rPr>
              <a:t>l over the empirical logistic loss gives a control on the number of mistakes</a:t>
            </a:r>
            <a:endParaRPr lang="en-GB" sz="2100" b="0" dirty="0">
              <a:solidFill>
                <a:srgbClr val="FF0000"/>
              </a:solidFill>
              <a:latin typeface="DejaVu Sans"/>
              <a:ea typeface="DejaVu Sans"/>
              <a:cs typeface="DejaVu Sans"/>
            </a:endParaRPr>
          </a:p>
        </p:txBody>
      </p:sp>
    </p:spTree>
    <p:extLst>
      <p:ext uri="{BB962C8B-B14F-4D97-AF65-F5344CB8AC3E}">
        <p14:creationId xmlns:p14="http://schemas.microsoft.com/office/powerpoint/2010/main" val="1847707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41D7558D-557B-4EE6-99D2-CD5D588291F1}"/>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l">
              <a:lnSpc>
                <a:spcPct val="112000"/>
              </a:lnSpc>
              <a:buNone/>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Today's lecture</a:t>
            </a:r>
          </a:p>
        </p:txBody>
      </p:sp>
      <p:sp>
        <p:nvSpPr>
          <p:cNvPr id="2" name="footer_course">
            <a:extLst>
              <a:ext uri="{FF2B5EF4-FFF2-40B4-BE49-F238E27FC236}">
                <a16:creationId xmlns:a16="http://schemas.microsoft.com/office/drawing/2014/main" id="{0F6F35AB-3114-41F0-ACA8-2B36A4868D1F}"/>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3" name="footer_number">
            <a:extLst>
              <a:ext uri="{FF2B5EF4-FFF2-40B4-BE49-F238E27FC236}">
                <a16:creationId xmlns:a16="http://schemas.microsoft.com/office/drawing/2014/main" id="{44422618-3BC9-426C-AC4F-CBCD314C92EB}"/>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20</a:t>
            </a:r>
          </a:p>
        </p:txBody>
      </p:sp>
      <p:sp>
        <p:nvSpPr>
          <p:cNvPr id="4" name="agenda_0">
            <a:extLst>
              <a:ext uri="{FF2B5EF4-FFF2-40B4-BE49-F238E27FC236}">
                <a16:creationId xmlns:a16="http://schemas.microsoft.com/office/drawing/2014/main" id="{D028DA07-CFF2-4959-8F9C-021737A0C0B0}"/>
              </a:ext>
            </a:extLst>
          </p:cNvPr>
          <p:cNvSpPr>
            <a:spLocks noGrp="1"/>
          </p:cNvSpPr>
          <p:nvPr/>
        </p:nvSpPr>
        <p:spPr>
          <a:xfrm>
            <a:off x="1038225" y="21526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Binary classification</a:t>
            </a:r>
          </a:p>
        </p:txBody>
      </p:sp>
      <p:sp>
        <p:nvSpPr>
          <p:cNvPr id="5" name="agenda_1">
            <a:extLst>
              <a:ext uri="{FF2B5EF4-FFF2-40B4-BE49-F238E27FC236}">
                <a16:creationId xmlns:a16="http://schemas.microsoft.com/office/drawing/2014/main" id="{FE5965A2-0838-47BE-88D9-4D7C1C2CC515}"/>
              </a:ext>
            </a:extLst>
          </p:cNvPr>
          <p:cNvSpPr>
            <a:spLocks noGrp="1"/>
          </p:cNvSpPr>
          <p:nvPr/>
        </p:nvSpPr>
        <p:spPr>
          <a:xfrm>
            <a:off x="1038225" y="31051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Classification error and logistic loss</a:t>
            </a:r>
          </a:p>
        </p:txBody>
      </p:sp>
      <p:sp>
        <p:nvSpPr>
          <p:cNvPr id="6" name="agenda_2">
            <a:extLst>
              <a:ext uri="{FF2B5EF4-FFF2-40B4-BE49-F238E27FC236}">
                <a16:creationId xmlns:a16="http://schemas.microsoft.com/office/drawing/2014/main" id="{F70FD5AE-E69B-4365-AAAF-F2872D5CFB17}"/>
              </a:ext>
            </a:extLst>
          </p:cNvPr>
          <p:cNvSpPr>
            <a:spLocks noGrp="1"/>
          </p:cNvSpPr>
          <p:nvPr/>
        </p:nvSpPr>
        <p:spPr>
          <a:xfrm>
            <a:off x="1038225" y="4057650"/>
            <a:ext cx="10144125" cy="609600"/>
          </a:xfrm>
          <a:prstGeom prst="rect">
            <a:avLst/>
          </a:prstGeom>
          <a:noFill/>
          <a:ln w="0">
            <a:noFill/>
          </a:ln>
        </p:spPr>
        <p:txBody>
          <a:bodyPr wrap="square" lIns="0" tIns="0" rIns="0" bIns="0" anchor="ctr">
            <a:noAutofit/>
          </a:bodyPr>
          <a:lstStyle/>
          <a:p>
            <a:pPr algn="l">
              <a:lnSpc>
                <a:spcPct val="112000"/>
              </a:lnSpc>
              <a:buNone/>
              <a:defRPr sz="2775" b="1">
                <a:solidFill>
                  <a:srgbClr val="087F83"/>
                </a:solidFill>
                <a:latin typeface="DejaVu Sans"/>
                <a:ea typeface="DejaVu Sans"/>
                <a:cs typeface="DejaVu Sans"/>
              </a:defRPr>
            </a:pPr>
            <a:r>
              <a:rPr sz="2775" b="1">
                <a:solidFill>
                  <a:srgbClr val="087F83"/>
                </a:solidFill>
                <a:latin typeface="DejaVu Sans"/>
                <a:ea typeface="DejaVu Sans"/>
                <a:cs typeface="DejaVu Sans"/>
              </a:rPr>
              <a:t>Gradient descent</a:t>
            </a:r>
          </a:p>
        </p:txBody>
      </p:sp>
      <p:sp>
        <p:nvSpPr>
          <p:cNvPr id="7" name="agenda_3">
            <a:extLst>
              <a:ext uri="{FF2B5EF4-FFF2-40B4-BE49-F238E27FC236}">
                <a16:creationId xmlns:a16="http://schemas.microsoft.com/office/drawing/2014/main" id="{644E5EF4-248B-44DC-9940-1363ED5BE2CD}"/>
              </a:ext>
            </a:extLst>
          </p:cNvPr>
          <p:cNvSpPr>
            <a:spLocks noGrp="1"/>
          </p:cNvSpPr>
          <p:nvPr/>
        </p:nvSpPr>
        <p:spPr>
          <a:xfrm>
            <a:off x="1038225" y="50101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More than two classes</a:t>
            </a:r>
          </a:p>
        </p:txBody>
      </p:sp>
    </p:spTree>
    <p:extLst>
      <p:ext uri="{BB962C8B-B14F-4D97-AF65-F5344CB8AC3E}">
        <p14:creationId xmlns:p14="http://schemas.microsoft.com/office/powerpoint/2010/main" val="631502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35A1BC58-C50C-4FBA-A397-9497C866AF3A}"/>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The design matrix and the parameters</a:t>
            </a:r>
          </a:p>
        </p:txBody>
      </p:sp>
      <p:sp>
        <p:nvSpPr>
          <p:cNvPr id="2" name="lead">
            <a:extLst>
              <a:ext uri="{FF2B5EF4-FFF2-40B4-BE49-F238E27FC236}">
                <a16:creationId xmlns:a16="http://schemas.microsoft.com/office/drawing/2014/main" id="{9596DDDE-5F2D-4C62-9B7A-ADC159B6D7B3}"/>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As in Lecture 2, a first column of ones includes the intercept.</a:t>
            </a:r>
            <a:endParaRPr lang="it-IT" sz="2100" b="0" dirty="0">
              <a:solidFill>
                <a:srgbClr val="526276"/>
              </a:solidFill>
              <a:latin typeface="DejaVu Sans"/>
              <a:ea typeface="DejaVu Sans"/>
              <a:cs typeface="DejaVu Sans"/>
            </a:endParaRPr>
          </a:p>
        </p:txBody>
      </p:sp>
      <p:sp>
        <p:nvSpPr>
          <p:cNvPr id="3" name="footer_course">
            <a:extLst>
              <a:ext uri="{FF2B5EF4-FFF2-40B4-BE49-F238E27FC236}">
                <a16:creationId xmlns:a16="http://schemas.microsoft.com/office/drawing/2014/main" id="{392E9C83-7603-42C4-84A5-E0EB61B80727}"/>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1D6F9DD5-245F-4763-A571-5B93FB983BBD}"/>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21</a:t>
            </a:r>
          </a:p>
        </p:txBody>
      </p:sp>
      <mc:AlternateContent xmlns:mc="http://schemas.openxmlformats.org/markup-compatibility/2006" xmlns:a14="http://schemas.microsoft.com/office/drawing/2010/main">
        <mc:Choice Requires="a14">
          <p:sp>
            <p:nvSpPr>
              <p:cNvPr id="10" name="step_0_design_matrix" descr="\boldsymbol X=\begin{pmatrix}1&amp;x_{11}&amp;\cdots&amp;x_{1d}\\\vdots&amp;\vdots&amp;&amp;\vdots\\1&amp;x_{N1}&amp;\cdots&amp;x_{Nd}\end{pmatrix}">
                <a:extLst>
                  <a:ext uri="{FF2B5EF4-FFF2-40B4-BE49-F238E27FC236}">
                    <a16:creationId xmlns:a16="http://schemas.microsoft.com/office/drawing/2014/main" id="{AA96C762-0560-4679-A2D5-4288AEF1B610}"/>
                  </a:ext>
                </a:extLst>
              </p:cNvPr>
              <p:cNvSpPr>
                <a:spLocks noGrp="1"/>
              </p:cNvSpPr>
              <p:nvPr/>
            </p:nvSpPr>
            <p:spPr>
              <a:xfrm>
                <a:off x="952500" y="1952625"/>
                <a:ext cx="6191250" cy="2143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a:solidFill>
                            <a:srgbClr val="087F83"/>
                          </a:solidFill>
                          <a:latin typeface="Cambria Math"/>
                          <a:ea typeface="Cambria Math"/>
                          <a:cs typeface="Cambria Math"/>
                        </a:rPr>
                        <m:t>𝐗</m:t>
                      </m:r>
                      <m:r>
                        <a:rPr lang="en-GB" sz="2900">
                          <a:solidFill>
                            <a:srgbClr val="087F83"/>
                          </a:solidFill>
                          <a:latin typeface="Cambria Math"/>
                          <a:ea typeface="Cambria Math"/>
                          <a:cs typeface="Cambria Math"/>
                        </a:rPr>
                        <m:t>=</m:t>
                      </m:r>
                      <m:d>
                        <m:dPr>
                          <m:ctrlPr>
                            <a:rPr lang="en-GB" sz="2900" i="1">
                              <a:solidFill>
                                <a:srgbClr val="087F83"/>
                              </a:solidFill>
                              <a:latin typeface="Cambria Math" panose="02040503050406030204" pitchFamily="18" charset="0"/>
                              <a:ea typeface="Cambria Math"/>
                              <a:cs typeface="Cambria Math"/>
                            </a:rPr>
                          </m:ctrlPr>
                        </m:dPr>
                        <m:e>
                          <m:m>
                            <m:mPr>
                              <m:mcs>
                                <m:mc>
                                  <m:mcPr>
                                    <m:count m:val="4"/>
                                    <m:mcJc m:val="center"/>
                                  </m:mcPr>
                                </m:mc>
                              </m:mcs>
                              <m:ctrlPr>
                                <a:rPr lang="en-GB" sz="2900" i="1">
                                  <a:solidFill>
                                    <a:srgbClr val="087F83"/>
                                  </a:solidFill>
                                  <a:latin typeface="Cambria Math" panose="02040503050406030204" pitchFamily="18" charset="0"/>
                                  <a:ea typeface="Cambria Math"/>
                                  <a:cs typeface="Cambria Math"/>
                                </a:rPr>
                              </m:ctrlPr>
                            </m:mPr>
                            <m:mr>
                              <m:e>
                                <m:r>
                                  <a:rPr lang="en-GB" sz="2900">
                                    <a:solidFill>
                                      <a:srgbClr val="087F83"/>
                                    </a:solidFill>
                                    <a:latin typeface="Cambria Math"/>
                                    <a:ea typeface="Cambria Math"/>
                                    <a:cs typeface="Cambria Math"/>
                                  </a:rPr>
                                  <m:t>1</m:t>
                                </m:r>
                              </m:e>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𝑥</m:t>
                                    </m:r>
                                  </m:e>
                                  <m:sub>
                                    <m:r>
                                      <a:rPr lang="en-GB" sz="2900">
                                        <a:solidFill>
                                          <a:srgbClr val="087F83"/>
                                        </a:solidFill>
                                        <a:latin typeface="Cambria Math"/>
                                        <a:ea typeface="Cambria Math"/>
                                        <a:cs typeface="Cambria Math"/>
                                      </a:rPr>
                                      <m:t>11</m:t>
                                    </m:r>
                                  </m:sub>
                                </m:sSub>
                              </m:e>
                              <m:e>
                                <m:r>
                                  <a:rPr lang="en-GB" sz="2900">
                                    <a:solidFill>
                                      <a:srgbClr val="087F83"/>
                                    </a:solidFill>
                                    <a:latin typeface="Cambria Math"/>
                                    <a:ea typeface="Cambria Math"/>
                                    <a:cs typeface="Cambria Math"/>
                                  </a:rPr>
                                  <m:t>⋯</m:t>
                                </m:r>
                              </m:e>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𝑥</m:t>
                                    </m:r>
                                  </m:e>
                                  <m:sub>
                                    <m:r>
                                      <a:rPr lang="en-GB" sz="2900">
                                        <a:solidFill>
                                          <a:srgbClr val="087F83"/>
                                        </a:solidFill>
                                        <a:latin typeface="Cambria Math"/>
                                        <a:ea typeface="Cambria Math"/>
                                        <a:cs typeface="Cambria Math"/>
                                      </a:rPr>
                                      <m:t>1</m:t>
                                    </m:r>
                                    <m:r>
                                      <a:rPr lang="en-GB" sz="2900">
                                        <a:solidFill>
                                          <a:srgbClr val="087F83"/>
                                        </a:solidFill>
                                        <a:latin typeface="Cambria Math"/>
                                        <a:ea typeface="Cambria Math"/>
                                        <a:cs typeface="Cambria Math"/>
                                      </a:rPr>
                                      <m:t>𝑑</m:t>
                                    </m:r>
                                  </m:sub>
                                </m:sSub>
                              </m:e>
                            </m:mr>
                            <m:mr>
                              <m:e>
                                <m:r>
                                  <a:rPr lang="en-GB" sz="2900">
                                    <a:solidFill>
                                      <a:srgbClr val="087F83"/>
                                    </a:solidFill>
                                    <a:latin typeface="Cambria Math"/>
                                    <a:ea typeface="Cambria Math"/>
                                    <a:cs typeface="Cambria Math"/>
                                  </a:rPr>
                                  <m:t>⋮</m:t>
                                </m:r>
                              </m:e>
                              <m:e>
                                <m:r>
                                  <a:rPr lang="en-GB" sz="2900">
                                    <a:solidFill>
                                      <a:srgbClr val="087F83"/>
                                    </a:solidFill>
                                    <a:latin typeface="Cambria Math"/>
                                    <a:ea typeface="Cambria Math"/>
                                    <a:cs typeface="Cambria Math"/>
                                  </a:rPr>
                                  <m:t>⋮</m:t>
                                </m:r>
                              </m:e>
                              <m:e/>
                              <m:e>
                                <m:r>
                                  <a:rPr lang="en-GB" sz="2900">
                                    <a:solidFill>
                                      <a:srgbClr val="087F83"/>
                                    </a:solidFill>
                                    <a:latin typeface="Cambria Math"/>
                                    <a:ea typeface="Cambria Math"/>
                                    <a:cs typeface="Cambria Math"/>
                                  </a:rPr>
                                  <m:t>⋮</m:t>
                                </m:r>
                              </m:e>
                            </m:mr>
                            <m:mr>
                              <m:e>
                                <m:r>
                                  <a:rPr lang="en-GB" sz="2900">
                                    <a:solidFill>
                                      <a:srgbClr val="087F83"/>
                                    </a:solidFill>
                                    <a:latin typeface="Cambria Math"/>
                                    <a:ea typeface="Cambria Math"/>
                                    <a:cs typeface="Cambria Math"/>
                                  </a:rPr>
                                  <m:t>1</m:t>
                                </m:r>
                              </m:e>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𝑥</m:t>
                                    </m:r>
                                  </m:e>
                                  <m:sub>
                                    <m:r>
                                      <a:rPr lang="en-GB" sz="2900">
                                        <a:solidFill>
                                          <a:srgbClr val="087F83"/>
                                        </a:solidFill>
                                        <a:latin typeface="Cambria Math"/>
                                        <a:ea typeface="Cambria Math"/>
                                        <a:cs typeface="Cambria Math"/>
                                      </a:rPr>
                                      <m:t>𝑁</m:t>
                                    </m:r>
                                    <m:r>
                                      <a:rPr lang="en-GB" sz="2900">
                                        <a:solidFill>
                                          <a:srgbClr val="087F83"/>
                                        </a:solidFill>
                                        <a:latin typeface="Cambria Math"/>
                                        <a:ea typeface="Cambria Math"/>
                                        <a:cs typeface="Cambria Math"/>
                                      </a:rPr>
                                      <m:t>1</m:t>
                                    </m:r>
                                  </m:sub>
                                </m:sSub>
                              </m:e>
                              <m:e>
                                <m:r>
                                  <a:rPr lang="en-GB" sz="2900">
                                    <a:solidFill>
                                      <a:srgbClr val="087F83"/>
                                    </a:solidFill>
                                    <a:latin typeface="Cambria Math"/>
                                    <a:ea typeface="Cambria Math"/>
                                    <a:cs typeface="Cambria Math"/>
                                  </a:rPr>
                                  <m:t>⋯</m:t>
                                </m:r>
                              </m:e>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𝑥</m:t>
                                    </m:r>
                                  </m:e>
                                  <m:sub>
                                    <m:r>
                                      <a:rPr lang="en-GB" sz="2900">
                                        <a:solidFill>
                                          <a:srgbClr val="087F83"/>
                                        </a:solidFill>
                                        <a:latin typeface="Cambria Math"/>
                                        <a:ea typeface="Cambria Math"/>
                                        <a:cs typeface="Cambria Math"/>
                                      </a:rPr>
                                      <m:t>𝑁𝑑</m:t>
                                    </m:r>
                                  </m:sub>
                                </m:sSub>
                              </m:e>
                            </m:mr>
                          </m:m>
                        </m:e>
                      </m:d>
                    </m:oMath>
                  </m:oMathPara>
                </a14:m>
                <a:endParaRPr lang="en-GB" sz="2900" dirty="0"/>
              </a:p>
            </p:txBody>
          </p:sp>
        </mc:Choice>
        <mc:Fallback xmlns="">
          <p:sp>
            <p:nvSpPr>
              <p:cNvPr id="10" name="step_0_design_matrix" descr="\boldsymbol X=\begin{pmatrix}1&amp;x_{11}&amp;\cdots&amp;x_{1d}\\\vdots&amp;\vdots&amp;&amp;\vdots\\1&amp;x_{N1}&amp;\cdots&amp;x_{Nd}\end{pmatrix}">
                <a:extLst>
                  <a:ext uri="{FF2B5EF4-FFF2-40B4-BE49-F238E27FC236}">
                    <a16:creationId xmlns:a16="http://schemas.microsoft.com/office/drawing/2014/main" id="{AA96C762-0560-4679-A2D5-4288AEF1B610}"/>
                  </a:ext>
                </a:extLst>
              </p:cNvPr>
              <p:cNvSpPr>
                <a:spLocks noGrp="1" noRot="1" noChangeAspect="1" noMove="1" noResize="1" noEditPoints="1" noAdjustHandles="1" noChangeArrowheads="1" noChangeShapeType="1" noTextEdit="1"/>
              </p:cNvSpPr>
              <p:nvPr/>
            </p:nvSpPr>
            <p:spPr>
              <a:xfrm>
                <a:off x="952500" y="1952625"/>
                <a:ext cx="6191250" cy="2143125"/>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step_1_parameters" descr="\boldsymbol\theta=\begin{pmatrix}b\\w_1\\\vdots\\w_d\end{pmatrix}">
                <a:extLst>
                  <a:ext uri="{FF2B5EF4-FFF2-40B4-BE49-F238E27FC236}">
                    <a16:creationId xmlns:a16="http://schemas.microsoft.com/office/drawing/2014/main" id="{8359F74D-8932-4F7D-A29B-2867D2EB8515}"/>
                  </a:ext>
                </a:extLst>
              </p:cNvPr>
              <p:cNvSpPr>
                <a:spLocks noGrp="1"/>
              </p:cNvSpPr>
              <p:nvPr/>
            </p:nvSpPr>
            <p:spPr>
              <a:xfrm>
                <a:off x="7524750" y="1952625"/>
                <a:ext cx="3333750" cy="2143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a:solidFill>
                            <a:srgbClr val="087F83"/>
                          </a:solidFill>
                          <a:latin typeface="Cambria Math"/>
                          <a:ea typeface="Cambria Math"/>
                          <a:cs typeface="Cambria Math"/>
                        </a:rPr>
                        <m:t>𝛉</m:t>
                      </m:r>
                      <m:r>
                        <a:rPr lang="en-GB" sz="2900">
                          <a:solidFill>
                            <a:srgbClr val="087F83"/>
                          </a:solidFill>
                          <a:latin typeface="Cambria Math"/>
                          <a:ea typeface="Cambria Math"/>
                          <a:cs typeface="Cambria Math"/>
                        </a:rPr>
                        <m:t>=</m:t>
                      </m:r>
                      <m:d>
                        <m:dPr>
                          <m:ctrlPr>
                            <a:rPr lang="en-GB" sz="2900" i="1">
                              <a:solidFill>
                                <a:srgbClr val="087F83"/>
                              </a:solidFill>
                              <a:latin typeface="Cambria Math" panose="02040503050406030204" pitchFamily="18" charset="0"/>
                              <a:ea typeface="Cambria Math"/>
                              <a:cs typeface="Cambria Math"/>
                            </a:rPr>
                          </m:ctrlPr>
                        </m:dPr>
                        <m:e>
                          <m:m>
                            <m:mPr>
                              <m:mcs>
                                <m:mc>
                                  <m:mcPr>
                                    <m:count m:val="1"/>
                                    <m:mcJc m:val="center"/>
                                  </m:mcPr>
                                </m:mc>
                              </m:mcs>
                              <m:ctrlPr>
                                <a:rPr lang="en-GB" sz="2900" i="1">
                                  <a:solidFill>
                                    <a:srgbClr val="087F83"/>
                                  </a:solidFill>
                                  <a:latin typeface="Cambria Math" panose="02040503050406030204" pitchFamily="18" charset="0"/>
                                  <a:ea typeface="Cambria Math"/>
                                  <a:cs typeface="Cambria Math"/>
                                </a:rPr>
                              </m:ctrlPr>
                            </m:mPr>
                            <m:mr>
                              <m:e>
                                <m:r>
                                  <a:rPr lang="en-GB" sz="2900">
                                    <a:solidFill>
                                      <a:srgbClr val="087F83"/>
                                    </a:solidFill>
                                    <a:latin typeface="Cambria Math"/>
                                    <a:ea typeface="Cambria Math"/>
                                    <a:cs typeface="Cambria Math"/>
                                  </a:rPr>
                                  <m:t>𝑏</m:t>
                                </m:r>
                              </m:e>
                            </m:mr>
                            <m:m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𝑤</m:t>
                                    </m:r>
                                  </m:e>
                                  <m:sub>
                                    <m:r>
                                      <a:rPr lang="en-GB" sz="2900">
                                        <a:solidFill>
                                          <a:srgbClr val="087F83"/>
                                        </a:solidFill>
                                        <a:latin typeface="Cambria Math"/>
                                        <a:ea typeface="Cambria Math"/>
                                        <a:cs typeface="Cambria Math"/>
                                      </a:rPr>
                                      <m:t>1</m:t>
                                    </m:r>
                                  </m:sub>
                                </m:sSub>
                              </m:e>
                            </m:mr>
                            <m:mr>
                              <m:e>
                                <m:r>
                                  <a:rPr lang="en-GB" sz="2900">
                                    <a:solidFill>
                                      <a:srgbClr val="087F83"/>
                                    </a:solidFill>
                                    <a:latin typeface="Cambria Math"/>
                                    <a:ea typeface="Cambria Math"/>
                                    <a:cs typeface="Cambria Math"/>
                                  </a:rPr>
                                  <m:t>⋮</m:t>
                                </m:r>
                              </m:e>
                            </m:mr>
                            <m:m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𝑤</m:t>
                                    </m:r>
                                  </m:e>
                                  <m:sub>
                                    <m:r>
                                      <a:rPr lang="en-GB" sz="2900">
                                        <a:solidFill>
                                          <a:srgbClr val="087F83"/>
                                        </a:solidFill>
                                        <a:latin typeface="Cambria Math"/>
                                        <a:ea typeface="Cambria Math"/>
                                        <a:cs typeface="Cambria Math"/>
                                      </a:rPr>
                                      <m:t>𝑑</m:t>
                                    </m:r>
                                  </m:sub>
                                </m:sSub>
                              </m:e>
                            </m:mr>
                          </m:m>
                        </m:e>
                      </m:d>
                    </m:oMath>
                  </m:oMathPara>
                </a14:m>
                <a:endParaRPr lang="en-GB" sz="2900" dirty="0"/>
              </a:p>
            </p:txBody>
          </p:sp>
        </mc:Choice>
        <mc:Fallback xmlns="">
          <p:sp>
            <p:nvSpPr>
              <p:cNvPr id="11" name="step_1_parameters" descr="\boldsymbol\theta=\begin{pmatrix}b\\w_1\\\vdots\\w_d\end{pmatrix}">
                <a:extLst>
                  <a:ext uri="{FF2B5EF4-FFF2-40B4-BE49-F238E27FC236}">
                    <a16:creationId xmlns:a16="http://schemas.microsoft.com/office/drawing/2014/main" id="{8359F74D-8932-4F7D-A29B-2867D2EB8515}"/>
                  </a:ext>
                </a:extLst>
              </p:cNvPr>
              <p:cNvSpPr>
                <a:spLocks noGrp="1" noRot="1" noChangeAspect="1" noMove="1" noResize="1" noEditPoints="1" noAdjustHandles="1" noChangeArrowheads="1" noChangeShapeType="1" noTextEdit="1"/>
              </p:cNvSpPr>
              <p:nvPr/>
            </p:nvSpPr>
            <p:spPr>
              <a:xfrm>
                <a:off x="7524750" y="1952625"/>
                <a:ext cx="3333750" cy="214312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step_1_dimensions" descr="\boldsymbol X\in\mathbb R^{N\times(d+1)},\qquad\boldsymbol\theta\in\mathbb R^{(d+1)\times1}">
                <a:extLst>
                  <a:ext uri="{FF2B5EF4-FFF2-40B4-BE49-F238E27FC236}">
                    <a16:creationId xmlns:a16="http://schemas.microsoft.com/office/drawing/2014/main" id="{94C6C1BC-2FC5-4A66-9097-4E9DBB1C0C0C}"/>
                  </a:ext>
                </a:extLst>
              </p:cNvPr>
              <p:cNvSpPr>
                <a:spLocks noGrp="1"/>
              </p:cNvSpPr>
              <p:nvPr/>
            </p:nvSpPr>
            <p:spPr>
              <a:xfrm>
                <a:off x="723900" y="4286250"/>
                <a:ext cx="10744200" cy="571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087F83"/>
                          </a:solidFill>
                          <a:latin typeface="Cambria Math"/>
                          <a:ea typeface="Cambria Math"/>
                          <a:cs typeface="Cambria Math"/>
                        </a:rPr>
                        <m:t>𝐗</m:t>
                      </m:r>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𝑁</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𝑑</m:t>
                          </m:r>
                          <m:r>
                            <a:rPr lang="en-GB" sz="2500">
                              <a:solidFill>
                                <a:srgbClr val="087F83"/>
                              </a:solidFill>
                              <a:latin typeface="Cambria Math"/>
                              <a:ea typeface="Cambria Math"/>
                              <a:cs typeface="Cambria Math"/>
                            </a:rPr>
                            <m:t>+1)</m:t>
                          </m:r>
                        </m:sup>
                      </m:sSup>
                      <m:r>
                        <a:rPr lang="en-GB" sz="2500">
                          <a:solidFill>
                            <a:srgbClr val="087F83"/>
                          </a:solidFill>
                          <a:latin typeface="Cambria Math"/>
                          <a:ea typeface="Cambria Math"/>
                          <a:cs typeface="Cambria Math"/>
                        </a:rPr>
                        <m:t>,  </m:t>
                      </m:r>
                      <m:r>
                        <a:rPr lang="en-GB" sz="2500">
                          <a:solidFill>
                            <a:srgbClr val="087F83"/>
                          </a:solidFill>
                          <a:latin typeface="Cambria Math"/>
                          <a:ea typeface="Cambria Math"/>
                          <a:cs typeface="Cambria Math"/>
                        </a:rPr>
                        <m:t>𝛉</m:t>
                      </m:r>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𝑑</m:t>
                          </m:r>
                          <m:r>
                            <a:rPr lang="en-GB" sz="2500">
                              <a:solidFill>
                                <a:srgbClr val="087F83"/>
                              </a:solidFill>
                              <a:latin typeface="Cambria Math"/>
                              <a:ea typeface="Cambria Math"/>
                              <a:cs typeface="Cambria Math"/>
                            </a:rPr>
                            <m:t>+1)×1</m:t>
                          </m:r>
                        </m:sup>
                      </m:sSup>
                    </m:oMath>
                  </m:oMathPara>
                </a14:m>
                <a:endParaRPr lang="en-GB" sz="2500" dirty="0"/>
              </a:p>
            </p:txBody>
          </p:sp>
        </mc:Choice>
        <mc:Fallback xmlns="">
          <p:sp>
            <p:nvSpPr>
              <p:cNvPr id="12" name="step_1_dimensions" descr="\boldsymbol X\in\mathbb R^{N\times(d+1)},\qquad\boldsymbol\theta\in\mathbb R^{(d+1)\times1}">
                <a:extLst>
                  <a:ext uri="{FF2B5EF4-FFF2-40B4-BE49-F238E27FC236}">
                    <a16:creationId xmlns:a16="http://schemas.microsoft.com/office/drawing/2014/main" id="{94C6C1BC-2FC5-4A66-9097-4E9DBB1C0C0C}"/>
                  </a:ext>
                </a:extLst>
              </p:cNvPr>
              <p:cNvSpPr>
                <a:spLocks noGrp="1" noRot="1" noChangeAspect="1" noMove="1" noResize="1" noEditPoints="1" noAdjustHandles="1" noChangeArrowheads="1" noChangeShapeType="1" noTextEdit="1"/>
              </p:cNvSpPr>
              <p:nvPr/>
            </p:nvSpPr>
            <p:spPr>
              <a:xfrm>
                <a:off x="723900" y="4286250"/>
                <a:ext cx="10744200" cy="5715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step_2_parameter_coordinates" descr="\theta_1=b,\qquad\theta_{k+1}=w_k\quad(k=1,\ldots,d)">
                <a:extLst>
                  <a:ext uri="{FF2B5EF4-FFF2-40B4-BE49-F238E27FC236}">
                    <a16:creationId xmlns:a16="http://schemas.microsoft.com/office/drawing/2014/main" id="{F4C0918D-825C-4BB0-B1A5-AF056E36B884}"/>
                  </a:ext>
                </a:extLst>
              </p:cNvPr>
              <p:cNvSpPr>
                <a:spLocks noGrp="1"/>
              </p:cNvSpPr>
              <p:nvPr/>
            </p:nvSpPr>
            <p:spPr>
              <a:xfrm>
                <a:off x="723900" y="5219700"/>
                <a:ext cx="10744200" cy="6096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326CB2"/>
                              </a:solidFill>
                              <a:latin typeface="Cambria Math"/>
                              <a:ea typeface="Cambria Math"/>
                              <a:cs typeface="Cambria Math"/>
                            </a:rPr>
                          </m:ctrlPr>
                        </m:sSubPr>
                        <m:e>
                          <m:r>
                            <a:rPr lang="en-GB" sz="2800">
                              <a:solidFill>
                                <a:srgbClr val="326CB2"/>
                              </a:solidFill>
                              <a:latin typeface="Cambria Math"/>
                              <a:ea typeface="Cambria Math"/>
                              <a:cs typeface="Cambria Math"/>
                            </a:rPr>
                            <m:t>𝜃</m:t>
                          </m:r>
                        </m:e>
                        <m:sub>
                          <m:r>
                            <a:rPr lang="en-GB" sz="2800">
                              <a:solidFill>
                                <a:srgbClr val="326CB2"/>
                              </a:solidFill>
                              <a:latin typeface="Cambria Math"/>
                              <a:ea typeface="Cambria Math"/>
                              <a:cs typeface="Cambria Math"/>
                            </a:rPr>
                            <m:t>1</m:t>
                          </m:r>
                        </m:sub>
                      </m:sSub>
                      <m:r>
                        <a:rPr lang="en-GB" sz="2800">
                          <a:solidFill>
                            <a:srgbClr val="326CB2"/>
                          </a:solidFill>
                          <a:latin typeface="Cambria Math"/>
                          <a:ea typeface="Cambria Math"/>
                          <a:cs typeface="Cambria Math"/>
                        </a:rPr>
                        <m:t>=</m:t>
                      </m:r>
                      <m:r>
                        <a:rPr lang="en-GB" sz="2800">
                          <a:solidFill>
                            <a:srgbClr val="326CB2"/>
                          </a:solidFill>
                          <a:latin typeface="Cambria Math"/>
                          <a:ea typeface="Cambria Math"/>
                          <a:cs typeface="Cambria Math"/>
                        </a:rPr>
                        <m:t>𝑏</m:t>
                      </m:r>
                      <m:r>
                        <a:rPr lang="en-GB" sz="2800">
                          <a:solidFill>
                            <a:srgbClr val="326CB2"/>
                          </a:solidFill>
                          <a:latin typeface="Cambria Math"/>
                          <a:ea typeface="Cambria Math"/>
                          <a:cs typeface="Cambria Math"/>
                        </a:rPr>
                        <m:t>,  </m:t>
                      </m:r>
                      <m:sSub>
                        <m:sSubPr>
                          <m:ctrlPr>
                            <a:rPr lang="en-GB" sz="2800">
                              <a:solidFill>
                                <a:srgbClr val="326CB2"/>
                              </a:solidFill>
                              <a:latin typeface="Cambria Math"/>
                              <a:ea typeface="Cambria Math"/>
                              <a:cs typeface="Cambria Math"/>
                            </a:rPr>
                          </m:ctrlPr>
                        </m:sSubPr>
                        <m:e>
                          <m:r>
                            <a:rPr lang="en-GB" sz="2800">
                              <a:solidFill>
                                <a:srgbClr val="326CB2"/>
                              </a:solidFill>
                              <a:latin typeface="Cambria Math"/>
                              <a:ea typeface="Cambria Math"/>
                              <a:cs typeface="Cambria Math"/>
                            </a:rPr>
                            <m:t>𝜃</m:t>
                          </m:r>
                        </m:e>
                        <m:sub>
                          <m:r>
                            <a:rPr lang="en-GB" sz="2800">
                              <a:solidFill>
                                <a:srgbClr val="326CB2"/>
                              </a:solidFill>
                              <a:latin typeface="Cambria Math"/>
                              <a:ea typeface="Cambria Math"/>
                              <a:cs typeface="Cambria Math"/>
                            </a:rPr>
                            <m:t>𝑘</m:t>
                          </m:r>
                          <m:r>
                            <a:rPr lang="en-GB" sz="2800">
                              <a:solidFill>
                                <a:srgbClr val="326CB2"/>
                              </a:solidFill>
                              <a:latin typeface="Cambria Math"/>
                              <a:ea typeface="Cambria Math"/>
                              <a:cs typeface="Cambria Math"/>
                            </a:rPr>
                            <m:t>+1</m:t>
                          </m:r>
                        </m:sub>
                      </m:sSub>
                      <m:r>
                        <a:rPr lang="en-GB" sz="2800">
                          <a:solidFill>
                            <a:srgbClr val="326CB2"/>
                          </a:solidFill>
                          <a:latin typeface="Cambria Math"/>
                          <a:ea typeface="Cambria Math"/>
                          <a:cs typeface="Cambria Math"/>
                        </a:rPr>
                        <m:t>=</m:t>
                      </m:r>
                      <m:sSub>
                        <m:sSubPr>
                          <m:ctrlPr>
                            <a:rPr lang="en-GB" sz="2800">
                              <a:solidFill>
                                <a:srgbClr val="326CB2"/>
                              </a:solidFill>
                              <a:latin typeface="Cambria Math"/>
                              <a:ea typeface="Cambria Math"/>
                              <a:cs typeface="Cambria Math"/>
                            </a:rPr>
                          </m:ctrlPr>
                        </m:sSubPr>
                        <m:e>
                          <m:r>
                            <a:rPr lang="en-GB" sz="2800">
                              <a:solidFill>
                                <a:srgbClr val="326CB2"/>
                              </a:solidFill>
                              <a:latin typeface="Cambria Math"/>
                              <a:ea typeface="Cambria Math"/>
                              <a:cs typeface="Cambria Math"/>
                            </a:rPr>
                            <m:t>𝑤</m:t>
                          </m:r>
                        </m:e>
                        <m:sub>
                          <m:r>
                            <a:rPr lang="en-GB" sz="2800">
                              <a:solidFill>
                                <a:srgbClr val="326CB2"/>
                              </a:solidFill>
                              <a:latin typeface="Cambria Math"/>
                              <a:ea typeface="Cambria Math"/>
                              <a:cs typeface="Cambria Math"/>
                            </a:rPr>
                            <m:t>𝑘</m:t>
                          </m:r>
                        </m:sub>
                      </m:sSub>
                      <m:r>
                        <a:rPr lang="it-IT" sz="2800" b="0" i="0" smtClean="0">
                          <a:solidFill>
                            <a:srgbClr val="326CB2"/>
                          </a:solidFill>
                          <a:latin typeface="Cambria Math" panose="02040503050406030204" pitchFamily="18" charset="0"/>
                          <a:ea typeface="Cambria Math"/>
                          <a:cs typeface="Cambria Math"/>
                        </a:rPr>
                        <m:t>,  </m:t>
                      </m:r>
                      <m:r>
                        <a:rPr lang="en-GB" sz="2800">
                          <a:solidFill>
                            <a:srgbClr val="326CB2"/>
                          </a:solidFill>
                          <a:latin typeface="Cambria Math"/>
                          <a:ea typeface="Cambria Math"/>
                          <a:cs typeface="Cambria Math"/>
                        </a:rPr>
                        <m:t>𝑘</m:t>
                      </m:r>
                      <m:r>
                        <a:rPr lang="en-GB" sz="2800">
                          <a:solidFill>
                            <a:srgbClr val="326CB2"/>
                          </a:solidFill>
                          <a:latin typeface="Cambria Math"/>
                          <a:ea typeface="Cambria Math"/>
                          <a:cs typeface="Cambria Math"/>
                        </a:rPr>
                        <m:t>=1,…,</m:t>
                      </m:r>
                      <m:r>
                        <a:rPr lang="en-GB" sz="2800">
                          <a:solidFill>
                            <a:srgbClr val="326CB2"/>
                          </a:solidFill>
                          <a:latin typeface="Cambria Math"/>
                          <a:ea typeface="Cambria Math"/>
                          <a:cs typeface="Cambria Math"/>
                        </a:rPr>
                        <m:t>𝑑</m:t>
                      </m:r>
                    </m:oMath>
                  </m:oMathPara>
                </a14:m>
                <a:endParaRPr lang="en-GB" sz="2800" dirty="0"/>
              </a:p>
            </p:txBody>
          </p:sp>
        </mc:Choice>
        <mc:Fallback xmlns="">
          <p:sp>
            <p:nvSpPr>
              <p:cNvPr id="13" name="step_2_parameter_coordinates" descr="\theta_1=b,\qquad\theta_{k+1}=w_k\quad(k=1,\ldots,d)">
                <a:extLst>
                  <a:ext uri="{FF2B5EF4-FFF2-40B4-BE49-F238E27FC236}">
                    <a16:creationId xmlns:a16="http://schemas.microsoft.com/office/drawing/2014/main" id="{F4C0918D-825C-4BB0-B1A5-AF056E36B884}"/>
                  </a:ext>
                </a:extLst>
              </p:cNvPr>
              <p:cNvSpPr>
                <a:spLocks noGrp="1" noRot="1" noChangeAspect="1" noMove="1" noResize="1" noEditPoints="1" noAdjustHandles="1" noChangeArrowheads="1" noChangeShapeType="1" noTextEdit="1"/>
              </p:cNvSpPr>
              <p:nvPr/>
            </p:nvSpPr>
            <p:spPr>
              <a:xfrm>
                <a:off x="723900" y="5219700"/>
                <a:ext cx="10744200" cy="609600"/>
              </a:xfrm>
              <a:prstGeom prst="rect">
                <a:avLst/>
              </a:prstGeom>
              <a:blipFill>
                <a:blip r:embed="rId6"/>
                <a:stretch>
                  <a:fillRect/>
                </a:stretch>
              </a:blipFill>
              <a:ln w="0">
                <a:noFill/>
              </a:ln>
            </p:spPr>
            <p:txBody>
              <a:bodyPr/>
              <a:lstStyle/>
              <a:p>
                <a:r>
                  <a:rPr lang="it-IT">
                    <a:noFill/>
                  </a:rPr>
                  <a:t> </a:t>
                </a:r>
              </a:p>
            </p:txBody>
          </p:sp>
        </mc:Fallback>
      </mc:AlternateContent>
      <p:sp>
        <p:nvSpPr>
          <p:cNvPr id="14" name="step_2_parameter_explanation">
            <a:extLst>
              <a:ext uri="{FF2B5EF4-FFF2-40B4-BE49-F238E27FC236}">
                <a16:creationId xmlns:a16="http://schemas.microsoft.com/office/drawing/2014/main" id="{0045E017-985F-41BC-B4EC-EEE7A01683A2}"/>
              </a:ext>
            </a:extLst>
          </p:cNvPr>
          <p:cNvSpPr>
            <a:spLocks noGrp="1"/>
          </p:cNvSpPr>
          <p:nvPr/>
        </p:nvSpPr>
        <p:spPr>
          <a:xfrm>
            <a:off x="723900" y="6048375"/>
            <a:ext cx="10744200" cy="361950"/>
          </a:xfrm>
          <a:prstGeom prst="rect">
            <a:avLst/>
          </a:prstGeom>
          <a:noFill/>
          <a:ln w="0">
            <a:noFill/>
          </a:ln>
        </p:spPr>
        <p:txBody>
          <a:bodyPr wrap="square" lIns="0" tIns="0" rIns="0" bIns="0" anchor="ctr">
            <a:noAutofit/>
          </a:bodyPr>
          <a:lstStyle/>
          <a:p>
            <a:pPr algn="ctr">
              <a:lnSpc>
                <a:spcPct val="110000"/>
              </a:lnSpc>
              <a:buNone/>
              <a:defRPr sz="1800" b="1">
                <a:solidFill>
                  <a:srgbClr val="182D45"/>
                </a:solidFill>
                <a:latin typeface="DejaVu Sans"/>
                <a:ea typeface="DejaVu Sans"/>
                <a:cs typeface="DejaVu Sans"/>
              </a:defRPr>
            </a:pPr>
            <a:r>
              <a:rPr sz="1800" b="1" dirty="0">
                <a:solidFill>
                  <a:srgbClr val="182D45"/>
                </a:solidFill>
                <a:latin typeface="DejaVu Sans"/>
                <a:ea typeface="DejaVu Sans"/>
                <a:cs typeface="DejaVu Sans"/>
              </a:rPr>
              <a:t>The first coordinate is the intercept. The remaining coordinates are the weights.</a:t>
            </a:r>
          </a:p>
        </p:txBody>
      </p:sp>
    </p:spTree>
    <p:extLst>
      <p:ext uri="{BB962C8B-B14F-4D97-AF65-F5344CB8AC3E}">
        <p14:creationId xmlns:p14="http://schemas.microsoft.com/office/powerpoint/2010/main" val="1453627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DA45A233-7CAD-47A5-8018-50191D0C6C19}"/>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The three functions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6439FC55-3D7B-4032-8BA6-02C8C6282FF2}"/>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en-GB" sz="2100" b="0" dirty="0">
                    <a:solidFill>
                      <a:srgbClr val="526276"/>
                    </a:solidFill>
                    <a:latin typeface="DejaVu Sans"/>
                    <a:ea typeface="DejaVu Sans"/>
                    <a:cs typeface="DejaVu Sans"/>
                  </a:rPr>
                  <a:t>Fix the </a:t>
                </a:r>
                <a14:m>
                  <m:oMath xmlns:m="http://schemas.openxmlformats.org/officeDocument/2006/math">
                    <m:r>
                      <a:rPr lang="en-GB" sz="2100" b="0" i="1" smtClean="0">
                        <a:solidFill>
                          <a:srgbClr val="526276"/>
                        </a:solidFill>
                        <a:latin typeface="Cambria Math" panose="02040503050406030204" pitchFamily="18" charset="0"/>
                        <a:ea typeface="DejaVu Sans"/>
                        <a:cs typeface="DejaVu Sans"/>
                      </a:rPr>
                      <m:t>𝑖</m:t>
                    </m:r>
                  </m:oMath>
                </a14:m>
                <a:r>
                  <a:rPr lang="en-GB" sz="2100" b="0" dirty="0" err="1">
                    <a:solidFill>
                      <a:srgbClr val="526276"/>
                    </a:solidFill>
                    <a:latin typeface="DejaVu Sans"/>
                    <a:ea typeface="DejaVu Sans"/>
                    <a:cs typeface="DejaVu Sans"/>
                  </a:rPr>
                  <a:t>th</a:t>
                </a:r>
                <a:r>
                  <a:rPr lang="en-GB" sz="2100" b="0" dirty="0">
                    <a:solidFill>
                      <a:srgbClr val="526276"/>
                    </a:solidFill>
                    <a:latin typeface="DejaVu Sans"/>
                    <a:ea typeface="DejaVu Sans"/>
                    <a:cs typeface="DejaVu Sans"/>
                  </a:rPr>
                  <a:t> input/output pair </a:t>
                </a:r>
                <a14:m>
                  <m:oMath xmlns:m="http://schemas.openxmlformats.org/officeDocument/2006/math">
                    <m:d>
                      <m:dPr>
                        <m:ctrlPr>
                          <a:rPr lang="it-IT" sz="2100" b="1" i="1" smtClean="0">
                            <a:solidFill>
                              <a:srgbClr val="526276"/>
                            </a:solidFill>
                            <a:latin typeface="Cambria Math" panose="02040503050406030204" pitchFamily="18" charset="0"/>
                          </a:rPr>
                        </m:ctrlPr>
                      </m:dPr>
                      <m:e>
                        <m:sSub>
                          <m:sSubPr>
                            <m:ctrlPr>
                              <a:rPr lang="it-IT" sz="2100" b="1" i="0" smtClean="0">
                                <a:solidFill>
                                  <a:srgbClr val="526276"/>
                                </a:solidFill>
                                <a:latin typeface="Cambria Math" panose="02040503050406030204" pitchFamily="18" charset="0"/>
                              </a:rPr>
                            </m:ctrlPr>
                          </m:sSubPr>
                          <m:e>
                            <m:r>
                              <a:rPr lang="it-IT" sz="2100" b="1" i="0" smtClean="0">
                                <a:solidFill>
                                  <a:srgbClr val="526276"/>
                                </a:solidFill>
                                <a:latin typeface="Cambria Math" panose="02040503050406030204" pitchFamily="18" charset="0"/>
                              </a:rPr>
                              <m:t>𝐱</m:t>
                            </m:r>
                          </m:e>
                          <m:sub>
                            <m:r>
                              <a:rPr lang="it-IT" sz="2100" b="0" i="1" smtClean="0">
                                <a:solidFill>
                                  <a:srgbClr val="526276"/>
                                </a:solidFill>
                                <a:latin typeface="Cambria Math" panose="02040503050406030204" pitchFamily="18" charset="0"/>
                              </a:rPr>
                              <m:t>𝑖</m:t>
                            </m:r>
                          </m:sub>
                        </m:sSub>
                        <m:r>
                          <a:rPr lang="it-IT" sz="2100" b="0" i="1" smtClean="0">
                            <a:solidFill>
                              <a:srgbClr val="526276"/>
                            </a:solidFill>
                            <a:latin typeface="Cambria Math" panose="02040503050406030204" pitchFamily="18" charset="0"/>
                          </a:rPr>
                          <m:t>,</m:t>
                        </m:r>
                        <m:sSub>
                          <m:sSubPr>
                            <m:ctrlPr>
                              <a:rPr lang="it-IT" sz="2100" b="0" i="1" smtClean="0">
                                <a:solidFill>
                                  <a:srgbClr val="526276"/>
                                </a:solidFill>
                                <a:latin typeface="Cambria Math" panose="02040503050406030204" pitchFamily="18" charset="0"/>
                              </a:rPr>
                            </m:ctrlPr>
                          </m:sSubPr>
                          <m:e>
                            <m:r>
                              <a:rPr lang="it-IT" sz="2100" b="0" i="1" smtClean="0">
                                <a:solidFill>
                                  <a:srgbClr val="526276"/>
                                </a:solidFill>
                                <a:latin typeface="Cambria Math" panose="02040503050406030204" pitchFamily="18" charset="0"/>
                              </a:rPr>
                              <m:t>𝑦</m:t>
                            </m:r>
                          </m:e>
                          <m:sub>
                            <m:r>
                              <a:rPr lang="it-IT" sz="2100" b="0" i="1" smtClean="0">
                                <a:solidFill>
                                  <a:srgbClr val="526276"/>
                                </a:solidFill>
                                <a:latin typeface="Cambria Math" panose="02040503050406030204" pitchFamily="18" charset="0"/>
                              </a:rPr>
                              <m:t>𝑖</m:t>
                            </m:r>
                          </m:sub>
                        </m:sSub>
                      </m:e>
                    </m:d>
                  </m:oMath>
                </a14:m>
                <a:r>
                  <a:rPr lang="en-GB" sz="2100" b="0" dirty="0">
                    <a:solidFill>
                      <a:srgbClr val="526276"/>
                    </a:solidFill>
                    <a:latin typeface="DejaVu Sans"/>
                    <a:ea typeface="DejaVu Sans"/>
                    <a:cs typeface="DejaVu Sans"/>
                  </a:rPr>
                  <a:t> and vary the model parameters </a:t>
                </a:r>
                <a14:m>
                  <m:oMath xmlns:m="http://schemas.openxmlformats.org/officeDocument/2006/math">
                    <m:r>
                      <a:rPr lang="it-IT" sz="2100" b="1" i="0" smtClean="0">
                        <a:solidFill>
                          <a:srgbClr val="526276"/>
                        </a:solidFill>
                        <a:latin typeface="Cambria Math" panose="02040503050406030204" pitchFamily="18" charset="0"/>
                        <a:ea typeface="DejaVu Sans"/>
                        <a:cs typeface="DejaVu Sans"/>
                      </a:rPr>
                      <m:t>𝛉</m:t>
                    </m:r>
                  </m:oMath>
                </a14:m>
                <a:r>
                  <a:rPr lang="en-GB" sz="2100" b="0" dirty="0">
                    <a:solidFill>
                      <a:srgbClr val="526276"/>
                    </a:solidFill>
                    <a:latin typeface="DejaVu Sans"/>
                    <a:ea typeface="DejaVu Sans"/>
                    <a:cs typeface="DejaVu Sans"/>
                  </a:rPr>
                  <a:t>.</a:t>
                </a:r>
                <a:endParaRPr sz="2100" b="0" dirty="0">
                  <a:solidFill>
                    <a:srgbClr val="526276"/>
                  </a:solidFill>
                  <a:latin typeface="DejaVu Sans"/>
                  <a:ea typeface="DejaVu Sans"/>
                  <a:cs typeface="DejaVu Sans"/>
                </a:endParaRPr>
              </a:p>
            </p:txBody>
          </p:sp>
        </mc:Choice>
        <mc:Fallback xmlns="">
          <p:sp>
            <p:nvSpPr>
              <p:cNvPr id="2" name="lead">
                <a:extLst>
                  <a:ext uri="{FF2B5EF4-FFF2-40B4-BE49-F238E27FC236}">
                    <a16:creationId xmlns:a16="http://schemas.microsoft.com/office/drawing/2014/main" id="{6439FC55-3D7B-4032-8BA6-02C8C6282FF2}"/>
                  </a:ext>
                </a:extLst>
              </p:cNvPr>
              <p:cNvSpPr>
                <a:spLocks noGrp="1" noRot="1" noChangeAspect="1" noMove="1" noResize="1" noEditPoints="1" noAdjustHandles="1" noChangeArrowheads="1" noChangeShapeType="1" noTextEdit="1"/>
              </p:cNvSpPr>
              <p:nvPr/>
            </p:nvSpPr>
            <p:spPr>
              <a:xfrm>
                <a:off x="723900" y="1143000"/>
                <a:ext cx="10744200" cy="6667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94607849-D53F-47C8-8D27-9D34BC605623}"/>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F7DC5D70-DE34-4F30-9713-5FD381EA2C90}"/>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22</a:t>
            </a:r>
          </a:p>
        </p:txBody>
      </p:sp>
      <mc:AlternateContent xmlns:mc="http://schemas.openxmlformats.org/markup-compatibility/2006" xmlns:a14="http://schemas.microsoft.com/office/drawing/2010/main">
        <mc:Choice Requires="a14">
          <p:sp>
            <p:nvSpPr>
              <p:cNvPr id="10" name="step_0_score_label">
                <a:extLst>
                  <a:ext uri="{FF2B5EF4-FFF2-40B4-BE49-F238E27FC236}">
                    <a16:creationId xmlns:a16="http://schemas.microsoft.com/office/drawing/2014/main" id="{7AF55A6A-7380-47FA-AA6B-57AAD61C6B9D}"/>
                  </a:ext>
                </a:extLst>
              </p:cNvPr>
              <p:cNvSpPr>
                <a:spLocks noGrp="1"/>
              </p:cNvSpPr>
              <p:nvPr/>
            </p:nvSpPr>
            <p:spPr>
              <a:xfrm>
                <a:off x="723900" y="1806131"/>
                <a:ext cx="10744200" cy="323850"/>
              </a:xfrm>
              <a:prstGeom prst="rect">
                <a:avLst/>
              </a:prstGeom>
              <a:noFill/>
              <a:ln w="0">
                <a:noFill/>
              </a:ln>
            </p:spPr>
            <p:txBody>
              <a:bodyPr wrap="square" lIns="0" tIns="0" rIns="0" bIns="0" anchor="ctr">
                <a:noAutofit/>
              </a:bodyPr>
              <a:lstStyle/>
              <a:p>
                <a:pPr algn="ctr">
                  <a:lnSpc>
                    <a:spcPct val="110000"/>
                  </a:lnSpc>
                  <a:buNone/>
                  <a:defRPr sz="1875" b="1">
                    <a:solidFill>
                      <a:srgbClr val="182D45"/>
                    </a:solidFill>
                    <a:latin typeface="DejaVu Sans"/>
                    <a:ea typeface="DejaVu Sans"/>
                    <a:cs typeface="DejaVu Sans"/>
                  </a:defRPr>
                </a:pPr>
                <a:r>
                  <a:rPr lang="it-IT" sz="2000" b="1" dirty="0" err="1">
                    <a:solidFill>
                      <a:srgbClr val="182D45"/>
                    </a:solidFill>
                    <a:latin typeface="DejaVu Sans"/>
                    <a:ea typeface="DejaVu Sans"/>
                    <a:cs typeface="DejaVu Sans"/>
                  </a:rPr>
                  <a:t>Define</a:t>
                </a:r>
                <a:r>
                  <a:rPr lang="it-IT" sz="2000" b="1" dirty="0">
                    <a:solidFill>
                      <a:srgbClr val="182D45"/>
                    </a:solidFill>
                    <a:latin typeface="DejaVu Sans"/>
                    <a:ea typeface="DejaVu Sans"/>
                    <a:cs typeface="DejaVu Sans"/>
                  </a:rPr>
                  <a:t> affine score </a:t>
                </a:r>
                <a:r>
                  <a:rPr lang="it-IT" sz="2000" b="1" dirty="0" err="1">
                    <a:solidFill>
                      <a:srgbClr val="182D45"/>
                    </a:solidFill>
                    <a:latin typeface="DejaVu Sans"/>
                    <a:ea typeface="DejaVu Sans"/>
                    <a:cs typeface="DejaVu Sans"/>
                  </a:rPr>
                  <a:t>corresponding</a:t>
                </a:r>
                <a:r>
                  <a:rPr lang="it-IT" sz="2000" b="1" dirty="0">
                    <a:solidFill>
                      <a:srgbClr val="182D45"/>
                    </a:solidFill>
                    <a:latin typeface="DejaVu Sans"/>
                    <a:ea typeface="DejaVu Sans"/>
                    <a:cs typeface="DejaVu Sans"/>
                  </a:rPr>
                  <a:t> to the </a:t>
                </a:r>
                <a14:m>
                  <m:oMath xmlns:m="http://schemas.openxmlformats.org/officeDocument/2006/math">
                    <m:r>
                      <a:rPr lang="it-IT" sz="2000" b="1" i="1">
                        <a:solidFill>
                          <a:srgbClr val="182D45"/>
                        </a:solidFill>
                        <a:latin typeface="Cambria Math" panose="02040503050406030204" pitchFamily="18" charset="0"/>
                        <a:ea typeface="DejaVu Sans"/>
                        <a:cs typeface="DejaVu Sans"/>
                      </a:rPr>
                      <m:t>𝒊</m:t>
                    </m:r>
                    <m:r>
                      <a:rPr lang="it-IT" sz="2000" b="1">
                        <a:solidFill>
                          <a:srgbClr val="182D45"/>
                        </a:solidFill>
                        <a:latin typeface="Cambria Math" panose="02040503050406030204" pitchFamily="18" charset="0"/>
                        <a:ea typeface="DejaVu Sans"/>
                        <a:cs typeface="DejaVu Sans"/>
                      </a:rPr>
                      <m:t>𝐭𝐡</m:t>
                    </m:r>
                  </m:oMath>
                </a14:m>
                <a:r>
                  <a:rPr lang="it-IT" sz="2000" b="1" dirty="0">
                    <a:solidFill>
                      <a:srgbClr val="182D45"/>
                    </a:solidFill>
                    <a:latin typeface="DejaVu Sans"/>
                    <a:ea typeface="DejaVu Sans"/>
                    <a:cs typeface="DejaVu Sans"/>
                  </a:rPr>
                  <a:t> input </a:t>
                </a:r>
                <a14:m>
                  <m:oMath xmlns:m="http://schemas.openxmlformats.org/officeDocument/2006/math">
                    <m:sSub>
                      <m:sSubPr>
                        <m:ctrlPr>
                          <a:rPr lang="it-IT" sz="2000" b="1">
                            <a:solidFill>
                              <a:srgbClr val="526276"/>
                            </a:solidFill>
                            <a:latin typeface="Cambria Math" panose="02040503050406030204" pitchFamily="18" charset="0"/>
                          </a:rPr>
                        </m:ctrlPr>
                      </m:sSubPr>
                      <m:e>
                        <m:r>
                          <a:rPr lang="it-IT" sz="2000" b="1">
                            <a:solidFill>
                              <a:srgbClr val="526276"/>
                            </a:solidFill>
                            <a:latin typeface="Cambria Math" panose="02040503050406030204" pitchFamily="18" charset="0"/>
                          </a:rPr>
                          <m:t>𝐱</m:t>
                        </m:r>
                      </m:e>
                      <m:sub>
                        <m:r>
                          <a:rPr lang="it-IT" sz="2000" i="1">
                            <a:solidFill>
                              <a:srgbClr val="526276"/>
                            </a:solidFill>
                            <a:latin typeface="Cambria Math" panose="02040503050406030204" pitchFamily="18" charset="0"/>
                          </a:rPr>
                          <m:t>𝑖</m:t>
                        </m:r>
                      </m:sub>
                    </m:sSub>
                  </m:oMath>
                </a14:m>
                <a:endParaRPr sz="2000" b="1" dirty="0">
                  <a:solidFill>
                    <a:srgbClr val="182D45"/>
                  </a:solidFill>
                  <a:latin typeface="DejaVu Sans"/>
                  <a:ea typeface="DejaVu Sans"/>
                  <a:cs typeface="DejaVu Sans"/>
                </a:endParaRPr>
              </a:p>
            </p:txBody>
          </p:sp>
        </mc:Choice>
        <mc:Fallback xmlns="">
          <p:sp>
            <p:nvSpPr>
              <p:cNvPr id="10" name="step_0_score_label">
                <a:extLst>
                  <a:ext uri="{FF2B5EF4-FFF2-40B4-BE49-F238E27FC236}">
                    <a16:creationId xmlns:a16="http://schemas.microsoft.com/office/drawing/2014/main" id="{7AF55A6A-7380-47FA-AA6B-57AAD61C6B9D}"/>
                  </a:ext>
                </a:extLst>
              </p:cNvPr>
              <p:cNvSpPr>
                <a:spLocks noGrp="1" noRot="1" noChangeAspect="1" noMove="1" noResize="1" noEditPoints="1" noAdjustHandles="1" noChangeArrowheads="1" noChangeShapeType="1" noTextEdit="1"/>
              </p:cNvSpPr>
              <p:nvPr/>
            </p:nvSpPr>
            <p:spPr>
              <a:xfrm>
                <a:off x="723900" y="1806131"/>
                <a:ext cx="10744200" cy="323850"/>
              </a:xfrm>
              <a:prstGeom prst="rect">
                <a:avLst/>
              </a:prstGeom>
              <a:blipFill>
                <a:blip r:embed="rId4"/>
                <a:stretch>
                  <a:fillRect t="-20755" b="-4528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step_0_score" descr="F_i(\boldsymbol\theta)\coloneqq f_{\boldsymbol\theta}(\boldsymbol x_i)=b+\boldsymbol x_i\boldsymbol w=(1,\boldsymbol x_i)\boldsymbol\theta=\sum_{r=1}^{d+1}X_{ir}\theta_r">
                <a:extLst>
                  <a:ext uri="{FF2B5EF4-FFF2-40B4-BE49-F238E27FC236}">
                    <a16:creationId xmlns:a16="http://schemas.microsoft.com/office/drawing/2014/main" id="{054294C6-64F6-47B3-A749-CF15C2645285}"/>
                  </a:ext>
                </a:extLst>
              </p:cNvPr>
              <p:cNvSpPr>
                <a:spLocks noGrp="1"/>
              </p:cNvSpPr>
              <p:nvPr/>
            </p:nvSpPr>
            <p:spPr>
              <a:xfrm>
                <a:off x="723900" y="2114550"/>
                <a:ext cx="10744200" cy="1066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𝐹</m:t>
                          </m:r>
                        </m:e>
                        <m:sub>
                          <m:r>
                            <a:rPr lang="en-GB" sz="2600">
                              <a:solidFill>
                                <a:srgbClr val="087F83"/>
                              </a:solidFill>
                              <a:latin typeface="Cambria Math"/>
                              <a:ea typeface="Cambria Math"/>
                              <a:cs typeface="Cambria Math"/>
                            </a:rPr>
                            <m:t>𝑖</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𝛉</m:t>
                          </m:r>
                        </m:e>
                      </m:d>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𝑓</m:t>
                          </m:r>
                        </m:e>
                        <m:sub>
                          <m:r>
                            <a:rPr lang="en-GB" sz="2600">
                              <a:solidFill>
                                <a:srgbClr val="087F83"/>
                              </a:solidFill>
                              <a:latin typeface="Cambria Math"/>
                              <a:ea typeface="Cambria Math"/>
                              <a:cs typeface="Cambria Math"/>
                            </a:rPr>
                            <m:t>𝛉</m:t>
                          </m:r>
                        </m:sub>
                      </m:sSub>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𝐱</m:t>
                              </m:r>
                            </m:e>
                            <m:sub>
                              <m:r>
                                <a:rPr lang="en-GB" sz="2600">
                                  <a:solidFill>
                                    <a:srgbClr val="087F83"/>
                                  </a:solidFill>
                                  <a:latin typeface="Cambria Math"/>
                                  <a:ea typeface="Cambria Math"/>
                                  <a:cs typeface="Cambria Math"/>
                                </a:rPr>
                                <m:t>𝑖</m:t>
                              </m:r>
                            </m:sub>
                          </m:sSub>
                        </m:e>
                      </m:d>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𝑏</m:t>
                      </m:r>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𝐱</m:t>
                          </m:r>
                        </m:e>
                        <m:sub>
                          <m:r>
                            <a:rPr lang="en-GB" sz="2600">
                              <a:solidFill>
                                <a:srgbClr val="087F83"/>
                              </a:solidFill>
                              <a:latin typeface="Cambria Math"/>
                              <a:ea typeface="Cambria Math"/>
                              <a:cs typeface="Cambria Math"/>
                            </a:rPr>
                            <m:t>𝑖</m:t>
                          </m:r>
                        </m:sub>
                      </m:sSub>
                      <m:r>
                        <a:rPr lang="en-GB" sz="2600">
                          <a:solidFill>
                            <a:srgbClr val="087F83"/>
                          </a:solidFill>
                          <a:latin typeface="Cambria Math"/>
                          <a:ea typeface="Cambria Math"/>
                          <a:cs typeface="Cambria Math"/>
                        </a:rPr>
                        <m:t>𝐰</m:t>
                      </m:r>
                      <m:r>
                        <a:rPr lang="en-GB" sz="2600">
                          <a:solidFill>
                            <a:srgbClr val="087F83"/>
                          </a:solidFill>
                          <a:latin typeface="Cambria Math"/>
                          <a:ea typeface="Cambria Math"/>
                          <a:cs typeface="Cambria Math"/>
                        </a:rPr>
                        <m:t>=</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1,</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𝐱</m:t>
                              </m:r>
                            </m:e>
                            <m:sub>
                              <m:r>
                                <a:rPr lang="en-GB" sz="2600">
                                  <a:solidFill>
                                    <a:srgbClr val="087F83"/>
                                  </a:solidFill>
                                  <a:latin typeface="Cambria Math"/>
                                  <a:ea typeface="Cambria Math"/>
                                  <a:cs typeface="Cambria Math"/>
                                </a:rPr>
                                <m:t>𝑖</m:t>
                              </m:r>
                            </m:sub>
                          </m:sSub>
                        </m:e>
                      </m:d>
                      <m:r>
                        <a:rPr lang="en-GB" sz="2600">
                          <a:solidFill>
                            <a:srgbClr val="087F83"/>
                          </a:solidFill>
                          <a:latin typeface="Cambria Math"/>
                          <a:ea typeface="Cambria Math"/>
                          <a:cs typeface="Cambria Math"/>
                        </a:rPr>
                        <m:t>𝛉</m:t>
                      </m:r>
                      <m:r>
                        <a:rPr lang="en-GB" sz="2600">
                          <a:solidFill>
                            <a:srgbClr val="087F83"/>
                          </a:solidFill>
                          <a:latin typeface="Cambria Math"/>
                          <a:ea typeface="Cambria Math"/>
                          <a:cs typeface="Cambria Math"/>
                        </a:rPr>
                        <m:t>=</m:t>
                      </m:r>
                      <m:nary>
                        <m:naryPr>
                          <m:chr m:val="∑"/>
                          <m:limLoc m:val="undOvr"/>
                          <m:ctrlPr>
                            <a:rPr lang="en-GB" sz="2600">
                              <a:solidFill>
                                <a:srgbClr val="087F83"/>
                              </a:solidFill>
                              <a:latin typeface="Cambria Math"/>
                              <a:ea typeface="Cambria Math"/>
                              <a:cs typeface="Cambria Math"/>
                            </a:rPr>
                          </m:ctrlPr>
                        </m:naryPr>
                        <m:sub>
                          <m:r>
                            <a:rPr lang="en-GB" sz="2600">
                              <a:solidFill>
                                <a:srgbClr val="087F83"/>
                              </a:solidFill>
                              <a:latin typeface="Cambria Math"/>
                              <a:ea typeface="Cambria Math"/>
                              <a:cs typeface="Cambria Math"/>
                            </a:rPr>
                            <m:t>𝑟</m:t>
                          </m:r>
                          <m:r>
                            <a:rPr lang="en-GB" sz="2600">
                              <a:solidFill>
                                <a:srgbClr val="087F83"/>
                              </a:solidFill>
                              <a:latin typeface="Cambria Math"/>
                              <a:ea typeface="Cambria Math"/>
                              <a:cs typeface="Cambria Math"/>
                            </a:rPr>
                            <m:t>=1</m:t>
                          </m:r>
                        </m:sub>
                        <m:sup>
                          <m:r>
                            <a:rPr lang="en-GB" sz="2600">
                              <a:solidFill>
                                <a:srgbClr val="087F83"/>
                              </a:solidFill>
                              <a:latin typeface="Cambria Math"/>
                              <a:ea typeface="Cambria Math"/>
                              <a:cs typeface="Cambria Math"/>
                            </a:rPr>
                            <m:t>𝑑</m:t>
                          </m:r>
                          <m:r>
                            <a:rPr lang="en-GB" sz="2600">
                              <a:solidFill>
                                <a:srgbClr val="087F83"/>
                              </a:solidFill>
                              <a:latin typeface="Cambria Math"/>
                              <a:ea typeface="Cambria Math"/>
                              <a:cs typeface="Cambria Math"/>
                            </a:rPr>
                            <m:t>+1</m:t>
                          </m:r>
                        </m:sup>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𝑋</m:t>
                              </m:r>
                            </m:e>
                            <m:sub>
                              <m:r>
                                <a:rPr lang="en-GB" sz="2600">
                                  <a:solidFill>
                                    <a:srgbClr val="087F83"/>
                                  </a:solidFill>
                                  <a:latin typeface="Cambria Math"/>
                                  <a:ea typeface="Cambria Math"/>
                                  <a:cs typeface="Cambria Math"/>
                                </a:rPr>
                                <m:t>𝑖𝑟</m:t>
                              </m:r>
                            </m:sub>
                          </m:sSub>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𝜃</m:t>
                              </m:r>
                            </m:e>
                            <m:sub>
                              <m:r>
                                <a:rPr lang="en-GB" sz="2600">
                                  <a:solidFill>
                                    <a:srgbClr val="087F83"/>
                                  </a:solidFill>
                                  <a:latin typeface="Cambria Math"/>
                                  <a:ea typeface="Cambria Math"/>
                                  <a:cs typeface="Cambria Math"/>
                                </a:rPr>
                                <m:t>𝑟</m:t>
                              </m:r>
                            </m:sub>
                          </m:sSub>
                        </m:e>
                      </m:nary>
                    </m:oMath>
                  </m:oMathPara>
                </a14:m>
                <a:endParaRPr lang="en-GB" sz="2600" dirty="0"/>
              </a:p>
            </p:txBody>
          </p:sp>
        </mc:Choice>
        <mc:Fallback xmlns="">
          <p:sp>
            <p:nvSpPr>
              <p:cNvPr id="11" name="step_0_score" descr="F_i(\boldsymbol\theta)\coloneqq f_{\boldsymbol\theta}(\boldsymbol x_i)=b+\boldsymbol x_i\boldsymbol w=(1,\boldsymbol x_i)\boldsymbol\theta=\sum_{r=1}^{d+1}X_{ir}\theta_r">
                <a:extLst>
                  <a:ext uri="{FF2B5EF4-FFF2-40B4-BE49-F238E27FC236}">
                    <a16:creationId xmlns:a16="http://schemas.microsoft.com/office/drawing/2014/main" id="{054294C6-64F6-47B3-A749-CF15C2645285}"/>
                  </a:ext>
                </a:extLst>
              </p:cNvPr>
              <p:cNvSpPr>
                <a:spLocks noGrp="1" noRot="1" noChangeAspect="1" noMove="1" noResize="1" noEditPoints="1" noAdjustHandles="1" noChangeArrowheads="1" noChangeShapeType="1" noTextEdit="1"/>
              </p:cNvSpPr>
              <p:nvPr/>
            </p:nvSpPr>
            <p:spPr>
              <a:xfrm>
                <a:off x="723900" y="2114550"/>
                <a:ext cx="10744200" cy="1066800"/>
              </a:xfrm>
              <a:prstGeom prst="rect">
                <a:avLst/>
              </a:prstGeom>
              <a:blipFill>
                <a:blip r:embed="rId5"/>
                <a:stretch>
                  <a:fillRect b="-285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step_1_sigmoid_label">
                <a:extLst>
                  <a:ext uri="{FF2B5EF4-FFF2-40B4-BE49-F238E27FC236}">
                    <a16:creationId xmlns:a16="http://schemas.microsoft.com/office/drawing/2014/main" id="{CD6AFCEA-5A66-473E-A27B-118EB2F4D505}"/>
                  </a:ext>
                </a:extLst>
              </p:cNvPr>
              <p:cNvSpPr>
                <a:spLocks noGrp="1"/>
              </p:cNvSpPr>
              <p:nvPr/>
            </p:nvSpPr>
            <p:spPr>
              <a:xfrm>
                <a:off x="723900" y="3418332"/>
                <a:ext cx="10744200" cy="323850"/>
              </a:xfrm>
              <a:prstGeom prst="rect">
                <a:avLst/>
              </a:prstGeom>
              <a:noFill/>
              <a:ln w="0">
                <a:noFill/>
              </a:ln>
            </p:spPr>
            <p:txBody>
              <a:bodyPr wrap="square" lIns="0" tIns="0" rIns="0" bIns="0" anchor="ctr">
                <a:noAutofit/>
              </a:bodyPr>
              <a:lstStyle/>
              <a:p>
                <a:pPr algn="ctr">
                  <a:lnSpc>
                    <a:spcPct val="110000"/>
                  </a:lnSpc>
                  <a:buNone/>
                  <a:defRPr sz="1875" b="1">
                    <a:solidFill>
                      <a:srgbClr val="182D45"/>
                    </a:solidFill>
                    <a:latin typeface="DejaVu Sans"/>
                    <a:ea typeface="DejaVu Sans"/>
                    <a:cs typeface="DejaVu Sans"/>
                  </a:defRPr>
                </a:pPr>
                <a:r>
                  <a:rPr lang="it-IT" sz="1875" b="1" dirty="0">
                    <a:solidFill>
                      <a:srgbClr val="182D45"/>
                    </a:solidFill>
                    <a:latin typeface="DejaVu Sans"/>
                    <a:ea typeface="DejaVu Sans"/>
                    <a:cs typeface="DejaVu Sans"/>
                  </a:rPr>
                  <a:t>Recall the </a:t>
                </a:r>
                <a:r>
                  <a:rPr lang="it-IT" sz="1875" b="1" dirty="0" err="1">
                    <a:solidFill>
                      <a:srgbClr val="182D45"/>
                    </a:solidFill>
                    <a:latin typeface="DejaVu Sans"/>
                    <a:ea typeface="DejaVu Sans"/>
                    <a:cs typeface="DejaVu Sans"/>
                  </a:rPr>
                  <a:t>definition</a:t>
                </a:r>
                <a:r>
                  <a:rPr lang="it-IT" sz="1875" b="1" dirty="0">
                    <a:solidFill>
                      <a:srgbClr val="182D45"/>
                    </a:solidFill>
                    <a:latin typeface="DejaVu Sans"/>
                    <a:ea typeface="DejaVu Sans"/>
                    <a:cs typeface="DejaVu Sans"/>
                  </a:rPr>
                  <a:t> of the </a:t>
                </a:r>
                <a:r>
                  <a:rPr lang="it-IT" sz="1875" b="1" dirty="0" err="1">
                    <a:solidFill>
                      <a:srgbClr val="182D45"/>
                    </a:solidFill>
                    <a:latin typeface="DejaVu Sans"/>
                    <a:ea typeface="DejaVu Sans"/>
                    <a:cs typeface="DejaVu Sans"/>
                  </a:rPr>
                  <a:t>sigmoid</a:t>
                </a:r>
                <a:r>
                  <a:rPr lang="it-IT" sz="1875" b="1" dirty="0">
                    <a:solidFill>
                      <a:srgbClr val="182D45"/>
                    </a:solidFill>
                    <a:latin typeface="DejaVu Sans"/>
                    <a:ea typeface="DejaVu Sans"/>
                    <a:cs typeface="DejaVu Sans"/>
                  </a:rPr>
                  <a:t> </a:t>
                </a:r>
                <a:r>
                  <a:rPr lang="it-IT" sz="1875" b="1" dirty="0" err="1">
                    <a:solidFill>
                      <a:srgbClr val="182D45"/>
                    </a:solidFill>
                    <a:latin typeface="DejaVu Sans"/>
                    <a:ea typeface="DejaVu Sans"/>
                    <a:cs typeface="DejaVu Sans"/>
                  </a:rPr>
                  <a:t>function</a:t>
                </a:r>
                <a:r>
                  <a:rPr lang="it-IT" sz="1875" b="1" dirty="0">
                    <a:solidFill>
                      <a:srgbClr val="182D45"/>
                    </a:solidFill>
                    <a:latin typeface="DejaVu Sans"/>
                    <a:ea typeface="DejaVu Sans"/>
                    <a:cs typeface="DejaVu Sans"/>
                  </a:rPr>
                  <a:t> </a:t>
                </a:r>
                <a14:m>
                  <m:oMath xmlns:m="http://schemas.openxmlformats.org/officeDocument/2006/math">
                    <m:r>
                      <a:rPr lang="it-IT" sz="1875" b="1" i="1" smtClean="0">
                        <a:solidFill>
                          <a:srgbClr val="182D45"/>
                        </a:solidFill>
                        <a:latin typeface="Cambria Math" panose="02040503050406030204" pitchFamily="18" charset="0"/>
                        <a:ea typeface="DejaVu Sans"/>
                        <a:cs typeface="DejaVu Sans"/>
                      </a:rPr>
                      <m:t>𝝈</m:t>
                    </m:r>
                  </m:oMath>
                </a14:m>
                <a:endParaRPr sz="1875" b="1" dirty="0">
                  <a:solidFill>
                    <a:srgbClr val="182D45"/>
                  </a:solidFill>
                  <a:latin typeface="DejaVu Sans"/>
                  <a:ea typeface="DejaVu Sans"/>
                  <a:cs typeface="DejaVu Sans"/>
                </a:endParaRPr>
              </a:p>
            </p:txBody>
          </p:sp>
        </mc:Choice>
        <mc:Fallback xmlns="">
          <p:sp>
            <p:nvSpPr>
              <p:cNvPr id="12" name="step_1_sigmoid_label">
                <a:extLst>
                  <a:ext uri="{FF2B5EF4-FFF2-40B4-BE49-F238E27FC236}">
                    <a16:creationId xmlns:a16="http://schemas.microsoft.com/office/drawing/2014/main" id="{CD6AFCEA-5A66-473E-A27B-118EB2F4D505}"/>
                  </a:ext>
                </a:extLst>
              </p:cNvPr>
              <p:cNvSpPr>
                <a:spLocks noGrp="1" noRot="1" noChangeAspect="1" noMove="1" noResize="1" noEditPoints="1" noAdjustHandles="1" noChangeArrowheads="1" noChangeShapeType="1" noTextEdit="1"/>
              </p:cNvSpPr>
              <p:nvPr/>
            </p:nvSpPr>
            <p:spPr>
              <a:xfrm>
                <a:off x="723900" y="3418332"/>
                <a:ext cx="10744200" cy="323850"/>
              </a:xfrm>
              <a:prstGeom prst="rect">
                <a:avLst/>
              </a:prstGeom>
              <a:blipFill>
                <a:blip r:embed="rId6"/>
                <a:stretch>
                  <a:fillRect t="-18868" b="-3962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step_1_sigmoid" descr="\sigma(s)=\frac{1}{1+e^{-s}}\qquad(s\in\mathbb R)">
                <a:extLst>
                  <a:ext uri="{FF2B5EF4-FFF2-40B4-BE49-F238E27FC236}">
                    <a16:creationId xmlns:a16="http://schemas.microsoft.com/office/drawing/2014/main" id="{75C7ABE3-4E51-40C7-8B1D-DC862FF74658}"/>
                  </a:ext>
                </a:extLst>
              </p:cNvPr>
              <p:cNvSpPr>
                <a:spLocks noGrp="1"/>
              </p:cNvSpPr>
              <p:nvPr/>
            </p:nvSpPr>
            <p:spPr>
              <a:xfrm>
                <a:off x="723900" y="3789807"/>
                <a:ext cx="10744200" cy="8763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smtClean="0">
                          <a:solidFill>
                            <a:srgbClr val="087F83"/>
                          </a:solidFill>
                          <a:latin typeface="Cambria Math"/>
                          <a:ea typeface="Cambria Math"/>
                          <a:cs typeface="Cambria Math"/>
                        </a:rPr>
                        <m:t>𝜎</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𝑠</m:t>
                          </m:r>
                        </m:e>
                      </m:d>
                      <m:r>
                        <a:rPr lang="en-GB" sz="2800">
                          <a:solidFill>
                            <a:srgbClr val="087F83"/>
                          </a:solidFill>
                          <a:latin typeface="Cambria Math"/>
                          <a:ea typeface="Cambria Math"/>
                          <a:cs typeface="Cambria Math"/>
                        </a:rPr>
                        <m:t>=</m:t>
                      </m:r>
                      <m:f>
                        <m:fPr>
                          <m:ctrlPr>
                            <a:rPr lang="en-GB" sz="2800">
                              <a:solidFill>
                                <a:srgbClr val="087F83"/>
                              </a:solidFill>
                              <a:latin typeface="Cambria Math"/>
                              <a:ea typeface="Cambria Math"/>
                              <a:cs typeface="Cambria Math"/>
                            </a:rPr>
                          </m:ctrlPr>
                        </m:fPr>
                        <m:num>
                          <m:r>
                            <a:rPr lang="en-GB" sz="2800">
                              <a:solidFill>
                                <a:srgbClr val="087F83"/>
                              </a:solidFill>
                              <a:latin typeface="Cambria Math"/>
                              <a:ea typeface="Cambria Math"/>
                              <a:cs typeface="Cambria Math"/>
                            </a:rPr>
                            <m:t>1</m:t>
                          </m:r>
                        </m:num>
                        <m:den>
                          <m:r>
                            <a:rPr lang="en-GB" sz="2800">
                              <a:solidFill>
                                <a:srgbClr val="087F83"/>
                              </a:solidFill>
                              <a:latin typeface="Cambria Math"/>
                              <a:ea typeface="Cambria Math"/>
                              <a:cs typeface="Cambria Math"/>
                            </a:rPr>
                            <m:t>1+</m:t>
                          </m:r>
                          <m:sSup>
                            <m:sSupPr>
                              <m:ctrlPr>
                                <a:rPr lang="en-GB" sz="2800">
                                  <a:solidFill>
                                    <a:srgbClr val="087F83"/>
                                  </a:solidFill>
                                  <a:latin typeface="Cambria Math"/>
                                  <a:ea typeface="Cambria Math"/>
                                  <a:cs typeface="Cambria Math"/>
                                </a:rPr>
                              </m:ctrlPr>
                            </m:sSupPr>
                            <m:e>
                              <m:r>
                                <a:rPr lang="en-GB" sz="2800">
                                  <a:solidFill>
                                    <a:srgbClr val="087F83"/>
                                  </a:solidFill>
                                  <a:latin typeface="Cambria Math"/>
                                  <a:ea typeface="Cambria Math"/>
                                  <a:cs typeface="Cambria Math"/>
                                </a:rPr>
                                <m:t>𝑒</m:t>
                              </m:r>
                            </m:e>
                            <m:sup>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𝑠</m:t>
                              </m:r>
                            </m:sup>
                          </m:sSup>
                        </m:den>
                      </m:f>
                      <m:r>
                        <a:rPr lang="en-GB" sz="2800">
                          <a:solidFill>
                            <a:srgbClr val="087F83"/>
                          </a:solidFill>
                          <a:latin typeface="Cambria Math"/>
                          <a:ea typeface="Cambria Math"/>
                          <a:cs typeface="Cambria Math"/>
                        </a:rPr>
                        <m:t>  (</m:t>
                      </m:r>
                      <m:r>
                        <a:rPr lang="en-GB" sz="2800">
                          <a:solidFill>
                            <a:srgbClr val="087F83"/>
                          </a:solidFill>
                          <a:latin typeface="Cambria Math"/>
                          <a:ea typeface="Cambria Math"/>
                          <a:cs typeface="Cambria Math"/>
                        </a:rPr>
                        <m:t>𝑠</m:t>
                      </m:r>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ℝ</m:t>
                      </m:r>
                      <m:r>
                        <a:rPr lang="en-GB" sz="2800">
                          <a:solidFill>
                            <a:srgbClr val="087F83"/>
                          </a:solidFill>
                          <a:latin typeface="Cambria Math"/>
                          <a:ea typeface="Cambria Math"/>
                          <a:cs typeface="Cambria Math"/>
                        </a:rPr>
                        <m:t>)</m:t>
                      </m:r>
                    </m:oMath>
                  </m:oMathPara>
                </a14:m>
                <a:endParaRPr lang="en-GB" sz="2800" dirty="0"/>
              </a:p>
            </p:txBody>
          </p:sp>
        </mc:Choice>
        <mc:Fallback xmlns="">
          <p:sp>
            <p:nvSpPr>
              <p:cNvPr id="13" name="step_1_sigmoid" descr="\sigma(s)=\frac{1}{1+e^{-s}}\qquad(s\in\mathbb R)">
                <a:extLst>
                  <a:ext uri="{FF2B5EF4-FFF2-40B4-BE49-F238E27FC236}">
                    <a16:creationId xmlns:a16="http://schemas.microsoft.com/office/drawing/2014/main" id="{75C7ABE3-4E51-40C7-8B1D-DC862FF74658}"/>
                  </a:ext>
                </a:extLst>
              </p:cNvPr>
              <p:cNvSpPr>
                <a:spLocks noGrp="1" noRot="1" noChangeAspect="1" noMove="1" noResize="1" noEditPoints="1" noAdjustHandles="1" noChangeArrowheads="1" noChangeShapeType="1" noTextEdit="1"/>
              </p:cNvSpPr>
              <p:nvPr/>
            </p:nvSpPr>
            <p:spPr>
              <a:xfrm>
                <a:off x="723900" y="3789807"/>
                <a:ext cx="10744200" cy="8763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step_2_loss_label">
                <a:extLst>
                  <a:ext uri="{FF2B5EF4-FFF2-40B4-BE49-F238E27FC236}">
                    <a16:creationId xmlns:a16="http://schemas.microsoft.com/office/drawing/2014/main" id="{03E2F58D-BAAF-47E6-B4A5-B720ED6A1FE7}"/>
                  </a:ext>
                </a:extLst>
              </p:cNvPr>
              <p:cNvSpPr>
                <a:spLocks noGrp="1"/>
              </p:cNvSpPr>
              <p:nvPr/>
            </p:nvSpPr>
            <p:spPr>
              <a:xfrm>
                <a:off x="723900" y="4948238"/>
                <a:ext cx="10744200" cy="323850"/>
              </a:xfrm>
              <a:prstGeom prst="rect">
                <a:avLst/>
              </a:prstGeom>
              <a:noFill/>
              <a:ln w="0">
                <a:noFill/>
              </a:ln>
            </p:spPr>
            <p:txBody>
              <a:bodyPr wrap="square" lIns="0" tIns="0" rIns="0" bIns="0" anchor="ctr">
                <a:noAutofit/>
              </a:bodyPr>
              <a:lstStyle/>
              <a:p>
                <a:pPr algn="ctr">
                  <a:lnSpc>
                    <a:spcPct val="110000"/>
                  </a:lnSpc>
                  <a:buNone/>
                  <a:defRPr sz="1875" b="1">
                    <a:solidFill>
                      <a:srgbClr val="182D45"/>
                    </a:solidFill>
                    <a:latin typeface="DejaVu Sans"/>
                    <a:ea typeface="DejaVu Sans"/>
                    <a:cs typeface="DejaVu Sans"/>
                  </a:defRPr>
                </a:pPr>
                <a:r>
                  <a:rPr lang="it-IT" sz="1875" b="1" dirty="0" err="1">
                    <a:solidFill>
                      <a:srgbClr val="182D45"/>
                    </a:solidFill>
                    <a:latin typeface="DejaVu Sans"/>
                    <a:ea typeface="DejaVu Sans"/>
                    <a:cs typeface="DejaVu Sans"/>
                  </a:rPr>
                  <a:t>Define</a:t>
                </a:r>
                <a:r>
                  <a:rPr lang="it-IT" sz="1875" b="1" dirty="0">
                    <a:solidFill>
                      <a:srgbClr val="182D45"/>
                    </a:solidFill>
                    <a:latin typeface="DejaVu Sans"/>
                    <a:ea typeface="DejaVu Sans"/>
                    <a:cs typeface="DejaVu Sans"/>
                  </a:rPr>
                  <a:t> the l</a:t>
                </a:r>
                <a:r>
                  <a:rPr sz="1875" b="1" dirty="0" err="1">
                    <a:solidFill>
                      <a:srgbClr val="182D45"/>
                    </a:solidFill>
                    <a:latin typeface="DejaVu Sans"/>
                    <a:ea typeface="DejaVu Sans"/>
                    <a:cs typeface="DejaVu Sans"/>
                  </a:rPr>
                  <a:t>ogistic</a:t>
                </a:r>
                <a:r>
                  <a:rPr sz="1875" b="1" dirty="0">
                    <a:solidFill>
                      <a:srgbClr val="182D45"/>
                    </a:solidFill>
                    <a:latin typeface="DejaVu Sans"/>
                    <a:ea typeface="DejaVu Sans"/>
                    <a:cs typeface="DejaVu Sans"/>
                  </a:rPr>
                  <a:t> loss</a:t>
                </a:r>
                <a:r>
                  <a:rPr lang="it-IT" sz="1875" b="1" dirty="0">
                    <a:solidFill>
                      <a:srgbClr val="182D45"/>
                    </a:solidFill>
                    <a:latin typeface="DejaVu Sans"/>
                    <a:ea typeface="DejaVu Sans"/>
                    <a:cs typeface="DejaVu Sans"/>
                  </a:rPr>
                  <a:t> </a:t>
                </a:r>
                <a:r>
                  <a:rPr lang="it-IT" sz="1875" b="1" dirty="0" err="1">
                    <a:solidFill>
                      <a:srgbClr val="182D45"/>
                    </a:solidFill>
                    <a:latin typeface="DejaVu Sans"/>
                    <a:ea typeface="DejaVu Sans"/>
                    <a:cs typeface="DejaVu Sans"/>
                  </a:rPr>
                  <a:t>corresponding</a:t>
                </a:r>
                <a:r>
                  <a:rPr lang="it-IT" sz="1875" b="1" dirty="0">
                    <a:solidFill>
                      <a:srgbClr val="182D45"/>
                    </a:solidFill>
                    <a:latin typeface="DejaVu Sans"/>
                    <a:ea typeface="DejaVu Sans"/>
                    <a:cs typeface="DejaVu Sans"/>
                  </a:rPr>
                  <a:t> to the </a:t>
                </a:r>
                <a14:m>
                  <m:oMath xmlns:m="http://schemas.openxmlformats.org/officeDocument/2006/math">
                    <m:r>
                      <a:rPr lang="it-IT" b="1" i="1">
                        <a:solidFill>
                          <a:srgbClr val="182D45"/>
                        </a:solidFill>
                        <a:latin typeface="Cambria Math" panose="02040503050406030204" pitchFamily="18" charset="0"/>
                        <a:ea typeface="DejaVu Sans"/>
                        <a:cs typeface="DejaVu Sans"/>
                      </a:rPr>
                      <m:t>𝒊</m:t>
                    </m:r>
                    <m:r>
                      <a:rPr lang="it-IT" b="1">
                        <a:solidFill>
                          <a:srgbClr val="182D45"/>
                        </a:solidFill>
                        <a:latin typeface="Cambria Math" panose="02040503050406030204" pitchFamily="18" charset="0"/>
                        <a:ea typeface="DejaVu Sans"/>
                        <a:cs typeface="DejaVu Sans"/>
                      </a:rPr>
                      <m:t>𝐭𝐡</m:t>
                    </m:r>
                  </m:oMath>
                </a14:m>
                <a:r>
                  <a:rPr lang="it-IT" sz="1875" b="1" dirty="0">
                    <a:solidFill>
                      <a:srgbClr val="182D45"/>
                    </a:solidFill>
                    <a:latin typeface="DejaVu Sans"/>
                    <a:ea typeface="DejaVu Sans"/>
                    <a:cs typeface="DejaVu Sans"/>
                  </a:rPr>
                  <a:t> output </a:t>
                </a:r>
                <a14:m>
                  <m:oMath xmlns:m="http://schemas.openxmlformats.org/officeDocument/2006/math">
                    <m:sSub>
                      <m:sSubPr>
                        <m:ctrlPr>
                          <a:rPr lang="it-IT" sz="2000" i="1">
                            <a:solidFill>
                              <a:srgbClr val="526276"/>
                            </a:solidFill>
                            <a:latin typeface="Cambria Math" panose="02040503050406030204" pitchFamily="18" charset="0"/>
                          </a:rPr>
                        </m:ctrlPr>
                      </m:sSubPr>
                      <m:e>
                        <m:r>
                          <a:rPr lang="it-IT" sz="2000" i="1">
                            <a:solidFill>
                              <a:srgbClr val="526276"/>
                            </a:solidFill>
                            <a:latin typeface="Cambria Math" panose="02040503050406030204" pitchFamily="18" charset="0"/>
                          </a:rPr>
                          <m:t>𝑦</m:t>
                        </m:r>
                      </m:e>
                      <m:sub>
                        <m:r>
                          <a:rPr lang="it-IT" sz="2000" i="1">
                            <a:solidFill>
                              <a:srgbClr val="526276"/>
                            </a:solidFill>
                            <a:latin typeface="Cambria Math" panose="02040503050406030204" pitchFamily="18" charset="0"/>
                          </a:rPr>
                          <m:t>𝑖</m:t>
                        </m:r>
                      </m:sub>
                    </m:sSub>
                  </m:oMath>
                </a14:m>
                <a:endParaRPr sz="1875" b="1" dirty="0">
                  <a:solidFill>
                    <a:srgbClr val="182D45"/>
                  </a:solidFill>
                  <a:latin typeface="DejaVu Sans"/>
                  <a:ea typeface="DejaVu Sans"/>
                  <a:cs typeface="DejaVu Sans"/>
                </a:endParaRPr>
              </a:p>
            </p:txBody>
          </p:sp>
        </mc:Choice>
        <mc:Fallback xmlns="">
          <p:sp>
            <p:nvSpPr>
              <p:cNvPr id="14" name="step_2_loss_label">
                <a:extLst>
                  <a:ext uri="{FF2B5EF4-FFF2-40B4-BE49-F238E27FC236}">
                    <a16:creationId xmlns:a16="http://schemas.microsoft.com/office/drawing/2014/main" id="{03E2F58D-BAAF-47E6-B4A5-B720ED6A1FE7}"/>
                  </a:ext>
                </a:extLst>
              </p:cNvPr>
              <p:cNvSpPr>
                <a:spLocks noGrp="1" noRot="1" noChangeAspect="1" noMove="1" noResize="1" noEditPoints="1" noAdjustHandles="1" noChangeArrowheads="1" noChangeShapeType="1" noTextEdit="1"/>
              </p:cNvSpPr>
              <p:nvPr/>
            </p:nvSpPr>
            <p:spPr>
              <a:xfrm>
                <a:off x="723900" y="4948238"/>
                <a:ext cx="10744200" cy="323850"/>
              </a:xfrm>
              <a:prstGeom prst="rect">
                <a:avLst/>
              </a:prstGeom>
              <a:blipFill>
                <a:blip r:embed="rId8"/>
                <a:stretch>
                  <a:fillRect t="-16981" b="-3962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step_2_loss" descr="G_i(p)\coloneqq\ell_{\log}(p,y_i)=-y_i\log p-(1-y_i)\log(1-p)">
                <a:extLst>
                  <a:ext uri="{FF2B5EF4-FFF2-40B4-BE49-F238E27FC236}">
                    <a16:creationId xmlns:a16="http://schemas.microsoft.com/office/drawing/2014/main" id="{D7E2C5AD-D6F6-4056-AB13-2D90DBCBF640}"/>
                  </a:ext>
                </a:extLst>
              </p:cNvPr>
              <p:cNvSpPr>
                <a:spLocks noGrp="1"/>
              </p:cNvSpPr>
              <p:nvPr/>
            </p:nvSpPr>
            <p:spPr>
              <a:xfrm>
                <a:off x="723900" y="5457825"/>
                <a:ext cx="10744200" cy="685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𝐺</m:t>
                          </m:r>
                        </m:e>
                        <m:sub>
                          <m:r>
                            <a:rPr lang="en-GB" sz="2550">
                              <a:solidFill>
                                <a:srgbClr val="087F83"/>
                              </a:solidFill>
                              <a:latin typeface="Cambria Math"/>
                              <a:ea typeface="Cambria Math"/>
                              <a:cs typeface="Cambria Math"/>
                            </a:rPr>
                            <m:t>𝑖</m:t>
                          </m:r>
                        </m:sub>
                      </m:sSub>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𝑝</m:t>
                          </m:r>
                        </m:e>
                      </m:d>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m:rPr>
                              <m:sty m:val="p"/>
                            </m:rPr>
                            <a:rPr lang="en-GB" sz="2550">
                              <a:solidFill>
                                <a:srgbClr val="087F83"/>
                              </a:solidFill>
                              <a:latin typeface="Cambria Math"/>
                              <a:ea typeface="Cambria Math"/>
                              <a:cs typeface="Cambria Math"/>
                            </a:rPr>
                            <m:t>ℓ</m:t>
                          </m:r>
                        </m:e>
                        <m:sub>
                          <m:r>
                            <m:rPr>
                              <m:sty m:val="p"/>
                            </m:rPr>
                            <a:rPr lang="en-GB" sz="2550">
                              <a:solidFill>
                                <a:srgbClr val="087F83"/>
                              </a:solidFill>
                              <a:latin typeface="Cambria Math"/>
                              <a:ea typeface="Cambria Math"/>
                              <a:cs typeface="Cambria Math"/>
                            </a:rPr>
                            <m:t>log</m:t>
                          </m:r>
                        </m:sub>
                      </m:sSub>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𝑝</m:t>
                          </m:r>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𝑦</m:t>
                              </m:r>
                            </m:e>
                            <m:sub>
                              <m:r>
                                <a:rPr lang="en-GB" sz="2550">
                                  <a:solidFill>
                                    <a:srgbClr val="087F83"/>
                                  </a:solidFill>
                                  <a:latin typeface="Cambria Math"/>
                                  <a:ea typeface="Cambria Math"/>
                                  <a:cs typeface="Cambria Math"/>
                                </a:rPr>
                                <m:t>𝑖</m:t>
                              </m:r>
                            </m:sub>
                          </m:sSub>
                        </m:e>
                      </m:d>
                    </m:oMath>
                  </m:oMathPara>
                </a14:m>
                <a:endParaRPr lang="en-GB" sz="2550" dirty="0"/>
              </a:p>
            </p:txBody>
          </p:sp>
        </mc:Choice>
        <mc:Fallback xmlns="">
          <p:sp>
            <p:nvSpPr>
              <p:cNvPr id="15" name="step_2_loss" descr="G_i(p)\coloneqq\ell_{\log}(p,y_i)=-y_i\log p-(1-y_i)\log(1-p)">
                <a:extLst>
                  <a:ext uri="{FF2B5EF4-FFF2-40B4-BE49-F238E27FC236}">
                    <a16:creationId xmlns:a16="http://schemas.microsoft.com/office/drawing/2014/main" id="{D7E2C5AD-D6F6-4056-AB13-2D90DBCBF640}"/>
                  </a:ext>
                </a:extLst>
              </p:cNvPr>
              <p:cNvSpPr>
                <a:spLocks noGrp="1" noRot="1" noChangeAspect="1" noMove="1" noResize="1" noEditPoints="1" noAdjustHandles="1" noChangeArrowheads="1" noChangeShapeType="1" noTextEdit="1"/>
              </p:cNvSpPr>
              <p:nvPr/>
            </p:nvSpPr>
            <p:spPr>
              <a:xfrm>
                <a:off x="723900" y="5457825"/>
                <a:ext cx="10744200" cy="68580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615474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6EB79ED7-6766-489C-A3F3-7683DF2EFAA2}"/>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The chain rule for one observation</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AF5C4482-F65F-4CBB-8967-81326E016A04}"/>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en-GB" sz="2100" b="0" dirty="0">
                    <a:solidFill>
                      <a:srgbClr val="526276"/>
                    </a:solidFill>
                    <a:latin typeface="DejaVu Sans"/>
                    <a:ea typeface="DejaVu Sans"/>
                    <a:cs typeface="DejaVu Sans"/>
                  </a:rPr>
                  <a:t>The loss for </a:t>
                </a:r>
                <a:r>
                  <a:rPr lang="en-GB" sz="2100" dirty="0">
                    <a:solidFill>
                      <a:srgbClr val="526276"/>
                    </a:solidFill>
                    <a:latin typeface="DejaVu Sans"/>
                    <a:ea typeface="DejaVu Sans"/>
                    <a:cs typeface="DejaVu Sans"/>
                  </a:rPr>
                  <a:t>the </a:t>
                </a:r>
                <a14:m>
                  <m:oMath xmlns:m="http://schemas.openxmlformats.org/officeDocument/2006/math">
                    <m:r>
                      <a:rPr lang="en-GB" sz="2100" b="0" i="1" smtClean="0">
                        <a:solidFill>
                          <a:srgbClr val="526276"/>
                        </a:solidFill>
                        <a:latin typeface="Cambria Math" panose="02040503050406030204" pitchFamily="18" charset="0"/>
                        <a:ea typeface="DejaVu Sans"/>
                        <a:cs typeface="DejaVu Sans"/>
                      </a:rPr>
                      <m:t>𝑖</m:t>
                    </m:r>
                  </m:oMath>
                </a14:m>
                <a:r>
                  <a:rPr lang="en-GB" sz="2100" b="0" dirty="0">
                    <a:solidFill>
                      <a:srgbClr val="526276"/>
                    </a:solidFill>
                    <a:latin typeface="DejaVu Sans"/>
                    <a:ea typeface="DejaVu Sans"/>
                    <a:cs typeface="DejaVu Sans"/>
                  </a:rPr>
                  <a:t>th observation is the </a:t>
                </a:r>
                <a:r>
                  <a:rPr lang="en-GB" sz="2100" b="0" dirty="0">
                    <a:solidFill>
                      <a:srgbClr val="FF0000"/>
                    </a:solidFill>
                    <a:latin typeface="DejaVu Sans"/>
                    <a:ea typeface="DejaVu Sans"/>
                    <a:cs typeface="DejaVu Sans"/>
                  </a:rPr>
                  <a:t>composition</a:t>
                </a:r>
                <a:r>
                  <a:rPr lang="en-GB" sz="2100" b="0" dirty="0">
                    <a:solidFill>
                      <a:srgbClr val="526276"/>
                    </a:solidFill>
                    <a:latin typeface="DejaVu Sans"/>
                    <a:ea typeface="DejaVu Sans"/>
                    <a:cs typeface="DejaVu Sans"/>
                  </a:rPr>
                  <a:t> of these three functions.</a:t>
                </a:r>
                <a:endParaRPr sz="2100" b="0" dirty="0">
                  <a:solidFill>
                    <a:srgbClr val="526276"/>
                  </a:solidFill>
                  <a:latin typeface="DejaVu Sans"/>
                  <a:ea typeface="DejaVu Sans"/>
                  <a:cs typeface="DejaVu Sans"/>
                </a:endParaRPr>
              </a:p>
            </p:txBody>
          </p:sp>
        </mc:Choice>
        <mc:Fallback xmlns="">
          <p:sp>
            <p:nvSpPr>
              <p:cNvPr id="2" name="lead">
                <a:extLst>
                  <a:ext uri="{FF2B5EF4-FFF2-40B4-BE49-F238E27FC236}">
                    <a16:creationId xmlns:a16="http://schemas.microsoft.com/office/drawing/2014/main" id="{AF5C4482-F65F-4CBB-8967-81326E016A04}"/>
                  </a:ext>
                </a:extLst>
              </p:cNvPr>
              <p:cNvSpPr>
                <a:spLocks noGrp="1" noRot="1" noChangeAspect="1" noMove="1" noResize="1" noEditPoints="1" noAdjustHandles="1" noChangeArrowheads="1" noChangeShapeType="1" noTextEdit="1"/>
              </p:cNvSpPr>
              <p:nvPr/>
            </p:nvSpPr>
            <p:spPr>
              <a:xfrm>
                <a:off x="723900" y="1143000"/>
                <a:ext cx="10744200" cy="6667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AA3BE657-380F-4D37-8A82-5E8C6051A931}"/>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882092D8-9CE3-4156-93B5-EEDA11C825DE}"/>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23</a:t>
            </a:r>
          </a:p>
        </p:txBody>
      </p:sp>
      <mc:AlternateContent xmlns:mc="http://schemas.openxmlformats.org/markup-compatibility/2006" xmlns:a14="http://schemas.microsoft.com/office/drawing/2010/main">
        <mc:Choice Requires="a14">
          <p:sp>
            <p:nvSpPr>
              <p:cNvPr id="9" name="step_0_composition" descr="\ell_{\log}\bigl(p_{\boldsymbol\theta}(\boldsymbol x_i),y_i\bigr)=(G_i\circ\sigma\circ F_i)(\boldsymbol\theta)=G_i\bigl(\sigma(F_i(\boldsymbol\theta))\bigr)">
                <a:extLst>
                  <a:ext uri="{FF2B5EF4-FFF2-40B4-BE49-F238E27FC236}">
                    <a16:creationId xmlns:a16="http://schemas.microsoft.com/office/drawing/2014/main" id="{B981ADD9-61F1-42ED-8ADE-7FA83A6A37F5}"/>
                  </a:ext>
                </a:extLst>
              </p:cNvPr>
              <p:cNvSpPr>
                <a:spLocks noGrp="1"/>
              </p:cNvSpPr>
              <p:nvPr/>
            </p:nvSpPr>
            <p:spPr>
              <a:xfrm>
                <a:off x="723900" y="1633346"/>
                <a:ext cx="1074420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50">
                              <a:solidFill>
                                <a:srgbClr val="326CB2"/>
                              </a:solidFill>
                              <a:latin typeface="Cambria Math"/>
                              <a:ea typeface="Cambria Math"/>
                              <a:cs typeface="Cambria Math"/>
                            </a:rPr>
                          </m:ctrlPr>
                        </m:sSubPr>
                        <m:e>
                          <m:r>
                            <m:rPr>
                              <m:sty m:val="p"/>
                            </m:rPr>
                            <a:rPr lang="en-GB" sz="2650">
                              <a:solidFill>
                                <a:srgbClr val="326CB2"/>
                              </a:solidFill>
                              <a:latin typeface="Cambria Math"/>
                              <a:ea typeface="Cambria Math"/>
                              <a:cs typeface="Cambria Math"/>
                            </a:rPr>
                            <m:t>ℓ</m:t>
                          </m:r>
                        </m:e>
                        <m:sub>
                          <m:r>
                            <m:rPr>
                              <m:sty m:val="p"/>
                            </m:rPr>
                            <a:rPr lang="en-GB" sz="2650">
                              <a:solidFill>
                                <a:srgbClr val="326CB2"/>
                              </a:solidFill>
                              <a:latin typeface="Cambria Math"/>
                              <a:ea typeface="Cambria Math"/>
                              <a:cs typeface="Cambria Math"/>
                            </a:rPr>
                            <m:t>log</m:t>
                          </m:r>
                        </m:sub>
                      </m:sSub>
                      <m:d>
                        <m:dPr>
                          <m:ctrlPr>
                            <a:rPr lang="en-GB" sz="2650" i="1">
                              <a:solidFill>
                                <a:srgbClr val="326CB2"/>
                              </a:solidFill>
                              <a:latin typeface="Cambria Math" panose="02040503050406030204" pitchFamily="18" charset="0"/>
                              <a:ea typeface="Cambria Math"/>
                              <a:cs typeface="Cambria Math"/>
                            </a:rPr>
                          </m:ctrlPr>
                        </m:dPr>
                        <m:e>
                          <m:sSub>
                            <m:sSubPr>
                              <m:ctrlPr>
                                <a:rPr lang="en-GB" sz="2650">
                                  <a:solidFill>
                                    <a:srgbClr val="326CB2"/>
                                  </a:solidFill>
                                  <a:latin typeface="Cambria Math"/>
                                  <a:ea typeface="Cambria Math"/>
                                  <a:cs typeface="Cambria Math"/>
                                </a:rPr>
                              </m:ctrlPr>
                            </m:sSubPr>
                            <m:e>
                              <m:r>
                                <a:rPr lang="en-GB" sz="2650">
                                  <a:solidFill>
                                    <a:srgbClr val="326CB2"/>
                                  </a:solidFill>
                                  <a:latin typeface="Cambria Math"/>
                                  <a:ea typeface="Cambria Math"/>
                                  <a:cs typeface="Cambria Math"/>
                                </a:rPr>
                                <m:t>𝑝</m:t>
                              </m:r>
                            </m:e>
                            <m:sub>
                              <m:r>
                                <a:rPr lang="en-GB" sz="2650">
                                  <a:solidFill>
                                    <a:srgbClr val="326CB2"/>
                                  </a:solidFill>
                                  <a:latin typeface="Cambria Math"/>
                                  <a:ea typeface="Cambria Math"/>
                                  <a:cs typeface="Cambria Math"/>
                                </a:rPr>
                                <m:t>𝛉</m:t>
                              </m:r>
                            </m:sub>
                          </m:sSub>
                          <m:d>
                            <m:dPr>
                              <m:ctrlPr>
                                <a:rPr lang="en-GB" sz="2650" i="1">
                                  <a:solidFill>
                                    <a:srgbClr val="326CB2"/>
                                  </a:solidFill>
                                  <a:latin typeface="Cambria Math" panose="02040503050406030204" pitchFamily="18" charset="0"/>
                                  <a:ea typeface="Cambria Math"/>
                                  <a:cs typeface="Cambria Math"/>
                                </a:rPr>
                              </m:ctrlPr>
                            </m:dPr>
                            <m:e>
                              <m:sSub>
                                <m:sSubPr>
                                  <m:ctrlPr>
                                    <a:rPr lang="en-GB" sz="2650">
                                      <a:solidFill>
                                        <a:srgbClr val="326CB2"/>
                                      </a:solidFill>
                                      <a:latin typeface="Cambria Math"/>
                                      <a:ea typeface="Cambria Math"/>
                                      <a:cs typeface="Cambria Math"/>
                                    </a:rPr>
                                  </m:ctrlPr>
                                </m:sSubPr>
                                <m:e>
                                  <m:r>
                                    <a:rPr lang="en-GB" sz="2650">
                                      <a:solidFill>
                                        <a:srgbClr val="326CB2"/>
                                      </a:solidFill>
                                      <a:latin typeface="Cambria Math"/>
                                      <a:ea typeface="Cambria Math"/>
                                      <a:cs typeface="Cambria Math"/>
                                    </a:rPr>
                                    <m:t>𝐱</m:t>
                                  </m:r>
                                </m:e>
                                <m:sub>
                                  <m:r>
                                    <a:rPr lang="en-GB" sz="2650">
                                      <a:solidFill>
                                        <a:srgbClr val="326CB2"/>
                                      </a:solidFill>
                                      <a:latin typeface="Cambria Math"/>
                                      <a:ea typeface="Cambria Math"/>
                                      <a:cs typeface="Cambria Math"/>
                                    </a:rPr>
                                    <m:t>𝑖</m:t>
                                  </m:r>
                                </m:sub>
                              </m:sSub>
                            </m:e>
                          </m:d>
                          <m:r>
                            <a:rPr lang="en-GB" sz="2650">
                              <a:solidFill>
                                <a:srgbClr val="326CB2"/>
                              </a:solidFill>
                              <a:latin typeface="Cambria Math"/>
                              <a:ea typeface="Cambria Math"/>
                              <a:cs typeface="Cambria Math"/>
                            </a:rPr>
                            <m:t>,</m:t>
                          </m:r>
                          <m:sSub>
                            <m:sSubPr>
                              <m:ctrlPr>
                                <a:rPr lang="en-GB" sz="2650">
                                  <a:solidFill>
                                    <a:srgbClr val="326CB2"/>
                                  </a:solidFill>
                                  <a:latin typeface="Cambria Math"/>
                                  <a:ea typeface="Cambria Math"/>
                                  <a:cs typeface="Cambria Math"/>
                                </a:rPr>
                              </m:ctrlPr>
                            </m:sSubPr>
                            <m:e>
                              <m:r>
                                <a:rPr lang="en-GB" sz="2650">
                                  <a:solidFill>
                                    <a:srgbClr val="326CB2"/>
                                  </a:solidFill>
                                  <a:latin typeface="Cambria Math"/>
                                  <a:ea typeface="Cambria Math"/>
                                  <a:cs typeface="Cambria Math"/>
                                </a:rPr>
                                <m:t>𝑦</m:t>
                              </m:r>
                            </m:e>
                            <m:sub>
                              <m:r>
                                <a:rPr lang="en-GB" sz="2650">
                                  <a:solidFill>
                                    <a:srgbClr val="326CB2"/>
                                  </a:solidFill>
                                  <a:latin typeface="Cambria Math"/>
                                  <a:ea typeface="Cambria Math"/>
                                  <a:cs typeface="Cambria Math"/>
                                </a:rPr>
                                <m:t>𝑖</m:t>
                              </m:r>
                            </m:sub>
                          </m:sSub>
                        </m:e>
                      </m:d>
                      <m:r>
                        <a:rPr lang="en-GB" sz="2650">
                          <a:solidFill>
                            <a:srgbClr val="326CB2"/>
                          </a:solidFill>
                          <a:latin typeface="Cambria Math"/>
                          <a:ea typeface="Cambria Math"/>
                          <a:cs typeface="Cambria Math"/>
                        </a:rPr>
                        <m:t>=</m:t>
                      </m:r>
                      <m:d>
                        <m:dPr>
                          <m:ctrlPr>
                            <a:rPr lang="en-GB" sz="2650" i="1">
                              <a:solidFill>
                                <a:srgbClr val="326CB2"/>
                              </a:solidFill>
                              <a:latin typeface="Cambria Math" panose="02040503050406030204" pitchFamily="18" charset="0"/>
                              <a:ea typeface="Cambria Math"/>
                              <a:cs typeface="Cambria Math"/>
                            </a:rPr>
                          </m:ctrlPr>
                        </m:dPr>
                        <m:e>
                          <m:sSub>
                            <m:sSubPr>
                              <m:ctrlPr>
                                <a:rPr lang="en-GB" sz="2650">
                                  <a:solidFill>
                                    <a:srgbClr val="326CB2"/>
                                  </a:solidFill>
                                  <a:latin typeface="Cambria Math"/>
                                  <a:ea typeface="Cambria Math"/>
                                  <a:cs typeface="Cambria Math"/>
                                </a:rPr>
                              </m:ctrlPr>
                            </m:sSubPr>
                            <m:e>
                              <m:r>
                                <a:rPr lang="en-GB" sz="2650">
                                  <a:solidFill>
                                    <a:srgbClr val="326CB2"/>
                                  </a:solidFill>
                                  <a:latin typeface="Cambria Math"/>
                                  <a:ea typeface="Cambria Math"/>
                                  <a:cs typeface="Cambria Math"/>
                                </a:rPr>
                                <m:t>𝐺</m:t>
                              </m:r>
                            </m:e>
                            <m:sub>
                              <m:r>
                                <a:rPr lang="en-GB" sz="2650">
                                  <a:solidFill>
                                    <a:srgbClr val="326CB2"/>
                                  </a:solidFill>
                                  <a:latin typeface="Cambria Math"/>
                                  <a:ea typeface="Cambria Math"/>
                                  <a:cs typeface="Cambria Math"/>
                                </a:rPr>
                                <m:t>𝑖</m:t>
                              </m:r>
                            </m:sub>
                          </m:sSub>
                          <m:r>
                            <a:rPr lang="en-GB" sz="2650">
                              <a:solidFill>
                                <a:srgbClr val="326CB2"/>
                              </a:solidFill>
                              <a:latin typeface="Cambria Math"/>
                              <a:ea typeface="Cambria Math"/>
                              <a:cs typeface="Cambria Math"/>
                            </a:rPr>
                            <m:t>∘</m:t>
                          </m:r>
                          <m:r>
                            <a:rPr lang="en-GB" sz="2650">
                              <a:solidFill>
                                <a:srgbClr val="326CB2"/>
                              </a:solidFill>
                              <a:latin typeface="Cambria Math"/>
                              <a:ea typeface="Cambria Math"/>
                              <a:cs typeface="Cambria Math"/>
                            </a:rPr>
                            <m:t>𝜎</m:t>
                          </m:r>
                          <m:r>
                            <a:rPr lang="en-GB" sz="2650">
                              <a:solidFill>
                                <a:srgbClr val="326CB2"/>
                              </a:solidFill>
                              <a:latin typeface="Cambria Math"/>
                              <a:ea typeface="Cambria Math"/>
                              <a:cs typeface="Cambria Math"/>
                            </a:rPr>
                            <m:t>∘</m:t>
                          </m:r>
                          <m:sSub>
                            <m:sSubPr>
                              <m:ctrlPr>
                                <a:rPr lang="en-GB" sz="2650">
                                  <a:solidFill>
                                    <a:srgbClr val="326CB2"/>
                                  </a:solidFill>
                                  <a:latin typeface="Cambria Math"/>
                                  <a:ea typeface="Cambria Math"/>
                                  <a:cs typeface="Cambria Math"/>
                                </a:rPr>
                              </m:ctrlPr>
                            </m:sSubPr>
                            <m:e>
                              <m:r>
                                <a:rPr lang="en-GB" sz="2650">
                                  <a:solidFill>
                                    <a:srgbClr val="326CB2"/>
                                  </a:solidFill>
                                  <a:latin typeface="Cambria Math"/>
                                  <a:ea typeface="Cambria Math"/>
                                  <a:cs typeface="Cambria Math"/>
                                </a:rPr>
                                <m:t>𝐹</m:t>
                              </m:r>
                            </m:e>
                            <m:sub>
                              <m:r>
                                <a:rPr lang="en-GB" sz="2650">
                                  <a:solidFill>
                                    <a:srgbClr val="326CB2"/>
                                  </a:solidFill>
                                  <a:latin typeface="Cambria Math"/>
                                  <a:ea typeface="Cambria Math"/>
                                  <a:cs typeface="Cambria Math"/>
                                </a:rPr>
                                <m:t>𝑖</m:t>
                              </m:r>
                            </m:sub>
                          </m:sSub>
                        </m:e>
                      </m:d>
                      <m:d>
                        <m:dPr>
                          <m:ctrlPr>
                            <a:rPr lang="en-GB" sz="2650">
                              <a:solidFill>
                                <a:srgbClr val="326CB2"/>
                              </a:solidFill>
                              <a:latin typeface="Cambria Math"/>
                              <a:ea typeface="Cambria Math"/>
                              <a:cs typeface="Cambria Math"/>
                            </a:rPr>
                          </m:ctrlPr>
                        </m:dPr>
                        <m:e>
                          <m:r>
                            <a:rPr lang="en-GB" sz="2650">
                              <a:solidFill>
                                <a:srgbClr val="326CB2"/>
                              </a:solidFill>
                              <a:latin typeface="Cambria Math"/>
                              <a:ea typeface="Cambria Math"/>
                              <a:cs typeface="Cambria Math"/>
                            </a:rPr>
                            <m:t>𝛉</m:t>
                          </m:r>
                        </m:e>
                      </m:d>
                      <m:r>
                        <a:rPr lang="en-GB" sz="2650">
                          <a:solidFill>
                            <a:srgbClr val="326CB2"/>
                          </a:solidFill>
                          <a:latin typeface="Cambria Math"/>
                          <a:ea typeface="Cambria Math"/>
                          <a:cs typeface="Cambria Math"/>
                        </a:rPr>
                        <m:t>=</m:t>
                      </m:r>
                      <m:sSub>
                        <m:sSubPr>
                          <m:ctrlPr>
                            <a:rPr lang="en-GB" sz="2650">
                              <a:solidFill>
                                <a:srgbClr val="326CB2"/>
                              </a:solidFill>
                              <a:latin typeface="Cambria Math"/>
                              <a:ea typeface="Cambria Math"/>
                              <a:cs typeface="Cambria Math"/>
                            </a:rPr>
                          </m:ctrlPr>
                        </m:sSubPr>
                        <m:e>
                          <m:r>
                            <a:rPr lang="en-GB" sz="2650">
                              <a:solidFill>
                                <a:srgbClr val="326CB2"/>
                              </a:solidFill>
                              <a:latin typeface="Cambria Math"/>
                              <a:ea typeface="Cambria Math"/>
                              <a:cs typeface="Cambria Math"/>
                            </a:rPr>
                            <m:t>𝐺</m:t>
                          </m:r>
                        </m:e>
                        <m:sub>
                          <m:r>
                            <a:rPr lang="en-GB" sz="2650">
                              <a:solidFill>
                                <a:srgbClr val="326CB2"/>
                              </a:solidFill>
                              <a:latin typeface="Cambria Math"/>
                              <a:ea typeface="Cambria Math"/>
                              <a:cs typeface="Cambria Math"/>
                            </a:rPr>
                            <m:t>𝑖</m:t>
                          </m:r>
                        </m:sub>
                      </m:sSub>
                      <m:d>
                        <m:dPr>
                          <m:ctrlPr>
                            <a:rPr lang="en-GB" sz="2650">
                              <a:solidFill>
                                <a:srgbClr val="326CB2"/>
                              </a:solidFill>
                              <a:latin typeface="Cambria Math"/>
                              <a:ea typeface="Cambria Math"/>
                              <a:cs typeface="Cambria Math"/>
                            </a:rPr>
                          </m:ctrlPr>
                        </m:dPr>
                        <m:e>
                          <m:r>
                            <a:rPr lang="en-GB" sz="2650">
                              <a:solidFill>
                                <a:srgbClr val="326CB2"/>
                              </a:solidFill>
                              <a:latin typeface="Cambria Math"/>
                              <a:ea typeface="Cambria Math"/>
                              <a:cs typeface="Cambria Math"/>
                            </a:rPr>
                            <m:t>𝜎</m:t>
                          </m:r>
                          <m:d>
                            <m:dPr>
                              <m:ctrlPr>
                                <a:rPr lang="en-GB" sz="2650" i="1">
                                  <a:solidFill>
                                    <a:srgbClr val="326CB2"/>
                                  </a:solidFill>
                                  <a:latin typeface="Cambria Math" panose="02040503050406030204" pitchFamily="18" charset="0"/>
                                  <a:ea typeface="Cambria Math"/>
                                  <a:cs typeface="Cambria Math"/>
                                </a:rPr>
                              </m:ctrlPr>
                            </m:dPr>
                            <m:e>
                              <m:sSub>
                                <m:sSubPr>
                                  <m:ctrlPr>
                                    <a:rPr lang="en-GB" sz="2650">
                                      <a:solidFill>
                                        <a:srgbClr val="326CB2"/>
                                      </a:solidFill>
                                      <a:latin typeface="Cambria Math"/>
                                      <a:ea typeface="Cambria Math"/>
                                      <a:cs typeface="Cambria Math"/>
                                    </a:rPr>
                                  </m:ctrlPr>
                                </m:sSubPr>
                                <m:e>
                                  <m:r>
                                    <a:rPr lang="en-GB" sz="2650">
                                      <a:solidFill>
                                        <a:srgbClr val="326CB2"/>
                                      </a:solidFill>
                                      <a:latin typeface="Cambria Math"/>
                                      <a:ea typeface="Cambria Math"/>
                                      <a:cs typeface="Cambria Math"/>
                                    </a:rPr>
                                    <m:t>𝐹</m:t>
                                  </m:r>
                                </m:e>
                                <m:sub>
                                  <m:r>
                                    <a:rPr lang="en-GB" sz="2650">
                                      <a:solidFill>
                                        <a:srgbClr val="326CB2"/>
                                      </a:solidFill>
                                      <a:latin typeface="Cambria Math"/>
                                      <a:ea typeface="Cambria Math"/>
                                      <a:cs typeface="Cambria Math"/>
                                    </a:rPr>
                                    <m:t>𝑖</m:t>
                                  </m:r>
                                </m:sub>
                              </m:sSub>
                              <m:d>
                                <m:dPr>
                                  <m:ctrlPr>
                                    <a:rPr lang="en-GB" sz="2650">
                                      <a:solidFill>
                                        <a:srgbClr val="326CB2"/>
                                      </a:solidFill>
                                      <a:latin typeface="Cambria Math"/>
                                      <a:ea typeface="Cambria Math"/>
                                      <a:cs typeface="Cambria Math"/>
                                    </a:rPr>
                                  </m:ctrlPr>
                                </m:dPr>
                                <m:e>
                                  <m:r>
                                    <a:rPr lang="en-GB" sz="2650">
                                      <a:solidFill>
                                        <a:srgbClr val="326CB2"/>
                                      </a:solidFill>
                                      <a:latin typeface="Cambria Math"/>
                                      <a:ea typeface="Cambria Math"/>
                                      <a:cs typeface="Cambria Math"/>
                                    </a:rPr>
                                    <m:t>𝛉</m:t>
                                  </m:r>
                                </m:e>
                              </m:d>
                            </m:e>
                          </m:d>
                        </m:e>
                      </m:d>
                    </m:oMath>
                  </m:oMathPara>
                </a14:m>
                <a:endParaRPr lang="en-GB" sz="2650" dirty="0"/>
              </a:p>
            </p:txBody>
          </p:sp>
        </mc:Choice>
        <mc:Fallback xmlns="">
          <p:sp>
            <p:nvSpPr>
              <p:cNvPr id="9" name="step_0_composition" descr="\ell_{\log}\bigl(p_{\boldsymbol\theta}(\boldsymbol x_i),y_i\bigr)=(G_i\circ\sigma\circ F_i)(\boldsymbol\theta)=G_i\bigl(\sigma(F_i(\boldsymbol\theta))\bigr)">
                <a:extLst>
                  <a:ext uri="{FF2B5EF4-FFF2-40B4-BE49-F238E27FC236}">
                    <a16:creationId xmlns:a16="http://schemas.microsoft.com/office/drawing/2014/main" id="{B981ADD9-61F1-42ED-8ADE-7FA83A6A37F5}"/>
                  </a:ext>
                </a:extLst>
              </p:cNvPr>
              <p:cNvSpPr>
                <a:spLocks noGrp="1" noRot="1" noChangeAspect="1" noMove="1" noResize="1" noEditPoints="1" noAdjustHandles="1" noChangeArrowheads="1" noChangeShapeType="1" noTextEdit="1"/>
              </p:cNvSpPr>
              <p:nvPr/>
            </p:nvSpPr>
            <p:spPr>
              <a:xfrm>
                <a:off x="723900" y="1633346"/>
                <a:ext cx="10744200" cy="8572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step_1_apply">
                <a:extLst>
                  <a:ext uri="{FF2B5EF4-FFF2-40B4-BE49-F238E27FC236}">
                    <a16:creationId xmlns:a16="http://schemas.microsoft.com/office/drawing/2014/main" id="{054667EF-19C2-4AE6-AE0E-DBCEC608C797}"/>
                  </a:ext>
                </a:extLst>
              </p:cNvPr>
              <p:cNvSpPr>
                <a:spLocks noGrp="1"/>
              </p:cNvSpPr>
              <p:nvPr/>
            </p:nvSpPr>
            <p:spPr>
              <a:xfrm>
                <a:off x="723900" y="2586036"/>
                <a:ext cx="10744200" cy="781051"/>
              </a:xfrm>
              <a:prstGeom prst="rect">
                <a:avLst/>
              </a:prstGeom>
              <a:noFill/>
              <a:ln w="0">
                <a:noFill/>
              </a:ln>
            </p:spPr>
            <p:txBody>
              <a:bodyPr wrap="square" lIns="0" tIns="0" rIns="0" bIns="0" anchor="ctr">
                <a:noAutofit/>
              </a:bodyPr>
              <a:lstStyle/>
              <a:p>
                <a:pPr algn="ctr">
                  <a:lnSpc>
                    <a:spcPct val="110000"/>
                  </a:lnSpc>
                  <a:buNone/>
                  <a:defRPr sz="2025" b="1">
                    <a:solidFill>
                      <a:srgbClr val="182D45"/>
                    </a:solidFill>
                    <a:latin typeface="DejaVu Sans"/>
                    <a:ea typeface="DejaVu Sans"/>
                    <a:cs typeface="DejaVu Sans"/>
                  </a:defRPr>
                </a:pPr>
                <a:r>
                  <a:rPr lang="en-GB" sz="2025" b="1" dirty="0">
                    <a:solidFill>
                      <a:srgbClr val="182D45"/>
                    </a:solidFill>
                    <a:latin typeface="DejaVu Sans"/>
                    <a:ea typeface="DejaVu Sans"/>
                    <a:cs typeface="DejaVu Sans"/>
                  </a:rPr>
                  <a:t>To compute the partial derivatives with respect to </a:t>
                </a:r>
                <a14:m>
                  <m:oMath xmlns:m="http://schemas.openxmlformats.org/officeDocument/2006/math">
                    <m:sSub>
                      <m:sSubPr>
                        <m:ctrlPr>
                          <a:rPr lang="en-GB" sz="2025" b="1" i="1" smtClean="0">
                            <a:solidFill>
                              <a:srgbClr val="182D45"/>
                            </a:solidFill>
                            <a:latin typeface="Cambria Math" panose="02040503050406030204" pitchFamily="18" charset="0"/>
                            <a:ea typeface="DejaVu Sans"/>
                            <a:cs typeface="DejaVu Sans"/>
                          </a:rPr>
                        </m:ctrlPr>
                      </m:sSubPr>
                      <m:e>
                        <m:r>
                          <a:rPr lang="en-GB" sz="2025" b="1" i="1" smtClean="0">
                            <a:solidFill>
                              <a:srgbClr val="182D45"/>
                            </a:solidFill>
                            <a:latin typeface="Cambria Math" panose="02040503050406030204" pitchFamily="18" charset="0"/>
                            <a:ea typeface="DejaVu Sans"/>
                            <a:cs typeface="DejaVu Sans"/>
                          </a:rPr>
                          <m:t>𝜽</m:t>
                        </m:r>
                      </m:e>
                      <m:sub>
                        <m:r>
                          <a:rPr lang="it-IT" sz="2025" b="1" i="1" smtClean="0">
                            <a:solidFill>
                              <a:srgbClr val="182D45"/>
                            </a:solidFill>
                            <a:latin typeface="Cambria Math" panose="02040503050406030204" pitchFamily="18" charset="0"/>
                            <a:ea typeface="DejaVu Sans"/>
                            <a:cs typeface="DejaVu Sans"/>
                          </a:rPr>
                          <m:t>𝒋</m:t>
                        </m:r>
                      </m:sub>
                    </m:sSub>
                  </m:oMath>
                </a14:m>
                <a:endParaRPr lang="en-GB" sz="2025" b="1" dirty="0">
                  <a:solidFill>
                    <a:srgbClr val="182D45"/>
                  </a:solidFill>
                  <a:latin typeface="DejaVu Sans"/>
                  <a:ea typeface="DejaVu Sans"/>
                  <a:cs typeface="DejaVu Sans"/>
                </a:endParaRPr>
              </a:p>
              <a:p>
                <a:pPr algn="ctr">
                  <a:lnSpc>
                    <a:spcPct val="110000"/>
                  </a:lnSpc>
                  <a:buNone/>
                  <a:defRPr sz="2025" b="1">
                    <a:solidFill>
                      <a:srgbClr val="182D45"/>
                    </a:solidFill>
                    <a:latin typeface="DejaVu Sans"/>
                    <a:ea typeface="DejaVu Sans"/>
                    <a:cs typeface="DejaVu Sans"/>
                  </a:defRPr>
                </a:pPr>
                <a:r>
                  <a:rPr lang="en-GB" sz="2025" b="1" dirty="0">
                    <a:solidFill>
                      <a:srgbClr val="182D45"/>
                    </a:solidFill>
                    <a:latin typeface="DejaVu Sans"/>
                    <a:ea typeface="DejaVu Sans"/>
                    <a:cs typeface="DejaVu Sans"/>
                  </a:rPr>
                  <a:t>we apply the </a:t>
                </a:r>
                <a:r>
                  <a:rPr lang="en-GB" sz="2025" b="1" dirty="0">
                    <a:solidFill>
                      <a:srgbClr val="FF0000"/>
                    </a:solidFill>
                    <a:latin typeface="DejaVu Sans"/>
                    <a:ea typeface="DejaVu Sans"/>
                    <a:cs typeface="DejaVu Sans"/>
                  </a:rPr>
                  <a:t>chain rule </a:t>
                </a:r>
                <a:r>
                  <a:rPr lang="en-GB" sz="2025" b="1" dirty="0">
                    <a:solidFill>
                      <a:srgbClr val="182D45"/>
                    </a:solidFill>
                    <a:latin typeface="DejaVu Sans"/>
                    <a:ea typeface="DejaVu Sans"/>
                    <a:cs typeface="DejaVu Sans"/>
                  </a:rPr>
                  <a:t>to this composition.</a:t>
                </a:r>
                <a:endParaRPr sz="2025" b="1" dirty="0">
                  <a:solidFill>
                    <a:srgbClr val="182D45"/>
                  </a:solidFill>
                  <a:latin typeface="DejaVu Sans"/>
                  <a:ea typeface="DejaVu Sans"/>
                  <a:cs typeface="DejaVu Sans"/>
                </a:endParaRPr>
              </a:p>
            </p:txBody>
          </p:sp>
        </mc:Choice>
        <mc:Fallback xmlns="">
          <p:sp>
            <p:nvSpPr>
              <p:cNvPr id="10" name="step_1_apply">
                <a:extLst>
                  <a:ext uri="{FF2B5EF4-FFF2-40B4-BE49-F238E27FC236}">
                    <a16:creationId xmlns:a16="http://schemas.microsoft.com/office/drawing/2014/main" id="{054667EF-19C2-4AE6-AE0E-DBCEC608C797}"/>
                  </a:ext>
                </a:extLst>
              </p:cNvPr>
              <p:cNvSpPr>
                <a:spLocks noGrp="1" noRot="1" noChangeAspect="1" noMove="1" noResize="1" noEditPoints="1" noAdjustHandles="1" noChangeArrowheads="1" noChangeShapeType="1" noTextEdit="1"/>
              </p:cNvSpPr>
              <p:nvPr/>
            </p:nvSpPr>
            <p:spPr>
              <a:xfrm>
                <a:off x="723900" y="2586036"/>
                <a:ext cx="10744200" cy="781051"/>
              </a:xfrm>
              <a:prstGeom prst="rect">
                <a:avLst/>
              </a:prstGeom>
              <a:blipFill>
                <a:blip r:embed="rId5"/>
                <a:stretch>
                  <a:fillRect b="-1406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step_2_named_rule" descr="\frac{\partial}{\partial\theta_j}(G_i\circ\sigma\circ F_i)(\boldsymbol\theta)=G_i'\bigl(\sigma(F_i(\boldsymbol\theta))\bigr)\cdot\sigma'\bigl(F_i(\boldsymbol\theta)\bigr)\cdot\frac{\partial F_i}{\partial\theta_j}(\boldsymbol\theta)">
                <a:extLst>
                  <a:ext uri="{FF2B5EF4-FFF2-40B4-BE49-F238E27FC236}">
                    <a16:creationId xmlns:a16="http://schemas.microsoft.com/office/drawing/2014/main" id="{1D73AA00-B9AA-46BD-86DA-0EE3BAEC3EBA}"/>
                  </a:ext>
                </a:extLst>
              </p:cNvPr>
              <p:cNvSpPr>
                <a:spLocks noGrp="1"/>
              </p:cNvSpPr>
              <p:nvPr/>
            </p:nvSpPr>
            <p:spPr>
              <a:xfrm>
                <a:off x="723900" y="3319461"/>
                <a:ext cx="10744200" cy="1047750"/>
              </a:xfrm>
              <a:prstGeom prst="rect">
                <a:avLst/>
              </a:prstGeom>
              <a:noFill/>
              <a:ln w="0">
                <a:noFill/>
              </a:ln>
            </p:spPr>
            <p:txBody>
              <a:bodyPr vertOverflow="overflow" horzOverflow="overflow" wrap="none" lIns="0" tIns="0" rIns="0" bIns="0" anchor="ctr">
                <a:noAutofit/>
              </a:bodyPr>
              <a:lstStyle/>
              <a:p>
                <a:pPr/>
                <a14:m>
                  <m:oMathPara xmlns:m="http://schemas.openxmlformats.org/officeDocument/2006/math">
                    <m:oMath>
                      <m:f>
                        <m:fPr>
                          <m:ctrlPr>
                            <a:rPr lang="en-GB" sz="2550">
                              <a:solidFill>
                                <a:srgbClr val="087F83"/>
                              </a:solidFill>
                              <a:latin typeface="Cambria Math"/>
                              <a:ea typeface="Cambria Math"/>
                              <a:cs typeface="Cambria Math"/>
                            </a:rPr>
                          </m:ctrlPr>
                        </m:fPr>
                        <m:num>
                          <m:r>
                            <a:rPr lang="en-GB" sz="2550">
                              <a:solidFill>
                                <a:srgbClr val="087F83"/>
                              </a:solidFill>
                              <a:latin typeface="Cambria Math"/>
                              <a:ea typeface="Cambria Math"/>
                              <a:cs typeface="Cambria Math"/>
                            </a:rPr>
                            <m:t>𝜕</m:t>
                          </m:r>
                        </m:num>
                        <m:den>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𝜃</m:t>
                              </m:r>
                            </m:e>
                            <m:sub>
                              <m:r>
                                <a:rPr lang="en-GB" sz="2550">
                                  <a:solidFill>
                                    <a:srgbClr val="087F83"/>
                                  </a:solidFill>
                                  <a:latin typeface="Cambria Math"/>
                                  <a:ea typeface="Cambria Math"/>
                                  <a:cs typeface="Cambria Math"/>
                                </a:rPr>
                                <m:t>𝑗</m:t>
                              </m:r>
                            </m:sub>
                          </m:sSub>
                        </m:den>
                      </m:f>
                      <m:sSub>
                        <m:sSubPr>
                          <m:ctrlPr>
                            <a:rPr lang="it-IT" sz="2550" b="0" i="1" smtClean="0">
                              <a:solidFill>
                                <a:srgbClr val="087F83"/>
                              </a:solidFill>
                              <a:latin typeface="Cambria Math" panose="02040503050406030204" pitchFamily="18" charset="0"/>
                              <a:ea typeface="Cambria Math"/>
                              <a:cs typeface="Cambria Math"/>
                            </a:rPr>
                          </m:ctrlPr>
                        </m:sSubPr>
                        <m:e>
                          <m:r>
                            <m:rPr>
                              <m:sty m:val="p"/>
                            </m:rPr>
                            <a:rPr lang="it-IT" sz="2550" b="0" i="1" smtClean="0">
                              <a:solidFill>
                                <a:srgbClr val="087F83"/>
                              </a:solidFill>
                              <a:latin typeface="Cambria Math" panose="02040503050406030204" pitchFamily="18" charset="0"/>
                              <a:ea typeface="Cambria Math"/>
                              <a:cs typeface="Cambria Math"/>
                            </a:rPr>
                            <m:t>ℓ</m:t>
                          </m:r>
                        </m:e>
                        <m:sub>
                          <m:r>
                            <m:rPr>
                              <m:sty m:val="p"/>
                            </m:rPr>
                            <a:rPr lang="it-IT" sz="2550" b="0" i="0" smtClean="0">
                              <a:solidFill>
                                <a:srgbClr val="087F83"/>
                              </a:solidFill>
                              <a:latin typeface="Cambria Math" panose="02040503050406030204" pitchFamily="18" charset="0"/>
                              <a:ea typeface="Cambria Math"/>
                              <a:cs typeface="Cambria Math"/>
                            </a:rPr>
                            <m:t>log</m:t>
                          </m:r>
                        </m:sub>
                      </m:sSub>
                      <m:d>
                        <m:dPr>
                          <m:ctrlPr>
                            <a:rPr lang="it-IT" sz="2550" b="0" i="1" smtClean="0">
                              <a:solidFill>
                                <a:srgbClr val="087F83"/>
                              </a:solidFill>
                              <a:latin typeface="Cambria Math" panose="02040503050406030204" pitchFamily="18" charset="0"/>
                              <a:ea typeface="Cambria Math"/>
                              <a:cs typeface="Cambria Math"/>
                            </a:rPr>
                          </m:ctrlPr>
                        </m:dPr>
                        <m:e>
                          <m:sSub>
                            <m:sSubPr>
                              <m:ctrlPr>
                                <a:rPr lang="it-IT" sz="2550" b="0" i="1" smtClean="0">
                                  <a:solidFill>
                                    <a:srgbClr val="087F83"/>
                                  </a:solidFill>
                                  <a:latin typeface="Cambria Math" panose="02040503050406030204" pitchFamily="18" charset="0"/>
                                  <a:ea typeface="Cambria Math"/>
                                  <a:cs typeface="Cambria Math"/>
                                </a:rPr>
                              </m:ctrlPr>
                            </m:sSubPr>
                            <m:e>
                              <m:r>
                                <a:rPr lang="it-IT" sz="2550" b="0" i="1" smtClean="0">
                                  <a:solidFill>
                                    <a:srgbClr val="087F83"/>
                                  </a:solidFill>
                                  <a:latin typeface="Cambria Math" panose="02040503050406030204" pitchFamily="18" charset="0"/>
                                  <a:ea typeface="Cambria Math"/>
                                  <a:cs typeface="Cambria Math"/>
                                </a:rPr>
                                <m:t>𝑝</m:t>
                              </m:r>
                            </m:e>
                            <m:sub>
                              <m:r>
                                <a:rPr lang="en-GB" sz="2550">
                                  <a:solidFill>
                                    <a:srgbClr val="087F83"/>
                                  </a:solidFill>
                                  <a:latin typeface="Cambria Math"/>
                                  <a:ea typeface="Cambria Math"/>
                                  <a:cs typeface="Cambria Math"/>
                                </a:rPr>
                                <m:t>𝛉</m:t>
                              </m:r>
                            </m:sub>
                          </m:sSub>
                          <m:d>
                            <m:dPr>
                              <m:ctrlPr>
                                <a:rPr lang="it-IT" sz="2550" b="1" i="1" smtClean="0">
                                  <a:solidFill>
                                    <a:srgbClr val="087F83"/>
                                  </a:solidFill>
                                  <a:latin typeface="Cambria Math" panose="02040503050406030204" pitchFamily="18" charset="0"/>
                                  <a:ea typeface="Cambria Math"/>
                                  <a:cs typeface="Cambria Math"/>
                                </a:rPr>
                              </m:ctrlPr>
                            </m:dPr>
                            <m:e>
                              <m:sSub>
                                <m:sSubPr>
                                  <m:ctrlPr>
                                    <a:rPr lang="it-IT" sz="2550" b="1" i="0" smtClean="0">
                                      <a:solidFill>
                                        <a:srgbClr val="087F83"/>
                                      </a:solidFill>
                                      <a:latin typeface="Cambria Math" panose="02040503050406030204" pitchFamily="18" charset="0"/>
                                      <a:ea typeface="Cambria Math"/>
                                      <a:cs typeface="Cambria Math"/>
                                    </a:rPr>
                                  </m:ctrlPr>
                                </m:sSubPr>
                                <m:e>
                                  <m:r>
                                    <a:rPr lang="it-IT" sz="2550" b="1" i="0" smtClean="0">
                                      <a:solidFill>
                                        <a:srgbClr val="087F83"/>
                                      </a:solidFill>
                                      <a:latin typeface="Cambria Math" panose="02040503050406030204" pitchFamily="18" charset="0"/>
                                      <a:ea typeface="Cambria Math"/>
                                      <a:cs typeface="Cambria Math"/>
                                    </a:rPr>
                                    <m:t>𝐱</m:t>
                                  </m:r>
                                </m:e>
                                <m:sub>
                                  <m:r>
                                    <a:rPr lang="it-IT" sz="2550" b="0" i="1" smtClean="0">
                                      <a:solidFill>
                                        <a:srgbClr val="087F83"/>
                                      </a:solidFill>
                                      <a:latin typeface="Cambria Math" panose="02040503050406030204" pitchFamily="18" charset="0"/>
                                      <a:ea typeface="Cambria Math"/>
                                      <a:cs typeface="Cambria Math"/>
                                    </a:rPr>
                                    <m:t>𝑖</m:t>
                                  </m:r>
                                </m:sub>
                              </m:sSub>
                            </m:e>
                          </m:d>
                          <m:r>
                            <a:rPr lang="it-IT" sz="2550" b="0" i="1" smtClean="0">
                              <a:solidFill>
                                <a:srgbClr val="087F83"/>
                              </a:solidFill>
                              <a:latin typeface="Cambria Math" panose="02040503050406030204" pitchFamily="18" charset="0"/>
                              <a:ea typeface="Cambria Math"/>
                              <a:cs typeface="Cambria Math"/>
                            </a:rPr>
                            <m:t>,</m:t>
                          </m:r>
                          <m:sSub>
                            <m:sSubPr>
                              <m:ctrlPr>
                                <a:rPr lang="it-IT" sz="2550" b="0" i="1" smtClean="0">
                                  <a:solidFill>
                                    <a:srgbClr val="087F83"/>
                                  </a:solidFill>
                                  <a:latin typeface="Cambria Math" panose="02040503050406030204" pitchFamily="18" charset="0"/>
                                  <a:ea typeface="Cambria Math"/>
                                  <a:cs typeface="Cambria Math"/>
                                </a:rPr>
                              </m:ctrlPr>
                            </m:sSubPr>
                            <m:e>
                              <m:r>
                                <a:rPr lang="it-IT" sz="2550" b="0" i="1" smtClean="0">
                                  <a:solidFill>
                                    <a:srgbClr val="087F83"/>
                                  </a:solidFill>
                                  <a:latin typeface="Cambria Math" panose="02040503050406030204" pitchFamily="18" charset="0"/>
                                  <a:ea typeface="Cambria Math"/>
                                  <a:cs typeface="Cambria Math"/>
                                </a:rPr>
                                <m:t>𝑦</m:t>
                              </m:r>
                            </m:e>
                            <m:sub>
                              <m:r>
                                <a:rPr lang="it-IT" sz="2550" b="0" i="1" smtClean="0">
                                  <a:solidFill>
                                    <a:srgbClr val="087F83"/>
                                  </a:solidFill>
                                  <a:latin typeface="Cambria Math" panose="02040503050406030204" pitchFamily="18" charset="0"/>
                                  <a:ea typeface="Cambria Math"/>
                                  <a:cs typeface="Cambria Math"/>
                                </a:rPr>
                                <m:t>𝑖</m:t>
                              </m:r>
                            </m:sub>
                          </m:sSub>
                          <m:r>
                            <a:rPr lang="it-IT" sz="2550" b="0" i="1" smtClean="0">
                              <a:solidFill>
                                <a:srgbClr val="087F83"/>
                              </a:solidFill>
                              <a:latin typeface="Cambria Math" panose="02040503050406030204" pitchFamily="18" charset="0"/>
                              <a:ea typeface="Cambria Math"/>
                              <a:cs typeface="Cambria Math"/>
                            </a:rPr>
                            <m:t> </m:t>
                          </m:r>
                        </m:e>
                      </m:d>
                      <m:r>
                        <a:rPr lang="it-IT" sz="2550" b="0" i="1" smtClean="0">
                          <a:solidFill>
                            <a:srgbClr val="087F83"/>
                          </a:solidFill>
                          <a:latin typeface="Cambria Math" panose="02040503050406030204" pitchFamily="18" charset="0"/>
                          <a:ea typeface="Cambria Math"/>
                          <a:cs typeface="Cambria Math"/>
                        </a:rPr>
                        <m:t>=</m:t>
                      </m:r>
                      <m:f>
                        <m:fPr>
                          <m:ctrlPr>
                            <a:rPr lang="en-GB" sz="2550">
                              <a:solidFill>
                                <a:srgbClr val="087F83"/>
                              </a:solidFill>
                              <a:latin typeface="Cambria Math"/>
                              <a:ea typeface="Cambria Math"/>
                              <a:cs typeface="Cambria Math"/>
                            </a:rPr>
                          </m:ctrlPr>
                        </m:fPr>
                        <m:num>
                          <m:r>
                            <a:rPr lang="en-GB" sz="2550">
                              <a:solidFill>
                                <a:srgbClr val="087F83"/>
                              </a:solidFill>
                              <a:latin typeface="Cambria Math"/>
                              <a:ea typeface="Cambria Math"/>
                              <a:cs typeface="Cambria Math"/>
                            </a:rPr>
                            <m:t>𝜕</m:t>
                          </m:r>
                        </m:num>
                        <m:den>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𝜃</m:t>
                              </m:r>
                            </m:e>
                            <m:sub>
                              <m:r>
                                <a:rPr lang="en-GB" sz="2550">
                                  <a:solidFill>
                                    <a:srgbClr val="087F83"/>
                                  </a:solidFill>
                                  <a:latin typeface="Cambria Math"/>
                                  <a:ea typeface="Cambria Math"/>
                                  <a:cs typeface="Cambria Math"/>
                                </a:rPr>
                                <m:t>𝑗</m:t>
                              </m:r>
                            </m:sub>
                          </m:sSub>
                        </m:den>
                      </m:f>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𝐺</m:t>
                              </m:r>
                            </m:e>
                            <m:sub>
                              <m:r>
                                <a:rPr lang="en-GB" sz="2550">
                                  <a:solidFill>
                                    <a:srgbClr val="087F83"/>
                                  </a:solidFill>
                                  <a:latin typeface="Cambria Math"/>
                                  <a:ea typeface="Cambria Math"/>
                                  <a:cs typeface="Cambria Math"/>
                                </a:rPr>
                                <m:t>𝑖</m:t>
                              </m:r>
                            </m:sub>
                          </m:sSub>
                          <m:r>
                            <a:rPr lang="en-GB" sz="2550">
                              <a:solidFill>
                                <a:srgbClr val="087F83"/>
                              </a:solidFill>
                              <a:latin typeface="Cambria Math"/>
                              <a:ea typeface="Cambria Math"/>
                              <a:cs typeface="Cambria Math"/>
                            </a:rPr>
                            <m:t>∘</m:t>
                          </m:r>
                          <m:r>
                            <a:rPr lang="en-GB" sz="2550">
                              <a:solidFill>
                                <a:srgbClr val="087F83"/>
                              </a:solidFill>
                              <a:latin typeface="Cambria Math"/>
                              <a:ea typeface="Cambria Math"/>
                              <a:cs typeface="Cambria Math"/>
                            </a:rPr>
                            <m:t>𝜎</m:t>
                          </m:r>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𝐹</m:t>
                              </m:r>
                            </m:e>
                            <m:sub>
                              <m:r>
                                <a:rPr lang="en-GB" sz="2550">
                                  <a:solidFill>
                                    <a:srgbClr val="087F83"/>
                                  </a:solidFill>
                                  <a:latin typeface="Cambria Math"/>
                                  <a:ea typeface="Cambria Math"/>
                                  <a:cs typeface="Cambria Math"/>
                                </a:rPr>
                                <m:t>𝑖</m:t>
                              </m:r>
                            </m:sub>
                          </m:sSub>
                        </m:e>
                      </m:d>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𝛉</m:t>
                          </m:r>
                        </m:e>
                      </m:d>
                      <m:r>
                        <a:rPr lang="en-GB" sz="2550">
                          <a:solidFill>
                            <a:srgbClr val="087F83"/>
                          </a:solidFill>
                          <a:latin typeface="Cambria Math"/>
                          <a:ea typeface="Cambria Math"/>
                          <a:cs typeface="Cambria Math"/>
                        </a:rPr>
                        <m:t>=</m:t>
                      </m:r>
                      <m:sSubSup>
                        <m:sSubSupPr>
                          <m:ctrlPr>
                            <a:rPr lang="en-GB" sz="2550">
                              <a:solidFill>
                                <a:srgbClr val="087F83"/>
                              </a:solidFill>
                              <a:latin typeface="Cambria Math"/>
                              <a:ea typeface="Cambria Math"/>
                              <a:cs typeface="Cambria Math"/>
                            </a:rPr>
                          </m:ctrlPr>
                        </m:sSubSupPr>
                        <m:e>
                          <m:r>
                            <a:rPr lang="en-GB" sz="2550">
                              <a:solidFill>
                                <a:srgbClr val="087F83"/>
                              </a:solidFill>
                              <a:latin typeface="Cambria Math"/>
                              <a:ea typeface="Cambria Math"/>
                              <a:cs typeface="Cambria Math"/>
                            </a:rPr>
                            <m:t>𝐺</m:t>
                          </m:r>
                        </m:e>
                        <m:sub>
                          <m:r>
                            <a:rPr lang="en-GB" sz="2550">
                              <a:solidFill>
                                <a:srgbClr val="087F83"/>
                              </a:solidFill>
                              <a:latin typeface="Cambria Math"/>
                              <a:ea typeface="Cambria Math"/>
                              <a:cs typeface="Cambria Math"/>
                            </a:rPr>
                            <m:t>𝑖</m:t>
                          </m:r>
                        </m:sub>
                        <m:sup>
                          <m:r>
                            <a:rPr lang="en-GB" sz="2550">
                              <a:solidFill>
                                <a:srgbClr val="087F83"/>
                              </a:solidFill>
                              <a:latin typeface="Cambria Math"/>
                              <a:ea typeface="Cambria Math"/>
                              <a:cs typeface="Cambria Math"/>
                            </a:rPr>
                            <m:t>′</m:t>
                          </m:r>
                        </m:sup>
                      </m:sSubSup>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𝜎</m:t>
                          </m:r>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𝐹</m:t>
                                  </m:r>
                                </m:e>
                                <m:sub>
                                  <m:r>
                                    <a:rPr lang="en-GB" sz="2550">
                                      <a:solidFill>
                                        <a:srgbClr val="087F83"/>
                                      </a:solidFill>
                                      <a:latin typeface="Cambria Math"/>
                                      <a:ea typeface="Cambria Math"/>
                                      <a:cs typeface="Cambria Math"/>
                                    </a:rPr>
                                    <m:t>𝑖</m:t>
                                  </m:r>
                                </m:sub>
                              </m:sSub>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𝛉</m:t>
                                  </m:r>
                                </m:e>
                              </m:d>
                            </m:e>
                          </m:d>
                        </m:e>
                      </m:d>
                      <m:r>
                        <a:rPr lang="en-GB" sz="2550">
                          <a:solidFill>
                            <a:srgbClr val="087F83"/>
                          </a:solidFill>
                          <a:latin typeface="Cambria Math"/>
                          <a:ea typeface="Cambria Math"/>
                          <a:cs typeface="Cambria Math"/>
                        </a:rPr>
                        <m:t>⋅</m:t>
                      </m:r>
                      <m:sSup>
                        <m:sSupPr>
                          <m:ctrlPr>
                            <a:rPr lang="en-GB" sz="2550">
                              <a:solidFill>
                                <a:srgbClr val="087F83"/>
                              </a:solidFill>
                              <a:latin typeface="Cambria Math"/>
                              <a:ea typeface="Cambria Math"/>
                              <a:cs typeface="Cambria Math"/>
                            </a:rPr>
                          </m:ctrlPr>
                        </m:sSupPr>
                        <m:e>
                          <m:r>
                            <a:rPr lang="en-GB" sz="2550">
                              <a:solidFill>
                                <a:srgbClr val="087F83"/>
                              </a:solidFill>
                              <a:latin typeface="Cambria Math"/>
                              <a:ea typeface="Cambria Math"/>
                              <a:cs typeface="Cambria Math"/>
                            </a:rPr>
                            <m:t>𝜎</m:t>
                          </m:r>
                        </m:e>
                        <m:sup>
                          <m:r>
                            <a:rPr lang="en-GB" sz="2550">
                              <a:solidFill>
                                <a:srgbClr val="087F83"/>
                              </a:solidFill>
                              <a:latin typeface="Cambria Math"/>
                              <a:ea typeface="Cambria Math"/>
                              <a:cs typeface="Cambria Math"/>
                            </a:rPr>
                            <m:t>′</m:t>
                          </m:r>
                        </m:sup>
                      </m:sSup>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𝐹</m:t>
                              </m:r>
                            </m:e>
                            <m:sub>
                              <m:r>
                                <a:rPr lang="en-GB" sz="2550">
                                  <a:solidFill>
                                    <a:srgbClr val="087F83"/>
                                  </a:solidFill>
                                  <a:latin typeface="Cambria Math"/>
                                  <a:ea typeface="Cambria Math"/>
                                  <a:cs typeface="Cambria Math"/>
                                </a:rPr>
                                <m:t>𝑖</m:t>
                              </m:r>
                            </m:sub>
                          </m:sSub>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𝛉</m:t>
                              </m:r>
                            </m:e>
                          </m:d>
                        </m:e>
                      </m:d>
                      <m:r>
                        <a:rPr lang="en-GB" sz="2550">
                          <a:solidFill>
                            <a:srgbClr val="087F83"/>
                          </a:solidFill>
                          <a:latin typeface="Cambria Math"/>
                          <a:ea typeface="Cambria Math"/>
                          <a:cs typeface="Cambria Math"/>
                        </a:rPr>
                        <m:t>⋅</m:t>
                      </m:r>
                      <m:f>
                        <m:fPr>
                          <m:ctrlPr>
                            <a:rPr lang="en-GB" sz="2550">
                              <a:solidFill>
                                <a:srgbClr val="087F83"/>
                              </a:solidFill>
                              <a:latin typeface="Cambria Math"/>
                              <a:ea typeface="Cambria Math"/>
                              <a:cs typeface="Cambria Math"/>
                            </a:rPr>
                          </m:ctrlPr>
                        </m:fPr>
                        <m:num>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𝐹</m:t>
                              </m:r>
                            </m:e>
                            <m:sub>
                              <m:r>
                                <a:rPr lang="en-GB" sz="2550">
                                  <a:solidFill>
                                    <a:srgbClr val="087F83"/>
                                  </a:solidFill>
                                  <a:latin typeface="Cambria Math"/>
                                  <a:ea typeface="Cambria Math"/>
                                  <a:cs typeface="Cambria Math"/>
                                </a:rPr>
                                <m:t>𝑖</m:t>
                              </m:r>
                            </m:sub>
                          </m:sSub>
                        </m:num>
                        <m:den>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𝜃</m:t>
                              </m:r>
                            </m:e>
                            <m:sub>
                              <m:r>
                                <a:rPr lang="en-GB" sz="2550">
                                  <a:solidFill>
                                    <a:srgbClr val="087F83"/>
                                  </a:solidFill>
                                  <a:latin typeface="Cambria Math"/>
                                  <a:ea typeface="Cambria Math"/>
                                  <a:cs typeface="Cambria Math"/>
                                </a:rPr>
                                <m:t>𝑗</m:t>
                              </m:r>
                            </m:sub>
                          </m:sSub>
                        </m:den>
                      </m:f>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𝛉</m:t>
                          </m:r>
                        </m:e>
                      </m:d>
                    </m:oMath>
                  </m:oMathPara>
                </a14:m>
                <a:endParaRPr lang="en-GB" sz="2550" dirty="0"/>
              </a:p>
            </p:txBody>
          </p:sp>
        </mc:Choice>
        <mc:Fallback xmlns="">
          <p:sp>
            <p:nvSpPr>
              <p:cNvPr id="11" name="step_2_named_rule" descr="\frac{\partial}{\partial\theta_j}(G_i\circ\sigma\circ F_i)(\boldsymbol\theta)=G_i'\bigl(\sigma(F_i(\boldsymbol\theta))\bigr)\cdot\sigma'\bigl(F_i(\boldsymbol\theta)\bigr)\cdot\frac{\partial F_i}{\partial\theta_j}(\boldsymbol\theta)">
                <a:extLst>
                  <a:ext uri="{FF2B5EF4-FFF2-40B4-BE49-F238E27FC236}">
                    <a16:creationId xmlns:a16="http://schemas.microsoft.com/office/drawing/2014/main" id="{1D73AA00-B9AA-46BD-86DA-0EE3BAEC3EBA}"/>
                  </a:ext>
                </a:extLst>
              </p:cNvPr>
              <p:cNvSpPr>
                <a:spLocks noGrp="1" noRot="1" noChangeAspect="1" noMove="1" noResize="1" noEditPoints="1" noAdjustHandles="1" noChangeArrowheads="1" noChangeShapeType="1" noTextEdit="1"/>
              </p:cNvSpPr>
              <p:nvPr/>
            </p:nvSpPr>
            <p:spPr>
              <a:xfrm>
                <a:off x="723900" y="3319461"/>
                <a:ext cx="10744200" cy="1047750"/>
              </a:xfrm>
              <a:prstGeom prst="rect">
                <a:avLst/>
              </a:prstGeom>
              <a:blipFill>
                <a:blip r:embed="rId6"/>
                <a:stretch>
                  <a:fillRect l="-57" r="-5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step_3_expanded_rule" descr="=\frac{\partial\ell_{\log}}{\partial p}\bigl(\sigma(f_{\boldsymbol\theta}(\boldsymbol x_i)),y_i\bigr)\cdot\sigma'\bigl(f_{\boldsymbol\theta}(\boldsymbol x_i)\bigr)\cdot\frac{\partial f_{\boldsymbol\theta}(\boldsymbol x_i)}{\partial\theta_j}">
                <a:extLst>
                  <a:ext uri="{FF2B5EF4-FFF2-40B4-BE49-F238E27FC236}">
                    <a16:creationId xmlns:a16="http://schemas.microsoft.com/office/drawing/2014/main" id="{D6D5C21C-037F-47E4-A3C7-61CB3A734E36}"/>
                  </a:ext>
                </a:extLst>
              </p:cNvPr>
              <p:cNvSpPr>
                <a:spLocks noGrp="1"/>
              </p:cNvSpPr>
              <p:nvPr/>
            </p:nvSpPr>
            <p:spPr>
              <a:xfrm>
                <a:off x="1283970" y="4302634"/>
                <a:ext cx="10744200" cy="1028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50" smtClean="0">
                          <a:solidFill>
                            <a:srgbClr val="087F83"/>
                          </a:solidFill>
                          <a:latin typeface="Cambria Math"/>
                          <a:ea typeface="Cambria Math"/>
                          <a:cs typeface="Cambria Math"/>
                        </a:rPr>
                        <m:t>=</m:t>
                      </m:r>
                      <m:f>
                        <m:fPr>
                          <m:ctrlPr>
                            <a:rPr lang="en-GB" sz="2550">
                              <a:solidFill>
                                <a:srgbClr val="087F83"/>
                              </a:solidFill>
                              <a:latin typeface="Cambria Math"/>
                              <a:ea typeface="Cambria Math"/>
                              <a:cs typeface="Cambria Math"/>
                            </a:rPr>
                          </m:ctrlPr>
                        </m:fPr>
                        <m:num>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m:rPr>
                                  <m:sty m:val="p"/>
                                </m:rPr>
                                <a:rPr lang="en-GB" sz="2550">
                                  <a:solidFill>
                                    <a:srgbClr val="087F83"/>
                                  </a:solidFill>
                                  <a:latin typeface="Cambria Math"/>
                                  <a:ea typeface="Cambria Math"/>
                                  <a:cs typeface="Cambria Math"/>
                                </a:rPr>
                                <m:t>ℓ</m:t>
                              </m:r>
                            </m:e>
                            <m:sub>
                              <m:r>
                                <m:rPr>
                                  <m:sty m:val="p"/>
                                </m:rPr>
                                <a:rPr lang="en-GB" sz="2550">
                                  <a:solidFill>
                                    <a:srgbClr val="087F83"/>
                                  </a:solidFill>
                                  <a:latin typeface="Cambria Math"/>
                                  <a:ea typeface="Cambria Math"/>
                                  <a:cs typeface="Cambria Math"/>
                                </a:rPr>
                                <m:t>log</m:t>
                              </m:r>
                            </m:sub>
                          </m:sSub>
                        </m:num>
                        <m:den>
                          <m:r>
                            <a:rPr lang="en-GB" sz="2550">
                              <a:solidFill>
                                <a:srgbClr val="087F83"/>
                              </a:solidFill>
                              <a:latin typeface="Cambria Math"/>
                              <a:ea typeface="Cambria Math"/>
                              <a:cs typeface="Cambria Math"/>
                            </a:rPr>
                            <m:t>𝜕</m:t>
                          </m:r>
                          <m:r>
                            <a:rPr lang="en-GB" sz="2550">
                              <a:solidFill>
                                <a:srgbClr val="087F83"/>
                              </a:solidFill>
                              <a:latin typeface="Cambria Math"/>
                              <a:ea typeface="Cambria Math"/>
                              <a:cs typeface="Cambria Math"/>
                            </a:rPr>
                            <m:t>𝑝</m:t>
                          </m:r>
                        </m:den>
                      </m:f>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𝜎</m:t>
                          </m:r>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𝑓</m:t>
                                  </m:r>
                                </m:e>
                                <m:sub>
                                  <m:r>
                                    <a:rPr lang="en-GB" sz="2550">
                                      <a:solidFill>
                                        <a:srgbClr val="087F83"/>
                                      </a:solidFill>
                                      <a:latin typeface="Cambria Math"/>
                                      <a:ea typeface="Cambria Math"/>
                                      <a:cs typeface="Cambria Math"/>
                                    </a:rPr>
                                    <m:t>𝛉</m:t>
                                  </m:r>
                                </m:sub>
                              </m:sSub>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𝐱</m:t>
                                      </m:r>
                                    </m:e>
                                    <m:sub>
                                      <m:r>
                                        <a:rPr lang="en-GB" sz="2550">
                                          <a:solidFill>
                                            <a:srgbClr val="087F83"/>
                                          </a:solidFill>
                                          <a:latin typeface="Cambria Math"/>
                                          <a:ea typeface="Cambria Math"/>
                                          <a:cs typeface="Cambria Math"/>
                                        </a:rPr>
                                        <m:t>𝑖</m:t>
                                      </m:r>
                                    </m:sub>
                                  </m:sSub>
                                </m:e>
                              </m:d>
                            </m:e>
                          </m:d>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𝑦</m:t>
                              </m:r>
                            </m:e>
                            <m:sub>
                              <m:r>
                                <a:rPr lang="en-GB" sz="2550">
                                  <a:solidFill>
                                    <a:srgbClr val="087F83"/>
                                  </a:solidFill>
                                  <a:latin typeface="Cambria Math"/>
                                  <a:ea typeface="Cambria Math"/>
                                  <a:cs typeface="Cambria Math"/>
                                </a:rPr>
                                <m:t>𝑖</m:t>
                              </m:r>
                            </m:sub>
                          </m:sSub>
                        </m:e>
                      </m:d>
                      <m:r>
                        <a:rPr lang="en-GB" sz="2550">
                          <a:solidFill>
                            <a:srgbClr val="087F83"/>
                          </a:solidFill>
                          <a:latin typeface="Cambria Math"/>
                          <a:ea typeface="Cambria Math"/>
                          <a:cs typeface="Cambria Math"/>
                        </a:rPr>
                        <m:t>⋅</m:t>
                      </m:r>
                      <m:sSup>
                        <m:sSupPr>
                          <m:ctrlPr>
                            <a:rPr lang="en-GB" sz="2550">
                              <a:solidFill>
                                <a:srgbClr val="087F83"/>
                              </a:solidFill>
                              <a:latin typeface="Cambria Math"/>
                              <a:ea typeface="Cambria Math"/>
                              <a:cs typeface="Cambria Math"/>
                            </a:rPr>
                          </m:ctrlPr>
                        </m:sSupPr>
                        <m:e>
                          <m:r>
                            <a:rPr lang="en-GB" sz="2550">
                              <a:solidFill>
                                <a:srgbClr val="087F83"/>
                              </a:solidFill>
                              <a:latin typeface="Cambria Math"/>
                              <a:ea typeface="Cambria Math"/>
                              <a:cs typeface="Cambria Math"/>
                            </a:rPr>
                            <m:t>𝜎</m:t>
                          </m:r>
                        </m:e>
                        <m:sup>
                          <m:r>
                            <a:rPr lang="en-GB" sz="2550">
                              <a:solidFill>
                                <a:srgbClr val="087F83"/>
                              </a:solidFill>
                              <a:latin typeface="Cambria Math"/>
                              <a:ea typeface="Cambria Math"/>
                              <a:cs typeface="Cambria Math"/>
                            </a:rPr>
                            <m:t>′</m:t>
                          </m:r>
                        </m:sup>
                      </m:sSup>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𝑓</m:t>
                              </m:r>
                            </m:e>
                            <m:sub>
                              <m:r>
                                <a:rPr lang="en-GB" sz="2550">
                                  <a:solidFill>
                                    <a:srgbClr val="087F83"/>
                                  </a:solidFill>
                                  <a:latin typeface="Cambria Math"/>
                                  <a:ea typeface="Cambria Math"/>
                                  <a:cs typeface="Cambria Math"/>
                                </a:rPr>
                                <m:t>𝛉</m:t>
                              </m:r>
                            </m:sub>
                          </m:sSub>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𝐱</m:t>
                                  </m:r>
                                </m:e>
                                <m:sub>
                                  <m:r>
                                    <a:rPr lang="en-GB" sz="2550">
                                      <a:solidFill>
                                        <a:srgbClr val="087F83"/>
                                      </a:solidFill>
                                      <a:latin typeface="Cambria Math"/>
                                      <a:ea typeface="Cambria Math"/>
                                      <a:cs typeface="Cambria Math"/>
                                    </a:rPr>
                                    <m:t>𝑖</m:t>
                                  </m:r>
                                </m:sub>
                              </m:sSub>
                            </m:e>
                          </m:d>
                        </m:e>
                      </m:d>
                      <m:r>
                        <a:rPr lang="en-GB" sz="2550">
                          <a:solidFill>
                            <a:srgbClr val="087F83"/>
                          </a:solidFill>
                          <a:latin typeface="Cambria Math"/>
                          <a:ea typeface="Cambria Math"/>
                          <a:cs typeface="Cambria Math"/>
                        </a:rPr>
                        <m:t>⋅</m:t>
                      </m:r>
                      <m:f>
                        <m:fPr>
                          <m:ctrlPr>
                            <a:rPr lang="en-GB" sz="2550">
                              <a:solidFill>
                                <a:srgbClr val="087F83"/>
                              </a:solidFill>
                              <a:latin typeface="Cambria Math"/>
                              <a:ea typeface="Cambria Math"/>
                              <a:cs typeface="Cambria Math"/>
                            </a:rPr>
                          </m:ctrlPr>
                        </m:fPr>
                        <m:num>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𝑓</m:t>
                              </m:r>
                            </m:e>
                            <m:sub>
                              <m:r>
                                <a:rPr lang="en-GB" sz="2550">
                                  <a:solidFill>
                                    <a:srgbClr val="087F83"/>
                                  </a:solidFill>
                                  <a:latin typeface="Cambria Math"/>
                                  <a:ea typeface="Cambria Math"/>
                                  <a:cs typeface="Cambria Math"/>
                                </a:rPr>
                                <m:t>𝛉</m:t>
                              </m:r>
                            </m:sub>
                          </m:sSub>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𝐱</m:t>
                                  </m:r>
                                </m:e>
                                <m:sub>
                                  <m:r>
                                    <a:rPr lang="en-GB" sz="2550">
                                      <a:solidFill>
                                        <a:srgbClr val="087F83"/>
                                      </a:solidFill>
                                      <a:latin typeface="Cambria Math"/>
                                      <a:ea typeface="Cambria Math"/>
                                      <a:cs typeface="Cambria Math"/>
                                    </a:rPr>
                                    <m:t>𝑖</m:t>
                                  </m:r>
                                </m:sub>
                              </m:sSub>
                            </m:e>
                          </m:d>
                        </m:num>
                        <m:den>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𝜃</m:t>
                              </m:r>
                            </m:e>
                            <m:sub>
                              <m:r>
                                <a:rPr lang="en-GB" sz="2550">
                                  <a:solidFill>
                                    <a:srgbClr val="087F83"/>
                                  </a:solidFill>
                                  <a:latin typeface="Cambria Math"/>
                                  <a:ea typeface="Cambria Math"/>
                                  <a:cs typeface="Cambria Math"/>
                                </a:rPr>
                                <m:t>𝑗</m:t>
                              </m:r>
                            </m:sub>
                          </m:sSub>
                        </m:den>
                      </m:f>
                      <m:r>
                        <a:rPr lang="it-IT" sz="2550" b="0" i="1" smtClean="0">
                          <a:solidFill>
                            <a:srgbClr val="087F83"/>
                          </a:solidFill>
                          <a:latin typeface="Cambria Math" panose="02040503050406030204" pitchFamily="18" charset="0"/>
                          <a:ea typeface="Cambria Math"/>
                          <a:cs typeface="Cambria Math"/>
                        </a:rPr>
                        <m:t>    </m:t>
                      </m:r>
                    </m:oMath>
                  </m:oMathPara>
                </a14:m>
                <a:endParaRPr lang="it-IT" sz="2550" b="0" dirty="0">
                  <a:solidFill>
                    <a:srgbClr val="087F83"/>
                  </a:solidFill>
                  <a:ea typeface="Cambria Math"/>
                  <a:cs typeface="Cambria Math"/>
                </a:endParaRPr>
              </a:p>
            </p:txBody>
          </p:sp>
        </mc:Choice>
        <mc:Fallback xmlns="">
          <p:sp>
            <p:nvSpPr>
              <p:cNvPr id="12" name="step_3_expanded_rule" descr="=\frac{\partial\ell_{\log}}{\partial p}\bigl(\sigma(f_{\boldsymbol\theta}(\boldsymbol x_i)),y_i\bigr)\cdot\sigma'\bigl(f_{\boldsymbol\theta}(\boldsymbol x_i)\bigr)\cdot\frac{\partial f_{\boldsymbol\theta}(\boldsymbol x_i)}{\partial\theta_j}">
                <a:extLst>
                  <a:ext uri="{FF2B5EF4-FFF2-40B4-BE49-F238E27FC236}">
                    <a16:creationId xmlns:a16="http://schemas.microsoft.com/office/drawing/2014/main" id="{D6D5C21C-037F-47E4-A3C7-61CB3A734E36}"/>
                  </a:ext>
                </a:extLst>
              </p:cNvPr>
              <p:cNvSpPr>
                <a:spLocks noGrp="1" noRot="1" noChangeAspect="1" noMove="1" noResize="1" noEditPoints="1" noAdjustHandles="1" noChangeArrowheads="1" noChangeShapeType="1" noTextEdit="1"/>
              </p:cNvSpPr>
              <p:nvPr/>
            </p:nvSpPr>
            <p:spPr>
              <a:xfrm>
                <a:off x="1283970" y="4302634"/>
                <a:ext cx="10744200" cy="10287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A2130D1A-0FFF-E316-CF1A-D120BE0A366A}"/>
                  </a:ext>
                </a:extLst>
              </p:cNvPr>
              <p:cNvSpPr txBox="1"/>
              <p:nvPr/>
            </p:nvSpPr>
            <p:spPr>
              <a:xfrm>
                <a:off x="2341245" y="5378665"/>
                <a:ext cx="8629650" cy="1290931"/>
              </a:xfrm>
              <a:prstGeom prst="rect">
                <a:avLst/>
              </a:prstGeom>
              <a:noFill/>
            </p:spPr>
            <p:txBody>
              <a:bodyPr wrap="square">
                <a:spAutoFit/>
              </a:bodyPr>
              <a:lstStyle/>
              <a:p>
                <a:pPr algn="ctr"/>
                <a14:m>
                  <m:oMathPara xmlns:m="http://schemas.openxmlformats.org/officeDocument/2006/math">
                    <m:oMath>
                      <m:r>
                        <a:rPr lang="it-IT" sz="2550" b="0" i="1" smtClean="0">
                          <a:solidFill>
                            <a:srgbClr val="087F83"/>
                          </a:solidFill>
                          <a:latin typeface="Cambria Math" panose="02040503050406030204" pitchFamily="18" charset="0"/>
                          <a:ea typeface="Cambria Math"/>
                          <a:cs typeface="Cambria Math"/>
                        </a:rPr>
                        <m:t>=</m:t>
                      </m:r>
                      <m:limLow>
                        <m:limLowPr>
                          <m:ctrlPr>
                            <a:rPr lang="en-GB" sz="255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2550" i="1">
                                  <a:solidFill>
                                    <a:srgbClr val="087F83"/>
                                  </a:solidFill>
                                  <a:latin typeface="Cambria Math" panose="02040503050406030204" pitchFamily="18" charset="0"/>
                                  <a:ea typeface="Cambria Math"/>
                                  <a:cs typeface="Cambria Math"/>
                                </a:rPr>
                              </m:ctrlPr>
                            </m:groupChrPr>
                            <m:e>
                              <m:f>
                                <m:fPr>
                                  <m:ctrlPr>
                                    <a:rPr lang="en-GB" sz="2550">
                                      <a:solidFill>
                                        <a:srgbClr val="087F83"/>
                                      </a:solidFill>
                                      <a:latin typeface="Cambria Math"/>
                                      <a:ea typeface="Cambria Math"/>
                                      <a:cs typeface="Cambria Math"/>
                                    </a:rPr>
                                  </m:ctrlPr>
                                </m:fPr>
                                <m:num>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m:rPr>
                                          <m:sty m:val="p"/>
                                        </m:rPr>
                                        <a:rPr lang="en-GB" sz="2550">
                                          <a:solidFill>
                                            <a:srgbClr val="087F83"/>
                                          </a:solidFill>
                                          <a:latin typeface="Cambria Math"/>
                                          <a:ea typeface="Cambria Math"/>
                                          <a:cs typeface="Cambria Math"/>
                                        </a:rPr>
                                        <m:t>ℓ</m:t>
                                      </m:r>
                                    </m:e>
                                    <m:sub>
                                      <m:r>
                                        <m:rPr>
                                          <m:sty m:val="p"/>
                                        </m:rPr>
                                        <a:rPr lang="en-GB" sz="2550">
                                          <a:solidFill>
                                            <a:srgbClr val="087F83"/>
                                          </a:solidFill>
                                          <a:latin typeface="Cambria Math"/>
                                          <a:ea typeface="Cambria Math"/>
                                          <a:cs typeface="Cambria Math"/>
                                        </a:rPr>
                                        <m:t>log</m:t>
                                      </m:r>
                                    </m:sub>
                                  </m:sSub>
                                </m:num>
                                <m:den>
                                  <m:r>
                                    <a:rPr lang="en-GB" sz="2550">
                                      <a:solidFill>
                                        <a:srgbClr val="087F83"/>
                                      </a:solidFill>
                                      <a:latin typeface="Cambria Math"/>
                                      <a:ea typeface="Cambria Math"/>
                                      <a:cs typeface="Cambria Math"/>
                                    </a:rPr>
                                    <m:t>𝜕</m:t>
                                  </m:r>
                                  <m:r>
                                    <a:rPr lang="en-GB" sz="2550">
                                      <a:solidFill>
                                        <a:srgbClr val="087F83"/>
                                      </a:solidFill>
                                      <a:latin typeface="Cambria Math"/>
                                      <a:ea typeface="Cambria Math"/>
                                      <a:cs typeface="Cambria Math"/>
                                    </a:rPr>
                                    <m:t>𝑝</m:t>
                                  </m:r>
                                </m:den>
                              </m:f>
                              <m:d>
                                <m:dPr>
                                  <m:ctrlPr>
                                    <a:rPr lang="it-IT" sz="2550" i="1">
                                      <a:solidFill>
                                        <a:srgbClr val="087F83"/>
                                      </a:solidFill>
                                      <a:latin typeface="Cambria Math" panose="02040503050406030204" pitchFamily="18" charset="0"/>
                                      <a:ea typeface="Cambria Math"/>
                                      <a:cs typeface="Cambria Math"/>
                                    </a:rPr>
                                  </m:ctrlPr>
                                </m:dPr>
                                <m:e>
                                  <m:sSub>
                                    <m:sSubPr>
                                      <m:ctrlPr>
                                        <a:rPr lang="it-IT" sz="2550" i="1">
                                          <a:solidFill>
                                            <a:srgbClr val="087F83"/>
                                          </a:solidFill>
                                          <a:latin typeface="Cambria Math" panose="02040503050406030204" pitchFamily="18" charset="0"/>
                                          <a:ea typeface="Cambria Math"/>
                                          <a:cs typeface="Cambria Math"/>
                                        </a:rPr>
                                      </m:ctrlPr>
                                    </m:sSubPr>
                                    <m:e>
                                      <m:r>
                                        <a:rPr lang="it-IT" sz="2550" i="1">
                                          <a:solidFill>
                                            <a:srgbClr val="087F83"/>
                                          </a:solidFill>
                                          <a:latin typeface="Cambria Math" panose="02040503050406030204" pitchFamily="18" charset="0"/>
                                          <a:ea typeface="Cambria Math"/>
                                          <a:cs typeface="Cambria Math"/>
                                        </a:rPr>
                                        <m:t>𝑝</m:t>
                                      </m:r>
                                    </m:e>
                                    <m:sub>
                                      <m:r>
                                        <a:rPr lang="en-GB" sz="2550">
                                          <a:solidFill>
                                            <a:srgbClr val="087F83"/>
                                          </a:solidFill>
                                          <a:latin typeface="Cambria Math"/>
                                          <a:ea typeface="Cambria Math"/>
                                          <a:cs typeface="Cambria Math"/>
                                        </a:rPr>
                                        <m:t>𝛉</m:t>
                                      </m:r>
                                    </m:sub>
                                  </m:sSub>
                                  <m:d>
                                    <m:dPr>
                                      <m:ctrlPr>
                                        <a:rPr lang="it-IT" sz="2550" b="1" i="1">
                                          <a:solidFill>
                                            <a:srgbClr val="087F83"/>
                                          </a:solidFill>
                                          <a:latin typeface="Cambria Math" panose="02040503050406030204" pitchFamily="18" charset="0"/>
                                          <a:ea typeface="Cambria Math"/>
                                          <a:cs typeface="Cambria Math"/>
                                        </a:rPr>
                                      </m:ctrlPr>
                                    </m:dPr>
                                    <m:e>
                                      <m:sSub>
                                        <m:sSubPr>
                                          <m:ctrlPr>
                                            <a:rPr lang="it-IT" sz="2550" b="1">
                                              <a:solidFill>
                                                <a:srgbClr val="087F83"/>
                                              </a:solidFill>
                                              <a:latin typeface="Cambria Math" panose="02040503050406030204" pitchFamily="18" charset="0"/>
                                              <a:ea typeface="Cambria Math"/>
                                              <a:cs typeface="Cambria Math"/>
                                            </a:rPr>
                                          </m:ctrlPr>
                                        </m:sSubPr>
                                        <m:e>
                                          <m:r>
                                            <a:rPr lang="it-IT" sz="2550" b="1">
                                              <a:solidFill>
                                                <a:srgbClr val="087F83"/>
                                              </a:solidFill>
                                              <a:latin typeface="Cambria Math" panose="02040503050406030204" pitchFamily="18" charset="0"/>
                                              <a:ea typeface="Cambria Math"/>
                                              <a:cs typeface="Cambria Math"/>
                                            </a:rPr>
                                            <m:t>𝐱</m:t>
                                          </m:r>
                                        </m:e>
                                        <m:sub>
                                          <m:r>
                                            <a:rPr lang="it-IT" sz="2550" i="1">
                                              <a:solidFill>
                                                <a:srgbClr val="087F83"/>
                                              </a:solidFill>
                                              <a:latin typeface="Cambria Math" panose="02040503050406030204" pitchFamily="18" charset="0"/>
                                              <a:ea typeface="Cambria Math"/>
                                              <a:cs typeface="Cambria Math"/>
                                            </a:rPr>
                                            <m:t>𝑖</m:t>
                                          </m:r>
                                        </m:sub>
                                      </m:sSub>
                                    </m:e>
                                  </m:d>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𝑦</m:t>
                                      </m:r>
                                    </m:e>
                                    <m:sub>
                                      <m:r>
                                        <a:rPr lang="en-GB" sz="2550">
                                          <a:solidFill>
                                            <a:srgbClr val="087F83"/>
                                          </a:solidFill>
                                          <a:latin typeface="Cambria Math"/>
                                          <a:ea typeface="Cambria Math"/>
                                          <a:cs typeface="Cambria Math"/>
                                        </a:rPr>
                                        <m:t>𝑖</m:t>
                                      </m:r>
                                    </m:sub>
                                  </m:sSub>
                                </m:e>
                              </m:d>
                            </m:e>
                          </m:groupChr>
                        </m:e>
                        <m:lim>
                          <m:r>
                            <m:rPr>
                              <m:sty m:val="p"/>
                            </m:rPr>
                            <a:rPr lang="it-IT" sz="2550">
                              <a:solidFill>
                                <a:srgbClr val="087F83"/>
                              </a:solidFill>
                              <a:latin typeface="Cambria Math" panose="02040503050406030204" pitchFamily="18" charset="0"/>
                              <a:ea typeface="Cambria Math"/>
                            </a:rPr>
                            <m:t>first</m:t>
                          </m:r>
                          <m:r>
                            <a:rPr lang="it-IT" sz="2550">
                              <a:solidFill>
                                <a:srgbClr val="087F83"/>
                              </a:solidFill>
                              <a:latin typeface="Cambria Math" panose="02040503050406030204" pitchFamily="18" charset="0"/>
                              <a:ea typeface="Cambria Math"/>
                            </a:rPr>
                            <m:t> </m:t>
                          </m:r>
                          <m:r>
                            <m:rPr>
                              <m:sty m:val="p"/>
                            </m:rPr>
                            <a:rPr lang="it-IT" sz="2550">
                              <a:solidFill>
                                <a:srgbClr val="087F83"/>
                              </a:solidFill>
                              <a:latin typeface="Cambria Math" panose="02040503050406030204" pitchFamily="18" charset="0"/>
                              <a:ea typeface="Cambria Math"/>
                            </a:rPr>
                            <m:t>term</m:t>
                          </m:r>
                        </m:lim>
                      </m:limLow>
                      <m:r>
                        <a:rPr lang="en-GB" sz="2550">
                          <a:solidFill>
                            <a:srgbClr val="087F83"/>
                          </a:solidFill>
                          <a:latin typeface="Cambria Math"/>
                          <a:ea typeface="Cambria Math"/>
                          <a:cs typeface="Cambria Math"/>
                        </a:rPr>
                        <m:t>⋅</m:t>
                      </m:r>
                      <m:limLow>
                        <m:limLowPr>
                          <m:ctrlPr>
                            <a:rPr lang="en-GB" sz="2550" i="1">
                              <a:solidFill>
                                <a:srgbClr val="087F83"/>
                              </a:solidFill>
                              <a:latin typeface="Cambria Math" panose="02040503050406030204" pitchFamily="18" charset="0"/>
                              <a:ea typeface="Cambria Math"/>
                            </a:rPr>
                          </m:ctrlPr>
                        </m:limLowPr>
                        <m:e>
                          <m:groupChr>
                            <m:groupChrPr>
                              <m:chr m:val="⏟"/>
                              <m:pos m:val="bot"/>
                              <m:vertJc m:val="top"/>
                              <m:ctrlPr>
                                <a:rPr lang="en-GB" sz="2550" i="1">
                                  <a:solidFill>
                                    <a:srgbClr val="087F83"/>
                                  </a:solidFill>
                                  <a:latin typeface="Cambria Math" panose="02040503050406030204" pitchFamily="18" charset="0"/>
                                  <a:ea typeface="Cambria Math"/>
                                </a:rPr>
                              </m:ctrlPr>
                            </m:groupChrPr>
                            <m:e>
                              <m:m>
                                <m:mPr>
                                  <m:mcs>
                                    <m:mc>
                                      <m:mcPr>
                                        <m:count m:val="1"/>
                                        <m:mcJc m:val="center"/>
                                      </m:mcPr>
                                    </m:mc>
                                  </m:mcs>
                                  <m:ctrlPr>
                                    <a:rPr lang="en-GB" sz="2550" i="1">
                                      <a:solidFill>
                                        <a:srgbClr val="087F83"/>
                                      </a:solidFill>
                                      <a:latin typeface="Cambria Math" panose="02040503050406030204" pitchFamily="18" charset="0"/>
                                      <a:ea typeface="Cambria Math"/>
                                    </a:rPr>
                                  </m:ctrlPr>
                                </m:mPr>
                                <m:mr>
                                  <m:e/>
                                </m:mr>
                                <m:mr>
                                  <m:e/>
                                </m:mr>
                              </m:m>
                              <m:sSup>
                                <m:sSupPr>
                                  <m:ctrlPr>
                                    <a:rPr lang="en-GB" sz="2550">
                                      <a:solidFill>
                                        <a:srgbClr val="087F83"/>
                                      </a:solidFill>
                                      <a:latin typeface="Cambria Math"/>
                                      <a:ea typeface="Cambria Math"/>
                                      <a:cs typeface="Cambria Math"/>
                                    </a:rPr>
                                  </m:ctrlPr>
                                </m:sSupPr>
                                <m:e>
                                  <m:r>
                                    <a:rPr lang="en-GB" sz="2550">
                                      <a:solidFill>
                                        <a:srgbClr val="087F83"/>
                                      </a:solidFill>
                                      <a:latin typeface="Cambria Math"/>
                                      <a:ea typeface="Cambria Math"/>
                                      <a:cs typeface="Cambria Math"/>
                                    </a:rPr>
                                    <m:t>𝜎</m:t>
                                  </m:r>
                                </m:e>
                                <m:sup>
                                  <m:r>
                                    <a:rPr lang="en-GB" sz="2550">
                                      <a:solidFill>
                                        <a:srgbClr val="087F83"/>
                                      </a:solidFill>
                                      <a:latin typeface="Cambria Math"/>
                                      <a:ea typeface="Cambria Math"/>
                                      <a:cs typeface="Cambria Math"/>
                                    </a:rPr>
                                    <m:t>′</m:t>
                                  </m:r>
                                </m:sup>
                              </m:sSup>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𝑓</m:t>
                                      </m:r>
                                    </m:e>
                                    <m:sub>
                                      <m:r>
                                        <a:rPr lang="en-GB" sz="2550">
                                          <a:solidFill>
                                            <a:srgbClr val="087F83"/>
                                          </a:solidFill>
                                          <a:latin typeface="Cambria Math"/>
                                          <a:ea typeface="Cambria Math"/>
                                          <a:cs typeface="Cambria Math"/>
                                        </a:rPr>
                                        <m:t>𝛉</m:t>
                                      </m:r>
                                    </m:sub>
                                  </m:sSub>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𝐱</m:t>
                                          </m:r>
                                        </m:e>
                                        <m:sub>
                                          <m:r>
                                            <a:rPr lang="en-GB" sz="2550">
                                              <a:solidFill>
                                                <a:srgbClr val="087F83"/>
                                              </a:solidFill>
                                              <a:latin typeface="Cambria Math"/>
                                              <a:ea typeface="Cambria Math"/>
                                              <a:cs typeface="Cambria Math"/>
                                            </a:rPr>
                                            <m:t>𝑖</m:t>
                                          </m:r>
                                        </m:sub>
                                      </m:sSub>
                                    </m:e>
                                  </m:d>
                                </m:e>
                              </m:d>
                              <m:m>
                                <m:mPr>
                                  <m:mcs>
                                    <m:mc>
                                      <m:mcPr>
                                        <m:count m:val="1"/>
                                        <m:mcJc m:val="center"/>
                                      </m:mcPr>
                                    </m:mc>
                                  </m:mcs>
                                  <m:ctrlPr>
                                    <a:rPr lang="en-GB" sz="2550" i="1">
                                      <a:solidFill>
                                        <a:srgbClr val="087F83"/>
                                      </a:solidFill>
                                      <a:latin typeface="Cambria Math" panose="02040503050406030204" pitchFamily="18" charset="0"/>
                                      <a:ea typeface="Cambria Math"/>
                                    </a:rPr>
                                  </m:ctrlPr>
                                </m:mPr>
                                <m:mr>
                                  <m:e/>
                                </m:mr>
                                <m:mr>
                                  <m:e/>
                                </m:mr>
                              </m:m>
                            </m:e>
                          </m:groupChr>
                        </m:e>
                        <m:lim>
                          <m:r>
                            <m:rPr>
                              <m:sty m:val="p"/>
                            </m:rPr>
                            <a:rPr lang="it-IT" sz="2550">
                              <a:solidFill>
                                <a:srgbClr val="087F83"/>
                              </a:solidFill>
                              <a:latin typeface="Cambria Math" panose="02040503050406030204" pitchFamily="18" charset="0"/>
                              <a:ea typeface="Cambria Math"/>
                              <a:cs typeface="Cambria Math"/>
                            </a:rPr>
                            <m:t>second</m:t>
                          </m:r>
                          <m:r>
                            <a:rPr lang="it-IT" sz="2550">
                              <a:solidFill>
                                <a:srgbClr val="087F83"/>
                              </a:solidFill>
                              <a:latin typeface="Cambria Math" panose="02040503050406030204" pitchFamily="18" charset="0"/>
                              <a:ea typeface="Cambria Math"/>
                              <a:cs typeface="Cambria Math"/>
                            </a:rPr>
                            <m:t> </m:t>
                          </m:r>
                          <m:r>
                            <m:rPr>
                              <m:sty m:val="p"/>
                            </m:rPr>
                            <a:rPr lang="it-IT" sz="2550">
                              <a:solidFill>
                                <a:srgbClr val="087F83"/>
                              </a:solidFill>
                              <a:latin typeface="Cambria Math" panose="02040503050406030204" pitchFamily="18" charset="0"/>
                              <a:ea typeface="Cambria Math"/>
                              <a:cs typeface="Cambria Math"/>
                            </a:rPr>
                            <m:t>term</m:t>
                          </m:r>
                        </m:lim>
                      </m:limLow>
                      <m:r>
                        <a:rPr lang="en-GB" sz="2550">
                          <a:solidFill>
                            <a:srgbClr val="087F83"/>
                          </a:solidFill>
                          <a:latin typeface="Cambria Math"/>
                          <a:ea typeface="Cambria Math"/>
                          <a:cs typeface="Cambria Math"/>
                        </a:rPr>
                        <m:t>⋅</m:t>
                      </m:r>
                      <m:limLow>
                        <m:limLowPr>
                          <m:ctrlPr>
                            <a:rPr lang="en-GB" sz="255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2550" i="1">
                                  <a:solidFill>
                                    <a:srgbClr val="087F83"/>
                                  </a:solidFill>
                                  <a:latin typeface="Cambria Math" panose="02040503050406030204" pitchFamily="18" charset="0"/>
                                  <a:ea typeface="Cambria Math"/>
                                  <a:cs typeface="Cambria Math"/>
                                </a:rPr>
                              </m:ctrlPr>
                            </m:groupChrPr>
                            <m:e>
                              <m:f>
                                <m:fPr>
                                  <m:ctrlPr>
                                    <a:rPr lang="en-GB" sz="2550">
                                      <a:solidFill>
                                        <a:srgbClr val="087F83"/>
                                      </a:solidFill>
                                      <a:latin typeface="Cambria Math"/>
                                      <a:ea typeface="Cambria Math"/>
                                      <a:cs typeface="Cambria Math"/>
                                    </a:rPr>
                                  </m:ctrlPr>
                                </m:fPr>
                                <m:num>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𝑓</m:t>
                                      </m:r>
                                    </m:e>
                                    <m:sub>
                                      <m:r>
                                        <a:rPr lang="en-GB" sz="2550">
                                          <a:solidFill>
                                            <a:srgbClr val="087F83"/>
                                          </a:solidFill>
                                          <a:latin typeface="Cambria Math"/>
                                          <a:ea typeface="Cambria Math"/>
                                          <a:cs typeface="Cambria Math"/>
                                        </a:rPr>
                                        <m:t>𝛉</m:t>
                                      </m:r>
                                    </m:sub>
                                  </m:sSub>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𝐱</m:t>
                                          </m:r>
                                        </m:e>
                                        <m:sub>
                                          <m:r>
                                            <a:rPr lang="en-GB" sz="2550">
                                              <a:solidFill>
                                                <a:srgbClr val="087F83"/>
                                              </a:solidFill>
                                              <a:latin typeface="Cambria Math"/>
                                              <a:ea typeface="Cambria Math"/>
                                              <a:cs typeface="Cambria Math"/>
                                            </a:rPr>
                                            <m:t>𝑖</m:t>
                                          </m:r>
                                        </m:sub>
                                      </m:sSub>
                                    </m:e>
                                  </m:d>
                                </m:num>
                                <m:den>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𝜃</m:t>
                                      </m:r>
                                    </m:e>
                                    <m:sub>
                                      <m:r>
                                        <a:rPr lang="en-GB" sz="2550">
                                          <a:solidFill>
                                            <a:srgbClr val="087F83"/>
                                          </a:solidFill>
                                          <a:latin typeface="Cambria Math"/>
                                          <a:ea typeface="Cambria Math"/>
                                          <a:cs typeface="Cambria Math"/>
                                        </a:rPr>
                                        <m:t>𝑗</m:t>
                                      </m:r>
                                    </m:sub>
                                  </m:sSub>
                                </m:den>
                              </m:f>
                            </m:e>
                          </m:groupChr>
                        </m:e>
                        <m:lim>
                          <m:r>
                            <m:rPr>
                              <m:sty m:val="p"/>
                            </m:rPr>
                            <a:rPr lang="it-IT" sz="2550">
                              <a:solidFill>
                                <a:srgbClr val="087F83"/>
                              </a:solidFill>
                              <a:latin typeface="Cambria Math" panose="02040503050406030204" pitchFamily="18" charset="0"/>
                              <a:ea typeface="Cambria Math"/>
                              <a:cs typeface="Cambria Math"/>
                            </a:rPr>
                            <m:t>third</m:t>
                          </m:r>
                          <m:r>
                            <a:rPr lang="it-IT" sz="2550">
                              <a:solidFill>
                                <a:srgbClr val="087F83"/>
                              </a:solidFill>
                              <a:latin typeface="Cambria Math" panose="02040503050406030204" pitchFamily="18" charset="0"/>
                              <a:ea typeface="Cambria Math"/>
                              <a:cs typeface="Cambria Math"/>
                            </a:rPr>
                            <m:t> </m:t>
                          </m:r>
                          <m:r>
                            <m:rPr>
                              <m:sty m:val="p"/>
                            </m:rPr>
                            <a:rPr lang="it-IT" sz="2550">
                              <a:solidFill>
                                <a:srgbClr val="087F83"/>
                              </a:solidFill>
                              <a:latin typeface="Cambria Math" panose="02040503050406030204" pitchFamily="18" charset="0"/>
                              <a:ea typeface="Cambria Math"/>
                              <a:cs typeface="Cambria Math"/>
                            </a:rPr>
                            <m:t>term</m:t>
                          </m:r>
                        </m:lim>
                      </m:limLow>
                    </m:oMath>
                  </m:oMathPara>
                </a14:m>
                <a:endParaRPr lang="en-GB" sz="2550" dirty="0"/>
              </a:p>
            </p:txBody>
          </p:sp>
        </mc:Choice>
        <mc:Fallback xmlns="">
          <p:sp>
            <p:nvSpPr>
              <p:cNvPr id="6" name="CasellaDiTesto 5">
                <a:extLst>
                  <a:ext uri="{FF2B5EF4-FFF2-40B4-BE49-F238E27FC236}">
                    <a16:creationId xmlns:a16="http://schemas.microsoft.com/office/drawing/2014/main" id="{A2130D1A-0FFF-E316-CF1A-D120BE0A366A}"/>
                  </a:ext>
                </a:extLst>
              </p:cNvPr>
              <p:cNvSpPr txBox="1">
                <a:spLocks noRot="1" noChangeAspect="1" noMove="1" noResize="1" noEditPoints="1" noAdjustHandles="1" noChangeArrowheads="1" noChangeShapeType="1" noTextEdit="1"/>
              </p:cNvSpPr>
              <p:nvPr/>
            </p:nvSpPr>
            <p:spPr>
              <a:xfrm>
                <a:off x="2341245" y="5378665"/>
                <a:ext cx="8629650" cy="1290931"/>
              </a:xfrm>
              <a:prstGeom prst="rect">
                <a:avLst/>
              </a:prstGeom>
              <a:blipFill>
                <a:blip r:embed="rId8"/>
                <a:stretch>
                  <a:fillRect/>
                </a:stretch>
              </a:blipFill>
            </p:spPr>
            <p:txBody>
              <a:bodyPr/>
              <a:lstStyle/>
              <a:p>
                <a:r>
                  <a:rPr lang="it-IT">
                    <a:noFill/>
                  </a:rPr>
                  <a:t> </a:t>
                </a:r>
              </a:p>
            </p:txBody>
          </p:sp>
        </mc:Fallback>
      </mc:AlternateContent>
    </p:spTree>
    <p:extLst>
      <p:ext uri="{BB962C8B-B14F-4D97-AF65-F5344CB8AC3E}">
        <p14:creationId xmlns:p14="http://schemas.microsoft.com/office/powerpoint/2010/main" val="718377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BE824D7D-845A-4315-836B-33FE78E0353C}"/>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lang="it-IT" sz="3150" b="1" dirty="0">
                <a:solidFill>
                  <a:srgbClr val="182D45"/>
                </a:solidFill>
                <a:latin typeface="DejaVu Sans"/>
                <a:ea typeface="DejaVu Sans"/>
                <a:cs typeface="DejaVu Sans"/>
              </a:rPr>
              <a:t>First </a:t>
            </a:r>
            <a:r>
              <a:rPr lang="it-IT" sz="3150" b="1" dirty="0" err="1">
                <a:solidFill>
                  <a:srgbClr val="182D45"/>
                </a:solidFill>
                <a:latin typeface="DejaVu Sans"/>
                <a:ea typeface="DejaVu Sans"/>
                <a:cs typeface="DejaVu Sans"/>
              </a:rPr>
              <a:t>term</a:t>
            </a:r>
            <a:r>
              <a:rPr lang="it-IT" sz="3150" b="1" dirty="0">
                <a:solidFill>
                  <a:srgbClr val="182D45"/>
                </a:solidFill>
                <a:latin typeface="DejaVu Sans"/>
                <a:ea typeface="DejaVu Sans"/>
                <a:cs typeface="DejaVu Sans"/>
              </a:rPr>
              <a:t>: </a:t>
            </a:r>
            <a:r>
              <a:rPr sz="3150" b="1" dirty="0">
                <a:solidFill>
                  <a:srgbClr val="182D45"/>
                </a:solidFill>
                <a:latin typeface="DejaVu Sans"/>
                <a:ea typeface="DejaVu Sans"/>
                <a:cs typeface="DejaVu Sans"/>
              </a:rPr>
              <a:t>Differentiating the logistic loss</a:t>
            </a:r>
          </a:p>
        </p:txBody>
      </p:sp>
      <p:sp>
        <p:nvSpPr>
          <p:cNvPr id="2" name="lead">
            <a:extLst>
              <a:ext uri="{FF2B5EF4-FFF2-40B4-BE49-F238E27FC236}">
                <a16:creationId xmlns:a16="http://schemas.microsoft.com/office/drawing/2014/main" id="{58DA7012-87F7-4AA4-BC1E-5B55D7FDEED6}"/>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Hold the observed label fixed and vary the probability.</a:t>
            </a:r>
          </a:p>
        </p:txBody>
      </p:sp>
      <p:sp>
        <p:nvSpPr>
          <p:cNvPr id="3" name="footer_course">
            <a:extLst>
              <a:ext uri="{FF2B5EF4-FFF2-40B4-BE49-F238E27FC236}">
                <a16:creationId xmlns:a16="http://schemas.microsoft.com/office/drawing/2014/main" id="{9FE3C1DD-55B7-46EF-888C-54986004A9C4}"/>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918F0AEF-006E-451A-B534-9F8EFBF5EBD6}"/>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24</a:t>
            </a:r>
          </a:p>
        </p:txBody>
      </p:sp>
      <mc:AlternateContent xmlns:mc="http://schemas.openxmlformats.org/markup-compatibility/2006" xmlns:a14="http://schemas.microsoft.com/office/drawing/2010/main">
        <mc:Choice Requires="a14">
          <p:sp>
            <p:nvSpPr>
              <p:cNvPr id="9" name="step_0_equation_0" descr="\ell_{\mathrm{log}}(p,y)=-y\log p-(1-y)\log(1-p)">
                <a:extLst>
                  <a:ext uri="{FF2B5EF4-FFF2-40B4-BE49-F238E27FC236}">
                    <a16:creationId xmlns:a16="http://schemas.microsoft.com/office/drawing/2014/main" id="{4362D09D-DFA3-4B5A-919E-F7E5A6395C25}"/>
                  </a:ext>
                </a:extLst>
              </p:cNvPr>
              <p:cNvSpPr>
                <a:spLocks noGrp="1"/>
              </p:cNvSpPr>
              <p:nvPr/>
            </p:nvSpPr>
            <p:spPr>
              <a:xfrm>
                <a:off x="723900" y="1610679"/>
                <a:ext cx="10744200" cy="7715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3"/>
                              </a:solidFill>
                              <a:latin typeface="Cambria Math"/>
                              <a:ea typeface="Cambria Math"/>
                              <a:cs typeface="Cambria Math"/>
                            </a:rPr>
                          </m:ctrlPr>
                        </m:sSubPr>
                        <m:e>
                          <m:r>
                            <m:rPr>
                              <m:sty m:val="p"/>
                            </m:rPr>
                            <a:rPr lang="en-GB" sz="2700">
                              <a:solidFill>
                                <a:srgbClr val="087F83"/>
                              </a:solidFill>
                              <a:latin typeface="Cambria Math"/>
                              <a:ea typeface="Cambria Math"/>
                              <a:cs typeface="Cambria Math"/>
                            </a:rPr>
                            <m:t>ℓ</m:t>
                          </m:r>
                        </m:e>
                        <m:sub>
                          <m:r>
                            <m:rPr>
                              <m:sty m:val="p"/>
                            </m:rPr>
                            <a:rPr lang="en-GB" sz="2700">
                              <a:solidFill>
                                <a:srgbClr val="087F83"/>
                              </a:solidFill>
                              <a:latin typeface="Cambria Math"/>
                              <a:ea typeface="Cambria Math"/>
                              <a:cs typeface="Cambria Math"/>
                            </a:rPr>
                            <m:t>log</m:t>
                          </m:r>
                        </m:sub>
                      </m:sSub>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𝑝</m:t>
                          </m:r>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𝑦</m:t>
                          </m:r>
                        </m:e>
                      </m:d>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𝑦</m:t>
                      </m:r>
                      <m:r>
                        <m:rPr>
                          <m:sty m:val="p"/>
                        </m:rPr>
                        <a:rPr lang="it-IT" sz="2700" b="0" i="0" smtClean="0">
                          <a:solidFill>
                            <a:srgbClr val="087F83"/>
                          </a:solidFill>
                          <a:latin typeface="Cambria Math" panose="02040503050406030204" pitchFamily="18" charset="0"/>
                          <a:ea typeface="Cambria Math"/>
                          <a:cs typeface="Cambria Math"/>
                        </a:rPr>
                        <m:t>log</m:t>
                      </m:r>
                      <m:d>
                        <m:dPr>
                          <m:ctrlPr>
                            <a:rPr lang="it-IT" sz="2700" b="0" i="1" smtClean="0">
                              <a:solidFill>
                                <a:srgbClr val="087F83"/>
                              </a:solidFill>
                              <a:latin typeface="Cambria Math" panose="02040503050406030204" pitchFamily="18" charset="0"/>
                              <a:ea typeface="Cambria Math"/>
                              <a:cs typeface="Cambria Math"/>
                            </a:rPr>
                          </m:ctrlPr>
                        </m:dPr>
                        <m:e>
                          <m:r>
                            <a:rPr lang="it-IT" sz="2700" b="0" i="1" smtClean="0">
                              <a:solidFill>
                                <a:srgbClr val="087F83"/>
                              </a:solidFill>
                              <a:latin typeface="Cambria Math" panose="02040503050406030204" pitchFamily="18" charset="0"/>
                              <a:ea typeface="Cambria Math"/>
                              <a:cs typeface="Cambria Math"/>
                            </a:rPr>
                            <m:t>𝑝</m:t>
                          </m:r>
                        </m:e>
                      </m:d>
                      <m:r>
                        <a:rPr lang="en-GB" sz="2700">
                          <a:solidFill>
                            <a:srgbClr val="087F83"/>
                          </a:solidFill>
                          <a:latin typeface="Cambria Math"/>
                          <a:ea typeface="Cambria Math"/>
                          <a:cs typeface="Cambria Math"/>
                        </a:rPr>
                        <m:t>−</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1−</m:t>
                          </m:r>
                          <m:r>
                            <a:rPr lang="en-GB" sz="2700">
                              <a:solidFill>
                                <a:srgbClr val="087F83"/>
                              </a:solidFill>
                              <a:latin typeface="Cambria Math"/>
                              <a:ea typeface="Cambria Math"/>
                              <a:cs typeface="Cambria Math"/>
                            </a:rPr>
                            <m:t>𝑦</m:t>
                          </m:r>
                        </m:e>
                      </m:d>
                      <m:r>
                        <m:rPr>
                          <m:sty m:val="p"/>
                        </m:rPr>
                        <a:rPr lang="en-GB" sz="2700">
                          <a:solidFill>
                            <a:srgbClr val="087F83"/>
                          </a:solidFill>
                          <a:latin typeface="Cambria Math"/>
                          <a:ea typeface="Cambria Math"/>
                          <a:cs typeface="Cambria Math"/>
                        </a:rPr>
                        <m:t>log</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1−</m:t>
                          </m:r>
                          <m:r>
                            <a:rPr lang="en-GB" sz="2700">
                              <a:solidFill>
                                <a:srgbClr val="087F83"/>
                              </a:solidFill>
                              <a:latin typeface="Cambria Math"/>
                              <a:ea typeface="Cambria Math"/>
                              <a:cs typeface="Cambria Math"/>
                            </a:rPr>
                            <m:t>𝑝</m:t>
                          </m:r>
                        </m:e>
                      </m:d>
                    </m:oMath>
                  </m:oMathPara>
                </a14:m>
                <a:endParaRPr lang="en-GB" sz="2700" dirty="0"/>
              </a:p>
            </p:txBody>
          </p:sp>
        </mc:Choice>
        <mc:Fallback xmlns="">
          <p:sp>
            <p:nvSpPr>
              <p:cNvPr id="9" name="step_0_equation_0" descr="\ell_{\mathrm{log}}(p,y)=-y\log p-(1-y)\log(1-p)">
                <a:extLst>
                  <a:ext uri="{FF2B5EF4-FFF2-40B4-BE49-F238E27FC236}">
                    <a16:creationId xmlns:a16="http://schemas.microsoft.com/office/drawing/2014/main" id="{4362D09D-DFA3-4B5A-919E-F7E5A6395C25}"/>
                  </a:ext>
                </a:extLst>
              </p:cNvPr>
              <p:cNvSpPr>
                <a:spLocks noGrp="1" noRot="1" noChangeAspect="1" noMove="1" noResize="1" noEditPoints="1" noAdjustHandles="1" noChangeArrowheads="1" noChangeShapeType="1" noTextEdit="1"/>
              </p:cNvSpPr>
              <p:nvPr/>
            </p:nvSpPr>
            <p:spPr>
              <a:xfrm>
                <a:off x="723900" y="1610679"/>
                <a:ext cx="10744200" cy="771525"/>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step_1_equation_1" descr="\frac{\partial\ell_{\mathrm{log}}}{\partial p}(p,y)=-\frac{y}{p}+\frac{1-y}{1-p}">
                <a:extLst>
                  <a:ext uri="{FF2B5EF4-FFF2-40B4-BE49-F238E27FC236}">
                    <a16:creationId xmlns:a16="http://schemas.microsoft.com/office/drawing/2014/main" id="{F95ECE15-C64C-4034-8477-C993E9155774}"/>
                  </a:ext>
                </a:extLst>
              </p:cNvPr>
              <p:cNvSpPr>
                <a:spLocks noGrp="1"/>
              </p:cNvSpPr>
              <p:nvPr/>
            </p:nvSpPr>
            <p:spPr>
              <a:xfrm>
                <a:off x="723900" y="2672251"/>
                <a:ext cx="10744200" cy="1584959"/>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500">
                              <a:solidFill>
                                <a:srgbClr val="087F83"/>
                              </a:solidFill>
                              <a:latin typeface="Cambria Math"/>
                              <a:ea typeface="Cambria Math"/>
                              <a:cs typeface="Cambria Math"/>
                            </a:rPr>
                          </m:ctrlPr>
                        </m:fPr>
                        <m:num>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m:rPr>
                                  <m:sty m:val="p"/>
                                </m:rPr>
                                <a:rPr lang="en-GB" sz="2500">
                                  <a:solidFill>
                                    <a:srgbClr val="087F83"/>
                                  </a:solidFill>
                                  <a:latin typeface="Cambria Math"/>
                                  <a:ea typeface="Cambria Math"/>
                                  <a:cs typeface="Cambria Math"/>
                                </a:rPr>
                                <m:t>ℓ</m:t>
                              </m:r>
                            </m:e>
                            <m:sub>
                              <m:r>
                                <m:rPr>
                                  <m:sty m:val="p"/>
                                </m:rPr>
                                <a:rPr lang="en-GB" sz="2500">
                                  <a:solidFill>
                                    <a:srgbClr val="087F83"/>
                                  </a:solidFill>
                                  <a:latin typeface="Cambria Math"/>
                                  <a:ea typeface="Cambria Math"/>
                                  <a:cs typeface="Cambria Math"/>
                                </a:rPr>
                                <m:t>log</m:t>
                              </m:r>
                            </m:sub>
                          </m:sSub>
                        </m:num>
                        <m:den>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𝑝</m:t>
                          </m:r>
                        </m:den>
                      </m:f>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𝑝</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𝑦</m:t>
                          </m:r>
                        </m:e>
                      </m:d>
                      <m:r>
                        <a:rPr lang="en-GB" sz="2500">
                          <a:solidFill>
                            <a:srgbClr val="087F83"/>
                          </a:solidFill>
                          <a:latin typeface="Cambria Math"/>
                          <a:ea typeface="Cambria Math"/>
                          <a:cs typeface="Cambria Math"/>
                        </a:rPr>
                        <m:t>=−</m:t>
                      </m:r>
                      <m:f>
                        <m:fPr>
                          <m:ctrlPr>
                            <a:rPr lang="en-GB" sz="2500">
                              <a:solidFill>
                                <a:srgbClr val="087F83"/>
                              </a:solidFill>
                              <a:latin typeface="Cambria Math"/>
                              <a:ea typeface="Cambria Math"/>
                              <a:cs typeface="Cambria Math"/>
                            </a:rPr>
                          </m:ctrlPr>
                        </m:fPr>
                        <m:num>
                          <m:r>
                            <a:rPr lang="en-GB" sz="2500">
                              <a:solidFill>
                                <a:srgbClr val="087F83"/>
                              </a:solidFill>
                              <a:latin typeface="Cambria Math"/>
                              <a:ea typeface="Cambria Math"/>
                              <a:cs typeface="Cambria Math"/>
                            </a:rPr>
                            <m:t>𝑦</m:t>
                          </m:r>
                        </m:num>
                        <m:den>
                          <m:r>
                            <a:rPr lang="en-GB" sz="2500">
                              <a:solidFill>
                                <a:srgbClr val="087F83"/>
                              </a:solidFill>
                              <a:latin typeface="Cambria Math"/>
                              <a:ea typeface="Cambria Math"/>
                              <a:cs typeface="Cambria Math"/>
                            </a:rPr>
                            <m:t>𝑝</m:t>
                          </m:r>
                        </m:den>
                      </m:f>
                      <m:r>
                        <a:rPr lang="en-GB" sz="2500">
                          <a:solidFill>
                            <a:srgbClr val="087F83"/>
                          </a:solidFill>
                          <a:latin typeface="Cambria Math"/>
                          <a:ea typeface="Cambria Math"/>
                          <a:cs typeface="Cambria Math"/>
                        </a:rPr>
                        <m:t>+</m:t>
                      </m:r>
                      <m:f>
                        <m:fPr>
                          <m:ctrlPr>
                            <a:rPr lang="en-GB" sz="2500">
                              <a:solidFill>
                                <a:srgbClr val="087F83"/>
                              </a:solidFill>
                              <a:latin typeface="Cambria Math"/>
                              <a:ea typeface="Cambria Math"/>
                              <a:cs typeface="Cambria Math"/>
                            </a:rPr>
                          </m:ctrlPr>
                        </m:fPr>
                        <m:num>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𝑦</m:t>
                          </m:r>
                        </m:num>
                        <m:den>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𝑝</m:t>
                          </m:r>
                        </m:den>
                      </m:f>
                      <m:r>
                        <a:rPr lang="it-IT" sz="2500" b="0" i="1" smtClean="0">
                          <a:solidFill>
                            <a:srgbClr val="087F83"/>
                          </a:solidFill>
                          <a:latin typeface="Cambria Math" panose="02040503050406030204" pitchFamily="18" charset="0"/>
                          <a:ea typeface="Cambria Math"/>
                          <a:cs typeface="Cambria Math"/>
                        </a:rPr>
                        <m:t>=</m:t>
                      </m:r>
                      <m:f>
                        <m:fPr>
                          <m:ctrlPr>
                            <a:rPr lang="en-GB" sz="2500">
                              <a:solidFill>
                                <a:srgbClr val="087F83"/>
                              </a:solidFill>
                              <a:latin typeface="Cambria Math"/>
                              <a:ea typeface="Cambria Math"/>
                              <a:cs typeface="Cambria Math"/>
                            </a:rPr>
                          </m:ctrlPr>
                        </m:fPr>
                        <m:num>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𝑦</m:t>
                          </m:r>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𝑝</m:t>
                              </m:r>
                            </m:e>
                          </m:d>
                          <m:r>
                            <a:rPr lang="en-GB" sz="2500">
                              <a:solidFill>
                                <a:srgbClr val="087F83"/>
                              </a:solidFill>
                              <a:latin typeface="Cambria Math"/>
                              <a:ea typeface="Cambria Math"/>
                              <a:cs typeface="Cambria Math"/>
                            </a:rPr>
                            <m:t>+</m:t>
                          </m:r>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𝑦</m:t>
                              </m:r>
                            </m:e>
                          </m:d>
                          <m:r>
                            <a:rPr lang="en-GB" sz="2500">
                              <a:solidFill>
                                <a:srgbClr val="087F83"/>
                              </a:solidFill>
                              <a:latin typeface="Cambria Math"/>
                              <a:ea typeface="Cambria Math"/>
                              <a:cs typeface="Cambria Math"/>
                            </a:rPr>
                            <m:t>𝑝</m:t>
                          </m:r>
                        </m:num>
                        <m:den>
                          <m:r>
                            <a:rPr lang="en-GB" sz="2500">
                              <a:solidFill>
                                <a:srgbClr val="087F83"/>
                              </a:solidFill>
                              <a:latin typeface="Cambria Math"/>
                              <a:ea typeface="Cambria Math"/>
                              <a:cs typeface="Cambria Math"/>
                            </a:rPr>
                            <m:t>𝑝</m:t>
                          </m:r>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𝑝</m:t>
                              </m:r>
                            </m:e>
                          </m:d>
                        </m:den>
                      </m:f>
                    </m:oMath>
                  </m:oMathPara>
                </a14:m>
                <a:endParaRPr lang="it-IT" sz="2500" i="1" dirty="0">
                  <a:solidFill>
                    <a:srgbClr val="087F83"/>
                  </a:solidFill>
                  <a:latin typeface="Cambria Math" panose="02040503050406030204" pitchFamily="18" charset="0"/>
                  <a:ea typeface="Cambria Math"/>
                  <a:cs typeface="Cambria Math"/>
                </a:endParaRPr>
              </a:p>
              <a:p>
                <a:pPr algn="ctr"/>
                <a14:m>
                  <m:oMathPara xmlns:m="http://schemas.openxmlformats.org/officeDocument/2006/math">
                    <m:oMath>
                      <m:r>
                        <a:rPr lang="it-IT" sz="2500" b="0" i="1" smtClean="0">
                          <a:solidFill>
                            <a:srgbClr val="087F83"/>
                          </a:solidFill>
                          <a:latin typeface="Cambria Math" panose="02040503050406030204" pitchFamily="18" charset="0"/>
                          <a:ea typeface="Cambria Math"/>
                          <a:cs typeface="Cambria Math"/>
                        </a:rPr>
                        <m:t>         </m:t>
                      </m:r>
                      <m:r>
                        <a:rPr lang="it-IT" sz="2500" i="1">
                          <a:solidFill>
                            <a:srgbClr val="087F83"/>
                          </a:solidFill>
                          <a:latin typeface="Cambria Math" panose="02040503050406030204" pitchFamily="18" charset="0"/>
                          <a:ea typeface="Cambria Math"/>
                          <a:cs typeface="Cambria Math"/>
                        </a:rPr>
                        <m:t>=</m:t>
                      </m:r>
                      <m:f>
                        <m:fPr>
                          <m:ctrlPr>
                            <a:rPr lang="en-GB" sz="2500">
                              <a:solidFill>
                                <a:srgbClr val="087F83"/>
                              </a:solidFill>
                              <a:latin typeface="Cambria Math"/>
                              <a:ea typeface="Cambria Math"/>
                              <a:cs typeface="Cambria Math"/>
                            </a:rPr>
                          </m:ctrlPr>
                        </m:fPr>
                        <m:num>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𝑦</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𝑦𝑝</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𝑝</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𝑦𝑝</m:t>
                          </m:r>
                        </m:num>
                        <m:den>
                          <m:r>
                            <a:rPr lang="en-GB" sz="2500">
                              <a:solidFill>
                                <a:srgbClr val="087F83"/>
                              </a:solidFill>
                              <a:latin typeface="Cambria Math"/>
                              <a:ea typeface="Cambria Math"/>
                              <a:cs typeface="Cambria Math"/>
                            </a:rPr>
                            <m:t>𝑝</m:t>
                          </m:r>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𝑝</m:t>
                              </m:r>
                            </m:e>
                          </m:d>
                        </m:den>
                      </m:f>
                      <m:r>
                        <a:rPr lang="it-IT" sz="2500" i="1">
                          <a:solidFill>
                            <a:srgbClr val="087F83"/>
                          </a:solidFill>
                          <a:latin typeface="Cambria Math" panose="02040503050406030204" pitchFamily="18" charset="0"/>
                          <a:ea typeface="Cambria Math"/>
                          <a:cs typeface="Cambria Math"/>
                        </a:rPr>
                        <m:t>=</m:t>
                      </m:r>
                      <m:f>
                        <m:fPr>
                          <m:ctrlPr>
                            <a:rPr lang="en-GB" sz="2500">
                              <a:solidFill>
                                <a:srgbClr val="087F83"/>
                              </a:solidFill>
                              <a:latin typeface="Cambria Math"/>
                              <a:ea typeface="Cambria Math"/>
                              <a:cs typeface="Cambria Math"/>
                            </a:rPr>
                          </m:ctrlPr>
                        </m:fPr>
                        <m:num>
                          <m:r>
                            <a:rPr lang="en-GB" sz="2500">
                              <a:solidFill>
                                <a:srgbClr val="087F83"/>
                              </a:solidFill>
                              <a:latin typeface="Cambria Math"/>
                              <a:ea typeface="Cambria Math"/>
                              <a:cs typeface="Cambria Math"/>
                            </a:rPr>
                            <m:t>𝑝</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𝑦</m:t>
                          </m:r>
                        </m:num>
                        <m:den>
                          <m:r>
                            <a:rPr lang="en-GB" sz="2500">
                              <a:solidFill>
                                <a:srgbClr val="087F83"/>
                              </a:solidFill>
                              <a:latin typeface="Cambria Math"/>
                              <a:ea typeface="Cambria Math"/>
                              <a:cs typeface="Cambria Math"/>
                            </a:rPr>
                            <m:t>𝑝</m:t>
                          </m:r>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𝑝</m:t>
                              </m:r>
                            </m:e>
                          </m:d>
                        </m:den>
                      </m:f>
                    </m:oMath>
                  </m:oMathPara>
                </a14:m>
                <a:endParaRPr lang="en-GB" sz="2500" dirty="0"/>
              </a:p>
            </p:txBody>
          </p:sp>
        </mc:Choice>
        <mc:Fallback xmlns="">
          <p:sp>
            <p:nvSpPr>
              <p:cNvPr id="10" name="step_1_equation_1" descr="\frac{\partial\ell_{\mathrm{log}}}{\partial p}(p,y)=-\frac{y}{p}+\frac{1-y}{1-p}">
                <a:extLst>
                  <a:ext uri="{FF2B5EF4-FFF2-40B4-BE49-F238E27FC236}">
                    <a16:creationId xmlns:a16="http://schemas.microsoft.com/office/drawing/2014/main" id="{F95ECE15-C64C-4034-8477-C993E9155774}"/>
                  </a:ext>
                </a:extLst>
              </p:cNvPr>
              <p:cNvSpPr>
                <a:spLocks noGrp="1" noRot="1" noChangeAspect="1" noMove="1" noResize="1" noEditPoints="1" noAdjustHandles="1" noChangeArrowheads="1" noChangeShapeType="1" noTextEdit="1"/>
              </p:cNvSpPr>
              <p:nvPr/>
            </p:nvSpPr>
            <p:spPr>
              <a:xfrm>
                <a:off x="723900" y="2672251"/>
                <a:ext cx="10744200" cy="1584959"/>
              </a:xfrm>
              <a:prstGeom prst="rect">
                <a:avLst/>
              </a:prstGeom>
              <a:blipFill>
                <a:blip r:embed="rId4"/>
                <a:stretch>
                  <a:fillRect/>
                </a:stretch>
              </a:blipFill>
              <a:ln w="0">
                <a:noFill/>
              </a:ln>
            </p:spPr>
            <p:txBody>
              <a:bodyPr/>
              <a:lstStyle/>
              <a:p>
                <a:r>
                  <a:rPr lang="it-IT">
                    <a:noFill/>
                  </a:rPr>
                  <a:t> </a:t>
                </a:r>
              </a:p>
            </p:txBody>
          </p:sp>
        </mc:Fallback>
      </mc:AlternateContent>
      <p:sp>
        <p:nvSpPr>
          <p:cNvPr id="11" name="step_2_equation_2" descr="\begin{aligned}\frac{\partial\ell_{\mathrm{log}}}{\partial p}(p,y)&amp;=\frac{-y(1-p)+(1-y)p}{p(1-p)}\\&amp;=\frac{-y+yp+p-yp}{p(1-p)}=\boxed{\frac{p-y}{p(1-p)}}\end{aligned}">
            <a:extLst>
              <a:ext uri="{FF2B5EF4-FFF2-40B4-BE49-F238E27FC236}">
                <a16:creationId xmlns:a16="http://schemas.microsoft.com/office/drawing/2014/main" id="{76F87A17-A751-41DF-8DC6-81B024FD1F15}"/>
              </a:ext>
            </a:extLst>
          </p:cNvPr>
          <p:cNvSpPr>
            <a:spLocks noGrp="1"/>
          </p:cNvSpPr>
          <p:nvPr/>
        </p:nvSpPr>
        <p:spPr>
          <a:xfrm>
            <a:off x="723900" y="3652838"/>
            <a:ext cx="10744200" cy="1162050"/>
          </a:xfrm>
          <a:prstGeom prst="rect">
            <a:avLst/>
          </a:prstGeom>
          <a:noFill/>
          <a:ln w="0">
            <a:noFill/>
          </a:ln>
        </p:spPr>
        <p:txBody>
          <a:bodyPr vertOverflow="overflow" horzOverflow="overflow" wrap="none" lIns="0" tIns="0" rIns="0" bIns="0" anchor="ctr">
            <a:noAutofit/>
          </a:bodyPr>
          <a:lstStyle/>
          <a:p>
            <a:pPr algn="ctr"/>
            <a:endParaRPr lang="en-GB" sz="2700" dirty="0"/>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5520DE3F-A7EB-C902-B7F7-3153BB50B9DA}"/>
                  </a:ext>
                </a:extLst>
              </p:cNvPr>
              <p:cNvSpPr txBox="1"/>
              <p:nvPr/>
            </p:nvSpPr>
            <p:spPr>
              <a:xfrm>
                <a:off x="3048762" y="4814888"/>
                <a:ext cx="6094476" cy="1098762"/>
              </a:xfrm>
              <a:prstGeom prst="rect">
                <a:avLst/>
              </a:prstGeom>
              <a:noFill/>
            </p:spPr>
            <p:txBody>
              <a:bodyPr wrap="square">
                <a:spAutoFit/>
              </a:bodyPr>
              <a:lstStyle/>
              <a:p>
                <a:pPr algn="ctr"/>
                <a14:m>
                  <m:oMathPara xmlns:m="http://schemas.openxmlformats.org/officeDocument/2006/math">
                    <m:oMath>
                      <m:borderBox>
                        <m:borderBoxPr>
                          <m:ctrlPr>
                            <a:rPr lang="en-GB" sz="2400" i="1">
                              <a:solidFill>
                                <a:srgbClr val="0070C0"/>
                              </a:solidFill>
                              <a:latin typeface="Cambria Math" panose="02040503050406030204" pitchFamily="18" charset="0"/>
                              <a:ea typeface="Cambria Math"/>
                              <a:cs typeface="Cambria Math"/>
                            </a:rPr>
                          </m:ctrlPr>
                        </m:borderBoxPr>
                        <m:e>
                          <m:f>
                            <m:fPr>
                              <m:ctrlPr>
                                <a:rPr lang="en-GB" sz="2400">
                                  <a:solidFill>
                                    <a:srgbClr val="0070C0"/>
                                  </a:solidFill>
                                  <a:latin typeface="Cambria Math"/>
                                  <a:ea typeface="Cambria Math"/>
                                  <a:cs typeface="Cambria Math"/>
                                </a:rPr>
                              </m:ctrlPr>
                            </m:fPr>
                            <m:num>
                              <m:r>
                                <a:rPr lang="en-GB" sz="2400">
                                  <a:solidFill>
                                    <a:srgbClr val="0070C0"/>
                                  </a:solidFill>
                                  <a:latin typeface="Cambria Math"/>
                                  <a:ea typeface="Cambria Math"/>
                                  <a:cs typeface="Cambria Math"/>
                                </a:rPr>
                                <m:t>𝜕</m:t>
                              </m:r>
                              <m:sSub>
                                <m:sSubPr>
                                  <m:ctrlPr>
                                    <a:rPr lang="en-GB" sz="2400">
                                      <a:solidFill>
                                        <a:srgbClr val="0070C0"/>
                                      </a:solidFill>
                                      <a:latin typeface="Cambria Math"/>
                                      <a:ea typeface="Cambria Math"/>
                                      <a:cs typeface="Cambria Math"/>
                                    </a:rPr>
                                  </m:ctrlPr>
                                </m:sSubPr>
                                <m:e>
                                  <m:r>
                                    <m:rPr>
                                      <m:sty m:val="p"/>
                                    </m:rPr>
                                    <a:rPr lang="en-GB" sz="2400">
                                      <a:solidFill>
                                        <a:srgbClr val="0070C0"/>
                                      </a:solidFill>
                                      <a:latin typeface="Cambria Math"/>
                                      <a:ea typeface="Cambria Math"/>
                                      <a:cs typeface="Cambria Math"/>
                                    </a:rPr>
                                    <m:t>ℓ</m:t>
                                  </m:r>
                                </m:e>
                                <m:sub>
                                  <m:r>
                                    <m:rPr>
                                      <m:sty m:val="p"/>
                                    </m:rPr>
                                    <a:rPr lang="en-GB" sz="2400">
                                      <a:solidFill>
                                        <a:srgbClr val="0070C0"/>
                                      </a:solidFill>
                                      <a:latin typeface="Cambria Math"/>
                                      <a:ea typeface="Cambria Math"/>
                                      <a:cs typeface="Cambria Math"/>
                                    </a:rPr>
                                    <m:t>log</m:t>
                                  </m:r>
                                </m:sub>
                              </m:sSub>
                            </m:num>
                            <m:den>
                              <m:r>
                                <a:rPr lang="en-GB" sz="2400">
                                  <a:solidFill>
                                    <a:srgbClr val="0070C0"/>
                                  </a:solidFill>
                                  <a:latin typeface="Cambria Math"/>
                                  <a:ea typeface="Cambria Math"/>
                                  <a:cs typeface="Cambria Math"/>
                                </a:rPr>
                                <m:t>𝜕</m:t>
                              </m:r>
                              <m:r>
                                <a:rPr lang="en-GB" sz="2400">
                                  <a:solidFill>
                                    <a:srgbClr val="0070C0"/>
                                  </a:solidFill>
                                  <a:latin typeface="Cambria Math"/>
                                  <a:ea typeface="Cambria Math"/>
                                  <a:cs typeface="Cambria Math"/>
                                </a:rPr>
                                <m:t>𝑝</m:t>
                              </m:r>
                            </m:den>
                          </m:f>
                          <m:d>
                            <m:dPr>
                              <m:ctrlPr>
                                <a:rPr lang="it-IT" sz="2400" i="1">
                                  <a:solidFill>
                                    <a:srgbClr val="0070C0"/>
                                  </a:solidFill>
                                  <a:latin typeface="Cambria Math" panose="02040503050406030204" pitchFamily="18" charset="0"/>
                                  <a:ea typeface="Cambria Math"/>
                                  <a:cs typeface="Cambria Math"/>
                                </a:rPr>
                              </m:ctrlPr>
                            </m:dPr>
                            <m:e>
                              <m:sSub>
                                <m:sSubPr>
                                  <m:ctrlPr>
                                    <a:rPr lang="it-IT" sz="2400" i="1">
                                      <a:solidFill>
                                        <a:srgbClr val="0070C0"/>
                                      </a:solidFill>
                                      <a:latin typeface="Cambria Math" panose="02040503050406030204" pitchFamily="18" charset="0"/>
                                      <a:ea typeface="Cambria Math"/>
                                      <a:cs typeface="Cambria Math"/>
                                    </a:rPr>
                                  </m:ctrlPr>
                                </m:sSubPr>
                                <m:e>
                                  <m:r>
                                    <a:rPr lang="it-IT" sz="2400" i="1">
                                      <a:solidFill>
                                        <a:srgbClr val="0070C0"/>
                                      </a:solidFill>
                                      <a:latin typeface="Cambria Math" panose="02040503050406030204" pitchFamily="18" charset="0"/>
                                      <a:ea typeface="Cambria Math"/>
                                      <a:cs typeface="Cambria Math"/>
                                    </a:rPr>
                                    <m:t>𝑝</m:t>
                                  </m:r>
                                </m:e>
                                <m:sub>
                                  <m:r>
                                    <a:rPr lang="en-GB" sz="2400">
                                      <a:solidFill>
                                        <a:srgbClr val="0070C0"/>
                                      </a:solidFill>
                                      <a:latin typeface="Cambria Math"/>
                                      <a:ea typeface="Cambria Math"/>
                                      <a:cs typeface="Cambria Math"/>
                                    </a:rPr>
                                    <m:t>𝛉</m:t>
                                  </m:r>
                                </m:sub>
                              </m:sSub>
                              <m:d>
                                <m:dPr>
                                  <m:ctrlPr>
                                    <a:rPr lang="en-GB" sz="2400" i="1">
                                      <a:solidFill>
                                        <a:srgbClr val="0070C0"/>
                                      </a:solidFill>
                                      <a:latin typeface="Cambria Math" panose="02040503050406030204" pitchFamily="18" charset="0"/>
                                      <a:ea typeface="Cambria Math"/>
                                      <a:cs typeface="Cambria Math"/>
                                    </a:rPr>
                                  </m:ctrlPr>
                                </m:dPr>
                                <m:e>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𝐱</m:t>
                                      </m:r>
                                    </m:e>
                                    <m:sub>
                                      <m:r>
                                        <a:rPr lang="en-GB" sz="2400">
                                          <a:solidFill>
                                            <a:srgbClr val="0070C0"/>
                                          </a:solidFill>
                                          <a:latin typeface="Cambria Math"/>
                                          <a:ea typeface="Cambria Math"/>
                                          <a:cs typeface="Cambria Math"/>
                                        </a:rPr>
                                        <m:t>𝑖</m:t>
                                      </m:r>
                                    </m:sub>
                                  </m:sSub>
                                </m:e>
                              </m:d>
                              <m:r>
                                <a:rPr lang="en-GB" sz="2400">
                                  <a:solidFill>
                                    <a:srgbClr val="0070C0"/>
                                  </a:solidFill>
                                  <a:latin typeface="Cambria Math"/>
                                  <a:ea typeface="Cambria Math"/>
                                  <a:cs typeface="Cambria Math"/>
                                </a:rPr>
                                <m:t>,</m:t>
                              </m:r>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𝑦</m:t>
                                  </m:r>
                                </m:e>
                                <m:sub>
                                  <m:r>
                                    <a:rPr lang="en-GB" sz="2400">
                                      <a:solidFill>
                                        <a:srgbClr val="0070C0"/>
                                      </a:solidFill>
                                      <a:latin typeface="Cambria Math"/>
                                      <a:ea typeface="Cambria Math"/>
                                      <a:cs typeface="Cambria Math"/>
                                    </a:rPr>
                                    <m:t>𝑖</m:t>
                                  </m:r>
                                </m:sub>
                              </m:sSub>
                            </m:e>
                          </m:d>
                          <m:r>
                            <a:rPr lang="it-IT" sz="2400" b="0" i="0" smtClean="0">
                              <a:solidFill>
                                <a:srgbClr val="0070C0"/>
                              </a:solidFill>
                              <a:latin typeface="Cambria Math" panose="02040503050406030204" pitchFamily="18" charset="0"/>
                              <a:ea typeface="Cambria Math"/>
                              <a:cs typeface="Cambria Math"/>
                            </a:rPr>
                            <m:t>=</m:t>
                          </m:r>
                          <m:f>
                            <m:fPr>
                              <m:ctrlPr>
                                <a:rPr lang="en-GB" sz="2400" i="1">
                                  <a:solidFill>
                                    <a:srgbClr val="0070C0"/>
                                  </a:solidFill>
                                  <a:latin typeface="Cambria Math" panose="02040503050406030204" pitchFamily="18" charset="0"/>
                                  <a:ea typeface="Cambria Math"/>
                                  <a:cs typeface="Cambria Math"/>
                                </a:rPr>
                              </m:ctrlPr>
                            </m:fPr>
                            <m:num>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𝑝</m:t>
                                  </m:r>
                                </m:e>
                                <m:sub>
                                  <m:r>
                                    <a:rPr lang="en-GB" sz="2400">
                                      <a:solidFill>
                                        <a:srgbClr val="0070C0"/>
                                      </a:solidFill>
                                      <a:latin typeface="Cambria Math"/>
                                      <a:ea typeface="Cambria Math"/>
                                      <a:cs typeface="Cambria Math"/>
                                    </a:rPr>
                                    <m:t>𝛉</m:t>
                                  </m:r>
                                </m:sub>
                              </m:sSub>
                              <m:d>
                                <m:dPr>
                                  <m:ctrlPr>
                                    <a:rPr lang="en-GB" sz="2400" i="1">
                                      <a:solidFill>
                                        <a:srgbClr val="0070C0"/>
                                      </a:solidFill>
                                      <a:latin typeface="Cambria Math" panose="02040503050406030204" pitchFamily="18" charset="0"/>
                                      <a:ea typeface="Cambria Math"/>
                                      <a:cs typeface="Cambria Math"/>
                                    </a:rPr>
                                  </m:ctrlPr>
                                </m:dPr>
                                <m:e>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𝐱</m:t>
                                      </m:r>
                                    </m:e>
                                    <m:sub>
                                      <m:r>
                                        <a:rPr lang="en-GB" sz="2400">
                                          <a:solidFill>
                                            <a:srgbClr val="0070C0"/>
                                          </a:solidFill>
                                          <a:latin typeface="Cambria Math"/>
                                          <a:ea typeface="Cambria Math"/>
                                          <a:cs typeface="Cambria Math"/>
                                        </a:rPr>
                                        <m:t>𝑖</m:t>
                                      </m:r>
                                    </m:sub>
                                  </m:sSub>
                                </m:e>
                              </m:d>
                              <m:r>
                                <a:rPr lang="en-GB" sz="2400">
                                  <a:solidFill>
                                    <a:srgbClr val="0070C0"/>
                                  </a:solidFill>
                                  <a:latin typeface="Cambria Math"/>
                                  <a:ea typeface="Cambria Math"/>
                                  <a:cs typeface="Cambria Math"/>
                                </a:rPr>
                                <m:t>−</m:t>
                              </m:r>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𝑦</m:t>
                                  </m:r>
                                </m:e>
                                <m:sub>
                                  <m:r>
                                    <a:rPr lang="en-GB" sz="2400">
                                      <a:solidFill>
                                        <a:srgbClr val="0070C0"/>
                                      </a:solidFill>
                                      <a:latin typeface="Cambria Math"/>
                                      <a:ea typeface="Cambria Math"/>
                                      <a:cs typeface="Cambria Math"/>
                                    </a:rPr>
                                    <m:t>𝑖</m:t>
                                  </m:r>
                                </m:sub>
                              </m:sSub>
                            </m:num>
                            <m:den>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𝑝</m:t>
                                  </m:r>
                                </m:e>
                                <m:sub>
                                  <m:r>
                                    <a:rPr lang="en-GB" sz="2400">
                                      <a:solidFill>
                                        <a:srgbClr val="0070C0"/>
                                      </a:solidFill>
                                      <a:latin typeface="Cambria Math"/>
                                      <a:ea typeface="Cambria Math"/>
                                      <a:cs typeface="Cambria Math"/>
                                    </a:rPr>
                                    <m:t>𝛉</m:t>
                                  </m:r>
                                </m:sub>
                              </m:sSub>
                              <m:d>
                                <m:dPr>
                                  <m:ctrlPr>
                                    <a:rPr lang="en-GB" sz="2400" i="1">
                                      <a:solidFill>
                                        <a:srgbClr val="0070C0"/>
                                      </a:solidFill>
                                      <a:latin typeface="Cambria Math" panose="02040503050406030204" pitchFamily="18" charset="0"/>
                                      <a:ea typeface="Cambria Math"/>
                                      <a:cs typeface="Cambria Math"/>
                                    </a:rPr>
                                  </m:ctrlPr>
                                </m:dPr>
                                <m:e>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𝐱</m:t>
                                      </m:r>
                                    </m:e>
                                    <m:sub>
                                      <m:r>
                                        <a:rPr lang="en-GB" sz="2400">
                                          <a:solidFill>
                                            <a:srgbClr val="0070C0"/>
                                          </a:solidFill>
                                          <a:latin typeface="Cambria Math"/>
                                          <a:ea typeface="Cambria Math"/>
                                          <a:cs typeface="Cambria Math"/>
                                        </a:rPr>
                                        <m:t>𝑖</m:t>
                                      </m:r>
                                    </m:sub>
                                  </m:sSub>
                                </m:e>
                              </m:d>
                              <m:d>
                                <m:dPr>
                                  <m:ctrlPr>
                                    <a:rPr lang="en-GB" sz="2400">
                                      <a:solidFill>
                                        <a:srgbClr val="0070C0"/>
                                      </a:solidFill>
                                      <a:latin typeface="Cambria Math"/>
                                      <a:ea typeface="Cambria Math"/>
                                      <a:cs typeface="Cambria Math"/>
                                    </a:rPr>
                                  </m:ctrlPr>
                                </m:dPr>
                                <m:e>
                                  <m:r>
                                    <a:rPr lang="en-GB" sz="2400">
                                      <a:solidFill>
                                        <a:srgbClr val="0070C0"/>
                                      </a:solidFill>
                                      <a:latin typeface="Cambria Math"/>
                                      <a:ea typeface="Cambria Math"/>
                                      <a:cs typeface="Cambria Math"/>
                                    </a:rPr>
                                    <m:t>1−</m:t>
                                  </m:r>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𝑝</m:t>
                                      </m:r>
                                    </m:e>
                                    <m:sub>
                                      <m:r>
                                        <a:rPr lang="en-GB" sz="2400">
                                          <a:solidFill>
                                            <a:srgbClr val="0070C0"/>
                                          </a:solidFill>
                                          <a:latin typeface="Cambria Math"/>
                                          <a:ea typeface="Cambria Math"/>
                                          <a:cs typeface="Cambria Math"/>
                                        </a:rPr>
                                        <m:t>𝛉</m:t>
                                      </m:r>
                                    </m:sub>
                                  </m:sSub>
                                  <m:d>
                                    <m:dPr>
                                      <m:ctrlPr>
                                        <a:rPr lang="en-GB" sz="2400" i="1">
                                          <a:solidFill>
                                            <a:srgbClr val="0070C0"/>
                                          </a:solidFill>
                                          <a:latin typeface="Cambria Math" panose="02040503050406030204" pitchFamily="18" charset="0"/>
                                          <a:ea typeface="Cambria Math"/>
                                          <a:cs typeface="Cambria Math"/>
                                        </a:rPr>
                                      </m:ctrlPr>
                                    </m:dPr>
                                    <m:e>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𝐱</m:t>
                                          </m:r>
                                        </m:e>
                                        <m:sub>
                                          <m:r>
                                            <a:rPr lang="en-GB" sz="2400">
                                              <a:solidFill>
                                                <a:srgbClr val="0070C0"/>
                                              </a:solidFill>
                                              <a:latin typeface="Cambria Math"/>
                                              <a:ea typeface="Cambria Math"/>
                                              <a:cs typeface="Cambria Math"/>
                                            </a:rPr>
                                            <m:t>𝑖</m:t>
                                          </m:r>
                                        </m:sub>
                                      </m:sSub>
                                    </m:e>
                                  </m:d>
                                </m:e>
                              </m:d>
                            </m:den>
                          </m:f>
                        </m:e>
                      </m:borderBox>
                    </m:oMath>
                  </m:oMathPara>
                </a14:m>
                <a:endParaRPr lang="en-GB" sz="2550" dirty="0"/>
              </a:p>
            </p:txBody>
          </p:sp>
        </mc:Choice>
        <mc:Fallback xmlns="">
          <p:sp>
            <p:nvSpPr>
              <p:cNvPr id="6" name="CasellaDiTesto 5">
                <a:extLst>
                  <a:ext uri="{FF2B5EF4-FFF2-40B4-BE49-F238E27FC236}">
                    <a16:creationId xmlns:a16="http://schemas.microsoft.com/office/drawing/2014/main" id="{5520DE3F-A7EB-C902-B7F7-3153BB50B9DA}"/>
                  </a:ext>
                </a:extLst>
              </p:cNvPr>
              <p:cNvSpPr txBox="1">
                <a:spLocks noRot="1" noChangeAspect="1" noMove="1" noResize="1" noEditPoints="1" noAdjustHandles="1" noChangeArrowheads="1" noChangeShapeType="1" noTextEdit="1"/>
              </p:cNvSpPr>
              <p:nvPr/>
            </p:nvSpPr>
            <p:spPr>
              <a:xfrm>
                <a:off x="3048762" y="4814888"/>
                <a:ext cx="6094476" cy="1098762"/>
              </a:xfrm>
              <a:prstGeom prst="rect">
                <a:avLst/>
              </a:prstGeom>
              <a:blipFill>
                <a:blip r:embed="rId5"/>
                <a:stretch>
                  <a:fillRect/>
                </a:stretch>
              </a:blipFill>
            </p:spPr>
            <p:txBody>
              <a:bodyPr/>
              <a:lstStyle/>
              <a:p>
                <a:r>
                  <a:rPr lang="it-IT">
                    <a:noFill/>
                  </a:rPr>
                  <a:t> </a:t>
                </a:r>
              </a:p>
            </p:txBody>
          </p:sp>
        </mc:Fallback>
      </mc:AlternateContent>
    </p:spTree>
    <p:extLst>
      <p:ext uri="{BB962C8B-B14F-4D97-AF65-F5344CB8AC3E}">
        <p14:creationId xmlns:p14="http://schemas.microsoft.com/office/powerpoint/2010/main" val="673264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25447A85-30E0-458C-A5E1-F3FFD3F48E41}"/>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lang="it-IT" sz="3150" b="1" dirty="0">
                <a:solidFill>
                  <a:srgbClr val="182D45"/>
                </a:solidFill>
                <a:latin typeface="DejaVu Sans"/>
                <a:ea typeface="DejaVu Sans"/>
                <a:cs typeface="DejaVu Sans"/>
              </a:rPr>
              <a:t>Second </a:t>
            </a:r>
            <a:r>
              <a:rPr lang="it-IT" sz="3150" b="1" dirty="0" err="1">
                <a:solidFill>
                  <a:srgbClr val="182D45"/>
                </a:solidFill>
                <a:latin typeface="DejaVu Sans"/>
                <a:ea typeface="DejaVu Sans"/>
                <a:cs typeface="DejaVu Sans"/>
              </a:rPr>
              <a:t>term</a:t>
            </a:r>
            <a:r>
              <a:rPr lang="it-IT" sz="3150" b="1" dirty="0">
                <a:solidFill>
                  <a:srgbClr val="182D45"/>
                </a:solidFill>
                <a:latin typeface="DejaVu Sans"/>
                <a:ea typeface="DejaVu Sans"/>
                <a:cs typeface="DejaVu Sans"/>
              </a:rPr>
              <a:t>: </a:t>
            </a:r>
            <a:r>
              <a:rPr sz="3150" b="1" dirty="0">
                <a:solidFill>
                  <a:srgbClr val="182D45"/>
                </a:solidFill>
                <a:latin typeface="DejaVu Sans"/>
                <a:ea typeface="DejaVu Sans"/>
                <a:cs typeface="DejaVu Sans"/>
              </a:rPr>
              <a:t>Differentiating the sigmoid</a:t>
            </a:r>
          </a:p>
        </p:txBody>
      </p:sp>
      <p:sp>
        <p:nvSpPr>
          <p:cNvPr id="2" name="lead">
            <a:extLst>
              <a:ext uri="{FF2B5EF4-FFF2-40B4-BE49-F238E27FC236}">
                <a16:creationId xmlns:a16="http://schemas.microsoft.com/office/drawing/2014/main" id="{9397FFC5-BB20-407E-8943-A9AE6EC724FF}"/>
              </a:ext>
            </a:extLst>
          </p:cNvPr>
          <p:cNvSpPr>
            <a:spLocks noGrp="1"/>
          </p:cNvSpPr>
          <p:nvPr/>
        </p:nvSpPr>
        <p:spPr>
          <a:xfrm>
            <a:off x="723900" y="947738"/>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Write the </a:t>
            </a:r>
            <a:r>
              <a:rPr sz="2100" b="0" dirty="0">
                <a:solidFill>
                  <a:srgbClr val="FF0000"/>
                </a:solidFill>
                <a:latin typeface="DejaVu Sans"/>
                <a:ea typeface="DejaVu Sans"/>
                <a:cs typeface="DejaVu Sans"/>
              </a:rPr>
              <a:t>sigmoid as a composition </a:t>
            </a:r>
            <a:r>
              <a:rPr sz="2100" b="0" dirty="0">
                <a:solidFill>
                  <a:srgbClr val="526276"/>
                </a:solidFill>
                <a:latin typeface="DejaVu Sans"/>
                <a:ea typeface="DejaVu Sans"/>
                <a:cs typeface="DejaVu Sans"/>
              </a:rPr>
              <a:t>and apply the </a:t>
            </a:r>
            <a:r>
              <a:rPr sz="2100" b="0" dirty="0">
                <a:solidFill>
                  <a:srgbClr val="FF0000"/>
                </a:solidFill>
                <a:latin typeface="DejaVu Sans"/>
                <a:ea typeface="DejaVu Sans"/>
                <a:cs typeface="DejaVu Sans"/>
              </a:rPr>
              <a:t>chain rule </a:t>
            </a:r>
            <a:r>
              <a:rPr sz="2100" b="0" dirty="0">
                <a:solidFill>
                  <a:srgbClr val="526276"/>
                </a:solidFill>
                <a:latin typeface="DejaVu Sans"/>
                <a:ea typeface="DejaVu Sans"/>
                <a:cs typeface="DejaVu Sans"/>
              </a:rPr>
              <a:t>again.</a:t>
            </a:r>
          </a:p>
        </p:txBody>
      </p:sp>
      <p:sp>
        <p:nvSpPr>
          <p:cNvPr id="3" name="footer_course">
            <a:extLst>
              <a:ext uri="{FF2B5EF4-FFF2-40B4-BE49-F238E27FC236}">
                <a16:creationId xmlns:a16="http://schemas.microsoft.com/office/drawing/2014/main" id="{5EC1B86E-0CDD-4384-A19A-DA5A4C3AD5A9}"/>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2FA4F527-6062-48E9-A5F9-6F7D6DC32BDF}"/>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25</a:t>
            </a:r>
          </a:p>
        </p:txBody>
      </p:sp>
      <mc:AlternateContent xmlns:mc="http://schemas.openxmlformats.org/markup-compatibility/2006" xmlns:a14="http://schemas.microsoft.com/office/drawing/2010/main">
        <mc:Choice Requires="a14">
          <p:sp>
            <p:nvSpPr>
              <p:cNvPr id="10" name="step_0_inner_label">
                <a:extLst>
                  <a:ext uri="{FF2B5EF4-FFF2-40B4-BE49-F238E27FC236}">
                    <a16:creationId xmlns:a16="http://schemas.microsoft.com/office/drawing/2014/main" id="{8C92D09B-6E99-4471-96B1-94BBFA4B3C8E}"/>
                  </a:ext>
                </a:extLst>
              </p:cNvPr>
              <p:cNvSpPr>
                <a:spLocks noGrp="1"/>
              </p:cNvSpPr>
              <p:nvPr/>
            </p:nvSpPr>
            <p:spPr>
              <a:xfrm>
                <a:off x="723900" y="1657350"/>
                <a:ext cx="5143500" cy="333375"/>
              </a:xfrm>
              <a:prstGeom prst="rect">
                <a:avLst/>
              </a:prstGeom>
              <a:noFill/>
              <a:ln w="0">
                <a:noFill/>
              </a:ln>
            </p:spPr>
            <p:txBody>
              <a:bodyPr wrap="square" lIns="0" tIns="0" rIns="0" bIns="0" anchor="ctr">
                <a:noAutofit/>
              </a:bodyPr>
              <a:lstStyle/>
              <a:p>
                <a:pPr algn="ctr">
                  <a:lnSpc>
                    <a:spcPct val="110000"/>
                  </a:lnSpc>
                  <a:buNone/>
                  <a:defRPr sz="1875" b="1">
                    <a:solidFill>
                      <a:srgbClr val="182D45"/>
                    </a:solidFill>
                    <a:latin typeface="DejaVu Sans"/>
                    <a:ea typeface="DejaVu Sans"/>
                    <a:cs typeface="DejaVu Sans"/>
                  </a:defRPr>
                </a:pPr>
                <a:r>
                  <a:rPr sz="1875" b="1" dirty="0">
                    <a:solidFill>
                      <a:srgbClr val="182D45"/>
                    </a:solidFill>
                    <a:latin typeface="DejaVu Sans"/>
                    <a:ea typeface="DejaVu Sans"/>
                    <a:cs typeface="DejaVu Sans"/>
                  </a:rPr>
                  <a:t>Inner function </a:t>
                </a:r>
                <a14:m>
                  <m:oMath xmlns:m="http://schemas.openxmlformats.org/officeDocument/2006/math">
                    <m:r>
                      <a:rPr lang="it-IT" sz="1875" b="1" i="1" dirty="0" smtClean="0">
                        <a:solidFill>
                          <a:srgbClr val="182D45"/>
                        </a:solidFill>
                        <a:latin typeface="Cambria Math" panose="02040503050406030204" pitchFamily="18" charset="0"/>
                        <a:ea typeface="DejaVu Sans"/>
                        <a:cs typeface="DejaVu Sans"/>
                      </a:rPr>
                      <m:t>𝒖</m:t>
                    </m:r>
                  </m:oMath>
                </a14:m>
                <a:endParaRPr sz="1875" b="1" dirty="0">
                  <a:solidFill>
                    <a:srgbClr val="182D45"/>
                  </a:solidFill>
                  <a:latin typeface="DejaVu Sans"/>
                  <a:ea typeface="DejaVu Sans"/>
                  <a:cs typeface="DejaVu Sans"/>
                </a:endParaRPr>
              </a:p>
            </p:txBody>
          </p:sp>
        </mc:Choice>
        <mc:Fallback xmlns="">
          <p:sp>
            <p:nvSpPr>
              <p:cNvPr id="10" name="step_0_inner_label">
                <a:extLst>
                  <a:ext uri="{FF2B5EF4-FFF2-40B4-BE49-F238E27FC236}">
                    <a16:creationId xmlns:a16="http://schemas.microsoft.com/office/drawing/2014/main" id="{8C92D09B-6E99-4471-96B1-94BBFA4B3C8E}"/>
                  </a:ext>
                </a:extLst>
              </p:cNvPr>
              <p:cNvSpPr>
                <a:spLocks noGrp="1" noRot="1" noChangeAspect="1" noMove="1" noResize="1" noEditPoints="1" noAdjustHandles="1" noChangeArrowheads="1" noChangeShapeType="1" noTextEdit="1"/>
              </p:cNvSpPr>
              <p:nvPr/>
            </p:nvSpPr>
            <p:spPr>
              <a:xfrm>
                <a:off x="723900" y="1657350"/>
                <a:ext cx="5143500" cy="333375"/>
              </a:xfrm>
              <a:prstGeom prst="rect">
                <a:avLst/>
              </a:prstGeom>
              <a:blipFill>
                <a:blip r:embed="rId3"/>
                <a:stretch>
                  <a:fillRect t="-16364"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step_0_outer_label">
                <a:extLst>
                  <a:ext uri="{FF2B5EF4-FFF2-40B4-BE49-F238E27FC236}">
                    <a16:creationId xmlns:a16="http://schemas.microsoft.com/office/drawing/2014/main" id="{C9BD1094-E18E-4992-8124-A44EB6EF3C2C}"/>
                  </a:ext>
                </a:extLst>
              </p:cNvPr>
              <p:cNvSpPr>
                <a:spLocks noGrp="1"/>
              </p:cNvSpPr>
              <p:nvPr/>
            </p:nvSpPr>
            <p:spPr>
              <a:xfrm>
                <a:off x="6324600" y="1657350"/>
                <a:ext cx="5143500" cy="333375"/>
              </a:xfrm>
              <a:prstGeom prst="rect">
                <a:avLst/>
              </a:prstGeom>
              <a:noFill/>
              <a:ln w="0">
                <a:noFill/>
              </a:ln>
            </p:spPr>
            <p:txBody>
              <a:bodyPr wrap="square" lIns="0" tIns="0" rIns="0" bIns="0" anchor="ctr">
                <a:noAutofit/>
              </a:bodyPr>
              <a:lstStyle/>
              <a:p>
                <a:pPr algn="ctr">
                  <a:lnSpc>
                    <a:spcPct val="110000"/>
                  </a:lnSpc>
                  <a:buNone/>
                  <a:defRPr sz="1875" b="1">
                    <a:solidFill>
                      <a:srgbClr val="182D45"/>
                    </a:solidFill>
                    <a:latin typeface="DejaVu Sans"/>
                    <a:ea typeface="DejaVu Sans"/>
                    <a:cs typeface="DejaVu Sans"/>
                  </a:defRPr>
                </a:pPr>
                <a:r>
                  <a:rPr sz="1875" b="1" dirty="0">
                    <a:solidFill>
                      <a:srgbClr val="182D45"/>
                    </a:solidFill>
                    <a:latin typeface="DejaVu Sans"/>
                    <a:ea typeface="DejaVu Sans"/>
                    <a:cs typeface="DejaVu Sans"/>
                  </a:rPr>
                  <a:t>Outer function </a:t>
                </a:r>
                <a14:m>
                  <m:oMath xmlns:m="http://schemas.openxmlformats.org/officeDocument/2006/math">
                    <m:r>
                      <a:rPr lang="it-IT" sz="1875" b="1" i="1" dirty="0" smtClean="0">
                        <a:solidFill>
                          <a:srgbClr val="182D45"/>
                        </a:solidFill>
                        <a:latin typeface="Cambria Math" panose="02040503050406030204" pitchFamily="18" charset="0"/>
                        <a:ea typeface="DejaVu Sans"/>
                        <a:cs typeface="DejaVu Sans"/>
                      </a:rPr>
                      <m:t>𝒗</m:t>
                    </m:r>
                  </m:oMath>
                </a14:m>
                <a:endParaRPr sz="1875" b="1" dirty="0">
                  <a:solidFill>
                    <a:srgbClr val="182D45"/>
                  </a:solidFill>
                  <a:latin typeface="DejaVu Sans"/>
                  <a:ea typeface="DejaVu Sans"/>
                  <a:cs typeface="DejaVu Sans"/>
                </a:endParaRPr>
              </a:p>
            </p:txBody>
          </p:sp>
        </mc:Choice>
        <mc:Fallback xmlns="">
          <p:sp>
            <p:nvSpPr>
              <p:cNvPr id="11" name="step_0_outer_label">
                <a:extLst>
                  <a:ext uri="{FF2B5EF4-FFF2-40B4-BE49-F238E27FC236}">
                    <a16:creationId xmlns:a16="http://schemas.microsoft.com/office/drawing/2014/main" id="{C9BD1094-E18E-4992-8124-A44EB6EF3C2C}"/>
                  </a:ext>
                </a:extLst>
              </p:cNvPr>
              <p:cNvSpPr>
                <a:spLocks noGrp="1" noRot="1" noChangeAspect="1" noMove="1" noResize="1" noEditPoints="1" noAdjustHandles="1" noChangeArrowheads="1" noChangeShapeType="1" noTextEdit="1"/>
              </p:cNvSpPr>
              <p:nvPr/>
            </p:nvSpPr>
            <p:spPr>
              <a:xfrm>
                <a:off x="6324600" y="1657350"/>
                <a:ext cx="5143500" cy="333375"/>
              </a:xfrm>
              <a:prstGeom prst="rect">
                <a:avLst/>
              </a:prstGeom>
              <a:blipFill>
                <a:blip r:embed="rId4"/>
                <a:stretch>
                  <a:fillRect t="-16364"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step_0_inner" descr="u(s)=1+e^{-s},\qquad u'(s)=-e^{-s}">
                <a:extLst>
                  <a:ext uri="{FF2B5EF4-FFF2-40B4-BE49-F238E27FC236}">
                    <a16:creationId xmlns:a16="http://schemas.microsoft.com/office/drawing/2014/main" id="{54BE83D0-CF6D-4217-91AA-C425531F3CD7}"/>
                  </a:ext>
                </a:extLst>
              </p:cNvPr>
              <p:cNvSpPr>
                <a:spLocks noGrp="1"/>
              </p:cNvSpPr>
              <p:nvPr/>
            </p:nvSpPr>
            <p:spPr>
              <a:xfrm>
                <a:off x="723900" y="1962150"/>
                <a:ext cx="5143500" cy="8286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50" smtClean="0">
                          <a:solidFill>
                            <a:srgbClr val="087F83"/>
                          </a:solidFill>
                          <a:latin typeface="Cambria Math"/>
                          <a:ea typeface="Cambria Math"/>
                          <a:cs typeface="Cambria Math"/>
                        </a:rPr>
                        <m:t>𝑢</m:t>
                      </m:r>
                      <m:d>
                        <m:dPr>
                          <m:ctrlPr>
                            <a:rPr lang="en-GB" sz="2450">
                              <a:solidFill>
                                <a:srgbClr val="087F83"/>
                              </a:solidFill>
                              <a:latin typeface="Cambria Math"/>
                              <a:ea typeface="Cambria Math"/>
                              <a:cs typeface="Cambria Math"/>
                            </a:rPr>
                          </m:ctrlPr>
                        </m:dPr>
                        <m:e>
                          <m:r>
                            <a:rPr lang="en-GB" sz="2450">
                              <a:solidFill>
                                <a:srgbClr val="087F83"/>
                              </a:solidFill>
                              <a:latin typeface="Cambria Math"/>
                              <a:ea typeface="Cambria Math"/>
                              <a:cs typeface="Cambria Math"/>
                            </a:rPr>
                            <m:t>𝑠</m:t>
                          </m:r>
                        </m:e>
                      </m:d>
                      <m:r>
                        <a:rPr lang="en-GB" sz="2450">
                          <a:solidFill>
                            <a:srgbClr val="087F83"/>
                          </a:solidFill>
                          <a:latin typeface="Cambria Math"/>
                          <a:ea typeface="Cambria Math"/>
                          <a:cs typeface="Cambria Math"/>
                        </a:rPr>
                        <m:t>=1+</m:t>
                      </m:r>
                      <m:sSup>
                        <m:sSupPr>
                          <m:ctrlPr>
                            <a:rPr lang="en-GB" sz="2450">
                              <a:solidFill>
                                <a:srgbClr val="087F83"/>
                              </a:solidFill>
                              <a:latin typeface="Cambria Math"/>
                              <a:ea typeface="Cambria Math"/>
                              <a:cs typeface="Cambria Math"/>
                            </a:rPr>
                          </m:ctrlPr>
                        </m:sSupPr>
                        <m:e>
                          <m:r>
                            <a:rPr lang="en-GB" sz="2450">
                              <a:solidFill>
                                <a:srgbClr val="087F83"/>
                              </a:solidFill>
                              <a:latin typeface="Cambria Math"/>
                              <a:ea typeface="Cambria Math"/>
                              <a:cs typeface="Cambria Math"/>
                            </a:rPr>
                            <m:t>𝑒</m:t>
                          </m:r>
                        </m:e>
                        <m:sup>
                          <m:r>
                            <a:rPr lang="en-GB" sz="2450">
                              <a:solidFill>
                                <a:srgbClr val="087F83"/>
                              </a:solidFill>
                              <a:latin typeface="Cambria Math"/>
                              <a:ea typeface="Cambria Math"/>
                              <a:cs typeface="Cambria Math"/>
                            </a:rPr>
                            <m:t>−</m:t>
                          </m:r>
                          <m:r>
                            <a:rPr lang="en-GB" sz="2450">
                              <a:solidFill>
                                <a:srgbClr val="087F83"/>
                              </a:solidFill>
                              <a:latin typeface="Cambria Math"/>
                              <a:ea typeface="Cambria Math"/>
                              <a:cs typeface="Cambria Math"/>
                            </a:rPr>
                            <m:t>𝑠</m:t>
                          </m:r>
                        </m:sup>
                      </m:sSup>
                      <m:r>
                        <a:rPr lang="en-GB" sz="2450">
                          <a:solidFill>
                            <a:srgbClr val="087F83"/>
                          </a:solidFill>
                          <a:latin typeface="Cambria Math"/>
                          <a:ea typeface="Cambria Math"/>
                          <a:cs typeface="Cambria Math"/>
                        </a:rPr>
                        <m:t>,  </m:t>
                      </m:r>
                      <m:sSup>
                        <m:sSupPr>
                          <m:ctrlPr>
                            <a:rPr lang="en-GB" sz="2450">
                              <a:solidFill>
                                <a:srgbClr val="087F83"/>
                              </a:solidFill>
                              <a:latin typeface="Cambria Math"/>
                              <a:ea typeface="Cambria Math"/>
                              <a:cs typeface="Cambria Math"/>
                            </a:rPr>
                          </m:ctrlPr>
                        </m:sSupPr>
                        <m:e>
                          <m:r>
                            <a:rPr lang="en-GB" sz="2450">
                              <a:solidFill>
                                <a:srgbClr val="087F83"/>
                              </a:solidFill>
                              <a:latin typeface="Cambria Math"/>
                              <a:ea typeface="Cambria Math"/>
                              <a:cs typeface="Cambria Math"/>
                            </a:rPr>
                            <m:t>𝑢</m:t>
                          </m:r>
                        </m:e>
                        <m:sup>
                          <m:r>
                            <a:rPr lang="en-GB" sz="2450">
                              <a:solidFill>
                                <a:srgbClr val="087F83"/>
                              </a:solidFill>
                              <a:latin typeface="Cambria Math"/>
                              <a:ea typeface="Cambria Math"/>
                              <a:cs typeface="Cambria Math"/>
                            </a:rPr>
                            <m:t>′</m:t>
                          </m:r>
                        </m:sup>
                      </m:sSup>
                      <m:r>
                        <a:rPr lang="en-GB" sz="2450">
                          <a:solidFill>
                            <a:srgbClr val="087F83"/>
                          </a:solidFill>
                          <a:latin typeface="Cambria Math"/>
                          <a:ea typeface="Cambria Math"/>
                          <a:cs typeface="Cambria Math"/>
                        </a:rPr>
                        <m:t>(</m:t>
                      </m:r>
                      <m:r>
                        <a:rPr lang="en-GB" sz="2450">
                          <a:solidFill>
                            <a:srgbClr val="087F83"/>
                          </a:solidFill>
                          <a:latin typeface="Cambria Math"/>
                          <a:ea typeface="Cambria Math"/>
                          <a:cs typeface="Cambria Math"/>
                        </a:rPr>
                        <m:t>𝑠</m:t>
                      </m:r>
                      <m:r>
                        <a:rPr lang="en-GB" sz="2450">
                          <a:solidFill>
                            <a:srgbClr val="087F83"/>
                          </a:solidFill>
                          <a:latin typeface="Cambria Math"/>
                          <a:ea typeface="Cambria Math"/>
                          <a:cs typeface="Cambria Math"/>
                        </a:rPr>
                        <m:t>)=−</m:t>
                      </m:r>
                      <m:sSup>
                        <m:sSupPr>
                          <m:ctrlPr>
                            <a:rPr lang="en-GB" sz="2450">
                              <a:solidFill>
                                <a:srgbClr val="087F83"/>
                              </a:solidFill>
                              <a:latin typeface="Cambria Math"/>
                              <a:ea typeface="Cambria Math"/>
                              <a:cs typeface="Cambria Math"/>
                            </a:rPr>
                          </m:ctrlPr>
                        </m:sSupPr>
                        <m:e>
                          <m:r>
                            <a:rPr lang="en-GB" sz="2450">
                              <a:solidFill>
                                <a:srgbClr val="087F83"/>
                              </a:solidFill>
                              <a:latin typeface="Cambria Math"/>
                              <a:ea typeface="Cambria Math"/>
                              <a:cs typeface="Cambria Math"/>
                            </a:rPr>
                            <m:t>𝑒</m:t>
                          </m:r>
                        </m:e>
                        <m:sup>
                          <m:r>
                            <a:rPr lang="en-GB" sz="2450">
                              <a:solidFill>
                                <a:srgbClr val="087F83"/>
                              </a:solidFill>
                              <a:latin typeface="Cambria Math"/>
                              <a:ea typeface="Cambria Math"/>
                              <a:cs typeface="Cambria Math"/>
                            </a:rPr>
                            <m:t>−</m:t>
                          </m:r>
                          <m:r>
                            <a:rPr lang="en-GB" sz="2450">
                              <a:solidFill>
                                <a:srgbClr val="087F83"/>
                              </a:solidFill>
                              <a:latin typeface="Cambria Math"/>
                              <a:ea typeface="Cambria Math"/>
                              <a:cs typeface="Cambria Math"/>
                            </a:rPr>
                            <m:t>𝑠</m:t>
                          </m:r>
                        </m:sup>
                      </m:sSup>
                    </m:oMath>
                  </m:oMathPara>
                </a14:m>
                <a:endParaRPr lang="en-GB" sz="2450" dirty="0"/>
              </a:p>
            </p:txBody>
          </p:sp>
        </mc:Choice>
        <mc:Fallback xmlns="">
          <p:sp>
            <p:nvSpPr>
              <p:cNvPr id="12" name="step_0_inner" descr="u(s)=1+e^{-s},\qquad u'(s)=-e^{-s}">
                <a:extLst>
                  <a:ext uri="{FF2B5EF4-FFF2-40B4-BE49-F238E27FC236}">
                    <a16:creationId xmlns:a16="http://schemas.microsoft.com/office/drawing/2014/main" id="{54BE83D0-CF6D-4217-91AA-C425531F3CD7}"/>
                  </a:ext>
                </a:extLst>
              </p:cNvPr>
              <p:cNvSpPr>
                <a:spLocks noGrp="1" noRot="1" noChangeAspect="1" noMove="1" noResize="1" noEditPoints="1" noAdjustHandles="1" noChangeArrowheads="1" noChangeShapeType="1" noTextEdit="1"/>
              </p:cNvSpPr>
              <p:nvPr/>
            </p:nvSpPr>
            <p:spPr>
              <a:xfrm>
                <a:off x="723900" y="1962150"/>
                <a:ext cx="5143500" cy="82867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step_0_outer" descr="v(z)=\frac{1}{z},\qquad v'(z)=-\frac{1}{z^2}">
                <a:extLst>
                  <a:ext uri="{FF2B5EF4-FFF2-40B4-BE49-F238E27FC236}">
                    <a16:creationId xmlns:a16="http://schemas.microsoft.com/office/drawing/2014/main" id="{5E521B49-4403-4413-8B5A-4B8B48E0DDA5}"/>
                  </a:ext>
                </a:extLst>
              </p:cNvPr>
              <p:cNvSpPr>
                <a:spLocks noGrp="1"/>
              </p:cNvSpPr>
              <p:nvPr/>
            </p:nvSpPr>
            <p:spPr>
              <a:xfrm>
                <a:off x="6324600" y="1962150"/>
                <a:ext cx="5143500" cy="8286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50">
                          <a:solidFill>
                            <a:srgbClr val="087F83"/>
                          </a:solidFill>
                          <a:latin typeface="Cambria Math"/>
                          <a:ea typeface="Cambria Math"/>
                          <a:cs typeface="Cambria Math"/>
                        </a:rPr>
                        <m:t>𝑣</m:t>
                      </m:r>
                      <m:r>
                        <a:rPr lang="en-GB" sz="2450">
                          <a:solidFill>
                            <a:srgbClr val="087F83"/>
                          </a:solidFill>
                          <a:latin typeface="Cambria Math"/>
                          <a:ea typeface="Cambria Math"/>
                          <a:cs typeface="Cambria Math"/>
                        </a:rPr>
                        <m:t>(</m:t>
                      </m:r>
                      <m:r>
                        <a:rPr lang="en-GB" sz="2450">
                          <a:solidFill>
                            <a:srgbClr val="087F83"/>
                          </a:solidFill>
                          <a:latin typeface="Cambria Math"/>
                          <a:ea typeface="Cambria Math"/>
                          <a:cs typeface="Cambria Math"/>
                        </a:rPr>
                        <m:t>𝑧</m:t>
                      </m:r>
                      <m:r>
                        <a:rPr lang="en-GB" sz="2450">
                          <a:solidFill>
                            <a:srgbClr val="087F83"/>
                          </a:solidFill>
                          <a:latin typeface="Cambria Math"/>
                          <a:ea typeface="Cambria Math"/>
                          <a:cs typeface="Cambria Math"/>
                        </a:rPr>
                        <m:t>)=</m:t>
                      </m:r>
                      <m:f>
                        <m:fPr>
                          <m:ctrlPr>
                            <a:rPr lang="en-GB" sz="2450">
                              <a:solidFill>
                                <a:srgbClr val="087F83"/>
                              </a:solidFill>
                              <a:latin typeface="Cambria Math"/>
                              <a:ea typeface="Cambria Math"/>
                              <a:cs typeface="Cambria Math"/>
                            </a:rPr>
                          </m:ctrlPr>
                        </m:fPr>
                        <m:num>
                          <m:r>
                            <a:rPr lang="en-GB" sz="2450">
                              <a:solidFill>
                                <a:srgbClr val="087F83"/>
                              </a:solidFill>
                              <a:latin typeface="Cambria Math"/>
                              <a:ea typeface="Cambria Math"/>
                              <a:cs typeface="Cambria Math"/>
                            </a:rPr>
                            <m:t>1</m:t>
                          </m:r>
                        </m:num>
                        <m:den>
                          <m:r>
                            <a:rPr lang="en-GB" sz="2450">
                              <a:solidFill>
                                <a:srgbClr val="087F83"/>
                              </a:solidFill>
                              <a:latin typeface="Cambria Math"/>
                              <a:ea typeface="Cambria Math"/>
                              <a:cs typeface="Cambria Math"/>
                            </a:rPr>
                            <m:t>𝑧</m:t>
                          </m:r>
                        </m:den>
                      </m:f>
                      <m:r>
                        <a:rPr lang="en-GB" sz="2450">
                          <a:solidFill>
                            <a:srgbClr val="087F83"/>
                          </a:solidFill>
                          <a:latin typeface="Cambria Math"/>
                          <a:ea typeface="Cambria Math"/>
                          <a:cs typeface="Cambria Math"/>
                        </a:rPr>
                        <m:t>,  </m:t>
                      </m:r>
                      <m:sSup>
                        <m:sSupPr>
                          <m:ctrlPr>
                            <a:rPr lang="en-GB" sz="2450">
                              <a:solidFill>
                                <a:srgbClr val="087F83"/>
                              </a:solidFill>
                              <a:latin typeface="Cambria Math"/>
                              <a:ea typeface="Cambria Math"/>
                              <a:cs typeface="Cambria Math"/>
                            </a:rPr>
                          </m:ctrlPr>
                        </m:sSupPr>
                        <m:e>
                          <m:r>
                            <a:rPr lang="en-GB" sz="2450">
                              <a:solidFill>
                                <a:srgbClr val="087F83"/>
                              </a:solidFill>
                              <a:latin typeface="Cambria Math"/>
                              <a:ea typeface="Cambria Math"/>
                              <a:cs typeface="Cambria Math"/>
                            </a:rPr>
                            <m:t>𝑣</m:t>
                          </m:r>
                        </m:e>
                        <m:sup>
                          <m:r>
                            <a:rPr lang="en-GB" sz="2450">
                              <a:solidFill>
                                <a:srgbClr val="087F83"/>
                              </a:solidFill>
                              <a:latin typeface="Cambria Math"/>
                              <a:ea typeface="Cambria Math"/>
                              <a:cs typeface="Cambria Math"/>
                            </a:rPr>
                            <m:t>′</m:t>
                          </m:r>
                        </m:sup>
                      </m:sSup>
                      <m:r>
                        <a:rPr lang="en-GB" sz="2450">
                          <a:solidFill>
                            <a:srgbClr val="087F83"/>
                          </a:solidFill>
                          <a:latin typeface="Cambria Math"/>
                          <a:ea typeface="Cambria Math"/>
                          <a:cs typeface="Cambria Math"/>
                        </a:rPr>
                        <m:t>(</m:t>
                      </m:r>
                      <m:r>
                        <a:rPr lang="en-GB" sz="2450">
                          <a:solidFill>
                            <a:srgbClr val="087F83"/>
                          </a:solidFill>
                          <a:latin typeface="Cambria Math"/>
                          <a:ea typeface="Cambria Math"/>
                          <a:cs typeface="Cambria Math"/>
                        </a:rPr>
                        <m:t>𝑧</m:t>
                      </m:r>
                      <m:r>
                        <a:rPr lang="en-GB" sz="2450">
                          <a:solidFill>
                            <a:srgbClr val="087F83"/>
                          </a:solidFill>
                          <a:latin typeface="Cambria Math"/>
                          <a:ea typeface="Cambria Math"/>
                          <a:cs typeface="Cambria Math"/>
                        </a:rPr>
                        <m:t>)=−</m:t>
                      </m:r>
                      <m:f>
                        <m:fPr>
                          <m:ctrlPr>
                            <a:rPr lang="en-GB" sz="2450">
                              <a:solidFill>
                                <a:srgbClr val="087F83"/>
                              </a:solidFill>
                              <a:latin typeface="Cambria Math"/>
                              <a:ea typeface="Cambria Math"/>
                              <a:cs typeface="Cambria Math"/>
                            </a:rPr>
                          </m:ctrlPr>
                        </m:fPr>
                        <m:num>
                          <m:r>
                            <a:rPr lang="en-GB" sz="2450">
                              <a:solidFill>
                                <a:srgbClr val="087F83"/>
                              </a:solidFill>
                              <a:latin typeface="Cambria Math"/>
                              <a:ea typeface="Cambria Math"/>
                              <a:cs typeface="Cambria Math"/>
                            </a:rPr>
                            <m:t>1</m:t>
                          </m:r>
                        </m:num>
                        <m:den>
                          <m:sSup>
                            <m:sSupPr>
                              <m:ctrlPr>
                                <a:rPr lang="en-GB" sz="2450">
                                  <a:solidFill>
                                    <a:srgbClr val="087F83"/>
                                  </a:solidFill>
                                  <a:latin typeface="Cambria Math"/>
                                  <a:ea typeface="Cambria Math"/>
                                  <a:cs typeface="Cambria Math"/>
                                </a:rPr>
                              </m:ctrlPr>
                            </m:sSupPr>
                            <m:e>
                              <m:r>
                                <a:rPr lang="en-GB" sz="2450">
                                  <a:solidFill>
                                    <a:srgbClr val="087F83"/>
                                  </a:solidFill>
                                  <a:latin typeface="Cambria Math"/>
                                  <a:ea typeface="Cambria Math"/>
                                  <a:cs typeface="Cambria Math"/>
                                </a:rPr>
                                <m:t>𝑧</m:t>
                              </m:r>
                            </m:e>
                            <m:sup>
                              <m:r>
                                <a:rPr lang="en-GB" sz="2450">
                                  <a:solidFill>
                                    <a:srgbClr val="087F83"/>
                                  </a:solidFill>
                                  <a:latin typeface="Cambria Math"/>
                                  <a:ea typeface="Cambria Math"/>
                                  <a:cs typeface="Cambria Math"/>
                                </a:rPr>
                                <m:t>2</m:t>
                              </m:r>
                            </m:sup>
                          </m:sSup>
                        </m:den>
                      </m:f>
                    </m:oMath>
                  </m:oMathPara>
                </a14:m>
                <a:endParaRPr lang="en-GB" sz="2450" dirty="0"/>
              </a:p>
            </p:txBody>
          </p:sp>
        </mc:Choice>
        <mc:Fallback xmlns="">
          <p:sp>
            <p:nvSpPr>
              <p:cNvPr id="13" name="step_0_outer" descr="v(z)=\frac{1}{z},\qquad v'(z)=-\frac{1}{z^2}">
                <a:extLst>
                  <a:ext uri="{FF2B5EF4-FFF2-40B4-BE49-F238E27FC236}">
                    <a16:creationId xmlns:a16="http://schemas.microsoft.com/office/drawing/2014/main" id="{5E521B49-4403-4413-8B5A-4B8B48E0DDA5}"/>
                  </a:ext>
                </a:extLst>
              </p:cNvPr>
              <p:cNvSpPr>
                <a:spLocks noGrp="1" noRot="1" noChangeAspect="1" noMove="1" noResize="1" noEditPoints="1" noAdjustHandles="1" noChangeArrowheads="1" noChangeShapeType="1" noTextEdit="1"/>
              </p:cNvSpPr>
              <p:nvPr/>
            </p:nvSpPr>
            <p:spPr>
              <a:xfrm>
                <a:off x="6324600" y="1962150"/>
                <a:ext cx="5143500" cy="828675"/>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step_1_composition" descr="\sigma(s)=v(u(s))=(v\circ u)(s)">
                <a:extLst>
                  <a:ext uri="{FF2B5EF4-FFF2-40B4-BE49-F238E27FC236}">
                    <a16:creationId xmlns:a16="http://schemas.microsoft.com/office/drawing/2014/main" id="{2B0A6E8E-7421-4E11-9E5D-3B376706FAAB}"/>
                  </a:ext>
                </a:extLst>
              </p:cNvPr>
              <p:cNvSpPr>
                <a:spLocks noGrp="1"/>
              </p:cNvSpPr>
              <p:nvPr/>
            </p:nvSpPr>
            <p:spPr>
              <a:xfrm>
                <a:off x="723900" y="2747962"/>
                <a:ext cx="10744200" cy="8286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smtClean="0">
                          <a:solidFill>
                            <a:srgbClr val="326CB2"/>
                          </a:solidFill>
                          <a:latin typeface="Cambria Math"/>
                          <a:ea typeface="Cambria Math"/>
                          <a:cs typeface="Cambria Math"/>
                        </a:rPr>
                        <m:t>𝜎</m:t>
                      </m:r>
                      <m:d>
                        <m:dPr>
                          <m:ctrlPr>
                            <a:rPr lang="en-GB" sz="2800">
                              <a:solidFill>
                                <a:srgbClr val="326CB2"/>
                              </a:solidFill>
                              <a:latin typeface="Cambria Math"/>
                              <a:ea typeface="Cambria Math"/>
                              <a:cs typeface="Cambria Math"/>
                            </a:rPr>
                          </m:ctrlPr>
                        </m:dPr>
                        <m:e>
                          <m:r>
                            <a:rPr lang="en-GB" sz="2800">
                              <a:solidFill>
                                <a:srgbClr val="326CB2"/>
                              </a:solidFill>
                              <a:latin typeface="Cambria Math"/>
                              <a:ea typeface="Cambria Math"/>
                              <a:cs typeface="Cambria Math"/>
                            </a:rPr>
                            <m:t>𝑠</m:t>
                          </m:r>
                        </m:e>
                      </m:d>
                      <m:r>
                        <a:rPr lang="it-IT" sz="2800" b="0" i="0" smtClean="0">
                          <a:solidFill>
                            <a:srgbClr val="326CB2"/>
                          </a:solidFill>
                          <a:latin typeface="Cambria Math" panose="02040503050406030204" pitchFamily="18" charset="0"/>
                          <a:ea typeface="Cambria Math"/>
                          <a:cs typeface="Cambria Math"/>
                        </a:rPr>
                        <m:t>=</m:t>
                      </m:r>
                      <m:f>
                        <m:fPr>
                          <m:ctrlPr>
                            <a:rPr lang="it-IT" sz="2800" b="0" i="0" smtClean="0">
                              <a:solidFill>
                                <a:srgbClr val="326CB2"/>
                              </a:solidFill>
                              <a:latin typeface="Cambria Math" panose="02040503050406030204" pitchFamily="18" charset="0"/>
                              <a:ea typeface="Cambria Math"/>
                              <a:cs typeface="Cambria Math"/>
                            </a:rPr>
                          </m:ctrlPr>
                        </m:fPr>
                        <m:num>
                          <m:r>
                            <a:rPr lang="it-IT" sz="2800" b="0" i="0" smtClean="0">
                              <a:solidFill>
                                <a:srgbClr val="326CB2"/>
                              </a:solidFill>
                              <a:latin typeface="Cambria Math" panose="02040503050406030204" pitchFamily="18" charset="0"/>
                              <a:ea typeface="Cambria Math"/>
                              <a:cs typeface="Cambria Math"/>
                            </a:rPr>
                            <m:t>1</m:t>
                          </m:r>
                        </m:num>
                        <m:den>
                          <m:r>
                            <a:rPr lang="it-IT" sz="2800" b="0" i="1" smtClean="0">
                              <a:solidFill>
                                <a:srgbClr val="326CB2"/>
                              </a:solidFill>
                              <a:latin typeface="Cambria Math" panose="02040503050406030204" pitchFamily="18" charset="0"/>
                              <a:ea typeface="Cambria Math"/>
                              <a:cs typeface="Cambria Math"/>
                            </a:rPr>
                            <m:t>1+</m:t>
                          </m:r>
                          <m:sSup>
                            <m:sSupPr>
                              <m:ctrlPr>
                                <a:rPr lang="it-IT" sz="2800" b="0" i="1" smtClean="0">
                                  <a:solidFill>
                                    <a:srgbClr val="326CB2"/>
                                  </a:solidFill>
                                  <a:latin typeface="Cambria Math" panose="02040503050406030204" pitchFamily="18" charset="0"/>
                                  <a:ea typeface="Cambria Math"/>
                                  <a:cs typeface="Cambria Math"/>
                                </a:rPr>
                              </m:ctrlPr>
                            </m:sSupPr>
                            <m:e>
                              <m:r>
                                <a:rPr lang="it-IT" sz="2800" b="0" i="1" smtClean="0">
                                  <a:solidFill>
                                    <a:srgbClr val="326CB2"/>
                                  </a:solidFill>
                                  <a:latin typeface="Cambria Math" panose="02040503050406030204" pitchFamily="18" charset="0"/>
                                  <a:ea typeface="Cambria Math"/>
                                  <a:cs typeface="Cambria Math"/>
                                </a:rPr>
                                <m:t>𝑒</m:t>
                              </m:r>
                            </m:e>
                            <m:sup>
                              <m:r>
                                <a:rPr lang="it-IT" sz="2800" b="0" i="1" smtClean="0">
                                  <a:solidFill>
                                    <a:srgbClr val="326CB2"/>
                                  </a:solidFill>
                                  <a:latin typeface="Cambria Math" panose="02040503050406030204" pitchFamily="18" charset="0"/>
                                  <a:ea typeface="Cambria Math"/>
                                  <a:cs typeface="Cambria Math"/>
                                </a:rPr>
                                <m:t>−</m:t>
                              </m:r>
                              <m:r>
                                <a:rPr lang="it-IT" sz="2800" b="0" i="1" smtClean="0">
                                  <a:solidFill>
                                    <a:srgbClr val="326CB2"/>
                                  </a:solidFill>
                                  <a:latin typeface="Cambria Math" panose="02040503050406030204" pitchFamily="18" charset="0"/>
                                  <a:ea typeface="Cambria Math"/>
                                  <a:cs typeface="Cambria Math"/>
                                </a:rPr>
                                <m:t>𝑠</m:t>
                              </m:r>
                            </m:sup>
                          </m:sSup>
                        </m:den>
                      </m:f>
                      <m:r>
                        <a:rPr lang="en-GB" sz="2800" smtClean="0">
                          <a:solidFill>
                            <a:srgbClr val="326CB2"/>
                          </a:solidFill>
                          <a:latin typeface="Cambria Math"/>
                          <a:ea typeface="Cambria Math"/>
                          <a:cs typeface="Cambria Math"/>
                        </a:rPr>
                        <m:t>=</m:t>
                      </m:r>
                      <m:r>
                        <a:rPr lang="en-GB" sz="2800">
                          <a:solidFill>
                            <a:srgbClr val="326CB2"/>
                          </a:solidFill>
                          <a:latin typeface="Cambria Math"/>
                          <a:ea typeface="Cambria Math"/>
                          <a:cs typeface="Cambria Math"/>
                        </a:rPr>
                        <m:t>𝑣</m:t>
                      </m:r>
                      <m:d>
                        <m:dPr>
                          <m:ctrlPr>
                            <a:rPr lang="en-GB" sz="2800">
                              <a:solidFill>
                                <a:srgbClr val="326CB2"/>
                              </a:solidFill>
                              <a:latin typeface="Cambria Math"/>
                              <a:ea typeface="Cambria Math"/>
                              <a:cs typeface="Cambria Math"/>
                            </a:rPr>
                          </m:ctrlPr>
                        </m:dPr>
                        <m:e>
                          <m:r>
                            <a:rPr lang="en-GB" sz="2800">
                              <a:solidFill>
                                <a:srgbClr val="326CB2"/>
                              </a:solidFill>
                              <a:latin typeface="Cambria Math"/>
                              <a:ea typeface="Cambria Math"/>
                              <a:cs typeface="Cambria Math"/>
                            </a:rPr>
                            <m:t>𝑢</m:t>
                          </m:r>
                          <m:d>
                            <m:dPr>
                              <m:ctrlPr>
                                <a:rPr lang="en-GB" sz="2800">
                                  <a:solidFill>
                                    <a:srgbClr val="326CB2"/>
                                  </a:solidFill>
                                  <a:latin typeface="Cambria Math"/>
                                  <a:ea typeface="Cambria Math"/>
                                  <a:cs typeface="Cambria Math"/>
                                </a:rPr>
                              </m:ctrlPr>
                            </m:dPr>
                            <m:e>
                              <m:r>
                                <a:rPr lang="en-GB" sz="2800">
                                  <a:solidFill>
                                    <a:srgbClr val="326CB2"/>
                                  </a:solidFill>
                                  <a:latin typeface="Cambria Math"/>
                                  <a:ea typeface="Cambria Math"/>
                                  <a:cs typeface="Cambria Math"/>
                                </a:rPr>
                                <m:t>𝑠</m:t>
                              </m:r>
                            </m:e>
                          </m:d>
                        </m:e>
                      </m:d>
                    </m:oMath>
                  </m:oMathPara>
                </a14:m>
                <a:endParaRPr lang="en-GB" sz="2800" dirty="0"/>
              </a:p>
            </p:txBody>
          </p:sp>
        </mc:Choice>
        <mc:Fallback xmlns="">
          <p:sp>
            <p:nvSpPr>
              <p:cNvPr id="14" name="step_1_composition" descr="\sigma(s)=v(u(s))=(v\circ u)(s)">
                <a:extLst>
                  <a:ext uri="{FF2B5EF4-FFF2-40B4-BE49-F238E27FC236}">
                    <a16:creationId xmlns:a16="http://schemas.microsoft.com/office/drawing/2014/main" id="{2B0A6E8E-7421-4E11-9E5D-3B376706FAAB}"/>
                  </a:ext>
                </a:extLst>
              </p:cNvPr>
              <p:cNvSpPr>
                <a:spLocks noGrp="1" noRot="1" noChangeAspect="1" noMove="1" noResize="1" noEditPoints="1" noAdjustHandles="1" noChangeArrowheads="1" noChangeShapeType="1" noTextEdit="1"/>
              </p:cNvSpPr>
              <p:nvPr/>
            </p:nvSpPr>
            <p:spPr>
              <a:xfrm>
                <a:off x="723900" y="2747962"/>
                <a:ext cx="10744200" cy="828675"/>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step_2_chain_rule" descr="\sigma'(s)=v'(u(s))\,u'(s)=-(1+e^{-s})^{-2}(-e^{-s})=\frac{e^{-s}}{(1+e^{-s})^2}">
                <a:extLst>
                  <a:ext uri="{FF2B5EF4-FFF2-40B4-BE49-F238E27FC236}">
                    <a16:creationId xmlns:a16="http://schemas.microsoft.com/office/drawing/2014/main" id="{D97DDAA8-9ED1-4692-9E79-D45FEC39BA78}"/>
                  </a:ext>
                </a:extLst>
              </p:cNvPr>
              <p:cNvSpPr>
                <a:spLocks noGrp="1"/>
              </p:cNvSpPr>
              <p:nvPr/>
            </p:nvSpPr>
            <p:spPr>
              <a:xfrm>
                <a:off x="723900" y="3609975"/>
                <a:ext cx="1074420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550">
                              <a:solidFill>
                                <a:srgbClr val="087F83"/>
                              </a:solidFill>
                              <a:latin typeface="Cambria Math"/>
                              <a:ea typeface="Cambria Math"/>
                              <a:cs typeface="Cambria Math"/>
                            </a:rPr>
                          </m:ctrlPr>
                        </m:sSupPr>
                        <m:e>
                          <m:r>
                            <a:rPr lang="en-GB" sz="2550">
                              <a:solidFill>
                                <a:srgbClr val="087F83"/>
                              </a:solidFill>
                              <a:latin typeface="Cambria Math"/>
                              <a:ea typeface="Cambria Math"/>
                              <a:cs typeface="Cambria Math"/>
                            </a:rPr>
                            <m:t>𝜎</m:t>
                          </m:r>
                        </m:e>
                        <m:sup>
                          <m:r>
                            <a:rPr lang="en-GB" sz="2550">
                              <a:solidFill>
                                <a:srgbClr val="087F83"/>
                              </a:solidFill>
                              <a:latin typeface="Cambria Math"/>
                              <a:ea typeface="Cambria Math"/>
                              <a:cs typeface="Cambria Math"/>
                            </a:rPr>
                            <m:t>′</m:t>
                          </m:r>
                        </m:sup>
                      </m:sSup>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𝑠</m:t>
                          </m:r>
                        </m:e>
                      </m:d>
                      <m:r>
                        <a:rPr lang="en-GB" sz="2550">
                          <a:solidFill>
                            <a:srgbClr val="087F83"/>
                          </a:solidFill>
                          <a:latin typeface="Cambria Math"/>
                          <a:ea typeface="Cambria Math"/>
                          <a:cs typeface="Cambria Math"/>
                        </a:rPr>
                        <m:t>=</m:t>
                      </m:r>
                      <m:sSup>
                        <m:sSupPr>
                          <m:ctrlPr>
                            <a:rPr lang="en-GB" sz="2550">
                              <a:solidFill>
                                <a:srgbClr val="087F83"/>
                              </a:solidFill>
                              <a:latin typeface="Cambria Math"/>
                              <a:ea typeface="Cambria Math"/>
                              <a:cs typeface="Cambria Math"/>
                            </a:rPr>
                          </m:ctrlPr>
                        </m:sSupPr>
                        <m:e>
                          <m:r>
                            <a:rPr lang="en-GB" sz="2550">
                              <a:solidFill>
                                <a:srgbClr val="087F83"/>
                              </a:solidFill>
                              <a:latin typeface="Cambria Math"/>
                              <a:ea typeface="Cambria Math"/>
                              <a:cs typeface="Cambria Math"/>
                            </a:rPr>
                            <m:t>𝑣</m:t>
                          </m:r>
                        </m:e>
                        <m:sup>
                          <m:r>
                            <a:rPr lang="en-GB" sz="2550">
                              <a:solidFill>
                                <a:srgbClr val="087F83"/>
                              </a:solidFill>
                              <a:latin typeface="Cambria Math"/>
                              <a:ea typeface="Cambria Math"/>
                              <a:cs typeface="Cambria Math"/>
                            </a:rPr>
                            <m:t>′</m:t>
                          </m:r>
                        </m:sup>
                      </m:sSup>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𝑢</m:t>
                          </m:r>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𝑠</m:t>
                              </m:r>
                            </m:e>
                          </m:d>
                        </m:e>
                      </m:d>
                      <m:r>
                        <a:rPr lang="en-GB" sz="2550">
                          <a:solidFill>
                            <a:srgbClr val="087F83"/>
                          </a:solidFill>
                          <a:latin typeface="Cambria Math"/>
                          <a:ea typeface="Cambria Math"/>
                          <a:cs typeface="Cambria Math"/>
                        </a:rPr>
                        <m:t> </m:t>
                      </m:r>
                      <m:sSup>
                        <m:sSupPr>
                          <m:ctrlPr>
                            <a:rPr lang="en-GB" sz="2550">
                              <a:solidFill>
                                <a:srgbClr val="087F83"/>
                              </a:solidFill>
                              <a:latin typeface="Cambria Math"/>
                              <a:ea typeface="Cambria Math"/>
                              <a:cs typeface="Cambria Math"/>
                            </a:rPr>
                          </m:ctrlPr>
                        </m:sSupPr>
                        <m:e>
                          <m:r>
                            <a:rPr lang="en-GB" sz="2550">
                              <a:solidFill>
                                <a:srgbClr val="087F83"/>
                              </a:solidFill>
                              <a:latin typeface="Cambria Math"/>
                              <a:ea typeface="Cambria Math"/>
                              <a:cs typeface="Cambria Math"/>
                            </a:rPr>
                            <m:t>𝑢</m:t>
                          </m:r>
                        </m:e>
                        <m:sup>
                          <m:r>
                            <a:rPr lang="en-GB" sz="2550">
                              <a:solidFill>
                                <a:srgbClr val="087F83"/>
                              </a:solidFill>
                              <a:latin typeface="Cambria Math"/>
                              <a:ea typeface="Cambria Math"/>
                              <a:cs typeface="Cambria Math"/>
                            </a:rPr>
                            <m:t>′</m:t>
                          </m:r>
                        </m:sup>
                      </m:sSup>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𝑠</m:t>
                          </m:r>
                        </m:e>
                      </m:d>
                      <m:r>
                        <a:rPr lang="en-GB" sz="2550">
                          <a:solidFill>
                            <a:srgbClr val="087F83"/>
                          </a:solidFill>
                          <a:latin typeface="Cambria Math"/>
                          <a:ea typeface="Cambria Math"/>
                          <a:cs typeface="Cambria Math"/>
                        </a:rPr>
                        <m:t>=−</m:t>
                      </m:r>
                      <m:f>
                        <m:fPr>
                          <m:ctrlPr>
                            <a:rPr lang="it-IT" sz="2550" b="0" i="0" smtClean="0">
                              <a:solidFill>
                                <a:srgbClr val="087F83"/>
                              </a:solidFill>
                              <a:latin typeface="Cambria Math" panose="02040503050406030204" pitchFamily="18" charset="0"/>
                              <a:ea typeface="Cambria Math"/>
                              <a:cs typeface="Cambria Math"/>
                            </a:rPr>
                          </m:ctrlPr>
                        </m:fPr>
                        <m:num>
                          <m:r>
                            <a:rPr lang="it-IT" sz="2550" b="0" i="0" smtClean="0">
                              <a:solidFill>
                                <a:srgbClr val="087F83"/>
                              </a:solidFill>
                              <a:latin typeface="Cambria Math" panose="02040503050406030204" pitchFamily="18" charset="0"/>
                              <a:ea typeface="Cambria Math"/>
                              <a:cs typeface="Cambria Math"/>
                            </a:rPr>
                            <m:t>1</m:t>
                          </m:r>
                        </m:num>
                        <m:den>
                          <m:sSup>
                            <m:sSupPr>
                              <m:ctrlPr>
                                <a:rPr lang="en-GB" sz="2550" i="1">
                                  <a:solidFill>
                                    <a:srgbClr val="087F83"/>
                                  </a:solidFill>
                                  <a:latin typeface="Cambria Math" panose="02040503050406030204" pitchFamily="18" charset="0"/>
                                  <a:ea typeface="Cambria Math"/>
                                  <a:cs typeface="Cambria Math"/>
                                </a:rPr>
                              </m:ctrlPr>
                            </m:sSupPr>
                            <m:e>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1+</m:t>
                                  </m:r>
                                  <m:sSup>
                                    <m:sSupPr>
                                      <m:ctrlPr>
                                        <a:rPr lang="en-GB" sz="2550">
                                          <a:solidFill>
                                            <a:srgbClr val="087F83"/>
                                          </a:solidFill>
                                          <a:latin typeface="Cambria Math"/>
                                          <a:ea typeface="Cambria Math"/>
                                          <a:cs typeface="Cambria Math"/>
                                        </a:rPr>
                                      </m:ctrlPr>
                                    </m:sSupPr>
                                    <m:e>
                                      <m:r>
                                        <a:rPr lang="en-GB" sz="2550">
                                          <a:solidFill>
                                            <a:srgbClr val="087F83"/>
                                          </a:solidFill>
                                          <a:latin typeface="Cambria Math"/>
                                          <a:ea typeface="Cambria Math"/>
                                          <a:cs typeface="Cambria Math"/>
                                        </a:rPr>
                                        <m:t>𝑒</m:t>
                                      </m:r>
                                    </m:e>
                                    <m:sup>
                                      <m:r>
                                        <a:rPr lang="en-GB" sz="2550">
                                          <a:solidFill>
                                            <a:srgbClr val="087F83"/>
                                          </a:solidFill>
                                          <a:latin typeface="Cambria Math"/>
                                          <a:ea typeface="Cambria Math"/>
                                          <a:cs typeface="Cambria Math"/>
                                        </a:rPr>
                                        <m:t>−</m:t>
                                      </m:r>
                                      <m:r>
                                        <a:rPr lang="en-GB" sz="2550">
                                          <a:solidFill>
                                            <a:srgbClr val="087F83"/>
                                          </a:solidFill>
                                          <a:latin typeface="Cambria Math"/>
                                          <a:ea typeface="Cambria Math"/>
                                          <a:cs typeface="Cambria Math"/>
                                        </a:rPr>
                                        <m:t>𝑠</m:t>
                                      </m:r>
                                    </m:sup>
                                  </m:sSup>
                                </m:e>
                              </m:d>
                            </m:e>
                            <m:sup>
                              <m:r>
                                <a:rPr lang="en-GB" sz="2550">
                                  <a:solidFill>
                                    <a:srgbClr val="087F83"/>
                                  </a:solidFill>
                                  <a:latin typeface="Cambria Math"/>
                                  <a:ea typeface="Cambria Math"/>
                                  <a:cs typeface="Cambria Math"/>
                                </a:rPr>
                                <m:t>2</m:t>
                              </m:r>
                            </m:sup>
                          </m:sSup>
                        </m:den>
                      </m:f>
                      <m:d>
                        <m:dPr>
                          <m:ctrlPr>
                            <a:rPr lang="en-GB" sz="2550">
                              <a:solidFill>
                                <a:srgbClr val="087F83"/>
                              </a:solidFill>
                              <a:latin typeface="Cambria Math"/>
                              <a:ea typeface="Cambria Math"/>
                              <a:cs typeface="Cambria Math"/>
                            </a:rPr>
                          </m:ctrlPr>
                        </m:dPr>
                        <m:e>
                          <m:r>
                            <a:rPr lang="en-GB" sz="2550">
                              <a:solidFill>
                                <a:srgbClr val="087F83"/>
                              </a:solidFill>
                              <a:latin typeface="Cambria Math"/>
                              <a:ea typeface="Cambria Math"/>
                              <a:cs typeface="Cambria Math"/>
                            </a:rPr>
                            <m:t>−</m:t>
                          </m:r>
                          <m:sSup>
                            <m:sSupPr>
                              <m:ctrlPr>
                                <a:rPr lang="en-GB" sz="2550">
                                  <a:solidFill>
                                    <a:srgbClr val="087F83"/>
                                  </a:solidFill>
                                  <a:latin typeface="Cambria Math"/>
                                  <a:ea typeface="Cambria Math"/>
                                  <a:cs typeface="Cambria Math"/>
                                </a:rPr>
                              </m:ctrlPr>
                            </m:sSupPr>
                            <m:e>
                              <m:r>
                                <a:rPr lang="en-GB" sz="2550">
                                  <a:solidFill>
                                    <a:srgbClr val="087F83"/>
                                  </a:solidFill>
                                  <a:latin typeface="Cambria Math"/>
                                  <a:ea typeface="Cambria Math"/>
                                  <a:cs typeface="Cambria Math"/>
                                </a:rPr>
                                <m:t>𝑒</m:t>
                              </m:r>
                            </m:e>
                            <m:sup>
                              <m:r>
                                <a:rPr lang="en-GB" sz="2550">
                                  <a:solidFill>
                                    <a:srgbClr val="087F83"/>
                                  </a:solidFill>
                                  <a:latin typeface="Cambria Math"/>
                                  <a:ea typeface="Cambria Math"/>
                                  <a:cs typeface="Cambria Math"/>
                                </a:rPr>
                                <m:t>−</m:t>
                              </m:r>
                              <m:r>
                                <a:rPr lang="en-GB" sz="2550">
                                  <a:solidFill>
                                    <a:srgbClr val="087F83"/>
                                  </a:solidFill>
                                  <a:latin typeface="Cambria Math"/>
                                  <a:ea typeface="Cambria Math"/>
                                  <a:cs typeface="Cambria Math"/>
                                </a:rPr>
                                <m:t>𝑠</m:t>
                              </m:r>
                            </m:sup>
                          </m:sSup>
                        </m:e>
                      </m:d>
                      <m:r>
                        <a:rPr lang="en-GB" sz="2550">
                          <a:solidFill>
                            <a:srgbClr val="087F83"/>
                          </a:solidFill>
                          <a:latin typeface="Cambria Math"/>
                          <a:ea typeface="Cambria Math"/>
                          <a:cs typeface="Cambria Math"/>
                        </a:rPr>
                        <m:t>=</m:t>
                      </m:r>
                      <m:f>
                        <m:fPr>
                          <m:ctrlPr>
                            <a:rPr lang="en-GB" sz="2550" i="1">
                              <a:solidFill>
                                <a:srgbClr val="087F83"/>
                              </a:solidFill>
                              <a:latin typeface="Cambria Math" panose="02040503050406030204" pitchFamily="18" charset="0"/>
                              <a:ea typeface="Cambria Math"/>
                              <a:cs typeface="Cambria Math"/>
                            </a:rPr>
                          </m:ctrlPr>
                        </m:fPr>
                        <m:num>
                          <m:sSup>
                            <m:sSupPr>
                              <m:ctrlPr>
                                <a:rPr lang="en-GB" sz="2550">
                                  <a:solidFill>
                                    <a:srgbClr val="087F83"/>
                                  </a:solidFill>
                                  <a:latin typeface="Cambria Math"/>
                                  <a:ea typeface="Cambria Math"/>
                                  <a:cs typeface="Cambria Math"/>
                                </a:rPr>
                              </m:ctrlPr>
                            </m:sSupPr>
                            <m:e>
                              <m:r>
                                <a:rPr lang="en-GB" sz="2550">
                                  <a:solidFill>
                                    <a:srgbClr val="087F83"/>
                                  </a:solidFill>
                                  <a:latin typeface="Cambria Math"/>
                                  <a:ea typeface="Cambria Math"/>
                                  <a:cs typeface="Cambria Math"/>
                                </a:rPr>
                                <m:t>𝑒</m:t>
                              </m:r>
                            </m:e>
                            <m:sup>
                              <m:r>
                                <a:rPr lang="en-GB" sz="2550">
                                  <a:solidFill>
                                    <a:srgbClr val="087F83"/>
                                  </a:solidFill>
                                  <a:latin typeface="Cambria Math"/>
                                  <a:ea typeface="Cambria Math"/>
                                  <a:cs typeface="Cambria Math"/>
                                </a:rPr>
                                <m:t>−</m:t>
                              </m:r>
                              <m:r>
                                <a:rPr lang="en-GB" sz="2550">
                                  <a:solidFill>
                                    <a:srgbClr val="087F83"/>
                                  </a:solidFill>
                                  <a:latin typeface="Cambria Math"/>
                                  <a:ea typeface="Cambria Math"/>
                                  <a:cs typeface="Cambria Math"/>
                                </a:rPr>
                                <m:t>𝑠</m:t>
                              </m:r>
                            </m:sup>
                          </m:sSup>
                        </m:num>
                        <m:den>
                          <m:r>
                            <a:rPr lang="en-GB" sz="2550">
                              <a:solidFill>
                                <a:srgbClr val="087F83"/>
                              </a:solidFill>
                              <a:latin typeface="Cambria Math"/>
                              <a:ea typeface="Cambria Math"/>
                              <a:cs typeface="Cambria Math"/>
                            </a:rPr>
                            <m:t>(1+</m:t>
                          </m:r>
                          <m:sSup>
                            <m:sSupPr>
                              <m:ctrlPr>
                                <a:rPr lang="en-GB" sz="2550">
                                  <a:solidFill>
                                    <a:srgbClr val="087F83"/>
                                  </a:solidFill>
                                  <a:latin typeface="Cambria Math"/>
                                  <a:ea typeface="Cambria Math"/>
                                  <a:cs typeface="Cambria Math"/>
                                </a:rPr>
                              </m:ctrlPr>
                            </m:sSupPr>
                            <m:e>
                              <m:r>
                                <a:rPr lang="en-GB" sz="2550">
                                  <a:solidFill>
                                    <a:srgbClr val="087F83"/>
                                  </a:solidFill>
                                  <a:latin typeface="Cambria Math"/>
                                  <a:ea typeface="Cambria Math"/>
                                  <a:cs typeface="Cambria Math"/>
                                </a:rPr>
                                <m:t>𝑒</m:t>
                              </m:r>
                            </m:e>
                            <m:sup>
                              <m:r>
                                <a:rPr lang="en-GB" sz="2550">
                                  <a:solidFill>
                                    <a:srgbClr val="087F83"/>
                                  </a:solidFill>
                                  <a:latin typeface="Cambria Math"/>
                                  <a:ea typeface="Cambria Math"/>
                                  <a:cs typeface="Cambria Math"/>
                                </a:rPr>
                                <m:t>−</m:t>
                              </m:r>
                              <m:r>
                                <a:rPr lang="en-GB" sz="2550">
                                  <a:solidFill>
                                    <a:srgbClr val="087F83"/>
                                  </a:solidFill>
                                  <a:latin typeface="Cambria Math"/>
                                  <a:ea typeface="Cambria Math"/>
                                  <a:cs typeface="Cambria Math"/>
                                </a:rPr>
                                <m:t>𝑠</m:t>
                              </m:r>
                            </m:sup>
                          </m:sSup>
                          <m:sSup>
                            <m:sSupPr>
                              <m:ctrlPr>
                                <a:rPr lang="en-GB" sz="2550">
                                  <a:solidFill>
                                    <a:srgbClr val="087F83"/>
                                  </a:solidFill>
                                  <a:latin typeface="Cambria Math"/>
                                  <a:ea typeface="Cambria Math"/>
                                  <a:cs typeface="Cambria Math"/>
                                </a:rPr>
                              </m:ctrlPr>
                            </m:sSupPr>
                            <m:e>
                              <m:r>
                                <a:rPr lang="en-GB" sz="2550">
                                  <a:solidFill>
                                    <a:srgbClr val="087F83"/>
                                  </a:solidFill>
                                  <a:latin typeface="Cambria Math"/>
                                  <a:ea typeface="Cambria Math"/>
                                  <a:cs typeface="Cambria Math"/>
                                </a:rPr>
                                <m:t>)</m:t>
                              </m:r>
                            </m:e>
                            <m:sup>
                              <m:r>
                                <a:rPr lang="en-GB" sz="2550">
                                  <a:solidFill>
                                    <a:srgbClr val="087F83"/>
                                  </a:solidFill>
                                  <a:latin typeface="Cambria Math"/>
                                  <a:ea typeface="Cambria Math"/>
                                  <a:cs typeface="Cambria Math"/>
                                </a:rPr>
                                <m:t>2</m:t>
                              </m:r>
                            </m:sup>
                          </m:sSup>
                        </m:den>
                      </m:f>
                    </m:oMath>
                  </m:oMathPara>
                </a14:m>
                <a:endParaRPr lang="en-GB" sz="2550" dirty="0"/>
              </a:p>
            </p:txBody>
          </p:sp>
        </mc:Choice>
        <mc:Fallback xmlns="">
          <p:sp>
            <p:nvSpPr>
              <p:cNvPr id="15" name="step_2_chain_rule" descr="\sigma'(s)=v'(u(s))\,u'(s)=-(1+e^{-s})^{-2}(-e^{-s})=\frac{e^{-s}}{(1+e^{-s})^2}">
                <a:extLst>
                  <a:ext uri="{FF2B5EF4-FFF2-40B4-BE49-F238E27FC236}">
                    <a16:creationId xmlns:a16="http://schemas.microsoft.com/office/drawing/2014/main" id="{D97DDAA8-9ED1-4692-9E79-D45FEC39BA78}"/>
                  </a:ext>
                </a:extLst>
              </p:cNvPr>
              <p:cNvSpPr>
                <a:spLocks noGrp="1" noRot="1" noChangeAspect="1" noMove="1" noResize="1" noEditPoints="1" noAdjustHandles="1" noChangeArrowheads="1" noChangeShapeType="1" noTextEdit="1"/>
              </p:cNvSpPr>
              <p:nvPr/>
            </p:nvSpPr>
            <p:spPr>
              <a:xfrm>
                <a:off x="723900" y="3609975"/>
                <a:ext cx="10744200" cy="85725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step_3_simplification" descr="=\frac{1}{1+e^{-s}}\cdot\frac{e^{-s}}{1+e^{-s}}=\sigma(s)(1-\sigma(s))">
                <a:extLst>
                  <a:ext uri="{FF2B5EF4-FFF2-40B4-BE49-F238E27FC236}">
                    <a16:creationId xmlns:a16="http://schemas.microsoft.com/office/drawing/2014/main" id="{ABB00F44-0452-4B1A-A0DD-30B45AEE6B1A}"/>
                  </a:ext>
                </a:extLst>
              </p:cNvPr>
              <p:cNvSpPr>
                <a:spLocks noGrp="1"/>
              </p:cNvSpPr>
              <p:nvPr/>
            </p:nvSpPr>
            <p:spPr>
              <a:xfrm>
                <a:off x="723900" y="4617244"/>
                <a:ext cx="1074420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smtClean="0">
                          <a:solidFill>
                            <a:srgbClr val="087F83"/>
                          </a:solidFill>
                          <a:latin typeface="Cambria Math"/>
                          <a:ea typeface="Cambria Math"/>
                          <a:cs typeface="Cambria Math"/>
                        </a:rPr>
                        <m:t>=</m:t>
                      </m:r>
                      <m:f>
                        <m:fPr>
                          <m:ctrlPr>
                            <a:rPr lang="en-GB" sz="2700">
                              <a:solidFill>
                                <a:srgbClr val="087F83"/>
                              </a:solidFill>
                              <a:latin typeface="Cambria Math"/>
                              <a:ea typeface="Cambria Math"/>
                              <a:cs typeface="Cambria Math"/>
                            </a:rPr>
                          </m:ctrlPr>
                        </m:fPr>
                        <m:num>
                          <m:r>
                            <a:rPr lang="en-GB" sz="2700">
                              <a:solidFill>
                                <a:srgbClr val="087F83"/>
                              </a:solidFill>
                              <a:latin typeface="Cambria Math"/>
                              <a:ea typeface="Cambria Math"/>
                              <a:cs typeface="Cambria Math"/>
                            </a:rPr>
                            <m:t>1</m:t>
                          </m:r>
                        </m:num>
                        <m:den>
                          <m:r>
                            <a:rPr lang="en-GB" sz="2700">
                              <a:solidFill>
                                <a:srgbClr val="087F83"/>
                              </a:solidFill>
                              <a:latin typeface="Cambria Math"/>
                              <a:ea typeface="Cambria Math"/>
                              <a:cs typeface="Cambria Math"/>
                            </a:rPr>
                            <m:t>1+</m:t>
                          </m:r>
                          <m:sSup>
                            <m:sSupPr>
                              <m:ctrlPr>
                                <a:rPr lang="en-GB" sz="2700">
                                  <a:solidFill>
                                    <a:srgbClr val="087F83"/>
                                  </a:solidFill>
                                  <a:latin typeface="Cambria Math"/>
                                  <a:ea typeface="Cambria Math"/>
                                  <a:cs typeface="Cambria Math"/>
                                </a:rPr>
                              </m:ctrlPr>
                            </m:sSupPr>
                            <m:e>
                              <m:r>
                                <a:rPr lang="en-GB" sz="2700">
                                  <a:solidFill>
                                    <a:srgbClr val="087F83"/>
                                  </a:solidFill>
                                  <a:latin typeface="Cambria Math"/>
                                  <a:ea typeface="Cambria Math"/>
                                  <a:cs typeface="Cambria Math"/>
                                </a:rPr>
                                <m:t>𝑒</m:t>
                              </m:r>
                            </m:e>
                            <m:sup>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𝑠</m:t>
                              </m:r>
                            </m:sup>
                          </m:sSup>
                        </m:den>
                      </m:f>
                      <m:r>
                        <a:rPr lang="en-GB" sz="2700">
                          <a:solidFill>
                            <a:srgbClr val="087F83"/>
                          </a:solidFill>
                          <a:latin typeface="Cambria Math"/>
                          <a:ea typeface="Cambria Math"/>
                          <a:cs typeface="Cambria Math"/>
                        </a:rPr>
                        <m:t>⋅</m:t>
                      </m:r>
                      <m:f>
                        <m:fPr>
                          <m:ctrlPr>
                            <a:rPr lang="en-GB" sz="2700" i="1">
                              <a:solidFill>
                                <a:srgbClr val="087F83"/>
                              </a:solidFill>
                              <a:latin typeface="Cambria Math" panose="02040503050406030204" pitchFamily="18" charset="0"/>
                              <a:ea typeface="Cambria Math"/>
                              <a:cs typeface="Cambria Math"/>
                            </a:rPr>
                          </m:ctrlPr>
                        </m:fPr>
                        <m:num>
                          <m:sSup>
                            <m:sSupPr>
                              <m:ctrlPr>
                                <a:rPr lang="en-GB" sz="2700">
                                  <a:solidFill>
                                    <a:srgbClr val="087F83"/>
                                  </a:solidFill>
                                  <a:latin typeface="Cambria Math"/>
                                  <a:ea typeface="Cambria Math"/>
                                  <a:cs typeface="Cambria Math"/>
                                </a:rPr>
                              </m:ctrlPr>
                            </m:sSupPr>
                            <m:e>
                              <m:r>
                                <a:rPr lang="en-GB" sz="2700">
                                  <a:solidFill>
                                    <a:srgbClr val="087F83"/>
                                  </a:solidFill>
                                  <a:latin typeface="Cambria Math"/>
                                  <a:ea typeface="Cambria Math"/>
                                  <a:cs typeface="Cambria Math"/>
                                </a:rPr>
                                <m:t>𝑒</m:t>
                              </m:r>
                            </m:e>
                            <m:sup>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𝑠</m:t>
                              </m:r>
                            </m:sup>
                          </m:sSup>
                        </m:num>
                        <m:den>
                          <m:r>
                            <a:rPr lang="en-GB" sz="2700">
                              <a:solidFill>
                                <a:srgbClr val="087F83"/>
                              </a:solidFill>
                              <a:latin typeface="Cambria Math"/>
                              <a:ea typeface="Cambria Math"/>
                              <a:cs typeface="Cambria Math"/>
                            </a:rPr>
                            <m:t>1+</m:t>
                          </m:r>
                          <m:sSup>
                            <m:sSupPr>
                              <m:ctrlPr>
                                <a:rPr lang="en-GB" sz="2700">
                                  <a:solidFill>
                                    <a:srgbClr val="087F83"/>
                                  </a:solidFill>
                                  <a:latin typeface="Cambria Math"/>
                                  <a:ea typeface="Cambria Math"/>
                                  <a:cs typeface="Cambria Math"/>
                                </a:rPr>
                              </m:ctrlPr>
                            </m:sSupPr>
                            <m:e>
                              <m:r>
                                <a:rPr lang="en-GB" sz="2700">
                                  <a:solidFill>
                                    <a:srgbClr val="087F83"/>
                                  </a:solidFill>
                                  <a:latin typeface="Cambria Math"/>
                                  <a:ea typeface="Cambria Math"/>
                                  <a:cs typeface="Cambria Math"/>
                                </a:rPr>
                                <m:t>𝑒</m:t>
                              </m:r>
                            </m:e>
                            <m:sup>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𝑠</m:t>
                              </m:r>
                            </m:sup>
                          </m:sSup>
                        </m:den>
                      </m:f>
                      <m:r>
                        <a:rPr lang="it-IT" sz="2700" b="0" i="0" smtClean="0">
                          <a:solidFill>
                            <a:srgbClr val="087F83"/>
                          </a:solidFill>
                          <a:latin typeface="Cambria Math" panose="02040503050406030204" pitchFamily="18" charset="0"/>
                          <a:ea typeface="Cambria Math"/>
                          <a:cs typeface="Cambria Math"/>
                        </a:rPr>
                        <m:t>=</m:t>
                      </m:r>
                      <m:f>
                        <m:fPr>
                          <m:ctrlPr>
                            <a:rPr lang="en-GB" sz="2700">
                              <a:solidFill>
                                <a:srgbClr val="087F83"/>
                              </a:solidFill>
                              <a:latin typeface="Cambria Math"/>
                              <a:ea typeface="Cambria Math"/>
                              <a:cs typeface="Cambria Math"/>
                            </a:rPr>
                          </m:ctrlPr>
                        </m:fPr>
                        <m:num>
                          <m:r>
                            <a:rPr lang="en-GB" sz="2700">
                              <a:solidFill>
                                <a:srgbClr val="087F83"/>
                              </a:solidFill>
                              <a:latin typeface="Cambria Math"/>
                              <a:ea typeface="Cambria Math"/>
                              <a:cs typeface="Cambria Math"/>
                            </a:rPr>
                            <m:t>1</m:t>
                          </m:r>
                        </m:num>
                        <m:den>
                          <m:r>
                            <a:rPr lang="en-GB" sz="2700">
                              <a:solidFill>
                                <a:srgbClr val="087F83"/>
                              </a:solidFill>
                              <a:latin typeface="Cambria Math"/>
                              <a:ea typeface="Cambria Math"/>
                              <a:cs typeface="Cambria Math"/>
                            </a:rPr>
                            <m:t>1+</m:t>
                          </m:r>
                          <m:sSup>
                            <m:sSupPr>
                              <m:ctrlPr>
                                <a:rPr lang="en-GB" sz="2700">
                                  <a:solidFill>
                                    <a:srgbClr val="087F83"/>
                                  </a:solidFill>
                                  <a:latin typeface="Cambria Math"/>
                                  <a:ea typeface="Cambria Math"/>
                                  <a:cs typeface="Cambria Math"/>
                                </a:rPr>
                              </m:ctrlPr>
                            </m:sSupPr>
                            <m:e>
                              <m:r>
                                <a:rPr lang="en-GB" sz="2700">
                                  <a:solidFill>
                                    <a:srgbClr val="087F83"/>
                                  </a:solidFill>
                                  <a:latin typeface="Cambria Math"/>
                                  <a:ea typeface="Cambria Math"/>
                                  <a:cs typeface="Cambria Math"/>
                                </a:rPr>
                                <m:t>𝑒</m:t>
                              </m:r>
                            </m:e>
                            <m:sup>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𝑠</m:t>
                              </m:r>
                            </m:sup>
                          </m:sSup>
                        </m:den>
                      </m:f>
                      <m:r>
                        <a:rPr lang="en-GB" sz="2700">
                          <a:solidFill>
                            <a:srgbClr val="087F83"/>
                          </a:solidFill>
                          <a:latin typeface="Cambria Math"/>
                          <a:ea typeface="Cambria Math"/>
                          <a:cs typeface="Cambria Math"/>
                        </a:rPr>
                        <m:t>⋅</m:t>
                      </m:r>
                      <m:d>
                        <m:dPr>
                          <m:ctrlPr>
                            <a:rPr lang="it-IT" sz="2700" b="0" i="1" smtClean="0">
                              <a:solidFill>
                                <a:srgbClr val="087F83"/>
                              </a:solidFill>
                              <a:latin typeface="Cambria Math" panose="02040503050406030204" pitchFamily="18" charset="0"/>
                              <a:ea typeface="Cambria Math"/>
                              <a:cs typeface="Cambria Math"/>
                            </a:rPr>
                          </m:ctrlPr>
                        </m:dPr>
                        <m:e>
                          <m:r>
                            <a:rPr lang="it-IT" sz="2700" b="0" i="1" smtClean="0">
                              <a:solidFill>
                                <a:srgbClr val="087F83"/>
                              </a:solidFill>
                              <a:latin typeface="Cambria Math" panose="02040503050406030204" pitchFamily="18" charset="0"/>
                              <a:ea typeface="Cambria Math"/>
                              <a:cs typeface="Cambria Math"/>
                            </a:rPr>
                            <m:t>1−</m:t>
                          </m:r>
                          <m:f>
                            <m:fPr>
                              <m:ctrlPr>
                                <a:rPr lang="en-GB" sz="2700">
                                  <a:solidFill>
                                    <a:srgbClr val="087F83"/>
                                  </a:solidFill>
                                  <a:latin typeface="Cambria Math"/>
                                  <a:ea typeface="Cambria Math"/>
                                  <a:cs typeface="Cambria Math"/>
                                </a:rPr>
                              </m:ctrlPr>
                            </m:fPr>
                            <m:num>
                              <m:r>
                                <a:rPr lang="en-GB" sz="2700">
                                  <a:solidFill>
                                    <a:srgbClr val="087F83"/>
                                  </a:solidFill>
                                  <a:latin typeface="Cambria Math"/>
                                  <a:ea typeface="Cambria Math"/>
                                  <a:cs typeface="Cambria Math"/>
                                </a:rPr>
                                <m:t>1</m:t>
                              </m:r>
                            </m:num>
                            <m:den>
                              <m:r>
                                <a:rPr lang="en-GB" sz="2700">
                                  <a:solidFill>
                                    <a:srgbClr val="087F83"/>
                                  </a:solidFill>
                                  <a:latin typeface="Cambria Math"/>
                                  <a:ea typeface="Cambria Math"/>
                                  <a:cs typeface="Cambria Math"/>
                                </a:rPr>
                                <m:t>1+</m:t>
                              </m:r>
                              <m:sSup>
                                <m:sSupPr>
                                  <m:ctrlPr>
                                    <a:rPr lang="en-GB" sz="2700">
                                      <a:solidFill>
                                        <a:srgbClr val="087F83"/>
                                      </a:solidFill>
                                      <a:latin typeface="Cambria Math"/>
                                      <a:ea typeface="Cambria Math"/>
                                      <a:cs typeface="Cambria Math"/>
                                    </a:rPr>
                                  </m:ctrlPr>
                                </m:sSupPr>
                                <m:e>
                                  <m:r>
                                    <a:rPr lang="en-GB" sz="2700">
                                      <a:solidFill>
                                        <a:srgbClr val="087F83"/>
                                      </a:solidFill>
                                      <a:latin typeface="Cambria Math"/>
                                      <a:ea typeface="Cambria Math"/>
                                      <a:cs typeface="Cambria Math"/>
                                    </a:rPr>
                                    <m:t>𝑒</m:t>
                                  </m:r>
                                </m:e>
                                <m:sup>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𝑠</m:t>
                                  </m:r>
                                </m:sup>
                              </m:sSup>
                            </m:den>
                          </m:f>
                        </m:e>
                      </m:d>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𝜎</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𝑠</m:t>
                          </m:r>
                        </m:e>
                      </m:d>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1−</m:t>
                          </m:r>
                          <m:r>
                            <a:rPr lang="en-GB" sz="2700">
                              <a:solidFill>
                                <a:srgbClr val="087F83"/>
                              </a:solidFill>
                              <a:latin typeface="Cambria Math"/>
                              <a:ea typeface="Cambria Math"/>
                              <a:cs typeface="Cambria Math"/>
                            </a:rPr>
                            <m:t>𝜎</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𝑠</m:t>
                              </m:r>
                            </m:e>
                          </m:d>
                        </m:e>
                      </m:d>
                    </m:oMath>
                  </m:oMathPara>
                </a14:m>
                <a:endParaRPr lang="en-GB" sz="2700" dirty="0"/>
              </a:p>
            </p:txBody>
          </p:sp>
        </mc:Choice>
        <mc:Fallback xmlns="">
          <p:sp>
            <p:nvSpPr>
              <p:cNvPr id="16" name="step_3_simplification" descr="=\frac{1}{1+e^{-s}}\cdot\frac{e^{-s}}{1+e^{-s}}=\sigma(s)(1-\sigma(s))">
                <a:extLst>
                  <a:ext uri="{FF2B5EF4-FFF2-40B4-BE49-F238E27FC236}">
                    <a16:creationId xmlns:a16="http://schemas.microsoft.com/office/drawing/2014/main" id="{ABB00F44-0452-4B1A-A0DD-30B45AEE6B1A}"/>
                  </a:ext>
                </a:extLst>
              </p:cNvPr>
              <p:cNvSpPr>
                <a:spLocks noGrp="1" noRot="1" noChangeAspect="1" noMove="1" noResize="1" noEditPoints="1" noAdjustHandles="1" noChangeArrowheads="1" noChangeShapeType="1" noTextEdit="1"/>
              </p:cNvSpPr>
              <p:nvPr/>
            </p:nvSpPr>
            <p:spPr>
              <a:xfrm>
                <a:off x="723900" y="4617244"/>
                <a:ext cx="10744200" cy="857250"/>
              </a:xfrm>
              <a:prstGeom prst="rect">
                <a:avLst/>
              </a:prstGeom>
              <a:blipFill>
                <a:blip r:embed="rId9"/>
                <a:stretch>
                  <a:fillRect b="-425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step_4_observation" descr="\sigma'\bigl(f_{\boldsymbol\theta}(\boldsymbol x_i)\bigr)=p_{\boldsymbol\theta}(\boldsymbol x_i)\bigl(1-p_{\boldsymbol\theta}(\boldsymbol x_i)\bigr)">
                <a:extLst>
                  <a:ext uri="{FF2B5EF4-FFF2-40B4-BE49-F238E27FC236}">
                    <a16:creationId xmlns:a16="http://schemas.microsoft.com/office/drawing/2014/main" id="{90014FD7-D585-4FC9-8E3E-6EB3ADFE9633}"/>
                  </a:ext>
                </a:extLst>
              </p:cNvPr>
              <p:cNvSpPr>
                <a:spLocks noGrp="1"/>
              </p:cNvSpPr>
              <p:nvPr/>
            </p:nvSpPr>
            <p:spPr>
              <a:xfrm>
                <a:off x="723900" y="5823347"/>
                <a:ext cx="107442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borderBox>
                        <m:borderBoxPr>
                          <m:ctrlPr>
                            <a:rPr lang="en-GB" sz="2400" i="1">
                              <a:solidFill>
                                <a:srgbClr val="0070C0"/>
                              </a:solidFill>
                              <a:latin typeface="Cambria Math" panose="02040503050406030204" pitchFamily="18" charset="0"/>
                              <a:ea typeface="Cambria Math"/>
                              <a:cs typeface="Cambria Math"/>
                            </a:rPr>
                          </m:ctrlPr>
                        </m:borderBoxPr>
                        <m:e>
                          <m:sSup>
                            <m:sSupPr>
                              <m:ctrlPr>
                                <a:rPr lang="en-GB" sz="2400">
                                  <a:solidFill>
                                    <a:srgbClr val="0070C0"/>
                                  </a:solidFill>
                                  <a:latin typeface="Cambria Math"/>
                                  <a:ea typeface="Cambria Math"/>
                                  <a:cs typeface="Cambria Math"/>
                                </a:rPr>
                              </m:ctrlPr>
                            </m:sSupPr>
                            <m:e>
                              <m:r>
                                <a:rPr lang="en-GB" sz="2400">
                                  <a:solidFill>
                                    <a:srgbClr val="0070C0"/>
                                  </a:solidFill>
                                  <a:latin typeface="Cambria Math"/>
                                  <a:ea typeface="Cambria Math"/>
                                  <a:cs typeface="Cambria Math"/>
                                </a:rPr>
                                <m:t>𝜎</m:t>
                              </m:r>
                            </m:e>
                            <m:sup>
                              <m:r>
                                <a:rPr lang="en-GB" sz="2400">
                                  <a:solidFill>
                                    <a:srgbClr val="0070C0"/>
                                  </a:solidFill>
                                  <a:latin typeface="Cambria Math"/>
                                  <a:ea typeface="Cambria Math"/>
                                  <a:cs typeface="Cambria Math"/>
                                </a:rPr>
                                <m:t>′</m:t>
                              </m:r>
                            </m:sup>
                          </m:sSup>
                          <m:d>
                            <m:dPr>
                              <m:ctrlPr>
                                <a:rPr lang="en-GB" sz="2400" i="1">
                                  <a:solidFill>
                                    <a:srgbClr val="0070C0"/>
                                  </a:solidFill>
                                  <a:latin typeface="Cambria Math" panose="02040503050406030204" pitchFamily="18" charset="0"/>
                                  <a:ea typeface="Cambria Math"/>
                                  <a:cs typeface="Cambria Math"/>
                                </a:rPr>
                              </m:ctrlPr>
                            </m:dPr>
                            <m:e>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𝑓</m:t>
                                  </m:r>
                                </m:e>
                                <m:sub>
                                  <m:r>
                                    <a:rPr lang="en-GB" sz="2400">
                                      <a:solidFill>
                                        <a:srgbClr val="0070C0"/>
                                      </a:solidFill>
                                      <a:latin typeface="Cambria Math"/>
                                      <a:ea typeface="Cambria Math"/>
                                      <a:cs typeface="Cambria Math"/>
                                    </a:rPr>
                                    <m:t>𝛉</m:t>
                                  </m:r>
                                </m:sub>
                              </m:sSub>
                              <m:d>
                                <m:dPr>
                                  <m:ctrlPr>
                                    <a:rPr lang="en-GB" sz="2400" i="1">
                                      <a:solidFill>
                                        <a:srgbClr val="0070C0"/>
                                      </a:solidFill>
                                      <a:latin typeface="Cambria Math" panose="02040503050406030204" pitchFamily="18" charset="0"/>
                                      <a:ea typeface="Cambria Math"/>
                                      <a:cs typeface="Cambria Math"/>
                                    </a:rPr>
                                  </m:ctrlPr>
                                </m:dPr>
                                <m:e>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𝐱</m:t>
                                      </m:r>
                                    </m:e>
                                    <m:sub>
                                      <m:r>
                                        <a:rPr lang="en-GB" sz="2400">
                                          <a:solidFill>
                                            <a:srgbClr val="0070C0"/>
                                          </a:solidFill>
                                          <a:latin typeface="Cambria Math"/>
                                          <a:ea typeface="Cambria Math"/>
                                          <a:cs typeface="Cambria Math"/>
                                        </a:rPr>
                                        <m:t>𝑖</m:t>
                                      </m:r>
                                    </m:sub>
                                  </m:sSub>
                                </m:e>
                              </m:d>
                            </m:e>
                          </m:d>
                          <m:r>
                            <a:rPr lang="it-IT" sz="2400" b="0" i="1" smtClean="0">
                              <a:solidFill>
                                <a:srgbClr val="0070C0"/>
                              </a:solidFill>
                              <a:latin typeface="Cambria Math" panose="02040503050406030204" pitchFamily="18" charset="0"/>
                              <a:ea typeface="Cambria Math"/>
                              <a:cs typeface="Cambria Math"/>
                            </a:rPr>
                            <m:t>=</m:t>
                          </m:r>
                          <m:r>
                            <a:rPr lang="en-GB" sz="2400" smtClean="0">
                              <a:solidFill>
                                <a:srgbClr val="0070C0"/>
                              </a:solidFill>
                              <a:latin typeface="Cambria Math"/>
                              <a:ea typeface="Cambria Math"/>
                              <a:cs typeface="Cambria Math"/>
                            </a:rPr>
                            <m:t>𝜎</m:t>
                          </m:r>
                          <m:d>
                            <m:dPr>
                              <m:ctrlPr>
                                <a:rPr lang="en-GB" sz="2400" i="1">
                                  <a:solidFill>
                                    <a:srgbClr val="0070C0"/>
                                  </a:solidFill>
                                  <a:latin typeface="Cambria Math" panose="02040503050406030204" pitchFamily="18" charset="0"/>
                                  <a:ea typeface="Cambria Math"/>
                                  <a:cs typeface="Cambria Math"/>
                                </a:rPr>
                              </m:ctrlPr>
                            </m:dPr>
                            <m:e>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𝑓</m:t>
                                  </m:r>
                                </m:e>
                                <m:sub>
                                  <m:r>
                                    <a:rPr lang="en-GB" sz="2400">
                                      <a:solidFill>
                                        <a:srgbClr val="0070C0"/>
                                      </a:solidFill>
                                      <a:latin typeface="Cambria Math"/>
                                      <a:ea typeface="Cambria Math"/>
                                      <a:cs typeface="Cambria Math"/>
                                    </a:rPr>
                                    <m:t>𝛉</m:t>
                                  </m:r>
                                </m:sub>
                              </m:sSub>
                              <m:d>
                                <m:dPr>
                                  <m:ctrlPr>
                                    <a:rPr lang="en-GB" sz="2400" i="1">
                                      <a:solidFill>
                                        <a:srgbClr val="0070C0"/>
                                      </a:solidFill>
                                      <a:latin typeface="Cambria Math" panose="02040503050406030204" pitchFamily="18" charset="0"/>
                                      <a:ea typeface="Cambria Math"/>
                                      <a:cs typeface="Cambria Math"/>
                                    </a:rPr>
                                  </m:ctrlPr>
                                </m:dPr>
                                <m:e>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𝐱</m:t>
                                      </m:r>
                                    </m:e>
                                    <m:sub>
                                      <m:r>
                                        <a:rPr lang="en-GB" sz="2400">
                                          <a:solidFill>
                                            <a:srgbClr val="0070C0"/>
                                          </a:solidFill>
                                          <a:latin typeface="Cambria Math"/>
                                          <a:ea typeface="Cambria Math"/>
                                          <a:cs typeface="Cambria Math"/>
                                        </a:rPr>
                                        <m:t>𝑖</m:t>
                                      </m:r>
                                    </m:sub>
                                  </m:sSub>
                                </m:e>
                              </m:d>
                            </m:e>
                          </m:d>
                          <m:d>
                            <m:dPr>
                              <m:ctrlPr>
                                <a:rPr lang="en-GB" sz="2400">
                                  <a:solidFill>
                                    <a:srgbClr val="0070C0"/>
                                  </a:solidFill>
                                  <a:latin typeface="Cambria Math"/>
                                  <a:ea typeface="Cambria Math"/>
                                  <a:cs typeface="Cambria Math"/>
                                </a:rPr>
                              </m:ctrlPr>
                            </m:dPr>
                            <m:e>
                              <m:r>
                                <a:rPr lang="en-GB" sz="2400">
                                  <a:solidFill>
                                    <a:srgbClr val="0070C0"/>
                                  </a:solidFill>
                                  <a:latin typeface="Cambria Math"/>
                                  <a:ea typeface="Cambria Math"/>
                                  <a:cs typeface="Cambria Math"/>
                                </a:rPr>
                                <m:t>1−</m:t>
                              </m:r>
                              <m:r>
                                <a:rPr lang="en-GB" sz="2400">
                                  <a:solidFill>
                                    <a:srgbClr val="0070C0"/>
                                  </a:solidFill>
                                  <a:latin typeface="Cambria Math"/>
                                  <a:ea typeface="Cambria Math"/>
                                  <a:cs typeface="Cambria Math"/>
                                </a:rPr>
                                <m:t>𝜎</m:t>
                              </m:r>
                              <m:d>
                                <m:dPr>
                                  <m:ctrlPr>
                                    <a:rPr lang="en-GB" sz="2400" i="1">
                                      <a:solidFill>
                                        <a:srgbClr val="0070C0"/>
                                      </a:solidFill>
                                      <a:latin typeface="Cambria Math" panose="02040503050406030204" pitchFamily="18" charset="0"/>
                                      <a:ea typeface="Cambria Math"/>
                                      <a:cs typeface="Cambria Math"/>
                                    </a:rPr>
                                  </m:ctrlPr>
                                </m:dPr>
                                <m:e>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𝑓</m:t>
                                      </m:r>
                                    </m:e>
                                    <m:sub>
                                      <m:r>
                                        <a:rPr lang="en-GB" sz="2400">
                                          <a:solidFill>
                                            <a:srgbClr val="0070C0"/>
                                          </a:solidFill>
                                          <a:latin typeface="Cambria Math"/>
                                          <a:ea typeface="Cambria Math"/>
                                          <a:cs typeface="Cambria Math"/>
                                        </a:rPr>
                                        <m:t>𝛉</m:t>
                                      </m:r>
                                    </m:sub>
                                  </m:sSub>
                                  <m:d>
                                    <m:dPr>
                                      <m:ctrlPr>
                                        <a:rPr lang="en-GB" sz="2400" i="1">
                                          <a:solidFill>
                                            <a:srgbClr val="0070C0"/>
                                          </a:solidFill>
                                          <a:latin typeface="Cambria Math" panose="02040503050406030204" pitchFamily="18" charset="0"/>
                                          <a:ea typeface="Cambria Math"/>
                                          <a:cs typeface="Cambria Math"/>
                                        </a:rPr>
                                      </m:ctrlPr>
                                    </m:dPr>
                                    <m:e>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𝐱</m:t>
                                          </m:r>
                                        </m:e>
                                        <m:sub>
                                          <m:r>
                                            <a:rPr lang="en-GB" sz="2400">
                                              <a:solidFill>
                                                <a:srgbClr val="0070C0"/>
                                              </a:solidFill>
                                              <a:latin typeface="Cambria Math"/>
                                              <a:ea typeface="Cambria Math"/>
                                              <a:cs typeface="Cambria Math"/>
                                            </a:rPr>
                                            <m:t>𝑖</m:t>
                                          </m:r>
                                        </m:sub>
                                      </m:sSub>
                                    </m:e>
                                  </m:d>
                                </m:e>
                              </m:d>
                            </m:e>
                          </m:d>
                          <m:r>
                            <a:rPr lang="en-GB" sz="2400">
                              <a:solidFill>
                                <a:srgbClr val="0070C0"/>
                              </a:solidFill>
                              <a:latin typeface="Cambria Math"/>
                              <a:ea typeface="Cambria Math"/>
                              <a:cs typeface="Cambria Math"/>
                            </a:rPr>
                            <m:t>=</m:t>
                          </m:r>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𝑝</m:t>
                              </m:r>
                            </m:e>
                            <m:sub>
                              <m:r>
                                <a:rPr lang="en-GB" sz="2400">
                                  <a:solidFill>
                                    <a:srgbClr val="0070C0"/>
                                  </a:solidFill>
                                  <a:latin typeface="Cambria Math"/>
                                  <a:ea typeface="Cambria Math"/>
                                  <a:cs typeface="Cambria Math"/>
                                </a:rPr>
                                <m:t>𝛉</m:t>
                              </m:r>
                            </m:sub>
                          </m:sSub>
                          <m:d>
                            <m:dPr>
                              <m:ctrlPr>
                                <a:rPr lang="en-GB" sz="2400" i="1">
                                  <a:solidFill>
                                    <a:srgbClr val="0070C0"/>
                                  </a:solidFill>
                                  <a:latin typeface="Cambria Math" panose="02040503050406030204" pitchFamily="18" charset="0"/>
                                  <a:ea typeface="Cambria Math"/>
                                  <a:cs typeface="Cambria Math"/>
                                </a:rPr>
                              </m:ctrlPr>
                            </m:dPr>
                            <m:e>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𝐱</m:t>
                                  </m:r>
                                </m:e>
                                <m:sub>
                                  <m:r>
                                    <a:rPr lang="en-GB" sz="2400">
                                      <a:solidFill>
                                        <a:srgbClr val="0070C0"/>
                                      </a:solidFill>
                                      <a:latin typeface="Cambria Math"/>
                                      <a:ea typeface="Cambria Math"/>
                                      <a:cs typeface="Cambria Math"/>
                                    </a:rPr>
                                    <m:t>𝑖</m:t>
                                  </m:r>
                                </m:sub>
                              </m:sSub>
                            </m:e>
                          </m:d>
                          <m:d>
                            <m:dPr>
                              <m:ctrlPr>
                                <a:rPr lang="en-GB" sz="2400">
                                  <a:solidFill>
                                    <a:srgbClr val="0070C0"/>
                                  </a:solidFill>
                                  <a:latin typeface="Cambria Math"/>
                                  <a:ea typeface="Cambria Math"/>
                                  <a:cs typeface="Cambria Math"/>
                                </a:rPr>
                              </m:ctrlPr>
                            </m:dPr>
                            <m:e>
                              <m:r>
                                <a:rPr lang="en-GB" sz="2400">
                                  <a:solidFill>
                                    <a:srgbClr val="0070C0"/>
                                  </a:solidFill>
                                  <a:latin typeface="Cambria Math"/>
                                  <a:ea typeface="Cambria Math"/>
                                  <a:cs typeface="Cambria Math"/>
                                </a:rPr>
                                <m:t>1−</m:t>
                              </m:r>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𝑝</m:t>
                                  </m:r>
                                </m:e>
                                <m:sub>
                                  <m:r>
                                    <a:rPr lang="en-GB" sz="2400">
                                      <a:solidFill>
                                        <a:srgbClr val="0070C0"/>
                                      </a:solidFill>
                                      <a:latin typeface="Cambria Math"/>
                                      <a:ea typeface="Cambria Math"/>
                                      <a:cs typeface="Cambria Math"/>
                                    </a:rPr>
                                    <m:t>𝛉</m:t>
                                  </m:r>
                                </m:sub>
                              </m:sSub>
                              <m:d>
                                <m:dPr>
                                  <m:ctrlPr>
                                    <a:rPr lang="en-GB" sz="2400" i="1">
                                      <a:solidFill>
                                        <a:srgbClr val="0070C0"/>
                                      </a:solidFill>
                                      <a:latin typeface="Cambria Math" panose="02040503050406030204" pitchFamily="18" charset="0"/>
                                      <a:ea typeface="Cambria Math"/>
                                      <a:cs typeface="Cambria Math"/>
                                    </a:rPr>
                                  </m:ctrlPr>
                                </m:dPr>
                                <m:e>
                                  <m:sSub>
                                    <m:sSubPr>
                                      <m:ctrlPr>
                                        <a:rPr lang="en-GB" sz="2400">
                                          <a:solidFill>
                                            <a:srgbClr val="0070C0"/>
                                          </a:solidFill>
                                          <a:latin typeface="Cambria Math"/>
                                          <a:ea typeface="Cambria Math"/>
                                          <a:cs typeface="Cambria Math"/>
                                        </a:rPr>
                                      </m:ctrlPr>
                                    </m:sSubPr>
                                    <m:e>
                                      <m:r>
                                        <a:rPr lang="en-GB" sz="2400">
                                          <a:solidFill>
                                            <a:srgbClr val="0070C0"/>
                                          </a:solidFill>
                                          <a:latin typeface="Cambria Math"/>
                                          <a:ea typeface="Cambria Math"/>
                                          <a:cs typeface="Cambria Math"/>
                                        </a:rPr>
                                        <m:t>𝐱</m:t>
                                      </m:r>
                                    </m:e>
                                    <m:sub>
                                      <m:r>
                                        <a:rPr lang="en-GB" sz="2400">
                                          <a:solidFill>
                                            <a:srgbClr val="0070C0"/>
                                          </a:solidFill>
                                          <a:latin typeface="Cambria Math"/>
                                          <a:ea typeface="Cambria Math"/>
                                          <a:cs typeface="Cambria Math"/>
                                        </a:rPr>
                                        <m:t>𝑖</m:t>
                                      </m:r>
                                    </m:sub>
                                  </m:sSub>
                                </m:e>
                              </m:d>
                            </m:e>
                          </m:d>
                        </m:e>
                      </m:borderBox>
                    </m:oMath>
                  </m:oMathPara>
                </a14:m>
                <a:endParaRPr lang="en-GB" sz="2550" dirty="0"/>
              </a:p>
            </p:txBody>
          </p:sp>
        </mc:Choice>
        <mc:Fallback xmlns="">
          <p:sp>
            <p:nvSpPr>
              <p:cNvPr id="17" name="step_4_observation" descr="\sigma'\bigl(f_{\boldsymbol\theta}(\boldsymbol x_i)\bigr)=p_{\boldsymbol\theta}(\boldsymbol x_i)\bigl(1-p_{\boldsymbol\theta}(\boldsymbol x_i)\bigr)">
                <a:extLst>
                  <a:ext uri="{FF2B5EF4-FFF2-40B4-BE49-F238E27FC236}">
                    <a16:creationId xmlns:a16="http://schemas.microsoft.com/office/drawing/2014/main" id="{90014FD7-D585-4FC9-8E3E-6EB3ADFE9633}"/>
                  </a:ext>
                </a:extLst>
              </p:cNvPr>
              <p:cNvSpPr>
                <a:spLocks noGrp="1" noRot="1" noChangeAspect="1" noMove="1" noResize="1" noEditPoints="1" noAdjustHandles="1" noChangeArrowheads="1" noChangeShapeType="1" noTextEdit="1"/>
              </p:cNvSpPr>
              <p:nvPr/>
            </p:nvSpPr>
            <p:spPr>
              <a:xfrm>
                <a:off x="723900" y="5823347"/>
                <a:ext cx="10744200" cy="381000"/>
              </a:xfrm>
              <a:prstGeom prst="rect">
                <a:avLst/>
              </a:prstGeom>
              <a:blipFill>
                <a:blip r:embed="rId10"/>
                <a:stretch>
                  <a:fillRect t="-30159" b="-38095"/>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74941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4C7385B8-AED5-43CD-8EF4-6558FD372B07}"/>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lang="it-IT" sz="3150" b="1" dirty="0">
                <a:solidFill>
                  <a:srgbClr val="182D45"/>
                </a:solidFill>
                <a:latin typeface="DejaVu Sans"/>
                <a:ea typeface="DejaVu Sans"/>
                <a:cs typeface="DejaVu Sans"/>
              </a:rPr>
              <a:t>Third term: Differentiating the affine score</a:t>
            </a:r>
            <a:endParaRPr sz="3150" b="1" dirty="0">
              <a:solidFill>
                <a:srgbClr val="182D45"/>
              </a:solidFill>
              <a:latin typeface="DejaVu Sans"/>
              <a:ea typeface="DejaVu Sans"/>
              <a:cs typeface="DejaVu Sans"/>
            </a:endParaRPr>
          </a:p>
        </p:txBody>
      </p:sp>
      <p:sp>
        <p:nvSpPr>
          <p:cNvPr id="2" name="lead">
            <a:extLst>
              <a:ext uri="{FF2B5EF4-FFF2-40B4-BE49-F238E27FC236}">
                <a16:creationId xmlns:a16="http://schemas.microsoft.com/office/drawing/2014/main" id="{04078715-04A8-470A-9DBA-D7B3176A85C8}"/>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The inputs are fixed, so only the matching parameter contributes.</a:t>
            </a:r>
          </a:p>
        </p:txBody>
      </p:sp>
      <p:sp>
        <p:nvSpPr>
          <p:cNvPr id="3" name="footer_course">
            <a:extLst>
              <a:ext uri="{FF2B5EF4-FFF2-40B4-BE49-F238E27FC236}">
                <a16:creationId xmlns:a16="http://schemas.microsoft.com/office/drawing/2014/main" id="{A7F87E61-912E-4A2A-A7A6-E1CA3E21D1D6}"/>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715C849C-DCF4-432A-A48C-076B2D64843C}"/>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26</a:t>
            </a:r>
          </a:p>
        </p:txBody>
      </p:sp>
      <p:sp>
        <p:nvSpPr>
          <p:cNvPr id="10" name="step_0_score_label">
            <a:extLst>
              <a:ext uri="{FF2B5EF4-FFF2-40B4-BE49-F238E27FC236}">
                <a16:creationId xmlns:a16="http://schemas.microsoft.com/office/drawing/2014/main" id="{DD5DD4D3-35A7-437F-8732-85D877808E47}"/>
              </a:ext>
            </a:extLst>
          </p:cNvPr>
          <p:cNvSpPr>
            <a:spLocks noGrp="1"/>
          </p:cNvSpPr>
          <p:nvPr/>
        </p:nvSpPr>
        <p:spPr>
          <a:xfrm>
            <a:off x="723900" y="1866900"/>
            <a:ext cx="5095875" cy="323850"/>
          </a:xfrm>
          <a:prstGeom prst="rect">
            <a:avLst/>
          </a:prstGeom>
          <a:noFill/>
          <a:ln w="0">
            <a:noFill/>
          </a:ln>
        </p:spPr>
        <p:txBody>
          <a:bodyPr wrap="square" lIns="0" tIns="0" rIns="0" bIns="0" anchor="ctr">
            <a:noAutofit/>
          </a:bodyPr>
          <a:lstStyle/>
          <a:p>
            <a:pPr algn="ctr">
              <a:lnSpc>
                <a:spcPct val="110000"/>
              </a:lnSpc>
              <a:buNone/>
              <a:defRPr sz="1875" b="1">
                <a:solidFill>
                  <a:srgbClr val="182D45"/>
                </a:solidFill>
                <a:latin typeface="DejaVu Sans"/>
                <a:ea typeface="DejaVu Sans"/>
                <a:cs typeface="DejaVu Sans"/>
              </a:defRPr>
            </a:pPr>
            <a:r>
              <a:rPr sz="1875" b="1" dirty="0">
                <a:solidFill>
                  <a:srgbClr val="182D45"/>
                </a:solidFill>
                <a:latin typeface="DejaVu Sans"/>
                <a:ea typeface="DejaVu Sans"/>
                <a:cs typeface="DejaVu Sans"/>
              </a:rPr>
              <a:t>The affine score</a:t>
            </a:r>
          </a:p>
        </p:txBody>
      </p:sp>
      <mc:AlternateContent xmlns:mc="http://schemas.openxmlformats.org/markup-compatibility/2006" xmlns:a14="http://schemas.microsoft.com/office/drawing/2010/main">
        <mc:Choice Requires="a14">
          <p:sp>
            <p:nvSpPr>
              <p:cNvPr id="11" name="step_0_score" descr="f_{\boldsymbol\theta}(\boldsymbol x_i)=\sum_{r=1}^{d+1}X_{ir}\theta_r">
                <a:extLst>
                  <a:ext uri="{FF2B5EF4-FFF2-40B4-BE49-F238E27FC236}">
                    <a16:creationId xmlns:a16="http://schemas.microsoft.com/office/drawing/2014/main" id="{A46E566E-3F83-4E03-93F6-1974EBD93831}"/>
                  </a:ext>
                </a:extLst>
              </p:cNvPr>
              <p:cNvSpPr>
                <a:spLocks noGrp="1"/>
              </p:cNvSpPr>
              <p:nvPr/>
            </p:nvSpPr>
            <p:spPr>
              <a:xfrm>
                <a:off x="723900" y="2333625"/>
                <a:ext cx="5095875" cy="1057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𝑓</m:t>
                          </m:r>
                        </m:e>
                        <m:sub>
                          <m:r>
                            <a:rPr lang="en-GB" sz="2700">
                              <a:solidFill>
                                <a:srgbClr val="087F83"/>
                              </a:solidFill>
                              <a:latin typeface="Cambria Math"/>
                              <a:ea typeface="Cambria Math"/>
                              <a:cs typeface="Cambria Math"/>
                            </a:rPr>
                            <m:t>𝛉</m:t>
                          </m:r>
                        </m:sub>
                      </m:sSub>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𝐱</m:t>
                          </m:r>
                        </m:e>
                        <m:sub>
                          <m:r>
                            <a:rPr lang="en-GB" sz="2700">
                              <a:solidFill>
                                <a:srgbClr val="087F83"/>
                              </a:solidFill>
                              <a:latin typeface="Cambria Math"/>
                              <a:ea typeface="Cambria Math"/>
                              <a:cs typeface="Cambria Math"/>
                            </a:rPr>
                            <m:t>𝑖</m:t>
                          </m:r>
                        </m:sub>
                      </m:sSub>
                      <m:r>
                        <a:rPr lang="en-GB" sz="2700">
                          <a:solidFill>
                            <a:srgbClr val="087F83"/>
                          </a:solidFill>
                          <a:latin typeface="Cambria Math"/>
                          <a:ea typeface="Cambria Math"/>
                          <a:cs typeface="Cambria Math"/>
                        </a:rPr>
                        <m:t>)=</m:t>
                      </m:r>
                      <m:nary>
                        <m:naryPr>
                          <m:chr m:val="∑"/>
                          <m:limLoc m:val="undOvr"/>
                          <m:ctrlPr>
                            <a:rPr lang="en-GB" sz="2700">
                              <a:solidFill>
                                <a:srgbClr val="087F83"/>
                              </a:solidFill>
                              <a:latin typeface="Cambria Math"/>
                              <a:ea typeface="Cambria Math"/>
                              <a:cs typeface="Cambria Math"/>
                            </a:rPr>
                          </m:ctrlPr>
                        </m:naryPr>
                        <m:sub>
                          <m:r>
                            <a:rPr lang="en-GB" sz="2700">
                              <a:solidFill>
                                <a:srgbClr val="087F83"/>
                              </a:solidFill>
                              <a:latin typeface="Cambria Math"/>
                              <a:ea typeface="Cambria Math"/>
                              <a:cs typeface="Cambria Math"/>
                            </a:rPr>
                            <m:t>𝑟</m:t>
                          </m:r>
                          <m:r>
                            <a:rPr lang="en-GB" sz="2700">
                              <a:solidFill>
                                <a:srgbClr val="087F83"/>
                              </a:solidFill>
                              <a:latin typeface="Cambria Math"/>
                              <a:ea typeface="Cambria Math"/>
                              <a:cs typeface="Cambria Math"/>
                            </a:rPr>
                            <m:t>=1</m:t>
                          </m:r>
                        </m:sub>
                        <m:sup>
                          <m:r>
                            <a:rPr lang="en-GB" sz="2700">
                              <a:solidFill>
                                <a:srgbClr val="087F83"/>
                              </a:solidFill>
                              <a:latin typeface="Cambria Math"/>
                              <a:ea typeface="Cambria Math"/>
                              <a:cs typeface="Cambria Math"/>
                            </a:rPr>
                            <m:t>𝑑</m:t>
                          </m:r>
                          <m:r>
                            <a:rPr lang="en-GB" sz="2700">
                              <a:solidFill>
                                <a:srgbClr val="087F83"/>
                              </a:solidFill>
                              <a:latin typeface="Cambria Math"/>
                              <a:ea typeface="Cambria Math"/>
                              <a:cs typeface="Cambria Math"/>
                            </a:rPr>
                            <m:t>+1</m:t>
                          </m:r>
                        </m:sup>
                        <m:e>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𝑋</m:t>
                              </m:r>
                            </m:e>
                            <m:sub>
                              <m:r>
                                <a:rPr lang="en-GB" sz="2700">
                                  <a:solidFill>
                                    <a:srgbClr val="087F83"/>
                                  </a:solidFill>
                                  <a:latin typeface="Cambria Math"/>
                                  <a:ea typeface="Cambria Math"/>
                                  <a:cs typeface="Cambria Math"/>
                                </a:rPr>
                                <m:t>𝑖𝑟</m:t>
                              </m:r>
                            </m:sub>
                          </m:sSub>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𝜃</m:t>
                              </m:r>
                            </m:e>
                            <m:sub>
                              <m:r>
                                <a:rPr lang="en-GB" sz="2700">
                                  <a:solidFill>
                                    <a:srgbClr val="087F83"/>
                                  </a:solidFill>
                                  <a:latin typeface="Cambria Math"/>
                                  <a:ea typeface="Cambria Math"/>
                                  <a:cs typeface="Cambria Math"/>
                                </a:rPr>
                                <m:t>𝑟</m:t>
                              </m:r>
                            </m:sub>
                          </m:sSub>
                        </m:e>
                      </m:nary>
                    </m:oMath>
                  </m:oMathPara>
                </a14:m>
                <a:endParaRPr lang="en-GB" sz="2700" dirty="0"/>
              </a:p>
            </p:txBody>
          </p:sp>
        </mc:Choice>
        <mc:Fallback xmlns="">
          <p:sp>
            <p:nvSpPr>
              <p:cNvPr id="11" name="step_0_score" descr="f_{\boldsymbol\theta}(\boldsymbol x_i)=\sum_{r=1}^{d+1}X_{ir}\theta_r">
                <a:extLst>
                  <a:ext uri="{FF2B5EF4-FFF2-40B4-BE49-F238E27FC236}">
                    <a16:creationId xmlns:a16="http://schemas.microsoft.com/office/drawing/2014/main" id="{A46E566E-3F83-4E03-93F6-1974EBD93831}"/>
                  </a:ext>
                </a:extLst>
              </p:cNvPr>
              <p:cNvSpPr>
                <a:spLocks noGrp="1" noRot="1" noChangeAspect="1" noMove="1" noResize="1" noEditPoints="1" noAdjustHandles="1" noChangeArrowheads="1" noChangeShapeType="1" noTextEdit="1"/>
              </p:cNvSpPr>
              <p:nvPr/>
            </p:nvSpPr>
            <p:spPr>
              <a:xfrm>
                <a:off x="723900" y="2333625"/>
                <a:ext cx="5095875" cy="1057275"/>
              </a:xfrm>
              <a:prstGeom prst="rect">
                <a:avLst/>
              </a:prstGeom>
              <a:blipFill>
                <a:blip r:embed="rId3"/>
                <a:stretch>
                  <a:fillRect t="-1156" b="-5202"/>
                </a:stretch>
              </a:blipFill>
              <a:ln w="0">
                <a:noFill/>
              </a:ln>
            </p:spPr>
            <p:txBody>
              <a:bodyPr/>
              <a:lstStyle/>
              <a:p>
                <a:r>
                  <a:rPr lang="it-IT">
                    <a:noFill/>
                  </a:rPr>
                  <a:t> </a:t>
                </a:r>
              </a:p>
            </p:txBody>
          </p:sp>
        </mc:Fallback>
      </mc:AlternateContent>
      <p:sp>
        <p:nvSpPr>
          <p:cNvPr id="12" name="step_1_delta_label">
            <a:extLst>
              <a:ext uri="{FF2B5EF4-FFF2-40B4-BE49-F238E27FC236}">
                <a16:creationId xmlns:a16="http://schemas.microsoft.com/office/drawing/2014/main" id="{E8631F34-25F8-49AD-8D6A-F2EE526B40F4}"/>
              </a:ext>
            </a:extLst>
          </p:cNvPr>
          <p:cNvSpPr>
            <a:spLocks noGrp="1"/>
          </p:cNvSpPr>
          <p:nvPr/>
        </p:nvSpPr>
        <p:spPr>
          <a:xfrm>
            <a:off x="6372225" y="1866900"/>
            <a:ext cx="5095875" cy="323850"/>
          </a:xfrm>
          <a:prstGeom prst="rect">
            <a:avLst/>
          </a:prstGeom>
          <a:noFill/>
          <a:ln w="0">
            <a:noFill/>
          </a:ln>
        </p:spPr>
        <p:txBody>
          <a:bodyPr wrap="square" lIns="0" tIns="0" rIns="0" bIns="0" anchor="ctr">
            <a:noAutofit/>
          </a:bodyPr>
          <a:lstStyle/>
          <a:p>
            <a:pPr algn="ctr">
              <a:lnSpc>
                <a:spcPct val="110000"/>
              </a:lnSpc>
              <a:buNone/>
              <a:defRPr sz="1875" b="1">
                <a:solidFill>
                  <a:srgbClr val="182D45"/>
                </a:solidFill>
                <a:latin typeface="DejaVu Sans"/>
                <a:ea typeface="DejaVu Sans"/>
                <a:cs typeface="DejaVu Sans"/>
              </a:defRPr>
            </a:pPr>
            <a:r>
              <a:rPr sz="1875" b="1" dirty="0">
                <a:solidFill>
                  <a:srgbClr val="182D45"/>
                </a:solidFill>
                <a:latin typeface="DejaVu Sans"/>
                <a:ea typeface="DejaVu Sans"/>
                <a:cs typeface="DejaVu Sans"/>
              </a:rPr>
              <a:t>The Kronecker delta</a:t>
            </a:r>
          </a:p>
        </p:txBody>
      </p:sp>
      <mc:AlternateContent xmlns:mc="http://schemas.openxmlformats.org/markup-compatibility/2006" xmlns:a14="http://schemas.microsoft.com/office/drawing/2010/main">
        <mc:Choice Requires="a14">
          <p:sp>
            <p:nvSpPr>
              <p:cNvPr id="13" name="step_1_delta" descr="\frac{\partial\theta_r}{\partial\theta_j}=\delta_{rj}=\begin{cases}1,&amp;r=j,\\0,&amp;r\ne j.\end{cases}">
                <a:extLst>
                  <a:ext uri="{FF2B5EF4-FFF2-40B4-BE49-F238E27FC236}">
                    <a16:creationId xmlns:a16="http://schemas.microsoft.com/office/drawing/2014/main" id="{E697E3BA-6284-46FC-AA5F-79A8A6FCDAC2}"/>
                  </a:ext>
                </a:extLst>
              </p:cNvPr>
              <p:cNvSpPr>
                <a:spLocks noGrp="1"/>
              </p:cNvSpPr>
              <p:nvPr/>
            </p:nvSpPr>
            <p:spPr>
              <a:xfrm>
                <a:off x="6372225" y="2333625"/>
                <a:ext cx="5095875" cy="1057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550">
                              <a:solidFill>
                                <a:srgbClr val="087F83"/>
                              </a:solidFill>
                              <a:latin typeface="Cambria Math"/>
                              <a:ea typeface="Cambria Math"/>
                              <a:cs typeface="Cambria Math"/>
                            </a:rPr>
                          </m:ctrlPr>
                        </m:fPr>
                        <m:num>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𝜃</m:t>
                              </m:r>
                            </m:e>
                            <m:sub>
                              <m:r>
                                <a:rPr lang="en-GB" sz="2550">
                                  <a:solidFill>
                                    <a:srgbClr val="087F83"/>
                                  </a:solidFill>
                                  <a:latin typeface="Cambria Math"/>
                                  <a:ea typeface="Cambria Math"/>
                                  <a:cs typeface="Cambria Math"/>
                                </a:rPr>
                                <m:t>𝑟</m:t>
                              </m:r>
                            </m:sub>
                          </m:sSub>
                        </m:num>
                        <m:den>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𝜃</m:t>
                              </m:r>
                            </m:e>
                            <m:sub>
                              <m:r>
                                <a:rPr lang="en-GB" sz="2550">
                                  <a:solidFill>
                                    <a:srgbClr val="087F83"/>
                                  </a:solidFill>
                                  <a:latin typeface="Cambria Math"/>
                                  <a:ea typeface="Cambria Math"/>
                                  <a:cs typeface="Cambria Math"/>
                                </a:rPr>
                                <m:t>𝑗</m:t>
                              </m:r>
                            </m:sub>
                          </m:sSub>
                        </m:den>
                      </m:f>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𝛿</m:t>
                          </m:r>
                        </m:e>
                        <m:sub>
                          <m:r>
                            <a:rPr lang="en-GB" sz="2550">
                              <a:solidFill>
                                <a:srgbClr val="087F83"/>
                              </a:solidFill>
                              <a:latin typeface="Cambria Math"/>
                              <a:ea typeface="Cambria Math"/>
                              <a:cs typeface="Cambria Math"/>
                            </a:rPr>
                            <m:t>𝑟𝑗</m:t>
                          </m:r>
                        </m:sub>
                      </m:sSub>
                      <m:r>
                        <a:rPr lang="en-GB" sz="2550">
                          <a:solidFill>
                            <a:srgbClr val="087F83"/>
                          </a:solidFill>
                          <a:latin typeface="Cambria Math"/>
                          <a:ea typeface="Cambria Math"/>
                          <a:cs typeface="Cambria Math"/>
                        </a:rPr>
                        <m:t>=</m:t>
                      </m:r>
                      <m:d>
                        <m:dPr>
                          <m:begChr m:val="{"/>
                          <m:endChr m:val=""/>
                          <m:ctrlPr>
                            <a:rPr lang="en-GB" sz="255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2550" i="1">
                                  <a:solidFill>
                                    <a:srgbClr val="087F83"/>
                                  </a:solidFill>
                                  <a:latin typeface="Cambria Math" panose="02040503050406030204" pitchFamily="18" charset="0"/>
                                  <a:ea typeface="Cambria Math"/>
                                  <a:cs typeface="Cambria Math"/>
                                </a:rPr>
                              </m:ctrlPr>
                            </m:mPr>
                            <m:mr>
                              <m:e>
                                <m:r>
                                  <a:rPr lang="en-GB" sz="2550">
                                    <a:solidFill>
                                      <a:srgbClr val="087F83"/>
                                    </a:solidFill>
                                    <a:latin typeface="Cambria Math"/>
                                    <a:ea typeface="Cambria Math"/>
                                    <a:cs typeface="Cambria Math"/>
                                  </a:rPr>
                                  <m:t>1,</m:t>
                                </m:r>
                              </m:e>
                              <m:e>
                                <m:r>
                                  <a:rPr lang="en-GB" sz="2550">
                                    <a:solidFill>
                                      <a:srgbClr val="087F83"/>
                                    </a:solidFill>
                                    <a:latin typeface="Cambria Math"/>
                                    <a:ea typeface="Cambria Math"/>
                                    <a:cs typeface="Cambria Math"/>
                                  </a:rPr>
                                  <m:t>𝑟</m:t>
                                </m:r>
                                <m:r>
                                  <a:rPr lang="en-GB" sz="2550">
                                    <a:solidFill>
                                      <a:srgbClr val="087F83"/>
                                    </a:solidFill>
                                    <a:latin typeface="Cambria Math"/>
                                    <a:ea typeface="Cambria Math"/>
                                    <a:cs typeface="Cambria Math"/>
                                  </a:rPr>
                                  <m:t>=</m:t>
                                </m:r>
                                <m:r>
                                  <a:rPr lang="en-GB" sz="2550">
                                    <a:solidFill>
                                      <a:srgbClr val="087F83"/>
                                    </a:solidFill>
                                    <a:latin typeface="Cambria Math"/>
                                    <a:ea typeface="Cambria Math"/>
                                    <a:cs typeface="Cambria Math"/>
                                  </a:rPr>
                                  <m:t>𝑗</m:t>
                                </m:r>
                                <m:r>
                                  <a:rPr lang="en-GB" sz="2550">
                                    <a:solidFill>
                                      <a:srgbClr val="087F83"/>
                                    </a:solidFill>
                                    <a:latin typeface="Cambria Math"/>
                                    <a:ea typeface="Cambria Math"/>
                                    <a:cs typeface="Cambria Math"/>
                                  </a:rPr>
                                  <m:t>,</m:t>
                                </m:r>
                              </m:e>
                            </m:mr>
                            <m:mr>
                              <m:e>
                                <m:r>
                                  <a:rPr lang="en-GB" sz="2550">
                                    <a:solidFill>
                                      <a:srgbClr val="087F83"/>
                                    </a:solidFill>
                                    <a:latin typeface="Cambria Math"/>
                                    <a:ea typeface="Cambria Math"/>
                                    <a:cs typeface="Cambria Math"/>
                                  </a:rPr>
                                  <m:t>0,</m:t>
                                </m:r>
                              </m:e>
                              <m:e>
                                <m:r>
                                  <a:rPr lang="en-GB" sz="2550">
                                    <a:solidFill>
                                      <a:srgbClr val="087F83"/>
                                    </a:solidFill>
                                    <a:latin typeface="Cambria Math"/>
                                    <a:ea typeface="Cambria Math"/>
                                    <a:cs typeface="Cambria Math"/>
                                  </a:rPr>
                                  <m:t>𝑟</m:t>
                                </m:r>
                                <m:r>
                                  <a:rPr lang="en-GB" sz="2550">
                                    <a:solidFill>
                                      <a:srgbClr val="087F83"/>
                                    </a:solidFill>
                                    <a:latin typeface="Cambria Math"/>
                                    <a:ea typeface="Cambria Math"/>
                                    <a:cs typeface="Cambria Math"/>
                                  </a:rPr>
                                  <m:t>≠</m:t>
                                </m:r>
                                <m:r>
                                  <a:rPr lang="en-GB" sz="2550">
                                    <a:solidFill>
                                      <a:srgbClr val="087F83"/>
                                    </a:solidFill>
                                    <a:latin typeface="Cambria Math"/>
                                    <a:ea typeface="Cambria Math"/>
                                    <a:cs typeface="Cambria Math"/>
                                  </a:rPr>
                                  <m:t>𝑗</m:t>
                                </m:r>
                                <m:r>
                                  <a:rPr lang="en-GB" sz="2550">
                                    <a:solidFill>
                                      <a:srgbClr val="087F83"/>
                                    </a:solidFill>
                                    <a:latin typeface="Cambria Math"/>
                                    <a:ea typeface="Cambria Math"/>
                                    <a:cs typeface="Cambria Math"/>
                                  </a:rPr>
                                  <m:t>.</m:t>
                                </m:r>
                              </m:e>
                            </m:mr>
                          </m:m>
                        </m:e>
                      </m:d>
                    </m:oMath>
                  </m:oMathPara>
                </a14:m>
                <a:endParaRPr lang="en-GB" sz="2550" dirty="0"/>
              </a:p>
            </p:txBody>
          </p:sp>
        </mc:Choice>
        <mc:Fallback xmlns="">
          <p:sp>
            <p:nvSpPr>
              <p:cNvPr id="13" name="step_1_delta" descr="\frac{\partial\theta_r}{\partial\theta_j}=\delta_{rj}=\begin{cases}1,&amp;r=j,\\0,&amp;r\ne j.\end{cases}">
                <a:extLst>
                  <a:ext uri="{FF2B5EF4-FFF2-40B4-BE49-F238E27FC236}">
                    <a16:creationId xmlns:a16="http://schemas.microsoft.com/office/drawing/2014/main" id="{E697E3BA-6284-46FC-AA5F-79A8A6FCDAC2}"/>
                  </a:ext>
                </a:extLst>
              </p:cNvPr>
              <p:cNvSpPr>
                <a:spLocks noGrp="1" noRot="1" noChangeAspect="1" noMove="1" noResize="1" noEditPoints="1" noAdjustHandles="1" noChangeArrowheads="1" noChangeShapeType="1" noTextEdit="1"/>
              </p:cNvSpPr>
              <p:nvPr/>
            </p:nvSpPr>
            <p:spPr>
              <a:xfrm>
                <a:off x="6372225" y="2333625"/>
                <a:ext cx="5095875" cy="10572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step_2_derivative" descr="\frac{\partial f_{\boldsymbol\theta}(\boldsymbol x_i)}{\partial\theta_j}=\frac{\partial}{\partial\theta_j}\sum_{r=1}^{d+1}X_{ir}\theta_r=\sum_{r=1}^{d+1}X_{ir}\frac{\partial\theta_r}{\partial\theta_j}">
                <a:extLst>
                  <a:ext uri="{FF2B5EF4-FFF2-40B4-BE49-F238E27FC236}">
                    <a16:creationId xmlns:a16="http://schemas.microsoft.com/office/drawing/2014/main" id="{769ECF09-3BBB-4558-9351-91D1CB570062}"/>
                  </a:ext>
                </a:extLst>
              </p:cNvPr>
              <p:cNvSpPr>
                <a:spLocks noGrp="1"/>
              </p:cNvSpPr>
              <p:nvPr/>
            </p:nvSpPr>
            <p:spPr>
              <a:xfrm>
                <a:off x="723900" y="3933825"/>
                <a:ext cx="10744200" cy="1085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700">
                              <a:solidFill>
                                <a:srgbClr val="087F83"/>
                              </a:solidFill>
                              <a:latin typeface="Cambria Math"/>
                              <a:ea typeface="Cambria Math"/>
                              <a:cs typeface="Cambria Math"/>
                            </a:rPr>
                          </m:ctrlPr>
                        </m:fPr>
                        <m:num>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𝑓</m:t>
                              </m:r>
                            </m:e>
                            <m:sub>
                              <m:r>
                                <a:rPr lang="en-GB" sz="2700">
                                  <a:solidFill>
                                    <a:srgbClr val="087F83"/>
                                  </a:solidFill>
                                  <a:latin typeface="Cambria Math"/>
                                  <a:ea typeface="Cambria Math"/>
                                  <a:cs typeface="Cambria Math"/>
                                </a:rPr>
                                <m:t>𝛉</m:t>
                              </m:r>
                            </m:sub>
                          </m:sSub>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𝐱</m:t>
                              </m:r>
                            </m:e>
                            <m:sub>
                              <m:r>
                                <a:rPr lang="en-GB" sz="2700">
                                  <a:solidFill>
                                    <a:srgbClr val="087F83"/>
                                  </a:solidFill>
                                  <a:latin typeface="Cambria Math"/>
                                  <a:ea typeface="Cambria Math"/>
                                  <a:cs typeface="Cambria Math"/>
                                </a:rPr>
                                <m:t>𝑖</m:t>
                              </m:r>
                            </m:sub>
                          </m:sSub>
                          <m:r>
                            <a:rPr lang="en-GB" sz="2700">
                              <a:solidFill>
                                <a:srgbClr val="087F83"/>
                              </a:solidFill>
                              <a:latin typeface="Cambria Math"/>
                              <a:ea typeface="Cambria Math"/>
                              <a:cs typeface="Cambria Math"/>
                            </a:rPr>
                            <m:t>)</m:t>
                          </m:r>
                        </m:num>
                        <m:den>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𝜃</m:t>
                              </m:r>
                            </m:e>
                            <m:sub>
                              <m:r>
                                <a:rPr lang="en-GB" sz="2700">
                                  <a:solidFill>
                                    <a:srgbClr val="087F83"/>
                                  </a:solidFill>
                                  <a:latin typeface="Cambria Math"/>
                                  <a:ea typeface="Cambria Math"/>
                                  <a:cs typeface="Cambria Math"/>
                                </a:rPr>
                                <m:t>𝑗</m:t>
                              </m:r>
                            </m:sub>
                          </m:sSub>
                        </m:den>
                      </m:f>
                      <m:r>
                        <a:rPr lang="en-GB" sz="2700">
                          <a:solidFill>
                            <a:srgbClr val="087F83"/>
                          </a:solidFill>
                          <a:latin typeface="Cambria Math"/>
                          <a:ea typeface="Cambria Math"/>
                          <a:cs typeface="Cambria Math"/>
                        </a:rPr>
                        <m:t>=</m:t>
                      </m:r>
                      <m:f>
                        <m:fPr>
                          <m:ctrlPr>
                            <a:rPr lang="en-GB" sz="2700">
                              <a:solidFill>
                                <a:srgbClr val="087F83"/>
                              </a:solidFill>
                              <a:latin typeface="Cambria Math"/>
                              <a:ea typeface="Cambria Math"/>
                              <a:cs typeface="Cambria Math"/>
                            </a:rPr>
                          </m:ctrlPr>
                        </m:fPr>
                        <m:num>
                          <m:r>
                            <a:rPr lang="en-GB" sz="2700">
                              <a:solidFill>
                                <a:srgbClr val="087F83"/>
                              </a:solidFill>
                              <a:latin typeface="Cambria Math"/>
                              <a:ea typeface="Cambria Math"/>
                              <a:cs typeface="Cambria Math"/>
                            </a:rPr>
                            <m:t>𝜕</m:t>
                          </m:r>
                        </m:num>
                        <m:den>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𝜃</m:t>
                              </m:r>
                            </m:e>
                            <m:sub>
                              <m:r>
                                <a:rPr lang="en-GB" sz="2700">
                                  <a:solidFill>
                                    <a:srgbClr val="087F83"/>
                                  </a:solidFill>
                                  <a:latin typeface="Cambria Math"/>
                                  <a:ea typeface="Cambria Math"/>
                                  <a:cs typeface="Cambria Math"/>
                                </a:rPr>
                                <m:t>𝑗</m:t>
                              </m:r>
                            </m:sub>
                          </m:sSub>
                        </m:den>
                      </m:f>
                      <m:nary>
                        <m:naryPr>
                          <m:chr m:val="∑"/>
                          <m:limLoc m:val="undOvr"/>
                          <m:ctrlPr>
                            <a:rPr lang="en-GB" sz="2700">
                              <a:solidFill>
                                <a:srgbClr val="087F83"/>
                              </a:solidFill>
                              <a:latin typeface="Cambria Math"/>
                              <a:ea typeface="Cambria Math"/>
                              <a:cs typeface="Cambria Math"/>
                            </a:rPr>
                          </m:ctrlPr>
                        </m:naryPr>
                        <m:sub>
                          <m:r>
                            <a:rPr lang="en-GB" sz="2700">
                              <a:solidFill>
                                <a:srgbClr val="087F83"/>
                              </a:solidFill>
                              <a:latin typeface="Cambria Math"/>
                              <a:ea typeface="Cambria Math"/>
                              <a:cs typeface="Cambria Math"/>
                            </a:rPr>
                            <m:t>𝑟</m:t>
                          </m:r>
                          <m:r>
                            <a:rPr lang="en-GB" sz="2700">
                              <a:solidFill>
                                <a:srgbClr val="087F83"/>
                              </a:solidFill>
                              <a:latin typeface="Cambria Math"/>
                              <a:ea typeface="Cambria Math"/>
                              <a:cs typeface="Cambria Math"/>
                            </a:rPr>
                            <m:t>=1</m:t>
                          </m:r>
                        </m:sub>
                        <m:sup>
                          <m:r>
                            <a:rPr lang="en-GB" sz="2700">
                              <a:solidFill>
                                <a:srgbClr val="087F83"/>
                              </a:solidFill>
                              <a:latin typeface="Cambria Math"/>
                              <a:ea typeface="Cambria Math"/>
                              <a:cs typeface="Cambria Math"/>
                            </a:rPr>
                            <m:t>𝑑</m:t>
                          </m:r>
                          <m:r>
                            <a:rPr lang="en-GB" sz="2700">
                              <a:solidFill>
                                <a:srgbClr val="087F83"/>
                              </a:solidFill>
                              <a:latin typeface="Cambria Math"/>
                              <a:ea typeface="Cambria Math"/>
                              <a:cs typeface="Cambria Math"/>
                            </a:rPr>
                            <m:t>+1</m:t>
                          </m:r>
                        </m:sup>
                        <m:e>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𝑋</m:t>
                              </m:r>
                            </m:e>
                            <m:sub>
                              <m:r>
                                <a:rPr lang="en-GB" sz="2700">
                                  <a:solidFill>
                                    <a:srgbClr val="087F83"/>
                                  </a:solidFill>
                                  <a:latin typeface="Cambria Math"/>
                                  <a:ea typeface="Cambria Math"/>
                                  <a:cs typeface="Cambria Math"/>
                                </a:rPr>
                                <m:t>𝑖𝑟</m:t>
                              </m:r>
                            </m:sub>
                          </m:sSub>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𝜃</m:t>
                              </m:r>
                            </m:e>
                            <m:sub>
                              <m:r>
                                <a:rPr lang="en-GB" sz="2700">
                                  <a:solidFill>
                                    <a:srgbClr val="087F83"/>
                                  </a:solidFill>
                                  <a:latin typeface="Cambria Math"/>
                                  <a:ea typeface="Cambria Math"/>
                                  <a:cs typeface="Cambria Math"/>
                                </a:rPr>
                                <m:t>𝑟</m:t>
                              </m:r>
                            </m:sub>
                          </m:sSub>
                        </m:e>
                      </m:nary>
                      <m:r>
                        <a:rPr lang="en-GB" sz="2700">
                          <a:solidFill>
                            <a:srgbClr val="087F83"/>
                          </a:solidFill>
                          <a:latin typeface="Cambria Math"/>
                          <a:ea typeface="Cambria Math"/>
                          <a:cs typeface="Cambria Math"/>
                        </a:rPr>
                        <m:t>=</m:t>
                      </m:r>
                      <m:nary>
                        <m:naryPr>
                          <m:chr m:val="∑"/>
                          <m:limLoc m:val="undOvr"/>
                          <m:ctrlPr>
                            <a:rPr lang="en-GB" sz="2700">
                              <a:solidFill>
                                <a:srgbClr val="087F83"/>
                              </a:solidFill>
                              <a:latin typeface="Cambria Math"/>
                              <a:ea typeface="Cambria Math"/>
                              <a:cs typeface="Cambria Math"/>
                            </a:rPr>
                          </m:ctrlPr>
                        </m:naryPr>
                        <m:sub>
                          <m:r>
                            <a:rPr lang="en-GB" sz="2700">
                              <a:solidFill>
                                <a:srgbClr val="087F83"/>
                              </a:solidFill>
                              <a:latin typeface="Cambria Math"/>
                              <a:ea typeface="Cambria Math"/>
                              <a:cs typeface="Cambria Math"/>
                            </a:rPr>
                            <m:t>𝑟</m:t>
                          </m:r>
                          <m:r>
                            <a:rPr lang="en-GB" sz="2700">
                              <a:solidFill>
                                <a:srgbClr val="087F83"/>
                              </a:solidFill>
                              <a:latin typeface="Cambria Math"/>
                              <a:ea typeface="Cambria Math"/>
                              <a:cs typeface="Cambria Math"/>
                            </a:rPr>
                            <m:t>=1</m:t>
                          </m:r>
                        </m:sub>
                        <m:sup>
                          <m:r>
                            <a:rPr lang="en-GB" sz="2700">
                              <a:solidFill>
                                <a:srgbClr val="087F83"/>
                              </a:solidFill>
                              <a:latin typeface="Cambria Math"/>
                              <a:ea typeface="Cambria Math"/>
                              <a:cs typeface="Cambria Math"/>
                            </a:rPr>
                            <m:t>𝑑</m:t>
                          </m:r>
                          <m:r>
                            <a:rPr lang="en-GB" sz="2700">
                              <a:solidFill>
                                <a:srgbClr val="087F83"/>
                              </a:solidFill>
                              <a:latin typeface="Cambria Math"/>
                              <a:ea typeface="Cambria Math"/>
                              <a:cs typeface="Cambria Math"/>
                            </a:rPr>
                            <m:t>+1</m:t>
                          </m:r>
                        </m:sup>
                        <m:e>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𝑋</m:t>
                              </m:r>
                            </m:e>
                            <m:sub>
                              <m:r>
                                <a:rPr lang="en-GB" sz="2700">
                                  <a:solidFill>
                                    <a:srgbClr val="087F83"/>
                                  </a:solidFill>
                                  <a:latin typeface="Cambria Math"/>
                                  <a:ea typeface="Cambria Math"/>
                                  <a:cs typeface="Cambria Math"/>
                                </a:rPr>
                                <m:t>𝑖𝑟</m:t>
                              </m:r>
                            </m:sub>
                          </m:sSub>
                          <m:f>
                            <m:fPr>
                              <m:ctrlPr>
                                <a:rPr lang="en-GB" sz="2700">
                                  <a:solidFill>
                                    <a:srgbClr val="087F83"/>
                                  </a:solidFill>
                                  <a:latin typeface="Cambria Math"/>
                                  <a:ea typeface="Cambria Math"/>
                                  <a:cs typeface="Cambria Math"/>
                                </a:rPr>
                              </m:ctrlPr>
                            </m:fPr>
                            <m:num>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𝜃</m:t>
                                  </m:r>
                                </m:e>
                                <m:sub>
                                  <m:r>
                                    <a:rPr lang="en-GB" sz="2700">
                                      <a:solidFill>
                                        <a:srgbClr val="087F83"/>
                                      </a:solidFill>
                                      <a:latin typeface="Cambria Math"/>
                                      <a:ea typeface="Cambria Math"/>
                                      <a:cs typeface="Cambria Math"/>
                                    </a:rPr>
                                    <m:t>𝑟</m:t>
                                  </m:r>
                                </m:sub>
                              </m:sSub>
                            </m:num>
                            <m:den>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𝜃</m:t>
                                  </m:r>
                                </m:e>
                                <m:sub>
                                  <m:r>
                                    <a:rPr lang="en-GB" sz="2700">
                                      <a:solidFill>
                                        <a:srgbClr val="087F83"/>
                                      </a:solidFill>
                                      <a:latin typeface="Cambria Math"/>
                                      <a:ea typeface="Cambria Math"/>
                                      <a:cs typeface="Cambria Math"/>
                                    </a:rPr>
                                    <m:t>𝑗</m:t>
                                  </m:r>
                                </m:sub>
                              </m:sSub>
                            </m:den>
                          </m:f>
                        </m:e>
                      </m:nary>
                      <m:r>
                        <a:rPr lang="en-GB" sz="2700" smtClean="0">
                          <a:solidFill>
                            <a:srgbClr val="087F83"/>
                          </a:solidFill>
                          <a:latin typeface="Cambria Math"/>
                          <a:ea typeface="Cambria Math"/>
                          <a:cs typeface="Cambria Math"/>
                        </a:rPr>
                        <m:t>=</m:t>
                      </m:r>
                      <m:nary>
                        <m:naryPr>
                          <m:chr m:val="∑"/>
                          <m:limLoc m:val="undOvr"/>
                          <m:ctrlPr>
                            <a:rPr lang="en-GB" sz="2700">
                              <a:solidFill>
                                <a:srgbClr val="087F83"/>
                              </a:solidFill>
                              <a:latin typeface="Cambria Math"/>
                              <a:ea typeface="Cambria Math"/>
                              <a:cs typeface="Cambria Math"/>
                            </a:rPr>
                          </m:ctrlPr>
                        </m:naryPr>
                        <m:sub>
                          <m:r>
                            <a:rPr lang="en-GB" sz="2700">
                              <a:solidFill>
                                <a:srgbClr val="087F83"/>
                              </a:solidFill>
                              <a:latin typeface="Cambria Math"/>
                              <a:ea typeface="Cambria Math"/>
                              <a:cs typeface="Cambria Math"/>
                            </a:rPr>
                            <m:t>𝑟</m:t>
                          </m:r>
                          <m:r>
                            <a:rPr lang="en-GB" sz="2700">
                              <a:solidFill>
                                <a:srgbClr val="087F83"/>
                              </a:solidFill>
                              <a:latin typeface="Cambria Math"/>
                              <a:ea typeface="Cambria Math"/>
                              <a:cs typeface="Cambria Math"/>
                            </a:rPr>
                            <m:t>=1</m:t>
                          </m:r>
                        </m:sub>
                        <m:sup>
                          <m:r>
                            <a:rPr lang="en-GB" sz="2700">
                              <a:solidFill>
                                <a:srgbClr val="087F83"/>
                              </a:solidFill>
                              <a:latin typeface="Cambria Math"/>
                              <a:ea typeface="Cambria Math"/>
                              <a:cs typeface="Cambria Math"/>
                            </a:rPr>
                            <m:t>𝑑</m:t>
                          </m:r>
                          <m:r>
                            <a:rPr lang="en-GB" sz="2700">
                              <a:solidFill>
                                <a:srgbClr val="087F83"/>
                              </a:solidFill>
                              <a:latin typeface="Cambria Math"/>
                              <a:ea typeface="Cambria Math"/>
                              <a:cs typeface="Cambria Math"/>
                            </a:rPr>
                            <m:t>+1</m:t>
                          </m:r>
                        </m:sup>
                        <m:e>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𝑋</m:t>
                              </m:r>
                            </m:e>
                            <m:sub>
                              <m:r>
                                <a:rPr lang="en-GB" sz="2700">
                                  <a:solidFill>
                                    <a:srgbClr val="087F83"/>
                                  </a:solidFill>
                                  <a:latin typeface="Cambria Math"/>
                                  <a:ea typeface="Cambria Math"/>
                                  <a:cs typeface="Cambria Math"/>
                                </a:rPr>
                                <m:t>𝑖𝑟</m:t>
                              </m:r>
                            </m:sub>
                          </m:sSub>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𝛿</m:t>
                              </m:r>
                            </m:e>
                            <m:sub>
                              <m:r>
                                <a:rPr lang="en-GB" sz="2700">
                                  <a:solidFill>
                                    <a:srgbClr val="087F83"/>
                                  </a:solidFill>
                                  <a:latin typeface="Cambria Math"/>
                                  <a:ea typeface="Cambria Math"/>
                                  <a:cs typeface="Cambria Math"/>
                                </a:rPr>
                                <m:t>𝑟𝑗</m:t>
                              </m:r>
                            </m:sub>
                          </m:sSub>
                        </m:e>
                      </m:nary>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𝑋</m:t>
                          </m:r>
                        </m:e>
                        <m:sub>
                          <m:r>
                            <a:rPr lang="en-GB" sz="2700">
                              <a:solidFill>
                                <a:srgbClr val="087F83"/>
                              </a:solidFill>
                              <a:latin typeface="Cambria Math"/>
                              <a:ea typeface="Cambria Math"/>
                              <a:cs typeface="Cambria Math"/>
                            </a:rPr>
                            <m:t>𝑖𝑗</m:t>
                          </m:r>
                        </m:sub>
                      </m:sSub>
                    </m:oMath>
                  </m:oMathPara>
                </a14:m>
                <a:endParaRPr lang="en-GB" sz="2700" dirty="0"/>
              </a:p>
            </p:txBody>
          </p:sp>
        </mc:Choice>
        <mc:Fallback xmlns="">
          <p:sp>
            <p:nvSpPr>
              <p:cNvPr id="14" name="step_2_derivative" descr="\frac{\partial f_{\boldsymbol\theta}(\boldsymbol x_i)}{\partial\theta_j}=\frac{\partial}{\partial\theta_j}\sum_{r=1}^{d+1}X_{ir}\theta_r=\sum_{r=1}^{d+1}X_{ir}\frac{\partial\theta_r}{\partial\theta_j}">
                <a:extLst>
                  <a:ext uri="{FF2B5EF4-FFF2-40B4-BE49-F238E27FC236}">
                    <a16:creationId xmlns:a16="http://schemas.microsoft.com/office/drawing/2014/main" id="{769ECF09-3BBB-4558-9351-91D1CB570062}"/>
                  </a:ext>
                </a:extLst>
              </p:cNvPr>
              <p:cNvSpPr>
                <a:spLocks noGrp="1" noRot="1" noChangeAspect="1" noMove="1" noResize="1" noEditPoints="1" noAdjustHandles="1" noChangeArrowheads="1" noChangeShapeType="1" noTextEdit="1"/>
              </p:cNvSpPr>
              <p:nvPr/>
            </p:nvSpPr>
            <p:spPr>
              <a:xfrm>
                <a:off x="723900" y="3933825"/>
                <a:ext cx="10744200" cy="1085850"/>
              </a:xfrm>
              <a:prstGeom prst="rect">
                <a:avLst/>
              </a:prstGeom>
              <a:blipFill>
                <a:blip r:embed="rId5"/>
                <a:stretch>
                  <a:fillRect b="-33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step_3_result" descr="=\sum_{r=1}^{d+1}X_{ir}\delta_{rj}=X_{ij},\qquad j=1,\ldots,d+1">
                <a:extLst>
                  <a:ext uri="{FF2B5EF4-FFF2-40B4-BE49-F238E27FC236}">
                    <a16:creationId xmlns:a16="http://schemas.microsoft.com/office/drawing/2014/main" id="{A8E96E37-636E-4386-AE7B-28262573D52A}"/>
                  </a:ext>
                </a:extLst>
              </p:cNvPr>
              <p:cNvSpPr>
                <a:spLocks noGrp="1"/>
              </p:cNvSpPr>
              <p:nvPr/>
            </p:nvSpPr>
            <p:spPr>
              <a:xfrm>
                <a:off x="723900" y="5362575"/>
                <a:ext cx="107442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borderBox>
                        <m:borderBoxPr>
                          <m:ctrlPr>
                            <a:rPr lang="en-GB" sz="2800" i="1">
                              <a:solidFill>
                                <a:srgbClr val="0070C0"/>
                              </a:solidFill>
                              <a:latin typeface="Cambria Math" panose="02040503050406030204" pitchFamily="18" charset="0"/>
                              <a:ea typeface="Cambria Math"/>
                              <a:cs typeface="Cambria Math"/>
                            </a:rPr>
                          </m:ctrlPr>
                        </m:borderBoxPr>
                        <m:e>
                          <m:f>
                            <m:fPr>
                              <m:ctrlPr>
                                <a:rPr lang="en-GB" sz="2800">
                                  <a:solidFill>
                                    <a:srgbClr val="0070C0"/>
                                  </a:solidFill>
                                  <a:latin typeface="Cambria Math"/>
                                  <a:ea typeface="Cambria Math"/>
                                  <a:cs typeface="Cambria Math"/>
                                </a:rPr>
                              </m:ctrlPr>
                            </m:fPr>
                            <m:num>
                              <m:r>
                                <a:rPr lang="en-GB" sz="2800">
                                  <a:solidFill>
                                    <a:srgbClr val="0070C0"/>
                                  </a:solidFill>
                                  <a:latin typeface="Cambria Math"/>
                                  <a:ea typeface="Cambria Math"/>
                                  <a:cs typeface="Cambria Math"/>
                                </a:rPr>
                                <m:t>𝜕</m:t>
                              </m:r>
                              <m:sSub>
                                <m:sSubPr>
                                  <m:ctrlPr>
                                    <a:rPr lang="en-GB" sz="2800">
                                      <a:solidFill>
                                        <a:srgbClr val="0070C0"/>
                                      </a:solidFill>
                                      <a:latin typeface="Cambria Math"/>
                                      <a:ea typeface="Cambria Math"/>
                                      <a:cs typeface="Cambria Math"/>
                                    </a:rPr>
                                  </m:ctrlPr>
                                </m:sSubPr>
                                <m:e>
                                  <m:r>
                                    <a:rPr lang="en-GB" sz="2800">
                                      <a:solidFill>
                                        <a:srgbClr val="0070C0"/>
                                      </a:solidFill>
                                      <a:latin typeface="Cambria Math"/>
                                      <a:ea typeface="Cambria Math"/>
                                      <a:cs typeface="Cambria Math"/>
                                    </a:rPr>
                                    <m:t>𝑓</m:t>
                                  </m:r>
                                </m:e>
                                <m:sub>
                                  <m:r>
                                    <a:rPr lang="en-GB" sz="2800">
                                      <a:solidFill>
                                        <a:srgbClr val="0070C0"/>
                                      </a:solidFill>
                                      <a:latin typeface="Cambria Math"/>
                                      <a:ea typeface="Cambria Math"/>
                                      <a:cs typeface="Cambria Math"/>
                                    </a:rPr>
                                    <m:t>𝛉</m:t>
                                  </m:r>
                                </m:sub>
                              </m:sSub>
                              <m:r>
                                <a:rPr lang="en-GB" sz="2800">
                                  <a:solidFill>
                                    <a:srgbClr val="0070C0"/>
                                  </a:solidFill>
                                  <a:latin typeface="Cambria Math"/>
                                  <a:ea typeface="Cambria Math"/>
                                  <a:cs typeface="Cambria Math"/>
                                </a:rPr>
                                <m:t>(</m:t>
                              </m:r>
                              <m:sSub>
                                <m:sSubPr>
                                  <m:ctrlPr>
                                    <a:rPr lang="en-GB" sz="2800">
                                      <a:solidFill>
                                        <a:srgbClr val="0070C0"/>
                                      </a:solidFill>
                                      <a:latin typeface="Cambria Math"/>
                                      <a:ea typeface="Cambria Math"/>
                                      <a:cs typeface="Cambria Math"/>
                                    </a:rPr>
                                  </m:ctrlPr>
                                </m:sSubPr>
                                <m:e>
                                  <m:r>
                                    <a:rPr lang="en-GB" sz="2800">
                                      <a:solidFill>
                                        <a:srgbClr val="0070C0"/>
                                      </a:solidFill>
                                      <a:latin typeface="Cambria Math"/>
                                      <a:ea typeface="Cambria Math"/>
                                      <a:cs typeface="Cambria Math"/>
                                    </a:rPr>
                                    <m:t>𝐱</m:t>
                                  </m:r>
                                </m:e>
                                <m:sub>
                                  <m:r>
                                    <a:rPr lang="en-GB" sz="2800">
                                      <a:solidFill>
                                        <a:srgbClr val="0070C0"/>
                                      </a:solidFill>
                                      <a:latin typeface="Cambria Math"/>
                                      <a:ea typeface="Cambria Math"/>
                                      <a:cs typeface="Cambria Math"/>
                                    </a:rPr>
                                    <m:t>𝑖</m:t>
                                  </m:r>
                                </m:sub>
                              </m:sSub>
                              <m:r>
                                <a:rPr lang="en-GB" sz="2800">
                                  <a:solidFill>
                                    <a:srgbClr val="0070C0"/>
                                  </a:solidFill>
                                  <a:latin typeface="Cambria Math"/>
                                  <a:ea typeface="Cambria Math"/>
                                  <a:cs typeface="Cambria Math"/>
                                </a:rPr>
                                <m:t>)</m:t>
                              </m:r>
                            </m:num>
                            <m:den>
                              <m:r>
                                <a:rPr lang="en-GB" sz="2800">
                                  <a:solidFill>
                                    <a:srgbClr val="0070C0"/>
                                  </a:solidFill>
                                  <a:latin typeface="Cambria Math"/>
                                  <a:ea typeface="Cambria Math"/>
                                  <a:cs typeface="Cambria Math"/>
                                </a:rPr>
                                <m:t>𝜕</m:t>
                              </m:r>
                              <m:sSub>
                                <m:sSubPr>
                                  <m:ctrlPr>
                                    <a:rPr lang="en-GB" sz="2800">
                                      <a:solidFill>
                                        <a:srgbClr val="0070C0"/>
                                      </a:solidFill>
                                      <a:latin typeface="Cambria Math"/>
                                      <a:ea typeface="Cambria Math"/>
                                      <a:cs typeface="Cambria Math"/>
                                    </a:rPr>
                                  </m:ctrlPr>
                                </m:sSubPr>
                                <m:e>
                                  <m:r>
                                    <a:rPr lang="en-GB" sz="2800">
                                      <a:solidFill>
                                        <a:srgbClr val="0070C0"/>
                                      </a:solidFill>
                                      <a:latin typeface="Cambria Math"/>
                                      <a:ea typeface="Cambria Math"/>
                                      <a:cs typeface="Cambria Math"/>
                                    </a:rPr>
                                    <m:t>𝜃</m:t>
                                  </m:r>
                                </m:e>
                                <m:sub>
                                  <m:r>
                                    <a:rPr lang="en-GB" sz="2800">
                                      <a:solidFill>
                                        <a:srgbClr val="0070C0"/>
                                      </a:solidFill>
                                      <a:latin typeface="Cambria Math"/>
                                      <a:ea typeface="Cambria Math"/>
                                      <a:cs typeface="Cambria Math"/>
                                    </a:rPr>
                                    <m:t>𝑗</m:t>
                                  </m:r>
                                </m:sub>
                              </m:sSub>
                            </m:den>
                          </m:f>
                          <m:r>
                            <a:rPr lang="en-GB" sz="2800">
                              <a:solidFill>
                                <a:srgbClr val="0070C0"/>
                              </a:solidFill>
                              <a:latin typeface="Cambria Math"/>
                              <a:ea typeface="Cambria Math"/>
                              <a:cs typeface="Cambria Math"/>
                            </a:rPr>
                            <m:t>=</m:t>
                          </m:r>
                          <m:sSub>
                            <m:sSubPr>
                              <m:ctrlPr>
                                <a:rPr lang="en-GB" sz="2800">
                                  <a:solidFill>
                                    <a:srgbClr val="0070C0"/>
                                  </a:solidFill>
                                  <a:latin typeface="Cambria Math"/>
                                  <a:ea typeface="Cambria Math"/>
                                  <a:cs typeface="Cambria Math"/>
                                </a:rPr>
                              </m:ctrlPr>
                            </m:sSubPr>
                            <m:e>
                              <m:r>
                                <a:rPr lang="en-GB" sz="2800">
                                  <a:solidFill>
                                    <a:srgbClr val="0070C0"/>
                                  </a:solidFill>
                                  <a:latin typeface="Cambria Math"/>
                                  <a:ea typeface="Cambria Math"/>
                                  <a:cs typeface="Cambria Math"/>
                                </a:rPr>
                                <m:t>𝑋</m:t>
                              </m:r>
                            </m:e>
                            <m:sub>
                              <m:r>
                                <a:rPr lang="en-GB" sz="2800">
                                  <a:solidFill>
                                    <a:srgbClr val="0070C0"/>
                                  </a:solidFill>
                                  <a:latin typeface="Cambria Math"/>
                                  <a:ea typeface="Cambria Math"/>
                                  <a:cs typeface="Cambria Math"/>
                                </a:rPr>
                                <m:t>𝑖𝑗</m:t>
                              </m:r>
                            </m:sub>
                          </m:sSub>
                        </m:e>
                      </m:borderBox>
                      <m:r>
                        <a:rPr lang="en-GB" sz="2700">
                          <a:solidFill>
                            <a:srgbClr val="0070C0"/>
                          </a:solidFill>
                          <a:latin typeface="Cambria Math"/>
                          <a:ea typeface="Cambria Math"/>
                          <a:cs typeface="Cambria Math"/>
                        </a:rPr>
                        <m:t>  </m:t>
                      </m:r>
                      <m:r>
                        <a:rPr lang="en-GB" sz="2700">
                          <a:solidFill>
                            <a:srgbClr val="0070C0"/>
                          </a:solidFill>
                          <a:latin typeface="Cambria Math"/>
                          <a:ea typeface="Cambria Math"/>
                          <a:cs typeface="Cambria Math"/>
                        </a:rPr>
                        <m:t>𝑗</m:t>
                      </m:r>
                      <m:r>
                        <a:rPr lang="en-GB" sz="2700">
                          <a:solidFill>
                            <a:srgbClr val="0070C0"/>
                          </a:solidFill>
                          <a:latin typeface="Cambria Math"/>
                          <a:ea typeface="Cambria Math"/>
                          <a:cs typeface="Cambria Math"/>
                        </a:rPr>
                        <m:t>=1,…,</m:t>
                      </m:r>
                      <m:r>
                        <a:rPr lang="en-GB" sz="2700">
                          <a:solidFill>
                            <a:srgbClr val="0070C0"/>
                          </a:solidFill>
                          <a:latin typeface="Cambria Math"/>
                          <a:ea typeface="Cambria Math"/>
                          <a:cs typeface="Cambria Math"/>
                        </a:rPr>
                        <m:t>𝑑</m:t>
                      </m:r>
                      <m:r>
                        <a:rPr lang="en-GB" sz="2700">
                          <a:solidFill>
                            <a:srgbClr val="0070C0"/>
                          </a:solidFill>
                          <a:latin typeface="Cambria Math"/>
                          <a:ea typeface="Cambria Math"/>
                          <a:cs typeface="Cambria Math"/>
                        </a:rPr>
                        <m:t>+1</m:t>
                      </m:r>
                    </m:oMath>
                  </m:oMathPara>
                </a14:m>
                <a:endParaRPr lang="en-GB" sz="2700" dirty="0"/>
              </a:p>
            </p:txBody>
          </p:sp>
        </mc:Choice>
        <mc:Fallback xmlns="">
          <p:sp>
            <p:nvSpPr>
              <p:cNvPr id="15" name="step_3_result" descr="=\sum_{r=1}^{d+1}X_{ir}\delta_{rj}=X_{ij},\qquad j=1,\ldots,d+1">
                <a:extLst>
                  <a:ext uri="{FF2B5EF4-FFF2-40B4-BE49-F238E27FC236}">
                    <a16:creationId xmlns:a16="http://schemas.microsoft.com/office/drawing/2014/main" id="{A8E96E37-636E-4386-AE7B-28262573D52A}"/>
                  </a:ext>
                </a:extLst>
              </p:cNvPr>
              <p:cNvSpPr>
                <a:spLocks noGrp="1" noRot="1" noChangeAspect="1" noMove="1" noResize="1" noEditPoints="1" noAdjustHandles="1" noChangeArrowheads="1" noChangeShapeType="1" noTextEdit="1"/>
              </p:cNvSpPr>
              <p:nvPr/>
            </p:nvSpPr>
            <p:spPr>
              <a:xfrm>
                <a:off x="723900" y="5362575"/>
                <a:ext cx="10744200" cy="952500"/>
              </a:xfrm>
              <a:prstGeom prst="rect">
                <a:avLst/>
              </a:prstGeom>
              <a:blipFill>
                <a:blip r:embed="rId6"/>
                <a:stretch>
                  <a:fillRect t="-4487" b="-6410"/>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2074280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96C6C88C-C84C-409F-88B5-05DC164A90CD}"/>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Putting the three terms together</a:t>
            </a:r>
          </a:p>
        </p:txBody>
      </p:sp>
      <p:sp>
        <p:nvSpPr>
          <p:cNvPr id="2" name="lead">
            <a:extLst>
              <a:ext uri="{FF2B5EF4-FFF2-40B4-BE49-F238E27FC236}">
                <a16:creationId xmlns:a16="http://schemas.microsoft.com/office/drawing/2014/main" id="{5B542F65-C04C-463E-808E-6A00652D5B5B}"/>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Substitute the first, second and third terms into the chain rule.</a:t>
            </a:r>
          </a:p>
        </p:txBody>
      </p:sp>
      <p:sp>
        <p:nvSpPr>
          <p:cNvPr id="3" name="footer_course">
            <a:extLst>
              <a:ext uri="{FF2B5EF4-FFF2-40B4-BE49-F238E27FC236}">
                <a16:creationId xmlns:a16="http://schemas.microsoft.com/office/drawing/2014/main" id="{64E76BD5-95E5-4A58-A9AE-FA7CA5A404B7}"/>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6FE3D5B7-55D7-48C5-B2EA-A568AD05A40E}"/>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27</a:t>
            </a:r>
          </a:p>
        </p:txBody>
      </p:sp>
      <mc:AlternateContent xmlns:mc="http://schemas.openxmlformats.org/markup-compatibility/2006" xmlns:a14="http://schemas.microsoft.com/office/drawing/2010/main">
        <mc:Choice Requires="a14">
          <p:sp>
            <p:nvSpPr>
              <p:cNvPr id="9" name="step_0_quantity" descr="\frac{\partial}{\partial\theta_j}\ell_{\log}\bigl(p_{\boldsymbol\theta}(\boldsymbol x_i),y_i\bigr)">
                <a:extLst>
                  <a:ext uri="{FF2B5EF4-FFF2-40B4-BE49-F238E27FC236}">
                    <a16:creationId xmlns:a16="http://schemas.microsoft.com/office/drawing/2014/main" id="{7028158F-C520-4794-AB7C-CE5AEBE1C7E1}"/>
                  </a:ext>
                </a:extLst>
              </p:cNvPr>
              <p:cNvSpPr>
                <a:spLocks noGrp="1"/>
              </p:cNvSpPr>
              <p:nvPr/>
            </p:nvSpPr>
            <p:spPr>
              <a:xfrm>
                <a:off x="723900" y="1759597"/>
                <a:ext cx="10744200" cy="8763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900">
                              <a:solidFill>
                                <a:srgbClr val="326CB2"/>
                              </a:solidFill>
                              <a:latin typeface="Cambria Math"/>
                              <a:ea typeface="Cambria Math"/>
                              <a:cs typeface="Cambria Math"/>
                            </a:rPr>
                          </m:ctrlPr>
                        </m:fPr>
                        <m:num>
                          <m:r>
                            <a:rPr lang="en-GB" sz="2900">
                              <a:solidFill>
                                <a:srgbClr val="326CB2"/>
                              </a:solidFill>
                              <a:latin typeface="Cambria Math"/>
                              <a:ea typeface="Cambria Math"/>
                              <a:cs typeface="Cambria Math"/>
                            </a:rPr>
                            <m:t>𝜕</m:t>
                          </m:r>
                        </m:num>
                        <m:den>
                          <m:r>
                            <a:rPr lang="en-GB" sz="2900">
                              <a:solidFill>
                                <a:srgbClr val="326CB2"/>
                              </a:solidFill>
                              <a:latin typeface="Cambria Math"/>
                              <a:ea typeface="Cambria Math"/>
                              <a:cs typeface="Cambria Math"/>
                            </a:rPr>
                            <m:t>𝜕</m:t>
                          </m:r>
                          <m:sSub>
                            <m:sSubPr>
                              <m:ctrlPr>
                                <a:rPr lang="en-GB" sz="2900">
                                  <a:solidFill>
                                    <a:srgbClr val="326CB2"/>
                                  </a:solidFill>
                                  <a:latin typeface="Cambria Math"/>
                                  <a:ea typeface="Cambria Math"/>
                                  <a:cs typeface="Cambria Math"/>
                                </a:rPr>
                              </m:ctrlPr>
                            </m:sSubPr>
                            <m:e>
                              <m:r>
                                <a:rPr lang="en-GB" sz="2900">
                                  <a:solidFill>
                                    <a:srgbClr val="326CB2"/>
                                  </a:solidFill>
                                  <a:latin typeface="Cambria Math"/>
                                  <a:ea typeface="Cambria Math"/>
                                  <a:cs typeface="Cambria Math"/>
                                </a:rPr>
                                <m:t>𝜃</m:t>
                              </m:r>
                            </m:e>
                            <m:sub>
                              <m:r>
                                <a:rPr lang="en-GB" sz="2900">
                                  <a:solidFill>
                                    <a:srgbClr val="326CB2"/>
                                  </a:solidFill>
                                  <a:latin typeface="Cambria Math"/>
                                  <a:ea typeface="Cambria Math"/>
                                  <a:cs typeface="Cambria Math"/>
                                </a:rPr>
                                <m:t>𝑗</m:t>
                              </m:r>
                            </m:sub>
                          </m:sSub>
                        </m:den>
                      </m:f>
                      <m:sSub>
                        <m:sSubPr>
                          <m:ctrlPr>
                            <a:rPr lang="en-GB" sz="2900">
                              <a:solidFill>
                                <a:srgbClr val="326CB2"/>
                              </a:solidFill>
                              <a:latin typeface="Cambria Math"/>
                              <a:ea typeface="Cambria Math"/>
                              <a:cs typeface="Cambria Math"/>
                            </a:rPr>
                          </m:ctrlPr>
                        </m:sSubPr>
                        <m:e>
                          <m:r>
                            <m:rPr>
                              <m:sty m:val="p"/>
                            </m:rPr>
                            <a:rPr lang="en-GB" sz="2900">
                              <a:solidFill>
                                <a:srgbClr val="326CB2"/>
                              </a:solidFill>
                              <a:latin typeface="Cambria Math"/>
                              <a:ea typeface="Cambria Math"/>
                              <a:cs typeface="Cambria Math"/>
                            </a:rPr>
                            <m:t>ℓ</m:t>
                          </m:r>
                        </m:e>
                        <m:sub>
                          <m:r>
                            <m:rPr>
                              <m:sty m:val="p"/>
                            </m:rPr>
                            <a:rPr lang="en-GB" sz="2900">
                              <a:solidFill>
                                <a:srgbClr val="326CB2"/>
                              </a:solidFill>
                              <a:latin typeface="Cambria Math"/>
                              <a:ea typeface="Cambria Math"/>
                              <a:cs typeface="Cambria Math"/>
                            </a:rPr>
                            <m:t>log</m:t>
                          </m:r>
                        </m:sub>
                      </m:sSub>
                      <m:d>
                        <m:dPr>
                          <m:ctrlPr>
                            <a:rPr lang="en-GB" sz="2900" i="1">
                              <a:solidFill>
                                <a:srgbClr val="326CB2"/>
                              </a:solidFill>
                              <a:latin typeface="Cambria Math" panose="02040503050406030204" pitchFamily="18" charset="0"/>
                              <a:ea typeface="Cambria Math"/>
                              <a:cs typeface="Cambria Math"/>
                            </a:rPr>
                          </m:ctrlPr>
                        </m:dPr>
                        <m:e>
                          <m:sSub>
                            <m:sSubPr>
                              <m:ctrlPr>
                                <a:rPr lang="en-GB" sz="2900">
                                  <a:solidFill>
                                    <a:srgbClr val="326CB2"/>
                                  </a:solidFill>
                                  <a:latin typeface="Cambria Math"/>
                                  <a:ea typeface="Cambria Math"/>
                                  <a:cs typeface="Cambria Math"/>
                                </a:rPr>
                              </m:ctrlPr>
                            </m:sSubPr>
                            <m:e>
                              <m:r>
                                <a:rPr lang="en-GB" sz="2900">
                                  <a:solidFill>
                                    <a:srgbClr val="326CB2"/>
                                  </a:solidFill>
                                  <a:latin typeface="Cambria Math"/>
                                  <a:ea typeface="Cambria Math"/>
                                  <a:cs typeface="Cambria Math"/>
                                </a:rPr>
                                <m:t>𝑝</m:t>
                              </m:r>
                            </m:e>
                            <m:sub>
                              <m:r>
                                <a:rPr lang="en-GB" sz="2900">
                                  <a:solidFill>
                                    <a:srgbClr val="326CB2"/>
                                  </a:solidFill>
                                  <a:latin typeface="Cambria Math"/>
                                  <a:ea typeface="Cambria Math"/>
                                  <a:cs typeface="Cambria Math"/>
                                </a:rPr>
                                <m:t>𝛉</m:t>
                              </m:r>
                            </m:sub>
                          </m:sSub>
                          <m:d>
                            <m:dPr>
                              <m:ctrlPr>
                                <a:rPr lang="en-GB" sz="2900" i="1">
                                  <a:solidFill>
                                    <a:srgbClr val="326CB2"/>
                                  </a:solidFill>
                                  <a:latin typeface="Cambria Math" panose="02040503050406030204" pitchFamily="18" charset="0"/>
                                  <a:ea typeface="Cambria Math"/>
                                  <a:cs typeface="Cambria Math"/>
                                </a:rPr>
                              </m:ctrlPr>
                            </m:dPr>
                            <m:e>
                              <m:sSub>
                                <m:sSubPr>
                                  <m:ctrlPr>
                                    <a:rPr lang="en-GB" sz="2900">
                                      <a:solidFill>
                                        <a:srgbClr val="326CB2"/>
                                      </a:solidFill>
                                      <a:latin typeface="Cambria Math"/>
                                      <a:ea typeface="Cambria Math"/>
                                      <a:cs typeface="Cambria Math"/>
                                    </a:rPr>
                                  </m:ctrlPr>
                                </m:sSubPr>
                                <m:e>
                                  <m:r>
                                    <a:rPr lang="en-GB" sz="2900">
                                      <a:solidFill>
                                        <a:srgbClr val="326CB2"/>
                                      </a:solidFill>
                                      <a:latin typeface="Cambria Math"/>
                                      <a:ea typeface="Cambria Math"/>
                                      <a:cs typeface="Cambria Math"/>
                                    </a:rPr>
                                    <m:t>𝐱</m:t>
                                  </m:r>
                                </m:e>
                                <m:sub>
                                  <m:r>
                                    <a:rPr lang="en-GB" sz="2900">
                                      <a:solidFill>
                                        <a:srgbClr val="326CB2"/>
                                      </a:solidFill>
                                      <a:latin typeface="Cambria Math"/>
                                      <a:ea typeface="Cambria Math"/>
                                      <a:cs typeface="Cambria Math"/>
                                    </a:rPr>
                                    <m:t>𝑖</m:t>
                                  </m:r>
                                </m:sub>
                              </m:sSub>
                            </m:e>
                          </m:d>
                          <m:r>
                            <a:rPr lang="en-GB" sz="2900">
                              <a:solidFill>
                                <a:srgbClr val="326CB2"/>
                              </a:solidFill>
                              <a:latin typeface="Cambria Math"/>
                              <a:ea typeface="Cambria Math"/>
                              <a:cs typeface="Cambria Math"/>
                            </a:rPr>
                            <m:t>,</m:t>
                          </m:r>
                          <m:sSub>
                            <m:sSubPr>
                              <m:ctrlPr>
                                <a:rPr lang="en-GB" sz="2900">
                                  <a:solidFill>
                                    <a:srgbClr val="326CB2"/>
                                  </a:solidFill>
                                  <a:latin typeface="Cambria Math"/>
                                  <a:ea typeface="Cambria Math"/>
                                  <a:cs typeface="Cambria Math"/>
                                </a:rPr>
                              </m:ctrlPr>
                            </m:sSubPr>
                            <m:e>
                              <m:r>
                                <a:rPr lang="en-GB" sz="2900">
                                  <a:solidFill>
                                    <a:srgbClr val="326CB2"/>
                                  </a:solidFill>
                                  <a:latin typeface="Cambria Math"/>
                                  <a:ea typeface="Cambria Math"/>
                                  <a:cs typeface="Cambria Math"/>
                                </a:rPr>
                                <m:t>𝑦</m:t>
                              </m:r>
                            </m:e>
                            <m:sub>
                              <m:r>
                                <a:rPr lang="en-GB" sz="2900">
                                  <a:solidFill>
                                    <a:srgbClr val="326CB2"/>
                                  </a:solidFill>
                                  <a:latin typeface="Cambria Math"/>
                                  <a:ea typeface="Cambria Math"/>
                                  <a:cs typeface="Cambria Math"/>
                                </a:rPr>
                                <m:t>𝑖</m:t>
                              </m:r>
                            </m:sub>
                          </m:sSub>
                        </m:e>
                      </m:d>
                    </m:oMath>
                  </m:oMathPara>
                </a14:m>
                <a:endParaRPr lang="en-GB" sz="2900" dirty="0"/>
              </a:p>
            </p:txBody>
          </p:sp>
        </mc:Choice>
        <mc:Fallback xmlns="">
          <p:sp>
            <p:nvSpPr>
              <p:cNvPr id="9" name="step_0_quantity" descr="\frac{\partial}{\partial\theta_j}\ell_{\log}\bigl(p_{\boldsymbol\theta}(\boldsymbol x_i),y_i\bigr)">
                <a:extLst>
                  <a:ext uri="{FF2B5EF4-FFF2-40B4-BE49-F238E27FC236}">
                    <a16:creationId xmlns:a16="http://schemas.microsoft.com/office/drawing/2014/main" id="{7028158F-C520-4794-AB7C-CE5AEBE1C7E1}"/>
                  </a:ext>
                </a:extLst>
              </p:cNvPr>
              <p:cNvSpPr>
                <a:spLocks noGrp="1" noRot="1" noChangeAspect="1" noMove="1" noResize="1" noEditPoints="1" noAdjustHandles="1" noChangeArrowheads="1" noChangeShapeType="1" noTextEdit="1"/>
              </p:cNvSpPr>
              <p:nvPr/>
            </p:nvSpPr>
            <p:spPr>
              <a:xfrm>
                <a:off x="723900" y="1759597"/>
                <a:ext cx="10744200" cy="876300"/>
              </a:xfrm>
              <a:prstGeom prst="rect">
                <a:avLst/>
              </a:prstGeom>
              <a:blipFill>
                <a:blip r:embed="rId3"/>
                <a:stretch>
                  <a:fillRect b="-489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step_1_product" descr="=\frac{p_{\boldsymbol\theta}(\boldsymbol x_i)-y_i}{p_{\boldsymbol\theta}(\boldsymbol x_i)\bigl(1-p_{\boldsymbol\theta}(\boldsymbol x_i)\bigr)}\cdot p_{\boldsymbol\theta}(\boldsymbol x_i)\bigl(1-p_{\boldsymbol\theta}(\boldsymbol x_i)\bigr)\cdot X_{ij}">
                <a:extLst>
                  <a:ext uri="{FF2B5EF4-FFF2-40B4-BE49-F238E27FC236}">
                    <a16:creationId xmlns:a16="http://schemas.microsoft.com/office/drawing/2014/main" id="{FD4CBBE7-56DE-4AD4-A7CE-CEAEE9B9D156}"/>
                  </a:ext>
                </a:extLst>
              </p:cNvPr>
              <p:cNvSpPr>
                <a:spLocks noGrp="1"/>
              </p:cNvSpPr>
              <p:nvPr/>
            </p:nvSpPr>
            <p:spPr>
              <a:xfrm>
                <a:off x="723900" y="4117328"/>
                <a:ext cx="10744200" cy="1104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smtClean="0">
                          <a:solidFill>
                            <a:srgbClr val="087F83"/>
                          </a:solidFill>
                          <a:latin typeface="Cambria Math"/>
                          <a:ea typeface="Cambria Math"/>
                          <a:cs typeface="Cambria Math"/>
                        </a:rPr>
                        <m:t>=</m:t>
                      </m:r>
                      <m:limLow>
                        <m:limLowPr>
                          <m:ctrlPr>
                            <a:rPr lang="en-GB" sz="280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2800" i="1">
                                  <a:solidFill>
                                    <a:srgbClr val="087F83"/>
                                  </a:solidFill>
                                  <a:latin typeface="Cambria Math" panose="02040503050406030204" pitchFamily="18" charset="0"/>
                                  <a:ea typeface="Cambria Math"/>
                                  <a:cs typeface="Cambria Math"/>
                                </a:rPr>
                              </m:ctrlPr>
                            </m:groupChrPr>
                            <m:e>
                              <m:f>
                                <m:fPr>
                                  <m:ctrlPr>
                                    <a:rPr lang="en-GB" sz="2800" i="1">
                                      <a:solidFill>
                                        <a:srgbClr val="087F83"/>
                                      </a:solidFill>
                                      <a:latin typeface="Cambria Math" panose="02040503050406030204" pitchFamily="18" charset="0"/>
                                      <a:ea typeface="Cambria Math"/>
                                      <a:cs typeface="Cambria Math"/>
                                    </a:rPr>
                                  </m:ctrlPr>
                                </m:fPr>
                                <m:num>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𝑝</m:t>
                                      </m:r>
                                    </m:e>
                                    <m:sub>
                                      <m:r>
                                        <a:rPr lang="en-GB" sz="2800">
                                          <a:solidFill>
                                            <a:srgbClr val="087F83"/>
                                          </a:solidFill>
                                          <a:latin typeface="Cambria Math"/>
                                          <a:ea typeface="Cambria Math"/>
                                          <a:cs typeface="Cambria Math"/>
                                        </a:rPr>
                                        <m:t>𝛉</m:t>
                                      </m:r>
                                    </m:sub>
                                  </m:sSub>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𝐱</m:t>
                                          </m:r>
                                        </m:e>
                                        <m:sub>
                                          <m:r>
                                            <a:rPr lang="en-GB" sz="2800">
                                              <a:solidFill>
                                                <a:srgbClr val="087F83"/>
                                              </a:solidFill>
                                              <a:latin typeface="Cambria Math"/>
                                              <a:ea typeface="Cambria Math"/>
                                              <a:cs typeface="Cambria Math"/>
                                            </a:rPr>
                                            <m:t>𝑖</m:t>
                                          </m:r>
                                        </m:sub>
                                      </m:sSub>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𝑦</m:t>
                                      </m:r>
                                    </m:e>
                                    <m:sub>
                                      <m:r>
                                        <a:rPr lang="en-GB" sz="2800">
                                          <a:solidFill>
                                            <a:srgbClr val="087F83"/>
                                          </a:solidFill>
                                          <a:latin typeface="Cambria Math"/>
                                          <a:ea typeface="Cambria Math"/>
                                          <a:cs typeface="Cambria Math"/>
                                        </a:rPr>
                                        <m:t>𝑖</m:t>
                                      </m:r>
                                    </m:sub>
                                  </m:sSub>
                                </m:num>
                                <m:den>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𝑝</m:t>
                                      </m:r>
                                    </m:e>
                                    <m:sub>
                                      <m:r>
                                        <a:rPr lang="en-GB" sz="2800">
                                          <a:solidFill>
                                            <a:srgbClr val="087F83"/>
                                          </a:solidFill>
                                          <a:latin typeface="Cambria Math"/>
                                          <a:ea typeface="Cambria Math"/>
                                          <a:cs typeface="Cambria Math"/>
                                        </a:rPr>
                                        <m:t>𝛉</m:t>
                                      </m:r>
                                    </m:sub>
                                  </m:sSub>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𝐱</m:t>
                                          </m:r>
                                        </m:e>
                                        <m:sub>
                                          <m:r>
                                            <a:rPr lang="en-GB" sz="2800">
                                              <a:solidFill>
                                                <a:srgbClr val="087F83"/>
                                              </a:solidFill>
                                              <a:latin typeface="Cambria Math"/>
                                              <a:ea typeface="Cambria Math"/>
                                              <a:cs typeface="Cambria Math"/>
                                            </a:rPr>
                                            <m:t>𝑖</m:t>
                                          </m:r>
                                        </m:sub>
                                      </m:sSub>
                                    </m:e>
                                  </m:d>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1−</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𝑝</m:t>
                                          </m:r>
                                        </m:e>
                                        <m:sub>
                                          <m:r>
                                            <a:rPr lang="en-GB" sz="2800">
                                              <a:solidFill>
                                                <a:srgbClr val="087F83"/>
                                              </a:solidFill>
                                              <a:latin typeface="Cambria Math"/>
                                              <a:ea typeface="Cambria Math"/>
                                              <a:cs typeface="Cambria Math"/>
                                            </a:rPr>
                                            <m:t>𝛉</m:t>
                                          </m:r>
                                        </m:sub>
                                      </m:sSub>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𝐱</m:t>
                                              </m:r>
                                            </m:e>
                                            <m:sub>
                                              <m:r>
                                                <a:rPr lang="en-GB" sz="2800">
                                                  <a:solidFill>
                                                    <a:srgbClr val="087F83"/>
                                                  </a:solidFill>
                                                  <a:latin typeface="Cambria Math"/>
                                                  <a:ea typeface="Cambria Math"/>
                                                  <a:cs typeface="Cambria Math"/>
                                                </a:rPr>
                                                <m:t>𝑖</m:t>
                                              </m:r>
                                            </m:sub>
                                          </m:sSub>
                                        </m:e>
                                      </m:d>
                                    </m:e>
                                  </m:d>
                                </m:den>
                              </m:f>
                            </m:e>
                          </m:groupChr>
                        </m:e>
                        <m:lim>
                          <m:r>
                            <m:rPr>
                              <m:sty m:val="p"/>
                            </m:rPr>
                            <a:rPr lang="it-IT" sz="2800" b="0" i="0" smtClean="0">
                              <a:solidFill>
                                <a:srgbClr val="087F83"/>
                              </a:solidFill>
                              <a:latin typeface="Cambria Math" panose="02040503050406030204" pitchFamily="18" charset="0"/>
                              <a:ea typeface="Cambria Math"/>
                            </a:rPr>
                            <m:t>first</m:t>
                          </m:r>
                          <m:r>
                            <a:rPr lang="it-IT" sz="2800" b="0" i="0" smtClean="0">
                              <a:solidFill>
                                <a:srgbClr val="087F83"/>
                              </a:solidFill>
                              <a:latin typeface="Cambria Math" panose="02040503050406030204" pitchFamily="18" charset="0"/>
                              <a:ea typeface="Cambria Math"/>
                            </a:rPr>
                            <m:t> </m:t>
                          </m:r>
                          <m:r>
                            <m:rPr>
                              <m:sty m:val="p"/>
                            </m:rPr>
                            <a:rPr lang="it-IT" sz="2800" b="0" i="0" smtClean="0">
                              <a:solidFill>
                                <a:srgbClr val="087F83"/>
                              </a:solidFill>
                              <a:latin typeface="Cambria Math" panose="02040503050406030204" pitchFamily="18" charset="0"/>
                              <a:ea typeface="Cambria Math"/>
                            </a:rPr>
                            <m:t>term</m:t>
                          </m:r>
                          <m:r>
                            <a:rPr lang="it-IT" sz="2800" b="0" i="0" smtClean="0">
                              <a:solidFill>
                                <a:srgbClr val="087F83"/>
                              </a:solidFill>
                              <a:latin typeface="Cambria Math" panose="02040503050406030204" pitchFamily="18" charset="0"/>
                              <a:ea typeface="Cambria Math"/>
                            </a:rPr>
                            <m:t> </m:t>
                          </m:r>
                        </m:lim>
                      </m:limLow>
                      <m:r>
                        <a:rPr lang="en-GB" sz="2800">
                          <a:solidFill>
                            <a:srgbClr val="087F83"/>
                          </a:solidFill>
                          <a:latin typeface="Cambria Math"/>
                          <a:ea typeface="Cambria Math"/>
                          <a:cs typeface="Cambria Math"/>
                        </a:rPr>
                        <m:t>⋅</m:t>
                      </m:r>
                      <m:limLow>
                        <m:limLowPr>
                          <m:ctrlPr>
                            <a:rPr lang="en-GB" sz="2800" i="1">
                              <a:solidFill>
                                <a:srgbClr val="087F83"/>
                              </a:solidFill>
                              <a:latin typeface="Cambria Math" panose="02040503050406030204" pitchFamily="18" charset="0"/>
                              <a:ea typeface="Cambria Math"/>
                            </a:rPr>
                          </m:ctrlPr>
                        </m:limLowPr>
                        <m:e>
                          <m:groupChr>
                            <m:groupChrPr>
                              <m:chr m:val="⏟"/>
                              <m:pos m:val="bot"/>
                              <m:vertJc m:val="top"/>
                              <m:ctrlPr>
                                <a:rPr lang="en-GB" sz="2800" i="1">
                                  <a:solidFill>
                                    <a:srgbClr val="087F83"/>
                                  </a:solidFill>
                                  <a:latin typeface="Cambria Math" panose="02040503050406030204" pitchFamily="18" charset="0"/>
                                  <a:ea typeface="Cambria Math"/>
                                </a:rPr>
                              </m:ctrlPr>
                            </m:groupChrPr>
                            <m:e>
                              <m:m>
                                <m:mPr>
                                  <m:mcs>
                                    <m:mc>
                                      <m:mcPr>
                                        <m:count m:val="1"/>
                                        <m:mcJc m:val="center"/>
                                      </m:mcPr>
                                    </m:mc>
                                  </m:mcs>
                                  <m:ctrlPr>
                                    <a:rPr lang="en-GB" sz="2800" i="1">
                                      <a:solidFill>
                                        <a:srgbClr val="087F83"/>
                                      </a:solidFill>
                                      <a:latin typeface="Cambria Math" panose="02040503050406030204" pitchFamily="18" charset="0"/>
                                      <a:ea typeface="Cambria Math"/>
                                    </a:rPr>
                                  </m:ctrlPr>
                                </m:mPr>
                                <m:mr>
                                  <m:e/>
                                </m:mr>
                                <m:mr>
                                  <m:e>
                                    <m:eqArr>
                                      <m:eqArrPr>
                                        <m:ctrlPr>
                                          <a:rPr lang="en-GB" sz="2800" i="1">
                                            <a:solidFill>
                                              <a:srgbClr val="087F83"/>
                                            </a:solidFill>
                                            <a:latin typeface="Cambria Math" panose="02040503050406030204" pitchFamily="18" charset="0"/>
                                            <a:ea typeface="Cambria Math"/>
                                          </a:rPr>
                                        </m:ctrlPr>
                                      </m:eqArrPr>
                                      <m:e/>
                                      <m:e/>
                                    </m:eqArr>
                                  </m:e>
                                </m:mr>
                              </m:m>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𝑝</m:t>
                                  </m:r>
                                </m:e>
                                <m:sub>
                                  <m:r>
                                    <a:rPr lang="en-GB" sz="2800">
                                      <a:solidFill>
                                        <a:srgbClr val="087F83"/>
                                      </a:solidFill>
                                      <a:latin typeface="Cambria Math"/>
                                      <a:ea typeface="Cambria Math"/>
                                      <a:cs typeface="Cambria Math"/>
                                    </a:rPr>
                                    <m:t>𝛉</m:t>
                                  </m:r>
                                </m:sub>
                              </m:sSub>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𝐱</m:t>
                                      </m:r>
                                    </m:e>
                                    <m:sub>
                                      <m:r>
                                        <a:rPr lang="en-GB" sz="2800">
                                          <a:solidFill>
                                            <a:srgbClr val="087F83"/>
                                          </a:solidFill>
                                          <a:latin typeface="Cambria Math"/>
                                          <a:ea typeface="Cambria Math"/>
                                          <a:cs typeface="Cambria Math"/>
                                        </a:rPr>
                                        <m:t>𝑖</m:t>
                                      </m:r>
                                    </m:sub>
                                  </m:sSub>
                                </m:e>
                              </m:d>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1−</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𝑝</m:t>
                                      </m:r>
                                    </m:e>
                                    <m:sub>
                                      <m:r>
                                        <a:rPr lang="en-GB" sz="2800">
                                          <a:solidFill>
                                            <a:srgbClr val="087F83"/>
                                          </a:solidFill>
                                          <a:latin typeface="Cambria Math"/>
                                          <a:ea typeface="Cambria Math"/>
                                          <a:cs typeface="Cambria Math"/>
                                        </a:rPr>
                                        <m:t>𝛉</m:t>
                                      </m:r>
                                    </m:sub>
                                  </m:sSub>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𝐱</m:t>
                                          </m:r>
                                        </m:e>
                                        <m:sub>
                                          <m:r>
                                            <a:rPr lang="en-GB" sz="2800">
                                              <a:solidFill>
                                                <a:srgbClr val="087F83"/>
                                              </a:solidFill>
                                              <a:latin typeface="Cambria Math"/>
                                              <a:ea typeface="Cambria Math"/>
                                              <a:cs typeface="Cambria Math"/>
                                            </a:rPr>
                                            <m:t>𝑖</m:t>
                                          </m:r>
                                        </m:sub>
                                      </m:sSub>
                                    </m:e>
                                  </m:d>
                                </m:e>
                              </m:d>
                              <m:m>
                                <m:mPr>
                                  <m:mcs>
                                    <m:mc>
                                      <m:mcPr>
                                        <m:count m:val="1"/>
                                        <m:mcJc m:val="center"/>
                                      </m:mcPr>
                                    </m:mc>
                                  </m:mcs>
                                  <m:ctrlPr>
                                    <a:rPr lang="en-GB" sz="2800" i="1">
                                      <a:solidFill>
                                        <a:srgbClr val="087F83"/>
                                      </a:solidFill>
                                      <a:latin typeface="Cambria Math" panose="02040503050406030204" pitchFamily="18" charset="0"/>
                                      <a:ea typeface="Cambria Math"/>
                                    </a:rPr>
                                  </m:ctrlPr>
                                </m:mPr>
                                <m:mr>
                                  <m:e/>
                                </m:mr>
                                <m:mr>
                                  <m:e>
                                    <m:eqArr>
                                      <m:eqArrPr>
                                        <m:ctrlPr>
                                          <a:rPr lang="en-GB" sz="2800" i="1">
                                            <a:solidFill>
                                              <a:srgbClr val="087F83"/>
                                            </a:solidFill>
                                            <a:latin typeface="Cambria Math" panose="02040503050406030204" pitchFamily="18" charset="0"/>
                                            <a:ea typeface="Cambria Math"/>
                                          </a:rPr>
                                        </m:ctrlPr>
                                      </m:eqArrPr>
                                      <m:e/>
                                      <m:e/>
                                    </m:eqArr>
                                  </m:e>
                                </m:mr>
                              </m:m>
                            </m:e>
                          </m:groupChr>
                        </m:e>
                        <m:lim>
                          <m:r>
                            <m:rPr>
                              <m:sty m:val="p"/>
                            </m:rPr>
                            <a:rPr lang="it-IT" sz="2800" b="0" i="0" smtClean="0">
                              <a:solidFill>
                                <a:srgbClr val="087F83"/>
                              </a:solidFill>
                              <a:latin typeface="Cambria Math" panose="02040503050406030204" pitchFamily="18" charset="0"/>
                              <a:ea typeface="Cambria Math"/>
                              <a:cs typeface="Cambria Math"/>
                            </a:rPr>
                            <m:t>second</m:t>
                          </m:r>
                          <m:r>
                            <a:rPr lang="it-IT" sz="2800" b="0" i="0" smtClean="0">
                              <a:solidFill>
                                <a:srgbClr val="087F83"/>
                              </a:solidFill>
                              <a:latin typeface="Cambria Math" panose="02040503050406030204" pitchFamily="18" charset="0"/>
                              <a:ea typeface="Cambria Math"/>
                              <a:cs typeface="Cambria Math"/>
                            </a:rPr>
                            <m:t> </m:t>
                          </m:r>
                          <m:r>
                            <m:rPr>
                              <m:sty m:val="p"/>
                            </m:rPr>
                            <a:rPr lang="it-IT" sz="2800" b="0" i="0" smtClean="0">
                              <a:solidFill>
                                <a:srgbClr val="087F83"/>
                              </a:solidFill>
                              <a:latin typeface="Cambria Math" panose="02040503050406030204" pitchFamily="18" charset="0"/>
                              <a:ea typeface="Cambria Math"/>
                              <a:cs typeface="Cambria Math"/>
                            </a:rPr>
                            <m:t>term</m:t>
                          </m:r>
                        </m:lim>
                      </m:limLow>
                      <m:r>
                        <a:rPr lang="en-GB" sz="2800">
                          <a:solidFill>
                            <a:srgbClr val="087F83"/>
                          </a:solidFill>
                          <a:latin typeface="Cambria Math"/>
                          <a:ea typeface="Cambria Math"/>
                          <a:cs typeface="Cambria Math"/>
                        </a:rPr>
                        <m:t>⋅</m:t>
                      </m:r>
                      <m:limLow>
                        <m:limLowPr>
                          <m:ctrlPr>
                            <a:rPr lang="en-GB" sz="2800" b="0" i="1" smtClean="0">
                              <a:solidFill>
                                <a:srgbClr val="087F83"/>
                              </a:solidFill>
                              <a:latin typeface="Cambria Math" panose="02040503050406030204" pitchFamily="18" charset="0"/>
                              <a:ea typeface="Cambria Math"/>
                            </a:rPr>
                          </m:ctrlPr>
                        </m:limLowPr>
                        <m:e>
                          <m:groupChr>
                            <m:groupChrPr>
                              <m:chr m:val="⏟"/>
                              <m:pos m:val="bot"/>
                              <m:vertJc m:val="top"/>
                              <m:ctrlPr>
                                <a:rPr lang="en-GB" sz="2800" b="0" i="1" smtClean="0">
                                  <a:solidFill>
                                    <a:srgbClr val="087F83"/>
                                  </a:solidFill>
                                  <a:latin typeface="Cambria Math" panose="02040503050406030204" pitchFamily="18" charset="0"/>
                                  <a:ea typeface="Cambria Math"/>
                                </a:rPr>
                              </m:ctrlPr>
                            </m:groupChrPr>
                            <m:e>
                              <m:m>
                                <m:mPr>
                                  <m:mcs>
                                    <m:mc>
                                      <m:mcPr>
                                        <m:count m:val="1"/>
                                        <m:mcJc m:val="center"/>
                                      </m:mcPr>
                                    </m:mc>
                                  </m:mcs>
                                  <m:ctrlPr>
                                    <a:rPr lang="en-GB" sz="2800" b="0" i="1" smtClean="0">
                                      <a:solidFill>
                                        <a:srgbClr val="087F83"/>
                                      </a:solidFill>
                                      <a:latin typeface="Cambria Math" panose="02040503050406030204" pitchFamily="18" charset="0"/>
                                      <a:ea typeface="Cambria Math"/>
                                    </a:rPr>
                                  </m:ctrlPr>
                                </m:mPr>
                                <m:mr>
                                  <m:e/>
                                </m:mr>
                                <m:mr>
                                  <m:e>
                                    <m:eqArr>
                                      <m:eqArrPr>
                                        <m:ctrlPr>
                                          <a:rPr lang="en-GB" sz="2800" b="0" i="1" smtClean="0">
                                            <a:solidFill>
                                              <a:srgbClr val="087F83"/>
                                            </a:solidFill>
                                            <a:latin typeface="Cambria Math" panose="02040503050406030204" pitchFamily="18" charset="0"/>
                                            <a:ea typeface="Cambria Math"/>
                                          </a:rPr>
                                        </m:ctrlPr>
                                      </m:eqArrPr>
                                      <m:e/>
                                      <m:e/>
                                    </m:eqArr>
                                  </m:e>
                                </m:mr>
                              </m:m>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𝑋</m:t>
                                  </m:r>
                                </m:e>
                                <m:sub>
                                  <m:r>
                                    <a:rPr lang="en-GB" sz="2800">
                                      <a:solidFill>
                                        <a:srgbClr val="087F83"/>
                                      </a:solidFill>
                                      <a:latin typeface="Cambria Math"/>
                                      <a:ea typeface="Cambria Math"/>
                                      <a:cs typeface="Cambria Math"/>
                                    </a:rPr>
                                    <m:t>𝑖𝑗</m:t>
                                  </m:r>
                                </m:sub>
                              </m:sSub>
                            </m:e>
                          </m:groupChr>
                        </m:e>
                        <m:lim>
                          <m:r>
                            <m:rPr>
                              <m:sty m:val="p"/>
                            </m:rPr>
                            <a:rPr lang="it-IT" sz="2800" b="0" i="0" smtClean="0">
                              <a:solidFill>
                                <a:srgbClr val="087F83"/>
                              </a:solidFill>
                              <a:latin typeface="Cambria Math" panose="02040503050406030204" pitchFamily="18" charset="0"/>
                              <a:ea typeface="Cambria Math"/>
                              <a:cs typeface="Cambria Math"/>
                            </a:rPr>
                            <m:t>third</m:t>
                          </m:r>
                          <m:r>
                            <a:rPr lang="it-IT" sz="2800" b="0" i="0" smtClean="0">
                              <a:solidFill>
                                <a:srgbClr val="087F83"/>
                              </a:solidFill>
                              <a:latin typeface="Cambria Math" panose="02040503050406030204" pitchFamily="18" charset="0"/>
                              <a:ea typeface="Cambria Math"/>
                              <a:cs typeface="Cambria Math"/>
                            </a:rPr>
                            <m:t> </m:t>
                          </m:r>
                          <m:r>
                            <m:rPr>
                              <m:sty m:val="p"/>
                            </m:rPr>
                            <a:rPr lang="it-IT" sz="2800" b="0" i="0" smtClean="0">
                              <a:solidFill>
                                <a:srgbClr val="087F83"/>
                              </a:solidFill>
                              <a:latin typeface="Cambria Math" panose="02040503050406030204" pitchFamily="18" charset="0"/>
                              <a:ea typeface="Cambria Math"/>
                              <a:cs typeface="Cambria Math"/>
                            </a:rPr>
                            <m:t>term</m:t>
                          </m:r>
                        </m:lim>
                      </m:limLow>
                    </m:oMath>
                  </m:oMathPara>
                </a14:m>
                <a:endParaRPr lang="en-GB" sz="2800" dirty="0"/>
              </a:p>
            </p:txBody>
          </p:sp>
        </mc:Choice>
        <mc:Fallback xmlns="">
          <p:sp>
            <p:nvSpPr>
              <p:cNvPr id="10" name="step_1_product" descr="=\frac{p_{\boldsymbol\theta}(\boldsymbol x_i)-y_i}{p_{\boldsymbol\theta}(\boldsymbol x_i)\bigl(1-p_{\boldsymbol\theta}(\boldsymbol x_i)\bigr)}\cdot p_{\boldsymbol\theta}(\boldsymbol x_i)\bigl(1-p_{\boldsymbol\theta}(\boldsymbol x_i)\bigr)\cdot X_{ij}">
                <a:extLst>
                  <a:ext uri="{FF2B5EF4-FFF2-40B4-BE49-F238E27FC236}">
                    <a16:creationId xmlns:a16="http://schemas.microsoft.com/office/drawing/2014/main" id="{FD4CBBE7-56DE-4AD4-A7CE-CEAEE9B9D156}"/>
                  </a:ext>
                </a:extLst>
              </p:cNvPr>
              <p:cNvSpPr>
                <a:spLocks noGrp="1" noRot="1" noChangeAspect="1" noMove="1" noResize="1" noEditPoints="1" noAdjustHandles="1" noChangeArrowheads="1" noChangeShapeType="1" noTextEdit="1"/>
              </p:cNvSpPr>
              <p:nvPr/>
            </p:nvSpPr>
            <p:spPr>
              <a:xfrm>
                <a:off x="723900" y="4117328"/>
                <a:ext cx="10744200" cy="1104900"/>
              </a:xfrm>
              <a:prstGeom prst="rect">
                <a:avLst/>
              </a:prstGeom>
              <a:blipFill>
                <a:blip r:embed="rId4"/>
                <a:stretch>
                  <a:fillRect t="-2747" b="-126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step_2_result" descr="=\bigl(p_{\boldsymbol\theta}(\boldsymbol x_i)-y_i\bigr)X_{ij}">
                <a:extLst>
                  <a:ext uri="{FF2B5EF4-FFF2-40B4-BE49-F238E27FC236}">
                    <a16:creationId xmlns:a16="http://schemas.microsoft.com/office/drawing/2014/main" id="{3257396F-68EF-4E3D-89CD-BB768049200B}"/>
                  </a:ext>
                </a:extLst>
              </p:cNvPr>
              <p:cNvSpPr>
                <a:spLocks noGrp="1"/>
              </p:cNvSpPr>
              <p:nvPr/>
            </p:nvSpPr>
            <p:spPr>
              <a:xfrm>
                <a:off x="352425" y="5715000"/>
                <a:ext cx="1074420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200" smtClean="0">
                          <a:solidFill>
                            <a:srgbClr val="326CB2"/>
                          </a:solidFill>
                          <a:latin typeface="Cambria Math"/>
                          <a:ea typeface="Cambria Math"/>
                          <a:cs typeface="Cambria Math"/>
                        </a:rPr>
                        <m:t>=(</m:t>
                      </m:r>
                      <m:sSub>
                        <m:sSubPr>
                          <m:ctrlPr>
                            <a:rPr lang="en-GB" sz="3200">
                              <a:solidFill>
                                <a:srgbClr val="326CB2"/>
                              </a:solidFill>
                              <a:latin typeface="Cambria Math"/>
                              <a:ea typeface="Cambria Math"/>
                              <a:cs typeface="Cambria Math"/>
                            </a:rPr>
                          </m:ctrlPr>
                        </m:sSubPr>
                        <m:e>
                          <m:r>
                            <a:rPr lang="en-GB" sz="3200">
                              <a:solidFill>
                                <a:srgbClr val="326CB2"/>
                              </a:solidFill>
                              <a:latin typeface="Cambria Math"/>
                              <a:ea typeface="Cambria Math"/>
                              <a:cs typeface="Cambria Math"/>
                            </a:rPr>
                            <m:t>𝑝</m:t>
                          </m:r>
                        </m:e>
                        <m:sub>
                          <m:r>
                            <a:rPr lang="en-GB" sz="3200">
                              <a:solidFill>
                                <a:srgbClr val="326CB2"/>
                              </a:solidFill>
                              <a:latin typeface="Cambria Math"/>
                              <a:ea typeface="Cambria Math"/>
                              <a:cs typeface="Cambria Math"/>
                            </a:rPr>
                            <m:t>𝛉</m:t>
                          </m:r>
                        </m:sub>
                      </m:sSub>
                      <m:r>
                        <a:rPr lang="en-GB" sz="3200">
                          <a:solidFill>
                            <a:srgbClr val="326CB2"/>
                          </a:solidFill>
                          <a:latin typeface="Cambria Math"/>
                          <a:ea typeface="Cambria Math"/>
                          <a:cs typeface="Cambria Math"/>
                        </a:rPr>
                        <m:t>(</m:t>
                      </m:r>
                      <m:sSub>
                        <m:sSubPr>
                          <m:ctrlPr>
                            <a:rPr lang="en-GB" sz="3200">
                              <a:solidFill>
                                <a:srgbClr val="326CB2"/>
                              </a:solidFill>
                              <a:latin typeface="Cambria Math"/>
                              <a:ea typeface="Cambria Math"/>
                              <a:cs typeface="Cambria Math"/>
                            </a:rPr>
                          </m:ctrlPr>
                        </m:sSubPr>
                        <m:e>
                          <m:r>
                            <a:rPr lang="en-GB" sz="3200">
                              <a:solidFill>
                                <a:srgbClr val="326CB2"/>
                              </a:solidFill>
                              <a:latin typeface="Cambria Math"/>
                              <a:ea typeface="Cambria Math"/>
                              <a:cs typeface="Cambria Math"/>
                            </a:rPr>
                            <m:t>𝐱</m:t>
                          </m:r>
                        </m:e>
                        <m:sub>
                          <m:r>
                            <a:rPr lang="en-GB" sz="3200">
                              <a:solidFill>
                                <a:srgbClr val="326CB2"/>
                              </a:solidFill>
                              <a:latin typeface="Cambria Math"/>
                              <a:ea typeface="Cambria Math"/>
                              <a:cs typeface="Cambria Math"/>
                            </a:rPr>
                            <m:t>𝑖</m:t>
                          </m:r>
                        </m:sub>
                      </m:sSub>
                      <m:r>
                        <a:rPr lang="en-GB" sz="3200">
                          <a:solidFill>
                            <a:srgbClr val="326CB2"/>
                          </a:solidFill>
                          <a:latin typeface="Cambria Math"/>
                          <a:ea typeface="Cambria Math"/>
                          <a:cs typeface="Cambria Math"/>
                        </a:rPr>
                        <m:t>)−</m:t>
                      </m:r>
                      <m:sSub>
                        <m:sSubPr>
                          <m:ctrlPr>
                            <a:rPr lang="en-GB" sz="3200">
                              <a:solidFill>
                                <a:srgbClr val="326CB2"/>
                              </a:solidFill>
                              <a:latin typeface="Cambria Math"/>
                              <a:ea typeface="Cambria Math"/>
                              <a:cs typeface="Cambria Math"/>
                            </a:rPr>
                          </m:ctrlPr>
                        </m:sSubPr>
                        <m:e>
                          <m:r>
                            <a:rPr lang="en-GB" sz="3200">
                              <a:solidFill>
                                <a:srgbClr val="326CB2"/>
                              </a:solidFill>
                              <a:latin typeface="Cambria Math"/>
                              <a:ea typeface="Cambria Math"/>
                              <a:cs typeface="Cambria Math"/>
                            </a:rPr>
                            <m:t>𝑦</m:t>
                          </m:r>
                        </m:e>
                        <m:sub>
                          <m:r>
                            <a:rPr lang="en-GB" sz="3200">
                              <a:solidFill>
                                <a:srgbClr val="326CB2"/>
                              </a:solidFill>
                              <a:latin typeface="Cambria Math"/>
                              <a:ea typeface="Cambria Math"/>
                              <a:cs typeface="Cambria Math"/>
                            </a:rPr>
                            <m:t>𝑖</m:t>
                          </m:r>
                        </m:sub>
                      </m:sSub>
                      <m:r>
                        <a:rPr lang="en-GB" sz="3200">
                          <a:solidFill>
                            <a:srgbClr val="326CB2"/>
                          </a:solidFill>
                          <a:latin typeface="Cambria Math"/>
                          <a:ea typeface="Cambria Math"/>
                          <a:cs typeface="Cambria Math"/>
                        </a:rPr>
                        <m:t>)</m:t>
                      </m:r>
                      <m:sSub>
                        <m:sSubPr>
                          <m:ctrlPr>
                            <a:rPr lang="en-GB" sz="3200">
                              <a:solidFill>
                                <a:srgbClr val="326CB2"/>
                              </a:solidFill>
                              <a:latin typeface="Cambria Math"/>
                              <a:ea typeface="Cambria Math"/>
                              <a:cs typeface="Cambria Math"/>
                            </a:rPr>
                          </m:ctrlPr>
                        </m:sSubPr>
                        <m:e>
                          <m:r>
                            <a:rPr lang="en-GB" sz="3200">
                              <a:solidFill>
                                <a:srgbClr val="326CB2"/>
                              </a:solidFill>
                              <a:latin typeface="Cambria Math"/>
                              <a:ea typeface="Cambria Math"/>
                              <a:cs typeface="Cambria Math"/>
                            </a:rPr>
                            <m:t>𝑋</m:t>
                          </m:r>
                        </m:e>
                        <m:sub>
                          <m:r>
                            <a:rPr lang="en-GB" sz="3200">
                              <a:solidFill>
                                <a:srgbClr val="326CB2"/>
                              </a:solidFill>
                              <a:latin typeface="Cambria Math"/>
                              <a:ea typeface="Cambria Math"/>
                              <a:cs typeface="Cambria Math"/>
                            </a:rPr>
                            <m:t>𝑖𝑗</m:t>
                          </m:r>
                        </m:sub>
                      </m:sSub>
                    </m:oMath>
                  </m:oMathPara>
                </a14:m>
                <a:endParaRPr lang="en-GB" sz="3200" dirty="0">
                  <a:solidFill>
                    <a:srgbClr val="326CB2"/>
                  </a:solidFill>
                </a:endParaRPr>
              </a:p>
            </p:txBody>
          </p:sp>
        </mc:Choice>
        <mc:Fallback xmlns="">
          <p:sp>
            <p:nvSpPr>
              <p:cNvPr id="11" name="step_2_result" descr="=\bigl(p_{\boldsymbol\theta}(\boldsymbol x_i)-y_i\bigr)X_{ij}">
                <a:extLst>
                  <a:ext uri="{FF2B5EF4-FFF2-40B4-BE49-F238E27FC236}">
                    <a16:creationId xmlns:a16="http://schemas.microsoft.com/office/drawing/2014/main" id="{3257396F-68EF-4E3D-89CD-BB768049200B}"/>
                  </a:ext>
                </a:extLst>
              </p:cNvPr>
              <p:cNvSpPr>
                <a:spLocks noGrp="1" noRot="1" noChangeAspect="1" noMove="1" noResize="1" noEditPoints="1" noAdjustHandles="1" noChangeArrowheads="1" noChangeShapeType="1" noTextEdit="1"/>
              </p:cNvSpPr>
              <p:nvPr/>
            </p:nvSpPr>
            <p:spPr>
              <a:xfrm>
                <a:off x="352425" y="5715000"/>
                <a:ext cx="10744200" cy="7620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109FC152-7A51-2E66-5AEA-01FE8C50C53C}"/>
                  </a:ext>
                </a:extLst>
              </p:cNvPr>
              <p:cNvSpPr txBox="1"/>
              <p:nvPr/>
            </p:nvSpPr>
            <p:spPr>
              <a:xfrm>
                <a:off x="1856994" y="2731147"/>
                <a:ext cx="8478012" cy="1290931"/>
              </a:xfrm>
              <a:prstGeom prst="rect">
                <a:avLst/>
              </a:prstGeom>
              <a:noFill/>
            </p:spPr>
            <p:txBody>
              <a:bodyPr wrap="square">
                <a:spAutoFit/>
              </a:bodyPr>
              <a:lstStyle/>
              <a:p>
                <a:pPr/>
                <a14:m>
                  <m:oMathPara xmlns:m="http://schemas.openxmlformats.org/officeDocument/2006/math">
                    <m:oMath>
                      <m:r>
                        <a:rPr lang="it-IT" sz="2550" b="0" i="1" smtClean="0">
                          <a:solidFill>
                            <a:srgbClr val="087F83"/>
                          </a:solidFill>
                          <a:latin typeface="Cambria Math" panose="02040503050406030204" pitchFamily="18" charset="0"/>
                          <a:ea typeface="Cambria Math"/>
                          <a:cs typeface="Cambria Math"/>
                        </a:rPr>
                        <m:t>=</m:t>
                      </m:r>
                      <m:limLow>
                        <m:limLowPr>
                          <m:ctrlPr>
                            <a:rPr lang="en-GB" sz="255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2550" i="1">
                                  <a:solidFill>
                                    <a:srgbClr val="087F83"/>
                                  </a:solidFill>
                                  <a:latin typeface="Cambria Math" panose="02040503050406030204" pitchFamily="18" charset="0"/>
                                  <a:ea typeface="Cambria Math"/>
                                  <a:cs typeface="Cambria Math"/>
                                </a:rPr>
                              </m:ctrlPr>
                            </m:groupChrPr>
                            <m:e>
                              <m:f>
                                <m:fPr>
                                  <m:ctrlPr>
                                    <a:rPr lang="en-GB" sz="2550">
                                      <a:solidFill>
                                        <a:srgbClr val="087F83"/>
                                      </a:solidFill>
                                      <a:latin typeface="Cambria Math"/>
                                      <a:ea typeface="Cambria Math"/>
                                      <a:cs typeface="Cambria Math"/>
                                    </a:rPr>
                                  </m:ctrlPr>
                                </m:fPr>
                                <m:num>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m:rPr>
                                          <m:sty m:val="p"/>
                                        </m:rPr>
                                        <a:rPr lang="en-GB" sz="2550">
                                          <a:solidFill>
                                            <a:srgbClr val="087F83"/>
                                          </a:solidFill>
                                          <a:latin typeface="Cambria Math"/>
                                          <a:ea typeface="Cambria Math"/>
                                          <a:cs typeface="Cambria Math"/>
                                        </a:rPr>
                                        <m:t>ℓ</m:t>
                                      </m:r>
                                    </m:e>
                                    <m:sub>
                                      <m:r>
                                        <m:rPr>
                                          <m:sty m:val="p"/>
                                        </m:rPr>
                                        <a:rPr lang="en-GB" sz="2550">
                                          <a:solidFill>
                                            <a:srgbClr val="087F83"/>
                                          </a:solidFill>
                                          <a:latin typeface="Cambria Math"/>
                                          <a:ea typeface="Cambria Math"/>
                                          <a:cs typeface="Cambria Math"/>
                                        </a:rPr>
                                        <m:t>log</m:t>
                                      </m:r>
                                    </m:sub>
                                  </m:sSub>
                                </m:num>
                                <m:den>
                                  <m:r>
                                    <a:rPr lang="en-GB" sz="2550">
                                      <a:solidFill>
                                        <a:srgbClr val="087F83"/>
                                      </a:solidFill>
                                      <a:latin typeface="Cambria Math"/>
                                      <a:ea typeface="Cambria Math"/>
                                      <a:cs typeface="Cambria Math"/>
                                    </a:rPr>
                                    <m:t>𝜕</m:t>
                                  </m:r>
                                  <m:r>
                                    <a:rPr lang="en-GB" sz="2550">
                                      <a:solidFill>
                                        <a:srgbClr val="087F83"/>
                                      </a:solidFill>
                                      <a:latin typeface="Cambria Math"/>
                                      <a:ea typeface="Cambria Math"/>
                                      <a:cs typeface="Cambria Math"/>
                                    </a:rPr>
                                    <m:t>𝑝</m:t>
                                  </m:r>
                                </m:den>
                              </m:f>
                              <m:d>
                                <m:dPr>
                                  <m:ctrlPr>
                                    <a:rPr lang="it-IT" sz="2550" i="1">
                                      <a:solidFill>
                                        <a:srgbClr val="087F83"/>
                                      </a:solidFill>
                                      <a:latin typeface="Cambria Math" panose="02040503050406030204" pitchFamily="18" charset="0"/>
                                      <a:ea typeface="Cambria Math"/>
                                      <a:cs typeface="Cambria Math"/>
                                    </a:rPr>
                                  </m:ctrlPr>
                                </m:dPr>
                                <m:e>
                                  <m:sSub>
                                    <m:sSubPr>
                                      <m:ctrlPr>
                                        <a:rPr lang="it-IT" sz="2550" i="1">
                                          <a:solidFill>
                                            <a:srgbClr val="087F83"/>
                                          </a:solidFill>
                                          <a:latin typeface="Cambria Math" panose="02040503050406030204" pitchFamily="18" charset="0"/>
                                          <a:ea typeface="Cambria Math"/>
                                          <a:cs typeface="Cambria Math"/>
                                        </a:rPr>
                                      </m:ctrlPr>
                                    </m:sSubPr>
                                    <m:e>
                                      <m:r>
                                        <a:rPr lang="it-IT" sz="2550" i="1">
                                          <a:solidFill>
                                            <a:srgbClr val="087F83"/>
                                          </a:solidFill>
                                          <a:latin typeface="Cambria Math" panose="02040503050406030204" pitchFamily="18" charset="0"/>
                                          <a:ea typeface="Cambria Math"/>
                                          <a:cs typeface="Cambria Math"/>
                                        </a:rPr>
                                        <m:t>𝑝</m:t>
                                      </m:r>
                                    </m:e>
                                    <m:sub>
                                      <m:r>
                                        <a:rPr lang="en-GB" sz="2550">
                                          <a:solidFill>
                                            <a:srgbClr val="087F83"/>
                                          </a:solidFill>
                                          <a:latin typeface="Cambria Math"/>
                                          <a:ea typeface="Cambria Math"/>
                                          <a:cs typeface="Cambria Math"/>
                                        </a:rPr>
                                        <m:t>𝛉</m:t>
                                      </m:r>
                                    </m:sub>
                                  </m:sSub>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𝐱</m:t>
                                          </m:r>
                                        </m:e>
                                        <m:sub>
                                          <m:r>
                                            <a:rPr lang="en-GB" sz="2550">
                                              <a:solidFill>
                                                <a:srgbClr val="087F83"/>
                                              </a:solidFill>
                                              <a:latin typeface="Cambria Math"/>
                                              <a:ea typeface="Cambria Math"/>
                                              <a:cs typeface="Cambria Math"/>
                                            </a:rPr>
                                            <m:t>𝑖</m:t>
                                          </m:r>
                                        </m:sub>
                                      </m:sSub>
                                    </m:e>
                                  </m:d>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𝑦</m:t>
                                      </m:r>
                                    </m:e>
                                    <m:sub>
                                      <m:r>
                                        <a:rPr lang="en-GB" sz="2550">
                                          <a:solidFill>
                                            <a:srgbClr val="087F83"/>
                                          </a:solidFill>
                                          <a:latin typeface="Cambria Math"/>
                                          <a:ea typeface="Cambria Math"/>
                                          <a:cs typeface="Cambria Math"/>
                                        </a:rPr>
                                        <m:t>𝑖</m:t>
                                      </m:r>
                                    </m:sub>
                                  </m:sSub>
                                </m:e>
                              </m:d>
                            </m:e>
                          </m:groupChr>
                        </m:e>
                        <m:lim>
                          <m:r>
                            <m:rPr>
                              <m:sty m:val="p"/>
                            </m:rPr>
                            <a:rPr lang="it-IT" sz="2550" b="0" i="0" smtClean="0">
                              <a:solidFill>
                                <a:srgbClr val="087F83"/>
                              </a:solidFill>
                              <a:latin typeface="Cambria Math" panose="02040503050406030204" pitchFamily="18" charset="0"/>
                              <a:ea typeface="Cambria Math"/>
                            </a:rPr>
                            <m:t>first</m:t>
                          </m:r>
                          <m:r>
                            <a:rPr lang="it-IT" sz="2550" b="0" i="0" smtClean="0">
                              <a:solidFill>
                                <a:srgbClr val="087F83"/>
                              </a:solidFill>
                              <a:latin typeface="Cambria Math" panose="02040503050406030204" pitchFamily="18" charset="0"/>
                              <a:ea typeface="Cambria Math"/>
                            </a:rPr>
                            <m:t> </m:t>
                          </m:r>
                          <m:r>
                            <m:rPr>
                              <m:sty m:val="p"/>
                            </m:rPr>
                            <a:rPr lang="it-IT" sz="2550" b="0" i="0" smtClean="0">
                              <a:solidFill>
                                <a:srgbClr val="087F83"/>
                              </a:solidFill>
                              <a:latin typeface="Cambria Math" panose="02040503050406030204" pitchFamily="18" charset="0"/>
                              <a:ea typeface="Cambria Math"/>
                            </a:rPr>
                            <m:t>term</m:t>
                          </m:r>
                        </m:lim>
                      </m:limLow>
                      <m:r>
                        <a:rPr lang="en-GB" sz="2550">
                          <a:solidFill>
                            <a:srgbClr val="087F83"/>
                          </a:solidFill>
                          <a:latin typeface="Cambria Math"/>
                          <a:ea typeface="Cambria Math"/>
                          <a:cs typeface="Cambria Math"/>
                        </a:rPr>
                        <m:t>⋅</m:t>
                      </m:r>
                      <m:limLow>
                        <m:limLowPr>
                          <m:ctrlPr>
                            <a:rPr lang="en-GB" sz="2550" b="0" i="1" smtClean="0">
                              <a:solidFill>
                                <a:srgbClr val="087F83"/>
                              </a:solidFill>
                              <a:latin typeface="Cambria Math" panose="02040503050406030204" pitchFamily="18" charset="0"/>
                              <a:ea typeface="Cambria Math"/>
                            </a:rPr>
                          </m:ctrlPr>
                        </m:limLowPr>
                        <m:e>
                          <m:groupChr>
                            <m:groupChrPr>
                              <m:chr m:val="⏟"/>
                              <m:pos m:val="bot"/>
                              <m:vertJc m:val="top"/>
                              <m:ctrlPr>
                                <a:rPr lang="en-GB" sz="2550" b="0" i="1" smtClean="0">
                                  <a:solidFill>
                                    <a:srgbClr val="087F83"/>
                                  </a:solidFill>
                                  <a:latin typeface="Cambria Math" panose="02040503050406030204" pitchFamily="18" charset="0"/>
                                  <a:ea typeface="Cambria Math"/>
                                </a:rPr>
                              </m:ctrlPr>
                            </m:groupChrPr>
                            <m:e>
                              <m:m>
                                <m:mPr>
                                  <m:mcs>
                                    <m:mc>
                                      <m:mcPr>
                                        <m:count m:val="1"/>
                                        <m:mcJc m:val="center"/>
                                      </m:mcPr>
                                    </m:mc>
                                  </m:mcs>
                                  <m:ctrlPr>
                                    <a:rPr lang="en-GB" sz="2550" b="0" i="1" smtClean="0">
                                      <a:solidFill>
                                        <a:srgbClr val="087F83"/>
                                      </a:solidFill>
                                      <a:latin typeface="Cambria Math" panose="02040503050406030204" pitchFamily="18" charset="0"/>
                                      <a:ea typeface="Cambria Math"/>
                                    </a:rPr>
                                  </m:ctrlPr>
                                </m:mPr>
                                <m:mr>
                                  <m:e/>
                                </m:mr>
                                <m:mr>
                                  <m:e/>
                                </m:mr>
                              </m:m>
                              <m:sSup>
                                <m:sSupPr>
                                  <m:ctrlPr>
                                    <a:rPr lang="en-GB" sz="2550">
                                      <a:solidFill>
                                        <a:srgbClr val="087F83"/>
                                      </a:solidFill>
                                      <a:latin typeface="Cambria Math"/>
                                      <a:ea typeface="Cambria Math"/>
                                      <a:cs typeface="Cambria Math"/>
                                    </a:rPr>
                                  </m:ctrlPr>
                                </m:sSupPr>
                                <m:e>
                                  <m:r>
                                    <a:rPr lang="en-GB" sz="2550">
                                      <a:solidFill>
                                        <a:srgbClr val="087F83"/>
                                      </a:solidFill>
                                      <a:latin typeface="Cambria Math"/>
                                      <a:ea typeface="Cambria Math"/>
                                      <a:cs typeface="Cambria Math"/>
                                    </a:rPr>
                                    <m:t>𝜎</m:t>
                                  </m:r>
                                </m:e>
                                <m:sup>
                                  <m:r>
                                    <a:rPr lang="en-GB" sz="2550">
                                      <a:solidFill>
                                        <a:srgbClr val="087F83"/>
                                      </a:solidFill>
                                      <a:latin typeface="Cambria Math"/>
                                      <a:ea typeface="Cambria Math"/>
                                      <a:cs typeface="Cambria Math"/>
                                    </a:rPr>
                                    <m:t>′</m:t>
                                  </m:r>
                                </m:sup>
                              </m:sSup>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𝑓</m:t>
                                      </m:r>
                                    </m:e>
                                    <m:sub>
                                      <m:r>
                                        <a:rPr lang="en-GB" sz="2550">
                                          <a:solidFill>
                                            <a:srgbClr val="087F83"/>
                                          </a:solidFill>
                                          <a:latin typeface="Cambria Math"/>
                                          <a:ea typeface="Cambria Math"/>
                                          <a:cs typeface="Cambria Math"/>
                                        </a:rPr>
                                        <m:t>𝛉</m:t>
                                      </m:r>
                                    </m:sub>
                                  </m:sSub>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𝐱</m:t>
                                          </m:r>
                                        </m:e>
                                        <m:sub>
                                          <m:r>
                                            <a:rPr lang="en-GB" sz="2550">
                                              <a:solidFill>
                                                <a:srgbClr val="087F83"/>
                                              </a:solidFill>
                                              <a:latin typeface="Cambria Math"/>
                                              <a:ea typeface="Cambria Math"/>
                                              <a:cs typeface="Cambria Math"/>
                                            </a:rPr>
                                            <m:t>𝑖</m:t>
                                          </m:r>
                                        </m:sub>
                                      </m:sSub>
                                    </m:e>
                                  </m:d>
                                </m:e>
                              </m:d>
                              <m:m>
                                <m:mPr>
                                  <m:mcs>
                                    <m:mc>
                                      <m:mcPr>
                                        <m:count m:val="1"/>
                                        <m:mcJc m:val="center"/>
                                      </m:mcPr>
                                    </m:mc>
                                  </m:mcs>
                                  <m:ctrlPr>
                                    <a:rPr lang="en-GB" sz="2550" i="1">
                                      <a:solidFill>
                                        <a:srgbClr val="087F83"/>
                                      </a:solidFill>
                                      <a:latin typeface="Cambria Math" panose="02040503050406030204" pitchFamily="18" charset="0"/>
                                      <a:ea typeface="Cambria Math"/>
                                    </a:rPr>
                                  </m:ctrlPr>
                                </m:mPr>
                                <m:mr>
                                  <m:e/>
                                </m:mr>
                                <m:mr>
                                  <m:e/>
                                </m:mr>
                              </m:m>
                            </m:e>
                          </m:groupChr>
                        </m:e>
                        <m:lim>
                          <m:r>
                            <m:rPr>
                              <m:sty m:val="p"/>
                            </m:rPr>
                            <a:rPr lang="it-IT" sz="2550" b="0" i="0" smtClean="0">
                              <a:solidFill>
                                <a:srgbClr val="087F83"/>
                              </a:solidFill>
                              <a:latin typeface="Cambria Math" panose="02040503050406030204" pitchFamily="18" charset="0"/>
                              <a:ea typeface="Cambria Math"/>
                              <a:cs typeface="Cambria Math"/>
                            </a:rPr>
                            <m:t>second</m:t>
                          </m:r>
                          <m:r>
                            <a:rPr lang="it-IT" sz="2550" b="0" i="0" smtClean="0">
                              <a:solidFill>
                                <a:srgbClr val="087F83"/>
                              </a:solidFill>
                              <a:latin typeface="Cambria Math" panose="02040503050406030204" pitchFamily="18" charset="0"/>
                              <a:ea typeface="Cambria Math"/>
                              <a:cs typeface="Cambria Math"/>
                            </a:rPr>
                            <m:t> </m:t>
                          </m:r>
                          <m:r>
                            <m:rPr>
                              <m:sty m:val="p"/>
                            </m:rPr>
                            <a:rPr lang="it-IT" sz="2550" b="0" i="0" smtClean="0">
                              <a:solidFill>
                                <a:srgbClr val="087F83"/>
                              </a:solidFill>
                              <a:latin typeface="Cambria Math" panose="02040503050406030204" pitchFamily="18" charset="0"/>
                              <a:ea typeface="Cambria Math"/>
                              <a:cs typeface="Cambria Math"/>
                            </a:rPr>
                            <m:t>term</m:t>
                          </m:r>
                        </m:lim>
                      </m:limLow>
                      <m:r>
                        <a:rPr lang="en-GB" sz="2550">
                          <a:solidFill>
                            <a:srgbClr val="087F83"/>
                          </a:solidFill>
                          <a:latin typeface="Cambria Math"/>
                          <a:ea typeface="Cambria Math"/>
                          <a:cs typeface="Cambria Math"/>
                        </a:rPr>
                        <m:t>⋅</m:t>
                      </m:r>
                      <m:limLow>
                        <m:limLowPr>
                          <m:ctrlPr>
                            <a:rPr lang="en-GB" sz="255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2550" i="1">
                                  <a:solidFill>
                                    <a:srgbClr val="087F83"/>
                                  </a:solidFill>
                                  <a:latin typeface="Cambria Math" panose="02040503050406030204" pitchFamily="18" charset="0"/>
                                  <a:ea typeface="Cambria Math"/>
                                  <a:cs typeface="Cambria Math"/>
                                </a:rPr>
                              </m:ctrlPr>
                            </m:groupChrPr>
                            <m:e>
                              <m:f>
                                <m:fPr>
                                  <m:ctrlPr>
                                    <a:rPr lang="en-GB" sz="2550">
                                      <a:solidFill>
                                        <a:srgbClr val="087F83"/>
                                      </a:solidFill>
                                      <a:latin typeface="Cambria Math"/>
                                      <a:ea typeface="Cambria Math"/>
                                      <a:cs typeface="Cambria Math"/>
                                    </a:rPr>
                                  </m:ctrlPr>
                                </m:fPr>
                                <m:num>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𝑓</m:t>
                                      </m:r>
                                    </m:e>
                                    <m:sub>
                                      <m:r>
                                        <a:rPr lang="en-GB" sz="2550">
                                          <a:solidFill>
                                            <a:srgbClr val="087F83"/>
                                          </a:solidFill>
                                          <a:latin typeface="Cambria Math"/>
                                          <a:ea typeface="Cambria Math"/>
                                          <a:cs typeface="Cambria Math"/>
                                        </a:rPr>
                                        <m:t>𝛉</m:t>
                                      </m:r>
                                    </m:sub>
                                  </m:sSub>
                                  <m:d>
                                    <m:dPr>
                                      <m:ctrlPr>
                                        <a:rPr lang="en-GB" sz="2550" i="1">
                                          <a:solidFill>
                                            <a:srgbClr val="087F83"/>
                                          </a:solidFill>
                                          <a:latin typeface="Cambria Math" panose="02040503050406030204" pitchFamily="18" charset="0"/>
                                          <a:ea typeface="Cambria Math"/>
                                          <a:cs typeface="Cambria Math"/>
                                        </a:rPr>
                                      </m:ctrlPr>
                                    </m:dPr>
                                    <m:e>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𝐱</m:t>
                                          </m:r>
                                        </m:e>
                                        <m:sub>
                                          <m:r>
                                            <a:rPr lang="en-GB" sz="2550">
                                              <a:solidFill>
                                                <a:srgbClr val="087F83"/>
                                              </a:solidFill>
                                              <a:latin typeface="Cambria Math"/>
                                              <a:ea typeface="Cambria Math"/>
                                              <a:cs typeface="Cambria Math"/>
                                            </a:rPr>
                                            <m:t>𝑖</m:t>
                                          </m:r>
                                        </m:sub>
                                      </m:sSub>
                                    </m:e>
                                  </m:d>
                                </m:num>
                                <m:den>
                                  <m:r>
                                    <a:rPr lang="en-GB" sz="2550">
                                      <a:solidFill>
                                        <a:srgbClr val="087F83"/>
                                      </a:solidFill>
                                      <a:latin typeface="Cambria Math"/>
                                      <a:ea typeface="Cambria Math"/>
                                      <a:cs typeface="Cambria Math"/>
                                    </a:rPr>
                                    <m:t>𝜕</m:t>
                                  </m:r>
                                  <m:sSub>
                                    <m:sSubPr>
                                      <m:ctrlPr>
                                        <a:rPr lang="en-GB" sz="2550">
                                          <a:solidFill>
                                            <a:srgbClr val="087F83"/>
                                          </a:solidFill>
                                          <a:latin typeface="Cambria Math"/>
                                          <a:ea typeface="Cambria Math"/>
                                          <a:cs typeface="Cambria Math"/>
                                        </a:rPr>
                                      </m:ctrlPr>
                                    </m:sSubPr>
                                    <m:e>
                                      <m:r>
                                        <a:rPr lang="en-GB" sz="2550">
                                          <a:solidFill>
                                            <a:srgbClr val="087F83"/>
                                          </a:solidFill>
                                          <a:latin typeface="Cambria Math"/>
                                          <a:ea typeface="Cambria Math"/>
                                          <a:cs typeface="Cambria Math"/>
                                        </a:rPr>
                                        <m:t>𝜃</m:t>
                                      </m:r>
                                    </m:e>
                                    <m:sub>
                                      <m:r>
                                        <a:rPr lang="en-GB" sz="2550">
                                          <a:solidFill>
                                            <a:srgbClr val="087F83"/>
                                          </a:solidFill>
                                          <a:latin typeface="Cambria Math"/>
                                          <a:ea typeface="Cambria Math"/>
                                          <a:cs typeface="Cambria Math"/>
                                        </a:rPr>
                                        <m:t>𝑗</m:t>
                                      </m:r>
                                    </m:sub>
                                  </m:sSub>
                                </m:den>
                              </m:f>
                            </m:e>
                          </m:groupChr>
                        </m:e>
                        <m:lim>
                          <m:r>
                            <m:rPr>
                              <m:sty m:val="p"/>
                            </m:rPr>
                            <a:rPr lang="it-IT" sz="2550" b="0" i="0" smtClean="0">
                              <a:solidFill>
                                <a:srgbClr val="087F83"/>
                              </a:solidFill>
                              <a:latin typeface="Cambria Math" panose="02040503050406030204" pitchFamily="18" charset="0"/>
                              <a:ea typeface="Cambria Math"/>
                              <a:cs typeface="Cambria Math"/>
                            </a:rPr>
                            <m:t>third</m:t>
                          </m:r>
                          <m:r>
                            <a:rPr lang="it-IT" sz="2550" b="0" i="0" smtClean="0">
                              <a:solidFill>
                                <a:srgbClr val="087F83"/>
                              </a:solidFill>
                              <a:latin typeface="Cambria Math" panose="02040503050406030204" pitchFamily="18" charset="0"/>
                              <a:ea typeface="Cambria Math"/>
                              <a:cs typeface="Cambria Math"/>
                            </a:rPr>
                            <m:t> </m:t>
                          </m:r>
                          <m:r>
                            <m:rPr>
                              <m:sty m:val="p"/>
                            </m:rPr>
                            <a:rPr lang="it-IT" sz="2550" b="0" i="0" smtClean="0">
                              <a:solidFill>
                                <a:srgbClr val="087F83"/>
                              </a:solidFill>
                              <a:latin typeface="Cambria Math" panose="02040503050406030204" pitchFamily="18" charset="0"/>
                              <a:ea typeface="Cambria Math"/>
                              <a:cs typeface="Cambria Math"/>
                            </a:rPr>
                            <m:t>term</m:t>
                          </m:r>
                        </m:lim>
                      </m:limLow>
                    </m:oMath>
                  </m:oMathPara>
                </a14:m>
                <a:endParaRPr lang="it-IT" dirty="0"/>
              </a:p>
            </p:txBody>
          </p:sp>
        </mc:Choice>
        <mc:Fallback xmlns="">
          <p:sp>
            <p:nvSpPr>
              <p:cNvPr id="6" name="CasellaDiTesto 5">
                <a:extLst>
                  <a:ext uri="{FF2B5EF4-FFF2-40B4-BE49-F238E27FC236}">
                    <a16:creationId xmlns:a16="http://schemas.microsoft.com/office/drawing/2014/main" id="{109FC152-7A51-2E66-5AEA-01FE8C50C53C}"/>
                  </a:ext>
                </a:extLst>
              </p:cNvPr>
              <p:cNvSpPr txBox="1">
                <a:spLocks noRot="1" noChangeAspect="1" noMove="1" noResize="1" noEditPoints="1" noAdjustHandles="1" noChangeArrowheads="1" noChangeShapeType="1" noTextEdit="1"/>
              </p:cNvSpPr>
              <p:nvPr/>
            </p:nvSpPr>
            <p:spPr>
              <a:xfrm>
                <a:off x="1856994" y="2731147"/>
                <a:ext cx="8478012" cy="1290931"/>
              </a:xfrm>
              <a:prstGeom prst="rect">
                <a:avLst/>
              </a:prstGeom>
              <a:blipFill>
                <a:blip r:embed="rId6"/>
                <a:stretch>
                  <a:fillRect/>
                </a:stretch>
              </a:blipFill>
            </p:spPr>
            <p:txBody>
              <a:bodyPr/>
              <a:lstStyle/>
              <a:p>
                <a:r>
                  <a:rPr lang="it-IT">
                    <a:noFill/>
                  </a:rPr>
                  <a:t> </a:t>
                </a:r>
              </a:p>
            </p:txBody>
          </p:sp>
        </mc:Fallback>
      </mc:AlternateContent>
    </p:spTree>
    <p:extLst>
      <p:ext uri="{BB962C8B-B14F-4D97-AF65-F5344CB8AC3E}">
        <p14:creationId xmlns:p14="http://schemas.microsoft.com/office/powerpoint/2010/main" val="12934605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D3B8413-7B06-41E4-ACCF-BCAC03AF8952}"/>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Empirical gradient and gradient descent</a:t>
            </a:r>
          </a:p>
        </p:txBody>
      </p:sp>
      <p:sp>
        <p:nvSpPr>
          <p:cNvPr id="2" name="lead">
            <a:extLst>
              <a:ext uri="{FF2B5EF4-FFF2-40B4-BE49-F238E27FC236}">
                <a16:creationId xmlns:a16="http://schemas.microsoft.com/office/drawing/2014/main" id="{3AD883BD-705F-4276-BD12-B02786B8149F}"/>
              </a:ext>
            </a:extLst>
          </p:cNvPr>
          <p:cNvSpPr>
            <a:spLocks noGrp="1"/>
          </p:cNvSpPr>
          <p:nvPr/>
        </p:nvSpPr>
        <p:spPr>
          <a:xfrm>
            <a:off x="723900" y="85725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The empirical loss is a sum, so we add the observation derivatives.</a:t>
            </a:r>
          </a:p>
        </p:txBody>
      </p:sp>
      <p:sp>
        <p:nvSpPr>
          <p:cNvPr id="3" name="footer_course">
            <a:extLst>
              <a:ext uri="{FF2B5EF4-FFF2-40B4-BE49-F238E27FC236}">
                <a16:creationId xmlns:a16="http://schemas.microsoft.com/office/drawing/2014/main" id="{4E271F62-6841-46A7-9A36-9F42E2508BB8}"/>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3E89FD8A-9165-4963-A019-C462CE94E899}"/>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28</a:t>
            </a:r>
          </a:p>
        </p:txBody>
      </p:sp>
      <p:sp>
        <p:nvSpPr>
          <p:cNvPr id="10" name="step_0_sigma_label">
            <a:extLst>
              <a:ext uri="{FF2B5EF4-FFF2-40B4-BE49-F238E27FC236}">
                <a16:creationId xmlns:a16="http://schemas.microsoft.com/office/drawing/2014/main" id="{4DD37E14-D038-4327-8719-69308A36A335}"/>
              </a:ext>
            </a:extLst>
          </p:cNvPr>
          <p:cNvSpPr>
            <a:spLocks noGrp="1"/>
          </p:cNvSpPr>
          <p:nvPr/>
        </p:nvSpPr>
        <p:spPr>
          <a:xfrm>
            <a:off x="550163" y="2683879"/>
            <a:ext cx="5238750" cy="266700"/>
          </a:xfrm>
          <a:prstGeom prst="rect">
            <a:avLst/>
          </a:prstGeom>
          <a:noFill/>
          <a:ln w="0">
            <a:noFill/>
          </a:ln>
        </p:spPr>
        <p:txBody>
          <a:bodyPr wrap="square" lIns="0" tIns="0" rIns="0" bIns="0" anchor="ctr">
            <a:noAutofit/>
          </a:bodyPr>
          <a:lstStyle/>
          <a:p>
            <a:pPr algn="ctr">
              <a:lnSpc>
                <a:spcPct val="110000"/>
              </a:lnSpc>
              <a:buNone/>
              <a:defRPr sz="1725" b="1">
                <a:solidFill>
                  <a:srgbClr val="182D45"/>
                </a:solidFill>
                <a:latin typeface="DejaVu Sans"/>
                <a:ea typeface="DejaVu Sans"/>
                <a:cs typeface="DejaVu Sans"/>
              </a:defRPr>
            </a:pPr>
            <a:r>
              <a:rPr sz="1725" b="1" dirty="0">
                <a:solidFill>
                  <a:srgbClr val="182D45"/>
                </a:solidFill>
                <a:latin typeface="DejaVu Sans"/>
                <a:ea typeface="DejaVu Sans"/>
                <a:cs typeface="DejaVu Sans"/>
              </a:rPr>
              <a:t>Sigmoid applied to each entry</a:t>
            </a:r>
          </a:p>
        </p:txBody>
      </p:sp>
      <mc:AlternateContent xmlns:mc="http://schemas.openxmlformats.org/markup-compatibility/2006" xmlns:a14="http://schemas.microsoft.com/office/drawing/2010/main">
        <mc:Choice Requires="a14">
          <p:sp>
            <p:nvSpPr>
              <p:cNvPr id="11" name="step_0_sigma_definition" descr="\boldsymbol\sigma\!\left(\begin{pmatrix}s_1\\\vdots\\s_N\end{pmatrix}\right)\coloneqq\begin{pmatrix}\sigma(s_1)\\\vdots\\\sigma(s_N)\end{pmatrix}">
                <a:extLst>
                  <a:ext uri="{FF2B5EF4-FFF2-40B4-BE49-F238E27FC236}">
                    <a16:creationId xmlns:a16="http://schemas.microsoft.com/office/drawing/2014/main" id="{6ABB02C7-1C2E-40E0-8CB0-51E2DB9076CC}"/>
                  </a:ext>
                </a:extLst>
              </p:cNvPr>
              <p:cNvSpPr>
                <a:spLocks noGrp="1"/>
              </p:cNvSpPr>
              <p:nvPr/>
            </p:nvSpPr>
            <p:spPr>
              <a:xfrm>
                <a:off x="762001" y="2898267"/>
                <a:ext cx="5238750" cy="742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smtClean="0">
                          <a:solidFill>
                            <a:srgbClr val="087F83"/>
                          </a:solidFill>
                          <a:latin typeface="Cambria Math"/>
                          <a:ea typeface="Cambria Math"/>
                          <a:cs typeface="Cambria Math"/>
                        </a:rPr>
                        <m:t>𝛔</m:t>
                      </m:r>
                      <m:d>
                        <m:dPr>
                          <m:ctrlPr>
                            <a:rPr lang="it-IT" sz="2100" i="1">
                              <a:solidFill>
                                <a:srgbClr val="087F83"/>
                              </a:solidFill>
                              <a:latin typeface="Cambria Math" panose="02040503050406030204" pitchFamily="18" charset="0"/>
                              <a:ea typeface="Cambria Math"/>
                              <a:cs typeface="Cambria Math"/>
                            </a:rPr>
                          </m:ctrlPr>
                        </m:dPr>
                        <m:e>
                          <m:sSup>
                            <m:sSupPr>
                              <m:ctrlPr>
                                <a:rPr lang="it-IT" sz="2100" i="1">
                                  <a:solidFill>
                                    <a:srgbClr val="087F83"/>
                                  </a:solidFill>
                                  <a:latin typeface="Cambria Math" panose="02040503050406030204" pitchFamily="18" charset="0"/>
                                  <a:ea typeface="Cambria Math"/>
                                  <a:cs typeface="Cambria Math"/>
                                </a:rPr>
                              </m:ctrlPr>
                            </m:sSupPr>
                            <m:e>
                              <m:d>
                                <m:dPr>
                                  <m:ctrlPr>
                                    <a:rPr lang="it-IT" sz="2100" i="1">
                                      <a:solidFill>
                                        <a:srgbClr val="087F83"/>
                                      </a:solidFill>
                                      <a:latin typeface="Cambria Math" panose="02040503050406030204" pitchFamily="18" charset="0"/>
                                      <a:ea typeface="Cambria Math"/>
                                      <a:cs typeface="Cambria Math"/>
                                    </a:rPr>
                                  </m:ctrlPr>
                                </m:dPr>
                                <m:e>
                                  <m:sSub>
                                    <m:sSubPr>
                                      <m:ctrlPr>
                                        <a:rPr lang="it-IT" sz="2100" i="1">
                                          <a:solidFill>
                                            <a:srgbClr val="087F83"/>
                                          </a:solidFill>
                                          <a:latin typeface="Cambria Math" panose="02040503050406030204" pitchFamily="18" charset="0"/>
                                          <a:ea typeface="Cambria Math"/>
                                          <a:cs typeface="Cambria Math"/>
                                        </a:rPr>
                                      </m:ctrlPr>
                                    </m:sSubPr>
                                    <m:e>
                                      <m:r>
                                        <a:rPr lang="it-IT" sz="2100" i="1">
                                          <a:solidFill>
                                            <a:srgbClr val="087F83"/>
                                          </a:solidFill>
                                          <a:latin typeface="Cambria Math" panose="02040503050406030204" pitchFamily="18" charset="0"/>
                                          <a:ea typeface="Cambria Math"/>
                                          <a:cs typeface="Cambria Math"/>
                                        </a:rPr>
                                        <m:t>𝑠</m:t>
                                      </m:r>
                                    </m:e>
                                    <m:sub>
                                      <m:r>
                                        <a:rPr lang="it-IT" sz="2100" i="1">
                                          <a:solidFill>
                                            <a:srgbClr val="087F83"/>
                                          </a:solidFill>
                                          <a:latin typeface="Cambria Math" panose="02040503050406030204" pitchFamily="18" charset="0"/>
                                          <a:ea typeface="Cambria Math"/>
                                          <a:cs typeface="Cambria Math"/>
                                        </a:rPr>
                                        <m:t>1</m:t>
                                      </m:r>
                                    </m:sub>
                                  </m:sSub>
                                  <m:r>
                                    <a:rPr lang="it-IT" sz="2100" i="1">
                                      <a:solidFill>
                                        <a:srgbClr val="087F83"/>
                                      </a:solidFill>
                                      <a:latin typeface="Cambria Math" panose="02040503050406030204" pitchFamily="18" charset="0"/>
                                      <a:ea typeface="Cambria Math"/>
                                      <a:cs typeface="Cambria Math"/>
                                    </a:rPr>
                                    <m:t>,…,</m:t>
                                  </m:r>
                                  <m:sSub>
                                    <m:sSubPr>
                                      <m:ctrlPr>
                                        <a:rPr lang="it-IT" sz="2100" i="1">
                                          <a:solidFill>
                                            <a:srgbClr val="087F83"/>
                                          </a:solidFill>
                                          <a:latin typeface="Cambria Math" panose="02040503050406030204" pitchFamily="18" charset="0"/>
                                          <a:ea typeface="Cambria Math"/>
                                          <a:cs typeface="Cambria Math"/>
                                        </a:rPr>
                                      </m:ctrlPr>
                                    </m:sSubPr>
                                    <m:e>
                                      <m:r>
                                        <a:rPr lang="it-IT" sz="2100" i="1">
                                          <a:solidFill>
                                            <a:srgbClr val="087F83"/>
                                          </a:solidFill>
                                          <a:latin typeface="Cambria Math" panose="02040503050406030204" pitchFamily="18" charset="0"/>
                                          <a:ea typeface="Cambria Math"/>
                                          <a:cs typeface="Cambria Math"/>
                                        </a:rPr>
                                        <m:t>𝑠</m:t>
                                      </m:r>
                                    </m:e>
                                    <m:sub>
                                      <m:r>
                                        <a:rPr lang="it-IT" sz="2100" i="1">
                                          <a:solidFill>
                                            <a:srgbClr val="087F83"/>
                                          </a:solidFill>
                                          <a:latin typeface="Cambria Math" panose="02040503050406030204" pitchFamily="18" charset="0"/>
                                          <a:ea typeface="Cambria Math"/>
                                          <a:cs typeface="Cambria Math"/>
                                        </a:rPr>
                                        <m:t>𝑁</m:t>
                                      </m:r>
                                    </m:sub>
                                  </m:sSub>
                                </m:e>
                              </m:d>
                            </m:e>
                            <m:sup>
                              <m:r>
                                <a:rPr lang="it-IT" sz="2100" b="0" i="1" smtClean="0">
                                  <a:solidFill>
                                    <a:srgbClr val="087F83"/>
                                  </a:solidFill>
                                  <a:latin typeface="Cambria Math" panose="02040503050406030204" pitchFamily="18" charset="0"/>
                                  <a:ea typeface="Cambria Math"/>
                                  <a:cs typeface="Cambria Math"/>
                                </a:rPr>
                                <m:t>⊤</m:t>
                              </m:r>
                            </m:sup>
                          </m:sSup>
                        </m:e>
                      </m:d>
                      <m:r>
                        <a:rPr lang="en-GB" sz="2100">
                          <a:solidFill>
                            <a:srgbClr val="087F83"/>
                          </a:solidFill>
                          <a:latin typeface="Cambria Math"/>
                          <a:ea typeface="Cambria Math"/>
                          <a:cs typeface="Cambria Math"/>
                        </a:rPr>
                        <m:t>≔</m:t>
                      </m:r>
                      <m:sSup>
                        <m:sSupPr>
                          <m:ctrlPr>
                            <a:rPr lang="en-GB" sz="2100" i="1">
                              <a:solidFill>
                                <a:srgbClr val="087F83"/>
                              </a:solidFill>
                              <a:latin typeface="Cambria Math" panose="02040503050406030204" pitchFamily="18" charset="0"/>
                              <a:ea typeface="Cambria Math"/>
                              <a:cs typeface="Cambria Math"/>
                            </a:rPr>
                          </m:ctrlPr>
                        </m:sSupPr>
                        <m:e>
                          <m:d>
                            <m:dPr>
                              <m:ctrlPr>
                                <a:rPr lang="en-GB" sz="2100">
                                  <a:solidFill>
                                    <a:srgbClr val="087F83"/>
                                  </a:solidFill>
                                  <a:latin typeface="Cambria Math"/>
                                  <a:ea typeface="Cambria Math"/>
                                  <a:cs typeface="Cambria Math"/>
                                </a:rPr>
                              </m:ctrlPr>
                            </m:dPr>
                            <m:e>
                              <m:r>
                                <a:rPr lang="en-GB" sz="2100">
                                  <a:solidFill>
                                    <a:srgbClr val="087F83"/>
                                  </a:solidFill>
                                  <a:latin typeface="Cambria Math"/>
                                  <a:ea typeface="Cambria Math"/>
                                  <a:cs typeface="Cambria Math"/>
                                </a:rPr>
                                <m:t>𝜎</m:t>
                              </m:r>
                              <m:d>
                                <m:dPr>
                                  <m:ctrlPr>
                                    <a:rPr lang="en-GB" sz="2100" i="1">
                                      <a:solidFill>
                                        <a:srgbClr val="087F83"/>
                                      </a:solidFill>
                                      <a:latin typeface="Cambria Math" panose="02040503050406030204" pitchFamily="18" charset="0"/>
                                      <a:ea typeface="Cambria Math"/>
                                      <a:cs typeface="Cambria Math"/>
                                    </a:rPr>
                                  </m:ctrlPr>
                                </m:dPr>
                                <m:e>
                                  <m:sSub>
                                    <m:sSubPr>
                                      <m:ctrlPr>
                                        <a:rPr lang="en-GB" sz="2100">
                                          <a:solidFill>
                                            <a:srgbClr val="087F83"/>
                                          </a:solidFill>
                                          <a:latin typeface="Cambria Math"/>
                                          <a:ea typeface="Cambria Math"/>
                                          <a:cs typeface="Cambria Math"/>
                                        </a:rPr>
                                      </m:ctrlPr>
                                    </m:sSubPr>
                                    <m:e>
                                      <m:r>
                                        <a:rPr lang="en-GB" sz="2100">
                                          <a:solidFill>
                                            <a:srgbClr val="087F83"/>
                                          </a:solidFill>
                                          <a:latin typeface="Cambria Math"/>
                                          <a:ea typeface="Cambria Math"/>
                                          <a:cs typeface="Cambria Math"/>
                                        </a:rPr>
                                        <m:t>𝑠</m:t>
                                      </m:r>
                                    </m:e>
                                    <m:sub>
                                      <m:r>
                                        <a:rPr lang="en-GB" sz="2100">
                                          <a:solidFill>
                                            <a:srgbClr val="087F83"/>
                                          </a:solidFill>
                                          <a:latin typeface="Cambria Math"/>
                                          <a:ea typeface="Cambria Math"/>
                                          <a:cs typeface="Cambria Math"/>
                                        </a:rPr>
                                        <m:t>1</m:t>
                                      </m:r>
                                    </m:sub>
                                  </m:sSub>
                                </m:e>
                              </m:d>
                              <m:r>
                                <a:rPr lang="it-IT" sz="2100" b="0" i="1" smtClean="0">
                                  <a:solidFill>
                                    <a:srgbClr val="087F83"/>
                                  </a:solidFill>
                                  <a:latin typeface="Cambria Math" panose="02040503050406030204" pitchFamily="18" charset="0"/>
                                  <a:ea typeface="Cambria Math"/>
                                  <a:cs typeface="Cambria Math"/>
                                </a:rPr>
                                <m:t>,…,</m:t>
                              </m:r>
                              <m:r>
                                <a:rPr lang="en-GB" sz="2100">
                                  <a:solidFill>
                                    <a:srgbClr val="087F83"/>
                                  </a:solidFill>
                                  <a:latin typeface="Cambria Math"/>
                                  <a:ea typeface="Cambria Math"/>
                                  <a:cs typeface="Cambria Math"/>
                                </a:rPr>
                                <m:t>𝜎</m:t>
                              </m:r>
                              <m:d>
                                <m:dPr>
                                  <m:ctrlPr>
                                    <a:rPr lang="en-GB" sz="2100" i="1">
                                      <a:solidFill>
                                        <a:srgbClr val="087F83"/>
                                      </a:solidFill>
                                      <a:latin typeface="Cambria Math" panose="02040503050406030204" pitchFamily="18" charset="0"/>
                                      <a:ea typeface="Cambria Math"/>
                                      <a:cs typeface="Cambria Math"/>
                                    </a:rPr>
                                  </m:ctrlPr>
                                </m:dPr>
                                <m:e>
                                  <m:sSub>
                                    <m:sSubPr>
                                      <m:ctrlPr>
                                        <a:rPr lang="en-GB" sz="2100">
                                          <a:solidFill>
                                            <a:srgbClr val="087F83"/>
                                          </a:solidFill>
                                          <a:latin typeface="Cambria Math"/>
                                          <a:ea typeface="Cambria Math"/>
                                          <a:cs typeface="Cambria Math"/>
                                        </a:rPr>
                                      </m:ctrlPr>
                                    </m:sSubPr>
                                    <m:e>
                                      <m:r>
                                        <a:rPr lang="en-GB" sz="2100">
                                          <a:solidFill>
                                            <a:srgbClr val="087F83"/>
                                          </a:solidFill>
                                          <a:latin typeface="Cambria Math"/>
                                          <a:ea typeface="Cambria Math"/>
                                          <a:cs typeface="Cambria Math"/>
                                        </a:rPr>
                                        <m:t>𝑠</m:t>
                                      </m:r>
                                    </m:e>
                                    <m:sub>
                                      <m:r>
                                        <a:rPr lang="it-IT" sz="2100" b="0" i="1" smtClean="0">
                                          <a:solidFill>
                                            <a:srgbClr val="087F83"/>
                                          </a:solidFill>
                                          <a:latin typeface="Cambria Math" panose="02040503050406030204" pitchFamily="18" charset="0"/>
                                          <a:ea typeface="Cambria Math"/>
                                          <a:cs typeface="Cambria Math"/>
                                        </a:rPr>
                                        <m:t>𝑁</m:t>
                                      </m:r>
                                    </m:sub>
                                  </m:sSub>
                                </m:e>
                              </m:d>
                            </m:e>
                          </m:d>
                        </m:e>
                        <m:sup>
                          <m:r>
                            <a:rPr lang="it-IT" sz="2100" b="0" i="1" smtClean="0">
                              <a:solidFill>
                                <a:srgbClr val="087F83"/>
                              </a:solidFill>
                              <a:latin typeface="Cambria Math" panose="02040503050406030204" pitchFamily="18" charset="0"/>
                              <a:ea typeface="Cambria Math"/>
                              <a:cs typeface="Cambria Math"/>
                            </a:rPr>
                            <m:t>⊤</m:t>
                          </m:r>
                        </m:sup>
                      </m:sSup>
                    </m:oMath>
                  </m:oMathPara>
                </a14:m>
                <a:endParaRPr lang="en-GB" sz="2100" dirty="0"/>
              </a:p>
            </p:txBody>
          </p:sp>
        </mc:Choice>
        <mc:Fallback xmlns="">
          <p:sp>
            <p:nvSpPr>
              <p:cNvPr id="11" name="step_0_sigma_definition" descr="\boldsymbol\sigma\!\left(\begin{pmatrix}s_1\\\vdots\\s_N\end{pmatrix}\right)\coloneqq\begin{pmatrix}\sigma(s_1)\\\vdots\\\sigma(s_N)\end{pmatrix}">
                <a:extLst>
                  <a:ext uri="{FF2B5EF4-FFF2-40B4-BE49-F238E27FC236}">
                    <a16:creationId xmlns:a16="http://schemas.microsoft.com/office/drawing/2014/main" id="{6ABB02C7-1C2E-40E0-8CB0-51E2DB9076CC}"/>
                  </a:ext>
                </a:extLst>
              </p:cNvPr>
              <p:cNvSpPr>
                <a:spLocks noGrp="1" noRot="1" noChangeAspect="1" noMove="1" noResize="1" noEditPoints="1" noAdjustHandles="1" noChangeArrowheads="1" noChangeShapeType="1" noTextEdit="1"/>
              </p:cNvSpPr>
              <p:nvPr/>
            </p:nvSpPr>
            <p:spPr>
              <a:xfrm>
                <a:off x="762001" y="2898267"/>
                <a:ext cx="5238750" cy="742950"/>
              </a:xfrm>
              <a:prstGeom prst="rect">
                <a:avLst/>
              </a:prstGeom>
              <a:blipFill>
                <a:blip r:embed="rId3"/>
                <a:stretch>
                  <a:fillRect/>
                </a:stretch>
              </a:blipFill>
              <a:ln w="0">
                <a:noFill/>
              </a:ln>
            </p:spPr>
            <p:txBody>
              <a:bodyPr/>
              <a:lstStyle/>
              <a:p>
                <a:r>
                  <a:rPr lang="it-IT">
                    <a:noFill/>
                  </a:rPr>
                  <a:t> </a:t>
                </a:r>
              </a:p>
            </p:txBody>
          </p:sp>
        </mc:Fallback>
      </mc:AlternateContent>
      <p:sp>
        <p:nvSpPr>
          <p:cNvPr id="12" name="step_1_probability_label">
            <a:extLst>
              <a:ext uri="{FF2B5EF4-FFF2-40B4-BE49-F238E27FC236}">
                <a16:creationId xmlns:a16="http://schemas.microsoft.com/office/drawing/2014/main" id="{C38C1056-D628-44BB-9841-E5570B8AA18C}"/>
              </a:ext>
            </a:extLst>
          </p:cNvPr>
          <p:cNvSpPr>
            <a:spLocks noGrp="1"/>
          </p:cNvSpPr>
          <p:nvPr/>
        </p:nvSpPr>
        <p:spPr>
          <a:xfrm>
            <a:off x="6191250" y="2683879"/>
            <a:ext cx="5143500" cy="266700"/>
          </a:xfrm>
          <a:prstGeom prst="rect">
            <a:avLst/>
          </a:prstGeom>
          <a:noFill/>
          <a:ln w="0">
            <a:noFill/>
          </a:ln>
        </p:spPr>
        <p:txBody>
          <a:bodyPr wrap="square" lIns="0" tIns="0" rIns="0" bIns="0" anchor="ctr">
            <a:noAutofit/>
          </a:bodyPr>
          <a:lstStyle/>
          <a:p>
            <a:pPr algn="ctr">
              <a:lnSpc>
                <a:spcPct val="110000"/>
              </a:lnSpc>
              <a:buNone/>
              <a:defRPr sz="1725" b="1">
                <a:solidFill>
                  <a:srgbClr val="182D45"/>
                </a:solidFill>
                <a:latin typeface="DejaVu Sans"/>
                <a:ea typeface="DejaVu Sans"/>
                <a:cs typeface="DejaVu Sans"/>
              </a:defRPr>
            </a:pPr>
            <a:r>
              <a:rPr sz="1725" b="1" dirty="0">
                <a:solidFill>
                  <a:srgbClr val="182D45"/>
                </a:solidFill>
                <a:latin typeface="DejaVu Sans"/>
                <a:ea typeface="DejaVu Sans"/>
                <a:cs typeface="DejaVu Sans"/>
              </a:rPr>
              <a:t>One probability per observation</a:t>
            </a:r>
          </a:p>
        </p:txBody>
      </p:sp>
      <mc:AlternateContent xmlns:mc="http://schemas.openxmlformats.org/markup-compatibility/2006" xmlns:a14="http://schemas.microsoft.com/office/drawing/2010/main">
        <mc:Choice Requires="a14">
          <p:sp>
            <p:nvSpPr>
              <p:cNvPr id="13" name="step_1_probability_definition" descr="\boldsymbol p(\boldsymbol\theta)\coloneqq\begin{pmatrix}p_{\boldsymbol\theta}(\boldsymbol x_1)\\\vdots\\p_{\boldsymbol\theta}(\boldsymbol x_N)\end{pmatrix}">
                <a:extLst>
                  <a:ext uri="{FF2B5EF4-FFF2-40B4-BE49-F238E27FC236}">
                    <a16:creationId xmlns:a16="http://schemas.microsoft.com/office/drawing/2014/main" id="{A88CB0C8-9922-43A2-BF2E-6BACA544F85E}"/>
                  </a:ext>
                </a:extLst>
              </p:cNvPr>
              <p:cNvSpPr>
                <a:spLocks noGrp="1"/>
              </p:cNvSpPr>
              <p:nvPr/>
            </p:nvSpPr>
            <p:spPr>
              <a:xfrm>
                <a:off x="6267452" y="2898267"/>
                <a:ext cx="5143500" cy="742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087F83"/>
                          </a:solidFill>
                          <a:latin typeface="Cambria Math"/>
                          <a:ea typeface="Cambria Math"/>
                          <a:cs typeface="Cambria Math"/>
                        </a:rPr>
                        <m:t>𝐩</m:t>
                      </m:r>
                      <m:d>
                        <m:dPr>
                          <m:ctrlPr>
                            <a:rPr lang="en-GB" sz="2100">
                              <a:solidFill>
                                <a:srgbClr val="087F83"/>
                              </a:solidFill>
                              <a:latin typeface="Cambria Math"/>
                              <a:ea typeface="Cambria Math"/>
                              <a:cs typeface="Cambria Math"/>
                            </a:rPr>
                          </m:ctrlPr>
                        </m:dPr>
                        <m:e>
                          <m:r>
                            <a:rPr lang="en-GB" sz="2100">
                              <a:solidFill>
                                <a:srgbClr val="087F83"/>
                              </a:solidFill>
                              <a:latin typeface="Cambria Math"/>
                              <a:ea typeface="Cambria Math"/>
                              <a:cs typeface="Cambria Math"/>
                            </a:rPr>
                            <m:t>𝛉</m:t>
                          </m:r>
                        </m:e>
                      </m:d>
                      <m:r>
                        <a:rPr lang="en-GB" sz="2100">
                          <a:solidFill>
                            <a:srgbClr val="087F83"/>
                          </a:solidFill>
                          <a:latin typeface="Cambria Math"/>
                          <a:ea typeface="Cambria Math"/>
                          <a:cs typeface="Cambria Math"/>
                        </a:rPr>
                        <m:t>≔</m:t>
                      </m:r>
                      <m:sSup>
                        <m:sSupPr>
                          <m:ctrlPr>
                            <a:rPr lang="en-GB" sz="2100" i="1">
                              <a:solidFill>
                                <a:srgbClr val="087F83"/>
                              </a:solidFill>
                              <a:latin typeface="Cambria Math" panose="02040503050406030204" pitchFamily="18" charset="0"/>
                              <a:ea typeface="Cambria Math"/>
                              <a:cs typeface="Cambria Math"/>
                            </a:rPr>
                          </m:ctrlPr>
                        </m:sSupPr>
                        <m:e>
                          <m:d>
                            <m:dPr>
                              <m:ctrlPr>
                                <a:rPr lang="en-GB" sz="2100" i="1">
                                  <a:solidFill>
                                    <a:srgbClr val="087F83"/>
                                  </a:solidFill>
                                  <a:latin typeface="Cambria Math" panose="02040503050406030204" pitchFamily="18" charset="0"/>
                                  <a:ea typeface="Cambria Math"/>
                                  <a:cs typeface="Cambria Math"/>
                                </a:rPr>
                              </m:ctrlPr>
                            </m:dPr>
                            <m:e>
                              <m:sSub>
                                <m:sSubPr>
                                  <m:ctrlPr>
                                    <a:rPr lang="en-GB" sz="2100">
                                      <a:solidFill>
                                        <a:srgbClr val="087F83"/>
                                      </a:solidFill>
                                      <a:latin typeface="Cambria Math"/>
                                      <a:ea typeface="Cambria Math"/>
                                      <a:cs typeface="Cambria Math"/>
                                    </a:rPr>
                                  </m:ctrlPr>
                                </m:sSubPr>
                                <m:e>
                                  <m:r>
                                    <a:rPr lang="en-GB" sz="2100">
                                      <a:solidFill>
                                        <a:srgbClr val="087F83"/>
                                      </a:solidFill>
                                      <a:latin typeface="Cambria Math"/>
                                      <a:ea typeface="Cambria Math"/>
                                      <a:cs typeface="Cambria Math"/>
                                    </a:rPr>
                                    <m:t>𝑝</m:t>
                                  </m:r>
                                </m:e>
                                <m:sub>
                                  <m:r>
                                    <a:rPr lang="en-GB" sz="2100">
                                      <a:solidFill>
                                        <a:srgbClr val="087F83"/>
                                      </a:solidFill>
                                      <a:latin typeface="Cambria Math"/>
                                      <a:ea typeface="Cambria Math"/>
                                      <a:cs typeface="Cambria Math"/>
                                    </a:rPr>
                                    <m:t>𝛉</m:t>
                                  </m:r>
                                </m:sub>
                              </m:sSub>
                              <m:d>
                                <m:dPr>
                                  <m:ctrlPr>
                                    <a:rPr lang="en-GB" sz="2100" i="1">
                                      <a:solidFill>
                                        <a:srgbClr val="087F83"/>
                                      </a:solidFill>
                                      <a:latin typeface="Cambria Math" panose="02040503050406030204" pitchFamily="18" charset="0"/>
                                      <a:ea typeface="Cambria Math"/>
                                      <a:cs typeface="Cambria Math"/>
                                    </a:rPr>
                                  </m:ctrlPr>
                                </m:dPr>
                                <m:e>
                                  <m:sSub>
                                    <m:sSubPr>
                                      <m:ctrlPr>
                                        <a:rPr lang="en-GB" sz="2100">
                                          <a:solidFill>
                                            <a:srgbClr val="087F83"/>
                                          </a:solidFill>
                                          <a:latin typeface="Cambria Math"/>
                                          <a:ea typeface="Cambria Math"/>
                                          <a:cs typeface="Cambria Math"/>
                                        </a:rPr>
                                      </m:ctrlPr>
                                    </m:sSubPr>
                                    <m:e>
                                      <m:r>
                                        <a:rPr lang="en-GB" sz="2100">
                                          <a:solidFill>
                                            <a:srgbClr val="087F83"/>
                                          </a:solidFill>
                                          <a:latin typeface="Cambria Math"/>
                                          <a:ea typeface="Cambria Math"/>
                                          <a:cs typeface="Cambria Math"/>
                                        </a:rPr>
                                        <m:t>𝐱</m:t>
                                      </m:r>
                                    </m:e>
                                    <m:sub>
                                      <m:r>
                                        <a:rPr lang="en-GB" sz="2100">
                                          <a:solidFill>
                                            <a:srgbClr val="087F83"/>
                                          </a:solidFill>
                                          <a:latin typeface="Cambria Math"/>
                                          <a:ea typeface="Cambria Math"/>
                                          <a:cs typeface="Cambria Math"/>
                                        </a:rPr>
                                        <m:t>1</m:t>
                                      </m:r>
                                    </m:sub>
                                  </m:sSub>
                                </m:e>
                              </m:d>
                              <m:r>
                                <a:rPr lang="it-IT" sz="2100" b="0" i="1" smtClean="0">
                                  <a:solidFill>
                                    <a:srgbClr val="087F83"/>
                                  </a:solidFill>
                                  <a:latin typeface="Cambria Math" panose="02040503050406030204" pitchFamily="18" charset="0"/>
                                  <a:ea typeface="Cambria Math"/>
                                  <a:cs typeface="Cambria Math"/>
                                </a:rPr>
                                <m:t>,…,</m:t>
                              </m:r>
                              <m:sSub>
                                <m:sSubPr>
                                  <m:ctrlPr>
                                    <a:rPr lang="en-GB" sz="2100">
                                      <a:solidFill>
                                        <a:srgbClr val="087F83"/>
                                      </a:solidFill>
                                      <a:latin typeface="Cambria Math"/>
                                      <a:ea typeface="Cambria Math"/>
                                      <a:cs typeface="Cambria Math"/>
                                    </a:rPr>
                                  </m:ctrlPr>
                                </m:sSubPr>
                                <m:e>
                                  <m:r>
                                    <a:rPr lang="en-GB" sz="2100">
                                      <a:solidFill>
                                        <a:srgbClr val="087F83"/>
                                      </a:solidFill>
                                      <a:latin typeface="Cambria Math"/>
                                      <a:ea typeface="Cambria Math"/>
                                      <a:cs typeface="Cambria Math"/>
                                    </a:rPr>
                                    <m:t>𝑝</m:t>
                                  </m:r>
                                </m:e>
                                <m:sub>
                                  <m:r>
                                    <a:rPr lang="en-GB" sz="2100">
                                      <a:solidFill>
                                        <a:srgbClr val="087F83"/>
                                      </a:solidFill>
                                      <a:latin typeface="Cambria Math"/>
                                      <a:ea typeface="Cambria Math"/>
                                      <a:cs typeface="Cambria Math"/>
                                    </a:rPr>
                                    <m:t>𝛉</m:t>
                                  </m:r>
                                </m:sub>
                              </m:sSub>
                              <m:d>
                                <m:dPr>
                                  <m:ctrlPr>
                                    <a:rPr lang="en-GB" sz="2100" i="1">
                                      <a:solidFill>
                                        <a:srgbClr val="087F83"/>
                                      </a:solidFill>
                                      <a:latin typeface="Cambria Math" panose="02040503050406030204" pitchFamily="18" charset="0"/>
                                      <a:ea typeface="Cambria Math"/>
                                      <a:cs typeface="Cambria Math"/>
                                    </a:rPr>
                                  </m:ctrlPr>
                                </m:dPr>
                                <m:e>
                                  <m:sSub>
                                    <m:sSubPr>
                                      <m:ctrlPr>
                                        <a:rPr lang="en-GB" sz="2100">
                                          <a:solidFill>
                                            <a:srgbClr val="087F83"/>
                                          </a:solidFill>
                                          <a:latin typeface="Cambria Math"/>
                                          <a:ea typeface="Cambria Math"/>
                                          <a:cs typeface="Cambria Math"/>
                                        </a:rPr>
                                      </m:ctrlPr>
                                    </m:sSubPr>
                                    <m:e>
                                      <m:r>
                                        <a:rPr lang="en-GB" sz="2100">
                                          <a:solidFill>
                                            <a:srgbClr val="087F83"/>
                                          </a:solidFill>
                                          <a:latin typeface="Cambria Math"/>
                                          <a:ea typeface="Cambria Math"/>
                                          <a:cs typeface="Cambria Math"/>
                                        </a:rPr>
                                        <m:t>𝐱</m:t>
                                      </m:r>
                                    </m:e>
                                    <m:sub>
                                      <m:r>
                                        <a:rPr lang="en-GB" sz="2100">
                                          <a:solidFill>
                                            <a:srgbClr val="087F83"/>
                                          </a:solidFill>
                                          <a:latin typeface="Cambria Math"/>
                                          <a:ea typeface="Cambria Math"/>
                                          <a:cs typeface="Cambria Math"/>
                                        </a:rPr>
                                        <m:t>𝑁</m:t>
                                      </m:r>
                                    </m:sub>
                                  </m:sSub>
                                </m:e>
                              </m:d>
                            </m:e>
                          </m:d>
                        </m:e>
                        <m:sup>
                          <m:r>
                            <a:rPr lang="it-IT" sz="2100" b="0" i="1" smtClean="0">
                              <a:solidFill>
                                <a:srgbClr val="087F83"/>
                              </a:solidFill>
                              <a:latin typeface="Cambria Math" panose="02040503050406030204" pitchFamily="18" charset="0"/>
                              <a:ea typeface="Cambria Math"/>
                              <a:cs typeface="Cambria Math"/>
                            </a:rPr>
                            <m:t>⊤</m:t>
                          </m:r>
                        </m:sup>
                      </m:sSup>
                    </m:oMath>
                  </m:oMathPara>
                </a14:m>
                <a:endParaRPr lang="en-GB" sz="2100" dirty="0"/>
              </a:p>
            </p:txBody>
          </p:sp>
        </mc:Choice>
        <mc:Fallback xmlns="">
          <p:sp>
            <p:nvSpPr>
              <p:cNvPr id="13" name="step_1_probability_definition" descr="\boldsymbol p(\boldsymbol\theta)\coloneqq\begin{pmatrix}p_{\boldsymbol\theta}(\boldsymbol x_1)\\\vdots\\p_{\boldsymbol\theta}(\boldsymbol x_N)\end{pmatrix}">
                <a:extLst>
                  <a:ext uri="{FF2B5EF4-FFF2-40B4-BE49-F238E27FC236}">
                    <a16:creationId xmlns:a16="http://schemas.microsoft.com/office/drawing/2014/main" id="{A88CB0C8-9922-43A2-BF2E-6BACA544F85E}"/>
                  </a:ext>
                </a:extLst>
              </p:cNvPr>
              <p:cNvSpPr>
                <a:spLocks noGrp="1" noRot="1" noChangeAspect="1" noMove="1" noResize="1" noEditPoints="1" noAdjustHandles="1" noChangeArrowheads="1" noChangeShapeType="1" noTextEdit="1"/>
              </p:cNvSpPr>
              <p:nvPr/>
            </p:nvSpPr>
            <p:spPr>
              <a:xfrm>
                <a:off x="6267452" y="2898267"/>
                <a:ext cx="5143500" cy="7429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step_4_matrix_gradient" descr="\nabla\mathcal L_{\log}(\boldsymbol\theta)=\boldsymbol X^{\mathsf T}(\boldsymbol p(\boldsymbol\theta)-\boldsymbol y)">
                <a:extLst>
                  <a:ext uri="{FF2B5EF4-FFF2-40B4-BE49-F238E27FC236}">
                    <a16:creationId xmlns:a16="http://schemas.microsoft.com/office/drawing/2014/main" id="{1586F6E0-798D-4DCD-8928-E784169C4FF6}"/>
                  </a:ext>
                </a:extLst>
              </p:cNvPr>
              <p:cNvSpPr>
                <a:spLocks noGrp="1"/>
              </p:cNvSpPr>
              <p:nvPr/>
            </p:nvSpPr>
            <p:spPr>
              <a:xfrm>
                <a:off x="733804" y="4748212"/>
                <a:ext cx="10744200" cy="5619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800" smtClean="0">
                          <a:solidFill>
                            <a:srgbClr val="326CB2"/>
                          </a:solidFill>
                          <a:latin typeface="Cambria Math"/>
                          <a:ea typeface="Cambria Math"/>
                          <a:cs typeface="Cambria Math"/>
                        </a:rPr>
                        <m:t>∇</m:t>
                      </m:r>
                      <m:sSub>
                        <m:sSubPr>
                          <m:ctrlPr>
                            <a:rPr lang="en-GB" sz="2800">
                              <a:solidFill>
                                <a:srgbClr val="326CB2"/>
                              </a:solidFill>
                              <a:latin typeface="Cambria Math"/>
                              <a:ea typeface="Cambria Math"/>
                              <a:cs typeface="Cambria Math"/>
                            </a:rPr>
                          </m:ctrlPr>
                        </m:sSubPr>
                        <m:e>
                          <m:r>
                            <a:rPr lang="en-GB" sz="2800">
                              <a:solidFill>
                                <a:srgbClr val="326CB2"/>
                              </a:solidFill>
                              <a:latin typeface="Cambria Math"/>
                              <a:ea typeface="Cambria Math"/>
                              <a:cs typeface="Cambria Math"/>
                            </a:rPr>
                            <m:t>ℒ</m:t>
                          </m:r>
                        </m:e>
                        <m:sub>
                          <m:r>
                            <m:rPr>
                              <m:sty m:val="p"/>
                            </m:rPr>
                            <a:rPr lang="en-GB" sz="2800">
                              <a:solidFill>
                                <a:srgbClr val="326CB2"/>
                              </a:solidFill>
                              <a:latin typeface="Cambria Math"/>
                              <a:ea typeface="Cambria Math"/>
                              <a:cs typeface="Cambria Math"/>
                            </a:rPr>
                            <m:t>log</m:t>
                          </m:r>
                        </m:sub>
                      </m:sSub>
                      <m:d>
                        <m:dPr>
                          <m:ctrlPr>
                            <a:rPr lang="en-GB" sz="2800">
                              <a:solidFill>
                                <a:srgbClr val="326CB2"/>
                              </a:solidFill>
                              <a:latin typeface="Cambria Math"/>
                              <a:ea typeface="Cambria Math"/>
                              <a:cs typeface="Cambria Math"/>
                            </a:rPr>
                          </m:ctrlPr>
                        </m:dPr>
                        <m:e>
                          <m:r>
                            <a:rPr lang="en-GB" sz="2800">
                              <a:solidFill>
                                <a:srgbClr val="326CB2"/>
                              </a:solidFill>
                              <a:latin typeface="Cambria Math"/>
                              <a:ea typeface="Cambria Math"/>
                              <a:cs typeface="Cambria Math"/>
                            </a:rPr>
                            <m:t>𝛉</m:t>
                          </m:r>
                        </m:e>
                      </m:d>
                      <m:r>
                        <a:rPr lang="en-GB" sz="2800">
                          <a:solidFill>
                            <a:srgbClr val="326CB2"/>
                          </a:solidFill>
                          <a:latin typeface="Cambria Math"/>
                          <a:ea typeface="Cambria Math"/>
                          <a:cs typeface="Cambria Math"/>
                        </a:rPr>
                        <m:t>=</m:t>
                      </m:r>
                      <m:sSup>
                        <m:sSupPr>
                          <m:ctrlPr>
                            <a:rPr lang="en-GB" sz="2800">
                              <a:solidFill>
                                <a:srgbClr val="326CB2"/>
                              </a:solidFill>
                              <a:latin typeface="Cambria Math"/>
                              <a:ea typeface="Cambria Math"/>
                              <a:cs typeface="Cambria Math"/>
                            </a:rPr>
                          </m:ctrlPr>
                        </m:sSupPr>
                        <m:e>
                          <m:r>
                            <a:rPr lang="en-GB" sz="2800">
                              <a:solidFill>
                                <a:srgbClr val="326CB2"/>
                              </a:solidFill>
                              <a:latin typeface="Cambria Math"/>
                              <a:ea typeface="Cambria Math"/>
                              <a:cs typeface="Cambria Math"/>
                            </a:rPr>
                            <m:t>𝐗</m:t>
                          </m:r>
                        </m:e>
                        <m:sup>
                          <m:r>
                            <a:rPr lang="en-GB" sz="2800">
                              <a:solidFill>
                                <a:srgbClr val="326CB2"/>
                              </a:solidFill>
                              <a:latin typeface="Cambria Math"/>
                              <a:ea typeface="Cambria Math"/>
                              <a:cs typeface="Cambria Math"/>
                            </a:rPr>
                            <m:t>𝖳</m:t>
                          </m:r>
                        </m:sup>
                      </m:sSup>
                      <m:d>
                        <m:dPr>
                          <m:ctrlPr>
                            <a:rPr lang="en-GB" sz="2800">
                              <a:solidFill>
                                <a:srgbClr val="326CB2"/>
                              </a:solidFill>
                              <a:latin typeface="Cambria Math"/>
                              <a:ea typeface="Cambria Math"/>
                              <a:cs typeface="Cambria Math"/>
                            </a:rPr>
                          </m:ctrlPr>
                        </m:dPr>
                        <m:e>
                          <m:r>
                            <a:rPr lang="en-GB" sz="2800">
                              <a:solidFill>
                                <a:srgbClr val="326CB2"/>
                              </a:solidFill>
                              <a:latin typeface="Cambria Math"/>
                              <a:ea typeface="Cambria Math"/>
                              <a:cs typeface="Cambria Math"/>
                            </a:rPr>
                            <m:t>𝐩</m:t>
                          </m:r>
                          <m:d>
                            <m:dPr>
                              <m:ctrlPr>
                                <a:rPr lang="en-GB" sz="2800">
                                  <a:solidFill>
                                    <a:srgbClr val="326CB2"/>
                                  </a:solidFill>
                                  <a:latin typeface="Cambria Math"/>
                                  <a:ea typeface="Cambria Math"/>
                                  <a:cs typeface="Cambria Math"/>
                                </a:rPr>
                              </m:ctrlPr>
                            </m:dPr>
                            <m:e>
                              <m:r>
                                <a:rPr lang="en-GB" sz="2800">
                                  <a:solidFill>
                                    <a:srgbClr val="326CB2"/>
                                  </a:solidFill>
                                  <a:latin typeface="Cambria Math"/>
                                  <a:ea typeface="Cambria Math"/>
                                  <a:cs typeface="Cambria Math"/>
                                </a:rPr>
                                <m:t>𝛉</m:t>
                              </m:r>
                            </m:e>
                          </m:d>
                          <m:r>
                            <a:rPr lang="en-GB" sz="2800">
                              <a:solidFill>
                                <a:srgbClr val="326CB2"/>
                              </a:solidFill>
                              <a:latin typeface="Cambria Math"/>
                              <a:ea typeface="Cambria Math"/>
                              <a:cs typeface="Cambria Math"/>
                            </a:rPr>
                            <m:t>−</m:t>
                          </m:r>
                          <m:r>
                            <a:rPr lang="en-GB" sz="2800">
                              <a:solidFill>
                                <a:srgbClr val="326CB2"/>
                              </a:solidFill>
                              <a:latin typeface="Cambria Math"/>
                              <a:ea typeface="Cambria Math"/>
                              <a:cs typeface="Cambria Math"/>
                            </a:rPr>
                            <m:t>𝐲</m:t>
                          </m:r>
                        </m:e>
                      </m:d>
                      <m:r>
                        <a:rPr lang="it-IT" sz="2800" b="0" i="0" smtClean="0">
                          <a:solidFill>
                            <a:srgbClr val="326CB2"/>
                          </a:solidFill>
                          <a:latin typeface="Cambria Math" panose="02040503050406030204" pitchFamily="18" charset="0"/>
                          <a:ea typeface="Cambria Math"/>
                          <a:cs typeface="Cambria Math"/>
                        </a:rPr>
                        <m:t>=</m:t>
                      </m:r>
                      <m:sSup>
                        <m:sSupPr>
                          <m:ctrlPr>
                            <a:rPr lang="en-GB" sz="2800">
                              <a:solidFill>
                                <a:srgbClr val="326CB2"/>
                              </a:solidFill>
                              <a:latin typeface="Cambria Math"/>
                              <a:ea typeface="Cambria Math"/>
                              <a:cs typeface="Cambria Math"/>
                            </a:rPr>
                          </m:ctrlPr>
                        </m:sSupPr>
                        <m:e>
                          <m:r>
                            <a:rPr lang="en-GB" sz="2800">
                              <a:solidFill>
                                <a:srgbClr val="326CB2"/>
                              </a:solidFill>
                              <a:latin typeface="Cambria Math"/>
                              <a:ea typeface="Cambria Math"/>
                              <a:cs typeface="Cambria Math"/>
                            </a:rPr>
                            <m:t>𝐗</m:t>
                          </m:r>
                        </m:e>
                        <m:sup>
                          <m:r>
                            <a:rPr lang="en-GB" sz="2800">
                              <a:solidFill>
                                <a:srgbClr val="326CB2"/>
                              </a:solidFill>
                              <a:latin typeface="Cambria Math"/>
                              <a:ea typeface="Cambria Math"/>
                              <a:cs typeface="Cambria Math"/>
                            </a:rPr>
                            <m:t>𝖳</m:t>
                          </m:r>
                        </m:sup>
                      </m:sSup>
                      <m:d>
                        <m:dPr>
                          <m:ctrlPr>
                            <a:rPr lang="en-GB" sz="2800">
                              <a:solidFill>
                                <a:srgbClr val="326CB2"/>
                              </a:solidFill>
                              <a:latin typeface="Cambria Math"/>
                              <a:ea typeface="Cambria Math"/>
                              <a:cs typeface="Cambria Math"/>
                            </a:rPr>
                          </m:ctrlPr>
                        </m:dPr>
                        <m:e>
                          <m:r>
                            <a:rPr lang="en-GB" sz="2800">
                              <a:solidFill>
                                <a:srgbClr val="326CB2"/>
                              </a:solidFill>
                              <a:latin typeface="Cambria Math"/>
                              <a:ea typeface="Cambria Math"/>
                              <a:cs typeface="Cambria Math"/>
                            </a:rPr>
                            <m:t>𝛔</m:t>
                          </m:r>
                          <m:d>
                            <m:dPr>
                              <m:ctrlPr>
                                <a:rPr lang="en-GB" sz="2800">
                                  <a:solidFill>
                                    <a:srgbClr val="326CB2"/>
                                  </a:solidFill>
                                  <a:latin typeface="Cambria Math"/>
                                  <a:ea typeface="Cambria Math"/>
                                  <a:cs typeface="Cambria Math"/>
                                </a:rPr>
                              </m:ctrlPr>
                            </m:dPr>
                            <m:e>
                              <m:r>
                                <a:rPr lang="en-GB" sz="2800">
                                  <a:solidFill>
                                    <a:srgbClr val="326CB2"/>
                                  </a:solidFill>
                                  <a:latin typeface="Cambria Math"/>
                                  <a:ea typeface="Cambria Math"/>
                                  <a:cs typeface="Cambria Math"/>
                                </a:rPr>
                                <m:t>𝐗</m:t>
                              </m:r>
                              <m:r>
                                <a:rPr lang="en-GB" sz="2800">
                                  <a:solidFill>
                                    <a:srgbClr val="326CB2"/>
                                  </a:solidFill>
                                  <a:latin typeface="Cambria Math"/>
                                  <a:ea typeface="Cambria Math"/>
                                  <a:cs typeface="Cambria Math"/>
                                </a:rPr>
                                <m:t>𝛉</m:t>
                              </m:r>
                            </m:e>
                          </m:d>
                          <m:r>
                            <a:rPr lang="en-GB" sz="2800">
                              <a:solidFill>
                                <a:srgbClr val="326CB2"/>
                              </a:solidFill>
                              <a:latin typeface="Cambria Math"/>
                              <a:ea typeface="Cambria Math"/>
                              <a:cs typeface="Cambria Math"/>
                            </a:rPr>
                            <m:t>−</m:t>
                          </m:r>
                          <m:r>
                            <a:rPr lang="en-GB" sz="2800">
                              <a:solidFill>
                                <a:srgbClr val="326CB2"/>
                              </a:solidFill>
                              <a:latin typeface="Cambria Math"/>
                              <a:ea typeface="Cambria Math"/>
                              <a:cs typeface="Cambria Math"/>
                            </a:rPr>
                            <m:t>𝐲</m:t>
                          </m:r>
                        </m:e>
                      </m:d>
                    </m:oMath>
                  </m:oMathPara>
                </a14:m>
                <a:endParaRPr lang="en-GB" sz="2800" dirty="0"/>
              </a:p>
            </p:txBody>
          </p:sp>
        </mc:Choice>
        <mc:Fallback xmlns="">
          <p:sp>
            <p:nvSpPr>
              <p:cNvPr id="16" name="step_4_matrix_gradient" descr="\nabla\mathcal L_{\log}(\boldsymbol\theta)=\boldsymbol X^{\mathsf T}(\boldsymbol p(\boldsymbol\theta)-\boldsymbol y)">
                <a:extLst>
                  <a:ext uri="{FF2B5EF4-FFF2-40B4-BE49-F238E27FC236}">
                    <a16:creationId xmlns:a16="http://schemas.microsoft.com/office/drawing/2014/main" id="{1586F6E0-798D-4DCD-8928-E784169C4FF6}"/>
                  </a:ext>
                </a:extLst>
              </p:cNvPr>
              <p:cNvSpPr>
                <a:spLocks noGrp="1" noRot="1" noChangeAspect="1" noMove="1" noResize="1" noEditPoints="1" noAdjustHandles="1" noChangeArrowheads="1" noChangeShapeType="1" noTextEdit="1"/>
              </p:cNvSpPr>
              <p:nvPr/>
            </p:nvSpPr>
            <p:spPr>
              <a:xfrm>
                <a:off x="733804" y="4748212"/>
                <a:ext cx="10744200" cy="56197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step_5_update" descr="\boldsymbol\theta^{(t+1)}=\boldsymbol\theta^{(t)}-\eta\nabla\mathcal L_{\log}(\boldsymbol\theta^{(t)})=\boldsymbol\theta^{(t)}-\eta\boldsymbol X^{\mathsf T}\bigl(\boldsymbol\sigma(\boldsymbol X\boldsymbol\theta^{(t)})-\boldsymbol y\bigr)">
                <a:extLst>
                  <a:ext uri="{FF2B5EF4-FFF2-40B4-BE49-F238E27FC236}">
                    <a16:creationId xmlns:a16="http://schemas.microsoft.com/office/drawing/2014/main" id="{6061FEC0-F01B-43CA-9F59-D7E8690BA73A}"/>
                  </a:ext>
                </a:extLst>
              </p:cNvPr>
              <p:cNvSpPr>
                <a:spLocks noGrp="1"/>
              </p:cNvSpPr>
              <p:nvPr/>
            </p:nvSpPr>
            <p:spPr>
              <a:xfrm>
                <a:off x="781050" y="5981700"/>
                <a:ext cx="107442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800">
                              <a:solidFill>
                                <a:srgbClr val="087F83"/>
                              </a:solidFill>
                              <a:latin typeface="Cambria Math"/>
                              <a:ea typeface="Cambria Math"/>
                              <a:cs typeface="Cambria Math"/>
                            </a:rPr>
                          </m:ctrlPr>
                        </m:sSupPr>
                        <m:e>
                          <m:r>
                            <a:rPr lang="en-GB" sz="2800">
                              <a:solidFill>
                                <a:srgbClr val="087F83"/>
                              </a:solidFill>
                              <a:latin typeface="Cambria Math"/>
                              <a:ea typeface="Cambria Math"/>
                              <a:cs typeface="Cambria Math"/>
                            </a:rPr>
                            <m:t>𝛉</m:t>
                          </m:r>
                        </m:e>
                        <m:sup>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𝑡</m:t>
                          </m:r>
                          <m:r>
                            <a:rPr lang="en-GB" sz="2800">
                              <a:solidFill>
                                <a:srgbClr val="087F83"/>
                              </a:solidFill>
                              <a:latin typeface="Cambria Math"/>
                              <a:ea typeface="Cambria Math"/>
                              <a:cs typeface="Cambria Math"/>
                            </a:rPr>
                            <m:t>+1)</m:t>
                          </m:r>
                        </m:sup>
                      </m:sSup>
                      <m:r>
                        <a:rPr lang="en-GB" sz="2800">
                          <a:solidFill>
                            <a:srgbClr val="087F83"/>
                          </a:solidFill>
                          <a:latin typeface="Cambria Math"/>
                          <a:ea typeface="Cambria Math"/>
                          <a:cs typeface="Cambria Math"/>
                        </a:rPr>
                        <m:t>=</m:t>
                      </m:r>
                      <m:sSup>
                        <m:sSupPr>
                          <m:ctrlPr>
                            <a:rPr lang="en-GB" sz="2800">
                              <a:solidFill>
                                <a:srgbClr val="087F83"/>
                              </a:solidFill>
                              <a:latin typeface="Cambria Math"/>
                              <a:ea typeface="Cambria Math"/>
                              <a:cs typeface="Cambria Math"/>
                            </a:rPr>
                          </m:ctrlPr>
                        </m:sSupPr>
                        <m:e>
                          <m:r>
                            <a:rPr lang="en-GB" sz="2800">
                              <a:solidFill>
                                <a:srgbClr val="087F83"/>
                              </a:solidFill>
                              <a:latin typeface="Cambria Math"/>
                              <a:ea typeface="Cambria Math"/>
                              <a:cs typeface="Cambria Math"/>
                            </a:rPr>
                            <m:t>𝛉</m:t>
                          </m:r>
                        </m:e>
                        <m:sup>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𝑡</m:t>
                          </m:r>
                          <m:r>
                            <a:rPr lang="en-GB" sz="2800">
                              <a:solidFill>
                                <a:srgbClr val="087F83"/>
                              </a:solidFill>
                              <a:latin typeface="Cambria Math"/>
                              <a:ea typeface="Cambria Math"/>
                              <a:cs typeface="Cambria Math"/>
                            </a:rPr>
                            <m:t>)</m:t>
                          </m:r>
                        </m:sup>
                      </m:sSup>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𝜂</m:t>
                      </m:r>
                      <m:r>
                        <m:rPr>
                          <m:sty m:val="p"/>
                        </m:rP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ℒ</m:t>
                          </m:r>
                        </m:e>
                        <m:sub>
                          <m:r>
                            <m:rPr>
                              <m:sty m:val="p"/>
                            </m:rPr>
                            <a:rPr lang="en-GB" sz="2800">
                              <a:solidFill>
                                <a:srgbClr val="087F83"/>
                              </a:solidFill>
                              <a:latin typeface="Cambria Math"/>
                              <a:ea typeface="Cambria Math"/>
                              <a:cs typeface="Cambria Math"/>
                            </a:rPr>
                            <m:t>log</m:t>
                          </m:r>
                        </m:sub>
                      </m:sSub>
                      <m:d>
                        <m:dPr>
                          <m:ctrlPr>
                            <a:rPr lang="en-GB" sz="2800" i="1">
                              <a:solidFill>
                                <a:srgbClr val="087F83"/>
                              </a:solidFill>
                              <a:latin typeface="Cambria Math" panose="02040503050406030204" pitchFamily="18" charset="0"/>
                              <a:ea typeface="Cambria Math"/>
                              <a:cs typeface="Cambria Math"/>
                            </a:rPr>
                          </m:ctrlPr>
                        </m:dPr>
                        <m:e>
                          <m:sSup>
                            <m:sSupPr>
                              <m:ctrlPr>
                                <a:rPr lang="en-GB" sz="2800">
                                  <a:solidFill>
                                    <a:srgbClr val="087F83"/>
                                  </a:solidFill>
                                  <a:latin typeface="Cambria Math"/>
                                  <a:ea typeface="Cambria Math"/>
                                  <a:cs typeface="Cambria Math"/>
                                </a:rPr>
                              </m:ctrlPr>
                            </m:sSupPr>
                            <m:e>
                              <m:r>
                                <a:rPr lang="en-GB" sz="2800">
                                  <a:solidFill>
                                    <a:srgbClr val="087F83"/>
                                  </a:solidFill>
                                  <a:latin typeface="Cambria Math"/>
                                  <a:ea typeface="Cambria Math"/>
                                  <a:cs typeface="Cambria Math"/>
                                </a:rPr>
                                <m:t>𝛉</m:t>
                              </m:r>
                            </m:e>
                            <m:sup>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𝑡</m:t>
                                  </m:r>
                                </m:e>
                              </m:d>
                            </m:sup>
                          </m:sSup>
                        </m:e>
                      </m:d>
                      <m:r>
                        <a:rPr lang="en-GB" sz="2800">
                          <a:solidFill>
                            <a:srgbClr val="087F83"/>
                          </a:solidFill>
                          <a:latin typeface="Cambria Math"/>
                          <a:ea typeface="Cambria Math"/>
                          <a:cs typeface="Cambria Math"/>
                        </a:rPr>
                        <m:t>=</m:t>
                      </m:r>
                      <m:sSup>
                        <m:sSupPr>
                          <m:ctrlPr>
                            <a:rPr lang="en-GB" sz="2800">
                              <a:solidFill>
                                <a:srgbClr val="087F83"/>
                              </a:solidFill>
                              <a:latin typeface="Cambria Math"/>
                              <a:ea typeface="Cambria Math"/>
                              <a:cs typeface="Cambria Math"/>
                            </a:rPr>
                          </m:ctrlPr>
                        </m:sSupPr>
                        <m:e>
                          <m:r>
                            <a:rPr lang="en-GB" sz="2800">
                              <a:solidFill>
                                <a:srgbClr val="087F83"/>
                              </a:solidFill>
                              <a:latin typeface="Cambria Math"/>
                              <a:ea typeface="Cambria Math"/>
                              <a:cs typeface="Cambria Math"/>
                            </a:rPr>
                            <m:t>𝛉</m:t>
                          </m:r>
                        </m:e>
                        <m:sup>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𝑡</m:t>
                              </m:r>
                            </m:e>
                          </m:d>
                        </m:sup>
                      </m:sSup>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𝜂</m:t>
                      </m:r>
                      <m:sSup>
                        <m:sSupPr>
                          <m:ctrlPr>
                            <a:rPr lang="en-GB" sz="2800">
                              <a:solidFill>
                                <a:srgbClr val="087F83"/>
                              </a:solidFill>
                              <a:latin typeface="Cambria Math"/>
                              <a:ea typeface="Cambria Math"/>
                              <a:cs typeface="Cambria Math"/>
                            </a:rPr>
                          </m:ctrlPr>
                        </m:sSupPr>
                        <m:e>
                          <m:r>
                            <a:rPr lang="en-GB" sz="2800">
                              <a:solidFill>
                                <a:srgbClr val="087F83"/>
                              </a:solidFill>
                              <a:latin typeface="Cambria Math"/>
                              <a:ea typeface="Cambria Math"/>
                              <a:cs typeface="Cambria Math"/>
                            </a:rPr>
                            <m:t>𝐗</m:t>
                          </m:r>
                        </m:e>
                        <m:sup>
                          <m:r>
                            <a:rPr lang="en-GB" sz="2800">
                              <a:solidFill>
                                <a:srgbClr val="087F83"/>
                              </a:solidFill>
                              <a:latin typeface="Cambria Math"/>
                              <a:ea typeface="Cambria Math"/>
                              <a:cs typeface="Cambria Math"/>
                            </a:rPr>
                            <m:t>𝖳</m:t>
                          </m:r>
                        </m:sup>
                      </m:sSup>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𝛔</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𝐗</m:t>
                              </m:r>
                              <m:sSup>
                                <m:sSupPr>
                                  <m:ctrlPr>
                                    <a:rPr lang="en-GB" sz="2800">
                                      <a:solidFill>
                                        <a:srgbClr val="087F83"/>
                                      </a:solidFill>
                                      <a:latin typeface="Cambria Math"/>
                                      <a:ea typeface="Cambria Math"/>
                                      <a:cs typeface="Cambria Math"/>
                                    </a:rPr>
                                  </m:ctrlPr>
                                </m:sSupPr>
                                <m:e>
                                  <m:r>
                                    <a:rPr lang="en-GB" sz="2800">
                                      <a:solidFill>
                                        <a:srgbClr val="087F83"/>
                                      </a:solidFill>
                                      <a:latin typeface="Cambria Math"/>
                                      <a:ea typeface="Cambria Math"/>
                                      <a:cs typeface="Cambria Math"/>
                                    </a:rPr>
                                    <m:t>𝛉</m:t>
                                  </m:r>
                                </m:e>
                                <m:sup>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𝑡</m:t>
                                      </m:r>
                                    </m:e>
                                  </m:d>
                                </m:sup>
                              </m:sSup>
                            </m:e>
                          </m:d>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𝐲</m:t>
                          </m:r>
                        </m:e>
                      </m:d>
                    </m:oMath>
                  </m:oMathPara>
                </a14:m>
                <a:endParaRPr lang="en-GB" sz="2800" dirty="0"/>
              </a:p>
            </p:txBody>
          </p:sp>
        </mc:Choice>
        <mc:Fallback xmlns="">
          <p:sp>
            <p:nvSpPr>
              <p:cNvPr id="17" name="step_5_update" descr="\boldsymbol\theta^{(t+1)}=\boldsymbol\theta^{(t)}-\eta\nabla\mathcal L_{\log}(\boldsymbol\theta^{(t)})=\boldsymbol\theta^{(t)}-\eta\boldsymbol X^{\mathsf T}\bigl(\boldsymbol\sigma(\boldsymbol X\boldsymbol\theta^{(t)})-\boldsymbol y\bigr)">
                <a:extLst>
                  <a:ext uri="{FF2B5EF4-FFF2-40B4-BE49-F238E27FC236}">
                    <a16:creationId xmlns:a16="http://schemas.microsoft.com/office/drawing/2014/main" id="{6061FEC0-F01B-43CA-9F59-D7E8690BA73A}"/>
                  </a:ext>
                </a:extLst>
              </p:cNvPr>
              <p:cNvSpPr>
                <a:spLocks noGrp="1" noRot="1" noChangeAspect="1" noMove="1" noResize="1" noEditPoints="1" noAdjustHandles="1" noChangeArrowheads="1" noChangeShapeType="1" noTextEdit="1"/>
              </p:cNvSpPr>
              <p:nvPr/>
            </p:nvSpPr>
            <p:spPr>
              <a:xfrm>
                <a:off x="781050" y="5981700"/>
                <a:ext cx="10744200" cy="533400"/>
              </a:xfrm>
              <a:prstGeom prst="rect">
                <a:avLst/>
              </a:prstGeom>
              <a:blipFill>
                <a:blip r:embed="rId6"/>
                <a:stretch>
                  <a:fillRect/>
                </a:stretch>
              </a:blipFill>
              <a:ln w="0">
                <a:noFill/>
              </a:ln>
            </p:spPr>
            <p:txBody>
              <a:bodyPr/>
              <a:lstStyle/>
              <a:p>
                <a:r>
                  <a:rPr lang="it-IT">
                    <a:noFill/>
                  </a:rPr>
                  <a:t> </a:t>
                </a:r>
              </a:p>
            </p:txBody>
          </p:sp>
        </mc:Fallback>
      </mc:AlternateContent>
      <p:sp>
        <p:nvSpPr>
          <p:cNvPr id="6" name="step_0_sigma_label">
            <a:extLst>
              <a:ext uri="{FF2B5EF4-FFF2-40B4-BE49-F238E27FC236}">
                <a16:creationId xmlns:a16="http://schemas.microsoft.com/office/drawing/2014/main" id="{10B293C5-52B7-2E50-0AF1-4B81C918E06A}"/>
              </a:ext>
            </a:extLst>
          </p:cNvPr>
          <p:cNvSpPr>
            <a:spLocks noGrp="1"/>
          </p:cNvSpPr>
          <p:nvPr/>
        </p:nvSpPr>
        <p:spPr>
          <a:xfrm>
            <a:off x="3343274" y="4329112"/>
            <a:ext cx="5238750" cy="266700"/>
          </a:xfrm>
          <a:prstGeom prst="rect">
            <a:avLst/>
          </a:prstGeom>
          <a:noFill/>
          <a:ln w="0">
            <a:noFill/>
          </a:ln>
        </p:spPr>
        <p:txBody>
          <a:bodyPr wrap="square" lIns="0" tIns="0" rIns="0" bIns="0" anchor="ctr">
            <a:noAutofit/>
          </a:bodyPr>
          <a:lstStyle/>
          <a:p>
            <a:pPr algn="ctr">
              <a:lnSpc>
                <a:spcPct val="110000"/>
              </a:lnSpc>
              <a:buNone/>
              <a:defRPr sz="1725" b="1">
                <a:solidFill>
                  <a:srgbClr val="182D45"/>
                </a:solidFill>
                <a:latin typeface="DejaVu Sans"/>
                <a:ea typeface="DejaVu Sans"/>
                <a:cs typeface="DejaVu Sans"/>
              </a:defRPr>
            </a:pPr>
            <a:r>
              <a:rPr lang="it-IT" sz="2100" b="1" dirty="0" err="1">
                <a:solidFill>
                  <a:srgbClr val="182D45"/>
                </a:solidFill>
                <a:latin typeface="DejaVu Sans"/>
                <a:ea typeface="DejaVu Sans"/>
                <a:cs typeface="DejaVu Sans"/>
              </a:rPr>
              <a:t>Gradient</a:t>
            </a:r>
            <a:endParaRPr sz="2100" b="1" dirty="0">
              <a:solidFill>
                <a:srgbClr val="182D45"/>
              </a:solidFill>
              <a:latin typeface="DejaVu Sans"/>
              <a:ea typeface="DejaVu Sans"/>
              <a:cs typeface="DejaVu Sans"/>
            </a:endParaRPr>
          </a:p>
        </p:txBody>
      </p:sp>
      <p:sp>
        <p:nvSpPr>
          <p:cNvPr id="8" name="CasellaDiTesto 7">
            <a:extLst>
              <a:ext uri="{FF2B5EF4-FFF2-40B4-BE49-F238E27FC236}">
                <a16:creationId xmlns:a16="http://schemas.microsoft.com/office/drawing/2014/main" id="{996231B3-944A-9D59-8C57-7B0AC46DDDB8}"/>
              </a:ext>
            </a:extLst>
          </p:cNvPr>
          <p:cNvSpPr txBox="1"/>
          <p:nvPr/>
        </p:nvSpPr>
        <p:spPr>
          <a:xfrm>
            <a:off x="2915411" y="5426105"/>
            <a:ext cx="6094476" cy="414794"/>
          </a:xfrm>
          <a:prstGeom prst="rect">
            <a:avLst/>
          </a:prstGeom>
          <a:noFill/>
        </p:spPr>
        <p:txBody>
          <a:bodyPr wrap="square">
            <a:spAutoFit/>
          </a:bodyPr>
          <a:lstStyle/>
          <a:p>
            <a:pPr algn="ctr">
              <a:lnSpc>
                <a:spcPct val="110000"/>
              </a:lnSpc>
              <a:buNone/>
              <a:defRPr sz="1725" b="1">
                <a:solidFill>
                  <a:srgbClr val="182D45"/>
                </a:solidFill>
                <a:latin typeface="DejaVu Sans"/>
                <a:ea typeface="DejaVu Sans"/>
                <a:cs typeface="DejaVu Sans"/>
              </a:defRPr>
            </a:pPr>
            <a:r>
              <a:rPr lang="it-IT" sz="2100" b="1" dirty="0" err="1">
                <a:solidFill>
                  <a:srgbClr val="182D45"/>
                </a:solidFill>
                <a:latin typeface="DejaVu Sans"/>
                <a:ea typeface="DejaVu Sans"/>
                <a:cs typeface="DejaVu Sans"/>
              </a:rPr>
              <a:t>Fitting logistic regression</a:t>
            </a:r>
          </a:p>
        </p:txBody>
      </p:sp>
      <mc:AlternateContent xmlns:mc="http://schemas.openxmlformats.org/markup-compatibility/2006" xmlns:a14="http://schemas.microsoft.com/office/drawing/2010/main">
        <mc:Choice Requires="a14">
          <p:sp>
            <p:nvSpPr>
              <p:cNvPr id="18" name="step_2_vector_identity" descr="\boldsymbol p(\boldsymbol\theta)=\boldsymbol\sigma(\boldsymbol X\boldsymbol\theta),\qquad\boldsymbol y=(y_1,\ldots,y_N)^{\mathsf T}">
                <a:extLst>
                  <a:ext uri="{FF2B5EF4-FFF2-40B4-BE49-F238E27FC236}">
                    <a16:creationId xmlns:a16="http://schemas.microsoft.com/office/drawing/2014/main" id="{D2ECC7D6-B28B-4FD7-B9D2-636AA3F54354}"/>
                  </a:ext>
                </a:extLst>
              </p:cNvPr>
              <p:cNvSpPr>
                <a:spLocks noGrp="1"/>
              </p:cNvSpPr>
              <p:nvPr/>
            </p:nvSpPr>
            <p:spPr>
              <a:xfrm>
                <a:off x="819150" y="3695700"/>
                <a:ext cx="10744200" cy="523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326CB2"/>
                          </a:solidFill>
                          <a:latin typeface="Cambria Math"/>
                          <a:ea typeface="Cambria Math"/>
                          <a:cs typeface="Cambria Math"/>
                        </a:rPr>
                        <m:t>𝐩</m:t>
                      </m:r>
                      <m:d>
                        <m:dPr>
                          <m:ctrlPr>
                            <a:rPr lang="en-GB" sz="2300">
                              <a:solidFill>
                                <a:srgbClr val="326CB2"/>
                              </a:solidFill>
                              <a:latin typeface="Cambria Math"/>
                              <a:ea typeface="Cambria Math"/>
                              <a:cs typeface="Cambria Math"/>
                            </a:rPr>
                          </m:ctrlPr>
                        </m:dPr>
                        <m:e>
                          <m:r>
                            <a:rPr lang="en-GB" sz="2300">
                              <a:solidFill>
                                <a:srgbClr val="326CB2"/>
                              </a:solidFill>
                              <a:latin typeface="Cambria Math"/>
                              <a:ea typeface="Cambria Math"/>
                              <a:cs typeface="Cambria Math"/>
                            </a:rPr>
                            <m:t>𝛉</m:t>
                          </m:r>
                        </m:e>
                      </m:d>
                      <m:r>
                        <a:rPr lang="en-GB" sz="2300">
                          <a:solidFill>
                            <a:srgbClr val="326CB2"/>
                          </a:solidFill>
                          <a:latin typeface="Cambria Math"/>
                          <a:ea typeface="Cambria Math"/>
                          <a:cs typeface="Cambria Math"/>
                        </a:rPr>
                        <m:t>=</m:t>
                      </m:r>
                      <m:r>
                        <a:rPr lang="en-GB" sz="2300">
                          <a:solidFill>
                            <a:srgbClr val="326CB2"/>
                          </a:solidFill>
                          <a:latin typeface="Cambria Math"/>
                          <a:ea typeface="Cambria Math"/>
                          <a:cs typeface="Cambria Math"/>
                        </a:rPr>
                        <m:t>𝛔</m:t>
                      </m:r>
                      <m:d>
                        <m:dPr>
                          <m:ctrlPr>
                            <a:rPr lang="en-GB" sz="2300">
                              <a:solidFill>
                                <a:srgbClr val="326CB2"/>
                              </a:solidFill>
                              <a:latin typeface="Cambria Math"/>
                              <a:ea typeface="Cambria Math"/>
                              <a:cs typeface="Cambria Math"/>
                            </a:rPr>
                          </m:ctrlPr>
                        </m:dPr>
                        <m:e>
                          <m:r>
                            <a:rPr lang="en-GB" sz="2300">
                              <a:solidFill>
                                <a:srgbClr val="326CB2"/>
                              </a:solidFill>
                              <a:latin typeface="Cambria Math"/>
                              <a:ea typeface="Cambria Math"/>
                              <a:cs typeface="Cambria Math"/>
                            </a:rPr>
                            <m:t>𝐗</m:t>
                          </m:r>
                          <m:r>
                            <a:rPr lang="en-GB" sz="2300">
                              <a:solidFill>
                                <a:srgbClr val="326CB2"/>
                              </a:solidFill>
                              <a:latin typeface="Cambria Math"/>
                              <a:ea typeface="Cambria Math"/>
                              <a:cs typeface="Cambria Math"/>
                            </a:rPr>
                            <m:t>𝛉</m:t>
                          </m:r>
                        </m:e>
                      </m:d>
                      <m:r>
                        <a:rPr lang="en-GB" sz="2300">
                          <a:solidFill>
                            <a:srgbClr val="326CB2"/>
                          </a:solidFill>
                          <a:latin typeface="Cambria Math"/>
                          <a:ea typeface="Cambria Math"/>
                          <a:cs typeface="Cambria Math"/>
                        </a:rPr>
                        <m:t>,  </m:t>
                      </m:r>
                      <m:r>
                        <a:rPr lang="en-GB" sz="2300">
                          <a:solidFill>
                            <a:srgbClr val="326CB2"/>
                          </a:solidFill>
                          <a:latin typeface="Cambria Math"/>
                          <a:ea typeface="Cambria Math"/>
                          <a:cs typeface="Cambria Math"/>
                        </a:rPr>
                        <m:t>𝐲</m:t>
                      </m:r>
                      <m:r>
                        <a:rPr lang="en-GB" sz="2300">
                          <a:solidFill>
                            <a:srgbClr val="326CB2"/>
                          </a:solidFill>
                          <a:latin typeface="Cambria Math"/>
                          <a:ea typeface="Cambria Math"/>
                          <a:cs typeface="Cambria Math"/>
                        </a:rPr>
                        <m:t>=(</m:t>
                      </m:r>
                      <m:sSub>
                        <m:sSubPr>
                          <m:ctrlPr>
                            <a:rPr lang="en-GB" sz="2300">
                              <a:solidFill>
                                <a:srgbClr val="326CB2"/>
                              </a:solidFill>
                              <a:latin typeface="Cambria Math"/>
                              <a:ea typeface="Cambria Math"/>
                              <a:cs typeface="Cambria Math"/>
                            </a:rPr>
                          </m:ctrlPr>
                        </m:sSubPr>
                        <m:e>
                          <m:r>
                            <a:rPr lang="en-GB" sz="2300">
                              <a:solidFill>
                                <a:srgbClr val="326CB2"/>
                              </a:solidFill>
                              <a:latin typeface="Cambria Math"/>
                              <a:ea typeface="Cambria Math"/>
                              <a:cs typeface="Cambria Math"/>
                            </a:rPr>
                            <m:t>𝑦</m:t>
                          </m:r>
                        </m:e>
                        <m:sub>
                          <m:r>
                            <a:rPr lang="en-GB" sz="2300">
                              <a:solidFill>
                                <a:srgbClr val="326CB2"/>
                              </a:solidFill>
                              <a:latin typeface="Cambria Math"/>
                              <a:ea typeface="Cambria Math"/>
                              <a:cs typeface="Cambria Math"/>
                            </a:rPr>
                            <m:t>1</m:t>
                          </m:r>
                        </m:sub>
                      </m:sSub>
                      <m:r>
                        <a:rPr lang="en-GB" sz="2300">
                          <a:solidFill>
                            <a:srgbClr val="326CB2"/>
                          </a:solidFill>
                          <a:latin typeface="Cambria Math"/>
                          <a:ea typeface="Cambria Math"/>
                          <a:cs typeface="Cambria Math"/>
                        </a:rPr>
                        <m:t>,…,</m:t>
                      </m:r>
                      <m:sSub>
                        <m:sSubPr>
                          <m:ctrlPr>
                            <a:rPr lang="en-GB" sz="2300">
                              <a:solidFill>
                                <a:srgbClr val="326CB2"/>
                              </a:solidFill>
                              <a:latin typeface="Cambria Math"/>
                              <a:ea typeface="Cambria Math"/>
                              <a:cs typeface="Cambria Math"/>
                            </a:rPr>
                          </m:ctrlPr>
                        </m:sSubPr>
                        <m:e>
                          <m:r>
                            <a:rPr lang="en-GB" sz="2300">
                              <a:solidFill>
                                <a:srgbClr val="326CB2"/>
                              </a:solidFill>
                              <a:latin typeface="Cambria Math"/>
                              <a:ea typeface="Cambria Math"/>
                              <a:cs typeface="Cambria Math"/>
                            </a:rPr>
                            <m:t>𝑦</m:t>
                          </m:r>
                        </m:e>
                        <m:sub>
                          <m:r>
                            <a:rPr lang="en-GB" sz="2300">
                              <a:solidFill>
                                <a:srgbClr val="326CB2"/>
                              </a:solidFill>
                              <a:latin typeface="Cambria Math"/>
                              <a:ea typeface="Cambria Math"/>
                              <a:cs typeface="Cambria Math"/>
                            </a:rPr>
                            <m:t>𝑁</m:t>
                          </m:r>
                        </m:sub>
                      </m:sSub>
                      <m:sSup>
                        <m:sSupPr>
                          <m:ctrlPr>
                            <a:rPr lang="en-GB" sz="2300">
                              <a:solidFill>
                                <a:srgbClr val="326CB2"/>
                              </a:solidFill>
                              <a:latin typeface="Cambria Math"/>
                              <a:ea typeface="Cambria Math"/>
                              <a:cs typeface="Cambria Math"/>
                            </a:rPr>
                          </m:ctrlPr>
                        </m:sSupPr>
                        <m:e>
                          <m:r>
                            <a:rPr lang="en-GB" sz="2300">
                              <a:solidFill>
                                <a:srgbClr val="326CB2"/>
                              </a:solidFill>
                              <a:latin typeface="Cambria Math"/>
                              <a:ea typeface="Cambria Math"/>
                              <a:cs typeface="Cambria Math"/>
                            </a:rPr>
                            <m:t>)</m:t>
                          </m:r>
                        </m:e>
                        <m:sup>
                          <m:r>
                            <a:rPr lang="en-GB" sz="2300">
                              <a:solidFill>
                                <a:srgbClr val="326CB2"/>
                              </a:solidFill>
                              <a:latin typeface="Cambria Math"/>
                              <a:ea typeface="Cambria Math"/>
                              <a:cs typeface="Cambria Math"/>
                            </a:rPr>
                            <m:t>𝖳</m:t>
                          </m:r>
                        </m:sup>
                      </m:sSup>
                    </m:oMath>
                  </m:oMathPara>
                </a14:m>
                <a:endParaRPr lang="en-GB" sz="2300" dirty="0"/>
              </a:p>
            </p:txBody>
          </p:sp>
        </mc:Choice>
        <mc:Fallback xmlns="">
          <p:sp>
            <p:nvSpPr>
              <p:cNvPr id="18" name="step_2_vector_identity" descr="\boldsymbol p(\boldsymbol\theta)=\boldsymbol\sigma(\boldsymbol X\boldsymbol\theta),\qquad\boldsymbol y=(y_1,\ldots,y_N)^{\mathsf T}">
                <a:extLst>
                  <a:ext uri="{FF2B5EF4-FFF2-40B4-BE49-F238E27FC236}">
                    <a16:creationId xmlns:a16="http://schemas.microsoft.com/office/drawing/2014/main" id="{D2ECC7D6-B28B-4FD7-B9D2-636AA3F54354}"/>
                  </a:ext>
                </a:extLst>
              </p:cNvPr>
              <p:cNvSpPr>
                <a:spLocks noGrp="1" noRot="1" noChangeAspect="1" noMove="1" noResize="1" noEditPoints="1" noAdjustHandles="1" noChangeArrowheads="1" noChangeShapeType="1" noTextEdit="1"/>
              </p:cNvSpPr>
              <p:nvPr/>
            </p:nvSpPr>
            <p:spPr>
              <a:xfrm>
                <a:off x="819150" y="3695700"/>
                <a:ext cx="10744200" cy="523875"/>
              </a:xfrm>
              <a:prstGeom prst="rect">
                <a:avLst/>
              </a:prstGeom>
              <a:blipFill>
                <a:blip r:embed="rId7"/>
                <a:stretch>
                  <a:fillRect b="-930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step_3_coordinate_gradient" descr="\frac{\partial\mathcal L_{\log}}{\partial\theta_j}(\boldsymbol\theta)=\sum_{i=1}^N X_{ij}\bigl(p_{\boldsymbol\theta}(\boldsymbol x_i)-y_i\bigr)">
                <a:extLst>
                  <a:ext uri="{FF2B5EF4-FFF2-40B4-BE49-F238E27FC236}">
                    <a16:creationId xmlns:a16="http://schemas.microsoft.com/office/drawing/2014/main" id="{C3C6D101-8053-1AD3-7600-4931F5FEDE94}"/>
                  </a:ext>
                </a:extLst>
              </p:cNvPr>
              <p:cNvSpPr>
                <a:spLocks noGrp="1"/>
              </p:cNvSpPr>
              <p:nvPr/>
            </p:nvSpPr>
            <p:spPr>
              <a:xfrm>
                <a:off x="819150" y="1426299"/>
                <a:ext cx="10744200" cy="1057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500">
                              <a:solidFill>
                                <a:srgbClr val="087F83"/>
                              </a:solidFill>
                              <a:latin typeface="Cambria Math"/>
                              <a:ea typeface="Cambria Math"/>
                              <a:cs typeface="Cambria Math"/>
                            </a:rPr>
                          </m:ctrlPr>
                        </m:fPr>
                        <m:num>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ℒ</m:t>
                              </m:r>
                            </m:e>
                            <m:sub>
                              <m:r>
                                <m:rPr>
                                  <m:sty m:val="p"/>
                                </m:rPr>
                                <a:rPr lang="en-GB" sz="2500">
                                  <a:solidFill>
                                    <a:srgbClr val="087F83"/>
                                  </a:solidFill>
                                  <a:latin typeface="Cambria Math"/>
                                  <a:ea typeface="Cambria Math"/>
                                  <a:cs typeface="Cambria Math"/>
                                </a:rPr>
                                <m:t>log</m:t>
                              </m:r>
                            </m:sub>
                          </m:sSub>
                        </m:num>
                        <m:den>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𝜃</m:t>
                              </m:r>
                            </m:e>
                            <m:sub>
                              <m:r>
                                <a:rPr lang="en-GB" sz="2500">
                                  <a:solidFill>
                                    <a:srgbClr val="087F83"/>
                                  </a:solidFill>
                                  <a:latin typeface="Cambria Math"/>
                                  <a:ea typeface="Cambria Math"/>
                                  <a:cs typeface="Cambria Math"/>
                                </a:rPr>
                                <m:t>𝑗</m:t>
                              </m:r>
                            </m:sub>
                          </m:sSub>
                        </m:den>
                      </m:f>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𝛉</m:t>
                          </m:r>
                        </m:e>
                      </m:d>
                      <m:r>
                        <a:rPr lang="it-IT" sz="2500" b="0" i="1" smtClean="0">
                          <a:solidFill>
                            <a:srgbClr val="087F83"/>
                          </a:solidFill>
                          <a:latin typeface="Cambria Math" panose="02040503050406030204" pitchFamily="18" charset="0"/>
                          <a:ea typeface="Cambria Math"/>
                          <a:cs typeface="Cambria Math"/>
                        </a:rPr>
                        <m:t>=</m:t>
                      </m:r>
                      <m:nary>
                        <m:naryPr>
                          <m:chr m:val="∑"/>
                          <m:ctrlPr>
                            <a:rPr lang="it-IT" sz="2500" b="0" i="1" smtClean="0">
                              <a:solidFill>
                                <a:srgbClr val="087F83"/>
                              </a:solidFill>
                              <a:latin typeface="Cambria Math" panose="02040503050406030204" pitchFamily="18" charset="0"/>
                              <a:ea typeface="Cambria Math"/>
                              <a:cs typeface="Cambria Math"/>
                            </a:rPr>
                          </m:ctrlPr>
                        </m:naryPr>
                        <m:sub>
                          <m:r>
                            <a:rPr lang="it-IT" sz="2500" b="0" i="1" smtClean="0">
                              <a:solidFill>
                                <a:srgbClr val="087F83"/>
                              </a:solidFill>
                              <a:latin typeface="Cambria Math" panose="02040503050406030204" pitchFamily="18" charset="0"/>
                              <a:ea typeface="Cambria Math"/>
                              <a:cs typeface="Cambria Math"/>
                            </a:rPr>
                            <m:t>𝑖</m:t>
                          </m:r>
                          <m:r>
                            <a:rPr lang="it-IT" sz="2500" b="0" i="1" smtClean="0">
                              <a:solidFill>
                                <a:srgbClr val="087F83"/>
                              </a:solidFill>
                              <a:latin typeface="Cambria Math" panose="02040503050406030204" pitchFamily="18" charset="0"/>
                              <a:ea typeface="Cambria Math"/>
                              <a:cs typeface="Cambria Math"/>
                            </a:rPr>
                            <m:t>=1</m:t>
                          </m:r>
                        </m:sub>
                        <m:sup>
                          <m:r>
                            <a:rPr lang="it-IT" sz="2500" b="0" i="1" smtClean="0">
                              <a:solidFill>
                                <a:srgbClr val="087F83"/>
                              </a:solidFill>
                              <a:latin typeface="Cambria Math" panose="02040503050406030204" pitchFamily="18" charset="0"/>
                              <a:ea typeface="Cambria Math"/>
                              <a:cs typeface="Cambria Math"/>
                            </a:rPr>
                            <m:t>𝑁</m:t>
                          </m:r>
                        </m:sup>
                        <m:e>
                          <m:f>
                            <m:fPr>
                              <m:ctrlPr>
                                <a:rPr lang="en-GB" sz="2500">
                                  <a:solidFill>
                                    <a:srgbClr val="087F83"/>
                                  </a:solidFill>
                                  <a:latin typeface="Cambria Math"/>
                                  <a:ea typeface="Cambria Math"/>
                                  <a:cs typeface="Cambria Math"/>
                                </a:rPr>
                              </m:ctrlPr>
                            </m:fPr>
                            <m:num>
                              <m:r>
                                <a:rPr lang="en-GB" sz="2500">
                                  <a:solidFill>
                                    <a:srgbClr val="087F83"/>
                                  </a:solidFill>
                                  <a:latin typeface="Cambria Math"/>
                                  <a:ea typeface="Cambria Math"/>
                                  <a:cs typeface="Cambria Math"/>
                                </a:rPr>
                                <m:t>𝜕</m:t>
                              </m:r>
                            </m:num>
                            <m:den>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𝜃</m:t>
                                  </m:r>
                                </m:e>
                                <m:sub>
                                  <m:r>
                                    <a:rPr lang="en-GB" sz="2500">
                                      <a:solidFill>
                                        <a:srgbClr val="087F83"/>
                                      </a:solidFill>
                                      <a:latin typeface="Cambria Math"/>
                                      <a:ea typeface="Cambria Math"/>
                                      <a:cs typeface="Cambria Math"/>
                                    </a:rPr>
                                    <m:t>𝑗</m:t>
                                  </m:r>
                                </m:sub>
                              </m:sSub>
                            </m:den>
                          </m:f>
                          <m:sSub>
                            <m:sSubPr>
                              <m:ctrlPr>
                                <a:rPr lang="en-GB" sz="2500">
                                  <a:solidFill>
                                    <a:srgbClr val="087F83"/>
                                  </a:solidFill>
                                  <a:latin typeface="Cambria Math"/>
                                  <a:ea typeface="Cambria Math"/>
                                  <a:cs typeface="Cambria Math"/>
                                </a:rPr>
                              </m:ctrlPr>
                            </m:sSubPr>
                            <m:e>
                              <m:r>
                                <m:rPr>
                                  <m:sty m:val="p"/>
                                </m:rPr>
                                <a:rPr lang="en-GB" sz="2500">
                                  <a:solidFill>
                                    <a:srgbClr val="087F83"/>
                                  </a:solidFill>
                                  <a:latin typeface="Cambria Math"/>
                                  <a:ea typeface="Cambria Math"/>
                                  <a:cs typeface="Cambria Math"/>
                                </a:rPr>
                                <m:t>ℓ</m:t>
                              </m:r>
                            </m:e>
                            <m:sub>
                              <m:r>
                                <m:rPr>
                                  <m:sty m:val="p"/>
                                </m:rPr>
                                <a:rPr lang="en-GB" sz="2500">
                                  <a:solidFill>
                                    <a:srgbClr val="087F83"/>
                                  </a:solidFill>
                                  <a:latin typeface="Cambria Math"/>
                                  <a:ea typeface="Cambria Math"/>
                                  <a:cs typeface="Cambria Math"/>
                                </a:rPr>
                                <m:t>log</m:t>
                              </m:r>
                            </m:sub>
                          </m:sSub>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𝑝</m:t>
                                  </m:r>
                                </m:e>
                                <m:sub>
                                  <m:r>
                                    <a:rPr lang="en-GB" sz="2500">
                                      <a:solidFill>
                                        <a:srgbClr val="087F83"/>
                                      </a:solidFill>
                                      <a:latin typeface="Cambria Math"/>
                                      <a:ea typeface="Cambria Math"/>
                                      <a:cs typeface="Cambria Math"/>
                                    </a:rPr>
                                    <m:t>𝛉</m:t>
                                  </m:r>
                                </m:sub>
                              </m:sSub>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𝐱</m:t>
                                      </m:r>
                                    </m:e>
                                    <m:sub>
                                      <m:r>
                                        <a:rPr lang="en-GB" sz="2500">
                                          <a:solidFill>
                                            <a:srgbClr val="087F83"/>
                                          </a:solidFill>
                                          <a:latin typeface="Cambria Math"/>
                                          <a:ea typeface="Cambria Math"/>
                                          <a:cs typeface="Cambria Math"/>
                                        </a:rPr>
                                        <m:t>𝑖</m:t>
                                      </m:r>
                                    </m:sub>
                                  </m:sSub>
                                </m:e>
                              </m:d>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𝑦</m:t>
                                  </m:r>
                                </m:e>
                                <m:sub>
                                  <m:r>
                                    <a:rPr lang="en-GB" sz="2500">
                                      <a:solidFill>
                                        <a:srgbClr val="087F83"/>
                                      </a:solidFill>
                                      <a:latin typeface="Cambria Math"/>
                                      <a:ea typeface="Cambria Math"/>
                                      <a:cs typeface="Cambria Math"/>
                                    </a:rPr>
                                    <m:t>𝑖</m:t>
                                  </m:r>
                                </m:sub>
                              </m:sSub>
                            </m:e>
                          </m:d>
                        </m:e>
                      </m:nary>
                      <m:r>
                        <a:rPr lang="en-GB" sz="2500">
                          <a:solidFill>
                            <a:srgbClr val="087F83"/>
                          </a:solidFill>
                          <a:latin typeface="Cambria Math"/>
                          <a:ea typeface="Cambria Math"/>
                          <a:cs typeface="Cambria Math"/>
                        </a:rPr>
                        <m:t>=</m:t>
                      </m:r>
                      <m:nary>
                        <m:naryPr>
                          <m:chr m:val="∑"/>
                          <m:limLoc m:val="undOvr"/>
                          <m:ctrlPr>
                            <a:rPr lang="en-GB" sz="2500">
                              <a:solidFill>
                                <a:srgbClr val="087F83"/>
                              </a:solidFill>
                              <a:latin typeface="Cambria Math"/>
                              <a:ea typeface="Cambria Math"/>
                              <a:cs typeface="Cambria Math"/>
                            </a:rPr>
                          </m:ctrlPr>
                        </m:naryPr>
                        <m:sub>
                          <m:r>
                            <a:rPr lang="en-GB" sz="2500">
                              <a:solidFill>
                                <a:srgbClr val="087F83"/>
                              </a:solidFill>
                              <a:latin typeface="Cambria Math"/>
                              <a:ea typeface="Cambria Math"/>
                              <a:cs typeface="Cambria Math"/>
                            </a:rPr>
                            <m:t>𝑖</m:t>
                          </m:r>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𝑁</m:t>
                          </m:r>
                        </m:sup>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𝑋</m:t>
                              </m:r>
                            </m:e>
                            <m:sub>
                              <m:r>
                                <a:rPr lang="en-GB" sz="2500">
                                  <a:solidFill>
                                    <a:srgbClr val="087F83"/>
                                  </a:solidFill>
                                  <a:latin typeface="Cambria Math"/>
                                  <a:ea typeface="Cambria Math"/>
                                  <a:cs typeface="Cambria Math"/>
                                </a:rPr>
                                <m:t>𝑖𝑗</m:t>
                              </m:r>
                            </m:sub>
                          </m:sSub>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𝑝</m:t>
                                  </m:r>
                                </m:e>
                                <m:sub>
                                  <m:r>
                                    <a:rPr lang="en-GB" sz="2500">
                                      <a:solidFill>
                                        <a:srgbClr val="087F83"/>
                                      </a:solidFill>
                                      <a:latin typeface="Cambria Math"/>
                                      <a:ea typeface="Cambria Math"/>
                                      <a:cs typeface="Cambria Math"/>
                                    </a:rPr>
                                    <m:t>𝛉</m:t>
                                  </m:r>
                                </m:sub>
                              </m:sSub>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𝐱</m:t>
                                      </m:r>
                                    </m:e>
                                    <m:sub>
                                      <m:r>
                                        <a:rPr lang="en-GB" sz="2500">
                                          <a:solidFill>
                                            <a:srgbClr val="087F83"/>
                                          </a:solidFill>
                                          <a:latin typeface="Cambria Math"/>
                                          <a:ea typeface="Cambria Math"/>
                                          <a:cs typeface="Cambria Math"/>
                                        </a:rPr>
                                        <m:t>𝑖</m:t>
                                      </m:r>
                                    </m:sub>
                                  </m:sSub>
                                </m:e>
                              </m:d>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𝑦</m:t>
                                  </m:r>
                                </m:e>
                                <m:sub>
                                  <m:r>
                                    <a:rPr lang="en-GB" sz="2500">
                                      <a:solidFill>
                                        <a:srgbClr val="087F83"/>
                                      </a:solidFill>
                                      <a:latin typeface="Cambria Math"/>
                                      <a:ea typeface="Cambria Math"/>
                                      <a:cs typeface="Cambria Math"/>
                                    </a:rPr>
                                    <m:t>𝑖</m:t>
                                  </m:r>
                                </m:sub>
                              </m:sSub>
                            </m:e>
                          </m:d>
                        </m:e>
                      </m:nary>
                    </m:oMath>
                  </m:oMathPara>
                </a14:m>
                <a:endParaRPr lang="en-GB" sz="2500" dirty="0"/>
              </a:p>
            </p:txBody>
          </p:sp>
        </mc:Choice>
        <mc:Fallback xmlns="">
          <p:sp>
            <p:nvSpPr>
              <p:cNvPr id="20" name="step_3_coordinate_gradient" descr="\frac{\partial\mathcal L_{\log}}{\partial\theta_j}(\boldsymbol\theta)=\sum_{i=1}^N X_{ij}\bigl(p_{\boldsymbol\theta}(\boldsymbol x_i)-y_i\bigr)">
                <a:extLst>
                  <a:ext uri="{FF2B5EF4-FFF2-40B4-BE49-F238E27FC236}">
                    <a16:creationId xmlns:a16="http://schemas.microsoft.com/office/drawing/2014/main" id="{C3C6D101-8053-1AD3-7600-4931F5FEDE94}"/>
                  </a:ext>
                </a:extLst>
              </p:cNvPr>
              <p:cNvSpPr>
                <a:spLocks noGrp="1" noRot="1" noChangeAspect="1" noMove="1" noResize="1" noEditPoints="1" noAdjustHandles="1" noChangeArrowheads="1" noChangeShapeType="1" noTextEdit="1"/>
              </p:cNvSpPr>
              <p:nvPr/>
            </p:nvSpPr>
            <p:spPr>
              <a:xfrm>
                <a:off x="819150" y="1426299"/>
                <a:ext cx="10744200" cy="1057275"/>
              </a:xfrm>
              <a:prstGeom prst="rect">
                <a:avLst/>
              </a:prstGeom>
              <a:blipFill>
                <a:blip r:embed="rId8"/>
                <a:stretch>
                  <a:fillRect b="-1156"/>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209340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6" grpId="0"/>
      <p:bldP spid="17" grpId="0"/>
      <p:bldP spid="6" grpId="0"/>
      <p:bldP spid="8" grpId="0"/>
      <p:bldP spid="18"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EB527222-3DFA-4B53-8316-B23754BDAC09}"/>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Stationary points and </a:t>
            </a:r>
            <a:r>
              <a:rPr sz="3150" b="1" dirty="0" err="1">
                <a:solidFill>
                  <a:srgbClr val="182D45"/>
                </a:solidFill>
                <a:latin typeface="DejaVu Sans"/>
                <a:ea typeface="DejaVu Sans"/>
                <a:cs typeface="DejaVu Sans"/>
              </a:rPr>
              <a:t>minimisers</a:t>
            </a:r>
            <a:endParaRPr sz="3150" b="1" dirty="0">
              <a:solidFill>
                <a:srgbClr val="182D45"/>
              </a:solidFill>
              <a:latin typeface="DejaVu Sans"/>
              <a:ea typeface="DejaVu Sans"/>
              <a:cs typeface="DejaVu Sans"/>
            </a:endParaRPr>
          </a:p>
        </p:txBody>
      </p:sp>
      <p:sp>
        <p:nvSpPr>
          <p:cNvPr id="2" name="footer_course">
            <a:extLst>
              <a:ext uri="{FF2B5EF4-FFF2-40B4-BE49-F238E27FC236}">
                <a16:creationId xmlns:a16="http://schemas.microsoft.com/office/drawing/2014/main" id="{7FE024BE-15B2-460A-988C-1AF46B3388B8}"/>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3" name="footer_number">
            <a:extLst>
              <a:ext uri="{FF2B5EF4-FFF2-40B4-BE49-F238E27FC236}">
                <a16:creationId xmlns:a16="http://schemas.microsoft.com/office/drawing/2014/main" id="{2926976D-B955-4F1D-9337-DB06744A724E}"/>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29</a:t>
            </a:r>
          </a:p>
        </p:txBody>
      </p:sp>
      <p:sp>
        <p:nvSpPr>
          <p:cNvPr id="5" name="agenda_1">
            <a:extLst>
              <a:ext uri="{FF2B5EF4-FFF2-40B4-BE49-F238E27FC236}">
                <a16:creationId xmlns:a16="http://schemas.microsoft.com/office/drawing/2014/main" id="{6CC5AE40-FE87-4180-93E6-A509857ADC0A}"/>
              </a:ext>
            </a:extLst>
          </p:cNvPr>
          <p:cNvSpPr>
            <a:spLocks noGrp="1"/>
          </p:cNvSpPr>
          <p:nvPr/>
        </p:nvSpPr>
        <p:spPr>
          <a:xfrm>
            <a:off x="508000" y="1162940"/>
            <a:ext cx="11176000" cy="762000"/>
          </a:xfrm>
          <a:prstGeom prst="rect">
            <a:avLst/>
          </a:prstGeom>
          <a:noFill/>
          <a:ln w="0">
            <a:noFill/>
          </a:ln>
        </p:spPr>
        <p:txBody>
          <a:bodyPr wrap="square" lIns="0" tIns="0" rIns="0" bIns="0" anchor="ctr">
            <a:noAutofit/>
          </a:bodyPr>
          <a:lstStyle/>
          <a:p>
            <a:pPr algn="ctr">
              <a:lnSpc>
                <a:spcPct val="112000"/>
              </a:lnSpc>
              <a:buNone/>
              <a:defRPr sz="2400" b="0">
                <a:solidFill>
                  <a:srgbClr val="182D45"/>
                </a:solidFill>
                <a:latin typeface="DejaVu Sans"/>
                <a:ea typeface="DejaVu Sans"/>
                <a:cs typeface="DejaVu Sans"/>
              </a:defRPr>
            </a:pPr>
            <a:r>
              <a:rPr lang="it-IT" sz="2400" b="0" dirty="0" err="1">
                <a:solidFill>
                  <a:srgbClr val="FF0000"/>
                </a:solidFill>
                <a:latin typeface="DejaVu Sans"/>
                <a:ea typeface="DejaVu Sans"/>
                <a:cs typeface="DejaVu Sans"/>
              </a:rPr>
              <a:t>Fact</a:t>
            </a:r>
            <a:r>
              <a:rPr lang="it-IT" sz="2400" b="0" dirty="0">
                <a:latin typeface="DejaVu Sans"/>
                <a:ea typeface="DejaVu Sans"/>
                <a:cs typeface="DejaVu Sans"/>
              </a:rPr>
              <a:t>:</a:t>
            </a:r>
            <a:r>
              <a:rPr lang="it-IT" sz="2400" b="0" dirty="0">
                <a:solidFill>
                  <a:srgbClr val="182D45"/>
                </a:solidFill>
                <a:latin typeface="DejaVu Sans"/>
                <a:ea typeface="DejaVu Sans"/>
                <a:cs typeface="DejaVu Sans"/>
              </a:rPr>
              <a:t> t</a:t>
            </a:r>
            <a:r>
              <a:rPr sz="2400" b="0" dirty="0">
                <a:solidFill>
                  <a:srgbClr val="182D45"/>
                </a:solidFill>
                <a:latin typeface="DejaVu Sans"/>
                <a:ea typeface="DejaVu Sans"/>
                <a:cs typeface="DejaVu Sans"/>
              </a:rPr>
              <a:t>he empirical logistic loss is </a:t>
            </a:r>
            <a:r>
              <a:rPr sz="2400" b="0" dirty="0">
                <a:solidFill>
                  <a:srgbClr val="FF0000"/>
                </a:solidFill>
                <a:latin typeface="DejaVu Sans"/>
                <a:ea typeface="DejaVu Sans"/>
                <a:cs typeface="DejaVu Sans"/>
              </a:rPr>
              <a:t>convex</a:t>
            </a:r>
            <a:r>
              <a:rPr sz="2400" b="0" dirty="0">
                <a:solidFill>
                  <a:srgbClr val="182D45"/>
                </a:solidFill>
                <a:latin typeface="DejaVu Sans"/>
                <a:ea typeface="DejaVu Sans"/>
                <a:cs typeface="DejaVu Sans"/>
              </a:rPr>
              <a:t> in the parameters.</a:t>
            </a:r>
          </a:p>
          <a:p>
            <a:pPr algn="ctr">
              <a:lnSpc>
                <a:spcPct val="112000"/>
              </a:lnSpc>
              <a:buNone/>
              <a:defRPr sz="2400" b="0">
                <a:solidFill>
                  <a:srgbClr val="182D45"/>
                </a:solidFill>
                <a:latin typeface="DejaVu Sans"/>
                <a:ea typeface="DejaVu Sans"/>
                <a:cs typeface="DejaVu Sans"/>
              </a:defRPr>
            </a:pPr>
            <a:r>
              <a:rPr sz="2400" b="0" dirty="0">
                <a:solidFill>
                  <a:srgbClr val="182D45"/>
                </a:solidFill>
                <a:latin typeface="DejaVu Sans"/>
                <a:ea typeface="DejaVu Sans"/>
                <a:cs typeface="DejaVu Sans"/>
              </a:rPr>
              <a:t>Therefore, </a:t>
            </a:r>
            <a:r>
              <a:rPr sz="2400" b="0" dirty="0">
                <a:solidFill>
                  <a:srgbClr val="FF0000"/>
                </a:solidFill>
                <a:latin typeface="DejaVu Sans"/>
                <a:ea typeface="DejaVu Sans"/>
                <a:cs typeface="DejaVu Sans"/>
              </a:rPr>
              <a:t>any stationary point is a global </a:t>
            </a:r>
            <a:r>
              <a:rPr sz="2400" b="0" dirty="0" err="1">
                <a:solidFill>
                  <a:srgbClr val="FF0000"/>
                </a:solidFill>
                <a:latin typeface="DejaVu Sans"/>
                <a:ea typeface="DejaVu Sans"/>
                <a:cs typeface="DejaVu Sans"/>
              </a:rPr>
              <a:t>minimiser</a:t>
            </a:r>
            <a:r>
              <a:rPr sz="2400" b="0" dirty="0">
                <a:solidFill>
                  <a:srgbClr val="182D45"/>
                </a:solidFill>
                <a:latin typeface="DejaVu Sans"/>
                <a:ea typeface="DejaVu Sans"/>
                <a:cs typeface="DejaVu Sans"/>
              </a:rPr>
              <a:t>.</a:t>
            </a:r>
          </a:p>
        </p:txBody>
      </p:sp>
      <p:sp>
        <p:nvSpPr>
          <p:cNvPr id="6" name="agenda_2">
            <a:extLst>
              <a:ext uri="{FF2B5EF4-FFF2-40B4-BE49-F238E27FC236}">
                <a16:creationId xmlns:a16="http://schemas.microsoft.com/office/drawing/2014/main" id="{3312F965-09C1-4D12-84D5-4BBA1DEBD5BA}"/>
              </a:ext>
            </a:extLst>
          </p:cNvPr>
          <p:cNvSpPr>
            <a:spLocks noGrp="1"/>
          </p:cNvSpPr>
          <p:nvPr/>
        </p:nvSpPr>
        <p:spPr>
          <a:xfrm>
            <a:off x="508000" y="1890054"/>
            <a:ext cx="11176000" cy="1226312"/>
          </a:xfrm>
          <a:prstGeom prst="rect">
            <a:avLst/>
          </a:prstGeom>
          <a:noFill/>
          <a:ln w="0">
            <a:noFill/>
          </a:ln>
        </p:spPr>
        <p:txBody>
          <a:bodyPr wrap="square" lIns="0" tIns="0" rIns="0" bIns="0" anchor="ctr">
            <a:noAutofit/>
          </a:bodyPr>
          <a:lstStyle/>
          <a:p>
            <a:pPr algn="ctr">
              <a:lnSpc>
                <a:spcPct val="112000"/>
              </a:lnSpc>
              <a:buNone/>
              <a:defRPr sz="2400" b="0">
                <a:solidFill>
                  <a:srgbClr val="182D45"/>
                </a:solidFill>
                <a:latin typeface="DejaVu Sans"/>
                <a:ea typeface="DejaVu Sans"/>
                <a:cs typeface="DejaVu Sans"/>
              </a:defRPr>
            </a:pPr>
            <a:r>
              <a:rPr lang="it-IT" sz="2400" b="0" dirty="0" err="1">
                <a:solidFill>
                  <a:srgbClr val="FF0000"/>
                </a:solidFill>
                <a:latin typeface="DejaVu Sans"/>
                <a:ea typeface="DejaVu Sans"/>
                <a:cs typeface="DejaVu Sans"/>
              </a:rPr>
              <a:t>However</a:t>
            </a:r>
            <a:r>
              <a:rPr lang="it-IT" sz="2400" b="0" dirty="0">
                <a:solidFill>
                  <a:srgbClr val="182D45"/>
                </a:solidFill>
                <a:latin typeface="DejaVu Sans"/>
                <a:ea typeface="DejaVu Sans"/>
                <a:cs typeface="DejaVu Sans"/>
              </a:rPr>
              <a:t>: a</a:t>
            </a:r>
            <a:r>
              <a:rPr sz="2400" b="0" dirty="0">
                <a:solidFill>
                  <a:srgbClr val="182D45"/>
                </a:solidFill>
                <a:latin typeface="DejaVu Sans"/>
                <a:ea typeface="DejaVu Sans"/>
                <a:cs typeface="DejaVu Sans"/>
              </a:rPr>
              <a:t> finite </a:t>
            </a:r>
            <a:r>
              <a:rPr sz="2400" b="0" dirty="0" err="1">
                <a:solidFill>
                  <a:srgbClr val="182D45"/>
                </a:solidFill>
                <a:latin typeface="DejaVu Sans"/>
                <a:ea typeface="DejaVu Sans"/>
                <a:cs typeface="DejaVu Sans"/>
              </a:rPr>
              <a:t>minimiser</a:t>
            </a:r>
            <a:r>
              <a:rPr sz="2400" b="0" dirty="0">
                <a:solidFill>
                  <a:srgbClr val="182D45"/>
                </a:solidFill>
                <a:latin typeface="DejaVu Sans"/>
                <a:ea typeface="DejaVu Sans"/>
                <a:cs typeface="DejaVu Sans"/>
              </a:rPr>
              <a:t> need not exist</a:t>
            </a:r>
            <a:r>
              <a:rPr lang="it-IT" sz="2400" b="0" dirty="0">
                <a:solidFill>
                  <a:srgbClr val="182D45"/>
                </a:solidFill>
                <a:latin typeface="DejaVu Sans"/>
                <a:ea typeface="DejaVu Sans"/>
                <a:cs typeface="DejaVu Sans"/>
              </a:rPr>
              <a:t>!!!</a:t>
            </a:r>
          </a:p>
          <a:p>
            <a:pPr algn="ctr">
              <a:lnSpc>
                <a:spcPct val="112000"/>
              </a:lnSpc>
              <a:buNone/>
              <a:defRPr sz="2400" b="0">
                <a:solidFill>
                  <a:srgbClr val="182D45"/>
                </a:solidFill>
                <a:latin typeface="DejaVu Sans"/>
                <a:ea typeface="DejaVu Sans"/>
                <a:cs typeface="DejaVu Sans"/>
              </a:defRPr>
            </a:pPr>
            <a:r>
              <a:rPr sz="2400" b="0" dirty="0">
                <a:solidFill>
                  <a:srgbClr val="182D45"/>
                </a:solidFill>
                <a:latin typeface="DejaVu Sans"/>
                <a:ea typeface="DejaVu Sans"/>
                <a:cs typeface="DejaVu Sans"/>
              </a:rPr>
              <a:t> </a:t>
            </a:r>
            <a:r>
              <a:rPr lang="it-IT" sz="2400" b="0" dirty="0">
                <a:solidFill>
                  <a:srgbClr val="182D45"/>
                </a:solidFill>
                <a:latin typeface="DejaVu Sans"/>
                <a:ea typeface="DejaVu Sans"/>
                <a:cs typeface="DejaVu Sans"/>
              </a:rPr>
              <a:t>See the notes for a </a:t>
            </a:r>
            <a:r>
              <a:rPr lang="it-IT" sz="2400" b="0" dirty="0" err="1">
                <a:solidFill>
                  <a:srgbClr val="182D45"/>
                </a:solidFill>
                <a:latin typeface="DejaVu Sans"/>
                <a:ea typeface="DejaVu Sans"/>
                <a:cs typeface="DejaVu Sans"/>
              </a:rPr>
              <a:t>counterexample</a:t>
            </a:r>
            <a:r>
              <a:rPr lang="it-IT" sz="2400" b="0" dirty="0">
                <a:solidFill>
                  <a:srgbClr val="182D45"/>
                </a:solidFill>
                <a:latin typeface="DejaVu Sans"/>
                <a:ea typeface="DejaVu Sans"/>
                <a:cs typeface="DejaVu Sans"/>
              </a:rPr>
              <a:t>.</a:t>
            </a:r>
          </a:p>
        </p:txBody>
      </p:sp>
      <mc:AlternateContent xmlns:mc="http://schemas.openxmlformats.org/markup-compatibility/2006" xmlns:a14="http://schemas.microsoft.com/office/drawing/2010/main">
        <mc:Choice Requires="a14">
          <p:sp>
            <p:nvSpPr>
              <p:cNvPr id="9" name="warning_mistakes"/>
              <p:cNvSpPr>
                <a:spLocks noGrp="1"/>
              </p:cNvSpPr>
              <p:nvPr/>
            </p:nvSpPr>
            <p:spPr>
              <a:xfrm>
                <a:off x="508000" y="4531408"/>
                <a:ext cx="11176000" cy="762000"/>
              </a:xfrm>
              <a:prstGeom prst="rect">
                <a:avLst/>
              </a:prstGeom>
              <a:noFill/>
              <a:ln w="0">
                <a:noFill/>
              </a:ln>
            </p:spPr>
            <p:txBody>
              <a:bodyPr wrap="square" lIns="0" tIns="0" rIns="0" bIns="0" anchor="ctr">
                <a:noAutofit/>
              </a:bodyPr>
              <a:lstStyle/>
              <a:p>
                <a:pPr algn="ctr">
                  <a:lnSpc>
                    <a:spcPct val="112000"/>
                  </a:lnSpc>
                  <a:defRPr sz="2400" b="0">
                    <a:solidFill>
                      <a:srgbClr val="182D45"/>
                    </a:solidFill>
                    <a:latin typeface="DejaVu Sans"/>
                    <a:ea typeface="DejaVu Sans"/>
                    <a:cs typeface="DejaVu Sans"/>
                  </a:defRPr>
                </a:pPr>
                <a:r>
                  <a:rPr sz="2400" b="0" dirty="0">
                    <a:solidFill>
                      <a:srgbClr val="FF0000"/>
                    </a:solidFill>
                    <a:latin typeface="DejaVu Sans"/>
                    <a:ea typeface="DejaVu Sans"/>
                    <a:cs typeface="DejaVu Sans"/>
                  </a:rPr>
                  <a:t>Warning 1</a:t>
                </a:r>
                <a:r>
                  <a:rPr sz="2400" b="0" dirty="0">
                    <a:solidFill>
                      <a:srgbClr val="182D45"/>
                    </a:solidFill>
                    <a:latin typeface="DejaVu Sans"/>
                    <a:ea typeface="DejaVu Sans"/>
                    <a:cs typeface="DejaVu Sans"/>
                  </a:rPr>
                  <a:t>: decreasing the empirical logistic loss</a:t>
                </a:r>
              </a:p>
              <a:p>
                <a:pPr algn="ctr">
                  <a:lnSpc>
                    <a:spcPct val="112000"/>
                  </a:lnSpc>
                  <a:defRPr sz="2400" b="0">
                    <a:solidFill>
                      <a:srgbClr val="182D45"/>
                    </a:solidFill>
                    <a:latin typeface="DejaVu Sans"/>
                    <a:ea typeface="DejaVu Sans"/>
                    <a:cs typeface="DejaVu Sans"/>
                  </a:defRPr>
                </a:pPr>
                <a:r>
                  <a:rPr sz="2400" b="0" dirty="0">
                    <a:solidFill>
                      <a:srgbClr val="182D45"/>
                    </a:solidFill>
                    <a:latin typeface="DejaVu Sans"/>
                    <a:ea typeface="DejaVu Sans"/>
                    <a:cs typeface="DejaVu Sans"/>
                  </a:rPr>
                  <a:t>does not guarantee fewer mistakes (a lower empirical </a:t>
                </a:r>
                <a14:m>
                  <m:oMath xmlns:m="http://schemas.openxmlformats.org/officeDocument/2006/math">
                    <m:r>
                      <a:rPr lang="it-IT" sz="2400" b="0" i="1" dirty="0" smtClean="0">
                        <a:solidFill>
                          <a:srgbClr val="182D45"/>
                        </a:solidFill>
                        <a:latin typeface="Cambria Math" panose="02040503050406030204" pitchFamily="18" charset="0"/>
                        <a:ea typeface="DejaVu Sans"/>
                        <a:cs typeface="DejaVu Sans"/>
                      </a:rPr>
                      <m:t>0</m:t>
                    </m:r>
                  </m:oMath>
                </a14:m>
                <a:r>
                  <a:rPr lang="it-IT" sz="2400" b="0" dirty="0">
                    <a:solidFill>
                      <a:srgbClr val="182D45"/>
                    </a:solidFill>
                    <a:latin typeface="DejaVu Sans"/>
                    <a:ea typeface="DejaVu Sans"/>
                    <a:cs typeface="DejaVu Sans"/>
                  </a:rPr>
                  <a:t>-</a:t>
                </a:r>
                <a14:m>
                  <m:oMath xmlns:m="http://schemas.openxmlformats.org/officeDocument/2006/math">
                    <m:r>
                      <a:rPr lang="it-IT" sz="2400" i="1" dirty="0">
                        <a:solidFill>
                          <a:srgbClr val="182D45"/>
                        </a:solidFill>
                        <a:latin typeface="Cambria Math" panose="02040503050406030204" pitchFamily="18" charset="0"/>
                        <a:ea typeface="DejaVu Sans"/>
                        <a:cs typeface="DejaVu Sans"/>
                      </a:rPr>
                      <m:t>1</m:t>
                    </m:r>
                  </m:oMath>
                </a14:m>
                <a:r>
                  <a:rPr sz="2400" b="0" dirty="0">
                    <a:solidFill>
                      <a:srgbClr val="182D45"/>
                    </a:solidFill>
                    <a:latin typeface="DejaVu Sans"/>
                    <a:ea typeface="DejaVu Sans"/>
                    <a:cs typeface="DejaVu Sans"/>
                  </a:rPr>
                  <a:t> loss).</a:t>
                </a:r>
              </a:p>
            </p:txBody>
          </p:sp>
        </mc:Choice>
        <mc:Fallback xmlns="">
          <p:sp>
            <p:nvSpPr>
              <p:cNvPr id="9" name="warning_mistakes"/>
              <p:cNvSpPr>
                <a:spLocks noGrp="1" noRot="1" noChangeAspect="1" noMove="1" noResize="1" noEditPoints="1" noAdjustHandles="1" noChangeArrowheads="1" noChangeShapeType="1" noTextEdit="1"/>
              </p:cNvSpPr>
              <p:nvPr/>
            </p:nvSpPr>
            <p:spPr>
              <a:xfrm>
                <a:off x="508000" y="4531408"/>
                <a:ext cx="11176000" cy="762000"/>
              </a:xfrm>
              <a:prstGeom prst="rect">
                <a:avLst/>
              </a:prstGeom>
              <a:blipFill>
                <a:blip r:embed="rId2"/>
                <a:stretch>
                  <a:fillRect t="-13600" b="-25600"/>
                </a:stretch>
              </a:blipFill>
              <a:ln w="0">
                <a:noFill/>
              </a:ln>
            </p:spPr>
            <p:txBody>
              <a:bodyPr/>
              <a:lstStyle/>
              <a:p>
                <a:r>
                  <a:rPr lang="it-IT">
                    <a:noFill/>
                  </a:rPr>
                  <a:t> </a:t>
                </a:r>
              </a:p>
            </p:txBody>
          </p:sp>
        </mc:Fallback>
      </mc:AlternateContent>
      <p:sp>
        <p:nvSpPr>
          <p:cNvPr id="7" name="agenda_3">
            <a:extLst>
              <a:ext uri="{FF2B5EF4-FFF2-40B4-BE49-F238E27FC236}">
                <a16:creationId xmlns:a16="http://schemas.microsoft.com/office/drawing/2014/main" id="{C35903BF-7FDC-425A-86AF-AAABDFFAADC2}"/>
              </a:ext>
            </a:extLst>
          </p:cNvPr>
          <p:cNvSpPr>
            <a:spLocks noGrp="1"/>
          </p:cNvSpPr>
          <p:nvPr/>
        </p:nvSpPr>
        <p:spPr>
          <a:xfrm>
            <a:off x="508000" y="5508121"/>
            <a:ext cx="11176000" cy="762000"/>
          </a:xfrm>
          <a:prstGeom prst="rect">
            <a:avLst/>
          </a:prstGeom>
          <a:noFill/>
          <a:ln w="0">
            <a:noFill/>
          </a:ln>
        </p:spPr>
        <p:txBody>
          <a:bodyPr wrap="square" lIns="0" tIns="0" rIns="0" bIns="0" anchor="ctr">
            <a:noAutofit/>
          </a:bodyPr>
          <a:lstStyle/>
          <a:p>
            <a:pPr algn="ctr">
              <a:lnSpc>
                <a:spcPct val="112000"/>
              </a:lnSpc>
              <a:buNone/>
              <a:defRPr sz="2400" b="0">
                <a:solidFill>
                  <a:srgbClr val="182D45"/>
                </a:solidFill>
                <a:latin typeface="DejaVu Sans"/>
                <a:ea typeface="DejaVu Sans"/>
                <a:cs typeface="DejaVu Sans"/>
              </a:defRPr>
            </a:pPr>
            <a:r>
              <a:rPr lang="it-IT" sz="2400" b="0" dirty="0">
                <a:solidFill>
                  <a:srgbClr val="FF0000"/>
                </a:solidFill>
                <a:latin typeface="DejaVu Sans"/>
                <a:ea typeface="DejaVu Sans"/>
                <a:cs typeface="DejaVu Sans"/>
              </a:rPr>
              <a:t>Warning 2</a:t>
            </a:r>
            <a:r>
              <a:rPr lang="it-IT" sz="2400" b="0" dirty="0">
                <a:solidFill>
                  <a:srgbClr val="182D45"/>
                </a:solidFill>
                <a:latin typeface="DejaVu Sans"/>
                <a:ea typeface="DejaVu Sans"/>
                <a:cs typeface="DejaVu Sans"/>
              </a:rPr>
              <a:t>: g</a:t>
            </a:r>
            <a:r>
              <a:rPr sz="2400" b="0" dirty="0" err="1">
                <a:solidFill>
                  <a:srgbClr val="182D45"/>
                </a:solidFill>
                <a:latin typeface="DejaVu Sans"/>
                <a:ea typeface="DejaVu Sans"/>
                <a:cs typeface="DejaVu Sans"/>
              </a:rPr>
              <a:t>radient</a:t>
            </a:r>
            <a:r>
              <a:rPr sz="2400" b="0" dirty="0">
                <a:solidFill>
                  <a:srgbClr val="182D45"/>
                </a:solidFill>
                <a:latin typeface="DejaVu Sans"/>
                <a:ea typeface="DejaVu Sans"/>
                <a:cs typeface="DejaVu Sans"/>
              </a:rPr>
              <a:t> descent still needs an appropriate learning rate.</a:t>
            </a:r>
          </a:p>
          <a:p>
            <a:pPr algn="ctr">
              <a:lnSpc>
                <a:spcPct val="112000"/>
              </a:lnSpc>
              <a:buNone/>
              <a:defRPr sz="2400" b="0">
                <a:solidFill>
                  <a:srgbClr val="182D45"/>
                </a:solidFill>
                <a:latin typeface="DejaVu Sans"/>
                <a:ea typeface="DejaVu Sans"/>
                <a:cs typeface="DejaVu Sans"/>
              </a:defRPr>
            </a:pPr>
            <a:r>
              <a:rPr sz="2400" b="0" dirty="0">
                <a:solidFill>
                  <a:srgbClr val="182D45"/>
                </a:solidFill>
                <a:latin typeface="DejaVu Sans"/>
                <a:ea typeface="DejaVu Sans"/>
                <a:cs typeface="DejaVu Sans"/>
              </a:rPr>
              <a:t>A step that is too large can increase the loss.</a:t>
            </a:r>
          </a:p>
        </p:txBody>
      </p:sp>
      <p:sp>
        <p:nvSpPr>
          <p:cNvPr id="10" name="CasellaDiTesto 9">
            <a:extLst>
              <a:ext uri="{FF2B5EF4-FFF2-40B4-BE49-F238E27FC236}">
                <a16:creationId xmlns:a16="http://schemas.microsoft.com/office/drawing/2014/main" id="{956D8344-3A3E-4D83-2002-11C1D59EB8FC}"/>
              </a:ext>
            </a:extLst>
          </p:cNvPr>
          <p:cNvSpPr txBox="1"/>
          <p:nvPr/>
        </p:nvSpPr>
        <p:spPr>
          <a:xfrm>
            <a:off x="366141" y="3116366"/>
            <a:ext cx="10716768" cy="1200329"/>
          </a:xfrm>
          <a:prstGeom prst="rect">
            <a:avLst/>
          </a:prstGeom>
          <a:noFill/>
        </p:spPr>
        <p:txBody>
          <a:bodyPr wrap="square">
            <a:spAutoFit/>
          </a:bodyPr>
          <a:lstStyle/>
          <a:p>
            <a:pPr algn="ctr"/>
            <a:r>
              <a:rPr lang="it-IT" sz="2400" dirty="0">
                <a:solidFill>
                  <a:srgbClr val="FF0000"/>
                </a:solidFill>
                <a:latin typeface="DejaVu Sans"/>
              </a:rPr>
              <a:t>Also</a:t>
            </a:r>
            <a:r>
              <a:rPr lang="it-IT" sz="2400" dirty="0">
                <a:solidFill>
                  <a:srgbClr val="182D45"/>
                </a:solidFill>
                <a:latin typeface="DejaVu Sans"/>
              </a:rPr>
              <a:t>: Even </a:t>
            </a:r>
            <a:r>
              <a:rPr lang="it-IT" sz="2400" dirty="0" err="1">
                <a:solidFill>
                  <a:srgbClr val="182D45"/>
                </a:solidFill>
                <a:latin typeface="DejaVu Sans"/>
              </a:rPr>
              <a:t>when</a:t>
            </a:r>
            <a:r>
              <a:rPr lang="it-IT" sz="2400" dirty="0">
                <a:solidFill>
                  <a:srgbClr val="182D45"/>
                </a:solidFill>
                <a:latin typeface="DejaVu Sans"/>
              </a:rPr>
              <a:t> a finite </a:t>
            </a:r>
            <a:r>
              <a:rPr lang="it-IT" sz="2400" dirty="0" err="1">
                <a:solidFill>
                  <a:srgbClr val="182D45"/>
                </a:solidFill>
                <a:latin typeface="DejaVu Sans"/>
              </a:rPr>
              <a:t>minimiser</a:t>
            </a:r>
            <a:r>
              <a:rPr lang="it-IT" sz="2400" dirty="0">
                <a:solidFill>
                  <a:srgbClr val="182D45"/>
                </a:solidFill>
                <a:latin typeface="DejaVu Sans"/>
              </a:rPr>
              <a:t> </a:t>
            </a:r>
            <a:r>
              <a:rPr lang="it-IT" sz="2400" dirty="0" err="1">
                <a:solidFill>
                  <a:srgbClr val="182D45"/>
                </a:solidFill>
                <a:latin typeface="DejaVu Sans"/>
              </a:rPr>
              <a:t>exists</a:t>
            </a:r>
            <a:r>
              <a:rPr lang="it-IT" sz="2400" dirty="0">
                <a:solidFill>
                  <a:srgbClr val="182D45"/>
                </a:solidFill>
                <a:latin typeface="DejaVu Sans"/>
              </a:rPr>
              <a:t>,</a:t>
            </a:r>
          </a:p>
          <a:p>
            <a:pPr algn="ctr"/>
            <a:r>
              <a:rPr lang="it-IT" sz="2400" dirty="0">
                <a:solidFill>
                  <a:srgbClr val="182D45"/>
                </a:solidFill>
                <a:latin typeface="DejaVu Sans"/>
              </a:rPr>
              <a:t>the </a:t>
            </a:r>
            <a:r>
              <a:rPr lang="it-IT" sz="2400" dirty="0" err="1">
                <a:solidFill>
                  <a:srgbClr val="182D45"/>
                </a:solidFill>
                <a:latin typeface="DejaVu Sans"/>
              </a:rPr>
              <a:t>stationarity</a:t>
            </a:r>
            <a:r>
              <a:rPr lang="it-IT" sz="2400" dirty="0">
                <a:solidFill>
                  <a:srgbClr val="182D45"/>
                </a:solidFill>
                <a:latin typeface="DejaVu Sans"/>
              </a:rPr>
              <a:t> </a:t>
            </a:r>
            <a:r>
              <a:rPr lang="it-IT" sz="2400" dirty="0" err="1">
                <a:solidFill>
                  <a:srgbClr val="182D45"/>
                </a:solidFill>
                <a:latin typeface="DejaVu Sans"/>
              </a:rPr>
              <a:t>equations</a:t>
            </a:r>
            <a:r>
              <a:rPr lang="it-IT" sz="2400" dirty="0">
                <a:solidFill>
                  <a:srgbClr val="182D45"/>
                </a:solidFill>
                <a:latin typeface="DejaVu Sans"/>
              </a:rPr>
              <a:t> form a </a:t>
            </a:r>
            <a:r>
              <a:rPr lang="it-IT" sz="2400" dirty="0" err="1">
                <a:solidFill>
                  <a:srgbClr val="FF0000"/>
                </a:solidFill>
                <a:latin typeface="DejaVu Sans"/>
              </a:rPr>
              <a:t>nonlinear</a:t>
            </a:r>
            <a:r>
              <a:rPr lang="it-IT" sz="2400" dirty="0">
                <a:solidFill>
                  <a:srgbClr val="FF0000"/>
                </a:solidFill>
                <a:latin typeface="DejaVu Sans"/>
              </a:rPr>
              <a:t> system</a:t>
            </a:r>
            <a:r>
              <a:rPr lang="it-IT" sz="2400" dirty="0">
                <a:solidFill>
                  <a:srgbClr val="182D45"/>
                </a:solidFill>
                <a:latin typeface="DejaVu Sans"/>
              </a:rPr>
              <a:t>,</a:t>
            </a:r>
          </a:p>
          <a:p>
            <a:pPr algn="ctr"/>
            <a:r>
              <a:rPr lang="it-IT" sz="2400" dirty="0" err="1">
                <a:solidFill>
                  <a:srgbClr val="182D45"/>
                </a:solidFill>
                <a:latin typeface="DejaVu Sans"/>
              </a:rPr>
              <a:t>generally</a:t>
            </a:r>
            <a:r>
              <a:rPr lang="it-IT" sz="2400" dirty="0">
                <a:solidFill>
                  <a:srgbClr val="182D45"/>
                </a:solidFill>
                <a:latin typeface="DejaVu Sans"/>
              </a:rPr>
              <a:t> with </a:t>
            </a:r>
            <a:r>
              <a:rPr lang="it-IT" sz="2400" dirty="0">
                <a:solidFill>
                  <a:srgbClr val="FF0000"/>
                </a:solidFill>
                <a:latin typeface="DejaVu Sans"/>
              </a:rPr>
              <a:t>no </a:t>
            </a:r>
            <a:r>
              <a:rPr lang="it-IT" sz="2400" dirty="0" err="1">
                <a:solidFill>
                  <a:srgbClr val="FF0000"/>
                </a:solidFill>
                <a:latin typeface="DejaVu Sans"/>
              </a:rPr>
              <a:t>closed</a:t>
            </a:r>
            <a:r>
              <a:rPr lang="it-IT" sz="2400" dirty="0">
                <a:solidFill>
                  <a:srgbClr val="FF0000"/>
                </a:solidFill>
                <a:latin typeface="DejaVu Sans"/>
              </a:rPr>
              <a:t>-form </a:t>
            </a:r>
            <a:r>
              <a:rPr lang="it-IT" sz="2400" dirty="0" err="1">
                <a:solidFill>
                  <a:srgbClr val="FF0000"/>
                </a:solidFill>
                <a:latin typeface="DejaVu Sans"/>
              </a:rPr>
              <a:t>solution</a:t>
            </a:r>
            <a:r>
              <a:rPr lang="it-IT" sz="2400" dirty="0">
                <a:solidFill>
                  <a:srgbClr val="182D45"/>
                </a:solidFill>
                <a:latin typeface="DejaVu Sans"/>
              </a:rPr>
              <a:t>.</a:t>
            </a:r>
          </a:p>
        </p:txBody>
      </p:sp>
    </p:spTree>
    <p:extLst>
      <p:ext uri="{BB962C8B-B14F-4D97-AF65-F5344CB8AC3E}">
        <p14:creationId xmlns:p14="http://schemas.microsoft.com/office/powerpoint/2010/main" val="6315028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a:extLst>
                  <a:ext uri="{FF2B5EF4-FFF2-40B4-BE49-F238E27FC236}">
                    <a16:creationId xmlns:a16="http://schemas.microsoft.com/office/drawing/2014/main" id="{EC11CCFD-18A4-4A29-8CD2-AD6FF084690E}"/>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Gradient descent: </a:t>
                </a:r>
                <a14:m>
                  <m:oMath xmlns:m="http://schemas.openxmlformats.org/officeDocument/2006/math">
                    <m:r>
                      <a:rPr lang="it-IT" sz="3150" b="1" i="1" dirty="0" smtClean="0">
                        <a:solidFill>
                          <a:srgbClr val="182D45"/>
                        </a:solidFill>
                        <a:latin typeface="Cambria Math" panose="02040503050406030204" pitchFamily="18" charset="0"/>
                        <a:ea typeface="DejaVu Sans"/>
                        <a:cs typeface="DejaVu Sans"/>
                      </a:rPr>
                      <m:t>𝜼</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r>
                      <a:rPr lang="it-IT" sz="3150" b="1" i="1" dirty="0" smtClean="0">
                        <a:solidFill>
                          <a:srgbClr val="182D45"/>
                        </a:solidFill>
                        <a:latin typeface="Cambria Math" panose="02040503050406030204" pitchFamily="18" charset="0"/>
                        <a:ea typeface="DejaVu Sans"/>
                        <a:cs typeface="DejaVu Sans"/>
                      </a:rPr>
                      <m:t>.</m:t>
                    </m:r>
                    <m:r>
                      <a:rPr lang="it-IT" sz="3150" b="1" i="1" dirty="0" smtClean="0">
                        <a:solidFill>
                          <a:srgbClr val="182D45"/>
                        </a:solidFill>
                        <a:latin typeface="Cambria Math" panose="02040503050406030204" pitchFamily="18" charset="0"/>
                        <a:ea typeface="DejaVu Sans"/>
                        <a:cs typeface="DejaVu Sans"/>
                      </a:rPr>
                      <m:t>𝟎𝟎𝟏</m:t>
                    </m:r>
                    <m:r>
                      <a:rPr lang="it-IT" sz="3150" b="1" i="1" dirty="0" smtClean="0">
                        <a:solidFill>
                          <a:srgbClr val="182D45"/>
                        </a:solidFill>
                        <a:latin typeface="Cambria Math" panose="02040503050406030204" pitchFamily="18" charset="0"/>
                        <a:ea typeface="DejaVu Sans"/>
                        <a:cs typeface="DejaVu Sans"/>
                      </a:rPr>
                      <m:t>, </m:t>
                    </m:r>
                    <m:r>
                      <a:rPr lang="it-IT" sz="3150" b="1" i="1" dirty="0" smtClean="0">
                        <a:solidFill>
                          <a:srgbClr val="182D45"/>
                        </a:solidFill>
                        <a:latin typeface="Cambria Math" panose="02040503050406030204" pitchFamily="18" charset="0"/>
                        <a:ea typeface="DejaVu Sans"/>
                        <a:cs typeface="DejaVu Sans"/>
                      </a:rPr>
                      <m:t>𝒕</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oMath>
                </a14:m>
                <a:endParaRPr sz="3150" b="1" dirty="0">
                  <a:solidFill>
                    <a:srgbClr val="182D45"/>
                  </a:solidFill>
                  <a:latin typeface="DejaVu Sans"/>
                  <a:ea typeface="DejaVu Sans"/>
                  <a:cs typeface="DejaVu Sans"/>
                </a:endParaRPr>
              </a:p>
            </p:txBody>
          </p:sp>
        </mc:Choice>
        <mc:Fallback xmlns="">
          <p:sp>
            <p:nvSpPr>
              <p:cNvPr id="9" name="title">
                <a:extLst>
                  <a:ext uri="{FF2B5EF4-FFF2-40B4-BE49-F238E27FC236}">
                    <a16:creationId xmlns:a16="http://schemas.microsoft.com/office/drawing/2014/main" id="{EC11CCFD-18A4-4A29-8CD2-AD6FF084690E}"/>
                  </a:ext>
                </a:extLst>
              </p:cNvPr>
              <p:cNvSpPr>
                <a:spLocks noGrp="1" noRot="1" noChangeAspect="1" noMove="1" noResize="1" noEditPoints="1" noAdjustHandles="1" noChangeArrowheads="1" noChangeShapeType="1" noTextEdit="1"/>
              </p:cNvSpPr>
              <p:nvPr/>
            </p:nvSpPr>
            <p:spPr>
              <a:xfrm>
                <a:off x="685800" y="333375"/>
                <a:ext cx="10820400" cy="666750"/>
              </a:xfrm>
              <a:prstGeom prst="rect">
                <a:avLst/>
              </a:prstGeom>
              <a:blipFill>
                <a:blip r:embed="rId3"/>
                <a:stretch>
                  <a:fillRect t="-4587" b="-2293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ECE47EE2-2AFD-4F71-AF5F-A9B80B2EA7EF}"/>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E6C26390-F8D7-418F-B46D-DB90238FF619}"/>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30</a:t>
            </a:r>
          </a:p>
        </p:txBody>
      </p:sp>
      <p:graphicFrame>
        <p:nvGraphicFramePr>
          <p:cNvPr id="13" name="step_0_chart_0"/>
          <p:cNvGraphicFramePr/>
          <p:nvPr/>
        </p:nvGraphicFramePr>
        <p:xfrm>
          <a:off x="552450" y="1981200"/>
          <a:ext cx="5657850" cy="3619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step_0_chart_1"/>
          <p:cNvGraphicFramePr/>
          <p:nvPr/>
        </p:nvGraphicFramePr>
        <p:xfrm>
          <a:off x="6581775" y="1981200"/>
          <a:ext cx="5000625" cy="361950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step_0_equation_2" descr="x_2=5.7500+0.0000x_1">
                <a:extLst>
                  <a:ext uri="{FF2B5EF4-FFF2-40B4-BE49-F238E27FC236}">
                    <a16:creationId xmlns:a16="http://schemas.microsoft.com/office/drawing/2014/main" id="{D4CCF2DA-0C42-4529-906F-8C24E798C173}"/>
                  </a:ext>
                </a:extLst>
              </p:cNvPr>
              <p:cNvSpPr>
                <a:spLocks noGrp="1"/>
              </p:cNvSpPr>
              <p:nvPr/>
            </p:nvSpPr>
            <p:spPr>
              <a:xfrm>
                <a:off x="571500" y="5638800"/>
                <a:ext cx="6000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=5.7500+0.0000</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1</m:t>
                          </m:r>
                        </m:sub>
                      </m:sSub>
                    </m:oMath>
                  </m:oMathPara>
                </a14:m>
                <a:endParaRPr lang="en-GB" sz="2400"/>
              </a:p>
            </p:txBody>
          </p:sp>
        </mc:Choice>
        <mc:Fallback xmlns="">
          <p:sp>
            <p:nvSpPr>
              <p:cNvPr id="7" name="step_0_equation_2" descr="x_2=5.7500+0.0000x_1">
                <a:extLst>
                  <a:ext uri="{FF2B5EF4-FFF2-40B4-BE49-F238E27FC236}">
                    <a16:creationId xmlns:a16="http://schemas.microsoft.com/office/drawing/2014/main" id="{D4CCF2DA-0C42-4529-906F-8C24E798C173}"/>
                  </a:ext>
                </a:extLst>
              </p:cNvPr>
              <p:cNvSpPr>
                <a:spLocks noGrp="1" noRot="1" noChangeAspect="1" noMove="1" noResize="1" noEditPoints="1" noAdjustHandles="1" noChangeArrowheads="1" noChangeShapeType="1" noTextEdit="1"/>
              </p:cNvSpPr>
              <p:nvPr/>
            </p:nvSpPr>
            <p:spPr>
              <a:xfrm>
                <a:off x="571500" y="5638800"/>
                <a:ext cx="6000750" cy="619125"/>
              </a:xfrm>
              <a:prstGeom prst="rect">
                <a:avLst/>
              </a:prstGeom>
              <a:blipFill>
                <a:blip r:embed="rId6"/>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4C26131F-DCAE-4A62-AFEF-0E0617BB223B}"/>
              </a:ext>
            </a:extLst>
          </p:cNvPr>
          <p:cNvSpPr>
            <a:spLocks noGrp="1"/>
          </p:cNvSpPr>
          <p:nvPr/>
        </p:nvSpPr>
        <p:spPr>
          <a:xfrm>
            <a:off x="6762750" y="5829300"/>
            <a:ext cx="4714875" cy="552450"/>
          </a:xfrm>
          <a:prstGeom prst="rect">
            <a:avLst/>
          </a:prstGeom>
          <a:noFill/>
          <a:ln w="0">
            <a:noFill/>
          </a:ln>
        </p:spPr>
        <p:txBody>
          <a:bodyPr wrap="square" lIns="0" tIns="0" rIns="0" bIns="0" anchor="ctr">
            <a:noAutofit/>
          </a:bodyPr>
          <a:lstStyle/>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Logistic loss: 51.048</a:t>
            </a:r>
          </a:p>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Mistakes: 31 of 100</a:t>
            </a:r>
          </a:p>
        </p:txBody>
      </p:sp>
      <p:sp>
        <p:nvSpPr>
          <p:cNvPr id="15" name="step_0_initial_label">
            <a:extLst>
              <a:ext uri="{FF2B5EF4-FFF2-40B4-BE49-F238E27FC236}">
                <a16:creationId xmlns:a16="http://schemas.microsoft.com/office/drawing/2014/main" id="{5A56BA79-3CDA-48CD-8F19-5C4A628AB9D6}"/>
              </a:ext>
            </a:extLst>
          </p:cNvPr>
          <p:cNvSpPr>
            <a:spLocks noGrp="1"/>
          </p:cNvSpPr>
          <p:nvPr/>
        </p:nvSpPr>
        <p:spPr>
          <a:xfrm>
            <a:off x="723900" y="1181100"/>
            <a:ext cx="2857500" cy="609600"/>
          </a:xfrm>
          <a:prstGeom prst="rect">
            <a:avLst/>
          </a:prstGeom>
          <a:noFill/>
          <a:ln w="0">
            <a:noFill/>
          </a:ln>
        </p:spPr>
        <p:txBody>
          <a:bodyPr wrap="square" lIns="0" tIns="0" rIns="0" bIns="0" anchor="ctr">
            <a:noAutofit/>
          </a:bodyPr>
          <a:lstStyle/>
          <a:p>
            <a:pPr algn="l">
              <a:lnSpc>
                <a:spcPct val="110000"/>
              </a:lnSpc>
              <a:buNone/>
              <a:defRPr sz="2250" b="0">
                <a:solidFill>
                  <a:srgbClr val="526276"/>
                </a:solidFill>
                <a:latin typeface="DejaVu Sans"/>
                <a:ea typeface="DejaVu Sans"/>
                <a:cs typeface="DejaVu Sans"/>
              </a:defRPr>
            </a:pPr>
            <a:r>
              <a:rPr sz="2250" b="0">
                <a:solidFill>
                  <a:srgbClr val="526276"/>
                </a:solidFill>
                <a:latin typeface="DejaVu Sans"/>
                <a:ea typeface="DejaVu Sans"/>
                <a:cs typeface="DejaVu Sans"/>
              </a:rPr>
              <a:t>Initial coefficients:</a:t>
            </a:r>
          </a:p>
        </p:txBody>
      </p:sp>
      <mc:AlternateContent xmlns:mc="http://schemas.openxmlformats.org/markup-compatibility/2006" xmlns:a14="http://schemas.microsoft.com/office/drawing/2010/main">
        <mc:Choice Requires="a14">
          <p:sp>
            <p:nvSpPr>
              <p:cNvPr id="16" name="step_0_initial_coefficients" descr="b^{(0)}=-5.75,\qquad w_1^{(0)}=0,\qquad w_2^{(0)}=1">
                <a:extLst>
                  <a:ext uri="{FF2B5EF4-FFF2-40B4-BE49-F238E27FC236}">
                    <a16:creationId xmlns:a16="http://schemas.microsoft.com/office/drawing/2014/main" id="{778F0BC3-9F31-4CBB-9B4E-C0ACCBE794F6}"/>
                  </a:ext>
                </a:extLst>
              </p:cNvPr>
              <p:cNvSpPr>
                <a:spLocks noGrp="1"/>
              </p:cNvSpPr>
              <p:nvPr/>
            </p:nvSpPr>
            <p:spPr>
              <a:xfrm>
                <a:off x="3714750" y="1162050"/>
                <a:ext cx="78105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800">
                              <a:solidFill>
                                <a:srgbClr val="087F83"/>
                              </a:solidFill>
                              <a:latin typeface="Cambria Math"/>
                              <a:ea typeface="Cambria Math"/>
                              <a:cs typeface="Cambria Math"/>
                            </a:rPr>
                          </m:ctrlPr>
                        </m:sSupPr>
                        <m:e>
                          <m:r>
                            <a:rPr lang="en-GB" sz="2800">
                              <a:solidFill>
                                <a:srgbClr val="087F83"/>
                              </a:solidFill>
                              <a:latin typeface="Cambria Math"/>
                              <a:ea typeface="Cambria Math"/>
                              <a:cs typeface="Cambria Math"/>
                            </a:rPr>
                            <m:t>𝑏</m:t>
                          </m:r>
                        </m:e>
                        <m:sup>
                          <m:r>
                            <a:rPr lang="en-GB" sz="2800">
                              <a:solidFill>
                                <a:srgbClr val="087F83"/>
                              </a:solidFill>
                              <a:latin typeface="Cambria Math"/>
                              <a:ea typeface="Cambria Math"/>
                              <a:cs typeface="Cambria Math"/>
                            </a:rPr>
                            <m:t>(0)</m:t>
                          </m:r>
                        </m:sup>
                      </m:sSup>
                      <m:r>
                        <a:rPr lang="en-GB" sz="2800">
                          <a:solidFill>
                            <a:srgbClr val="087F83"/>
                          </a:solidFill>
                          <a:latin typeface="Cambria Math"/>
                          <a:ea typeface="Cambria Math"/>
                          <a:cs typeface="Cambria Math"/>
                        </a:rPr>
                        <m:t>=−5.75,  </m:t>
                      </m:r>
                      <m:sSubSup>
                        <m:sSubSupPr>
                          <m:ctrlPr>
                            <a:rPr lang="en-GB" sz="2800">
                              <a:solidFill>
                                <a:srgbClr val="087F83"/>
                              </a:solidFill>
                              <a:latin typeface="Cambria Math"/>
                              <a:ea typeface="Cambria Math"/>
                              <a:cs typeface="Cambria Math"/>
                            </a:rPr>
                          </m:ctrlPr>
                        </m:sSubSup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1</m:t>
                          </m:r>
                        </m:sub>
                        <m:sup>
                          <m:r>
                            <a:rPr lang="en-GB" sz="2800">
                              <a:solidFill>
                                <a:srgbClr val="087F83"/>
                              </a:solidFill>
                              <a:latin typeface="Cambria Math"/>
                              <a:ea typeface="Cambria Math"/>
                              <a:cs typeface="Cambria Math"/>
                            </a:rPr>
                            <m:t>(0)</m:t>
                          </m:r>
                        </m:sup>
                      </m:sSubSup>
                      <m:r>
                        <a:rPr lang="en-GB" sz="2800">
                          <a:solidFill>
                            <a:srgbClr val="087F83"/>
                          </a:solidFill>
                          <a:latin typeface="Cambria Math"/>
                          <a:ea typeface="Cambria Math"/>
                          <a:cs typeface="Cambria Math"/>
                        </a:rPr>
                        <m:t>=0,  </m:t>
                      </m:r>
                      <m:sSubSup>
                        <m:sSubSupPr>
                          <m:ctrlPr>
                            <a:rPr lang="en-GB" sz="2800">
                              <a:solidFill>
                                <a:srgbClr val="087F83"/>
                              </a:solidFill>
                              <a:latin typeface="Cambria Math"/>
                              <a:ea typeface="Cambria Math"/>
                              <a:cs typeface="Cambria Math"/>
                            </a:rPr>
                          </m:ctrlPr>
                        </m:sSubSup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2</m:t>
                          </m:r>
                        </m:sub>
                        <m:sup>
                          <m:r>
                            <a:rPr lang="en-GB" sz="2800">
                              <a:solidFill>
                                <a:srgbClr val="087F83"/>
                              </a:solidFill>
                              <a:latin typeface="Cambria Math"/>
                              <a:ea typeface="Cambria Math"/>
                              <a:cs typeface="Cambria Math"/>
                            </a:rPr>
                            <m:t>(0)</m:t>
                          </m:r>
                        </m:sup>
                      </m:sSubSup>
                      <m:r>
                        <a:rPr lang="en-GB" sz="2800">
                          <a:solidFill>
                            <a:srgbClr val="087F83"/>
                          </a:solidFill>
                          <a:latin typeface="Cambria Math"/>
                          <a:ea typeface="Cambria Math"/>
                          <a:cs typeface="Cambria Math"/>
                        </a:rPr>
                        <m:t>=1</m:t>
                      </m:r>
                    </m:oMath>
                  </m:oMathPara>
                </a14:m>
                <a:endParaRPr lang="en-GB" sz="2800" dirty="0"/>
              </a:p>
            </p:txBody>
          </p:sp>
        </mc:Choice>
        <mc:Fallback xmlns="">
          <p:sp>
            <p:nvSpPr>
              <p:cNvPr id="16" name="step_0_initial_coefficients" descr="b^{(0)}=-5.75,\qquad w_1^{(0)}=0,\qquad w_2^{(0)}=1">
                <a:extLst>
                  <a:ext uri="{FF2B5EF4-FFF2-40B4-BE49-F238E27FC236}">
                    <a16:creationId xmlns:a16="http://schemas.microsoft.com/office/drawing/2014/main" id="{778F0BC3-9F31-4CBB-9B4E-C0ACCBE794F6}"/>
                  </a:ext>
                </a:extLst>
              </p:cNvPr>
              <p:cNvSpPr>
                <a:spLocks noGrp="1" noRot="1" noChangeAspect="1" noMove="1" noResize="1" noEditPoints="1" noAdjustHandles="1" noChangeArrowheads="1" noChangeShapeType="1" noTextEdit="1"/>
              </p:cNvSpPr>
              <p:nvPr/>
            </p:nvSpPr>
            <p:spPr>
              <a:xfrm>
                <a:off x="3714750" y="1162050"/>
                <a:ext cx="7810500" cy="647700"/>
              </a:xfrm>
              <a:prstGeom prst="rect">
                <a:avLst/>
              </a:prstGeom>
              <a:blipFill>
                <a:blip r:embed="rId7"/>
                <a:stretch>
                  <a:fillRect/>
                </a:stretch>
              </a:blipFill>
              <a:ln w="0">
                <a:noFill/>
              </a:ln>
            </p:spPr>
            <p:txBody>
              <a:bodyPr/>
              <a:lstStyle/>
              <a:p>
                <a:r>
                  <a:rPr lang="it-IT">
                    <a:noFill/>
                  </a:rPr>
                  <a:t> </a:t>
                </a:r>
              </a:p>
            </p:txBody>
          </p:sp>
        </mc:Fallback>
      </mc:AlternateContent>
      <p:sp>
        <p:nvSpPr>
          <p:cNvPr id="17" name="decision_region_class1">
            <a:extLst>
              <a:ext uri="{FF2B5EF4-FFF2-40B4-BE49-F238E27FC236}">
                <a16:creationId xmlns:a16="http://schemas.microsoft.com/office/drawing/2014/main" id="{B4C0CBF0-5846-4F8A-8CF7-91004E10188D}"/>
              </a:ext>
            </a:extLst>
          </p:cNvPr>
          <p:cNvSpPr>
            <a:spLocks noGrp="1"/>
          </p:cNvSpPr>
          <p:nvPr/>
        </p:nvSpPr>
        <p:spPr>
          <a:xfrm>
            <a:off x="1701166" y="2136204"/>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8" name="decision_region_class0">
            <a:extLst>
              <a:ext uri="{FF2B5EF4-FFF2-40B4-BE49-F238E27FC236}">
                <a16:creationId xmlns:a16="http://schemas.microsoft.com/office/drawing/2014/main" id="{19EA9346-DDB4-4FD0-9CD7-422955768CEB}"/>
              </a:ext>
            </a:extLst>
          </p:cNvPr>
          <p:cNvSpPr>
            <a:spLocks noGrp="1"/>
          </p:cNvSpPr>
          <p:nvPr/>
        </p:nvSpPr>
        <p:spPr>
          <a:xfrm>
            <a:off x="1701166" y="4134612"/>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mc:AlternateContent xmlns:mc="http://schemas.openxmlformats.org/markup-compatibility/2006" xmlns:a14="http://schemas.microsoft.com/office/drawing/2010/main">
        <mc:Choice Requires="a14">
          <p:sp>
            <p:nvSpPr>
              <p:cNvPr id="19" name="learning_rate">
                <a:extLst>
                  <a:ext uri="{FF2B5EF4-FFF2-40B4-BE49-F238E27FC236}">
                    <a16:creationId xmlns:a16="http://schemas.microsoft.com/office/drawing/2014/main" id="{B992D155-0BB4-4B07-8CB7-B671B2B6DF7F}"/>
                  </a:ext>
                </a:extLst>
              </p:cNvPr>
              <p:cNvSpPr>
                <a:spLocks noGrp="1"/>
              </p:cNvSpPr>
              <p:nvPr/>
            </p:nvSpPr>
            <p:spPr>
              <a:xfrm>
                <a:off x="7010400" y="1803400"/>
                <a:ext cx="4318000" cy="241300"/>
              </a:xfrm>
              <a:prstGeom prst="rect">
                <a:avLst/>
              </a:prstGeom>
              <a:noFill/>
              <a:ln w="0">
                <a:noFill/>
              </a:ln>
            </p:spPr>
            <p:txBody>
              <a:bodyPr wrap="none" lIns="0" tIns="0" rIns="0" bIns="0" anchor="ctr">
                <a:noAutofit/>
              </a:bodyPr>
              <a:lstStyle/>
              <a:p>
                <a:pPr algn="ctr">
                  <a:defRPr sz="1650" b="0">
                    <a:solidFill>
                      <a:srgbClr val="526276"/>
                    </a:solidFill>
                    <a:latin typeface="DejaVu Sans"/>
                    <a:ea typeface="DejaVu Sans"/>
                    <a:cs typeface="DejaVu Sans"/>
                  </a:defRPr>
                </a:pPr>
                <a:r>
                  <a:rPr sz="1650" b="0" dirty="0">
                    <a:solidFill>
                      <a:srgbClr val="526276"/>
                    </a:solidFill>
                    <a:latin typeface="DejaVu Sans"/>
                    <a:ea typeface="DejaVu Sans"/>
                    <a:cs typeface="DejaVu Sans"/>
                  </a:rPr>
                  <a:t>Learning rate: </a:t>
                </a:r>
                <a14:m>
                  <m:oMath xmlns:m="http://schemas.openxmlformats.org/officeDocument/2006/math">
                    <m:r>
                      <a:rPr lang="it-IT" sz="1650" b="0" i="1" dirty="0" smtClean="0">
                        <a:solidFill>
                          <a:srgbClr val="526276"/>
                        </a:solidFill>
                        <a:latin typeface="Cambria Math" panose="02040503050406030204" pitchFamily="18" charset="0"/>
                        <a:ea typeface="DejaVu Sans"/>
                        <a:cs typeface="DejaVu Sans"/>
                      </a:rPr>
                      <m:t>𝜂</m:t>
                    </m:r>
                    <m:r>
                      <a:rPr lang="it-IT" sz="1650" b="0" i="1" dirty="0" smtClean="0">
                        <a:solidFill>
                          <a:srgbClr val="526276"/>
                        </a:solidFill>
                        <a:latin typeface="Cambria Math" panose="02040503050406030204" pitchFamily="18" charset="0"/>
                        <a:ea typeface="DejaVu Sans"/>
                        <a:cs typeface="DejaVu Sans"/>
                      </a:rPr>
                      <m:t> = 0.001</m:t>
                    </m:r>
                  </m:oMath>
                </a14:m>
                <a:endParaRPr sz="1650" b="0" dirty="0">
                  <a:solidFill>
                    <a:srgbClr val="526276"/>
                  </a:solidFill>
                  <a:latin typeface="DejaVu Sans"/>
                  <a:ea typeface="DejaVu Sans"/>
                  <a:cs typeface="DejaVu Sans"/>
                </a:endParaRPr>
              </a:p>
            </p:txBody>
          </p:sp>
        </mc:Choice>
        <mc:Fallback xmlns="">
          <p:sp>
            <p:nvSpPr>
              <p:cNvPr id="19" name="learning_rate">
                <a:extLst>
                  <a:ext uri="{FF2B5EF4-FFF2-40B4-BE49-F238E27FC236}">
                    <a16:creationId xmlns:a16="http://schemas.microsoft.com/office/drawing/2014/main" id="{B992D155-0BB4-4B07-8CB7-B671B2B6DF7F}"/>
                  </a:ext>
                </a:extLst>
              </p:cNvPr>
              <p:cNvSpPr>
                <a:spLocks noGrp="1" noRot="1" noChangeAspect="1" noMove="1" noResize="1" noEditPoints="1" noAdjustHandles="1" noChangeArrowheads="1" noChangeShapeType="1" noTextEdit="1"/>
              </p:cNvSpPr>
              <p:nvPr/>
            </p:nvSpPr>
            <p:spPr>
              <a:xfrm>
                <a:off x="7010400" y="1803400"/>
                <a:ext cx="4318000" cy="241300"/>
              </a:xfrm>
              <a:prstGeom prst="rect">
                <a:avLst/>
              </a:prstGeom>
              <a:blipFill>
                <a:blip r:embed="rId8"/>
                <a:stretch>
                  <a:fillRect t="-30769" b="-56410"/>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694552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a:extLst>
                  <a:ext uri="{FF2B5EF4-FFF2-40B4-BE49-F238E27FC236}">
                    <a16:creationId xmlns:a16="http://schemas.microsoft.com/office/drawing/2014/main" id="{2CC0AE45-7BA1-49CB-8976-5B022F736FE9}"/>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lang="it-IT" sz="3150" b="1" dirty="0">
                    <a:solidFill>
                      <a:srgbClr val="182D45"/>
                    </a:solidFill>
                    <a:latin typeface="DejaVu Sans"/>
                    <a:ea typeface="DejaVu Sans"/>
                    <a:cs typeface="DejaVu Sans"/>
                  </a:rPr>
                  <a:t>Gradient descent: </a:t>
                </a:r>
                <a14:m>
                  <m:oMath xmlns:m="http://schemas.openxmlformats.org/officeDocument/2006/math">
                    <m:r>
                      <a:rPr lang="it-IT" sz="3150" b="1" i="1" dirty="0" smtClean="0">
                        <a:solidFill>
                          <a:srgbClr val="182D45"/>
                        </a:solidFill>
                        <a:latin typeface="Cambria Math" panose="02040503050406030204" pitchFamily="18" charset="0"/>
                        <a:ea typeface="DejaVu Sans"/>
                        <a:cs typeface="DejaVu Sans"/>
                      </a:rPr>
                      <m:t>𝜼</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r>
                      <a:rPr lang="it-IT" sz="3150" b="1" i="1" dirty="0" smtClean="0">
                        <a:solidFill>
                          <a:srgbClr val="182D45"/>
                        </a:solidFill>
                        <a:latin typeface="Cambria Math" panose="02040503050406030204" pitchFamily="18" charset="0"/>
                        <a:ea typeface="DejaVu Sans"/>
                        <a:cs typeface="DejaVu Sans"/>
                      </a:rPr>
                      <m:t>.</m:t>
                    </m:r>
                    <m:r>
                      <a:rPr lang="it-IT" sz="3150" b="1" i="1" dirty="0" smtClean="0">
                        <a:solidFill>
                          <a:srgbClr val="182D45"/>
                        </a:solidFill>
                        <a:latin typeface="Cambria Math" panose="02040503050406030204" pitchFamily="18" charset="0"/>
                        <a:ea typeface="DejaVu Sans"/>
                        <a:cs typeface="DejaVu Sans"/>
                      </a:rPr>
                      <m:t>𝟎𝟎𝟏</m:t>
                    </m:r>
                    <m:r>
                      <a:rPr lang="it-IT" sz="3150" b="1" i="1" dirty="0" smtClean="0">
                        <a:solidFill>
                          <a:srgbClr val="182D45"/>
                        </a:solidFill>
                        <a:latin typeface="Cambria Math" panose="02040503050406030204" pitchFamily="18" charset="0"/>
                        <a:ea typeface="DejaVu Sans"/>
                        <a:cs typeface="DejaVu Sans"/>
                      </a:rPr>
                      <m:t>, </m:t>
                    </m:r>
                    <m:r>
                      <a:rPr lang="it-IT" sz="3150" b="1" i="1" dirty="0" smtClean="0">
                        <a:solidFill>
                          <a:srgbClr val="182D45"/>
                        </a:solidFill>
                        <a:latin typeface="Cambria Math" panose="02040503050406030204" pitchFamily="18" charset="0"/>
                        <a:ea typeface="DejaVu Sans"/>
                        <a:cs typeface="DejaVu Sans"/>
                      </a:rPr>
                      <m:t>𝒕</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𝟏</m:t>
                    </m:r>
                  </m:oMath>
                </a14:m>
                <a:endParaRPr sz="3150" b="1" dirty="0">
                  <a:solidFill>
                    <a:srgbClr val="182D45"/>
                  </a:solidFill>
                  <a:latin typeface="DejaVu Sans"/>
                  <a:ea typeface="DejaVu Sans"/>
                  <a:cs typeface="DejaVu Sans"/>
                </a:endParaRPr>
              </a:p>
            </p:txBody>
          </p:sp>
        </mc:Choice>
        <mc:Fallback xmlns="">
          <p:sp>
            <p:nvSpPr>
              <p:cNvPr id="9" name="title">
                <a:extLst>
                  <a:ext uri="{FF2B5EF4-FFF2-40B4-BE49-F238E27FC236}">
                    <a16:creationId xmlns:a16="http://schemas.microsoft.com/office/drawing/2014/main" id="{2CC0AE45-7BA1-49CB-8976-5B022F736FE9}"/>
                  </a:ext>
                </a:extLst>
              </p:cNvPr>
              <p:cNvSpPr>
                <a:spLocks noGrp="1" noRot="1" noChangeAspect="1" noMove="1" noResize="1" noEditPoints="1" noAdjustHandles="1" noChangeArrowheads="1" noChangeShapeType="1" noTextEdit="1"/>
              </p:cNvSpPr>
              <p:nvPr/>
            </p:nvSpPr>
            <p:spPr>
              <a:xfrm>
                <a:off x="685800" y="333375"/>
                <a:ext cx="10820400" cy="666750"/>
              </a:xfrm>
              <a:prstGeom prst="rect">
                <a:avLst/>
              </a:prstGeom>
              <a:blipFill>
                <a:blip r:embed="rId3"/>
                <a:stretch>
                  <a:fillRect t="-4587" b="-2293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E2AF72D-66B5-4390-AE13-8747438FC574}"/>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6F1FDFC6-026C-404A-BA91-FD71CE323A37}"/>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31</a:t>
            </a:r>
          </a:p>
        </p:txBody>
      </p:sp>
      <p:graphicFrame>
        <p:nvGraphicFramePr>
          <p:cNvPr id="13" name="step_0_chart_0"/>
          <p:cNvGraphicFramePr/>
          <p:nvPr/>
        </p:nvGraphicFramePr>
        <p:xfrm>
          <a:off x="552450" y="1981200"/>
          <a:ext cx="5657850" cy="3619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step_0_chart_1"/>
          <p:cNvGraphicFramePr/>
          <p:nvPr/>
        </p:nvGraphicFramePr>
        <p:xfrm>
          <a:off x="6581775" y="1981200"/>
          <a:ext cx="5000625" cy="361950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step_0_equation_2" descr="x_2=5.1869-0.1055x_1">
                <a:extLst>
                  <a:ext uri="{FF2B5EF4-FFF2-40B4-BE49-F238E27FC236}">
                    <a16:creationId xmlns:a16="http://schemas.microsoft.com/office/drawing/2014/main" id="{6E69B225-608B-4197-81E4-552657548384}"/>
                  </a:ext>
                </a:extLst>
              </p:cNvPr>
              <p:cNvSpPr>
                <a:spLocks noGrp="1"/>
              </p:cNvSpPr>
              <p:nvPr/>
            </p:nvSpPr>
            <p:spPr>
              <a:xfrm>
                <a:off x="571500" y="5638800"/>
                <a:ext cx="6000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=5.1869−0.1055</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1</m:t>
                          </m:r>
                        </m:sub>
                      </m:sSub>
                    </m:oMath>
                  </m:oMathPara>
                </a14:m>
                <a:endParaRPr lang="en-GB" sz="2400"/>
              </a:p>
            </p:txBody>
          </p:sp>
        </mc:Choice>
        <mc:Fallback xmlns="">
          <p:sp>
            <p:nvSpPr>
              <p:cNvPr id="7" name="step_0_equation_2" descr="x_2=5.1869-0.1055x_1">
                <a:extLst>
                  <a:ext uri="{FF2B5EF4-FFF2-40B4-BE49-F238E27FC236}">
                    <a16:creationId xmlns:a16="http://schemas.microsoft.com/office/drawing/2014/main" id="{6E69B225-608B-4197-81E4-552657548384}"/>
                  </a:ext>
                </a:extLst>
              </p:cNvPr>
              <p:cNvSpPr>
                <a:spLocks noGrp="1" noRot="1" noChangeAspect="1" noMove="1" noResize="1" noEditPoints="1" noAdjustHandles="1" noChangeArrowheads="1" noChangeShapeType="1" noTextEdit="1"/>
              </p:cNvSpPr>
              <p:nvPr/>
            </p:nvSpPr>
            <p:spPr>
              <a:xfrm>
                <a:off x="571500" y="5638800"/>
                <a:ext cx="6000750" cy="619125"/>
              </a:xfrm>
              <a:prstGeom prst="rect">
                <a:avLst/>
              </a:prstGeom>
              <a:blipFill>
                <a:blip r:embed="rId6"/>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C59FC778-B0D1-4E53-80CB-8A4A1E053984}"/>
              </a:ext>
            </a:extLst>
          </p:cNvPr>
          <p:cNvSpPr>
            <a:spLocks noGrp="1"/>
          </p:cNvSpPr>
          <p:nvPr/>
        </p:nvSpPr>
        <p:spPr>
          <a:xfrm>
            <a:off x="6762750" y="5829300"/>
            <a:ext cx="4714875" cy="552450"/>
          </a:xfrm>
          <a:prstGeom prst="rect">
            <a:avLst/>
          </a:prstGeom>
          <a:noFill/>
          <a:ln w="0">
            <a:noFill/>
          </a:ln>
        </p:spPr>
        <p:txBody>
          <a:bodyPr wrap="square" lIns="0" tIns="0" rIns="0" bIns="0" anchor="ctr">
            <a:noAutofit/>
          </a:bodyPr>
          <a:lstStyle/>
          <a:p>
            <a:pPr algn="ctr">
              <a:lnSpc>
                <a:spcPct val="112000"/>
              </a:lnSpc>
              <a:buNone/>
              <a:defRPr sz="1875" b="1">
                <a:solidFill>
                  <a:srgbClr val="087F83"/>
                </a:solidFill>
                <a:latin typeface="DejaVu Sans"/>
                <a:ea typeface="DejaVu Sans"/>
                <a:cs typeface="DejaVu Sans"/>
              </a:defRPr>
            </a:pPr>
            <a:r>
              <a:rPr sz="1875" b="1" dirty="0">
                <a:solidFill>
                  <a:srgbClr val="087F83"/>
                </a:solidFill>
                <a:latin typeface="DejaVu Sans"/>
                <a:ea typeface="DejaVu Sans"/>
                <a:cs typeface="DejaVu Sans"/>
              </a:rPr>
              <a:t>Logistic loss: 42.733</a:t>
            </a:r>
          </a:p>
          <a:p>
            <a:pPr algn="ctr">
              <a:lnSpc>
                <a:spcPct val="112000"/>
              </a:lnSpc>
              <a:buNone/>
              <a:defRPr sz="1875" b="1">
                <a:solidFill>
                  <a:srgbClr val="087F83"/>
                </a:solidFill>
                <a:latin typeface="DejaVu Sans"/>
                <a:ea typeface="DejaVu Sans"/>
                <a:cs typeface="DejaVu Sans"/>
              </a:defRPr>
            </a:pPr>
            <a:r>
              <a:rPr sz="1875" b="1" dirty="0">
                <a:solidFill>
                  <a:srgbClr val="087F83"/>
                </a:solidFill>
                <a:latin typeface="DejaVu Sans"/>
                <a:ea typeface="DejaVu Sans"/>
                <a:cs typeface="DejaVu Sans"/>
              </a:rPr>
              <a:t>Mistakes: 15 of 100</a:t>
            </a:r>
          </a:p>
        </p:txBody>
      </p:sp>
      <p:sp>
        <p:nvSpPr>
          <p:cNvPr id="15" name="decision_region_class1">
            <a:extLst>
              <a:ext uri="{FF2B5EF4-FFF2-40B4-BE49-F238E27FC236}">
                <a16:creationId xmlns:a16="http://schemas.microsoft.com/office/drawing/2014/main" id="{914665F8-FB09-45A4-8588-3F30ACFA094F}"/>
              </a:ext>
            </a:extLst>
          </p:cNvPr>
          <p:cNvSpPr>
            <a:spLocks noGrp="1"/>
          </p:cNvSpPr>
          <p:nvPr/>
        </p:nvSpPr>
        <p:spPr>
          <a:xfrm>
            <a:off x="1701166" y="2136204"/>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6" name="decision_region_class0">
            <a:extLst>
              <a:ext uri="{FF2B5EF4-FFF2-40B4-BE49-F238E27FC236}">
                <a16:creationId xmlns:a16="http://schemas.microsoft.com/office/drawing/2014/main" id="{716CD437-5536-4F33-9236-7114A3799962}"/>
              </a:ext>
            </a:extLst>
          </p:cNvPr>
          <p:cNvSpPr>
            <a:spLocks noGrp="1"/>
          </p:cNvSpPr>
          <p:nvPr/>
        </p:nvSpPr>
        <p:spPr>
          <a:xfrm>
            <a:off x="1701166" y="4134612"/>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
        <p:nvSpPr>
          <p:cNvPr id="2" name="coefficient_label">
            <a:extLst>
              <a:ext uri="{FF2B5EF4-FFF2-40B4-BE49-F238E27FC236}">
                <a16:creationId xmlns:a16="http://schemas.microsoft.com/office/drawing/2014/main" id="{A9531EA7-F12B-47A7-BC82-C9D977E8F0AF}"/>
              </a:ext>
            </a:extLst>
          </p:cNvPr>
          <p:cNvSpPr>
            <a:spLocks noGrp="1"/>
          </p:cNvSpPr>
          <p:nvPr/>
        </p:nvSpPr>
        <p:spPr>
          <a:xfrm>
            <a:off x="723900" y="1181100"/>
            <a:ext cx="1841500" cy="609600"/>
          </a:xfrm>
          <a:prstGeom prst="rect">
            <a:avLst/>
          </a:prstGeom>
          <a:noFill/>
          <a:ln w="0">
            <a:noFill/>
          </a:ln>
        </p:spPr>
        <p:txBody>
          <a:bodyPr wrap="square" lIns="0" tIns="0" rIns="0" bIns="0" anchor="ctr">
            <a:noAutofit/>
          </a:bodyPr>
          <a:lstStyle/>
          <a:p>
            <a:pPr algn="l">
              <a:lnSpc>
                <a:spcPct val="110000"/>
              </a:lnSpc>
              <a:buNone/>
              <a:defRPr sz="2250" b="0">
                <a:solidFill>
                  <a:srgbClr val="526276"/>
                </a:solidFill>
                <a:latin typeface="DejaVu Sans"/>
                <a:ea typeface="DejaVu Sans"/>
                <a:cs typeface="DejaVu Sans"/>
              </a:defRPr>
            </a:pPr>
            <a:r>
              <a:rPr sz="2250" b="0">
                <a:solidFill>
                  <a:srgbClr val="526276"/>
                </a:solidFill>
                <a:latin typeface="DejaVu Sans"/>
                <a:ea typeface="DejaVu Sans"/>
                <a:cs typeface="DejaVu Sans"/>
              </a:rPr>
              <a:t>Coefficients:</a:t>
            </a:r>
          </a:p>
        </p:txBody>
      </p:sp>
      <mc:AlternateContent xmlns:mc="http://schemas.openxmlformats.org/markup-compatibility/2006" xmlns:a14="http://schemas.microsoft.com/office/drawing/2010/main">
        <mc:Choice Requires="a14">
          <p:sp>
            <p:nvSpPr>
              <p:cNvPr id="17" name="coefficient_b" descr="b^{(1)}\approx -5.732582">
                <a:extLst>
                  <a:ext uri="{FF2B5EF4-FFF2-40B4-BE49-F238E27FC236}">
                    <a16:creationId xmlns:a16="http://schemas.microsoft.com/office/drawing/2014/main" id="{14778A4A-53F3-409A-AA09-6D40EA115160}"/>
                  </a:ext>
                </a:extLst>
              </p:cNvPr>
              <p:cNvSpPr>
                <a:spLocks noGrp="1"/>
              </p:cNvSpPr>
              <p:nvPr/>
            </p:nvSpPr>
            <p:spPr>
              <a:xfrm>
                <a:off x="2692400" y="1162050"/>
                <a:ext cx="2921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𝑏</m:t>
                          </m:r>
                        </m:e>
                        <m:sup>
                          <m:r>
                            <a:rPr lang="en-GB" sz="2500">
                              <a:solidFill>
                                <a:srgbClr val="087F83"/>
                              </a:solidFill>
                              <a:latin typeface="Cambria Math"/>
                              <a:ea typeface="Cambria Math"/>
                              <a:cs typeface="Cambria Math"/>
                            </a:rPr>
                            <m:t>(1)</m:t>
                          </m:r>
                        </m:sup>
                      </m:sSup>
                      <m:r>
                        <a:rPr lang="en-GB" sz="2500">
                          <a:solidFill>
                            <a:srgbClr val="087F83"/>
                          </a:solidFill>
                          <a:latin typeface="Cambria Math"/>
                          <a:ea typeface="Cambria Math"/>
                          <a:cs typeface="Cambria Math"/>
                        </a:rPr>
                        <m:t>≈−5.732582</m:t>
                      </m:r>
                    </m:oMath>
                  </m:oMathPara>
                </a14:m>
                <a:endParaRPr lang="en-GB" sz="2500"/>
              </a:p>
            </p:txBody>
          </p:sp>
        </mc:Choice>
        <mc:Fallback xmlns="">
          <p:sp>
            <p:nvSpPr>
              <p:cNvPr id="17" name="coefficient_b" descr="b^{(1)}\approx -5.732582">
                <a:extLst>
                  <a:ext uri="{FF2B5EF4-FFF2-40B4-BE49-F238E27FC236}">
                    <a16:creationId xmlns:a16="http://schemas.microsoft.com/office/drawing/2014/main" id="{14778A4A-53F3-409A-AA09-6D40EA115160}"/>
                  </a:ext>
                </a:extLst>
              </p:cNvPr>
              <p:cNvSpPr>
                <a:spLocks noGrp="1" noRot="1" noChangeAspect="1" noMove="1" noResize="1" noEditPoints="1" noAdjustHandles="1" noChangeArrowheads="1" noChangeShapeType="1" noTextEdit="1"/>
              </p:cNvSpPr>
              <p:nvPr/>
            </p:nvSpPr>
            <p:spPr>
              <a:xfrm>
                <a:off x="2692400" y="1162050"/>
                <a:ext cx="2921000" cy="6477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coefficient_w1" descr="w_1^{(1)}\approx 0.116619">
                <a:extLst>
                  <a:ext uri="{FF2B5EF4-FFF2-40B4-BE49-F238E27FC236}">
                    <a16:creationId xmlns:a16="http://schemas.microsoft.com/office/drawing/2014/main" id="{4C7671C1-A879-4C6A-B713-AE0812C7344C}"/>
                  </a:ext>
                </a:extLst>
              </p:cNvPr>
              <p:cNvSpPr>
                <a:spLocks noGrp="1"/>
              </p:cNvSpPr>
              <p:nvPr/>
            </p:nvSpPr>
            <p:spPr>
              <a:xfrm>
                <a:off x="5778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(1)</m:t>
                          </m:r>
                        </m:sup>
                      </m:sSubSup>
                      <m:r>
                        <a:rPr lang="en-GB" sz="2500">
                          <a:solidFill>
                            <a:srgbClr val="087F83"/>
                          </a:solidFill>
                          <a:latin typeface="Cambria Math"/>
                          <a:ea typeface="Cambria Math"/>
                          <a:cs typeface="Cambria Math"/>
                        </a:rPr>
                        <m:t>≈0.116619</m:t>
                      </m:r>
                    </m:oMath>
                  </m:oMathPara>
                </a14:m>
                <a:endParaRPr lang="en-GB" sz="2500"/>
              </a:p>
            </p:txBody>
          </p:sp>
        </mc:Choice>
        <mc:Fallback xmlns="">
          <p:sp>
            <p:nvSpPr>
              <p:cNvPr id="18" name="coefficient_w1" descr="w_1^{(1)}\approx 0.116619">
                <a:extLst>
                  <a:ext uri="{FF2B5EF4-FFF2-40B4-BE49-F238E27FC236}">
                    <a16:creationId xmlns:a16="http://schemas.microsoft.com/office/drawing/2014/main" id="{4C7671C1-A879-4C6A-B713-AE0812C7344C}"/>
                  </a:ext>
                </a:extLst>
              </p:cNvPr>
              <p:cNvSpPr>
                <a:spLocks noGrp="1" noRot="1" noChangeAspect="1" noMove="1" noResize="1" noEditPoints="1" noAdjustHandles="1" noChangeArrowheads="1" noChangeShapeType="1" noTextEdit="1"/>
              </p:cNvSpPr>
              <p:nvPr/>
            </p:nvSpPr>
            <p:spPr>
              <a:xfrm>
                <a:off x="5778500" y="1162050"/>
                <a:ext cx="2794000" cy="64770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coefficient_w2" descr="w_2^{(1)}\approx 1.105206">
                <a:extLst>
                  <a:ext uri="{FF2B5EF4-FFF2-40B4-BE49-F238E27FC236}">
                    <a16:creationId xmlns:a16="http://schemas.microsoft.com/office/drawing/2014/main" id="{8AE98437-12FA-4CC3-8C09-021993829B27}"/>
                  </a:ext>
                </a:extLst>
              </p:cNvPr>
              <p:cNvSpPr>
                <a:spLocks noGrp="1"/>
              </p:cNvSpPr>
              <p:nvPr/>
            </p:nvSpPr>
            <p:spPr>
              <a:xfrm>
                <a:off x="8699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2</m:t>
                          </m:r>
                        </m:sub>
                        <m:sup>
                          <m:r>
                            <a:rPr lang="en-GB" sz="2500">
                              <a:solidFill>
                                <a:srgbClr val="087F83"/>
                              </a:solidFill>
                              <a:latin typeface="Cambria Math"/>
                              <a:ea typeface="Cambria Math"/>
                              <a:cs typeface="Cambria Math"/>
                            </a:rPr>
                            <m:t>(1)</m:t>
                          </m:r>
                        </m:sup>
                      </m:sSubSup>
                      <m:r>
                        <a:rPr lang="en-GB" sz="2500">
                          <a:solidFill>
                            <a:srgbClr val="087F83"/>
                          </a:solidFill>
                          <a:latin typeface="Cambria Math"/>
                          <a:ea typeface="Cambria Math"/>
                          <a:cs typeface="Cambria Math"/>
                        </a:rPr>
                        <m:t>≈1.105206</m:t>
                      </m:r>
                    </m:oMath>
                  </m:oMathPara>
                </a14:m>
                <a:endParaRPr lang="en-GB" sz="2500"/>
              </a:p>
            </p:txBody>
          </p:sp>
        </mc:Choice>
        <mc:Fallback xmlns="">
          <p:sp>
            <p:nvSpPr>
              <p:cNvPr id="19" name="coefficient_w2" descr="w_2^{(1)}\approx 1.105206">
                <a:extLst>
                  <a:ext uri="{FF2B5EF4-FFF2-40B4-BE49-F238E27FC236}">
                    <a16:creationId xmlns:a16="http://schemas.microsoft.com/office/drawing/2014/main" id="{8AE98437-12FA-4CC3-8C09-021993829B27}"/>
                  </a:ext>
                </a:extLst>
              </p:cNvPr>
              <p:cNvSpPr>
                <a:spLocks noGrp="1" noRot="1" noChangeAspect="1" noMove="1" noResize="1" noEditPoints="1" noAdjustHandles="1" noChangeArrowheads="1" noChangeShapeType="1" noTextEdit="1"/>
              </p:cNvSpPr>
              <p:nvPr/>
            </p:nvSpPr>
            <p:spPr>
              <a:xfrm>
                <a:off x="8699500" y="1162050"/>
                <a:ext cx="2794000" cy="64770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7482484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a:extLst>
                  <a:ext uri="{FF2B5EF4-FFF2-40B4-BE49-F238E27FC236}">
                    <a16:creationId xmlns:a16="http://schemas.microsoft.com/office/drawing/2014/main" id="{2CC0AE45-7BA1-49CB-8976-5B022F736FE9}"/>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Gradient descent: </a:t>
                </a:r>
                <a14:m>
                  <m:oMath xmlns:m="http://schemas.openxmlformats.org/officeDocument/2006/math">
                    <m:r>
                      <a:rPr lang="it-IT" sz="3150" b="1" i="1" dirty="0" smtClean="0">
                        <a:solidFill>
                          <a:srgbClr val="182D45"/>
                        </a:solidFill>
                        <a:latin typeface="Cambria Math" panose="02040503050406030204" pitchFamily="18" charset="0"/>
                        <a:ea typeface="DejaVu Sans"/>
                        <a:cs typeface="DejaVu Sans"/>
                      </a:rPr>
                      <m:t>𝜼</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r>
                      <a:rPr lang="it-IT" sz="3150" b="1" i="1" dirty="0" smtClean="0">
                        <a:solidFill>
                          <a:srgbClr val="182D45"/>
                        </a:solidFill>
                        <a:latin typeface="Cambria Math" panose="02040503050406030204" pitchFamily="18" charset="0"/>
                        <a:ea typeface="DejaVu Sans"/>
                        <a:cs typeface="DejaVu Sans"/>
                      </a:rPr>
                      <m:t>.</m:t>
                    </m:r>
                    <m:r>
                      <a:rPr lang="it-IT" sz="3150" b="1" i="1" dirty="0" smtClean="0">
                        <a:solidFill>
                          <a:srgbClr val="182D45"/>
                        </a:solidFill>
                        <a:latin typeface="Cambria Math" panose="02040503050406030204" pitchFamily="18" charset="0"/>
                        <a:ea typeface="DejaVu Sans"/>
                        <a:cs typeface="DejaVu Sans"/>
                      </a:rPr>
                      <m:t>𝟎𝟎𝟏</m:t>
                    </m:r>
                    <m:r>
                      <a:rPr lang="it-IT" sz="3150" b="1" i="1" dirty="0" smtClean="0">
                        <a:solidFill>
                          <a:srgbClr val="182D45"/>
                        </a:solidFill>
                        <a:latin typeface="Cambria Math" panose="02040503050406030204" pitchFamily="18" charset="0"/>
                        <a:ea typeface="DejaVu Sans"/>
                        <a:cs typeface="DejaVu Sans"/>
                      </a:rPr>
                      <m:t>, </m:t>
                    </m:r>
                    <m:r>
                      <a:rPr lang="it-IT" sz="3150" b="1" i="1" dirty="0" smtClean="0">
                        <a:solidFill>
                          <a:srgbClr val="182D45"/>
                        </a:solidFill>
                        <a:latin typeface="Cambria Math" panose="02040503050406030204" pitchFamily="18" charset="0"/>
                        <a:ea typeface="DejaVu Sans"/>
                        <a:cs typeface="DejaVu Sans"/>
                      </a:rPr>
                      <m:t>𝒕</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𝟐</m:t>
                    </m:r>
                  </m:oMath>
                </a14:m>
                <a:endParaRPr sz="3150" b="1" dirty="0">
                  <a:solidFill>
                    <a:srgbClr val="182D45"/>
                  </a:solidFill>
                  <a:latin typeface="DejaVu Sans"/>
                  <a:ea typeface="DejaVu Sans"/>
                  <a:cs typeface="DejaVu Sans"/>
                </a:endParaRPr>
              </a:p>
            </p:txBody>
          </p:sp>
        </mc:Choice>
        <mc:Fallback xmlns="">
          <p:sp>
            <p:nvSpPr>
              <p:cNvPr id="9" name="title">
                <a:extLst>
                  <a:ext uri="{FF2B5EF4-FFF2-40B4-BE49-F238E27FC236}">
                    <a16:creationId xmlns:a16="http://schemas.microsoft.com/office/drawing/2014/main" id="{2CC0AE45-7BA1-49CB-8976-5B022F736FE9}"/>
                  </a:ext>
                </a:extLst>
              </p:cNvPr>
              <p:cNvSpPr>
                <a:spLocks noGrp="1" noRot="1" noChangeAspect="1" noMove="1" noResize="1" noEditPoints="1" noAdjustHandles="1" noChangeArrowheads="1" noChangeShapeType="1" noTextEdit="1"/>
              </p:cNvSpPr>
              <p:nvPr/>
            </p:nvSpPr>
            <p:spPr>
              <a:xfrm>
                <a:off x="685800" y="333375"/>
                <a:ext cx="10820400" cy="666750"/>
              </a:xfrm>
              <a:prstGeom prst="rect">
                <a:avLst/>
              </a:prstGeom>
              <a:blipFill>
                <a:blip r:embed="rId3"/>
                <a:stretch>
                  <a:fillRect t="-4587" b="-2293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E2AF72D-66B5-4390-AE13-8747438FC574}"/>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6F1FDFC6-026C-404A-BA91-FD71CE323A37}"/>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32</a:t>
            </a:r>
          </a:p>
        </p:txBody>
      </p:sp>
      <p:graphicFrame>
        <p:nvGraphicFramePr>
          <p:cNvPr id="13" name="step_0_chart_0"/>
          <p:cNvGraphicFramePr/>
          <p:nvPr/>
        </p:nvGraphicFramePr>
        <p:xfrm>
          <a:off x="552450" y="1981200"/>
          <a:ext cx="5657850" cy="3619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step_0_chart_1"/>
          <p:cNvGraphicFramePr/>
          <p:nvPr/>
        </p:nvGraphicFramePr>
        <p:xfrm>
          <a:off x="6581775" y="1981200"/>
          <a:ext cx="5000625" cy="361950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step_0_equation_2" descr="x_2=5.3101-0.0650x_1">
                <a:extLst>
                  <a:ext uri="{FF2B5EF4-FFF2-40B4-BE49-F238E27FC236}">
                    <a16:creationId xmlns:a16="http://schemas.microsoft.com/office/drawing/2014/main" id="{6E69B225-608B-4197-81E4-552657548384}"/>
                  </a:ext>
                </a:extLst>
              </p:cNvPr>
              <p:cNvSpPr>
                <a:spLocks noGrp="1"/>
              </p:cNvSpPr>
              <p:nvPr/>
            </p:nvSpPr>
            <p:spPr>
              <a:xfrm>
                <a:off x="571500" y="5638800"/>
                <a:ext cx="6000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=5.3101−0.0650</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1</m:t>
                          </m:r>
                        </m:sub>
                      </m:sSub>
                    </m:oMath>
                  </m:oMathPara>
                </a14:m>
                <a:endParaRPr lang="en-GB" sz="2400"/>
              </a:p>
            </p:txBody>
          </p:sp>
        </mc:Choice>
        <mc:Fallback xmlns="">
          <p:sp>
            <p:nvSpPr>
              <p:cNvPr id="7" name="step_0_equation_2" descr="x_2=5.3101-0.0650x_1">
                <a:extLst>
                  <a:ext uri="{FF2B5EF4-FFF2-40B4-BE49-F238E27FC236}">
                    <a16:creationId xmlns:a16="http://schemas.microsoft.com/office/drawing/2014/main" id="{6E69B225-608B-4197-81E4-552657548384}"/>
                  </a:ext>
                </a:extLst>
              </p:cNvPr>
              <p:cNvSpPr>
                <a:spLocks noGrp="1" noRot="1" noChangeAspect="1" noMove="1" noResize="1" noEditPoints="1" noAdjustHandles="1" noChangeArrowheads="1" noChangeShapeType="1" noTextEdit="1"/>
              </p:cNvSpPr>
              <p:nvPr/>
            </p:nvSpPr>
            <p:spPr>
              <a:xfrm>
                <a:off x="571500" y="5638800"/>
                <a:ext cx="6000750" cy="619125"/>
              </a:xfrm>
              <a:prstGeom prst="rect">
                <a:avLst/>
              </a:prstGeom>
              <a:blipFill>
                <a:blip r:embed="rId6"/>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C59FC778-B0D1-4E53-80CB-8A4A1E053984}"/>
              </a:ext>
            </a:extLst>
          </p:cNvPr>
          <p:cNvSpPr>
            <a:spLocks noGrp="1"/>
          </p:cNvSpPr>
          <p:nvPr/>
        </p:nvSpPr>
        <p:spPr>
          <a:xfrm>
            <a:off x="6762750" y="5829300"/>
            <a:ext cx="4714875" cy="552450"/>
          </a:xfrm>
          <a:prstGeom prst="rect">
            <a:avLst/>
          </a:prstGeom>
          <a:noFill/>
          <a:ln w="0">
            <a:noFill/>
          </a:ln>
        </p:spPr>
        <p:txBody>
          <a:bodyPr wrap="square" lIns="0" tIns="0" rIns="0" bIns="0" anchor="ctr">
            <a:noAutofit/>
          </a:bodyPr>
          <a:lstStyle/>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Logistic loss: 41.668</a:t>
            </a:r>
          </a:p>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Mistakes: 7 of 100</a:t>
            </a:r>
          </a:p>
        </p:txBody>
      </p:sp>
      <p:sp>
        <p:nvSpPr>
          <p:cNvPr id="15" name="decision_region_class1">
            <a:extLst>
              <a:ext uri="{FF2B5EF4-FFF2-40B4-BE49-F238E27FC236}">
                <a16:creationId xmlns:a16="http://schemas.microsoft.com/office/drawing/2014/main" id="{32ECF911-C05E-4D76-82E3-DE13DCD326DE}"/>
              </a:ext>
            </a:extLst>
          </p:cNvPr>
          <p:cNvSpPr>
            <a:spLocks noGrp="1"/>
          </p:cNvSpPr>
          <p:nvPr/>
        </p:nvSpPr>
        <p:spPr>
          <a:xfrm>
            <a:off x="1701166" y="2136204"/>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6" name="decision_region_class0">
            <a:extLst>
              <a:ext uri="{FF2B5EF4-FFF2-40B4-BE49-F238E27FC236}">
                <a16:creationId xmlns:a16="http://schemas.microsoft.com/office/drawing/2014/main" id="{FD94C154-9BEF-4C88-A222-E9B9DC1A46C1}"/>
              </a:ext>
            </a:extLst>
          </p:cNvPr>
          <p:cNvSpPr>
            <a:spLocks noGrp="1"/>
          </p:cNvSpPr>
          <p:nvPr/>
        </p:nvSpPr>
        <p:spPr>
          <a:xfrm>
            <a:off x="1701166" y="4134612"/>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
        <p:nvSpPr>
          <p:cNvPr id="2" name="coefficient_label">
            <a:extLst>
              <a:ext uri="{FF2B5EF4-FFF2-40B4-BE49-F238E27FC236}">
                <a16:creationId xmlns:a16="http://schemas.microsoft.com/office/drawing/2014/main" id="{4FAE9671-BC73-424F-AD76-1487243516B2}"/>
              </a:ext>
            </a:extLst>
          </p:cNvPr>
          <p:cNvSpPr>
            <a:spLocks noGrp="1"/>
          </p:cNvSpPr>
          <p:nvPr/>
        </p:nvSpPr>
        <p:spPr>
          <a:xfrm>
            <a:off x="723900" y="1181100"/>
            <a:ext cx="1841500" cy="609600"/>
          </a:xfrm>
          <a:prstGeom prst="rect">
            <a:avLst/>
          </a:prstGeom>
          <a:noFill/>
          <a:ln w="0">
            <a:noFill/>
          </a:ln>
        </p:spPr>
        <p:txBody>
          <a:bodyPr wrap="square" lIns="0" tIns="0" rIns="0" bIns="0" anchor="ctr">
            <a:noAutofit/>
          </a:bodyPr>
          <a:lstStyle/>
          <a:p>
            <a:pPr algn="l">
              <a:lnSpc>
                <a:spcPct val="110000"/>
              </a:lnSpc>
              <a:buNone/>
              <a:defRPr sz="2250" b="0">
                <a:solidFill>
                  <a:srgbClr val="526276"/>
                </a:solidFill>
                <a:latin typeface="DejaVu Sans"/>
                <a:ea typeface="DejaVu Sans"/>
                <a:cs typeface="DejaVu Sans"/>
              </a:defRPr>
            </a:pPr>
            <a:r>
              <a:rPr sz="2250" b="0">
                <a:solidFill>
                  <a:srgbClr val="526276"/>
                </a:solidFill>
                <a:latin typeface="DejaVu Sans"/>
                <a:ea typeface="DejaVu Sans"/>
                <a:cs typeface="DejaVu Sans"/>
              </a:rPr>
              <a:t>Coefficients:</a:t>
            </a:r>
          </a:p>
        </p:txBody>
      </p:sp>
      <mc:AlternateContent xmlns:mc="http://schemas.openxmlformats.org/markup-compatibility/2006" xmlns:a14="http://schemas.microsoft.com/office/drawing/2010/main">
        <mc:Choice Requires="a14">
          <p:sp>
            <p:nvSpPr>
              <p:cNvPr id="17" name="coefficient_b" descr="b^{(2)}\approx -5.740878">
                <a:extLst>
                  <a:ext uri="{FF2B5EF4-FFF2-40B4-BE49-F238E27FC236}">
                    <a16:creationId xmlns:a16="http://schemas.microsoft.com/office/drawing/2014/main" id="{00BA30A2-D4E1-4A34-8DC8-986733E2C1B9}"/>
                  </a:ext>
                </a:extLst>
              </p:cNvPr>
              <p:cNvSpPr>
                <a:spLocks noGrp="1"/>
              </p:cNvSpPr>
              <p:nvPr/>
            </p:nvSpPr>
            <p:spPr>
              <a:xfrm>
                <a:off x="2692400" y="1162050"/>
                <a:ext cx="2921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𝑏</m:t>
                          </m:r>
                        </m:e>
                        <m:sup>
                          <m:r>
                            <a:rPr lang="en-GB" sz="2500">
                              <a:solidFill>
                                <a:srgbClr val="087F83"/>
                              </a:solidFill>
                              <a:latin typeface="Cambria Math"/>
                              <a:ea typeface="Cambria Math"/>
                              <a:cs typeface="Cambria Math"/>
                            </a:rPr>
                            <m:t>(2)</m:t>
                          </m:r>
                        </m:sup>
                      </m:sSup>
                      <m:r>
                        <a:rPr lang="en-GB" sz="2500">
                          <a:solidFill>
                            <a:srgbClr val="087F83"/>
                          </a:solidFill>
                          <a:latin typeface="Cambria Math"/>
                          <a:ea typeface="Cambria Math"/>
                          <a:cs typeface="Cambria Math"/>
                        </a:rPr>
                        <m:t>≈−5.740878</m:t>
                      </m:r>
                    </m:oMath>
                  </m:oMathPara>
                </a14:m>
                <a:endParaRPr lang="en-GB" sz="2500"/>
              </a:p>
            </p:txBody>
          </p:sp>
        </mc:Choice>
        <mc:Fallback xmlns="">
          <p:sp>
            <p:nvSpPr>
              <p:cNvPr id="17" name="coefficient_b" descr="b^{(2)}\approx -5.740878">
                <a:extLst>
                  <a:ext uri="{FF2B5EF4-FFF2-40B4-BE49-F238E27FC236}">
                    <a16:creationId xmlns:a16="http://schemas.microsoft.com/office/drawing/2014/main" id="{00BA30A2-D4E1-4A34-8DC8-986733E2C1B9}"/>
                  </a:ext>
                </a:extLst>
              </p:cNvPr>
              <p:cNvSpPr>
                <a:spLocks noGrp="1" noRot="1" noChangeAspect="1" noMove="1" noResize="1" noEditPoints="1" noAdjustHandles="1" noChangeArrowheads="1" noChangeShapeType="1" noTextEdit="1"/>
              </p:cNvSpPr>
              <p:nvPr/>
            </p:nvSpPr>
            <p:spPr>
              <a:xfrm>
                <a:off x="2692400" y="1162050"/>
                <a:ext cx="2921000" cy="6477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coefficient_w1" descr="w_1^{(2)}\approx 0.070300">
                <a:extLst>
                  <a:ext uri="{FF2B5EF4-FFF2-40B4-BE49-F238E27FC236}">
                    <a16:creationId xmlns:a16="http://schemas.microsoft.com/office/drawing/2014/main" id="{BEFF75A4-4456-4DC8-A163-DB4B8F000AB8}"/>
                  </a:ext>
                </a:extLst>
              </p:cNvPr>
              <p:cNvSpPr>
                <a:spLocks noGrp="1"/>
              </p:cNvSpPr>
              <p:nvPr/>
            </p:nvSpPr>
            <p:spPr>
              <a:xfrm>
                <a:off x="5778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(2)</m:t>
                          </m:r>
                        </m:sup>
                      </m:sSubSup>
                      <m:r>
                        <a:rPr lang="en-GB" sz="2500">
                          <a:solidFill>
                            <a:srgbClr val="087F83"/>
                          </a:solidFill>
                          <a:latin typeface="Cambria Math"/>
                          <a:ea typeface="Cambria Math"/>
                          <a:cs typeface="Cambria Math"/>
                        </a:rPr>
                        <m:t>≈0.070300</m:t>
                      </m:r>
                    </m:oMath>
                  </m:oMathPara>
                </a14:m>
                <a:endParaRPr lang="en-GB" sz="2500"/>
              </a:p>
            </p:txBody>
          </p:sp>
        </mc:Choice>
        <mc:Fallback xmlns="">
          <p:sp>
            <p:nvSpPr>
              <p:cNvPr id="18" name="coefficient_w1" descr="w_1^{(2)}\approx 0.070300">
                <a:extLst>
                  <a:ext uri="{FF2B5EF4-FFF2-40B4-BE49-F238E27FC236}">
                    <a16:creationId xmlns:a16="http://schemas.microsoft.com/office/drawing/2014/main" id="{BEFF75A4-4456-4DC8-A163-DB4B8F000AB8}"/>
                  </a:ext>
                </a:extLst>
              </p:cNvPr>
              <p:cNvSpPr>
                <a:spLocks noGrp="1" noRot="1" noChangeAspect="1" noMove="1" noResize="1" noEditPoints="1" noAdjustHandles="1" noChangeArrowheads="1" noChangeShapeType="1" noTextEdit="1"/>
              </p:cNvSpPr>
              <p:nvPr/>
            </p:nvSpPr>
            <p:spPr>
              <a:xfrm>
                <a:off x="5778500" y="1162050"/>
                <a:ext cx="2794000" cy="64770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coefficient_w2" descr="w_2^{(2)}\approx 1.081132">
                <a:extLst>
                  <a:ext uri="{FF2B5EF4-FFF2-40B4-BE49-F238E27FC236}">
                    <a16:creationId xmlns:a16="http://schemas.microsoft.com/office/drawing/2014/main" id="{49E3B6A2-5C44-48E4-92D9-CA412FF073DA}"/>
                  </a:ext>
                </a:extLst>
              </p:cNvPr>
              <p:cNvSpPr>
                <a:spLocks noGrp="1"/>
              </p:cNvSpPr>
              <p:nvPr/>
            </p:nvSpPr>
            <p:spPr>
              <a:xfrm>
                <a:off x="8699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2</m:t>
                          </m:r>
                        </m:sub>
                        <m:sup>
                          <m:r>
                            <a:rPr lang="en-GB" sz="2500">
                              <a:solidFill>
                                <a:srgbClr val="087F83"/>
                              </a:solidFill>
                              <a:latin typeface="Cambria Math"/>
                              <a:ea typeface="Cambria Math"/>
                              <a:cs typeface="Cambria Math"/>
                            </a:rPr>
                            <m:t>(2)</m:t>
                          </m:r>
                        </m:sup>
                      </m:sSubSup>
                      <m:r>
                        <a:rPr lang="en-GB" sz="2500">
                          <a:solidFill>
                            <a:srgbClr val="087F83"/>
                          </a:solidFill>
                          <a:latin typeface="Cambria Math"/>
                          <a:ea typeface="Cambria Math"/>
                          <a:cs typeface="Cambria Math"/>
                        </a:rPr>
                        <m:t>≈1.081132</m:t>
                      </m:r>
                    </m:oMath>
                  </m:oMathPara>
                </a14:m>
                <a:endParaRPr lang="en-GB" sz="2500"/>
              </a:p>
            </p:txBody>
          </p:sp>
        </mc:Choice>
        <mc:Fallback xmlns="">
          <p:sp>
            <p:nvSpPr>
              <p:cNvPr id="19" name="coefficient_w2" descr="w_2^{(2)}\approx 1.081132">
                <a:extLst>
                  <a:ext uri="{FF2B5EF4-FFF2-40B4-BE49-F238E27FC236}">
                    <a16:creationId xmlns:a16="http://schemas.microsoft.com/office/drawing/2014/main" id="{49E3B6A2-5C44-48E4-92D9-CA412FF073DA}"/>
                  </a:ext>
                </a:extLst>
              </p:cNvPr>
              <p:cNvSpPr>
                <a:spLocks noGrp="1" noRot="1" noChangeAspect="1" noMove="1" noResize="1" noEditPoints="1" noAdjustHandles="1" noChangeArrowheads="1" noChangeShapeType="1" noTextEdit="1"/>
              </p:cNvSpPr>
              <p:nvPr/>
            </p:nvSpPr>
            <p:spPr>
              <a:xfrm>
                <a:off x="8699500" y="1162050"/>
                <a:ext cx="2794000" cy="64770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748248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a:extLst>
                  <a:ext uri="{FF2B5EF4-FFF2-40B4-BE49-F238E27FC236}">
                    <a16:creationId xmlns:a16="http://schemas.microsoft.com/office/drawing/2014/main" id="{2CC0AE45-7BA1-49CB-8976-5B022F736FE9}"/>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Gradient descent: </a:t>
                </a:r>
                <a14:m>
                  <m:oMath xmlns:m="http://schemas.openxmlformats.org/officeDocument/2006/math">
                    <m:r>
                      <a:rPr lang="it-IT" sz="3150" b="1" i="1" dirty="0" smtClean="0">
                        <a:solidFill>
                          <a:srgbClr val="182D45"/>
                        </a:solidFill>
                        <a:latin typeface="Cambria Math" panose="02040503050406030204" pitchFamily="18" charset="0"/>
                        <a:ea typeface="DejaVu Sans"/>
                        <a:cs typeface="DejaVu Sans"/>
                      </a:rPr>
                      <m:t>𝜼</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r>
                      <a:rPr lang="it-IT" sz="3150" b="1" i="1" dirty="0" smtClean="0">
                        <a:solidFill>
                          <a:srgbClr val="182D45"/>
                        </a:solidFill>
                        <a:latin typeface="Cambria Math" panose="02040503050406030204" pitchFamily="18" charset="0"/>
                        <a:ea typeface="DejaVu Sans"/>
                        <a:cs typeface="DejaVu Sans"/>
                      </a:rPr>
                      <m:t>.</m:t>
                    </m:r>
                    <m:r>
                      <a:rPr lang="it-IT" sz="3150" b="1" i="1" dirty="0" smtClean="0">
                        <a:solidFill>
                          <a:srgbClr val="182D45"/>
                        </a:solidFill>
                        <a:latin typeface="Cambria Math" panose="02040503050406030204" pitchFamily="18" charset="0"/>
                        <a:ea typeface="DejaVu Sans"/>
                        <a:cs typeface="DejaVu Sans"/>
                      </a:rPr>
                      <m:t>𝟎𝟎𝟏</m:t>
                    </m:r>
                    <m:r>
                      <a:rPr lang="it-IT" sz="3150" b="1" i="1" dirty="0" smtClean="0">
                        <a:solidFill>
                          <a:srgbClr val="182D45"/>
                        </a:solidFill>
                        <a:latin typeface="Cambria Math" panose="02040503050406030204" pitchFamily="18" charset="0"/>
                        <a:ea typeface="DejaVu Sans"/>
                        <a:cs typeface="DejaVu Sans"/>
                      </a:rPr>
                      <m:t>, </m:t>
                    </m:r>
                    <m:r>
                      <a:rPr lang="it-IT" sz="3150" b="1" i="1" dirty="0" smtClean="0">
                        <a:solidFill>
                          <a:srgbClr val="182D45"/>
                        </a:solidFill>
                        <a:latin typeface="Cambria Math" panose="02040503050406030204" pitchFamily="18" charset="0"/>
                        <a:ea typeface="DejaVu Sans"/>
                        <a:cs typeface="DejaVu Sans"/>
                      </a:rPr>
                      <m:t>𝒕</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𝟓</m:t>
                    </m:r>
                  </m:oMath>
                </a14:m>
                <a:endParaRPr sz="3150" b="1" dirty="0">
                  <a:solidFill>
                    <a:srgbClr val="182D45"/>
                  </a:solidFill>
                  <a:latin typeface="DejaVu Sans"/>
                  <a:ea typeface="DejaVu Sans"/>
                  <a:cs typeface="DejaVu Sans"/>
                </a:endParaRPr>
              </a:p>
            </p:txBody>
          </p:sp>
        </mc:Choice>
        <mc:Fallback xmlns="">
          <p:sp>
            <p:nvSpPr>
              <p:cNvPr id="9" name="title">
                <a:extLst>
                  <a:ext uri="{FF2B5EF4-FFF2-40B4-BE49-F238E27FC236}">
                    <a16:creationId xmlns:a16="http://schemas.microsoft.com/office/drawing/2014/main" id="{2CC0AE45-7BA1-49CB-8976-5B022F736FE9}"/>
                  </a:ext>
                </a:extLst>
              </p:cNvPr>
              <p:cNvSpPr>
                <a:spLocks noGrp="1" noRot="1" noChangeAspect="1" noMove="1" noResize="1" noEditPoints="1" noAdjustHandles="1" noChangeArrowheads="1" noChangeShapeType="1" noTextEdit="1"/>
              </p:cNvSpPr>
              <p:nvPr/>
            </p:nvSpPr>
            <p:spPr>
              <a:xfrm>
                <a:off x="685800" y="333375"/>
                <a:ext cx="10820400" cy="666750"/>
              </a:xfrm>
              <a:prstGeom prst="rect">
                <a:avLst/>
              </a:prstGeom>
              <a:blipFill>
                <a:blip r:embed="rId3"/>
                <a:stretch>
                  <a:fillRect t="-4587" b="-2293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E2AF72D-66B5-4390-AE13-8747438FC574}"/>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6F1FDFC6-026C-404A-BA91-FD71CE323A37}"/>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33</a:t>
            </a:r>
          </a:p>
        </p:txBody>
      </p:sp>
      <p:graphicFrame>
        <p:nvGraphicFramePr>
          <p:cNvPr id="13" name="step_0_chart_0"/>
          <p:cNvGraphicFramePr/>
          <p:nvPr/>
        </p:nvGraphicFramePr>
        <p:xfrm>
          <a:off x="552450" y="1981200"/>
          <a:ext cx="5657850" cy="3619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step_0_chart_1"/>
          <p:cNvGraphicFramePr/>
          <p:nvPr/>
        </p:nvGraphicFramePr>
        <p:xfrm>
          <a:off x="6581775" y="1981200"/>
          <a:ext cx="5000625" cy="361950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step_0_equation_2" descr="x_2=5.1696-0.0563x_1">
                <a:extLst>
                  <a:ext uri="{FF2B5EF4-FFF2-40B4-BE49-F238E27FC236}">
                    <a16:creationId xmlns:a16="http://schemas.microsoft.com/office/drawing/2014/main" id="{6E69B225-608B-4197-81E4-552657548384}"/>
                  </a:ext>
                </a:extLst>
              </p:cNvPr>
              <p:cNvSpPr>
                <a:spLocks noGrp="1"/>
              </p:cNvSpPr>
              <p:nvPr/>
            </p:nvSpPr>
            <p:spPr>
              <a:xfrm>
                <a:off x="571500" y="5638800"/>
                <a:ext cx="6000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=5.1696−0.0563</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1</m:t>
                          </m:r>
                        </m:sub>
                      </m:sSub>
                    </m:oMath>
                  </m:oMathPara>
                </a14:m>
                <a:endParaRPr lang="en-GB" sz="2400"/>
              </a:p>
            </p:txBody>
          </p:sp>
        </mc:Choice>
        <mc:Fallback xmlns="">
          <p:sp>
            <p:nvSpPr>
              <p:cNvPr id="7" name="step_0_equation_2" descr="x_2=5.1696-0.0563x_1">
                <a:extLst>
                  <a:ext uri="{FF2B5EF4-FFF2-40B4-BE49-F238E27FC236}">
                    <a16:creationId xmlns:a16="http://schemas.microsoft.com/office/drawing/2014/main" id="{6E69B225-608B-4197-81E4-552657548384}"/>
                  </a:ext>
                </a:extLst>
              </p:cNvPr>
              <p:cNvSpPr>
                <a:spLocks noGrp="1" noRot="1" noChangeAspect="1" noMove="1" noResize="1" noEditPoints="1" noAdjustHandles="1" noChangeArrowheads="1" noChangeShapeType="1" noTextEdit="1"/>
              </p:cNvSpPr>
              <p:nvPr/>
            </p:nvSpPr>
            <p:spPr>
              <a:xfrm>
                <a:off x="571500" y="5638800"/>
                <a:ext cx="6000750" cy="619125"/>
              </a:xfrm>
              <a:prstGeom prst="rect">
                <a:avLst/>
              </a:prstGeom>
              <a:blipFill>
                <a:blip r:embed="rId6"/>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C59FC778-B0D1-4E53-80CB-8A4A1E053984}"/>
              </a:ext>
            </a:extLst>
          </p:cNvPr>
          <p:cNvSpPr>
            <a:spLocks noGrp="1"/>
          </p:cNvSpPr>
          <p:nvPr/>
        </p:nvSpPr>
        <p:spPr>
          <a:xfrm>
            <a:off x="6762750" y="5829300"/>
            <a:ext cx="4714875" cy="552450"/>
          </a:xfrm>
          <a:prstGeom prst="rect">
            <a:avLst/>
          </a:prstGeom>
          <a:noFill/>
          <a:ln w="0">
            <a:noFill/>
          </a:ln>
        </p:spPr>
        <p:txBody>
          <a:bodyPr wrap="square" lIns="0" tIns="0" rIns="0" bIns="0" anchor="ctr">
            <a:noAutofit/>
          </a:bodyPr>
          <a:lstStyle/>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Logistic loss: 41.300</a:t>
            </a:r>
          </a:p>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Mistakes: 8 of 100</a:t>
            </a:r>
          </a:p>
        </p:txBody>
      </p:sp>
      <p:sp>
        <p:nvSpPr>
          <p:cNvPr id="15" name="decision_region_class1">
            <a:extLst>
              <a:ext uri="{FF2B5EF4-FFF2-40B4-BE49-F238E27FC236}">
                <a16:creationId xmlns:a16="http://schemas.microsoft.com/office/drawing/2014/main" id="{0EBD8908-E2ED-4F4A-A521-21EB23EFF066}"/>
              </a:ext>
            </a:extLst>
          </p:cNvPr>
          <p:cNvSpPr>
            <a:spLocks noGrp="1"/>
          </p:cNvSpPr>
          <p:nvPr/>
        </p:nvSpPr>
        <p:spPr>
          <a:xfrm>
            <a:off x="1701166" y="2136204"/>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6" name="decision_region_class0">
            <a:extLst>
              <a:ext uri="{FF2B5EF4-FFF2-40B4-BE49-F238E27FC236}">
                <a16:creationId xmlns:a16="http://schemas.microsoft.com/office/drawing/2014/main" id="{908A28E8-03C8-4E03-A65C-A3826B282F05}"/>
              </a:ext>
            </a:extLst>
          </p:cNvPr>
          <p:cNvSpPr>
            <a:spLocks noGrp="1"/>
          </p:cNvSpPr>
          <p:nvPr/>
        </p:nvSpPr>
        <p:spPr>
          <a:xfrm>
            <a:off x="1701166" y="4134612"/>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
        <p:nvSpPr>
          <p:cNvPr id="2" name="coefficient_label">
            <a:extLst>
              <a:ext uri="{FF2B5EF4-FFF2-40B4-BE49-F238E27FC236}">
                <a16:creationId xmlns:a16="http://schemas.microsoft.com/office/drawing/2014/main" id="{37A92C9F-05C0-42F9-B6F5-17DF7ABE9304}"/>
              </a:ext>
            </a:extLst>
          </p:cNvPr>
          <p:cNvSpPr>
            <a:spLocks noGrp="1"/>
          </p:cNvSpPr>
          <p:nvPr/>
        </p:nvSpPr>
        <p:spPr>
          <a:xfrm>
            <a:off x="723900" y="1181100"/>
            <a:ext cx="1841500" cy="609600"/>
          </a:xfrm>
          <a:prstGeom prst="rect">
            <a:avLst/>
          </a:prstGeom>
          <a:noFill/>
          <a:ln w="0">
            <a:noFill/>
          </a:ln>
        </p:spPr>
        <p:txBody>
          <a:bodyPr wrap="square" lIns="0" tIns="0" rIns="0" bIns="0" anchor="ctr">
            <a:noAutofit/>
          </a:bodyPr>
          <a:lstStyle/>
          <a:p>
            <a:pPr algn="l">
              <a:lnSpc>
                <a:spcPct val="110000"/>
              </a:lnSpc>
              <a:buNone/>
              <a:defRPr sz="2250" b="0">
                <a:solidFill>
                  <a:srgbClr val="526276"/>
                </a:solidFill>
                <a:latin typeface="DejaVu Sans"/>
                <a:ea typeface="DejaVu Sans"/>
                <a:cs typeface="DejaVu Sans"/>
              </a:defRPr>
            </a:pPr>
            <a:r>
              <a:rPr sz="2250" b="0">
                <a:solidFill>
                  <a:srgbClr val="526276"/>
                </a:solidFill>
                <a:latin typeface="DejaVu Sans"/>
                <a:ea typeface="DejaVu Sans"/>
                <a:cs typeface="DejaVu Sans"/>
              </a:rPr>
              <a:t>Coefficients:</a:t>
            </a:r>
          </a:p>
        </p:txBody>
      </p:sp>
      <mc:AlternateContent xmlns:mc="http://schemas.openxmlformats.org/markup-compatibility/2006" xmlns:a14="http://schemas.microsoft.com/office/drawing/2010/main">
        <mc:Choice Requires="a14">
          <p:sp>
            <p:nvSpPr>
              <p:cNvPr id="17" name="coefficient_b" descr="b^{(5)}\approx -5.744795">
                <a:extLst>
                  <a:ext uri="{FF2B5EF4-FFF2-40B4-BE49-F238E27FC236}">
                    <a16:creationId xmlns:a16="http://schemas.microsoft.com/office/drawing/2014/main" id="{22CDEE13-6968-426C-B6B3-75911E829E2A}"/>
                  </a:ext>
                </a:extLst>
              </p:cNvPr>
              <p:cNvSpPr>
                <a:spLocks noGrp="1"/>
              </p:cNvSpPr>
              <p:nvPr/>
            </p:nvSpPr>
            <p:spPr>
              <a:xfrm>
                <a:off x="2692400" y="1162050"/>
                <a:ext cx="2921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𝑏</m:t>
                          </m:r>
                        </m:e>
                        <m:sup>
                          <m:r>
                            <a:rPr lang="en-GB" sz="2500">
                              <a:solidFill>
                                <a:srgbClr val="087F83"/>
                              </a:solidFill>
                              <a:latin typeface="Cambria Math"/>
                              <a:ea typeface="Cambria Math"/>
                              <a:cs typeface="Cambria Math"/>
                            </a:rPr>
                            <m:t>(5)</m:t>
                          </m:r>
                        </m:sup>
                      </m:sSup>
                      <m:r>
                        <a:rPr lang="en-GB" sz="2500">
                          <a:solidFill>
                            <a:srgbClr val="087F83"/>
                          </a:solidFill>
                          <a:latin typeface="Cambria Math"/>
                          <a:ea typeface="Cambria Math"/>
                          <a:cs typeface="Cambria Math"/>
                        </a:rPr>
                        <m:t>≈−5.744795</m:t>
                      </m:r>
                    </m:oMath>
                  </m:oMathPara>
                </a14:m>
                <a:endParaRPr lang="en-GB" sz="2500"/>
              </a:p>
            </p:txBody>
          </p:sp>
        </mc:Choice>
        <mc:Fallback xmlns="">
          <p:sp>
            <p:nvSpPr>
              <p:cNvPr id="17" name="coefficient_b" descr="b^{(5)}\approx -5.744795">
                <a:extLst>
                  <a:ext uri="{FF2B5EF4-FFF2-40B4-BE49-F238E27FC236}">
                    <a16:creationId xmlns:a16="http://schemas.microsoft.com/office/drawing/2014/main" id="{22CDEE13-6968-426C-B6B3-75911E829E2A}"/>
                  </a:ext>
                </a:extLst>
              </p:cNvPr>
              <p:cNvSpPr>
                <a:spLocks noGrp="1" noRot="1" noChangeAspect="1" noMove="1" noResize="1" noEditPoints="1" noAdjustHandles="1" noChangeArrowheads="1" noChangeShapeType="1" noTextEdit="1"/>
              </p:cNvSpPr>
              <p:nvPr/>
            </p:nvSpPr>
            <p:spPr>
              <a:xfrm>
                <a:off x="2692400" y="1162050"/>
                <a:ext cx="2921000" cy="6477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coefficient_w1" descr="w_1^{(5)}\approx 0.062560">
                <a:extLst>
                  <a:ext uri="{FF2B5EF4-FFF2-40B4-BE49-F238E27FC236}">
                    <a16:creationId xmlns:a16="http://schemas.microsoft.com/office/drawing/2014/main" id="{B27806F9-8156-4042-B410-05E2644821E2}"/>
                  </a:ext>
                </a:extLst>
              </p:cNvPr>
              <p:cNvSpPr>
                <a:spLocks noGrp="1"/>
              </p:cNvSpPr>
              <p:nvPr/>
            </p:nvSpPr>
            <p:spPr>
              <a:xfrm>
                <a:off x="5778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(5)</m:t>
                          </m:r>
                        </m:sup>
                      </m:sSubSup>
                      <m:r>
                        <a:rPr lang="en-GB" sz="2500">
                          <a:solidFill>
                            <a:srgbClr val="087F83"/>
                          </a:solidFill>
                          <a:latin typeface="Cambria Math"/>
                          <a:ea typeface="Cambria Math"/>
                          <a:cs typeface="Cambria Math"/>
                        </a:rPr>
                        <m:t>≈0.062560</m:t>
                      </m:r>
                    </m:oMath>
                  </m:oMathPara>
                </a14:m>
                <a:endParaRPr lang="en-GB" sz="2500"/>
              </a:p>
            </p:txBody>
          </p:sp>
        </mc:Choice>
        <mc:Fallback xmlns="">
          <p:sp>
            <p:nvSpPr>
              <p:cNvPr id="18" name="coefficient_w1" descr="w_1^{(5)}\approx 0.062560">
                <a:extLst>
                  <a:ext uri="{FF2B5EF4-FFF2-40B4-BE49-F238E27FC236}">
                    <a16:creationId xmlns:a16="http://schemas.microsoft.com/office/drawing/2014/main" id="{B27806F9-8156-4042-B410-05E2644821E2}"/>
                  </a:ext>
                </a:extLst>
              </p:cNvPr>
              <p:cNvSpPr>
                <a:spLocks noGrp="1" noRot="1" noChangeAspect="1" noMove="1" noResize="1" noEditPoints="1" noAdjustHandles="1" noChangeArrowheads="1" noChangeShapeType="1" noTextEdit="1"/>
              </p:cNvSpPr>
              <p:nvPr/>
            </p:nvSpPr>
            <p:spPr>
              <a:xfrm>
                <a:off x="5778500" y="1162050"/>
                <a:ext cx="2794000" cy="64770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coefficient_w2" descr="w_2^{(5)}\approx 1.111266">
                <a:extLst>
                  <a:ext uri="{FF2B5EF4-FFF2-40B4-BE49-F238E27FC236}">
                    <a16:creationId xmlns:a16="http://schemas.microsoft.com/office/drawing/2014/main" id="{BCFA189A-BC25-4808-945C-2EFB1AE6B3B3}"/>
                  </a:ext>
                </a:extLst>
              </p:cNvPr>
              <p:cNvSpPr>
                <a:spLocks noGrp="1"/>
              </p:cNvSpPr>
              <p:nvPr/>
            </p:nvSpPr>
            <p:spPr>
              <a:xfrm>
                <a:off x="8699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2</m:t>
                          </m:r>
                        </m:sub>
                        <m:sup>
                          <m:r>
                            <a:rPr lang="en-GB" sz="2500">
                              <a:solidFill>
                                <a:srgbClr val="087F83"/>
                              </a:solidFill>
                              <a:latin typeface="Cambria Math"/>
                              <a:ea typeface="Cambria Math"/>
                              <a:cs typeface="Cambria Math"/>
                            </a:rPr>
                            <m:t>(5)</m:t>
                          </m:r>
                        </m:sup>
                      </m:sSubSup>
                      <m:r>
                        <a:rPr lang="en-GB" sz="2500">
                          <a:solidFill>
                            <a:srgbClr val="087F83"/>
                          </a:solidFill>
                          <a:latin typeface="Cambria Math"/>
                          <a:ea typeface="Cambria Math"/>
                          <a:cs typeface="Cambria Math"/>
                        </a:rPr>
                        <m:t>≈1.111266</m:t>
                      </m:r>
                    </m:oMath>
                  </m:oMathPara>
                </a14:m>
                <a:endParaRPr lang="en-GB" sz="2500"/>
              </a:p>
            </p:txBody>
          </p:sp>
        </mc:Choice>
        <mc:Fallback xmlns="">
          <p:sp>
            <p:nvSpPr>
              <p:cNvPr id="19" name="coefficient_w2" descr="w_2^{(5)}\approx 1.111266">
                <a:extLst>
                  <a:ext uri="{FF2B5EF4-FFF2-40B4-BE49-F238E27FC236}">
                    <a16:creationId xmlns:a16="http://schemas.microsoft.com/office/drawing/2014/main" id="{BCFA189A-BC25-4808-945C-2EFB1AE6B3B3}"/>
                  </a:ext>
                </a:extLst>
              </p:cNvPr>
              <p:cNvSpPr>
                <a:spLocks noGrp="1" noRot="1" noChangeAspect="1" noMove="1" noResize="1" noEditPoints="1" noAdjustHandles="1" noChangeArrowheads="1" noChangeShapeType="1" noTextEdit="1"/>
              </p:cNvSpPr>
              <p:nvPr/>
            </p:nvSpPr>
            <p:spPr>
              <a:xfrm>
                <a:off x="8699500" y="1162050"/>
                <a:ext cx="2794000" cy="64770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7482484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a:extLst>
                  <a:ext uri="{FF2B5EF4-FFF2-40B4-BE49-F238E27FC236}">
                    <a16:creationId xmlns:a16="http://schemas.microsoft.com/office/drawing/2014/main" id="{2CC0AE45-7BA1-49CB-8976-5B022F736FE9}"/>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Gradient descent: </a:t>
                </a:r>
                <a14:m>
                  <m:oMath xmlns:m="http://schemas.openxmlformats.org/officeDocument/2006/math">
                    <m:r>
                      <a:rPr lang="it-IT" sz="3150" b="1" i="1" dirty="0" smtClean="0">
                        <a:solidFill>
                          <a:srgbClr val="182D45"/>
                        </a:solidFill>
                        <a:latin typeface="Cambria Math" panose="02040503050406030204" pitchFamily="18" charset="0"/>
                        <a:ea typeface="DejaVu Sans"/>
                        <a:cs typeface="DejaVu Sans"/>
                      </a:rPr>
                      <m:t>𝜼</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r>
                      <a:rPr lang="it-IT" sz="3150" b="1" i="1" dirty="0" smtClean="0">
                        <a:solidFill>
                          <a:srgbClr val="182D45"/>
                        </a:solidFill>
                        <a:latin typeface="Cambria Math" panose="02040503050406030204" pitchFamily="18" charset="0"/>
                        <a:ea typeface="DejaVu Sans"/>
                        <a:cs typeface="DejaVu Sans"/>
                      </a:rPr>
                      <m:t>.</m:t>
                    </m:r>
                    <m:r>
                      <a:rPr lang="it-IT" sz="3150" b="1" i="1" dirty="0" smtClean="0">
                        <a:solidFill>
                          <a:srgbClr val="182D45"/>
                        </a:solidFill>
                        <a:latin typeface="Cambria Math" panose="02040503050406030204" pitchFamily="18" charset="0"/>
                        <a:ea typeface="DejaVu Sans"/>
                        <a:cs typeface="DejaVu Sans"/>
                      </a:rPr>
                      <m:t>𝟎𝟎𝟏</m:t>
                    </m:r>
                    <m:r>
                      <a:rPr lang="it-IT" sz="3150" b="1" i="1" dirty="0" smtClean="0">
                        <a:solidFill>
                          <a:srgbClr val="182D45"/>
                        </a:solidFill>
                        <a:latin typeface="Cambria Math" panose="02040503050406030204" pitchFamily="18" charset="0"/>
                        <a:ea typeface="DejaVu Sans"/>
                        <a:cs typeface="DejaVu Sans"/>
                      </a:rPr>
                      <m:t>, </m:t>
                    </m:r>
                    <m:r>
                      <a:rPr lang="it-IT" sz="3150" b="1" i="1" dirty="0" smtClean="0">
                        <a:solidFill>
                          <a:srgbClr val="182D45"/>
                        </a:solidFill>
                        <a:latin typeface="Cambria Math" panose="02040503050406030204" pitchFamily="18" charset="0"/>
                        <a:ea typeface="DejaVu Sans"/>
                        <a:cs typeface="DejaVu Sans"/>
                      </a:rPr>
                      <m:t>𝒕</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𝟏𝟎</m:t>
                    </m:r>
                  </m:oMath>
                </a14:m>
                <a:endParaRPr sz="3150" b="1" dirty="0">
                  <a:solidFill>
                    <a:srgbClr val="182D45"/>
                  </a:solidFill>
                  <a:latin typeface="DejaVu Sans"/>
                  <a:ea typeface="DejaVu Sans"/>
                  <a:cs typeface="DejaVu Sans"/>
                </a:endParaRPr>
              </a:p>
            </p:txBody>
          </p:sp>
        </mc:Choice>
        <mc:Fallback xmlns="">
          <p:sp>
            <p:nvSpPr>
              <p:cNvPr id="9" name="title">
                <a:extLst>
                  <a:ext uri="{FF2B5EF4-FFF2-40B4-BE49-F238E27FC236}">
                    <a16:creationId xmlns:a16="http://schemas.microsoft.com/office/drawing/2014/main" id="{2CC0AE45-7BA1-49CB-8976-5B022F736FE9}"/>
                  </a:ext>
                </a:extLst>
              </p:cNvPr>
              <p:cNvSpPr>
                <a:spLocks noGrp="1" noRot="1" noChangeAspect="1" noMove="1" noResize="1" noEditPoints="1" noAdjustHandles="1" noChangeArrowheads="1" noChangeShapeType="1" noTextEdit="1"/>
              </p:cNvSpPr>
              <p:nvPr/>
            </p:nvSpPr>
            <p:spPr>
              <a:xfrm>
                <a:off x="685800" y="333375"/>
                <a:ext cx="10820400" cy="666750"/>
              </a:xfrm>
              <a:prstGeom prst="rect">
                <a:avLst/>
              </a:prstGeom>
              <a:blipFill>
                <a:blip r:embed="rId3"/>
                <a:stretch>
                  <a:fillRect t="-4587" b="-2293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E2AF72D-66B5-4390-AE13-8747438FC574}"/>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6F1FDFC6-026C-404A-BA91-FD71CE323A37}"/>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34</a:t>
            </a:r>
          </a:p>
        </p:txBody>
      </p:sp>
      <p:graphicFrame>
        <p:nvGraphicFramePr>
          <p:cNvPr id="13" name="step_0_chart_0"/>
          <p:cNvGraphicFramePr/>
          <p:nvPr/>
        </p:nvGraphicFramePr>
        <p:xfrm>
          <a:off x="552450" y="1981200"/>
          <a:ext cx="5657850" cy="3619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step_0_chart_1"/>
          <p:cNvGraphicFramePr/>
          <p:nvPr/>
        </p:nvGraphicFramePr>
        <p:xfrm>
          <a:off x="6581775" y="1981200"/>
          <a:ext cx="5000625" cy="361950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step_0_equation_2" descr="x_2=5.0099-0.0298x_1">
                <a:extLst>
                  <a:ext uri="{FF2B5EF4-FFF2-40B4-BE49-F238E27FC236}">
                    <a16:creationId xmlns:a16="http://schemas.microsoft.com/office/drawing/2014/main" id="{6E69B225-608B-4197-81E4-552657548384}"/>
                  </a:ext>
                </a:extLst>
              </p:cNvPr>
              <p:cNvSpPr>
                <a:spLocks noGrp="1"/>
              </p:cNvSpPr>
              <p:nvPr/>
            </p:nvSpPr>
            <p:spPr>
              <a:xfrm>
                <a:off x="571500" y="5638800"/>
                <a:ext cx="6000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=5.0099−0.0298</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1</m:t>
                          </m:r>
                        </m:sub>
                      </m:sSub>
                    </m:oMath>
                  </m:oMathPara>
                </a14:m>
                <a:endParaRPr lang="en-GB" sz="2400"/>
              </a:p>
            </p:txBody>
          </p:sp>
        </mc:Choice>
        <mc:Fallback xmlns="">
          <p:sp>
            <p:nvSpPr>
              <p:cNvPr id="7" name="step_0_equation_2" descr="x_2=5.0099-0.0298x_1">
                <a:extLst>
                  <a:ext uri="{FF2B5EF4-FFF2-40B4-BE49-F238E27FC236}">
                    <a16:creationId xmlns:a16="http://schemas.microsoft.com/office/drawing/2014/main" id="{6E69B225-608B-4197-81E4-552657548384}"/>
                  </a:ext>
                </a:extLst>
              </p:cNvPr>
              <p:cNvSpPr>
                <a:spLocks noGrp="1" noRot="1" noChangeAspect="1" noMove="1" noResize="1" noEditPoints="1" noAdjustHandles="1" noChangeArrowheads="1" noChangeShapeType="1" noTextEdit="1"/>
              </p:cNvSpPr>
              <p:nvPr/>
            </p:nvSpPr>
            <p:spPr>
              <a:xfrm>
                <a:off x="571500" y="5638800"/>
                <a:ext cx="6000750" cy="619125"/>
              </a:xfrm>
              <a:prstGeom prst="rect">
                <a:avLst/>
              </a:prstGeom>
              <a:blipFill>
                <a:blip r:embed="rId6"/>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C59FC778-B0D1-4E53-80CB-8A4A1E053984}"/>
              </a:ext>
            </a:extLst>
          </p:cNvPr>
          <p:cNvSpPr>
            <a:spLocks noGrp="1"/>
          </p:cNvSpPr>
          <p:nvPr/>
        </p:nvSpPr>
        <p:spPr>
          <a:xfrm>
            <a:off x="6762750" y="5829300"/>
            <a:ext cx="4714875" cy="552450"/>
          </a:xfrm>
          <a:prstGeom prst="rect">
            <a:avLst/>
          </a:prstGeom>
          <a:noFill/>
          <a:ln w="0">
            <a:noFill/>
          </a:ln>
        </p:spPr>
        <p:txBody>
          <a:bodyPr wrap="square" lIns="0" tIns="0" rIns="0" bIns="0" anchor="ctr">
            <a:noAutofit/>
          </a:bodyPr>
          <a:lstStyle/>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Logistic loss: 40.848</a:t>
            </a:r>
          </a:p>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Mistakes: 8 of 100</a:t>
            </a:r>
          </a:p>
        </p:txBody>
      </p:sp>
      <p:sp>
        <p:nvSpPr>
          <p:cNvPr id="15" name="decision_region_class1">
            <a:extLst>
              <a:ext uri="{FF2B5EF4-FFF2-40B4-BE49-F238E27FC236}">
                <a16:creationId xmlns:a16="http://schemas.microsoft.com/office/drawing/2014/main" id="{E2494F10-E048-4DD3-BB2F-E379A1C770F6}"/>
              </a:ext>
            </a:extLst>
          </p:cNvPr>
          <p:cNvSpPr>
            <a:spLocks noGrp="1"/>
          </p:cNvSpPr>
          <p:nvPr/>
        </p:nvSpPr>
        <p:spPr>
          <a:xfrm>
            <a:off x="1701166" y="2136204"/>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6" name="decision_region_class0">
            <a:extLst>
              <a:ext uri="{FF2B5EF4-FFF2-40B4-BE49-F238E27FC236}">
                <a16:creationId xmlns:a16="http://schemas.microsoft.com/office/drawing/2014/main" id="{F492ED49-9C61-49B3-9031-0A6849FED11D}"/>
              </a:ext>
            </a:extLst>
          </p:cNvPr>
          <p:cNvSpPr>
            <a:spLocks noGrp="1"/>
          </p:cNvSpPr>
          <p:nvPr/>
        </p:nvSpPr>
        <p:spPr>
          <a:xfrm>
            <a:off x="1701166" y="4134612"/>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
        <p:nvSpPr>
          <p:cNvPr id="2" name="coefficient_label">
            <a:extLst>
              <a:ext uri="{FF2B5EF4-FFF2-40B4-BE49-F238E27FC236}">
                <a16:creationId xmlns:a16="http://schemas.microsoft.com/office/drawing/2014/main" id="{444C3730-0BEB-4A83-B805-E5D223AA6D74}"/>
              </a:ext>
            </a:extLst>
          </p:cNvPr>
          <p:cNvSpPr>
            <a:spLocks noGrp="1"/>
          </p:cNvSpPr>
          <p:nvPr/>
        </p:nvSpPr>
        <p:spPr>
          <a:xfrm>
            <a:off x="723900" y="1181100"/>
            <a:ext cx="1841500" cy="609600"/>
          </a:xfrm>
          <a:prstGeom prst="rect">
            <a:avLst/>
          </a:prstGeom>
          <a:noFill/>
          <a:ln w="0">
            <a:noFill/>
          </a:ln>
        </p:spPr>
        <p:txBody>
          <a:bodyPr wrap="square" lIns="0" tIns="0" rIns="0" bIns="0" anchor="ctr">
            <a:noAutofit/>
          </a:bodyPr>
          <a:lstStyle/>
          <a:p>
            <a:pPr algn="l">
              <a:lnSpc>
                <a:spcPct val="110000"/>
              </a:lnSpc>
              <a:buNone/>
              <a:defRPr sz="2250" b="0">
                <a:solidFill>
                  <a:srgbClr val="526276"/>
                </a:solidFill>
                <a:latin typeface="DejaVu Sans"/>
                <a:ea typeface="DejaVu Sans"/>
                <a:cs typeface="DejaVu Sans"/>
              </a:defRPr>
            </a:pPr>
            <a:r>
              <a:rPr sz="2250" b="0">
                <a:solidFill>
                  <a:srgbClr val="526276"/>
                </a:solidFill>
                <a:latin typeface="DejaVu Sans"/>
                <a:ea typeface="DejaVu Sans"/>
                <a:cs typeface="DejaVu Sans"/>
              </a:rPr>
              <a:t>Coefficients:</a:t>
            </a:r>
          </a:p>
        </p:txBody>
      </p:sp>
      <mc:AlternateContent xmlns:mc="http://schemas.openxmlformats.org/markup-compatibility/2006" xmlns:a14="http://schemas.microsoft.com/office/drawing/2010/main">
        <mc:Choice Requires="a14">
          <p:sp>
            <p:nvSpPr>
              <p:cNvPr id="17" name="coefficient_b" descr="b^{(10)}\approx -5.753743">
                <a:extLst>
                  <a:ext uri="{FF2B5EF4-FFF2-40B4-BE49-F238E27FC236}">
                    <a16:creationId xmlns:a16="http://schemas.microsoft.com/office/drawing/2014/main" id="{E9BA4BB0-7152-4928-B64F-9F550E9E56B8}"/>
                  </a:ext>
                </a:extLst>
              </p:cNvPr>
              <p:cNvSpPr>
                <a:spLocks noGrp="1"/>
              </p:cNvSpPr>
              <p:nvPr/>
            </p:nvSpPr>
            <p:spPr>
              <a:xfrm>
                <a:off x="2692400" y="1162050"/>
                <a:ext cx="2921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𝑏</m:t>
                          </m:r>
                        </m:e>
                        <m:sup>
                          <m:r>
                            <a:rPr lang="en-GB" sz="2500">
                              <a:solidFill>
                                <a:srgbClr val="087F83"/>
                              </a:solidFill>
                              <a:latin typeface="Cambria Math"/>
                              <a:ea typeface="Cambria Math"/>
                              <a:cs typeface="Cambria Math"/>
                            </a:rPr>
                            <m:t>(10)</m:t>
                          </m:r>
                        </m:sup>
                      </m:sSup>
                      <m:r>
                        <a:rPr lang="en-GB" sz="2500">
                          <a:solidFill>
                            <a:srgbClr val="087F83"/>
                          </a:solidFill>
                          <a:latin typeface="Cambria Math"/>
                          <a:ea typeface="Cambria Math"/>
                          <a:cs typeface="Cambria Math"/>
                        </a:rPr>
                        <m:t>≈−5.753743</m:t>
                      </m:r>
                    </m:oMath>
                  </m:oMathPara>
                </a14:m>
                <a:endParaRPr lang="en-GB" sz="2500"/>
              </a:p>
            </p:txBody>
          </p:sp>
        </mc:Choice>
        <mc:Fallback xmlns="">
          <p:sp>
            <p:nvSpPr>
              <p:cNvPr id="17" name="coefficient_b" descr="b^{(10)}\approx -5.753743">
                <a:extLst>
                  <a:ext uri="{FF2B5EF4-FFF2-40B4-BE49-F238E27FC236}">
                    <a16:creationId xmlns:a16="http://schemas.microsoft.com/office/drawing/2014/main" id="{E9BA4BB0-7152-4928-B64F-9F550E9E56B8}"/>
                  </a:ext>
                </a:extLst>
              </p:cNvPr>
              <p:cNvSpPr>
                <a:spLocks noGrp="1" noRot="1" noChangeAspect="1" noMove="1" noResize="1" noEditPoints="1" noAdjustHandles="1" noChangeArrowheads="1" noChangeShapeType="1" noTextEdit="1"/>
              </p:cNvSpPr>
              <p:nvPr/>
            </p:nvSpPr>
            <p:spPr>
              <a:xfrm>
                <a:off x="2692400" y="1162050"/>
                <a:ext cx="2921000" cy="6477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coefficient_w1" descr="w_1^{(10)}\approx 0.034272">
                <a:extLst>
                  <a:ext uri="{FF2B5EF4-FFF2-40B4-BE49-F238E27FC236}">
                    <a16:creationId xmlns:a16="http://schemas.microsoft.com/office/drawing/2014/main" id="{C7766717-FD70-418C-A8B6-C79167569AFD}"/>
                  </a:ext>
                </a:extLst>
              </p:cNvPr>
              <p:cNvSpPr>
                <a:spLocks noGrp="1"/>
              </p:cNvSpPr>
              <p:nvPr/>
            </p:nvSpPr>
            <p:spPr>
              <a:xfrm>
                <a:off x="5778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(10)</m:t>
                          </m:r>
                        </m:sup>
                      </m:sSubSup>
                      <m:r>
                        <a:rPr lang="en-GB" sz="2500">
                          <a:solidFill>
                            <a:srgbClr val="087F83"/>
                          </a:solidFill>
                          <a:latin typeface="Cambria Math"/>
                          <a:ea typeface="Cambria Math"/>
                          <a:cs typeface="Cambria Math"/>
                        </a:rPr>
                        <m:t>≈0.034272</m:t>
                      </m:r>
                    </m:oMath>
                  </m:oMathPara>
                </a14:m>
                <a:endParaRPr lang="en-GB" sz="2500"/>
              </a:p>
            </p:txBody>
          </p:sp>
        </mc:Choice>
        <mc:Fallback xmlns="">
          <p:sp>
            <p:nvSpPr>
              <p:cNvPr id="18" name="coefficient_w1" descr="w_1^{(10)}\approx 0.034272">
                <a:extLst>
                  <a:ext uri="{FF2B5EF4-FFF2-40B4-BE49-F238E27FC236}">
                    <a16:creationId xmlns:a16="http://schemas.microsoft.com/office/drawing/2014/main" id="{C7766717-FD70-418C-A8B6-C79167569AFD}"/>
                  </a:ext>
                </a:extLst>
              </p:cNvPr>
              <p:cNvSpPr>
                <a:spLocks noGrp="1" noRot="1" noChangeAspect="1" noMove="1" noResize="1" noEditPoints="1" noAdjustHandles="1" noChangeArrowheads="1" noChangeShapeType="1" noTextEdit="1"/>
              </p:cNvSpPr>
              <p:nvPr/>
            </p:nvSpPr>
            <p:spPr>
              <a:xfrm>
                <a:off x="5778500" y="1162050"/>
                <a:ext cx="2794000" cy="64770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coefficient_w2" descr="w_2^{(10)}\approx 1.148470">
                <a:extLst>
                  <a:ext uri="{FF2B5EF4-FFF2-40B4-BE49-F238E27FC236}">
                    <a16:creationId xmlns:a16="http://schemas.microsoft.com/office/drawing/2014/main" id="{38678128-8987-471B-9818-975D2EB3452B}"/>
                  </a:ext>
                </a:extLst>
              </p:cNvPr>
              <p:cNvSpPr>
                <a:spLocks noGrp="1"/>
              </p:cNvSpPr>
              <p:nvPr/>
            </p:nvSpPr>
            <p:spPr>
              <a:xfrm>
                <a:off x="8699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2</m:t>
                          </m:r>
                        </m:sub>
                        <m:sup>
                          <m:r>
                            <a:rPr lang="en-GB" sz="2500">
                              <a:solidFill>
                                <a:srgbClr val="087F83"/>
                              </a:solidFill>
                              <a:latin typeface="Cambria Math"/>
                              <a:ea typeface="Cambria Math"/>
                              <a:cs typeface="Cambria Math"/>
                            </a:rPr>
                            <m:t>(10)</m:t>
                          </m:r>
                        </m:sup>
                      </m:sSubSup>
                      <m:r>
                        <a:rPr lang="en-GB" sz="2500">
                          <a:solidFill>
                            <a:srgbClr val="087F83"/>
                          </a:solidFill>
                          <a:latin typeface="Cambria Math"/>
                          <a:ea typeface="Cambria Math"/>
                          <a:cs typeface="Cambria Math"/>
                        </a:rPr>
                        <m:t>≈1.148470</m:t>
                      </m:r>
                    </m:oMath>
                  </m:oMathPara>
                </a14:m>
                <a:endParaRPr lang="en-GB" sz="2500"/>
              </a:p>
            </p:txBody>
          </p:sp>
        </mc:Choice>
        <mc:Fallback xmlns="">
          <p:sp>
            <p:nvSpPr>
              <p:cNvPr id="19" name="coefficient_w2" descr="w_2^{(10)}\approx 1.148470">
                <a:extLst>
                  <a:ext uri="{FF2B5EF4-FFF2-40B4-BE49-F238E27FC236}">
                    <a16:creationId xmlns:a16="http://schemas.microsoft.com/office/drawing/2014/main" id="{38678128-8987-471B-9818-975D2EB3452B}"/>
                  </a:ext>
                </a:extLst>
              </p:cNvPr>
              <p:cNvSpPr>
                <a:spLocks noGrp="1" noRot="1" noChangeAspect="1" noMove="1" noResize="1" noEditPoints="1" noAdjustHandles="1" noChangeArrowheads="1" noChangeShapeType="1" noTextEdit="1"/>
              </p:cNvSpPr>
              <p:nvPr/>
            </p:nvSpPr>
            <p:spPr>
              <a:xfrm>
                <a:off x="8699500" y="1162050"/>
                <a:ext cx="2794000" cy="64770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7482484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a:extLst>
                  <a:ext uri="{FF2B5EF4-FFF2-40B4-BE49-F238E27FC236}">
                    <a16:creationId xmlns:a16="http://schemas.microsoft.com/office/drawing/2014/main" id="{123D8850-850C-4F52-B382-C2C48837992A}"/>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Gradient descent: </a:t>
                </a:r>
                <a14:m>
                  <m:oMath xmlns:m="http://schemas.openxmlformats.org/officeDocument/2006/math">
                    <m:r>
                      <a:rPr lang="it-IT" sz="3150" b="1" i="1" dirty="0" smtClean="0">
                        <a:solidFill>
                          <a:srgbClr val="182D45"/>
                        </a:solidFill>
                        <a:latin typeface="Cambria Math" panose="02040503050406030204" pitchFamily="18" charset="0"/>
                        <a:ea typeface="DejaVu Sans"/>
                        <a:cs typeface="DejaVu Sans"/>
                      </a:rPr>
                      <m:t>𝜼</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r>
                      <a:rPr lang="it-IT" sz="3150" b="1" i="1" dirty="0" smtClean="0">
                        <a:solidFill>
                          <a:srgbClr val="182D45"/>
                        </a:solidFill>
                        <a:latin typeface="Cambria Math" panose="02040503050406030204" pitchFamily="18" charset="0"/>
                        <a:ea typeface="DejaVu Sans"/>
                        <a:cs typeface="DejaVu Sans"/>
                      </a:rPr>
                      <m:t>.</m:t>
                    </m:r>
                    <m:r>
                      <a:rPr lang="it-IT" sz="3150" b="1" i="1" dirty="0" smtClean="0">
                        <a:solidFill>
                          <a:srgbClr val="182D45"/>
                        </a:solidFill>
                        <a:latin typeface="Cambria Math" panose="02040503050406030204" pitchFamily="18" charset="0"/>
                        <a:ea typeface="DejaVu Sans"/>
                        <a:cs typeface="DejaVu Sans"/>
                      </a:rPr>
                      <m:t>𝟎𝟎𝟏</m:t>
                    </m:r>
                    <m:r>
                      <a:rPr lang="it-IT" sz="3150" b="1" i="1" dirty="0" smtClean="0">
                        <a:solidFill>
                          <a:srgbClr val="182D45"/>
                        </a:solidFill>
                        <a:latin typeface="Cambria Math" panose="02040503050406030204" pitchFamily="18" charset="0"/>
                        <a:ea typeface="DejaVu Sans"/>
                        <a:cs typeface="DejaVu Sans"/>
                      </a:rPr>
                      <m:t>, </m:t>
                    </m:r>
                    <m:r>
                      <a:rPr lang="it-IT" sz="3150" b="1" i="1" dirty="0" smtClean="0">
                        <a:solidFill>
                          <a:srgbClr val="182D45"/>
                        </a:solidFill>
                        <a:latin typeface="Cambria Math" panose="02040503050406030204" pitchFamily="18" charset="0"/>
                        <a:ea typeface="DejaVu Sans"/>
                        <a:cs typeface="DejaVu Sans"/>
                      </a:rPr>
                      <m:t>𝒕</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𝟐𝟎</m:t>
                    </m:r>
                  </m:oMath>
                </a14:m>
                <a:endParaRPr sz="3150" b="1" dirty="0">
                  <a:solidFill>
                    <a:srgbClr val="182D45"/>
                  </a:solidFill>
                  <a:latin typeface="DejaVu Sans"/>
                  <a:ea typeface="DejaVu Sans"/>
                  <a:cs typeface="DejaVu Sans"/>
                </a:endParaRPr>
              </a:p>
            </p:txBody>
          </p:sp>
        </mc:Choice>
        <mc:Fallback xmlns="">
          <p:sp>
            <p:nvSpPr>
              <p:cNvPr id="9" name="title">
                <a:extLst>
                  <a:ext uri="{FF2B5EF4-FFF2-40B4-BE49-F238E27FC236}">
                    <a16:creationId xmlns:a16="http://schemas.microsoft.com/office/drawing/2014/main" id="{123D8850-850C-4F52-B382-C2C48837992A}"/>
                  </a:ext>
                </a:extLst>
              </p:cNvPr>
              <p:cNvSpPr>
                <a:spLocks noGrp="1" noRot="1" noChangeAspect="1" noMove="1" noResize="1" noEditPoints="1" noAdjustHandles="1" noChangeArrowheads="1" noChangeShapeType="1" noTextEdit="1"/>
              </p:cNvSpPr>
              <p:nvPr/>
            </p:nvSpPr>
            <p:spPr>
              <a:xfrm>
                <a:off x="685800" y="333375"/>
                <a:ext cx="10820400" cy="666750"/>
              </a:xfrm>
              <a:prstGeom prst="rect">
                <a:avLst/>
              </a:prstGeom>
              <a:blipFill>
                <a:blip r:embed="rId3"/>
                <a:stretch>
                  <a:fillRect t="-4587" b="-2293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4F6F1E2F-B7DC-4F56-B09F-7B288AB64B9D}"/>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D2F5DDFF-E62E-4438-B914-C568B1215ADD}"/>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35</a:t>
            </a:r>
          </a:p>
        </p:txBody>
      </p:sp>
      <p:graphicFrame>
        <p:nvGraphicFramePr>
          <p:cNvPr id="13" name="step_0_chart_0"/>
          <p:cNvGraphicFramePr/>
          <p:nvPr/>
        </p:nvGraphicFramePr>
        <p:xfrm>
          <a:off x="552450" y="1981200"/>
          <a:ext cx="5657850" cy="3619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step_0_chart_1"/>
          <p:cNvGraphicFramePr/>
          <p:nvPr/>
        </p:nvGraphicFramePr>
        <p:xfrm>
          <a:off x="6581775" y="1981200"/>
          <a:ext cx="5000625" cy="361950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step_0_equation_2" descr="x_2=4.7255+0.0165x_1">
                <a:extLst>
                  <a:ext uri="{FF2B5EF4-FFF2-40B4-BE49-F238E27FC236}">
                    <a16:creationId xmlns:a16="http://schemas.microsoft.com/office/drawing/2014/main" id="{5DB5DC20-F941-4C46-B110-940FAB07CE04}"/>
                  </a:ext>
                </a:extLst>
              </p:cNvPr>
              <p:cNvSpPr>
                <a:spLocks noGrp="1"/>
              </p:cNvSpPr>
              <p:nvPr/>
            </p:nvSpPr>
            <p:spPr>
              <a:xfrm>
                <a:off x="571500" y="5638800"/>
                <a:ext cx="6000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=4.7255+0.0165</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1</m:t>
                          </m:r>
                        </m:sub>
                      </m:sSub>
                    </m:oMath>
                  </m:oMathPara>
                </a14:m>
                <a:endParaRPr lang="en-GB" sz="2400"/>
              </a:p>
            </p:txBody>
          </p:sp>
        </mc:Choice>
        <mc:Fallback xmlns="">
          <p:sp>
            <p:nvSpPr>
              <p:cNvPr id="7" name="step_0_equation_2" descr="x_2=4.7255+0.0165x_1">
                <a:extLst>
                  <a:ext uri="{FF2B5EF4-FFF2-40B4-BE49-F238E27FC236}">
                    <a16:creationId xmlns:a16="http://schemas.microsoft.com/office/drawing/2014/main" id="{5DB5DC20-F941-4C46-B110-940FAB07CE04}"/>
                  </a:ext>
                </a:extLst>
              </p:cNvPr>
              <p:cNvSpPr>
                <a:spLocks noGrp="1" noRot="1" noChangeAspect="1" noMove="1" noResize="1" noEditPoints="1" noAdjustHandles="1" noChangeArrowheads="1" noChangeShapeType="1" noTextEdit="1"/>
              </p:cNvSpPr>
              <p:nvPr/>
            </p:nvSpPr>
            <p:spPr>
              <a:xfrm>
                <a:off x="571500" y="5638800"/>
                <a:ext cx="6000750" cy="619125"/>
              </a:xfrm>
              <a:prstGeom prst="rect">
                <a:avLst/>
              </a:prstGeom>
              <a:blipFill>
                <a:blip r:embed="rId6"/>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AF58B8EC-4128-4CE8-BC81-E8DB9E71FA5A}"/>
              </a:ext>
            </a:extLst>
          </p:cNvPr>
          <p:cNvSpPr>
            <a:spLocks noGrp="1"/>
          </p:cNvSpPr>
          <p:nvPr/>
        </p:nvSpPr>
        <p:spPr>
          <a:xfrm>
            <a:off x="6762750" y="5829300"/>
            <a:ext cx="4714875" cy="552450"/>
          </a:xfrm>
          <a:prstGeom prst="rect">
            <a:avLst/>
          </a:prstGeom>
          <a:noFill/>
          <a:ln w="0">
            <a:noFill/>
          </a:ln>
        </p:spPr>
        <p:txBody>
          <a:bodyPr wrap="square" lIns="0" tIns="0" rIns="0" bIns="0" anchor="ctr">
            <a:noAutofit/>
          </a:bodyPr>
          <a:lstStyle/>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Logistic loss: 39.992</a:t>
            </a:r>
          </a:p>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Mistakes: 7 of 100</a:t>
            </a:r>
          </a:p>
        </p:txBody>
      </p:sp>
      <p:sp>
        <p:nvSpPr>
          <p:cNvPr id="15" name="decision_region_class1">
            <a:extLst>
              <a:ext uri="{FF2B5EF4-FFF2-40B4-BE49-F238E27FC236}">
                <a16:creationId xmlns:a16="http://schemas.microsoft.com/office/drawing/2014/main" id="{23D008B2-B24F-4A8F-B3DB-85F650847D68}"/>
              </a:ext>
            </a:extLst>
          </p:cNvPr>
          <p:cNvSpPr>
            <a:spLocks noGrp="1"/>
          </p:cNvSpPr>
          <p:nvPr/>
        </p:nvSpPr>
        <p:spPr>
          <a:xfrm>
            <a:off x="1701166" y="2136204"/>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6" name="decision_region_class0">
            <a:extLst>
              <a:ext uri="{FF2B5EF4-FFF2-40B4-BE49-F238E27FC236}">
                <a16:creationId xmlns:a16="http://schemas.microsoft.com/office/drawing/2014/main" id="{9360ADD5-47C7-4778-A4B9-7E0D26703D56}"/>
              </a:ext>
            </a:extLst>
          </p:cNvPr>
          <p:cNvSpPr>
            <a:spLocks noGrp="1"/>
          </p:cNvSpPr>
          <p:nvPr/>
        </p:nvSpPr>
        <p:spPr>
          <a:xfrm>
            <a:off x="1701166" y="4134612"/>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
        <p:nvSpPr>
          <p:cNvPr id="2" name="coefficient_label">
            <a:extLst>
              <a:ext uri="{FF2B5EF4-FFF2-40B4-BE49-F238E27FC236}">
                <a16:creationId xmlns:a16="http://schemas.microsoft.com/office/drawing/2014/main" id="{CBD5B8BE-7E27-4F99-A9B6-007000747C5C}"/>
              </a:ext>
            </a:extLst>
          </p:cNvPr>
          <p:cNvSpPr>
            <a:spLocks noGrp="1"/>
          </p:cNvSpPr>
          <p:nvPr/>
        </p:nvSpPr>
        <p:spPr>
          <a:xfrm>
            <a:off x="723900" y="1181100"/>
            <a:ext cx="1841500" cy="609600"/>
          </a:xfrm>
          <a:prstGeom prst="rect">
            <a:avLst/>
          </a:prstGeom>
          <a:noFill/>
          <a:ln w="0">
            <a:noFill/>
          </a:ln>
        </p:spPr>
        <p:txBody>
          <a:bodyPr wrap="square" lIns="0" tIns="0" rIns="0" bIns="0" anchor="ctr">
            <a:noAutofit/>
          </a:bodyPr>
          <a:lstStyle/>
          <a:p>
            <a:pPr algn="l">
              <a:lnSpc>
                <a:spcPct val="110000"/>
              </a:lnSpc>
              <a:buNone/>
              <a:defRPr sz="2250" b="0">
                <a:solidFill>
                  <a:srgbClr val="526276"/>
                </a:solidFill>
                <a:latin typeface="DejaVu Sans"/>
                <a:ea typeface="DejaVu Sans"/>
                <a:cs typeface="DejaVu Sans"/>
              </a:defRPr>
            </a:pPr>
            <a:r>
              <a:rPr sz="2250" b="0">
                <a:solidFill>
                  <a:srgbClr val="526276"/>
                </a:solidFill>
                <a:latin typeface="DejaVu Sans"/>
                <a:ea typeface="DejaVu Sans"/>
                <a:cs typeface="DejaVu Sans"/>
              </a:rPr>
              <a:t>Coefficients:</a:t>
            </a:r>
          </a:p>
        </p:txBody>
      </p:sp>
      <mc:AlternateContent xmlns:mc="http://schemas.openxmlformats.org/markup-compatibility/2006" xmlns:a14="http://schemas.microsoft.com/office/drawing/2010/main">
        <mc:Choice Requires="a14">
          <p:sp>
            <p:nvSpPr>
              <p:cNvPr id="17" name="coefficient_b" descr="b^{(20)}\approx -5.771210">
                <a:extLst>
                  <a:ext uri="{FF2B5EF4-FFF2-40B4-BE49-F238E27FC236}">
                    <a16:creationId xmlns:a16="http://schemas.microsoft.com/office/drawing/2014/main" id="{B335923C-8F2B-4757-AC95-E76CA7E98A4B}"/>
                  </a:ext>
                </a:extLst>
              </p:cNvPr>
              <p:cNvSpPr>
                <a:spLocks noGrp="1"/>
              </p:cNvSpPr>
              <p:nvPr/>
            </p:nvSpPr>
            <p:spPr>
              <a:xfrm>
                <a:off x="2692400" y="1162050"/>
                <a:ext cx="2921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𝑏</m:t>
                          </m:r>
                        </m:e>
                        <m:sup>
                          <m:r>
                            <a:rPr lang="en-GB" sz="2500">
                              <a:solidFill>
                                <a:srgbClr val="087F83"/>
                              </a:solidFill>
                              <a:latin typeface="Cambria Math"/>
                              <a:ea typeface="Cambria Math"/>
                              <a:cs typeface="Cambria Math"/>
                            </a:rPr>
                            <m:t>(20)</m:t>
                          </m:r>
                        </m:sup>
                      </m:sSup>
                      <m:r>
                        <a:rPr lang="en-GB" sz="2500">
                          <a:solidFill>
                            <a:srgbClr val="087F83"/>
                          </a:solidFill>
                          <a:latin typeface="Cambria Math"/>
                          <a:ea typeface="Cambria Math"/>
                          <a:cs typeface="Cambria Math"/>
                        </a:rPr>
                        <m:t>≈−5.771210</m:t>
                      </m:r>
                    </m:oMath>
                  </m:oMathPara>
                </a14:m>
                <a:endParaRPr lang="en-GB" sz="2500"/>
              </a:p>
            </p:txBody>
          </p:sp>
        </mc:Choice>
        <mc:Fallback xmlns="">
          <p:sp>
            <p:nvSpPr>
              <p:cNvPr id="17" name="coefficient_b" descr="b^{(20)}\approx -5.771210">
                <a:extLst>
                  <a:ext uri="{FF2B5EF4-FFF2-40B4-BE49-F238E27FC236}">
                    <a16:creationId xmlns:a16="http://schemas.microsoft.com/office/drawing/2014/main" id="{B335923C-8F2B-4757-AC95-E76CA7E98A4B}"/>
                  </a:ext>
                </a:extLst>
              </p:cNvPr>
              <p:cNvSpPr>
                <a:spLocks noGrp="1" noRot="1" noChangeAspect="1" noMove="1" noResize="1" noEditPoints="1" noAdjustHandles="1" noChangeArrowheads="1" noChangeShapeType="1" noTextEdit="1"/>
              </p:cNvSpPr>
              <p:nvPr/>
            </p:nvSpPr>
            <p:spPr>
              <a:xfrm>
                <a:off x="2692400" y="1162050"/>
                <a:ext cx="2921000" cy="6477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coefficient_w1" descr="w_1^{(20)}\approx -0.020164">
                <a:extLst>
                  <a:ext uri="{FF2B5EF4-FFF2-40B4-BE49-F238E27FC236}">
                    <a16:creationId xmlns:a16="http://schemas.microsoft.com/office/drawing/2014/main" id="{C3DFF33D-4847-4BA1-810C-E87A035142F1}"/>
                  </a:ext>
                </a:extLst>
              </p:cNvPr>
              <p:cNvSpPr>
                <a:spLocks noGrp="1"/>
              </p:cNvSpPr>
              <p:nvPr/>
            </p:nvSpPr>
            <p:spPr>
              <a:xfrm>
                <a:off x="5778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(20)</m:t>
                          </m:r>
                        </m:sup>
                      </m:sSubSup>
                      <m:r>
                        <a:rPr lang="en-GB" sz="2500">
                          <a:solidFill>
                            <a:srgbClr val="087F83"/>
                          </a:solidFill>
                          <a:latin typeface="Cambria Math"/>
                          <a:ea typeface="Cambria Math"/>
                          <a:cs typeface="Cambria Math"/>
                        </a:rPr>
                        <m:t>≈−0.020164</m:t>
                      </m:r>
                    </m:oMath>
                  </m:oMathPara>
                </a14:m>
                <a:endParaRPr lang="en-GB" sz="2500"/>
              </a:p>
            </p:txBody>
          </p:sp>
        </mc:Choice>
        <mc:Fallback xmlns="">
          <p:sp>
            <p:nvSpPr>
              <p:cNvPr id="18" name="coefficient_w1" descr="w_1^{(20)}\approx -0.020164">
                <a:extLst>
                  <a:ext uri="{FF2B5EF4-FFF2-40B4-BE49-F238E27FC236}">
                    <a16:creationId xmlns:a16="http://schemas.microsoft.com/office/drawing/2014/main" id="{C3DFF33D-4847-4BA1-810C-E87A035142F1}"/>
                  </a:ext>
                </a:extLst>
              </p:cNvPr>
              <p:cNvSpPr>
                <a:spLocks noGrp="1" noRot="1" noChangeAspect="1" noMove="1" noResize="1" noEditPoints="1" noAdjustHandles="1" noChangeArrowheads="1" noChangeShapeType="1" noTextEdit="1"/>
              </p:cNvSpPr>
              <p:nvPr/>
            </p:nvSpPr>
            <p:spPr>
              <a:xfrm>
                <a:off x="5778500" y="1162050"/>
                <a:ext cx="2794000" cy="64770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coefficient_w2" descr="w_2^{(20)}\approx 1.221302">
                <a:extLst>
                  <a:ext uri="{FF2B5EF4-FFF2-40B4-BE49-F238E27FC236}">
                    <a16:creationId xmlns:a16="http://schemas.microsoft.com/office/drawing/2014/main" id="{0D99895B-2F5F-4F02-A291-D9566AFE4DA7}"/>
                  </a:ext>
                </a:extLst>
              </p:cNvPr>
              <p:cNvSpPr>
                <a:spLocks noGrp="1"/>
              </p:cNvSpPr>
              <p:nvPr/>
            </p:nvSpPr>
            <p:spPr>
              <a:xfrm>
                <a:off x="8699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2</m:t>
                          </m:r>
                        </m:sub>
                        <m:sup>
                          <m:r>
                            <a:rPr lang="en-GB" sz="2500">
                              <a:solidFill>
                                <a:srgbClr val="087F83"/>
                              </a:solidFill>
                              <a:latin typeface="Cambria Math"/>
                              <a:ea typeface="Cambria Math"/>
                              <a:cs typeface="Cambria Math"/>
                            </a:rPr>
                            <m:t>(20)</m:t>
                          </m:r>
                        </m:sup>
                      </m:sSubSup>
                      <m:r>
                        <a:rPr lang="en-GB" sz="2500">
                          <a:solidFill>
                            <a:srgbClr val="087F83"/>
                          </a:solidFill>
                          <a:latin typeface="Cambria Math"/>
                          <a:ea typeface="Cambria Math"/>
                          <a:cs typeface="Cambria Math"/>
                        </a:rPr>
                        <m:t>≈1.221302</m:t>
                      </m:r>
                    </m:oMath>
                  </m:oMathPara>
                </a14:m>
                <a:endParaRPr lang="en-GB" sz="2500"/>
              </a:p>
            </p:txBody>
          </p:sp>
        </mc:Choice>
        <mc:Fallback xmlns="">
          <p:sp>
            <p:nvSpPr>
              <p:cNvPr id="19" name="coefficient_w2" descr="w_2^{(20)}\approx 1.221302">
                <a:extLst>
                  <a:ext uri="{FF2B5EF4-FFF2-40B4-BE49-F238E27FC236}">
                    <a16:creationId xmlns:a16="http://schemas.microsoft.com/office/drawing/2014/main" id="{0D99895B-2F5F-4F02-A291-D9566AFE4DA7}"/>
                  </a:ext>
                </a:extLst>
              </p:cNvPr>
              <p:cNvSpPr>
                <a:spLocks noGrp="1" noRot="1" noChangeAspect="1" noMove="1" noResize="1" noEditPoints="1" noAdjustHandles="1" noChangeArrowheads="1" noChangeShapeType="1" noTextEdit="1"/>
              </p:cNvSpPr>
              <p:nvPr/>
            </p:nvSpPr>
            <p:spPr>
              <a:xfrm>
                <a:off x="8699500" y="1162050"/>
                <a:ext cx="2794000" cy="64770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915330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E47325DC-2A3B-47CE-9BFD-67A4DD72AD5C}"/>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The loss can fall while mistakes increase</a:t>
            </a:r>
          </a:p>
        </p:txBody>
      </p:sp>
      <p:sp>
        <p:nvSpPr>
          <p:cNvPr id="2" name="lead">
            <a:extLst>
              <a:ext uri="{FF2B5EF4-FFF2-40B4-BE49-F238E27FC236}">
                <a16:creationId xmlns:a16="http://schemas.microsoft.com/office/drawing/2014/main" id="{A8809847-FF30-4CCD-97F6-01CAFD2207BD}"/>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The same planar run shows the limitation of the surrogate.</a:t>
            </a:r>
          </a:p>
        </p:txBody>
      </p:sp>
      <p:sp>
        <p:nvSpPr>
          <p:cNvPr id="3" name="footer_course">
            <a:extLst>
              <a:ext uri="{FF2B5EF4-FFF2-40B4-BE49-F238E27FC236}">
                <a16:creationId xmlns:a16="http://schemas.microsoft.com/office/drawing/2014/main" id="{70B3614A-8B52-4E03-BC1D-65AD2383D833}"/>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E5CB910C-CDE6-44C9-8D71-B07D35036576}"/>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36</a:t>
            </a:r>
          </a:p>
        </p:txBody>
      </p:sp>
      <p:graphicFrame>
        <p:nvGraphicFramePr>
          <p:cNvPr id="13" name="step_0_chart_0"/>
          <p:cNvGraphicFramePr/>
          <p:nvPr/>
        </p:nvGraphicFramePr>
        <p:xfrm>
          <a:off x="523875" y="2057400"/>
          <a:ext cx="6743700" cy="36385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step_1_table_1"/>
          <p:cNvGraphicFramePr/>
          <p:nvPr/>
        </p:nvGraphicFramePr>
        <p:xfrm>
          <a:off x="7781925" y="2543175"/>
          <a:ext cx="3619500" cy="1722120"/>
        </p:xfrm>
        <a:graphic>
          <a:graphicData uri="http://schemas.openxmlformats.org/drawingml/2006/table">
            <a:tbl>
              <a:tblPr/>
              <a:tblGrid>
                <a:gridCol w="91440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085850">
                  <a:extLst>
                    <a:ext uri="{9D8B030D-6E8A-4147-A177-3AD203B41FA5}">
                      <a16:colId xmlns:a16="http://schemas.microsoft.com/office/drawing/2014/main" val="20002"/>
                    </a:ext>
                  </a:extLst>
                </a:gridCol>
              </a:tblGrid>
              <a:tr h="552450">
                <a:tc>
                  <a:txBody>
                    <a:bodyPr/>
                    <a:lstStyle/>
                    <a:p>
                      <a:pPr algn="ctr"/>
                      <a:r>
                        <a:rPr sz="1725" b="1">
                          <a:solidFill>
                            <a:srgbClr val="182D45"/>
                          </a:solidFill>
                          <a:latin typeface="DejaVu Sans"/>
                          <a:ea typeface="DejaVu Sans"/>
                          <a:cs typeface="DejaVu Sans"/>
                        </a:rPr>
                        <a:t>Step</a:t>
                      </a:r>
                    </a:p>
                  </a:txBody>
                  <a:tcPr anchor="ctr">
                    <a:solidFill>
                      <a:srgbClr val="EDF3F6"/>
                    </a:solidFill>
                  </a:tcPr>
                </a:tc>
                <a:tc>
                  <a:txBody>
                    <a:bodyPr/>
                    <a:lstStyle/>
                    <a:p>
                      <a:pPr algn="ctr"/>
                      <a:r>
                        <a:rPr sz="1725" b="1">
                          <a:solidFill>
                            <a:srgbClr val="182D45"/>
                          </a:solidFill>
                          <a:latin typeface="DejaVu Sans"/>
                          <a:ea typeface="DejaVu Sans"/>
                          <a:cs typeface="DejaVu Sans"/>
                        </a:rPr>
                        <a:t>Logistic loss</a:t>
                      </a:r>
                    </a:p>
                  </a:txBody>
                  <a:tcPr anchor="ctr">
                    <a:solidFill>
                      <a:srgbClr val="EDF3F6"/>
                    </a:solidFill>
                  </a:tcPr>
                </a:tc>
                <a:tc>
                  <a:txBody>
                    <a:bodyPr/>
                    <a:lstStyle/>
                    <a:p>
                      <a:pPr algn="ctr"/>
                      <a:r>
                        <a:rPr sz="1725" b="1">
                          <a:solidFill>
                            <a:srgbClr val="182D45"/>
                          </a:solidFill>
                          <a:latin typeface="DejaVu Sans"/>
                          <a:ea typeface="DejaVu Sans"/>
                          <a:cs typeface="DejaVu Sans"/>
                        </a:rPr>
                        <a:t>Errors</a:t>
                      </a:r>
                    </a:p>
                  </a:txBody>
                  <a:tcPr anchor="ctr">
                    <a:solidFill>
                      <a:srgbClr val="EDF3F6"/>
                    </a:solidFill>
                  </a:tcPr>
                </a:tc>
                <a:extLst>
                  <a:ext uri="{0D108BD9-81ED-4DB2-BD59-A6C34878D82A}">
                    <a16:rowId xmlns:a16="http://schemas.microsoft.com/office/drawing/2014/main" val="10000"/>
                  </a:ext>
                </a:extLst>
              </a:tr>
              <a:tr h="552450">
                <a:tc>
                  <a:txBody>
                    <a:bodyPr/>
                    <a:lstStyle/>
                    <a:p>
                      <a:pPr algn="ctr"/>
                      <a:r>
                        <a:rPr sz="1725" b="0">
                          <a:solidFill>
                            <a:srgbClr val="182D45"/>
                          </a:solidFill>
                          <a:latin typeface="DejaVu Sans"/>
                          <a:ea typeface="DejaVu Sans"/>
                          <a:cs typeface="DejaVu Sans"/>
                        </a:rPr>
                        <a:t>3</a:t>
                      </a:r>
                    </a:p>
                  </a:txBody>
                  <a:tcPr anchor="ctr">
                    <a:solidFill>
                      <a:srgbClr val="FFFFFF"/>
                    </a:solidFill>
                  </a:tcPr>
                </a:tc>
                <a:tc>
                  <a:txBody>
                    <a:bodyPr/>
                    <a:lstStyle/>
                    <a:p>
                      <a:pPr algn="ctr"/>
                      <a:r>
                        <a:rPr sz="1725" b="0">
                          <a:solidFill>
                            <a:srgbClr val="182D45"/>
                          </a:solidFill>
                          <a:latin typeface="DejaVu Sans"/>
                          <a:ea typeface="DejaVu Sans"/>
                          <a:cs typeface="DejaVu Sans"/>
                        </a:rPr>
                        <a:t>41.4948</a:t>
                      </a:r>
                    </a:p>
                  </a:txBody>
                  <a:tcPr anchor="ctr">
                    <a:solidFill>
                      <a:srgbClr val="FFFFFF"/>
                    </a:solidFill>
                  </a:tcPr>
                </a:tc>
                <a:tc>
                  <a:txBody>
                    <a:bodyPr/>
                    <a:lstStyle/>
                    <a:p>
                      <a:pPr algn="ctr"/>
                      <a:r>
                        <a:rPr sz="1725" b="0">
                          <a:solidFill>
                            <a:srgbClr val="182D45"/>
                          </a:solidFill>
                          <a:latin typeface="DejaVu Sans"/>
                          <a:ea typeface="DejaVu Sans"/>
                          <a:cs typeface="DejaVu Sans"/>
                        </a:rPr>
                        <a:t>7</a:t>
                      </a:r>
                    </a:p>
                  </a:txBody>
                  <a:tcPr anchor="ctr">
                    <a:solidFill>
                      <a:srgbClr val="FFFFFF"/>
                    </a:solidFill>
                  </a:tcPr>
                </a:tc>
                <a:extLst>
                  <a:ext uri="{0D108BD9-81ED-4DB2-BD59-A6C34878D82A}">
                    <a16:rowId xmlns:a16="http://schemas.microsoft.com/office/drawing/2014/main" val="10001"/>
                  </a:ext>
                </a:extLst>
              </a:tr>
              <a:tr h="552450">
                <a:tc>
                  <a:txBody>
                    <a:bodyPr/>
                    <a:lstStyle/>
                    <a:p>
                      <a:pPr algn="ctr"/>
                      <a:r>
                        <a:rPr sz="1725" b="0">
                          <a:solidFill>
                            <a:srgbClr val="182D45"/>
                          </a:solidFill>
                          <a:latin typeface="DejaVu Sans"/>
                          <a:ea typeface="DejaVu Sans"/>
                          <a:cs typeface="DejaVu Sans"/>
                        </a:rPr>
                        <a:t>4</a:t>
                      </a:r>
                    </a:p>
                  </a:txBody>
                  <a:tcPr anchor="ctr">
                    <a:solidFill>
                      <a:srgbClr val="FFFFFF"/>
                    </a:solidFill>
                  </a:tcPr>
                </a:tc>
                <a:tc>
                  <a:txBody>
                    <a:bodyPr/>
                    <a:lstStyle/>
                    <a:p>
                      <a:pPr algn="ctr"/>
                      <a:r>
                        <a:rPr sz="1725" b="0">
                          <a:solidFill>
                            <a:srgbClr val="182D45"/>
                          </a:solidFill>
                          <a:latin typeface="DejaVu Sans"/>
                          <a:ea typeface="DejaVu Sans"/>
                          <a:cs typeface="DejaVu Sans"/>
                        </a:rPr>
                        <a:t>41.3932</a:t>
                      </a:r>
                    </a:p>
                  </a:txBody>
                  <a:tcPr anchor="ctr">
                    <a:solidFill>
                      <a:srgbClr val="FFFFFF"/>
                    </a:solidFill>
                  </a:tcPr>
                </a:tc>
                <a:tc>
                  <a:txBody>
                    <a:bodyPr/>
                    <a:lstStyle/>
                    <a:p>
                      <a:pPr algn="ctr"/>
                      <a:r>
                        <a:rPr sz="1725" b="0">
                          <a:solidFill>
                            <a:srgbClr val="182D45"/>
                          </a:solidFill>
                          <a:latin typeface="DejaVu Sans"/>
                          <a:ea typeface="DejaVu Sans"/>
                          <a:cs typeface="DejaVu Sans"/>
                        </a:rPr>
                        <a:t>8</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7" name="step_2_text_2">
            <a:extLst>
              <a:ext uri="{FF2B5EF4-FFF2-40B4-BE49-F238E27FC236}">
                <a16:creationId xmlns:a16="http://schemas.microsoft.com/office/drawing/2014/main" id="{B6651FEA-813A-422F-8952-0959C7D52423}"/>
              </a:ext>
            </a:extLst>
          </p:cNvPr>
          <p:cNvSpPr>
            <a:spLocks noGrp="1"/>
          </p:cNvSpPr>
          <p:nvPr/>
        </p:nvSpPr>
        <p:spPr>
          <a:xfrm>
            <a:off x="7781925" y="4610100"/>
            <a:ext cx="3619500" cy="1143000"/>
          </a:xfrm>
          <a:prstGeom prst="rect">
            <a:avLst/>
          </a:prstGeom>
          <a:noFill/>
          <a:ln w="0">
            <a:noFill/>
          </a:ln>
        </p:spPr>
        <p:txBody>
          <a:bodyPr wrap="square" lIns="0" tIns="0" rIns="0" bIns="0" anchor="ctr">
            <a:noAutofit/>
          </a:bodyPr>
          <a:lstStyle/>
          <a:p>
            <a:pPr algn="l">
              <a:lnSpc>
                <a:spcPct val="112000"/>
              </a:lnSpc>
              <a:buNone/>
              <a:defRPr sz="2100" b="1">
                <a:solidFill>
                  <a:srgbClr val="182D45"/>
                </a:solidFill>
                <a:latin typeface="DejaVu Sans"/>
                <a:ea typeface="DejaVu Sans"/>
                <a:cs typeface="DejaVu Sans"/>
              </a:defRPr>
            </a:pPr>
            <a:r>
              <a:rPr lang="it-IT" sz="2100" b="1" dirty="0">
                <a:solidFill>
                  <a:srgbClr val="182D45"/>
                </a:solidFill>
                <a:latin typeface="DejaVu Sans"/>
                <a:ea typeface="DejaVu Sans"/>
                <a:cs typeface="DejaVu Sans"/>
              </a:rPr>
              <a:t>Of </a:t>
            </a:r>
            <a:r>
              <a:rPr lang="it-IT" sz="2100" b="1" dirty="0" err="1">
                <a:solidFill>
                  <a:srgbClr val="182D45"/>
                </a:solidFill>
                <a:latin typeface="DejaVu Sans"/>
                <a:ea typeface="DejaVu Sans"/>
                <a:cs typeface="DejaVu Sans"/>
              </a:rPr>
              <a:t>course</a:t>
            </a:r>
            <a:r>
              <a:rPr lang="it-IT" sz="2100" b="1" dirty="0">
                <a:solidFill>
                  <a:srgbClr val="182D45"/>
                </a:solidFill>
                <a:latin typeface="DejaVu Sans"/>
                <a:ea typeface="DejaVu Sans"/>
                <a:cs typeface="DejaVu Sans"/>
              </a:rPr>
              <a:t>: t</a:t>
            </a:r>
            <a:r>
              <a:rPr sz="2100" b="1" dirty="0">
                <a:solidFill>
                  <a:srgbClr val="182D45"/>
                </a:solidFill>
                <a:latin typeface="DejaVu Sans"/>
                <a:ea typeface="DejaVu Sans"/>
                <a:cs typeface="DejaVu Sans"/>
              </a:rPr>
              <a:t>he bound still holds</a:t>
            </a:r>
            <a:r>
              <a:rPr lang="it-IT" sz="2100" b="1" dirty="0">
                <a:solidFill>
                  <a:srgbClr val="182D45"/>
                </a:solidFill>
                <a:latin typeface="DejaVu Sans"/>
                <a:ea typeface="DejaVu Sans"/>
                <a:cs typeface="DejaVu Sans"/>
              </a:rPr>
              <a:t> </a:t>
            </a:r>
            <a:r>
              <a:rPr sz="2100" b="1" dirty="0">
                <a:solidFill>
                  <a:srgbClr val="182D45"/>
                </a:solidFill>
                <a:latin typeface="DejaVu Sans"/>
                <a:ea typeface="DejaVu Sans"/>
                <a:cs typeface="DejaVu Sans"/>
              </a:rPr>
              <a:t>at both parameter choices.</a:t>
            </a:r>
          </a:p>
        </p:txBody>
      </p:sp>
      <p:sp>
        <p:nvSpPr>
          <p:cNvPr id="8" name="step_2_text_3">
            <a:extLst>
              <a:ext uri="{FF2B5EF4-FFF2-40B4-BE49-F238E27FC236}">
                <a16:creationId xmlns:a16="http://schemas.microsoft.com/office/drawing/2014/main" id="{73750582-3773-4796-8D8C-02715EE25026}"/>
              </a:ext>
            </a:extLst>
          </p:cNvPr>
          <p:cNvSpPr>
            <a:spLocks noGrp="1"/>
          </p:cNvSpPr>
          <p:nvPr/>
        </p:nvSpPr>
        <p:spPr>
          <a:xfrm>
            <a:off x="723900" y="5972175"/>
            <a:ext cx="10744200" cy="476250"/>
          </a:xfrm>
          <a:prstGeom prst="rect">
            <a:avLst/>
          </a:prstGeom>
          <a:noFill/>
          <a:ln w="0">
            <a:noFill/>
          </a:ln>
        </p:spPr>
        <p:txBody>
          <a:bodyPr wrap="square" lIns="0" tIns="0" rIns="0" bIns="0" anchor="ctr">
            <a:noAutofit/>
          </a:bodyPr>
          <a:lstStyle/>
          <a:p>
            <a:pPr algn="ctr">
              <a:lnSpc>
                <a:spcPct val="112000"/>
              </a:lnSpc>
              <a:buNone/>
              <a:defRPr sz="1950" b="0">
                <a:solidFill>
                  <a:srgbClr val="087F83"/>
                </a:solidFill>
                <a:latin typeface="DejaVu Sans"/>
                <a:ea typeface="DejaVu Sans"/>
                <a:cs typeface="DejaVu Sans"/>
              </a:defRPr>
            </a:pPr>
            <a:r>
              <a:rPr sz="1950" b="0" dirty="0">
                <a:solidFill>
                  <a:srgbClr val="087F83"/>
                </a:solidFill>
                <a:latin typeface="DejaVu Sans"/>
                <a:ea typeface="DejaVu Sans"/>
                <a:cs typeface="DejaVu Sans"/>
              </a:rPr>
              <a:t>Logistic loss can decrease even when the mistake count increases.</a:t>
            </a:r>
          </a:p>
        </p:txBody>
      </p:sp>
    </p:spTree>
    <p:extLst>
      <p:ext uri="{BB962C8B-B14F-4D97-AF65-F5344CB8AC3E}">
        <p14:creationId xmlns:p14="http://schemas.microsoft.com/office/powerpoint/2010/main" val="13087471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a:extLst>
                  <a:ext uri="{FF2B5EF4-FFF2-40B4-BE49-F238E27FC236}">
                    <a16:creationId xmlns:a16="http://schemas.microsoft.com/office/drawing/2014/main" id="{EC11CCFD-18A4-4A29-8CD2-AD6FF084690E}"/>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Gradient descent: </a:t>
                </a:r>
                <a14:m>
                  <m:oMath xmlns:m="http://schemas.openxmlformats.org/officeDocument/2006/math">
                    <m:r>
                      <a:rPr lang="it-IT" sz="3150" b="1" i="1" dirty="0" smtClean="0">
                        <a:solidFill>
                          <a:srgbClr val="182D45"/>
                        </a:solidFill>
                        <a:latin typeface="Cambria Math" panose="02040503050406030204" pitchFamily="18" charset="0"/>
                        <a:ea typeface="DejaVu Sans"/>
                        <a:cs typeface="DejaVu Sans"/>
                      </a:rPr>
                      <m:t>𝜼</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r>
                      <a:rPr lang="it-IT" sz="3150" b="1" i="1" dirty="0" smtClean="0">
                        <a:solidFill>
                          <a:srgbClr val="182D45"/>
                        </a:solidFill>
                        <a:latin typeface="Cambria Math" panose="02040503050406030204" pitchFamily="18" charset="0"/>
                        <a:ea typeface="DejaVu Sans"/>
                        <a:cs typeface="DejaVu Sans"/>
                      </a:rPr>
                      <m:t>.</m:t>
                    </m:r>
                    <m:r>
                      <a:rPr lang="it-IT" sz="3150" b="1" i="1" dirty="0" smtClean="0">
                        <a:solidFill>
                          <a:srgbClr val="182D45"/>
                        </a:solidFill>
                        <a:latin typeface="Cambria Math" panose="02040503050406030204" pitchFamily="18" charset="0"/>
                        <a:ea typeface="DejaVu Sans"/>
                        <a:cs typeface="DejaVu Sans"/>
                      </a:rPr>
                      <m:t>𝟎𝟎𝟐</m:t>
                    </m:r>
                    <m:r>
                      <a:rPr lang="it-IT" sz="3150" b="1" i="1" dirty="0" smtClean="0">
                        <a:solidFill>
                          <a:srgbClr val="182D45"/>
                        </a:solidFill>
                        <a:latin typeface="Cambria Math" panose="02040503050406030204" pitchFamily="18" charset="0"/>
                        <a:ea typeface="DejaVu Sans"/>
                        <a:cs typeface="DejaVu Sans"/>
                      </a:rPr>
                      <m:t>, </m:t>
                    </m:r>
                    <m:r>
                      <a:rPr lang="it-IT" sz="3150" b="1" i="1" dirty="0" smtClean="0">
                        <a:solidFill>
                          <a:srgbClr val="182D45"/>
                        </a:solidFill>
                        <a:latin typeface="Cambria Math" panose="02040503050406030204" pitchFamily="18" charset="0"/>
                        <a:ea typeface="DejaVu Sans"/>
                        <a:cs typeface="DejaVu Sans"/>
                      </a:rPr>
                      <m:t>𝒕</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oMath>
                </a14:m>
                <a:endParaRPr sz="3150" b="1" dirty="0">
                  <a:solidFill>
                    <a:srgbClr val="182D45"/>
                  </a:solidFill>
                  <a:latin typeface="DejaVu Sans"/>
                  <a:ea typeface="DejaVu Sans"/>
                  <a:cs typeface="DejaVu Sans"/>
                </a:endParaRPr>
              </a:p>
            </p:txBody>
          </p:sp>
        </mc:Choice>
        <mc:Fallback xmlns="">
          <p:sp>
            <p:nvSpPr>
              <p:cNvPr id="9" name="title">
                <a:extLst>
                  <a:ext uri="{FF2B5EF4-FFF2-40B4-BE49-F238E27FC236}">
                    <a16:creationId xmlns:a16="http://schemas.microsoft.com/office/drawing/2014/main" id="{EC11CCFD-18A4-4A29-8CD2-AD6FF084690E}"/>
                  </a:ext>
                </a:extLst>
              </p:cNvPr>
              <p:cNvSpPr>
                <a:spLocks noGrp="1" noRot="1" noChangeAspect="1" noMove="1" noResize="1" noEditPoints="1" noAdjustHandles="1" noChangeArrowheads="1" noChangeShapeType="1" noTextEdit="1"/>
              </p:cNvSpPr>
              <p:nvPr/>
            </p:nvSpPr>
            <p:spPr>
              <a:xfrm>
                <a:off x="685800" y="333375"/>
                <a:ext cx="10820400" cy="666750"/>
              </a:xfrm>
              <a:prstGeom prst="rect">
                <a:avLst/>
              </a:prstGeom>
              <a:blipFill>
                <a:blip r:embed="rId3"/>
                <a:stretch>
                  <a:fillRect t="-4587" b="-2293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ECE47EE2-2AFD-4F71-AF5F-A9B80B2EA7EF}"/>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E6C26390-F8D7-418F-B46D-DB90238FF619}"/>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37</a:t>
            </a:r>
          </a:p>
        </p:txBody>
      </p:sp>
      <p:graphicFrame>
        <p:nvGraphicFramePr>
          <p:cNvPr id="13" name="step_0_chart_0"/>
          <p:cNvGraphicFramePr/>
          <p:nvPr/>
        </p:nvGraphicFramePr>
        <p:xfrm>
          <a:off x="552450" y="1981200"/>
          <a:ext cx="5657850" cy="3619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step_0_chart_1"/>
          <p:cNvGraphicFramePr/>
          <p:nvPr/>
        </p:nvGraphicFramePr>
        <p:xfrm>
          <a:off x="6581775" y="1981200"/>
          <a:ext cx="5000625" cy="361950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step_0_equation_2" descr="x_2=5.7500+0.0000x_1">
                <a:extLst>
                  <a:ext uri="{FF2B5EF4-FFF2-40B4-BE49-F238E27FC236}">
                    <a16:creationId xmlns:a16="http://schemas.microsoft.com/office/drawing/2014/main" id="{D4CCF2DA-0C42-4529-906F-8C24E798C173}"/>
                  </a:ext>
                </a:extLst>
              </p:cNvPr>
              <p:cNvSpPr>
                <a:spLocks noGrp="1"/>
              </p:cNvSpPr>
              <p:nvPr/>
            </p:nvSpPr>
            <p:spPr>
              <a:xfrm>
                <a:off x="571500" y="5638800"/>
                <a:ext cx="6000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=5.7500+0.0000</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1</m:t>
                          </m:r>
                        </m:sub>
                      </m:sSub>
                    </m:oMath>
                  </m:oMathPara>
                </a14:m>
                <a:endParaRPr lang="en-GB" sz="2400"/>
              </a:p>
            </p:txBody>
          </p:sp>
        </mc:Choice>
        <mc:Fallback xmlns="">
          <p:sp>
            <p:nvSpPr>
              <p:cNvPr id="7" name="step_0_equation_2" descr="x_2=5.7500+0.0000x_1">
                <a:extLst>
                  <a:ext uri="{FF2B5EF4-FFF2-40B4-BE49-F238E27FC236}">
                    <a16:creationId xmlns:a16="http://schemas.microsoft.com/office/drawing/2014/main" id="{D4CCF2DA-0C42-4529-906F-8C24E798C173}"/>
                  </a:ext>
                </a:extLst>
              </p:cNvPr>
              <p:cNvSpPr>
                <a:spLocks noGrp="1" noRot="1" noChangeAspect="1" noMove="1" noResize="1" noEditPoints="1" noAdjustHandles="1" noChangeArrowheads="1" noChangeShapeType="1" noTextEdit="1"/>
              </p:cNvSpPr>
              <p:nvPr/>
            </p:nvSpPr>
            <p:spPr>
              <a:xfrm>
                <a:off x="571500" y="5638800"/>
                <a:ext cx="6000750" cy="619125"/>
              </a:xfrm>
              <a:prstGeom prst="rect">
                <a:avLst/>
              </a:prstGeom>
              <a:blipFill>
                <a:blip r:embed="rId6"/>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4C26131F-DCAE-4A62-AFEF-0E0617BB223B}"/>
              </a:ext>
            </a:extLst>
          </p:cNvPr>
          <p:cNvSpPr>
            <a:spLocks noGrp="1"/>
          </p:cNvSpPr>
          <p:nvPr/>
        </p:nvSpPr>
        <p:spPr>
          <a:xfrm>
            <a:off x="6762750" y="5829300"/>
            <a:ext cx="4714875" cy="552450"/>
          </a:xfrm>
          <a:prstGeom prst="rect">
            <a:avLst/>
          </a:prstGeom>
          <a:noFill/>
          <a:ln w="0">
            <a:noFill/>
          </a:ln>
        </p:spPr>
        <p:txBody>
          <a:bodyPr wrap="square" lIns="0" tIns="0" rIns="0" bIns="0" anchor="ctr">
            <a:noAutofit/>
          </a:bodyPr>
          <a:lstStyle/>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Logistic loss: 51.048</a:t>
            </a:r>
          </a:p>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Mistakes: 31 of 100</a:t>
            </a:r>
          </a:p>
        </p:txBody>
      </p:sp>
      <p:sp>
        <p:nvSpPr>
          <p:cNvPr id="15" name="step_0_initial_label">
            <a:extLst>
              <a:ext uri="{FF2B5EF4-FFF2-40B4-BE49-F238E27FC236}">
                <a16:creationId xmlns:a16="http://schemas.microsoft.com/office/drawing/2014/main" id="{5A56BA79-3CDA-48CD-8F19-5C4A628AB9D6}"/>
              </a:ext>
            </a:extLst>
          </p:cNvPr>
          <p:cNvSpPr>
            <a:spLocks noGrp="1"/>
          </p:cNvSpPr>
          <p:nvPr/>
        </p:nvSpPr>
        <p:spPr>
          <a:xfrm>
            <a:off x="723900" y="1181100"/>
            <a:ext cx="2857500" cy="609600"/>
          </a:xfrm>
          <a:prstGeom prst="rect">
            <a:avLst/>
          </a:prstGeom>
          <a:noFill/>
          <a:ln w="0">
            <a:noFill/>
          </a:ln>
        </p:spPr>
        <p:txBody>
          <a:bodyPr wrap="square" lIns="0" tIns="0" rIns="0" bIns="0" anchor="ctr">
            <a:noAutofit/>
          </a:bodyPr>
          <a:lstStyle/>
          <a:p>
            <a:pPr algn="l">
              <a:lnSpc>
                <a:spcPct val="110000"/>
              </a:lnSpc>
              <a:buNone/>
              <a:defRPr sz="2250" b="0">
                <a:solidFill>
                  <a:srgbClr val="526276"/>
                </a:solidFill>
                <a:latin typeface="DejaVu Sans"/>
                <a:ea typeface="DejaVu Sans"/>
                <a:cs typeface="DejaVu Sans"/>
              </a:defRPr>
            </a:pPr>
            <a:r>
              <a:rPr sz="2250" b="0">
                <a:solidFill>
                  <a:srgbClr val="526276"/>
                </a:solidFill>
                <a:latin typeface="DejaVu Sans"/>
                <a:ea typeface="DejaVu Sans"/>
                <a:cs typeface="DejaVu Sans"/>
              </a:rPr>
              <a:t>Initial coefficients:</a:t>
            </a:r>
          </a:p>
        </p:txBody>
      </p:sp>
      <mc:AlternateContent xmlns:mc="http://schemas.openxmlformats.org/markup-compatibility/2006" xmlns:a14="http://schemas.microsoft.com/office/drawing/2010/main">
        <mc:Choice Requires="a14">
          <p:sp>
            <p:nvSpPr>
              <p:cNvPr id="16" name="step_0_initial_coefficients" descr="b^{(0)}=-5.75,\qquad w_1^{(0)}=0,\qquad w_2^{(0)}=1">
                <a:extLst>
                  <a:ext uri="{FF2B5EF4-FFF2-40B4-BE49-F238E27FC236}">
                    <a16:creationId xmlns:a16="http://schemas.microsoft.com/office/drawing/2014/main" id="{778F0BC3-9F31-4CBB-9B4E-C0ACCBE794F6}"/>
                  </a:ext>
                </a:extLst>
              </p:cNvPr>
              <p:cNvSpPr>
                <a:spLocks noGrp="1"/>
              </p:cNvSpPr>
              <p:nvPr/>
            </p:nvSpPr>
            <p:spPr>
              <a:xfrm>
                <a:off x="3714750" y="1162050"/>
                <a:ext cx="78105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800">
                              <a:solidFill>
                                <a:srgbClr val="087F83"/>
                              </a:solidFill>
                              <a:latin typeface="Cambria Math"/>
                              <a:ea typeface="Cambria Math"/>
                              <a:cs typeface="Cambria Math"/>
                            </a:rPr>
                          </m:ctrlPr>
                        </m:sSupPr>
                        <m:e>
                          <m:r>
                            <a:rPr lang="en-GB" sz="2800">
                              <a:solidFill>
                                <a:srgbClr val="087F83"/>
                              </a:solidFill>
                              <a:latin typeface="Cambria Math"/>
                              <a:ea typeface="Cambria Math"/>
                              <a:cs typeface="Cambria Math"/>
                            </a:rPr>
                            <m:t>𝑏</m:t>
                          </m:r>
                        </m:e>
                        <m:sup>
                          <m:r>
                            <a:rPr lang="en-GB" sz="2800">
                              <a:solidFill>
                                <a:srgbClr val="087F83"/>
                              </a:solidFill>
                              <a:latin typeface="Cambria Math"/>
                              <a:ea typeface="Cambria Math"/>
                              <a:cs typeface="Cambria Math"/>
                            </a:rPr>
                            <m:t>(0)</m:t>
                          </m:r>
                        </m:sup>
                      </m:sSup>
                      <m:r>
                        <a:rPr lang="en-GB" sz="2800">
                          <a:solidFill>
                            <a:srgbClr val="087F83"/>
                          </a:solidFill>
                          <a:latin typeface="Cambria Math"/>
                          <a:ea typeface="Cambria Math"/>
                          <a:cs typeface="Cambria Math"/>
                        </a:rPr>
                        <m:t>=−5.75,  </m:t>
                      </m:r>
                      <m:sSubSup>
                        <m:sSubSupPr>
                          <m:ctrlPr>
                            <a:rPr lang="en-GB" sz="2800">
                              <a:solidFill>
                                <a:srgbClr val="087F83"/>
                              </a:solidFill>
                              <a:latin typeface="Cambria Math"/>
                              <a:ea typeface="Cambria Math"/>
                              <a:cs typeface="Cambria Math"/>
                            </a:rPr>
                          </m:ctrlPr>
                        </m:sSubSup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1</m:t>
                          </m:r>
                        </m:sub>
                        <m:sup>
                          <m:r>
                            <a:rPr lang="en-GB" sz="2800">
                              <a:solidFill>
                                <a:srgbClr val="087F83"/>
                              </a:solidFill>
                              <a:latin typeface="Cambria Math"/>
                              <a:ea typeface="Cambria Math"/>
                              <a:cs typeface="Cambria Math"/>
                            </a:rPr>
                            <m:t>(0)</m:t>
                          </m:r>
                        </m:sup>
                      </m:sSubSup>
                      <m:r>
                        <a:rPr lang="en-GB" sz="2800">
                          <a:solidFill>
                            <a:srgbClr val="087F83"/>
                          </a:solidFill>
                          <a:latin typeface="Cambria Math"/>
                          <a:ea typeface="Cambria Math"/>
                          <a:cs typeface="Cambria Math"/>
                        </a:rPr>
                        <m:t>=0,  </m:t>
                      </m:r>
                      <m:sSubSup>
                        <m:sSubSupPr>
                          <m:ctrlPr>
                            <a:rPr lang="en-GB" sz="2800">
                              <a:solidFill>
                                <a:srgbClr val="087F83"/>
                              </a:solidFill>
                              <a:latin typeface="Cambria Math"/>
                              <a:ea typeface="Cambria Math"/>
                              <a:cs typeface="Cambria Math"/>
                            </a:rPr>
                          </m:ctrlPr>
                        </m:sSubSup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2</m:t>
                          </m:r>
                        </m:sub>
                        <m:sup>
                          <m:r>
                            <a:rPr lang="en-GB" sz="2800">
                              <a:solidFill>
                                <a:srgbClr val="087F83"/>
                              </a:solidFill>
                              <a:latin typeface="Cambria Math"/>
                              <a:ea typeface="Cambria Math"/>
                              <a:cs typeface="Cambria Math"/>
                            </a:rPr>
                            <m:t>(0)</m:t>
                          </m:r>
                        </m:sup>
                      </m:sSubSup>
                      <m:r>
                        <a:rPr lang="en-GB" sz="2800">
                          <a:solidFill>
                            <a:srgbClr val="087F83"/>
                          </a:solidFill>
                          <a:latin typeface="Cambria Math"/>
                          <a:ea typeface="Cambria Math"/>
                          <a:cs typeface="Cambria Math"/>
                        </a:rPr>
                        <m:t>=1</m:t>
                      </m:r>
                    </m:oMath>
                  </m:oMathPara>
                </a14:m>
                <a:endParaRPr lang="en-GB" sz="2800"/>
              </a:p>
            </p:txBody>
          </p:sp>
        </mc:Choice>
        <mc:Fallback xmlns="">
          <p:sp>
            <p:nvSpPr>
              <p:cNvPr id="16" name="step_0_initial_coefficients" descr="b^{(0)}=-5.75,\qquad w_1^{(0)}=0,\qquad w_2^{(0)}=1">
                <a:extLst>
                  <a:ext uri="{FF2B5EF4-FFF2-40B4-BE49-F238E27FC236}">
                    <a16:creationId xmlns:a16="http://schemas.microsoft.com/office/drawing/2014/main" id="{778F0BC3-9F31-4CBB-9B4E-C0ACCBE794F6}"/>
                  </a:ext>
                </a:extLst>
              </p:cNvPr>
              <p:cNvSpPr>
                <a:spLocks noGrp="1" noRot="1" noChangeAspect="1" noMove="1" noResize="1" noEditPoints="1" noAdjustHandles="1" noChangeArrowheads="1" noChangeShapeType="1" noTextEdit="1"/>
              </p:cNvSpPr>
              <p:nvPr/>
            </p:nvSpPr>
            <p:spPr>
              <a:xfrm>
                <a:off x="3714750" y="1162050"/>
                <a:ext cx="7810500" cy="647700"/>
              </a:xfrm>
              <a:prstGeom prst="rect">
                <a:avLst/>
              </a:prstGeom>
              <a:blipFill>
                <a:blip r:embed="rId7"/>
                <a:stretch>
                  <a:fillRect/>
                </a:stretch>
              </a:blipFill>
              <a:ln w="0">
                <a:noFill/>
              </a:ln>
            </p:spPr>
            <p:txBody>
              <a:bodyPr/>
              <a:lstStyle/>
              <a:p>
                <a:r>
                  <a:rPr lang="it-IT">
                    <a:noFill/>
                  </a:rPr>
                  <a:t> </a:t>
                </a:r>
              </a:p>
            </p:txBody>
          </p:sp>
        </mc:Fallback>
      </mc:AlternateContent>
      <p:sp>
        <p:nvSpPr>
          <p:cNvPr id="17" name="decision_region_class1">
            <a:extLst>
              <a:ext uri="{FF2B5EF4-FFF2-40B4-BE49-F238E27FC236}">
                <a16:creationId xmlns:a16="http://schemas.microsoft.com/office/drawing/2014/main" id="{B4C0CBF0-5846-4F8A-8CF7-91004E10188D}"/>
              </a:ext>
            </a:extLst>
          </p:cNvPr>
          <p:cNvSpPr>
            <a:spLocks noGrp="1"/>
          </p:cNvSpPr>
          <p:nvPr/>
        </p:nvSpPr>
        <p:spPr>
          <a:xfrm>
            <a:off x="1701166" y="2136204"/>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8" name="decision_region_class0">
            <a:extLst>
              <a:ext uri="{FF2B5EF4-FFF2-40B4-BE49-F238E27FC236}">
                <a16:creationId xmlns:a16="http://schemas.microsoft.com/office/drawing/2014/main" id="{19EA9346-DDB4-4FD0-9CD7-422955768CEB}"/>
              </a:ext>
            </a:extLst>
          </p:cNvPr>
          <p:cNvSpPr>
            <a:spLocks noGrp="1"/>
          </p:cNvSpPr>
          <p:nvPr/>
        </p:nvSpPr>
        <p:spPr>
          <a:xfrm>
            <a:off x="1701166" y="4134612"/>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mc:AlternateContent xmlns:mc="http://schemas.openxmlformats.org/markup-compatibility/2006" xmlns:a14="http://schemas.microsoft.com/office/drawing/2010/main">
        <mc:Choice Requires="a14">
          <p:sp>
            <p:nvSpPr>
              <p:cNvPr id="19" name="learning_rate">
                <a:extLst>
                  <a:ext uri="{FF2B5EF4-FFF2-40B4-BE49-F238E27FC236}">
                    <a16:creationId xmlns:a16="http://schemas.microsoft.com/office/drawing/2014/main" id="{B992D155-0BB4-4B07-8CB7-B671B2B6DF7F}"/>
                  </a:ext>
                </a:extLst>
              </p:cNvPr>
              <p:cNvSpPr>
                <a:spLocks noGrp="1"/>
              </p:cNvSpPr>
              <p:nvPr/>
            </p:nvSpPr>
            <p:spPr>
              <a:xfrm>
                <a:off x="7010400" y="1803400"/>
                <a:ext cx="4318000" cy="241300"/>
              </a:xfrm>
              <a:prstGeom prst="rect">
                <a:avLst/>
              </a:prstGeom>
              <a:noFill/>
              <a:ln w="0">
                <a:noFill/>
              </a:ln>
            </p:spPr>
            <p:txBody>
              <a:bodyPr wrap="none" lIns="0" tIns="0" rIns="0" bIns="0" anchor="ctr">
                <a:noAutofit/>
              </a:bodyPr>
              <a:lstStyle/>
              <a:p>
                <a:pPr algn="ctr">
                  <a:defRPr sz="1650" b="0">
                    <a:solidFill>
                      <a:srgbClr val="526276"/>
                    </a:solidFill>
                    <a:latin typeface="DejaVu Sans"/>
                    <a:ea typeface="DejaVu Sans"/>
                    <a:cs typeface="DejaVu Sans"/>
                  </a:defRPr>
                </a:pPr>
                <a:r>
                  <a:rPr sz="1650" b="0" dirty="0">
                    <a:solidFill>
                      <a:srgbClr val="526276"/>
                    </a:solidFill>
                    <a:latin typeface="DejaVu Sans"/>
                    <a:ea typeface="DejaVu Sans"/>
                    <a:cs typeface="DejaVu Sans"/>
                  </a:rPr>
                  <a:t>Learning rate: </a:t>
                </a:r>
                <a14:m>
                  <m:oMath xmlns:m="http://schemas.openxmlformats.org/officeDocument/2006/math">
                    <m:r>
                      <a:rPr lang="it-IT" sz="1650" b="0" i="1" dirty="0" smtClean="0">
                        <a:solidFill>
                          <a:srgbClr val="526276"/>
                        </a:solidFill>
                        <a:latin typeface="Cambria Math" panose="02040503050406030204" pitchFamily="18" charset="0"/>
                        <a:ea typeface="DejaVu Sans"/>
                        <a:cs typeface="DejaVu Sans"/>
                      </a:rPr>
                      <m:t>𝜂</m:t>
                    </m:r>
                    <m:r>
                      <a:rPr lang="it-IT" sz="1650" b="0" i="1" dirty="0" smtClean="0">
                        <a:solidFill>
                          <a:srgbClr val="526276"/>
                        </a:solidFill>
                        <a:latin typeface="Cambria Math" panose="02040503050406030204" pitchFamily="18" charset="0"/>
                        <a:ea typeface="DejaVu Sans"/>
                        <a:cs typeface="DejaVu Sans"/>
                      </a:rPr>
                      <m:t> = 0.002</m:t>
                    </m:r>
                  </m:oMath>
                </a14:m>
                <a:endParaRPr sz="1650" b="0" dirty="0">
                  <a:solidFill>
                    <a:srgbClr val="526276"/>
                  </a:solidFill>
                  <a:latin typeface="DejaVu Sans"/>
                  <a:ea typeface="DejaVu Sans"/>
                  <a:cs typeface="DejaVu Sans"/>
                </a:endParaRPr>
              </a:p>
            </p:txBody>
          </p:sp>
        </mc:Choice>
        <mc:Fallback xmlns="">
          <p:sp>
            <p:nvSpPr>
              <p:cNvPr id="19" name="learning_rate">
                <a:extLst>
                  <a:ext uri="{FF2B5EF4-FFF2-40B4-BE49-F238E27FC236}">
                    <a16:creationId xmlns:a16="http://schemas.microsoft.com/office/drawing/2014/main" id="{B992D155-0BB4-4B07-8CB7-B671B2B6DF7F}"/>
                  </a:ext>
                </a:extLst>
              </p:cNvPr>
              <p:cNvSpPr>
                <a:spLocks noGrp="1" noRot="1" noChangeAspect="1" noMove="1" noResize="1" noEditPoints="1" noAdjustHandles="1" noChangeArrowheads="1" noChangeShapeType="1" noTextEdit="1"/>
              </p:cNvSpPr>
              <p:nvPr/>
            </p:nvSpPr>
            <p:spPr>
              <a:xfrm>
                <a:off x="7010400" y="1803400"/>
                <a:ext cx="4318000" cy="241300"/>
              </a:xfrm>
              <a:prstGeom prst="rect">
                <a:avLst/>
              </a:prstGeom>
              <a:blipFill>
                <a:blip r:embed="rId8"/>
                <a:stretch>
                  <a:fillRect t="-30769" b="-56410"/>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6945527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a:extLst>
                  <a:ext uri="{FF2B5EF4-FFF2-40B4-BE49-F238E27FC236}">
                    <a16:creationId xmlns:a16="http://schemas.microsoft.com/office/drawing/2014/main" id="{2CC0AE45-7BA1-49CB-8976-5B022F736FE9}"/>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Gradient descent: </a:t>
                </a:r>
                <a14:m>
                  <m:oMath xmlns:m="http://schemas.openxmlformats.org/officeDocument/2006/math">
                    <m:r>
                      <a:rPr lang="it-IT" sz="3150" b="1" i="1" dirty="0" smtClean="0">
                        <a:solidFill>
                          <a:srgbClr val="182D45"/>
                        </a:solidFill>
                        <a:latin typeface="Cambria Math" panose="02040503050406030204" pitchFamily="18" charset="0"/>
                        <a:ea typeface="DejaVu Sans"/>
                        <a:cs typeface="DejaVu Sans"/>
                      </a:rPr>
                      <m:t>𝜼</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r>
                      <a:rPr lang="it-IT" sz="3150" b="1" i="1" dirty="0" smtClean="0">
                        <a:solidFill>
                          <a:srgbClr val="182D45"/>
                        </a:solidFill>
                        <a:latin typeface="Cambria Math" panose="02040503050406030204" pitchFamily="18" charset="0"/>
                        <a:ea typeface="DejaVu Sans"/>
                        <a:cs typeface="DejaVu Sans"/>
                      </a:rPr>
                      <m:t>.</m:t>
                    </m:r>
                    <m:r>
                      <a:rPr lang="it-IT" sz="3150" b="1" i="1" dirty="0" smtClean="0">
                        <a:solidFill>
                          <a:srgbClr val="182D45"/>
                        </a:solidFill>
                        <a:latin typeface="Cambria Math" panose="02040503050406030204" pitchFamily="18" charset="0"/>
                        <a:ea typeface="DejaVu Sans"/>
                        <a:cs typeface="DejaVu Sans"/>
                      </a:rPr>
                      <m:t>𝟎𝟎𝟐</m:t>
                    </m:r>
                    <m:r>
                      <a:rPr lang="it-IT" sz="3150" b="1" i="1" dirty="0" smtClean="0">
                        <a:solidFill>
                          <a:srgbClr val="182D45"/>
                        </a:solidFill>
                        <a:latin typeface="Cambria Math" panose="02040503050406030204" pitchFamily="18" charset="0"/>
                        <a:ea typeface="DejaVu Sans"/>
                        <a:cs typeface="DejaVu Sans"/>
                      </a:rPr>
                      <m:t>, </m:t>
                    </m:r>
                    <m:r>
                      <a:rPr lang="it-IT" sz="3150" b="1" i="1" dirty="0" smtClean="0">
                        <a:solidFill>
                          <a:srgbClr val="182D45"/>
                        </a:solidFill>
                        <a:latin typeface="Cambria Math" panose="02040503050406030204" pitchFamily="18" charset="0"/>
                        <a:ea typeface="DejaVu Sans"/>
                        <a:cs typeface="DejaVu Sans"/>
                      </a:rPr>
                      <m:t>𝒕</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𝟏</m:t>
                    </m:r>
                  </m:oMath>
                </a14:m>
                <a:endParaRPr sz="3150" b="1" dirty="0">
                  <a:solidFill>
                    <a:srgbClr val="182D45"/>
                  </a:solidFill>
                  <a:latin typeface="DejaVu Sans"/>
                  <a:ea typeface="DejaVu Sans"/>
                  <a:cs typeface="DejaVu Sans"/>
                </a:endParaRPr>
              </a:p>
            </p:txBody>
          </p:sp>
        </mc:Choice>
        <mc:Fallback xmlns="">
          <p:sp>
            <p:nvSpPr>
              <p:cNvPr id="9" name="title">
                <a:extLst>
                  <a:ext uri="{FF2B5EF4-FFF2-40B4-BE49-F238E27FC236}">
                    <a16:creationId xmlns:a16="http://schemas.microsoft.com/office/drawing/2014/main" id="{2CC0AE45-7BA1-49CB-8976-5B022F736FE9}"/>
                  </a:ext>
                </a:extLst>
              </p:cNvPr>
              <p:cNvSpPr>
                <a:spLocks noGrp="1" noRot="1" noChangeAspect="1" noMove="1" noResize="1" noEditPoints="1" noAdjustHandles="1" noChangeArrowheads="1" noChangeShapeType="1" noTextEdit="1"/>
              </p:cNvSpPr>
              <p:nvPr/>
            </p:nvSpPr>
            <p:spPr>
              <a:xfrm>
                <a:off x="685800" y="333375"/>
                <a:ext cx="10820400" cy="666750"/>
              </a:xfrm>
              <a:prstGeom prst="rect">
                <a:avLst/>
              </a:prstGeom>
              <a:blipFill>
                <a:blip r:embed="rId3"/>
                <a:stretch>
                  <a:fillRect t="-4587" b="-2293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E2AF72D-66B5-4390-AE13-8747438FC574}"/>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6F1FDFC6-026C-404A-BA91-FD71CE323A37}"/>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38</a:t>
            </a:r>
          </a:p>
        </p:txBody>
      </p:sp>
      <p:graphicFrame>
        <p:nvGraphicFramePr>
          <p:cNvPr id="13" name="step_0_chart_0"/>
          <p:cNvGraphicFramePr/>
          <p:nvPr/>
        </p:nvGraphicFramePr>
        <p:xfrm>
          <a:off x="552450" y="1981200"/>
          <a:ext cx="5657850" cy="3619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step_0_chart_1"/>
          <p:cNvGraphicFramePr/>
          <p:nvPr/>
        </p:nvGraphicFramePr>
        <p:xfrm>
          <a:off x="6581775" y="1981200"/>
          <a:ext cx="5000625" cy="361950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step_0_equation_2" descr="x_2=4.7217-0.1927x_1">
                <a:extLst>
                  <a:ext uri="{FF2B5EF4-FFF2-40B4-BE49-F238E27FC236}">
                    <a16:creationId xmlns:a16="http://schemas.microsoft.com/office/drawing/2014/main" id="{6E69B225-608B-4197-81E4-552657548384}"/>
                  </a:ext>
                </a:extLst>
              </p:cNvPr>
              <p:cNvSpPr>
                <a:spLocks noGrp="1"/>
              </p:cNvSpPr>
              <p:nvPr/>
            </p:nvSpPr>
            <p:spPr>
              <a:xfrm>
                <a:off x="571500" y="5638800"/>
                <a:ext cx="6000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=4.7217−0.1927</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1</m:t>
                          </m:r>
                        </m:sub>
                      </m:sSub>
                    </m:oMath>
                  </m:oMathPara>
                </a14:m>
                <a:endParaRPr lang="en-GB" sz="2400"/>
              </a:p>
            </p:txBody>
          </p:sp>
        </mc:Choice>
        <mc:Fallback xmlns="">
          <p:sp>
            <p:nvSpPr>
              <p:cNvPr id="7" name="step_0_equation_2" descr="x_2=4.7217-0.1927x_1">
                <a:extLst>
                  <a:ext uri="{FF2B5EF4-FFF2-40B4-BE49-F238E27FC236}">
                    <a16:creationId xmlns:a16="http://schemas.microsoft.com/office/drawing/2014/main" id="{6E69B225-608B-4197-81E4-552657548384}"/>
                  </a:ext>
                </a:extLst>
              </p:cNvPr>
              <p:cNvSpPr>
                <a:spLocks noGrp="1" noRot="1" noChangeAspect="1" noMove="1" noResize="1" noEditPoints="1" noAdjustHandles="1" noChangeArrowheads="1" noChangeShapeType="1" noTextEdit="1"/>
              </p:cNvSpPr>
              <p:nvPr/>
            </p:nvSpPr>
            <p:spPr>
              <a:xfrm>
                <a:off x="571500" y="5638800"/>
                <a:ext cx="6000750" cy="619125"/>
              </a:xfrm>
              <a:prstGeom prst="rect">
                <a:avLst/>
              </a:prstGeom>
              <a:blipFill>
                <a:blip r:embed="rId6"/>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C59FC778-B0D1-4E53-80CB-8A4A1E053984}"/>
              </a:ext>
            </a:extLst>
          </p:cNvPr>
          <p:cNvSpPr>
            <a:spLocks noGrp="1"/>
          </p:cNvSpPr>
          <p:nvPr/>
        </p:nvSpPr>
        <p:spPr>
          <a:xfrm>
            <a:off x="6762750" y="5829300"/>
            <a:ext cx="4714875" cy="552450"/>
          </a:xfrm>
          <a:prstGeom prst="rect">
            <a:avLst/>
          </a:prstGeom>
          <a:noFill/>
          <a:ln w="0">
            <a:noFill/>
          </a:ln>
        </p:spPr>
        <p:txBody>
          <a:bodyPr wrap="square" lIns="0" tIns="0" rIns="0" bIns="0" anchor="ctr">
            <a:noAutofit/>
          </a:bodyPr>
          <a:lstStyle/>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Logistic loss: 64.556</a:t>
            </a:r>
          </a:p>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Mistakes: 42 of 100</a:t>
            </a:r>
          </a:p>
        </p:txBody>
      </p:sp>
      <p:sp>
        <p:nvSpPr>
          <p:cNvPr id="15" name="decision_region_class1">
            <a:extLst>
              <a:ext uri="{FF2B5EF4-FFF2-40B4-BE49-F238E27FC236}">
                <a16:creationId xmlns:a16="http://schemas.microsoft.com/office/drawing/2014/main" id="{914665F8-FB09-45A4-8588-3F30ACFA094F}"/>
              </a:ext>
            </a:extLst>
          </p:cNvPr>
          <p:cNvSpPr>
            <a:spLocks noGrp="1"/>
          </p:cNvSpPr>
          <p:nvPr/>
        </p:nvSpPr>
        <p:spPr>
          <a:xfrm>
            <a:off x="1701166" y="2136204"/>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6" name="decision_region_class0">
            <a:extLst>
              <a:ext uri="{FF2B5EF4-FFF2-40B4-BE49-F238E27FC236}">
                <a16:creationId xmlns:a16="http://schemas.microsoft.com/office/drawing/2014/main" id="{716CD437-5536-4F33-9236-7114A3799962}"/>
              </a:ext>
            </a:extLst>
          </p:cNvPr>
          <p:cNvSpPr>
            <a:spLocks noGrp="1"/>
          </p:cNvSpPr>
          <p:nvPr/>
        </p:nvSpPr>
        <p:spPr>
          <a:xfrm>
            <a:off x="1701166" y="4134612"/>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
        <p:nvSpPr>
          <p:cNvPr id="2" name="coefficient_label">
            <a:extLst>
              <a:ext uri="{FF2B5EF4-FFF2-40B4-BE49-F238E27FC236}">
                <a16:creationId xmlns:a16="http://schemas.microsoft.com/office/drawing/2014/main" id="{A9531EA7-F12B-47A7-BC82-C9D977E8F0AF}"/>
              </a:ext>
            </a:extLst>
          </p:cNvPr>
          <p:cNvSpPr>
            <a:spLocks noGrp="1"/>
          </p:cNvSpPr>
          <p:nvPr/>
        </p:nvSpPr>
        <p:spPr>
          <a:xfrm>
            <a:off x="723900" y="1181100"/>
            <a:ext cx="1841500" cy="609600"/>
          </a:xfrm>
          <a:prstGeom prst="rect">
            <a:avLst/>
          </a:prstGeom>
          <a:noFill/>
          <a:ln w="0">
            <a:noFill/>
          </a:ln>
        </p:spPr>
        <p:txBody>
          <a:bodyPr wrap="square" lIns="0" tIns="0" rIns="0" bIns="0" anchor="ctr">
            <a:noAutofit/>
          </a:bodyPr>
          <a:lstStyle/>
          <a:p>
            <a:pPr algn="l">
              <a:lnSpc>
                <a:spcPct val="110000"/>
              </a:lnSpc>
              <a:buNone/>
              <a:defRPr sz="2250" b="0">
                <a:solidFill>
                  <a:srgbClr val="526276"/>
                </a:solidFill>
                <a:latin typeface="DejaVu Sans"/>
                <a:ea typeface="DejaVu Sans"/>
                <a:cs typeface="DejaVu Sans"/>
              </a:defRPr>
            </a:pPr>
            <a:r>
              <a:rPr sz="2250" b="0">
                <a:solidFill>
                  <a:srgbClr val="526276"/>
                </a:solidFill>
                <a:latin typeface="DejaVu Sans"/>
                <a:ea typeface="DejaVu Sans"/>
                <a:cs typeface="DejaVu Sans"/>
              </a:rPr>
              <a:t>Coefficients:</a:t>
            </a:r>
          </a:p>
        </p:txBody>
      </p:sp>
      <mc:AlternateContent xmlns:mc="http://schemas.openxmlformats.org/markup-compatibility/2006" xmlns:a14="http://schemas.microsoft.com/office/drawing/2010/main">
        <mc:Choice Requires="a14">
          <p:sp>
            <p:nvSpPr>
              <p:cNvPr id="17" name="coefficient_b" descr="b^{(1)}\approx -5.715164">
                <a:extLst>
                  <a:ext uri="{FF2B5EF4-FFF2-40B4-BE49-F238E27FC236}">
                    <a16:creationId xmlns:a16="http://schemas.microsoft.com/office/drawing/2014/main" id="{14778A4A-53F3-409A-AA09-6D40EA115160}"/>
                  </a:ext>
                </a:extLst>
              </p:cNvPr>
              <p:cNvSpPr>
                <a:spLocks noGrp="1"/>
              </p:cNvSpPr>
              <p:nvPr/>
            </p:nvSpPr>
            <p:spPr>
              <a:xfrm>
                <a:off x="2692400" y="1162050"/>
                <a:ext cx="2921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𝑏</m:t>
                          </m:r>
                        </m:e>
                        <m:sup>
                          <m:r>
                            <a:rPr lang="en-GB" sz="2500">
                              <a:solidFill>
                                <a:srgbClr val="087F83"/>
                              </a:solidFill>
                              <a:latin typeface="Cambria Math"/>
                              <a:ea typeface="Cambria Math"/>
                              <a:cs typeface="Cambria Math"/>
                            </a:rPr>
                            <m:t>(1)</m:t>
                          </m:r>
                        </m:sup>
                      </m:sSup>
                      <m:r>
                        <a:rPr lang="en-GB" sz="2500">
                          <a:solidFill>
                            <a:srgbClr val="087F83"/>
                          </a:solidFill>
                          <a:latin typeface="Cambria Math"/>
                          <a:ea typeface="Cambria Math"/>
                          <a:cs typeface="Cambria Math"/>
                        </a:rPr>
                        <m:t>≈−5.715164</m:t>
                      </m:r>
                    </m:oMath>
                  </m:oMathPara>
                </a14:m>
                <a:endParaRPr lang="en-GB" sz="2500"/>
              </a:p>
            </p:txBody>
          </p:sp>
        </mc:Choice>
        <mc:Fallback xmlns="">
          <p:sp>
            <p:nvSpPr>
              <p:cNvPr id="17" name="coefficient_b" descr="b^{(1)}\approx -5.715164">
                <a:extLst>
                  <a:ext uri="{FF2B5EF4-FFF2-40B4-BE49-F238E27FC236}">
                    <a16:creationId xmlns:a16="http://schemas.microsoft.com/office/drawing/2014/main" id="{14778A4A-53F3-409A-AA09-6D40EA115160}"/>
                  </a:ext>
                </a:extLst>
              </p:cNvPr>
              <p:cNvSpPr>
                <a:spLocks noGrp="1" noRot="1" noChangeAspect="1" noMove="1" noResize="1" noEditPoints="1" noAdjustHandles="1" noChangeArrowheads="1" noChangeShapeType="1" noTextEdit="1"/>
              </p:cNvSpPr>
              <p:nvPr/>
            </p:nvSpPr>
            <p:spPr>
              <a:xfrm>
                <a:off x="2692400" y="1162050"/>
                <a:ext cx="2921000" cy="6477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coefficient_w1" descr="w_1^{(1)}\approx 0.233238">
                <a:extLst>
                  <a:ext uri="{FF2B5EF4-FFF2-40B4-BE49-F238E27FC236}">
                    <a16:creationId xmlns:a16="http://schemas.microsoft.com/office/drawing/2014/main" id="{4C7671C1-A879-4C6A-B713-AE0812C7344C}"/>
                  </a:ext>
                </a:extLst>
              </p:cNvPr>
              <p:cNvSpPr>
                <a:spLocks noGrp="1"/>
              </p:cNvSpPr>
              <p:nvPr/>
            </p:nvSpPr>
            <p:spPr>
              <a:xfrm>
                <a:off x="5778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(1)</m:t>
                          </m:r>
                        </m:sup>
                      </m:sSubSup>
                      <m:r>
                        <a:rPr lang="en-GB" sz="2500">
                          <a:solidFill>
                            <a:srgbClr val="087F83"/>
                          </a:solidFill>
                          <a:latin typeface="Cambria Math"/>
                          <a:ea typeface="Cambria Math"/>
                          <a:cs typeface="Cambria Math"/>
                        </a:rPr>
                        <m:t>≈0.233238</m:t>
                      </m:r>
                    </m:oMath>
                  </m:oMathPara>
                </a14:m>
                <a:endParaRPr lang="en-GB" sz="2500"/>
              </a:p>
            </p:txBody>
          </p:sp>
        </mc:Choice>
        <mc:Fallback xmlns="">
          <p:sp>
            <p:nvSpPr>
              <p:cNvPr id="18" name="coefficient_w1" descr="w_1^{(1)}\approx 0.233238">
                <a:extLst>
                  <a:ext uri="{FF2B5EF4-FFF2-40B4-BE49-F238E27FC236}">
                    <a16:creationId xmlns:a16="http://schemas.microsoft.com/office/drawing/2014/main" id="{4C7671C1-A879-4C6A-B713-AE0812C7344C}"/>
                  </a:ext>
                </a:extLst>
              </p:cNvPr>
              <p:cNvSpPr>
                <a:spLocks noGrp="1" noRot="1" noChangeAspect="1" noMove="1" noResize="1" noEditPoints="1" noAdjustHandles="1" noChangeArrowheads="1" noChangeShapeType="1" noTextEdit="1"/>
              </p:cNvSpPr>
              <p:nvPr/>
            </p:nvSpPr>
            <p:spPr>
              <a:xfrm>
                <a:off x="5778500" y="1162050"/>
                <a:ext cx="2794000" cy="64770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coefficient_w2" descr="w_2^{(1)}\approx 1.210411">
                <a:extLst>
                  <a:ext uri="{FF2B5EF4-FFF2-40B4-BE49-F238E27FC236}">
                    <a16:creationId xmlns:a16="http://schemas.microsoft.com/office/drawing/2014/main" id="{8AE98437-12FA-4CC3-8C09-021993829B27}"/>
                  </a:ext>
                </a:extLst>
              </p:cNvPr>
              <p:cNvSpPr>
                <a:spLocks noGrp="1"/>
              </p:cNvSpPr>
              <p:nvPr/>
            </p:nvSpPr>
            <p:spPr>
              <a:xfrm>
                <a:off x="8699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2</m:t>
                          </m:r>
                        </m:sub>
                        <m:sup>
                          <m:r>
                            <a:rPr lang="en-GB" sz="2500">
                              <a:solidFill>
                                <a:srgbClr val="087F83"/>
                              </a:solidFill>
                              <a:latin typeface="Cambria Math"/>
                              <a:ea typeface="Cambria Math"/>
                              <a:cs typeface="Cambria Math"/>
                            </a:rPr>
                            <m:t>(1)</m:t>
                          </m:r>
                        </m:sup>
                      </m:sSubSup>
                      <m:r>
                        <a:rPr lang="en-GB" sz="2500">
                          <a:solidFill>
                            <a:srgbClr val="087F83"/>
                          </a:solidFill>
                          <a:latin typeface="Cambria Math"/>
                          <a:ea typeface="Cambria Math"/>
                          <a:cs typeface="Cambria Math"/>
                        </a:rPr>
                        <m:t>≈1.210411</m:t>
                      </m:r>
                    </m:oMath>
                  </m:oMathPara>
                </a14:m>
                <a:endParaRPr lang="en-GB" sz="2500"/>
              </a:p>
            </p:txBody>
          </p:sp>
        </mc:Choice>
        <mc:Fallback xmlns="">
          <p:sp>
            <p:nvSpPr>
              <p:cNvPr id="19" name="coefficient_w2" descr="w_2^{(1)}\approx 1.210411">
                <a:extLst>
                  <a:ext uri="{FF2B5EF4-FFF2-40B4-BE49-F238E27FC236}">
                    <a16:creationId xmlns:a16="http://schemas.microsoft.com/office/drawing/2014/main" id="{8AE98437-12FA-4CC3-8C09-021993829B27}"/>
                  </a:ext>
                </a:extLst>
              </p:cNvPr>
              <p:cNvSpPr>
                <a:spLocks noGrp="1" noRot="1" noChangeAspect="1" noMove="1" noResize="1" noEditPoints="1" noAdjustHandles="1" noChangeArrowheads="1" noChangeShapeType="1" noTextEdit="1"/>
              </p:cNvSpPr>
              <p:nvPr/>
            </p:nvSpPr>
            <p:spPr>
              <a:xfrm>
                <a:off x="8699500" y="1162050"/>
                <a:ext cx="2794000" cy="64770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7482484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a:extLst>
                  <a:ext uri="{FF2B5EF4-FFF2-40B4-BE49-F238E27FC236}">
                    <a16:creationId xmlns:a16="http://schemas.microsoft.com/office/drawing/2014/main" id="{2CC0AE45-7BA1-49CB-8976-5B022F736FE9}"/>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Gradient descent: </a:t>
                </a:r>
                <a14:m>
                  <m:oMath xmlns:m="http://schemas.openxmlformats.org/officeDocument/2006/math">
                    <m:r>
                      <a:rPr lang="it-IT" sz="3150" b="1" i="1" dirty="0" smtClean="0">
                        <a:solidFill>
                          <a:srgbClr val="182D45"/>
                        </a:solidFill>
                        <a:latin typeface="Cambria Math" panose="02040503050406030204" pitchFamily="18" charset="0"/>
                        <a:ea typeface="DejaVu Sans"/>
                        <a:cs typeface="DejaVu Sans"/>
                      </a:rPr>
                      <m:t>𝜼</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r>
                      <a:rPr lang="it-IT" sz="3150" b="1" i="1" dirty="0" smtClean="0">
                        <a:solidFill>
                          <a:srgbClr val="182D45"/>
                        </a:solidFill>
                        <a:latin typeface="Cambria Math" panose="02040503050406030204" pitchFamily="18" charset="0"/>
                        <a:ea typeface="DejaVu Sans"/>
                        <a:cs typeface="DejaVu Sans"/>
                      </a:rPr>
                      <m:t>.</m:t>
                    </m:r>
                    <m:r>
                      <a:rPr lang="it-IT" sz="3150" b="1" i="1" dirty="0" smtClean="0">
                        <a:solidFill>
                          <a:srgbClr val="182D45"/>
                        </a:solidFill>
                        <a:latin typeface="Cambria Math" panose="02040503050406030204" pitchFamily="18" charset="0"/>
                        <a:ea typeface="DejaVu Sans"/>
                        <a:cs typeface="DejaVu Sans"/>
                      </a:rPr>
                      <m:t>𝟎𝟎𝟐</m:t>
                    </m:r>
                    <m:r>
                      <a:rPr lang="it-IT" sz="3150" b="1" i="1" dirty="0" smtClean="0">
                        <a:solidFill>
                          <a:srgbClr val="182D45"/>
                        </a:solidFill>
                        <a:latin typeface="Cambria Math" panose="02040503050406030204" pitchFamily="18" charset="0"/>
                        <a:ea typeface="DejaVu Sans"/>
                        <a:cs typeface="DejaVu Sans"/>
                      </a:rPr>
                      <m:t>, </m:t>
                    </m:r>
                    <m:r>
                      <a:rPr lang="it-IT" sz="3150" b="1" i="1" dirty="0" smtClean="0">
                        <a:solidFill>
                          <a:srgbClr val="182D45"/>
                        </a:solidFill>
                        <a:latin typeface="Cambria Math" panose="02040503050406030204" pitchFamily="18" charset="0"/>
                        <a:ea typeface="DejaVu Sans"/>
                        <a:cs typeface="DejaVu Sans"/>
                      </a:rPr>
                      <m:t>𝒕</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𝟐</m:t>
                    </m:r>
                  </m:oMath>
                </a14:m>
                <a:endParaRPr sz="3150" b="1" dirty="0">
                  <a:solidFill>
                    <a:srgbClr val="182D45"/>
                  </a:solidFill>
                  <a:latin typeface="DejaVu Sans"/>
                  <a:ea typeface="DejaVu Sans"/>
                  <a:cs typeface="DejaVu Sans"/>
                </a:endParaRPr>
              </a:p>
            </p:txBody>
          </p:sp>
        </mc:Choice>
        <mc:Fallback xmlns="">
          <p:sp>
            <p:nvSpPr>
              <p:cNvPr id="9" name="title">
                <a:extLst>
                  <a:ext uri="{FF2B5EF4-FFF2-40B4-BE49-F238E27FC236}">
                    <a16:creationId xmlns:a16="http://schemas.microsoft.com/office/drawing/2014/main" id="{2CC0AE45-7BA1-49CB-8976-5B022F736FE9}"/>
                  </a:ext>
                </a:extLst>
              </p:cNvPr>
              <p:cNvSpPr>
                <a:spLocks noGrp="1" noRot="1" noChangeAspect="1" noMove="1" noResize="1" noEditPoints="1" noAdjustHandles="1" noChangeArrowheads="1" noChangeShapeType="1" noTextEdit="1"/>
              </p:cNvSpPr>
              <p:nvPr/>
            </p:nvSpPr>
            <p:spPr>
              <a:xfrm>
                <a:off x="685800" y="333375"/>
                <a:ext cx="10820400" cy="666750"/>
              </a:xfrm>
              <a:prstGeom prst="rect">
                <a:avLst/>
              </a:prstGeom>
              <a:blipFill>
                <a:blip r:embed="rId3"/>
                <a:stretch>
                  <a:fillRect t="-4587" b="-2293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E2AF72D-66B5-4390-AE13-8747438FC574}"/>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6F1FDFC6-026C-404A-BA91-FD71CE323A37}"/>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39</a:t>
            </a:r>
          </a:p>
        </p:txBody>
      </p:sp>
      <p:graphicFrame>
        <p:nvGraphicFramePr>
          <p:cNvPr id="13" name="step_0_chart_0"/>
          <p:cNvGraphicFramePr/>
          <p:nvPr/>
        </p:nvGraphicFramePr>
        <p:xfrm>
          <a:off x="552450" y="1981200"/>
          <a:ext cx="5657850" cy="3619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step_0_chart_1"/>
          <p:cNvGraphicFramePr/>
          <p:nvPr/>
        </p:nvGraphicFramePr>
        <p:xfrm>
          <a:off x="6581775" y="1981200"/>
          <a:ext cx="5000625" cy="361950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step_0_equation_2" descr="x_2=5.9705+0.1190x_1">
                <a:extLst>
                  <a:ext uri="{FF2B5EF4-FFF2-40B4-BE49-F238E27FC236}">
                    <a16:creationId xmlns:a16="http://schemas.microsoft.com/office/drawing/2014/main" id="{6E69B225-608B-4197-81E4-552657548384}"/>
                  </a:ext>
                </a:extLst>
              </p:cNvPr>
              <p:cNvSpPr>
                <a:spLocks noGrp="1"/>
              </p:cNvSpPr>
              <p:nvPr/>
            </p:nvSpPr>
            <p:spPr>
              <a:xfrm>
                <a:off x="571500" y="5638800"/>
                <a:ext cx="6000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=5.9705+0.1190</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1</m:t>
                          </m:r>
                        </m:sub>
                      </m:sSub>
                    </m:oMath>
                  </m:oMathPara>
                </a14:m>
                <a:endParaRPr lang="en-GB" sz="2400"/>
              </a:p>
            </p:txBody>
          </p:sp>
        </mc:Choice>
        <mc:Fallback xmlns="">
          <p:sp>
            <p:nvSpPr>
              <p:cNvPr id="7" name="step_0_equation_2" descr="x_2=5.9705+0.1190x_1">
                <a:extLst>
                  <a:ext uri="{FF2B5EF4-FFF2-40B4-BE49-F238E27FC236}">
                    <a16:creationId xmlns:a16="http://schemas.microsoft.com/office/drawing/2014/main" id="{6E69B225-608B-4197-81E4-552657548384}"/>
                  </a:ext>
                </a:extLst>
              </p:cNvPr>
              <p:cNvSpPr>
                <a:spLocks noGrp="1" noRot="1" noChangeAspect="1" noMove="1" noResize="1" noEditPoints="1" noAdjustHandles="1" noChangeArrowheads="1" noChangeShapeType="1" noTextEdit="1"/>
              </p:cNvSpPr>
              <p:nvPr/>
            </p:nvSpPr>
            <p:spPr>
              <a:xfrm>
                <a:off x="571500" y="5638800"/>
                <a:ext cx="6000750" cy="619125"/>
              </a:xfrm>
              <a:prstGeom prst="rect">
                <a:avLst/>
              </a:prstGeom>
              <a:blipFill>
                <a:blip r:embed="rId6"/>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C59FC778-B0D1-4E53-80CB-8A4A1E053984}"/>
              </a:ext>
            </a:extLst>
          </p:cNvPr>
          <p:cNvSpPr>
            <a:spLocks noGrp="1"/>
          </p:cNvSpPr>
          <p:nvPr/>
        </p:nvSpPr>
        <p:spPr>
          <a:xfrm>
            <a:off x="6762750" y="5829300"/>
            <a:ext cx="4714875" cy="552450"/>
          </a:xfrm>
          <a:prstGeom prst="rect">
            <a:avLst/>
          </a:prstGeom>
          <a:noFill/>
          <a:ln w="0">
            <a:noFill/>
          </a:ln>
        </p:spPr>
        <p:txBody>
          <a:bodyPr wrap="square" lIns="0" tIns="0" rIns="0" bIns="0" anchor="ctr">
            <a:noAutofit/>
          </a:bodyPr>
          <a:lstStyle/>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Logistic loss: 75.928</a:t>
            </a:r>
          </a:p>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Mistakes: 49 of 100</a:t>
            </a:r>
          </a:p>
        </p:txBody>
      </p:sp>
      <p:sp>
        <p:nvSpPr>
          <p:cNvPr id="15" name="decision_region_class1">
            <a:extLst>
              <a:ext uri="{FF2B5EF4-FFF2-40B4-BE49-F238E27FC236}">
                <a16:creationId xmlns:a16="http://schemas.microsoft.com/office/drawing/2014/main" id="{32ECF911-C05E-4D76-82E3-DE13DCD326DE}"/>
              </a:ext>
            </a:extLst>
          </p:cNvPr>
          <p:cNvSpPr>
            <a:spLocks noGrp="1"/>
          </p:cNvSpPr>
          <p:nvPr/>
        </p:nvSpPr>
        <p:spPr>
          <a:xfrm>
            <a:off x="1701166" y="2136204"/>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6" name="decision_region_class0">
            <a:extLst>
              <a:ext uri="{FF2B5EF4-FFF2-40B4-BE49-F238E27FC236}">
                <a16:creationId xmlns:a16="http://schemas.microsoft.com/office/drawing/2014/main" id="{FD94C154-9BEF-4C88-A222-E9B9DC1A46C1}"/>
              </a:ext>
            </a:extLst>
          </p:cNvPr>
          <p:cNvSpPr>
            <a:spLocks noGrp="1"/>
          </p:cNvSpPr>
          <p:nvPr/>
        </p:nvSpPr>
        <p:spPr>
          <a:xfrm>
            <a:off x="1701166" y="4134612"/>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
        <p:nvSpPr>
          <p:cNvPr id="2" name="coefficient_label">
            <a:extLst>
              <a:ext uri="{FF2B5EF4-FFF2-40B4-BE49-F238E27FC236}">
                <a16:creationId xmlns:a16="http://schemas.microsoft.com/office/drawing/2014/main" id="{4FAE9671-BC73-424F-AD76-1487243516B2}"/>
              </a:ext>
            </a:extLst>
          </p:cNvPr>
          <p:cNvSpPr>
            <a:spLocks noGrp="1"/>
          </p:cNvSpPr>
          <p:nvPr/>
        </p:nvSpPr>
        <p:spPr>
          <a:xfrm>
            <a:off x="723900" y="1181100"/>
            <a:ext cx="1841500" cy="609600"/>
          </a:xfrm>
          <a:prstGeom prst="rect">
            <a:avLst/>
          </a:prstGeom>
          <a:noFill/>
          <a:ln w="0">
            <a:noFill/>
          </a:ln>
        </p:spPr>
        <p:txBody>
          <a:bodyPr wrap="square" lIns="0" tIns="0" rIns="0" bIns="0" anchor="ctr">
            <a:noAutofit/>
          </a:bodyPr>
          <a:lstStyle/>
          <a:p>
            <a:pPr algn="l">
              <a:lnSpc>
                <a:spcPct val="110000"/>
              </a:lnSpc>
              <a:buNone/>
              <a:defRPr sz="2250" b="0">
                <a:solidFill>
                  <a:srgbClr val="526276"/>
                </a:solidFill>
                <a:latin typeface="DejaVu Sans"/>
                <a:ea typeface="DejaVu Sans"/>
                <a:cs typeface="DejaVu Sans"/>
              </a:defRPr>
            </a:pPr>
            <a:r>
              <a:rPr sz="2250" b="0">
                <a:solidFill>
                  <a:srgbClr val="526276"/>
                </a:solidFill>
                <a:latin typeface="DejaVu Sans"/>
                <a:ea typeface="DejaVu Sans"/>
                <a:cs typeface="DejaVu Sans"/>
              </a:rPr>
              <a:t>Coefficients:</a:t>
            </a:r>
          </a:p>
        </p:txBody>
      </p:sp>
      <mc:AlternateContent xmlns:mc="http://schemas.openxmlformats.org/markup-compatibility/2006" xmlns:a14="http://schemas.microsoft.com/office/drawing/2010/main">
        <mc:Choice Requires="a14">
          <p:sp>
            <p:nvSpPr>
              <p:cNvPr id="17" name="coefficient_b" descr="b^{(2)}\approx -5.773416">
                <a:extLst>
                  <a:ext uri="{FF2B5EF4-FFF2-40B4-BE49-F238E27FC236}">
                    <a16:creationId xmlns:a16="http://schemas.microsoft.com/office/drawing/2014/main" id="{00BA30A2-D4E1-4A34-8DC8-986733E2C1B9}"/>
                  </a:ext>
                </a:extLst>
              </p:cNvPr>
              <p:cNvSpPr>
                <a:spLocks noGrp="1"/>
              </p:cNvSpPr>
              <p:nvPr/>
            </p:nvSpPr>
            <p:spPr>
              <a:xfrm>
                <a:off x="2692400" y="1162050"/>
                <a:ext cx="2921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𝑏</m:t>
                          </m:r>
                        </m:e>
                        <m:sup>
                          <m:r>
                            <a:rPr lang="en-GB" sz="2500">
                              <a:solidFill>
                                <a:srgbClr val="087F83"/>
                              </a:solidFill>
                              <a:latin typeface="Cambria Math"/>
                              <a:ea typeface="Cambria Math"/>
                              <a:cs typeface="Cambria Math"/>
                            </a:rPr>
                            <m:t>(2)</m:t>
                          </m:r>
                        </m:sup>
                      </m:sSup>
                      <m:r>
                        <a:rPr lang="en-GB" sz="2500">
                          <a:solidFill>
                            <a:srgbClr val="087F83"/>
                          </a:solidFill>
                          <a:latin typeface="Cambria Math"/>
                          <a:ea typeface="Cambria Math"/>
                          <a:cs typeface="Cambria Math"/>
                        </a:rPr>
                        <m:t>≈−5.773416</m:t>
                      </m:r>
                    </m:oMath>
                  </m:oMathPara>
                </a14:m>
                <a:endParaRPr lang="en-GB" sz="2500"/>
              </a:p>
            </p:txBody>
          </p:sp>
        </mc:Choice>
        <mc:Fallback xmlns="">
          <p:sp>
            <p:nvSpPr>
              <p:cNvPr id="17" name="coefficient_b" descr="b^{(2)}\approx -5.773416">
                <a:extLst>
                  <a:ext uri="{FF2B5EF4-FFF2-40B4-BE49-F238E27FC236}">
                    <a16:creationId xmlns:a16="http://schemas.microsoft.com/office/drawing/2014/main" id="{00BA30A2-D4E1-4A34-8DC8-986733E2C1B9}"/>
                  </a:ext>
                </a:extLst>
              </p:cNvPr>
              <p:cNvSpPr>
                <a:spLocks noGrp="1" noRot="1" noChangeAspect="1" noMove="1" noResize="1" noEditPoints="1" noAdjustHandles="1" noChangeArrowheads="1" noChangeShapeType="1" noTextEdit="1"/>
              </p:cNvSpPr>
              <p:nvPr/>
            </p:nvSpPr>
            <p:spPr>
              <a:xfrm>
                <a:off x="2692400" y="1162050"/>
                <a:ext cx="2921000" cy="6477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coefficient_w1" descr="w_1^{(2)}\approx -0.115049">
                <a:extLst>
                  <a:ext uri="{FF2B5EF4-FFF2-40B4-BE49-F238E27FC236}">
                    <a16:creationId xmlns:a16="http://schemas.microsoft.com/office/drawing/2014/main" id="{BEFF75A4-4456-4DC8-A163-DB4B8F000AB8}"/>
                  </a:ext>
                </a:extLst>
              </p:cNvPr>
              <p:cNvSpPr>
                <a:spLocks noGrp="1"/>
              </p:cNvSpPr>
              <p:nvPr/>
            </p:nvSpPr>
            <p:spPr>
              <a:xfrm>
                <a:off x="5778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(2)</m:t>
                          </m:r>
                        </m:sup>
                      </m:sSubSup>
                      <m:r>
                        <a:rPr lang="en-GB" sz="2500">
                          <a:solidFill>
                            <a:srgbClr val="087F83"/>
                          </a:solidFill>
                          <a:latin typeface="Cambria Math"/>
                          <a:ea typeface="Cambria Math"/>
                          <a:cs typeface="Cambria Math"/>
                        </a:rPr>
                        <m:t>≈−0.115049</m:t>
                      </m:r>
                    </m:oMath>
                  </m:oMathPara>
                </a14:m>
                <a:endParaRPr lang="en-GB" sz="2500"/>
              </a:p>
            </p:txBody>
          </p:sp>
        </mc:Choice>
        <mc:Fallback xmlns="">
          <p:sp>
            <p:nvSpPr>
              <p:cNvPr id="18" name="coefficient_w1" descr="w_1^{(2)}\approx -0.115049">
                <a:extLst>
                  <a:ext uri="{FF2B5EF4-FFF2-40B4-BE49-F238E27FC236}">
                    <a16:creationId xmlns:a16="http://schemas.microsoft.com/office/drawing/2014/main" id="{BEFF75A4-4456-4DC8-A163-DB4B8F000AB8}"/>
                  </a:ext>
                </a:extLst>
              </p:cNvPr>
              <p:cNvSpPr>
                <a:spLocks noGrp="1" noRot="1" noChangeAspect="1" noMove="1" noResize="1" noEditPoints="1" noAdjustHandles="1" noChangeArrowheads="1" noChangeShapeType="1" noTextEdit="1"/>
              </p:cNvSpPr>
              <p:nvPr/>
            </p:nvSpPr>
            <p:spPr>
              <a:xfrm>
                <a:off x="5778500" y="1162050"/>
                <a:ext cx="2794000" cy="64770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coefficient_w2" descr="w_2^{(2)}\approx 0.966988">
                <a:extLst>
                  <a:ext uri="{FF2B5EF4-FFF2-40B4-BE49-F238E27FC236}">
                    <a16:creationId xmlns:a16="http://schemas.microsoft.com/office/drawing/2014/main" id="{49E3B6A2-5C44-48E4-92D9-CA412FF073DA}"/>
                  </a:ext>
                </a:extLst>
              </p:cNvPr>
              <p:cNvSpPr>
                <a:spLocks noGrp="1"/>
              </p:cNvSpPr>
              <p:nvPr/>
            </p:nvSpPr>
            <p:spPr>
              <a:xfrm>
                <a:off x="8699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2</m:t>
                          </m:r>
                        </m:sub>
                        <m:sup>
                          <m:r>
                            <a:rPr lang="en-GB" sz="2500">
                              <a:solidFill>
                                <a:srgbClr val="087F83"/>
                              </a:solidFill>
                              <a:latin typeface="Cambria Math"/>
                              <a:ea typeface="Cambria Math"/>
                              <a:cs typeface="Cambria Math"/>
                            </a:rPr>
                            <m:t>(2)</m:t>
                          </m:r>
                        </m:sup>
                      </m:sSubSup>
                      <m:r>
                        <a:rPr lang="en-GB" sz="2500">
                          <a:solidFill>
                            <a:srgbClr val="087F83"/>
                          </a:solidFill>
                          <a:latin typeface="Cambria Math"/>
                          <a:ea typeface="Cambria Math"/>
                          <a:cs typeface="Cambria Math"/>
                        </a:rPr>
                        <m:t>≈0.966988</m:t>
                      </m:r>
                    </m:oMath>
                  </m:oMathPara>
                </a14:m>
                <a:endParaRPr lang="en-GB" sz="2500"/>
              </a:p>
            </p:txBody>
          </p:sp>
        </mc:Choice>
        <mc:Fallback xmlns="">
          <p:sp>
            <p:nvSpPr>
              <p:cNvPr id="19" name="coefficient_w2" descr="w_2^{(2)}\approx 0.966988">
                <a:extLst>
                  <a:ext uri="{FF2B5EF4-FFF2-40B4-BE49-F238E27FC236}">
                    <a16:creationId xmlns:a16="http://schemas.microsoft.com/office/drawing/2014/main" id="{49E3B6A2-5C44-48E4-92D9-CA412FF073DA}"/>
                  </a:ext>
                </a:extLst>
              </p:cNvPr>
              <p:cNvSpPr>
                <a:spLocks noGrp="1" noRot="1" noChangeAspect="1" noMove="1" noResize="1" noEditPoints="1" noAdjustHandles="1" noChangeArrowheads="1" noChangeShapeType="1" noTextEdit="1"/>
              </p:cNvSpPr>
              <p:nvPr/>
            </p:nvSpPr>
            <p:spPr>
              <a:xfrm>
                <a:off x="8699500" y="1162050"/>
                <a:ext cx="2794000" cy="64770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7482484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a:extLst>
                  <a:ext uri="{FF2B5EF4-FFF2-40B4-BE49-F238E27FC236}">
                    <a16:creationId xmlns:a16="http://schemas.microsoft.com/office/drawing/2014/main" id="{2CC0AE45-7BA1-49CB-8976-5B022F736FE9}"/>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Gradient descent: </a:t>
                </a:r>
                <a14:m>
                  <m:oMath xmlns:m="http://schemas.openxmlformats.org/officeDocument/2006/math">
                    <m:r>
                      <a:rPr lang="it-IT" sz="3150" b="1" i="1" dirty="0" smtClean="0">
                        <a:solidFill>
                          <a:srgbClr val="182D45"/>
                        </a:solidFill>
                        <a:latin typeface="Cambria Math" panose="02040503050406030204" pitchFamily="18" charset="0"/>
                        <a:ea typeface="DejaVu Sans"/>
                        <a:cs typeface="DejaVu Sans"/>
                      </a:rPr>
                      <m:t>𝜼</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r>
                      <a:rPr lang="it-IT" sz="3150" b="1" i="1" dirty="0" smtClean="0">
                        <a:solidFill>
                          <a:srgbClr val="182D45"/>
                        </a:solidFill>
                        <a:latin typeface="Cambria Math" panose="02040503050406030204" pitchFamily="18" charset="0"/>
                        <a:ea typeface="DejaVu Sans"/>
                        <a:cs typeface="DejaVu Sans"/>
                      </a:rPr>
                      <m:t>.</m:t>
                    </m:r>
                    <m:r>
                      <a:rPr lang="it-IT" sz="3150" b="1" i="1" dirty="0" smtClean="0">
                        <a:solidFill>
                          <a:srgbClr val="182D45"/>
                        </a:solidFill>
                        <a:latin typeface="Cambria Math" panose="02040503050406030204" pitchFamily="18" charset="0"/>
                        <a:ea typeface="DejaVu Sans"/>
                        <a:cs typeface="DejaVu Sans"/>
                      </a:rPr>
                      <m:t>𝟎𝟎𝟐</m:t>
                    </m:r>
                    <m:r>
                      <a:rPr lang="it-IT" sz="3150" b="1" i="1" dirty="0" smtClean="0">
                        <a:solidFill>
                          <a:srgbClr val="182D45"/>
                        </a:solidFill>
                        <a:latin typeface="Cambria Math" panose="02040503050406030204" pitchFamily="18" charset="0"/>
                        <a:ea typeface="DejaVu Sans"/>
                        <a:cs typeface="DejaVu Sans"/>
                      </a:rPr>
                      <m:t>, </m:t>
                    </m:r>
                    <m:r>
                      <a:rPr lang="it-IT" sz="3150" b="1" i="1" dirty="0" smtClean="0">
                        <a:solidFill>
                          <a:srgbClr val="182D45"/>
                        </a:solidFill>
                        <a:latin typeface="Cambria Math" panose="02040503050406030204" pitchFamily="18" charset="0"/>
                        <a:ea typeface="DejaVu Sans"/>
                        <a:cs typeface="DejaVu Sans"/>
                      </a:rPr>
                      <m:t>𝒕</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𝟓</m:t>
                    </m:r>
                  </m:oMath>
                </a14:m>
                <a:endParaRPr sz="3150" b="1" dirty="0">
                  <a:solidFill>
                    <a:srgbClr val="182D45"/>
                  </a:solidFill>
                  <a:latin typeface="DejaVu Sans"/>
                  <a:ea typeface="DejaVu Sans"/>
                  <a:cs typeface="DejaVu Sans"/>
                </a:endParaRPr>
              </a:p>
            </p:txBody>
          </p:sp>
        </mc:Choice>
        <mc:Fallback xmlns="">
          <p:sp>
            <p:nvSpPr>
              <p:cNvPr id="9" name="title">
                <a:extLst>
                  <a:ext uri="{FF2B5EF4-FFF2-40B4-BE49-F238E27FC236}">
                    <a16:creationId xmlns:a16="http://schemas.microsoft.com/office/drawing/2014/main" id="{2CC0AE45-7BA1-49CB-8976-5B022F736FE9}"/>
                  </a:ext>
                </a:extLst>
              </p:cNvPr>
              <p:cNvSpPr>
                <a:spLocks noGrp="1" noRot="1" noChangeAspect="1" noMove="1" noResize="1" noEditPoints="1" noAdjustHandles="1" noChangeArrowheads="1" noChangeShapeType="1" noTextEdit="1"/>
              </p:cNvSpPr>
              <p:nvPr/>
            </p:nvSpPr>
            <p:spPr>
              <a:xfrm>
                <a:off x="685800" y="333375"/>
                <a:ext cx="10820400" cy="666750"/>
              </a:xfrm>
              <a:prstGeom prst="rect">
                <a:avLst/>
              </a:prstGeom>
              <a:blipFill>
                <a:blip r:embed="rId3"/>
                <a:stretch>
                  <a:fillRect t="-4587" b="-2293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E2AF72D-66B5-4390-AE13-8747438FC574}"/>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6F1FDFC6-026C-404A-BA91-FD71CE323A37}"/>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40</a:t>
            </a:r>
          </a:p>
        </p:txBody>
      </p:sp>
      <p:graphicFrame>
        <p:nvGraphicFramePr>
          <p:cNvPr id="13" name="step_0_chart_0"/>
          <p:cNvGraphicFramePr/>
          <p:nvPr/>
        </p:nvGraphicFramePr>
        <p:xfrm>
          <a:off x="552450" y="1981200"/>
          <a:ext cx="5657850" cy="3619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step_0_chart_1"/>
          <p:cNvGraphicFramePr/>
          <p:nvPr/>
        </p:nvGraphicFramePr>
        <p:xfrm>
          <a:off x="6581775" y="1981200"/>
          <a:ext cx="5000625" cy="361950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step_0_equation_2" descr="x_2=4.1074-0.2126x_1">
                <a:extLst>
                  <a:ext uri="{FF2B5EF4-FFF2-40B4-BE49-F238E27FC236}">
                    <a16:creationId xmlns:a16="http://schemas.microsoft.com/office/drawing/2014/main" id="{6E69B225-608B-4197-81E4-552657548384}"/>
                  </a:ext>
                </a:extLst>
              </p:cNvPr>
              <p:cNvSpPr>
                <a:spLocks noGrp="1"/>
              </p:cNvSpPr>
              <p:nvPr/>
            </p:nvSpPr>
            <p:spPr>
              <a:xfrm>
                <a:off x="571500" y="5638800"/>
                <a:ext cx="6000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=4.1074−0.2126</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1</m:t>
                          </m:r>
                        </m:sub>
                      </m:sSub>
                    </m:oMath>
                  </m:oMathPara>
                </a14:m>
                <a:endParaRPr lang="en-GB" sz="2400"/>
              </a:p>
            </p:txBody>
          </p:sp>
        </mc:Choice>
        <mc:Fallback xmlns="">
          <p:sp>
            <p:nvSpPr>
              <p:cNvPr id="7" name="step_0_equation_2" descr="x_2=4.1074-0.2126x_1">
                <a:extLst>
                  <a:ext uri="{FF2B5EF4-FFF2-40B4-BE49-F238E27FC236}">
                    <a16:creationId xmlns:a16="http://schemas.microsoft.com/office/drawing/2014/main" id="{6E69B225-608B-4197-81E4-552657548384}"/>
                  </a:ext>
                </a:extLst>
              </p:cNvPr>
              <p:cNvSpPr>
                <a:spLocks noGrp="1" noRot="1" noChangeAspect="1" noMove="1" noResize="1" noEditPoints="1" noAdjustHandles="1" noChangeArrowheads="1" noChangeShapeType="1" noTextEdit="1"/>
              </p:cNvSpPr>
              <p:nvPr/>
            </p:nvSpPr>
            <p:spPr>
              <a:xfrm>
                <a:off x="571500" y="5638800"/>
                <a:ext cx="6000750" cy="619125"/>
              </a:xfrm>
              <a:prstGeom prst="rect">
                <a:avLst/>
              </a:prstGeom>
              <a:blipFill>
                <a:blip r:embed="rId6"/>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C59FC778-B0D1-4E53-80CB-8A4A1E053984}"/>
              </a:ext>
            </a:extLst>
          </p:cNvPr>
          <p:cNvSpPr>
            <a:spLocks noGrp="1"/>
          </p:cNvSpPr>
          <p:nvPr/>
        </p:nvSpPr>
        <p:spPr>
          <a:xfrm>
            <a:off x="6762750" y="5829300"/>
            <a:ext cx="4714875" cy="552450"/>
          </a:xfrm>
          <a:prstGeom prst="rect">
            <a:avLst/>
          </a:prstGeom>
          <a:noFill/>
          <a:ln w="0">
            <a:noFill/>
          </a:ln>
        </p:spPr>
        <p:txBody>
          <a:bodyPr wrap="square" lIns="0" tIns="0" rIns="0" bIns="0" anchor="ctr">
            <a:noAutofit/>
          </a:bodyPr>
          <a:lstStyle/>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Logistic loss: 105.343</a:t>
            </a:r>
          </a:p>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Mistakes: 49 of 100</a:t>
            </a:r>
          </a:p>
        </p:txBody>
      </p:sp>
      <p:sp>
        <p:nvSpPr>
          <p:cNvPr id="15" name="decision_region_class1">
            <a:extLst>
              <a:ext uri="{FF2B5EF4-FFF2-40B4-BE49-F238E27FC236}">
                <a16:creationId xmlns:a16="http://schemas.microsoft.com/office/drawing/2014/main" id="{0EBD8908-E2ED-4F4A-A521-21EB23EFF066}"/>
              </a:ext>
            </a:extLst>
          </p:cNvPr>
          <p:cNvSpPr>
            <a:spLocks noGrp="1"/>
          </p:cNvSpPr>
          <p:nvPr/>
        </p:nvSpPr>
        <p:spPr>
          <a:xfrm>
            <a:off x="1701166" y="2136204"/>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6" name="decision_region_class0">
            <a:extLst>
              <a:ext uri="{FF2B5EF4-FFF2-40B4-BE49-F238E27FC236}">
                <a16:creationId xmlns:a16="http://schemas.microsoft.com/office/drawing/2014/main" id="{908A28E8-03C8-4E03-A65C-A3826B282F05}"/>
              </a:ext>
            </a:extLst>
          </p:cNvPr>
          <p:cNvSpPr>
            <a:spLocks noGrp="1"/>
          </p:cNvSpPr>
          <p:nvPr/>
        </p:nvSpPr>
        <p:spPr>
          <a:xfrm>
            <a:off x="1701166" y="4134612"/>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
        <p:nvSpPr>
          <p:cNvPr id="2" name="coefficient_label">
            <a:extLst>
              <a:ext uri="{FF2B5EF4-FFF2-40B4-BE49-F238E27FC236}">
                <a16:creationId xmlns:a16="http://schemas.microsoft.com/office/drawing/2014/main" id="{37A92C9F-05C0-42F9-B6F5-17DF7ABE9304}"/>
              </a:ext>
            </a:extLst>
          </p:cNvPr>
          <p:cNvSpPr>
            <a:spLocks noGrp="1"/>
          </p:cNvSpPr>
          <p:nvPr/>
        </p:nvSpPr>
        <p:spPr>
          <a:xfrm>
            <a:off x="723900" y="1181100"/>
            <a:ext cx="1841500" cy="609600"/>
          </a:xfrm>
          <a:prstGeom prst="rect">
            <a:avLst/>
          </a:prstGeom>
          <a:noFill/>
          <a:ln w="0">
            <a:noFill/>
          </a:ln>
        </p:spPr>
        <p:txBody>
          <a:bodyPr wrap="square" lIns="0" tIns="0" rIns="0" bIns="0" anchor="ctr">
            <a:noAutofit/>
          </a:bodyPr>
          <a:lstStyle/>
          <a:p>
            <a:pPr algn="l">
              <a:lnSpc>
                <a:spcPct val="110000"/>
              </a:lnSpc>
              <a:buNone/>
              <a:defRPr sz="2250" b="0">
                <a:solidFill>
                  <a:srgbClr val="526276"/>
                </a:solidFill>
                <a:latin typeface="DejaVu Sans"/>
                <a:ea typeface="DejaVu Sans"/>
                <a:cs typeface="DejaVu Sans"/>
              </a:defRPr>
            </a:pPr>
            <a:r>
              <a:rPr sz="2250" b="0">
                <a:solidFill>
                  <a:srgbClr val="526276"/>
                </a:solidFill>
                <a:latin typeface="DejaVu Sans"/>
                <a:ea typeface="DejaVu Sans"/>
                <a:cs typeface="DejaVu Sans"/>
              </a:rPr>
              <a:t>Coefficients:</a:t>
            </a:r>
          </a:p>
        </p:txBody>
      </p:sp>
      <mc:AlternateContent xmlns:mc="http://schemas.openxmlformats.org/markup-compatibility/2006" xmlns:a14="http://schemas.microsoft.com/office/drawing/2010/main">
        <mc:Choice Requires="a14">
          <p:sp>
            <p:nvSpPr>
              <p:cNvPr id="17" name="coefficient_b" descr="b^{(5)}\approx -5.718821">
                <a:extLst>
                  <a:ext uri="{FF2B5EF4-FFF2-40B4-BE49-F238E27FC236}">
                    <a16:creationId xmlns:a16="http://schemas.microsoft.com/office/drawing/2014/main" id="{22CDEE13-6968-426C-B6B3-75911E829E2A}"/>
                  </a:ext>
                </a:extLst>
              </p:cNvPr>
              <p:cNvSpPr>
                <a:spLocks noGrp="1"/>
              </p:cNvSpPr>
              <p:nvPr/>
            </p:nvSpPr>
            <p:spPr>
              <a:xfrm>
                <a:off x="2692400" y="1162050"/>
                <a:ext cx="2921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𝑏</m:t>
                          </m:r>
                        </m:e>
                        <m:sup>
                          <m:r>
                            <a:rPr lang="en-GB" sz="2500">
                              <a:solidFill>
                                <a:srgbClr val="087F83"/>
                              </a:solidFill>
                              <a:latin typeface="Cambria Math"/>
                              <a:ea typeface="Cambria Math"/>
                              <a:cs typeface="Cambria Math"/>
                            </a:rPr>
                            <m:t>(5)</m:t>
                          </m:r>
                        </m:sup>
                      </m:sSup>
                      <m:r>
                        <a:rPr lang="en-GB" sz="2500">
                          <a:solidFill>
                            <a:srgbClr val="087F83"/>
                          </a:solidFill>
                          <a:latin typeface="Cambria Math"/>
                          <a:ea typeface="Cambria Math"/>
                          <a:cs typeface="Cambria Math"/>
                        </a:rPr>
                        <m:t>≈−5.718821</m:t>
                      </m:r>
                    </m:oMath>
                  </m:oMathPara>
                </a14:m>
                <a:endParaRPr lang="en-GB" sz="2500"/>
              </a:p>
            </p:txBody>
          </p:sp>
        </mc:Choice>
        <mc:Fallback xmlns="">
          <p:sp>
            <p:nvSpPr>
              <p:cNvPr id="17" name="coefficient_b" descr="b^{(5)}\approx -5.718821">
                <a:extLst>
                  <a:ext uri="{FF2B5EF4-FFF2-40B4-BE49-F238E27FC236}">
                    <a16:creationId xmlns:a16="http://schemas.microsoft.com/office/drawing/2014/main" id="{22CDEE13-6968-426C-B6B3-75911E829E2A}"/>
                  </a:ext>
                </a:extLst>
              </p:cNvPr>
              <p:cNvSpPr>
                <a:spLocks noGrp="1" noRot="1" noChangeAspect="1" noMove="1" noResize="1" noEditPoints="1" noAdjustHandles="1" noChangeArrowheads="1" noChangeShapeType="1" noTextEdit="1"/>
              </p:cNvSpPr>
              <p:nvPr/>
            </p:nvSpPr>
            <p:spPr>
              <a:xfrm>
                <a:off x="2692400" y="1162050"/>
                <a:ext cx="2921000" cy="6477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coefficient_w1" descr="w_1^{(5)}\approx 0.295982">
                <a:extLst>
                  <a:ext uri="{FF2B5EF4-FFF2-40B4-BE49-F238E27FC236}">
                    <a16:creationId xmlns:a16="http://schemas.microsoft.com/office/drawing/2014/main" id="{B27806F9-8156-4042-B410-05E2644821E2}"/>
                  </a:ext>
                </a:extLst>
              </p:cNvPr>
              <p:cNvSpPr>
                <a:spLocks noGrp="1"/>
              </p:cNvSpPr>
              <p:nvPr/>
            </p:nvSpPr>
            <p:spPr>
              <a:xfrm>
                <a:off x="5778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(5)</m:t>
                          </m:r>
                        </m:sup>
                      </m:sSubSup>
                      <m:r>
                        <a:rPr lang="en-GB" sz="2500">
                          <a:solidFill>
                            <a:srgbClr val="087F83"/>
                          </a:solidFill>
                          <a:latin typeface="Cambria Math"/>
                          <a:ea typeface="Cambria Math"/>
                          <a:cs typeface="Cambria Math"/>
                        </a:rPr>
                        <m:t>≈0.295982</m:t>
                      </m:r>
                    </m:oMath>
                  </m:oMathPara>
                </a14:m>
                <a:endParaRPr lang="en-GB" sz="2500"/>
              </a:p>
            </p:txBody>
          </p:sp>
        </mc:Choice>
        <mc:Fallback xmlns="">
          <p:sp>
            <p:nvSpPr>
              <p:cNvPr id="18" name="coefficient_w1" descr="w_1^{(5)}\approx 0.295982">
                <a:extLst>
                  <a:ext uri="{FF2B5EF4-FFF2-40B4-BE49-F238E27FC236}">
                    <a16:creationId xmlns:a16="http://schemas.microsoft.com/office/drawing/2014/main" id="{B27806F9-8156-4042-B410-05E2644821E2}"/>
                  </a:ext>
                </a:extLst>
              </p:cNvPr>
              <p:cNvSpPr>
                <a:spLocks noGrp="1" noRot="1" noChangeAspect="1" noMove="1" noResize="1" noEditPoints="1" noAdjustHandles="1" noChangeArrowheads="1" noChangeShapeType="1" noTextEdit="1"/>
              </p:cNvSpPr>
              <p:nvPr/>
            </p:nvSpPr>
            <p:spPr>
              <a:xfrm>
                <a:off x="5778500" y="1162050"/>
                <a:ext cx="2794000" cy="64770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coefficient_w2" descr="w_2^{(5)}\approx 1.392324">
                <a:extLst>
                  <a:ext uri="{FF2B5EF4-FFF2-40B4-BE49-F238E27FC236}">
                    <a16:creationId xmlns:a16="http://schemas.microsoft.com/office/drawing/2014/main" id="{BCFA189A-BC25-4808-945C-2EFB1AE6B3B3}"/>
                  </a:ext>
                </a:extLst>
              </p:cNvPr>
              <p:cNvSpPr>
                <a:spLocks noGrp="1"/>
              </p:cNvSpPr>
              <p:nvPr/>
            </p:nvSpPr>
            <p:spPr>
              <a:xfrm>
                <a:off x="8699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2</m:t>
                          </m:r>
                        </m:sub>
                        <m:sup>
                          <m:r>
                            <a:rPr lang="en-GB" sz="2500">
                              <a:solidFill>
                                <a:srgbClr val="087F83"/>
                              </a:solidFill>
                              <a:latin typeface="Cambria Math"/>
                              <a:ea typeface="Cambria Math"/>
                              <a:cs typeface="Cambria Math"/>
                            </a:rPr>
                            <m:t>(5)</m:t>
                          </m:r>
                        </m:sup>
                      </m:sSubSup>
                      <m:r>
                        <a:rPr lang="en-GB" sz="2500">
                          <a:solidFill>
                            <a:srgbClr val="087F83"/>
                          </a:solidFill>
                          <a:latin typeface="Cambria Math"/>
                          <a:ea typeface="Cambria Math"/>
                          <a:cs typeface="Cambria Math"/>
                        </a:rPr>
                        <m:t>≈1.392324</m:t>
                      </m:r>
                    </m:oMath>
                  </m:oMathPara>
                </a14:m>
                <a:endParaRPr lang="en-GB" sz="2500"/>
              </a:p>
            </p:txBody>
          </p:sp>
        </mc:Choice>
        <mc:Fallback xmlns="">
          <p:sp>
            <p:nvSpPr>
              <p:cNvPr id="19" name="coefficient_w2" descr="w_2^{(5)}\approx 1.392324">
                <a:extLst>
                  <a:ext uri="{FF2B5EF4-FFF2-40B4-BE49-F238E27FC236}">
                    <a16:creationId xmlns:a16="http://schemas.microsoft.com/office/drawing/2014/main" id="{BCFA189A-BC25-4808-945C-2EFB1AE6B3B3}"/>
                  </a:ext>
                </a:extLst>
              </p:cNvPr>
              <p:cNvSpPr>
                <a:spLocks noGrp="1" noRot="1" noChangeAspect="1" noMove="1" noResize="1" noEditPoints="1" noAdjustHandles="1" noChangeArrowheads="1" noChangeShapeType="1" noTextEdit="1"/>
              </p:cNvSpPr>
              <p:nvPr/>
            </p:nvSpPr>
            <p:spPr>
              <a:xfrm>
                <a:off x="8699500" y="1162050"/>
                <a:ext cx="2794000" cy="64770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7482484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a:extLst>
                  <a:ext uri="{FF2B5EF4-FFF2-40B4-BE49-F238E27FC236}">
                    <a16:creationId xmlns:a16="http://schemas.microsoft.com/office/drawing/2014/main" id="{2CC0AE45-7BA1-49CB-8976-5B022F736FE9}"/>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Gradient descent: </a:t>
                </a:r>
                <a14:m>
                  <m:oMath xmlns:m="http://schemas.openxmlformats.org/officeDocument/2006/math">
                    <m:r>
                      <a:rPr lang="it-IT" sz="3150" b="1" i="1" dirty="0" smtClean="0">
                        <a:solidFill>
                          <a:srgbClr val="182D45"/>
                        </a:solidFill>
                        <a:latin typeface="Cambria Math" panose="02040503050406030204" pitchFamily="18" charset="0"/>
                        <a:ea typeface="DejaVu Sans"/>
                        <a:cs typeface="DejaVu Sans"/>
                      </a:rPr>
                      <m:t>𝜼</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r>
                      <a:rPr lang="it-IT" sz="3150" b="1" i="1" dirty="0" smtClean="0">
                        <a:solidFill>
                          <a:srgbClr val="182D45"/>
                        </a:solidFill>
                        <a:latin typeface="Cambria Math" panose="02040503050406030204" pitchFamily="18" charset="0"/>
                        <a:ea typeface="DejaVu Sans"/>
                        <a:cs typeface="DejaVu Sans"/>
                      </a:rPr>
                      <m:t>.</m:t>
                    </m:r>
                    <m:r>
                      <a:rPr lang="it-IT" sz="3150" b="1" i="1" dirty="0" smtClean="0">
                        <a:solidFill>
                          <a:srgbClr val="182D45"/>
                        </a:solidFill>
                        <a:latin typeface="Cambria Math" panose="02040503050406030204" pitchFamily="18" charset="0"/>
                        <a:ea typeface="DejaVu Sans"/>
                        <a:cs typeface="DejaVu Sans"/>
                      </a:rPr>
                      <m:t>𝟎𝟎𝟐</m:t>
                    </m:r>
                    <m:r>
                      <a:rPr lang="it-IT" sz="3150" b="1" i="1" dirty="0" smtClean="0">
                        <a:solidFill>
                          <a:srgbClr val="182D45"/>
                        </a:solidFill>
                        <a:latin typeface="Cambria Math" panose="02040503050406030204" pitchFamily="18" charset="0"/>
                        <a:ea typeface="DejaVu Sans"/>
                        <a:cs typeface="DejaVu Sans"/>
                      </a:rPr>
                      <m:t>, </m:t>
                    </m:r>
                    <m:r>
                      <a:rPr lang="it-IT" sz="3150" b="1" i="1" dirty="0" smtClean="0">
                        <a:solidFill>
                          <a:srgbClr val="182D45"/>
                        </a:solidFill>
                        <a:latin typeface="Cambria Math" panose="02040503050406030204" pitchFamily="18" charset="0"/>
                        <a:ea typeface="DejaVu Sans"/>
                        <a:cs typeface="DejaVu Sans"/>
                      </a:rPr>
                      <m:t>𝒕</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𝟏𝟎</m:t>
                    </m:r>
                  </m:oMath>
                </a14:m>
                <a:endParaRPr sz="3150" b="1" dirty="0">
                  <a:solidFill>
                    <a:srgbClr val="182D45"/>
                  </a:solidFill>
                  <a:latin typeface="DejaVu Sans"/>
                  <a:ea typeface="DejaVu Sans"/>
                  <a:cs typeface="DejaVu Sans"/>
                </a:endParaRPr>
              </a:p>
            </p:txBody>
          </p:sp>
        </mc:Choice>
        <mc:Fallback xmlns="">
          <p:sp>
            <p:nvSpPr>
              <p:cNvPr id="9" name="title">
                <a:extLst>
                  <a:ext uri="{FF2B5EF4-FFF2-40B4-BE49-F238E27FC236}">
                    <a16:creationId xmlns:a16="http://schemas.microsoft.com/office/drawing/2014/main" id="{2CC0AE45-7BA1-49CB-8976-5B022F736FE9}"/>
                  </a:ext>
                </a:extLst>
              </p:cNvPr>
              <p:cNvSpPr>
                <a:spLocks noGrp="1" noRot="1" noChangeAspect="1" noMove="1" noResize="1" noEditPoints="1" noAdjustHandles="1" noChangeArrowheads="1" noChangeShapeType="1" noTextEdit="1"/>
              </p:cNvSpPr>
              <p:nvPr/>
            </p:nvSpPr>
            <p:spPr>
              <a:xfrm>
                <a:off x="685800" y="333375"/>
                <a:ext cx="10820400" cy="666750"/>
              </a:xfrm>
              <a:prstGeom prst="rect">
                <a:avLst/>
              </a:prstGeom>
              <a:blipFill>
                <a:blip r:embed="rId3"/>
                <a:stretch>
                  <a:fillRect t="-4587" b="-2293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E2AF72D-66B5-4390-AE13-8747438FC574}"/>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6F1FDFC6-026C-404A-BA91-FD71CE323A37}"/>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41</a:t>
            </a:r>
          </a:p>
        </p:txBody>
      </p:sp>
      <p:graphicFrame>
        <p:nvGraphicFramePr>
          <p:cNvPr id="13" name="step_0_chart_0"/>
          <p:cNvGraphicFramePr/>
          <p:nvPr/>
        </p:nvGraphicFramePr>
        <p:xfrm>
          <a:off x="552450" y="1981200"/>
          <a:ext cx="5657850" cy="3619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step_0_chart_1"/>
          <p:cNvGraphicFramePr/>
          <p:nvPr/>
        </p:nvGraphicFramePr>
        <p:xfrm>
          <a:off x="6581775" y="1981200"/>
          <a:ext cx="5000625" cy="361950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step_0_equation_2" descr="x_2=5.1460+0.2268x_1">
                <a:extLst>
                  <a:ext uri="{FF2B5EF4-FFF2-40B4-BE49-F238E27FC236}">
                    <a16:creationId xmlns:a16="http://schemas.microsoft.com/office/drawing/2014/main" id="{6E69B225-608B-4197-81E4-552657548384}"/>
                  </a:ext>
                </a:extLst>
              </p:cNvPr>
              <p:cNvSpPr>
                <a:spLocks noGrp="1"/>
              </p:cNvSpPr>
              <p:nvPr/>
            </p:nvSpPr>
            <p:spPr>
              <a:xfrm>
                <a:off x="571500" y="5638800"/>
                <a:ext cx="6000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=5.1460+0.2268</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1</m:t>
                          </m:r>
                        </m:sub>
                      </m:sSub>
                    </m:oMath>
                  </m:oMathPara>
                </a14:m>
                <a:endParaRPr lang="en-GB" sz="2400"/>
              </a:p>
            </p:txBody>
          </p:sp>
        </mc:Choice>
        <mc:Fallback xmlns="">
          <p:sp>
            <p:nvSpPr>
              <p:cNvPr id="7" name="step_0_equation_2" descr="x_2=5.1460+0.2268x_1">
                <a:extLst>
                  <a:ext uri="{FF2B5EF4-FFF2-40B4-BE49-F238E27FC236}">
                    <a16:creationId xmlns:a16="http://schemas.microsoft.com/office/drawing/2014/main" id="{6E69B225-608B-4197-81E4-552657548384}"/>
                  </a:ext>
                </a:extLst>
              </p:cNvPr>
              <p:cNvSpPr>
                <a:spLocks noGrp="1" noRot="1" noChangeAspect="1" noMove="1" noResize="1" noEditPoints="1" noAdjustHandles="1" noChangeArrowheads="1" noChangeShapeType="1" noTextEdit="1"/>
              </p:cNvSpPr>
              <p:nvPr/>
            </p:nvSpPr>
            <p:spPr>
              <a:xfrm>
                <a:off x="571500" y="5638800"/>
                <a:ext cx="6000750" cy="619125"/>
              </a:xfrm>
              <a:prstGeom prst="rect">
                <a:avLst/>
              </a:prstGeom>
              <a:blipFill>
                <a:blip r:embed="rId6"/>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C59FC778-B0D1-4E53-80CB-8A4A1E053984}"/>
              </a:ext>
            </a:extLst>
          </p:cNvPr>
          <p:cNvSpPr>
            <a:spLocks noGrp="1"/>
          </p:cNvSpPr>
          <p:nvPr/>
        </p:nvSpPr>
        <p:spPr>
          <a:xfrm>
            <a:off x="6762750" y="5829300"/>
            <a:ext cx="4714875" cy="552450"/>
          </a:xfrm>
          <a:prstGeom prst="rect">
            <a:avLst/>
          </a:prstGeom>
          <a:noFill/>
          <a:ln w="0">
            <a:noFill/>
          </a:ln>
        </p:spPr>
        <p:txBody>
          <a:bodyPr wrap="square" lIns="0" tIns="0" rIns="0" bIns="0" anchor="ctr">
            <a:noAutofit/>
          </a:bodyPr>
          <a:lstStyle/>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Logistic loss: 77.632</a:t>
            </a:r>
          </a:p>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Mistakes: 49 of 100</a:t>
            </a:r>
          </a:p>
        </p:txBody>
      </p:sp>
      <p:sp>
        <p:nvSpPr>
          <p:cNvPr id="15" name="decision_region_class1">
            <a:extLst>
              <a:ext uri="{FF2B5EF4-FFF2-40B4-BE49-F238E27FC236}">
                <a16:creationId xmlns:a16="http://schemas.microsoft.com/office/drawing/2014/main" id="{E2494F10-E048-4DD3-BB2F-E379A1C770F6}"/>
              </a:ext>
            </a:extLst>
          </p:cNvPr>
          <p:cNvSpPr>
            <a:spLocks noGrp="1"/>
          </p:cNvSpPr>
          <p:nvPr/>
        </p:nvSpPr>
        <p:spPr>
          <a:xfrm>
            <a:off x="1701166" y="2136204"/>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6" name="decision_region_class0">
            <a:extLst>
              <a:ext uri="{FF2B5EF4-FFF2-40B4-BE49-F238E27FC236}">
                <a16:creationId xmlns:a16="http://schemas.microsoft.com/office/drawing/2014/main" id="{F492ED49-9C61-49B3-9031-0A6849FED11D}"/>
              </a:ext>
            </a:extLst>
          </p:cNvPr>
          <p:cNvSpPr>
            <a:spLocks noGrp="1"/>
          </p:cNvSpPr>
          <p:nvPr/>
        </p:nvSpPr>
        <p:spPr>
          <a:xfrm>
            <a:off x="1701166" y="4134612"/>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
        <p:nvSpPr>
          <p:cNvPr id="2" name="coefficient_label">
            <a:extLst>
              <a:ext uri="{FF2B5EF4-FFF2-40B4-BE49-F238E27FC236}">
                <a16:creationId xmlns:a16="http://schemas.microsoft.com/office/drawing/2014/main" id="{444C3730-0BEB-4A83-B805-E5D223AA6D74}"/>
              </a:ext>
            </a:extLst>
          </p:cNvPr>
          <p:cNvSpPr>
            <a:spLocks noGrp="1"/>
          </p:cNvSpPr>
          <p:nvPr/>
        </p:nvSpPr>
        <p:spPr>
          <a:xfrm>
            <a:off x="723900" y="1181100"/>
            <a:ext cx="1841500" cy="609600"/>
          </a:xfrm>
          <a:prstGeom prst="rect">
            <a:avLst/>
          </a:prstGeom>
          <a:noFill/>
          <a:ln w="0">
            <a:noFill/>
          </a:ln>
        </p:spPr>
        <p:txBody>
          <a:bodyPr wrap="square" lIns="0" tIns="0" rIns="0" bIns="0" anchor="ctr">
            <a:noAutofit/>
          </a:bodyPr>
          <a:lstStyle/>
          <a:p>
            <a:pPr algn="l">
              <a:lnSpc>
                <a:spcPct val="110000"/>
              </a:lnSpc>
              <a:buNone/>
              <a:defRPr sz="2250" b="0">
                <a:solidFill>
                  <a:srgbClr val="526276"/>
                </a:solidFill>
                <a:latin typeface="DejaVu Sans"/>
                <a:ea typeface="DejaVu Sans"/>
                <a:cs typeface="DejaVu Sans"/>
              </a:defRPr>
            </a:pPr>
            <a:r>
              <a:rPr sz="2250" b="0">
                <a:solidFill>
                  <a:srgbClr val="526276"/>
                </a:solidFill>
                <a:latin typeface="DejaVu Sans"/>
                <a:ea typeface="DejaVu Sans"/>
                <a:cs typeface="DejaVu Sans"/>
              </a:rPr>
              <a:t>Coefficients:</a:t>
            </a:r>
          </a:p>
        </p:txBody>
      </p:sp>
      <mc:AlternateContent xmlns:mc="http://schemas.openxmlformats.org/markup-compatibility/2006" xmlns:a14="http://schemas.microsoft.com/office/drawing/2010/main">
        <mc:Choice Requires="a14">
          <p:sp>
            <p:nvSpPr>
              <p:cNvPr id="17" name="coefficient_b" descr="b^{(10)}\approx -5.825631">
                <a:extLst>
                  <a:ext uri="{FF2B5EF4-FFF2-40B4-BE49-F238E27FC236}">
                    <a16:creationId xmlns:a16="http://schemas.microsoft.com/office/drawing/2014/main" id="{E9BA4BB0-7152-4928-B64F-9F550E9E56B8}"/>
                  </a:ext>
                </a:extLst>
              </p:cNvPr>
              <p:cNvSpPr>
                <a:spLocks noGrp="1"/>
              </p:cNvSpPr>
              <p:nvPr/>
            </p:nvSpPr>
            <p:spPr>
              <a:xfrm>
                <a:off x="2692400" y="1162050"/>
                <a:ext cx="2921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𝑏</m:t>
                          </m:r>
                        </m:e>
                        <m:sup>
                          <m:r>
                            <a:rPr lang="en-GB" sz="2500">
                              <a:solidFill>
                                <a:srgbClr val="087F83"/>
                              </a:solidFill>
                              <a:latin typeface="Cambria Math"/>
                              <a:ea typeface="Cambria Math"/>
                              <a:cs typeface="Cambria Math"/>
                            </a:rPr>
                            <m:t>(10)</m:t>
                          </m:r>
                        </m:sup>
                      </m:sSup>
                      <m:r>
                        <a:rPr lang="en-GB" sz="2500">
                          <a:solidFill>
                            <a:srgbClr val="087F83"/>
                          </a:solidFill>
                          <a:latin typeface="Cambria Math"/>
                          <a:ea typeface="Cambria Math"/>
                          <a:cs typeface="Cambria Math"/>
                        </a:rPr>
                        <m:t>≈−5.825631</m:t>
                      </m:r>
                    </m:oMath>
                  </m:oMathPara>
                </a14:m>
                <a:endParaRPr lang="en-GB" sz="2500"/>
              </a:p>
            </p:txBody>
          </p:sp>
        </mc:Choice>
        <mc:Fallback xmlns="">
          <p:sp>
            <p:nvSpPr>
              <p:cNvPr id="17" name="coefficient_b" descr="b^{(10)}\approx -5.825631">
                <a:extLst>
                  <a:ext uri="{FF2B5EF4-FFF2-40B4-BE49-F238E27FC236}">
                    <a16:creationId xmlns:a16="http://schemas.microsoft.com/office/drawing/2014/main" id="{E9BA4BB0-7152-4928-B64F-9F550E9E56B8}"/>
                  </a:ext>
                </a:extLst>
              </p:cNvPr>
              <p:cNvSpPr>
                <a:spLocks noGrp="1" noRot="1" noChangeAspect="1" noMove="1" noResize="1" noEditPoints="1" noAdjustHandles="1" noChangeArrowheads="1" noChangeShapeType="1" noTextEdit="1"/>
              </p:cNvSpPr>
              <p:nvPr/>
            </p:nvSpPr>
            <p:spPr>
              <a:xfrm>
                <a:off x="2692400" y="1162050"/>
                <a:ext cx="2921000" cy="6477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coefficient_w1" descr="w_1^{(10)}\approx -0.256765">
                <a:extLst>
                  <a:ext uri="{FF2B5EF4-FFF2-40B4-BE49-F238E27FC236}">
                    <a16:creationId xmlns:a16="http://schemas.microsoft.com/office/drawing/2014/main" id="{C7766717-FD70-418C-A8B6-C79167569AFD}"/>
                  </a:ext>
                </a:extLst>
              </p:cNvPr>
              <p:cNvSpPr>
                <a:spLocks noGrp="1"/>
              </p:cNvSpPr>
              <p:nvPr/>
            </p:nvSpPr>
            <p:spPr>
              <a:xfrm>
                <a:off x="5778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(10)</m:t>
                          </m:r>
                        </m:sup>
                      </m:sSubSup>
                      <m:r>
                        <a:rPr lang="en-GB" sz="2500">
                          <a:solidFill>
                            <a:srgbClr val="087F83"/>
                          </a:solidFill>
                          <a:latin typeface="Cambria Math"/>
                          <a:ea typeface="Cambria Math"/>
                          <a:cs typeface="Cambria Math"/>
                        </a:rPr>
                        <m:t>≈−0.256765</m:t>
                      </m:r>
                    </m:oMath>
                  </m:oMathPara>
                </a14:m>
                <a:endParaRPr lang="en-GB" sz="2500"/>
              </a:p>
            </p:txBody>
          </p:sp>
        </mc:Choice>
        <mc:Fallback xmlns="">
          <p:sp>
            <p:nvSpPr>
              <p:cNvPr id="18" name="coefficient_w1" descr="w_1^{(10)}\approx -0.256765">
                <a:extLst>
                  <a:ext uri="{FF2B5EF4-FFF2-40B4-BE49-F238E27FC236}">
                    <a16:creationId xmlns:a16="http://schemas.microsoft.com/office/drawing/2014/main" id="{C7766717-FD70-418C-A8B6-C79167569AFD}"/>
                  </a:ext>
                </a:extLst>
              </p:cNvPr>
              <p:cNvSpPr>
                <a:spLocks noGrp="1" noRot="1" noChangeAspect="1" noMove="1" noResize="1" noEditPoints="1" noAdjustHandles="1" noChangeArrowheads="1" noChangeShapeType="1" noTextEdit="1"/>
              </p:cNvSpPr>
              <p:nvPr/>
            </p:nvSpPr>
            <p:spPr>
              <a:xfrm>
                <a:off x="5778500" y="1162050"/>
                <a:ext cx="2794000" cy="64770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coefficient_w2" descr="w_2^{(10)}\approx 1.132075">
                <a:extLst>
                  <a:ext uri="{FF2B5EF4-FFF2-40B4-BE49-F238E27FC236}">
                    <a16:creationId xmlns:a16="http://schemas.microsoft.com/office/drawing/2014/main" id="{38678128-8987-471B-9818-975D2EB3452B}"/>
                  </a:ext>
                </a:extLst>
              </p:cNvPr>
              <p:cNvSpPr>
                <a:spLocks noGrp="1"/>
              </p:cNvSpPr>
              <p:nvPr/>
            </p:nvSpPr>
            <p:spPr>
              <a:xfrm>
                <a:off x="8699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2</m:t>
                          </m:r>
                        </m:sub>
                        <m:sup>
                          <m:r>
                            <a:rPr lang="en-GB" sz="2500">
                              <a:solidFill>
                                <a:srgbClr val="087F83"/>
                              </a:solidFill>
                              <a:latin typeface="Cambria Math"/>
                              <a:ea typeface="Cambria Math"/>
                              <a:cs typeface="Cambria Math"/>
                            </a:rPr>
                            <m:t>(10)</m:t>
                          </m:r>
                        </m:sup>
                      </m:sSubSup>
                      <m:r>
                        <a:rPr lang="en-GB" sz="2500">
                          <a:solidFill>
                            <a:srgbClr val="087F83"/>
                          </a:solidFill>
                          <a:latin typeface="Cambria Math"/>
                          <a:ea typeface="Cambria Math"/>
                          <a:cs typeface="Cambria Math"/>
                        </a:rPr>
                        <m:t>≈1.132075</m:t>
                      </m:r>
                    </m:oMath>
                  </m:oMathPara>
                </a14:m>
                <a:endParaRPr lang="en-GB" sz="2500"/>
              </a:p>
            </p:txBody>
          </p:sp>
        </mc:Choice>
        <mc:Fallback xmlns="">
          <p:sp>
            <p:nvSpPr>
              <p:cNvPr id="19" name="coefficient_w2" descr="w_2^{(10)}\approx 1.132075">
                <a:extLst>
                  <a:ext uri="{FF2B5EF4-FFF2-40B4-BE49-F238E27FC236}">
                    <a16:creationId xmlns:a16="http://schemas.microsoft.com/office/drawing/2014/main" id="{38678128-8987-471B-9818-975D2EB3452B}"/>
                  </a:ext>
                </a:extLst>
              </p:cNvPr>
              <p:cNvSpPr>
                <a:spLocks noGrp="1" noRot="1" noChangeAspect="1" noMove="1" noResize="1" noEditPoints="1" noAdjustHandles="1" noChangeArrowheads="1" noChangeShapeType="1" noTextEdit="1"/>
              </p:cNvSpPr>
              <p:nvPr/>
            </p:nvSpPr>
            <p:spPr>
              <a:xfrm>
                <a:off x="8699500" y="1162050"/>
                <a:ext cx="2794000" cy="64770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7482484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a:extLst>
                  <a:ext uri="{FF2B5EF4-FFF2-40B4-BE49-F238E27FC236}">
                    <a16:creationId xmlns:a16="http://schemas.microsoft.com/office/drawing/2014/main" id="{123D8850-850C-4F52-B382-C2C48837992A}"/>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Gradient descent: </a:t>
                </a:r>
                <a14:m>
                  <m:oMath xmlns:m="http://schemas.openxmlformats.org/officeDocument/2006/math">
                    <m:r>
                      <a:rPr lang="it-IT" sz="3150" b="1" i="1" dirty="0" smtClean="0">
                        <a:solidFill>
                          <a:srgbClr val="182D45"/>
                        </a:solidFill>
                        <a:latin typeface="Cambria Math" panose="02040503050406030204" pitchFamily="18" charset="0"/>
                        <a:ea typeface="DejaVu Sans"/>
                        <a:cs typeface="DejaVu Sans"/>
                      </a:rPr>
                      <m:t>𝜼</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𝟎</m:t>
                    </m:r>
                    <m:r>
                      <a:rPr lang="it-IT" sz="3150" b="1" i="1" dirty="0" smtClean="0">
                        <a:solidFill>
                          <a:srgbClr val="182D45"/>
                        </a:solidFill>
                        <a:latin typeface="Cambria Math" panose="02040503050406030204" pitchFamily="18" charset="0"/>
                        <a:ea typeface="DejaVu Sans"/>
                        <a:cs typeface="DejaVu Sans"/>
                      </a:rPr>
                      <m:t>.</m:t>
                    </m:r>
                    <m:r>
                      <a:rPr lang="it-IT" sz="3150" b="1" i="1" dirty="0" smtClean="0">
                        <a:solidFill>
                          <a:srgbClr val="182D45"/>
                        </a:solidFill>
                        <a:latin typeface="Cambria Math" panose="02040503050406030204" pitchFamily="18" charset="0"/>
                        <a:ea typeface="DejaVu Sans"/>
                        <a:cs typeface="DejaVu Sans"/>
                      </a:rPr>
                      <m:t>𝟎𝟎𝟐</m:t>
                    </m:r>
                    <m:r>
                      <a:rPr lang="it-IT" sz="3150" b="1" i="1" dirty="0" smtClean="0">
                        <a:solidFill>
                          <a:srgbClr val="182D45"/>
                        </a:solidFill>
                        <a:latin typeface="Cambria Math" panose="02040503050406030204" pitchFamily="18" charset="0"/>
                        <a:ea typeface="DejaVu Sans"/>
                        <a:cs typeface="DejaVu Sans"/>
                      </a:rPr>
                      <m:t>, </m:t>
                    </m:r>
                    <m:r>
                      <a:rPr lang="it-IT" sz="3150" b="1" i="1" dirty="0" smtClean="0">
                        <a:solidFill>
                          <a:srgbClr val="182D45"/>
                        </a:solidFill>
                        <a:latin typeface="Cambria Math" panose="02040503050406030204" pitchFamily="18" charset="0"/>
                        <a:ea typeface="DejaVu Sans"/>
                        <a:cs typeface="DejaVu Sans"/>
                      </a:rPr>
                      <m:t>𝒕</m:t>
                    </m:r>
                    <m:r>
                      <a:rPr lang="it-IT" sz="3150" b="1" i="1" dirty="0" smtClean="0">
                        <a:solidFill>
                          <a:srgbClr val="182D45"/>
                        </a:solidFill>
                        <a:latin typeface="Cambria Math" panose="02040503050406030204" pitchFamily="18" charset="0"/>
                        <a:ea typeface="DejaVu Sans"/>
                        <a:cs typeface="DejaVu Sans"/>
                      </a:rPr>
                      <m:t> = </m:t>
                    </m:r>
                    <m:r>
                      <a:rPr lang="it-IT" sz="3150" b="1" i="1" dirty="0" smtClean="0">
                        <a:solidFill>
                          <a:srgbClr val="182D45"/>
                        </a:solidFill>
                        <a:latin typeface="Cambria Math" panose="02040503050406030204" pitchFamily="18" charset="0"/>
                        <a:ea typeface="DejaVu Sans"/>
                        <a:cs typeface="DejaVu Sans"/>
                      </a:rPr>
                      <m:t>𝟐𝟎</m:t>
                    </m:r>
                  </m:oMath>
                </a14:m>
                <a:endParaRPr sz="3150" b="1" dirty="0">
                  <a:solidFill>
                    <a:srgbClr val="182D45"/>
                  </a:solidFill>
                  <a:latin typeface="DejaVu Sans"/>
                  <a:ea typeface="DejaVu Sans"/>
                  <a:cs typeface="DejaVu Sans"/>
                </a:endParaRPr>
              </a:p>
            </p:txBody>
          </p:sp>
        </mc:Choice>
        <mc:Fallback xmlns="">
          <p:sp>
            <p:nvSpPr>
              <p:cNvPr id="9" name="title">
                <a:extLst>
                  <a:ext uri="{FF2B5EF4-FFF2-40B4-BE49-F238E27FC236}">
                    <a16:creationId xmlns:a16="http://schemas.microsoft.com/office/drawing/2014/main" id="{123D8850-850C-4F52-B382-C2C48837992A}"/>
                  </a:ext>
                </a:extLst>
              </p:cNvPr>
              <p:cNvSpPr>
                <a:spLocks noGrp="1" noRot="1" noChangeAspect="1" noMove="1" noResize="1" noEditPoints="1" noAdjustHandles="1" noChangeArrowheads="1" noChangeShapeType="1" noTextEdit="1"/>
              </p:cNvSpPr>
              <p:nvPr/>
            </p:nvSpPr>
            <p:spPr>
              <a:xfrm>
                <a:off x="685800" y="333375"/>
                <a:ext cx="10820400" cy="666750"/>
              </a:xfrm>
              <a:prstGeom prst="rect">
                <a:avLst/>
              </a:prstGeom>
              <a:blipFill>
                <a:blip r:embed="rId3"/>
                <a:stretch>
                  <a:fillRect t="-4587" b="-22936"/>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4F6F1E2F-B7DC-4F56-B09F-7B288AB64B9D}"/>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D2F5DDFF-E62E-4438-B914-C568B1215ADD}"/>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42</a:t>
            </a:r>
          </a:p>
        </p:txBody>
      </p:sp>
      <p:graphicFrame>
        <p:nvGraphicFramePr>
          <p:cNvPr id="13" name="step_0_chart_0"/>
          <p:cNvGraphicFramePr/>
          <p:nvPr/>
        </p:nvGraphicFramePr>
        <p:xfrm>
          <a:off x="552450" y="1981200"/>
          <a:ext cx="5657850" cy="3619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step_0_chart_1"/>
          <p:cNvGraphicFramePr/>
          <p:nvPr/>
        </p:nvGraphicFramePr>
        <p:xfrm>
          <a:off x="6581775" y="1981200"/>
          <a:ext cx="5000625" cy="361950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step_0_equation_2" descr="x_2=4.3769+0.3015x_1">
                <a:extLst>
                  <a:ext uri="{FF2B5EF4-FFF2-40B4-BE49-F238E27FC236}">
                    <a16:creationId xmlns:a16="http://schemas.microsoft.com/office/drawing/2014/main" id="{5DB5DC20-F941-4C46-B110-940FAB07CE04}"/>
                  </a:ext>
                </a:extLst>
              </p:cNvPr>
              <p:cNvSpPr>
                <a:spLocks noGrp="1"/>
              </p:cNvSpPr>
              <p:nvPr/>
            </p:nvSpPr>
            <p:spPr>
              <a:xfrm>
                <a:off x="571500" y="5638800"/>
                <a:ext cx="6000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=4.3769+0.3015</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𝑥</m:t>
                          </m:r>
                        </m:e>
                        <m:sub>
                          <m:r>
                            <a:rPr lang="en-GB" sz="2400">
                              <a:solidFill>
                                <a:srgbClr val="087F83"/>
                              </a:solidFill>
                              <a:latin typeface="Cambria Math"/>
                              <a:ea typeface="Cambria Math"/>
                              <a:cs typeface="Cambria Math"/>
                            </a:rPr>
                            <m:t>1</m:t>
                          </m:r>
                        </m:sub>
                      </m:sSub>
                    </m:oMath>
                  </m:oMathPara>
                </a14:m>
                <a:endParaRPr lang="en-GB" sz="2400"/>
              </a:p>
            </p:txBody>
          </p:sp>
        </mc:Choice>
        <mc:Fallback xmlns="">
          <p:sp>
            <p:nvSpPr>
              <p:cNvPr id="7" name="step_0_equation_2" descr="x_2=4.3769+0.3015x_1">
                <a:extLst>
                  <a:ext uri="{FF2B5EF4-FFF2-40B4-BE49-F238E27FC236}">
                    <a16:creationId xmlns:a16="http://schemas.microsoft.com/office/drawing/2014/main" id="{5DB5DC20-F941-4C46-B110-940FAB07CE04}"/>
                  </a:ext>
                </a:extLst>
              </p:cNvPr>
              <p:cNvSpPr>
                <a:spLocks noGrp="1" noRot="1" noChangeAspect="1" noMove="1" noResize="1" noEditPoints="1" noAdjustHandles="1" noChangeArrowheads="1" noChangeShapeType="1" noTextEdit="1"/>
              </p:cNvSpPr>
              <p:nvPr/>
            </p:nvSpPr>
            <p:spPr>
              <a:xfrm>
                <a:off x="571500" y="5638800"/>
                <a:ext cx="6000750" cy="619125"/>
              </a:xfrm>
              <a:prstGeom prst="rect">
                <a:avLst/>
              </a:prstGeom>
              <a:blipFill>
                <a:blip r:embed="rId6"/>
                <a:stretch>
                  <a:fillRect/>
                </a:stretch>
              </a:blipFill>
              <a:ln w="0">
                <a:noFill/>
              </a:ln>
            </p:spPr>
            <p:txBody>
              <a:bodyPr/>
              <a:lstStyle/>
              <a:p>
                <a:r>
                  <a:rPr lang="it-IT">
                    <a:noFill/>
                  </a:rPr>
                  <a:t> </a:t>
                </a:r>
              </a:p>
            </p:txBody>
          </p:sp>
        </mc:Fallback>
      </mc:AlternateContent>
      <p:sp>
        <p:nvSpPr>
          <p:cNvPr id="8" name="step_0_text_3">
            <a:extLst>
              <a:ext uri="{FF2B5EF4-FFF2-40B4-BE49-F238E27FC236}">
                <a16:creationId xmlns:a16="http://schemas.microsoft.com/office/drawing/2014/main" id="{AF58B8EC-4128-4CE8-BC81-E8DB9E71FA5A}"/>
              </a:ext>
            </a:extLst>
          </p:cNvPr>
          <p:cNvSpPr>
            <a:spLocks noGrp="1"/>
          </p:cNvSpPr>
          <p:nvPr/>
        </p:nvSpPr>
        <p:spPr>
          <a:xfrm>
            <a:off x="6762750" y="5829300"/>
            <a:ext cx="4714875" cy="552450"/>
          </a:xfrm>
          <a:prstGeom prst="rect">
            <a:avLst/>
          </a:prstGeom>
          <a:noFill/>
          <a:ln w="0">
            <a:noFill/>
          </a:ln>
        </p:spPr>
        <p:txBody>
          <a:bodyPr wrap="square" lIns="0" tIns="0" rIns="0" bIns="0" anchor="ctr">
            <a:noAutofit/>
          </a:bodyPr>
          <a:lstStyle/>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Logistic loss: 72.282</a:t>
            </a:r>
          </a:p>
          <a:p>
            <a:pPr algn="ctr">
              <a:lnSpc>
                <a:spcPct val="112000"/>
              </a:lnSpc>
              <a:buNone/>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Mistakes: 48 of 100</a:t>
            </a:r>
          </a:p>
        </p:txBody>
      </p:sp>
      <p:sp>
        <p:nvSpPr>
          <p:cNvPr id="15" name="decision_region_class1">
            <a:extLst>
              <a:ext uri="{FF2B5EF4-FFF2-40B4-BE49-F238E27FC236}">
                <a16:creationId xmlns:a16="http://schemas.microsoft.com/office/drawing/2014/main" id="{23D008B2-B24F-4A8F-B3DB-85F650847D68}"/>
              </a:ext>
            </a:extLst>
          </p:cNvPr>
          <p:cNvSpPr>
            <a:spLocks noGrp="1"/>
          </p:cNvSpPr>
          <p:nvPr/>
        </p:nvSpPr>
        <p:spPr>
          <a:xfrm>
            <a:off x="1701166" y="2136204"/>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C45C28"/>
                </a:solidFill>
                <a:latin typeface="DejaVu Sans"/>
                <a:ea typeface="DejaVu Sans"/>
                <a:cs typeface="DejaVu Sans"/>
              </a:defRPr>
            </a:pPr>
            <a:r>
              <a:rPr sz="1800" b="1">
                <a:solidFill>
                  <a:srgbClr val="C45C28"/>
                </a:solidFill>
                <a:latin typeface="DejaVu Sans"/>
                <a:ea typeface="DejaVu Sans"/>
                <a:cs typeface="DejaVu Sans"/>
              </a:rPr>
              <a:t>Class 1</a:t>
            </a:r>
          </a:p>
        </p:txBody>
      </p:sp>
      <p:sp>
        <p:nvSpPr>
          <p:cNvPr id="16" name="decision_region_class0">
            <a:extLst>
              <a:ext uri="{FF2B5EF4-FFF2-40B4-BE49-F238E27FC236}">
                <a16:creationId xmlns:a16="http://schemas.microsoft.com/office/drawing/2014/main" id="{9360ADD5-47C7-4778-A4B9-7E0D26703D56}"/>
              </a:ext>
            </a:extLst>
          </p:cNvPr>
          <p:cNvSpPr>
            <a:spLocks noGrp="1"/>
          </p:cNvSpPr>
          <p:nvPr/>
        </p:nvSpPr>
        <p:spPr>
          <a:xfrm>
            <a:off x="1701166" y="4134612"/>
            <a:ext cx="1133475" cy="266700"/>
          </a:xfrm>
          <a:prstGeom prst="rect">
            <a:avLst/>
          </a:prstGeom>
          <a:noFill/>
          <a:ln w="0">
            <a:noFill/>
          </a:ln>
        </p:spPr>
        <p:txBody>
          <a:bodyPr wrap="square" lIns="0" tIns="0" rIns="0" bIns="0" anchor="ctr">
            <a:noAutofit/>
          </a:bodyPr>
          <a:lstStyle/>
          <a:p>
            <a:pPr algn="ctr">
              <a:lnSpc>
                <a:spcPct val="110000"/>
              </a:lnSpc>
              <a:buNone/>
              <a:defRPr sz="1800" b="1">
                <a:solidFill>
                  <a:srgbClr val="326CB2"/>
                </a:solidFill>
                <a:latin typeface="DejaVu Sans"/>
                <a:ea typeface="DejaVu Sans"/>
                <a:cs typeface="DejaVu Sans"/>
              </a:defRPr>
            </a:pPr>
            <a:r>
              <a:rPr sz="1800" b="1">
                <a:solidFill>
                  <a:srgbClr val="326CB2"/>
                </a:solidFill>
                <a:latin typeface="DejaVu Sans"/>
                <a:ea typeface="DejaVu Sans"/>
                <a:cs typeface="DejaVu Sans"/>
              </a:rPr>
              <a:t>Class 0</a:t>
            </a:r>
          </a:p>
        </p:txBody>
      </p:sp>
      <p:sp>
        <p:nvSpPr>
          <p:cNvPr id="2" name="coefficient_label">
            <a:extLst>
              <a:ext uri="{FF2B5EF4-FFF2-40B4-BE49-F238E27FC236}">
                <a16:creationId xmlns:a16="http://schemas.microsoft.com/office/drawing/2014/main" id="{CBD5B8BE-7E27-4F99-A9B6-007000747C5C}"/>
              </a:ext>
            </a:extLst>
          </p:cNvPr>
          <p:cNvSpPr>
            <a:spLocks noGrp="1"/>
          </p:cNvSpPr>
          <p:nvPr/>
        </p:nvSpPr>
        <p:spPr>
          <a:xfrm>
            <a:off x="723900" y="1181100"/>
            <a:ext cx="1841500" cy="609600"/>
          </a:xfrm>
          <a:prstGeom prst="rect">
            <a:avLst/>
          </a:prstGeom>
          <a:noFill/>
          <a:ln w="0">
            <a:noFill/>
          </a:ln>
        </p:spPr>
        <p:txBody>
          <a:bodyPr wrap="square" lIns="0" tIns="0" rIns="0" bIns="0" anchor="ctr">
            <a:noAutofit/>
          </a:bodyPr>
          <a:lstStyle/>
          <a:p>
            <a:pPr algn="l">
              <a:lnSpc>
                <a:spcPct val="110000"/>
              </a:lnSpc>
              <a:buNone/>
              <a:defRPr sz="2250" b="0">
                <a:solidFill>
                  <a:srgbClr val="526276"/>
                </a:solidFill>
                <a:latin typeface="DejaVu Sans"/>
                <a:ea typeface="DejaVu Sans"/>
                <a:cs typeface="DejaVu Sans"/>
              </a:defRPr>
            </a:pPr>
            <a:r>
              <a:rPr sz="2250" b="0">
                <a:solidFill>
                  <a:srgbClr val="526276"/>
                </a:solidFill>
                <a:latin typeface="DejaVu Sans"/>
                <a:ea typeface="DejaVu Sans"/>
                <a:cs typeface="DejaVu Sans"/>
              </a:rPr>
              <a:t>Coefficients:</a:t>
            </a:r>
          </a:p>
        </p:txBody>
      </p:sp>
      <mc:AlternateContent xmlns:mc="http://schemas.openxmlformats.org/markup-compatibility/2006" xmlns:a14="http://schemas.microsoft.com/office/drawing/2010/main">
        <mc:Choice Requires="a14">
          <p:sp>
            <p:nvSpPr>
              <p:cNvPr id="17" name="coefficient_b" descr="b^{(20)}\approx -5.884803">
                <a:extLst>
                  <a:ext uri="{FF2B5EF4-FFF2-40B4-BE49-F238E27FC236}">
                    <a16:creationId xmlns:a16="http://schemas.microsoft.com/office/drawing/2014/main" id="{B335923C-8F2B-4757-AC95-E76CA7E98A4B}"/>
                  </a:ext>
                </a:extLst>
              </p:cNvPr>
              <p:cNvSpPr>
                <a:spLocks noGrp="1"/>
              </p:cNvSpPr>
              <p:nvPr/>
            </p:nvSpPr>
            <p:spPr>
              <a:xfrm>
                <a:off x="2692400" y="1162050"/>
                <a:ext cx="2921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𝑏</m:t>
                          </m:r>
                        </m:e>
                        <m:sup>
                          <m:r>
                            <a:rPr lang="en-GB" sz="2500">
                              <a:solidFill>
                                <a:srgbClr val="087F83"/>
                              </a:solidFill>
                              <a:latin typeface="Cambria Math"/>
                              <a:ea typeface="Cambria Math"/>
                              <a:cs typeface="Cambria Math"/>
                            </a:rPr>
                            <m:t>(20)</m:t>
                          </m:r>
                        </m:sup>
                      </m:sSup>
                      <m:r>
                        <a:rPr lang="en-GB" sz="2500">
                          <a:solidFill>
                            <a:srgbClr val="087F83"/>
                          </a:solidFill>
                          <a:latin typeface="Cambria Math"/>
                          <a:ea typeface="Cambria Math"/>
                          <a:cs typeface="Cambria Math"/>
                        </a:rPr>
                        <m:t>≈−5.884803</m:t>
                      </m:r>
                    </m:oMath>
                  </m:oMathPara>
                </a14:m>
                <a:endParaRPr lang="en-GB" sz="2500"/>
              </a:p>
            </p:txBody>
          </p:sp>
        </mc:Choice>
        <mc:Fallback xmlns="">
          <p:sp>
            <p:nvSpPr>
              <p:cNvPr id="17" name="coefficient_b" descr="b^{(20)}\approx -5.884803">
                <a:extLst>
                  <a:ext uri="{FF2B5EF4-FFF2-40B4-BE49-F238E27FC236}">
                    <a16:creationId xmlns:a16="http://schemas.microsoft.com/office/drawing/2014/main" id="{B335923C-8F2B-4757-AC95-E76CA7E98A4B}"/>
                  </a:ext>
                </a:extLst>
              </p:cNvPr>
              <p:cNvSpPr>
                <a:spLocks noGrp="1" noRot="1" noChangeAspect="1" noMove="1" noResize="1" noEditPoints="1" noAdjustHandles="1" noChangeArrowheads="1" noChangeShapeType="1" noTextEdit="1"/>
              </p:cNvSpPr>
              <p:nvPr/>
            </p:nvSpPr>
            <p:spPr>
              <a:xfrm>
                <a:off x="2692400" y="1162050"/>
                <a:ext cx="2921000" cy="6477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coefficient_w1" descr="w_1^{(20)}\approx -0.405317">
                <a:extLst>
                  <a:ext uri="{FF2B5EF4-FFF2-40B4-BE49-F238E27FC236}">
                    <a16:creationId xmlns:a16="http://schemas.microsoft.com/office/drawing/2014/main" id="{C3DFF33D-4847-4BA1-810C-E87A035142F1}"/>
                  </a:ext>
                </a:extLst>
              </p:cNvPr>
              <p:cNvSpPr>
                <a:spLocks noGrp="1"/>
              </p:cNvSpPr>
              <p:nvPr/>
            </p:nvSpPr>
            <p:spPr>
              <a:xfrm>
                <a:off x="5778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(20)</m:t>
                          </m:r>
                        </m:sup>
                      </m:sSubSup>
                      <m:r>
                        <a:rPr lang="en-GB" sz="2500">
                          <a:solidFill>
                            <a:srgbClr val="087F83"/>
                          </a:solidFill>
                          <a:latin typeface="Cambria Math"/>
                          <a:ea typeface="Cambria Math"/>
                          <a:cs typeface="Cambria Math"/>
                        </a:rPr>
                        <m:t>≈−0.405317</m:t>
                      </m:r>
                    </m:oMath>
                  </m:oMathPara>
                </a14:m>
                <a:endParaRPr lang="en-GB" sz="2500"/>
              </a:p>
            </p:txBody>
          </p:sp>
        </mc:Choice>
        <mc:Fallback xmlns="">
          <p:sp>
            <p:nvSpPr>
              <p:cNvPr id="18" name="coefficient_w1" descr="w_1^{(20)}\approx -0.405317">
                <a:extLst>
                  <a:ext uri="{FF2B5EF4-FFF2-40B4-BE49-F238E27FC236}">
                    <a16:creationId xmlns:a16="http://schemas.microsoft.com/office/drawing/2014/main" id="{C3DFF33D-4847-4BA1-810C-E87A035142F1}"/>
                  </a:ext>
                </a:extLst>
              </p:cNvPr>
              <p:cNvSpPr>
                <a:spLocks noGrp="1" noRot="1" noChangeAspect="1" noMove="1" noResize="1" noEditPoints="1" noAdjustHandles="1" noChangeArrowheads="1" noChangeShapeType="1" noTextEdit="1"/>
              </p:cNvSpPr>
              <p:nvPr/>
            </p:nvSpPr>
            <p:spPr>
              <a:xfrm>
                <a:off x="5778500" y="1162050"/>
                <a:ext cx="2794000" cy="64770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coefficient_w2" descr="w_2^{(20)}\approx 1.344522">
                <a:extLst>
                  <a:ext uri="{FF2B5EF4-FFF2-40B4-BE49-F238E27FC236}">
                    <a16:creationId xmlns:a16="http://schemas.microsoft.com/office/drawing/2014/main" id="{0D99895B-2F5F-4F02-A291-D9566AFE4DA7}"/>
                  </a:ext>
                </a:extLst>
              </p:cNvPr>
              <p:cNvSpPr>
                <a:spLocks noGrp="1"/>
              </p:cNvSpPr>
              <p:nvPr/>
            </p:nvSpPr>
            <p:spPr>
              <a:xfrm>
                <a:off x="8699500" y="1162050"/>
                <a:ext cx="27940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2</m:t>
                          </m:r>
                        </m:sub>
                        <m:sup>
                          <m:r>
                            <a:rPr lang="en-GB" sz="2500">
                              <a:solidFill>
                                <a:srgbClr val="087F83"/>
                              </a:solidFill>
                              <a:latin typeface="Cambria Math"/>
                              <a:ea typeface="Cambria Math"/>
                              <a:cs typeface="Cambria Math"/>
                            </a:rPr>
                            <m:t>(20)</m:t>
                          </m:r>
                        </m:sup>
                      </m:sSubSup>
                      <m:r>
                        <a:rPr lang="en-GB" sz="2500">
                          <a:solidFill>
                            <a:srgbClr val="087F83"/>
                          </a:solidFill>
                          <a:latin typeface="Cambria Math"/>
                          <a:ea typeface="Cambria Math"/>
                          <a:cs typeface="Cambria Math"/>
                        </a:rPr>
                        <m:t>≈1.344522</m:t>
                      </m:r>
                    </m:oMath>
                  </m:oMathPara>
                </a14:m>
                <a:endParaRPr lang="en-GB" sz="2500"/>
              </a:p>
            </p:txBody>
          </p:sp>
        </mc:Choice>
        <mc:Fallback xmlns="">
          <p:sp>
            <p:nvSpPr>
              <p:cNvPr id="19" name="coefficient_w2" descr="w_2^{(20)}\approx 1.344522">
                <a:extLst>
                  <a:ext uri="{FF2B5EF4-FFF2-40B4-BE49-F238E27FC236}">
                    <a16:creationId xmlns:a16="http://schemas.microsoft.com/office/drawing/2014/main" id="{0D99895B-2F5F-4F02-A291-D9566AFE4DA7}"/>
                  </a:ext>
                </a:extLst>
              </p:cNvPr>
              <p:cNvSpPr>
                <a:spLocks noGrp="1" noRot="1" noChangeAspect="1" noMove="1" noResize="1" noEditPoints="1" noAdjustHandles="1" noChangeArrowheads="1" noChangeShapeType="1" noTextEdit="1"/>
              </p:cNvSpPr>
              <p:nvPr/>
            </p:nvSpPr>
            <p:spPr>
              <a:xfrm>
                <a:off x="8699500" y="1162050"/>
                <a:ext cx="2794000" cy="64770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9153307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E47325DC-2A3B-47CE-9BFD-67A4DD72AD5C}"/>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Step size and logistic loss</a:t>
            </a:r>
          </a:p>
        </p:txBody>
      </p:sp>
      <p:sp>
        <p:nvSpPr>
          <p:cNvPr id="2" name="lead">
            <a:extLst>
              <a:ext uri="{FF2B5EF4-FFF2-40B4-BE49-F238E27FC236}">
                <a16:creationId xmlns:a16="http://schemas.microsoft.com/office/drawing/2014/main" id="{A8809847-FF30-4CCD-97F6-01CAFD2207BD}"/>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Same data and initial coefficients</a:t>
            </a:r>
            <a:r>
              <a:rPr lang="it-IT" sz="2100" b="0" dirty="0">
                <a:solidFill>
                  <a:srgbClr val="526276"/>
                </a:solidFill>
                <a:latin typeface="DejaVu Sans"/>
                <a:ea typeface="DejaVu Sans"/>
                <a:cs typeface="DejaVu Sans"/>
              </a:rPr>
              <a:t>,</a:t>
            </a:r>
            <a:r>
              <a:rPr sz="2100" b="0" dirty="0">
                <a:solidFill>
                  <a:srgbClr val="526276"/>
                </a:solidFill>
                <a:latin typeface="DejaVu Sans"/>
                <a:ea typeface="DejaVu Sans"/>
                <a:cs typeface="DejaVu Sans"/>
              </a:rPr>
              <a:t> only the learning rate changes.</a:t>
            </a:r>
          </a:p>
        </p:txBody>
      </p:sp>
      <p:sp>
        <p:nvSpPr>
          <p:cNvPr id="3" name="footer_course">
            <a:extLst>
              <a:ext uri="{FF2B5EF4-FFF2-40B4-BE49-F238E27FC236}">
                <a16:creationId xmlns:a16="http://schemas.microsoft.com/office/drawing/2014/main" id="{70B3614A-8B52-4E03-BC1D-65AD2383D833}"/>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E5CB910C-CDE6-44C9-8D71-B07D35036576}"/>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43</a:t>
            </a:r>
          </a:p>
        </p:txBody>
      </p:sp>
      <p:graphicFrame>
        <p:nvGraphicFramePr>
          <p:cNvPr id="13" name="step_0_chart_0"/>
          <p:cNvGraphicFramePr/>
          <p:nvPr/>
        </p:nvGraphicFramePr>
        <p:xfrm>
          <a:off x="523875" y="2057400"/>
          <a:ext cx="6743700" cy="363855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graphicFrame>
            <p:nvGraphicFramePr>
              <p:cNvPr id="14" name="step_1_table_1"/>
              <p:cNvGraphicFramePr/>
              <p:nvPr>
                <p:extLst>
                  <p:ext uri="{D42A27DB-BD31-4B8C-83A1-F6EECF244321}">
                    <p14:modId xmlns:p14="http://schemas.microsoft.com/office/powerpoint/2010/main" val="3531570509"/>
                  </p:ext>
                </p:extLst>
              </p:nvPr>
            </p:nvGraphicFramePr>
            <p:xfrm>
              <a:off x="7781925" y="2543175"/>
              <a:ext cx="3619500" cy="1722120"/>
            </p:xfrm>
            <a:graphic>
              <a:graphicData uri="http://schemas.openxmlformats.org/drawingml/2006/table">
                <a:tbl>
                  <a:tblPr/>
                  <a:tblGrid>
                    <a:gridCol w="914400">
                      <a:extLst>
                        <a:ext uri="{9D8B030D-6E8A-4147-A177-3AD203B41FA5}">
                          <a16:colId xmlns:a16="http://schemas.microsoft.com/office/drawing/2014/main" val="20000"/>
                        </a:ext>
                      </a:extLst>
                    </a:gridCol>
                    <a:gridCol w="1352550">
                      <a:extLst>
                        <a:ext uri="{9D8B030D-6E8A-4147-A177-3AD203B41FA5}">
                          <a16:colId xmlns:a16="http://schemas.microsoft.com/office/drawing/2014/main" val="20001"/>
                        </a:ext>
                      </a:extLst>
                    </a:gridCol>
                    <a:gridCol w="1352550">
                      <a:extLst>
                        <a:ext uri="{9D8B030D-6E8A-4147-A177-3AD203B41FA5}">
                          <a16:colId xmlns:a16="http://schemas.microsoft.com/office/drawing/2014/main" val="20002"/>
                        </a:ext>
                      </a:extLst>
                    </a:gridCol>
                  </a:tblGrid>
                  <a:tr h="552450">
                    <a:tc>
                      <a:txBody>
                        <a:bodyPr/>
                        <a:lstStyle/>
                        <a:p>
                          <a:pPr algn="ctr"/>
                          <a:r>
                            <a:rPr sz="1725" b="1">
                              <a:solidFill>
                                <a:srgbClr val="182D45"/>
                              </a:solidFill>
                              <a:latin typeface="DejaVu Sans"/>
                              <a:ea typeface="DejaVu Sans"/>
                              <a:cs typeface="DejaVu Sans"/>
                            </a:rPr>
                            <a:t>Step</a:t>
                          </a:r>
                        </a:p>
                      </a:txBody>
                      <a:tcPr anchor="ctr">
                        <a:solidFill>
                          <a:srgbClr val="EDF3F6"/>
                        </a:solidFill>
                      </a:tcPr>
                    </a:tc>
                    <a:tc>
                      <a:txBody>
                        <a:bodyPr/>
                        <a:lstStyle/>
                        <a:p>
                          <a:pPr algn="ctr"/>
                          <a:r>
                            <a:rPr sz="1725" b="1" dirty="0">
                              <a:solidFill>
                                <a:srgbClr val="182D45"/>
                              </a:solidFill>
                              <a:latin typeface="DejaVu Sans"/>
                              <a:ea typeface="DejaVu Sans"/>
                              <a:cs typeface="DejaVu Sans"/>
                            </a:rPr>
                            <a:t>Loss</a:t>
                          </a:r>
                        </a:p>
                        <a:p>
                          <a:pPr algn="ctr"/>
                          <a14:m>
                            <m:oMathPara xmlns:m="http://schemas.openxmlformats.org/officeDocument/2006/math">
                              <m:oMath>
                                <m:r>
                                  <a:rPr lang="it-IT" sz="1725" b="1" i="1" dirty="0" smtClean="0">
                                    <a:solidFill>
                                      <a:srgbClr val="182D45"/>
                                    </a:solidFill>
                                    <a:latin typeface="Cambria Math" panose="02040503050406030204" pitchFamily="18" charset="0"/>
                                    <a:ea typeface="DejaVu Sans"/>
                                    <a:cs typeface="DejaVu Sans"/>
                                  </a:rPr>
                                  <m:t>𝜼</m:t>
                                </m:r>
                                <m:r>
                                  <a:rPr lang="it-IT" sz="1725" b="1" i="1" dirty="0" smtClean="0">
                                    <a:solidFill>
                                      <a:srgbClr val="182D45"/>
                                    </a:solidFill>
                                    <a:latin typeface="Cambria Math" panose="02040503050406030204" pitchFamily="18" charset="0"/>
                                    <a:ea typeface="DejaVu Sans"/>
                                    <a:cs typeface="DejaVu Sans"/>
                                  </a:rPr>
                                  <m:t>=</m:t>
                                </m:r>
                                <m:r>
                                  <a:rPr lang="it-IT" sz="1725" b="1" i="1" dirty="0" smtClean="0">
                                    <a:solidFill>
                                      <a:srgbClr val="182D45"/>
                                    </a:solidFill>
                                    <a:latin typeface="Cambria Math" panose="02040503050406030204" pitchFamily="18" charset="0"/>
                                    <a:ea typeface="DejaVu Sans"/>
                                    <a:cs typeface="DejaVu Sans"/>
                                  </a:rPr>
                                  <m:t>𝟎</m:t>
                                </m:r>
                                <m:r>
                                  <a:rPr lang="it-IT" sz="1725" b="1" i="1" dirty="0" smtClean="0">
                                    <a:solidFill>
                                      <a:srgbClr val="182D45"/>
                                    </a:solidFill>
                                    <a:latin typeface="Cambria Math" panose="02040503050406030204" pitchFamily="18" charset="0"/>
                                    <a:ea typeface="DejaVu Sans"/>
                                    <a:cs typeface="DejaVu Sans"/>
                                  </a:rPr>
                                  <m:t>.</m:t>
                                </m:r>
                                <m:r>
                                  <a:rPr lang="it-IT" sz="1725" b="1" i="1" dirty="0" smtClean="0">
                                    <a:solidFill>
                                      <a:srgbClr val="182D45"/>
                                    </a:solidFill>
                                    <a:latin typeface="Cambria Math" panose="02040503050406030204" pitchFamily="18" charset="0"/>
                                    <a:ea typeface="DejaVu Sans"/>
                                    <a:cs typeface="DejaVu Sans"/>
                                  </a:rPr>
                                  <m:t>𝟎𝟎𝟏</m:t>
                                </m:r>
                              </m:oMath>
                            </m:oMathPara>
                          </a14:m>
                          <a:endParaRPr sz="1725" b="1" dirty="0">
                            <a:solidFill>
                              <a:srgbClr val="182D45"/>
                            </a:solidFill>
                            <a:latin typeface="DejaVu Sans"/>
                            <a:ea typeface="DejaVu Sans"/>
                            <a:cs typeface="DejaVu Sans"/>
                          </a:endParaRPr>
                        </a:p>
                      </a:txBody>
                      <a:tcPr anchor="ctr">
                        <a:solidFill>
                          <a:srgbClr val="EDF3F6"/>
                        </a:solidFill>
                      </a:tcPr>
                    </a:tc>
                    <a:tc>
                      <a:txBody>
                        <a:bodyPr/>
                        <a:lstStyle/>
                        <a:p>
                          <a:pPr algn="ctr"/>
                          <a:r>
                            <a:rPr sz="1725" b="1" dirty="0">
                              <a:solidFill>
                                <a:srgbClr val="182D45"/>
                              </a:solidFill>
                              <a:latin typeface="DejaVu Sans"/>
                              <a:ea typeface="DejaVu Sans"/>
                              <a:cs typeface="DejaVu Sans"/>
                            </a:rPr>
                            <a:t>Loss</a:t>
                          </a:r>
                        </a:p>
                        <a:p>
                          <a:pPr algn="ctr"/>
                          <a14:m>
                            <m:oMathPara xmlns:m="http://schemas.openxmlformats.org/officeDocument/2006/math">
                              <m:oMath>
                                <m:r>
                                  <a:rPr lang="it-IT" sz="1725" b="1" i="1" dirty="0" smtClean="0">
                                    <a:solidFill>
                                      <a:srgbClr val="182D45"/>
                                    </a:solidFill>
                                    <a:latin typeface="Cambria Math" panose="02040503050406030204" pitchFamily="18" charset="0"/>
                                    <a:ea typeface="DejaVu Sans"/>
                                    <a:cs typeface="DejaVu Sans"/>
                                  </a:rPr>
                                  <m:t>𝜼</m:t>
                                </m:r>
                                <m:r>
                                  <a:rPr lang="it-IT" sz="1725" b="1" i="1" dirty="0" smtClean="0">
                                    <a:solidFill>
                                      <a:srgbClr val="182D45"/>
                                    </a:solidFill>
                                    <a:latin typeface="Cambria Math" panose="02040503050406030204" pitchFamily="18" charset="0"/>
                                    <a:ea typeface="DejaVu Sans"/>
                                    <a:cs typeface="DejaVu Sans"/>
                                  </a:rPr>
                                  <m:t>=</m:t>
                                </m:r>
                                <m:r>
                                  <a:rPr lang="it-IT" sz="1725" b="1" i="1" dirty="0" smtClean="0">
                                    <a:solidFill>
                                      <a:srgbClr val="182D45"/>
                                    </a:solidFill>
                                    <a:latin typeface="Cambria Math" panose="02040503050406030204" pitchFamily="18" charset="0"/>
                                    <a:ea typeface="DejaVu Sans"/>
                                    <a:cs typeface="DejaVu Sans"/>
                                  </a:rPr>
                                  <m:t>𝟎</m:t>
                                </m:r>
                                <m:r>
                                  <a:rPr lang="it-IT" sz="1725" b="1" i="1" dirty="0" smtClean="0">
                                    <a:solidFill>
                                      <a:srgbClr val="182D45"/>
                                    </a:solidFill>
                                    <a:latin typeface="Cambria Math" panose="02040503050406030204" pitchFamily="18" charset="0"/>
                                    <a:ea typeface="DejaVu Sans"/>
                                    <a:cs typeface="DejaVu Sans"/>
                                  </a:rPr>
                                  <m:t>.</m:t>
                                </m:r>
                                <m:r>
                                  <a:rPr lang="it-IT" sz="1725" b="1" i="1" dirty="0" smtClean="0">
                                    <a:solidFill>
                                      <a:srgbClr val="182D45"/>
                                    </a:solidFill>
                                    <a:latin typeface="Cambria Math" panose="02040503050406030204" pitchFamily="18" charset="0"/>
                                    <a:ea typeface="DejaVu Sans"/>
                                    <a:cs typeface="DejaVu Sans"/>
                                  </a:rPr>
                                  <m:t>𝟎𝟎𝟐</m:t>
                                </m:r>
                              </m:oMath>
                            </m:oMathPara>
                          </a14:m>
                          <a:endParaRPr sz="1725" b="1" dirty="0">
                            <a:solidFill>
                              <a:srgbClr val="182D45"/>
                            </a:solidFill>
                            <a:latin typeface="DejaVu Sans"/>
                            <a:ea typeface="DejaVu Sans"/>
                            <a:cs typeface="DejaVu Sans"/>
                          </a:endParaRPr>
                        </a:p>
                      </a:txBody>
                      <a:tcPr anchor="ctr">
                        <a:solidFill>
                          <a:srgbClr val="EDF3F6"/>
                        </a:solidFill>
                      </a:tcPr>
                    </a:tc>
                    <a:extLst>
                      <a:ext uri="{0D108BD9-81ED-4DB2-BD59-A6C34878D82A}">
                        <a16:rowId xmlns:a16="http://schemas.microsoft.com/office/drawing/2014/main" val="10000"/>
                      </a:ext>
                    </a:extLst>
                  </a:tr>
                  <a:tr h="552450">
                    <a:tc>
                      <a:txBody>
                        <a:bodyPr/>
                        <a:lstStyle/>
                        <a:p>
                          <a:pPr algn="ctr"/>
                          <a:r>
                            <a:rPr sz="1725" b="0">
                              <a:solidFill>
                                <a:srgbClr val="182D45"/>
                              </a:solidFill>
                              <a:latin typeface="DejaVu Sans"/>
                              <a:ea typeface="DejaVu Sans"/>
                              <a:cs typeface="DejaVu Sans"/>
                            </a:rPr>
                            <a:t>0</a:t>
                          </a:r>
                        </a:p>
                      </a:txBody>
                      <a:tcPr anchor="ctr">
                        <a:solidFill>
                          <a:srgbClr val="FFFFFF"/>
                        </a:solidFill>
                      </a:tcPr>
                    </a:tc>
                    <a:tc>
                      <a:txBody>
                        <a:bodyPr/>
                        <a:lstStyle/>
                        <a:p>
                          <a:pPr algn="ctr"/>
                          <a:r>
                            <a:rPr sz="1725" b="0">
                              <a:solidFill>
                                <a:srgbClr val="182D45"/>
                              </a:solidFill>
                              <a:latin typeface="DejaVu Sans"/>
                              <a:ea typeface="DejaVu Sans"/>
                              <a:cs typeface="DejaVu Sans"/>
                            </a:rPr>
                            <a:t>51.048</a:t>
                          </a:r>
                        </a:p>
                      </a:txBody>
                      <a:tcPr anchor="ctr">
                        <a:solidFill>
                          <a:srgbClr val="FFFFFF"/>
                        </a:solidFill>
                      </a:tcPr>
                    </a:tc>
                    <a:tc>
                      <a:txBody>
                        <a:bodyPr/>
                        <a:lstStyle/>
                        <a:p>
                          <a:pPr algn="ctr"/>
                          <a:r>
                            <a:rPr sz="1725" b="0">
                              <a:solidFill>
                                <a:srgbClr val="182D45"/>
                              </a:solidFill>
                              <a:latin typeface="DejaVu Sans"/>
                              <a:ea typeface="DejaVu Sans"/>
                              <a:cs typeface="DejaVu Sans"/>
                            </a:rPr>
                            <a:t>51.048</a:t>
                          </a:r>
                        </a:p>
                      </a:txBody>
                      <a:tcPr anchor="ctr">
                        <a:solidFill>
                          <a:srgbClr val="FFFFFF"/>
                        </a:solidFill>
                      </a:tcPr>
                    </a:tc>
                    <a:extLst>
                      <a:ext uri="{0D108BD9-81ED-4DB2-BD59-A6C34878D82A}">
                        <a16:rowId xmlns:a16="http://schemas.microsoft.com/office/drawing/2014/main" val="10001"/>
                      </a:ext>
                    </a:extLst>
                  </a:tr>
                  <a:tr h="552450">
                    <a:tc>
                      <a:txBody>
                        <a:bodyPr/>
                        <a:lstStyle/>
                        <a:p>
                          <a:pPr algn="ctr"/>
                          <a:r>
                            <a:rPr sz="1725" b="0">
                              <a:solidFill>
                                <a:srgbClr val="182D45"/>
                              </a:solidFill>
                              <a:latin typeface="DejaVu Sans"/>
                              <a:ea typeface="DejaVu Sans"/>
                              <a:cs typeface="DejaVu Sans"/>
                            </a:rPr>
                            <a:t>1</a:t>
                          </a:r>
                        </a:p>
                      </a:txBody>
                      <a:tcPr anchor="ctr">
                        <a:solidFill>
                          <a:srgbClr val="FFFFFF"/>
                        </a:solidFill>
                      </a:tcPr>
                    </a:tc>
                    <a:tc>
                      <a:txBody>
                        <a:bodyPr/>
                        <a:lstStyle/>
                        <a:p>
                          <a:pPr algn="ctr"/>
                          <a:r>
                            <a:rPr sz="1725" b="0">
                              <a:solidFill>
                                <a:srgbClr val="182D45"/>
                              </a:solidFill>
                              <a:latin typeface="DejaVu Sans"/>
                              <a:ea typeface="DejaVu Sans"/>
                              <a:cs typeface="DejaVu Sans"/>
                            </a:rPr>
                            <a:t>42.733</a:t>
                          </a:r>
                        </a:p>
                      </a:txBody>
                      <a:tcPr anchor="ctr">
                        <a:solidFill>
                          <a:srgbClr val="FFFFFF"/>
                        </a:solidFill>
                      </a:tcPr>
                    </a:tc>
                    <a:tc>
                      <a:txBody>
                        <a:bodyPr/>
                        <a:lstStyle/>
                        <a:p>
                          <a:pPr algn="ctr"/>
                          <a:r>
                            <a:rPr sz="1725" b="0" dirty="0">
                              <a:solidFill>
                                <a:srgbClr val="182D45"/>
                              </a:solidFill>
                              <a:latin typeface="DejaVu Sans"/>
                              <a:ea typeface="DejaVu Sans"/>
                              <a:cs typeface="DejaVu Sans"/>
                            </a:rPr>
                            <a:t>64.556</a:t>
                          </a:r>
                        </a:p>
                      </a:txBody>
                      <a:tcPr anchor="ctr">
                        <a:solidFill>
                          <a:srgbClr val="FFFFFF"/>
                        </a:solidFill>
                      </a:tcPr>
                    </a:tc>
                    <a:extLst>
                      <a:ext uri="{0D108BD9-81ED-4DB2-BD59-A6C34878D82A}">
                        <a16:rowId xmlns:a16="http://schemas.microsoft.com/office/drawing/2014/main" val="10002"/>
                      </a:ext>
                    </a:extLst>
                  </a:tr>
                </a:tbl>
              </a:graphicData>
            </a:graphic>
          </p:graphicFrame>
        </mc:Choice>
        <mc:Fallback xmlns="">
          <p:graphicFrame>
            <p:nvGraphicFramePr>
              <p:cNvPr id="14" name="step_1_table_1"/>
              <p:cNvGraphicFramePr/>
              <p:nvPr>
                <p:extLst>
                  <p:ext uri="{D42A27DB-BD31-4B8C-83A1-F6EECF244321}">
                    <p14:modId xmlns:p14="http://schemas.microsoft.com/office/powerpoint/2010/main" val="3531570509"/>
                  </p:ext>
                </p:extLst>
              </p:nvPr>
            </p:nvGraphicFramePr>
            <p:xfrm>
              <a:off x="7781925" y="2543175"/>
              <a:ext cx="3619500" cy="1722120"/>
            </p:xfrm>
            <a:graphic>
              <a:graphicData uri="http://schemas.openxmlformats.org/drawingml/2006/table">
                <a:tbl>
                  <a:tblPr/>
                  <a:tblGrid>
                    <a:gridCol w="914400">
                      <a:extLst>
                        <a:ext uri="{9D8B030D-6E8A-4147-A177-3AD203B41FA5}">
                          <a16:colId xmlns:a16="http://schemas.microsoft.com/office/drawing/2014/main" val="20000"/>
                        </a:ext>
                      </a:extLst>
                    </a:gridCol>
                    <a:gridCol w="1352550">
                      <a:extLst>
                        <a:ext uri="{9D8B030D-6E8A-4147-A177-3AD203B41FA5}">
                          <a16:colId xmlns:a16="http://schemas.microsoft.com/office/drawing/2014/main" val="20001"/>
                        </a:ext>
                      </a:extLst>
                    </a:gridCol>
                    <a:gridCol w="1352550">
                      <a:extLst>
                        <a:ext uri="{9D8B030D-6E8A-4147-A177-3AD203B41FA5}">
                          <a16:colId xmlns:a16="http://schemas.microsoft.com/office/drawing/2014/main" val="20002"/>
                        </a:ext>
                      </a:extLst>
                    </a:gridCol>
                  </a:tblGrid>
                  <a:tr h="617220">
                    <a:tc>
                      <a:txBody>
                        <a:bodyPr/>
                        <a:lstStyle/>
                        <a:p>
                          <a:pPr algn="ctr"/>
                          <a:r>
                            <a:rPr sz="1725" b="1">
                              <a:solidFill>
                                <a:srgbClr val="182D45"/>
                              </a:solidFill>
                              <a:latin typeface="DejaVu Sans"/>
                              <a:ea typeface="DejaVu Sans"/>
                              <a:cs typeface="DejaVu Sans"/>
                            </a:rPr>
                            <a:t>Step</a:t>
                          </a:r>
                        </a:p>
                      </a:txBody>
                      <a:tcPr anchor="ctr">
                        <a:solidFill>
                          <a:srgbClr val="EDF3F6"/>
                        </a:solidFill>
                      </a:tcPr>
                    </a:tc>
                    <a:tc>
                      <a:txBody>
                        <a:bodyPr/>
                        <a:lstStyle/>
                        <a:p>
                          <a:endParaRPr lang="it-IT"/>
                        </a:p>
                      </a:txBody>
                      <a:tcPr anchor="ctr">
                        <a:blipFill>
                          <a:blip r:embed="rId4"/>
                          <a:stretch>
                            <a:fillRect l="-67713" t="-2970" r="-100448" b="-182178"/>
                          </a:stretch>
                        </a:blipFill>
                      </a:tcPr>
                    </a:tc>
                    <a:tc>
                      <a:txBody>
                        <a:bodyPr/>
                        <a:lstStyle/>
                        <a:p>
                          <a:endParaRPr lang="it-IT"/>
                        </a:p>
                      </a:txBody>
                      <a:tcPr anchor="ctr">
                        <a:blipFill>
                          <a:blip r:embed="rId4"/>
                          <a:stretch>
                            <a:fillRect l="-168468" t="-2970" r="-901" b="-182178"/>
                          </a:stretch>
                        </a:blipFill>
                      </a:tcPr>
                    </a:tc>
                    <a:extLst>
                      <a:ext uri="{0D108BD9-81ED-4DB2-BD59-A6C34878D82A}">
                        <a16:rowId xmlns:a16="http://schemas.microsoft.com/office/drawing/2014/main" val="10000"/>
                      </a:ext>
                    </a:extLst>
                  </a:tr>
                  <a:tr h="552450">
                    <a:tc>
                      <a:txBody>
                        <a:bodyPr/>
                        <a:lstStyle/>
                        <a:p>
                          <a:pPr algn="ctr"/>
                          <a:r>
                            <a:rPr sz="1725" b="0">
                              <a:solidFill>
                                <a:srgbClr val="182D45"/>
                              </a:solidFill>
                              <a:latin typeface="DejaVu Sans"/>
                              <a:ea typeface="DejaVu Sans"/>
                              <a:cs typeface="DejaVu Sans"/>
                            </a:rPr>
                            <a:t>0</a:t>
                          </a:r>
                        </a:p>
                      </a:txBody>
                      <a:tcPr anchor="ctr">
                        <a:solidFill>
                          <a:srgbClr val="FFFFFF"/>
                        </a:solidFill>
                      </a:tcPr>
                    </a:tc>
                    <a:tc>
                      <a:txBody>
                        <a:bodyPr/>
                        <a:lstStyle/>
                        <a:p>
                          <a:pPr algn="ctr"/>
                          <a:r>
                            <a:rPr sz="1725" b="0">
                              <a:solidFill>
                                <a:srgbClr val="182D45"/>
                              </a:solidFill>
                              <a:latin typeface="DejaVu Sans"/>
                              <a:ea typeface="DejaVu Sans"/>
                              <a:cs typeface="DejaVu Sans"/>
                            </a:rPr>
                            <a:t>51.048</a:t>
                          </a:r>
                        </a:p>
                      </a:txBody>
                      <a:tcPr anchor="ctr">
                        <a:solidFill>
                          <a:srgbClr val="FFFFFF"/>
                        </a:solidFill>
                      </a:tcPr>
                    </a:tc>
                    <a:tc>
                      <a:txBody>
                        <a:bodyPr/>
                        <a:lstStyle/>
                        <a:p>
                          <a:pPr algn="ctr"/>
                          <a:r>
                            <a:rPr sz="1725" b="0">
                              <a:solidFill>
                                <a:srgbClr val="182D45"/>
                              </a:solidFill>
                              <a:latin typeface="DejaVu Sans"/>
                              <a:ea typeface="DejaVu Sans"/>
                              <a:cs typeface="DejaVu Sans"/>
                            </a:rPr>
                            <a:t>51.048</a:t>
                          </a:r>
                        </a:p>
                      </a:txBody>
                      <a:tcPr anchor="ctr">
                        <a:solidFill>
                          <a:srgbClr val="FFFFFF"/>
                        </a:solidFill>
                      </a:tcPr>
                    </a:tc>
                    <a:extLst>
                      <a:ext uri="{0D108BD9-81ED-4DB2-BD59-A6C34878D82A}">
                        <a16:rowId xmlns:a16="http://schemas.microsoft.com/office/drawing/2014/main" val="10001"/>
                      </a:ext>
                    </a:extLst>
                  </a:tr>
                  <a:tr h="552450">
                    <a:tc>
                      <a:txBody>
                        <a:bodyPr/>
                        <a:lstStyle/>
                        <a:p>
                          <a:pPr algn="ctr"/>
                          <a:r>
                            <a:rPr sz="1725" b="0">
                              <a:solidFill>
                                <a:srgbClr val="182D45"/>
                              </a:solidFill>
                              <a:latin typeface="DejaVu Sans"/>
                              <a:ea typeface="DejaVu Sans"/>
                              <a:cs typeface="DejaVu Sans"/>
                            </a:rPr>
                            <a:t>1</a:t>
                          </a:r>
                        </a:p>
                      </a:txBody>
                      <a:tcPr anchor="ctr">
                        <a:solidFill>
                          <a:srgbClr val="FFFFFF"/>
                        </a:solidFill>
                      </a:tcPr>
                    </a:tc>
                    <a:tc>
                      <a:txBody>
                        <a:bodyPr/>
                        <a:lstStyle/>
                        <a:p>
                          <a:pPr algn="ctr"/>
                          <a:r>
                            <a:rPr sz="1725" b="0">
                              <a:solidFill>
                                <a:srgbClr val="182D45"/>
                              </a:solidFill>
                              <a:latin typeface="DejaVu Sans"/>
                              <a:ea typeface="DejaVu Sans"/>
                              <a:cs typeface="DejaVu Sans"/>
                            </a:rPr>
                            <a:t>42.733</a:t>
                          </a:r>
                        </a:p>
                      </a:txBody>
                      <a:tcPr anchor="ctr">
                        <a:solidFill>
                          <a:srgbClr val="FFFFFF"/>
                        </a:solidFill>
                      </a:tcPr>
                    </a:tc>
                    <a:tc>
                      <a:txBody>
                        <a:bodyPr/>
                        <a:lstStyle/>
                        <a:p>
                          <a:pPr algn="ctr"/>
                          <a:r>
                            <a:rPr sz="1725" b="0" dirty="0">
                              <a:solidFill>
                                <a:srgbClr val="182D45"/>
                              </a:solidFill>
                              <a:latin typeface="DejaVu Sans"/>
                              <a:ea typeface="DejaVu Sans"/>
                              <a:cs typeface="DejaVu Sans"/>
                            </a:rPr>
                            <a:t>64.556</a:t>
                          </a:r>
                        </a:p>
                      </a:txBody>
                      <a:tcPr anchor="ctr">
                        <a:solidFill>
                          <a:srgbClr val="FFFFFF"/>
                        </a:solid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sp>
            <p:nvSpPr>
              <p:cNvPr id="7" name="step_2_text_2">
                <a:extLst>
                  <a:ext uri="{FF2B5EF4-FFF2-40B4-BE49-F238E27FC236}">
                    <a16:creationId xmlns:a16="http://schemas.microsoft.com/office/drawing/2014/main" id="{B6651FEA-813A-422F-8952-0959C7D52423}"/>
                  </a:ext>
                </a:extLst>
              </p:cNvPr>
              <p:cNvSpPr>
                <a:spLocks noGrp="1"/>
              </p:cNvSpPr>
              <p:nvPr/>
            </p:nvSpPr>
            <p:spPr>
              <a:xfrm>
                <a:off x="7781925" y="4610100"/>
                <a:ext cx="3619500" cy="1143000"/>
              </a:xfrm>
              <a:prstGeom prst="rect">
                <a:avLst/>
              </a:prstGeom>
              <a:noFill/>
              <a:ln w="0">
                <a:noFill/>
              </a:ln>
            </p:spPr>
            <p:txBody>
              <a:bodyPr wrap="square" lIns="0" tIns="0" rIns="0" bIns="0" anchor="ctr">
                <a:noAutofit/>
              </a:bodyPr>
              <a:lstStyle/>
              <a:p>
                <a:pPr algn="ctr">
                  <a:lnSpc>
                    <a:spcPct val="112000"/>
                  </a:lnSpc>
                  <a:buNone/>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At </a:t>
                </a:r>
                <a14:m>
                  <m:oMath xmlns:m="http://schemas.openxmlformats.org/officeDocument/2006/math">
                    <m:r>
                      <a:rPr lang="it-IT" sz="2100" b="1" i="1" dirty="0" smtClean="0">
                        <a:solidFill>
                          <a:srgbClr val="182D45"/>
                        </a:solidFill>
                        <a:latin typeface="Cambria Math" panose="02040503050406030204" pitchFamily="18" charset="0"/>
                        <a:ea typeface="DejaVu Sans"/>
                        <a:cs typeface="DejaVu Sans"/>
                      </a:rPr>
                      <m:t>𝜼</m:t>
                    </m:r>
                    <m:r>
                      <a:rPr lang="it-IT" sz="2100" b="1" i="1" dirty="0" smtClean="0">
                        <a:solidFill>
                          <a:srgbClr val="182D45"/>
                        </a:solidFill>
                        <a:latin typeface="Cambria Math" panose="02040503050406030204" pitchFamily="18" charset="0"/>
                        <a:ea typeface="DejaVu Sans"/>
                        <a:cs typeface="DejaVu Sans"/>
                      </a:rPr>
                      <m:t> = </m:t>
                    </m:r>
                    <m:r>
                      <a:rPr lang="it-IT" sz="2100" b="1" i="1" dirty="0" smtClean="0">
                        <a:solidFill>
                          <a:srgbClr val="182D45"/>
                        </a:solidFill>
                        <a:latin typeface="Cambria Math" panose="02040503050406030204" pitchFamily="18" charset="0"/>
                        <a:ea typeface="DejaVu Sans"/>
                        <a:cs typeface="DejaVu Sans"/>
                      </a:rPr>
                      <m:t>𝟎</m:t>
                    </m:r>
                    <m:r>
                      <a:rPr lang="it-IT" sz="2100" b="1" i="1" dirty="0" smtClean="0">
                        <a:solidFill>
                          <a:srgbClr val="182D45"/>
                        </a:solidFill>
                        <a:latin typeface="Cambria Math" panose="02040503050406030204" pitchFamily="18" charset="0"/>
                        <a:ea typeface="DejaVu Sans"/>
                        <a:cs typeface="DejaVu Sans"/>
                      </a:rPr>
                      <m:t>.</m:t>
                    </m:r>
                    <m:r>
                      <a:rPr lang="it-IT" sz="2100" b="1" i="1" dirty="0" smtClean="0">
                        <a:solidFill>
                          <a:srgbClr val="182D45"/>
                        </a:solidFill>
                        <a:latin typeface="Cambria Math" panose="02040503050406030204" pitchFamily="18" charset="0"/>
                        <a:ea typeface="DejaVu Sans"/>
                        <a:cs typeface="DejaVu Sans"/>
                      </a:rPr>
                      <m:t>𝟎𝟎𝟐</m:t>
                    </m:r>
                  </m:oMath>
                </a14:m>
                <a:r>
                  <a:rPr sz="2100" b="1" dirty="0">
                    <a:solidFill>
                      <a:srgbClr val="182D45"/>
                    </a:solidFill>
                    <a:latin typeface="DejaVu Sans"/>
                    <a:ea typeface="DejaVu Sans"/>
                    <a:cs typeface="DejaVu Sans"/>
                  </a:rPr>
                  <a:t>,</a:t>
                </a:r>
              </a:p>
              <a:p>
                <a:pPr algn="ctr">
                  <a:lnSpc>
                    <a:spcPct val="112000"/>
                  </a:lnSpc>
                  <a:buNone/>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even the first update</a:t>
                </a:r>
              </a:p>
              <a:p>
                <a:pPr algn="ctr">
                  <a:lnSpc>
                    <a:spcPct val="112000"/>
                  </a:lnSpc>
                  <a:buNone/>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increases the loss.</a:t>
                </a:r>
              </a:p>
            </p:txBody>
          </p:sp>
        </mc:Choice>
        <mc:Fallback xmlns="">
          <p:sp>
            <p:nvSpPr>
              <p:cNvPr id="7" name="step_2_text_2">
                <a:extLst>
                  <a:ext uri="{FF2B5EF4-FFF2-40B4-BE49-F238E27FC236}">
                    <a16:creationId xmlns:a16="http://schemas.microsoft.com/office/drawing/2014/main" id="{B6651FEA-813A-422F-8952-0959C7D52423}"/>
                  </a:ext>
                </a:extLst>
              </p:cNvPr>
              <p:cNvSpPr>
                <a:spLocks noGrp="1" noRot="1" noChangeAspect="1" noMove="1" noResize="1" noEditPoints="1" noAdjustHandles="1" noChangeArrowheads="1" noChangeShapeType="1" noTextEdit="1"/>
              </p:cNvSpPr>
              <p:nvPr/>
            </p:nvSpPr>
            <p:spPr>
              <a:xfrm>
                <a:off x="7781925" y="4610100"/>
                <a:ext cx="3619500" cy="1143000"/>
              </a:xfrm>
              <a:prstGeom prst="rect">
                <a:avLst/>
              </a:prstGeom>
              <a:blipFill>
                <a:blip r:embed="rId5"/>
                <a:stretch>
                  <a:fillRect t="-2660" b="-10106"/>
                </a:stretch>
              </a:blipFill>
              <a:ln w="0">
                <a:noFill/>
              </a:ln>
            </p:spPr>
            <p:txBody>
              <a:bodyPr/>
              <a:lstStyle/>
              <a:p>
                <a:r>
                  <a:rPr lang="it-IT">
                    <a:noFill/>
                  </a:rPr>
                  <a:t> </a:t>
                </a:r>
              </a:p>
            </p:txBody>
          </p:sp>
        </mc:Fallback>
      </mc:AlternateContent>
      <p:sp>
        <p:nvSpPr>
          <p:cNvPr id="8" name="step_2_text_3">
            <a:extLst>
              <a:ext uri="{FF2B5EF4-FFF2-40B4-BE49-F238E27FC236}">
                <a16:creationId xmlns:a16="http://schemas.microsoft.com/office/drawing/2014/main" id="{73750582-3773-4796-8D8C-02715EE25026}"/>
              </a:ext>
            </a:extLst>
          </p:cNvPr>
          <p:cNvSpPr>
            <a:spLocks noGrp="1"/>
          </p:cNvSpPr>
          <p:nvPr/>
        </p:nvSpPr>
        <p:spPr>
          <a:xfrm>
            <a:off x="723900" y="5972175"/>
            <a:ext cx="10744200" cy="476250"/>
          </a:xfrm>
          <a:prstGeom prst="rect">
            <a:avLst/>
          </a:prstGeom>
          <a:noFill/>
          <a:ln w="0">
            <a:noFill/>
          </a:ln>
        </p:spPr>
        <p:txBody>
          <a:bodyPr wrap="square" lIns="0" tIns="0" rIns="0" bIns="0" anchor="ctr">
            <a:noAutofit/>
          </a:bodyPr>
          <a:lstStyle/>
          <a:p>
            <a:pPr algn="ctr">
              <a:lnSpc>
                <a:spcPct val="112000"/>
              </a:lnSpc>
              <a:buNone/>
              <a:defRPr sz="1950" b="0">
                <a:solidFill>
                  <a:srgbClr val="087F83"/>
                </a:solidFill>
                <a:latin typeface="DejaVu Sans"/>
                <a:ea typeface="DejaVu Sans"/>
                <a:cs typeface="DejaVu Sans"/>
              </a:defRPr>
            </a:pPr>
            <a:r>
              <a:rPr sz="1950" b="0">
                <a:solidFill>
                  <a:srgbClr val="087F83"/>
                </a:solidFill>
                <a:latin typeface="DejaVu Sans"/>
                <a:ea typeface="DejaVu Sans"/>
                <a:cs typeface="DejaVu Sans"/>
              </a:rPr>
              <a:t>A step that is too large can increase the loss.</a:t>
            </a:r>
          </a:p>
        </p:txBody>
      </p:sp>
    </p:spTree>
    <p:extLst>
      <p:ext uri="{BB962C8B-B14F-4D97-AF65-F5344CB8AC3E}">
        <p14:creationId xmlns:p14="http://schemas.microsoft.com/office/powerpoint/2010/main" val="13087471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19042954-DB60-43CC-8028-080997BC038C}"/>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l">
              <a:lnSpc>
                <a:spcPct val="112000"/>
              </a:lnSpc>
              <a:buNone/>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Today's lecture</a:t>
            </a:r>
          </a:p>
        </p:txBody>
      </p:sp>
      <p:sp>
        <p:nvSpPr>
          <p:cNvPr id="2" name="footer_course">
            <a:extLst>
              <a:ext uri="{FF2B5EF4-FFF2-40B4-BE49-F238E27FC236}">
                <a16:creationId xmlns:a16="http://schemas.microsoft.com/office/drawing/2014/main" id="{58B6D1B5-5C89-4FCF-99B1-736E325A1F1E}"/>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3" name="footer_number">
            <a:extLst>
              <a:ext uri="{FF2B5EF4-FFF2-40B4-BE49-F238E27FC236}">
                <a16:creationId xmlns:a16="http://schemas.microsoft.com/office/drawing/2014/main" id="{98696A3F-26B5-47F1-9AC7-98A07B617245}"/>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44</a:t>
            </a:r>
          </a:p>
        </p:txBody>
      </p:sp>
      <p:sp>
        <p:nvSpPr>
          <p:cNvPr id="4" name="agenda_0">
            <a:extLst>
              <a:ext uri="{FF2B5EF4-FFF2-40B4-BE49-F238E27FC236}">
                <a16:creationId xmlns:a16="http://schemas.microsoft.com/office/drawing/2014/main" id="{8DCEAF25-9271-47EF-A04F-190AE5772F8A}"/>
              </a:ext>
            </a:extLst>
          </p:cNvPr>
          <p:cNvSpPr>
            <a:spLocks noGrp="1"/>
          </p:cNvSpPr>
          <p:nvPr/>
        </p:nvSpPr>
        <p:spPr>
          <a:xfrm>
            <a:off x="1038225" y="21526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Binary classification</a:t>
            </a:r>
          </a:p>
        </p:txBody>
      </p:sp>
      <p:sp>
        <p:nvSpPr>
          <p:cNvPr id="5" name="agenda_1">
            <a:extLst>
              <a:ext uri="{FF2B5EF4-FFF2-40B4-BE49-F238E27FC236}">
                <a16:creationId xmlns:a16="http://schemas.microsoft.com/office/drawing/2014/main" id="{C1E2C002-E9C2-4CDF-9067-3EE40BC67C1A}"/>
              </a:ext>
            </a:extLst>
          </p:cNvPr>
          <p:cNvSpPr>
            <a:spLocks noGrp="1"/>
          </p:cNvSpPr>
          <p:nvPr/>
        </p:nvSpPr>
        <p:spPr>
          <a:xfrm>
            <a:off x="1038225" y="31051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Classification error and logistic loss</a:t>
            </a:r>
          </a:p>
        </p:txBody>
      </p:sp>
      <p:sp>
        <p:nvSpPr>
          <p:cNvPr id="6" name="agenda_2">
            <a:extLst>
              <a:ext uri="{FF2B5EF4-FFF2-40B4-BE49-F238E27FC236}">
                <a16:creationId xmlns:a16="http://schemas.microsoft.com/office/drawing/2014/main" id="{2486C8A5-85E2-4A31-A85A-0AD46AE02930}"/>
              </a:ext>
            </a:extLst>
          </p:cNvPr>
          <p:cNvSpPr>
            <a:spLocks noGrp="1"/>
          </p:cNvSpPr>
          <p:nvPr/>
        </p:nvSpPr>
        <p:spPr>
          <a:xfrm>
            <a:off x="1038225" y="4057650"/>
            <a:ext cx="10144125" cy="609600"/>
          </a:xfrm>
          <a:prstGeom prst="rect">
            <a:avLst/>
          </a:prstGeom>
          <a:noFill/>
          <a:ln w="0">
            <a:noFill/>
          </a:ln>
        </p:spPr>
        <p:txBody>
          <a:bodyPr wrap="square" lIns="0" tIns="0" rIns="0" bIns="0" anchor="ctr">
            <a:noAutofit/>
          </a:bodyPr>
          <a:lstStyle/>
          <a:p>
            <a:pPr algn="l">
              <a:lnSpc>
                <a:spcPct val="112000"/>
              </a:lnSpc>
              <a:buNone/>
              <a:defRPr sz="2775" b="0">
                <a:solidFill>
                  <a:srgbClr val="182D45"/>
                </a:solidFill>
                <a:latin typeface="DejaVu Sans"/>
                <a:ea typeface="DejaVu Sans"/>
                <a:cs typeface="DejaVu Sans"/>
              </a:defRPr>
            </a:pPr>
            <a:r>
              <a:rPr sz="2775" b="0">
                <a:solidFill>
                  <a:srgbClr val="182D45"/>
                </a:solidFill>
                <a:latin typeface="DejaVu Sans"/>
                <a:ea typeface="DejaVu Sans"/>
                <a:cs typeface="DejaVu Sans"/>
              </a:rPr>
              <a:t>Gradient descent</a:t>
            </a:r>
          </a:p>
        </p:txBody>
      </p:sp>
      <p:sp>
        <p:nvSpPr>
          <p:cNvPr id="7" name="agenda_3">
            <a:extLst>
              <a:ext uri="{FF2B5EF4-FFF2-40B4-BE49-F238E27FC236}">
                <a16:creationId xmlns:a16="http://schemas.microsoft.com/office/drawing/2014/main" id="{7ACA5B7A-A15B-45B5-9E0B-DC5F3DA72954}"/>
              </a:ext>
            </a:extLst>
          </p:cNvPr>
          <p:cNvSpPr>
            <a:spLocks noGrp="1"/>
          </p:cNvSpPr>
          <p:nvPr/>
        </p:nvSpPr>
        <p:spPr>
          <a:xfrm>
            <a:off x="1038225" y="5010150"/>
            <a:ext cx="10144125" cy="609600"/>
          </a:xfrm>
          <a:prstGeom prst="rect">
            <a:avLst/>
          </a:prstGeom>
          <a:noFill/>
          <a:ln w="0">
            <a:noFill/>
          </a:ln>
        </p:spPr>
        <p:txBody>
          <a:bodyPr wrap="square" lIns="0" tIns="0" rIns="0" bIns="0" anchor="ctr">
            <a:noAutofit/>
          </a:bodyPr>
          <a:lstStyle/>
          <a:p>
            <a:pPr algn="l">
              <a:lnSpc>
                <a:spcPct val="112000"/>
              </a:lnSpc>
              <a:buNone/>
              <a:defRPr sz="2775" b="1">
                <a:solidFill>
                  <a:srgbClr val="087F83"/>
                </a:solidFill>
                <a:latin typeface="DejaVu Sans"/>
                <a:ea typeface="DejaVu Sans"/>
                <a:cs typeface="DejaVu Sans"/>
              </a:defRPr>
            </a:pPr>
            <a:r>
              <a:rPr sz="2775" b="1">
                <a:solidFill>
                  <a:srgbClr val="087F83"/>
                </a:solidFill>
                <a:latin typeface="DejaVu Sans"/>
                <a:ea typeface="DejaVu Sans"/>
                <a:cs typeface="DejaVu Sans"/>
              </a:rPr>
              <a:t>More than two classes</a:t>
            </a:r>
          </a:p>
        </p:txBody>
      </p:sp>
    </p:spTree>
    <p:extLst>
      <p:ext uri="{BB962C8B-B14F-4D97-AF65-F5344CB8AC3E}">
        <p14:creationId xmlns:p14="http://schemas.microsoft.com/office/powerpoint/2010/main" val="6315028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A8FC166-2312-4041-BB81-A87A0A67574A}"/>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More than two classes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50770430-ABC6-4EBE-B50C-DE8579D20EF4}"/>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Recognising a handwritten digit means choosing among ten classes: </a:t>
                </a:r>
                <a14:m>
                  <m:oMath xmlns:m="http://schemas.openxmlformats.org/officeDocument/2006/math">
                    <m:r>
                      <a:rPr lang="it-IT" sz="2100" b="0" i="1" dirty="0" smtClean="0">
                        <a:solidFill>
                          <a:srgbClr val="526276"/>
                        </a:solidFill>
                        <a:latin typeface="Cambria Math" panose="02040503050406030204" pitchFamily="18" charset="0"/>
                        <a:ea typeface="DejaVu Sans"/>
                        <a:cs typeface="DejaVu Sans"/>
                      </a:rPr>
                      <m:t>0, 1, …, 9</m:t>
                    </m:r>
                  </m:oMath>
                </a14:m>
                <a:r>
                  <a:rPr sz="2100"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50770430-ABC6-4EBE-B50C-DE8579D20EF4}"/>
                  </a:ext>
                </a:extLst>
              </p:cNvPr>
              <p:cNvSpPr>
                <a:spLocks noGrp="1" noRot="1" noChangeAspect="1" noMove="1" noResize="1" noEditPoints="1" noAdjustHandles="1" noChangeArrowheads="1" noChangeShapeType="1" noTextEdit="1"/>
              </p:cNvSpPr>
              <p:nvPr/>
            </p:nvSpPr>
            <p:spPr>
              <a:xfrm>
                <a:off x="723900" y="1143000"/>
                <a:ext cx="10744200" cy="6667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B55EB4B1-4CB9-4546-861E-1FBB5443D4E6}"/>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F609864C-0BF9-4FC1-994E-062E402DA838}"/>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45</a:t>
            </a:r>
          </a:p>
        </p:txBody>
      </p:sp>
      <p:pic>
        <p:nvPicPr>
          <p:cNvPr id="102" name="Immagine 101"/>
          <p:cNvPicPr>
            <a:picLocks noChangeAspect="1"/>
          </p:cNvPicPr>
          <p:nvPr/>
        </p:nvPicPr>
        <p:blipFill>
          <a:blip r:embed="rId4"/>
          <a:stretch/>
        </p:blipFill>
        <p:spPr>
          <a:xfrm>
            <a:off x="723900" y="2134306"/>
            <a:ext cx="5715000" cy="3360913"/>
          </a:xfrm>
          <a:prstGeom prst="rect">
            <a:avLst/>
          </a:prstGeom>
        </p:spPr>
      </p:pic>
      <p:sp>
        <p:nvSpPr>
          <p:cNvPr id="106" name="digits_caption">
            <a:extLst>
              <a:ext uri="{FF2B5EF4-FFF2-40B4-BE49-F238E27FC236}">
                <a16:creationId xmlns:a16="http://schemas.microsoft.com/office/drawing/2014/main" id="{E3408809-C5DB-4A85-A082-2D9091B8003D}"/>
              </a:ext>
            </a:extLst>
          </p:cNvPr>
          <p:cNvSpPr>
            <a:spLocks noGrp="1"/>
          </p:cNvSpPr>
          <p:nvPr/>
        </p:nvSpPr>
        <p:spPr>
          <a:xfrm>
            <a:off x="723900" y="5657850"/>
            <a:ext cx="5715000" cy="361950"/>
          </a:xfrm>
          <a:prstGeom prst="rect">
            <a:avLst/>
          </a:prstGeom>
          <a:noFill/>
          <a:ln w="0">
            <a:noFill/>
          </a:ln>
        </p:spPr>
        <p:txBody>
          <a:bodyPr anchor="ctr">
            <a:noAutofit/>
          </a:bodyPr>
          <a:lstStyle/>
          <a:p>
            <a:pPr algn="ctr">
              <a:defRPr sz="1800" b="0">
                <a:solidFill>
                  <a:srgbClr val="526276"/>
                </a:solidFill>
                <a:latin typeface="DejaVu Sans"/>
                <a:ea typeface="DejaVu Sans"/>
                <a:cs typeface="DejaVu Sans"/>
              </a:defRPr>
            </a:pPr>
            <a:r>
              <a:rPr sz="1800" b="0">
                <a:solidFill>
                  <a:srgbClr val="526276"/>
                </a:solidFill>
                <a:latin typeface="DejaVu Sans"/>
                <a:ea typeface="DejaVu Sans"/>
                <a:cs typeface="DejaVu Sans"/>
              </a:rPr>
              <a:t>Each row contains examples of the same digit.</a:t>
            </a:r>
          </a:p>
        </p:txBody>
      </p:sp>
      <p:sp>
        <p:nvSpPr>
          <p:cNvPr id="103" name="intro_variation">
            <a:extLst>
              <a:ext uri="{FF2B5EF4-FFF2-40B4-BE49-F238E27FC236}">
                <a16:creationId xmlns:a16="http://schemas.microsoft.com/office/drawing/2014/main" id="{77AFC4B0-24FC-4A61-86F6-C7B3EC009A36}"/>
              </a:ext>
            </a:extLst>
          </p:cNvPr>
          <p:cNvSpPr>
            <a:spLocks noGrp="1"/>
          </p:cNvSpPr>
          <p:nvPr/>
        </p:nvSpPr>
        <p:spPr>
          <a:xfrm>
            <a:off x="6800850" y="2019300"/>
            <a:ext cx="4667250" cy="1219200"/>
          </a:xfrm>
          <a:prstGeom prst="rect">
            <a:avLst/>
          </a:prstGeom>
          <a:noFill/>
          <a:ln w="0">
            <a:noFill/>
          </a:ln>
        </p:spPr>
        <p:txBody>
          <a:bodyPr anchor="ctr">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An image is made of pixels.</a:t>
            </a: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In greyscale, their intensities</a:t>
            </a: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form a matrix of real numbers.</a:t>
            </a:r>
          </a:p>
        </p:txBody>
      </p:sp>
      <p:sp>
        <p:nvSpPr>
          <p:cNvPr id="104" name="intro_input_output">
            <a:extLst>
              <a:ext uri="{FF2B5EF4-FFF2-40B4-BE49-F238E27FC236}">
                <a16:creationId xmlns:a16="http://schemas.microsoft.com/office/drawing/2014/main" id="{B5C90B8A-7BC5-4AB1-98E7-C19462248D35}"/>
              </a:ext>
            </a:extLst>
          </p:cNvPr>
          <p:cNvSpPr>
            <a:spLocks noGrp="1"/>
          </p:cNvSpPr>
          <p:nvPr/>
        </p:nvSpPr>
        <p:spPr>
          <a:xfrm>
            <a:off x="6705600" y="3343275"/>
            <a:ext cx="4762500" cy="1257300"/>
          </a:xfrm>
          <a:prstGeom prst="rect">
            <a:avLst/>
          </a:prstGeom>
          <a:noFill/>
          <a:ln w="0">
            <a:noFill/>
          </a:ln>
        </p:spPr>
        <p:txBody>
          <a:bodyPr anchor="ctr">
            <a:noAutofit/>
          </a:bodyPr>
          <a:lstStyle/>
          <a:p>
            <a:pPr algn="ctr">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We read the matrix row by row</a:t>
            </a:r>
          </a:p>
          <a:p>
            <a:pPr algn="ctr">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to form a row vector.</a:t>
            </a:r>
          </a:p>
          <a:p>
            <a:pPr algn="ctr">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We use the same pixel order</a:t>
            </a:r>
          </a:p>
          <a:p>
            <a:pPr algn="ctr">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for every image.</a:t>
            </a:r>
          </a:p>
        </p:txBody>
      </p:sp>
      <mc:AlternateContent xmlns:mc="http://schemas.openxmlformats.org/markup-compatibility/2006" xmlns:a14="http://schemas.microsoft.com/office/drawing/2010/main">
        <mc:Choice Requires="a14">
          <p:sp>
            <p:nvSpPr>
              <p:cNvPr id="105" name="intro_probabilities" descr="\mathbf x=(x_1,\ldots,x_d)\in\mathbb R^{1\times d}">
                <a:extLst>
                  <a:ext uri="{FF2B5EF4-FFF2-40B4-BE49-F238E27FC236}">
                    <a16:creationId xmlns:a16="http://schemas.microsoft.com/office/drawing/2014/main" id="{8EA73CFC-F692-4114-B13E-FB5922CA0997}"/>
                  </a:ext>
                </a:extLst>
              </p:cNvPr>
              <p:cNvSpPr>
                <a:spLocks noGrp="1"/>
              </p:cNvSpPr>
              <p:nvPr/>
            </p:nvSpPr>
            <p:spPr>
              <a:xfrm>
                <a:off x="6705600" y="4752975"/>
                <a:ext cx="47625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087F83"/>
                          </a:solidFill>
                          <a:latin typeface="Cambria Math"/>
                          <a:ea typeface="Cambria Math"/>
                          <a:cs typeface="Cambria Math"/>
                        </a:rPr>
                        <m:t>𝐱</m:t>
                      </m:r>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𝑥</m:t>
                          </m:r>
                        </m:e>
                        <m:sub>
                          <m:r>
                            <a:rPr lang="en-GB" sz="2500">
                              <a:solidFill>
                                <a:srgbClr val="087F83"/>
                              </a:solidFill>
                              <a:latin typeface="Cambria Math"/>
                              <a:ea typeface="Cambria Math"/>
                              <a:cs typeface="Cambria Math"/>
                            </a:rPr>
                            <m:t>1</m:t>
                          </m:r>
                        </m:sub>
                      </m:sSub>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𝑥</m:t>
                          </m:r>
                        </m:e>
                        <m:sub>
                          <m:r>
                            <a:rPr lang="en-GB" sz="2500">
                              <a:solidFill>
                                <a:srgbClr val="087F83"/>
                              </a:solidFill>
                              <a:latin typeface="Cambria Math"/>
                              <a:ea typeface="Cambria Math"/>
                              <a:cs typeface="Cambria Math"/>
                            </a:rPr>
                            <m:t>𝑑</m:t>
                          </m:r>
                        </m:sub>
                      </m:sSub>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𝑑</m:t>
                          </m:r>
                        </m:sup>
                      </m:sSup>
                    </m:oMath>
                  </m:oMathPara>
                </a14:m>
                <a:endParaRPr lang="en-GB" sz="2500"/>
              </a:p>
            </p:txBody>
          </p:sp>
        </mc:Choice>
        <mc:Fallback xmlns="">
          <p:sp>
            <p:nvSpPr>
              <p:cNvPr id="105" name="intro_probabilities" descr="\mathbf x=(x_1,\ldots,x_d)\in\mathbb R^{1\times d}">
                <a:extLst>
                  <a:ext uri="{FF2B5EF4-FFF2-40B4-BE49-F238E27FC236}">
                    <a16:creationId xmlns:a16="http://schemas.microsoft.com/office/drawing/2014/main" id="{8EA73CFC-F692-4114-B13E-FB5922CA0997}"/>
                  </a:ext>
                </a:extLst>
              </p:cNvPr>
              <p:cNvSpPr>
                <a:spLocks noGrp="1" noRot="1" noChangeAspect="1" noMove="1" noResize="1" noEditPoints="1" noAdjustHandles="1" noChangeArrowheads="1" noChangeShapeType="1" noTextEdit="1"/>
              </p:cNvSpPr>
              <p:nvPr/>
            </p:nvSpPr>
            <p:spPr>
              <a:xfrm>
                <a:off x="6705600" y="4752975"/>
                <a:ext cx="4762500" cy="647700"/>
              </a:xfrm>
              <a:prstGeom prst="rect">
                <a:avLst/>
              </a:prstGeom>
              <a:blipFill>
                <a:blip r:embed="rId5"/>
                <a:stretch>
                  <a:fillRect b="-94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8" name="pixel_count">
                <a:extLst>
                  <a:ext uri="{FF2B5EF4-FFF2-40B4-BE49-F238E27FC236}">
                    <a16:creationId xmlns:a16="http://schemas.microsoft.com/office/drawing/2014/main" id="{17BBA8E4-B878-4298-934D-08257E1F137D}"/>
                  </a:ext>
                </a:extLst>
              </p:cNvPr>
              <p:cNvSpPr>
                <a:spLocks noGrp="1"/>
              </p:cNvSpPr>
              <p:nvPr/>
            </p:nvSpPr>
            <p:spPr>
              <a:xfrm>
                <a:off x="6705600" y="5391150"/>
                <a:ext cx="4762500" cy="361950"/>
              </a:xfrm>
              <a:prstGeom prst="rect">
                <a:avLst/>
              </a:prstGeom>
              <a:noFill/>
              <a:ln w="0">
                <a:noFill/>
              </a:ln>
            </p:spPr>
            <p:txBody>
              <a:bodyPr anchor="ctr">
                <a:noAutofit/>
              </a:bodyPr>
              <a:lstStyle/>
              <a:p>
                <a:pPr algn="ctr">
                  <a:defRPr sz="1800" b="0">
                    <a:solidFill>
                      <a:srgbClr val="526276"/>
                    </a:solidFill>
                    <a:latin typeface="DejaVu Sans"/>
                    <a:ea typeface="DejaVu Sans"/>
                    <a:cs typeface="DejaVu Sans"/>
                  </a:defRPr>
                </a:pPr>
                <a:r>
                  <a:rPr sz="1800" b="0" dirty="0">
                    <a:solidFill>
                      <a:srgbClr val="526276"/>
                    </a:solidFill>
                    <a:latin typeface="DejaVu Sans"/>
                    <a:ea typeface="DejaVu Sans"/>
                    <a:cs typeface="DejaVu Sans"/>
                  </a:rPr>
                  <a:t>Here, </a:t>
                </a:r>
                <a14:m>
                  <m:oMath xmlns:m="http://schemas.openxmlformats.org/officeDocument/2006/math">
                    <m:r>
                      <a:rPr lang="it-IT" sz="1800" b="0" i="1" dirty="0" smtClean="0">
                        <a:solidFill>
                          <a:srgbClr val="526276"/>
                        </a:solidFill>
                        <a:latin typeface="Cambria Math" panose="02040503050406030204" pitchFamily="18" charset="0"/>
                        <a:ea typeface="DejaVu Sans"/>
                        <a:cs typeface="DejaVu Sans"/>
                      </a:rPr>
                      <m:t>𝑑</m:t>
                    </m:r>
                  </m:oMath>
                </a14:m>
                <a:r>
                  <a:rPr sz="1800" b="0" dirty="0">
                    <a:solidFill>
                      <a:srgbClr val="526276"/>
                    </a:solidFill>
                    <a:latin typeface="DejaVu Sans"/>
                    <a:ea typeface="DejaVu Sans"/>
                    <a:cs typeface="DejaVu Sans"/>
                  </a:rPr>
                  <a:t> is the number of pixels.</a:t>
                </a:r>
              </a:p>
            </p:txBody>
          </p:sp>
        </mc:Choice>
        <mc:Fallback xmlns="">
          <p:sp>
            <p:nvSpPr>
              <p:cNvPr id="108" name="pixel_count">
                <a:extLst>
                  <a:ext uri="{FF2B5EF4-FFF2-40B4-BE49-F238E27FC236}">
                    <a16:creationId xmlns:a16="http://schemas.microsoft.com/office/drawing/2014/main" id="{17BBA8E4-B878-4298-934D-08257E1F137D}"/>
                  </a:ext>
                </a:extLst>
              </p:cNvPr>
              <p:cNvSpPr>
                <a:spLocks noGrp="1" noRot="1" noChangeAspect="1" noMove="1" noResize="1" noEditPoints="1" noAdjustHandles="1" noChangeArrowheads="1" noChangeShapeType="1" noTextEdit="1"/>
              </p:cNvSpPr>
              <p:nvPr/>
            </p:nvSpPr>
            <p:spPr>
              <a:xfrm>
                <a:off x="6705600" y="5391150"/>
                <a:ext cx="4762500" cy="361950"/>
              </a:xfrm>
              <a:prstGeom prst="rect">
                <a:avLst/>
              </a:prstGeom>
              <a:blipFill>
                <a:blip r:embed="rId6"/>
                <a:stretch>
                  <a:fillRect t="-8333" b="-26667"/>
                </a:stretch>
              </a:blipFill>
              <a:ln w="0">
                <a:noFill/>
              </a:ln>
            </p:spPr>
            <p:txBody>
              <a:bodyPr/>
              <a:lstStyle/>
              <a:p>
                <a:r>
                  <a:rPr lang="it-IT">
                    <a:noFill/>
                  </a:rPr>
                  <a:t> </a:t>
                </a:r>
              </a:p>
            </p:txBody>
          </p:sp>
        </mc:Fallback>
      </mc:AlternateContent>
      <p:sp>
        <p:nvSpPr>
          <p:cNvPr id="107" name="intro_decision">
            <a:extLst>
              <a:ext uri="{FF2B5EF4-FFF2-40B4-BE49-F238E27FC236}">
                <a16:creationId xmlns:a16="http://schemas.microsoft.com/office/drawing/2014/main" id="{A6B89362-0977-42BE-A11B-40AC1512CFA5}"/>
              </a:ext>
            </a:extLst>
          </p:cNvPr>
          <p:cNvSpPr>
            <a:spLocks noGrp="1"/>
          </p:cNvSpPr>
          <p:nvPr/>
        </p:nvSpPr>
        <p:spPr>
          <a:xfrm>
            <a:off x="723900" y="6134100"/>
            <a:ext cx="10744200" cy="381000"/>
          </a:xfrm>
          <a:prstGeom prst="rect">
            <a:avLst/>
          </a:prstGeom>
          <a:noFill/>
          <a:ln w="0">
            <a:noFill/>
          </a:ln>
        </p:spPr>
        <p:txBody>
          <a:bodyPr anchor="ctr">
            <a:noAutofit/>
          </a:bodyPr>
          <a:lstStyle/>
          <a:p>
            <a:pPr algn="ctr">
              <a:defRPr sz="1950" b="1">
                <a:solidFill>
                  <a:srgbClr val="182D45"/>
                </a:solidFill>
                <a:latin typeface="DejaVu Sans"/>
                <a:ea typeface="DejaVu Sans"/>
                <a:cs typeface="DejaVu Sans"/>
              </a:defRPr>
            </a:pPr>
            <a:r>
              <a:rPr sz="1950" b="1" dirty="0">
                <a:solidFill>
                  <a:srgbClr val="FF0000"/>
                </a:solidFill>
                <a:latin typeface="DejaVu Sans"/>
                <a:ea typeface="DejaVu Sans"/>
                <a:cs typeface="DejaVu Sans"/>
              </a:rPr>
              <a:t>We</a:t>
            </a:r>
            <a:r>
              <a:rPr sz="1950" b="1" dirty="0">
                <a:solidFill>
                  <a:srgbClr val="182D45"/>
                </a:solidFill>
                <a:latin typeface="DejaVu Sans"/>
                <a:ea typeface="DejaVu Sans"/>
                <a:cs typeface="DejaVu Sans"/>
              </a:rPr>
              <a:t> </a:t>
            </a:r>
            <a:r>
              <a:rPr sz="1950" b="1" dirty="0">
                <a:solidFill>
                  <a:srgbClr val="FF0000"/>
                </a:solidFill>
                <a:latin typeface="DejaVu Sans"/>
                <a:ea typeface="DejaVu Sans"/>
                <a:cs typeface="DejaVu Sans"/>
              </a:rPr>
              <a:t>predict one probability per class</a:t>
            </a:r>
            <a:endParaRPr sz="1950" b="1" dirty="0">
              <a:solidFill>
                <a:srgbClr val="182D45"/>
              </a:solidFill>
              <a:latin typeface="DejaVu Sans"/>
              <a:ea typeface="DejaVu Sans"/>
              <a:cs typeface="DejaVu Sans"/>
            </a:endParaRPr>
          </a:p>
        </p:txBody>
      </p:sp>
    </p:spTree>
    <p:extLst>
      <p:ext uri="{BB962C8B-B14F-4D97-AF65-F5344CB8AC3E}">
        <p14:creationId xmlns:p14="http://schemas.microsoft.com/office/powerpoint/2010/main" val="44107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1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10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1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9"/>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105" grpId="0"/>
      <p:bldP spid="108" grpId="0"/>
      <p:bldP spid="107" grpId="0"/>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A8FC166-2312-4041-BB81-A87A0A67574A}"/>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Predicting class probabilities</a:t>
            </a:r>
          </a:p>
        </p:txBody>
      </p:sp>
      <p:sp>
        <p:nvSpPr>
          <p:cNvPr id="2" name="lead">
            <a:extLst>
              <a:ext uri="{FF2B5EF4-FFF2-40B4-BE49-F238E27FC236}">
                <a16:creationId xmlns:a16="http://schemas.microsoft.com/office/drawing/2014/main" id="{0CD5D7FE-A535-46F3-B431-1FBD85665A50}"/>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200" b="0">
                <a:solidFill>
                  <a:srgbClr val="526276"/>
                </a:solidFill>
                <a:latin typeface="DejaVu Sans"/>
                <a:ea typeface="DejaVu Sans"/>
                <a:cs typeface="DejaVu Sans"/>
              </a:defRPr>
            </a:pPr>
            <a:r>
              <a:rPr sz="2200" b="0" dirty="0">
                <a:solidFill>
                  <a:srgbClr val="526276"/>
                </a:solidFill>
                <a:latin typeface="DejaVu Sans"/>
                <a:ea typeface="DejaVu Sans"/>
                <a:cs typeface="DejaVu Sans"/>
              </a:rPr>
              <a:t>We number the classes from 1 to K.</a:t>
            </a:r>
          </a:p>
          <a:p>
            <a:pPr algn="ctr">
              <a:lnSpc>
                <a:spcPct val="112000"/>
              </a:lnSpc>
              <a:buNone/>
              <a:defRPr sz="2200" b="0">
                <a:solidFill>
                  <a:srgbClr val="526276"/>
                </a:solidFill>
                <a:latin typeface="DejaVu Sans"/>
                <a:ea typeface="DejaVu Sans"/>
                <a:cs typeface="DejaVu Sans"/>
              </a:defRPr>
            </a:pPr>
            <a:r>
              <a:rPr sz="2200" b="0" dirty="0">
                <a:solidFill>
                  <a:srgbClr val="526276"/>
                </a:solidFill>
                <a:latin typeface="DejaVu Sans"/>
                <a:ea typeface="DejaVu Sans"/>
                <a:cs typeface="DejaVu Sans"/>
              </a:rPr>
              <a:t>For digits 0 to 9, class index k refers to digit k − 1.</a:t>
            </a:r>
          </a:p>
        </p:txBody>
      </p:sp>
      <p:sp>
        <p:nvSpPr>
          <p:cNvPr id="3" name="footer_course">
            <a:extLst>
              <a:ext uri="{FF2B5EF4-FFF2-40B4-BE49-F238E27FC236}">
                <a16:creationId xmlns:a16="http://schemas.microsoft.com/office/drawing/2014/main" id="{B55EB4B1-4CB9-4546-861E-1FBB5443D4E6}"/>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F609864C-0BF9-4FC1-994E-062E402DA838}"/>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46</a:t>
            </a:r>
          </a:p>
        </p:txBody>
      </p:sp>
      <mc:AlternateContent xmlns:mc="http://schemas.openxmlformats.org/markup-compatibility/2006" xmlns:a14="http://schemas.microsoft.com/office/drawing/2010/main">
        <mc:Choice Requires="a14">
          <p:sp>
            <p:nvSpPr>
              <p:cNvPr id="101" name="predictor_map" descr="\mathbf p:\mathbb R^{1\times d}\longrightarrow[0,1]^{1\times K}">
                <a:extLst>
                  <a:ext uri="{FF2B5EF4-FFF2-40B4-BE49-F238E27FC236}">
                    <a16:creationId xmlns:a16="http://schemas.microsoft.com/office/drawing/2014/main" id="{496A4BCD-E0DC-415C-81CE-9FFF1AEF6113}"/>
                  </a:ext>
                </a:extLst>
              </p:cNvPr>
              <p:cNvSpPr>
                <a:spLocks noGrp="1"/>
              </p:cNvSpPr>
              <p:nvPr/>
            </p:nvSpPr>
            <p:spPr>
              <a:xfrm>
                <a:off x="723900" y="1885950"/>
                <a:ext cx="10744200"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smtClean="0">
                          <a:solidFill>
                            <a:srgbClr val="087F83"/>
                          </a:solidFill>
                          <a:latin typeface="Cambria Math"/>
                          <a:ea typeface="Cambria Math"/>
                          <a:cs typeface="Cambria Math"/>
                        </a:rPr>
                        <m:t>𝐩</m:t>
                      </m:r>
                      <m:r>
                        <a:rPr lang="en-GB" sz="2900" smtClean="0">
                          <a:solidFill>
                            <a:srgbClr val="087F83"/>
                          </a:solidFill>
                          <a:latin typeface="Cambria Math"/>
                          <a:ea typeface="Cambria Math"/>
                          <a:cs typeface="Cambria Math"/>
                        </a:rPr>
                        <m:t>:</m:t>
                      </m:r>
                      <m:sSup>
                        <m:sSupPr>
                          <m:ctrlPr>
                            <a:rPr lang="en-GB" sz="2900">
                              <a:solidFill>
                                <a:srgbClr val="087F83"/>
                              </a:solidFill>
                              <a:latin typeface="Cambria Math"/>
                              <a:ea typeface="Cambria Math"/>
                              <a:cs typeface="Cambria Math"/>
                            </a:rPr>
                          </m:ctrlPr>
                        </m:sSupPr>
                        <m:e>
                          <m:r>
                            <a:rPr lang="en-GB" sz="2900">
                              <a:solidFill>
                                <a:srgbClr val="087F83"/>
                              </a:solidFill>
                              <a:latin typeface="Cambria Math"/>
                              <a:ea typeface="Cambria Math"/>
                              <a:cs typeface="Cambria Math"/>
                            </a:rPr>
                            <m:t>ℝ</m:t>
                          </m:r>
                        </m:e>
                        <m:sup>
                          <m:r>
                            <a:rPr lang="en-GB" sz="2900">
                              <a:solidFill>
                                <a:srgbClr val="087F83"/>
                              </a:solidFill>
                              <a:latin typeface="Cambria Math"/>
                              <a:ea typeface="Cambria Math"/>
                              <a:cs typeface="Cambria Math"/>
                            </a:rPr>
                            <m:t>1×</m:t>
                          </m:r>
                          <m:r>
                            <a:rPr lang="en-GB" sz="2900">
                              <a:solidFill>
                                <a:srgbClr val="087F83"/>
                              </a:solidFill>
                              <a:latin typeface="Cambria Math"/>
                              <a:ea typeface="Cambria Math"/>
                              <a:cs typeface="Cambria Math"/>
                            </a:rPr>
                            <m:t>𝑑</m:t>
                          </m:r>
                        </m:sup>
                      </m:sSup>
                      <m:r>
                        <a:rPr lang="en-GB" sz="2900">
                          <a:solidFill>
                            <a:srgbClr val="087F83"/>
                          </a:solidFill>
                          <a:latin typeface="Cambria Math"/>
                          <a:ea typeface="Cambria Math"/>
                          <a:cs typeface="Cambria Math"/>
                        </a:rPr>
                        <m:t>⟶</m:t>
                      </m:r>
                      <m:sSup>
                        <m:sSupPr>
                          <m:ctrlPr>
                            <a:rPr lang="en-GB" sz="2900" i="1">
                              <a:solidFill>
                                <a:srgbClr val="087F83"/>
                              </a:solidFill>
                              <a:latin typeface="Cambria Math" panose="02040503050406030204" pitchFamily="18" charset="0"/>
                              <a:ea typeface="Cambria Math"/>
                              <a:cs typeface="Cambria Math"/>
                            </a:rPr>
                          </m:ctrlPr>
                        </m:sSupPr>
                        <m:e>
                          <m:d>
                            <m:dPr>
                              <m:begChr m:val="["/>
                              <m:endChr m:val="]"/>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0,1</m:t>
                              </m:r>
                            </m:e>
                          </m:d>
                        </m:e>
                        <m:sup>
                          <m:r>
                            <a:rPr lang="en-GB" sz="2900">
                              <a:solidFill>
                                <a:srgbClr val="087F83"/>
                              </a:solidFill>
                              <a:latin typeface="Cambria Math"/>
                              <a:ea typeface="Cambria Math"/>
                              <a:cs typeface="Cambria Math"/>
                            </a:rPr>
                            <m:t>1×</m:t>
                          </m:r>
                          <m:r>
                            <a:rPr lang="en-GB" sz="2900">
                              <a:solidFill>
                                <a:srgbClr val="087F83"/>
                              </a:solidFill>
                              <a:latin typeface="Cambria Math"/>
                              <a:ea typeface="Cambria Math"/>
                              <a:cs typeface="Cambria Math"/>
                            </a:rPr>
                            <m:t>𝐾</m:t>
                          </m:r>
                        </m:sup>
                      </m:sSup>
                    </m:oMath>
                  </m:oMathPara>
                </a14:m>
                <a:endParaRPr lang="en-GB" sz="2900" dirty="0"/>
              </a:p>
            </p:txBody>
          </p:sp>
        </mc:Choice>
        <mc:Fallback xmlns="">
          <p:sp>
            <p:nvSpPr>
              <p:cNvPr id="101" name="predictor_map" descr="\mathbf p:\mathbb R^{1\times d}\longrightarrow[0,1]^{1\times K}">
                <a:extLst>
                  <a:ext uri="{FF2B5EF4-FFF2-40B4-BE49-F238E27FC236}">
                    <a16:creationId xmlns:a16="http://schemas.microsoft.com/office/drawing/2014/main" id="{496A4BCD-E0DC-415C-81CE-9FFF1AEF6113}"/>
                  </a:ext>
                </a:extLst>
              </p:cNvPr>
              <p:cNvSpPr>
                <a:spLocks noGrp="1" noRot="1" noChangeAspect="1" noMove="1" noResize="1" noEditPoints="1" noAdjustHandles="1" noChangeArrowheads="1" noChangeShapeType="1" noTextEdit="1"/>
              </p:cNvSpPr>
              <p:nvPr/>
            </p:nvSpPr>
            <p:spPr>
              <a:xfrm>
                <a:off x="723900" y="1885950"/>
                <a:ext cx="10744200" cy="6667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2" name="probability_row" descr="\mathbf p(\mathbf x)=\bigl(p_1(\mathbf x),\ldots,p_K(\mathbf x)\bigr)">
                <a:extLst>
                  <a:ext uri="{FF2B5EF4-FFF2-40B4-BE49-F238E27FC236}">
                    <a16:creationId xmlns:a16="http://schemas.microsoft.com/office/drawing/2014/main" id="{7DCEED92-A20F-48CA-AC0D-0D9DFF587DB5}"/>
                  </a:ext>
                </a:extLst>
              </p:cNvPr>
              <p:cNvSpPr>
                <a:spLocks noGrp="1"/>
              </p:cNvSpPr>
              <p:nvPr/>
            </p:nvSpPr>
            <p:spPr>
              <a:xfrm>
                <a:off x="723900" y="2676525"/>
                <a:ext cx="107442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smtClean="0">
                          <a:solidFill>
                            <a:srgbClr val="087F83"/>
                          </a:solidFill>
                          <a:latin typeface="Cambria Math"/>
                          <a:ea typeface="Cambria Math"/>
                          <a:cs typeface="Cambria Math"/>
                        </a:rPr>
                        <m:t>𝐩</m:t>
                      </m:r>
                      <m:d>
                        <m:dPr>
                          <m:ctrlPr>
                            <a:rPr lang="en-GB" sz="2800" smtClean="0">
                              <a:solidFill>
                                <a:srgbClr val="087F83"/>
                              </a:solidFill>
                              <a:latin typeface="Cambria Math"/>
                              <a:ea typeface="Cambria Math"/>
                              <a:cs typeface="Cambria Math"/>
                            </a:rPr>
                          </m:ctrlPr>
                        </m:dPr>
                        <m:e>
                          <m:r>
                            <a:rPr lang="en-GB" sz="2800" smtClean="0">
                              <a:solidFill>
                                <a:srgbClr val="087F83"/>
                              </a:solidFill>
                              <a:latin typeface="Cambria Math"/>
                              <a:ea typeface="Cambria Math"/>
                              <a:cs typeface="Cambria Math"/>
                            </a:rPr>
                            <m:t>𝐱</m:t>
                          </m:r>
                        </m:e>
                      </m:d>
                      <m:r>
                        <a:rPr lang="en-GB" sz="2800" smtClean="0">
                          <a:solidFill>
                            <a:srgbClr val="087F83"/>
                          </a:solidFill>
                          <a:latin typeface="Cambria Math"/>
                          <a:ea typeface="Cambria Math"/>
                          <a:cs typeface="Cambria Math"/>
                        </a:rPr>
                        <m:t>=</m:t>
                      </m:r>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𝑝</m:t>
                              </m:r>
                            </m:e>
                            <m:sub>
                              <m:r>
                                <a:rPr lang="en-GB" sz="2800">
                                  <a:solidFill>
                                    <a:srgbClr val="087F83"/>
                                  </a:solidFill>
                                  <a:latin typeface="Cambria Math"/>
                                  <a:ea typeface="Cambria Math"/>
                                  <a:cs typeface="Cambria Math"/>
                                </a:rPr>
                                <m:t>1</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𝑝</m:t>
                              </m:r>
                            </m:e>
                            <m:sub>
                              <m:r>
                                <a:rPr lang="en-GB" sz="2800">
                                  <a:solidFill>
                                    <a:srgbClr val="087F83"/>
                                  </a:solidFill>
                                  <a:latin typeface="Cambria Math"/>
                                  <a:ea typeface="Cambria Math"/>
                                  <a:cs typeface="Cambria Math"/>
                                </a:rPr>
                                <m:t>𝐾</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e>
                      </m:d>
                    </m:oMath>
                  </m:oMathPara>
                </a14:m>
                <a:endParaRPr lang="en-GB" sz="2800" dirty="0"/>
              </a:p>
            </p:txBody>
          </p:sp>
        </mc:Choice>
        <mc:Fallback xmlns="">
          <p:sp>
            <p:nvSpPr>
              <p:cNvPr id="102" name="probability_row" descr="\mathbf p(\mathbf x)=\bigl(p_1(\mathbf x),\ldots,p_K(\mathbf x)\bigr)">
                <a:extLst>
                  <a:ext uri="{FF2B5EF4-FFF2-40B4-BE49-F238E27FC236}">
                    <a16:creationId xmlns:a16="http://schemas.microsoft.com/office/drawing/2014/main" id="{7DCEED92-A20F-48CA-AC0D-0D9DFF587DB5}"/>
                  </a:ext>
                </a:extLst>
              </p:cNvPr>
              <p:cNvSpPr>
                <a:spLocks noGrp="1" noRot="1" noChangeAspect="1" noMove="1" noResize="1" noEditPoints="1" noAdjustHandles="1" noChangeArrowheads="1" noChangeShapeType="1" noTextEdit="1"/>
              </p:cNvSpPr>
              <p:nvPr/>
            </p:nvSpPr>
            <p:spPr>
              <a:xfrm>
                <a:off x="723900" y="2676525"/>
                <a:ext cx="10744200" cy="647700"/>
              </a:xfrm>
              <a:prstGeom prst="rect">
                <a:avLst/>
              </a:prstGeom>
              <a:blipFill>
                <a:blip r:embed="rId5"/>
                <a:stretch>
                  <a:fillRect/>
                </a:stretch>
              </a:blipFill>
              <a:ln w="0">
                <a:noFill/>
              </a:ln>
            </p:spPr>
            <p:txBody>
              <a:bodyPr/>
              <a:lstStyle/>
              <a:p>
                <a:r>
                  <a:rPr lang="it-IT">
                    <a:noFill/>
                  </a:rPr>
                  <a:t> </a:t>
                </a:r>
              </a:p>
            </p:txBody>
          </p:sp>
        </mc:Fallback>
      </mc:AlternateContent>
      <p:sp>
        <p:nvSpPr>
          <p:cNvPr id="103" name="meaning">
            <a:extLst>
              <a:ext uri="{FF2B5EF4-FFF2-40B4-BE49-F238E27FC236}">
                <a16:creationId xmlns:a16="http://schemas.microsoft.com/office/drawing/2014/main" id="{BD5029BC-4C9D-4DD7-8268-9ECCAD196837}"/>
              </a:ext>
            </a:extLst>
          </p:cNvPr>
          <p:cNvSpPr>
            <a:spLocks noGrp="1"/>
          </p:cNvSpPr>
          <p:nvPr/>
        </p:nvSpPr>
        <p:spPr>
          <a:xfrm>
            <a:off x="723900" y="3506724"/>
            <a:ext cx="10744200" cy="1103376"/>
          </a:xfrm>
          <a:prstGeom prst="rect">
            <a:avLst/>
          </a:prstGeom>
          <a:noFill/>
          <a:ln w="0">
            <a:noFill/>
          </a:ln>
        </p:spPr>
        <p:txBody>
          <a:bodyPr anchor="ctr">
            <a:noAutofit/>
          </a:bodyPr>
          <a:lstStyle/>
          <a:p>
            <a:pPr algn="ctr">
              <a:defRPr sz="2025" b="0">
                <a:solidFill>
                  <a:srgbClr val="182D45"/>
                </a:solidFill>
                <a:latin typeface="DejaVu Sans"/>
                <a:ea typeface="DejaVu Sans"/>
                <a:cs typeface="DejaVu Sans"/>
              </a:defRPr>
            </a:pPr>
            <a:r>
              <a:rPr sz="2025" b="0" dirty="0">
                <a:solidFill>
                  <a:srgbClr val="FF0000"/>
                </a:solidFill>
                <a:latin typeface="DejaVu Sans"/>
                <a:ea typeface="DejaVu Sans"/>
                <a:cs typeface="DejaVu Sans"/>
              </a:rPr>
              <a:t>Each component gives the predicted probability of </a:t>
            </a:r>
            <a:r>
              <a:rPr lang="it-IT" sz="2025" b="0" dirty="0">
                <a:solidFill>
                  <a:srgbClr val="FF0000"/>
                </a:solidFill>
                <a:latin typeface="DejaVu Sans"/>
                <a:ea typeface="DejaVu Sans"/>
                <a:cs typeface="DejaVu Sans"/>
              </a:rPr>
              <a:t>the </a:t>
            </a:r>
            <a:r>
              <a:rPr lang="it-IT" sz="2025" b="0" dirty="0" err="1">
                <a:solidFill>
                  <a:srgbClr val="FF0000"/>
                </a:solidFill>
                <a:latin typeface="DejaVu Sans"/>
                <a:ea typeface="DejaVu Sans"/>
                <a:cs typeface="DejaVu Sans"/>
              </a:rPr>
              <a:t>corresponding</a:t>
            </a:r>
            <a:r>
              <a:rPr sz="2025" b="0" dirty="0">
                <a:solidFill>
                  <a:srgbClr val="FF0000"/>
                </a:solidFill>
                <a:latin typeface="DejaVu Sans"/>
                <a:ea typeface="DejaVu Sans"/>
                <a:cs typeface="DejaVu Sans"/>
              </a:rPr>
              <a:t> class.</a:t>
            </a:r>
            <a:endParaRPr lang="it-IT" sz="2025" b="0" dirty="0">
              <a:solidFill>
                <a:srgbClr val="FF0000"/>
              </a:solidFill>
              <a:latin typeface="DejaVu Sans"/>
              <a:ea typeface="DejaVu Sans"/>
              <a:cs typeface="DejaVu Sans"/>
            </a:endParaRPr>
          </a:p>
          <a:p>
            <a:pPr algn="ctr">
              <a:defRPr sz="2025" b="0">
                <a:solidFill>
                  <a:srgbClr val="182D45"/>
                </a:solidFill>
                <a:latin typeface="DejaVu Sans"/>
                <a:ea typeface="DejaVu Sans"/>
                <a:cs typeface="DejaVu Sans"/>
              </a:defRPr>
            </a:pPr>
            <a:r>
              <a:rPr lang="en-GB" sz="2025" dirty="0">
                <a:solidFill>
                  <a:srgbClr val="182D45"/>
                </a:solidFill>
                <a:latin typeface="DejaVu Sans"/>
                <a:ea typeface="DejaVu Sans"/>
                <a:cs typeface="DejaVu Sans"/>
              </a:rPr>
              <a:t>For this vector to represent a valid probability distribution,</a:t>
            </a:r>
          </a:p>
          <a:p>
            <a:pPr algn="ctr">
              <a:defRPr sz="2025" b="0">
                <a:solidFill>
                  <a:srgbClr val="182D45"/>
                </a:solidFill>
                <a:latin typeface="DejaVu Sans"/>
                <a:ea typeface="DejaVu Sans"/>
                <a:cs typeface="DejaVu Sans"/>
              </a:defRPr>
            </a:pPr>
            <a:r>
              <a:rPr lang="en-GB" sz="2025" dirty="0">
                <a:solidFill>
                  <a:srgbClr val="182D45"/>
                </a:solidFill>
                <a:latin typeface="DejaVu Sans"/>
                <a:ea typeface="DejaVu Sans"/>
                <a:cs typeface="DejaVu Sans"/>
              </a:rPr>
              <a:t>we require its components to sum to one:</a:t>
            </a:r>
            <a:endParaRPr sz="2025" b="0"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104" name="constraints" descr="p_k(\mathbf x)\geq0,\qquad \sum_{k=1}^{K}p_k(\mathbf x)=1">
                <a:extLst>
                  <a:ext uri="{FF2B5EF4-FFF2-40B4-BE49-F238E27FC236}">
                    <a16:creationId xmlns:a16="http://schemas.microsoft.com/office/drawing/2014/main" id="{73131E2B-3F43-43C2-94E2-4792D74D9D54}"/>
                  </a:ext>
                </a:extLst>
              </p:cNvPr>
              <p:cNvSpPr>
                <a:spLocks noGrp="1"/>
              </p:cNvSpPr>
              <p:nvPr/>
            </p:nvSpPr>
            <p:spPr>
              <a:xfrm>
                <a:off x="723900" y="4733925"/>
                <a:ext cx="107442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nary>
                        <m:naryPr>
                          <m:chr m:val="∑"/>
                          <m:limLoc m:val="undOvr"/>
                          <m:ctrlPr>
                            <a:rPr lang="en-GB" sz="2700">
                              <a:solidFill>
                                <a:srgbClr val="087F83"/>
                              </a:solidFill>
                              <a:latin typeface="Cambria Math"/>
                              <a:ea typeface="Cambria Math"/>
                              <a:cs typeface="Cambria Math"/>
                            </a:rPr>
                          </m:ctrlPr>
                        </m:naryPr>
                        <m:sub>
                          <m:r>
                            <a:rPr lang="en-GB" sz="2700">
                              <a:solidFill>
                                <a:srgbClr val="087F83"/>
                              </a:solidFill>
                              <a:latin typeface="Cambria Math"/>
                              <a:ea typeface="Cambria Math"/>
                              <a:cs typeface="Cambria Math"/>
                            </a:rPr>
                            <m:t>𝑘</m:t>
                          </m:r>
                          <m:r>
                            <a:rPr lang="en-GB" sz="2700">
                              <a:solidFill>
                                <a:srgbClr val="087F83"/>
                              </a:solidFill>
                              <a:latin typeface="Cambria Math"/>
                              <a:ea typeface="Cambria Math"/>
                              <a:cs typeface="Cambria Math"/>
                            </a:rPr>
                            <m:t>=1</m:t>
                          </m:r>
                        </m:sub>
                        <m:sup>
                          <m:r>
                            <a:rPr lang="en-GB" sz="2700">
                              <a:solidFill>
                                <a:srgbClr val="087F83"/>
                              </a:solidFill>
                              <a:latin typeface="Cambria Math"/>
                              <a:ea typeface="Cambria Math"/>
                              <a:cs typeface="Cambria Math"/>
                            </a:rPr>
                            <m:t>𝐾</m:t>
                          </m:r>
                        </m:sup>
                        <m:e>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𝑝</m:t>
                              </m:r>
                            </m:e>
                            <m:sub>
                              <m:r>
                                <a:rPr lang="en-GB" sz="2700">
                                  <a:solidFill>
                                    <a:srgbClr val="087F83"/>
                                  </a:solidFill>
                                  <a:latin typeface="Cambria Math"/>
                                  <a:ea typeface="Cambria Math"/>
                                  <a:cs typeface="Cambria Math"/>
                                </a:rPr>
                                <m:t>𝑘</m:t>
                              </m:r>
                            </m:sub>
                          </m:sSub>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𝐱</m:t>
                              </m:r>
                            </m:e>
                          </m:d>
                        </m:e>
                      </m:nary>
                      <m:r>
                        <a:rPr lang="en-GB" sz="2700">
                          <a:solidFill>
                            <a:srgbClr val="087F83"/>
                          </a:solidFill>
                          <a:latin typeface="Cambria Math"/>
                          <a:ea typeface="Cambria Math"/>
                          <a:cs typeface="Cambria Math"/>
                        </a:rPr>
                        <m:t>=1</m:t>
                      </m:r>
                    </m:oMath>
                  </m:oMathPara>
                </a14:m>
                <a:endParaRPr lang="en-GB" sz="2700" dirty="0"/>
              </a:p>
            </p:txBody>
          </p:sp>
        </mc:Choice>
        <mc:Fallback xmlns="">
          <p:sp>
            <p:nvSpPr>
              <p:cNvPr id="104" name="constraints" descr="p_k(\mathbf x)\geq0,\qquad \sum_{k=1}^{K}p_k(\mathbf x)=1">
                <a:extLst>
                  <a:ext uri="{FF2B5EF4-FFF2-40B4-BE49-F238E27FC236}">
                    <a16:creationId xmlns:a16="http://schemas.microsoft.com/office/drawing/2014/main" id="{73131E2B-3F43-43C2-94E2-4792D74D9D54}"/>
                  </a:ext>
                </a:extLst>
              </p:cNvPr>
              <p:cNvSpPr>
                <a:spLocks noGrp="1" noRot="1" noChangeAspect="1" noMove="1" noResize="1" noEditPoints="1" noAdjustHandles="1" noChangeArrowheads="1" noChangeShapeType="1" noTextEdit="1"/>
              </p:cNvSpPr>
              <p:nvPr/>
            </p:nvSpPr>
            <p:spPr>
              <a:xfrm>
                <a:off x="723900" y="4733925"/>
                <a:ext cx="10744200" cy="914400"/>
              </a:xfrm>
              <a:prstGeom prst="rect">
                <a:avLst/>
              </a:prstGeom>
              <a:blipFill>
                <a:blip r:embed="rId6"/>
                <a:stretch>
                  <a:fillRect t="-8667" b="-13333"/>
                </a:stretch>
              </a:blipFill>
              <a:ln w="0">
                <a:noFill/>
              </a:ln>
            </p:spPr>
            <p:txBody>
              <a:bodyPr/>
              <a:lstStyle/>
              <a:p>
                <a:r>
                  <a:rPr lang="it-IT">
                    <a:noFill/>
                  </a:rPr>
                  <a:t> </a:t>
                </a:r>
              </a:p>
            </p:txBody>
          </p:sp>
        </mc:Fallback>
      </mc:AlternateContent>
      <p:sp>
        <p:nvSpPr>
          <p:cNvPr id="106" name="question">
            <a:extLst>
              <a:ext uri="{FF2B5EF4-FFF2-40B4-BE49-F238E27FC236}">
                <a16:creationId xmlns:a16="http://schemas.microsoft.com/office/drawing/2014/main" id="{88D698E4-192A-432C-81C1-431EA1147E1B}"/>
              </a:ext>
            </a:extLst>
          </p:cNvPr>
          <p:cNvSpPr>
            <a:spLocks noGrp="1"/>
          </p:cNvSpPr>
          <p:nvPr/>
        </p:nvSpPr>
        <p:spPr>
          <a:xfrm>
            <a:off x="723900" y="5908548"/>
            <a:ext cx="10744200" cy="466725"/>
          </a:xfrm>
          <a:prstGeom prst="rect">
            <a:avLst/>
          </a:prstGeom>
          <a:noFill/>
          <a:ln w="0">
            <a:noFill/>
          </a:ln>
        </p:spPr>
        <p:txBody>
          <a:bodyPr anchor="ctr">
            <a:noAutofit/>
          </a:bodyPr>
          <a:lstStyle/>
          <a:p>
            <a:pPr algn="ctr">
              <a:defRPr sz="2175" b="1">
                <a:solidFill>
                  <a:srgbClr val="182D45"/>
                </a:solidFill>
                <a:latin typeface="DejaVu Sans"/>
                <a:ea typeface="DejaVu Sans"/>
                <a:cs typeface="DejaVu Sans"/>
              </a:defRPr>
            </a:pPr>
            <a:r>
              <a:rPr sz="2175" b="1" dirty="0">
                <a:solidFill>
                  <a:srgbClr val="182D45"/>
                </a:solidFill>
                <a:latin typeface="DejaVu Sans"/>
                <a:ea typeface="DejaVu Sans"/>
                <a:cs typeface="DejaVu Sans"/>
              </a:rPr>
              <a:t>If we must choose one label, which should we predict?</a:t>
            </a:r>
          </a:p>
        </p:txBody>
      </p:sp>
    </p:spTree>
    <p:extLst>
      <p:ext uri="{BB962C8B-B14F-4D97-AF65-F5344CB8AC3E}">
        <p14:creationId xmlns:p14="http://schemas.microsoft.com/office/powerpoint/2010/main" val="4410768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A8FC166-2312-4041-BB81-A87A0A67574A}"/>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The multiclass plug-in rule</a:t>
            </a:r>
          </a:p>
        </p:txBody>
      </p:sp>
      <p:sp>
        <p:nvSpPr>
          <p:cNvPr id="2" name="lead">
            <a:extLst>
              <a:ext uri="{FF2B5EF4-FFF2-40B4-BE49-F238E27FC236}">
                <a16:creationId xmlns:a16="http://schemas.microsoft.com/office/drawing/2014/main" id="{50770430-ABC6-4EBE-B50C-DE8579D20EF4}"/>
              </a:ext>
            </a:extLst>
          </p:cNvPr>
          <p:cNvSpPr>
            <a:spLocks noGrp="1"/>
          </p:cNvSpPr>
          <p:nvPr/>
        </p:nvSpPr>
        <p:spPr>
          <a:xfrm>
            <a:off x="723900" y="959643"/>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latin typeface="DejaVu Sans"/>
                <a:ea typeface="DejaVu Sans"/>
                <a:cs typeface="DejaVu Sans"/>
              </a:rPr>
              <a:t>Choose the class with the largest predicted probability.</a:t>
            </a:r>
          </a:p>
        </p:txBody>
      </p:sp>
      <p:sp>
        <p:nvSpPr>
          <p:cNvPr id="3" name="footer_course">
            <a:extLst>
              <a:ext uri="{FF2B5EF4-FFF2-40B4-BE49-F238E27FC236}">
                <a16:creationId xmlns:a16="http://schemas.microsoft.com/office/drawing/2014/main" id="{B55EB4B1-4CB9-4546-861E-1FBB5443D4E6}"/>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F609864C-0BF9-4FC1-994E-062E402DA838}"/>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47</a:t>
            </a:r>
          </a:p>
        </p:txBody>
      </p:sp>
      <mc:AlternateContent xmlns:mc="http://schemas.openxmlformats.org/markup-compatibility/2006" xmlns:a14="http://schemas.microsoft.com/office/drawing/2010/main">
        <mc:Choice Requires="a14">
          <p:sp>
            <p:nvSpPr>
              <p:cNvPr id="100" name="classifier_map" descr="h_{\mathbf p}:\mathbb R^{1\times d}\longrightarrow\{1,\ldots,K\}">
                <a:extLst>
                  <a:ext uri="{FF2B5EF4-FFF2-40B4-BE49-F238E27FC236}">
                    <a16:creationId xmlns:a16="http://schemas.microsoft.com/office/drawing/2014/main" id="{BD9239F3-484B-4F6D-89DC-DCA2D1A6433E}"/>
                  </a:ext>
                </a:extLst>
              </p:cNvPr>
              <p:cNvSpPr>
                <a:spLocks noGrp="1"/>
              </p:cNvSpPr>
              <p:nvPr/>
            </p:nvSpPr>
            <p:spPr>
              <a:xfrm>
                <a:off x="723900" y="1597983"/>
                <a:ext cx="10744200"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ℎ</m:t>
                          </m:r>
                        </m:e>
                        <m:sub>
                          <m:r>
                            <a:rPr lang="en-GB" sz="2700">
                              <a:solidFill>
                                <a:srgbClr val="087F83"/>
                              </a:solidFill>
                              <a:latin typeface="Cambria Math"/>
                              <a:ea typeface="Cambria Math"/>
                              <a:cs typeface="Cambria Math"/>
                            </a:rPr>
                            <m:t>𝐩</m:t>
                          </m:r>
                        </m:sub>
                      </m:sSub>
                      <m:r>
                        <a:rPr lang="en-GB" sz="2700">
                          <a:solidFill>
                            <a:srgbClr val="087F83"/>
                          </a:solidFill>
                          <a:latin typeface="Cambria Math"/>
                          <a:ea typeface="Cambria Math"/>
                          <a:cs typeface="Cambria Math"/>
                        </a:rPr>
                        <m:t>:</m:t>
                      </m:r>
                      <m:sSup>
                        <m:sSupPr>
                          <m:ctrlPr>
                            <a:rPr lang="en-GB" sz="2700">
                              <a:solidFill>
                                <a:srgbClr val="087F83"/>
                              </a:solidFill>
                              <a:latin typeface="Cambria Math"/>
                              <a:ea typeface="Cambria Math"/>
                              <a:cs typeface="Cambria Math"/>
                            </a:rPr>
                          </m:ctrlPr>
                        </m:sSupPr>
                        <m:e>
                          <m:r>
                            <a:rPr lang="en-GB" sz="2700">
                              <a:solidFill>
                                <a:srgbClr val="087F83"/>
                              </a:solidFill>
                              <a:latin typeface="Cambria Math"/>
                              <a:ea typeface="Cambria Math"/>
                              <a:cs typeface="Cambria Math"/>
                            </a:rPr>
                            <m:t>ℝ</m:t>
                          </m:r>
                        </m:e>
                        <m:sup>
                          <m:r>
                            <a:rPr lang="en-GB" sz="2700">
                              <a:solidFill>
                                <a:srgbClr val="087F83"/>
                              </a:solidFill>
                              <a:latin typeface="Cambria Math"/>
                              <a:ea typeface="Cambria Math"/>
                              <a:cs typeface="Cambria Math"/>
                            </a:rPr>
                            <m:t>1×</m:t>
                          </m:r>
                          <m:r>
                            <a:rPr lang="en-GB" sz="2700">
                              <a:solidFill>
                                <a:srgbClr val="087F83"/>
                              </a:solidFill>
                              <a:latin typeface="Cambria Math"/>
                              <a:ea typeface="Cambria Math"/>
                              <a:cs typeface="Cambria Math"/>
                            </a:rPr>
                            <m:t>𝑑</m:t>
                          </m:r>
                        </m:sup>
                      </m:sSup>
                      <m:r>
                        <a:rPr lang="en-GB" sz="2700">
                          <a:solidFill>
                            <a:srgbClr val="087F83"/>
                          </a:solidFill>
                          <a:latin typeface="Cambria Math"/>
                          <a:ea typeface="Cambria Math"/>
                          <a:cs typeface="Cambria Math"/>
                        </a:rPr>
                        <m:t>⟶{1,…,</m:t>
                      </m:r>
                      <m:r>
                        <a:rPr lang="en-GB" sz="2700">
                          <a:solidFill>
                            <a:srgbClr val="087F83"/>
                          </a:solidFill>
                          <a:latin typeface="Cambria Math"/>
                          <a:ea typeface="Cambria Math"/>
                          <a:cs typeface="Cambria Math"/>
                        </a:rPr>
                        <m:t>𝐾</m:t>
                      </m:r>
                      <m:r>
                        <a:rPr lang="en-GB" sz="2700">
                          <a:solidFill>
                            <a:srgbClr val="087F83"/>
                          </a:solidFill>
                          <a:latin typeface="Cambria Math"/>
                          <a:ea typeface="Cambria Math"/>
                          <a:cs typeface="Cambria Math"/>
                        </a:rPr>
                        <m:t>}</m:t>
                      </m:r>
                    </m:oMath>
                  </m:oMathPara>
                </a14:m>
                <a:endParaRPr lang="en-GB" sz="2700" dirty="0"/>
              </a:p>
            </p:txBody>
          </p:sp>
        </mc:Choice>
        <mc:Fallback xmlns="">
          <p:sp>
            <p:nvSpPr>
              <p:cNvPr id="100" name="classifier_map" descr="h_{\mathbf p}:\mathbb R^{1\times d}\longrightarrow\{1,\ldots,K\}">
                <a:extLst>
                  <a:ext uri="{FF2B5EF4-FFF2-40B4-BE49-F238E27FC236}">
                    <a16:creationId xmlns:a16="http://schemas.microsoft.com/office/drawing/2014/main" id="{BD9239F3-484B-4F6D-89DC-DCA2D1A6433E}"/>
                  </a:ext>
                </a:extLst>
              </p:cNvPr>
              <p:cNvSpPr>
                <a:spLocks noGrp="1" noRot="1" noChangeAspect="1" noMove="1" noResize="1" noEditPoints="1" noAdjustHandles="1" noChangeArrowheads="1" noChangeShapeType="1" noTextEdit="1"/>
              </p:cNvSpPr>
              <p:nvPr/>
            </p:nvSpPr>
            <p:spPr>
              <a:xfrm>
                <a:off x="723900" y="1597983"/>
                <a:ext cx="10744200" cy="552450"/>
              </a:xfrm>
              <a:prstGeom prst="rect">
                <a:avLst/>
              </a:prstGeom>
              <a:blipFill>
                <a:blip r:embed="rId3"/>
                <a:stretch>
                  <a:fillRect/>
                </a:stretch>
              </a:blipFill>
              <a:ln w="0">
                <a:noFill/>
              </a:ln>
            </p:spPr>
            <p:txBody>
              <a:bodyPr/>
              <a:lstStyle/>
              <a:p>
                <a:r>
                  <a:rPr lang="it-IT">
                    <a:noFill/>
                  </a:rPr>
                  <a:t> </a:t>
                </a:r>
              </a:p>
            </p:txBody>
          </p:sp>
        </mc:Fallback>
      </mc:AlternateContent>
      <p:sp>
        <p:nvSpPr>
          <p:cNvPr id="101" name="plugin" descr="p_{h_{\mathbf p}(\mathbf x)}(\mathbf x)=\max_{k\in\{1,\ldots,K\}}p_k(\mathbf x)">
            <a:extLst>
              <a:ext uri="{FF2B5EF4-FFF2-40B4-BE49-F238E27FC236}">
                <a16:creationId xmlns:a16="http://schemas.microsoft.com/office/drawing/2014/main" id="{7BB5F18C-CC56-4061-A437-0F6DC14C7325}"/>
              </a:ext>
            </a:extLst>
          </p:cNvPr>
          <p:cNvSpPr>
            <a:spLocks noGrp="1"/>
          </p:cNvSpPr>
          <p:nvPr/>
        </p:nvSpPr>
        <p:spPr>
          <a:xfrm>
            <a:off x="713613" y="2224251"/>
            <a:ext cx="10744200" cy="1019175"/>
          </a:xfrm>
          <a:prstGeom prst="rect">
            <a:avLst/>
          </a:prstGeom>
          <a:noFill/>
          <a:ln w="0">
            <a:noFill/>
          </a:ln>
        </p:spPr>
        <p:txBody>
          <a:bodyPr vertOverflow="overflow" horzOverflow="overflow" wrap="none" lIns="0" tIns="0" rIns="0" bIns="0" anchor="ctr">
            <a:noAutofit/>
          </a:bodyPr>
          <a:lstStyle/>
          <a:p>
            <a:pPr algn="ctr"/>
            <a:endParaRPr lang="en-GB" sz="2900" i="1" dirty="0"/>
          </a:p>
        </p:txBody>
      </p:sp>
      <mc:AlternateContent xmlns:mc="http://schemas.openxmlformats.org/markup-compatibility/2006" xmlns:a14="http://schemas.microsoft.com/office/drawing/2010/main">
        <mc:Choice Requires="a14">
          <p:sp>
            <p:nvSpPr>
              <p:cNvPr id="102" name="argmax_explanation">
                <a:extLst>
                  <a:ext uri="{FF2B5EF4-FFF2-40B4-BE49-F238E27FC236}">
                    <a16:creationId xmlns:a16="http://schemas.microsoft.com/office/drawing/2014/main" id="{098FBF2D-9A14-46F9-8D93-BBD423A5D92B}"/>
                  </a:ext>
                </a:extLst>
              </p:cNvPr>
              <p:cNvSpPr>
                <a:spLocks noGrp="1"/>
              </p:cNvSpPr>
              <p:nvPr/>
            </p:nvSpPr>
            <p:spPr>
              <a:xfrm>
                <a:off x="762000" y="2588195"/>
                <a:ext cx="10744200" cy="1910210"/>
              </a:xfrm>
              <a:prstGeom prst="rect">
                <a:avLst/>
              </a:prstGeom>
              <a:noFill/>
              <a:ln w="0">
                <a:noFill/>
              </a:ln>
            </p:spPr>
            <p:txBody>
              <a:bodyPr anchor="ctr">
                <a:noAutofit/>
              </a:bodyPr>
              <a:lstStyle/>
              <a:p>
                <a:pPr algn="ctr">
                  <a:defRPr sz="2025" b="0">
                    <a:solidFill>
                      <a:srgbClr val="182D45"/>
                    </a:solidFill>
                    <a:latin typeface="DejaVu Sans"/>
                    <a:ea typeface="DejaVu Sans"/>
                    <a:cs typeface="DejaVu Sans"/>
                  </a:defRPr>
                </a:pPr>
                <a14:m>
                  <m:oMath xmlns:m="http://schemas.openxmlformats.org/officeDocument/2006/math">
                    <m:sSub>
                      <m:sSubPr>
                        <m:ctrlPr>
                          <a:rPr lang="en-GB" sz="2400">
                            <a:solidFill>
                              <a:srgbClr val="FF0000"/>
                            </a:solidFill>
                            <a:latin typeface="Cambria Math"/>
                            <a:ea typeface="Cambria Math"/>
                            <a:cs typeface="Cambria Math"/>
                          </a:rPr>
                        </m:ctrlPr>
                      </m:sSubPr>
                      <m:e>
                        <m:r>
                          <a:rPr lang="en-GB" sz="2400">
                            <a:solidFill>
                              <a:srgbClr val="FF0000"/>
                            </a:solidFill>
                            <a:latin typeface="Cambria Math"/>
                            <a:ea typeface="Cambria Math"/>
                            <a:cs typeface="Cambria Math"/>
                          </a:rPr>
                          <m:t>ℎ</m:t>
                        </m:r>
                      </m:e>
                      <m:sub>
                        <m:r>
                          <a:rPr lang="en-GB" sz="2400">
                            <a:solidFill>
                              <a:srgbClr val="FF0000"/>
                            </a:solidFill>
                            <a:latin typeface="Cambria Math"/>
                            <a:ea typeface="Cambria Math"/>
                            <a:cs typeface="Cambria Math"/>
                          </a:rPr>
                          <m:t>𝐩</m:t>
                        </m:r>
                      </m:sub>
                    </m:sSub>
                    <m:d>
                      <m:dPr>
                        <m:ctrlPr>
                          <a:rPr lang="en-GB" sz="2400">
                            <a:solidFill>
                              <a:srgbClr val="FF0000"/>
                            </a:solidFill>
                            <a:latin typeface="Cambria Math"/>
                            <a:ea typeface="Cambria Math"/>
                            <a:cs typeface="Cambria Math"/>
                          </a:rPr>
                        </m:ctrlPr>
                      </m:dPr>
                      <m:e>
                        <m:r>
                          <a:rPr lang="en-GB" sz="2400">
                            <a:solidFill>
                              <a:srgbClr val="FF0000"/>
                            </a:solidFill>
                            <a:latin typeface="Cambria Math"/>
                            <a:ea typeface="Cambria Math"/>
                            <a:cs typeface="Cambria Math"/>
                          </a:rPr>
                          <m:t>𝐱</m:t>
                        </m:r>
                      </m:e>
                    </m:d>
                    <m:r>
                      <a:rPr lang="en-GB" sz="2400" i="1">
                        <a:solidFill>
                          <a:srgbClr val="FF0000"/>
                        </a:solidFill>
                        <a:latin typeface="Cambria Math" panose="02040503050406030204" pitchFamily="18" charset="0"/>
                        <a:ea typeface="Cambria Math"/>
                        <a:cs typeface="Cambria Math"/>
                      </a:rPr>
                      <m:t> </m:t>
                    </m:r>
                  </m:oMath>
                </a14:m>
                <a:r>
                  <a:rPr lang="en-GB" sz="2025" b="0" dirty="0">
                    <a:solidFill>
                      <a:srgbClr val="182D45"/>
                    </a:solidFill>
                    <a:latin typeface="DejaVu Sans"/>
                    <a:ea typeface="DejaVu Sans"/>
                    <a:cs typeface="DejaVu Sans"/>
                  </a:rPr>
                  <a:t>returns the index of the class </a:t>
                </a:r>
                <a14:m>
                  <m:oMath xmlns:m="http://schemas.openxmlformats.org/officeDocument/2006/math">
                    <m:r>
                      <a:rPr lang="it-IT" sz="2025" b="0" i="1" smtClean="0">
                        <a:solidFill>
                          <a:srgbClr val="FF0000"/>
                        </a:solidFill>
                        <a:latin typeface="Cambria Math" panose="02040503050406030204" pitchFamily="18" charset="0"/>
                        <a:ea typeface="DejaVu Sans"/>
                        <a:cs typeface="DejaVu Sans"/>
                      </a:rPr>
                      <m:t>𝑘</m:t>
                    </m:r>
                    <m:r>
                      <a:rPr lang="it-IT" sz="2025" b="0" i="1" smtClean="0">
                        <a:solidFill>
                          <a:srgbClr val="182D45"/>
                        </a:solidFill>
                        <a:latin typeface="Cambria Math" panose="02040503050406030204" pitchFamily="18" charset="0"/>
                        <a:ea typeface="DejaVu Sans"/>
                        <a:cs typeface="DejaVu Sans"/>
                      </a:rPr>
                      <m:t>∈</m:t>
                    </m:r>
                    <m:d>
                      <m:dPr>
                        <m:begChr m:val="{"/>
                        <m:endChr m:val="}"/>
                        <m:ctrlPr>
                          <a:rPr lang="it-IT" sz="2025" b="0" i="1" smtClean="0">
                            <a:solidFill>
                              <a:srgbClr val="182D45"/>
                            </a:solidFill>
                            <a:latin typeface="Cambria Math" panose="02040503050406030204" pitchFamily="18" charset="0"/>
                          </a:rPr>
                        </m:ctrlPr>
                      </m:dPr>
                      <m:e>
                        <m:r>
                          <a:rPr lang="it-IT" sz="2025" b="0" i="1" smtClean="0">
                            <a:solidFill>
                              <a:srgbClr val="182D45"/>
                            </a:solidFill>
                            <a:latin typeface="Cambria Math" panose="02040503050406030204" pitchFamily="18" charset="0"/>
                          </a:rPr>
                          <m:t>1,…,</m:t>
                        </m:r>
                        <m:r>
                          <a:rPr lang="it-IT" sz="2025" b="0" i="1" smtClean="0">
                            <a:solidFill>
                              <a:srgbClr val="182D45"/>
                            </a:solidFill>
                            <a:latin typeface="Cambria Math" panose="02040503050406030204" pitchFamily="18" charset="0"/>
                          </a:rPr>
                          <m:t>𝐾</m:t>
                        </m:r>
                      </m:e>
                    </m:d>
                  </m:oMath>
                </a14:m>
                <a:endParaRPr lang="it-IT" sz="2025" b="0" dirty="0">
                  <a:solidFill>
                    <a:srgbClr val="182D45"/>
                  </a:solidFill>
                  <a:latin typeface="DejaVu Sans"/>
                </a:endParaRPr>
              </a:p>
              <a:p>
                <a:pPr algn="ctr">
                  <a:defRPr sz="2025" b="0">
                    <a:solidFill>
                      <a:srgbClr val="182D45"/>
                    </a:solidFill>
                    <a:latin typeface="DejaVu Sans"/>
                    <a:ea typeface="DejaVu Sans"/>
                    <a:cs typeface="DejaVu Sans"/>
                  </a:defRPr>
                </a:pPr>
                <a:r>
                  <a:rPr lang="en-GB" sz="2025" b="0" dirty="0">
                    <a:solidFill>
                      <a:srgbClr val="182D45"/>
                    </a:solidFill>
                    <a:latin typeface="DejaVu Sans"/>
                    <a:ea typeface="DejaVu Sans"/>
                    <a:cs typeface="DejaVu Sans"/>
                  </a:rPr>
                  <a:t>with the </a:t>
                </a:r>
                <a:r>
                  <a:rPr lang="en-GB" sz="2025" b="0" dirty="0">
                    <a:solidFill>
                      <a:srgbClr val="FF0000"/>
                    </a:solidFill>
                    <a:latin typeface="DejaVu Sans"/>
                    <a:ea typeface="DejaVu Sans"/>
                    <a:cs typeface="DejaVu Sans"/>
                  </a:rPr>
                  <a:t>largest predicted probability </a:t>
                </a:r>
                <a14:m>
                  <m:oMath xmlns:m="http://schemas.openxmlformats.org/officeDocument/2006/math">
                    <m:sSub>
                      <m:sSubPr>
                        <m:ctrlPr>
                          <a:rPr lang="it-IT" sz="2025" b="0" i="1" smtClean="0">
                            <a:solidFill>
                              <a:srgbClr val="FF0000"/>
                            </a:solidFill>
                            <a:latin typeface="Cambria Math" panose="02040503050406030204" pitchFamily="18" charset="0"/>
                            <a:ea typeface="DejaVu Sans"/>
                            <a:cs typeface="DejaVu Sans"/>
                          </a:rPr>
                        </m:ctrlPr>
                      </m:sSubPr>
                      <m:e>
                        <m:r>
                          <a:rPr lang="it-IT" sz="2025" b="0" i="1" smtClean="0">
                            <a:solidFill>
                              <a:srgbClr val="FF0000"/>
                            </a:solidFill>
                            <a:latin typeface="Cambria Math" panose="02040503050406030204" pitchFamily="18" charset="0"/>
                            <a:ea typeface="DejaVu Sans"/>
                            <a:cs typeface="DejaVu Sans"/>
                          </a:rPr>
                          <m:t>𝑝</m:t>
                        </m:r>
                      </m:e>
                      <m:sub>
                        <m:r>
                          <a:rPr lang="it-IT" sz="2025" b="0" i="1" smtClean="0">
                            <a:solidFill>
                              <a:srgbClr val="FF0000"/>
                            </a:solidFill>
                            <a:latin typeface="Cambria Math" panose="02040503050406030204" pitchFamily="18" charset="0"/>
                            <a:ea typeface="DejaVu Sans"/>
                            <a:cs typeface="DejaVu Sans"/>
                          </a:rPr>
                          <m:t>𝑘</m:t>
                        </m:r>
                      </m:sub>
                    </m:sSub>
                    <m:d>
                      <m:dPr>
                        <m:ctrlPr>
                          <a:rPr lang="it-IT" sz="2025" b="1" i="0" smtClean="0">
                            <a:solidFill>
                              <a:srgbClr val="FF0000"/>
                            </a:solidFill>
                            <a:latin typeface="Cambria Math" panose="02040503050406030204" pitchFamily="18" charset="0"/>
                            <a:ea typeface="DejaVu Sans"/>
                            <a:cs typeface="DejaVu Sans"/>
                          </a:rPr>
                        </m:ctrlPr>
                      </m:dPr>
                      <m:e>
                        <m:r>
                          <a:rPr lang="it-IT" sz="2025" b="1" i="0" smtClean="0">
                            <a:solidFill>
                              <a:srgbClr val="FF0000"/>
                            </a:solidFill>
                            <a:latin typeface="Cambria Math" panose="02040503050406030204" pitchFamily="18" charset="0"/>
                            <a:ea typeface="DejaVu Sans"/>
                            <a:cs typeface="DejaVu Sans"/>
                          </a:rPr>
                          <m:t>𝐱</m:t>
                        </m:r>
                      </m:e>
                    </m:d>
                  </m:oMath>
                </a14:m>
                <a:r>
                  <a:rPr lang="en-GB" sz="2025" b="0" dirty="0">
                    <a:solidFill>
                      <a:srgbClr val="182D45"/>
                    </a:solidFill>
                    <a:latin typeface="DejaVu Sans"/>
                    <a:ea typeface="DejaVu Sans"/>
                    <a:cs typeface="DejaVu Sans"/>
                  </a:rPr>
                  <a:t>.</a:t>
                </a:r>
              </a:p>
              <a:p>
                <a:pPr algn="ctr">
                  <a:defRPr sz="2025" b="0">
                    <a:solidFill>
                      <a:srgbClr val="182D45"/>
                    </a:solidFill>
                    <a:latin typeface="DejaVu Sans"/>
                    <a:ea typeface="DejaVu Sans"/>
                    <a:cs typeface="DejaVu Sans"/>
                  </a:defRPr>
                </a:pPr>
                <a:endParaRPr lang="en-GB" sz="2025" dirty="0">
                  <a:solidFill>
                    <a:srgbClr val="182D45"/>
                  </a:solidFill>
                  <a:latin typeface="DejaVu Sans"/>
                  <a:ea typeface="DejaVu Sans"/>
                  <a:cs typeface="DejaVu Sans"/>
                </a:endParaRPr>
              </a:p>
              <a:p>
                <a:pPr algn="ctr">
                  <a:defRPr sz="2025" b="0">
                    <a:solidFill>
                      <a:srgbClr val="182D45"/>
                    </a:solidFill>
                    <a:latin typeface="DejaVu Sans"/>
                    <a:ea typeface="DejaVu Sans"/>
                    <a:cs typeface="DejaVu Sans"/>
                  </a:defRPr>
                </a:pPr>
                <a:r>
                  <a:rPr lang="en-GB" sz="2025" dirty="0">
                    <a:solidFill>
                      <a:srgbClr val="182D45"/>
                    </a:solidFill>
                    <a:latin typeface="DejaVu Sans"/>
                    <a:ea typeface="DejaVu Sans"/>
                    <a:cs typeface="DejaVu Sans"/>
                  </a:rPr>
                  <a:t>In case of a tie, </a:t>
                </a:r>
                <a:r>
                  <a:rPr lang="en-GB" sz="2025" b="0" dirty="0">
                    <a:solidFill>
                      <a:srgbClr val="182D45"/>
                    </a:solidFill>
                    <a:latin typeface="DejaVu Sans"/>
                    <a:ea typeface="DejaVu Sans"/>
                    <a:cs typeface="DejaVu Sans"/>
                  </a:rPr>
                  <a:t>we return</a:t>
                </a:r>
              </a:p>
              <a:p>
                <a:pPr algn="ctr">
                  <a:defRPr sz="2025" b="0">
                    <a:solidFill>
                      <a:srgbClr val="182D45"/>
                    </a:solidFill>
                    <a:latin typeface="DejaVu Sans"/>
                    <a:ea typeface="DejaVu Sans"/>
                    <a:cs typeface="DejaVu Sans"/>
                  </a:defRPr>
                </a:pPr>
                <a:r>
                  <a:rPr lang="en-GB" sz="2025" b="0" dirty="0">
                    <a:solidFill>
                      <a:srgbClr val="182D45"/>
                    </a:solidFill>
                    <a:latin typeface="DejaVu Sans"/>
                    <a:ea typeface="DejaVu Sans"/>
                    <a:cs typeface="DejaVu Sans"/>
                  </a:rPr>
                  <a:t>the smallest index among those having the largest predicted probability.</a:t>
                </a:r>
                <a:endParaRPr sz="2025" b="0" dirty="0">
                  <a:solidFill>
                    <a:srgbClr val="182D45"/>
                  </a:solidFill>
                  <a:latin typeface="DejaVu Sans"/>
                  <a:ea typeface="DejaVu Sans"/>
                  <a:cs typeface="DejaVu Sans"/>
                </a:endParaRPr>
              </a:p>
            </p:txBody>
          </p:sp>
        </mc:Choice>
        <mc:Fallback xmlns="">
          <p:sp>
            <p:nvSpPr>
              <p:cNvPr id="102" name="argmax_explanation">
                <a:extLst>
                  <a:ext uri="{FF2B5EF4-FFF2-40B4-BE49-F238E27FC236}">
                    <a16:creationId xmlns:a16="http://schemas.microsoft.com/office/drawing/2014/main" id="{098FBF2D-9A14-46F9-8D93-BBD423A5D92B}"/>
                  </a:ext>
                </a:extLst>
              </p:cNvPr>
              <p:cNvSpPr>
                <a:spLocks noGrp="1" noRot="1" noChangeAspect="1" noMove="1" noResize="1" noEditPoints="1" noAdjustHandles="1" noChangeArrowheads="1" noChangeShapeType="1" noTextEdit="1"/>
              </p:cNvSpPr>
              <p:nvPr/>
            </p:nvSpPr>
            <p:spPr>
              <a:xfrm>
                <a:off x="762000" y="2588195"/>
                <a:ext cx="10744200" cy="1910210"/>
              </a:xfrm>
              <a:prstGeom prst="rect">
                <a:avLst/>
              </a:prstGeom>
              <a:blipFill>
                <a:blip r:embed="rId4"/>
                <a:stretch>
                  <a:fillRect b="-958"/>
                </a:stretch>
              </a:blipFill>
              <a:ln w="0">
                <a:noFill/>
              </a:ln>
            </p:spPr>
            <p:txBody>
              <a:bodyPr/>
              <a:lstStyle/>
              <a:p>
                <a:r>
                  <a:rPr lang="it-IT">
                    <a:noFill/>
                  </a:rPr>
                  <a:t> </a:t>
                </a:r>
              </a:p>
            </p:txBody>
          </p:sp>
        </mc:Fallback>
      </mc:AlternateContent>
      <p:sp>
        <p:nvSpPr>
          <p:cNvPr id="105" name="bridge">
            <a:extLst>
              <a:ext uri="{FF2B5EF4-FFF2-40B4-BE49-F238E27FC236}">
                <a16:creationId xmlns:a16="http://schemas.microsoft.com/office/drawing/2014/main" id="{ECB8CBE6-A7F8-46B3-AEA0-3F6C541F5B9B}"/>
              </a:ext>
            </a:extLst>
          </p:cNvPr>
          <p:cNvSpPr>
            <a:spLocks noGrp="1"/>
          </p:cNvSpPr>
          <p:nvPr/>
        </p:nvSpPr>
        <p:spPr>
          <a:xfrm>
            <a:off x="352425" y="4831496"/>
            <a:ext cx="10744200" cy="466725"/>
          </a:xfrm>
          <a:prstGeom prst="rect">
            <a:avLst/>
          </a:prstGeom>
          <a:noFill/>
          <a:ln w="0">
            <a:noFill/>
          </a:ln>
        </p:spPr>
        <p:txBody>
          <a:bodyPr anchor="ctr">
            <a:noAutofit/>
          </a:bodyPr>
          <a:lstStyle/>
          <a:p>
            <a:pPr algn="ctr">
              <a:defRPr sz="2175" b="1">
                <a:solidFill>
                  <a:srgbClr val="182D45"/>
                </a:solidFill>
                <a:latin typeface="DejaVu Sans"/>
                <a:ea typeface="DejaVu Sans"/>
                <a:cs typeface="DejaVu Sans"/>
              </a:defRPr>
            </a:pPr>
            <a:r>
              <a:rPr sz="2175" b="1" dirty="0">
                <a:solidFill>
                  <a:srgbClr val="182D45"/>
                </a:solidFill>
                <a:latin typeface="DejaVu Sans"/>
                <a:ea typeface="DejaVu Sans"/>
                <a:cs typeface="DejaVu Sans"/>
              </a:rPr>
              <a:t>How do we build the probability function?</a:t>
            </a:r>
          </a:p>
        </p:txBody>
      </p:sp>
    </p:spTree>
    <p:extLst>
      <p:ext uri="{BB962C8B-B14F-4D97-AF65-F5344CB8AC3E}">
        <p14:creationId xmlns:p14="http://schemas.microsoft.com/office/powerpoint/2010/main" val="44107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A8FC166-2312-4041-BB81-A87A0A67574A}"/>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One affine score per class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50770430-ABC6-4EBE-B50C-DE8579D20EF4}"/>
                  </a:ext>
                </a:extLst>
              </p:cNvPr>
              <p:cNvSpPr>
                <a:spLocks noGrp="1"/>
              </p:cNvSpPr>
              <p:nvPr/>
            </p:nvSpPr>
            <p:spPr>
              <a:xfrm>
                <a:off x="590550" y="2755726"/>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en-GB" sz="2100" dirty="0">
                    <a:solidFill>
                      <a:srgbClr val="526276"/>
                    </a:solidFill>
                    <a:latin typeface="DejaVu Sans"/>
                    <a:ea typeface="DejaVu Sans"/>
                    <a:cs typeface="DejaVu Sans"/>
                  </a:rPr>
                  <a:t>The </a:t>
                </a:r>
                <a14:m>
                  <m:oMath xmlns:m="http://schemas.openxmlformats.org/officeDocument/2006/math">
                    <m:r>
                      <a:rPr lang="it-IT" sz="2100" b="0" i="1" smtClean="0">
                        <a:solidFill>
                          <a:srgbClr val="FF0000"/>
                        </a:solidFill>
                        <a:latin typeface="Cambria Math" panose="02040503050406030204" pitchFamily="18" charset="0"/>
                        <a:ea typeface="DejaVu Sans"/>
                        <a:cs typeface="DejaVu Sans"/>
                      </a:rPr>
                      <m:t>𝑘</m:t>
                    </m:r>
                  </m:oMath>
                </a14:m>
                <a:r>
                  <a:rPr lang="en-GB" sz="2100" dirty="0">
                    <a:solidFill>
                      <a:srgbClr val="FF0000"/>
                    </a:solidFill>
                    <a:latin typeface="DejaVu Sans"/>
                    <a:ea typeface="DejaVu Sans"/>
                    <a:cs typeface="DejaVu Sans"/>
                  </a:rPr>
                  <a:t>-</a:t>
                </a:r>
                <a:r>
                  <a:rPr lang="en-GB" sz="2100" dirty="0" err="1">
                    <a:solidFill>
                      <a:srgbClr val="FF0000"/>
                    </a:solidFill>
                    <a:latin typeface="DejaVu Sans"/>
                    <a:ea typeface="DejaVu Sans"/>
                    <a:cs typeface="DejaVu Sans"/>
                  </a:rPr>
                  <a:t>th</a:t>
                </a:r>
                <a:r>
                  <a:rPr lang="en-GB" sz="2100" dirty="0">
                    <a:solidFill>
                      <a:srgbClr val="FF0000"/>
                    </a:solidFill>
                    <a:latin typeface="DejaVu Sans"/>
                    <a:ea typeface="DejaVu Sans"/>
                    <a:cs typeface="DejaVu Sans"/>
                  </a:rPr>
                  <a:t> score</a:t>
                </a:r>
                <a:r>
                  <a:rPr lang="en-GB" sz="2100" dirty="0">
                    <a:solidFill>
                      <a:srgbClr val="526276"/>
                    </a:solidFill>
                    <a:latin typeface="DejaVu Sans"/>
                    <a:ea typeface="DejaVu Sans"/>
                    <a:cs typeface="DejaVu Sans"/>
                  </a:rPr>
                  <a:t> function is defined via</a:t>
                </a:r>
              </a:p>
            </p:txBody>
          </p:sp>
        </mc:Choice>
        <mc:Fallback xmlns="">
          <p:sp>
            <p:nvSpPr>
              <p:cNvPr id="2" name="lead">
                <a:extLst>
                  <a:ext uri="{FF2B5EF4-FFF2-40B4-BE49-F238E27FC236}">
                    <a16:creationId xmlns:a16="http://schemas.microsoft.com/office/drawing/2014/main" id="{50770430-ABC6-4EBE-B50C-DE8579D20EF4}"/>
                  </a:ext>
                </a:extLst>
              </p:cNvPr>
              <p:cNvSpPr>
                <a:spLocks noGrp="1" noRot="1" noChangeAspect="1" noMove="1" noResize="1" noEditPoints="1" noAdjustHandles="1" noChangeArrowheads="1" noChangeShapeType="1" noTextEdit="1"/>
              </p:cNvSpPr>
              <p:nvPr/>
            </p:nvSpPr>
            <p:spPr>
              <a:xfrm>
                <a:off x="590550" y="2755726"/>
                <a:ext cx="10744200" cy="6667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B55EB4B1-4CB9-4546-861E-1FBB5443D4E6}"/>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F609864C-0BF9-4FC1-994E-062E402DA838}"/>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48</a:t>
            </a:r>
          </a:p>
        </p:txBody>
      </p:sp>
      <mc:AlternateContent xmlns:mc="http://schemas.openxmlformats.org/markup-compatibility/2006" xmlns:a14="http://schemas.microsoft.com/office/drawing/2010/main">
        <mc:Choice Requires="a14">
          <p:sp>
            <p:nvSpPr>
              <p:cNvPr id="100" name="class_range" descr="k=1,\ldots,K">
                <a:extLst>
                  <a:ext uri="{FF2B5EF4-FFF2-40B4-BE49-F238E27FC236}">
                    <a16:creationId xmlns:a16="http://schemas.microsoft.com/office/drawing/2014/main" id="{1D114C10-C264-4CB1-8931-D09EEE9B3A15}"/>
                  </a:ext>
                </a:extLst>
              </p:cNvPr>
              <p:cNvSpPr>
                <a:spLocks noGrp="1"/>
              </p:cNvSpPr>
              <p:nvPr/>
            </p:nvSpPr>
            <p:spPr>
              <a:xfrm>
                <a:off x="685800" y="1198198"/>
                <a:ext cx="10744200" cy="361950"/>
              </a:xfrm>
              <a:prstGeom prst="rect">
                <a:avLst/>
              </a:prstGeom>
              <a:noFill/>
              <a:ln w="0">
                <a:noFill/>
              </a:ln>
            </p:spPr>
            <p:txBody>
              <a:bodyPr vertOverflow="overflow" horzOverflow="overflow" wrap="none" lIns="0" tIns="0" rIns="0" bIns="0" anchor="ctr">
                <a:noAutofit/>
              </a:bodyPr>
              <a:lstStyle/>
              <a:p>
                <a:pPr algn="ctr"/>
                <a:r>
                  <a:rPr lang="en-GB" sz="2400" dirty="0">
                    <a:solidFill>
                      <a:srgbClr val="087F83"/>
                    </a:solidFill>
                    <a:ea typeface="Cambria Math"/>
                    <a:cs typeface="Cambria Math"/>
                  </a:rPr>
                  <a:t>for each class </a:t>
                </a:r>
                <a14:m>
                  <m:oMath xmlns:m="http://schemas.openxmlformats.org/officeDocument/2006/math">
                    <m:r>
                      <a:rPr lang="en-GB" sz="2400">
                        <a:solidFill>
                          <a:srgbClr val="087F83"/>
                        </a:solidFill>
                        <a:latin typeface="Cambria Math"/>
                        <a:ea typeface="Cambria Math"/>
                        <a:cs typeface="Cambria Math"/>
                      </a:rPr>
                      <m:t>𝑘</m:t>
                    </m:r>
                    <m:r>
                      <a:rPr lang="en-GB" sz="2400">
                        <a:solidFill>
                          <a:srgbClr val="087F83"/>
                        </a:solidFill>
                        <a:latin typeface="Cambria Math"/>
                        <a:ea typeface="Cambria Math"/>
                        <a:cs typeface="Cambria Math"/>
                      </a:rPr>
                      <m:t>=1,…,</m:t>
                    </m:r>
                    <m:r>
                      <a:rPr lang="en-GB" sz="2400">
                        <a:solidFill>
                          <a:srgbClr val="087F83"/>
                        </a:solidFill>
                        <a:latin typeface="Cambria Math"/>
                        <a:ea typeface="Cambria Math"/>
                        <a:cs typeface="Cambria Math"/>
                      </a:rPr>
                      <m:t>𝐾</m:t>
                    </m:r>
                  </m:oMath>
                </a14:m>
                <a:endParaRPr lang="en-GB" sz="2400" dirty="0"/>
              </a:p>
            </p:txBody>
          </p:sp>
        </mc:Choice>
        <mc:Fallback xmlns="">
          <p:sp>
            <p:nvSpPr>
              <p:cNvPr id="100" name="class_range" descr="k=1,\ldots,K">
                <a:extLst>
                  <a:ext uri="{FF2B5EF4-FFF2-40B4-BE49-F238E27FC236}">
                    <a16:creationId xmlns:a16="http://schemas.microsoft.com/office/drawing/2014/main" id="{1D114C10-C264-4CB1-8931-D09EEE9B3A15}"/>
                  </a:ext>
                </a:extLst>
              </p:cNvPr>
              <p:cNvSpPr>
                <a:spLocks noGrp="1" noRot="1" noChangeAspect="1" noMove="1" noResize="1" noEditPoints="1" noAdjustHandles="1" noChangeArrowheads="1" noChangeShapeType="1" noTextEdit="1"/>
              </p:cNvSpPr>
              <p:nvPr/>
            </p:nvSpPr>
            <p:spPr>
              <a:xfrm>
                <a:off x="685800" y="1198198"/>
                <a:ext cx="10744200" cy="361950"/>
              </a:xfrm>
              <a:prstGeom prst="rect">
                <a:avLst/>
              </a:prstGeom>
              <a:blipFill>
                <a:blip r:embed="rId4"/>
                <a:stretch>
                  <a:fillRect t="-27119" b="-525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1" name="weights" descr="b_k\in\mathbb R,\qquad\mathbf w_k=\begin{pmatrix}w_{1k}\\\vdots\\w_{dk}\end{pmatrix}\in\mathbb R^{d\times1}">
                <a:extLst>
                  <a:ext uri="{FF2B5EF4-FFF2-40B4-BE49-F238E27FC236}">
                    <a16:creationId xmlns:a16="http://schemas.microsoft.com/office/drawing/2014/main" id="{45EB854B-7E4B-45F1-A753-0AA7848FDB4B}"/>
                  </a:ext>
                </a:extLst>
              </p:cNvPr>
              <p:cNvSpPr>
                <a:spLocks noGrp="1"/>
              </p:cNvSpPr>
              <p:nvPr/>
            </p:nvSpPr>
            <p:spPr>
              <a:xfrm>
                <a:off x="723900" y="1663495"/>
                <a:ext cx="5372100" cy="1162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𝑏</m:t>
                          </m:r>
                        </m:e>
                        <m:sub>
                          <m:r>
                            <a:rPr lang="en-GB" sz="2400">
                              <a:solidFill>
                                <a:srgbClr val="087F83"/>
                              </a:solidFill>
                              <a:latin typeface="Cambria Math"/>
                              <a:ea typeface="Cambria Math"/>
                              <a:cs typeface="Cambria Math"/>
                            </a:rPr>
                            <m:t>𝑘</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ℝ</m:t>
                      </m:r>
                      <m:r>
                        <a:rPr lang="en-GB" sz="2400">
                          <a:solidFill>
                            <a:srgbClr val="087F83"/>
                          </a:solidFill>
                          <a:latin typeface="Cambria Math"/>
                          <a:ea typeface="Cambria Math"/>
                          <a:cs typeface="Cambria Math"/>
                        </a:rPr>
                        <m:t>,  </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𝐰</m:t>
                          </m:r>
                        </m:e>
                        <m:sub>
                          <m:r>
                            <a:rPr lang="en-GB" sz="2400">
                              <a:solidFill>
                                <a:srgbClr val="087F83"/>
                              </a:solidFill>
                              <a:latin typeface="Cambria Math"/>
                              <a:ea typeface="Cambria Math"/>
                              <a:cs typeface="Cambria Math"/>
                            </a:rPr>
                            <m:t>𝑘</m:t>
                          </m:r>
                        </m:sub>
                      </m:sSub>
                      <m:r>
                        <a:rPr lang="en-GB" sz="2400">
                          <a:solidFill>
                            <a:srgbClr val="087F83"/>
                          </a:solidFill>
                          <a:latin typeface="Cambria Math"/>
                          <a:ea typeface="Cambria Math"/>
                          <a:cs typeface="Cambria Math"/>
                        </a:rPr>
                        <m:t>=</m:t>
                      </m:r>
                      <m:d>
                        <m:dPr>
                          <m:ctrlPr>
                            <a:rPr lang="en-GB" sz="2400" i="1">
                              <a:solidFill>
                                <a:srgbClr val="087F83"/>
                              </a:solidFill>
                              <a:latin typeface="Cambria Math" panose="02040503050406030204" pitchFamily="18" charset="0"/>
                              <a:ea typeface="Cambria Math"/>
                              <a:cs typeface="Cambria Math"/>
                            </a:rPr>
                          </m:ctrlPr>
                        </m:dPr>
                        <m:e>
                          <m:m>
                            <m:mPr>
                              <m:mcs>
                                <m:mc>
                                  <m:mcPr>
                                    <m:count m:val="1"/>
                                    <m:mcJc m:val="center"/>
                                  </m:mcPr>
                                </m:mc>
                              </m:mcs>
                              <m:ctrlPr>
                                <a:rPr lang="en-GB" sz="2400" i="1">
                                  <a:solidFill>
                                    <a:srgbClr val="087F83"/>
                                  </a:solidFill>
                                  <a:latin typeface="Cambria Math" panose="02040503050406030204" pitchFamily="18" charset="0"/>
                                  <a:ea typeface="Cambria Math"/>
                                  <a:cs typeface="Cambria Math"/>
                                </a:rPr>
                              </m:ctrlPr>
                            </m:mPr>
                            <m:mr>
                              <m:e>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𝑤</m:t>
                                    </m:r>
                                  </m:e>
                                  <m:sub>
                                    <m:r>
                                      <a:rPr lang="en-GB" sz="2400">
                                        <a:solidFill>
                                          <a:srgbClr val="087F83"/>
                                        </a:solidFill>
                                        <a:latin typeface="Cambria Math"/>
                                        <a:ea typeface="Cambria Math"/>
                                        <a:cs typeface="Cambria Math"/>
                                      </a:rPr>
                                      <m:t>1</m:t>
                                    </m:r>
                                    <m:r>
                                      <a:rPr lang="en-GB" sz="2400">
                                        <a:solidFill>
                                          <a:srgbClr val="087F83"/>
                                        </a:solidFill>
                                        <a:latin typeface="Cambria Math"/>
                                        <a:ea typeface="Cambria Math"/>
                                        <a:cs typeface="Cambria Math"/>
                                      </a:rPr>
                                      <m:t>𝑘</m:t>
                                    </m:r>
                                  </m:sub>
                                </m:sSub>
                              </m:e>
                            </m:mr>
                            <m:mr>
                              <m:e>
                                <m:r>
                                  <a:rPr lang="en-GB" sz="2400">
                                    <a:solidFill>
                                      <a:srgbClr val="087F83"/>
                                    </a:solidFill>
                                    <a:latin typeface="Cambria Math"/>
                                    <a:ea typeface="Cambria Math"/>
                                    <a:cs typeface="Cambria Math"/>
                                  </a:rPr>
                                  <m:t>⋮</m:t>
                                </m:r>
                              </m:e>
                            </m:mr>
                            <m:mr>
                              <m:e>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𝑤</m:t>
                                    </m:r>
                                  </m:e>
                                  <m:sub>
                                    <m:r>
                                      <a:rPr lang="en-GB" sz="2400">
                                        <a:solidFill>
                                          <a:srgbClr val="087F83"/>
                                        </a:solidFill>
                                        <a:latin typeface="Cambria Math"/>
                                        <a:ea typeface="Cambria Math"/>
                                        <a:cs typeface="Cambria Math"/>
                                      </a:rPr>
                                      <m:t>𝑑𝑘</m:t>
                                    </m:r>
                                  </m:sub>
                                </m:sSub>
                              </m:e>
                            </m:mr>
                          </m:m>
                        </m:e>
                      </m:d>
                      <m:r>
                        <a:rPr lang="en-GB" sz="2400">
                          <a:solidFill>
                            <a:srgbClr val="087F83"/>
                          </a:solidFill>
                          <a:latin typeface="Cambria Math"/>
                          <a:ea typeface="Cambria Math"/>
                          <a:cs typeface="Cambria Math"/>
                        </a:rPr>
                        <m:t>∈</m:t>
                      </m:r>
                      <m:sSup>
                        <m:sSupPr>
                          <m:ctrlPr>
                            <a:rPr lang="en-GB" sz="2400">
                              <a:solidFill>
                                <a:srgbClr val="087F83"/>
                              </a:solidFill>
                              <a:latin typeface="Cambria Math"/>
                              <a:ea typeface="Cambria Math"/>
                              <a:cs typeface="Cambria Math"/>
                            </a:rPr>
                          </m:ctrlPr>
                        </m:sSupPr>
                        <m:e>
                          <m:r>
                            <a:rPr lang="en-GB" sz="2400">
                              <a:solidFill>
                                <a:srgbClr val="087F83"/>
                              </a:solidFill>
                              <a:latin typeface="Cambria Math"/>
                              <a:ea typeface="Cambria Math"/>
                              <a:cs typeface="Cambria Math"/>
                            </a:rPr>
                            <m:t>ℝ</m:t>
                          </m:r>
                        </m:e>
                        <m:sup>
                          <m:r>
                            <a:rPr lang="en-GB" sz="2400">
                              <a:solidFill>
                                <a:srgbClr val="087F83"/>
                              </a:solidFill>
                              <a:latin typeface="Cambria Math"/>
                              <a:ea typeface="Cambria Math"/>
                              <a:cs typeface="Cambria Math"/>
                            </a:rPr>
                            <m:t>𝑑</m:t>
                          </m:r>
                          <m:r>
                            <a:rPr lang="en-GB" sz="2400">
                              <a:solidFill>
                                <a:srgbClr val="087F83"/>
                              </a:solidFill>
                              <a:latin typeface="Cambria Math"/>
                              <a:ea typeface="Cambria Math"/>
                              <a:cs typeface="Cambria Math"/>
                            </a:rPr>
                            <m:t>×1</m:t>
                          </m:r>
                        </m:sup>
                      </m:sSup>
                    </m:oMath>
                  </m:oMathPara>
                </a14:m>
                <a:endParaRPr lang="en-GB" sz="2400" dirty="0"/>
              </a:p>
            </p:txBody>
          </p:sp>
        </mc:Choice>
        <mc:Fallback xmlns="">
          <p:sp>
            <p:nvSpPr>
              <p:cNvPr id="101" name="weights" descr="b_k\in\mathbb R,\qquad\mathbf w_k=\begin{pmatrix}w_{1k}\\\vdots\\w_{dk}\end{pmatrix}\in\mathbb R^{d\times1}">
                <a:extLst>
                  <a:ext uri="{FF2B5EF4-FFF2-40B4-BE49-F238E27FC236}">
                    <a16:creationId xmlns:a16="http://schemas.microsoft.com/office/drawing/2014/main" id="{45EB854B-7E4B-45F1-A753-0AA7848FDB4B}"/>
                  </a:ext>
                </a:extLst>
              </p:cNvPr>
              <p:cNvSpPr>
                <a:spLocks noGrp="1" noRot="1" noChangeAspect="1" noMove="1" noResize="1" noEditPoints="1" noAdjustHandles="1" noChangeArrowheads="1" noChangeShapeType="1" noTextEdit="1"/>
              </p:cNvSpPr>
              <p:nvPr/>
            </p:nvSpPr>
            <p:spPr>
              <a:xfrm>
                <a:off x="723900" y="1663495"/>
                <a:ext cx="5372100" cy="116205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2" name="theta_column" descr="\boldsymbol\theta_k=\begin{pmatrix}b_k\\\mathbf w_k\end{pmatrix}\in\mathbb R^{(d+1)\times1}">
                <a:extLst>
                  <a:ext uri="{FF2B5EF4-FFF2-40B4-BE49-F238E27FC236}">
                    <a16:creationId xmlns:a16="http://schemas.microsoft.com/office/drawing/2014/main" id="{B094E601-C33D-48C8-90E0-1CCBD56A090D}"/>
                  </a:ext>
                </a:extLst>
              </p:cNvPr>
              <p:cNvSpPr>
                <a:spLocks noGrp="1"/>
              </p:cNvSpPr>
              <p:nvPr/>
            </p:nvSpPr>
            <p:spPr>
              <a:xfrm>
                <a:off x="6286500" y="1668876"/>
                <a:ext cx="5143500" cy="1162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𝛉</m:t>
                          </m:r>
                        </m:e>
                        <m:sub>
                          <m:r>
                            <a:rPr lang="en-GB" sz="2600">
                              <a:solidFill>
                                <a:srgbClr val="087F83"/>
                              </a:solidFill>
                              <a:latin typeface="Cambria Math"/>
                              <a:ea typeface="Cambria Math"/>
                              <a:cs typeface="Cambria Math"/>
                            </a:rPr>
                            <m:t>𝑘</m:t>
                          </m:r>
                        </m:sub>
                      </m:sSub>
                      <m:r>
                        <a:rPr lang="en-GB" sz="2600">
                          <a:solidFill>
                            <a:srgbClr val="087F83"/>
                          </a:solidFill>
                          <a:latin typeface="Cambria Math"/>
                          <a:ea typeface="Cambria Math"/>
                          <a:cs typeface="Cambria Math"/>
                        </a:rPr>
                        <m:t>=</m:t>
                      </m:r>
                      <m:d>
                        <m:dPr>
                          <m:ctrlPr>
                            <a:rPr lang="en-GB" sz="2600" i="1">
                              <a:solidFill>
                                <a:srgbClr val="087F83"/>
                              </a:solidFill>
                              <a:latin typeface="Cambria Math" panose="02040503050406030204" pitchFamily="18" charset="0"/>
                              <a:ea typeface="Cambria Math"/>
                              <a:cs typeface="Cambria Math"/>
                            </a:rPr>
                          </m:ctrlPr>
                        </m:dPr>
                        <m:e>
                          <m:m>
                            <m:mPr>
                              <m:mcs>
                                <m:mc>
                                  <m:mcPr>
                                    <m:count m:val="1"/>
                                    <m:mcJc m:val="center"/>
                                  </m:mcPr>
                                </m:mc>
                              </m:mcs>
                              <m:ctrlPr>
                                <a:rPr lang="en-GB" sz="2600" i="1">
                                  <a:solidFill>
                                    <a:srgbClr val="087F83"/>
                                  </a:solidFill>
                                  <a:latin typeface="Cambria Math" panose="02040503050406030204" pitchFamily="18" charset="0"/>
                                  <a:ea typeface="Cambria Math"/>
                                  <a:cs typeface="Cambria Math"/>
                                </a:rPr>
                              </m:ctrlPr>
                            </m:mPr>
                            <m:m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𝑏</m:t>
                                    </m:r>
                                  </m:e>
                                  <m:sub>
                                    <m:r>
                                      <a:rPr lang="en-GB" sz="2600">
                                        <a:solidFill>
                                          <a:srgbClr val="087F83"/>
                                        </a:solidFill>
                                        <a:latin typeface="Cambria Math"/>
                                        <a:ea typeface="Cambria Math"/>
                                        <a:cs typeface="Cambria Math"/>
                                      </a:rPr>
                                      <m:t>𝑘</m:t>
                                    </m:r>
                                  </m:sub>
                                </m:sSub>
                              </m:e>
                            </m:mr>
                            <m:m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𝐰</m:t>
                                    </m:r>
                                  </m:e>
                                  <m:sub>
                                    <m:r>
                                      <a:rPr lang="en-GB" sz="2600">
                                        <a:solidFill>
                                          <a:srgbClr val="087F83"/>
                                        </a:solidFill>
                                        <a:latin typeface="Cambria Math"/>
                                        <a:ea typeface="Cambria Math"/>
                                        <a:cs typeface="Cambria Math"/>
                                      </a:rPr>
                                      <m:t>𝑘</m:t>
                                    </m:r>
                                  </m:sub>
                                </m:sSub>
                              </m:e>
                            </m:mr>
                          </m:m>
                        </m:e>
                      </m:d>
                      <m:r>
                        <a:rPr lang="en-GB" sz="2600">
                          <a:solidFill>
                            <a:srgbClr val="087F83"/>
                          </a:solidFill>
                          <a:latin typeface="Cambria Math"/>
                          <a:ea typeface="Cambria Math"/>
                          <a:cs typeface="Cambria Math"/>
                        </a:rPr>
                        <m:t>∈</m:t>
                      </m:r>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ℝ</m:t>
                          </m:r>
                        </m:e>
                        <m:sup>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𝑑</m:t>
                          </m:r>
                          <m:r>
                            <a:rPr lang="en-GB" sz="2600">
                              <a:solidFill>
                                <a:srgbClr val="087F83"/>
                              </a:solidFill>
                              <a:latin typeface="Cambria Math"/>
                              <a:ea typeface="Cambria Math"/>
                              <a:cs typeface="Cambria Math"/>
                            </a:rPr>
                            <m:t>+1)×1</m:t>
                          </m:r>
                        </m:sup>
                      </m:sSup>
                    </m:oMath>
                  </m:oMathPara>
                </a14:m>
                <a:endParaRPr lang="en-GB" sz="2600" dirty="0"/>
              </a:p>
            </p:txBody>
          </p:sp>
        </mc:Choice>
        <mc:Fallback xmlns="">
          <p:sp>
            <p:nvSpPr>
              <p:cNvPr id="102" name="theta_column" descr="\boldsymbol\theta_k=\begin{pmatrix}b_k\\\mathbf w_k\end{pmatrix}\in\mathbb R^{(d+1)\times1}">
                <a:extLst>
                  <a:ext uri="{FF2B5EF4-FFF2-40B4-BE49-F238E27FC236}">
                    <a16:creationId xmlns:a16="http://schemas.microsoft.com/office/drawing/2014/main" id="{B094E601-C33D-48C8-90E0-1CCBD56A090D}"/>
                  </a:ext>
                </a:extLst>
              </p:cNvPr>
              <p:cNvSpPr>
                <a:spLocks noGrp="1" noRot="1" noChangeAspect="1" noMove="1" noResize="1" noEditPoints="1" noAdjustHandles="1" noChangeArrowheads="1" noChangeShapeType="1" noTextEdit="1"/>
              </p:cNvSpPr>
              <p:nvPr/>
            </p:nvSpPr>
            <p:spPr>
              <a:xfrm>
                <a:off x="6286500" y="1668876"/>
                <a:ext cx="5143500" cy="116205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3" name="affine_score" descr="f_{\boldsymbol\theta_k}(\mathbf x)=b_k+\mathbf x\mathbf w_k=(1,\mathbf x)\boldsymbol\theta_k">
                <a:extLst>
                  <a:ext uri="{FF2B5EF4-FFF2-40B4-BE49-F238E27FC236}">
                    <a16:creationId xmlns:a16="http://schemas.microsoft.com/office/drawing/2014/main" id="{50D2D87B-96B6-4DEB-A53A-40E4A7FFE948}"/>
                  </a:ext>
                </a:extLst>
              </p:cNvPr>
              <p:cNvSpPr>
                <a:spLocks noGrp="1"/>
              </p:cNvSpPr>
              <p:nvPr/>
            </p:nvSpPr>
            <p:spPr>
              <a:xfrm>
                <a:off x="723900" y="3392473"/>
                <a:ext cx="10744200"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𝑓</m:t>
                          </m:r>
                        </m:e>
                        <m:sub>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𝛉</m:t>
                              </m:r>
                            </m:e>
                            <m:sub>
                              <m:r>
                                <a:rPr lang="en-GB" sz="2800">
                                  <a:solidFill>
                                    <a:srgbClr val="087F83"/>
                                  </a:solidFill>
                                  <a:latin typeface="Cambria Math"/>
                                  <a:ea typeface="Cambria Math"/>
                                  <a:cs typeface="Cambria Math"/>
                                </a:rPr>
                                <m:t>𝑘</m:t>
                              </m:r>
                            </m:sub>
                          </m:sSub>
                        </m:sub>
                      </m:sSub>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𝐱</m:t>
                      </m:r>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a:rPr lang="en-GB" sz="2800">
                              <a:solidFill>
                                <a:srgbClr val="087F83"/>
                              </a:solidFill>
                              <a:latin typeface="Cambria Math"/>
                              <a:ea typeface="Cambria Math"/>
                              <a:cs typeface="Cambria Math"/>
                            </a:rPr>
                            <m:t>𝑘</m:t>
                          </m:r>
                        </m:sub>
                      </m:sSub>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𝐱</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𝐰</m:t>
                          </m:r>
                        </m:e>
                        <m:sub>
                          <m:r>
                            <a:rPr lang="en-GB" sz="2800">
                              <a:solidFill>
                                <a:srgbClr val="087F83"/>
                              </a:solidFill>
                              <a:latin typeface="Cambria Math"/>
                              <a:ea typeface="Cambria Math"/>
                              <a:cs typeface="Cambria Math"/>
                            </a:rPr>
                            <m:t>𝑘</m:t>
                          </m:r>
                        </m:sub>
                      </m:sSub>
                    </m:oMath>
                  </m:oMathPara>
                </a14:m>
                <a:endParaRPr lang="en-GB" sz="2800" dirty="0"/>
              </a:p>
            </p:txBody>
          </p:sp>
        </mc:Choice>
        <mc:Fallback xmlns="">
          <p:sp>
            <p:nvSpPr>
              <p:cNvPr id="103" name="affine_score" descr="f_{\boldsymbol\theta_k}(\mathbf x)=b_k+\mathbf x\mathbf w_k=(1,\mathbf x)\boldsymbol\theta_k">
                <a:extLst>
                  <a:ext uri="{FF2B5EF4-FFF2-40B4-BE49-F238E27FC236}">
                    <a16:creationId xmlns:a16="http://schemas.microsoft.com/office/drawing/2014/main" id="{50D2D87B-96B6-4DEB-A53A-40E4A7FFE948}"/>
                  </a:ext>
                </a:extLst>
              </p:cNvPr>
              <p:cNvSpPr>
                <a:spLocks noGrp="1" noRot="1" noChangeAspect="1" noMove="1" noResize="1" noEditPoints="1" noAdjustHandles="1" noChangeArrowheads="1" noChangeShapeType="1" noTextEdit="1"/>
              </p:cNvSpPr>
              <p:nvPr/>
            </p:nvSpPr>
            <p:spPr>
              <a:xfrm>
                <a:off x="723900" y="3392473"/>
                <a:ext cx="10744200" cy="62865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5" name="theta_matrix" descr="\boldsymbol\Theta=\begin{pmatrix}\boldsymbol\theta_1&amp;\cdots&amp;\boldsymbol\theta_K\end{pmatrix}\in\mathbb R^{(d+1)\times K}">
                <a:extLst>
                  <a:ext uri="{FF2B5EF4-FFF2-40B4-BE49-F238E27FC236}">
                    <a16:creationId xmlns:a16="http://schemas.microsoft.com/office/drawing/2014/main" id="{A70B479E-2168-4F0A-A946-91423271954E}"/>
                  </a:ext>
                </a:extLst>
              </p:cNvPr>
              <p:cNvSpPr>
                <a:spLocks noGrp="1"/>
              </p:cNvSpPr>
              <p:nvPr/>
            </p:nvSpPr>
            <p:spPr>
              <a:xfrm>
                <a:off x="723900" y="5122688"/>
                <a:ext cx="10744200"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a:solidFill>
                            <a:srgbClr val="087F83"/>
                          </a:solidFill>
                          <a:latin typeface="Cambria Math"/>
                          <a:ea typeface="Cambria Math"/>
                          <a:cs typeface="Cambria Math"/>
                        </a:rPr>
                        <m:t>𝚯</m:t>
                      </m:r>
                      <m:r>
                        <a:rPr lang="en-GB" sz="2800">
                          <a:solidFill>
                            <a:srgbClr val="087F83"/>
                          </a:solidFill>
                          <a:latin typeface="Cambria Math"/>
                          <a:ea typeface="Cambria Math"/>
                          <a:cs typeface="Cambria Math"/>
                        </a:rPr>
                        <m:t>=</m:t>
                      </m:r>
                      <m:d>
                        <m:dPr>
                          <m:ctrlPr>
                            <a:rPr lang="en-GB" sz="2800" i="1">
                              <a:solidFill>
                                <a:srgbClr val="087F83"/>
                              </a:solidFill>
                              <a:latin typeface="Cambria Math" panose="02040503050406030204" pitchFamily="18" charset="0"/>
                              <a:ea typeface="Cambria Math"/>
                              <a:cs typeface="Cambria Math"/>
                            </a:rPr>
                          </m:ctrlPr>
                        </m:dPr>
                        <m:e>
                          <m:m>
                            <m:mPr>
                              <m:plcHide m:val="on"/>
                              <m:mcs>
                                <m:mc>
                                  <m:mcPr>
                                    <m:count m:val="3"/>
                                    <m:mcJc m:val="center"/>
                                  </m:mcPr>
                                </m:mc>
                              </m:mcs>
                              <m:ctrlPr>
                                <a:rPr lang="en-GB" sz="2800" i="1">
                                  <a:solidFill>
                                    <a:srgbClr val="087F83"/>
                                  </a:solidFill>
                                  <a:latin typeface="Cambria Math" panose="02040503050406030204" pitchFamily="18" charset="0"/>
                                  <a:ea typeface="Cambria Math"/>
                                  <a:cs typeface="Cambria Math"/>
                                </a:rPr>
                              </m:ctrlPr>
                            </m:mPr>
                            <m:m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𝛉</m:t>
                                    </m:r>
                                  </m:e>
                                  <m:sub>
                                    <m:r>
                                      <a:rPr lang="en-GB" sz="2800">
                                        <a:solidFill>
                                          <a:srgbClr val="087F83"/>
                                        </a:solidFill>
                                        <a:latin typeface="Cambria Math"/>
                                        <a:ea typeface="Cambria Math"/>
                                        <a:cs typeface="Cambria Math"/>
                                      </a:rPr>
                                      <m:t>1</m:t>
                                    </m:r>
                                  </m:sub>
                                </m:sSub>
                              </m:e>
                              <m:e>
                                <m:r>
                                  <a:rPr lang="en-GB" sz="2800">
                                    <a:solidFill>
                                      <a:srgbClr val="087F83"/>
                                    </a:solidFill>
                                    <a:latin typeface="Cambria Math"/>
                                    <a:ea typeface="Cambria Math"/>
                                    <a:cs typeface="Cambria Math"/>
                                  </a:rPr>
                                  <m:t>⋯</m:t>
                                </m:r>
                              </m:e>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𝛉</m:t>
                                    </m:r>
                                  </m:e>
                                  <m:sub>
                                    <m:r>
                                      <a:rPr lang="en-GB" sz="2800">
                                        <a:solidFill>
                                          <a:srgbClr val="087F83"/>
                                        </a:solidFill>
                                        <a:latin typeface="Cambria Math"/>
                                        <a:ea typeface="Cambria Math"/>
                                        <a:cs typeface="Cambria Math"/>
                                      </a:rPr>
                                      <m:t>𝐾</m:t>
                                    </m:r>
                                  </m:sub>
                                </m:sSub>
                              </m:e>
                            </m:mr>
                          </m:m>
                        </m:e>
                      </m:d>
                      <m:r>
                        <a:rPr lang="en-GB" sz="2800">
                          <a:solidFill>
                            <a:srgbClr val="087F83"/>
                          </a:solidFill>
                          <a:latin typeface="Cambria Math"/>
                          <a:ea typeface="Cambria Math"/>
                          <a:cs typeface="Cambria Math"/>
                        </a:rPr>
                        <m:t>∈</m:t>
                      </m:r>
                      <m:sSup>
                        <m:sSupPr>
                          <m:ctrlPr>
                            <a:rPr lang="en-GB" sz="2800">
                              <a:solidFill>
                                <a:srgbClr val="087F83"/>
                              </a:solidFill>
                              <a:latin typeface="Cambria Math"/>
                              <a:ea typeface="Cambria Math"/>
                              <a:cs typeface="Cambria Math"/>
                            </a:rPr>
                          </m:ctrlPr>
                        </m:sSupPr>
                        <m:e>
                          <m:r>
                            <a:rPr lang="en-GB" sz="2800">
                              <a:solidFill>
                                <a:srgbClr val="087F83"/>
                              </a:solidFill>
                              <a:latin typeface="Cambria Math"/>
                              <a:ea typeface="Cambria Math"/>
                              <a:cs typeface="Cambria Math"/>
                            </a:rPr>
                            <m:t>ℝ</m:t>
                          </m:r>
                        </m:e>
                        <m:sup>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𝑑</m:t>
                              </m:r>
                              <m:r>
                                <a:rPr lang="en-GB" sz="2800">
                                  <a:solidFill>
                                    <a:srgbClr val="087F83"/>
                                  </a:solidFill>
                                  <a:latin typeface="Cambria Math"/>
                                  <a:ea typeface="Cambria Math"/>
                                  <a:cs typeface="Cambria Math"/>
                                </a:rPr>
                                <m:t>+1</m:t>
                              </m:r>
                            </m:e>
                          </m:d>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𝐾</m:t>
                          </m:r>
                        </m:sup>
                      </m:sSup>
                    </m:oMath>
                  </m:oMathPara>
                </a14:m>
                <a:endParaRPr lang="en-GB" sz="2800" dirty="0"/>
              </a:p>
            </p:txBody>
          </p:sp>
        </mc:Choice>
        <mc:Fallback xmlns="">
          <p:sp>
            <p:nvSpPr>
              <p:cNvPr id="105" name="theta_matrix" descr="\boldsymbol\Theta=\begin{pmatrix}\boldsymbol\theta_1&amp;\cdots&amp;\boldsymbol\theta_K\end{pmatrix}\in\mathbb R^{(d+1)\times K}">
                <a:extLst>
                  <a:ext uri="{FF2B5EF4-FFF2-40B4-BE49-F238E27FC236}">
                    <a16:creationId xmlns:a16="http://schemas.microsoft.com/office/drawing/2014/main" id="{A70B479E-2168-4F0A-A946-91423271954E}"/>
                  </a:ext>
                </a:extLst>
              </p:cNvPr>
              <p:cNvSpPr>
                <a:spLocks noGrp="1" noRot="1" noChangeAspect="1" noMove="1" noResize="1" noEditPoints="1" noAdjustHandles="1" noChangeArrowheads="1" noChangeShapeType="1" noTextEdit="1"/>
              </p:cNvSpPr>
              <p:nvPr/>
            </p:nvSpPr>
            <p:spPr>
              <a:xfrm>
                <a:off x="723900" y="5122688"/>
                <a:ext cx="10744200" cy="62865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6" name="score_row" descr="\mathbf f_{\boldsymbol\Theta}(\mathbf x)=\bigl(f_{\boldsymbol\theta_1}(\mathbf x),\ldots,f_{\boldsymbol\theta_K}(\mathbf x)\bigr)">
                <a:extLst>
                  <a:ext uri="{FF2B5EF4-FFF2-40B4-BE49-F238E27FC236}">
                    <a16:creationId xmlns:a16="http://schemas.microsoft.com/office/drawing/2014/main" id="{A6B0931F-9E05-4B07-B837-9C03C8D73AD4}"/>
                  </a:ext>
                </a:extLst>
              </p:cNvPr>
              <p:cNvSpPr>
                <a:spLocks noGrp="1"/>
              </p:cNvSpPr>
              <p:nvPr/>
            </p:nvSpPr>
            <p:spPr>
              <a:xfrm>
                <a:off x="685800" y="5846588"/>
                <a:ext cx="10744200"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𝐟</m:t>
                          </m:r>
                        </m:e>
                        <m:sub>
                          <m:r>
                            <a:rPr lang="en-GB" sz="2700">
                              <a:solidFill>
                                <a:srgbClr val="087F83"/>
                              </a:solidFill>
                              <a:latin typeface="Cambria Math"/>
                              <a:ea typeface="Cambria Math"/>
                              <a:cs typeface="Cambria Math"/>
                            </a:rPr>
                            <m:t>𝚯</m:t>
                          </m:r>
                        </m:sub>
                      </m:sSub>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𝐱</m:t>
                          </m:r>
                        </m:e>
                      </m:d>
                      <m:r>
                        <a:rPr lang="en-GB" sz="2700">
                          <a:solidFill>
                            <a:srgbClr val="087F83"/>
                          </a:solidFill>
                          <a:latin typeface="Cambria Math"/>
                          <a:ea typeface="Cambria Math"/>
                          <a:cs typeface="Cambria Math"/>
                        </a:rPr>
                        <m:t>=</m:t>
                      </m:r>
                      <m:d>
                        <m:dPr>
                          <m:ctrlPr>
                            <a:rPr lang="en-GB" sz="2700" i="1">
                              <a:solidFill>
                                <a:srgbClr val="087F83"/>
                              </a:solidFill>
                              <a:latin typeface="Cambria Math" panose="02040503050406030204" pitchFamily="18" charset="0"/>
                              <a:ea typeface="Cambria Math"/>
                              <a:cs typeface="Cambria Math"/>
                            </a:rPr>
                          </m:ctrlPr>
                        </m:dPr>
                        <m:e>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𝑓</m:t>
                              </m:r>
                            </m:e>
                            <m:sub>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𝛉</m:t>
                                  </m:r>
                                </m:e>
                                <m:sub>
                                  <m:r>
                                    <a:rPr lang="en-GB" sz="2700">
                                      <a:solidFill>
                                        <a:srgbClr val="087F83"/>
                                      </a:solidFill>
                                      <a:latin typeface="Cambria Math"/>
                                      <a:ea typeface="Cambria Math"/>
                                      <a:cs typeface="Cambria Math"/>
                                    </a:rPr>
                                    <m:t>1</m:t>
                                  </m:r>
                                </m:sub>
                              </m:sSub>
                            </m:sub>
                          </m:sSub>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𝐱</m:t>
                              </m:r>
                            </m:e>
                          </m:d>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𝑓</m:t>
                              </m:r>
                            </m:e>
                            <m:sub>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𝛉</m:t>
                                  </m:r>
                                </m:e>
                                <m:sub>
                                  <m:r>
                                    <a:rPr lang="en-GB" sz="2700">
                                      <a:solidFill>
                                        <a:srgbClr val="087F83"/>
                                      </a:solidFill>
                                      <a:latin typeface="Cambria Math"/>
                                      <a:ea typeface="Cambria Math"/>
                                      <a:cs typeface="Cambria Math"/>
                                    </a:rPr>
                                    <m:t>𝐾</m:t>
                                  </m:r>
                                </m:sub>
                              </m:sSub>
                            </m:sub>
                          </m:sSub>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𝐱</m:t>
                              </m:r>
                            </m:e>
                          </m:d>
                        </m:e>
                      </m:d>
                      <m:r>
                        <a:rPr lang="en-GB" sz="2800">
                          <a:solidFill>
                            <a:srgbClr val="087F83"/>
                          </a:solidFill>
                          <a:latin typeface="Cambria Math"/>
                          <a:ea typeface="Cambria Math"/>
                          <a:cs typeface="Cambria Math"/>
                        </a:rPr>
                        <m:t>∈</m:t>
                      </m:r>
                      <m:sSup>
                        <m:sSupPr>
                          <m:ctrlPr>
                            <a:rPr lang="en-GB" sz="2800">
                              <a:solidFill>
                                <a:srgbClr val="087F83"/>
                              </a:solidFill>
                              <a:latin typeface="Cambria Math"/>
                              <a:ea typeface="Cambria Math"/>
                              <a:cs typeface="Cambria Math"/>
                            </a:rPr>
                          </m:ctrlPr>
                        </m:sSupPr>
                        <m:e>
                          <m:r>
                            <a:rPr lang="en-GB" sz="2800">
                              <a:solidFill>
                                <a:srgbClr val="087F83"/>
                              </a:solidFill>
                              <a:latin typeface="Cambria Math"/>
                              <a:ea typeface="Cambria Math"/>
                              <a:cs typeface="Cambria Math"/>
                            </a:rPr>
                            <m:t>ℝ</m:t>
                          </m:r>
                        </m:e>
                        <m:sup>
                          <m:r>
                            <a:rPr lang="en-GB" sz="2800">
                              <a:solidFill>
                                <a:srgbClr val="087F83"/>
                              </a:solidFill>
                              <a:latin typeface="Cambria Math"/>
                              <a:ea typeface="Cambria Math"/>
                              <a:cs typeface="Cambria Math"/>
                            </a:rPr>
                            <m:t>1×</m:t>
                          </m:r>
                          <m:r>
                            <a:rPr lang="en-GB" sz="2800">
                              <a:solidFill>
                                <a:srgbClr val="087F83"/>
                              </a:solidFill>
                              <a:latin typeface="Cambria Math"/>
                              <a:ea typeface="Cambria Math"/>
                              <a:cs typeface="Cambria Math"/>
                            </a:rPr>
                            <m:t>𝐾</m:t>
                          </m:r>
                        </m:sup>
                      </m:sSup>
                    </m:oMath>
                  </m:oMathPara>
                </a14:m>
                <a:endParaRPr lang="en-GB" sz="2700" dirty="0"/>
              </a:p>
            </p:txBody>
          </p:sp>
        </mc:Choice>
        <mc:Fallback xmlns="">
          <p:sp>
            <p:nvSpPr>
              <p:cNvPr id="106" name="score_row" descr="\mathbf f_{\boldsymbol\Theta}(\mathbf x)=\bigl(f_{\boldsymbol\theta_1}(\mathbf x),\ldots,f_{\boldsymbol\theta_K}(\mathbf x)\bigr)">
                <a:extLst>
                  <a:ext uri="{FF2B5EF4-FFF2-40B4-BE49-F238E27FC236}">
                    <a16:creationId xmlns:a16="http://schemas.microsoft.com/office/drawing/2014/main" id="{A6B0931F-9E05-4B07-B837-9C03C8D73AD4}"/>
                  </a:ext>
                </a:extLst>
              </p:cNvPr>
              <p:cNvSpPr>
                <a:spLocks noGrp="1" noRot="1" noChangeAspect="1" noMove="1" noResize="1" noEditPoints="1" noAdjustHandles="1" noChangeArrowheads="1" noChangeShapeType="1" noTextEdit="1"/>
              </p:cNvSpPr>
              <p:nvPr/>
            </p:nvSpPr>
            <p:spPr>
              <a:xfrm>
                <a:off x="685800" y="5846588"/>
                <a:ext cx="10744200" cy="552450"/>
              </a:xfrm>
              <a:prstGeom prst="rect">
                <a:avLst/>
              </a:prstGeom>
              <a:blipFill>
                <a:blip r:embed="rId9"/>
                <a:stretch>
                  <a:fillRect b="-6593"/>
                </a:stretch>
              </a:blipFill>
              <a:ln w="0">
                <a:noFill/>
              </a:ln>
            </p:spPr>
            <p:txBody>
              <a:bodyPr/>
              <a:lstStyle/>
              <a:p>
                <a:r>
                  <a:rPr lang="it-IT">
                    <a:noFill/>
                  </a:rPr>
                  <a:t> </a:t>
                </a:r>
              </a:p>
            </p:txBody>
          </p:sp>
        </mc:Fallback>
      </mc:AlternateContent>
      <p:sp>
        <p:nvSpPr>
          <p:cNvPr id="107" name="score_row_matrix" descr="\mathbf f_{\boldsymbol\Theta}(\mathbf x)=(1,\mathbf x)\boldsymbol\Theta\in\mathbb R^{1\times K}">
            <a:extLst>
              <a:ext uri="{FF2B5EF4-FFF2-40B4-BE49-F238E27FC236}">
                <a16:creationId xmlns:a16="http://schemas.microsoft.com/office/drawing/2014/main" id="{8B8326B6-D98D-4D1E-9B01-2599675F40A0}"/>
              </a:ext>
            </a:extLst>
          </p:cNvPr>
          <p:cNvSpPr>
            <a:spLocks noGrp="1"/>
          </p:cNvSpPr>
          <p:nvPr/>
        </p:nvSpPr>
        <p:spPr>
          <a:xfrm>
            <a:off x="723900" y="5915025"/>
            <a:ext cx="10744200" cy="504825"/>
          </a:xfrm>
          <a:prstGeom prst="rect">
            <a:avLst/>
          </a:prstGeom>
          <a:noFill/>
          <a:ln w="0">
            <a:noFill/>
          </a:ln>
        </p:spPr>
        <p:txBody>
          <a:bodyPr vertOverflow="overflow" horzOverflow="overflow" wrap="none" lIns="0" tIns="0" rIns="0" bIns="0" anchor="ctr">
            <a:noAutofit/>
          </a:bodyPr>
          <a:lstStyle/>
          <a:p>
            <a:pPr algn="ctr"/>
            <a:endParaRPr lang="en-GB" sz="2600" dirty="0"/>
          </a:p>
        </p:txBody>
      </p:sp>
      <mc:AlternateContent xmlns:mc="http://schemas.openxmlformats.org/markup-compatibility/2006">
        <mc:Choice xmlns:a14="http://schemas.microsoft.com/office/drawing/2010/main" Requires="a14">
          <p:sp>
            <p:nvSpPr>
              <p:cNvPr id="8" name="CasellaDiTesto 7">
                <a:extLst>
                  <a:ext uri="{FF2B5EF4-FFF2-40B4-BE49-F238E27FC236}">
                    <a16:creationId xmlns:a16="http://schemas.microsoft.com/office/drawing/2014/main" id="{AB663182-D063-EB3B-B732-97FE24B04371}"/>
                  </a:ext>
                </a:extLst>
              </p:cNvPr>
              <p:cNvSpPr txBox="1"/>
              <p:nvPr/>
            </p:nvSpPr>
            <p:spPr>
              <a:xfrm>
                <a:off x="1824418" y="4678940"/>
                <a:ext cx="8466963" cy="422936"/>
              </a:xfrm>
              <a:prstGeom prst="rect">
                <a:avLst/>
              </a:prstGeom>
              <a:noFill/>
            </p:spPr>
            <p:txBody>
              <a:bodyPr wrap="square">
                <a:spAutoFit/>
              </a:bodyPr>
              <a:lstStyle/>
              <a:p>
                <a:pPr algn="ctr">
                  <a:lnSpc>
                    <a:spcPct val="112000"/>
                  </a:lnSpc>
                  <a:buNone/>
                  <a:defRPr sz="2100" b="0">
                    <a:solidFill>
                      <a:srgbClr val="526276"/>
                    </a:solidFill>
                    <a:latin typeface="DejaVu Sans"/>
                    <a:ea typeface="DejaVu Sans"/>
                    <a:cs typeface="DejaVu Sans"/>
                  </a:defRPr>
                </a:pPr>
                <a:r>
                  <a:rPr lang="it-IT" sz="2100" dirty="0">
                    <a:solidFill>
                      <a:srgbClr val="526276"/>
                    </a:solidFill>
                    <a:latin typeface="DejaVu Sans"/>
                    <a:ea typeface="DejaVu Sans"/>
                    <a:cs typeface="DejaVu Sans"/>
                  </a:rPr>
                  <a:t>Stack </a:t>
                </a:r>
                <a:r>
                  <a:rPr lang="it-IT" sz="2100" dirty="0" err="1">
                    <a:solidFill>
                      <a:srgbClr val="526276"/>
                    </a:solidFill>
                    <a:latin typeface="DejaVu Sans"/>
                    <a:ea typeface="DejaVu Sans"/>
                    <a:cs typeface="DejaVu Sans"/>
                  </a:rPr>
                  <a:t>all</a:t>
                </a:r>
                <a:r>
                  <a:rPr lang="it-IT" sz="2100" dirty="0">
                    <a:solidFill>
                      <a:srgbClr val="526276"/>
                    </a:solidFill>
                    <a:latin typeface="DejaVu Sans"/>
                    <a:ea typeface="DejaVu Sans"/>
                    <a:cs typeface="DejaVu Sans"/>
                  </a:rPr>
                  <a:t> the </a:t>
                </a:r>
                <a:r>
                  <a:rPr lang="it-IT" sz="2100" dirty="0" err="1">
                    <a:solidFill>
                      <a:srgbClr val="526276"/>
                    </a:solidFill>
                    <a:latin typeface="DejaVu Sans"/>
                    <a:ea typeface="DejaVu Sans"/>
                    <a:cs typeface="DejaVu Sans"/>
                  </a:rPr>
                  <a:t>parameter</a:t>
                </a:r>
                <a:r>
                  <a:rPr lang="it-IT" sz="2100" dirty="0">
                    <a:solidFill>
                      <a:srgbClr val="526276"/>
                    </a:solidFill>
                    <a:latin typeface="DejaVu Sans"/>
                    <a:ea typeface="DejaVu Sans"/>
                    <a:cs typeface="DejaVu Sans"/>
                  </a:rPr>
                  <a:t> </a:t>
                </a:r>
                <a:r>
                  <a:rPr lang="it-IT" sz="2100" dirty="0" err="1">
                    <a:solidFill>
                      <a:srgbClr val="526276"/>
                    </a:solidFill>
                    <a:latin typeface="DejaVu Sans"/>
                    <a:ea typeface="DejaVu Sans"/>
                    <a:cs typeface="DejaVu Sans"/>
                  </a:rPr>
                  <a:t>columns</a:t>
                </a:r>
                <a:r>
                  <a:rPr lang="it-IT" sz="2100" dirty="0">
                    <a:solidFill>
                      <a:srgbClr val="526276"/>
                    </a:solidFill>
                    <a:latin typeface="DejaVu Sans"/>
                    <a:ea typeface="DejaVu Sans"/>
                    <a:cs typeface="DejaVu Sans"/>
                  </a:rPr>
                  <a:t> in a </a:t>
                </a:r>
                <a:r>
                  <a:rPr lang="it-IT" sz="2100" dirty="0" err="1">
                    <a:solidFill>
                      <a:srgbClr val="FF0000"/>
                    </a:solidFill>
                    <a:latin typeface="DejaVu Sans"/>
                    <a:ea typeface="DejaVu Sans"/>
                    <a:cs typeface="DejaVu Sans"/>
                  </a:rPr>
                  <a:t>parameter</a:t>
                </a:r>
                <a:r>
                  <a:rPr lang="it-IT" sz="2100" dirty="0">
                    <a:solidFill>
                      <a:srgbClr val="FF0000"/>
                    </a:solidFill>
                    <a:latin typeface="DejaVu Sans"/>
                    <a:ea typeface="DejaVu Sans"/>
                    <a:cs typeface="DejaVu Sans"/>
                  </a:rPr>
                  <a:t> </a:t>
                </a:r>
                <a:r>
                  <a:rPr lang="it-IT" sz="2100" dirty="0" err="1">
                    <a:solidFill>
                      <a:srgbClr val="FF0000"/>
                    </a:solidFill>
                    <a:latin typeface="DejaVu Sans"/>
                    <a:ea typeface="DejaVu Sans"/>
                    <a:cs typeface="DejaVu Sans"/>
                  </a:rPr>
                  <a:t>matrix</a:t>
                </a:r>
                <a:r>
                  <a:rPr lang="it-IT" sz="2100" dirty="0">
                    <a:solidFill>
                      <a:srgbClr val="FF0000"/>
                    </a:solidFill>
                    <a:latin typeface="DejaVu Sans"/>
                    <a:ea typeface="DejaVu Sans"/>
                    <a:cs typeface="DejaVu Sans"/>
                  </a:rPr>
                  <a:t> </a:t>
                </a:r>
                <a14:m>
                  <m:oMath xmlns:m="http://schemas.openxmlformats.org/officeDocument/2006/math">
                    <m:r>
                      <m:rPr>
                        <m:sty m:val="p"/>
                      </m:rPr>
                      <a:rPr lang="it-IT" sz="2100" b="0" i="0" smtClean="0">
                        <a:solidFill>
                          <a:srgbClr val="526276"/>
                        </a:solidFill>
                        <a:latin typeface="Cambria Math" panose="02040503050406030204" pitchFamily="18" charset="0"/>
                        <a:ea typeface="DejaVu Sans"/>
                        <a:cs typeface="DejaVu Sans"/>
                      </a:rPr>
                      <m:t>Θ</m:t>
                    </m:r>
                  </m:oMath>
                </a14:m>
                <a:endParaRPr lang="en-GB" sz="2100" dirty="0">
                  <a:solidFill>
                    <a:srgbClr val="526276"/>
                  </a:solidFill>
                  <a:latin typeface="DejaVu Sans"/>
                  <a:ea typeface="DejaVu Sans"/>
                  <a:cs typeface="DejaVu Sans"/>
                </a:endParaRPr>
              </a:p>
            </p:txBody>
          </p:sp>
        </mc:Choice>
        <mc:Fallback>
          <p:sp>
            <p:nvSpPr>
              <p:cNvPr id="8" name="CasellaDiTesto 7">
                <a:extLst>
                  <a:ext uri="{FF2B5EF4-FFF2-40B4-BE49-F238E27FC236}">
                    <a16:creationId xmlns:a16="http://schemas.microsoft.com/office/drawing/2014/main" id="{AB663182-D063-EB3B-B732-97FE24B04371}"/>
                  </a:ext>
                </a:extLst>
              </p:cNvPr>
              <p:cNvSpPr txBox="1">
                <a:spLocks noRot="1" noChangeAspect="1" noMove="1" noResize="1" noEditPoints="1" noAdjustHandles="1" noChangeArrowheads="1" noChangeShapeType="1" noTextEdit="1"/>
              </p:cNvSpPr>
              <p:nvPr/>
            </p:nvSpPr>
            <p:spPr>
              <a:xfrm>
                <a:off x="1824418" y="4678940"/>
                <a:ext cx="8466963" cy="422936"/>
              </a:xfrm>
              <a:prstGeom prst="rect">
                <a:avLst/>
              </a:prstGeom>
              <a:blipFill>
                <a:blip r:embed="rId10"/>
                <a:stretch>
                  <a:fillRect t="-10145" b="-26087"/>
                </a:stretch>
              </a:blipFill>
            </p:spPr>
            <p:txBody>
              <a:bodyPr/>
              <a:lstStyle/>
              <a:p>
                <a:r>
                  <a:rPr lang="it-IT">
                    <a:noFill/>
                  </a:rPr>
                  <a:t> </a:t>
                </a:r>
              </a:p>
            </p:txBody>
          </p:sp>
        </mc:Fallback>
      </mc:AlternateContent>
      <p:sp>
        <p:nvSpPr>
          <p:cNvPr id="7" name="lead">
            <a:extLst>
              <a:ext uri="{FF2B5EF4-FFF2-40B4-BE49-F238E27FC236}">
                <a16:creationId xmlns:a16="http://schemas.microsoft.com/office/drawing/2014/main" id="{E7A0E0E7-7712-60C4-69C6-01DFD91E3A36}"/>
              </a:ext>
            </a:extLst>
          </p:cNvPr>
          <p:cNvSpPr>
            <a:spLocks noGrp="1"/>
          </p:cNvSpPr>
          <p:nvPr/>
        </p:nvSpPr>
        <p:spPr>
          <a:xfrm>
            <a:off x="723900" y="3930347"/>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en-GB" sz="2100" dirty="0">
                <a:solidFill>
                  <a:srgbClr val="526276"/>
                </a:solidFill>
                <a:latin typeface="DejaVu Sans"/>
                <a:ea typeface="DejaVu Sans"/>
                <a:cs typeface="DejaVu Sans"/>
              </a:rPr>
              <a:t>As in binary classification, these affine scores are also called </a:t>
            </a:r>
            <a:r>
              <a:rPr lang="en-GB" sz="2100" dirty="0">
                <a:solidFill>
                  <a:srgbClr val="FF0000"/>
                </a:solidFill>
                <a:latin typeface="DejaVu Sans"/>
                <a:ea typeface="DejaVu Sans"/>
                <a:cs typeface="DejaVu Sans"/>
              </a:rPr>
              <a:t>logits</a:t>
            </a:r>
            <a:r>
              <a:rPr lang="en-GB" sz="2100" dirty="0">
                <a:solidFill>
                  <a:srgbClr val="526276"/>
                </a:solidFill>
                <a:latin typeface="DejaVu Sans"/>
                <a:ea typeface="DejaVu Sans"/>
                <a:cs typeface="DejaVu Sans"/>
              </a:rPr>
              <a:t>.</a:t>
            </a:r>
          </a:p>
        </p:txBody>
      </p:sp>
    </p:spTree>
    <p:extLst>
      <p:ext uri="{BB962C8B-B14F-4D97-AF65-F5344CB8AC3E}">
        <p14:creationId xmlns:p14="http://schemas.microsoft.com/office/powerpoint/2010/main" val="44107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P spid="106" grpId="0"/>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A8FC166-2312-4041-BB81-A87A0A67574A}"/>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err="1">
                <a:solidFill>
                  <a:srgbClr val="182D45"/>
                </a:solidFill>
                <a:latin typeface="DejaVu Sans"/>
                <a:ea typeface="DejaVu Sans"/>
                <a:cs typeface="DejaVu Sans"/>
              </a:rPr>
              <a:t>Softmax</a:t>
            </a:r>
            <a:r>
              <a:rPr sz="3150" b="1" dirty="0">
                <a:solidFill>
                  <a:srgbClr val="182D45"/>
                </a:solidFill>
                <a:latin typeface="DejaVu Sans"/>
                <a:ea typeface="DejaVu Sans"/>
                <a:cs typeface="DejaVu Sans"/>
              </a:rPr>
              <a:t> turns scores into probabilities</a:t>
            </a:r>
          </a:p>
        </p:txBody>
      </p:sp>
      <p:sp>
        <p:nvSpPr>
          <p:cNvPr id="2" name="lead">
            <a:extLst>
              <a:ext uri="{FF2B5EF4-FFF2-40B4-BE49-F238E27FC236}">
                <a16:creationId xmlns:a16="http://schemas.microsoft.com/office/drawing/2014/main" id="{50770430-ABC6-4EBE-B50C-DE8579D20EF4}"/>
              </a:ext>
            </a:extLst>
          </p:cNvPr>
          <p:cNvSpPr>
            <a:spLocks noGrp="1"/>
          </p:cNvSpPr>
          <p:nvPr/>
        </p:nvSpPr>
        <p:spPr>
          <a:xfrm>
            <a:off x="723900" y="1793380"/>
            <a:ext cx="10744200" cy="474228"/>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Exponentiate each score, then divide by the sum across classes.</a:t>
            </a:r>
          </a:p>
        </p:txBody>
      </p:sp>
      <p:sp>
        <p:nvSpPr>
          <p:cNvPr id="3" name="footer_course">
            <a:extLst>
              <a:ext uri="{FF2B5EF4-FFF2-40B4-BE49-F238E27FC236}">
                <a16:creationId xmlns:a16="http://schemas.microsoft.com/office/drawing/2014/main" id="{B55EB4B1-4CB9-4546-861E-1FBB5443D4E6}"/>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F609864C-0BF9-4FC1-994E-062E402DA838}"/>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49</a:t>
            </a:r>
          </a:p>
        </p:txBody>
      </p:sp>
      <mc:AlternateContent xmlns:mc="http://schemas.openxmlformats.org/markup-compatibility/2006" xmlns:a14="http://schemas.microsoft.com/office/drawing/2010/main">
        <mc:Choice Requires="a14">
          <p:sp>
            <p:nvSpPr>
              <p:cNvPr id="100" name="score_input" descr="\mathbf s=(s_1,\ldots,s_K)\in\mathbb R^{1\times K}">
                <a:extLst>
                  <a:ext uri="{FF2B5EF4-FFF2-40B4-BE49-F238E27FC236}">
                    <a16:creationId xmlns:a16="http://schemas.microsoft.com/office/drawing/2014/main" id="{032F8A49-AAEC-419E-8283-C8FAE7D4B178}"/>
                  </a:ext>
                </a:extLst>
              </p:cNvPr>
              <p:cNvSpPr>
                <a:spLocks noGrp="1"/>
              </p:cNvSpPr>
              <p:nvPr/>
            </p:nvSpPr>
            <p:spPr>
              <a:xfrm>
                <a:off x="723900" y="2778560"/>
                <a:ext cx="10744200" cy="5619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600">
                          <a:solidFill>
                            <a:srgbClr val="087F83"/>
                          </a:solidFill>
                          <a:latin typeface="Cambria Math"/>
                          <a:ea typeface="Cambria Math"/>
                          <a:cs typeface="Cambria Math"/>
                        </a:rPr>
                        <m:t>𝐬</m:t>
                      </m:r>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𝑠</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𝑠</m:t>
                          </m:r>
                        </m:e>
                        <m:sub>
                          <m:r>
                            <a:rPr lang="en-GB" sz="2600">
                              <a:solidFill>
                                <a:srgbClr val="087F83"/>
                              </a:solidFill>
                              <a:latin typeface="Cambria Math"/>
                              <a:ea typeface="Cambria Math"/>
                              <a:cs typeface="Cambria Math"/>
                            </a:rPr>
                            <m:t>𝐾</m:t>
                          </m:r>
                        </m:sub>
                      </m:sSub>
                      <m:r>
                        <a:rPr lang="en-GB" sz="2600">
                          <a:solidFill>
                            <a:srgbClr val="087F83"/>
                          </a:solidFill>
                          <a:latin typeface="Cambria Math"/>
                          <a:ea typeface="Cambria Math"/>
                          <a:cs typeface="Cambria Math"/>
                        </a:rPr>
                        <m:t>)∈</m:t>
                      </m:r>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ℝ</m:t>
                          </m:r>
                        </m:e>
                        <m:sup>
                          <m:r>
                            <a:rPr lang="en-GB" sz="2600">
                              <a:solidFill>
                                <a:srgbClr val="087F83"/>
                              </a:solidFill>
                              <a:latin typeface="Cambria Math"/>
                              <a:ea typeface="Cambria Math"/>
                              <a:cs typeface="Cambria Math"/>
                            </a:rPr>
                            <m:t>1×</m:t>
                          </m:r>
                          <m:r>
                            <a:rPr lang="en-GB" sz="2600">
                              <a:solidFill>
                                <a:srgbClr val="087F83"/>
                              </a:solidFill>
                              <a:latin typeface="Cambria Math"/>
                              <a:ea typeface="Cambria Math"/>
                              <a:cs typeface="Cambria Math"/>
                            </a:rPr>
                            <m:t>𝐾</m:t>
                          </m:r>
                        </m:sup>
                      </m:sSup>
                    </m:oMath>
                  </m:oMathPara>
                </a14:m>
                <a:endParaRPr lang="en-GB" sz="2600" dirty="0"/>
              </a:p>
            </p:txBody>
          </p:sp>
        </mc:Choice>
        <mc:Fallback xmlns="">
          <p:sp>
            <p:nvSpPr>
              <p:cNvPr id="100" name="score_input" descr="\mathbf s=(s_1,\ldots,s_K)\in\mathbb R^{1\times K}">
                <a:extLst>
                  <a:ext uri="{FF2B5EF4-FFF2-40B4-BE49-F238E27FC236}">
                    <a16:creationId xmlns:a16="http://schemas.microsoft.com/office/drawing/2014/main" id="{032F8A49-AAEC-419E-8283-C8FAE7D4B178}"/>
                  </a:ext>
                </a:extLst>
              </p:cNvPr>
              <p:cNvSpPr>
                <a:spLocks noGrp="1" noRot="1" noChangeAspect="1" noMove="1" noResize="1" noEditPoints="1" noAdjustHandles="1" noChangeArrowheads="1" noChangeShapeType="1" noTextEdit="1"/>
              </p:cNvSpPr>
              <p:nvPr/>
            </p:nvSpPr>
            <p:spPr>
              <a:xfrm>
                <a:off x="723900" y="2778560"/>
                <a:ext cx="10744200" cy="561975"/>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1" name="softmax_map" descr="\operatorname{softmax}:\mathbb R^{1\times K}\longrightarrow(0,1)^{1\times K}">
                <a:extLst>
                  <a:ext uri="{FF2B5EF4-FFF2-40B4-BE49-F238E27FC236}">
                    <a16:creationId xmlns:a16="http://schemas.microsoft.com/office/drawing/2014/main" id="{296F38ED-3C17-4E91-B000-ECC7ECD8661B}"/>
                  </a:ext>
                </a:extLst>
              </p:cNvPr>
              <p:cNvSpPr>
                <a:spLocks noGrp="1"/>
              </p:cNvSpPr>
              <p:nvPr/>
            </p:nvSpPr>
            <p:spPr>
              <a:xfrm>
                <a:off x="723900" y="2247790"/>
                <a:ext cx="10744200" cy="571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600">
                          <a:solidFill>
                            <a:srgbClr val="087F83"/>
                          </a:solidFill>
                          <a:latin typeface="Cambria Math"/>
                          <a:ea typeface="Cambria Math"/>
                          <a:cs typeface="Cambria Math"/>
                        </a:rPr>
                        <m:t>softmax</m:t>
                      </m:r>
                      <m:r>
                        <a:rPr lang="en-GB" sz="2600">
                          <a:solidFill>
                            <a:srgbClr val="087F83"/>
                          </a:solidFill>
                          <a:latin typeface="Cambria Math"/>
                          <a:ea typeface="Cambria Math"/>
                          <a:cs typeface="Cambria Math"/>
                        </a:rPr>
                        <m:t>:</m:t>
                      </m:r>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ℝ</m:t>
                          </m:r>
                        </m:e>
                        <m:sup>
                          <m:r>
                            <a:rPr lang="en-GB" sz="2600">
                              <a:solidFill>
                                <a:srgbClr val="087F83"/>
                              </a:solidFill>
                              <a:latin typeface="Cambria Math"/>
                              <a:ea typeface="Cambria Math"/>
                              <a:cs typeface="Cambria Math"/>
                            </a:rPr>
                            <m:t>1×</m:t>
                          </m:r>
                          <m:r>
                            <a:rPr lang="en-GB" sz="2600">
                              <a:solidFill>
                                <a:srgbClr val="087F83"/>
                              </a:solidFill>
                              <a:latin typeface="Cambria Math"/>
                              <a:ea typeface="Cambria Math"/>
                              <a:cs typeface="Cambria Math"/>
                            </a:rPr>
                            <m:t>𝐾</m:t>
                          </m:r>
                        </m:sup>
                      </m:sSup>
                      <m:r>
                        <a:rPr lang="en-GB" sz="2600">
                          <a:solidFill>
                            <a:srgbClr val="087F83"/>
                          </a:solidFill>
                          <a:latin typeface="Cambria Math"/>
                          <a:ea typeface="Cambria Math"/>
                          <a:cs typeface="Cambria Math"/>
                        </a:rPr>
                        <m:t>⟶(0,1</m:t>
                      </m:r>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m:t>
                          </m:r>
                        </m:e>
                        <m:sup>
                          <m:r>
                            <a:rPr lang="en-GB" sz="2600">
                              <a:solidFill>
                                <a:srgbClr val="087F83"/>
                              </a:solidFill>
                              <a:latin typeface="Cambria Math"/>
                              <a:ea typeface="Cambria Math"/>
                              <a:cs typeface="Cambria Math"/>
                            </a:rPr>
                            <m:t>1×</m:t>
                          </m:r>
                          <m:r>
                            <a:rPr lang="en-GB" sz="2600">
                              <a:solidFill>
                                <a:srgbClr val="087F83"/>
                              </a:solidFill>
                              <a:latin typeface="Cambria Math"/>
                              <a:ea typeface="Cambria Math"/>
                              <a:cs typeface="Cambria Math"/>
                            </a:rPr>
                            <m:t>𝐾</m:t>
                          </m:r>
                        </m:sup>
                      </m:sSup>
                    </m:oMath>
                  </m:oMathPara>
                </a14:m>
                <a:endParaRPr lang="en-GB" sz="2600" dirty="0"/>
              </a:p>
            </p:txBody>
          </p:sp>
        </mc:Choice>
        <mc:Fallback xmlns="">
          <p:sp>
            <p:nvSpPr>
              <p:cNvPr id="101" name="softmax_map" descr="\operatorname{softmax}:\mathbb R^{1\times K}\longrightarrow(0,1)^{1\times K}">
                <a:extLst>
                  <a:ext uri="{FF2B5EF4-FFF2-40B4-BE49-F238E27FC236}">
                    <a16:creationId xmlns:a16="http://schemas.microsoft.com/office/drawing/2014/main" id="{296F38ED-3C17-4E91-B000-ECC7ECD8661B}"/>
                  </a:ext>
                </a:extLst>
              </p:cNvPr>
              <p:cNvSpPr>
                <a:spLocks noGrp="1" noRot="1" noChangeAspect="1" noMove="1" noResize="1" noEditPoints="1" noAdjustHandles="1" noChangeArrowheads="1" noChangeShapeType="1" noTextEdit="1"/>
              </p:cNvSpPr>
              <p:nvPr/>
            </p:nvSpPr>
            <p:spPr>
              <a:xfrm>
                <a:off x="723900" y="2247790"/>
                <a:ext cx="10744200" cy="57150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2" name="softmax_component" descr="[\operatorname{softmax}(\mathbf s)]_k=\frac{e^{s_k}}{\sum_{r=1}^{K}e^{s_r}},\qquad k=1,\ldots,K">
                <a:extLst>
                  <a:ext uri="{FF2B5EF4-FFF2-40B4-BE49-F238E27FC236}">
                    <a16:creationId xmlns:a16="http://schemas.microsoft.com/office/drawing/2014/main" id="{DE03FE11-E5DE-458C-A0CA-FF4C42DD82CF}"/>
                  </a:ext>
                </a:extLst>
              </p:cNvPr>
              <p:cNvSpPr>
                <a:spLocks noGrp="1"/>
              </p:cNvSpPr>
              <p:nvPr/>
            </p:nvSpPr>
            <p:spPr>
              <a:xfrm>
                <a:off x="723900" y="3201191"/>
                <a:ext cx="10744200" cy="1066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i="1">
                              <a:solidFill>
                                <a:srgbClr val="087F83"/>
                              </a:solidFill>
                              <a:latin typeface="Cambria Math" panose="02040503050406030204" pitchFamily="18" charset="0"/>
                              <a:ea typeface="Cambria Math"/>
                              <a:cs typeface="Cambria Math"/>
                            </a:rPr>
                          </m:ctrlPr>
                        </m:sSubPr>
                        <m:e>
                          <m:d>
                            <m:dPr>
                              <m:begChr m:val="["/>
                              <m:endChr m:val="]"/>
                              <m:ctrlPr>
                                <a:rPr lang="en-GB" sz="2600">
                                  <a:solidFill>
                                    <a:srgbClr val="087F83"/>
                                  </a:solidFill>
                                  <a:latin typeface="Cambria Math"/>
                                  <a:ea typeface="Cambria Math"/>
                                  <a:cs typeface="Cambria Math"/>
                                </a:rPr>
                              </m:ctrlPr>
                            </m:dPr>
                            <m:e>
                              <m:r>
                                <m:rPr>
                                  <m:sty m:val="p"/>
                                </m:rPr>
                                <a:rPr lang="en-GB" sz="2600">
                                  <a:solidFill>
                                    <a:srgbClr val="087F83"/>
                                  </a:solidFill>
                                  <a:latin typeface="Cambria Math"/>
                                  <a:ea typeface="Cambria Math"/>
                                  <a:cs typeface="Cambria Math"/>
                                </a:rPr>
                                <m:t>softmax</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𝐬</m:t>
                                  </m:r>
                                </m:e>
                              </m:d>
                            </m:e>
                          </m:d>
                        </m:e>
                        <m:sub>
                          <m:r>
                            <a:rPr lang="en-GB" sz="2600">
                              <a:solidFill>
                                <a:srgbClr val="087F83"/>
                              </a:solidFill>
                              <a:latin typeface="Cambria Math"/>
                              <a:ea typeface="Cambria Math"/>
                              <a:cs typeface="Cambria Math"/>
                            </a:rPr>
                            <m:t>𝑘</m:t>
                          </m:r>
                        </m:sub>
                      </m:sSub>
                      <m:r>
                        <a:rPr lang="en-GB" sz="2600">
                          <a:solidFill>
                            <a:srgbClr val="087F83"/>
                          </a:solidFill>
                          <a:latin typeface="Cambria Math"/>
                          <a:ea typeface="Cambria Math"/>
                          <a:cs typeface="Cambria Math"/>
                        </a:rPr>
                        <m:t>=</m:t>
                      </m:r>
                      <m:f>
                        <m:fPr>
                          <m:ctrlPr>
                            <a:rPr lang="en-GB" sz="2600" i="1">
                              <a:solidFill>
                                <a:srgbClr val="087F83"/>
                              </a:solidFill>
                              <a:latin typeface="Cambria Math" panose="02040503050406030204" pitchFamily="18" charset="0"/>
                              <a:ea typeface="Cambria Math"/>
                              <a:cs typeface="Cambria Math"/>
                            </a:rPr>
                          </m:ctrlPr>
                        </m:fPr>
                        <m:num>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𝑒</m:t>
                              </m:r>
                            </m:e>
                            <m:sup>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𝑠</m:t>
                                  </m:r>
                                </m:e>
                                <m:sub>
                                  <m:r>
                                    <a:rPr lang="en-GB" sz="2600">
                                      <a:solidFill>
                                        <a:srgbClr val="087F83"/>
                                      </a:solidFill>
                                      <a:latin typeface="Cambria Math"/>
                                      <a:ea typeface="Cambria Math"/>
                                      <a:cs typeface="Cambria Math"/>
                                    </a:rPr>
                                    <m:t>𝑘</m:t>
                                  </m:r>
                                </m:sub>
                              </m:sSub>
                            </m:sup>
                          </m:sSup>
                        </m:num>
                        <m:den>
                          <m:nary>
                            <m:naryPr>
                              <m:chr m:val="∑"/>
                              <m:limLoc m:val="undOvr"/>
                              <m:ctrlPr>
                                <a:rPr lang="en-GB" sz="2600">
                                  <a:solidFill>
                                    <a:srgbClr val="087F83"/>
                                  </a:solidFill>
                                  <a:latin typeface="Cambria Math"/>
                                  <a:ea typeface="Cambria Math"/>
                                  <a:cs typeface="Cambria Math"/>
                                </a:rPr>
                              </m:ctrlPr>
                            </m:naryPr>
                            <m:sub>
                              <m:r>
                                <a:rPr lang="en-GB" sz="2600">
                                  <a:solidFill>
                                    <a:srgbClr val="087F83"/>
                                  </a:solidFill>
                                  <a:latin typeface="Cambria Math"/>
                                  <a:ea typeface="Cambria Math"/>
                                  <a:cs typeface="Cambria Math"/>
                                </a:rPr>
                                <m:t>𝑟</m:t>
                              </m:r>
                              <m:r>
                                <a:rPr lang="en-GB" sz="2600">
                                  <a:solidFill>
                                    <a:srgbClr val="087F83"/>
                                  </a:solidFill>
                                  <a:latin typeface="Cambria Math"/>
                                  <a:ea typeface="Cambria Math"/>
                                  <a:cs typeface="Cambria Math"/>
                                </a:rPr>
                                <m:t>=1</m:t>
                              </m:r>
                            </m:sub>
                            <m:sup>
                              <m:r>
                                <a:rPr lang="en-GB" sz="2600">
                                  <a:solidFill>
                                    <a:srgbClr val="087F83"/>
                                  </a:solidFill>
                                  <a:latin typeface="Cambria Math"/>
                                  <a:ea typeface="Cambria Math"/>
                                  <a:cs typeface="Cambria Math"/>
                                </a:rPr>
                                <m:t>𝐾</m:t>
                              </m:r>
                            </m:sup>
                            <m:e>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𝑒</m:t>
                                  </m:r>
                                </m:e>
                                <m:sup>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𝑠</m:t>
                                      </m:r>
                                    </m:e>
                                    <m:sub>
                                      <m:r>
                                        <a:rPr lang="en-GB" sz="2600">
                                          <a:solidFill>
                                            <a:srgbClr val="087F83"/>
                                          </a:solidFill>
                                          <a:latin typeface="Cambria Math"/>
                                          <a:ea typeface="Cambria Math"/>
                                          <a:cs typeface="Cambria Math"/>
                                        </a:rPr>
                                        <m:t>𝑟</m:t>
                                      </m:r>
                                    </m:sub>
                                  </m:sSub>
                                </m:sup>
                              </m:sSup>
                            </m:e>
                          </m:nary>
                        </m:den>
                      </m:f>
                      <m:r>
                        <a:rPr lang="en-GB" sz="2600">
                          <a:solidFill>
                            <a:srgbClr val="087F83"/>
                          </a:solidFill>
                          <a:latin typeface="Cambria Math"/>
                          <a:ea typeface="Cambria Math"/>
                          <a:cs typeface="Cambria Math"/>
                        </a:rPr>
                        <m:t>,  </m:t>
                      </m:r>
                      <m:r>
                        <a:rPr lang="en-GB" sz="2600">
                          <a:solidFill>
                            <a:srgbClr val="087F83"/>
                          </a:solidFill>
                          <a:latin typeface="Cambria Math"/>
                          <a:ea typeface="Cambria Math"/>
                          <a:cs typeface="Cambria Math"/>
                        </a:rPr>
                        <m:t>𝑘</m:t>
                      </m:r>
                      <m:r>
                        <a:rPr lang="en-GB" sz="2600">
                          <a:solidFill>
                            <a:srgbClr val="087F83"/>
                          </a:solidFill>
                          <a:latin typeface="Cambria Math"/>
                          <a:ea typeface="Cambria Math"/>
                          <a:cs typeface="Cambria Math"/>
                        </a:rPr>
                        <m:t>=1,…,</m:t>
                      </m:r>
                      <m:r>
                        <a:rPr lang="en-GB" sz="2600">
                          <a:solidFill>
                            <a:srgbClr val="087F83"/>
                          </a:solidFill>
                          <a:latin typeface="Cambria Math"/>
                          <a:ea typeface="Cambria Math"/>
                          <a:cs typeface="Cambria Math"/>
                        </a:rPr>
                        <m:t>𝐾</m:t>
                      </m:r>
                    </m:oMath>
                  </m:oMathPara>
                </a14:m>
                <a:endParaRPr lang="en-GB" sz="2600" dirty="0"/>
              </a:p>
            </p:txBody>
          </p:sp>
        </mc:Choice>
        <mc:Fallback xmlns="">
          <p:sp>
            <p:nvSpPr>
              <p:cNvPr id="102" name="softmax_component" descr="[\operatorname{softmax}(\mathbf s)]_k=\frac{e^{s_k}}{\sum_{r=1}^{K}e^{s_r}},\qquad k=1,\ldots,K">
                <a:extLst>
                  <a:ext uri="{FF2B5EF4-FFF2-40B4-BE49-F238E27FC236}">
                    <a16:creationId xmlns:a16="http://schemas.microsoft.com/office/drawing/2014/main" id="{DE03FE11-E5DE-458C-A0CA-FF4C42DD82CF}"/>
                  </a:ext>
                </a:extLst>
              </p:cNvPr>
              <p:cNvSpPr>
                <a:spLocks noGrp="1" noRot="1" noChangeAspect="1" noMove="1" noResize="1" noEditPoints="1" noAdjustHandles="1" noChangeArrowheads="1" noChangeShapeType="1" noTextEdit="1"/>
              </p:cNvSpPr>
              <p:nvPr/>
            </p:nvSpPr>
            <p:spPr>
              <a:xfrm>
                <a:off x="723900" y="3201191"/>
                <a:ext cx="10744200" cy="10668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3" name="positive" descr="[\operatorname{softmax}(\mathbf s)]_k&gt;0">
                <a:extLst>
                  <a:ext uri="{FF2B5EF4-FFF2-40B4-BE49-F238E27FC236}">
                    <a16:creationId xmlns:a16="http://schemas.microsoft.com/office/drawing/2014/main" id="{2B9AD872-7AD4-4623-B522-4D61AB94F8E9}"/>
                  </a:ext>
                </a:extLst>
              </p:cNvPr>
              <p:cNvSpPr>
                <a:spLocks noGrp="1"/>
              </p:cNvSpPr>
              <p:nvPr/>
            </p:nvSpPr>
            <p:spPr>
              <a:xfrm>
                <a:off x="2281286" y="4409830"/>
                <a:ext cx="10744200" cy="4857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i="1">
                              <a:solidFill>
                                <a:srgbClr val="087F83"/>
                              </a:solidFill>
                              <a:latin typeface="Cambria Math" panose="02040503050406030204" pitchFamily="18" charset="0"/>
                              <a:ea typeface="Cambria Math"/>
                              <a:cs typeface="Cambria Math"/>
                            </a:rPr>
                          </m:ctrlPr>
                        </m:sSubPr>
                        <m:e>
                          <m:d>
                            <m:dPr>
                              <m:begChr m:val="["/>
                              <m:endChr m:val="]"/>
                              <m:ctrlPr>
                                <a:rPr lang="en-GB" sz="2600">
                                  <a:solidFill>
                                    <a:srgbClr val="087F83"/>
                                  </a:solidFill>
                                  <a:latin typeface="Cambria Math"/>
                                  <a:ea typeface="Cambria Math"/>
                                  <a:cs typeface="Cambria Math"/>
                                </a:rPr>
                              </m:ctrlPr>
                            </m:dPr>
                            <m:e>
                              <m:r>
                                <m:rPr>
                                  <m:sty m:val="p"/>
                                </m:rPr>
                                <a:rPr lang="en-GB" sz="2600">
                                  <a:solidFill>
                                    <a:srgbClr val="087F83"/>
                                  </a:solidFill>
                                  <a:latin typeface="Cambria Math"/>
                                  <a:ea typeface="Cambria Math"/>
                                  <a:cs typeface="Cambria Math"/>
                                </a:rPr>
                                <m:t>softmax</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𝐬</m:t>
                                  </m:r>
                                </m:e>
                              </m:d>
                            </m:e>
                          </m:d>
                        </m:e>
                        <m:sub>
                          <m:r>
                            <a:rPr lang="en-GB" sz="2600">
                              <a:solidFill>
                                <a:srgbClr val="087F83"/>
                              </a:solidFill>
                              <a:latin typeface="Cambria Math"/>
                              <a:ea typeface="Cambria Math"/>
                              <a:cs typeface="Cambria Math"/>
                            </a:rPr>
                            <m:t>𝑘</m:t>
                          </m:r>
                        </m:sub>
                      </m:sSub>
                      <m:r>
                        <a:rPr lang="en-GB" sz="2600">
                          <a:solidFill>
                            <a:srgbClr val="087F83"/>
                          </a:solidFill>
                          <a:latin typeface="Cambria Math"/>
                          <a:ea typeface="Cambria Math"/>
                          <a:cs typeface="Cambria Math"/>
                        </a:rPr>
                        <m:t>&gt;0</m:t>
                      </m:r>
                    </m:oMath>
                  </m:oMathPara>
                </a14:m>
                <a:endParaRPr lang="en-GB" sz="2600" dirty="0"/>
              </a:p>
            </p:txBody>
          </p:sp>
        </mc:Choice>
        <mc:Fallback xmlns="">
          <p:sp>
            <p:nvSpPr>
              <p:cNvPr id="103" name="positive" descr="[\operatorname{softmax}(\mathbf s)]_k&gt;0">
                <a:extLst>
                  <a:ext uri="{FF2B5EF4-FFF2-40B4-BE49-F238E27FC236}">
                    <a16:creationId xmlns:a16="http://schemas.microsoft.com/office/drawing/2014/main" id="{2B9AD872-7AD4-4623-B522-4D61AB94F8E9}"/>
                  </a:ext>
                </a:extLst>
              </p:cNvPr>
              <p:cNvSpPr>
                <a:spLocks noGrp="1" noRot="1" noChangeAspect="1" noMove="1" noResize="1" noEditPoints="1" noAdjustHandles="1" noChangeArrowheads="1" noChangeShapeType="1" noTextEdit="1"/>
              </p:cNvSpPr>
              <p:nvPr/>
            </p:nvSpPr>
            <p:spPr>
              <a:xfrm>
                <a:off x="2281286" y="4409830"/>
                <a:ext cx="10744200" cy="485775"/>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4" name="sum_one" descr="\sum_{k=1}^{K}[\operatorname{softmax}(\mathbf s)]_k=\frac{\sum_{k=1}^{K}e^{s_k}}{\sum_{r=1}^{K}e^{s_r}}=1">
                <a:extLst>
                  <a:ext uri="{FF2B5EF4-FFF2-40B4-BE49-F238E27FC236}">
                    <a16:creationId xmlns:a16="http://schemas.microsoft.com/office/drawing/2014/main" id="{C8DB0A6D-019E-455E-A2FE-08CCBB7489B5}"/>
                  </a:ext>
                </a:extLst>
              </p:cNvPr>
              <p:cNvSpPr>
                <a:spLocks noGrp="1"/>
              </p:cNvSpPr>
              <p:nvPr/>
            </p:nvSpPr>
            <p:spPr>
              <a:xfrm>
                <a:off x="3269530" y="5182013"/>
                <a:ext cx="10744200" cy="9906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nary>
                        <m:naryPr>
                          <m:chr m:val="∑"/>
                          <m:limLoc m:val="undOvr"/>
                          <m:ctrlPr>
                            <a:rPr lang="en-GB" sz="2600">
                              <a:solidFill>
                                <a:srgbClr val="087F83"/>
                              </a:solidFill>
                              <a:latin typeface="Cambria Math"/>
                              <a:ea typeface="Cambria Math"/>
                              <a:cs typeface="Cambria Math"/>
                            </a:rPr>
                          </m:ctrlPr>
                        </m:naryPr>
                        <m:sub>
                          <m:r>
                            <a:rPr lang="en-GB" sz="2600">
                              <a:solidFill>
                                <a:srgbClr val="087F83"/>
                              </a:solidFill>
                              <a:latin typeface="Cambria Math"/>
                              <a:ea typeface="Cambria Math"/>
                              <a:cs typeface="Cambria Math"/>
                            </a:rPr>
                            <m:t>𝑘</m:t>
                          </m:r>
                          <m:r>
                            <a:rPr lang="en-GB" sz="2600">
                              <a:solidFill>
                                <a:srgbClr val="087F83"/>
                              </a:solidFill>
                              <a:latin typeface="Cambria Math"/>
                              <a:ea typeface="Cambria Math"/>
                              <a:cs typeface="Cambria Math"/>
                            </a:rPr>
                            <m:t>=1</m:t>
                          </m:r>
                        </m:sub>
                        <m:sup>
                          <m:r>
                            <a:rPr lang="en-GB" sz="2600">
                              <a:solidFill>
                                <a:srgbClr val="087F83"/>
                              </a:solidFill>
                              <a:latin typeface="Cambria Math"/>
                              <a:ea typeface="Cambria Math"/>
                              <a:cs typeface="Cambria Math"/>
                            </a:rPr>
                            <m:t>𝐾</m:t>
                          </m:r>
                        </m:sup>
                        <m:e>
                          <m:sSub>
                            <m:sSubPr>
                              <m:ctrlPr>
                                <a:rPr lang="en-GB" sz="2600" i="1">
                                  <a:solidFill>
                                    <a:srgbClr val="087F83"/>
                                  </a:solidFill>
                                  <a:latin typeface="Cambria Math" panose="02040503050406030204" pitchFamily="18" charset="0"/>
                                  <a:ea typeface="Cambria Math"/>
                                  <a:cs typeface="Cambria Math"/>
                                </a:rPr>
                              </m:ctrlPr>
                            </m:sSubPr>
                            <m:e>
                              <m:d>
                                <m:dPr>
                                  <m:begChr m:val="["/>
                                  <m:endChr m:val="]"/>
                                  <m:ctrlPr>
                                    <a:rPr lang="en-GB" sz="2600">
                                      <a:solidFill>
                                        <a:srgbClr val="087F83"/>
                                      </a:solidFill>
                                      <a:latin typeface="Cambria Math"/>
                                      <a:ea typeface="Cambria Math"/>
                                      <a:cs typeface="Cambria Math"/>
                                    </a:rPr>
                                  </m:ctrlPr>
                                </m:dPr>
                                <m:e>
                                  <m:r>
                                    <m:rPr>
                                      <m:sty m:val="p"/>
                                    </m:rPr>
                                    <a:rPr lang="en-GB" sz="2600">
                                      <a:solidFill>
                                        <a:srgbClr val="087F83"/>
                                      </a:solidFill>
                                      <a:latin typeface="Cambria Math"/>
                                      <a:ea typeface="Cambria Math"/>
                                      <a:cs typeface="Cambria Math"/>
                                    </a:rPr>
                                    <m:t>softmax</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𝐬</m:t>
                                      </m:r>
                                    </m:e>
                                  </m:d>
                                </m:e>
                              </m:d>
                            </m:e>
                            <m:sub>
                              <m:r>
                                <a:rPr lang="en-GB" sz="2600">
                                  <a:solidFill>
                                    <a:srgbClr val="087F83"/>
                                  </a:solidFill>
                                  <a:latin typeface="Cambria Math"/>
                                  <a:ea typeface="Cambria Math"/>
                                  <a:cs typeface="Cambria Math"/>
                                </a:rPr>
                                <m:t>𝑘</m:t>
                              </m:r>
                            </m:sub>
                          </m:sSub>
                        </m:e>
                      </m:nary>
                      <m:r>
                        <a:rPr lang="en-GB" sz="2600">
                          <a:solidFill>
                            <a:srgbClr val="087F83"/>
                          </a:solidFill>
                          <a:latin typeface="Cambria Math"/>
                          <a:ea typeface="Cambria Math"/>
                          <a:cs typeface="Cambria Math"/>
                        </a:rPr>
                        <m:t>=</m:t>
                      </m:r>
                      <m:f>
                        <m:fPr>
                          <m:ctrlPr>
                            <a:rPr lang="en-GB" sz="2600" i="1">
                              <a:solidFill>
                                <a:srgbClr val="087F83"/>
                              </a:solidFill>
                              <a:latin typeface="Cambria Math" panose="02040503050406030204" pitchFamily="18" charset="0"/>
                              <a:ea typeface="Cambria Math"/>
                              <a:cs typeface="Cambria Math"/>
                            </a:rPr>
                          </m:ctrlPr>
                        </m:fPr>
                        <m:num>
                          <m:nary>
                            <m:naryPr>
                              <m:chr m:val="∑"/>
                              <m:limLoc m:val="undOvr"/>
                              <m:ctrlPr>
                                <a:rPr lang="en-GB" sz="2600">
                                  <a:solidFill>
                                    <a:srgbClr val="087F83"/>
                                  </a:solidFill>
                                  <a:latin typeface="Cambria Math"/>
                                  <a:ea typeface="Cambria Math"/>
                                  <a:cs typeface="Cambria Math"/>
                                </a:rPr>
                              </m:ctrlPr>
                            </m:naryPr>
                            <m:sub>
                              <m:r>
                                <a:rPr lang="en-GB" sz="2600">
                                  <a:solidFill>
                                    <a:srgbClr val="087F83"/>
                                  </a:solidFill>
                                  <a:latin typeface="Cambria Math"/>
                                  <a:ea typeface="Cambria Math"/>
                                  <a:cs typeface="Cambria Math"/>
                                </a:rPr>
                                <m:t>𝑘</m:t>
                              </m:r>
                              <m:r>
                                <a:rPr lang="en-GB" sz="2600">
                                  <a:solidFill>
                                    <a:srgbClr val="087F83"/>
                                  </a:solidFill>
                                  <a:latin typeface="Cambria Math"/>
                                  <a:ea typeface="Cambria Math"/>
                                  <a:cs typeface="Cambria Math"/>
                                </a:rPr>
                                <m:t>=1</m:t>
                              </m:r>
                            </m:sub>
                            <m:sup>
                              <m:r>
                                <a:rPr lang="en-GB" sz="2600">
                                  <a:solidFill>
                                    <a:srgbClr val="087F83"/>
                                  </a:solidFill>
                                  <a:latin typeface="Cambria Math"/>
                                  <a:ea typeface="Cambria Math"/>
                                  <a:cs typeface="Cambria Math"/>
                                </a:rPr>
                                <m:t>𝐾</m:t>
                              </m:r>
                            </m:sup>
                            <m:e>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𝑒</m:t>
                                  </m:r>
                                </m:e>
                                <m:sup>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𝑠</m:t>
                                      </m:r>
                                    </m:e>
                                    <m:sub>
                                      <m:r>
                                        <a:rPr lang="en-GB" sz="2600">
                                          <a:solidFill>
                                            <a:srgbClr val="087F83"/>
                                          </a:solidFill>
                                          <a:latin typeface="Cambria Math"/>
                                          <a:ea typeface="Cambria Math"/>
                                          <a:cs typeface="Cambria Math"/>
                                        </a:rPr>
                                        <m:t>𝑘</m:t>
                                      </m:r>
                                    </m:sub>
                                  </m:sSub>
                                </m:sup>
                              </m:sSup>
                            </m:e>
                          </m:nary>
                        </m:num>
                        <m:den>
                          <m:nary>
                            <m:naryPr>
                              <m:chr m:val="∑"/>
                              <m:limLoc m:val="undOvr"/>
                              <m:ctrlPr>
                                <a:rPr lang="en-GB" sz="2600">
                                  <a:solidFill>
                                    <a:srgbClr val="087F83"/>
                                  </a:solidFill>
                                  <a:latin typeface="Cambria Math"/>
                                  <a:ea typeface="Cambria Math"/>
                                  <a:cs typeface="Cambria Math"/>
                                </a:rPr>
                              </m:ctrlPr>
                            </m:naryPr>
                            <m:sub>
                              <m:r>
                                <a:rPr lang="en-GB" sz="2600">
                                  <a:solidFill>
                                    <a:srgbClr val="087F83"/>
                                  </a:solidFill>
                                  <a:latin typeface="Cambria Math"/>
                                  <a:ea typeface="Cambria Math"/>
                                  <a:cs typeface="Cambria Math"/>
                                </a:rPr>
                                <m:t>𝑟</m:t>
                              </m:r>
                              <m:r>
                                <a:rPr lang="en-GB" sz="2600">
                                  <a:solidFill>
                                    <a:srgbClr val="087F83"/>
                                  </a:solidFill>
                                  <a:latin typeface="Cambria Math"/>
                                  <a:ea typeface="Cambria Math"/>
                                  <a:cs typeface="Cambria Math"/>
                                </a:rPr>
                                <m:t>=1</m:t>
                              </m:r>
                            </m:sub>
                            <m:sup>
                              <m:r>
                                <a:rPr lang="en-GB" sz="2600">
                                  <a:solidFill>
                                    <a:srgbClr val="087F83"/>
                                  </a:solidFill>
                                  <a:latin typeface="Cambria Math"/>
                                  <a:ea typeface="Cambria Math"/>
                                  <a:cs typeface="Cambria Math"/>
                                </a:rPr>
                                <m:t>𝐾</m:t>
                              </m:r>
                            </m:sup>
                            <m:e>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𝑒</m:t>
                                  </m:r>
                                </m:e>
                                <m:sup>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𝑠</m:t>
                                      </m:r>
                                    </m:e>
                                    <m:sub>
                                      <m:r>
                                        <a:rPr lang="en-GB" sz="2600">
                                          <a:solidFill>
                                            <a:srgbClr val="087F83"/>
                                          </a:solidFill>
                                          <a:latin typeface="Cambria Math"/>
                                          <a:ea typeface="Cambria Math"/>
                                          <a:cs typeface="Cambria Math"/>
                                        </a:rPr>
                                        <m:t>𝑟</m:t>
                                      </m:r>
                                    </m:sub>
                                  </m:sSub>
                                </m:sup>
                              </m:sSup>
                            </m:e>
                          </m:nary>
                        </m:den>
                      </m:f>
                      <m:r>
                        <a:rPr lang="en-GB" sz="2600">
                          <a:solidFill>
                            <a:srgbClr val="087F83"/>
                          </a:solidFill>
                          <a:latin typeface="Cambria Math"/>
                          <a:ea typeface="Cambria Math"/>
                          <a:cs typeface="Cambria Math"/>
                        </a:rPr>
                        <m:t>=1</m:t>
                      </m:r>
                    </m:oMath>
                  </m:oMathPara>
                </a14:m>
                <a:endParaRPr lang="en-GB" sz="2600" dirty="0"/>
              </a:p>
            </p:txBody>
          </p:sp>
        </mc:Choice>
        <mc:Fallback xmlns="">
          <p:sp>
            <p:nvSpPr>
              <p:cNvPr id="104" name="sum_one" descr="\sum_{k=1}^{K}[\operatorname{softmax}(\mathbf s)]_k=\frac{\sum_{k=1}^{K}e^{s_k}}{\sum_{r=1}^{K}e^{s_r}}=1">
                <a:extLst>
                  <a:ext uri="{FF2B5EF4-FFF2-40B4-BE49-F238E27FC236}">
                    <a16:creationId xmlns:a16="http://schemas.microsoft.com/office/drawing/2014/main" id="{C8DB0A6D-019E-455E-A2FE-08CCBB7489B5}"/>
                  </a:ext>
                </a:extLst>
              </p:cNvPr>
              <p:cNvSpPr>
                <a:spLocks noGrp="1" noRot="1" noChangeAspect="1" noMove="1" noResize="1" noEditPoints="1" noAdjustHandles="1" noChangeArrowheads="1" noChangeShapeType="1" noTextEdit="1"/>
              </p:cNvSpPr>
              <p:nvPr/>
            </p:nvSpPr>
            <p:spPr>
              <a:xfrm>
                <a:off x="3269530" y="5182013"/>
                <a:ext cx="10744200" cy="990600"/>
              </a:xfrm>
              <a:prstGeom prst="rect">
                <a:avLst/>
              </a:prstGeom>
              <a:blipFill>
                <a:blip r:embed="rId7"/>
                <a:stretch>
                  <a:fillRect t="-2454" b="-6135"/>
                </a:stretch>
              </a:blipFill>
              <a:ln w="0">
                <a:noFill/>
              </a:ln>
            </p:spPr>
            <p:txBody>
              <a:bodyPr/>
              <a:lstStyle/>
              <a:p>
                <a:r>
                  <a:rPr lang="it-IT">
                    <a:noFill/>
                  </a:rPr>
                  <a:t> </a:t>
                </a:r>
              </a:p>
            </p:txBody>
          </p:sp>
        </mc:Fallback>
      </mc:AlternateContent>
      <p:sp>
        <p:nvSpPr>
          <p:cNvPr id="105" name="sigmoid_warning">
            <a:extLst>
              <a:ext uri="{FF2B5EF4-FFF2-40B4-BE49-F238E27FC236}">
                <a16:creationId xmlns:a16="http://schemas.microsoft.com/office/drawing/2014/main" id="{6BD3903A-4BC5-4021-95DC-F1D2AE330E1D}"/>
              </a:ext>
            </a:extLst>
          </p:cNvPr>
          <p:cNvSpPr>
            <a:spLocks noGrp="1"/>
          </p:cNvSpPr>
          <p:nvPr/>
        </p:nvSpPr>
        <p:spPr>
          <a:xfrm>
            <a:off x="590550" y="976837"/>
            <a:ext cx="10744200" cy="666749"/>
          </a:xfrm>
          <a:prstGeom prst="rect">
            <a:avLst/>
          </a:prstGeom>
          <a:noFill/>
          <a:ln w="0">
            <a:noFill/>
          </a:ln>
        </p:spPr>
        <p:txBody>
          <a:bodyPr anchor="ctr">
            <a:noAutofit/>
          </a:bodyPr>
          <a:lstStyle/>
          <a:p>
            <a:pPr algn="ctr">
              <a:defRPr sz="1800" b="0">
                <a:solidFill>
                  <a:srgbClr val="526276"/>
                </a:solidFill>
                <a:latin typeface="DejaVu Sans"/>
                <a:ea typeface="DejaVu Sans"/>
                <a:cs typeface="DejaVu Sans"/>
              </a:defRPr>
            </a:pPr>
            <a:r>
              <a:rPr lang="it-IT" sz="2200" b="0" dirty="0">
                <a:solidFill>
                  <a:srgbClr val="FF0000"/>
                </a:solidFill>
                <a:latin typeface="DejaVu Sans"/>
                <a:ea typeface="DejaVu Sans"/>
                <a:cs typeface="DejaVu Sans"/>
              </a:rPr>
              <a:t>Warning: s</a:t>
            </a:r>
            <a:r>
              <a:rPr sz="2200" b="0" dirty="0" err="1">
                <a:solidFill>
                  <a:srgbClr val="FF0000"/>
                </a:solidFill>
                <a:latin typeface="DejaVu Sans"/>
                <a:ea typeface="DejaVu Sans"/>
                <a:cs typeface="DejaVu Sans"/>
              </a:rPr>
              <a:t>eparate</a:t>
            </a:r>
            <a:r>
              <a:rPr sz="2200" b="0" dirty="0">
                <a:solidFill>
                  <a:srgbClr val="FF0000"/>
                </a:solidFill>
                <a:latin typeface="DejaVu Sans"/>
                <a:ea typeface="DejaVu Sans"/>
                <a:cs typeface="DejaVu Sans"/>
              </a:rPr>
              <a:t> </a:t>
            </a:r>
            <a:r>
              <a:rPr sz="2200" b="0" dirty="0" err="1">
                <a:solidFill>
                  <a:srgbClr val="FF0000"/>
                </a:solidFill>
                <a:latin typeface="DejaVu Sans"/>
                <a:ea typeface="DejaVu Sans"/>
                <a:cs typeface="DejaVu Sans"/>
              </a:rPr>
              <a:t>sigmoids</a:t>
            </a:r>
            <a:r>
              <a:rPr sz="2200" b="0" dirty="0">
                <a:solidFill>
                  <a:srgbClr val="FF0000"/>
                </a:solidFill>
                <a:latin typeface="DejaVu Sans"/>
                <a:ea typeface="DejaVu Sans"/>
                <a:cs typeface="DejaVu Sans"/>
              </a:rPr>
              <a:t> do not ensure a sum of one</a:t>
            </a:r>
            <a:r>
              <a:rPr lang="it-IT" sz="2200" b="0" dirty="0">
                <a:solidFill>
                  <a:srgbClr val="FF0000"/>
                </a:solidFill>
                <a:latin typeface="DejaVu Sans"/>
                <a:ea typeface="DejaVu Sans"/>
                <a:cs typeface="DejaVu Sans"/>
              </a:rPr>
              <a:t>!!!</a:t>
            </a:r>
            <a:endParaRPr sz="2200" b="0" dirty="0">
              <a:solidFill>
                <a:srgbClr val="FF0000"/>
              </a:solidFill>
              <a:latin typeface="DejaVu Sans"/>
              <a:ea typeface="DejaVu Sans"/>
              <a:cs typeface="DejaVu Sans"/>
            </a:endParaRPr>
          </a:p>
          <a:p>
            <a:pPr algn="ctr">
              <a:defRPr sz="1800" b="0">
                <a:solidFill>
                  <a:srgbClr val="526276"/>
                </a:solidFill>
                <a:latin typeface="DejaVu Sans"/>
                <a:ea typeface="DejaVu Sans"/>
                <a:cs typeface="DejaVu Sans"/>
              </a:defRPr>
            </a:pPr>
            <a:r>
              <a:rPr sz="2200" b="0" dirty="0">
                <a:solidFill>
                  <a:srgbClr val="526276"/>
                </a:solidFill>
                <a:latin typeface="DejaVu Sans"/>
                <a:ea typeface="DejaVu Sans"/>
                <a:cs typeface="DejaVu Sans"/>
              </a:rPr>
              <a:t>Three zero scores would give three probabilities of one half.</a:t>
            </a:r>
          </a:p>
        </p:txBody>
      </p:sp>
      <p:sp>
        <p:nvSpPr>
          <p:cNvPr id="5" name="lead">
            <a:extLst>
              <a:ext uri="{FF2B5EF4-FFF2-40B4-BE49-F238E27FC236}">
                <a16:creationId xmlns:a16="http://schemas.microsoft.com/office/drawing/2014/main" id="{31147C63-8F9A-61BD-CFD7-3709F02284F4}"/>
              </a:ext>
            </a:extLst>
          </p:cNvPr>
          <p:cNvSpPr>
            <a:spLocks noGrp="1"/>
          </p:cNvSpPr>
          <p:nvPr/>
        </p:nvSpPr>
        <p:spPr>
          <a:xfrm>
            <a:off x="2281286" y="4405036"/>
            <a:ext cx="3289955" cy="474228"/>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it-IT" sz="2100" b="0" dirty="0">
                <a:solidFill>
                  <a:srgbClr val="526276"/>
                </a:solidFill>
                <a:latin typeface="DejaVu Sans"/>
                <a:ea typeface="DejaVu Sans"/>
                <a:cs typeface="DejaVu Sans"/>
              </a:rPr>
              <a:t>Positive </a:t>
            </a:r>
            <a:r>
              <a:rPr lang="it-IT" sz="2100" b="0" dirty="0" err="1">
                <a:solidFill>
                  <a:srgbClr val="526276"/>
                </a:solidFill>
                <a:latin typeface="DejaVu Sans"/>
                <a:ea typeface="DejaVu Sans"/>
                <a:cs typeface="DejaVu Sans"/>
              </a:rPr>
              <a:t>numbers</a:t>
            </a:r>
            <a:r>
              <a:rPr lang="it-IT" sz="2100" b="0" dirty="0">
                <a:solidFill>
                  <a:srgbClr val="526276"/>
                </a:solidFill>
                <a:latin typeface="DejaVu Sans"/>
                <a:ea typeface="DejaVu Sans"/>
                <a:cs typeface="DejaVu Sans"/>
              </a:rPr>
              <a:t>:</a:t>
            </a:r>
            <a:endParaRPr sz="2100" b="0" dirty="0">
              <a:solidFill>
                <a:srgbClr val="526276"/>
              </a:solidFill>
              <a:latin typeface="DejaVu Sans"/>
              <a:ea typeface="DejaVu Sans"/>
              <a:cs typeface="DejaVu Sans"/>
            </a:endParaRPr>
          </a:p>
        </p:txBody>
      </p:sp>
      <p:sp>
        <p:nvSpPr>
          <p:cNvPr id="6" name="lead">
            <a:extLst>
              <a:ext uri="{FF2B5EF4-FFF2-40B4-BE49-F238E27FC236}">
                <a16:creationId xmlns:a16="http://schemas.microsoft.com/office/drawing/2014/main" id="{116D40B3-C3A9-9F80-43D8-4E2162D25FFF}"/>
              </a:ext>
            </a:extLst>
          </p:cNvPr>
          <p:cNvSpPr>
            <a:spLocks noGrp="1"/>
          </p:cNvSpPr>
          <p:nvPr/>
        </p:nvSpPr>
        <p:spPr>
          <a:xfrm>
            <a:off x="-1445837" y="5440199"/>
            <a:ext cx="10744200" cy="474228"/>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it-IT" sz="2100" b="0" dirty="0">
                <a:solidFill>
                  <a:srgbClr val="526276"/>
                </a:solidFill>
                <a:latin typeface="DejaVu Sans"/>
                <a:ea typeface="DejaVu Sans"/>
                <a:cs typeface="DejaVu Sans"/>
              </a:rPr>
              <a:t>Valid </a:t>
            </a:r>
            <a:r>
              <a:rPr lang="it-IT" sz="2100" b="0" dirty="0" err="1">
                <a:solidFill>
                  <a:srgbClr val="526276"/>
                </a:solidFill>
                <a:latin typeface="DejaVu Sans"/>
                <a:ea typeface="DejaVu Sans"/>
                <a:cs typeface="DejaVu Sans"/>
              </a:rPr>
              <a:t>probabilities</a:t>
            </a:r>
            <a:r>
              <a:rPr lang="it-IT" sz="2100" b="0" dirty="0">
                <a:solidFill>
                  <a:srgbClr val="526276"/>
                </a:solidFill>
                <a:latin typeface="DejaVu Sans"/>
                <a:ea typeface="DejaVu Sans"/>
                <a:cs typeface="DejaVu Sans"/>
              </a:rPr>
              <a:t>:</a:t>
            </a:r>
            <a:endParaRPr sz="2100" b="0" dirty="0">
              <a:solidFill>
                <a:srgbClr val="526276"/>
              </a:solidFill>
              <a:latin typeface="DejaVu Sans"/>
              <a:ea typeface="DejaVu Sans"/>
              <a:cs typeface="DejaVu Sans"/>
            </a:endParaRPr>
          </a:p>
        </p:txBody>
      </p:sp>
    </p:spTree>
    <p:extLst>
      <p:ext uri="{BB962C8B-B14F-4D97-AF65-F5344CB8AC3E}">
        <p14:creationId xmlns:p14="http://schemas.microsoft.com/office/powerpoint/2010/main" val="44107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0" grpId="0"/>
      <p:bldP spid="101" grpId="0"/>
      <p:bldP spid="102" grpId="0"/>
      <p:bldP spid="103" grpId="0"/>
      <p:bldP spid="104" grpId="0"/>
      <p:bldP spid="5" grpId="0"/>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A8FC166-2312-4041-BB81-A87A0A67574A}"/>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Our multiclass probability model</a:t>
            </a:r>
          </a:p>
        </p:txBody>
      </p:sp>
      <p:sp>
        <p:nvSpPr>
          <p:cNvPr id="2" name="lead">
            <a:extLst>
              <a:ext uri="{FF2B5EF4-FFF2-40B4-BE49-F238E27FC236}">
                <a16:creationId xmlns:a16="http://schemas.microsoft.com/office/drawing/2014/main" id="{50770430-ABC6-4EBE-B50C-DE8579D20EF4}"/>
              </a:ext>
            </a:extLst>
          </p:cNvPr>
          <p:cNvSpPr>
            <a:spLocks noGrp="1"/>
          </p:cNvSpPr>
          <p:nvPr/>
        </p:nvSpPr>
        <p:spPr>
          <a:xfrm>
            <a:off x="723900" y="1143000"/>
            <a:ext cx="10744200"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sz="2100" b="0" dirty="0">
                <a:solidFill>
                  <a:srgbClr val="FF0000"/>
                </a:solidFill>
                <a:latin typeface="DejaVu Sans"/>
                <a:ea typeface="DejaVu Sans"/>
                <a:cs typeface="DejaVu Sans"/>
              </a:rPr>
              <a:t>Apply softmax to the row of affine scores.</a:t>
            </a:r>
          </a:p>
        </p:txBody>
      </p:sp>
      <p:sp>
        <p:nvSpPr>
          <p:cNvPr id="3" name="footer_course">
            <a:extLst>
              <a:ext uri="{FF2B5EF4-FFF2-40B4-BE49-F238E27FC236}">
                <a16:creationId xmlns:a16="http://schemas.microsoft.com/office/drawing/2014/main" id="{B55EB4B1-4CB9-4546-861E-1FBB5443D4E6}"/>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F609864C-0BF9-4FC1-994E-062E402DA838}"/>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50</a:t>
            </a:r>
          </a:p>
        </p:txBody>
      </p:sp>
      <mc:AlternateContent xmlns:mc="http://schemas.openxmlformats.org/markup-compatibility/2006" xmlns:a14="http://schemas.microsoft.com/office/drawing/2010/main">
        <mc:Choice Requires="a14">
          <p:sp>
            <p:nvSpPr>
              <p:cNvPr id="100" name="composition" descr="\mathbf p_{\boldsymbol\Theta}(\mathbf x)=\operatorname{softmax}\!\left(\mathbf f_{\boldsymbol\Theta}(\mathbf x)\right)">
                <a:extLst>
                  <a:ext uri="{FF2B5EF4-FFF2-40B4-BE49-F238E27FC236}">
                    <a16:creationId xmlns:a16="http://schemas.microsoft.com/office/drawing/2014/main" id="{E8807DB4-C265-4FFF-AFF0-6F30FF89577E}"/>
                  </a:ext>
                </a:extLst>
              </p:cNvPr>
              <p:cNvSpPr>
                <a:spLocks noGrp="1"/>
              </p:cNvSpPr>
              <p:nvPr/>
            </p:nvSpPr>
            <p:spPr>
              <a:xfrm>
                <a:off x="723900" y="1866900"/>
                <a:ext cx="10744200" cy="8001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𝐩</m:t>
                          </m:r>
                        </m:e>
                        <m:sub>
                          <m:r>
                            <a:rPr lang="en-GB" sz="3100">
                              <a:solidFill>
                                <a:srgbClr val="087F83"/>
                              </a:solidFill>
                              <a:latin typeface="Cambria Math"/>
                              <a:ea typeface="Cambria Math"/>
                              <a:cs typeface="Cambria Math"/>
                            </a:rPr>
                            <m:t>𝚯</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𝐱</m:t>
                          </m:r>
                        </m:e>
                      </m:d>
                      <m:r>
                        <a:rPr lang="en-GB" sz="3100">
                          <a:solidFill>
                            <a:srgbClr val="087F83"/>
                          </a:solidFill>
                          <a:latin typeface="Cambria Math"/>
                          <a:ea typeface="Cambria Math"/>
                          <a:cs typeface="Cambria Math"/>
                        </a:rPr>
                        <m:t>=</m:t>
                      </m:r>
                      <m:r>
                        <m:rPr>
                          <m:sty m:val="p"/>
                        </m:rPr>
                        <a:rPr lang="en-GB" sz="3100">
                          <a:solidFill>
                            <a:srgbClr val="087F83"/>
                          </a:solidFill>
                          <a:latin typeface="Cambria Math"/>
                          <a:ea typeface="Cambria Math"/>
                          <a:cs typeface="Cambria Math"/>
                        </a:rPr>
                        <m:t>softmax</m:t>
                      </m:r>
                      <m:d>
                        <m:dPr>
                          <m:ctrlPr>
                            <a:rPr lang="en-GB" sz="3100" i="1">
                              <a:solidFill>
                                <a:srgbClr val="087F83"/>
                              </a:solidFill>
                              <a:latin typeface="Cambria Math" panose="02040503050406030204" pitchFamily="18" charset="0"/>
                              <a:ea typeface="Cambria Math"/>
                              <a:cs typeface="Cambria Math"/>
                            </a:rPr>
                          </m:ctrlPr>
                        </m:dPr>
                        <m:e>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𝐟</m:t>
                              </m:r>
                            </m:e>
                            <m:sub>
                              <m:r>
                                <a:rPr lang="en-GB" sz="3100">
                                  <a:solidFill>
                                    <a:srgbClr val="087F83"/>
                                  </a:solidFill>
                                  <a:latin typeface="Cambria Math"/>
                                  <a:ea typeface="Cambria Math"/>
                                  <a:cs typeface="Cambria Math"/>
                                </a:rPr>
                                <m:t>𝚯</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𝐱</m:t>
                              </m:r>
                            </m:e>
                          </m:d>
                        </m:e>
                      </m:d>
                    </m:oMath>
                  </m:oMathPara>
                </a14:m>
                <a:endParaRPr lang="en-GB" sz="3100" dirty="0"/>
              </a:p>
            </p:txBody>
          </p:sp>
        </mc:Choice>
        <mc:Fallback xmlns="">
          <p:sp>
            <p:nvSpPr>
              <p:cNvPr id="100" name="composition" descr="\mathbf p_{\boldsymbol\Theta}(\mathbf x)=\operatorname{softmax}\!\left(\mathbf f_{\boldsymbol\Theta}(\mathbf x)\right)">
                <a:extLst>
                  <a:ext uri="{FF2B5EF4-FFF2-40B4-BE49-F238E27FC236}">
                    <a16:creationId xmlns:a16="http://schemas.microsoft.com/office/drawing/2014/main" id="{E8807DB4-C265-4FFF-AFF0-6F30FF89577E}"/>
                  </a:ext>
                </a:extLst>
              </p:cNvPr>
              <p:cNvSpPr>
                <a:spLocks noGrp="1" noRot="1" noChangeAspect="1" noMove="1" noResize="1" noEditPoints="1" noAdjustHandles="1" noChangeArrowheads="1" noChangeShapeType="1" noTextEdit="1"/>
              </p:cNvSpPr>
              <p:nvPr/>
            </p:nvSpPr>
            <p:spPr>
              <a:xfrm>
                <a:off x="723900" y="1866900"/>
                <a:ext cx="10744200" cy="800100"/>
              </a:xfrm>
              <a:prstGeom prst="rect">
                <a:avLst/>
              </a:prstGeom>
              <a:blipFill>
                <a:blip r:embed="rId3"/>
                <a:stretch>
                  <a:fillRect/>
                </a:stretch>
              </a:blipFill>
              <a:ln w="0">
                <a:noFill/>
              </a:ln>
            </p:spPr>
            <p:txBody>
              <a:bodyPr/>
              <a:lstStyle/>
              <a:p>
                <a:r>
                  <a:rPr lang="it-IT">
                    <a:noFill/>
                  </a:rPr>
                  <a:t> </a:t>
                </a:r>
              </a:p>
            </p:txBody>
          </p:sp>
        </mc:Fallback>
      </mc:AlternateContent>
      <p:sp>
        <p:nvSpPr>
          <p:cNvPr id="101" name="component_label">
            <a:extLst>
              <a:ext uri="{FF2B5EF4-FFF2-40B4-BE49-F238E27FC236}">
                <a16:creationId xmlns:a16="http://schemas.microsoft.com/office/drawing/2014/main" id="{9D949BCD-DB2F-4DAA-BD4F-0A46F7307A5A}"/>
              </a:ext>
            </a:extLst>
          </p:cNvPr>
          <p:cNvSpPr>
            <a:spLocks noGrp="1"/>
          </p:cNvSpPr>
          <p:nvPr/>
        </p:nvSpPr>
        <p:spPr>
          <a:xfrm>
            <a:off x="723900" y="2847975"/>
            <a:ext cx="10744200" cy="342900"/>
          </a:xfrm>
          <a:prstGeom prst="rect">
            <a:avLst/>
          </a:prstGeom>
          <a:noFill/>
          <a:ln w="0">
            <a:noFill/>
          </a:ln>
        </p:spPr>
        <p:txBody>
          <a:bodyPr anchor="ctr">
            <a:noAutofit/>
          </a:bodyPr>
          <a:lstStyle/>
          <a:p>
            <a:pPr algn="ctr">
              <a:defRPr sz="1950" b="0">
                <a:solidFill>
                  <a:srgbClr val="182D45"/>
                </a:solidFill>
                <a:latin typeface="DejaVu Sans"/>
                <a:ea typeface="DejaVu Sans"/>
                <a:cs typeface="DejaVu Sans"/>
              </a:defRPr>
            </a:pPr>
            <a:r>
              <a:rPr sz="1950" b="0" dirty="0">
                <a:solidFill>
                  <a:srgbClr val="182D45"/>
                </a:solidFill>
                <a:latin typeface="DejaVu Sans"/>
                <a:ea typeface="DejaVu Sans"/>
                <a:cs typeface="DejaVu Sans"/>
              </a:rPr>
              <a:t>Its component for each class is</a:t>
            </a:r>
          </a:p>
        </p:txBody>
      </p:sp>
      <mc:AlternateContent xmlns:mc="http://schemas.openxmlformats.org/markup-compatibility/2006" xmlns:a14="http://schemas.microsoft.com/office/drawing/2010/main">
        <mc:Choice Requires="a14">
          <p:sp>
            <p:nvSpPr>
              <p:cNvPr id="102" name="model_component" descr="p_{\boldsymbol\Theta,k}(\mathbf x)=\frac{\exp\!\left(f_{\boldsymbol\theta_k}(\mathbf x)\right)}{\sum_{r=1}^{K}\exp\!\left(f_{\boldsymbol\theta_r}(\mathbf x)\right)},\qquad k=1,\ldots,K">
                <a:extLst>
                  <a:ext uri="{FF2B5EF4-FFF2-40B4-BE49-F238E27FC236}">
                    <a16:creationId xmlns:a16="http://schemas.microsoft.com/office/drawing/2014/main" id="{F530F6F1-DDBA-438E-87A9-577227A3578B}"/>
                  </a:ext>
                </a:extLst>
              </p:cNvPr>
              <p:cNvSpPr>
                <a:spLocks noGrp="1"/>
              </p:cNvSpPr>
              <p:nvPr/>
            </p:nvSpPr>
            <p:spPr>
              <a:xfrm>
                <a:off x="723900" y="3286125"/>
                <a:ext cx="10744200" cy="1123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𝑝</m:t>
                          </m:r>
                        </m:e>
                        <m:sub>
                          <m:r>
                            <a:rPr lang="en-GB" sz="2800">
                              <a:solidFill>
                                <a:srgbClr val="087F83"/>
                              </a:solidFill>
                              <a:latin typeface="Cambria Math"/>
                              <a:ea typeface="Cambria Math"/>
                              <a:cs typeface="Cambria Math"/>
                            </a:rPr>
                            <m:t>𝚯</m:t>
                          </m:r>
                          <m:r>
                            <a:rPr lang="en-GB" sz="2800" smtClean="0">
                              <a:solidFill>
                                <a:srgbClr val="087F83"/>
                              </a:solidFill>
                              <a:latin typeface="Cambria Math"/>
                              <a:ea typeface="Cambria Math"/>
                              <a:cs typeface="Cambria Math"/>
                            </a:rPr>
                            <m:t>,</m:t>
                          </m:r>
                          <m:r>
                            <a:rPr lang="en-GB" sz="2800" smtClean="0">
                              <a:solidFill>
                                <a:srgbClr val="087F83"/>
                              </a:solidFill>
                              <a:latin typeface="Cambria Math"/>
                              <a:ea typeface="Cambria Math"/>
                              <a:cs typeface="Cambria Math"/>
                            </a:rPr>
                            <m:t>𝑘</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it-IT" sz="2800" b="0" i="0" smtClean="0">
                          <a:solidFill>
                            <a:srgbClr val="087F83"/>
                          </a:solidFill>
                          <a:latin typeface="Cambria Math" panose="02040503050406030204" pitchFamily="18" charset="0"/>
                          <a:ea typeface="Cambria Math"/>
                          <a:cs typeface="Cambria Math"/>
                        </a:rPr>
                        <m:t>≔</m:t>
                      </m:r>
                      <m:sSub>
                        <m:sSubPr>
                          <m:ctrlPr>
                            <a:rPr lang="en-GB" sz="2800" i="1">
                              <a:solidFill>
                                <a:srgbClr val="087F83"/>
                              </a:solidFill>
                              <a:latin typeface="Cambria Math" panose="02040503050406030204" pitchFamily="18" charset="0"/>
                              <a:ea typeface="Cambria Math"/>
                              <a:cs typeface="Cambria Math"/>
                            </a:rPr>
                          </m:ctrlPr>
                        </m:sSubPr>
                        <m:e>
                          <m:d>
                            <m:dPr>
                              <m:begChr m:val="["/>
                              <m:endChr m:val="]"/>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𝐩</m:t>
                                  </m:r>
                                </m:e>
                                <m:sub>
                                  <m:r>
                                    <a:rPr lang="en-GB" sz="2800">
                                      <a:solidFill>
                                        <a:srgbClr val="087F83"/>
                                      </a:solidFill>
                                      <a:latin typeface="Cambria Math"/>
                                      <a:ea typeface="Cambria Math"/>
                                      <a:cs typeface="Cambria Math"/>
                                    </a:rPr>
                                    <m:t>𝚯</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e>
                          </m:d>
                        </m:e>
                        <m:sub>
                          <m:r>
                            <a:rPr lang="it-IT" sz="2800" b="0" i="1" smtClean="0">
                              <a:solidFill>
                                <a:srgbClr val="087F83"/>
                              </a:solidFill>
                              <a:latin typeface="Cambria Math" panose="02040503050406030204" pitchFamily="18" charset="0"/>
                              <a:ea typeface="Cambria Math"/>
                            </a:rPr>
                            <m:t>𝑘</m:t>
                          </m:r>
                        </m:sub>
                      </m:sSub>
                      <m:r>
                        <a:rPr lang="en-GB" sz="2800">
                          <a:solidFill>
                            <a:srgbClr val="087F83"/>
                          </a:solidFill>
                          <a:latin typeface="Cambria Math"/>
                          <a:ea typeface="Cambria Math"/>
                          <a:cs typeface="Cambria Math"/>
                        </a:rPr>
                        <m:t>=</m:t>
                      </m:r>
                      <m:f>
                        <m:fPr>
                          <m:ctrlPr>
                            <a:rPr lang="en-GB" sz="2800">
                              <a:solidFill>
                                <a:srgbClr val="087F83"/>
                              </a:solidFill>
                              <a:latin typeface="Cambria Math"/>
                              <a:ea typeface="Cambria Math"/>
                              <a:cs typeface="Cambria Math"/>
                            </a:rPr>
                          </m:ctrlPr>
                        </m:fPr>
                        <m:num>
                          <m:r>
                            <m:rPr>
                              <m:sty m:val="p"/>
                            </m:rPr>
                            <a:rPr lang="en-GB" sz="2800">
                              <a:solidFill>
                                <a:srgbClr val="087F83"/>
                              </a:solidFill>
                              <a:latin typeface="Cambria Math"/>
                              <a:ea typeface="Cambria Math"/>
                              <a:cs typeface="Cambria Math"/>
                            </a:rPr>
                            <m:t>exp</m:t>
                          </m:r>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𝑓</m:t>
                                  </m:r>
                                </m:e>
                                <m:sub>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𝛉</m:t>
                                      </m:r>
                                    </m:e>
                                    <m:sub>
                                      <m:r>
                                        <a:rPr lang="en-GB" sz="2800">
                                          <a:solidFill>
                                            <a:srgbClr val="087F83"/>
                                          </a:solidFill>
                                          <a:latin typeface="Cambria Math"/>
                                          <a:ea typeface="Cambria Math"/>
                                          <a:cs typeface="Cambria Math"/>
                                        </a:rPr>
                                        <m:t>𝑘</m:t>
                                      </m:r>
                                    </m:sub>
                                  </m:sSub>
                                </m:sub>
                              </m:sSub>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𝐱</m:t>
                              </m:r>
                              <m:r>
                                <a:rPr lang="en-GB" sz="2800">
                                  <a:solidFill>
                                    <a:srgbClr val="087F83"/>
                                  </a:solidFill>
                                  <a:latin typeface="Cambria Math"/>
                                  <a:ea typeface="Cambria Math"/>
                                  <a:cs typeface="Cambria Math"/>
                                </a:rPr>
                                <m:t>)</m:t>
                              </m:r>
                            </m:e>
                          </m:d>
                        </m:num>
                        <m:den>
                          <m:nary>
                            <m:naryPr>
                              <m:chr m:val="∑"/>
                              <m:limLoc m:val="undOvr"/>
                              <m:ctrlPr>
                                <a:rPr lang="en-GB" sz="2800">
                                  <a:solidFill>
                                    <a:srgbClr val="087F83"/>
                                  </a:solidFill>
                                  <a:latin typeface="Cambria Math"/>
                                  <a:ea typeface="Cambria Math"/>
                                  <a:cs typeface="Cambria Math"/>
                                </a:rPr>
                              </m:ctrlPr>
                            </m:naryPr>
                            <m:sub>
                              <m:r>
                                <a:rPr lang="en-GB" sz="2800">
                                  <a:solidFill>
                                    <a:srgbClr val="087F83"/>
                                  </a:solidFill>
                                  <a:latin typeface="Cambria Math"/>
                                  <a:ea typeface="Cambria Math"/>
                                  <a:cs typeface="Cambria Math"/>
                                </a:rPr>
                                <m:t>𝑟</m:t>
                              </m:r>
                              <m:r>
                                <a:rPr lang="en-GB" sz="2800">
                                  <a:solidFill>
                                    <a:srgbClr val="087F83"/>
                                  </a:solidFill>
                                  <a:latin typeface="Cambria Math"/>
                                  <a:ea typeface="Cambria Math"/>
                                  <a:cs typeface="Cambria Math"/>
                                </a:rPr>
                                <m:t>=1</m:t>
                              </m:r>
                            </m:sub>
                            <m:sup>
                              <m:r>
                                <a:rPr lang="en-GB" sz="2800">
                                  <a:solidFill>
                                    <a:srgbClr val="087F83"/>
                                  </a:solidFill>
                                  <a:latin typeface="Cambria Math"/>
                                  <a:ea typeface="Cambria Math"/>
                                  <a:cs typeface="Cambria Math"/>
                                </a:rPr>
                                <m:t>𝐾</m:t>
                              </m:r>
                            </m:sup>
                            <m:e>
                              <m:r>
                                <m:rPr>
                                  <m:sty m:val="p"/>
                                </m:rPr>
                                <a:rPr lang="en-GB" sz="2800">
                                  <a:solidFill>
                                    <a:srgbClr val="087F83"/>
                                  </a:solidFill>
                                  <a:latin typeface="Cambria Math"/>
                                  <a:ea typeface="Cambria Math"/>
                                  <a:cs typeface="Cambria Math"/>
                                </a:rPr>
                                <m:t>exp</m:t>
                              </m:r>
                            </m:e>
                          </m:nary>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𝑓</m:t>
                                  </m:r>
                                </m:e>
                                <m:sub>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𝛉</m:t>
                                      </m:r>
                                    </m:e>
                                    <m:sub>
                                      <m:r>
                                        <a:rPr lang="en-GB" sz="2800">
                                          <a:solidFill>
                                            <a:srgbClr val="087F83"/>
                                          </a:solidFill>
                                          <a:latin typeface="Cambria Math"/>
                                          <a:ea typeface="Cambria Math"/>
                                          <a:cs typeface="Cambria Math"/>
                                        </a:rPr>
                                        <m:t>𝑟</m:t>
                                      </m:r>
                                    </m:sub>
                                  </m:sSub>
                                </m:sub>
                              </m:sSub>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𝐱</m:t>
                              </m:r>
                              <m:r>
                                <a:rPr lang="en-GB" sz="2800">
                                  <a:solidFill>
                                    <a:srgbClr val="087F83"/>
                                  </a:solidFill>
                                  <a:latin typeface="Cambria Math"/>
                                  <a:ea typeface="Cambria Math"/>
                                  <a:cs typeface="Cambria Math"/>
                                </a:rPr>
                                <m:t>)</m:t>
                              </m:r>
                            </m:e>
                          </m:d>
                        </m:den>
                      </m:f>
                      <m:r>
                        <a:rPr lang="en-GB" sz="2800">
                          <a:solidFill>
                            <a:srgbClr val="087F83"/>
                          </a:solidFill>
                          <a:latin typeface="Cambria Math"/>
                          <a:ea typeface="Cambria Math"/>
                          <a:cs typeface="Cambria Math"/>
                        </a:rPr>
                        <m:t>,  </m:t>
                      </m:r>
                      <m:r>
                        <a:rPr lang="en-GB" sz="2800">
                          <a:solidFill>
                            <a:srgbClr val="087F83"/>
                          </a:solidFill>
                          <a:latin typeface="Cambria Math"/>
                          <a:ea typeface="Cambria Math"/>
                          <a:cs typeface="Cambria Math"/>
                        </a:rPr>
                        <m:t>𝑘</m:t>
                      </m:r>
                      <m:r>
                        <a:rPr lang="en-GB" sz="2800">
                          <a:solidFill>
                            <a:srgbClr val="087F83"/>
                          </a:solidFill>
                          <a:latin typeface="Cambria Math"/>
                          <a:ea typeface="Cambria Math"/>
                          <a:cs typeface="Cambria Math"/>
                        </a:rPr>
                        <m:t>=1,…,</m:t>
                      </m:r>
                      <m:r>
                        <a:rPr lang="en-GB" sz="2800">
                          <a:solidFill>
                            <a:srgbClr val="087F83"/>
                          </a:solidFill>
                          <a:latin typeface="Cambria Math"/>
                          <a:ea typeface="Cambria Math"/>
                          <a:cs typeface="Cambria Math"/>
                        </a:rPr>
                        <m:t>𝐾</m:t>
                      </m:r>
                    </m:oMath>
                  </m:oMathPara>
                </a14:m>
                <a:endParaRPr lang="en-GB" sz="2800" dirty="0"/>
              </a:p>
            </p:txBody>
          </p:sp>
        </mc:Choice>
        <mc:Fallback xmlns="">
          <p:sp>
            <p:nvSpPr>
              <p:cNvPr id="102" name="model_component" descr="p_{\boldsymbol\Theta,k}(\mathbf x)=\frac{\exp\!\left(f_{\boldsymbol\theta_k}(\mathbf x)\right)}{\sum_{r=1}^{K}\exp\!\left(f_{\boldsymbol\theta_r}(\mathbf x)\right)},\qquad k=1,\ldots,K">
                <a:extLst>
                  <a:ext uri="{FF2B5EF4-FFF2-40B4-BE49-F238E27FC236}">
                    <a16:creationId xmlns:a16="http://schemas.microsoft.com/office/drawing/2014/main" id="{F530F6F1-DDBA-438E-87A9-577227A3578B}"/>
                  </a:ext>
                </a:extLst>
              </p:cNvPr>
              <p:cNvSpPr>
                <a:spLocks noGrp="1" noRot="1" noChangeAspect="1" noMove="1" noResize="1" noEditPoints="1" noAdjustHandles="1" noChangeArrowheads="1" noChangeShapeType="1" noTextEdit="1"/>
              </p:cNvSpPr>
              <p:nvPr/>
            </p:nvSpPr>
            <p:spPr>
              <a:xfrm>
                <a:off x="723900" y="3286125"/>
                <a:ext cx="10744200" cy="11239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3" name="reuse">
                <a:extLst>
                  <a:ext uri="{FF2B5EF4-FFF2-40B4-BE49-F238E27FC236}">
                    <a16:creationId xmlns:a16="http://schemas.microsoft.com/office/drawing/2014/main" id="{E4DC567C-421A-4D20-9FAE-B63FB68E16A2}"/>
                  </a:ext>
                </a:extLst>
              </p:cNvPr>
              <p:cNvSpPr>
                <a:spLocks noGrp="1"/>
              </p:cNvSpPr>
              <p:nvPr/>
            </p:nvSpPr>
            <p:spPr>
              <a:xfrm>
                <a:off x="781050" y="4848225"/>
                <a:ext cx="10744200" cy="1409700"/>
              </a:xfrm>
              <a:prstGeom prst="rect">
                <a:avLst/>
              </a:prstGeom>
              <a:noFill/>
              <a:ln w="0">
                <a:noFill/>
              </a:ln>
            </p:spPr>
            <p:txBody>
              <a:bodyPr anchor="ctr">
                <a:noAutofit/>
              </a:bodyPr>
              <a:lstStyle/>
              <a:p>
                <a:pPr algn="ctr">
                  <a:defRPr sz="2025" b="0">
                    <a:solidFill>
                      <a:srgbClr val="182D45"/>
                    </a:solidFill>
                    <a:latin typeface="DejaVu Sans"/>
                    <a:ea typeface="DejaVu Sans"/>
                    <a:cs typeface="DejaVu Sans"/>
                  </a:defRPr>
                </a:pPr>
                <a:r>
                  <a:rPr lang="it-IT" sz="2200" b="1" dirty="0">
                    <a:solidFill>
                      <a:srgbClr val="FF0000"/>
                    </a:solidFill>
                    <a:latin typeface="DejaVu Sans"/>
                    <a:ea typeface="DejaVu Sans"/>
                    <a:cs typeface="DejaVu Sans"/>
                  </a:rPr>
                  <a:t>Once </a:t>
                </a:r>
                <a:r>
                  <a:rPr lang="it-IT" sz="2200" b="1" dirty="0" err="1">
                    <a:solidFill>
                      <a:srgbClr val="FF0000"/>
                    </a:solidFill>
                    <a:latin typeface="DejaVu Sans"/>
                    <a:ea typeface="DejaVu Sans"/>
                    <a:cs typeface="DejaVu Sans"/>
                  </a:rPr>
                  <a:t>we</a:t>
                </a:r>
                <a:r>
                  <a:rPr lang="it-IT" sz="2200" b="1" dirty="0">
                    <a:solidFill>
                      <a:srgbClr val="FF0000"/>
                    </a:solidFill>
                    <a:latin typeface="DejaVu Sans"/>
                    <a:ea typeface="DejaVu Sans"/>
                    <a:cs typeface="DejaVu Sans"/>
                  </a:rPr>
                  <a:t> </a:t>
                </a:r>
                <a:r>
                  <a:rPr lang="it-IT" sz="2200" b="1" dirty="0" err="1">
                    <a:solidFill>
                      <a:srgbClr val="FF0000"/>
                    </a:solidFill>
                    <a:latin typeface="DejaVu Sans"/>
                    <a:ea typeface="DejaVu Sans"/>
                    <a:cs typeface="DejaVu Sans"/>
                  </a:rPr>
                  <a:t>have</a:t>
                </a:r>
                <a:r>
                  <a:rPr lang="it-IT" sz="2200" b="1" dirty="0">
                    <a:solidFill>
                      <a:srgbClr val="FF0000"/>
                    </a:solidFill>
                    <a:latin typeface="DejaVu Sans"/>
                    <a:ea typeface="DejaVu Sans"/>
                    <a:cs typeface="DejaVu Sans"/>
                  </a:rPr>
                  <a:t> the </a:t>
                </a:r>
                <a:r>
                  <a:rPr lang="it-IT" sz="2200" b="1" dirty="0" err="1">
                    <a:solidFill>
                      <a:srgbClr val="FF0000"/>
                    </a:solidFill>
                    <a:latin typeface="DejaVu Sans"/>
                    <a:ea typeface="DejaVu Sans"/>
                    <a:cs typeface="DejaVu Sans"/>
                  </a:rPr>
                  <a:t>probability</a:t>
                </a:r>
                <a:r>
                  <a:rPr lang="it-IT" sz="2200" b="1" dirty="0">
                    <a:solidFill>
                      <a:srgbClr val="FF0000"/>
                    </a:solidFill>
                    <a:latin typeface="DejaVu Sans"/>
                    <a:ea typeface="DejaVu Sans"/>
                    <a:cs typeface="DejaVu Sans"/>
                  </a:rPr>
                  <a:t> </a:t>
                </a:r>
                <a:r>
                  <a:rPr lang="it-IT" sz="2200" b="1" dirty="0" err="1">
                    <a:solidFill>
                      <a:srgbClr val="FF0000"/>
                    </a:solidFill>
                    <a:latin typeface="DejaVu Sans"/>
                    <a:ea typeface="DejaVu Sans"/>
                    <a:cs typeface="DejaVu Sans"/>
                  </a:rPr>
                  <a:t>predictor</a:t>
                </a:r>
                <a:r>
                  <a:rPr lang="it-IT" sz="2200" b="1" dirty="0">
                    <a:solidFill>
                      <a:srgbClr val="FF0000"/>
                    </a:solidFill>
                    <a:latin typeface="DejaVu Sans"/>
                    <a:ea typeface="DejaVu Sans"/>
                    <a:cs typeface="DejaVu Sans"/>
                  </a:rPr>
                  <a:t> </a:t>
                </a:r>
                <a14:m>
                  <m:oMath xmlns:m="http://schemas.openxmlformats.org/officeDocument/2006/math">
                    <m:sSub>
                      <m:sSubPr>
                        <m:ctrlPr>
                          <a:rPr lang="ar-AE" sz="2200" b="1">
                            <a:solidFill>
                              <a:srgbClr val="FF0000"/>
                            </a:solidFill>
                            <a:latin typeface="Cambria Math"/>
                            <a:ea typeface="Cambria Math"/>
                            <a:cs typeface="Cambria Math"/>
                          </a:rPr>
                        </m:ctrlPr>
                      </m:sSubPr>
                      <m:e>
                        <m:r>
                          <a:rPr lang="ar-AE" sz="2200" b="1">
                            <a:solidFill>
                              <a:srgbClr val="FF0000"/>
                            </a:solidFill>
                            <a:latin typeface="Cambria Math"/>
                            <a:ea typeface="Cambria Math"/>
                            <a:cs typeface="Cambria Math"/>
                          </a:rPr>
                          <m:t>𝐩</m:t>
                        </m:r>
                      </m:e>
                      <m:sub>
                        <m:r>
                          <a:rPr lang="ar-AE" sz="2200" b="1">
                            <a:solidFill>
                              <a:srgbClr val="FF0000"/>
                            </a:solidFill>
                            <a:latin typeface="Cambria Math"/>
                            <a:ea typeface="Cambria Math"/>
                            <a:cs typeface="Cambria Math"/>
                          </a:rPr>
                          <m:t>𝚯</m:t>
                        </m:r>
                      </m:sub>
                    </m:sSub>
                  </m:oMath>
                </a14:m>
                <a:endParaRPr lang="it-IT" sz="2200" b="1" dirty="0">
                  <a:solidFill>
                    <a:srgbClr val="FF0000"/>
                  </a:solidFill>
                  <a:latin typeface="DejaVu Sans"/>
                  <a:ea typeface="DejaVu Sans"/>
                  <a:cs typeface="DejaVu Sans"/>
                </a:endParaRPr>
              </a:p>
              <a:p>
                <a:pPr algn="ctr">
                  <a:defRPr sz="2025" b="0">
                    <a:solidFill>
                      <a:srgbClr val="182D45"/>
                    </a:solidFill>
                    <a:latin typeface="DejaVu Sans"/>
                    <a:ea typeface="DejaVu Sans"/>
                    <a:cs typeface="DejaVu Sans"/>
                  </a:defRPr>
                </a:pPr>
                <a:endParaRPr lang="it-IT" sz="2200" b="1" dirty="0">
                  <a:solidFill>
                    <a:srgbClr val="FF0000"/>
                  </a:solidFill>
                  <a:latin typeface="DejaVu Sans"/>
                  <a:ea typeface="DejaVu Sans"/>
                  <a:cs typeface="DejaVu Sans"/>
                </a:endParaRPr>
              </a:p>
              <a:p>
                <a:pPr algn="ctr">
                  <a:defRPr sz="2025" b="0">
                    <a:solidFill>
                      <a:srgbClr val="182D45"/>
                    </a:solidFill>
                    <a:latin typeface="DejaVu Sans"/>
                    <a:ea typeface="DejaVu Sans"/>
                    <a:cs typeface="DejaVu Sans"/>
                  </a:defRPr>
                </a:pPr>
                <a:r>
                  <a:rPr lang="it-IT" sz="2200" b="1" dirty="0" err="1">
                    <a:solidFill>
                      <a:srgbClr val="FF0000"/>
                    </a:solidFill>
                    <a:latin typeface="DejaVu Sans"/>
                    <a:ea typeface="DejaVu Sans"/>
                    <a:cs typeface="DejaVu Sans"/>
                  </a:rPr>
                  <a:t>We</a:t>
                </a:r>
                <a:r>
                  <a:rPr lang="it-IT" sz="2200" b="1" dirty="0">
                    <a:solidFill>
                      <a:srgbClr val="FF0000"/>
                    </a:solidFill>
                    <a:latin typeface="DejaVu Sans"/>
                    <a:ea typeface="DejaVu Sans"/>
                    <a:cs typeface="DejaVu Sans"/>
                  </a:rPr>
                  <a:t> can build the plug-in </a:t>
                </a:r>
                <a:r>
                  <a:rPr lang="it-IT" sz="2200" b="1" dirty="0" err="1">
                    <a:solidFill>
                      <a:srgbClr val="FF0000"/>
                    </a:solidFill>
                    <a:latin typeface="DejaVu Sans"/>
                    <a:ea typeface="DejaVu Sans"/>
                    <a:cs typeface="DejaVu Sans"/>
                  </a:rPr>
                  <a:t>classifier</a:t>
                </a:r>
                <a:r>
                  <a:rPr lang="it-IT" sz="2200" b="1" dirty="0">
                    <a:solidFill>
                      <a:srgbClr val="FF0000"/>
                    </a:solidFill>
                    <a:latin typeface="DejaVu Sans"/>
                    <a:ea typeface="DejaVu Sans"/>
                    <a:cs typeface="DejaVu Sans"/>
                  </a:rPr>
                  <a:t> </a:t>
                </a:r>
                <a14:m>
                  <m:oMath xmlns:m="http://schemas.openxmlformats.org/officeDocument/2006/math">
                    <m:sSub>
                      <m:sSubPr>
                        <m:ctrlPr>
                          <a:rPr lang="ar-AE" sz="2200" b="0" i="1">
                            <a:solidFill>
                              <a:srgbClr val="FF0000"/>
                            </a:solidFill>
                            <a:latin typeface="Cambria Math"/>
                            <a:ea typeface="Cambria Math"/>
                            <a:cs typeface="Cambria Math"/>
                          </a:rPr>
                        </m:ctrlPr>
                      </m:sSubPr>
                      <m:e>
                        <m:r>
                          <a:rPr lang="ar-AE" sz="2200" b="0" i="1">
                            <a:solidFill>
                              <a:srgbClr val="FF0000"/>
                            </a:solidFill>
                            <a:latin typeface="Cambria Math"/>
                            <a:ea typeface="Cambria Math"/>
                            <a:cs typeface="Cambria Math"/>
                          </a:rPr>
                          <m:t>ℎ</m:t>
                        </m:r>
                      </m:e>
                      <m:sub>
                        <m:sSub>
                          <m:sSubPr>
                            <m:ctrlPr>
                              <a:rPr lang="ar-AE" sz="2200" b="1">
                                <a:solidFill>
                                  <a:srgbClr val="FF0000"/>
                                </a:solidFill>
                                <a:latin typeface="Cambria Math"/>
                                <a:ea typeface="Cambria Math"/>
                                <a:cs typeface="Cambria Math"/>
                              </a:rPr>
                            </m:ctrlPr>
                          </m:sSubPr>
                          <m:e>
                            <m:r>
                              <a:rPr lang="ar-AE" sz="2200" b="1">
                                <a:solidFill>
                                  <a:srgbClr val="FF0000"/>
                                </a:solidFill>
                                <a:latin typeface="Cambria Math"/>
                                <a:ea typeface="Cambria Math"/>
                                <a:cs typeface="Cambria Math"/>
                              </a:rPr>
                              <m:t>𝐩</m:t>
                            </m:r>
                          </m:e>
                          <m:sub>
                            <m:r>
                              <a:rPr lang="ar-AE" sz="2200" b="1">
                                <a:solidFill>
                                  <a:srgbClr val="FF0000"/>
                                </a:solidFill>
                                <a:latin typeface="Cambria Math"/>
                                <a:ea typeface="Cambria Math"/>
                                <a:cs typeface="Cambria Math"/>
                              </a:rPr>
                              <m:t>𝚯</m:t>
                            </m:r>
                          </m:sub>
                        </m:sSub>
                      </m:sub>
                    </m:sSub>
                  </m:oMath>
                </a14:m>
                <a:endParaRPr lang="ar-AE" sz="2200" b="1" dirty="0">
                  <a:solidFill>
                    <a:srgbClr val="FF0000"/>
                  </a:solidFill>
                  <a:latin typeface="DejaVu Sans"/>
                  <a:ea typeface="DejaVu Sans"/>
                  <a:cs typeface="DejaVu Sans"/>
                </a:endParaRPr>
              </a:p>
            </p:txBody>
          </p:sp>
        </mc:Choice>
        <mc:Fallback xmlns="">
          <p:sp>
            <p:nvSpPr>
              <p:cNvPr id="103" name="reuse">
                <a:extLst>
                  <a:ext uri="{FF2B5EF4-FFF2-40B4-BE49-F238E27FC236}">
                    <a16:creationId xmlns:a16="http://schemas.microsoft.com/office/drawing/2014/main" id="{E4DC567C-421A-4D20-9FAE-B63FB68E16A2}"/>
                  </a:ext>
                </a:extLst>
              </p:cNvPr>
              <p:cNvSpPr>
                <a:spLocks noGrp="1" noRot="1" noChangeAspect="1" noMove="1" noResize="1" noEditPoints="1" noAdjustHandles="1" noChangeArrowheads="1" noChangeShapeType="1" noTextEdit="1"/>
              </p:cNvSpPr>
              <p:nvPr/>
            </p:nvSpPr>
            <p:spPr>
              <a:xfrm>
                <a:off x="781050" y="4848225"/>
                <a:ext cx="10744200" cy="1409700"/>
              </a:xfrm>
              <a:prstGeom prst="rect">
                <a:avLst/>
              </a:prstGeom>
              <a:blipFill>
                <a:blip r:embed="rId5"/>
                <a:stretch>
                  <a:fillRect/>
                </a:stretch>
              </a:blipFill>
              <a:ln w="0">
                <a:noFill/>
              </a:ln>
            </p:spPr>
            <p:txBody>
              <a:bodyPr/>
              <a:lstStyle/>
              <a:p>
                <a:r>
                  <a:rPr lang="it-IT">
                    <a:noFill/>
                  </a:rPr>
                  <a:t> </a:t>
                </a:r>
              </a:p>
            </p:txBody>
          </p:sp>
        </mc:Fallback>
      </mc:AlternateContent>
      <p:sp>
        <p:nvSpPr>
          <p:cNvPr id="104" name="parametric_plugin" descr="h_{\mathbf p_{\boldsymbol\Theta}}(\mathbf x)=\min\!\left(\operatorname*{arg\,max}_{k\in\{1,\ldots,K\}}\,p_{\boldsymbol\Theta,k}(\mathbf x)\right)">
            <a:extLst>
              <a:ext uri="{FF2B5EF4-FFF2-40B4-BE49-F238E27FC236}">
                <a16:creationId xmlns:a16="http://schemas.microsoft.com/office/drawing/2014/main" id="{74ABB0AE-454D-402A-B57C-CF31CB5718EB}"/>
              </a:ext>
            </a:extLst>
          </p:cNvPr>
          <p:cNvSpPr>
            <a:spLocks noGrp="1"/>
          </p:cNvSpPr>
          <p:nvPr/>
        </p:nvSpPr>
        <p:spPr>
          <a:xfrm>
            <a:off x="723900" y="5038725"/>
            <a:ext cx="10744200" cy="895350"/>
          </a:xfrm>
          <a:prstGeom prst="rect">
            <a:avLst/>
          </a:prstGeom>
          <a:noFill/>
          <a:ln w="0">
            <a:noFill/>
          </a:ln>
        </p:spPr>
        <p:txBody>
          <a:bodyPr vertOverflow="overflow" horzOverflow="overflow" wrap="none" lIns="0" tIns="0" rIns="0" bIns="0" anchor="ctr">
            <a:noAutofit/>
          </a:bodyPr>
          <a:lstStyle/>
          <a:p>
            <a:pPr algn="ctr"/>
            <a:endParaRPr lang="en-GB" sz="2800" dirty="0"/>
          </a:p>
        </p:txBody>
      </p:sp>
    </p:spTree>
    <p:extLst>
      <p:ext uri="{BB962C8B-B14F-4D97-AF65-F5344CB8AC3E}">
        <p14:creationId xmlns:p14="http://schemas.microsoft.com/office/powerpoint/2010/main" val="44107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A8FC166-2312-4041-BB81-A87A0A67574A}"/>
              </a:ext>
            </a:extLst>
          </p:cNvPr>
          <p:cNvSpPr>
            <a:spLocks noGrp="1"/>
          </p:cNvSpPr>
          <p:nvPr/>
        </p:nvSpPr>
        <p:spPr>
          <a:xfrm>
            <a:off x="685800" y="333375"/>
            <a:ext cx="10820400" cy="666750"/>
          </a:xfrm>
          <a:prstGeom prst="rect">
            <a:avLst/>
          </a:prstGeom>
          <a:noFill/>
          <a:ln w="0">
            <a:noFill/>
          </a:ln>
        </p:spPr>
        <p:txBody>
          <a:bodyPr wrap="square" lIns="0" tIns="0" rIns="0" bIns="0" anchor="ctr">
            <a:noAutofit/>
          </a:bodyPr>
          <a:lstStyle/>
          <a:p>
            <a:pPr algn="ctr">
              <a:lnSpc>
                <a:spcPct val="112000"/>
              </a:lnSpc>
              <a:buNone/>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Cross-entropy</a:t>
            </a:r>
            <a:r>
              <a:rPr lang="it-IT" sz="3150" b="1" dirty="0">
                <a:solidFill>
                  <a:srgbClr val="182D45"/>
                </a:solidFill>
                <a:latin typeface="DejaVu Sans"/>
                <a:ea typeface="DejaVu Sans"/>
                <a:cs typeface="DejaVu Sans"/>
              </a:rPr>
              <a:t> </a:t>
            </a:r>
            <a:r>
              <a:rPr lang="it-IT" sz="3150" b="1" dirty="0" err="1">
                <a:solidFill>
                  <a:srgbClr val="182D45"/>
                </a:solidFill>
                <a:latin typeface="DejaVu Sans"/>
                <a:ea typeface="DejaVu Sans"/>
                <a:cs typeface="DejaVu Sans"/>
              </a:rPr>
              <a:t>loss</a:t>
            </a:r>
            <a:r>
              <a:rPr sz="3150" b="1" dirty="0">
                <a:solidFill>
                  <a:srgbClr val="182D45"/>
                </a:solidFill>
                <a:latin typeface="DejaVu Sans"/>
                <a:ea typeface="DejaVu Sans"/>
                <a:cs typeface="DejaVu Sans"/>
              </a:rPr>
              <a:t> for the observed class</a:t>
            </a:r>
          </a:p>
        </p:txBody>
      </p:sp>
      <p:sp>
        <p:nvSpPr>
          <p:cNvPr id="2" name="lead">
            <a:extLst>
              <a:ext uri="{FF2B5EF4-FFF2-40B4-BE49-F238E27FC236}">
                <a16:creationId xmlns:a16="http://schemas.microsoft.com/office/drawing/2014/main" id="{50770430-ABC6-4EBE-B50C-DE8579D20EF4}"/>
              </a:ext>
            </a:extLst>
          </p:cNvPr>
          <p:cNvSpPr>
            <a:spLocks noGrp="1"/>
          </p:cNvSpPr>
          <p:nvPr/>
        </p:nvSpPr>
        <p:spPr>
          <a:xfrm>
            <a:off x="723900" y="1143000"/>
            <a:ext cx="11181588" cy="666750"/>
          </a:xfrm>
          <a:prstGeom prst="rect">
            <a:avLst/>
          </a:prstGeom>
          <a:noFill/>
          <a:ln w="0">
            <a:noFill/>
          </a:ln>
        </p:spPr>
        <p:txBody>
          <a:bodyPr wrap="square" lIns="0" tIns="0" rIns="0" bIns="0" anchor="ctr">
            <a:noAutofit/>
          </a:bodyPr>
          <a:lstStyle/>
          <a:p>
            <a:pPr algn="ctr">
              <a:lnSpc>
                <a:spcPct val="112000"/>
              </a:lnSpc>
              <a:buNone/>
              <a:defRPr sz="2100" b="0">
                <a:solidFill>
                  <a:srgbClr val="526276"/>
                </a:solidFill>
                <a:latin typeface="DejaVu Sans"/>
                <a:ea typeface="DejaVu Sans"/>
                <a:cs typeface="DejaVu Sans"/>
              </a:defRPr>
            </a:pPr>
            <a:r>
              <a:rPr lang="it-IT" sz="2100" dirty="0">
                <a:solidFill>
                  <a:srgbClr val="526276"/>
                </a:solidFill>
                <a:latin typeface="DejaVu Sans"/>
                <a:ea typeface="DejaVu Sans"/>
                <a:cs typeface="DejaVu Sans"/>
              </a:rPr>
              <a:t>The </a:t>
            </a:r>
            <a:r>
              <a:rPr lang="it-IT" sz="2100" dirty="0" err="1">
                <a:solidFill>
                  <a:srgbClr val="526276"/>
                </a:solidFill>
                <a:latin typeface="DejaVu Sans"/>
                <a:ea typeface="DejaVu Sans"/>
                <a:cs typeface="DejaVu Sans"/>
              </a:rPr>
              <a:t>loss</a:t>
            </a:r>
            <a:r>
              <a:rPr lang="it-IT" sz="2100" dirty="0">
                <a:solidFill>
                  <a:srgbClr val="526276"/>
                </a:solidFill>
                <a:latin typeface="DejaVu Sans"/>
                <a:ea typeface="DejaVu Sans"/>
                <a:cs typeface="DejaVu Sans"/>
              </a:rPr>
              <a:t> </a:t>
            </a:r>
            <a:r>
              <a:rPr lang="it-IT" sz="2100" dirty="0" err="1">
                <a:solidFill>
                  <a:srgbClr val="526276"/>
                </a:solidFill>
                <a:latin typeface="DejaVu Sans"/>
                <a:ea typeface="DejaVu Sans"/>
                <a:cs typeface="DejaVu Sans"/>
              </a:rPr>
              <a:t>is</a:t>
            </a:r>
            <a:r>
              <a:rPr lang="it-IT" sz="2100" dirty="0">
                <a:solidFill>
                  <a:srgbClr val="526276"/>
                </a:solidFill>
                <a:latin typeface="DejaVu Sans"/>
                <a:ea typeface="DejaVu Sans"/>
                <a:cs typeface="DejaVu Sans"/>
              </a:rPr>
              <a:t> </a:t>
            </a:r>
            <a:r>
              <a:rPr lang="it-IT" sz="2100" dirty="0" err="1">
                <a:solidFill>
                  <a:srgbClr val="526276"/>
                </a:solidFill>
                <a:latin typeface="DejaVu Sans"/>
                <a:ea typeface="DejaVu Sans"/>
                <a:cs typeface="DejaVu Sans"/>
              </a:rPr>
              <a:t>minus</a:t>
            </a:r>
            <a:r>
              <a:rPr lang="it-IT" sz="2100" dirty="0">
                <a:solidFill>
                  <a:srgbClr val="526276"/>
                </a:solidFill>
                <a:latin typeface="DejaVu Sans"/>
                <a:ea typeface="DejaVu Sans"/>
                <a:cs typeface="DejaVu Sans"/>
              </a:rPr>
              <a:t> the </a:t>
            </a:r>
            <a:r>
              <a:rPr lang="it-IT" sz="2100" dirty="0" err="1">
                <a:solidFill>
                  <a:srgbClr val="526276"/>
                </a:solidFill>
                <a:latin typeface="DejaVu Sans"/>
                <a:ea typeface="DejaVu Sans"/>
                <a:cs typeface="DejaVu Sans"/>
              </a:rPr>
              <a:t>logarithm</a:t>
            </a:r>
            <a:r>
              <a:rPr lang="it-IT" sz="2100" dirty="0">
                <a:solidFill>
                  <a:srgbClr val="526276"/>
                </a:solidFill>
                <a:latin typeface="DejaVu Sans"/>
                <a:ea typeface="DejaVu Sans"/>
                <a:cs typeface="DejaVu Sans"/>
              </a:rPr>
              <a:t> of the </a:t>
            </a:r>
            <a:r>
              <a:rPr lang="it-IT" sz="2100" dirty="0" err="1">
                <a:solidFill>
                  <a:srgbClr val="526276"/>
                </a:solidFill>
                <a:latin typeface="DejaVu Sans"/>
                <a:ea typeface="DejaVu Sans"/>
                <a:cs typeface="DejaVu Sans"/>
              </a:rPr>
              <a:t>predicted</a:t>
            </a:r>
            <a:r>
              <a:rPr lang="it-IT" sz="2100" dirty="0">
                <a:solidFill>
                  <a:srgbClr val="526276"/>
                </a:solidFill>
                <a:latin typeface="DejaVu Sans"/>
                <a:ea typeface="DejaVu Sans"/>
                <a:cs typeface="DejaVu Sans"/>
              </a:rPr>
              <a:t> </a:t>
            </a:r>
            <a:r>
              <a:rPr lang="it-IT" sz="2100" dirty="0" err="1">
                <a:solidFill>
                  <a:srgbClr val="526276"/>
                </a:solidFill>
                <a:latin typeface="DejaVu Sans"/>
                <a:ea typeface="DejaVu Sans"/>
                <a:cs typeface="DejaVu Sans"/>
              </a:rPr>
              <a:t>probability</a:t>
            </a:r>
            <a:r>
              <a:rPr lang="it-IT" sz="2100" dirty="0">
                <a:solidFill>
                  <a:srgbClr val="526276"/>
                </a:solidFill>
                <a:latin typeface="DejaVu Sans"/>
                <a:ea typeface="DejaVu Sans"/>
                <a:cs typeface="DejaVu Sans"/>
              </a:rPr>
              <a:t> of the </a:t>
            </a:r>
            <a:r>
              <a:rPr lang="it-IT" sz="2100" dirty="0" err="1">
                <a:solidFill>
                  <a:srgbClr val="526276"/>
                </a:solidFill>
                <a:latin typeface="DejaVu Sans"/>
                <a:ea typeface="DejaVu Sans"/>
                <a:cs typeface="DejaVu Sans"/>
              </a:rPr>
              <a:t>observed</a:t>
            </a:r>
            <a:r>
              <a:rPr lang="it-IT" sz="2100" dirty="0">
                <a:solidFill>
                  <a:srgbClr val="526276"/>
                </a:solidFill>
                <a:latin typeface="DejaVu Sans"/>
                <a:ea typeface="DejaVu Sans"/>
                <a:cs typeface="DejaVu Sans"/>
              </a:rPr>
              <a:t> class</a:t>
            </a:r>
            <a:endParaRPr sz="2100" b="0" dirty="0">
              <a:solidFill>
                <a:srgbClr val="526276"/>
              </a:solidFill>
              <a:latin typeface="DejaVu Sans"/>
              <a:ea typeface="DejaVu Sans"/>
              <a:cs typeface="DejaVu Sans"/>
            </a:endParaRPr>
          </a:p>
        </p:txBody>
      </p:sp>
      <p:sp>
        <p:nvSpPr>
          <p:cNvPr id="3" name="footer_course">
            <a:extLst>
              <a:ext uri="{FF2B5EF4-FFF2-40B4-BE49-F238E27FC236}">
                <a16:creationId xmlns:a16="http://schemas.microsoft.com/office/drawing/2014/main" id="{B55EB4B1-4CB9-4546-861E-1FBB5443D4E6}"/>
              </a:ext>
            </a:extLst>
          </p:cNvPr>
          <p:cNvSpPr>
            <a:spLocks noGrp="1"/>
          </p:cNvSpPr>
          <p:nvPr/>
        </p:nvSpPr>
        <p:spPr>
          <a:xfrm>
            <a:off x="723900" y="6553200"/>
            <a:ext cx="10001250" cy="190500"/>
          </a:xfrm>
          <a:prstGeom prst="rect">
            <a:avLst/>
          </a:prstGeom>
          <a:noFill/>
          <a:ln w="0">
            <a:noFill/>
          </a:ln>
        </p:spPr>
        <p:txBody>
          <a:bodyPr wrap="square" lIns="0" tIns="0" rIns="0" bIns="0" anchor="ctr">
            <a:noAutofit/>
          </a:bodyPr>
          <a:lstStyle/>
          <a:p>
            <a:pPr algn="l">
              <a:lnSpc>
                <a:spcPct val="112000"/>
              </a:lnSpc>
              <a:buNone/>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3</a:t>
            </a:r>
          </a:p>
        </p:txBody>
      </p:sp>
      <p:sp>
        <p:nvSpPr>
          <p:cNvPr id="4" name="footer_number">
            <a:extLst>
              <a:ext uri="{FF2B5EF4-FFF2-40B4-BE49-F238E27FC236}">
                <a16:creationId xmlns:a16="http://schemas.microsoft.com/office/drawing/2014/main" id="{F609864C-0BF9-4FC1-994E-062E402DA838}"/>
              </a:ext>
            </a:extLst>
          </p:cNvPr>
          <p:cNvSpPr>
            <a:spLocks noGrp="1"/>
          </p:cNvSpPr>
          <p:nvPr/>
        </p:nvSpPr>
        <p:spPr>
          <a:xfrm>
            <a:off x="11144250" y="6515100"/>
            <a:ext cx="381000" cy="247650"/>
          </a:xfrm>
          <a:prstGeom prst="rect">
            <a:avLst/>
          </a:prstGeom>
          <a:noFill/>
          <a:ln w="0">
            <a:noFill/>
          </a:ln>
        </p:spPr>
        <p:txBody>
          <a:bodyPr wrap="square" lIns="0" tIns="0" rIns="0" bIns="0" anchor="ctr">
            <a:noAutofit/>
          </a:bodyPr>
          <a:lstStyle/>
          <a:p>
            <a:pPr algn="r">
              <a:lnSpc>
                <a:spcPct val="112000"/>
              </a:lnSpc>
              <a:buNone/>
              <a:defRPr sz="1200" b="0">
                <a:solidFill>
                  <a:srgbClr val="526276"/>
                </a:solidFill>
                <a:latin typeface="DejaVu Sans"/>
                <a:ea typeface="DejaVu Sans"/>
                <a:cs typeface="DejaVu Sans"/>
              </a:defRPr>
            </a:pPr>
            <a:r>
              <a:rPr sz="1200" b="0">
                <a:solidFill>
                  <a:srgbClr val="526276"/>
                </a:solidFill>
                <a:latin typeface="DejaVu Sans"/>
                <a:ea typeface="DejaVu Sans"/>
                <a:cs typeface="DejaVu Sans"/>
              </a:rPr>
              <a:t>51</a:t>
            </a:r>
          </a:p>
        </p:txBody>
      </p:sp>
      <mc:AlternateContent xmlns:mc="http://schemas.openxmlformats.org/markup-compatibility/2006" xmlns:a14="http://schemas.microsoft.com/office/drawing/2010/main">
        <mc:Choice Requires="a14">
          <p:sp>
            <p:nvSpPr>
              <p:cNvPr id="100" name="loss_setup" descr="\mathbf p=(p_1,\ldots,p_K),\qquad y\in\{1,\ldots,K\},\qquad p_y&gt;0">
                <a:extLst>
                  <a:ext uri="{FF2B5EF4-FFF2-40B4-BE49-F238E27FC236}">
                    <a16:creationId xmlns:a16="http://schemas.microsoft.com/office/drawing/2014/main" id="{6ADAF709-86EF-49E8-9915-D9297BCECE71}"/>
                  </a:ext>
                </a:extLst>
              </p:cNvPr>
              <p:cNvSpPr>
                <a:spLocks noGrp="1"/>
              </p:cNvSpPr>
              <p:nvPr/>
            </p:nvSpPr>
            <p:spPr>
              <a:xfrm>
                <a:off x="723900" y="1805855"/>
                <a:ext cx="107442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087F83"/>
                          </a:solidFill>
                          <a:latin typeface="Cambria Math"/>
                          <a:ea typeface="Cambria Math"/>
                          <a:cs typeface="Cambria Math"/>
                        </a:rPr>
                        <m:t>𝐩</m:t>
                      </m:r>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𝑝</m:t>
                          </m:r>
                        </m:e>
                        <m:sub>
                          <m:r>
                            <a:rPr lang="en-GB" sz="2500">
                              <a:solidFill>
                                <a:srgbClr val="087F83"/>
                              </a:solidFill>
                              <a:latin typeface="Cambria Math"/>
                              <a:ea typeface="Cambria Math"/>
                              <a:cs typeface="Cambria Math"/>
                            </a:rPr>
                            <m:t>1</m:t>
                          </m:r>
                        </m:sub>
                      </m:sSub>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𝑝</m:t>
                          </m:r>
                        </m:e>
                        <m:sub>
                          <m:r>
                            <a:rPr lang="en-GB" sz="2500">
                              <a:solidFill>
                                <a:srgbClr val="087F83"/>
                              </a:solidFill>
                              <a:latin typeface="Cambria Math"/>
                              <a:ea typeface="Cambria Math"/>
                              <a:cs typeface="Cambria Math"/>
                            </a:rPr>
                            <m:t>𝐾</m:t>
                          </m:r>
                        </m:sub>
                      </m:sSub>
                      <m:r>
                        <a:rPr lang="en-GB" sz="2500">
                          <a:solidFill>
                            <a:srgbClr val="087F83"/>
                          </a:solidFill>
                          <a:latin typeface="Cambria Math"/>
                          <a:ea typeface="Cambria Math"/>
                          <a:cs typeface="Cambria Math"/>
                        </a:rPr>
                        <m:t>),  </m:t>
                      </m:r>
                      <m:r>
                        <a:rPr lang="en-GB" sz="2500">
                          <a:solidFill>
                            <a:srgbClr val="087F83"/>
                          </a:solidFill>
                          <a:latin typeface="Cambria Math"/>
                          <a:ea typeface="Cambria Math"/>
                          <a:cs typeface="Cambria Math"/>
                        </a:rPr>
                        <m:t>𝑦</m:t>
                      </m:r>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𝐾</m:t>
                      </m:r>
                      <m:r>
                        <a:rPr lang="en-GB" sz="2500">
                          <a:solidFill>
                            <a:srgbClr val="087F83"/>
                          </a:solidFill>
                          <a:latin typeface="Cambria Math"/>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𝑝</m:t>
                          </m:r>
                        </m:e>
                        <m:sub>
                          <m:r>
                            <a:rPr lang="en-GB" sz="2500">
                              <a:solidFill>
                                <a:srgbClr val="087F83"/>
                              </a:solidFill>
                              <a:latin typeface="Cambria Math"/>
                              <a:ea typeface="Cambria Math"/>
                              <a:cs typeface="Cambria Math"/>
                            </a:rPr>
                            <m:t>𝑦</m:t>
                          </m:r>
                        </m:sub>
                      </m:sSub>
                      <m:r>
                        <a:rPr lang="en-GB" sz="2500">
                          <a:solidFill>
                            <a:srgbClr val="087F83"/>
                          </a:solidFill>
                          <a:latin typeface="Cambria Math"/>
                          <a:ea typeface="Cambria Math"/>
                          <a:cs typeface="Cambria Math"/>
                        </a:rPr>
                        <m:t>&gt;0</m:t>
                      </m:r>
                    </m:oMath>
                  </m:oMathPara>
                </a14:m>
                <a:endParaRPr lang="en-GB" sz="2500" dirty="0"/>
              </a:p>
            </p:txBody>
          </p:sp>
        </mc:Choice>
        <mc:Fallback xmlns="">
          <p:sp>
            <p:nvSpPr>
              <p:cNvPr id="100" name="loss_setup" descr="\mathbf p=(p_1,\ldots,p_K),\qquad y\in\{1,\ldots,K\},\qquad p_y&gt;0">
                <a:extLst>
                  <a:ext uri="{FF2B5EF4-FFF2-40B4-BE49-F238E27FC236}">
                    <a16:creationId xmlns:a16="http://schemas.microsoft.com/office/drawing/2014/main" id="{6ADAF709-86EF-49E8-9915-D9297BCECE71}"/>
                  </a:ext>
                </a:extLst>
              </p:cNvPr>
              <p:cNvSpPr>
                <a:spLocks noGrp="1" noRot="1" noChangeAspect="1" noMove="1" noResize="1" noEditPoints="1" noAdjustHandles="1" noChangeArrowheads="1" noChangeShapeType="1" noTextEdit="1"/>
              </p:cNvSpPr>
              <p:nvPr/>
            </p:nvSpPr>
            <p:spPr>
              <a:xfrm>
                <a:off x="723900" y="1805855"/>
                <a:ext cx="10744200" cy="64770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1" name="loss_definition" descr="\ell_{\mathrm{multi}}(\mathbf p,y)=-\log p_y">
                <a:extLst>
                  <a:ext uri="{FF2B5EF4-FFF2-40B4-BE49-F238E27FC236}">
                    <a16:creationId xmlns:a16="http://schemas.microsoft.com/office/drawing/2014/main" id="{25C26A0B-BF2D-435F-8F5F-D096D351F054}"/>
                  </a:ext>
                </a:extLst>
              </p:cNvPr>
              <p:cNvSpPr>
                <a:spLocks noGrp="1"/>
              </p:cNvSpPr>
              <p:nvPr/>
            </p:nvSpPr>
            <p:spPr>
              <a:xfrm>
                <a:off x="723900" y="2281237"/>
                <a:ext cx="10744200" cy="8286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200">
                              <a:solidFill>
                                <a:srgbClr val="087F83"/>
                              </a:solidFill>
                              <a:latin typeface="Cambria Math"/>
                              <a:ea typeface="Cambria Math"/>
                              <a:cs typeface="Cambria Math"/>
                            </a:rPr>
                          </m:ctrlPr>
                        </m:sSubPr>
                        <m:e>
                          <m:r>
                            <m:rPr>
                              <m:sty m:val="p"/>
                            </m:rPr>
                            <a:rPr lang="en-GB" sz="3200">
                              <a:solidFill>
                                <a:srgbClr val="087F83"/>
                              </a:solidFill>
                              <a:latin typeface="Cambria Math"/>
                              <a:ea typeface="Cambria Math"/>
                              <a:cs typeface="Cambria Math"/>
                            </a:rPr>
                            <m:t>ℓ</m:t>
                          </m:r>
                        </m:e>
                        <m:sub>
                          <m:r>
                            <m:rPr>
                              <m:sty m:val="p"/>
                            </m:rPr>
                            <a:rPr lang="en-GB" sz="3200">
                              <a:solidFill>
                                <a:srgbClr val="087F83"/>
                              </a:solidFill>
                              <a:latin typeface="Cambria Math"/>
                              <a:ea typeface="Cambria Math"/>
                              <a:cs typeface="Cambria Math"/>
                            </a:rPr>
                            <m:t>multi</m:t>
                          </m:r>
                        </m:sub>
                      </m:sSub>
                      <m:d>
                        <m:dPr>
                          <m:ctrlPr>
                            <a:rPr lang="en-GB" sz="3200">
                              <a:solidFill>
                                <a:srgbClr val="087F83"/>
                              </a:solidFill>
                              <a:latin typeface="Cambria Math"/>
                              <a:ea typeface="Cambria Math"/>
                              <a:cs typeface="Cambria Math"/>
                            </a:rPr>
                          </m:ctrlPr>
                        </m:dPr>
                        <m:e>
                          <m:r>
                            <a:rPr lang="en-GB" sz="3200">
                              <a:solidFill>
                                <a:srgbClr val="087F83"/>
                              </a:solidFill>
                              <a:latin typeface="Cambria Math"/>
                              <a:ea typeface="Cambria Math"/>
                              <a:cs typeface="Cambria Math"/>
                            </a:rPr>
                            <m:t>𝐩</m:t>
                          </m:r>
                          <m:r>
                            <a:rPr lang="en-GB" sz="3200">
                              <a:solidFill>
                                <a:srgbClr val="087F83"/>
                              </a:solidFill>
                              <a:latin typeface="Cambria Math"/>
                              <a:ea typeface="Cambria Math"/>
                              <a:cs typeface="Cambria Math"/>
                            </a:rPr>
                            <m:t>,</m:t>
                          </m:r>
                          <m:r>
                            <a:rPr lang="en-GB" sz="3200">
                              <a:solidFill>
                                <a:srgbClr val="087F83"/>
                              </a:solidFill>
                              <a:latin typeface="Cambria Math"/>
                              <a:ea typeface="Cambria Math"/>
                              <a:cs typeface="Cambria Math"/>
                            </a:rPr>
                            <m:t>𝑦</m:t>
                          </m:r>
                        </m:e>
                      </m:d>
                      <m:r>
                        <a:rPr lang="en-GB" sz="3200">
                          <a:solidFill>
                            <a:srgbClr val="087F83"/>
                          </a:solidFill>
                          <a:latin typeface="Cambria Math"/>
                          <a:ea typeface="Cambria Math"/>
                          <a:cs typeface="Cambria Math"/>
                        </a:rPr>
                        <m:t>=−</m:t>
                      </m:r>
                      <m:r>
                        <m:rPr>
                          <m:sty m:val="p"/>
                        </m:rPr>
                        <a:rPr lang="en-GB" sz="3200">
                          <a:solidFill>
                            <a:srgbClr val="087F83"/>
                          </a:solidFill>
                          <a:latin typeface="Cambria Math"/>
                          <a:ea typeface="Cambria Math"/>
                          <a:cs typeface="Cambria Math"/>
                        </a:rPr>
                        <m:t>log</m:t>
                      </m:r>
                      <m:d>
                        <m:dPr>
                          <m:ctrlPr>
                            <a:rPr lang="en-GB" sz="3200" i="1">
                              <a:solidFill>
                                <a:srgbClr val="087F83"/>
                              </a:solidFill>
                              <a:latin typeface="Cambria Math" panose="02040503050406030204" pitchFamily="18" charset="0"/>
                              <a:ea typeface="Cambria Math"/>
                              <a:cs typeface="Cambria Math"/>
                            </a:rPr>
                          </m:ctrlPr>
                        </m:dPr>
                        <m:e>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𝑝</m:t>
                              </m:r>
                            </m:e>
                            <m:sub>
                              <m:r>
                                <a:rPr lang="en-GB" sz="3200">
                                  <a:solidFill>
                                    <a:srgbClr val="087F83"/>
                                  </a:solidFill>
                                  <a:latin typeface="Cambria Math"/>
                                  <a:ea typeface="Cambria Math"/>
                                  <a:cs typeface="Cambria Math"/>
                                </a:rPr>
                                <m:t>𝑦</m:t>
                              </m:r>
                            </m:sub>
                          </m:sSub>
                        </m:e>
                      </m:d>
                    </m:oMath>
                  </m:oMathPara>
                </a14:m>
                <a:endParaRPr lang="en-GB" sz="3200" dirty="0"/>
              </a:p>
            </p:txBody>
          </p:sp>
        </mc:Choice>
        <mc:Fallback xmlns="">
          <p:sp>
            <p:nvSpPr>
              <p:cNvPr id="101" name="loss_definition" descr="\ell_{\mathrm{multi}}(\mathbf p,y)=-\log p_y">
                <a:extLst>
                  <a:ext uri="{FF2B5EF4-FFF2-40B4-BE49-F238E27FC236}">
                    <a16:creationId xmlns:a16="http://schemas.microsoft.com/office/drawing/2014/main" id="{25C26A0B-BF2D-435F-8F5F-D096D351F054}"/>
                  </a:ext>
                </a:extLst>
              </p:cNvPr>
              <p:cNvSpPr>
                <a:spLocks noGrp="1" noRot="1" noChangeAspect="1" noMove="1" noResize="1" noEditPoints="1" noAdjustHandles="1" noChangeArrowheads="1" noChangeShapeType="1" noTextEdit="1"/>
              </p:cNvSpPr>
              <p:nvPr/>
            </p:nvSpPr>
            <p:spPr>
              <a:xfrm>
                <a:off x="723900" y="2281237"/>
                <a:ext cx="10744200" cy="8286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mpirical_sum" descr="\mathcal L_{\mathrm{multi}}(\boldsymbol\Theta)=\sum_{i=1}^{N}\ell_{\mathrm{multi}}\!\left(\mathbf p_{\boldsymbol\Theta}(\mathbf x_i),y_i\right)">
                <a:extLst>
                  <a:ext uri="{FF2B5EF4-FFF2-40B4-BE49-F238E27FC236}">
                    <a16:creationId xmlns:a16="http://schemas.microsoft.com/office/drawing/2014/main" id="{5109D4F9-1135-61FF-7D64-5140B12AB5D1}"/>
                  </a:ext>
                </a:extLst>
              </p:cNvPr>
              <p:cNvSpPr>
                <a:spLocks noGrp="1"/>
              </p:cNvSpPr>
              <p:nvPr/>
            </p:nvSpPr>
            <p:spPr>
              <a:xfrm>
                <a:off x="832104" y="4157705"/>
                <a:ext cx="10744200" cy="183070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ℒ</m:t>
                          </m:r>
                        </m:e>
                        <m:sub>
                          <m:r>
                            <m:rPr>
                              <m:sty m:val="p"/>
                            </m:rPr>
                            <a:rPr lang="en-GB" sz="2900">
                              <a:solidFill>
                                <a:srgbClr val="087F83"/>
                              </a:solidFill>
                              <a:latin typeface="Cambria Math"/>
                              <a:ea typeface="Cambria Math"/>
                              <a:cs typeface="Cambria Math"/>
                            </a:rPr>
                            <m:t>multi</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𝚯</m:t>
                          </m:r>
                        </m:e>
                      </m:d>
                      <m:r>
                        <a:rPr lang="en-GB" sz="2900">
                          <a:solidFill>
                            <a:srgbClr val="087F83"/>
                          </a:solidFill>
                          <a:latin typeface="Cambria Math"/>
                          <a:ea typeface="Cambria Math"/>
                          <a:cs typeface="Cambria Math"/>
                        </a:rPr>
                        <m:t>=</m:t>
                      </m:r>
                      <m:nary>
                        <m:naryPr>
                          <m:chr m:val="∑"/>
                          <m:limLoc m:val="undOvr"/>
                          <m:ctrlPr>
                            <a:rPr lang="en-GB" sz="2900">
                              <a:solidFill>
                                <a:srgbClr val="087F83"/>
                              </a:solidFill>
                              <a:latin typeface="Cambria Math"/>
                              <a:ea typeface="Cambria Math"/>
                              <a:cs typeface="Cambria Math"/>
                            </a:rPr>
                          </m:ctrlPr>
                        </m:naryPr>
                        <m:sub>
                          <m:r>
                            <a:rPr lang="en-GB" sz="2900">
                              <a:solidFill>
                                <a:srgbClr val="087F83"/>
                              </a:solidFill>
                              <a:latin typeface="Cambria Math"/>
                              <a:ea typeface="Cambria Math"/>
                              <a:cs typeface="Cambria Math"/>
                            </a:rPr>
                            <m:t>𝑖</m:t>
                          </m:r>
                          <m:r>
                            <a:rPr lang="en-GB" sz="2900">
                              <a:solidFill>
                                <a:srgbClr val="087F83"/>
                              </a:solidFill>
                              <a:latin typeface="Cambria Math"/>
                              <a:ea typeface="Cambria Math"/>
                              <a:cs typeface="Cambria Math"/>
                            </a:rPr>
                            <m:t>=1</m:t>
                          </m:r>
                        </m:sub>
                        <m:sup>
                          <m:r>
                            <a:rPr lang="en-GB" sz="2900">
                              <a:solidFill>
                                <a:srgbClr val="087F83"/>
                              </a:solidFill>
                              <a:latin typeface="Cambria Math"/>
                              <a:ea typeface="Cambria Math"/>
                              <a:cs typeface="Cambria Math"/>
                            </a:rPr>
                            <m:t>𝑁</m:t>
                          </m:r>
                        </m:sup>
                        <m:e>
                          <m:sSub>
                            <m:sSubPr>
                              <m:ctrlPr>
                                <a:rPr lang="en-GB" sz="2900">
                                  <a:solidFill>
                                    <a:srgbClr val="087F83"/>
                                  </a:solidFill>
                                  <a:latin typeface="Cambria Math"/>
                                  <a:ea typeface="Cambria Math"/>
                                  <a:cs typeface="Cambria Math"/>
                                </a:rPr>
                              </m:ctrlPr>
                            </m:sSubPr>
                            <m:e>
                              <m:r>
                                <m:rPr>
                                  <m:sty m:val="p"/>
                                </m:rPr>
                                <a:rPr lang="en-GB" sz="2900">
                                  <a:solidFill>
                                    <a:srgbClr val="087F83"/>
                                  </a:solidFill>
                                  <a:latin typeface="Cambria Math"/>
                                  <a:ea typeface="Cambria Math"/>
                                  <a:cs typeface="Cambria Math"/>
                                </a:rPr>
                                <m:t>ℓ</m:t>
                              </m:r>
                            </m:e>
                            <m:sub>
                              <m:r>
                                <m:rPr>
                                  <m:sty m:val="p"/>
                                </m:rPr>
                                <a:rPr lang="en-GB" sz="2900">
                                  <a:solidFill>
                                    <a:srgbClr val="087F83"/>
                                  </a:solidFill>
                                  <a:latin typeface="Cambria Math"/>
                                  <a:ea typeface="Cambria Math"/>
                                  <a:cs typeface="Cambria Math"/>
                                </a:rPr>
                                <m:t>multi</m:t>
                              </m:r>
                            </m:sub>
                          </m:sSub>
                          <m:d>
                            <m:dPr>
                              <m:ctrlPr>
                                <a:rPr lang="en-GB" sz="2900" i="1">
                                  <a:solidFill>
                                    <a:srgbClr val="087F83"/>
                                  </a:solidFill>
                                  <a:latin typeface="Cambria Math" panose="02040503050406030204" pitchFamily="18" charset="0"/>
                                  <a:ea typeface="Cambria Math"/>
                                  <a:cs typeface="Cambria Math"/>
                                </a:rPr>
                              </m:ctrlPr>
                            </m:dP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𝐩</m:t>
                                  </m:r>
                                </m:e>
                                <m:sub>
                                  <m:r>
                                    <a:rPr lang="en-GB" sz="2900">
                                      <a:solidFill>
                                        <a:srgbClr val="087F83"/>
                                      </a:solidFill>
                                      <a:latin typeface="Cambria Math"/>
                                      <a:ea typeface="Cambria Math"/>
                                      <a:cs typeface="Cambria Math"/>
                                    </a:rPr>
                                    <m:t>𝚯</m:t>
                                  </m:r>
                                </m:sub>
                              </m:sSub>
                              <m:d>
                                <m:dPr>
                                  <m:ctrlPr>
                                    <a:rPr lang="en-GB" sz="2900" i="1">
                                      <a:solidFill>
                                        <a:srgbClr val="087F83"/>
                                      </a:solidFill>
                                      <a:latin typeface="Cambria Math" panose="02040503050406030204" pitchFamily="18" charset="0"/>
                                      <a:ea typeface="Cambria Math"/>
                                      <a:cs typeface="Cambria Math"/>
                                    </a:rPr>
                                  </m:ctrlPr>
                                </m:dP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𝐱</m:t>
                                      </m:r>
                                    </m:e>
                                    <m:sub>
                                      <m:r>
                                        <a:rPr lang="en-GB" sz="2900">
                                          <a:solidFill>
                                            <a:srgbClr val="087F83"/>
                                          </a:solidFill>
                                          <a:latin typeface="Cambria Math"/>
                                          <a:ea typeface="Cambria Math"/>
                                          <a:cs typeface="Cambria Math"/>
                                        </a:rPr>
                                        <m:t>𝑖</m:t>
                                      </m:r>
                                    </m:sub>
                                  </m:sSub>
                                </m:e>
                              </m:d>
                              <m: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𝑦</m:t>
                                  </m:r>
                                </m:e>
                                <m:sub>
                                  <m:r>
                                    <a:rPr lang="en-GB" sz="2900">
                                      <a:solidFill>
                                        <a:srgbClr val="087F83"/>
                                      </a:solidFill>
                                      <a:latin typeface="Cambria Math"/>
                                      <a:ea typeface="Cambria Math"/>
                                      <a:cs typeface="Cambria Math"/>
                                    </a:rPr>
                                    <m:t>𝑖</m:t>
                                  </m:r>
                                </m:sub>
                              </m:sSub>
                            </m:e>
                          </m:d>
                        </m:e>
                      </m:nary>
                    </m:oMath>
                  </m:oMathPara>
                </a14:m>
                <a:endParaRPr lang="en-GB" sz="2900" dirty="0"/>
              </a:p>
            </p:txBody>
          </p:sp>
        </mc:Choice>
        <mc:Fallback xmlns="">
          <p:sp>
            <p:nvSpPr>
              <p:cNvPr id="10" name="empirical_sum" descr="\mathcal L_{\mathrm{multi}}(\boldsymbol\Theta)=\sum_{i=1}^{N}\ell_{\mathrm{multi}}\!\left(\mathbf p_{\boldsymbol\Theta}(\mathbf x_i),y_i\right)">
                <a:extLst>
                  <a:ext uri="{FF2B5EF4-FFF2-40B4-BE49-F238E27FC236}">
                    <a16:creationId xmlns:a16="http://schemas.microsoft.com/office/drawing/2014/main" id="{5109D4F9-1135-61FF-7D64-5140B12AB5D1}"/>
                  </a:ext>
                </a:extLst>
              </p:cNvPr>
              <p:cNvSpPr>
                <a:spLocks noGrp="1" noRot="1" noChangeAspect="1" noMove="1" noResize="1" noEditPoints="1" noAdjustHandles="1" noChangeArrowheads="1" noChangeShapeType="1" noTextEdit="1"/>
              </p:cNvSpPr>
              <p:nvPr/>
            </p:nvSpPr>
            <p:spPr>
              <a:xfrm>
                <a:off x="832104" y="4157705"/>
                <a:ext cx="10744200" cy="1830705"/>
              </a:xfrm>
              <a:prstGeom prst="rect">
                <a:avLst/>
              </a:prstGeom>
              <a:blipFill>
                <a:blip r:embed="rId5"/>
                <a:stretch>
                  <a:fillRect/>
                </a:stretch>
              </a:blipFill>
              <a:ln w="0">
                <a:noFill/>
              </a:ln>
            </p:spPr>
            <p:txBody>
              <a:bodyPr/>
              <a:lstStyle/>
              <a:p>
                <a:r>
                  <a:rPr lang="it-IT">
                    <a:noFill/>
                  </a:rPr>
                  <a:t> </a:t>
                </a:r>
              </a:p>
            </p:txBody>
          </p:sp>
        </mc:Fallback>
      </mc:AlternateContent>
      <p:sp>
        <p:nvSpPr>
          <p:cNvPr id="12" name="minimise">
            <a:extLst>
              <a:ext uri="{FF2B5EF4-FFF2-40B4-BE49-F238E27FC236}">
                <a16:creationId xmlns:a16="http://schemas.microsoft.com/office/drawing/2014/main" id="{6FF9B7A6-367D-0BBF-650B-87A00D0A6B0D}"/>
              </a:ext>
            </a:extLst>
          </p:cNvPr>
          <p:cNvSpPr>
            <a:spLocks noGrp="1"/>
          </p:cNvSpPr>
          <p:nvPr/>
        </p:nvSpPr>
        <p:spPr>
          <a:xfrm>
            <a:off x="723900" y="5598223"/>
            <a:ext cx="10744200" cy="1259777"/>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Fit the parameter matrix by </a:t>
            </a:r>
            <a:r>
              <a:rPr sz="2025" b="1" dirty="0" err="1">
                <a:solidFill>
                  <a:srgbClr val="182D45"/>
                </a:solidFill>
                <a:latin typeface="DejaVu Sans"/>
                <a:ea typeface="DejaVu Sans"/>
                <a:cs typeface="DejaVu Sans"/>
              </a:rPr>
              <a:t>minimising</a:t>
            </a:r>
            <a:r>
              <a:rPr sz="2025" b="1" dirty="0">
                <a:solidFill>
                  <a:srgbClr val="182D45"/>
                </a:solidFill>
                <a:latin typeface="DejaVu Sans"/>
                <a:ea typeface="DejaVu Sans"/>
                <a:cs typeface="DejaVu Sans"/>
              </a:rPr>
              <a:t> this summed loss</a:t>
            </a:r>
            <a:r>
              <a:rPr lang="it-IT" sz="2025" b="1" dirty="0">
                <a:solidFill>
                  <a:srgbClr val="182D45"/>
                </a:solidFill>
                <a:latin typeface="DejaVu Sans"/>
                <a:ea typeface="DejaVu Sans"/>
                <a:cs typeface="DejaVu Sans"/>
              </a:rPr>
              <a:t>,</a:t>
            </a:r>
          </a:p>
          <a:p>
            <a:pPr algn="ctr">
              <a:defRPr sz="2025" b="1">
                <a:solidFill>
                  <a:srgbClr val="182D45"/>
                </a:solidFill>
                <a:latin typeface="DejaVu Sans"/>
                <a:ea typeface="DejaVu Sans"/>
                <a:cs typeface="DejaVu Sans"/>
              </a:defRPr>
            </a:pPr>
            <a:r>
              <a:rPr lang="it-IT" sz="2025" b="1" dirty="0">
                <a:solidFill>
                  <a:srgbClr val="182D45"/>
                </a:solidFill>
                <a:latin typeface="DejaVu Sans"/>
                <a:ea typeface="DejaVu Sans"/>
                <a:cs typeface="DejaVu Sans"/>
              </a:rPr>
              <a:t>e.g., via </a:t>
            </a:r>
            <a:r>
              <a:rPr lang="it-IT" sz="2025" b="1" dirty="0" err="1">
                <a:solidFill>
                  <a:srgbClr val="FF0000"/>
                </a:solidFill>
                <a:latin typeface="DejaVu Sans"/>
                <a:ea typeface="DejaVu Sans"/>
                <a:cs typeface="DejaVu Sans"/>
              </a:rPr>
              <a:t>gradient</a:t>
            </a:r>
            <a:r>
              <a:rPr lang="it-IT" sz="2025" b="1" dirty="0">
                <a:solidFill>
                  <a:srgbClr val="FF0000"/>
                </a:solidFill>
                <a:latin typeface="DejaVu Sans"/>
                <a:ea typeface="DejaVu Sans"/>
                <a:cs typeface="DejaVu Sans"/>
              </a:rPr>
              <a:t> </a:t>
            </a:r>
            <a:r>
              <a:rPr lang="it-IT" sz="2025" b="1" dirty="0" err="1">
                <a:solidFill>
                  <a:srgbClr val="FF0000"/>
                </a:solidFill>
                <a:latin typeface="DejaVu Sans"/>
                <a:ea typeface="DejaVu Sans"/>
                <a:cs typeface="DejaVu Sans"/>
              </a:rPr>
              <a:t>descent</a:t>
            </a:r>
            <a:r>
              <a:rPr lang="it-IT" sz="2025" b="1" dirty="0">
                <a:solidFill>
                  <a:srgbClr val="182D45"/>
                </a:solidFill>
                <a:latin typeface="DejaVu Sans"/>
                <a:ea typeface="DejaVu Sans"/>
                <a:cs typeface="DejaVu Sans"/>
              </a:rPr>
              <a:t>.</a:t>
            </a:r>
            <a:endParaRPr sz="2025"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14" name="CasellaDiTesto 13">
                <a:extLst>
                  <a:ext uri="{FF2B5EF4-FFF2-40B4-BE49-F238E27FC236}">
                    <a16:creationId xmlns:a16="http://schemas.microsoft.com/office/drawing/2014/main" id="{A37298EE-4764-69E2-76DB-5973C1801F29}"/>
                  </a:ext>
                </a:extLst>
              </p:cNvPr>
              <p:cNvSpPr txBox="1"/>
              <p:nvPr/>
            </p:nvSpPr>
            <p:spPr>
              <a:xfrm>
                <a:off x="1088136" y="3408532"/>
                <a:ext cx="10232136" cy="887359"/>
              </a:xfrm>
              <a:prstGeom prst="rect">
                <a:avLst/>
              </a:prstGeom>
              <a:noFill/>
            </p:spPr>
            <p:txBody>
              <a:bodyPr wrap="square">
                <a:spAutoFit/>
              </a:bodyPr>
              <a:lstStyle/>
              <a:p>
                <a:pPr algn="ctr">
                  <a:lnSpc>
                    <a:spcPct val="112000"/>
                  </a:lnSpc>
                  <a:buNone/>
                  <a:defRPr sz="2100" b="0">
                    <a:solidFill>
                      <a:srgbClr val="526276"/>
                    </a:solidFill>
                    <a:latin typeface="DejaVu Sans"/>
                    <a:ea typeface="DejaVu Sans"/>
                    <a:cs typeface="DejaVu Sans"/>
                  </a:defRPr>
                </a:pPr>
                <a:r>
                  <a:rPr lang="en-GB" sz="2400" b="0" dirty="0">
                    <a:solidFill>
                      <a:srgbClr val="FF0000"/>
                    </a:solidFill>
                    <a:latin typeface="DejaVu Sans"/>
                    <a:ea typeface="DejaVu Sans"/>
                    <a:cs typeface="DejaVu Sans"/>
                  </a:rPr>
                  <a:t>Dataset: </a:t>
                </a:r>
                <a14:m>
                  <m:oMath xmlns:m="http://schemas.openxmlformats.org/officeDocument/2006/math">
                    <m:d>
                      <m:dPr>
                        <m:ctrlPr>
                          <a:rPr lang="en-GB" sz="2400" i="1">
                            <a:solidFill>
                              <a:srgbClr val="FF0000"/>
                            </a:solidFill>
                            <a:latin typeface="Cambria Math" panose="02040503050406030204" pitchFamily="18" charset="0"/>
                            <a:ea typeface="Cambria Math"/>
                            <a:cs typeface="Cambria Math"/>
                          </a:rPr>
                        </m:ctrlPr>
                      </m:dPr>
                      <m:e>
                        <m:sSub>
                          <m:sSubPr>
                            <m:ctrlPr>
                              <a:rPr lang="en-GB" sz="2400">
                                <a:solidFill>
                                  <a:srgbClr val="FF0000"/>
                                </a:solidFill>
                                <a:latin typeface="Cambria Math"/>
                                <a:ea typeface="Cambria Math"/>
                                <a:cs typeface="Cambria Math"/>
                              </a:rPr>
                            </m:ctrlPr>
                          </m:sSubPr>
                          <m:e>
                            <m:r>
                              <a:rPr lang="en-GB" sz="2400">
                                <a:solidFill>
                                  <a:srgbClr val="FF0000"/>
                                </a:solidFill>
                                <a:latin typeface="Cambria Math"/>
                                <a:ea typeface="Cambria Math"/>
                                <a:cs typeface="Cambria Math"/>
                              </a:rPr>
                              <m:t>𝐱</m:t>
                            </m:r>
                          </m:e>
                          <m:sub>
                            <m:r>
                              <a:rPr lang="it-IT" sz="2400" b="0" i="0" smtClean="0">
                                <a:solidFill>
                                  <a:srgbClr val="FF0000"/>
                                </a:solidFill>
                                <a:latin typeface="Cambria Math" panose="02040503050406030204" pitchFamily="18" charset="0"/>
                                <a:ea typeface="Cambria Math"/>
                                <a:cs typeface="Cambria Math"/>
                              </a:rPr>
                              <m:t>1</m:t>
                            </m:r>
                          </m:sub>
                        </m:sSub>
                        <m:r>
                          <a:rPr lang="it-IT" sz="2400" b="0" i="1" smtClean="0">
                            <a:solidFill>
                              <a:srgbClr val="FF0000"/>
                            </a:solidFill>
                            <a:latin typeface="Cambria Math" panose="02040503050406030204" pitchFamily="18" charset="0"/>
                            <a:ea typeface="Cambria Math"/>
                            <a:cs typeface="Cambria Math"/>
                          </a:rPr>
                          <m:t>,</m:t>
                        </m:r>
                        <m:sSub>
                          <m:sSubPr>
                            <m:ctrlPr>
                              <a:rPr lang="it-IT" sz="2400" b="0" i="1" smtClean="0">
                                <a:solidFill>
                                  <a:srgbClr val="FF0000"/>
                                </a:solidFill>
                                <a:latin typeface="Cambria Math" panose="02040503050406030204" pitchFamily="18" charset="0"/>
                                <a:ea typeface="Cambria Math"/>
                                <a:cs typeface="Cambria Math"/>
                              </a:rPr>
                            </m:ctrlPr>
                          </m:sSubPr>
                          <m:e>
                            <m:r>
                              <a:rPr lang="it-IT" sz="2400" b="0" i="1" smtClean="0">
                                <a:solidFill>
                                  <a:srgbClr val="FF0000"/>
                                </a:solidFill>
                                <a:latin typeface="Cambria Math" panose="02040503050406030204" pitchFamily="18" charset="0"/>
                                <a:ea typeface="Cambria Math"/>
                                <a:cs typeface="Cambria Math"/>
                              </a:rPr>
                              <m:t>𝑦</m:t>
                            </m:r>
                          </m:e>
                          <m:sub>
                            <m:r>
                              <a:rPr lang="it-IT" sz="2400" b="0" i="1" smtClean="0">
                                <a:solidFill>
                                  <a:srgbClr val="FF0000"/>
                                </a:solidFill>
                                <a:latin typeface="Cambria Math" panose="02040503050406030204" pitchFamily="18" charset="0"/>
                                <a:ea typeface="Cambria Math"/>
                                <a:cs typeface="Cambria Math"/>
                              </a:rPr>
                              <m:t>1</m:t>
                            </m:r>
                          </m:sub>
                        </m:sSub>
                      </m:e>
                    </m:d>
                    <m:r>
                      <a:rPr lang="it-IT" sz="2400" b="0" i="1" smtClean="0">
                        <a:solidFill>
                          <a:srgbClr val="FF0000"/>
                        </a:solidFill>
                        <a:latin typeface="Cambria Math" panose="02040503050406030204" pitchFamily="18" charset="0"/>
                        <a:ea typeface="Cambria Math"/>
                        <a:cs typeface="Cambria Math"/>
                      </a:rPr>
                      <m:t>,…,</m:t>
                    </m:r>
                    <m:d>
                      <m:dPr>
                        <m:ctrlPr>
                          <a:rPr lang="en-GB" sz="2400" i="1">
                            <a:solidFill>
                              <a:srgbClr val="FF0000"/>
                            </a:solidFill>
                            <a:latin typeface="Cambria Math" panose="02040503050406030204" pitchFamily="18" charset="0"/>
                            <a:ea typeface="Cambria Math"/>
                            <a:cs typeface="Cambria Math"/>
                          </a:rPr>
                        </m:ctrlPr>
                      </m:dPr>
                      <m:e>
                        <m:sSub>
                          <m:sSubPr>
                            <m:ctrlPr>
                              <a:rPr lang="en-GB" sz="2400">
                                <a:solidFill>
                                  <a:srgbClr val="FF0000"/>
                                </a:solidFill>
                                <a:latin typeface="Cambria Math"/>
                                <a:ea typeface="Cambria Math"/>
                                <a:cs typeface="Cambria Math"/>
                              </a:rPr>
                            </m:ctrlPr>
                          </m:sSubPr>
                          <m:e>
                            <m:r>
                              <a:rPr lang="en-GB" sz="2400">
                                <a:solidFill>
                                  <a:srgbClr val="FF0000"/>
                                </a:solidFill>
                                <a:latin typeface="Cambria Math"/>
                                <a:ea typeface="Cambria Math"/>
                                <a:cs typeface="Cambria Math"/>
                              </a:rPr>
                              <m:t>𝐱</m:t>
                            </m:r>
                          </m:e>
                          <m:sub>
                            <m:r>
                              <a:rPr lang="it-IT" sz="2400" b="0" i="1" smtClean="0">
                                <a:solidFill>
                                  <a:srgbClr val="FF0000"/>
                                </a:solidFill>
                                <a:latin typeface="Cambria Math" panose="02040503050406030204" pitchFamily="18" charset="0"/>
                                <a:ea typeface="Cambria Math"/>
                                <a:cs typeface="Cambria Math"/>
                              </a:rPr>
                              <m:t>𝑁</m:t>
                            </m:r>
                          </m:sub>
                        </m:sSub>
                        <m:r>
                          <a:rPr lang="it-IT" sz="2400" i="1">
                            <a:solidFill>
                              <a:srgbClr val="FF0000"/>
                            </a:solidFill>
                            <a:latin typeface="Cambria Math" panose="02040503050406030204" pitchFamily="18" charset="0"/>
                            <a:ea typeface="Cambria Math"/>
                            <a:cs typeface="Cambria Math"/>
                          </a:rPr>
                          <m:t>,</m:t>
                        </m:r>
                        <m:sSub>
                          <m:sSubPr>
                            <m:ctrlPr>
                              <a:rPr lang="it-IT" sz="2400" i="1">
                                <a:solidFill>
                                  <a:srgbClr val="FF0000"/>
                                </a:solidFill>
                                <a:latin typeface="Cambria Math" panose="02040503050406030204" pitchFamily="18" charset="0"/>
                                <a:ea typeface="Cambria Math"/>
                                <a:cs typeface="Cambria Math"/>
                              </a:rPr>
                            </m:ctrlPr>
                          </m:sSubPr>
                          <m:e>
                            <m:r>
                              <a:rPr lang="it-IT" sz="2400" i="1">
                                <a:solidFill>
                                  <a:srgbClr val="FF0000"/>
                                </a:solidFill>
                                <a:latin typeface="Cambria Math" panose="02040503050406030204" pitchFamily="18" charset="0"/>
                                <a:ea typeface="Cambria Math"/>
                                <a:cs typeface="Cambria Math"/>
                              </a:rPr>
                              <m:t>𝑦</m:t>
                            </m:r>
                          </m:e>
                          <m:sub>
                            <m:r>
                              <a:rPr lang="it-IT" sz="2400" b="0" i="1" smtClean="0">
                                <a:solidFill>
                                  <a:srgbClr val="FF0000"/>
                                </a:solidFill>
                                <a:latin typeface="Cambria Math" panose="02040503050406030204" pitchFamily="18" charset="0"/>
                                <a:ea typeface="Cambria Math"/>
                                <a:cs typeface="Cambria Math"/>
                              </a:rPr>
                              <m:t>𝑁</m:t>
                            </m:r>
                          </m:sub>
                        </m:sSub>
                      </m:e>
                    </m:d>
                    <m:r>
                      <a:rPr lang="it-IT" sz="2400" b="0" i="1" smtClean="0">
                        <a:solidFill>
                          <a:srgbClr val="FF0000"/>
                        </a:solidFill>
                        <a:latin typeface="Cambria Math" panose="02040503050406030204" pitchFamily="18" charset="0"/>
                        <a:ea typeface="Cambria Math"/>
                        <a:cs typeface="Cambria Math"/>
                      </a:rPr>
                      <m:t>∈</m:t>
                    </m:r>
                    <m:sSup>
                      <m:sSupPr>
                        <m:ctrlPr>
                          <a:rPr lang="it-IT" sz="2400" b="0" i="1" smtClean="0">
                            <a:solidFill>
                              <a:srgbClr val="FF0000"/>
                            </a:solidFill>
                            <a:latin typeface="Cambria Math" panose="02040503050406030204" pitchFamily="18" charset="0"/>
                            <a:ea typeface="Cambria Math"/>
                            <a:cs typeface="Cambria Math"/>
                          </a:rPr>
                        </m:ctrlPr>
                      </m:sSupPr>
                      <m:e>
                        <m:r>
                          <a:rPr lang="it-IT" sz="2400" b="0" i="1" smtClean="0">
                            <a:solidFill>
                              <a:srgbClr val="FF0000"/>
                            </a:solidFill>
                            <a:latin typeface="Cambria Math" panose="02040503050406030204" pitchFamily="18" charset="0"/>
                            <a:ea typeface="Cambria Math"/>
                            <a:cs typeface="Cambria Math"/>
                          </a:rPr>
                          <m:t>ℝ</m:t>
                        </m:r>
                      </m:e>
                      <m:sup>
                        <m:r>
                          <a:rPr lang="it-IT" sz="2400" b="0" i="0" smtClean="0">
                            <a:solidFill>
                              <a:srgbClr val="FF0000"/>
                            </a:solidFill>
                            <a:latin typeface="Cambria Math" panose="02040503050406030204" pitchFamily="18" charset="0"/>
                            <a:ea typeface="Cambria Math"/>
                            <a:cs typeface="Cambria Math"/>
                          </a:rPr>
                          <m:t>1×</m:t>
                        </m:r>
                        <m:r>
                          <a:rPr lang="it-IT" sz="2400" b="0" i="1" smtClean="0">
                            <a:solidFill>
                              <a:srgbClr val="FF0000"/>
                            </a:solidFill>
                            <a:latin typeface="Cambria Math" panose="02040503050406030204" pitchFamily="18" charset="0"/>
                            <a:ea typeface="Cambria Math"/>
                            <a:cs typeface="Cambria Math"/>
                          </a:rPr>
                          <m:t>𝑑</m:t>
                        </m:r>
                      </m:sup>
                    </m:sSup>
                    <m:r>
                      <a:rPr lang="it-IT" sz="2400" b="0" i="1" smtClean="0">
                        <a:solidFill>
                          <a:srgbClr val="FF0000"/>
                        </a:solidFill>
                        <a:latin typeface="Cambria Math" panose="02040503050406030204" pitchFamily="18" charset="0"/>
                        <a:ea typeface="Cambria Math"/>
                        <a:cs typeface="Cambria Math"/>
                      </a:rPr>
                      <m:t>×</m:t>
                    </m:r>
                    <m:d>
                      <m:dPr>
                        <m:begChr m:val="{"/>
                        <m:endChr m:val="}"/>
                        <m:ctrlPr>
                          <a:rPr lang="it-IT" sz="2400" b="0" i="1" smtClean="0">
                            <a:solidFill>
                              <a:srgbClr val="FF0000"/>
                            </a:solidFill>
                            <a:latin typeface="Cambria Math" panose="02040503050406030204" pitchFamily="18" charset="0"/>
                            <a:ea typeface="Cambria Math"/>
                            <a:cs typeface="Cambria Math"/>
                          </a:rPr>
                        </m:ctrlPr>
                      </m:dPr>
                      <m:e>
                        <m:r>
                          <a:rPr lang="it-IT" sz="2400" b="0" i="1" smtClean="0">
                            <a:solidFill>
                              <a:srgbClr val="FF0000"/>
                            </a:solidFill>
                            <a:latin typeface="Cambria Math" panose="02040503050406030204" pitchFamily="18" charset="0"/>
                            <a:ea typeface="Cambria Math"/>
                            <a:cs typeface="Cambria Math"/>
                          </a:rPr>
                          <m:t>1,…,</m:t>
                        </m:r>
                        <m:r>
                          <a:rPr lang="it-IT" sz="2400" b="0" i="1" smtClean="0">
                            <a:solidFill>
                              <a:srgbClr val="FF0000"/>
                            </a:solidFill>
                            <a:latin typeface="Cambria Math" panose="02040503050406030204" pitchFamily="18" charset="0"/>
                            <a:ea typeface="Cambria Math"/>
                            <a:cs typeface="Cambria Math"/>
                          </a:rPr>
                          <m:t>𝐾</m:t>
                        </m:r>
                      </m:e>
                    </m:d>
                  </m:oMath>
                </a14:m>
                <a:endParaRPr lang="en-GB" sz="2400" b="0" dirty="0">
                  <a:solidFill>
                    <a:srgbClr val="FF0000"/>
                  </a:solidFill>
                  <a:latin typeface="DejaVu Sans"/>
                  <a:ea typeface="DejaVu Sans"/>
                  <a:cs typeface="DejaVu Sans"/>
                </a:endParaRPr>
              </a:p>
              <a:p>
                <a:pPr algn="ctr">
                  <a:lnSpc>
                    <a:spcPct val="112000"/>
                  </a:lnSpc>
                  <a:buNone/>
                  <a:defRPr sz="2100" b="0">
                    <a:solidFill>
                      <a:srgbClr val="526276"/>
                    </a:solidFill>
                    <a:latin typeface="DejaVu Sans"/>
                    <a:ea typeface="DejaVu Sans"/>
                    <a:cs typeface="DejaVu Sans"/>
                  </a:defRPr>
                </a:pPr>
                <a:r>
                  <a:rPr lang="en-GB" sz="2400" b="1" dirty="0">
                    <a:solidFill>
                      <a:srgbClr val="FF0000"/>
                    </a:solidFill>
                    <a:latin typeface="DejaVu Sans"/>
                    <a:ea typeface="DejaVu Sans"/>
                    <a:cs typeface="DejaVu Sans"/>
                  </a:rPr>
                  <a:t>Empirical cross-entropy</a:t>
                </a:r>
              </a:p>
            </p:txBody>
          </p:sp>
        </mc:Choice>
        <mc:Fallback xmlns="">
          <p:sp>
            <p:nvSpPr>
              <p:cNvPr id="14" name="CasellaDiTesto 13">
                <a:extLst>
                  <a:ext uri="{FF2B5EF4-FFF2-40B4-BE49-F238E27FC236}">
                    <a16:creationId xmlns:a16="http://schemas.microsoft.com/office/drawing/2014/main" id="{A37298EE-4764-69E2-76DB-5973C1801F29}"/>
                  </a:ext>
                </a:extLst>
              </p:cNvPr>
              <p:cNvSpPr txBox="1">
                <a:spLocks noRot="1" noChangeAspect="1" noMove="1" noResize="1" noEditPoints="1" noAdjustHandles="1" noChangeArrowheads="1" noChangeShapeType="1" noTextEdit="1"/>
              </p:cNvSpPr>
              <p:nvPr/>
            </p:nvSpPr>
            <p:spPr>
              <a:xfrm>
                <a:off x="1088136" y="3408532"/>
                <a:ext cx="10232136" cy="887359"/>
              </a:xfrm>
              <a:prstGeom prst="rect">
                <a:avLst/>
              </a:prstGeom>
              <a:blipFill>
                <a:blip r:embed="rId6"/>
                <a:stretch>
                  <a:fillRect t="-4795" b="-14384"/>
                </a:stretch>
              </a:blipFill>
            </p:spPr>
            <p:txBody>
              <a:bodyPr/>
              <a:lstStyle/>
              <a:p>
                <a:r>
                  <a:rPr lang="it-IT">
                    <a:noFill/>
                  </a:rPr>
                  <a:t> </a:t>
                </a:r>
              </a:p>
            </p:txBody>
          </p:sp>
        </mc:Fallback>
      </mc:AlternateContent>
    </p:spTree>
    <p:extLst>
      <p:ext uri="{BB962C8B-B14F-4D97-AF65-F5344CB8AC3E}">
        <p14:creationId xmlns:p14="http://schemas.microsoft.com/office/powerpoint/2010/main" val="44107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09BD456-AED1-4477-83FA-308879F55C26}"/>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Lecture notes and exercises</a:t>
            </a:r>
          </a:p>
        </p:txBody>
      </p:sp>
      <p:sp>
        <p:nvSpPr>
          <p:cNvPr id="2" name="page_number">
            <a:extLst>
              <a:ext uri="{FF2B5EF4-FFF2-40B4-BE49-F238E27FC236}">
                <a16:creationId xmlns:a16="http://schemas.microsoft.com/office/drawing/2014/main" id="{217723F9-9B06-4045-B24E-886BF38782C8}"/>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52</a:t>
            </a:r>
          </a:p>
        </p:txBody>
      </p:sp>
      <p:sp>
        <p:nvSpPr>
          <p:cNvPr id="5" name="Lecture notes"/>
          <p:cNvSpPr txBox="1"/>
          <p:nvPr/>
        </p:nvSpPr>
        <p:spPr>
          <a:xfrm>
            <a:off x="609600" y="171450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dirty="0">
                <a:solidFill>
                  <a:srgbClr val="182D45"/>
                </a:solidFill>
                <a:latin typeface="DejaVu Sans"/>
                <a:ea typeface="DejaVu Sans"/>
                <a:cs typeface="DejaVu Sans"/>
              </a:rPr>
              <a:t>The notes for today's lecture are available</a:t>
            </a:r>
            <a:endParaRPr lang="en-GB" sz="2100" dirty="0"/>
          </a:p>
          <a:p>
            <a:pPr algn="l">
              <a:lnSpc>
                <a:spcPct val="115000"/>
              </a:lnSpc>
              <a:spcAft>
                <a:spcPts val="0"/>
              </a:spcAft>
            </a:pPr>
            <a:r>
              <a:rPr lang="en-GB" sz="2100" b="0" i="0" dirty="0">
                <a:solidFill>
                  <a:srgbClr val="182D45"/>
                </a:solidFill>
                <a:latin typeface="DejaVu Sans"/>
                <a:ea typeface="DejaVu Sans"/>
                <a:cs typeface="DejaVu Sans"/>
              </a:rPr>
              <a:t>on the course GitHub page.</a:t>
            </a:r>
            <a:endParaRPr lang="en-GB" sz="2100" dirty="0"/>
          </a:p>
        </p:txBody>
      </p:sp>
      <p:sp>
        <p:nvSpPr>
          <p:cNvPr id="6" name="More detail and exercises"/>
          <p:cNvSpPr txBox="1"/>
          <p:nvPr/>
        </p:nvSpPr>
        <p:spPr>
          <a:xfrm>
            <a:off x="609600" y="295275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dirty="0">
                <a:solidFill>
                  <a:srgbClr val="182D45"/>
                </a:solidFill>
                <a:latin typeface="DejaVu Sans"/>
                <a:ea typeface="DejaVu Sans"/>
                <a:cs typeface="DejaVu Sans"/>
              </a:rPr>
              <a:t>They explain the material in more detail</a:t>
            </a:r>
            <a:endParaRPr lang="en-GB" sz="2100" dirty="0"/>
          </a:p>
          <a:p>
            <a:pPr algn="l">
              <a:lnSpc>
                <a:spcPct val="115000"/>
              </a:lnSpc>
              <a:spcAft>
                <a:spcPts val="0"/>
              </a:spcAft>
            </a:pPr>
            <a:r>
              <a:rPr lang="en-GB" sz="2100" b="0" i="0" dirty="0">
                <a:solidFill>
                  <a:srgbClr val="182D45"/>
                </a:solidFill>
                <a:latin typeface="DejaVu Sans"/>
                <a:ea typeface="DejaVu Sans"/>
                <a:cs typeface="DejaVu Sans"/>
              </a:rPr>
              <a:t>and include exercises.</a:t>
            </a:r>
            <a:endParaRPr lang="en-GB" sz="2100" dirty="0"/>
          </a:p>
        </p:txBody>
      </p:sp>
      <p:sp>
        <p:nvSpPr>
          <p:cNvPr id="7" name="Weekly solutions"/>
          <p:cNvSpPr txBox="1"/>
          <p:nvPr/>
        </p:nvSpPr>
        <p:spPr>
          <a:xfrm>
            <a:off x="609600" y="419100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dirty="0">
                <a:solidFill>
                  <a:srgbClr val="182D45"/>
                </a:solidFill>
                <a:latin typeface="DejaVu Sans"/>
                <a:ea typeface="DejaVu Sans"/>
                <a:cs typeface="DejaVu Sans"/>
              </a:rPr>
              <a:t>I will post the exercise solutions</a:t>
            </a:r>
            <a:endParaRPr lang="en-GB" sz="2100" dirty="0"/>
          </a:p>
          <a:p>
            <a:pPr algn="l">
              <a:lnSpc>
                <a:spcPct val="115000"/>
              </a:lnSpc>
              <a:spcAft>
                <a:spcPts val="0"/>
              </a:spcAft>
            </a:pPr>
            <a:r>
              <a:rPr lang="en-GB" sz="2100" b="0" i="0" dirty="0">
                <a:solidFill>
                  <a:srgbClr val="182D45"/>
                </a:solidFill>
                <a:latin typeface="DejaVu Sans"/>
                <a:ea typeface="DejaVu Sans"/>
                <a:cs typeface="DejaVu Sans"/>
              </a:rPr>
              <a:t>before the next lecture.</a:t>
            </a:r>
            <a:endParaRPr lang="en-GB" sz="2100" dirty="0"/>
          </a:p>
        </p:txBody>
      </p:sp>
      <p:sp>
        <p:nvSpPr>
          <p:cNvPr id="8" name="Course GitHub link"/>
          <p:cNvSpPr txBox="1"/>
          <p:nvPr/>
        </p:nvSpPr>
        <p:spPr>
          <a:xfrm>
            <a:off x="609600" y="5638800"/>
            <a:ext cx="7239000" cy="495300"/>
          </a:xfrm>
          <a:prstGeom prst="rect">
            <a:avLst/>
          </a:prstGeom>
          <a:noFill/>
          <a:ln w="0">
            <a:noFill/>
          </a:ln>
        </p:spPr>
        <p:txBody>
          <a:bodyPr wrap="square" lIns="0" tIns="0" rIns="0" bIns="0" anchor="t">
            <a:noAutofit/>
          </a:bodyPr>
          <a:lstStyle/>
          <a:p>
            <a:pPr algn="l">
              <a:lnSpc>
                <a:spcPct val="115000"/>
              </a:lnSpc>
              <a:spcAft>
                <a:spcPts val="0"/>
              </a:spcAft>
            </a:pPr>
            <a:r>
              <a:rPr lang="en-GB" sz="2250" b="1" i="0" u="sng">
                <a:solidFill>
                  <a:srgbClr val="008C95"/>
                </a:solidFill>
                <a:latin typeface="DejaVu Sans"/>
                <a:ea typeface="DejaVu Sans"/>
                <a:cs typeface="DejaVu Sans"/>
                <a:hlinkClick r:id="rId3" tooltip="Open the course GitHub page"/>
              </a:rPr>
              <a:t>github.com/semtm0051/2026_27</a:t>
            </a:r>
            <a:endParaRPr lang="en-GB" sz="2250"/>
          </a:p>
        </p:txBody>
      </p:sp>
      <p:pic>
        <p:nvPicPr>
          <p:cNvPr id="9" name="Course GitHub QR code" descr="QR code linking to https://github.com/semtm0051/2026_27">
            <a:hlinkClick r:id="rId3" tooltip="Open the course GitHub page"/>
          </p:cNvPr>
          <p:cNvPicPr>
            <a:picLocks noChangeAspect="1"/>
          </p:cNvPicPr>
          <p:nvPr/>
        </p:nvPicPr>
        <p:blipFill>
          <a:blip r:embed="rId4"/>
          <a:stretch>
            <a:fillRect/>
          </a:stretch>
        </p:blipFill>
        <p:spPr>
          <a:xfrm>
            <a:off x="8210550" y="2143125"/>
            <a:ext cx="3371850" cy="3371850"/>
          </a:xfrm>
          <a:prstGeom prst="rect">
            <a:avLst/>
          </a:prstGeom>
        </p:spPr>
      </p:pic>
      <p:sp>
        <p:nvSpPr>
          <p:cNvPr id="10" name="QR caption"/>
          <p:cNvSpPr txBox="1"/>
          <p:nvPr/>
        </p:nvSpPr>
        <p:spPr>
          <a:xfrm>
            <a:off x="7953375" y="5676900"/>
            <a:ext cx="3886200" cy="400050"/>
          </a:xfrm>
          <a:prstGeom prst="rect">
            <a:avLst/>
          </a:prstGeom>
          <a:noFill/>
          <a:ln w="0">
            <a:noFill/>
          </a:ln>
        </p:spPr>
        <p:txBody>
          <a:bodyPr wrap="square" lIns="0" tIns="0" rIns="0" bIns="0" anchor="t">
            <a:noAutofit/>
          </a:bodyPr>
          <a:lstStyle/>
          <a:p>
            <a:pPr algn="ctr">
              <a:lnSpc>
                <a:spcPct val="115000"/>
              </a:lnSpc>
              <a:spcAft>
                <a:spcPts val="0"/>
              </a:spcAft>
            </a:pPr>
            <a:r>
              <a:rPr lang="en-GB" sz="1725" b="0" i="0">
                <a:solidFill>
                  <a:srgbClr val="526276"/>
                </a:solidFill>
                <a:latin typeface="DejaVu Sans"/>
                <a:ea typeface="DejaVu Sans"/>
                <a:cs typeface="DejaVu Sans"/>
              </a:rPr>
              <a:t>Scan for course materials</a:t>
            </a:r>
            <a:endParaRPr lang="en-GB" sz="1725"/>
          </a:p>
        </p:txBody>
      </p:sp>
    </p:spTree>
    <p:extLst>
      <p:ext uri="{BB962C8B-B14F-4D97-AF65-F5344CB8AC3E}">
        <p14:creationId xmlns:p14="http://schemas.microsoft.com/office/powerpoint/2010/main" val="375554895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Foundations of AI">
      <a:dk1>
        <a:srgbClr val="000000"/>
      </a:dk1>
      <a:lt1>
        <a:srgbClr val="FFFFFF"/>
      </a:lt1>
      <a:dk2>
        <a:srgbClr val="182D45"/>
      </a:dk2>
      <a:lt2>
        <a:srgbClr val="E8EDF2"/>
      </a:lt2>
      <a:accent1>
        <a:srgbClr val="087F83"/>
      </a:accent1>
      <a:accent2>
        <a:srgbClr val="326CB2"/>
      </a:accent2>
      <a:accent3>
        <a:srgbClr val="C45C28"/>
      </a:accent3>
      <a:accent4>
        <a:srgbClr val="86D2CE"/>
      </a:accent4>
      <a:accent5>
        <a:srgbClr val="A4B7C8"/>
      </a:accent5>
      <a:accent6>
        <a:srgbClr val="526276"/>
      </a:accent6>
      <a:hlink>
        <a:srgbClr val="326CB2"/>
      </a:hlink>
      <a:folHlink>
        <a:srgbClr val="087F83"/>
      </a:folHlink>
    </a:clrScheme>
    <a:fontScheme name="Office">
      <a:majorFont>
        <a:latin typeface="Calibri Light"/>
        <a:ea typeface="Calibri Light"/>
        <a:cs typeface="Calibri Light"/>
      </a:majorFont>
      <a:minorFont>
        <a:latin typeface="Calibri"/>
        <a:ea typeface="Calibri"/>
        <a:cs typeface="Calibri"/>
      </a:minorFont>
    </a:fontScheme>
    <a:fmtScheme name="Foundations of A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1202</TotalTime>
  <Words>9901</Words>
  <Application>Microsoft Office PowerPoint</Application>
  <DocSecurity>0</DocSecurity>
  <PresentationFormat>Widescreen</PresentationFormat>
  <Paragraphs>771</Paragraphs>
  <Slides>52</Slides>
  <Notes>51</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52</vt:i4>
      </vt:variant>
    </vt:vector>
  </HeadingPairs>
  <TitlesOfParts>
    <vt:vector size="58" baseType="lpstr">
      <vt:lpstr>Aptos</vt:lpstr>
      <vt:lpstr>Arial</vt:lpstr>
      <vt:lpstr>Calibri</vt:lpstr>
      <vt:lpstr>Cambria Math</vt:lpstr>
      <vt:lpstr>DejaVu Sans</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Roberto Colomboni</cp:lastModifiedBy>
  <cp:revision>49</cp:revision>
  <dcterms:created xsi:type="dcterms:W3CDTF">2026-09-28T00:00:05Z</dcterms:created>
  <dcterms:modified xsi:type="dcterms:W3CDTF">2026-10-08T18:40:12Z</dcterms:modified>
</cp:coreProperties>
</file>