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308" r:id="rId12"/>
    <p:sldId id="266" r:id="rId13"/>
    <p:sldId id="267" r:id="rId14"/>
    <p:sldId id="268" r:id="rId15"/>
    <p:sldId id="269" r:id="rId16"/>
    <p:sldId id="270" r:id="rId17"/>
    <p:sldId id="271" r:id="rId18"/>
    <p:sldId id="272" r:id="rId19"/>
    <p:sldId id="273" r:id="rId20"/>
    <p:sldId id="309" r:id="rId21"/>
    <p:sldId id="274" r:id="rId22"/>
    <p:sldId id="275" r:id="rId23"/>
    <p:sldId id="276" r:id="rId24"/>
    <p:sldId id="277" r:id="rId25"/>
    <p:sldId id="278" r:id="rId26"/>
    <p:sldId id="279" r:id="rId27"/>
    <p:sldId id="280" r:id="rId28"/>
    <p:sldId id="281" r:id="rId29"/>
    <p:sldId id="307" r:id="rId30"/>
    <p:sldId id="282" r:id="rId31"/>
    <p:sldId id="284" r:id="rId32"/>
    <p:sldId id="285" r:id="rId33"/>
    <p:sldId id="286" r:id="rId34"/>
    <p:sldId id="287" r:id="rId35"/>
    <p:sldId id="288" r:id="rId36"/>
    <p:sldId id="289" r:id="rId37"/>
    <p:sldId id="297" r:id="rId38"/>
    <p:sldId id="298" r:id="rId39"/>
    <p:sldId id="299" r:id="rId40"/>
    <p:sldId id="300" r:id="rId41"/>
    <p:sldId id="301" r:id="rId42"/>
    <p:sldId id="302" r:id="rId43"/>
    <p:sldId id="296" r:id="rId44"/>
    <p:sldId id="310" r:id="rId45"/>
    <p:sldId id="290" r:id="rId46"/>
    <p:sldId id="303" r:id="rId47"/>
    <p:sldId id="291" r:id="rId48"/>
    <p:sldId id="292" r:id="rId49"/>
    <p:sldId id="293" r:id="rId50"/>
    <p:sldId id="294" r:id="rId51"/>
    <p:sldId id="305" r:id="rId52"/>
    <p:sldId id="295" r:id="rId5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6CB2"/>
    <a:srgbClr val="FFFFFF"/>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900.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40.png"/><Relationship Id="rId4" Type="http://schemas.openxmlformats.org/officeDocument/2006/relationships/image" Target="../media/image136.png"/><Relationship Id="rId9" Type="http://schemas.openxmlformats.org/officeDocument/2006/relationships/image" Target="../media/image133.png"/></Relationships>
</file>

<file path=ppt/slides/_rels/slide49.xml.rels><?xml version="1.0" encoding="UTF-8" standalone="yes"?>
<Relationships xmlns="http://schemas.openxmlformats.org/package/2006/relationships"><Relationship Id="rId3" Type="http://schemas.openxmlformats.org/officeDocument/2006/relationships/image" Target="../media/image134.png"/><Relationship Id="rId7" Type="http://schemas.openxmlformats.org/officeDocument/2006/relationships/image" Target="../media/image14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39.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4.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9.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1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10" fill="hold"/>
                                        <p:tgtEl>
                                          <p:spTgt spid="4"/>
                                        </p:tgtEl>
                                        <p:attrNameLst>
                                          <p:attrName>style.color</p:attrName>
                                        </p:attrNameLst>
                                      </p:cBhvr>
                                      <p:to>
                                        <a:srgbClr val="087F83"/>
                                      </p:to>
                                    </p:animClr>
                                    <p:set>
                                      <p:cBhvr>
                                        <p:cTn id="7" dur="10" fill="hold">
                                          <p:stCondLst>
                                            <p:cond delay="0"/>
                                          </p:stCondLst>
                                        </p:cTn>
                                        <p:tgtEl>
                                          <p:spTgt spid="4"/>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m:t>
                    </m:r>
                    <m:r>
                      <a:rPr lang="it-IT" sz="2100" b="0" i="0" dirty="0" smtClean="0">
                        <a:solidFill>
                          <a:srgbClr val="526276"/>
                        </a:solidFill>
                        <a:latin typeface="Cambria Math" panose="02040503050406030204" pitchFamily="18" charset="0"/>
                        <a:ea typeface="DejaVu Sans"/>
                        <a:cs typeface="DejaVu Sans"/>
                      </a:rPr>
                      <m:t>ℝ</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e>
                      </m:nary>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{0,1}</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352425" y="1159913"/>
            <a:ext cx="10744200" cy="77893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endParaRPr lang="it-IT" sz="12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endParaRPr lang="it-IT" sz="6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it-IT" sz="2000" b="1" dirty="0" err="1">
                <a:solidFill>
                  <a:srgbClr val="FF0000"/>
                </a:solidFill>
                <a:latin typeface="DejaVu Sans"/>
                <a:ea typeface="DejaVu Sans"/>
                <a:cs typeface="DejaVu Sans"/>
              </a:rPr>
              <a:t>Probabilistic</a:t>
            </a:r>
            <a:r>
              <a:rPr lang="it-IT" sz="2000" b="1" dirty="0">
                <a:solidFill>
                  <a:srgbClr val="FF0000"/>
                </a:solidFill>
                <a:latin typeface="DejaVu Sans"/>
                <a:ea typeface="DejaVu Sans"/>
                <a:cs typeface="DejaVu Sans"/>
              </a:rPr>
              <a:t> </a:t>
            </a:r>
            <a:r>
              <a:rPr lang="it-IT" sz="2000" b="1" dirty="0" err="1">
                <a:solidFill>
                  <a:srgbClr val="FF0000"/>
                </a:solidFill>
                <a:latin typeface="DejaVu Sans"/>
                <a:ea typeface="DejaVu Sans"/>
                <a:cs typeface="DejaVu Sans"/>
              </a:rPr>
              <a:t>predictor</a:t>
            </a:r>
            <a:endParaRPr sz="2100" b="1"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mc:Choice xmlns:a14="http://schemas.microsoft.com/office/drawing/2010/main"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400050" y="2146977"/>
                <a:ext cx="10744200" cy="74416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400050" y="2146977"/>
                <a:ext cx="10744200" cy="744166"/>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326CB2"/>
                          </a:solidFill>
                          <a:latin typeface="Cambria Math"/>
                          <a:ea typeface="Cambria Math"/>
                          <a:cs typeface="Cambria Math"/>
                        </a:rPr>
                        <m:t>1−</m:t>
                      </m:r>
                      <m:r>
                        <a:rPr lang="en-GB" sz="3000" smtClean="0">
                          <a:solidFill>
                            <a:srgbClr val="326CB2"/>
                          </a:solidFill>
                          <a:latin typeface="Cambria Math"/>
                          <a:ea typeface="Cambria Math"/>
                          <a:cs typeface="Cambria Math"/>
                        </a:rPr>
                        <m:t>𝑝</m:t>
                      </m:r>
                      <m:d>
                        <m:dPr>
                          <m:ctrlPr>
                            <a:rPr lang="en-GB" sz="3000">
                              <a:solidFill>
                                <a:srgbClr val="326CB2"/>
                              </a:solidFill>
                              <a:latin typeface="Cambria Math"/>
                              <a:ea typeface="Cambria Math"/>
                              <a:cs typeface="Cambria Math"/>
                            </a:rPr>
                          </m:ctrlPr>
                        </m:dPr>
                        <m:e>
                          <m:r>
                            <a:rPr lang="en-GB" sz="3000">
                              <a:solidFill>
                                <a:srgbClr val="326CB2"/>
                              </a:solidFill>
                              <a:latin typeface="Cambria Math"/>
                              <a:ea typeface="Cambria Math"/>
                              <a:cs typeface="Cambria Math"/>
                            </a:rPr>
                            <m:t>𝐱</m:t>
                          </m:r>
                        </m:e>
                      </m:d>
                    </m:oMath>
                  </m:oMathPara>
                </a14:m>
                <a:endParaRPr lang="en-GB" sz="3000" dirty="0"/>
              </a:p>
            </p:txBody>
          </p:sp>
        </mc:Choice>
        <mc:Fallback>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FF0000"/>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3319463" y="3409950"/>
                <a:ext cx="5667374" cy="14900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3319463" y="3409950"/>
                <a:ext cx="5667374" cy="149009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98542"/>
                <a:ext cx="10744200" cy="166420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However, </a:t>
                </a:r>
                <a:r>
                  <a:rPr lang="en-GB" sz="2100" dirty="0">
                    <a:solidFill>
                      <a:srgbClr val="526276"/>
                    </a:solidFill>
                    <a:latin typeface="DejaVu Sans"/>
                    <a:ea typeface="DejaVu Sans"/>
                    <a:cs typeface="DejaVu Sans"/>
                  </a:rPr>
                  <a:t/>
                </a:r>
                <a:r>
                  <a:rPr lang="en-GB" sz="2100" b="0" dirty="0">
                    <a:solidFill>
                      <a:srgbClr val="526276"/>
                    </a:solidFill>
                    <a:latin typeface="DejaVu Sans"/>
                    <a:ea typeface="DejaVu Sans"/>
                    <a:cs typeface="DejaVu Sans"/>
                  </a:rPr>
                  <a:t/>
                </a:r>
                <a14:m>
                  <m:oMath xmlns:m="http://schemas.openxmlformats.org/officeDocument/2006/math">
                    <m:sSub>
                      <m:sSubPr>
                        <m:ctrlPr>
                          <a:rPr lang="it-IT" sz="2100" b="0" i="1" smtClean="0">
                            <a:solidFill>
                              <a:srgbClr val="526276"/>
                            </a:solidFill>
                            <a:latin typeface="Cambria Math" panose="02040503050406030204" pitchFamily="18" charset="0"/>
                            <a:ea typeface="DejaVu Sans"/>
                            <a:cs typeface="DejaVu Sans"/>
                          </a:rPr>
                        </m:ctrlPr>
                      </m:sSubPr>
                      <m:e>
                        <m:r>
                          <a:rPr lang="it-IT" sz="2100" b="0" i="1" smtClean="0">
                            <a:solidFill>
                              <a:srgbClr val="526276"/>
                            </a:solidFill>
                            <a:latin typeface="Cambria Math" panose="02040503050406030204" pitchFamily="18" charset="0"/>
                            <a:ea typeface="DejaVu Sans"/>
                            <a:cs typeface="DejaVu Sans"/>
                          </a:rPr>
                          <m:t>𝑓</m:t>
                        </m:r>
                      </m:e>
                      <m:sub>
                        <m:r>
                          <a:rPr lang="it-IT" sz="2100" b="1" i="0" smtClean="0">
                            <a:solidFill>
                              <a:srgbClr val="526276"/>
                            </a:solidFill>
                            <a:latin typeface="Cambria Math" panose="02040503050406030204" pitchFamily="18" charset="0"/>
                            <a:ea typeface="DejaVu Sans"/>
                            <a:cs typeface="DejaVu Sans"/>
                          </a:rPr>
                          <m:t>𝛉</m:t>
                        </m:r>
                      </m:sub>
                    </m:sSub>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 it cannot serve directly as a probability.</a:t>
                </a:r>
              </a:p>
              <a:p>
                <a:pPr algn="ctr">
                  <a:lnSpc>
                    <a:spcPct val="112000"/>
                  </a:lnSpc>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Rather,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dirty="0">
                    <a:solidFill>
                      <a:srgbClr val="526276"/>
                    </a:solidFill>
                    <a:latin typeface="DejaVu Sans"/>
                    <a:ea typeface="DejaVu Sans"/>
                    <a:cs typeface="DejaVu Sans"/>
                  </a:rPr>
                  <a:t> is a </a:t>
                </a:r>
                <a:r>
                  <a:rPr lang="en-GB" sz="2100" dirty="0">
                    <a:solidFill>
                      <a:srgbClr val="FF0000"/>
                    </a:solidFill>
                    <a:latin typeface="DejaVu Sans"/>
                    <a:ea typeface="DejaVu Sans"/>
                    <a:cs typeface="DejaVu Sans"/>
                  </a:rPr>
                  <a:t>score</a:t>
                </a:r>
                <a:r>
                  <a:rPr lang="en-GB" sz="2100" dirty="0">
                    <a:solidFill>
                      <a:srgbClr val="526276"/>
                    </a:solidFill>
                    <a:latin typeface="DejaVu Sans"/>
                    <a:ea typeface="DejaVu Sans"/>
                    <a:cs typeface="DejaVu Sans"/>
                  </a:rPr>
                  <a:t> (also called a </a:t>
                </a:r>
                <a:r>
                  <a:rPr lang="en-GB" sz="2100" dirty="0">
                    <a:solidFill>
                      <a:srgbClr val="FF0000"/>
                    </a:solidFill>
                    <a:latin typeface="DejaVu Sans"/>
                    <a:ea typeface="DejaVu Sans"/>
                    <a:cs typeface="DejaVu Sans"/>
                  </a:rPr>
                  <a:t>logit</a:t>
                </a:r>
                <a:r>
                  <a:rPr lang="en-GB" sz="2100" dirty="0">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en-GB" sz="2100" dirty="0">
                    <a:latin typeface="DejaVu Sans"/>
                    <a:ea typeface="DejaVu Sans"/>
                    <a:cs typeface="DejaVu Sans"/>
                  </a:rPr>
                  <a:t>that we have to turn into a probability</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endParaRPr sz="2100" b="0" dirty="0">
                  <a:solidFill>
                    <a:srgbClr val="526276"/>
                  </a:solidFill>
                  <a:latin typeface="DejaVu Sans"/>
                  <a:ea typeface="DejaVu Sans"/>
                  <a:cs typeface="DejaVu Sans"/>
                </a:endParaRPr>
              </a:p>
            </p:txBody>
          </p:sp>
        </mc:Choice>
        <mc:Fallback>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98542"/>
                <a:ext cx="10744200" cy="1664208"/>
              </a:xfrm>
              <a:prstGeom prst="rect">
                <a:avLst/>
              </a:prstGeom>
              <a:blipFill>
                <a:blip r:embed="rId5"/>
                <a:stretch>
                  <a:fillRect t="-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FF0000"/>
                    </a:solidFill>
                    <a:latin typeface="DejaVu Sans"/>
                    <a:ea typeface="DejaVu Sans"/>
                    <a:cs typeface="DejaVu Sans"/>
                  </a:rPr>
                  <a:t> </a:t>
                </a: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𝑝</m:t>
                            </m:r>
                          </m:e>
                          <m:sub>
                            <m:r>
                              <a:rPr lang="en-GB" sz="2400">
                                <a:solidFill>
                                  <a:srgbClr val="FF0000"/>
                                </a:solidFill>
                                <a:latin typeface="Cambria Math"/>
                                <a:ea typeface="Cambria Math"/>
                                <a:cs typeface="Cambria Math"/>
                              </a:rPr>
                              <m:t>𝛉</m:t>
                            </m:r>
                          </m:sub>
                        </m:sSub>
                      </m:sub>
                    </m:sSub>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mc:Choice>
        <mc:Fallback>
          <p:sp>
            <p:nvSpPr>
              <p:cNvPr id="2" name="lead">
                <a:extLst>
                  <a:ext uri="{FF2B5EF4-FFF2-40B4-BE49-F238E27FC236}">
                    <a16:creationId xmlns:a16="http://schemas.microsoft.com/office/drawing/2014/main" id="{D0FC44FF-8C08-42A1-A56C-9C15E1ECE33A}"/>
                  </a:ext>
                </a:extLst>
              </p:cNvPr>
              <p:cNvSpPr>
                <a:spLocks noGrp="1" noRot="1" noChangeAspect="1" noMove="1" noResize="1" noEditPoints="1" noAdjustHandles="1" noChangeArrowheads="1" noChangeShapeType="1" noTextEdit="1"/>
              </p:cNvSpPr>
              <p:nvPr/>
            </p:nvSpPr>
            <p:spPr>
              <a:xfrm>
                <a:off x="352425" y="2098631"/>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7"/>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Which of these two classifiers is better?</a:t>
            </a:r>
            <a:r>
              <a:rPr lang="it-IT" sz="2100" b="0" dirty="0">
                <a:solidFill>
                  <a:srgbClr val="526276"/>
                </a:solidFill>
                <a:latin typeface="DejaVu Sans"/>
                <a:ea typeface="DejaVu Sans"/>
                <a:cs typeface="DejaVu Sans"/>
              </a:rPr>
              <a:t/>
            </a:r>
            <a:r>
              <a:rPr lang="it-IT" sz="2100" b="0" dirty="0" err="1">
                <a:solidFill>
                  <a:srgbClr val="526276"/>
                </a:solidFill>
                <a:latin typeface="DejaVu Sans"/>
                <a:ea typeface="DejaVu Sans"/>
                <a:cs typeface="DejaVu Sans"/>
              </a:rPr>
              <a:t/>
            </a:r>
            <a:r>
              <a:rPr lang="it-IT" sz="2100" b="0" dirty="0">
                <a:solidFill>
                  <a:srgbClr val="526276"/>
                </a:solidFill>
                <a:latin typeface="DejaVu Sans"/>
                <a:ea typeface="DejaVu Sans"/>
                <a:cs typeface="DejaVu Sans"/>
              </a:rPr>
              <a:t/>
            </a:r>
            <a:r>
              <a:rPr lang="it-IT" sz="2100" b="0" dirty="0" err="1">
                <a:solidFill>
                  <a:srgbClr val="526276"/>
                </a:solidFill>
                <a:latin typeface="DejaVu Sans"/>
                <a:ea typeface="DejaVu Sans"/>
                <a:cs typeface="DejaVu Sans"/>
              </a:rPr>
              <a:t/>
            </a:r>
            <a:r>
              <a:rPr lang="it-IT" sz="2100" b="0" dirty="0">
                <a:solidFill>
                  <a:srgbClr val="526276"/>
                </a:solidFill>
                <a:latin typeface="DejaVu Sans"/>
                <a:ea typeface="DejaVu Sans"/>
                <a:cs typeface="DejaVu Sans"/>
              </a:rPr>
              <a:t/>
            </a:r>
            <a:r>
              <a:rPr lang="it-IT" sz="2100" b="0" dirty="0" err="1">
                <a:solidFill>
                  <a:srgbClr val="526276"/>
                </a:solidFill>
                <a:latin typeface="DejaVu Sans"/>
                <a:ea typeface="DejaVu Sans"/>
                <a:cs typeface="DejaVu Sans"/>
              </a:rPr>
              <a:t/>
            </a:r>
            <a:r>
              <a:rPr lang="it-IT" sz="2100" b="0" dirty="0">
                <a:solidFill>
                  <a:srgbClr val="526276"/>
                </a:solidFill>
                <a:latin typeface="DejaVu Sans"/>
                <a:ea typeface="DejaVu Sans"/>
                <a:cs typeface="DejaVu Sans"/>
              </a:rPr>
              <a:t/>
            </a:r>
            <a:r>
              <a:rPr lang="it-IT" sz="2100" b="0" dirty="0" err="1">
                <a:solidFill>
                  <a:srgbClr val="526276"/>
                </a:solidFill>
                <a:latin typeface="DejaVu Sans"/>
                <a:ea typeface="DejaVu Sans"/>
                <a:cs typeface="DejaVu Sans"/>
              </a:rPr>
              <a:t/>
            </a:r>
            <a:r>
              <a:rPr lang="it-IT" sz="2100" b="0" dirty="0">
                <a:solidFill>
                  <a:srgbClr val="526276"/>
                </a:solidFill>
                <a:latin typeface="DejaVu Sans"/>
                <a:ea typeface="DejaVu Sans"/>
                <a:cs typeface="DejaVu Sans"/>
              </a:rPr>
              <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Count the </a:t>
            </a:r>
            <a:r>
              <a:rPr lang="it-IT" sz="2100" dirty="0" err="1">
                <a:solidFill>
                  <a:srgbClr val="526276"/>
                </a:solidFill>
                <a:latin typeface="DejaVu Sans"/>
                <a:ea typeface="DejaVu Sans"/>
                <a:cs typeface="DejaVu Sans"/>
              </a:rPr>
              <a:t>number</a:t>
            </a:r>
            <a:r>
              <a:rPr lang="it-IT" sz="2100" dirty="0">
                <a:solidFill>
                  <a:srgbClr val="526276"/>
                </a:solidFill>
                <a:latin typeface="DejaVu Sans"/>
                <a:ea typeface="DejaVu Sans"/>
                <a:cs typeface="DejaVu Sans"/>
              </a:rPr>
              <a:t> of </a:t>
            </a:r>
            <a:r>
              <a:rPr lang="it-IT" sz="2100" dirty="0" err="1">
                <a:solidFill>
                  <a:srgbClr val="526276"/>
                </a:solidFill>
                <a:latin typeface="DejaVu Sans"/>
                <a:ea typeface="DejaVu Sans"/>
                <a:cs typeface="DejaVu Sans"/>
              </a:rPr>
              <a:t>mistakes</a:t>
            </a:r>
            <a:r>
              <a:rPr lang="it-IT" sz="210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7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700"/>
                <a:ext cx="10744200" cy="666750"/>
              </a:xfrm>
              <a:prstGeom prst="rect">
                <a:avLst/>
              </a:prstGeom>
              <a:blipFill>
                <a:blip r:embed="rId3"/>
                <a:stretch>
                  <a:fillRect t="-28440"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xmlns="">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xmlns="">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xmlns="">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508000" y="13081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508000" y="25400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p:sp>
        <p:nvSpPr>
          <p:cNvPr id="9" name="warning_mistakes"/>
          <p:cNvSpPr>
            <a:spLocks noGrp="1"/>
          </p:cNvSpPr>
          <p:nvPr/>
        </p:nvSpPr>
        <p:spPr>
          <a:xfrm>
            <a:off x="508000" y="3810000"/>
            <a:ext cx="11176000" cy="762000"/>
          </a:xfrm>
          <a:prstGeom prst="rect">
            <a:avLst/>
          </a:prstGeom>
          <a:noFill/>
          <a:ln w="0">
            <a:noFill/>
          </a:ln>
        </p:spPr>
        <p:txBody>
          <a:bodyPr anchor="ctr" wrap="square" lIns="0" rIns="0" tIns="0" bIns="0">
            <a:noAutofit/>
          </a:bodyPr>
          <a:lstStyle/>
          <a:p>
            <a:pPr algn="ctr">
              <a:lnSpc>
                <a:spcPct val="112000"/>
              </a:lnSpc>
              <a:defRPr sz="2400" b="0">
                <a:solidFill>
                  <a:srgbClr val="182D45"/>
                </a:solidFill>
                <a:latin typeface="DejaVu Sans"/>
                <a:ea typeface="DejaVu Sans"/>
                <a:cs typeface="DejaVu Sans"/>
              </a:defRPr>
            </a:pPr>
            <a:r>
              <a:rPr sz="2400" b="0">
                <a:solidFill>
                  <a:srgbClr val="FF0000"/>
                </a:solidFill>
                <a:latin typeface="DejaVu Sans"/>
                <a:ea typeface="DejaVu Sans"/>
                <a:cs typeface="DejaVu Sans"/>
              </a:rPr>
              <a:t>Warning 1</a:t>
            </a:r>
            <a:r>
              <a:rPr sz="2400" b="0">
                <a:solidFill>
                  <a:srgbClr val="182D45"/>
                </a:solidFill>
                <a:latin typeface="DejaVu Sans"/>
                <a:ea typeface="DejaVu Sans"/>
                <a:cs typeface="DejaVu Sans"/>
              </a:rPr>
              <a:t>: decreasing the empirical logistic loss</a:t>
            </a:r>
          </a:p>
          <a:p>
            <a:pPr algn="ctr">
              <a:lnSpc>
                <a:spcPct val="112000"/>
              </a:lnSpc>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does not guarantee fewer mistakes (a lower empirical 0–1 loss).</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508000" y="508000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 2</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plugin" descr="p_{h_{\mathbf p}(\mathbf x)}(\mathbf x)=\max_{k\in\{1,\ldots,K\}}p_k(\mathbf x)">
                <a:extLst>
                  <a:ext uri="{FF2B5EF4-FFF2-40B4-BE49-F238E27FC236}">
                    <a16:creationId xmlns:a16="http://schemas.microsoft.com/office/drawing/2014/main" id="{7BB5F18C-CC56-4061-A437-0F6DC14C7325}"/>
                  </a:ext>
                </a:extLst>
              </p:cNvPr>
              <p:cNvSpPr>
                <a:spLocks noGrp="1"/>
              </p:cNvSpPr>
              <p:nvPr/>
            </p:nvSpPr>
            <p:spPr>
              <a:xfrm>
                <a:off x="713613" y="2224251"/>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900" b="0" i="1" smtClean="0">
                              <a:solidFill>
                                <a:srgbClr val="087F83"/>
                              </a:solidFill>
                              <a:latin typeface="Cambria Math" panose="02040503050406030204" pitchFamily="18" charset="0"/>
                              <a:ea typeface="Cambria Math"/>
                              <a:cs typeface="Cambria Math"/>
                            </a:rPr>
                          </m:ctrlPr>
                        </m:sSubPr>
                        <m:e>
                          <m:r>
                            <a:rPr lang="it-IT" sz="2900" b="0" i="1" smtClean="0">
                              <a:solidFill>
                                <a:srgbClr val="087F83"/>
                              </a:solidFill>
                              <a:latin typeface="Cambria Math" panose="02040503050406030204" pitchFamily="18" charset="0"/>
                              <a:ea typeface="Cambria Math"/>
                              <a:cs typeface="Cambria Math"/>
                            </a:rPr>
                            <m:t>𝑝</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limLow>
                        <m:limLowPr>
                          <m:ctrlPr>
                            <a:rPr lang="it-IT" sz="2900" b="0" i="0" smtClean="0">
                              <a:solidFill>
                                <a:srgbClr val="087F83"/>
                              </a:solidFill>
                              <a:latin typeface="Cambria Math" panose="02040503050406030204" pitchFamily="18" charset="0"/>
                              <a:ea typeface="Cambria Math"/>
                              <a:cs typeface="Cambria Math"/>
                            </a:rPr>
                          </m:ctrlPr>
                        </m:limLowPr>
                        <m:e>
                          <m:r>
                            <m:rPr>
                              <m:sty m:val="p"/>
                            </m:rPr>
                            <a:rPr lang="it-IT" sz="2900" b="0" i="0" smtClean="0">
                              <a:solidFill>
                                <a:srgbClr val="087F83"/>
                              </a:solidFill>
                              <a:latin typeface="Cambria Math" panose="02040503050406030204" pitchFamily="18" charset="0"/>
                              <a:ea typeface="Cambria Math"/>
                              <a:cs typeface="Cambria Math"/>
                            </a:rPr>
                            <m:t>max</m:t>
                          </m:r>
                        </m:e>
                        <m:lim>
                          <m:r>
                            <a:rPr lang="it-IT" sz="2900" b="0" i="1" smtClean="0">
                              <a:solidFill>
                                <a:srgbClr val="087F83"/>
                              </a:solidFill>
                              <a:latin typeface="Cambria Math" panose="02040503050406030204" pitchFamily="18" charset="0"/>
                              <a:ea typeface="Cambria Math"/>
                              <a:cs typeface="Cambria Math"/>
                            </a:rPr>
                            <m:t>𝑘</m:t>
                          </m:r>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lim>
                      </m:limLow>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b="0" i="1" smtClean="0">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m:oMathPara>
                </a14:m>
                <a:endParaRPr lang="en-GB" sz="2900" i="1" dirty="0"/>
              </a:p>
            </p:txBody>
          </p:sp>
        </mc:Choice>
        <mc:Fallback>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13613" y="2224251"/>
                <a:ext cx="10744200" cy="1019175"/>
              </a:xfrm>
              <a:prstGeom prst="rect">
                <a:avLst/>
              </a:prstGeom>
              <a:blipFill>
                <a:blip r:embed="rId4"/>
                <a:stretch>
                  <a:fillRect/>
                </a:stretch>
              </a:blipFill>
              <a:ln w="0">
                <a:noFill/>
              </a:ln>
            </p:spPr>
            <p:txBody>
              <a:bodyPr/>
              <a:lstStyle/>
              <a:p>
                <a:r>
                  <a:rPr lang="it-IT">
                    <a:noFill/>
                  </a:rPr>
                  <a:t> </a:t>
                </a:r>
              </a:p>
            </p:txBody>
          </p:sp>
        </mc:Fallback>
      </mc:AlternateContent>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7546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We are going to return the smallest index in case of a tie.</a:t>
            </a:r>
            <a:endParaRPr sz="2025" b="0" dirty="0">
              <a:solidFill>
                <a:srgbClr val="182D45"/>
              </a:solidFill>
              <a:latin typeface="DejaVu Sans"/>
              <a:ea typeface="DejaVu Sans"/>
              <a:cs typeface="DejaVu Sans"/>
            </a:endParaRPr>
          </a:p>
        </p:txBody>
      </p:sp>
      <p:sp>
        <p:nvSpPr>
          <p:cNvPr id="104" name="below_half">
            <a:extLst>
              <a:ext uri="{FF2B5EF4-FFF2-40B4-BE49-F238E27FC236}">
                <a16:creationId xmlns:a16="http://schemas.microsoft.com/office/drawing/2014/main" id="{9C3AA405-E4BC-42F2-9F63-F0351A8DB76F}"/>
              </a:ext>
            </a:extLst>
          </p:cNvPr>
          <p:cNvSpPr>
            <a:spLocks noGrp="1"/>
          </p:cNvSpPr>
          <p:nvPr/>
        </p:nvSpPr>
        <p:spPr>
          <a:xfrm>
            <a:off x="590550" y="392539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352425" y="483149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4" grpId="0"/>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oMath>
                  </m:oMathPara>
                </a14:m>
                <a:endParaRPr lang="en-GB" sz="2800" dirty="0"/>
              </a:p>
            </p:txBody>
          </p:sp>
        </mc:Choice>
        <mc:Fallback>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793380"/>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mc:Choice xmlns:a14="http://schemas.microsoft.com/office/drawing/2010/main"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77856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77856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24779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247790"/>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201191"/>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201191"/>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2281286" y="4409830"/>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2281286" y="4409830"/>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3269530" y="5182013"/>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3269530" y="5182013"/>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976837"/>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
        <p:nvSpPr>
          <p:cNvPr id="5" name="lead">
            <a:extLst>
              <a:ext uri="{FF2B5EF4-FFF2-40B4-BE49-F238E27FC236}">
                <a16:creationId xmlns:a16="http://schemas.microsoft.com/office/drawing/2014/main" id="{31147C63-8F9A-61BD-CFD7-3709F02284F4}"/>
              </a:ext>
            </a:extLst>
          </p:cNvPr>
          <p:cNvSpPr>
            <a:spLocks noGrp="1"/>
          </p:cNvSpPr>
          <p:nvPr/>
        </p:nvSpPr>
        <p:spPr>
          <a:xfrm>
            <a:off x="2281286" y="4405036"/>
            <a:ext cx="3289955"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Positive </a:t>
            </a:r>
            <a:r>
              <a:rPr lang="it-IT" sz="2100" b="0" dirty="0" err="1">
                <a:solidFill>
                  <a:srgbClr val="526276"/>
                </a:solidFill>
                <a:latin typeface="DejaVu Sans"/>
                <a:ea typeface="DejaVu Sans"/>
                <a:cs typeface="DejaVu Sans"/>
              </a:rPr>
              <a:t>numbers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6" name="lead">
            <a:extLst>
              <a:ext uri="{FF2B5EF4-FFF2-40B4-BE49-F238E27FC236}">
                <a16:creationId xmlns:a16="http://schemas.microsoft.com/office/drawing/2014/main" id="{116D40B3-C3A9-9F80-43D8-4E2162D25FFF}"/>
              </a:ext>
            </a:extLst>
          </p:cNvPr>
          <p:cNvSpPr>
            <a:spLocks noGrp="1"/>
          </p:cNvSpPr>
          <p:nvPr/>
        </p:nvSpPr>
        <p:spPr>
          <a:xfrm>
            <a:off x="-1445837" y="5440199"/>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Valid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0" grpId="0"/>
      <p:bldP spid="101" grpId="0"/>
      <p:bldP spid="102" grpId="0"/>
      <p:bldP spid="103" grpId="0"/>
      <p:bldP spid="104" grpId="0"/>
      <p:bldP spid="5" grpId="0"/>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reuse">
                <a:extLst>
                  <a:ext uri="{FF2B5EF4-FFF2-40B4-BE49-F238E27FC236}">
                    <a16:creationId xmlns:a16="http://schemas.microsoft.com/office/drawing/2014/main" id="{E4DC567C-421A-4D20-9FAE-B63FB68E16A2}"/>
                  </a:ext>
                </a:extLst>
              </p:cNvPr>
              <p:cNvSpPr>
                <a:spLocks noGrp="1"/>
              </p:cNvSpPr>
              <p:nvPr/>
            </p:nvSpPr>
            <p:spPr>
              <a:xfrm>
                <a:off x="781050" y="4848225"/>
                <a:ext cx="10744200" cy="14097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200" b="1" dirty="0">
                    <a:solidFill>
                      <a:srgbClr val="FF0000"/>
                    </a:solidFill>
                    <a:latin typeface="DejaVu Sans"/>
                    <a:ea typeface="DejaVu Sans"/>
                    <a:cs typeface="DejaVu Sans"/>
                  </a:rPr>
                  <a:t>Once </a:t>
                </a: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have</a:t>
                </a:r>
                <a:r>
                  <a:rPr lang="it-IT" sz="2200" b="1" dirty="0">
                    <a:solidFill>
                      <a:srgbClr val="FF0000"/>
                    </a:solidFill>
                    <a:latin typeface="DejaVu Sans"/>
                    <a:ea typeface="DejaVu Sans"/>
                    <a:cs typeface="DejaVu Sans"/>
                  </a:rPr>
                  <a:t> the </a:t>
                </a:r>
                <a:r>
                  <a:rPr lang="it-IT" sz="2200" b="1" dirty="0" err="1">
                    <a:solidFill>
                      <a:srgbClr val="FF0000"/>
                    </a:solidFill>
                    <a:latin typeface="DejaVu Sans"/>
                    <a:ea typeface="DejaVu Sans"/>
                    <a:cs typeface="DejaVu Sans"/>
                  </a:rPr>
                  <a:t>probability</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predictor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oMath>
                </a14:m>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can build the plug-in </a:t>
                </a:r>
                <a:r>
                  <a:rPr lang="it-IT" sz="2200" b="1" dirty="0" err="1">
                    <a:solidFill>
                      <a:srgbClr val="FF0000"/>
                    </a:solidFill>
                    <a:latin typeface="DejaVu Sans"/>
                    <a:ea typeface="DejaVu Sans"/>
                    <a:cs typeface="DejaVu Sans"/>
                  </a:rPr>
                  <a:t>classifier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i="1">
                            <a:solidFill>
                              <a:srgbClr val="FF0000"/>
                            </a:solidFill>
                            <a:latin typeface="Cambria Math"/>
                            <a:ea typeface="Cambria Math"/>
                            <a:cs typeface="Cambria Math"/>
                          </a:rPr>
                        </m:ctrlPr>
                      </m:sSubPr>
                      <m:e>
                        <m:r>
                          <a:rPr lang="ar-AE" sz="2200" b="0" i="1">
                            <a:solidFill>
                              <a:srgbClr val="FF0000"/>
                            </a:solidFill>
                            <a:latin typeface="Cambria Math"/>
                            <a:ea typeface="Cambria Math"/>
                            <a:cs typeface="Cambria Math"/>
                          </a:rPr>
                          <m:t>ℎ</m:t>
                        </m:r>
                      </m:e>
                      <m:sub>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sub>
                    </m:sSub>
                  </m:oMath>
                </a14:m>
                <a:endParaRPr lang="ar-AE" sz="2200" b="1" dirty="0">
                  <a:solidFill>
                    <a:srgbClr val="FF0000"/>
                  </a:solidFill>
                  <a:latin typeface="DejaVu Sans"/>
                  <a:ea typeface="DejaVu Sans"/>
                  <a:cs typeface="DejaVu Sans"/>
                </a:endParaRPr>
              </a:p>
            </p:txBody>
          </p:sp>
        </mc:Choice>
        <mc:Fallback>
          <p:sp>
            <p:nvSpPr>
              <p:cNvPr id="103" name="reuse">
                <a:extLst>
                  <a:ext uri="{FF2B5EF4-FFF2-40B4-BE49-F238E27FC236}">
                    <a16:creationId xmlns:a16="http://schemas.microsoft.com/office/drawing/2014/main" id="{E4DC567C-421A-4D20-9FAE-B63FB68E16A2}"/>
                  </a:ext>
                </a:extLst>
              </p:cNvPr>
              <p:cNvSpPr>
                <a:spLocks noGrp="1" noRot="1" noChangeAspect="1" noMove="1" noResize="1" noEditPoints="1" noAdjustHandles="1" noChangeArrowheads="1" noChangeShapeType="1" noTextEdit="1"/>
              </p:cNvSpPr>
              <p:nvPr/>
            </p:nvSpPr>
            <p:spPr>
              <a:xfrm>
                <a:off x="781050" y="4848225"/>
                <a:ext cx="10744200" cy="1409700"/>
              </a:xfrm>
              <a:prstGeom prst="rect">
                <a:avLst/>
              </a:prstGeom>
              <a:blipFill>
                <a:blip r:embed="rId5"/>
                <a:stretch>
                  <a:fillRect/>
                </a:stretch>
              </a:blipFill>
              <a:ln w="0">
                <a:noFill/>
              </a:ln>
            </p:spPr>
            <p:txBody>
              <a:bodyPr/>
              <a:lstStyle/>
              <a:p>
                <a:r>
                  <a:rPr lang="it-IT">
                    <a:noFill/>
                  </a:rPr>
                  <a:t> </a:t>
                </a:r>
              </a:p>
            </p:txBody>
          </p:sp>
        </mc:Fallback>
      </mc:AlternateContent>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1181588"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The </a:t>
            </a:r>
            <a:r>
              <a:rPr lang="it-IT" sz="2100" dirty="0" err="1">
                <a:solidFill>
                  <a:srgbClr val="526276"/>
                </a:solidFill>
                <a:latin typeface="DejaVu Sans"/>
                <a:ea typeface="DejaVu Sans"/>
                <a:cs typeface="DejaVu Sans"/>
              </a:rPr>
              <a:t>loss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is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minus</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logarithm</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predicted</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probability</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observed</a:t>
            </a:r>
            <a:r>
              <a:rPr lang="it-IT" sz="2100" dirty="0">
                <a:solidFill>
                  <a:srgbClr val="526276"/>
                </a:solidFill>
                <a:latin typeface="DejaVu Sans"/>
                <a:ea typeface="DejaVu Sans"/>
                <a:cs typeface="DejaVu Sans"/>
              </a:rPr>
              <a:t> class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mc:Choice xmlns:a14="http://schemas.microsoft.com/office/drawing/2010/main"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80585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805855"/>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281237"/>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281237"/>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p:cNvSpPr>
              <p:nvPr/>
            </p:nvSpPr>
            <p:spPr>
              <a:xfrm>
                <a:off x="832104" y="4157705"/>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noRot="1" noChangeAspect="1" noMove="1" noResize="1" noEditPoints="1" noAdjustHandles="1" noChangeArrowheads="1" noChangeShapeType="1" noTextEdit="1"/>
              </p:cNvSpPr>
              <p:nvPr/>
            </p:nvSpPr>
            <p:spPr>
              <a:xfrm>
                <a:off x="832104" y="4157705"/>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2" name="minimise">
            <a:extLst>
              <a:ext uri="{FF2B5EF4-FFF2-40B4-BE49-F238E27FC236}">
                <a16:creationId xmlns:a16="http://schemas.microsoft.com/office/drawing/2014/main" id="{6FF9B7A6-367D-0BBF-650B-87A00D0A6B0D}"/>
              </a:ext>
            </a:extLst>
          </p:cNvPr>
          <p:cNvSpPr>
            <a:spLocks noGrp="1"/>
          </p:cNvSpPr>
          <p:nvPr/>
        </p:nvSpPr>
        <p:spPr>
          <a:xfrm>
            <a:off x="723900" y="5598223"/>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A37298EE-4764-69E2-76DB-5973C1801F29}"/>
                  </a:ext>
                </a:extLst>
              </p:cNvPr>
              <p:cNvSpPr txBox="1"/>
              <p:nvPr/>
            </p:nvSpPr>
            <p:spPr>
              <a:xfrm>
                <a:off x="1088136" y="3408532"/>
                <a:ext cx="10232136" cy="887359"/>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400" b="0" dirty="0">
                    <a:solidFill>
                      <a:srgbClr val="FF0000"/>
                    </a:solidFill>
                    <a:latin typeface="DejaVu Sans"/>
                    <a:ea typeface="DejaVu Sans"/>
                    <a:cs typeface="DejaVu Sans"/>
                  </a:rPr>
                  <a:t>Dataset: </a:t>
                </a:r>
                <a14:m>
                  <m:oMath xmlns:m="http://schemas.openxmlformats.org/officeDocument/2006/math">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0" smtClean="0">
                                <a:solidFill>
                                  <a:srgbClr val="FF0000"/>
                                </a:solidFill>
                                <a:latin typeface="Cambria Math" panose="02040503050406030204" pitchFamily="18" charset="0"/>
                                <a:ea typeface="Cambria Math"/>
                                <a:cs typeface="Cambria Math"/>
                              </a:rPr>
                              <m:t>1</m:t>
                            </m:r>
                          </m:sub>
                        </m:sSub>
                        <m:r>
                          <a:rPr lang="it-IT" sz="2400" b="0" i="1" smtClean="0">
                            <a:solidFill>
                              <a:srgbClr val="FF0000"/>
                            </a:solidFill>
                            <a:latin typeface="Cambria Math" panose="02040503050406030204" pitchFamily="18" charset="0"/>
                            <a:ea typeface="Cambria Math"/>
                            <a:cs typeface="Cambria Math"/>
                          </a:rPr>
                          <m:t>,</m:t>
                        </m:r>
                        <m:sSub>
                          <m:sSubPr>
                            <m:ctrlPr>
                              <a:rPr lang="it-IT" sz="2400" b="0" i="1" smtClean="0">
                                <a:solidFill>
                                  <a:srgbClr val="FF0000"/>
                                </a:solidFill>
                                <a:latin typeface="Cambria Math" panose="02040503050406030204" pitchFamily="18" charset="0"/>
                                <a:ea typeface="Cambria Math"/>
                                <a:cs typeface="Cambria Math"/>
                              </a:rPr>
                            </m:ctrlPr>
                          </m:sSubPr>
                          <m:e>
                            <m:r>
                              <a:rPr lang="it-IT" sz="2400" b="0" i="1" smtClean="0">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1</m:t>
                            </m:r>
                          </m:sub>
                        </m:sSub>
                      </m:e>
                    </m:d>
                    <m:r>
                      <a:rPr lang="it-IT" sz="2400" b="0" i="1" smtClean="0">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1" smtClean="0">
                                <a:solidFill>
                                  <a:srgbClr val="FF0000"/>
                                </a:solidFill>
                                <a:latin typeface="Cambria Math" panose="02040503050406030204" pitchFamily="18" charset="0"/>
                                <a:ea typeface="Cambria Math"/>
                                <a:cs typeface="Cambria Math"/>
                              </a:rPr>
                              <m:t>𝑁</m:t>
                            </m:r>
                          </m:sub>
                        </m:sSub>
                        <m:r>
                          <a:rPr lang="it-IT" sz="2400" i="1">
                            <a:solidFill>
                              <a:srgbClr val="FF0000"/>
                            </a:solidFill>
                            <a:latin typeface="Cambria Math" panose="02040503050406030204" pitchFamily="18" charset="0"/>
                            <a:ea typeface="Cambria Math"/>
                            <a:cs typeface="Cambria Math"/>
                          </a:rPr>
                          <m:t>,</m:t>
                        </m:r>
                        <m:sSub>
                          <m:sSubPr>
                            <m:ctrlPr>
                              <a:rPr lang="it-IT" sz="2400" i="1">
                                <a:solidFill>
                                  <a:srgbClr val="FF0000"/>
                                </a:solidFill>
                                <a:latin typeface="Cambria Math" panose="02040503050406030204" pitchFamily="18" charset="0"/>
                                <a:ea typeface="Cambria Math"/>
                                <a:cs typeface="Cambria Math"/>
                              </a:rPr>
                            </m:ctrlPr>
                          </m:sSubPr>
                          <m:e>
                            <m:r>
                              <a:rPr lang="it-IT" sz="2400" i="1">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𝑁</m:t>
                            </m:r>
                          </m:sub>
                        </m:sSub>
                      </m:e>
                    </m:d>
                    <m:r>
                      <a:rPr lang="it-IT" sz="2400" b="0" i="1" smtClean="0">
                        <a:solidFill>
                          <a:srgbClr val="FF0000"/>
                        </a:solidFill>
                        <a:latin typeface="Cambria Math" panose="02040503050406030204" pitchFamily="18" charset="0"/>
                        <a:ea typeface="Cambria Math"/>
                        <a:cs typeface="Cambria Math"/>
                      </a:rPr>
                      <m:t>∈</m:t>
                    </m:r>
                    <m:sSup>
                      <m:sSupPr>
                        <m:ctrlPr>
                          <a:rPr lang="it-IT" sz="2400" b="0" i="1" smtClean="0">
                            <a:solidFill>
                              <a:srgbClr val="FF0000"/>
                            </a:solidFill>
                            <a:latin typeface="Cambria Math" panose="02040503050406030204" pitchFamily="18" charset="0"/>
                            <a:ea typeface="Cambria Math"/>
                            <a:cs typeface="Cambria Math"/>
                          </a:rPr>
                        </m:ctrlPr>
                      </m:sSupPr>
                      <m:e>
                        <m:r>
                          <a:rPr lang="it-IT" sz="2400" b="0" i="1" smtClean="0">
                            <a:solidFill>
                              <a:srgbClr val="FF0000"/>
                            </a:solidFill>
                            <a:latin typeface="Cambria Math" panose="02040503050406030204" pitchFamily="18" charset="0"/>
                            <a:ea typeface="Cambria Math"/>
                            <a:cs typeface="Cambria Math"/>
                          </a:rPr>
                          <m:t>ℝ</m:t>
                        </m:r>
                      </m:e>
                      <m:sup>
                        <m:r>
                          <a:rPr lang="it-IT" sz="2400" b="0" i="0"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𝑑</m:t>
                        </m:r>
                      </m:sup>
                    </m:sSup>
                    <m:r>
                      <a:rPr lang="it-IT" sz="2400" b="0" i="1" smtClean="0">
                        <a:solidFill>
                          <a:srgbClr val="FF0000"/>
                        </a:solidFill>
                        <a:latin typeface="Cambria Math" panose="02040503050406030204" pitchFamily="18" charset="0"/>
                        <a:ea typeface="Cambria Math"/>
                        <a:cs typeface="Cambria Math"/>
                      </a:rPr>
                      <m:t>×</m:t>
                    </m:r>
                    <m:d>
                      <m:dPr>
                        <m:begChr m:val="{"/>
                        <m:endChr m:val="}"/>
                        <m:ctrlPr>
                          <a:rPr lang="it-IT" sz="2400" b="0" i="1" smtClean="0">
                            <a:solidFill>
                              <a:srgbClr val="FF0000"/>
                            </a:solidFill>
                            <a:latin typeface="Cambria Math" panose="02040503050406030204" pitchFamily="18" charset="0"/>
                            <a:ea typeface="Cambria Math"/>
                            <a:cs typeface="Cambria Math"/>
                          </a:rPr>
                        </m:ctrlPr>
                      </m:dPr>
                      <m:e>
                        <m:r>
                          <a:rPr lang="it-IT" sz="2400" b="0" i="1"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𝐾</m:t>
                        </m:r>
                      </m:e>
                    </m:d>
                  </m:oMath>
                </a14:m>
                <a:endParaRPr lang="en-GB" sz="24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400" b="1" dirty="0">
                    <a:solidFill>
                      <a:srgbClr val="FF0000"/>
                    </a:solidFill>
                    <a:latin typeface="DejaVu Sans"/>
                    <a:ea typeface="DejaVu Sans"/>
                    <a:cs typeface="DejaVu Sans"/>
                  </a:rPr>
                  <a:t>Empirical cross-entropy</a:t>
                </a:r>
              </a:p>
            </p:txBody>
          </p:sp>
        </mc:Choice>
        <mc:Fallback>
          <p:sp>
            <p:nvSpPr>
              <p:cNvPr id="14" name="CasellaDiTesto 13">
                <a:extLst>
                  <a:ext uri="{FF2B5EF4-FFF2-40B4-BE49-F238E27FC236}">
                    <a16:creationId xmlns:a16="http://schemas.microsoft.com/office/drawing/2014/main" id="{A37298EE-4764-69E2-76DB-5973C1801F29}"/>
                  </a:ext>
                </a:extLst>
              </p:cNvPr>
              <p:cNvSpPr txBox="1">
                <a:spLocks noRot="1" noChangeAspect="1" noMove="1" noResize="1" noEditPoints="1" noAdjustHandles="1" noChangeArrowheads="1" noChangeShapeType="1" noTextEdit="1"/>
              </p:cNvSpPr>
              <p:nvPr/>
            </p:nvSpPr>
            <p:spPr>
              <a:xfrm>
                <a:off x="1088136" y="3408532"/>
                <a:ext cx="10232136" cy="887359"/>
              </a:xfrm>
              <a:prstGeom prst="rect">
                <a:avLst/>
              </a:prstGeom>
              <a:blipFill>
                <a:blip r:embed="rId6"/>
                <a:stretch>
                  <a:fillRect t="-4795" b="-14384"/>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dirty="0">
                <a:solidFill>
                  <a:srgbClr val="526276"/>
                </a:solidFill>
                <a:latin typeface="DejaVu Sans"/>
                <a:ea typeface="DejaVu Sans"/>
                <a:cs typeface="DejaVu Sans"/>
              </a:rPr>
              <a:t>5</a:t>
            </a:r>
            <a:r>
              <a:rPr lang="it-IT" sz="1200" b="0" dirty="0">
                <a:solidFill>
                  <a:srgbClr val="526276"/>
                </a:solidFill>
                <a:latin typeface="DejaVu Sans"/>
                <a:ea typeface="DejaVu Sans"/>
                <a:cs typeface="DejaVu Sans"/>
              </a:rPr>
              <a:t>2</a:t>
            </a:r>
            <a:endParaRPr sz="1200" b="0" dirty="0">
              <a:solidFill>
                <a:srgbClr val="526276"/>
              </a:solidFill>
              <a:latin typeface="DejaVu Sans"/>
              <a:ea typeface="DejaVu Sans"/>
              <a:cs typeface="DejaVu Sans"/>
            </a:endParaRPr>
          </a:p>
        </p:txBody>
      </p:sp>
      <p:graphicFrame>
        <p:nvGraphicFramePr>
          <p:cNvPr id="11" name="step_0_table_0"/>
          <p:cNvGraphicFramePr/>
          <p:nvPr>
            <p:extLst>
              <p:ext uri="{D42A27DB-BD31-4B8C-83A1-F6EECF244321}">
                <p14:modId xmlns:p14="http://schemas.microsoft.com/office/powerpoint/2010/main" val="3534775484"/>
              </p:ext>
            </p:extLst>
          </p:nvPr>
        </p:nvGraphicFramePr>
        <p:xfrm>
          <a:off x="914400" y="1333500"/>
          <a:ext cx="10363200" cy="239268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914400" y="402907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a:t>
            </a:r>
            <a:r>
              <a:rPr lang="it-IT" sz="2000" b="1" dirty="0">
                <a:solidFill>
                  <a:srgbClr val="087F83"/>
                </a:solidFill>
                <a:latin typeface="DejaVu Sans"/>
                <a:ea typeface="DejaVu Sans"/>
                <a:cs typeface="DejaVu Sans"/>
              </a:rPr>
              <a:t> </a:t>
            </a:r>
            <a:r>
              <a:rPr lang="it-IT" sz="2000" b="1" dirty="0" err="1">
                <a:solidFill>
                  <a:srgbClr val="087F83"/>
                </a:solidFill>
                <a:latin typeface="DejaVu Sans"/>
                <a:ea typeface="DejaVu Sans"/>
                <a:cs typeface="DejaVu Sans"/>
              </a:rPr>
              <a:t>smooth</a:t>
            </a:r>
            <a:r>
              <a:rPr sz="2000" b="1" dirty="0">
                <a:solidFill>
                  <a:srgbClr val="087F83"/>
                </a:solidFill>
                <a:latin typeface="DejaVu Sans"/>
                <a:ea typeface="DejaVu Sans"/>
                <a:cs typeface="DejaVu Sans"/>
              </a:rPr>
              <a:t> </a:t>
            </a:r>
            <a:r>
              <a:rPr lang="it-IT" sz="2000" b="1" dirty="0">
                <a:solidFill>
                  <a:srgbClr val="087F83"/>
                </a:solidFill>
                <a:latin typeface="DejaVu Sans"/>
                <a:ea typeface="DejaVu Sans"/>
                <a:cs typeface="DejaVu Sans"/>
              </a:rPr>
              <a:t>surrogate</a:t>
            </a:r>
            <a:r>
              <a:rPr sz="2000" b="1" dirty="0">
                <a:solidFill>
                  <a:srgbClr val="087F83"/>
                </a:solidFill>
                <a:latin typeface="DejaVu Sans"/>
                <a:ea typeface="DejaVu Sans"/>
                <a:cs typeface="DejaVu Sans"/>
              </a:rPr>
              <a:t>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1118</TotalTime>
  <Words>9864</Words>
  <Application>Microsoft Office PowerPoint</Application>
  <DocSecurity>0</DocSecurity>
  <PresentationFormat>Widescreen</PresentationFormat>
  <Paragraphs>766</Paragraphs>
  <Slides>52</Slides>
  <Notes>51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52</vt:i4>
      </vt:variant>
    </vt:vector>
  </HeadingPairs>
  <TitlesOfParts>
    <vt:vector size="58"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42</cp:revision>
  <dcterms:created xsi:type="dcterms:W3CDTF">2026-09-28T00:00:05Z</dcterms:created>
  <dcterms:modified xsi:type="dcterms:W3CDTF">2026-10-07T20:36:37Z</dcterms:modified>
</cp:coreProperties>
</file>