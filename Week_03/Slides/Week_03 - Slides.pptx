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28.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29.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0.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1.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2.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3.xml" ContentType="application/vnd.openxmlformats-officedocument.presentationml.notesSlide+xml"/>
  <Override PartName="/ppt/charts/chart24.xml" ContentType="application/vnd.openxmlformats-officedocument.drawingml.chart+xml"/>
  <Override PartName="/ppt/notesSlides/notesSlide34.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5.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6.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7.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38.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39.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0.xml" ContentType="application/vnd.openxmlformats-officedocument.presentationml.notesSlide+xml"/>
  <Override PartName="/ppt/charts/chart37.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288" r:id="rId33"/>
    <p:sldId id="289" r:id="rId34"/>
    <p:sldId id="297" r:id="rId35"/>
    <p:sldId id="298" r:id="rId36"/>
    <p:sldId id="299" r:id="rId37"/>
    <p:sldId id="300" r:id="rId38"/>
    <p:sldId id="301" r:id="rId39"/>
    <p:sldId id="302" r:id="rId40"/>
    <p:sldId id="296" r:id="rId41"/>
    <p:sldId id="290" r:id="rId42"/>
    <p:sldId id="303" r:id="rId43"/>
    <p:sldId id="291" r:id="rId44"/>
    <p:sldId id="292" r:id="rId45"/>
    <p:sldId id="293" r:id="rId46"/>
    <p:sldId id="294" r:id="rId47"/>
    <p:sldId id="304" r:id="rId48"/>
    <p:sldId id="305" r:id="rId49"/>
    <p:sldId id="306" r:id="rId50"/>
    <p:sldId id="295" r:id="rId51"/>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undo custSel modSld">
      <pc:chgData name="Roberto Colomboni" userId="dd40f206-3c8d-4cae-a481-e04c30f4a734" providerId="ADAL" clId="{60E66902-36BF-4793-9F68-7CEF37DD1CC7}" dt="2026-09-29T13:01:33.396" v="26" actId="6549"/>
      <pc:docMkLst>
        <pc:docMk/>
      </pc:docMkLst>
      <pc:sldChg chg="modSp mod">
        <pc:chgData name="Roberto Colomboni" userId="dd40f206-3c8d-4cae-a481-e04c30f4a734" providerId="ADAL" clId="{60E66902-36BF-4793-9F68-7CEF37DD1CC7}" dt="2026-09-29T13:01:33.396" v="26" actId="6549"/>
        <pc:sldMkLst>
          <pc:docMk/>
          <pc:sldMk cId="1359862737" sldId="258"/>
        </pc:sldMkLst>
        <pc:spChg chg="mod">
          <ac:chgData name="Roberto Colomboni" userId="dd40f206-3c8d-4cae-a481-e04c30f4a734" providerId="ADAL" clId="{60E66902-36BF-4793-9F68-7CEF37DD1CC7}" dt="2026-09-29T13:00:42.591" v="4" actId="1076"/>
          <ac:spMkLst>
            <pc:docMk/>
            <pc:sldMk cId="1359862737" sldId="258"/>
            <ac:spMk id="3" creationId="{0CAD2AFF-A09F-45DF-BB78-D9D0B6DED294}"/>
          </ac:spMkLst>
        </pc:spChg>
        <pc:spChg chg="mod">
          <ac:chgData name="Roberto Colomboni" userId="dd40f206-3c8d-4cae-a481-e04c30f4a734" providerId="ADAL" clId="{60E66902-36BF-4793-9F68-7CEF37DD1CC7}" dt="2026-09-29T13:01:33.396" v="26" actId="6549"/>
          <ac:spMkLst>
            <pc:docMk/>
            <pc:sldMk cId="1359862737" sldId="258"/>
            <ac:spMk id="20" creationId="{F3F1D677-CFCE-4BBC-A585-53F9560F53D3}"/>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Nonpositive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Positive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1</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zero.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0.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above the line, class0 on and below it.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class0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0,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smallest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smallest-index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fixed input x and parameter matrix Theta, the score row is(0,log2,log3). Natural logarithms give exponentials1,2,3. Their sum is6, so the class probabilities are(1/6,1/3,1/2). The plug-in classifier predicts class3. This uses the generic rule already defined; it does not introduce a second decision rule. The next slide keeps these probabilities but supposes that the observed class is2.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N labelled observations(x_i,y_i), with each input a row of d features and each label one of1,...,K. Define the empirical objective as the SUM, not mean, of individual categorical cross-entropies. Its equivalent component form is minus the sum of log p_{Theta,y_i}(x_i). For one observation, let s=f_Theta(x); substituting softmax in the individual loss yields -s_y+log(sum exp(s_k)). Fit Theta by minimizing the sum. No multiclass gradient derivation is included, consistently with the lecture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Week_03_classification_distinct.csv" TargetMode="Externa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png"/><Relationship Id="rId4" Type="http://schemas.openxmlformats.org/officeDocument/2006/relationships/chart" Target="../charts/chart7.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chart" Target="../charts/chart11.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5.png"/><Relationship Id="rId4" Type="http://schemas.openxmlformats.org/officeDocument/2006/relationships/image" Target="../media/image53.png"/></Relationships>
</file>

<file path=ppt/slides/_rels/slide23.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png"/><Relationship Id="rId7" Type="http://schemas.openxmlformats.org/officeDocument/2006/relationships/image" Target="../media/image74.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13.xml"/></Relationships>
</file>

<file path=ppt/slides/_rels/slide28.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chart" Target="../charts/chart14.xml"/><Relationship Id="rId7"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chart" Target="../charts/chart15.xml"/></Relationships>
</file>

<file path=ppt/slides/_rels/slide29.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chart" Target="../charts/chart16.xml"/><Relationship Id="rId7" Type="http://schemas.openxmlformats.org/officeDocument/2006/relationships/image" Target="../media/image85.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chart" Target="../charts/chart17.xml"/></Relationships>
</file>

<file path=ppt/slides/_rels/slide3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chart" Target="../charts/chart18.xml"/><Relationship Id="rId7" Type="http://schemas.openxmlformats.org/officeDocument/2006/relationships/image" Target="../media/image9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chart" Target="../charts/chart19.xml"/></Relationships>
</file>

<file path=ppt/slides/_rels/slide31.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chart" Target="../charts/chart20.xml"/><Relationship Id="rId7" Type="http://schemas.openxmlformats.org/officeDocument/2006/relationships/image" Target="../media/image9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chart" Target="../charts/chart21.xml"/></Relationships>
</file>

<file path=ppt/slides/_rels/slide32.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chart" Target="../charts/chart22.xml"/><Relationship Id="rId7" Type="http://schemas.openxmlformats.org/officeDocument/2006/relationships/image" Target="../media/image9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chart" Target="../charts/chart23.xml"/></Relationships>
</file>

<file path=ppt/slides/_rels/slide33.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26.xml"/></Relationships>
</file>

<file path=ppt/slides/_rels/slide35.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chart" Target="../charts/chart27.xml"/><Relationship Id="rId7" Type="http://schemas.openxmlformats.org/officeDocument/2006/relationships/image" Target="../media/image103.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chart" Target="../charts/chart28.xml"/></Relationships>
</file>

<file path=ppt/slides/_rels/slide36.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chart" Target="../charts/chart29.xml"/><Relationship Id="rId7" Type="http://schemas.openxmlformats.org/officeDocument/2006/relationships/image" Target="../media/image107.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chart" Target="../charts/chart30.xml"/></Relationships>
</file>

<file path=ppt/slides/_rels/slide3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chart" Target="../charts/chart31.xml"/><Relationship Id="rId7" Type="http://schemas.openxmlformats.org/officeDocument/2006/relationships/image" Target="../media/image11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chart" Target="../charts/chart32.xml"/></Relationships>
</file>

<file path=ppt/slides/_rels/slide3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chart" Target="../charts/chart33.xml"/><Relationship Id="rId7"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chart" Target="../charts/chart34.xml"/></Relationships>
</file>

<file path=ppt/slides/_rels/slide39.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chart" Target="../charts/chart35.xml"/><Relationship Id="rId7" Type="http://schemas.openxmlformats.org/officeDocument/2006/relationships/image" Target="../media/image1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chart" Target="../charts/chart36.xml"/></Relationships>
</file>

<file path=ppt/slides/_rels/slide40.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76.png"/></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7.png"/><Relationship Id="rId5" Type="http://schemas.openxmlformats.org/officeDocument/2006/relationships/image" Target="../media/image124.png"/><Relationship Id="rId4" Type="http://schemas.openxmlformats.org/officeDocument/2006/relationships/image" Target="../media/image90.png"/></Relationships>
</file>

<file path=ppt/slides/_rels/slide43.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32.png"/><Relationship Id="rId5" Type="http://schemas.openxmlformats.org/officeDocument/2006/relationships/image" Target="../media/image131.png"/><Relationship Id="rId4" Type="http://schemas.openxmlformats.org/officeDocument/2006/relationships/image" Target="../media/image129.png"/></Relationships>
</file>

<file path=ppt/slides/_rels/slide44.xml.rels><?xml version="1.0" encoding="UTF-8" standalone="yes"?>
<Relationships xmlns="http://schemas.openxmlformats.org/package/2006/relationships"><Relationship Id="rId8" Type="http://schemas.openxmlformats.org/officeDocument/2006/relationships/image" Target="../media/image138.png"/><Relationship Id="rId3" Type="http://schemas.openxmlformats.org/officeDocument/2006/relationships/image" Target="../media/image133.png"/><Relationship Id="rId7" Type="http://schemas.openxmlformats.org/officeDocument/2006/relationships/image" Target="../media/image137.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36.png"/><Relationship Id="rId5" Type="http://schemas.openxmlformats.org/officeDocument/2006/relationships/image" Target="../media/image135.png"/><Relationship Id="rId10" Type="http://schemas.openxmlformats.org/officeDocument/2006/relationships/image" Target="../media/image140.png"/><Relationship Id="rId4" Type="http://schemas.openxmlformats.org/officeDocument/2006/relationships/image" Target="../media/image134.png"/><Relationship Id="rId9" Type="http://schemas.openxmlformats.org/officeDocument/2006/relationships/image" Target="../media/image139.png"/></Relationships>
</file>

<file path=ppt/slides/_rels/slide45.xml.rels><?xml version="1.0" encoding="UTF-8" standalone="yes"?>
<Relationships xmlns="http://schemas.openxmlformats.org/package/2006/relationships"><Relationship Id="rId3" Type="http://schemas.openxmlformats.org/officeDocument/2006/relationships/image" Target="../media/image141.png"/><Relationship Id="rId7" Type="http://schemas.openxmlformats.org/officeDocument/2006/relationships/image" Target="../media/image145.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44.png"/><Relationship Id="rId5" Type="http://schemas.openxmlformats.org/officeDocument/2006/relationships/image" Target="../media/image143.png"/><Relationship Id="rId4" Type="http://schemas.openxmlformats.org/officeDocument/2006/relationships/image" Target="../media/image142.png"/></Relationships>
</file>

<file path=ppt/slides/_rels/slide46.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148.png"/><Relationship Id="rId4" Type="http://schemas.openxmlformats.org/officeDocument/2006/relationships/image" Target="../media/image147.png"/></Relationships>
</file>

<file path=ppt/slides/_rels/slide4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4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_rels/slide49.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59.png"/><Relationship Id="rId4" Type="http://schemas.openxmlformats.org/officeDocument/2006/relationships/image" Target="../media/image158.png"/></Relationships>
</file>

<file path=ppt/slides/_rels/slide5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16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p:sp>
        <p:nvSpPr>
          <p:cNvPr id="2" name="lead">
            <a:extLst>
              <a:ext uri="{FF2B5EF4-FFF2-40B4-BE49-F238E27FC236}">
                <a16:creationId xmlns:a16="http://schemas.microsoft.com/office/drawing/2014/main" id="{77FDC530-267E-4369-A76A-6C9A4691B0D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synthetic dataset: 100 observations, two input features and two classes.</a:t>
            </a:r>
          </a:p>
        </p:txBody>
      </p:sp>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4"/>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5" tooltip="Open the accompanying data file"/>
              </a:rPr>
              <a:t>A modified Iris dataset: 100 observations, two features and two classes.</a:t>
            </a:r>
          </a:p>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5" tooltip="Open the accompanying data file"/>
              </a:rPr>
              <a:t>Dataset and instructions in the folder: Week 3 </a:t>
            </a:r>
            <a:r>
              <a:rPr lang="en-GB" sz="1725" b="0" u="sng">
                <a:solidFill>
                  <a:srgbClr val="326CB2"/>
                </a:solidFill>
                <a:latin typeface="DejaVu Sans"/>
                <a:ea typeface="DejaVu Sans"/>
                <a:cs typeface="DejaVu Sans"/>
                <a:hlinkClick r:id="rId5" tooltip="Open the accompanying data file"/>
              </a:rPr>
              <a:t>- Examples</a:t>
            </a:r>
            <a:endParaRPr sz="1725" b="0" u="sng" dirty="0">
              <a:solidFill>
                <a:srgbClr val="326CB2"/>
              </a:solidFill>
              <a:latin typeface="DejaVu Sans"/>
              <a:ea typeface="DejaVu Sans"/>
              <a:cs typeface="DejaVu Sans"/>
              <a:hlinkClick r:id="rId5"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r>
                        <a:rPr lang="en-GB" sz="2500">
                          <a:solidFill>
                            <a:srgbClr val="087F83"/>
                          </a:solidFill>
                          <a:latin typeface="Cambria Math"/>
                          <a:ea typeface="Cambria Math"/>
                          <a:cs typeface="Cambria Math"/>
                        </a:rPr>
                        <m:t>(</m:t>
                      </m:r>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Number of mistakes</a:t>
            </a:r>
          </a:p>
        </p:txBody>
      </p:sp>
      <mc:AlternateContent xmlns:mc="http://schemas.openxmlformats.org/markup-compatibility/2006" xmlns:a14="http://schemas.microsoft.com/office/drawing/2010/main">
        <mc:Choice Requires="a14">
          <p:sp>
            <p:nvSpPr>
              <p:cNvPr id="16" name="step_0_empirical_squared_loss" descr="\mathcal L_{\mathrm{sq}}(f)=\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ℒ</m:t>
                          </m:r>
                        </m:e>
                        <m:sub>
                          <m:r>
                            <m:rPr>
                              <m:sty m:val="p"/>
                            </m:rPr>
                            <a:rPr lang="en-GB" sz="2300">
                              <a:solidFill>
                                <a:srgbClr val="326CB2"/>
                              </a:solidFill>
                              <a:latin typeface="Cambria Math"/>
                              <a:ea typeface="Cambria Math"/>
                              <a:cs typeface="Cambria Math"/>
                            </a:rPr>
                            <m:t>sq</m:t>
                          </m:r>
                        </m:sub>
                      </m:sSub>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𝑓</m:t>
                      </m:r>
                      <m:r>
                        <a:rPr lang="en-GB" sz="2300">
                          <a:solidFill>
                            <a:srgbClr val="326CB2"/>
                          </a:solidFill>
                          <a:latin typeface="Cambria Math"/>
                          <a:ea typeface="Cambria Math"/>
                          <a:cs typeface="Cambria Math"/>
                        </a:rPr>
                        <m:t>)=</m:t>
                      </m:r>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mathcal L_{\mathrm{sq}}(f)=\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mathcal E(h)=\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a:ea typeface="Cambria Math"/>
                          <a:cs typeface="Cambria Math"/>
                        </a:rPr>
                        <m:t>ℰ</m:t>
                      </m:r>
                      <m:r>
                        <a:rPr lang="en-GB" sz="2300" smtClean="0">
                          <a:solidFill>
                            <a:srgbClr val="087F83"/>
                          </a:solidFill>
                          <a:latin typeface="Cambria Math"/>
                          <a:ea typeface="Cambria Math"/>
                          <a:cs typeface="Cambria Math"/>
                        </a:rPr>
                        <m:t>(</m:t>
                      </m:r>
                      <m:r>
                        <a:rPr lang="en-GB" sz="2300" smtClean="0">
                          <a:solidFill>
                            <a:srgbClr val="087F83"/>
                          </a:solidFill>
                          <a:latin typeface="Cambria Math"/>
                          <a:ea typeface="Cambria Math"/>
                          <a:cs typeface="Cambria Math"/>
                        </a:rPr>
                        <m:t>ℎ</m:t>
                      </m:r>
                      <m:r>
                        <a:rPr lang="en-GB" sz="2300" smtClean="0">
                          <a:solidFill>
                            <a:srgbClr val="087F83"/>
                          </a:solidFill>
                          <a:latin typeface="Cambria Math"/>
                          <a:ea typeface="Cambria Math"/>
                          <a:cs typeface="Cambria Math"/>
                        </a:rPr>
                        <m:t>)=</m:t>
                      </m:r>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e>
                      </m:nary>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oMath>
                  </m:oMathPara>
                </a14:m>
                <a:endParaRPr lang="en-GB" sz="2300" dirty="0"/>
              </a:p>
            </p:txBody>
          </p:sp>
        </mc:Choice>
        <mc:Fallback xmlns="">
          <p:sp>
            <p:nvSpPr>
              <p:cNvPr id="17" name="step_2_empirical_error" descr="\mathcal E(h)=\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label.</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decision.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probability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590550" y="1921933"/>
                <a:ext cx="10744200" cy="781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𝑝</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590550" y="1921933"/>
                <a:ext cx="10744200" cy="781050"/>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326CB2"/>
                          </a:solidFill>
                          <a:latin typeface="Cambria Math"/>
                          <a:ea typeface="Cambria Math"/>
                          <a:cs typeface="Cambria Math"/>
                        </a:rPr>
                        <m:t>1−</m:t>
                      </m:r>
                      <m:r>
                        <a:rPr lang="en-GB" sz="3600" smtClean="0">
                          <a:solidFill>
                            <a:srgbClr val="326CB2"/>
                          </a:solidFill>
                          <a:latin typeface="Cambria Math"/>
                          <a:ea typeface="Cambria Math"/>
                          <a:cs typeface="Cambria Math"/>
                        </a:rPr>
                        <m:t>𝑝</m:t>
                      </m:r>
                      <m:d>
                        <m:dPr>
                          <m:ctrlPr>
                            <a:rPr lang="en-GB" sz="3600">
                              <a:solidFill>
                                <a:srgbClr val="326CB2"/>
                              </a:solidFill>
                              <a:latin typeface="Cambria Math"/>
                              <a:ea typeface="Cambria Math"/>
                              <a:cs typeface="Cambria Math"/>
                            </a:rPr>
                          </m:ctrlPr>
                        </m:dPr>
                        <m:e>
                          <m:r>
                            <a:rPr lang="en-GB" sz="3600">
                              <a:solidFill>
                                <a:srgbClr val="326CB2"/>
                              </a:solidFill>
                              <a:latin typeface="Cambria Math"/>
                              <a:ea typeface="Cambria Math"/>
                              <a:cs typeface="Cambria Math"/>
                            </a:rPr>
                            <m:t>𝐱</m:t>
                          </m:r>
                        </m:e>
                      </m:d>
                    </m:oMath>
                  </m:oMathPara>
                </a14:m>
                <a:endParaRPr lang="en-GB" sz="36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label with the larger probability. At a tie, we choose class 0.</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&gt;1/2</m:t>
                                </m:r>
                              </m:e>
                            </m:mr>
                          </m:m>
                        </m:e>
                      </m:d>
                    </m:oMath>
                  </m:oMathPara>
                </a14:m>
                <a:endParaRPr lang="en-GB" sz="2800" dirty="0"/>
              </a:p>
            </p:txBody>
          </p:sp>
        </mc:Choice>
        <mc:Fallback xmlns="">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&gt;0.</m:t>
                                </m:r>
                              </m:e>
                            </m:mr>
                          </m:m>
                        </m:e>
                      </m:d>
                    </m:oMath>
                  </m:oMathPara>
                </a14:m>
                <a:endParaRPr lang="en-GB" sz="2500" dirty="0">
                  <a:solidFill>
                    <a:srgbClr val="0070C0"/>
                  </a:solidFill>
                </a:endParaRPr>
              </a:p>
            </p:txBody>
          </p:sp>
        </mc:Choice>
        <mc:Fallback xmlns="">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428626" y="3409950"/>
                <a:ext cx="5667374" cy="1781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428626" y="3409950"/>
                <a:ext cx="5667374" cy="1781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p:cNvSpPr>
              <p:nvPr/>
            </p:nvSpPr>
            <p:spPr>
              <a:xfrm>
                <a:off x="6224779" y="3657599"/>
                <a:ext cx="5967221"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𝑑</m:t>
                      </m:r>
                      <m:r>
                        <a:rPr lang="en-GB" sz="2500" smtClean="0">
                          <a:solidFill>
                            <a:srgbClr val="087F83"/>
                          </a:solidFill>
                          <a:latin typeface="Cambria Math"/>
                          <a:ea typeface="Cambria Math"/>
                          <a:cs typeface="Cambria Math"/>
                        </a:rPr>
                        <m:t>=1: 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1</m:t>
                          </m:r>
                        </m:sub>
                      </m:sSub>
                      <m:r>
                        <a:rPr lang="it-IT" sz="2500" b="0" i="1" smtClean="0">
                          <a:solidFill>
                            <a:srgbClr val="087F83"/>
                          </a:solidFill>
                          <a:latin typeface="Cambria Math" panose="02040503050406030204" pitchFamily="18" charset="0"/>
                          <a:ea typeface="Cambria Math"/>
                          <a:cs typeface="Cambria Math"/>
                        </a:rPr>
                        <m:t>                              </m:t>
                      </m:r>
                    </m:oMath>
                  </m:oMathPara>
                </a14:m>
                <a:endParaRPr lang="en-GB" sz="2500" dirty="0">
                  <a:solidFill>
                    <a:srgbClr val="087F83"/>
                  </a:solidFill>
                  <a:latin typeface="Cambria Math"/>
                  <a:ea typeface="Cambria Math"/>
                  <a:cs typeface="Cambria Math"/>
                </a:endParaRPr>
              </a:p>
              <a:p>
                <a:pPr algn="ctr"/>
                <a:endParaRPr lang="en-GB" sz="800" dirty="0">
                  <a:solidFill>
                    <a:srgbClr val="087F83"/>
                  </a:solidFill>
                  <a:latin typeface="Cambria Math"/>
                  <a:ea typeface="Cambria Math"/>
                  <a:cs typeface="Cambria Math"/>
                </a:endParaRPr>
              </a:p>
              <a:p>
                <a:pPr algn="ctr"/>
                <a14:m>
                  <m:oMath xmlns:m="http://schemas.openxmlformats.org/officeDocument/2006/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=2: 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oMath>
                </a14:m>
                <a:r>
                  <a:rPr lang="it-IT" sz="2500" dirty="0">
                    <a:solidFill>
                      <a:srgbClr val="087F83"/>
                    </a:solidFill>
                    <a:ea typeface="Cambria Math"/>
                    <a:cs typeface="Cambria Math"/>
                  </a:rPr>
                  <a:t>                </a:t>
                </a:r>
              </a:p>
              <a:p>
                <a:pPr algn="ctr"/>
                <a:endParaRPr lang="en-GB" sz="800" dirty="0">
                  <a:solidFill>
                    <a:srgbClr val="087F83"/>
                  </a:solidFill>
                  <a:latin typeface="Cambria Math"/>
                  <a:ea typeface="Cambria Math"/>
                  <a:cs typeface="Cambria Math"/>
                </a:endParaRPr>
              </a:p>
              <a:p>
                <a:pPr algn="ctr"/>
                <a14:m>
                  <m:oMathPara xmlns:m="http://schemas.openxmlformats.org/officeDocument/2006/math">
                    <m:o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=3: 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𝑥</m:t>
                          </m:r>
                        </m:e>
                        <m:sub>
                          <m:r>
                            <a:rPr lang="it-IT" sz="2500" b="0" i="1" smtClean="0">
                              <a:solidFill>
                                <a:srgbClr val="087F83"/>
                              </a:solidFill>
                              <a:latin typeface="Cambria Math" panose="02040503050406030204" pitchFamily="18" charset="0"/>
                              <a:ea typeface="Cambria Math"/>
                              <a:cs typeface="Cambria Math"/>
                            </a:rPr>
                            <m:t>3</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3</m:t>
                          </m:r>
                        </m:sub>
                      </m:sSub>
                    </m:oMath>
                  </m:oMathPara>
                </a14:m>
                <a:endParaRPr lang="en-GB" sz="2500" dirty="0"/>
              </a:p>
            </p:txBody>
          </p:sp>
        </mc:Choice>
        <mc:Fallback xmlns="">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noRot="1" noChangeAspect="1" noMove="1" noResize="1" noEditPoints="1" noAdjustHandles="1" noChangeArrowheads="1" noChangeShapeType="1" noTextEdit="1"/>
              </p:cNvSpPr>
              <p:nvPr/>
            </p:nvSpPr>
            <p:spPr>
              <a:xfrm>
                <a:off x="6224779" y="3657599"/>
                <a:ext cx="5967221" cy="1285875"/>
              </a:xfrm>
              <a:prstGeom prst="rect">
                <a:avLst/>
              </a:prstGeom>
              <a:blipFill>
                <a:blip r:embed="rId5"/>
                <a:stretch>
                  <a:fillRect b="-13744"/>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32629"/>
            <a:ext cx="10744200" cy="134988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The score is also called a logit.</a:t>
            </a:r>
          </a:p>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However</a:t>
            </a:r>
            <a:r>
              <a:rPr lang="it-IT" sz="2100" dirty="0">
                <a:solidFill>
                  <a:srgbClr val="526276"/>
                </a:solidFill>
                <a:latin typeface="DejaVu Sans"/>
                <a:ea typeface="DejaVu Sans"/>
                <a:cs typeface="DejaVu Sans"/>
              </a:rPr>
              <a:t>,</a:t>
            </a:r>
            <a:r>
              <a:rPr lang="it-IT" sz="2100" b="0" dirty="0">
                <a:solidFill>
                  <a:srgbClr val="526276"/>
                </a:solidFill>
                <a:latin typeface="DejaVu Sans"/>
                <a:ea typeface="DejaVu Sans"/>
                <a:cs typeface="DejaVu Sans"/>
              </a:rPr>
              <a:t> t</a:t>
            </a:r>
            <a:r>
              <a:rPr sz="2100" b="0" dirty="0">
                <a:solidFill>
                  <a:srgbClr val="526276"/>
                </a:solidFill>
                <a:latin typeface="DejaVu Sans"/>
                <a:ea typeface="DejaVu Sans"/>
                <a:cs typeface="DejaVu Sans"/>
              </a:rPr>
              <a:t>he score can be </a:t>
            </a:r>
            <a:r>
              <a:rPr sz="2100" b="0" dirty="0">
                <a:solidFill>
                  <a:srgbClr val="FF0000"/>
                </a:solidFill>
                <a:latin typeface="DejaVu Sans"/>
                <a:ea typeface="DejaVu Sans"/>
                <a:cs typeface="DejaVu Sans"/>
              </a:rPr>
              <a:t>any real number</a:t>
            </a:r>
            <a:r>
              <a:rPr lang="it-IT"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It cannot serve directly as a probability.</a:t>
            </a:r>
          </a:p>
        </p:txBody>
      </p:sp>
    </p:spTree>
    <p:extLst>
      <p:ext uri="{BB962C8B-B14F-4D97-AF65-F5344CB8AC3E}">
        <p14:creationId xmlns:p14="http://schemas.microsoft.com/office/powerpoint/2010/main" val="197229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real score into a number between zero and one.</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0&lt;</m:t>
                      </m:r>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(0)=</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2_text_4">
                <a:extLst>
                  <a:ext uri="{FF2B5EF4-FFF2-40B4-BE49-F238E27FC236}">
                    <a16:creationId xmlns:a16="http://schemas.microsoft.com/office/drawing/2014/main" id="{B935A437-2AB8-44CC-A4F0-724EBAEB1286}"/>
                  </a:ext>
                </a:extLst>
              </p:cNvPr>
              <p:cNvSpPr>
                <a:spLocks noGrp="1"/>
              </p:cNvSpPr>
              <p:nvPr/>
            </p:nvSpPr>
            <p:spPr>
              <a:xfrm>
                <a:off x="8392287" y="5129212"/>
                <a:ext cx="2751963" cy="790575"/>
              </a:xfrm>
              <a:prstGeom prst="rect">
                <a:avLst/>
              </a:prstGeom>
              <a:noFill/>
              <a:ln w="0">
                <a:noFill/>
              </a:ln>
            </p:spPr>
            <p:txBody>
              <a:bodyPr wrap="square" lIns="0" tIns="0" rIns="0" bIns="0" anchor="ctr">
                <a:noAutofit/>
              </a:bodyPr>
              <a:lstStyle/>
              <a:p>
                <a:pPr algn="l">
                  <a:lnSpc>
                    <a:spcPct val="112000"/>
                  </a:lnSpc>
                  <a:buNone/>
                  <a:defRPr sz="1875" b="0">
                    <a:solidFill>
                      <a:srgbClr val="182D45"/>
                    </a:solidFill>
                    <a:latin typeface="DejaVu Sans"/>
                    <a:ea typeface="DejaVu Sans"/>
                    <a:cs typeface="DejaVu Sans"/>
                  </a:defRPr>
                </a:pP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𝑠</m:t>
                    </m:r>
                    <m:r>
                      <a:rPr lang="en-GB" sz="2000" b="0" i="1" dirty="0" smtClean="0">
                        <a:solidFill>
                          <a:srgbClr val="182D45"/>
                        </a:solidFill>
                        <a:latin typeface="Cambria Math" panose="02040503050406030204" pitchFamily="18" charset="0"/>
                        <a:ea typeface="DejaVu Sans"/>
                        <a:cs typeface="DejaVu Sans"/>
                      </a:rPr>
                      <m:t>&lt;0</m:t>
                    </m:r>
                  </m:oMath>
                </a14:m>
                <a:r>
                  <a:rPr lang="en-GB" sz="2000" b="0" dirty="0">
                    <a:solidFill>
                      <a:srgbClr val="182D45"/>
                    </a:solidFill>
                    <a:latin typeface="DejaVu Sans"/>
                    <a:ea typeface="DejaVu Sans"/>
                    <a:cs typeface="DejaVu Sans"/>
                  </a:rPr>
                  <a:t> favours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0</m:t>
                    </m:r>
                  </m:oMath>
                </a14:m>
                <a:r>
                  <a:rPr lang="en-GB" sz="2000" b="0" dirty="0">
                    <a:solidFill>
                      <a:srgbClr val="182D45"/>
                    </a:solidFill>
                    <a:latin typeface="DejaVu Sans"/>
                    <a:ea typeface="DejaVu Sans"/>
                    <a:cs typeface="DejaVu Sans"/>
                  </a:rPr>
                  <a:t>.</a:t>
                </a:r>
              </a:p>
              <a:p>
                <a:pPr>
                  <a:lnSpc>
                    <a:spcPct val="112000"/>
                  </a:lnSpc>
                  <a:defRPr sz="1875" b="0">
                    <a:solidFill>
                      <a:srgbClr val="182D45"/>
                    </a:solidFill>
                    <a:latin typeface="DejaVu Sans"/>
                    <a:ea typeface="DejaVu Sans"/>
                    <a:cs typeface="DejaVu Sans"/>
                  </a:defRPr>
                </a:pPr>
                <a14:m>
                  <m:oMath xmlns:m="http://schemas.openxmlformats.org/officeDocument/2006/math">
                    <m:r>
                      <m:rPr>
                        <m:sty m:val="p"/>
                      </m:rPr>
                      <a:rPr lang="it-IT" sz="2000" b="0" i="0" dirty="0" smtClean="0">
                        <a:solidFill>
                          <a:srgbClr val="182D45"/>
                        </a:solidFill>
                        <a:latin typeface="Cambria Math" panose="02040503050406030204" pitchFamily="18" charset="0"/>
                        <a:ea typeface="DejaVu Sans"/>
                        <a:cs typeface="DejaVu Sans"/>
                      </a:rPr>
                      <m:t>s</m:t>
                    </m:r>
                    <m:r>
                      <a:rPr lang="it-IT" sz="2000" b="0" i="0" dirty="0" smtClean="0">
                        <a:solidFill>
                          <a:srgbClr val="182D45"/>
                        </a:solidFill>
                        <a:latin typeface="Cambria Math" panose="02040503050406030204" pitchFamily="18" charset="0"/>
                        <a:ea typeface="DejaVu Sans"/>
                        <a:cs typeface="DejaVu Sans"/>
                      </a:rPr>
                      <m:t>&gt;0</m:t>
                    </m:r>
                  </m:oMath>
                </a14:m>
                <a:r>
                  <a:rPr lang="en-GB" sz="2000" b="0" dirty="0">
                    <a:solidFill>
                      <a:srgbClr val="182D45"/>
                    </a:solidFill>
                    <a:latin typeface="DejaVu Sans"/>
                    <a:ea typeface="DejaVu Sans"/>
                    <a:cs typeface="DejaVu Sans"/>
                  </a:rPr>
                  <a:t> </a:t>
                </a:r>
                <a:r>
                  <a:rPr lang="en-GB" sz="2000" b="0" dirty="0" err="1">
                    <a:solidFill>
                      <a:srgbClr val="182D45"/>
                    </a:solidFill>
                    <a:latin typeface="DejaVu Sans"/>
                    <a:ea typeface="DejaVu Sans"/>
                    <a:cs typeface="DejaVu Sans"/>
                  </a:rPr>
                  <a:t>favours</a:t>
                </a:r>
                <a:r>
                  <a:rPr lang="en-GB" sz="2000" b="0" dirty="0">
                    <a:solidFill>
                      <a:srgbClr val="182D45"/>
                    </a:solidFill>
                    <a:latin typeface="DejaVu Sans"/>
                    <a:ea typeface="DejaVu Sans"/>
                    <a:cs typeface="DejaVu Sans"/>
                  </a:rPr>
                  <a:t>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1</m:t>
                    </m:r>
                  </m:oMath>
                </a14:m>
                <a:r>
                  <a:rPr lang="en-GB" sz="2000" b="0" dirty="0">
                    <a:solidFill>
                      <a:srgbClr val="182D45"/>
                    </a:solidFill>
                    <a:latin typeface="DejaVu Sans"/>
                    <a:ea typeface="DejaVu Sans"/>
                    <a:cs typeface="DejaVu Sans"/>
                  </a:rPr>
                  <a:t>.</a:t>
                </a:r>
                <a:endParaRPr sz="2000" b="0" dirty="0">
                  <a:solidFill>
                    <a:srgbClr val="182D45"/>
                  </a:solidFill>
                  <a:latin typeface="DejaVu Sans"/>
                  <a:ea typeface="DejaVu Sans"/>
                  <a:cs typeface="DejaVu Sans"/>
                </a:endParaRPr>
              </a:p>
            </p:txBody>
          </p:sp>
        </mc:Choice>
        <mc:Fallback xmlns="">
          <p:sp>
            <p:nvSpPr>
              <p:cNvPr id="9" name="step_2_text_4">
                <a:extLst>
                  <a:ext uri="{FF2B5EF4-FFF2-40B4-BE49-F238E27FC236}">
                    <a16:creationId xmlns:a16="http://schemas.microsoft.com/office/drawing/2014/main" id="{B935A437-2AB8-44CC-A4F0-724EBAEB1286}"/>
                  </a:ext>
                </a:extLst>
              </p:cNvPr>
              <p:cNvSpPr>
                <a:spLocks noGrp="1" noRot="1" noChangeAspect="1" noMove="1" noResize="1" noEditPoints="1" noAdjustHandles="1" noChangeArrowheads="1" noChangeShapeType="1" noTextEdit="1"/>
              </p:cNvSpPr>
              <p:nvPr/>
            </p:nvSpPr>
            <p:spPr>
              <a:xfrm>
                <a:off x="8392287" y="5129212"/>
                <a:ext cx="2751963" cy="790575"/>
              </a:xfrm>
              <a:prstGeom prst="rect">
                <a:avLst/>
              </a:prstGeom>
              <a:blipFill>
                <a:blip r:embed="rId7"/>
                <a:stretch>
                  <a:fillRect l="-2439" r="-2217"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p:sp>
        <p:nvSpPr>
          <p:cNvPr id="2" name="lead">
            <a:extLst>
              <a:ext uri="{FF2B5EF4-FFF2-40B4-BE49-F238E27FC236}">
                <a16:creationId xmlns:a16="http://schemas.microsoft.com/office/drawing/2014/main" id="{D0FC44FF-8C08-42A1-A56C-9C15E1ECE33A}"/>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latin typeface="DejaVu Sans"/>
                <a:ea typeface="DejaVu Sans"/>
                <a:cs typeface="DejaVu Sans"/>
              </a:rPr>
              <a:t>sigmoid</a:t>
            </a:r>
            <a:r>
              <a:rPr sz="2100" b="0" dirty="0">
                <a:solidFill>
                  <a:srgbClr val="526276"/>
                </a:solidFill>
                <a:latin typeface="DejaVu Sans"/>
                <a:ea typeface="DejaVu Sans"/>
                <a:cs typeface="DejaVu Sans"/>
              </a:rPr>
              <a:t> is increasing and maps score zero to probability one half.</a:t>
            </a:r>
          </a:p>
        </p:txBody>
      </p:sp>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850517"/>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850517"/>
                <a:ext cx="10744200" cy="809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p:cNvSpPr>
              <p:nvPr/>
            </p:nvSpPr>
            <p:spPr>
              <a:xfrm>
                <a:off x="723900" y="2607278"/>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&gt;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&gt;0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607278"/>
                <a:ext cx="10744200" cy="952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26572"/>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Separating</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hyperplane</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26572"/>
                <a:ext cx="10744200" cy="69704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70594"/>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boundary 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 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70594"/>
                <a:ext cx="10744200" cy="2088642"/>
              </a:xfrm>
              <a:prstGeom prst="rect">
                <a:avLst/>
              </a:prstGeom>
              <a:blipFill>
                <a:blip r:embed="rId6"/>
                <a:stretch>
                  <a:fillRect l="-284" r="-28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observations can receive different labels when we change the parameters.</a:t>
            </a: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P spid="8" grpId="0"/>
      <p:bldP spid="19"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smallest mistake count.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rgbClr val="FF0000"/>
                </a:solidFill>
                <a:latin typeface="DejaVu Sans"/>
                <a:ea typeface="DejaVu Sans"/>
                <a:cs typeface="DejaVu Sans"/>
              </a:rPr>
              <a:t>The count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196054"/>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 all predicted labels.</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309813"/>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309813"/>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340896"/>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340896"/>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336255"/>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336255"/>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483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observed class is 0. Both predictions below choose class 1.</a:t>
            </a:r>
          </a:p>
        </p:txBody>
      </p:sp>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penalise assigning low probability to the observed class.</a:t>
            </a:r>
          </a:p>
        </p:txBody>
      </p:sp>
    </p:spTree>
    <p:extLst>
      <p:ext uri="{BB962C8B-B14F-4D97-AF65-F5344CB8AC3E}">
        <p14:creationId xmlns:p14="http://schemas.microsoft.com/office/powerpoint/2010/main" val="290270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 smooth loss for fitting probabilities</a:t>
            </a:r>
          </a:p>
        </p:txBody>
      </p:sp>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take the negative logarithm of the probability</a:t>
            </a:r>
            <a:endParaRPr lang="en-GB"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assigned to the observed class.</a:t>
            </a:r>
          </a:p>
        </p:txBody>
      </p:sp>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723900" y="1895475"/>
                <a:ext cx="10744200"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723900" y="1895475"/>
                <a:ext cx="10744200" cy="12668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combined" descr="\ell_{\log}(p,y)=-y\log p-(1-y)\log(1-p)">
                <a:extLst>
                  <a:ext uri="{FF2B5EF4-FFF2-40B4-BE49-F238E27FC236}">
                    <a16:creationId xmlns:a16="http://schemas.microsoft.com/office/drawing/2014/main" id="{00FD5B6C-3212-4CBE-A296-DFD0FAA92551}"/>
                  </a:ext>
                </a:extLst>
              </p:cNvPr>
              <p:cNvSpPr>
                <a:spLocks noGrp="1"/>
              </p:cNvSpPr>
              <p:nvPr/>
            </p:nvSpPr>
            <p:spPr>
              <a:xfrm>
                <a:off x="723900" y="3333750"/>
                <a:ext cx="10744200" cy="6953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m:rPr>
                              <m:sty m:val="p"/>
                            </m:rPr>
                            <a:rPr lang="en-GB" sz="2800">
                              <a:solidFill>
                                <a:srgbClr val="326CB2"/>
                              </a:solidFill>
                              <a:latin typeface="Cambria Math"/>
                              <a:ea typeface="Cambria Math"/>
                              <a:cs typeface="Cambria Math"/>
                            </a:rPr>
                            <m:t>ℓ</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e>
                      </m:d>
                      <m:r>
                        <a:rPr lang="en-GB" sz="2800">
                          <a:solidFill>
                            <a:srgbClr val="326CB2"/>
                          </a:solidFill>
                          <a:latin typeface="Cambria Math"/>
                          <a:ea typeface="Cambria Math"/>
                          <a:cs typeface="Cambria Math"/>
                        </a:rPr>
                        <m:t>−</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𝑦</m:t>
                          </m:r>
                        </m:e>
                      </m:d>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𝑝</m:t>
                          </m:r>
                        </m:e>
                      </m:d>
                    </m:oMath>
                  </m:oMathPara>
                </a14:m>
                <a:endParaRPr lang="en-GB" sz="2800" dirty="0"/>
              </a:p>
            </p:txBody>
          </p:sp>
        </mc:Choice>
        <mc:Fallback xmlns="">
          <p:sp>
            <p:nvSpPr>
              <p:cNvPr id="11" name="step_1_combined" descr="\ell_{\log}(p,y)=-y\log p-(1-y)\log(1-p)">
                <a:extLst>
                  <a:ext uri="{FF2B5EF4-FFF2-40B4-BE49-F238E27FC236}">
                    <a16:creationId xmlns:a16="http://schemas.microsoft.com/office/drawing/2014/main" id="{00FD5B6C-3212-4CBE-A296-DFD0FAA92551}"/>
                  </a:ext>
                </a:extLst>
              </p:cNvPr>
              <p:cNvSpPr>
                <a:spLocks noGrp="1" noRot="1" noChangeAspect="1" noMove="1" noResize="1" noEditPoints="1" noAdjustHandles="1" noChangeArrowheads="1" noChangeShapeType="1" noTextEdit="1"/>
              </p:cNvSpPr>
              <p:nvPr/>
            </p:nvSpPr>
            <p:spPr>
              <a:xfrm>
                <a:off x="723900" y="3333750"/>
                <a:ext cx="10744200" cy="6953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binary cross-entropy. We use natural logarithms.</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probability predictions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step_0_equation_0" descr="p_i=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i=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en-GB" sz="3100">
                          <a:solidFill>
                            <a:srgbClr val="087F83"/>
                          </a:solidFill>
                          <a:latin typeface="Cambria Math"/>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smooth objective,</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Comparing the two losses</a:t>
            </a:r>
          </a:p>
        </p:txBody>
      </p:sp>
      <p:sp>
        <p:nvSpPr>
          <p:cNvPr id="2" name="lead">
            <a:extLst>
              <a:ext uri="{FF2B5EF4-FFF2-40B4-BE49-F238E27FC236}">
                <a16:creationId xmlns:a16="http://schemas.microsoft.com/office/drawing/2014/main" id="{DA97DD64-BC74-4CC7-A2A4-30D860CD441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A mistake gives the observed class probability at most 1/2,</a:t>
            </a:r>
            <a:endParaRPr lang="it-IT" sz="2050" b="0" dirty="0">
              <a:solidFill>
                <a:srgbClr val="526276"/>
              </a:solidFill>
              <a:latin typeface="DejaVu Sans"/>
              <a:ea typeface="DejaVu Sans"/>
              <a:cs typeface="DejaVu Sans"/>
            </a:endParaRPr>
          </a:p>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so its logistic loss is at least </a:t>
            </a:r>
            <a:r>
              <a:rPr lang="it-IT" sz="2050" b="0" dirty="0">
                <a:solidFill>
                  <a:srgbClr val="526276"/>
                </a:solidFill>
                <a:latin typeface="DejaVu Sans"/>
                <a:ea typeface="DejaVu Sans"/>
                <a:cs typeface="DejaVu Sans"/>
              </a:rPr>
              <a:t>log 2</a:t>
            </a:r>
            <a:r>
              <a:rPr sz="205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y = 0</a:t>
            </a:r>
          </a:p>
        </p:txBody>
      </p:sp>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Observed label y = 1</a:t>
            </a:r>
          </a:p>
        </p:txBody>
      </p:sp>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r>
                            <a:rPr lang="en-GB" sz="2800">
                              <a:solidFill>
                                <a:srgbClr val="087F83"/>
                              </a:solidFill>
                              <a:latin typeface="Cambria Math"/>
                              <a:ea typeface="Cambria Math"/>
                              <a:cs typeface="Cambria Math"/>
                            </a:rPr>
                            <m:t>2</m:t>
                          </m:r>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5"/>
                <a:stretch>
                  <a:fillRect t="-2308" b="-846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r>
                                      <a:rPr lang="en-GB" sz="2600">
                                        <a:solidFill>
                                          <a:srgbClr val="087F83"/>
                                        </a:solidFill>
                                        <a:latin typeface="Cambria Math"/>
                                        <a:ea typeface="Cambria Math"/>
                                        <a:cs typeface="Cambria Math"/>
                                      </a:rPr>
                                      <m:t>2</m:t>
                                    </m:r>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2677287" y="5502590"/>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contro</a:t>
            </a:r>
            <a:r>
              <a:rPr lang="en-GB" sz="2100" dirty="0">
                <a:solidFill>
                  <a:srgbClr val="526276"/>
                </a:solidFill>
                <a:latin typeface="DejaVu Sans"/>
                <a:ea typeface="DejaVu Sans"/>
                <a:cs typeface="DejaVu Sans"/>
              </a:rPr>
              <a:t>l over the empirical logistic loss gives a control on the number of mistakes</a:t>
            </a:r>
            <a:endParaRPr lang="en-GB"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Fix one input and its observed label. We vary the model parameters.</a:t>
            </a:r>
          </a:p>
        </p:txBody>
      </p:sp>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Affine score</a:t>
            </a:r>
          </a:p>
        </p:txBody>
      </p:sp>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e>
                      </m:nary>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3"/>
                <a:stretch>
                  <a:fillRect b="-2857"/>
                </a:stretch>
              </a:blipFill>
              <a:ln w="0">
                <a:noFill/>
              </a:ln>
            </p:spPr>
            <p:txBody>
              <a:bodyPr/>
              <a:lstStyle/>
              <a:p>
                <a:r>
                  <a:rPr lang="it-IT">
                    <a:noFill/>
                  </a:rPr>
                  <a:t> </a:t>
                </a:r>
              </a:p>
            </p:txBody>
          </p:sp>
        </mc:Fallback>
      </mc:AlternateContent>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290887"/>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Sigmoid</a:t>
            </a:r>
          </a:p>
        </p:txBody>
      </p:sp>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62375"/>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62375"/>
                <a:ext cx="10744200" cy="876300"/>
              </a:xfrm>
              <a:prstGeom prst="rect">
                <a:avLst/>
              </a:prstGeom>
              <a:blipFill>
                <a:blip r:embed="rId4"/>
                <a:stretch>
                  <a:fillRect/>
                </a:stretch>
              </a:blipFill>
              <a:ln w="0">
                <a:noFill/>
              </a:ln>
            </p:spPr>
            <p:txBody>
              <a:bodyPr/>
              <a:lstStyle/>
              <a:p>
                <a:r>
                  <a:rPr lang="it-IT">
                    <a:noFill/>
                  </a:rPr>
                  <a:t> </a:t>
                </a:r>
              </a:p>
            </p:txBody>
          </p:sp>
        </mc:Fallback>
      </mc:AlternateContent>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Logistic loss, with the observed label fixed</a:t>
            </a:r>
          </a:p>
        </p:txBody>
      </p:sp>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r>
                        <m:rPr>
                          <m:sty m:val="p"/>
                        </m:rPr>
                        <a:rPr lang="en-GB" sz="2550">
                          <a:solidFill>
                            <a:srgbClr val="087F83"/>
                          </a:solidFill>
                          <a:latin typeface="Cambria Math"/>
                          <a:ea typeface="Cambria Math"/>
                          <a:cs typeface="Cambria Math"/>
                        </a:rPr>
                        <m:t>log</m:t>
                      </m:r>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m:rPr>
                          <m:sty m:val="p"/>
                        </m:rPr>
                        <a:rPr lang="en-GB" sz="2550">
                          <a:solidFill>
                            <a:srgbClr val="087F83"/>
                          </a:solidFill>
                          <a:latin typeface="Cambria Math"/>
                          <a:ea typeface="Cambria Math"/>
                          <a:cs typeface="Cambria Math"/>
                        </a:rPr>
                        <m:t>log</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r>
                            <a:rPr lang="en-GB" sz="2550">
                              <a:solidFill>
                                <a:srgbClr val="087F83"/>
                              </a:solidFill>
                              <a:latin typeface="Cambria Math"/>
                              <a:ea typeface="Cambria Math"/>
                              <a:cs typeface="Cambria Math"/>
                            </a:rPr>
                            <m:t>𝑝</m:t>
                          </m:r>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loss for one observation is the composition of these three functions.</a:t>
            </a:r>
          </a:p>
        </p:txBody>
      </p:sp>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r>
                  <a:rPr lang="en-GB" sz="2025" b="1" dirty="0">
                    <a:solidFill>
                      <a:srgbClr val="182D45"/>
                    </a:solidFill>
                    <a:latin typeface="DejaVu Sans"/>
                    <a:ea typeface="DejaVu Sans"/>
                    <a:cs typeface="DejaVu Sans"/>
                  </a:rPr>
                  <a:t> of this quantity</a:t>
                </a: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4"/>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429000"/>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429000"/>
                <a:ext cx="10744200" cy="1047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723900" y="4443413"/>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723900" y="4443413"/>
                <a:ext cx="10744200" cy="1028700"/>
              </a:xfrm>
              <a:prstGeom prst="rect">
                <a:avLst/>
              </a:prstGeom>
              <a:blipFill>
                <a:blip r:embed="rId6"/>
                <a:stretch>
                  <a:fillRect t="-2959" b="-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719263"/>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en-GB" sz="2700">
                          <a:solidFill>
                            <a:srgbClr val="087F83"/>
                          </a:solidFill>
                          <a:latin typeface="Cambria Math"/>
                          <a:ea typeface="Cambria Math"/>
                          <a:cs typeface="Cambria Math"/>
                        </a:rPr>
                        <m:t>log</m:t>
                      </m:r>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719263"/>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590550" y="2917985"/>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590550" y="2917985"/>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5075658"/>
                <a:ext cx="6094476" cy="1278683"/>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den>
                          </m:f>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5075658"/>
                <a:ext cx="6094476" cy="1278683"/>
              </a:xfrm>
              <a:prstGeom prst="rect">
                <a:avLst/>
              </a:prstGeom>
              <a:blipFill>
                <a:blip r:embed="rId6"/>
                <a:stretch>
                  <a:fillRect l="-27500" r="-26600"/>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sigmoid as a composition and apply the chain rule 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e>
                      </m:nary>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𝜃</m:t>
                              </m:r>
                            </m:e>
                            <m:sub>
                              <m:r>
                                <a:rPr lang="en-GB" sz="2900">
                                  <a:solidFill>
                                    <a:srgbClr val="087F83"/>
                                  </a:solidFill>
                                  <a:latin typeface="Cambria Math"/>
                                  <a:ea typeface="Cambria Math"/>
                                  <a:cs typeface="Cambria Math"/>
                                </a:rPr>
                                <m:t>𝑗</m:t>
                              </m:r>
                            </m:sub>
                          </m:sSub>
                        </m:den>
                      </m:f>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_{\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𝐩</m:t>
                          </m:r>
                        </m:e>
                        <m:sub>
                          <m:r>
                            <a:rPr lang="en-GB" sz="2100">
                              <a:solidFill>
                                <a:srgbClr val="087F83"/>
                              </a:solidFill>
                              <a:latin typeface="Cambria Math"/>
                              <a:ea typeface="Cambria Math"/>
                              <a:cs typeface="Cambria Math"/>
                            </a:rPr>
                            <m:t>𝛉</m:t>
                          </m:r>
                        </m:sub>
                      </m:sSub>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_{\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_{\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i="1">
                              <a:solidFill>
                                <a:srgbClr val="326CB2"/>
                              </a:solidFill>
                              <a:latin typeface="Cambria Math" panose="02040503050406030204" pitchFamily="18" charset="0"/>
                              <a:ea typeface="Cambria Math"/>
                              <a:cs typeface="Cambria Math"/>
                            </a:rPr>
                          </m:ctrlPr>
                        </m:dPr>
                        <m:e>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𝐩</m:t>
                              </m:r>
                            </m:e>
                            <m:sub>
                              <m:r>
                                <a:rPr lang="en-GB" sz="2800">
                                  <a:solidFill>
                                    <a:srgbClr val="326CB2"/>
                                  </a:solidFill>
                                  <a:latin typeface="Cambria Math"/>
                                  <a:ea typeface="Cambria Math"/>
                                  <a:cs typeface="Cambria Math"/>
                                </a:rPr>
                                <m:t>𝛉</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_{\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endParaRPr lang="it-IT" sz="2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8" name="step_2_vector_identity" descr="\boldsymbol p_{\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𝐩</m:t>
                          </m:r>
                        </m:e>
                        <m:sub>
                          <m:r>
                            <a:rPr lang="en-GB" sz="2300">
                              <a:solidFill>
                                <a:srgbClr val="326CB2"/>
                              </a:solidFill>
                              <a:latin typeface="Cambria Math"/>
                              <a:ea typeface="Cambria Math"/>
                              <a:cs typeface="Cambria Math"/>
                            </a:rPr>
                            <m:t>𝛉</m:t>
                          </m:r>
                        </m:sub>
                      </m:sSub>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_{\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0.001,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0.001</a:t>
            </a:r>
          </a:p>
        </p:txBody>
      </p:sp>
    </p:spTree>
    <p:extLst>
      <p:ext uri="{BB962C8B-B14F-4D97-AF65-F5344CB8AC3E}">
        <p14:creationId xmlns:p14="http://schemas.microsoft.com/office/powerpoint/2010/main" val="1694552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The bound still holds 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0.002,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0.002</a:t>
            </a:r>
          </a:p>
        </p:txBody>
      </p:sp>
    </p:spTree>
    <p:extLst>
      <p:ext uri="{BB962C8B-B14F-4D97-AF65-F5344CB8AC3E}">
        <p14:creationId xmlns:p14="http://schemas.microsoft.com/office/powerpoint/2010/main" val="1694552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predict one probability per class and choose the most probable label.</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probabilistic predictor assigns one probability to each possible class </a:t>
                </a:r>
                <a14:m>
                  <m:oMath xmlns:m="http://schemas.openxmlformats.org/officeDocument/2006/math">
                    <m:d>
                      <m:dPr>
                        <m:begChr m:val="{"/>
                        <m:endChr m:val="}"/>
                        <m:ctrlPr>
                          <a:rPr lang="it-IT" sz="2100" b="0" i="1" smtClean="0">
                            <a:solidFill>
                              <a:srgbClr val="526276"/>
                            </a:solidFill>
                            <a:latin typeface="Cambria Math" panose="02040503050406030204" pitchFamily="18" charset="0"/>
                          </a:rPr>
                        </m:ctrlPr>
                      </m:dPr>
                      <m:e>
                        <m:r>
                          <a:rPr lang="it-IT" sz="2100" b="0" i="1" smtClean="0">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𝐾</m:t>
                        </m:r>
                      </m:e>
                    </m:d>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l="-568" r="-56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Each component gives the predicted probability of </a:t>
            </a:r>
            <a:r>
              <a:rPr lang="it-IT" sz="2025" b="0" dirty="0">
                <a:solidFill>
                  <a:srgbClr val="182D45"/>
                </a:solidFill>
                <a:latin typeface="DejaVu Sans"/>
                <a:ea typeface="DejaVu Sans"/>
                <a:cs typeface="DejaVu Sans"/>
              </a:rPr>
              <a:t>the </a:t>
            </a:r>
            <a:r>
              <a:rPr lang="it-IT" sz="2025" b="0" dirty="0" err="1">
                <a:solidFill>
                  <a:srgbClr val="182D45"/>
                </a:solidFill>
                <a:latin typeface="DejaVu Sans"/>
                <a:ea typeface="DejaVu Sans"/>
                <a:cs typeface="DejaVu Sans"/>
              </a:rPr>
              <a:t>corresponding</a:t>
            </a:r>
            <a:r>
              <a:rPr sz="2025" b="0" dirty="0">
                <a:solidFill>
                  <a:srgbClr val="182D45"/>
                </a:solidFill>
                <a:latin typeface="DejaVu Sans"/>
                <a:ea typeface="DejaVu Sans"/>
                <a:cs typeface="DejaVu Sans"/>
              </a:rPr>
              <a:t> class.</a:t>
            </a:r>
            <a:endParaRPr lang="it-IT" sz="2025" b="0" dirty="0">
              <a:solidFill>
                <a:srgbClr val="182D45"/>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e>
                      </m:nary>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𝐱</m:t>
                      </m:r>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809750"/>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809750"/>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p:cNvSpPr>
              <p:nvPr/>
            </p:nvSpPr>
            <p:spPr>
              <a:xfrm>
                <a:off x="723900" y="2133599"/>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func>
                        <m:funcPr>
                          <m:ctrlPr>
                            <a:rPr lang="it-IT" sz="2900">
                              <a:solidFill>
                                <a:srgbClr val="087F83"/>
                              </a:solidFill>
                              <a:latin typeface="Cambria Math" panose="02040503050406030204" pitchFamily="18" charset="0"/>
                              <a:ea typeface="Cambria Math"/>
                              <a:cs typeface="Cambria Math"/>
                            </a:rPr>
                          </m:ctrlPr>
                        </m:funcPr>
                        <m:fName>
                          <m:r>
                            <m:rPr>
                              <m:sty m:val="p"/>
                            </m:rPr>
                            <a:rPr lang="it-IT" sz="2900">
                              <a:solidFill>
                                <a:srgbClr val="087F83"/>
                              </a:solidFill>
                              <a:latin typeface="Cambria Math" panose="02040503050406030204" pitchFamily="18" charset="0"/>
                              <a:ea typeface="Cambria Math"/>
                              <a:cs typeface="Cambria Math"/>
                            </a:rPr>
                            <m:t>min</m:t>
                          </m:r>
                        </m:fName>
                        <m:e>
                          <m:d>
                            <m:dPr>
                              <m:ctrlPr>
                                <a:rPr lang="it-IT" sz="2900" i="1">
                                  <a:solidFill>
                                    <a:srgbClr val="087F83"/>
                                  </a:solidFill>
                                  <a:latin typeface="Cambria Math" panose="02040503050406030204" pitchFamily="18" charset="0"/>
                                  <a:ea typeface="Cambria Math"/>
                                  <a:cs typeface="Cambria Math"/>
                                </a:rPr>
                              </m:ctrlPr>
                            </m:dPr>
                            <m:e>
                              <m:func>
                                <m:funcPr>
                                  <m:ctrlPr>
                                    <a:rPr lang="it-IT" sz="2900" i="1">
                                      <a:solidFill>
                                        <a:srgbClr val="087F83"/>
                                      </a:solidFill>
                                      <a:latin typeface="Cambria Math" panose="02040503050406030204" pitchFamily="18" charset="0"/>
                                      <a:ea typeface="Cambria Math"/>
                                      <a:cs typeface="Cambria Math"/>
                                    </a:rPr>
                                  </m:ctrlPr>
                                </m:funcPr>
                                <m:fName>
                                  <m:sSub>
                                    <m:sSubPr>
                                      <m:ctrlPr>
                                        <a:rPr lang="it-IT" sz="2900">
                                          <a:solidFill>
                                            <a:srgbClr val="087F83"/>
                                          </a:solidFill>
                                          <a:latin typeface="Cambria Math" panose="02040503050406030204" pitchFamily="18" charset="0"/>
                                          <a:ea typeface="Cambria Math"/>
                                          <a:cs typeface="Cambria Math"/>
                                        </a:rPr>
                                      </m:ctrlPr>
                                    </m:sSubPr>
                                    <m:e>
                                      <m:r>
                                        <m:rPr>
                                          <m:sty m:val="p"/>
                                        </m:rPr>
                                        <a:rPr lang="it-IT" sz="2900">
                                          <a:solidFill>
                                            <a:srgbClr val="087F83"/>
                                          </a:solidFill>
                                          <a:latin typeface="Cambria Math" panose="02040503050406030204" pitchFamily="18" charset="0"/>
                                          <a:ea typeface="Cambria Math"/>
                                          <a:cs typeface="Cambria Math"/>
                                        </a:rPr>
                                        <m:t>argmax</m:t>
                                      </m:r>
                                    </m:e>
                                    <m:sub>
                                      <m:r>
                                        <a:rPr lang="it-IT" sz="2900" i="1">
                                          <a:solidFill>
                                            <a:srgbClr val="087F83"/>
                                          </a:solidFill>
                                          <a:latin typeface="Cambria Math" panose="02040503050406030204" pitchFamily="18" charset="0"/>
                                          <a:ea typeface="Cambria Math"/>
                                          <a:cs typeface="Cambria Math"/>
                                        </a:rPr>
                                        <m:t>𝑘</m:t>
                                      </m:r>
                                      <m:r>
                                        <a:rPr lang="it-IT" sz="2900" i="1">
                                          <a:solidFill>
                                            <a:srgbClr val="087F83"/>
                                          </a:solidFill>
                                          <a:latin typeface="Cambria Math" panose="02040503050406030204" pitchFamily="18" charset="0"/>
                                          <a:ea typeface="Cambria Math"/>
                                          <a:cs typeface="Cambria Math"/>
                                        </a:rPr>
                                        <m:t>∈</m:t>
                                      </m:r>
                                      <m:d>
                                        <m:dPr>
                                          <m:begChr m:val="{"/>
                                          <m:endChr m:val="}"/>
                                          <m:ctrlPr>
                                            <a:rPr lang="it-IT" sz="2900" i="1">
                                              <a:solidFill>
                                                <a:srgbClr val="087F83"/>
                                              </a:solidFill>
                                              <a:latin typeface="Cambria Math" panose="02040503050406030204" pitchFamily="18" charset="0"/>
                                              <a:ea typeface="Cambria Math"/>
                                            </a:rPr>
                                          </m:ctrlPr>
                                        </m:dPr>
                                        <m:e>
                                          <m:r>
                                            <a:rPr lang="it-IT" sz="2900" i="1">
                                              <a:solidFill>
                                                <a:srgbClr val="087F83"/>
                                              </a:solidFill>
                                              <a:latin typeface="Cambria Math" panose="02040503050406030204" pitchFamily="18" charset="0"/>
                                              <a:ea typeface="Cambria Math"/>
                                            </a:rPr>
                                            <m:t>1,…,</m:t>
                                          </m:r>
                                          <m:r>
                                            <a:rPr lang="it-IT" sz="2900" i="1">
                                              <a:solidFill>
                                                <a:srgbClr val="087F83"/>
                                              </a:solidFill>
                                              <a:latin typeface="Cambria Math" panose="02040503050406030204" pitchFamily="18" charset="0"/>
                                              <a:ea typeface="Cambria Math"/>
                                            </a:rPr>
                                            <m:t>𝐾</m:t>
                                          </m:r>
                                        </m:e>
                                      </m:d>
                                    </m:sub>
                                  </m:sSub>
                                </m:fName>
                                <m:e>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i="1">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func>
                            </m:e>
                          </m:d>
                        </m:e>
                      </m:func>
                    </m:oMath>
                  </m:oMathPara>
                </a14:m>
                <a:endParaRPr lang="en-GB" sz="2900" dirty="0"/>
              </a:p>
            </p:txBody>
          </p:sp>
        </mc:Choice>
        <mc:Fallback xmlns="">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23900" y="2133599"/>
                <a:ext cx="10744200" cy="1019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3043236"/>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14:m>
                  <m:oMath xmlns:m="http://schemas.openxmlformats.org/officeDocument/2006/math">
                    <m:r>
                      <m:rPr>
                        <m:sty m:val="p"/>
                      </m:rPr>
                      <a:rPr lang="it-IT" sz="2025" i="1" dirty="0">
                        <a:solidFill>
                          <a:srgbClr val="182D45"/>
                        </a:solidFill>
                        <a:latin typeface="Cambria Math" panose="02040503050406030204" pitchFamily="18" charset="0"/>
                        <a:ea typeface="DejaVu Sans"/>
                        <a:cs typeface="DejaVu Sans"/>
                      </a:rPr>
                      <m:t>argmax</m:t>
                    </m:r>
                    <m:r>
                      <a:rPr lang="it-IT" sz="2025" b="0" i="1" dirty="0">
                        <a:solidFill>
                          <a:srgbClr val="182D45"/>
                        </a:solidFill>
                        <a:latin typeface="Cambria Math" panose="02040503050406030204" pitchFamily="18" charset="0"/>
                        <a:ea typeface="DejaVu Sans"/>
                        <a:cs typeface="DejaVu Sans"/>
                      </a:rPr>
                      <m:t>⁡⁡</m:t>
                    </m:r>
                  </m:oMath>
                </a14:m>
                <a:r>
                  <a:rPr lang="it-IT" sz="2025" b="0" dirty="0">
                    <a:solidFill>
                      <a:srgbClr val="182D45"/>
                    </a:solidFill>
                    <a:latin typeface="DejaVu Sans"/>
                    <a:ea typeface="DejaVu Sans"/>
                    <a:cs typeface="DejaVu Sans"/>
                  </a:rPr>
                  <a:t> </a:t>
                </a:r>
                <a:r>
                  <a:rPr sz="2025" b="0" dirty="0">
                    <a:solidFill>
                      <a:srgbClr val="182D45"/>
                    </a:solidFill>
                    <a:latin typeface="DejaVu Sans"/>
                    <a:ea typeface="DejaVu Sans"/>
                    <a:cs typeface="DejaVu Sans"/>
                  </a:rPr>
                  <a:t>returns the</a:t>
                </a:r>
                <a:r>
                  <a:rPr lang="it-IT" sz="2025" b="0" dirty="0">
                    <a:solidFill>
                      <a:srgbClr val="182D45"/>
                    </a:solidFill>
                    <a:latin typeface="DejaVu Sans"/>
                    <a:ea typeface="DejaVu Sans"/>
                    <a:cs typeface="DejaVu Sans"/>
                  </a:rPr>
                  <a:t> set of</a:t>
                </a:r>
                <a:r>
                  <a:rPr sz="2025" b="0" dirty="0">
                    <a:solidFill>
                      <a:srgbClr val="182D45"/>
                    </a:solidFill>
                    <a:latin typeface="DejaVu Sans"/>
                    <a:ea typeface="DejaVu Sans"/>
                    <a:cs typeface="DejaVu Sans"/>
                  </a:rPr>
                  <a:t> indices of the largest components.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outer </a:t>
                </a:r>
                <a14:m>
                  <m:oMath xmlns:m="http://schemas.openxmlformats.org/officeDocument/2006/math">
                    <m:r>
                      <m:rPr>
                        <m:sty m:val="p"/>
                      </m:rPr>
                      <a:rPr lang="it-IT" sz="2025" b="0" i="1" dirty="0" smtClean="0">
                        <a:solidFill>
                          <a:srgbClr val="182D45"/>
                        </a:solidFill>
                        <a:latin typeface="Cambria Math" panose="02040503050406030204" pitchFamily="18" charset="0"/>
                        <a:ea typeface="DejaVu Sans"/>
                        <a:cs typeface="DejaVu Sans"/>
                      </a:rPr>
                      <m:t>min</m:t>
                    </m:r>
                    <m:r>
                      <a:rPr lang="it-IT" sz="2025" b="0" i="1" dirty="0" smtClean="0">
                        <a:solidFill>
                          <a:srgbClr val="182D45"/>
                        </a:solidFill>
                        <a:latin typeface="Cambria Math" panose="02040503050406030204" pitchFamily="18" charset="0"/>
                        <a:ea typeface="DejaVu Sans"/>
                        <a:cs typeface="DejaVu Sans"/>
                      </a:rPr>
                      <m:t>⁡</m:t>
                    </m:r>
                  </m:oMath>
                </a14:m>
                <a:r>
                  <a:rPr sz="2025" b="0" dirty="0">
                    <a:solidFill>
                      <a:srgbClr val="182D45"/>
                    </a:solidFill>
                    <a:latin typeface="DejaVu Sans"/>
                    <a:ea typeface="DejaVu Sans"/>
                    <a:cs typeface="DejaVu Sans"/>
                  </a:rPr>
                  <a:t> chooses the smallest index </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in</a:t>
                </a:r>
                <a:r>
                  <a:rPr lang="it-IT" sz="2025" b="0" dirty="0">
                    <a:solidFill>
                      <a:srgbClr val="182D45"/>
                    </a:solidFill>
                    <a:latin typeface="DejaVu Sans"/>
                    <a:ea typeface="DejaVu Sans"/>
                    <a:cs typeface="DejaVu Sans"/>
                  </a:rPr>
                  <a:t> case of</a:t>
                </a:r>
                <a:r>
                  <a:rPr sz="2025" b="0" dirty="0">
                    <a:solidFill>
                      <a:srgbClr val="182D45"/>
                    </a:solidFill>
                    <a:latin typeface="DejaVu Sans"/>
                    <a:ea typeface="DejaVu Sans"/>
                    <a:cs typeface="DejaVu Sans"/>
                  </a:rPr>
                  <a:t> a tie</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a:t>
                </a:r>
              </a:p>
            </p:txBody>
          </p:sp>
        </mc:Choice>
        <mc:Fallback xmlns="">
          <p:sp>
            <p:nvSpPr>
              <p:cNvPr id="102" name="argmax_explanation">
                <a:extLst>
                  <a:ext uri="{FF2B5EF4-FFF2-40B4-BE49-F238E27FC236}">
                    <a16:creationId xmlns:a16="http://schemas.microsoft.com/office/drawing/2014/main" id="{098FBF2D-9A14-46F9-8D93-BBD423A5D92B}"/>
                  </a:ext>
                </a:extLst>
              </p:cNvPr>
              <p:cNvSpPr>
                <a:spLocks noGrp="1" noRot="1" noChangeAspect="1" noMove="1" noResize="1" noEditPoints="1" noAdjustHandles="1" noChangeArrowheads="1" noChangeShapeType="1" noTextEdit="1"/>
              </p:cNvSpPr>
              <p:nvPr/>
            </p:nvSpPr>
            <p:spPr>
              <a:xfrm>
                <a:off x="723900" y="3043236"/>
                <a:ext cx="10744200" cy="790575"/>
              </a:xfrm>
              <a:prstGeom prst="rect">
                <a:avLst/>
              </a:prstGeom>
              <a:blipFill>
                <a:blip r:embed="rId5"/>
                <a:stretch>
                  <a:fillRect b="-84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 descr="\mathbf p(\mathbf x)=(0.25,0.2,0.12,0.18,0.25)\quad\Longrightarrow\quad\operatorname*{arg\,max}_{k\in\{1,\ldots,5\}}p_k(\mathbf x)=\{1,5\}\quad\Longrightarrow\quad h_{\mathbf p}(\mathbf x)=\min\{1,5\}=1">
                <a:extLst>
                  <a:ext uri="{FF2B5EF4-FFF2-40B4-BE49-F238E27FC236}">
                    <a16:creationId xmlns:a16="http://schemas.microsoft.com/office/drawing/2014/main" id="{947F3EAB-7D0C-440B-8796-D8DBA5235502}"/>
                  </a:ext>
                </a:extLst>
              </p:cNvPr>
              <p:cNvSpPr>
                <a:spLocks noGrp="1"/>
              </p:cNvSpPr>
              <p:nvPr/>
            </p:nvSpPr>
            <p:spPr>
              <a:xfrm>
                <a:off x="781050" y="3900485"/>
                <a:ext cx="10744200" cy="133826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𝐩</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𝐱</m:t>
                          </m:r>
                        </m:e>
                      </m:d>
                      <m:r>
                        <a:rPr lang="en-GB" sz="2400" smtClean="0">
                          <a:solidFill>
                            <a:srgbClr val="087F83"/>
                          </a:solidFill>
                          <a:latin typeface="Cambria Math"/>
                          <a:ea typeface="Cambria Math"/>
                          <a:cs typeface="Cambria Math"/>
                        </a:rPr>
                        <m:t>=</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25</m:t>
                          </m:r>
                          <m:r>
                            <a:rPr lang="en-GB" sz="240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2,0.12,0.18</m:t>
                          </m:r>
                          <m:r>
                            <a:rPr lang="en-GB" sz="2400">
                              <a:solidFill>
                                <a:srgbClr val="087F83"/>
                              </a:solidFill>
                              <a:latin typeface="Cambria Math"/>
                              <a:ea typeface="Cambria Math"/>
                              <a:cs typeface="Cambria Math"/>
                            </a:rPr>
                            <m:t>,0.2</m:t>
                          </m:r>
                          <m:r>
                            <a:rPr lang="it-IT" sz="2400" b="0" i="0" smtClean="0">
                              <a:solidFill>
                                <a:srgbClr val="087F83"/>
                              </a:solidFill>
                              <a:latin typeface="Cambria Math" panose="02040503050406030204" pitchFamily="18" charset="0"/>
                              <a:ea typeface="Cambria Math"/>
                              <a:cs typeface="Cambria Math"/>
                            </a:rPr>
                            <m:t>5</m:t>
                          </m:r>
                        </m:e>
                      </m:d>
                      <m:r>
                        <a:rPr lang="en-GB" sz="2400">
                          <a:solidFill>
                            <a:srgbClr val="087F83"/>
                          </a:solidFill>
                          <a:latin typeface="Cambria Math"/>
                          <a:ea typeface="Cambria Math"/>
                          <a:cs typeface="Cambria Math"/>
                        </a:rPr>
                        <m:t> </m:t>
                      </m:r>
                    </m:oMath>
                  </m:oMathPara>
                </a14:m>
                <a:endParaRPr lang="it-IT" sz="2400" dirty="0">
                  <a:solidFill>
                    <a:srgbClr val="087F83"/>
                  </a:solidFill>
                  <a:latin typeface="Cambria Math"/>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func>
                        <m:funcPr>
                          <m:ctrlPr>
                            <a:rPr lang="it-IT" sz="2400" i="1">
                              <a:solidFill>
                                <a:srgbClr val="087F83"/>
                              </a:solidFill>
                              <a:latin typeface="Cambria Math" panose="02040503050406030204" pitchFamily="18" charset="0"/>
                              <a:ea typeface="Cambria Math"/>
                              <a:cs typeface="Cambria Math"/>
                            </a:rPr>
                          </m:ctrlPr>
                        </m:funcPr>
                        <m:fName>
                          <m:sSub>
                            <m:sSubPr>
                              <m:ctrlPr>
                                <a:rPr lang="it-IT" sz="2400">
                                  <a:solidFill>
                                    <a:srgbClr val="087F83"/>
                                  </a:solidFill>
                                  <a:latin typeface="Cambria Math" panose="02040503050406030204" pitchFamily="18" charset="0"/>
                                  <a:ea typeface="Cambria Math"/>
                                  <a:cs typeface="Cambria Math"/>
                                </a:rPr>
                              </m:ctrlPr>
                            </m:sSubPr>
                            <m:e>
                              <m:r>
                                <m:rPr>
                                  <m:sty m:val="p"/>
                                </m:rPr>
                                <a:rPr lang="it-IT" sz="2400">
                                  <a:solidFill>
                                    <a:srgbClr val="087F83"/>
                                  </a:solidFill>
                                  <a:latin typeface="Cambria Math" panose="02040503050406030204" pitchFamily="18" charset="0"/>
                                  <a:ea typeface="Cambria Math"/>
                                  <a:cs typeface="Cambria Math"/>
                                </a:rPr>
                                <m:t>argmax</m:t>
                              </m:r>
                            </m:e>
                            <m:sub>
                              <m:r>
                                <a:rPr lang="it-IT" sz="2400" i="1">
                                  <a:solidFill>
                                    <a:srgbClr val="087F83"/>
                                  </a:solidFill>
                                  <a:latin typeface="Cambria Math" panose="02040503050406030204" pitchFamily="18" charset="0"/>
                                  <a:ea typeface="Cambria Math"/>
                                  <a:cs typeface="Cambria Math"/>
                                </a:rPr>
                                <m:t>𝑘</m:t>
                              </m:r>
                              <m:r>
                                <a:rPr lang="it-IT" sz="2400" i="1">
                                  <a:solidFill>
                                    <a:srgbClr val="087F83"/>
                                  </a:solidFill>
                                  <a:latin typeface="Cambria Math" panose="02040503050406030204" pitchFamily="18" charset="0"/>
                                  <a:ea typeface="Cambria Math"/>
                                  <a:cs typeface="Cambria Math"/>
                                </a:rPr>
                                <m:t>∈</m:t>
                              </m:r>
                              <m:d>
                                <m:dPr>
                                  <m:begChr m:val="{"/>
                                  <m:endChr m:val="}"/>
                                  <m:ctrlPr>
                                    <a:rPr lang="it-IT" sz="2400" i="1">
                                      <a:solidFill>
                                        <a:srgbClr val="087F83"/>
                                      </a:solidFill>
                                      <a:latin typeface="Cambria Math" panose="02040503050406030204" pitchFamily="18" charset="0"/>
                                      <a:ea typeface="Cambria Math"/>
                                    </a:rPr>
                                  </m:ctrlPr>
                                </m:dPr>
                                <m:e>
                                  <m:r>
                                    <a:rPr lang="it-IT" sz="2400" i="1">
                                      <a:solidFill>
                                        <a:srgbClr val="087F83"/>
                                      </a:solidFill>
                                      <a:latin typeface="Cambria Math" panose="02040503050406030204" pitchFamily="18" charset="0"/>
                                      <a:ea typeface="Cambria Math"/>
                                    </a:rPr>
                                    <m:t>1,…,</m:t>
                                  </m:r>
                                  <m:r>
                                    <a:rPr lang="it-IT" sz="2400" b="0" i="1" smtClean="0">
                                      <a:solidFill>
                                        <a:srgbClr val="087F83"/>
                                      </a:solidFill>
                                      <a:latin typeface="Cambria Math" panose="02040503050406030204" pitchFamily="18" charset="0"/>
                                      <a:ea typeface="Cambria Math"/>
                                    </a:rPr>
                                    <m:t>5</m:t>
                                  </m:r>
                                </m:e>
                              </m:d>
                            </m:sub>
                          </m:sSub>
                        </m:fName>
                        <m:e>
                          <m:sSub>
                            <m:sSubPr>
                              <m:ctrlPr>
                                <a:rPr lang="it-IT" sz="2400" i="1">
                                  <a:solidFill>
                                    <a:srgbClr val="087F83"/>
                                  </a:solidFill>
                                  <a:latin typeface="Cambria Math" panose="02040503050406030204" pitchFamily="18" charset="0"/>
                                  <a:ea typeface="Cambria Math"/>
                                  <a:cs typeface="Cambria Math"/>
                                </a:rPr>
                              </m:ctrlPr>
                            </m:sSubPr>
                            <m:e>
                              <m:r>
                                <a:rPr lang="it-IT" sz="2400" i="1">
                                  <a:solidFill>
                                    <a:srgbClr val="087F83"/>
                                  </a:solidFill>
                                  <a:latin typeface="Cambria Math" panose="02040503050406030204" pitchFamily="18" charset="0"/>
                                  <a:ea typeface="Cambria Math"/>
                                  <a:cs typeface="Cambria Math"/>
                                </a:rPr>
                                <m:t>𝑝</m:t>
                              </m:r>
                            </m:e>
                            <m:sub>
                              <m:r>
                                <a:rPr lang="it-IT" sz="2400" i="1">
                                  <a:solidFill>
                                    <a:srgbClr val="087F83"/>
                                  </a:solidFill>
                                  <a:latin typeface="Cambria Math" panose="02040503050406030204" pitchFamily="18" charset="0"/>
                                  <a:ea typeface="Cambria Math"/>
                                  <a:cs typeface="Cambria Math"/>
                                </a:rPr>
                                <m:t>𝑘</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e>
                      </m:func>
                      <m:r>
                        <a:rPr lang="it-IT" sz="2400" b="0" i="1" smtClean="0">
                          <a:solidFill>
                            <a:srgbClr val="087F83"/>
                          </a:solidFill>
                          <a:latin typeface="Cambria Math" panose="02040503050406030204" pitchFamily="18" charset="0"/>
                          <a:ea typeface="Cambria Math"/>
                          <a:cs typeface="Cambria Math"/>
                        </a:rPr>
                        <m:t>=</m:t>
                      </m:r>
                      <m:d>
                        <m:dPr>
                          <m:begChr m:val="{"/>
                          <m:endChr m:val="}"/>
                          <m:ctrlPr>
                            <a:rPr lang="it-IT" sz="2400" b="0" i="1" smtClean="0">
                              <a:solidFill>
                                <a:srgbClr val="087F83"/>
                              </a:solidFill>
                              <a:latin typeface="Cambria Math" panose="02040503050406030204" pitchFamily="18" charset="0"/>
                              <a:ea typeface="Cambria Math"/>
                              <a:cs typeface="Cambria Math"/>
                            </a:rPr>
                          </m:ctrlPr>
                        </m:dPr>
                        <m:e>
                          <m:r>
                            <a:rPr lang="it-IT" sz="2400" b="0" i="1" smtClean="0">
                              <a:solidFill>
                                <a:srgbClr val="087F83"/>
                              </a:solidFill>
                              <a:latin typeface="Cambria Math" panose="02040503050406030204" pitchFamily="18" charset="0"/>
                              <a:ea typeface="Cambria Math"/>
                              <a:cs typeface="Cambria Math"/>
                            </a:rPr>
                            <m:t>1,5</m:t>
                          </m:r>
                        </m:e>
                      </m:d>
                    </m:oMath>
                  </m:oMathPara>
                </a14:m>
                <a:endParaRPr lang="it-IT" sz="2400" b="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ℎ</m:t>
                          </m:r>
                        </m:e>
                        <m:sub>
                          <m:r>
                            <a:rPr lang="en-GB" sz="2400">
                              <a:solidFill>
                                <a:srgbClr val="087F83"/>
                              </a:solidFill>
                              <a:latin typeface="Cambria Math"/>
                              <a:ea typeface="Cambria Math"/>
                              <a:cs typeface="Cambria Math"/>
                            </a:rPr>
                            <m:t>𝐩</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func>
                        <m:funcPr>
                          <m:ctrlPr>
                            <a:rPr lang="it-IT" sz="2400">
                              <a:solidFill>
                                <a:srgbClr val="087F83"/>
                              </a:solidFill>
                              <a:latin typeface="Cambria Math" panose="02040503050406030204" pitchFamily="18" charset="0"/>
                              <a:ea typeface="Cambria Math"/>
                              <a:cs typeface="Cambria Math"/>
                            </a:rPr>
                          </m:ctrlPr>
                        </m:funcPr>
                        <m:fName>
                          <m:r>
                            <m:rPr>
                              <m:sty m:val="p"/>
                            </m:rPr>
                            <a:rPr lang="it-IT" sz="2400">
                              <a:solidFill>
                                <a:srgbClr val="087F83"/>
                              </a:solidFill>
                              <a:latin typeface="Cambria Math" panose="02040503050406030204" pitchFamily="18" charset="0"/>
                              <a:ea typeface="Cambria Math"/>
                              <a:cs typeface="Cambria Math"/>
                            </a:rPr>
                            <m:t>min</m:t>
                          </m:r>
                        </m:fName>
                        <m:e>
                          <m:d>
                            <m:dPr>
                              <m:begChr m:val="{"/>
                              <m:endChr m:val="}"/>
                              <m:ctrlPr>
                                <a:rPr lang="it-IT" sz="2400" b="0" i="1" smtClean="0">
                                  <a:solidFill>
                                    <a:srgbClr val="087F83"/>
                                  </a:solidFill>
                                  <a:latin typeface="Cambria Math" panose="02040503050406030204" pitchFamily="18" charset="0"/>
                                  <a:ea typeface="Cambria Math"/>
                                </a:rPr>
                              </m:ctrlPr>
                            </m:dPr>
                            <m:e>
                              <m:r>
                                <a:rPr lang="it-IT" sz="2400" b="0" i="1" smtClean="0">
                                  <a:solidFill>
                                    <a:srgbClr val="087F83"/>
                                  </a:solidFill>
                                  <a:latin typeface="Cambria Math" panose="02040503050406030204" pitchFamily="18" charset="0"/>
                                  <a:ea typeface="Cambria Math"/>
                                </a:rPr>
                                <m:t>1,5</m:t>
                              </m:r>
                            </m:e>
                          </m:d>
                        </m:e>
                      </m:func>
                      <m:r>
                        <a:rPr lang="it-IT" sz="2400" b="0" i="1" smtClean="0">
                          <a:solidFill>
                            <a:srgbClr val="087F83"/>
                          </a:solidFill>
                          <a:latin typeface="Cambria Math" panose="02040503050406030204" pitchFamily="18" charset="0"/>
                          <a:ea typeface="Cambria Math"/>
                          <a:cs typeface="Cambria Math"/>
                        </a:rPr>
                        <m:t>=1</m:t>
                      </m:r>
                    </m:oMath>
                  </m:oMathPara>
                </a14:m>
                <a:endParaRPr lang="en-GB" sz="2400" dirty="0"/>
              </a:p>
            </p:txBody>
          </p:sp>
        </mc:Choice>
        <mc:Fallback xmlns="">
          <p:sp>
            <p:nvSpPr>
              <p:cNvPr id="103" name="example" descr="\mathbf p(\mathbf x)=(0.25,0.2,0.12,0.18,0.25)\quad\Longrightarrow\quad\operatorname*{arg\,max}_{k\in\{1,\ldots,5\}}p_k(\mathbf x)=\{1,5\}\quad\Longrightarrow\quad h_{\mathbf p}(\mathbf x)=\min\{1,5\}=1">
                <a:extLst>
                  <a:ext uri="{FF2B5EF4-FFF2-40B4-BE49-F238E27FC236}">
                    <a16:creationId xmlns:a16="http://schemas.microsoft.com/office/drawing/2014/main" id="{947F3EAB-7D0C-440B-8796-D8DBA5235502}"/>
                  </a:ext>
                </a:extLst>
              </p:cNvPr>
              <p:cNvSpPr>
                <a:spLocks noGrp="1" noRot="1" noChangeAspect="1" noMove="1" noResize="1" noEditPoints="1" noAdjustHandles="1" noChangeArrowheads="1" noChangeShapeType="1" noTextEdit="1"/>
              </p:cNvSpPr>
              <p:nvPr/>
            </p:nvSpPr>
            <p:spPr>
              <a:xfrm>
                <a:off x="781050" y="3900485"/>
                <a:ext cx="10744200" cy="1338265"/>
              </a:xfrm>
              <a:prstGeom prst="rect">
                <a:avLst/>
              </a:prstGeom>
              <a:blipFill>
                <a:blip r:embed="rId6"/>
                <a:stretch>
                  <a:fillRect/>
                </a:stretch>
              </a:blipFill>
              <a:ln w="0">
                <a:noFill/>
              </a:ln>
            </p:spPr>
            <p:txBody>
              <a:bodyPr/>
              <a:lstStyle/>
              <a:p>
                <a:r>
                  <a:rPr lang="it-IT">
                    <a:noFill/>
                  </a:rPr>
                  <a:t> </a:t>
                </a:r>
              </a:p>
            </p:txBody>
          </p:sp>
        </mc:Fallback>
      </mc:AlternateContent>
      <p:sp>
        <p:nvSpPr>
          <p:cNvPr id="104" name="below_half">
            <a:extLst>
              <a:ext uri="{FF2B5EF4-FFF2-40B4-BE49-F238E27FC236}">
                <a16:creationId xmlns:a16="http://schemas.microsoft.com/office/drawing/2014/main" id="{9C3AA405-E4BC-42F2-9F63-F0351A8DB76F}"/>
              </a:ext>
            </a:extLst>
          </p:cNvPr>
          <p:cNvSpPr>
            <a:spLocks noGrp="1"/>
          </p:cNvSpPr>
          <p:nvPr/>
        </p:nvSpPr>
        <p:spPr>
          <a:xfrm>
            <a:off x="723900" y="5305425"/>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723900" y="590416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3272505"/>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𝑘</m:t>
                    </m:r>
                  </m:oMath>
                </a14:m>
                <a:r>
                  <a:rPr lang="en-GB" sz="2100" dirty="0">
                    <a:solidFill>
                      <a:srgbClr val="526276"/>
                    </a:solidFill>
                    <a:latin typeface="DejaVu Sans"/>
                    <a:ea typeface="DejaVu Sans"/>
                    <a:cs typeface="DejaVu Sans"/>
                  </a:rPr>
                  <a:t>-</a:t>
                </a:r>
                <a:r>
                  <a:rPr lang="en-GB" sz="2100" dirty="0" err="1">
                    <a:solidFill>
                      <a:srgbClr val="526276"/>
                    </a:solidFill>
                    <a:latin typeface="DejaVu Sans"/>
                    <a:ea typeface="DejaVu Sans"/>
                    <a:cs typeface="DejaVu Sans"/>
                  </a:rPr>
                  <a:t>th</a:t>
                </a:r>
                <a:r>
                  <a:rPr lang="en-GB" sz="2100" dirty="0">
                    <a:solidFill>
                      <a:srgbClr val="526276"/>
                    </a:solidFill>
                    <a:latin typeface="DejaVu Sans"/>
                    <a:ea typeface="DejaVu Sans"/>
                    <a:cs typeface="DejaVu Sans"/>
                  </a:rPr>
                  <a:t> score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3272505"/>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699832"/>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699832"/>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685800" y="2179463"/>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685800" y="2179463"/>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2179273"/>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2179273"/>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87491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87491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it-IT" sz="2700" b="0" i="0" smtClean="0">
                          <a:solidFill>
                            <a:srgbClr val="087F83"/>
                          </a:solidFill>
                          <a:latin typeface="Cambria Math" panose="02040503050406030204" pitchFamily="18" charset="0"/>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p:sp>
        <p:nvSpPr>
          <p:cNvPr id="6" name="lead">
            <a:extLst>
              <a:ext uri="{FF2B5EF4-FFF2-40B4-BE49-F238E27FC236}">
                <a16:creationId xmlns:a16="http://schemas.microsoft.com/office/drawing/2014/main" id="{C3F2DA66-A3B9-207C-E380-263345CCF61D}"/>
              </a:ext>
            </a:extLst>
          </p:cNvPr>
          <p:cNvSpPr>
            <a:spLocks noGrp="1"/>
          </p:cNvSpPr>
          <p:nvPr/>
        </p:nvSpPr>
        <p:spPr>
          <a:xfrm>
            <a:off x="876300" y="112357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logits.</a:t>
            </a:r>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mc:AlternateContent xmlns:mc="http://schemas.openxmlformats.org/markup-compatibility/2006" xmlns:a14="http://schemas.microsoft.com/office/drawing/2010/main">
        <mc:Choice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175260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175260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428875"/>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428875"/>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289560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m:t>
                      </m:r>
                      <m:r>
                        <m:rPr>
                          <m:sty m:val="p"/>
                        </m:rPr>
                        <a:rPr lang="en-GB" sz="2600" smtClean="0">
                          <a:solidFill>
                            <a:srgbClr val="087F83"/>
                          </a:solidFill>
                          <a:latin typeface="Cambria Math"/>
                          <a:ea typeface="Cambria Math"/>
                          <a:cs typeface="Cambria Math"/>
                        </a:rPr>
                        <m:t>softmax</m:t>
                      </m:r>
                      <m:r>
                        <a:rPr lang="en-GB" sz="2600" smtClean="0">
                          <a:solidFill>
                            <a:srgbClr val="087F83"/>
                          </a:solidFill>
                          <a:latin typeface="Cambria Math"/>
                          <a:ea typeface="Cambria Math"/>
                          <a:cs typeface="Cambria Math"/>
                        </a:rPr>
                        <m:t>(</m:t>
                      </m:r>
                      <m:r>
                        <a:rPr lang="en-GB" sz="2600" smtClean="0">
                          <a:solidFill>
                            <a:srgbClr val="087F83"/>
                          </a:solidFill>
                          <a:latin typeface="Cambria Math"/>
                          <a:ea typeface="Cambria Math"/>
                          <a:cs typeface="Cambria Math"/>
                        </a:rPr>
                        <m:t>𝐬</m:t>
                      </m:r>
                      <m:r>
                        <a:rPr lang="en-GB" sz="2600" smtClean="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xmlns="">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2895600"/>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662559" y="4078415"/>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662559" y="4078415"/>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664464" y="4680205"/>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r>
                            <a:rPr lang="en-GB" sz="2600">
                              <a:solidFill>
                                <a:srgbClr val="087F83"/>
                              </a:solidFill>
                              <a:latin typeface="Cambria Math"/>
                              <a:ea typeface="Cambria Math"/>
                              <a:cs typeface="Cambria Math"/>
                            </a:rPr>
                            <m:t>[</m:t>
                          </m:r>
                        </m:e>
                      </m:nary>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664464" y="4680205"/>
                <a:ext cx="10744200" cy="990600"/>
              </a:xfrm>
              <a:prstGeom prst="rect">
                <a:avLst/>
              </a:prstGeom>
              <a:blipFill>
                <a:blip r:embed="rId7"/>
                <a:stretch>
                  <a:fillRect t="-2469" b="-6173"/>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702564" y="5887976"/>
            <a:ext cx="10744200" cy="5143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Warning: s</a:t>
            </a:r>
            <a:r>
              <a:rPr sz="1800" b="0" dirty="0" err="1">
                <a:solidFill>
                  <a:srgbClr val="526276"/>
                </a:solidFill>
                <a:latin typeface="DejaVu Sans"/>
                <a:ea typeface="DejaVu Sans"/>
                <a:cs typeface="DejaVu Sans"/>
              </a:rPr>
              <a:t>eparate</a:t>
            </a:r>
            <a:r>
              <a:rPr sz="1800" b="0" dirty="0">
                <a:solidFill>
                  <a:srgbClr val="526276"/>
                </a:solidFill>
                <a:latin typeface="DejaVu Sans"/>
                <a:ea typeface="DejaVu Sans"/>
                <a:cs typeface="DejaVu Sans"/>
              </a:rPr>
              <a:t> </a:t>
            </a:r>
            <a:r>
              <a:rPr sz="1800" b="0" dirty="0" err="1">
                <a:solidFill>
                  <a:srgbClr val="526276"/>
                </a:solidFill>
                <a:latin typeface="DejaVu Sans"/>
                <a:ea typeface="DejaVu Sans"/>
                <a:cs typeface="DejaVu Sans"/>
              </a:rPr>
              <a:t>sigmoids</a:t>
            </a:r>
            <a:r>
              <a:rPr sz="1800" b="0" dirty="0">
                <a:solidFill>
                  <a:srgbClr val="526276"/>
                </a:solidFill>
                <a:latin typeface="DejaVu Sans"/>
                <a:ea typeface="DejaVu Sans"/>
                <a:cs typeface="DejaVu Sans"/>
              </a:rPr>
              <a:t> do not ensure a sum of one</a:t>
            </a:r>
            <a:r>
              <a:rPr lang="it-IT" sz="1800" b="0" dirty="0">
                <a:solidFill>
                  <a:srgbClr val="526276"/>
                </a:solidFill>
                <a:latin typeface="DejaVu Sans"/>
                <a:ea typeface="DejaVu Sans"/>
                <a:cs typeface="DejaVu Sans"/>
              </a:rPr>
              <a:t>!!!</a:t>
            </a:r>
            <a:endParaRPr sz="1800" b="0" dirty="0">
              <a:solidFill>
                <a:srgbClr val="526276"/>
              </a:solidFill>
              <a:latin typeface="DejaVu Sans"/>
              <a:ea typeface="DejaVu Sans"/>
              <a:cs typeface="DejaVu Sans"/>
            </a:endParaRPr>
          </a:p>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Three zero scores would give three probabilities of one half.</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p:sp>
        <p:nvSpPr>
          <p:cNvPr id="103" name="reuse">
            <a:extLst>
              <a:ext uri="{FF2B5EF4-FFF2-40B4-BE49-F238E27FC236}">
                <a16:creationId xmlns:a16="http://schemas.microsoft.com/office/drawing/2014/main" id="{E4DC567C-421A-4D20-9FAE-B63FB68E16A2}"/>
              </a:ext>
            </a:extLst>
          </p:cNvPr>
          <p:cNvSpPr>
            <a:spLocks noGrp="1"/>
          </p:cNvSpPr>
          <p:nvPr/>
        </p:nvSpPr>
        <p:spPr>
          <a:xfrm>
            <a:off x="723900" y="4591050"/>
            <a:ext cx="10744200" cy="3714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Apply the same </a:t>
            </a:r>
            <a:r>
              <a:rPr sz="2025" b="0" dirty="0">
                <a:solidFill>
                  <a:srgbClr val="FF0000"/>
                </a:solidFill>
                <a:latin typeface="DejaVu Sans"/>
                <a:ea typeface="DejaVu Sans"/>
                <a:cs typeface="DejaVu Sans"/>
              </a:rPr>
              <a:t>plug-in rule </a:t>
            </a:r>
            <a:r>
              <a:rPr sz="2025" b="0" dirty="0">
                <a:solidFill>
                  <a:srgbClr val="182D45"/>
                </a:solidFill>
                <a:latin typeface="DejaVu Sans"/>
                <a:ea typeface="DejaVu Sans"/>
                <a:cs typeface="DejaVu Sans"/>
              </a:rPr>
              <a:t>to these probabilities.</a:t>
            </a:r>
          </a:p>
        </p:txBody>
      </p:sp>
      <mc:AlternateContent xmlns:mc="http://schemas.openxmlformats.org/markup-compatibility/2006" xmlns:a14="http://schemas.microsoft.com/office/drawing/2010/main">
        <mc:Choice Requires="a14">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min</m:t>
                          </m:r>
                        </m:fName>
                        <m:e>
                          <m:d>
                            <m:dPr>
                              <m:ctrlPr>
                                <a:rPr lang="it-IT" sz="2800" i="1">
                                  <a:solidFill>
                                    <a:srgbClr val="087F83"/>
                                  </a:solidFill>
                                  <a:latin typeface="Cambria Math" panose="02040503050406030204" pitchFamily="18" charset="0"/>
                                  <a:ea typeface="Cambria Math"/>
                                  <a:cs typeface="Cambria Math"/>
                                </a:rPr>
                              </m:ctrlPr>
                            </m:dPr>
                            <m:e>
                              <m:func>
                                <m:funcPr>
                                  <m:ctrlPr>
                                    <a:rPr lang="it-IT" sz="2800" i="1">
                                      <a:solidFill>
                                        <a:srgbClr val="087F83"/>
                                      </a:solidFill>
                                      <a:latin typeface="Cambria Math" panose="02040503050406030204" pitchFamily="18" charset="0"/>
                                      <a:ea typeface="Cambria Math"/>
                                      <a:cs typeface="Cambria Math"/>
                                    </a:rPr>
                                  </m:ctrlPr>
                                </m:funcPr>
                                <m:fName>
                                  <m:sSub>
                                    <m:sSubPr>
                                      <m:ctrlPr>
                                        <a:rPr lang="it-IT" sz="2800">
                                          <a:solidFill>
                                            <a:srgbClr val="087F83"/>
                                          </a:solidFill>
                                          <a:latin typeface="Cambria Math" panose="02040503050406030204" pitchFamily="18" charset="0"/>
                                          <a:ea typeface="Cambria Math"/>
                                          <a:cs typeface="Cambria Math"/>
                                        </a:rPr>
                                      </m:ctrlPr>
                                    </m:sSubPr>
                                    <m:e>
                                      <m:r>
                                        <m:rPr>
                                          <m:sty m:val="p"/>
                                        </m:rPr>
                                        <a:rPr lang="it-IT" sz="2800">
                                          <a:solidFill>
                                            <a:srgbClr val="087F83"/>
                                          </a:solidFill>
                                          <a:latin typeface="Cambria Math" panose="02040503050406030204" pitchFamily="18" charset="0"/>
                                          <a:ea typeface="Cambria Math"/>
                                          <a:cs typeface="Cambria Math"/>
                                        </a:rPr>
                                        <m:t>argmax</m:t>
                                      </m:r>
                                    </m:e>
                                    <m:sub>
                                      <m:r>
                                        <a:rPr lang="it-IT" sz="2800" i="1">
                                          <a:solidFill>
                                            <a:srgbClr val="087F83"/>
                                          </a:solidFill>
                                          <a:latin typeface="Cambria Math" panose="02040503050406030204" pitchFamily="18" charset="0"/>
                                          <a:ea typeface="Cambria Math"/>
                                          <a:cs typeface="Cambria Math"/>
                                        </a:rPr>
                                        <m:t>𝑘</m:t>
                                      </m:r>
                                      <m:r>
                                        <a:rPr lang="it-IT" sz="2800" i="1">
                                          <a:solidFill>
                                            <a:srgbClr val="087F83"/>
                                          </a:solidFill>
                                          <a:latin typeface="Cambria Math" panose="02040503050406030204" pitchFamily="18" charset="0"/>
                                          <a:ea typeface="Cambria Math"/>
                                          <a:cs typeface="Cambria Math"/>
                                        </a:rPr>
                                        <m:t>∈</m:t>
                                      </m:r>
                                      <m:d>
                                        <m:dPr>
                                          <m:begChr m:val="{"/>
                                          <m:endChr m:val="}"/>
                                          <m:ctrlPr>
                                            <a:rPr lang="it-IT" sz="2800" i="1">
                                              <a:solidFill>
                                                <a:srgbClr val="087F83"/>
                                              </a:solidFill>
                                              <a:latin typeface="Cambria Math" panose="02040503050406030204" pitchFamily="18" charset="0"/>
                                              <a:ea typeface="Cambria Math"/>
                                            </a:rPr>
                                          </m:ctrlPr>
                                        </m:dPr>
                                        <m:e>
                                          <m:r>
                                            <a:rPr lang="it-IT" sz="2800" i="1">
                                              <a:solidFill>
                                                <a:srgbClr val="087F83"/>
                                              </a:solidFill>
                                              <a:latin typeface="Cambria Math" panose="02040503050406030204" pitchFamily="18" charset="0"/>
                                              <a:ea typeface="Cambria Math"/>
                                            </a:rPr>
                                            <m:t>1,…,</m:t>
                                          </m:r>
                                          <m:r>
                                            <a:rPr lang="it-IT" sz="2800" i="1">
                                              <a:solidFill>
                                                <a:srgbClr val="087F83"/>
                                              </a:solidFill>
                                              <a:latin typeface="Cambria Math" panose="02040503050406030204" pitchFamily="18" charset="0"/>
                                              <a:ea typeface="Cambria Math"/>
                                            </a:rPr>
                                            <m:t>𝐾</m:t>
                                          </m:r>
                                        </m:e>
                                      </m:d>
                                    </m:sub>
                                  </m:sSub>
                                </m:fNa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func>
                            </m:e>
                          </m:d>
                        </m:e>
                      </m:func>
                    </m:oMath>
                  </m:oMathPara>
                </a14:m>
                <a:endParaRPr lang="en-GB" sz="2800" dirty="0"/>
              </a:p>
            </p:txBody>
          </p:sp>
        </mc:Choice>
        <mc:Fallback xmlns="">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noRot="1" noChangeAspect="1" noMove="1" noResize="1" noEditPoints="1" noAdjustHandles="1" noChangeArrowheads="1" noChangeShapeType="1" noTextEdit="1"/>
              </p:cNvSpPr>
              <p:nvPr/>
            </p:nvSpPr>
            <p:spPr>
              <a:xfrm>
                <a:off x="723900" y="5038725"/>
                <a:ext cx="10744200" cy="895350"/>
              </a:xfrm>
              <a:prstGeom prst="rect">
                <a:avLst/>
              </a:prstGeom>
              <a:blipFill>
                <a:blip r:embed="rId5"/>
                <a:stretch>
                  <a:fillRect/>
                </a:stretch>
              </a:blipFill>
              <a:ln w="0">
                <a:noFill/>
              </a:ln>
            </p:spPr>
            <p:txBody>
              <a:bodyPr/>
              <a:lstStyle/>
              <a:p>
                <a:r>
                  <a:rPr lang="it-IT">
                    <a:noFill/>
                  </a:rPr>
                  <a:t> </a:t>
                </a:r>
              </a:p>
            </p:txBody>
          </p:sp>
        </mc:Fallback>
      </mc:AlternateContent>
      <p:sp>
        <p:nvSpPr>
          <p:cNvPr id="105" name="order">
            <a:extLst>
              <a:ext uri="{FF2B5EF4-FFF2-40B4-BE49-F238E27FC236}">
                <a16:creationId xmlns:a16="http://schemas.microsoft.com/office/drawing/2014/main" id="{A1A29FF0-487A-4F88-80DB-E6CD1A6C4077}"/>
              </a:ext>
            </a:extLst>
          </p:cNvPr>
          <p:cNvSpPr>
            <a:spLocks noGrp="1"/>
          </p:cNvSpPr>
          <p:nvPr/>
        </p:nvSpPr>
        <p:spPr>
          <a:xfrm>
            <a:off x="723900" y="5962650"/>
            <a:ext cx="10744200" cy="42862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The largest score and largest probability identify the same class.</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An example with three classes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one input and suppose its three affine scores are as follows.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p:cNvSpPr>
              <p:nvPr/>
            </p:nvSpPr>
            <p:spPr>
              <a:xfrm>
                <a:off x="723900" y="18383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𝐟</m:t>
                          </m:r>
                        </m:e>
                        <m:sub>
                          <m:r>
                            <a:rPr lang="en-GB" sz="2900">
                              <a:solidFill>
                                <a:srgbClr val="087F83"/>
                              </a:solidFill>
                              <a:latin typeface="Cambria Math"/>
                              <a:ea typeface="Cambria Math"/>
                              <a:cs typeface="Cambria Math"/>
                            </a:rPr>
                            <m:t>𝚯</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)=(0,</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oMath>
                  </m:oMathPara>
                </a14:m>
                <a:endParaRPr lang="en-GB" sz="2900" dirty="0"/>
              </a:p>
            </p:txBody>
          </p:sp>
        </mc:Choice>
        <mc:Fallback xmlns="">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noRot="1" noChangeAspect="1" noMove="1" noResize="1" noEditPoints="1" noAdjustHandles="1" noChangeArrowheads="1" noChangeShapeType="1" noTextEdit="1"/>
              </p:cNvSpPr>
              <p:nvPr/>
            </p:nvSpPr>
            <p:spPr>
              <a:xfrm>
                <a:off x="723900" y="1838325"/>
                <a:ext cx="10744200" cy="6858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xample_exp" descr="\bigl(e^0,e^{\log2},e^{\log3}\bigr)=(1,2,3)">
                <a:extLst>
                  <a:ext uri="{FF2B5EF4-FFF2-40B4-BE49-F238E27FC236}">
                    <a16:creationId xmlns:a16="http://schemas.microsoft.com/office/drawing/2014/main" id="{FC70B934-94EB-4865-BF42-9FD46ADCF0F2}"/>
                  </a:ext>
                </a:extLst>
              </p:cNvPr>
              <p:cNvSpPr>
                <a:spLocks noGrp="1"/>
              </p:cNvSpPr>
              <p:nvPr/>
            </p:nvSpPr>
            <p:spPr>
              <a:xfrm>
                <a:off x="723900" y="2819400"/>
                <a:ext cx="107442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a:rPr lang="en-GB" sz="2900">
                              <a:solidFill>
                                <a:srgbClr val="087F83"/>
                              </a:solidFill>
                              <a:latin typeface="Cambria Math"/>
                              <a:ea typeface="Cambria Math"/>
                              <a:cs typeface="Cambria Math"/>
                            </a:rPr>
                            <m:t>0</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sup>
                      </m:sSup>
                      <m:r>
                        <a:rPr lang="en-GB" sz="2900">
                          <a:solidFill>
                            <a:srgbClr val="087F83"/>
                          </a:solidFill>
                          <a:latin typeface="Cambria Math"/>
                          <a:ea typeface="Cambria Math"/>
                          <a:cs typeface="Cambria Math"/>
                        </a:rPr>
                        <m:t>)=(1,2,3)</m:t>
                      </m:r>
                    </m:oMath>
                  </m:oMathPara>
                </a14:m>
                <a:endParaRPr lang="en-GB" sz="2900" dirty="0"/>
              </a:p>
            </p:txBody>
          </p:sp>
        </mc:Choice>
        <mc:Fallback xmlns="">
          <p:sp>
            <p:nvSpPr>
              <p:cNvPr id="101" name="example_exp" descr="\bigl(e^0,e^{\log2},e^{\log3}\bigr)=(1,2,3)">
                <a:extLst>
                  <a:ext uri="{FF2B5EF4-FFF2-40B4-BE49-F238E27FC236}">
                    <a16:creationId xmlns:a16="http://schemas.microsoft.com/office/drawing/2014/main" id="{FC70B934-94EB-4865-BF42-9FD46ADCF0F2}"/>
                  </a:ext>
                </a:extLst>
              </p:cNvPr>
              <p:cNvSpPr>
                <a:spLocks noGrp="1" noRot="1" noChangeAspect="1" noMove="1" noResize="1" noEditPoints="1" noAdjustHandles="1" noChangeArrowheads="1" noChangeShapeType="1" noTextEdit="1"/>
              </p:cNvSpPr>
              <p:nvPr/>
            </p:nvSpPr>
            <p:spPr>
              <a:xfrm>
                <a:off x="723900" y="2819400"/>
                <a:ext cx="10744200" cy="7524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p:cNvSpPr>
              <p:nvPr/>
            </p:nvSpPr>
            <p:spPr>
              <a:xfrm>
                <a:off x="723900" y="3690937"/>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it-IT" sz="3000" i="1">
                              <a:solidFill>
                                <a:srgbClr val="087F83"/>
                              </a:solidFill>
                              <a:latin typeface="Cambria Math" panose="02040503050406030204" pitchFamily="18" charset="0"/>
                              <a:ea typeface="Cambria Math"/>
                              <a:cs typeface="Cambria Math"/>
                            </a:rPr>
                          </m:ctrlPr>
                        </m:dPr>
                        <m:e>
                          <m:f>
                            <m:fPr>
                              <m:ctrlPr>
                                <a:rPr lang="it-IT" sz="3000" i="1">
                                  <a:solidFill>
                                    <a:srgbClr val="087F83"/>
                                  </a:solidFill>
                                  <a:latin typeface="Cambria Math" panose="02040503050406030204" pitchFamily="18" charset="0"/>
                                  <a:ea typeface="Cambria Math"/>
                                  <a:cs typeface="Cambria Math"/>
                                </a:rPr>
                              </m:ctrlPr>
                            </m:fPr>
                            <m:num>
                              <m:r>
                                <a:rPr lang="it-IT" sz="3000" i="1">
                                  <a:solidFill>
                                    <a:srgbClr val="087F83"/>
                                  </a:solidFill>
                                  <a:latin typeface="Cambria Math" panose="02040503050406030204" pitchFamily="18" charset="0"/>
                                  <a:ea typeface="Cambria Math"/>
                                  <a:cs typeface="Cambria Math"/>
                                </a:rPr>
                                <m:t>1</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2</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3</m:t>
                              </m:r>
                            </m:num>
                            <m:den>
                              <m:r>
                                <a:rPr lang="it-IT" sz="3000" b="0" i="1" smtClean="0">
                                  <a:solidFill>
                                    <a:srgbClr val="087F83"/>
                                  </a:solidFill>
                                  <a:latin typeface="Cambria Math" panose="02040503050406030204" pitchFamily="18" charset="0"/>
                                  <a:ea typeface="Cambria Math"/>
                                  <a:cs typeface="Cambria Math"/>
                                </a:rPr>
                                <m:t>1+2+3</m:t>
                              </m:r>
                            </m:den>
                          </m:f>
                        </m:e>
                      </m:d>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6</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3</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2</m:t>
                              </m:r>
                            </m:den>
                          </m:f>
                        </m:e>
                      </m:d>
                    </m:oMath>
                  </m:oMathPara>
                </a14:m>
                <a:endParaRPr lang="en-GB" sz="3000" dirty="0"/>
              </a:p>
            </p:txBody>
          </p:sp>
        </mc:Choice>
        <mc:Fallback xmlns="">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noRot="1" noChangeAspect="1" noMove="1" noResize="1" noEditPoints="1" noAdjustHandles="1" noChangeArrowheads="1" noChangeShapeType="1" noTextEdit="1"/>
              </p:cNvSpPr>
              <p:nvPr/>
            </p:nvSpPr>
            <p:spPr>
              <a:xfrm>
                <a:off x="723900" y="3690937"/>
                <a:ext cx="1074420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p:cNvSpPr>
              <p:nvPr/>
            </p:nvSpPr>
            <p:spPr>
              <a:xfrm>
                <a:off x="723900" y="5048250"/>
                <a:ext cx="107442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ℎ</m:t>
                          </m:r>
                        </m:e>
                        <m: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min</m:t>
                          </m:r>
                        </m:fName>
                        <m:e>
                          <m:d>
                            <m:dPr>
                              <m:ctrlPr>
                                <a:rPr lang="it-IT" sz="3200" i="1">
                                  <a:solidFill>
                                    <a:srgbClr val="087F83"/>
                                  </a:solidFill>
                                  <a:latin typeface="Cambria Math" panose="02040503050406030204" pitchFamily="18" charset="0"/>
                                  <a:ea typeface="Cambria Math"/>
                                  <a:cs typeface="Cambria Math"/>
                                </a:rPr>
                              </m:ctrlPr>
                            </m:dPr>
                            <m:e>
                              <m:func>
                                <m:funcPr>
                                  <m:ctrlPr>
                                    <a:rPr lang="it-IT" sz="3200" i="1">
                                      <a:solidFill>
                                        <a:srgbClr val="087F83"/>
                                      </a:solidFill>
                                      <a:latin typeface="Cambria Math" panose="02040503050406030204" pitchFamily="18" charset="0"/>
                                      <a:ea typeface="Cambria Math"/>
                                      <a:cs typeface="Cambria Math"/>
                                    </a:rPr>
                                  </m:ctrlPr>
                                </m:funcPr>
                                <m:fName>
                                  <m:sSub>
                                    <m:sSubPr>
                                      <m:ctrlPr>
                                        <a:rPr lang="it-IT" sz="3200">
                                          <a:solidFill>
                                            <a:srgbClr val="087F83"/>
                                          </a:solidFill>
                                          <a:latin typeface="Cambria Math" panose="02040503050406030204" pitchFamily="18" charset="0"/>
                                          <a:ea typeface="Cambria Math"/>
                                          <a:cs typeface="Cambria Math"/>
                                        </a:rPr>
                                      </m:ctrlPr>
                                    </m:sSubPr>
                                    <m:e>
                                      <m:r>
                                        <m:rPr>
                                          <m:sty m:val="p"/>
                                        </m:rPr>
                                        <a:rPr lang="it-IT" sz="3200">
                                          <a:solidFill>
                                            <a:srgbClr val="087F83"/>
                                          </a:solidFill>
                                          <a:latin typeface="Cambria Math" panose="02040503050406030204" pitchFamily="18" charset="0"/>
                                          <a:ea typeface="Cambria Math"/>
                                          <a:cs typeface="Cambria Math"/>
                                        </a:rPr>
                                        <m:t>argmax</m:t>
                                      </m:r>
                                    </m:e>
                                    <m:sub>
                                      <m:r>
                                        <a:rPr lang="it-IT" sz="3200" i="1">
                                          <a:solidFill>
                                            <a:srgbClr val="087F83"/>
                                          </a:solidFill>
                                          <a:latin typeface="Cambria Math" panose="02040503050406030204" pitchFamily="18" charset="0"/>
                                          <a:ea typeface="Cambria Math"/>
                                          <a:cs typeface="Cambria Math"/>
                                        </a:rPr>
                                        <m:t>𝑘</m:t>
                                      </m:r>
                                      <m:r>
                                        <a:rPr lang="it-IT" sz="3200" i="1">
                                          <a:solidFill>
                                            <a:srgbClr val="087F83"/>
                                          </a:solidFill>
                                          <a:latin typeface="Cambria Math" panose="02040503050406030204" pitchFamily="18" charset="0"/>
                                          <a:ea typeface="Cambria Math"/>
                                          <a:cs typeface="Cambria Math"/>
                                        </a:rPr>
                                        <m:t>∈</m:t>
                                      </m:r>
                                      <m:d>
                                        <m:dPr>
                                          <m:begChr m:val="{"/>
                                          <m:endChr m:val="}"/>
                                          <m:ctrlPr>
                                            <a:rPr lang="it-IT" sz="3200" b="0" i="1" smtClean="0">
                                              <a:solidFill>
                                                <a:srgbClr val="087F83"/>
                                              </a:solidFill>
                                              <a:latin typeface="Cambria Math" panose="02040503050406030204" pitchFamily="18" charset="0"/>
                                              <a:ea typeface="Cambria Math"/>
                                            </a:rPr>
                                          </m:ctrlPr>
                                        </m:dPr>
                                        <m:e>
                                          <m:r>
                                            <a:rPr lang="it-IT" sz="3200" b="0" i="1" smtClean="0">
                                              <a:solidFill>
                                                <a:srgbClr val="087F83"/>
                                              </a:solidFill>
                                              <a:latin typeface="Cambria Math" panose="02040503050406030204" pitchFamily="18" charset="0"/>
                                              <a:ea typeface="Cambria Math"/>
                                            </a:rPr>
                                            <m:t>1,2,3</m:t>
                                          </m:r>
                                        </m:e>
                                      </m:d>
                                    </m:sub>
                                  </m:sSub>
                                </m:fName>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𝚯</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𝑘</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e>
                              </m:func>
                            </m:e>
                          </m:d>
                        </m:e>
                      </m:func>
                      <m:r>
                        <a:rPr lang="it-IT" sz="3200" b="0" i="1" smtClean="0">
                          <a:solidFill>
                            <a:srgbClr val="087F83"/>
                          </a:solidFill>
                          <a:latin typeface="Cambria Math" panose="02040503050406030204" pitchFamily="18" charset="0"/>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min</m:t>
                          </m:r>
                        </m:fName>
                        <m:e>
                          <m:d>
                            <m:dPr>
                              <m:ctrlPr>
                                <a:rPr lang="it-IT" sz="3200" i="1">
                                  <a:solidFill>
                                    <a:srgbClr val="087F83"/>
                                  </a:solidFill>
                                  <a:latin typeface="Cambria Math" panose="02040503050406030204" pitchFamily="18" charset="0"/>
                                  <a:ea typeface="Cambria Math"/>
                                </a:rPr>
                              </m:ctrlPr>
                            </m:dPr>
                            <m:e>
                              <m:d>
                                <m:dPr>
                                  <m:begChr m:val="{"/>
                                  <m:endChr m:val="}"/>
                                  <m:ctrlPr>
                                    <a:rPr lang="it-IT" sz="3200" i="1">
                                      <a:solidFill>
                                        <a:srgbClr val="087F83"/>
                                      </a:solidFill>
                                      <a:latin typeface="Cambria Math" panose="02040503050406030204" pitchFamily="18" charset="0"/>
                                      <a:ea typeface="Cambria Math"/>
                                    </a:rPr>
                                  </m:ctrlPr>
                                </m:dPr>
                                <m:e>
                                  <m:r>
                                    <a:rPr lang="it-IT" sz="3200" i="1">
                                      <a:solidFill>
                                        <a:srgbClr val="087F83"/>
                                      </a:solidFill>
                                      <a:latin typeface="Cambria Math" panose="02040503050406030204" pitchFamily="18" charset="0"/>
                                      <a:ea typeface="Cambria Math"/>
                                    </a:rPr>
                                    <m:t>3</m:t>
                                  </m:r>
                                </m:e>
                              </m:d>
                            </m:e>
                          </m:d>
                        </m:e>
                      </m:func>
                      <m:r>
                        <a:rPr lang="it-IT" sz="3200" b="0" i="1" smtClean="0">
                          <a:solidFill>
                            <a:srgbClr val="087F83"/>
                          </a:solidFill>
                          <a:latin typeface="Cambria Math" panose="02040503050406030204" pitchFamily="18" charset="0"/>
                          <a:ea typeface="Cambria Math"/>
                          <a:cs typeface="Cambria Math"/>
                        </a:rPr>
                        <m:t>=3</m:t>
                      </m:r>
                    </m:oMath>
                  </m:oMathPara>
                </a14:m>
                <a:endParaRPr lang="en-GB" sz="3000" dirty="0"/>
              </a:p>
            </p:txBody>
          </p:sp>
        </mc:Choice>
        <mc:Fallback xmlns="">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noRot="1" noChangeAspect="1" noMove="1" noResize="1" noEditPoints="1" noAdjustHandles="1" noChangeArrowheads="1" noChangeShapeType="1" noTextEdit="1"/>
              </p:cNvSpPr>
              <p:nvPr/>
            </p:nvSpPr>
            <p:spPr>
              <a:xfrm>
                <a:off x="723900" y="5048250"/>
                <a:ext cx="10744200" cy="581025"/>
              </a:xfrm>
              <a:prstGeom prst="rect">
                <a:avLst/>
              </a:prstGeom>
              <a:blipFill>
                <a:blip r:embed="rId6"/>
                <a:stretch>
                  <a:fillRect/>
                </a:stretch>
              </a:blipFill>
              <a:ln w="0">
                <a:noFill/>
              </a:ln>
            </p:spPr>
            <p:txBody>
              <a:bodyPr/>
              <a:lstStyle/>
              <a:p>
                <a:r>
                  <a:rPr lang="it-IT">
                    <a:noFill/>
                  </a:rPr>
                  <a:t> </a:t>
                </a:r>
              </a:p>
            </p:txBody>
          </p:sp>
        </mc:Fallback>
      </mc:AlternateContent>
      <p:sp>
        <p:nvSpPr>
          <p:cNvPr id="104" name="example_comment">
            <a:extLst>
              <a:ext uri="{FF2B5EF4-FFF2-40B4-BE49-F238E27FC236}">
                <a16:creationId xmlns:a16="http://schemas.microsoft.com/office/drawing/2014/main" id="{D9AD53ED-DC37-40C6-833D-34ED8742C0A5}"/>
              </a:ext>
            </a:extLst>
          </p:cNvPr>
          <p:cNvSpPr>
            <a:spLocks noGrp="1"/>
          </p:cNvSpPr>
          <p:nvPr/>
        </p:nvSpPr>
        <p:spPr>
          <a:xfrm>
            <a:off x="723900" y="6067425"/>
            <a:ext cx="10744200" cy="3905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Class 3 has the largest predicted probability.</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0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 probability row and an observed class, use the probability of that class.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714500"/>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714500"/>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4812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481262"/>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p:cNvSpPr>
              <p:nvPr/>
            </p:nvSpPr>
            <p:spPr>
              <a:xfrm>
                <a:off x="723900" y="3705225"/>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𝐩</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6</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3</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2</m:t>
                              </m:r>
                            </m:den>
                          </m:f>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=2</m:t>
                      </m:r>
                    </m:oMath>
                  </m:oMathPara>
                </a14:m>
                <a:endParaRPr lang="en-GB" sz="2800" dirty="0"/>
              </a:p>
            </p:txBody>
          </p:sp>
        </mc:Choice>
        <mc:Fallback xmlns="">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noRot="1" noChangeAspect="1" noMove="1" noResize="1" noEditPoints="1" noAdjustHandles="1" noChangeArrowheads="1" noChangeShapeType="1" noTextEdit="1"/>
              </p:cNvSpPr>
              <p:nvPr/>
            </p:nvSpPr>
            <p:spPr>
              <a:xfrm>
                <a:off x="723900" y="3705225"/>
                <a:ext cx="10744200" cy="800100"/>
              </a:xfrm>
              <a:prstGeom prst="rect">
                <a:avLst/>
              </a:prstGeom>
              <a:blipFill>
                <a:blip r:embed="rId5"/>
                <a:stretch>
                  <a:fillRect t="-3053" b="-1068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p:cNvSpPr>
              <p:nvPr/>
            </p:nvSpPr>
            <p:spPr>
              <a:xfrm>
                <a:off x="723900" y="4657725"/>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𝐩</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1/3</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it-IT" sz="2900" b="0" i="0" smtClean="0">
                              <a:solidFill>
                                <a:srgbClr val="087F83"/>
                              </a:solidFill>
                              <a:latin typeface="Cambria Math" panose="02040503050406030204" pitchFamily="18" charset="0"/>
                              <a:ea typeface="Cambria Math"/>
                              <a:cs typeface="Cambria Math"/>
                            </a:rPr>
                          </m:ctrlPr>
                        </m:dPr>
                        <m:e>
                          <m:r>
                            <a:rPr lang="it-IT" sz="2900" b="0" i="0" smtClean="0">
                              <a:solidFill>
                                <a:srgbClr val="087F83"/>
                              </a:solidFill>
                              <a:latin typeface="Cambria Math" panose="02040503050406030204" pitchFamily="18" charset="0"/>
                              <a:ea typeface="Cambria Math"/>
                              <a:cs typeface="Cambria Math"/>
                            </a:rPr>
                            <m:t>3</m:t>
                          </m:r>
                        </m:e>
                      </m:d>
                    </m:oMath>
                  </m:oMathPara>
                </a14:m>
                <a:endParaRPr lang="en-GB" sz="2900" dirty="0"/>
              </a:p>
            </p:txBody>
          </p:sp>
        </mc:Choice>
        <mc:Fallback xmlns="">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noRot="1" noChangeAspect="1" noMove="1" noResize="1" noEditPoints="1" noAdjustHandles="1" noChangeArrowheads="1" noChangeShapeType="1" noTextEdit="1"/>
              </p:cNvSpPr>
              <p:nvPr/>
            </p:nvSpPr>
            <p:spPr>
              <a:xfrm>
                <a:off x="723900" y="4657725"/>
                <a:ext cx="10744200" cy="771525"/>
              </a:xfrm>
              <a:prstGeom prst="rect">
                <a:avLst/>
              </a:prstGeom>
              <a:blipFill>
                <a:blip r:embed="rId6"/>
                <a:stretch>
                  <a:fillRect/>
                </a:stretch>
              </a:blipFill>
              <a:ln w="0">
                <a:noFill/>
              </a:ln>
            </p:spPr>
            <p:txBody>
              <a:bodyPr/>
              <a:lstStyle/>
              <a:p>
                <a:r>
                  <a:rPr lang="it-IT">
                    <a:noFill/>
                  </a:rPr>
                  <a:t> </a:t>
                </a:r>
              </a:p>
            </p:txBody>
          </p:sp>
        </mc:Fallback>
      </mc:AlternateContent>
      <p:sp>
        <p:nvSpPr>
          <p:cNvPr id="104" name="observed_not_predicted">
            <a:extLst>
              <a:ext uri="{FF2B5EF4-FFF2-40B4-BE49-F238E27FC236}">
                <a16:creationId xmlns:a16="http://schemas.microsoft.com/office/drawing/2014/main" id="{73415C42-ABCB-4D0F-A1C9-10095D1B7B5A}"/>
              </a:ext>
            </a:extLst>
          </p:cNvPr>
          <p:cNvSpPr>
            <a:spLocks noGrp="1"/>
          </p:cNvSpPr>
          <p:nvPr/>
        </p:nvSpPr>
        <p:spPr>
          <a:xfrm>
            <a:off x="723900" y="5581650"/>
            <a:ext cx="10744200" cy="6381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025" b="0" dirty="0">
                <a:solidFill>
                  <a:srgbClr val="182D45"/>
                </a:solidFill>
                <a:latin typeface="DejaVu Sans"/>
                <a:ea typeface="DejaVu Sans"/>
                <a:cs typeface="DejaVu Sans"/>
              </a:rPr>
              <a:t>Using the plug-in rule, t</a:t>
            </a:r>
            <a:r>
              <a:rPr sz="2025" b="0" dirty="0">
                <a:solidFill>
                  <a:srgbClr val="182D45"/>
                </a:solidFill>
                <a:latin typeface="DejaVu Sans"/>
                <a:ea typeface="DejaVu Sans"/>
                <a:cs typeface="DejaVu Sans"/>
              </a:rPr>
              <a:t>he prediction is class 3, but the observed class is 2.</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loss uses the probability assigned to class 2.</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multiclass fitting objective</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𝑁</m:t>
                    </m:r>
                  </m:oMath>
                </a14:m>
                <a:r>
                  <a:rPr sz="2100" b="0" dirty="0">
                    <a:solidFill>
                      <a:srgbClr val="526276"/>
                    </a:solidFill>
                    <a:latin typeface="DejaVu Sans"/>
                    <a:ea typeface="DejaVu Sans"/>
                    <a:cs typeface="DejaVu Sans"/>
                  </a:rPr>
                  <a:t> labelled observations, add the individual losses.</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xmlns:a14="http://schemas.microsoft.com/office/drawing/2010/main">
        <mc:Choice Requires="a14">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p:cNvSpPr>
              <p:nvPr/>
            </p:nvSpPr>
            <p:spPr>
              <a:xfrm>
                <a:off x="723900" y="2199894"/>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noRot="1" noChangeAspect="1" noMove="1" noResize="1" noEditPoints="1" noAdjustHandles="1" noChangeArrowheads="1" noChangeShapeType="1" noTextEdit="1"/>
              </p:cNvSpPr>
              <p:nvPr/>
            </p:nvSpPr>
            <p:spPr>
              <a:xfrm>
                <a:off x="723900" y="2199894"/>
                <a:ext cx="10744200" cy="561975"/>
              </a:xfrm>
              <a:prstGeom prst="rect">
                <a:avLst/>
              </a:prstGeom>
              <a:blipFill>
                <a:blip r:embed="rId4"/>
                <a:stretch>
                  <a:fillRect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p:cNvSpPr>
              <p:nvPr/>
            </p:nvSpPr>
            <p:spPr>
              <a:xfrm>
                <a:off x="723900" y="2960751"/>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xmlns="">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noRot="1" noChangeAspect="1" noMove="1" noResize="1" noEditPoints="1" noAdjustHandles="1" noChangeArrowheads="1" noChangeShapeType="1" noTextEdit="1"/>
              </p:cNvSpPr>
              <p:nvPr/>
            </p:nvSpPr>
            <p:spPr>
              <a:xfrm>
                <a:off x="723900" y="2960751"/>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05" name="minimise">
            <a:extLst>
              <a:ext uri="{FF2B5EF4-FFF2-40B4-BE49-F238E27FC236}">
                <a16:creationId xmlns:a16="http://schemas.microsoft.com/office/drawing/2014/main" id="{F76CBEBD-8335-41C6-85C0-A26134DE1230}"/>
              </a:ext>
            </a:extLst>
          </p:cNvPr>
          <p:cNvSpPr>
            <a:spLocks noGrp="1"/>
          </p:cNvSpPr>
          <p:nvPr/>
        </p:nvSpPr>
        <p:spPr>
          <a:xfrm>
            <a:off x="762000" y="5077015"/>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182D45"/>
                </a:solidFill>
                <a:latin typeface="DejaVu Sans"/>
                <a:ea typeface="DejaVu Sans"/>
                <a:cs typeface="DejaVu Sans"/>
              </a:rPr>
              <a:t>gradient</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2" name="lead">
            <a:extLst>
              <a:ext uri="{FF2B5EF4-FFF2-40B4-BE49-F238E27FC236}">
                <a16:creationId xmlns:a16="http://schemas.microsoft.com/office/drawing/2014/main" id="{68876C63-FA2C-4B5E-B2E6-A0FA1C8D8FD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Binary and multiclass models turn affine scores into class probabilities.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p:graphicFrame>
        <p:nvGraphicFramePr>
          <p:cNvPr id="11" name="step_0_table_0"/>
          <p:cNvGraphicFramePr/>
          <p:nvPr>
            <p:extLst>
              <p:ext uri="{D42A27DB-BD31-4B8C-83A1-F6EECF244321}">
                <p14:modId xmlns:p14="http://schemas.microsoft.com/office/powerpoint/2010/main" val="3471785491"/>
              </p:ext>
            </p:extLst>
          </p:nvPr>
        </p:nvGraphicFramePr>
        <p:xfrm>
          <a:off x="914400" y="2047875"/>
          <a:ext cx="10363200" cy="213360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857250" y="442912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 smooth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848</TotalTime>
  <Words>9972</Words>
  <Application>Microsoft Office PowerPoint</Application>
  <DocSecurity>0</DocSecurity>
  <PresentationFormat>Widescreen</PresentationFormat>
  <Paragraphs>747</Paragraphs>
  <Slides>50</Slides>
  <Notes>50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50</vt:i4>
      </vt:variant>
    </vt:vector>
  </HeadingPairs>
  <TitlesOfParts>
    <vt:vector size="56"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25</cp:revision>
  <dcterms:created xsi:type="dcterms:W3CDTF">2026-09-28T00:00:05Z</dcterms:created>
  <dcterms:modified xsi:type="dcterms:W3CDTF">2026-09-29T13:01:39Z</dcterms:modified>
</cp:coreProperties>
</file>