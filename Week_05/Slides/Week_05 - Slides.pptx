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4"/>
  </p:notesMasterIdLst>
  <p:sldIdLst>
    <p:sldId id="256" r:id="rId4"/>
    <p:sldId id="257" r:id="rId5"/>
    <p:sldId id="258" r:id="rId6"/>
    <p:sldId id="259" r:id="rId7"/>
    <p:sldId id="260" r:id="rId8"/>
    <p:sldId id="261" r:id="rId9"/>
    <p:sldId id="265" r:id="rId10"/>
    <p:sldId id="266" r:id="rId11"/>
    <p:sldId id="267" r:id="rId12"/>
    <p:sldId id="262" r:id="rId13"/>
    <p:sldId id="303" r:id="rId14"/>
    <p:sldId id="270" r:id="rId15"/>
    <p:sldId id="263" r:id="rId16"/>
    <p:sldId id="269" r:id="rId17"/>
    <p:sldId id="302" r:id="rId18"/>
    <p:sldId id="301" r:id="rId19"/>
    <p:sldId id="264" r:id="rId20"/>
    <p:sldId id="272" r:id="rId21"/>
    <p:sldId id="273" r:id="rId22"/>
    <p:sldId id="274" r:id="rId23"/>
    <p:sldId id="275" r:id="rId24"/>
    <p:sldId id="271" r:id="rId25"/>
    <p:sldId id="276" r:id="rId26"/>
    <p:sldId id="277" r:id="rId27"/>
    <p:sldId id="278" r:id="rId28"/>
    <p:sldId id="279" r:id="rId29"/>
    <p:sldId id="282" r:id="rId30"/>
    <p:sldId id="298" r:id="rId31"/>
    <p:sldId id="299" r:id="rId32"/>
    <p:sldId id="283" r:id="rId33"/>
    <p:sldId id="284" r:id="rId34"/>
    <p:sldId id="285" r:id="rId35"/>
    <p:sldId id="286" r:id="rId36"/>
    <p:sldId id="288" r:id="rId37"/>
    <p:sldId id="289" r:id="rId38"/>
    <p:sldId id="290" r:id="rId39"/>
    <p:sldId id="291" r:id="rId40"/>
    <p:sldId id="292" r:id="rId41"/>
    <p:sldId id="293" r:id="rId42"/>
    <p:sldId id="297" r:id="rId4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5892"/>
    <a:srgbClr val="087F82"/>
    <a:srgbClr val="1E755E"/>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wider networks,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the last layer</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The notation convention is visible on entry: in both the slides and the lecture notes, we write J_r, leaving dependence on the parameters and target implicit. J_r uses the target and the parameters of later layers; at the output, J_3(u)=(u-y)^2 uses only y. Derivatives J_r′ and gradients ∇J_r are with respect to the function argument, with those parameters and the target held fixed.</a:t>
            </a:r>
          </a:p>
          <a:p>
            <a:r>
              <a:rPr lang="en-GB"/>
              <a:t>The orange boundary and the formula are already visible. J_3(u)=(u-y)^2 is the squared loss as a function of a possible output preactivation. Substituting the actual forward value a_3(x) gives L_sq(θ)=J_3(a_3(x)).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The J_2 and J_3 regions are visible on entry. Starting at a_2(x), identify ReLU, the output affine operation and the final loss.</a:t>
            </a:r>
          </a:p>
          <a:p>
            <a:r>
              <a:rPr lang="en-GB"/>
              <a:t>The J_2 boundary, its definition and the loss composition are already visible. Apply ReLU to a possible preactivation u, then the output affine operation. Use J_3 for the remaining squared-loss operation. This function uses only w_3, b_3 and y. The earlier boundary remains visible.</a:t>
            </a:r>
          </a:p>
          <a:p>
            <a:r>
              <a:rPr lang="en-GB"/>
              <a:t>[CLICK 1]</a:t>
            </a:r>
          </a:p>
          <a:p>
            <a:r>
              <a:rPr lang="en-GB"/>
              <a:t>Replace where with in fact and evaluate the recursive definition at u = a_2(x), on both sides. The underbrace identifies ReLU(a_2(x)) w_3 + b_3 as the saved preactivation a_3(x). Thus J_2(a_2(x)) = J_3(a_3(x)), which is the same loss for this observation. Relate the underbraced expression to the affine operation in the diagram.</a:t>
            </a:r>
          </a:p>
          <a:p>
            <a:r>
              <a:rPr lang="en-GB"/>
              <a:t>[NEXT SLIDE]</a:t>
            </a:r>
          </a:p>
          <a:p>
            <a:r>
              <a:rPr lang="en-GB"/>
              <a:t>Keep the J_3 and J_2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Another layer back</a:t>
            </a:r>
          </a:p>
          <a:p>
            <a:r>
              <a:rPr lang="en-GB"/>
              <a:t>Suggested time: 1.1 minutes</a:t>
            </a:r>
          </a:p>
          <a:p>
            <a:r>
              <a:rPr lang="en-GB"/>
              <a:t>Target interval: 08:24–09:30 (including pauses).</a:t>
            </a:r>
          </a:p>
          <a:p>
            <a:endParaRPr lang="en-GB"/>
          </a:p>
          <a:p>
            <a:r>
              <a:rPr lang="en-GB"/>
              <a:t>[ON ENTRY]</a:t>
            </a:r>
          </a:p>
          <a:p>
            <a:r>
              <a:rPr lang="en-GB"/>
              <a:t>The J_1, J_2 and J_3 regions are visible on entry. Starting at a_1(x), identify the operations needed before we can use the already-defined function J_2.</a:t>
            </a:r>
          </a:p>
          <a:p>
            <a:r>
              <a:rPr lang="en-GB"/>
              <a:t>The J_1 boundary, its definition and the loss composition are already visible. The red equality states L_sq(θ)=J_1(a_1(x)). The definition has the same color as the new boundary and uses J_2 for the remaining computation. Read the fixed-parameter statement below. The earlier boundaries remain visible.</a:t>
            </a:r>
          </a:p>
          <a:p>
            <a:r>
              <a:rPr lang="en-GB"/>
              <a:t>[CLICK 1]</a:t>
            </a:r>
          </a:p>
          <a:p>
            <a:r>
              <a:rPr lang="en-GB"/>
              <a:t>Replace where with in fact and evaluate the recursive definition at u = a_1(x), on both sides. The underbrace identifies ReLU(a_1(x)) w_2 + b_2 as the saved preactivation a_2(x). Thus J_1(a_1(x)) = J_2(a_2(x)), which is the same loss for this observation. Relate the underbraced expression to the affine operation in the diagram.</a:t>
            </a:r>
          </a:p>
          <a:p>
            <a:r>
              <a:rPr lang="en-GB"/>
              <a:t>[NEXT SLIDE]</a:t>
            </a:r>
          </a:p>
          <a:p>
            <a:r>
              <a:rPr lang="en-GB"/>
              <a:t>We have expressed the same loss starting from each preactivation. Begin at the output layer and apply the chain rule to its bias and weight.</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J_3(a3(x)). Keep the input, target and all other parameters fixed. J_3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The three underbraces identify the two occurrences of a_3(x) and phi_2(x) as values already computed in the forward pass. The braces cover only these values, not the outer derivative. We still need J′_3(a_3(x)), the common factor in both parameter derivatives.</a:t>
            </a:r>
          </a:p>
          <a:p>
            <a:r>
              <a:rPr lang="en-GB"/>
              <a:t>Both expressions require the same factor J'_3(a3(x)). We now calculate it once.</a:t>
            </a:r>
          </a:p>
          <a:p>
            <a:r>
              <a:rPr lang="en-GB"/>
              <a:t>[NEXT SLIDE]</a:t>
            </a:r>
          </a:p>
          <a:p>
            <a:r>
              <a:rPr lang="en-GB"/>
              <a:t>Return to the definition of J_3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1 minutes</a:t>
            </a:r>
          </a:p>
          <a:p>
            <a:r>
              <a:rPr lang="en-GB"/>
              <a:t>Target interval: 11:18–12:18 (including pauses).</a:t>
            </a:r>
          </a:p>
          <a:p>
            <a:r>
              <a:rPr lang="en-GB"/>
              <a:t>The chain rule at the second layer</a:t>
            </a:r>
          </a:p>
          <a:p>
            <a:r>
              <a:rPr lang="en-GB"/>
              <a:t>[ON ENTRY]</a:t>
            </a:r>
          </a:p>
          <a:p>
            <a:r>
              <a:rPr lang="en-GB"/>
              <a:t>First point to the loss composition L_sq(theta)=J_2(a_2(x)). The two definitions underneath identify the outer remaining-loss function and the inner affine preactivation. J_2 does not use w_2 or b_2; the input phi_1(x)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b_2.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w_2. The same outer derivative appears again.</a:t>
            </a:r>
          </a:p>
          <a:p>
            <a:r>
              <a:rPr lang="en-GB"/>
              <a:t>[CLICK 4]</a:t>
            </a:r>
          </a:p>
          <a:p>
            <a:r>
              <a:rPr lang="en-GB"/>
              <a:t>The local derivative is phi_1(x), the input to this layer saved during the forward pass.</a:t>
            </a:r>
          </a:p>
          <a:p>
            <a:r>
              <a:rPr lang="en-GB"/>
              <a:t>[CLICK 5]</a:t>
            </a:r>
          </a:p>
          <a:p>
            <a:r>
              <a:rPr lang="en-GB"/>
              <a:t>The three underbraces identify the two occurrences of a_2(x) and phi_1(x) as values already computed in the forward pass. The braces cover only these values, not the outer derivative. We still need J′_2(a_2(x)), the common factor in both parameter derivatives.</a:t>
            </a:r>
          </a:p>
          <a:p>
            <a:r>
              <a:rPr lang="en-GB"/>
              <a:t>Both parameter derivatives require the same evaluated factor J'_2(a_2(x)). We now calculate it once, starting from the definition of J_2.</a:t>
            </a:r>
          </a:p>
          <a:p>
            <a:r>
              <a:rPr lang="en-GB"/>
              <a:t>[NEXT SLIDE]</a:t>
            </a:r>
          </a:p>
          <a:p>
            <a:r>
              <a:rPr lang="en-GB"/>
              <a:t>We have identified J'_2(a_2(x)) as the missing factor. Return to the definition of J_2: can the derivative we already calculated help us find it?</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Reusing the output derivative</a:t>
            </a:r>
          </a:p>
          <a:p>
            <a:r>
              <a:rPr lang="en-GB"/>
              <a:t>Suggested time: 1.3 minutes</a:t>
            </a:r>
          </a:p>
          <a:p>
            <a:r>
              <a:rPr lang="en-GB"/>
              <a:t>Target interval: 12:18–13:36 (including pauses).</a:t>
            </a:r>
          </a:p>
          <a:p>
            <a:r>
              <a:rPr lang="en-GB"/>
              <a:t>[ON ENTRY]</a:t>
            </a:r>
          </a:p>
          <a:p>
            <a:r>
              <a:rPr lang="en-GB"/>
              <a:t>The second-layer parameter derivatives require J'_2(a_2(x)). Begin with that target at the top of the slide. Underneath, recall the definition J_2(u)=J_3(ReLU(u)w_3+b_3).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rPr lang="en-GB"/>
              <a:t>[CLICK 1]</a:t>
            </a:r>
          </a:p>
          <a:p>
            <a:r>
              <a:rPr lang="en-GB"/>
              <a:t>Apply the chain rule to this definition. The outer derivative is J'_3 at the inner argument. The derivative of the affine expression contributes w_3, and the ReLU contributes ReLU'(u). This identity holds for u nonzero.</a:t>
            </a:r>
          </a:p>
          <a:p>
            <a:r>
              <a:rPr lang="en-GB"/>
              <a:t>[CLICK 2]</a:t>
            </a:r>
          </a:p>
          <a:p>
            <a:r>
              <a:rPr lang="en-GB"/>
              <a:t>Evaluate at the saved a_2(x). Look at the underbrace inside J'_3: ReLU(a_2(x))w_3+b_3 is exactly a_3(x), the output preactivation already computed during the forward pass. We need the outer derivative at that same point.</a:t>
            </a:r>
          </a:p>
          <a:p>
            <a:r>
              <a:rPr lang="en-GB"/>
              <a:t>[CLICK 3]</a:t>
            </a:r>
          </a:p>
          <a:p>
            <a:r>
              <a:rPr lang="en-GB"/>
              <a:t>We have already obtained J'_3(a_3(x))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rPr lang="en-GB"/>
              <a:t>[NEXT SLIDE]</a:t>
            </a:r>
          </a:p>
          <a:p>
            <a:r>
              <a:rPr lang="en-GB"/>
              <a:t>Calculate the remaining local derivative, then use the resulting shared factor in the two parameter derivatives already established.</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J'_3(a3(x)) is already available, w3 is a known fixed weight, and the remaining factor is ReLU'(a2(x)).</a:t>
            </a:r>
          </a:p>
          <a:p>
            <a:r>
              <a:rPr lang="en-GB"/>
              <a:t>[CLICK 1]</a:t>
            </a:r>
          </a:p>
          <a:p>
            <a:r>
              <a:rPr lang="en-GB"/>
              <a:t>For the nonzero preactivation in this calculation, replace ReLU'(a2(x)) by step(a2(x)). We have now obtained J'_2(a2(x))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0.9 minutes</a:t>
            </a:r>
          </a:p>
          <a:p>
            <a:r>
              <a:rPr lang="en-GB"/>
              <a:t>Target interval: 14:39–15:33 (including pauses).</a:t>
            </a:r>
          </a:p>
          <a:p>
            <a:r>
              <a:rPr lang="en-GB"/>
              <a:t>The chain rule at the first layer</a:t>
            </a:r>
          </a:p>
          <a:p>
            <a:r>
              <a:rPr lang="en-GB"/>
              <a:t>[ON ENTRY]</a:t>
            </a:r>
          </a:p>
          <a:p>
            <a:r>
              <a:rPr lang="en-GB"/>
              <a:t>First point to the loss composition L_sq(theta)=J_1(a_1(x)). The two definitions underneath identify the outer remaining-loss function and the inner affine preactivation. J_1 does not use w_1 or b_1; the input phi_0(x)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b_1.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w_1. The same outer derivative appears again.</a:t>
            </a:r>
          </a:p>
          <a:p>
            <a:r>
              <a:rPr lang="en-GB"/>
              <a:t>[CLICK 4]</a:t>
            </a:r>
          </a:p>
          <a:p>
            <a:r>
              <a:rPr lang="en-GB"/>
              <a:t>The local derivative is phi_0(x), the input to this layer saved during the forward pass.</a:t>
            </a:r>
          </a:p>
          <a:p>
            <a:r>
              <a:rPr lang="en-GB"/>
              <a:t>[CLICK 5]</a:t>
            </a:r>
          </a:p>
          <a:p>
            <a:r>
              <a:rPr lang="en-GB"/>
              <a:t>The three underbraces identify the two occurrences of a_1(x) and phi_0(x) as values already computed in the forward pass. The braces cover only these values, not the outer derivative. We still need J′_1(a_1(x)), the common factor in both parameter derivatives.</a:t>
            </a:r>
          </a:p>
          <a:p>
            <a:r>
              <a:rPr lang="en-GB"/>
              <a:t>Both parameter derivatives require the same evaluated factor J'_1(a_1(x)). We now calculate it once, starting from the definition of J_1.</a:t>
            </a:r>
          </a:p>
          <a:p>
            <a:r>
              <a:rPr lang="en-GB"/>
              <a:t>[NEXT SLIDE]</a:t>
            </a:r>
          </a:p>
          <a:p>
            <a:r>
              <a:rPr lang="en-GB"/>
              <a:t>The missing factor is J'_1(a_1(x)). Its definition uses J_2, whose evaluated derivative is now available.</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J'_1(a1(x)). Begin with that target, exactly as we did for the second layer. Recall the definition of J_1 in terms of J_2.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the output layer</a:t>
            </a:r>
          </a:p>
          <a:p>
            <a:r>
              <a:t>Suggested time: 1.35 minutes</a:t>
            </a:r>
          </a:p>
          <a:p>
            <a:r>
              <a:t>Target interval: 16:33–17:54 (including pauses).</a:t>
            </a:r>
          </a:p>
          <a:p>
            <a:r>
              <a:t>[ON ENTRY]</a:t>
            </a:r>
          </a:p>
          <a:p>
            <a:r>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t>[CLICK 1]</a:t>
            </a:r>
          </a:p>
          <a:p>
            <a:r>
              <a:t>The grey boxes identify J prime r evaluated at a r of x. First show the derivative formula at the output: J prime 3 at a 3 of x equals twice the difference between a 3 of x and y. Keep the symbolic argument on the left.</a:t>
            </a:r>
          </a:p>
          <a:p>
            <a:r>
              <a:t>[CLICK 2]</a:t>
            </a:r>
          </a:p>
          <a:p>
            <a:r>
              <a:t>Substitute the saved output minus three and target minus two on the right: two times minus three minus minus two. The expression on the left stays unchanged.</a:t>
            </a:r>
          </a:p>
          <a:p>
            <a:r>
              <a:t>[CLICK 3]</a:t>
            </a:r>
          </a:p>
          <a:p>
            <a:r>
              <a:t>Evaluate the numerical expression. The intermediate derivative is minus two, shown in orange.</a:t>
            </a:r>
          </a:p>
          <a:p>
            <a:r>
              <a:t>[CLICK 4]</a:t>
            </a:r>
          </a:p>
          <a:p>
            <a:r>
              <a:t>Read the symbolic parameter-derivative formulas first. In both red boxes, the numerical calculation is shown below the formula. The symbolic argument of the intermediate derivative remains a 3 of x.</a:t>
            </a:r>
          </a:p>
          <a:p>
            <a:r>
              <a:t>The orange arrows show how we reuse it. It gives the bias derivative directly. For the weight derivative, the dashed blue arrow supplies the saved activation five: minus two times five gives minus ten. The red boxes are parameter derivatives needed for the update.</a:t>
            </a:r>
          </a:p>
          <a:p>
            <a:r>
              <a:t>[NEXT SLIDE]</a:t>
            </a:r>
          </a:p>
          <a:p>
            <a:r>
              <a:t>Now move one column to the left, keeping these results.</a:t>
            </a:r>
          </a:p>
          <a:p>
            <a:r>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2</a:t>
            </a:r>
          </a:p>
          <a:p>
            <a:r>
              <a:t>Suggested time: 1.4 minutes</a:t>
            </a:r>
          </a:p>
          <a:p>
            <a:r>
              <a:t>Target interval: 17:54–19:18 (including pauses).</a:t>
            </a:r>
          </a:p>
          <a:p>
            <a:r>
              <a:t>[ON ENTRY]</a:t>
            </a:r>
          </a:p>
          <a:p>
            <a:r>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t>[CLICK 1]</a:t>
            </a:r>
          </a:p>
          <a:p>
            <a:r>
              <a:t>Show the chain-rule formula: J prime 2 at a 2 of x is J prime 3 at a 3 of x times w 3 times step of a 2 of x. The full product is shown on the second line. The blue output derivative is already available.</a:t>
            </a:r>
          </a:p>
          <a:p>
            <a:r>
              <a:t>[CLICK 2]</a:t>
            </a:r>
          </a:p>
          <a:p>
            <a:r>
              <a:t>Substitute the available derivative minus two, weight minus one and preactivation five. The ReLU factor at five is one, so the numerical product is minus two times minus one times one.</a:t>
            </a:r>
          </a:p>
          <a:p>
            <a:r>
              <a:t>[CLICK 3]</a:t>
            </a:r>
          </a:p>
          <a:p>
            <a:r>
              <a:t>Evaluate the product. J prime 2 at a 2 of x is two. Keep the earlier output results visible.</a:t>
            </a:r>
          </a:p>
          <a:p>
            <a:r>
              <a:t>[CLICK 4]</a:t>
            </a:r>
          </a:p>
          <a:p>
            <a:r>
              <a:t>Read the symbolic parameter-derivative formulas first. In both red boxes, the numerical calculation is shown below the formula. The symbolic argument of the intermediate derivative remains a 2 of x.</a:t>
            </a:r>
          </a:p>
          <a:p>
            <a:r>
              <a:t>The bias derivative is therefore two. The weight derivative also uses the saved input to this layer. The blue dashed path brings in the activation three, so two times three gives six. The new parameter derivatives are red; the earlier ones remain grey.</a:t>
            </a:r>
          </a:p>
          <a:p>
            <a:r>
              <a:t>[NEXT SLIDE]</a:t>
            </a:r>
          </a:p>
          <a:p>
            <a:r>
              <a:t>We can repeat exactly this step for the first hidden layer.</a:t>
            </a:r>
          </a:p>
          <a:p>
            <a:r>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1</a:t>
            </a:r>
          </a:p>
          <a:p>
            <a:r>
              <a:t>Suggested time: 1.3 minutes</a:t>
            </a:r>
          </a:p>
          <a:p>
            <a:r>
              <a:t>Target interval: 19:18–20:36 (including pauses).</a:t>
            </a:r>
          </a:p>
          <a:p>
            <a:r>
              <a:t>[ON ENTRY]</a:t>
            </a:r>
          </a:p>
          <a:p>
            <a:r>
              <a:t>We now work in the left-hand column. The derivative two from hidden layer two is blue because we reuse it. The earlier output derivative is grey because this step does not need it. All saved forward values remain in their original positions.</a:t>
            </a:r>
          </a:p>
          <a:p>
            <a:r>
              <a:t>[CLICK 1]</a:t>
            </a:r>
          </a:p>
          <a:p>
            <a:r>
              <a:t>Show the same chain-rule formula for the first hidden layer: J prime 1 at a 1 of x is J prime 2 at a 2 of x times w 2 times step of a 1 of x. The full product is shown on the second line.</a:t>
            </a:r>
          </a:p>
          <a:p>
            <a:r>
              <a:t>[CLICK 2]</a:t>
            </a:r>
          </a:p>
          <a:p>
            <a:r>
              <a:t>Substitute the available derivative two, weight two and preactivation three. The ReLU factor at three is one, so the numerical product is two times two times one.</a:t>
            </a:r>
          </a:p>
          <a:p>
            <a:r>
              <a:t>[CLICK 3]</a:t>
            </a:r>
          </a:p>
          <a:p>
            <a:r>
              <a:t>Evaluate the product. J prime 1 at a 1 of x is four. We have propagated the derivative back to the first hidden layer.</a:t>
            </a:r>
          </a:p>
          <a:p>
            <a:r>
              <a:t>[CLICK 4]</a:t>
            </a:r>
          </a:p>
          <a:p>
            <a:r>
              <a:t>Read the symbolic parameter-derivative formulas first. In both red boxes, the numerical calculation is shown below the formula. The symbolic argument of the intermediate derivative remains a 1 of x.</a:t>
            </a:r>
          </a:p>
          <a:p>
            <a:r>
              <a:t>This gives the bias derivative four. For the weight derivative, the blue path supplies the original input: phi zero of x equals x, which is two here. Four times two gives eight. All six parameter derivatives are now visible, with the newly calculated pair in red.</a:t>
            </a:r>
          </a:p>
          <a:p>
            <a:r>
              <a:t>[NEXT SLIDE]</a:t>
            </a:r>
          </a:p>
          <a:p>
            <a:r>
              <a:t>All six parameter derivatives are now available. Collect them into the gradient in the same order as the parameter column, then use that complete gradient for the update.</a:t>
            </a:r>
          </a:p>
          <a:p>
            <a:r>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 now have the complete gradient</a:t>
            </a:r>
          </a:p>
          <a:p>
            <a:r>
              <a:rPr lang="en-GB"/>
              <a:t>Suggested time: 1.1 minutes</a:t>
            </a:r>
          </a:p>
          <a:p>
            <a:r>
              <a:rPr lang="en-GB"/>
              <a:t>Target interval: 20:36–21:42 (including pauses).</a:t>
            </a:r>
          </a:p>
          <a:p>
            <a:r>
              <a:rPr lang="en-GB"/>
              <a:t>[ON ENTRY]</a:t>
            </a:r>
          </a:p>
          <a:p>
            <a:r>
              <a:rPr lang="en-GB"/>
              <a:t>Our order was bias, weight, bias, weight, bias, weight, working forwards through the layers. In that order the gradient is 4, 8, 2, 6, minus 2, minus 10.</a:t>
            </a:r>
          </a:p>
          <a:p>
            <a:r>
              <a:rPr lang="en-GB"/>
              <a:t>We calculated the entries in reverse layer order, but place them in the column according to their corresponding parameters. All six derivatives are evaluated at the same current parameter column theta^(t) and use the same observation.</a:t>
            </a:r>
          </a:p>
          <a:p>
            <a:r>
              <a:rPr lang="en-GB"/>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rPr lang="en-GB"/>
              <a:t>[NEXT SLIDE]</a:t>
            </a:r>
          </a:p>
          <a:p>
            <a:r>
              <a:rPr lang="en-GB"/>
              <a:t>We now have the complete scalar calculation. Use one diagram to summarise the backward step we repeated at each layer.</a:t>
            </a:r>
          </a:p>
          <a:p>
            <a:r>
              <a:rPr lang="en-GB"/>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2.55 minutes</a:t>
            </a:r>
          </a:p>
          <a:p>
            <a:r>
              <a:rPr lang="en-GB"/>
              <a:t>Target interval: 21:42–24:15 (including pauses).</a:t>
            </a:r>
          </a:p>
          <a:p>
            <a:endParaRPr lang="en-GB"/>
          </a:p>
          <a:p>
            <a:r>
              <a:rPr lang="en-GB"/>
              <a:t>[ON ENTRY]</a:t>
            </a:r>
          </a:p>
          <a:p>
            <a:r>
              <a:rPr lang="en-GB"/>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rPr lang="en-GB"/>
              <a:t>[CLICK 1]</a:t>
            </a:r>
          </a:p>
          <a:p>
            <a:r>
              <a:rPr lang="en-GB"/>
              <a:t>First, use the known blue derivative to calculate both parameter derivatives for layer r. For the weight, multiply it by the saved layer input. For the bias, use it directly. These are separate branches: the bias derivative does not depend on the weight derivative.</a:t>
            </a:r>
          </a:p>
          <a:p>
            <a:r>
              <a:rPr lang="en-GB"/>
              <a:t>[CLICK 2]</a:t>
            </a:r>
          </a:p>
          <a:p>
            <a:r>
              <a:rPr lang="en-GB"/>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rPr lang="en-GB"/>
              <a:t>[NEXT SLIDE]</a:t>
            </a:r>
          </a:p>
          <a:p>
            <a:r>
              <a:rPr lang="en-GB"/>
              <a:t>Keep this organisation as we move from one neuron per layer to wider layers. We will save forward values and reuse derivatives in exactly the same way.</a:t>
            </a:r>
          </a:p>
          <a:p>
            <a:r>
              <a:rPr lang="en-GB"/>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for wider networks, with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p>
          <a:p>
            <a:r>
              <a:rPr lang="en-GB" dirty="0"/>
              <a:t>Suggested time: 1.6 minutes</a:t>
            </a:r>
          </a:p>
          <a:p>
            <a:r>
              <a:rPr lang="en-GB" dirty="0"/>
              <a:t>Target interval: 24:33–26:09 (including pauses).</a:t>
            </a:r>
          </a:p>
          <a:p>
            <a:r>
              <a:rPr lang="en-GB" dirty="0"/>
              <a:t>[ON ENTRY]</a:t>
            </a:r>
          </a:p>
          <a:p>
            <a:r>
              <a:rPr lang="en-GB" dirty="0"/>
              <a:t>The organisation stays the same, with one coordinate per neuron. The weight matrix has one row per incoming coordinate and one column per neuron in the current layer. Each neuron has its own bias, so the bias row has d sub r entries. For example, two incoming coordinates and three neurons require a two-by-three weight matrix.</a:t>
            </a:r>
          </a:p>
          <a:p>
            <a:r>
              <a:rPr lang="en-GB" dirty="0"/>
              <a:t>The input row is phi zero of x, which equals x. Multiply the preceding activation row by the weight matrix and add the bias row to obtain the current preactivation row. At each hidden layer, apply ReLU to every coordinate. Layer L is the affine output; it has no following ReLU.</a:t>
            </a:r>
          </a:p>
          <a:p>
            <a:r>
              <a:rPr lang="en-GB" dirty="0"/>
              <a:t>[NEXT SLIDE]</a:t>
            </a:r>
          </a:p>
          <a:p>
            <a:r>
              <a:rPr lang="en-GB" dirty="0"/>
              <a:t>The remaining loss function must now accept a row too.</a:t>
            </a:r>
          </a:p>
          <a:p>
            <a:r>
              <a:rPr lang="en-GB" dirty="0"/>
              <a:t>Source: Week 5 lecture notes, pages 11–12.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Two different products</a:t>
            </a:r>
          </a:p>
          <a:p>
            <a:r>
              <a:rPr lang="en-GB"/>
              <a:t>Suggested time: 1.1 minutes</a:t>
            </a:r>
          </a:p>
          <a:p>
            <a:r>
              <a:rPr lang="en-GB"/>
              <a:t>Target interval: 27:39–28:45 (including pauses).</a:t>
            </a:r>
          </a:p>
          <a:p>
            <a:r>
              <a:rPr lang="en-GB"/>
              <a:t>[ON ENTRY]</a:t>
            </a:r>
          </a:p>
          <a:p>
            <a:r>
              <a:rPr lang="en-GB"/>
              <a:t>The whole slide is visible immediately. There are no animation clicks on this slide. Here are two matrices, A and B. Both matrix multiplication and componentwise multiplication are defined for these shapes. The matrices are identical in both calculations.</a:t>
            </a:r>
          </a:p>
          <a:p>
            <a:r>
              <a:rPr lang="en-GB"/>
              <a:t>Compare the top-left entries. For the matrix product, take the first row of A and the first column of B: one times five plus two times seven gives nineteen. For the componentwise product, multiply the two top-left entries: one times five gives five. There is no sum.</a:t>
            </a:r>
          </a:p>
          <a:p>
            <a:r>
              <a:rPr lang="en-GB"/>
              <a:t>[PAUSE: 4 seconds.]</a:t>
            </a:r>
          </a:p>
          <a:p>
            <a:r>
              <a:rPr lang="en-GB"/>
              <a:t>Matrix multiplication combines contributions across coordinates. Componentwise multiplication keeps the coordinates separate. In general, the componentwise product requires matching shapes, whereas the matrix product requires matching inner dimensions. Backpropagation uses both, for different parts of the chain rule.</a:t>
            </a:r>
          </a:p>
          <a:p>
            <a:r>
              <a:rPr lang="en-GB"/>
              <a:t>[NEXT SLIDE]</a:t>
            </a:r>
          </a:p>
          <a:p>
            <a:r>
              <a:rPr lang="en-GB"/>
              <a:t>Now recall the complete scalar backward step. We will keep its diagram fixed, identify numbers with one-by-one matrices, and then allow several neurons per layer.</a:t>
            </a:r>
          </a:p>
          <a:p>
            <a:r>
              <a:rPr lang="en-GB"/>
              <a:t>Source: Week 5 lecture notes, pages 12–14.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0.50 minutes</a:t>
            </a:r>
          </a:p>
          <a:p>
            <a:r>
              <a:rPr lang="en-GB"/>
              <a:t>Target interval: 28:45–29:15 (including pauses).</a:t>
            </a:r>
          </a:p>
          <a:p>
            <a:r>
              <a:rPr lang="en-GB"/>
              <a:t>[ON ENTRY]</a:t>
            </a:r>
          </a:p>
          <a:p>
            <a:r>
              <a:rPr lang="en-GB"/>
              <a:t>The scalar diagram is visible; the three observations above it are initially hidden. Recall the known derivative on the right. It supplies the preceding-layer derivative on the left and both parameter derivatives below. Every quantity is a number, and the products in the diagram are ordinary scalar multiplication.</a:t>
            </a:r>
          </a:p>
          <a:p>
            <a:r>
              <a:rPr lang="en-GB"/>
              <a:t>[CLICK1]</a:t>
            </a:r>
          </a:p>
          <a:p>
            <a:r>
              <a:rPr lang="en-GB"/>
              <a:t>The three observations appear together. Identify each number with a one-by-one matrix. Transposing a one-by-one matrix leaves its entry unchanged. Both matrix multiplication and componentwise multiplication reduce to multiplying the single entries. This lets us rewrite the scalar formulas with transposes and the two product symbols without changing their values.</a:t>
            </a:r>
          </a:p>
          <a:p>
            <a:r>
              <a:rPr lang="en-GB"/>
              <a:t>[NEXT SLIDE]</a:t>
            </a:r>
          </a:p>
          <a:p>
            <a:r>
              <a:rPr lang="en-GB"/>
              <a:t>Keep every box and arrow in the same place. We now 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0.33 minutes</a:t>
            </a:r>
          </a:p>
          <a:p>
            <a:r>
              <a:rPr lang="en-GB"/>
              <a:t>Target interval: 29:15–29:35 (including pauses).</a:t>
            </a:r>
          </a:p>
          <a:p>
            <a:r>
              <a:rPr lang="en-GB"/>
              <a:t>[ON ENTRY]</a:t>
            </a:r>
          </a:p>
          <a:p>
            <a:r>
              <a:rPr lang="en-GB"/>
              <a:t>The whole diagram is visible immediately. There are no animation clicks on this slide. Using the one-by-one identification just introduced, compare the two rewritten formulas with the preceding slide.</a:t>
            </a:r>
          </a:p>
          <a:p>
            <a:r>
              <a:rPr lang="en-GB"/>
              <a:t>For the preceding-layer derivative, write the product with the transposed weight first, followed by the componentwise product with the step factor. For the weight derivative, transpose the saved input and multiply it by the known derivative. The bias derivative is unchanged. In the scalar case these formulas give exactly the same numbers as before.</a:t>
            </a:r>
          </a:p>
          <a:p>
            <a:r>
              <a:rPr lang="en-GB"/>
              <a:t>The purple dot denotes matrix multiplication; the green circled dot denotes componentwise multiplication. Their order and the transposes prepare the formulas for the matrix shapes on the next slide.</a:t>
            </a:r>
          </a:p>
          <a:p>
            <a:r>
              <a:rPr lang="en-GB"/>
              <a:t>[NEXT SLIDE]</a:t>
            </a:r>
          </a:p>
          <a:p>
            <a:r>
              <a:rPr lang="en-GB"/>
              <a:t>Now keep the diagram fixed and allow multiple neurons in each layer. Scalars become matrices, and the scalar derivatives of J become row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wider network</a:t>
            </a:r>
          </a:p>
          <a:p>
            <a:r>
              <a:rPr lang="en-GB"/>
              <a:t>Suggested time: 0.42 minutes</a:t>
            </a:r>
          </a:p>
          <a:p>
            <a:r>
              <a:rPr lang="en-GB"/>
              <a:t>Target interval: 29:35–30:00 (including pauses).</a:t>
            </a:r>
          </a:p>
          <a:p>
            <a:r>
              <a:rPr lang="en-GB"/>
              <a:t>[ON ENTRY]</a:t>
            </a:r>
          </a:p>
          <a:p>
            <a:r>
              <a:rPr lang="en-GB"/>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rPr lang="en-GB"/>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rPr lang="en-GB"/>
              <a:t>[NEXT SLIDE]</a:t>
            </a:r>
          </a:p>
          <a:p>
            <a:r>
              <a:rPr lang="en-GB"/>
              <a:t>The diagram gives the complete backward step. We now return to the network from Lecture 4 and carry out a numerical example. First calculate and save its forward values, then use them to calculate the output and hidden-layer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extension to wider networks.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Show the regression column first. For one fixed observation, both tasks use one output, d_L = 1. The output preactivation a_L(x) is a row with one entry. The scalar prediction f_theta(x) is its first coordinate.</a:t>
            </a:r>
          </a:p>
          <a:p>
            <a:r>
              <a:rPr lang="en-GB"/>
              <a:t>For regression, J_L(u) = (u_1-y)^2. Its gradient with respect to the row u has shape 1 by 1. Its only component is twice prediction minus target, 2(f_theta(x)-y).</a:t>
            </a:r>
          </a:p>
          <a:p>
            <a:r>
              <a:rPr lang="en-GB"/>
              <a:t>[CLICK 1] Reveal the entire binary-classification column together, including its heading, loss, gradient shape, gradient coordinate and definition of the probability. The regression column remains visible.</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 Recall the notation from Week 4. With K classes, the network outputs the score row f_theta(x)=a_L(x), and d_L=K. Softmax gives the probability row p_theta(x). The cross-entropy loss is ell_multi(p_theta(x),y)=-log p_theta,y(x). The observed class y is an index from 1 to K.</a:t>
            </a:r>
          </a:p>
          <a:p>
            <a:r>
              <a:rPr lang="en-GB"/>
              <a:t>J is the remaining-loss function already introduced in this lecture. At the output layer it is the cross-entropy applied after softmax.</a:t>
            </a:r>
          </a:p>
          <a:p>
            <a:r>
              <a:rPr lang="en-GB"/>
              <a:t>[CLICK 1] Reveal the gradient row and its explanatory sentence together. Start from the probability row and subtract 1 from the entry corresponding to the true class. All other entries keep their probability values.</a:t>
            </a:r>
          </a:p>
          <a:p>
            <a:r>
              <a:rPr lang="en-GB"/>
              <a:t>This gradient is with respect to the output SCORE row a_L(x), before softmax. It already includes differentiating through softmax. Do not apply another softmax derivative. The gradient result is the new step here, using the probability and loss definitions introduced in Week 4.</a:t>
            </a:r>
          </a:p>
          <a:p>
            <a:r>
              <a:rPr lang="en-GB"/>
              <a:t>[CLICK 2] Reveal K=3, y=2 and the gradient example together. The row is (p_theta,1(x), p_theta,2(x)-1, p_theta,3(x)). Subtract one at the observed class, regardless of which class currently has the largest probability.</a:t>
            </a:r>
          </a:p>
          <a:p>
            <a:r>
              <a:rPr lang="en-GB"/>
              <a:t>[PAUSE: 3 seconds.] This row has shape 1 by K. It supplies the starting gradient for the same backward calculation through the hidden layers.</a:t>
            </a:r>
          </a:p>
          <a:p>
            <a:r>
              <a:rPr lang="en-GB"/>
              <a:t>[NEXT SLIDE] 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p>
          <a:p>
            <a:r>
              <a:rPr lang="en-GB" dirty="0"/>
              <a:t>Suggested time: 1.25 minutes</a:t>
            </a:r>
          </a:p>
          <a:p>
            <a:r>
              <a:rPr lang="en-GB" dirty="0"/>
              <a:t>Target interval: 43:18–44:33 (including pauses).</a:t>
            </a:r>
          </a:p>
          <a:p>
            <a:endParaRPr lang="en-GB" dirty="0"/>
          </a:p>
          <a:p>
            <a:r>
              <a:rPr lang="en-GB" dirty="0"/>
              <a:t>[ON ENTRY]</a:t>
            </a:r>
          </a:p>
          <a:p>
            <a:r>
              <a:rPr lang="en-GB" dirty="0"/>
              <a:t>Until now, we have differentiated the loss associated with one observation. Our empirical loss for the whole dataset is the sum of those individual losses. Each observation has its own input and target, but the network parameters are shared.</a:t>
            </a:r>
          </a:p>
          <a:p>
            <a:endParaRPr lang="en-GB" dirty="0"/>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p>
          <a:p>
            <a:endParaRPr lang="en-GB" dirty="0"/>
          </a:p>
          <a:p>
            <a:r>
              <a:rPr lang="en-GB" dirty="0"/>
              <a:t>[PAUSE: 4 seconds.]</a:t>
            </a:r>
          </a:p>
          <a:p>
            <a:r>
              <a:rPr lang="en-GB" dirty="0"/>
              <a:t>We use a sum here, consistently with our empirical-loss convention. Add the observations' parameter-gradient contributions before updating the parameters. Here is the complete procedure.</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p>
          <a:p>
            <a:r>
              <a:rPr lang="en-GB" dirty="0"/>
              <a:t>Suggested time: 1.15 minutes</a:t>
            </a:r>
          </a:p>
          <a:p>
            <a:r>
              <a:rPr lang="en-GB" dirty="0"/>
              <a:t>Target interval: 44:33–45:42 (including pauses).</a:t>
            </a:r>
          </a:p>
          <a:p>
            <a:endParaRPr lang="en-GB" dirty="0"/>
          </a:p>
          <a:p>
            <a:r>
              <a:rPr lang="en-GB" dirty="0"/>
              <a:t>[ON ENTRY]</a:t>
            </a:r>
          </a:p>
          <a:p>
            <a:r>
              <a:rPr lang="en-GB" dirty="0"/>
              <a:t>Begin with a zero accumulator, with an entry for every parameter. Keep the current parameters fixed.</a:t>
            </a:r>
          </a:p>
          <a:p>
            <a:endParaRPr lang="en-GB" dirty="0"/>
          </a:p>
          <a:p>
            <a:r>
              <a:rPr lang="en-GB" dirty="0"/>
              <a:t>[CLICK1]</a:t>
            </a:r>
          </a:p>
          <a:p>
            <a:r>
              <a:rPr lang="en-GB" dirty="0"/>
              <a:t>For each observation, perform the forward pass, save its intermediate values, perform the backward pass, and add its parameter derivatives to the accumulator.</a:t>
            </a:r>
          </a:p>
          <a:p>
            <a:endParaRPr lang="en-GB" dirty="0"/>
          </a:p>
          <a:p>
            <a:r>
              <a:rPr lang="en-GB" dirty="0"/>
              <a:t>[CLICK2]</a:t>
            </a:r>
          </a:p>
          <a:p>
            <a:r>
              <a:rPr lang="en-GB" dirty="0"/>
              <a:t>After every observation has contributed, the accumulator contains the empirical-loss gradient. We then update all parameters together, using our chosen learning rate.</a:t>
            </a:r>
          </a:p>
          <a:p>
            <a:endParaRPr lang="en-GB" dirty="0"/>
          </a:p>
          <a:p>
            <a:r>
              <a:rPr lang="en-GB" dirty="0"/>
              <a:t>Would updating between observations implement this same procedure?</a:t>
            </a:r>
          </a:p>
          <a:p>
            <a:endParaRPr lang="en-GB" dirty="0"/>
          </a:p>
          <a:p>
            <a:r>
              <a:rPr lang="en-GB" dirty="0"/>
              <a:t>[PAUSE: 4 seconds.]</a:t>
            </a:r>
          </a:p>
          <a:p>
            <a:r>
              <a:rPr lang="en-GB" dirty="0"/>
              <a:t>No. It would use changing parameter values and therefore be a different procedure. Backpropagation supplies the derivatives; the update rule specifies how and when to use them.</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Why does reuse save work?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3.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5.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10.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1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9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9" Type="http://schemas.openxmlformats.org/officeDocument/2006/relationships/image" Target="../media/image140.png"/><Relationship Id="rId51" Type="http://schemas.openxmlformats.org/officeDocument/2006/relationships/image" Target="../media/image101.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100.png"/><Relationship Id="rId25" Type="http://schemas.openxmlformats.org/officeDocument/2006/relationships/image" Target="../media/image97.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 Type="http://schemas.openxmlformats.org/officeDocument/2006/relationships/notesSlide" Target="../notesSlides/notesSlide7.xml"/><Relationship Id="rId29" Type="http://schemas.openxmlformats.org/officeDocument/2006/relationships/image" Target="../media/image130.png"/><Relationship Id="rId41" Type="http://schemas.openxmlformats.org/officeDocument/2006/relationships/image" Target="../media/image142.png"/><Relationship Id="rId1" Type="http://schemas.openxmlformats.org/officeDocument/2006/relationships/slideLayout" Target="../slideLayouts/slideLayout6.xml"/><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9.png"/><Relationship Id="rId31" Type="http://schemas.openxmlformats.org/officeDocument/2006/relationships/image" Target="../media/image132.png"/><Relationship Id="rId44" Type="http://schemas.openxmlformats.org/officeDocument/2006/relationships/image" Target="../media/image145.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s>
</file>

<file path=ppt/slides/_rels/slide8.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97.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4.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49.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03.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27.png"/><Relationship Id="rId27" Type="http://schemas.openxmlformats.org/officeDocument/2006/relationships/image" Target="../media/image102.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05.png"/></Relationships>
</file>

<file path=ppt/slides/_rels/slide9.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02.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33" Type="http://schemas.openxmlformats.org/officeDocument/2006/relationships/image" Target="../media/image155.png"/><Relationship Id="rId2" Type="http://schemas.openxmlformats.org/officeDocument/2006/relationships/notesSlide" Target="../notesSlides/notesSlide9.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51.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54.png"/><Relationship Id="rId28" Type="http://schemas.openxmlformats.org/officeDocument/2006/relationships/image" Target="../media/image150.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53.png"/><Relationship Id="rId4" Type="http://schemas.openxmlformats.org/officeDocument/2006/relationships/image" Target="../media/image9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52.png"/></Relationships>
</file>

<file path=ppt/slides/_rels/slide10.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image" Target="../media/image156.png"/><Relationship Id="rId7" Type="http://schemas.openxmlformats.org/officeDocument/2006/relationships/image" Target="../media/image15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8.png"/><Relationship Id="rId11" Type="http://schemas.openxmlformats.org/officeDocument/2006/relationships/image" Target="../media/image163.png"/><Relationship Id="rId5" Type="http://schemas.openxmlformats.org/officeDocument/2006/relationships/image" Target="../media/image1550.png"/><Relationship Id="rId10" Type="http://schemas.openxmlformats.org/officeDocument/2006/relationships/image" Target="../media/image162.png"/><Relationship Id="rId4" Type="http://schemas.openxmlformats.org/officeDocument/2006/relationships/image" Target="../media/image157.png"/><Relationship Id="rId9" Type="http://schemas.openxmlformats.org/officeDocument/2006/relationships/image" Target="../media/image161.png"/></Relationships>
</file>

<file path=ppt/slides/_rels/slide11.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2.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170.png"/><Relationship Id="rId7" Type="http://schemas.openxmlformats.org/officeDocument/2006/relationships/image" Target="../media/image173.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72.png"/><Relationship Id="rId11" Type="http://schemas.openxmlformats.org/officeDocument/2006/relationships/image" Target="../media/image177.png"/><Relationship Id="rId5" Type="http://schemas.openxmlformats.org/officeDocument/2006/relationships/image" Target="../media/image1610.png"/><Relationship Id="rId10" Type="http://schemas.openxmlformats.org/officeDocument/2006/relationships/image" Target="../media/image176.png"/><Relationship Id="rId4" Type="http://schemas.openxmlformats.org/officeDocument/2006/relationships/image" Target="../media/image171.png"/><Relationship Id="rId9" Type="http://schemas.openxmlformats.org/officeDocument/2006/relationships/image" Target="../media/image175.png"/></Relationships>
</file>

<file path=ppt/slides/_rels/slide13.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78.png"/><Relationship Id="rId7"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80.png"/><Relationship Id="rId5" Type="http://schemas.openxmlformats.org/officeDocument/2006/relationships/image" Target="../media/image179.png"/><Relationship Id="rId4" Type="http://schemas.openxmlformats.org/officeDocument/2006/relationships/image" Target="../media/image1691.png"/></Relationships>
</file>

<file path=ppt/slides/_rels/slide14.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0.png"/><Relationship Id="rId7"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71.png"/><Relationship Id="rId5" Type="http://schemas.openxmlformats.org/officeDocument/2006/relationships/image" Target="../media/image1760.png"/><Relationship Id="rId4" Type="http://schemas.openxmlformats.org/officeDocument/2006/relationships/image" Target="../media/image1750.png"/></Relationships>
</file>

<file path=ppt/slides/_rels/slide15.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740.png"/><Relationship Id="rId7" Type="http://schemas.openxmlformats.org/officeDocument/2006/relationships/image" Target="../media/image18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16.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8.png"/><Relationship Id="rId7" Type="http://schemas.openxmlformats.org/officeDocument/2006/relationships/image" Target="../media/image190.png"/><Relationship Id="rId12" Type="http://schemas.openxmlformats.org/officeDocument/2006/relationships/image" Target="../media/image195.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841.png"/><Relationship Id="rId11" Type="http://schemas.openxmlformats.org/officeDocument/2006/relationships/image" Target="../media/image194.png"/><Relationship Id="rId10" Type="http://schemas.openxmlformats.org/officeDocument/2006/relationships/image" Target="../media/image193.png"/><Relationship Id="rId4" Type="http://schemas.openxmlformats.org/officeDocument/2006/relationships/image" Target="../media/image189.png"/><Relationship Id="rId9" Type="http://schemas.openxmlformats.org/officeDocument/2006/relationships/image" Target="../media/image192.png"/></Relationships>
</file>

<file path=ppt/slides/_rels/slide17.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196.png"/><Relationship Id="rId7" Type="http://schemas.openxmlformats.org/officeDocument/2006/relationships/image" Target="../media/image20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99.png"/><Relationship Id="rId11" Type="http://schemas.openxmlformats.org/officeDocument/2006/relationships/image" Target="../media/image1981.png"/><Relationship Id="rId5" Type="http://schemas.openxmlformats.org/officeDocument/2006/relationships/image" Target="../media/image198.png"/><Relationship Id="rId10" Type="http://schemas.openxmlformats.org/officeDocument/2006/relationships/image" Target="../media/image1910.png"/><Relationship Id="rId4" Type="http://schemas.openxmlformats.org/officeDocument/2006/relationships/image" Target="../media/image197.png"/></Relationships>
</file>

<file path=ppt/slides/_rels/slide18.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12" Type="http://schemas.openxmlformats.org/officeDocument/2006/relationships/image" Target="../media/image1860.png"/><Relationship Id="rId17" Type="http://schemas.openxmlformats.org/officeDocument/2006/relationships/image" Target="../media/image202.png"/><Relationship Id="rId25" Type="http://schemas.openxmlformats.org/officeDocument/2006/relationships/image" Target="../media/image205.png"/><Relationship Id="rId33" Type="http://schemas.openxmlformats.org/officeDocument/2006/relationships/image" Target="../media/image208.png"/><Relationship Id="rId2" Type="http://schemas.openxmlformats.org/officeDocument/2006/relationships/notesSlide" Target="../notesSlides/notesSlide18.xml"/><Relationship Id="rId16" Type="http://schemas.openxmlformats.org/officeDocument/2006/relationships/image" Target="../media/image1900.png"/><Relationship Id="rId29" Type="http://schemas.openxmlformats.org/officeDocument/2006/relationships/image" Target="../media/image1991.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24" Type="http://schemas.openxmlformats.org/officeDocument/2006/relationships/image" Target="../media/image1980.png"/><Relationship Id="rIdFit_16_equation_128" Type="http://schemas.openxmlformats.org/officeDocument/2006/relationships/image" Target="../media/animation_fit_16_equation_128.png"/><Relationship Id="rId32" Type="http://schemas.openxmlformats.org/officeDocument/2006/relationships/image" Target="../media/image107.png"/><Relationship Id="rId5" Type="http://schemas.openxmlformats.org/officeDocument/2006/relationships/image" Target="../media/image1790.png"/><Relationship Id="rId15" Type="http://schemas.openxmlformats.org/officeDocument/2006/relationships/image" Target="../media/image1890.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10" Type="http://schemas.openxmlformats.org/officeDocument/2006/relationships/image" Target="../media/image1840.png"/><Relationship Id="rId19" Type="http://schemas.openxmlformats.org/officeDocument/2006/relationships/image" Target="../media/image203.png"/><Relationship Id="rIdFit_16_equation_198" Type="http://schemas.openxmlformats.org/officeDocument/2006/relationships/image" Target="../media/animation_fit_16_equation_198.png"/><Relationship Id="rId31" Type="http://schemas.openxmlformats.org/officeDocument/2006/relationships/image" Target="../media/image2000.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2" Type="http://schemas.openxmlformats.org/officeDocument/2006/relationships/image" Target="../media/image204.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106.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s>
</file>

<file path=ppt/slides/_rels/slide19.xml.rels><?xml version="1.0" encoding="UTF-8" standalone="yes"?>
<Relationships xmlns="http://schemas.openxmlformats.org/package/2006/relationships"><Relationship Id="rId13" Type="http://schemas.openxmlformats.org/officeDocument/2006/relationships/image" Target="../media/image2100.png"/><Relationship Id="rId18" Type="http://schemas.openxmlformats.org/officeDocument/2006/relationships/image" Target="../media/image202.png"/><Relationship Id="rIdFit_17_equation_57" Type="http://schemas.openxmlformats.org/officeDocument/2006/relationships/image" Target="../media/animation_fit_17_equation_57.png"/><Relationship Id="rId26" Type="http://schemas.openxmlformats.org/officeDocument/2006/relationships/image" Target="../media/image210.png"/><Relationship Id="rId34" Type="http://schemas.openxmlformats.org/officeDocument/2006/relationships/image" Target="../media/image2021.png"/><Relationship Id="rId7" Type="http://schemas.openxmlformats.org/officeDocument/2006/relationships/image" Target="../media/image2060.png"/><Relationship Id="rIdFit_17_equation_220" Type="http://schemas.openxmlformats.org/officeDocument/2006/relationships/image" Target="../media/animation_fit_17_equation_220.png"/><Relationship Id="rId2" Type="http://schemas.openxmlformats.org/officeDocument/2006/relationships/notesSlide" Target="../notesSlides/notesSlide19.xml"/><Relationship Id="rId16" Type="http://schemas.openxmlformats.org/officeDocument/2006/relationships/image" Target="../media/image1890.png"/><Relationship Id="rId20" Type="http://schemas.openxmlformats.org/officeDocument/2006/relationships/image" Target="../media/image203.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it_17_equation_130" Type="http://schemas.openxmlformats.org/officeDocument/2006/relationships/image" Target="../media/animation_fit_17_equation_130.png"/><Relationship Id="rId32" Type="http://schemas.openxmlformats.org/officeDocument/2006/relationships/image" Target="../media/image2011.png"/><Relationship Id="rId37" Type="http://schemas.openxmlformats.org/officeDocument/2006/relationships/image" Target="../media/image214.png"/><Relationship Id="rId5" Type="http://schemas.openxmlformats.org/officeDocument/2006/relationships/image" Target="../media/image1790.png"/><Relationship Id="rId15" Type="http://schemas.openxmlformats.org/officeDocument/2006/relationships/image" Target="../media/image1880.png"/><Relationship Id="rId23" Type="http://schemas.openxmlformats.org/officeDocument/2006/relationships/image" Target="../media/image209.png"/><Relationship Id="rIdFit_17_equation_139" Type="http://schemas.openxmlformats.org/officeDocument/2006/relationships/image" Target="../media/animation_fit_17_equation_139.png"/><Relationship Id="rId36" Type="http://schemas.openxmlformats.org/officeDocument/2006/relationships/image" Target="../media/image112.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31" Type="http://schemas.openxmlformats.org/officeDocument/2006/relationships/image" Target="../media/image10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27" Type="http://schemas.openxmlformats.org/officeDocument/2006/relationships/image" Target="../media/image211.png"/><Relationship Id="rId30" Type="http://schemas.openxmlformats.org/officeDocument/2006/relationships/image" Target="../media/image108.png"/><Relationship Id="rId35" Type="http://schemas.openxmlformats.org/officeDocument/2006/relationships/image" Target="../media/image1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12" Type="http://schemas.openxmlformats.org/officeDocument/2006/relationships/image" Target="../media/image1830.png"/><Relationship Id="rId17" Type="http://schemas.openxmlformats.org/officeDocument/2006/relationships/image" Target="../media/image2120.png"/><Relationship Id="rId25" Type="http://schemas.openxmlformats.org/officeDocument/2006/relationships/image" Target="../media/image2140.png"/><Relationship Id="rId33" Type="http://schemas.openxmlformats.org/officeDocument/2006/relationships/image" Target="../media/image110.png"/></Relationships>
</file>

<file path=ppt/slides/_rels/slide20.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26" Type="http://schemas.openxmlformats.org/officeDocument/2006/relationships/image" Target="../media/image218.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34" Type="http://schemas.openxmlformats.org/officeDocument/2006/relationships/image" Target="../media/image116.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0.xml"/><Relationship Id="rId16" Type="http://schemas.openxmlformats.org/officeDocument/2006/relationships/image" Target="../media/image2250.png"/><Relationship Id="rIdFit_18_equation_139" Type="http://schemas.openxmlformats.org/officeDocument/2006/relationships/image" Target="../media/animation_fit_18_equation_139.png"/><Relationship Id="rId29" Type="http://schemas.openxmlformats.org/officeDocument/2006/relationships/image" Target="../media/image11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32" Type="http://schemas.openxmlformats.org/officeDocument/2006/relationships/image" Target="../media/image2040.png"/><Relationship Id="rId5" Type="http://schemas.openxmlformats.org/officeDocument/2006/relationships/image" Target="../media/image2240.png"/><Relationship Id="rId15" Type="http://schemas.openxmlformats.org/officeDocument/2006/relationships/image" Target="../media/image1890.png"/><Relationship Id="rId28" Type="http://schemas.openxmlformats.org/officeDocument/2006/relationships/image" Target="../media/image2320.png"/><Relationship Id="rId36" Type="http://schemas.openxmlformats.org/officeDocument/2006/relationships/image" Target="../media/image118.png"/><Relationship Id="rId10" Type="http://schemas.openxmlformats.org/officeDocument/2006/relationships/image" Target="../media/image1830.png"/><Relationship Id="rId19" Type="http://schemas.openxmlformats.org/officeDocument/2006/relationships/image" Target="../media/image215.png"/><Relationship Id="rId31" Type="http://schemas.openxmlformats.org/officeDocument/2006/relationships/image" Target="../media/image114.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22" Type="http://schemas.openxmlformats.org/officeDocument/2006/relationships/image" Target="../media/image216.png"/><Relationship Id="rId30" Type="http://schemas.openxmlformats.org/officeDocument/2006/relationships/image" Target="../media/image2030.png"/><Relationship Id="rId35" Type="http://schemas.openxmlformats.org/officeDocument/2006/relationships/image" Target="../media/image117.png"/><Relationship Id="rId8" Type="http://schemas.openxmlformats.org/officeDocument/2006/relationships/image" Target="../media/image18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17" Type="http://schemas.openxmlformats.org/officeDocument/2006/relationships/image" Target="../media/image202.png"/><Relationship Id="rId25" Type="http://schemas.openxmlformats.org/officeDocument/2006/relationships/image" Target="../media/image217.png"/><Relationship Id="rId33" Type="http://schemas.openxmlformats.org/officeDocument/2006/relationships/image" Target="../media/image115.png"/><Relationship Id="rIdFit_18_equation_211" Type="http://schemas.openxmlformats.org/officeDocument/2006/relationships/image" Target="../media/animation_fit_18_equation_211.png"/></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22.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13" Type="http://schemas.openxmlformats.org/officeDocument/2006/relationships/image" Target="../media/image226.png"/><Relationship Id="rId3" Type="http://schemas.openxmlformats.org/officeDocument/2006/relationships/image" Target="../media/image229.png"/><Relationship Id="rId7" Type="http://schemas.openxmlformats.org/officeDocument/2006/relationships/image" Target="../media/image223.png"/><Relationship Id="rId12" Type="http://schemas.openxmlformats.org/officeDocument/2006/relationships/image" Target="../media/image225.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30.png"/><Relationship Id="rId11" Type="http://schemas.openxmlformats.org/officeDocument/2006/relationships/image" Target="../media/image224.png"/><Relationship Id="rId5" Type="http://schemas.openxmlformats.org/officeDocument/2006/relationships/image" Target="../media/image1700.png"/><Relationship Id="rId15" Type="http://schemas.openxmlformats.org/officeDocument/2006/relationships/image" Target="../media/image233.png"/><Relationship Id="rId10" Type="http://schemas.openxmlformats.org/officeDocument/2006/relationships/image" Target="../media/image232.png"/><Relationship Id="rId4" Type="http://schemas.openxmlformats.org/officeDocument/2006/relationships/image" Target="../media/image1690.png"/><Relationship Id="rId9" Type="http://schemas.openxmlformats.org/officeDocument/2006/relationships/image" Target="../media/image1720.png"/><Relationship Id="rId14" Type="http://schemas.openxmlformats.org/officeDocument/2006/relationships/image" Target="../media/image22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3" Type="http://schemas.openxmlformats.org/officeDocument/2006/relationships/image" Target="../media/image248.png"/><Relationship Id="rId12" Type="http://schemas.openxmlformats.org/officeDocument/2006/relationships/image" Target="../media/image247.png"/><Relationship Id="rId2" Type="http://schemas.openxmlformats.org/officeDocument/2006/relationships/notesSlide" Target="../notesSlides/notesSlide24.xml"/><Relationship Id="rId1" Type="http://schemas.openxmlformats.org/officeDocument/2006/relationships/slideLayout" Target="../slideLayouts/slideLayout6.xml"/><Relationship Id="rId15" Type="http://schemas.openxmlformats.org/officeDocument/2006/relationships/image" Target="../media/image250.png"/><Relationship Id="rId14" Type="http://schemas.openxmlformats.org/officeDocument/2006/relationships/image" Target="../media/image249.png"/></Relationships>
</file>

<file path=ppt/slides/_rels/slide25.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9.png"/><Relationship Id="rId7" Type="http://schemas.openxmlformats.org/officeDocument/2006/relationships/image" Target="../media/image23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36.png"/><Relationship Id="rId5" Type="http://schemas.openxmlformats.org/officeDocument/2006/relationships/image" Target="../media/image235.png"/><Relationship Id="rId10" Type="http://schemas.openxmlformats.org/officeDocument/2006/relationships/image" Target="../media/image122.png"/><Relationship Id="rId4" Type="http://schemas.openxmlformats.org/officeDocument/2006/relationships/image" Target="../media/image120.png"/><Relationship Id="rId9" Type="http://schemas.openxmlformats.org/officeDocument/2006/relationships/image" Target="../media/image257.png"/></Relationships>
</file>

<file path=ppt/slides/_rels/slide26.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7.xml.rels><?xml version="1.0" encoding="UTF-8" standalone="yes"?>
<Relationships xmlns="http://schemas.openxmlformats.org/package/2006/relationships"><Relationship Id="rId8" Type="http://schemas.openxmlformats.org/officeDocument/2006/relationships/image" Target="../media/image252.png"/><Relationship Id="rId13" Type="http://schemas.openxmlformats.org/officeDocument/2006/relationships/image" Target="../media/image226.png"/><Relationship Id="rId7" Type="http://schemas.openxmlformats.org/officeDocument/2006/relationships/image" Target="../media/image224.png"/><Relationship Id="rId12" Type="http://schemas.openxmlformats.org/officeDocument/2006/relationships/image" Target="../media/image1720.png"/><Relationship Id="rId2" Type="http://schemas.openxmlformats.org/officeDocument/2006/relationships/notesSlide" Target="../notesSlides/notesSlide27.xml"/><Relationship Id="rId16" Type="http://schemas.openxmlformats.org/officeDocument/2006/relationships/image" Target="../media/image123.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8.xml.rels><?xml version="1.0" encoding="UTF-8" standalone="yes"?>
<Relationships xmlns="http://schemas.openxmlformats.org/package/2006/relationships"><Relationship Id="rId8" Type="http://schemas.openxmlformats.org/officeDocument/2006/relationships/image" Target="../media/image253.png"/><Relationship Id="rId13" Type="http://schemas.openxmlformats.org/officeDocument/2006/relationships/image" Target="../media/image254.png"/><Relationship Id="rId7" Type="http://schemas.openxmlformats.org/officeDocument/2006/relationships/image" Target="../media/image224.png"/><Relationship Id="rId12" Type="http://schemas.openxmlformats.org/officeDocument/2006/relationships/image" Target="../media/image1720.png"/><Relationship Id="rId17" Type="http://schemas.openxmlformats.org/officeDocument/2006/relationships/image" Target="../media/image277.png"/><Relationship Id="rId2" Type="http://schemas.openxmlformats.org/officeDocument/2006/relationships/notesSlide" Target="../notesSlides/notesSlide28.xml"/><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9.xml.rels><?xml version="1.0" encoding="UTF-8" standalone="yes"?>
<Relationships xmlns="http://schemas.openxmlformats.org/package/2006/relationships"><Relationship Id="rId18" Type="http://schemas.openxmlformats.org/officeDocument/2006/relationships/image" Target="../media/image2750.png"/><Relationship Id="rId21" Type="http://schemas.openxmlformats.org/officeDocument/2006/relationships/image" Target="../media/image256.png"/><Relationship Id="rId25" Type="http://schemas.openxmlformats.org/officeDocument/2006/relationships/image" Target="../media/image264.png"/><Relationship Id="rId17" Type="http://schemas.openxmlformats.org/officeDocument/2006/relationships/image" Target="../media/image277.png"/><Relationship Id="rId2" Type="http://schemas.openxmlformats.org/officeDocument/2006/relationships/notesSlide" Target="../notesSlides/notesSlide29.xml"/><Relationship Id="rId20" Type="http://schemas.openxmlformats.org/officeDocument/2006/relationships/image" Target="../media/image255.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4" Type="http://schemas.openxmlformats.org/officeDocument/2006/relationships/image" Target="../media/image263.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9" Type="http://schemas.openxmlformats.org/officeDocument/2006/relationships/image" Target="../media/image230.png"/><Relationship Id="rId22" Type="http://schemas.openxmlformats.org/officeDocument/2006/relationships/image" Target="../media/image262.png"/></Relationships>
</file>

<file path=ppt/slides/_rels/slide30.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1.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0.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1.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1.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1.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18" Type="http://schemas.openxmlformats.org/officeDocument/2006/relationships/image" Target="../media/image266.png"/><Relationship Id="rId26" Type="http://schemas.openxmlformats.org/officeDocument/2006/relationships/image" Target="../media/image269.png"/><Relationship Id="rId3" Type="http://schemas.openxmlformats.org/officeDocument/2006/relationships/image" Target="../media/image331.png"/><Relationship Id="rId21" Type="http://schemas.openxmlformats.org/officeDocument/2006/relationships/image" Target="../media/image267.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25" Type="http://schemas.openxmlformats.org/officeDocument/2006/relationships/image" Target="../media/image351.png"/><Relationship Id="rId2" Type="http://schemas.openxmlformats.org/officeDocument/2006/relationships/notesSlide" Target="../notesSlides/notesSlide31.xml"/><Relationship Id="rId16" Type="http://schemas.openxmlformats.org/officeDocument/2006/relationships/image" Target="../media/image343.png"/><Relationship Id="rId20" Type="http://schemas.openxmlformats.org/officeDocument/2006/relationships/image" Target="../media/image347.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24" Type="http://schemas.openxmlformats.org/officeDocument/2006/relationships/image" Target="../media/image268.png"/><Relationship Id="rId5" Type="http://schemas.openxmlformats.org/officeDocument/2006/relationships/image" Target="../media/image332.png"/><Relationship Id="rId15" Type="http://schemas.openxmlformats.org/officeDocument/2006/relationships/image" Target="../media/image265.png"/><Relationship Id="rId23" Type="http://schemas.openxmlformats.org/officeDocument/2006/relationships/image" Target="../media/image2130.png"/><Relationship Id="rId10" Type="http://schemas.openxmlformats.org/officeDocument/2006/relationships/image" Target="../media/image337.png"/><Relationship Id="rId19" Type="http://schemas.openxmlformats.org/officeDocument/2006/relationships/image" Target="../media/image346.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 Id="rId27" Type="http://schemas.openxmlformats.org/officeDocument/2006/relationships/image" Target="../media/image270.png"/></Relationships>
</file>

<file path=ppt/slides/_rels/slide32.xml.rels><?xml version="1.0" encoding="UTF-8" standalone="yes"?>
<Relationships xmlns="http://schemas.openxmlformats.org/package/2006/relationships"><Relationship Id="rId8" Type="http://schemas.openxmlformats.org/officeDocument/2006/relationships/image" Target="../media/image356.png"/><Relationship Id="rId13" Type="http://schemas.openxmlformats.org/officeDocument/2006/relationships/image" Target="../media/image359.png"/><Relationship Id="rId18" Type="http://schemas.openxmlformats.org/officeDocument/2006/relationships/image" Target="../media/image278.png"/><Relationship Id="rId3" Type="http://schemas.openxmlformats.org/officeDocument/2006/relationships/image" Target="../media/image3310.png"/><Relationship Id="rId21" Type="http://schemas.openxmlformats.org/officeDocument/2006/relationships/image" Target="../media/image344.png"/><Relationship Id="rId7" Type="http://schemas.openxmlformats.org/officeDocument/2006/relationships/image" Target="../media/image355.png"/><Relationship Id="rId12" Type="http://schemas.openxmlformats.org/officeDocument/2006/relationships/image" Target="../media/image340.png"/><Relationship Id="rId17" Type="http://schemas.openxmlformats.org/officeDocument/2006/relationships/image" Target="../media/image273.png"/><Relationship Id="rId2" Type="http://schemas.openxmlformats.org/officeDocument/2006/relationships/notesSlide" Target="../notesSlides/notesSlide32.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5" Type="http://schemas.openxmlformats.org/officeDocument/2006/relationships/image" Target="../media/image353.png"/><Relationship Id="rId15" Type="http://schemas.openxmlformats.org/officeDocument/2006/relationships/image" Target="../media/image272.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19" Type="http://schemas.openxmlformats.org/officeDocument/2006/relationships/image" Target="../media/image279.png"/><Relationship Id="rId4" Type="http://schemas.openxmlformats.org/officeDocument/2006/relationships/image" Target="../media/image332.png"/><Relationship Id="rId9" Type="http://schemas.openxmlformats.org/officeDocument/2006/relationships/image" Target="../media/image357.png"/><Relationship Id="rId14" Type="http://schemas.openxmlformats.org/officeDocument/2006/relationships/image" Target="../media/image271.png"/><Relationship Id="rId22" Type="http://schemas.openxmlformats.org/officeDocument/2006/relationships/image" Target="../media/image2150.png"/><Relationship Id="rIdFit_31_equation_93" Type="http://schemas.openxmlformats.org/officeDocument/2006/relationships/image" Target="../media/animation_fit_31_equation_93.png"/></Relationships>
</file>

<file path=ppt/slides/_rels/slide33.xml.rels><?xml version="1.0" encoding="UTF-8" standalone="yes"?>
<Relationships xmlns="http://schemas.openxmlformats.org/package/2006/relationships"><Relationship Id="rId8" Type="http://schemas.openxmlformats.org/officeDocument/2006/relationships/image" Target="../media/image355.png"/><Relationship Id="rId13" Type="http://schemas.openxmlformats.org/officeDocument/2006/relationships/image" Target="../media/image340.png"/><Relationship Id="rId18" Type="http://schemas.openxmlformats.org/officeDocument/2006/relationships/image" Target="../media/image273.png"/><Relationship Id="rId26" Type="http://schemas.openxmlformats.org/officeDocument/2006/relationships/image" Target="../media/image345.png"/><Relationship Id="rId3" Type="http://schemas.openxmlformats.org/officeDocument/2006/relationships/image" Target="../media/image28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3.xml"/><Relationship Id="rId16" Type="http://schemas.openxmlformats.org/officeDocument/2006/relationships/image" Target="../media/image272.png"/><Relationship Id="rId20" Type="http://schemas.openxmlformats.org/officeDocument/2006/relationships/image" Target="../media/image279.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it_32_equation_91" Type="http://schemas.openxmlformats.org/officeDocument/2006/relationships/image" Target="../media/animation_fit_32_equation_91.png"/><Relationship Id="rId24" Type="http://schemas.openxmlformats.org/officeDocument/2006/relationships/image" Target="../media/image342.png"/><Relationship Id="rId5" Type="http://schemas.openxmlformats.org/officeDocument/2006/relationships/image" Target="../media/image371.png"/><Relationship Id="rId15" Type="http://schemas.openxmlformats.org/officeDocument/2006/relationships/image" Target="../media/image28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10" Type="http://schemas.openxmlformats.org/officeDocument/2006/relationships/image" Target="../media/image357.png"/><Relationship Id="rId19" Type="http://schemas.openxmlformats.org/officeDocument/2006/relationships/image" Target="../media/image278.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it_32_equation_145" Type="http://schemas.openxmlformats.org/officeDocument/2006/relationships/image" Target="../media/animation_fit_32_equation_14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61.png"/><Relationship Id="rId3" Type="http://schemas.openxmlformats.org/officeDocument/2006/relationships/image" Target="../media/image2160.png"/><Relationship Id="rId7" Type="http://schemas.openxmlformats.org/officeDocument/2006/relationships/image" Target="../media/image360.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352.png"/><Relationship Id="rId5" Type="http://schemas.openxmlformats.org/officeDocument/2006/relationships/image" Target="../media/image350.png"/><Relationship Id="rId10" Type="http://schemas.openxmlformats.org/officeDocument/2006/relationships/image" Target="../media/image2232.png"/><Relationship Id="rId4" Type="http://schemas.openxmlformats.org/officeDocument/2006/relationships/image" Target="../media/image348.png"/><Relationship Id="rId9" Type="http://schemas.openxmlformats.org/officeDocument/2006/relationships/image" Target="../media/image363.png"/></Relationships>
</file>

<file path=ppt/slides/_rels/slide36.xml.rels><?xml version="1.0" encoding="UTF-8" standalone="yes"?>
<Relationships xmlns="http://schemas.openxmlformats.org/package/2006/relationships"><Relationship Id="rId8" Type="http://schemas.openxmlformats.org/officeDocument/2006/relationships/image" Target="../media/image365.png"/><Relationship Id="rId3" Type="http://schemas.openxmlformats.org/officeDocument/2006/relationships/image" Target="../media/image2242.png"/><Relationship Id="rId7" Type="http://schemas.openxmlformats.org/officeDocument/2006/relationships/image" Target="../media/image2281.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364.png"/><Relationship Id="rId5" Type="http://schemas.openxmlformats.org/officeDocument/2006/relationships/image" Target="../media/image2260.png"/><Relationship Id="rId4" Type="http://schemas.openxmlformats.org/officeDocument/2006/relationships/image" Target="../media/image2251.png"/></Relationships>
</file>

<file path=ppt/slides/_rels/slide37.xml.rels><?xml version="1.0" encoding="UTF-8" standalone="yes"?>
<Relationships xmlns="http://schemas.openxmlformats.org/package/2006/relationships"><Relationship Id="rId3" Type="http://schemas.openxmlformats.org/officeDocument/2006/relationships/image" Target="../media/image366.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36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3" Type="http://schemas.openxmlformats.org/officeDocument/2006/relationships/image" Target="../media/image2620.png"/><Relationship Id="rId18" Type="http://schemas.openxmlformats.org/officeDocument/2006/relationships/image" Target="../media/image2670.png"/><Relationship Id="rId26" Type="http://schemas.openxmlformats.org/officeDocument/2006/relationships/image" Target="../media/image2790.png"/><Relationship Id="rId3" Type="http://schemas.openxmlformats.org/officeDocument/2006/relationships/image" Target="../media/image398.png"/><Relationship Id="rId21" Type="http://schemas.openxmlformats.org/officeDocument/2006/relationships/image" Target="../media/image2700.png"/><Relationship Id="rId7" Type="http://schemas.openxmlformats.org/officeDocument/2006/relationships/image" Target="../media/image2510.png"/><Relationship Id="rId12" Type="http://schemas.openxmlformats.org/officeDocument/2006/relationships/image" Target="../media/image2560.png"/><Relationship Id="rId17" Type="http://schemas.openxmlformats.org/officeDocument/2006/relationships/image" Target="../media/image2660.png"/><Relationship Id="rId25" Type="http://schemas.openxmlformats.org/officeDocument/2006/relationships/image" Target="../media/image2780.png"/><Relationship Id="rId33" Type="http://schemas.openxmlformats.org/officeDocument/2006/relationships/image" Target="../media/image3520.png"/><Relationship Id="rId2" Type="http://schemas.openxmlformats.org/officeDocument/2006/relationships/notesSlide" Target="../notesSlides/notesSlide39.xml"/><Relationship Id="rId16" Type="http://schemas.openxmlformats.org/officeDocument/2006/relationships/image" Target="../media/image2650.png"/><Relationship Id="rId20" Type="http://schemas.openxmlformats.org/officeDocument/2006/relationships/image" Target="../media/image2690.png"/><Relationship Id="rId29" Type="http://schemas.openxmlformats.org/officeDocument/2006/relationships/image" Target="../media/image3420.png"/><Relationship Id="rId1" Type="http://schemas.openxmlformats.org/officeDocument/2006/relationships/slideLayout" Target="../slideLayouts/slideLayout6.xml"/><Relationship Id="rId6" Type="http://schemas.openxmlformats.org/officeDocument/2006/relationships/image" Target="../media/image2350.png"/><Relationship Id="rId11" Type="http://schemas.openxmlformats.org/officeDocument/2006/relationships/image" Target="../media/image2550.png"/><Relationship Id="rId24" Type="http://schemas.openxmlformats.org/officeDocument/2006/relationships/image" Target="../media/image2730.png"/><Relationship Id="rId32" Type="http://schemas.openxmlformats.org/officeDocument/2006/relationships/image" Target="../media/image3500.png"/><Relationship Id="rId5" Type="http://schemas.openxmlformats.org/officeDocument/2006/relationships/image" Target="../media/image2340.png"/><Relationship Id="rId15" Type="http://schemas.openxmlformats.org/officeDocument/2006/relationships/image" Target="../media/image2640.png"/><Relationship Id="rId23" Type="http://schemas.openxmlformats.org/officeDocument/2006/relationships/image" Target="../media/image2720.png"/><Relationship Id="rId28" Type="http://schemas.openxmlformats.org/officeDocument/2006/relationships/image" Target="../media/image2820.png"/><Relationship Id="rId10" Type="http://schemas.openxmlformats.org/officeDocument/2006/relationships/image" Target="../media/image2540.png"/><Relationship Id="rId19" Type="http://schemas.openxmlformats.org/officeDocument/2006/relationships/image" Target="../media/image2680.png"/><Relationship Id="rId31" Type="http://schemas.openxmlformats.org/officeDocument/2006/relationships/image" Target="../media/image3480.png"/><Relationship Id="rId4" Type="http://schemas.openxmlformats.org/officeDocument/2006/relationships/image" Target="../media/image2280.png"/><Relationship Id="rId9" Type="http://schemas.openxmlformats.org/officeDocument/2006/relationships/image" Target="../media/image2530.png"/><Relationship Id="rId14" Type="http://schemas.openxmlformats.org/officeDocument/2006/relationships/image" Target="../media/image2630.png"/><Relationship Id="rId22" Type="http://schemas.openxmlformats.org/officeDocument/2006/relationships/image" Target="../media/image2710.png"/><Relationship Id="rId27" Type="http://schemas.openxmlformats.org/officeDocument/2006/relationships/image" Target="../media/image2810.png"/><Relationship Id="rId30" Type="http://schemas.openxmlformats.org/officeDocument/2006/relationships/image" Target="../media/image3450.png"/><Relationship Id="rId8" Type="http://schemas.openxmlformats.org/officeDocument/2006/relationships/image" Target="../media/image2520.png"/></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0.xml"/><Relationship Id="rId1" Type="http://schemas.openxmlformats.org/officeDocument/2006/relationships/slideLayout" Target="../slideLayouts/slideLayout8.xml"/><Relationship Id="rId4" Type="http://schemas.openxmlformats.org/officeDocument/2006/relationships/image" Target="../media/image12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32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mc:AlternateContent xmlns:mc="http://schemas.openxmlformats.org/markup-compatibility/2006" xmlns:a14="http://schemas.microsoft.com/office/drawing/2010/main">
        <mc:Choice Requires="a14">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e>
                          </m:d>
                        </m:e>
                        <m:sup>
                          <m:r>
                            <a:rPr lang="en-GB" sz="2600">
                              <a:solidFill>
                                <a:srgbClr val="087F83"/>
                              </a:solidFill>
                              <a:latin typeface="Cambria Math"/>
                              <a:ea typeface="Cambria Math"/>
                              <a:cs typeface="Cambria Math"/>
                            </a:rPr>
                            <m:t>𝖳</m:t>
                          </m:r>
                        </m:sup>
                      </m:sSup>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6</m:t>
                          </m:r>
                        </m:sup>
                      </m:sSup>
                    </m:oMath>
                  </m:oMathPara>
                </a14:m>
                <a:endParaRPr lang="en-GB" sz="2600" dirty="0"/>
              </a:p>
            </p:txBody>
          </p:sp>
        </mc:Choice>
        <mc:Fallback xmlns="">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noRot="1" noChangeAspect="1" noMove="1" noResize="1" noEditPoints="1" noAdjustHandles="1" noChangeArrowheads="1" noChangeShapeType="1" noTextEdit="1"/>
              </p:cNvSpPr>
              <p:nvPr/>
            </p:nvSpPr>
            <p:spPr>
              <a:xfrm>
                <a:off x="571500" y="3971925"/>
                <a:ext cx="11049000" cy="4000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i="1">
                              <a:solidFill>
                                <a:srgbClr val="AB4910"/>
                              </a:solidFill>
                              <a:latin typeface="Cambria Math" panose="02040503050406030204" pitchFamily="18" charset="0"/>
                              <a:ea typeface="Cambria Math"/>
                              <a:cs typeface="Cambria Math"/>
                            </a:rPr>
                          </m:ctrlPr>
                        </m:dPr>
                        <m:e>
                          <m:sSup>
                            <m:sSupPr>
                              <m:ctrlPr>
                                <a:rPr lang="en-GB" sz="3100">
                                  <a:solidFill>
                                    <a:srgbClr val="AB4910"/>
                                  </a:solidFill>
                                  <a:latin typeface="Cambria Math"/>
                                  <a:ea typeface="Cambria Math"/>
                                  <a:cs typeface="Cambria Math"/>
                                </a:rPr>
                              </m:ctrlPr>
                            </m:sSupPr>
                            <m:e>
                              <m:r>
                                <a:rPr lang="en-GB" sz="3100">
                                  <a:solidFill>
                                    <a:srgbClr val="AB4910"/>
                                  </a:solidFill>
                                  <a:latin typeface="Cambria Math"/>
                                  <a:ea typeface="Cambria Math"/>
                                  <a:cs typeface="Cambria Math"/>
                                </a:rPr>
                                <m:t>𝛉</m:t>
                              </m:r>
                            </m:e>
                            <m:sup>
                              <m:d>
                                <m:dPr>
                                  <m:ctrlPr>
                                    <a:rPr lang="it-IT" sz="3100" b="0" i="1" smtClean="0">
                                      <a:solidFill>
                                        <a:srgbClr val="AB4910"/>
                                      </a:solidFill>
                                      <a:latin typeface="Cambria Math" panose="02040503050406030204" pitchFamily="18" charset="0"/>
                                      <a:ea typeface="Cambria Math"/>
                                    </a:rPr>
                                  </m:ctrlPr>
                                </m:dPr>
                                <m:e>
                                  <m:r>
                                    <a:rPr lang="it-IT" sz="3100" b="0" i="1" smtClean="0">
                                      <a:solidFill>
                                        <a:srgbClr val="AB4910"/>
                                      </a:solidFill>
                                      <a:latin typeface="Cambria Math" panose="02040503050406030204" pitchFamily="18" charset="0"/>
                                      <a:ea typeface="Cambria Math"/>
                                    </a:rPr>
                                    <m:t>𝑡</m:t>
                                  </m:r>
                                </m:e>
                              </m:d>
                            </m:sup>
                          </m:sSup>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For example, consider </a:t>
                </a:r>
                <a14:m>
                  <m:oMath xmlns:m="http://schemas.openxmlformats.org/officeDocument/2006/math">
                    <m:sSup>
                      <m:sSupPr>
                        <m:ctrlPr>
                          <a:rPr lang="it-IT" sz="2300">
                            <a:solidFill>
                              <a:srgbClr val="087F83"/>
                            </a:solidFill>
                            <a:latin typeface="Cambria Math"/>
                            <a:ea typeface="Cambria Math"/>
                            <a:cs typeface="Cambria Math"/>
                          </a:rPr>
                        </m:ctrlPr>
                      </m:sSupPr>
                      <m:e>
                        <m:r>
                          <a:rPr lang="it-IT" sz="2300">
                            <a:solidFill>
                              <a:srgbClr val="087F83"/>
                            </a:solidFill>
                            <a:latin typeface="Cambria Math"/>
                            <a:ea typeface="Cambria Math"/>
                            <a:cs typeface="Cambria Math"/>
                          </a:rPr>
                          <m:t>𝛉</m:t>
                        </m:r>
                      </m:e>
                      <m:sup>
                        <m:d>
                          <m:dPr>
                            <m:ctrlPr>
                              <a:rPr lang="it-IT" sz="2300" b="0" i="1" smtClean="0">
                                <a:solidFill>
                                  <a:srgbClr val="087F83"/>
                                </a:solidFill>
                                <a:latin typeface="Cambria Math" panose="02040503050406030204" pitchFamily="18" charset="0"/>
                                <a:ea typeface="Cambria Math"/>
                              </a:rPr>
                            </m:ctrlPr>
                          </m:dPr>
                          <m:e>
                            <m:r>
                              <a:rPr lang="it-IT" sz="2300" b="0" i="1" smtClean="0">
                                <a:solidFill>
                                  <a:srgbClr val="087F83"/>
                                </a:solidFill>
                                <a:latin typeface="Cambria Math" panose="02040503050406030204" pitchFamily="18" charset="0"/>
                                <a:ea typeface="Cambria Math"/>
                              </a:rPr>
                              <m:t>𝑡</m:t>
                            </m:r>
                          </m:e>
                        </m:d>
                      </m:sup>
                    </m:sSup>
                    <m:r>
                      <a:rPr lang="it-IT"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i="1">
                                <a:solidFill>
                                  <a:srgbClr val="087F83"/>
                                </a:solidFill>
                                <a:latin typeface="Cambria Math" panose="02040503050406030204" pitchFamily="18" charset="0"/>
                                <a:ea typeface="Cambria Math"/>
                                <a:cs typeface="Cambria Math"/>
                              </a:rPr>
                            </m:ctrlPr>
                          </m:dPr>
                          <m:e>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3</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3</m:t>
                                </m:r>
                              </m:sub>
                            </m:sSub>
                          </m:e>
                        </m:d>
                      </m:e>
                      <m:sup>
                        <m:r>
                          <a:rPr lang="ar-AE" sz="2300">
                            <a:solidFill>
                              <a:srgbClr val="087F83"/>
                            </a:solidFill>
                            <a:latin typeface="Cambria Math"/>
                            <a:ea typeface="Cambria Math"/>
                            <a:cs typeface="Cambria Math"/>
                          </a:rPr>
                          <m:t>𝖳</m:t>
                        </m:r>
                      </m:sup>
                    </m:sSup>
                    <m:r>
                      <a:rPr lang="ar-AE"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a:solidFill>
                                  <a:srgbClr val="087F83"/>
                                </a:solidFill>
                                <a:latin typeface="Cambria Math"/>
                                <a:ea typeface="Cambria Math"/>
                                <a:cs typeface="Cambria Math"/>
                              </a:rPr>
                            </m:ctrlPr>
                          </m:dPr>
                          <m:e>
                            <m:r>
                              <a:rPr lang="ar-AE" sz="2300">
                                <a:solidFill>
                                  <a:srgbClr val="087F83"/>
                                </a:solidFill>
                                <a:latin typeface="Cambria Math"/>
                                <a:ea typeface="Cambria Math"/>
                                <a:cs typeface="Cambria Math"/>
                              </a:rPr>
                              <m:t>1,1,−1,2,2,−1</m:t>
                            </m:r>
                          </m:e>
                        </m:d>
                      </m:e>
                      <m:sup>
                        <m:r>
                          <a:rPr lang="ar-AE" sz="2300">
                            <a:solidFill>
                              <a:srgbClr val="087F83"/>
                            </a:solidFill>
                            <a:latin typeface="Cambria Math"/>
                            <a:ea typeface="Cambria Math"/>
                            <a:cs typeface="Cambria Math"/>
                          </a:rPr>
                          <m:t>𝖳</m:t>
                        </m:r>
                      </m:sup>
                    </m:sSup>
                  </m:oMath>
                </a14:m>
                <a:r>
                  <a:rPr lang="ar-AE" sz="2300" b="0" dirty="0">
                    <a:solidFill>
                      <a:srgbClr val="526276"/>
                    </a:solidFill>
                    <a:latin typeface="DejaVu Sans"/>
                    <a:ea typeface="DejaVu Sans"/>
                    <a:cs typeface="DejaVu Sans"/>
                  </a:rPr>
                  <a:t>.</a:t>
                </a:r>
                <a:endParaRPr lang="en-GB" sz="2300" dirty="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b="-2000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1678304"/>
                <a:ext cx="11144250" cy="285541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b="0" i="1" smtClean="0">
                                      <a:solidFill>
                                        <a:srgbClr val="7030A0"/>
                                      </a:solidFill>
                                      <a:latin typeface="Cambria Math" panose="02040503050406030204" pitchFamily="18" charset="0"/>
                                      <a:ea typeface="Cambria Math"/>
                                    </a:rPr>
                                  </m:ctrlPr>
                                </m:dPr>
                                <m:e>
                                  <m:r>
                                    <a:rPr lang="it-IT" sz="2900" b="0" i="1" smtClean="0">
                                      <a:solidFill>
                                        <a:srgbClr val="7030A0"/>
                                      </a:solidFill>
                                      <a:latin typeface="Cambria Math" panose="02040503050406030204" pitchFamily="18" charset="0"/>
                                      <a:ea typeface="Cambria Math"/>
                                    </a:rPr>
                                    <m:t>𝑡</m:t>
                                  </m:r>
                                </m:e>
                              </m:d>
                            </m:sup>
                          </m:sSup>
                        </m:e>
                      </m:d>
                      <m:r>
                        <a:rPr lang="it-IT" sz="2900" b="0" i="1" smtClean="0">
                          <a:solidFill>
                            <a:srgbClr val="7030A0"/>
                          </a:solidFill>
                          <a:latin typeface="Cambria Math" panose="02040503050406030204" pitchFamily="18" charset="0"/>
                          <a:ea typeface="Cambria Math"/>
                          <a:cs typeface="Cambria Math"/>
                        </a:rPr>
                        <m:t>=</m:t>
                      </m:r>
                    </m:oMath>
                  </m:oMathPara>
                </a14:m>
                <a:endParaRPr lang="it-IT" sz="2900" i="1" dirty="0">
                  <a:solidFill>
                    <a:srgbClr val="7030A0"/>
                  </a:solidFill>
                  <a:latin typeface="Cambria Math" panose="02040503050406030204" pitchFamily="18" charset="0"/>
                  <a:ea typeface="Cambria Math"/>
                  <a:cs typeface="Cambria Math"/>
                </a:endParaRPr>
              </a:p>
              <a:p>
                <a:pPr algn="ctr"/>
                <a14:m>
                  <m:oMathPara xmlns:m="http://schemas.openxmlformats.org/officeDocument/2006/math">
                    <m:oMath>
                      <m:sSup>
                        <m:sSupPr>
                          <m:ctrlPr>
                            <a:rPr lang="en-GB" sz="2900" i="1">
                              <a:solidFill>
                                <a:srgbClr val="7030A0"/>
                              </a:solidFill>
                              <a:latin typeface="Cambria Math" panose="02040503050406030204" pitchFamily="18" charset="0"/>
                              <a:ea typeface="Cambria Math"/>
                              <a:cs typeface="Cambria Math"/>
                            </a:rPr>
                          </m:ctrlPr>
                        </m:sSupPr>
                        <m:e>
                          <m:d>
                            <m:dPr>
                              <m:ctrlPr>
                                <a:rPr lang="en-GB" sz="2900" i="1">
                                  <a:solidFill>
                                    <a:srgbClr val="7030A0"/>
                                  </a:solidFill>
                                  <a:latin typeface="Cambria Math" panose="02040503050406030204" pitchFamily="18" charset="0"/>
                                  <a:ea typeface="Cambria Math"/>
                                  <a:cs typeface="Cambria Math"/>
                                </a:rPr>
                              </m:ctrlPr>
                            </m:dPr>
                            <m:e>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e>
                          </m:d>
                        </m:e>
                        <m:sup>
                          <m:r>
                            <a:rPr lang="en-GB" sz="2900">
                              <a:solidFill>
                                <a:srgbClr val="7030A0"/>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1678304"/>
                <a:ext cx="11144250" cy="2855416"/>
              </a:xfrm>
              <a:prstGeom prst="rect">
                <a:avLst/>
              </a:prstGeom>
              <a:blipFill>
                <a:blip r:embed="rId3"/>
                <a:stretch>
                  <a:fillRect l="-2462" r="-1860"/>
                </a:stretch>
              </a:blipFill>
              <a:ln w="0">
                <a:noFill/>
              </a:ln>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8DC71CCE-3890-A37B-8DCF-6CBE4063A45B}"/>
              </a:ext>
            </a:extLst>
          </p:cNvPr>
          <p:cNvSpPr txBox="1"/>
          <p:nvPr/>
        </p:nvSpPr>
        <p:spPr>
          <a:xfrm>
            <a:off x="3048762" y="1334723"/>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4038465"/>
            <a:ext cx="11144250" cy="1911096"/>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endParaRPr lang="it-IT" sz="1850" b="1" dirty="0">
              <a:solidFill>
                <a:srgbClr val="182D45"/>
              </a:solidFill>
              <a:latin typeface="DejaVu Sans"/>
            </a:endParaRP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r>
              <a:rPr lang="en-GB" sz="1850" b="1" dirty="0">
                <a:solidFill>
                  <a:srgbClr val="182D45"/>
                </a:solidFill>
                <a:latin typeface="DejaVu Sans"/>
              </a:rPr>
              <a:t>reusing the derivatives already computed.</a:t>
            </a:r>
          </a:p>
        </p:txBody>
      </p:sp>
      <p:sp>
        <p:nvSpPr>
          <p:cNvPr id="5" name="CasellaDiTesto 4">
            <a:extLst>
              <a:ext uri="{FF2B5EF4-FFF2-40B4-BE49-F238E27FC236}">
                <a16:creationId xmlns:a16="http://schemas.microsoft.com/office/drawing/2014/main" id="{8A73CA8D-6BA0-D90E-EC1C-632FBC2342BF}"/>
              </a:ext>
            </a:extLst>
          </p:cNvPr>
          <p:cNvSpPr txBox="1"/>
          <p:nvPr/>
        </p:nvSpPr>
        <p:spPr>
          <a:xfrm>
            <a:off x="3029712" y="6138074"/>
            <a:ext cx="6094476" cy="377026"/>
          </a:xfrm>
          <a:prstGeom prst="rect">
            <a:avLst/>
          </a:prstGeom>
          <a:noFill/>
        </p:spPr>
        <p:txBody>
          <a:bodyPr wrap="square">
            <a:spAutoFit/>
          </a:bodyPr>
          <a:lstStyle/>
          <a:p>
            <a:pPr algn="ctr">
              <a:defRPr sz="1850" b="1">
                <a:solidFill>
                  <a:srgbClr val="182D45"/>
                </a:solidFill>
                <a:latin typeface="DejaVu Sans"/>
                <a:ea typeface="DejaVu Sans"/>
                <a:cs typeface="DejaVu Sans"/>
              </a:defRPr>
            </a:pPr>
            <a:r>
              <a:rPr lang="en-GB" sz="1850" b="1" dirty="0">
                <a:solidFill>
                  <a:srgbClr val="FF0000"/>
                </a:solidFill>
                <a:latin typeface="DejaVu Sans"/>
              </a:rPr>
              <a:t>How is this achieved in practice?</a:t>
            </a:r>
          </a:p>
        </p:txBody>
      </p:sp>
    </p:spTree>
    <p:extLst>
      <p:ext uri="{BB962C8B-B14F-4D97-AF65-F5344CB8AC3E}">
        <p14:creationId xmlns:p14="http://schemas.microsoft.com/office/powerpoint/2010/main" val="1955957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7</a:t>
            </a:r>
          </a:p>
        </p:txBody>
      </p:sp>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67" name="equation_63" descr="J_{3}">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25"/>
                <a:stretch>
                  <a:fillRect b="-18966"/>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6" name="lead">
                <a:extLst>
                  <a:ext uri="{FF2B5EF4-FFF2-40B4-BE49-F238E27FC236}">
                    <a16:creationId xmlns:a16="http://schemas.microsoft.com/office/drawing/2014/main" id="{5B096025-B9AE-0B36-2DD4-E3B8E55208C1}"/>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6" name="lead">
                <a:extLst>
                  <a:ext uri="{FF2B5EF4-FFF2-40B4-BE49-F238E27FC236}">
                    <a16:creationId xmlns:a16="http://schemas.microsoft.com/office/drawing/2014/main" id="{5B096025-B9AE-0B36-2DD4-E3B8E55208C1}"/>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49"/>
                <a:stretch>
                  <a:fillRect l="-383"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fixed_parameters_evaluated">
                <a:extLst>
                  <a:ext uri="{FF2B5EF4-FFF2-40B4-BE49-F238E27FC236}">
                    <a16:creationId xmlns:a16="http://schemas.microsoft.com/office/drawing/2014/main" id="{0CA081D2-5259-D905-A567-8512AD951531}"/>
                  </a:ext>
                </a:extLst>
              </p:cNvPr>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8" name="fixed_parameters_evaluated">
                <a:extLst>
                  <a:ext uri="{FF2B5EF4-FFF2-40B4-BE49-F238E27FC236}">
                    <a16:creationId xmlns:a16="http://schemas.microsoft.com/office/drawing/2014/main" id="{0CA081D2-5259-D905-A567-8512AD951531}"/>
                  </a:ext>
                </a:extLst>
              </p:cNvPr>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50"/>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implicit_J_dependence">
                <a:extLst>
                  <a:ext uri="{FF2B5EF4-FFF2-40B4-BE49-F238E27FC236}">
                    <a16:creationId xmlns:a16="http://schemas.microsoft.com/office/drawing/2014/main" id="{C9C7DD50-47C2-4C6C-80B5-1417D724A58D}"/>
                  </a:ext>
                </a:extLst>
              </p:cNvPr>
              <p:cNvSpPr>
                <a:spLocks noGrp="1"/>
              </p:cNvSpPr>
              <p:nvPr/>
            </p:nvSpPr>
            <p:spPr>
              <a:xfrm>
                <a:off x="571500" y="1857375"/>
                <a:ext cx="11049000" cy="266700"/>
              </a:xfrm>
              <a:prstGeom prst="rect">
                <a:avLst/>
              </a:prstGeom>
              <a:noFill/>
              <a:ln w="0">
                <a:noFill/>
              </a:ln>
            </p:spPr>
            <p:txBody>
              <a:bodyPr anchor="ctr">
                <a:noAutofit/>
              </a:bodyPr>
              <a:lstStyle>
                <a:defPPr algn="ctr">
                  <a:defRPr sz="1650">
                    <a:solidFill>
                      <a:srgbClr val="526276"/>
                    </a:solidFill>
                    <a:latin typeface="DejaVu Sans"/>
                    <a:ea typeface="DejaVu Sans"/>
                    <a:cs typeface="DejaVu Sans"/>
                  </a:defRPr>
                </a:defPPr>
                <a:lvl1pPr algn="ctr">
                  <a:defRPr sz="1650">
                    <a:solidFill>
                      <a:srgbClr val="526276"/>
                    </a:solidFill>
                    <a:latin typeface="DejaVu Sans"/>
                    <a:ea typeface="DejaVu Sans"/>
                    <a:cs typeface="DejaVu Sans"/>
                  </a:defRPr>
                </a:lvl1pPr>
                <a:lvl2pPr algn="ctr">
                  <a:defRPr sz="1650">
                    <a:solidFill>
                      <a:srgbClr val="526276"/>
                    </a:solidFill>
                    <a:latin typeface="DejaVu Sans"/>
                    <a:ea typeface="DejaVu Sans"/>
                    <a:cs typeface="DejaVu Sans"/>
                  </a:defRPr>
                </a:lvl2pPr>
                <a:lvl3pPr algn="ctr">
                  <a:defRPr sz="1650">
                    <a:solidFill>
                      <a:srgbClr val="526276"/>
                    </a:solidFill>
                    <a:latin typeface="DejaVu Sans"/>
                    <a:ea typeface="DejaVu Sans"/>
                    <a:cs typeface="DejaVu Sans"/>
                  </a:defRPr>
                </a:lvl3pPr>
                <a:lvl4pPr algn="ctr">
                  <a:defRPr sz="1650">
                    <a:solidFill>
                      <a:srgbClr val="526276"/>
                    </a:solidFill>
                    <a:latin typeface="DejaVu Sans"/>
                    <a:ea typeface="DejaVu Sans"/>
                    <a:cs typeface="DejaVu Sans"/>
                  </a:defRPr>
                </a:lvl4pPr>
                <a:lvl5pPr algn="ctr">
                  <a:defRPr sz="1650">
                    <a:solidFill>
                      <a:srgbClr val="526276"/>
                    </a:solidFill>
                    <a:latin typeface="DejaVu Sans"/>
                    <a:ea typeface="DejaVu Sans"/>
                    <a:cs typeface="DejaVu Sans"/>
                  </a:defRPr>
                </a:lvl5pPr>
                <a:lvl6pPr algn="ctr">
                  <a:defRPr sz="1650">
                    <a:solidFill>
                      <a:srgbClr val="526276"/>
                    </a:solidFill>
                    <a:latin typeface="DejaVu Sans"/>
                    <a:ea typeface="DejaVu Sans"/>
                    <a:cs typeface="DejaVu Sans"/>
                  </a:defRPr>
                </a:lvl6pPr>
                <a:lvl7pPr algn="ctr">
                  <a:defRPr sz="1650">
                    <a:solidFill>
                      <a:srgbClr val="526276"/>
                    </a:solidFill>
                    <a:latin typeface="DejaVu Sans"/>
                    <a:ea typeface="DejaVu Sans"/>
                    <a:cs typeface="DejaVu Sans"/>
                  </a:defRPr>
                </a:lvl7pPr>
                <a:lvl8pPr algn="ctr">
                  <a:defRPr sz="1650">
                    <a:solidFill>
                      <a:srgbClr val="526276"/>
                    </a:solidFill>
                    <a:latin typeface="DejaVu Sans"/>
                    <a:ea typeface="DejaVu Sans"/>
                    <a:cs typeface="DejaVu Sans"/>
                  </a:defRPr>
                </a:lvl8pPr>
                <a:lvl9pPr algn="ctr">
                  <a:defRPr sz="1650">
                    <a:solidFill>
                      <a:srgbClr val="526276"/>
                    </a:solidFill>
                    <a:latin typeface="DejaVu Sans"/>
                    <a:ea typeface="DejaVu Sans"/>
                    <a:cs typeface="DejaVu Sans"/>
                  </a:defRPr>
                </a:lvl9pPr>
              </a:lstStyle>
              <a:p>
                <a:pPr algn="ctr">
                  <a:defRPr sz="1650">
                    <a:solidFill>
                      <a:srgbClr val="526276"/>
                    </a:solidFill>
                    <a:latin typeface="DejaVu Sans"/>
                    <a:ea typeface="DejaVu Sans"/>
                    <a:cs typeface="DejaVu Sans"/>
                  </a:defRPr>
                </a:pPr>
                <a:r>
                  <a:rPr sz="1650">
                    <a:solidFill>
                      <a:srgbClr val="526276"/>
                    </a:solidFill>
                    <a:latin typeface="DejaVu Sans"/>
                    <a:ea typeface="DejaVu Sans"/>
                    <a:cs typeface="DejaVu Sans"/>
                  </a:rPr>
                  <a:t>We leave the dependence on the parameters and target implicit and write </a:t>
                </a:r>
                <a14:m>
                  <m:oMath xmlns:m="http://schemas.openxmlformats.org/officeDocument/2006/math">
                    <m:sSub>
                      <m:sSubPr>
                        <m:ctrlPr>
                          <a:rPr lang="en-GB" sz="1650">
                            <a:solidFill>
                              <a:srgbClr val="526276"/>
                            </a:solidFill>
                            <a:latin typeface="Cambria Math"/>
                            <a:ea typeface="Cambria Math"/>
                            <a:cs typeface="Cambria Math"/>
                          </a:rPr>
                        </m:ctrlPr>
                      </m:sSubPr>
                      <m:e>
                        <m:r>
                          <a:rPr lang="en-GB" sz="1650">
                            <a:solidFill>
                              <a:srgbClr val="526276"/>
                            </a:solidFill>
                            <a:latin typeface="Cambria Math"/>
                            <a:ea typeface="Cambria Math"/>
                            <a:cs typeface="Cambria Math"/>
                          </a:rPr>
                          <m:t>𝐽</m:t>
                        </m:r>
                      </m:e>
                      <m:sub>
                        <m:r>
                          <a:rPr lang="en-GB" sz="1650">
                            <a:solidFill>
                              <a:srgbClr val="526276"/>
                            </a:solidFill>
                            <a:latin typeface="Cambria Math"/>
                            <a:ea typeface="Cambria Math"/>
                            <a:cs typeface="Cambria Math"/>
                          </a:rPr>
                          <m:t>𝑟</m:t>
                        </m:r>
                      </m:sub>
                    </m:sSub>
                  </m:oMath>
                </a14:m>
                <a:r>
                  <a:rPr lang="en-GB" sz="1650">
                    <a:solidFill>
                      <a:srgbClr val="526276"/>
                    </a:solidFill>
                    <a:latin typeface="DejaVu Sans"/>
                  </a:rPr>
                  <a:t>.</a:t>
                </a:r>
              </a:p>
            </p:txBody>
          </p:sp>
        </mc:Choice>
        <mc:Fallback xmlns="">
          <p:sp>
            <p:nvSpPr>
              <p:cNvPr id="184" name="implicit_J_dependence">
                <a:extLst>
                  <a:ext uri="{FF2B5EF4-FFF2-40B4-BE49-F238E27FC236}">
                    <a16:creationId xmlns:a16="http://schemas.microsoft.com/office/drawing/2014/main" id="{C9C7DD50-47C2-4C6C-80B5-1417D724A58D}"/>
                  </a:ext>
                </a:extLst>
              </p:cNvPr>
              <p:cNvSpPr>
                <a:spLocks noGrp="1" noRot="1" noChangeAspect="1" noMove="1" noResize="1" noEditPoints="1" noAdjustHandles="1" noChangeArrowheads="1" noChangeShapeType="1" noTextEdit="1"/>
              </p:cNvSpPr>
              <p:nvPr/>
            </p:nvSpPr>
            <p:spPr>
              <a:xfrm>
                <a:off x="571500" y="1857375"/>
                <a:ext cx="11049000" cy="266700"/>
              </a:xfrm>
              <a:prstGeom prst="rect">
                <a:avLst/>
              </a:prstGeom>
              <a:blipFill>
                <a:blip r:embed="rId51"/>
                <a:stretch>
                  <a:fillRect t="-23256" b="-4651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8</a:t>
            </a:r>
          </a:p>
        </p:txBody>
      </p:sp>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49" name="continuity_8_1_249" descr="J_{2}">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27"/>
                <a:stretch>
                  <a:fillRect b="-18966"/>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1" name="continuity_8_1_251" descr="J_{3}">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2(a_2(x)). In fact, J_2(a_2(x)) equals J_3(ReLU(a_2(x)) w_3 + b_3). The underbrace identifies this argument as a_3(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r>
                      <a:rPr lang="it-IT" sz="2800" b="0" i="1" smtClean="0">
                        <a:solidFill>
                          <a:srgbClr val="1E755E"/>
                        </a:solidFill>
                        <a:latin typeface="Cambria Math" panose="02040503050406030204" pitchFamily="18" charset="0"/>
                        <a:ea typeface="Cambria Math"/>
                        <a:cs typeface="Cambria Math"/>
                      </a:rPr>
                      <m:t>(</m:t>
                    </m:r>
                    <m:limLow>
                      <m:limLowPr>
                        <m:ctrlPr>
                          <a:rPr lang="en-GB" sz="2800" i="1">
                            <a:solidFill>
                              <a:srgbClr val="1E755E"/>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755E"/>
                                </a:solidFill>
                                <a:latin typeface="Cambria Math"/>
                                <a:ea typeface="Cambria Math"/>
                                <a:cs typeface="Cambria Math"/>
                              </a:rPr>
                            </m:ctrlPr>
                          </m:groupChrPr>
                          <m:e>
                            <m:r>
                              <m:rPr>
                                <m:sty m:val="p"/>
                              </m:rPr>
                              <a:rPr lang="en-GB" sz="2800">
                                <a:solidFill>
                                  <a:srgbClr val="1E755E"/>
                                </a:solidFill>
                                <a:latin typeface="Cambria Math"/>
                                <a:ea typeface="Cambria Math"/>
                                <a:cs typeface="Cambria Math"/>
                              </a:rPr>
                              <m:t>ReLU</m:t>
                            </m:r>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groupChr>
                      </m:e>
                      <m:lim>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𝑥</m:t>
                        </m:r>
                        <m:r>
                          <a:rPr lang="en-GB" sz="2800">
                            <a:solidFill>
                              <a:srgbClr val="1E755E"/>
                            </a:solidFill>
                            <a:latin typeface="Cambria Math"/>
                            <a:ea typeface="Cambria Math"/>
                            <a:cs typeface="Cambria Math"/>
                          </a:rPr>
                          <m:t>)</m:t>
                        </m:r>
                      </m:lim>
                    </m:limLow>
                    <m:r>
                      <a:rPr lang="it-IT" sz="2800" b="0" i="1" smtClean="0">
                        <a:solidFill>
                          <a:srgbClr val="1E755E"/>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2(a_2(x)). In fact, J_2(a_2(x)) equals J_3(ReLU(a_2(x)) w_3 + b_3). The underbrace identifies this argument as a_3(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1"/>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lead">
                <a:extLst>
                  <a:ext uri="{FF2B5EF4-FFF2-40B4-BE49-F238E27FC236}">
                    <a16:creationId xmlns:a16="http://schemas.microsoft.com/office/drawing/2014/main" id="{37E8B4D5-8BA1-5810-DF3E-759CC42BC28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3" name="lead">
                <a:extLst>
                  <a:ext uri="{FF2B5EF4-FFF2-40B4-BE49-F238E27FC236}">
                    <a16:creationId xmlns:a16="http://schemas.microsoft.com/office/drawing/2014/main" id="{37E8B4D5-8BA1-5810-DF3E-759CC42BC28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2"/>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9</a:t>
            </a:r>
          </a:p>
        </p:txBody>
      </p:sp>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sub>
                      </m:sSub>
                    </m:oMath>
                  </m:oMathPara>
                </a14:m>
                <a:endParaRPr lang="en-GB" sz="2000"/>
              </a:p>
            </p:txBody>
          </p:sp>
        </mc:Choice>
        <mc:Fallback xmlns="">
          <p:sp>
            <p:nvSpPr>
              <p:cNvPr id="252" name="continuity_9_1_252" descr="J_{1}">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28"/>
                <a:stretch>
                  <a:fillRect b="-20690"/>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54" name="continuity_9_1_254" descr="J_{2}">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6" name="continuity_9_1_256" descr="J_{3}">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9"/>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30"/>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1(a_1(x)). In fact, J_1(a_1(x)) equals J_2(ReLU(a_1(x)) w_2 + b_2). The underbrace identifies this argument as a_2(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r>
                      <a:rPr lang="it-IT" sz="2800" b="0" i="1" smtClean="0">
                        <a:solidFill>
                          <a:srgbClr val="1E4F8C"/>
                        </a:solidFill>
                        <a:latin typeface="Cambria Math" panose="02040503050406030204" pitchFamily="18" charset="0"/>
                        <a:ea typeface="Cambria Math"/>
                        <a:cs typeface="Cambria Math"/>
                      </a:rPr>
                      <m:t>(</m:t>
                    </m:r>
                    <m:limLow>
                      <m:limLowPr>
                        <m:ctrlPr>
                          <a:rPr lang="en-GB" sz="2800" i="1">
                            <a:solidFill>
                              <a:srgbClr val="1E4F8C"/>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4F8C"/>
                                </a:solidFill>
                                <a:latin typeface="Cambria Math"/>
                                <a:ea typeface="Cambria Math"/>
                                <a:cs typeface="Cambria Math"/>
                              </a:rPr>
                            </m:ctrlPr>
                          </m:groupChrPr>
                          <m:e>
                            <m:r>
                              <m:rPr>
                                <m:sty m:val="p"/>
                              </m:rPr>
                              <a:rPr lang="en-GB" sz="2800">
                                <a:solidFill>
                                  <a:srgbClr val="1E4F8C"/>
                                </a:solidFill>
                                <a:latin typeface="Cambria Math"/>
                                <a:ea typeface="Cambria Math"/>
                                <a:cs typeface="Cambria Math"/>
                              </a:rPr>
                              <m:t>ReLU</m:t>
                            </m:r>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groupChr>
                      </m:e>
                      <m:lim>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𝑥</m:t>
                        </m:r>
                        <m:r>
                          <a:rPr lang="en-GB" sz="2800">
                            <a:solidFill>
                              <a:srgbClr val="1E4F8C"/>
                            </a:solidFill>
                            <a:latin typeface="Cambria Math"/>
                            <a:ea typeface="Cambria Math"/>
                            <a:cs typeface="Cambria Math"/>
                          </a:rPr>
                          <m:t>)</m:t>
                        </m:r>
                      </m:lim>
                    </m:limLow>
                    <m:r>
                      <a:rPr lang="it-IT" sz="2800" b="0" i="1" smtClean="0">
                        <a:solidFill>
                          <a:srgbClr val="1E4F8C"/>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1(a_1(x)). In fact, J_1(a_1(x)) equals J_2(ReLU(a_1(x)) w_2 + b_2). The underbrace identifies this argument as a_2(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2"/>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lead">
                <a:extLst>
                  <a:ext uri="{FF2B5EF4-FFF2-40B4-BE49-F238E27FC236}">
                    <a16:creationId xmlns:a16="http://schemas.microsoft.com/office/drawing/2014/main" id="{99AD7347-79F0-25A7-3CD4-9480397EB902}"/>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9" name="lead">
                <a:extLst>
                  <a:ext uri="{FF2B5EF4-FFF2-40B4-BE49-F238E27FC236}">
                    <a16:creationId xmlns:a16="http://schemas.microsoft.com/office/drawing/2014/main" id="{99AD7347-79F0-25A7-3CD4-9480397EB902}"/>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3"/>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a:t>
            </a:r>
            <a:r>
              <a:rPr lang="it-IT" sz="2175" b="0" dirty="0">
                <a:solidFill>
                  <a:srgbClr val="FF0000"/>
                </a:solidFill>
                <a:latin typeface="DejaVu Sans"/>
                <a:ea typeface="DejaVu Sans"/>
                <a:cs typeface="DejaVu Sans"/>
              </a:rPr>
              <a:t>3rd </a:t>
            </a:r>
            <a:r>
              <a:rPr lang="it-IT" sz="2175" b="0" dirty="0" err="1">
                <a:solidFill>
                  <a:srgbClr val="FF0000"/>
                </a:solidFill>
                <a:latin typeface="DejaVu Sans"/>
                <a:ea typeface="DejaVu Sans"/>
                <a:cs typeface="DejaVu Sans"/>
              </a:rPr>
              <a:t>layer</a:t>
            </a:r>
            <a:endParaRPr lang="en-GB" sz="2175" dirty="0">
              <a:solidFill>
                <a:srgbClr val="FF0000"/>
              </a:solidFill>
            </a:endParaRPr>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2</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3</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mc:AlternateContent xmlns:mc="http://schemas.openxmlformats.org/markup-compatibility/2006" xmlns:a14="http://schemas.microsoft.com/office/drawing/2010/main">
        <mc:Choice Requires="a14">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We still need the shared factor</a:t>
                </a:r>
                <a:r>
                  <a:rPr lang="it-IT" sz="2175" b="1" dirty="0">
                    <a:solidFill>
                      <a:srgbClr val="182D45"/>
                    </a:solidFill>
                    <a:latin typeface="DejaVu Sans"/>
                    <a:ea typeface="DejaVu Sans"/>
                    <a:cs typeface="DejaVu Sans"/>
                  </a:rPr>
                  <a:t> </a:t>
                </a:r>
                <a14:m>
                  <m:oMath xmlns:m="http://schemas.openxmlformats.org/officeDocument/2006/math">
                    <m:sSubSup>
                      <m:sSubSupPr>
                        <m:ctrlPr>
                          <a:rPr lang="en-GB" sz="2400">
                            <a:solidFill>
                              <a:schemeClr val="accent2">
                                <a:lumMod val="75000"/>
                              </a:schemeClr>
                            </a:solidFill>
                            <a:latin typeface="Cambria Math"/>
                            <a:ea typeface="Cambria Math"/>
                            <a:cs typeface="Cambria Math"/>
                          </a:rPr>
                        </m:ctrlPr>
                      </m:sSubSupPr>
                      <m:e>
                        <m:r>
                          <a:rPr lang="en-GB" sz="2400">
                            <a:solidFill>
                              <a:schemeClr val="accent2">
                                <a:lumMod val="75000"/>
                              </a:schemeClr>
                            </a:solidFill>
                            <a:latin typeface="Cambria Math"/>
                            <a:ea typeface="Cambria Math"/>
                            <a:cs typeface="Cambria Math"/>
                          </a:rPr>
                          <m:t>𝐽</m:t>
                        </m:r>
                      </m:e>
                      <m:sub>
                        <m:r>
                          <a:rPr lang="en-GB" sz="2400">
                            <a:solidFill>
                              <a:schemeClr val="accent2">
                                <a:lumMod val="75000"/>
                              </a:schemeClr>
                            </a:solidFill>
                            <a:latin typeface="Cambria Math"/>
                            <a:ea typeface="Cambria Math"/>
                            <a:cs typeface="Cambria Math"/>
                          </a:rPr>
                          <m:t>3</m:t>
                        </m:r>
                      </m:sub>
                      <m:sup>
                        <m:r>
                          <a:rPr lang="en-GB" sz="2400">
                            <a:solidFill>
                              <a:schemeClr val="accent2">
                                <a:lumMod val="75000"/>
                              </a:schemeClr>
                            </a:solidFill>
                            <a:latin typeface="Cambria Math"/>
                            <a:ea typeface="Cambria Math"/>
                            <a:cs typeface="Cambria Math"/>
                          </a:rPr>
                          <m:t>′</m:t>
                        </m:r>
                      </m:sup>
                    </m:sSubSup>
                    <m:d>
                      <m:dPr>
                        <m:ctrlPr>
                          <a:rPr lang="en-GB" sz="2400" i="1">
                            <a:solidFill>
                              <a:schemeClr val="accent2">
                                <a:lumMod val="75000"/>
                              </a:schemeClr>
                            </a:solidFill>
                            <a:latin typeface="Cambria Math" panose="02040503050406030204" pitchFamily="18" charset="0"/>
                            <a:ea typeface="Cambria Math"/>
                            <a:cs typeface="Cambria Math"/>
                          </a:rPr>
                        </m:ctrlPr>
                      </m:dPr>
                      <m:e>
                        <m:sSub>
                          <m:sSubPr>
                            <m:ctrlPr>
                              <a:rPr lang="en-GB" sz="2400">
                                <a:solidFill>
                                  <a:schemeClr val="accent2">
                                    <a:lumMod val="75000"/>
                                  </a:schemeClr>
                                </a:solidFill>
                                <a:latin typeface="Cambria Math"/>
                                <a:ea typeface="Cambria Math"/>
                                <a:cs typeface="Cambria Math"/>
                              </a:rPr>
                            </m:ctrlPr>
                          </m:sSubPr>
                          <m:e>
                            <m:r>
                              <a:rPr lang="en-GB" sz="2400">
                                <a:solidFill>
                                  <a:schemeClr val="accent2">
                                    <a:lumMod val="75000"/>
                                  </a:schemeClr>
                                </a:solidFill>
                                <a:latin typeface="Cambria Math"/>
                                <a:ea typeface="Cambria Math"/>
                                <a:cs typeface="Cambria Math"/>
                              </a:rPr>
                              <m:t>𝑎</m:t>
                            </m:r>
                          </m:e>
                          <m:sub>
                            <m:r>
                              <a:rPr lang="en-GB" sz="2400">
                                <a:solidFill>
                                  <a:schemeClr val="accent2">
                                    <a:lumMod val="75000"/>
                                  </a:schemeClr>
                                </a:solidFill>
                                <a:latin typeface="Cambria Math"/>
                                <a:ea typeface="Cambria Math"/>
                                <a:cs typeface="Cambria Math"/>
                              </a:rPr>
                              <m:t>3</m:t>
                            </m:r>
                          </m:sub>
                        </m:sSub>
                        <m:d>
                          <m:dPr>
                            <m:ctrlPr>
                              <a:rPr lang="en-GB" sz="2400">
                                <a:solidFill>
                                  <a:schemeClr val="accent2">
                                    <a:lumMod val="75000"/>
                                  </a:schemeClr>
                                </a:solidFill>
                                <a:latin typeface="Cambria Math"/>
                                <a:ea typeface="Cambria Math"/>
                                <a:cs typeface="Cambria Math"/>
                              </a:rPr>
                            </m:ctrlPr>
                          </m:dPr>
                          <m:e>
                            <m:r>
                              <a:rPr lang="en-GB" sz="2400">
                                <a:solidFill>
                                  <a:schemeClr val="accent2">
                                    <a:lumMod val="75000"/>
                                  </a:schemeClr>
                                </a:solidFill>
                                <a:latin typeface="Cambria Math"/>
                                <a:ea typeface="Cambria Math"/>
                                <a:cs typeface="Cambria Math"/>
                              </a:rPr>
                              <m:t>𝑥</m:t>
                            </m:r>
                          </m:e>
                        </m:d>
                      </m:e>
                    </m:d>
                  </m:oMath>
                </a14:m>
                <a:r>
                  <a:rPr sz="2175" b="1" dirty="0">
                    <a:solidFill>
                      <a:srgbClr val="182D45"/>
                    </a:solidFill>
                    <a:latin typeface="DejaVu Sans"/>
                    <a:ea typeface="DejaVu Sans"/>
                    <a:cs typeface="DejaVu Sans"/>
                  </a:rPr>
                  <a:t> in both expressions.</a:t>
                </a:r>
              </a:p>
            </p:txBody>
          </p:sp>
        </mc:Choice>
        <mc:Fallback xmlns="">
          <p:sp>
            <p:nvSpPr>
              <p:cNvPr id="101" name="shared_factor_prompt">
                <a:extLst>
                  <a:ext uri="{FF2B5EF4-FFF2-40B4-BE49-F238E27FC236}">
                    <a16:creationId xmlns:a16="http://schemas.microsoft.com/office/drawing/2014/main" id="{94C5E46F-DF9A-48AA-BB9D-E221FE1B60C4}"/>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02" name="bias_saved_a_brace" descr="Underbrace identifying a_3(x) as already computed in the forward pass.">
            <a:extLst>
              <a:ext uri="{FF2B5EF4-FFF2-40B4-BE49-F238E27FC236}">
                <a16:creationId xmlns:a16="http://schemas.microsoft.com/office/drawing/2014/main" id="{200AD72B-EED2-4A3A-96C4-B50D64D27949}"/>
              </a:ext>
            </a:extLst>
          </p:cNvPr>
          <p:cNvSpPr>
            <a:spLocks noGrp="1"/>
          </p:cNvSpPr>
          <p:nvPr/>
        </p:nvSpPr>
        <p:spPr>
          <a:xfrm>
            <a:off x="818197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3" name="bias_saved_a_caption" descr="already computed in the forward pass">
            <a:extLst>
              <a:ext uri="{FF2B5EF4-FFF2-40B4-BE49-F238E27FC236}">
                <a16:creationId xmlns:a16="http://schemas.microsoft.com/office/drawing/2014/main" id="{AD6318F6-ADC0-4B55-A794-9EB8FDC5402A}"/>
              </a:ext>
            </a:extLst>
          </p:cNvPr>
          <p:cNvSpPr>
            <a:spLocks noGrp="1"/>
          </p:cNvSpPr>
          <p:nvPr/>
        </p:nvSpPr>
        <p:spPr>
          <a:xfrm>
            <a:off x="795813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4" name="weight_saved_a_brace" descr="Underbrace identifying a_3(x) as already computed in the forward pass.">
            <a:extLst>
              <a:ext uri="{FF2B5EF4-FFF2-40B4-BE49-F238E27FC236}">
                <a16:creationId xmlns:a16="http://schemas.microsoft.com/office/drawing/2014/main" id="{A8A5E187-5968-4350-A9F4-FF7C4C42C759}"/>
              </a:ext>
            </a:extLst>
          </p:cNvPr>
          <p:cNvSpPr>
            <a:spLocks noGrp="1"/>
          </p:cNvSpPr>
          <p:nvPr/>
        </p:nvSpPr>
        <p:spPr>
          <a:xfrm>
            <a:off x="818197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5" name="weight_saved_a_caption" descr="already computed in the forward pass">
            <a:extLst>
              <a:ext uri="{FF2B5EF4-FFF2-40B4-BE49-F238E27FC236}">
                <a16:creationId xmlns:a16="http://schemas.microsoft.com/office/drawing/2014/main" id="{DC9D6E97-5BE4-46D7-9917-4684F8C75571}"/>
              </a:ext>
            </a:extLst>
          </p:cNvPr>
          <p:cNvSpPr>
            <a:spLocks noGrp="1"/>
          </p:cNvSpPr>
          <p:nvPr/>
        </p:nvSpPr>
        <p:spPr>
          <a:xfrm>
            <a:off x="795813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6" name="weight_saved_phi_brace" descr="Underbrace identifying phi_2(x) as already computed in the forward pass.">
            <a:extLst>
              <a:ext uri="{FF2B5EF4-FFF2-40B4-BE49-F238E27FC236}">
                <a16:creationId xmlns:a16="http://schemas.microsoft.com/office/drawing/2014/main" id="{AAE77431-1E05-4AAE-AB55-F51AEED62F54}"/>
              </a:ext>
            </a:extLst>
          </p:cNvPr>
          <p:cNvSpPr>
            <a:spLocks noGrp="1"/>
          </p:cNvSpPr>
          <p:nvPr/>
        </p:nvSpPr>
        <p:spPr>
          <a:xfrm>
            <a:off x="9372600" y="5362575"/>
            <a:ext cx="800100" cy="66675"/>
          </a:xfrm>
          <a:custGeom>
            <a:avLst/>
            <a:gdLst/>
            <a:ahLst/>
            <a:cxnLst/>
            <a:rect l="0" t="0" r="0" b="0"/>
            <a:pathLst>
              <a:path w="800100" h="66675">
                <a:moveTo>
                  <a:pt x="0" y="0"/>
                </a:moveTo>
                <a:cubicBezTo>
                  <a:pt x="0" y="33338"/>
                  <a:pt x="0" y="33338"/>
                  <a:pt x="96012" y="33338"/>
                </a:cubicBezTo>
                <a:lnTo>
                  <a:pt x="320040" y="33338"/>
                </a:lnTo>
                <a:cubicBezTo>
                  <a:pt x="384048" y="33338"/>
                  <a:pt x="400050" y="33338"/>
                  <a:pt x="400050" y="66675"/>
                </a:cubicBezTo>
                <a:cubicBezTo>
                  <a:pt x="400050" y="33338"/>
                  <a:pt x="416052" y="33338"/>
                  <a:pt x="480060" y="33338"/>
                </a:cubicBezTo>
                <a:lnTo>
                  <a:pt x="704088" y="33338"/>
                </a:lnTo>
                <a:cubicBezTo>
                  <a:pt x="800100" y="33338"/>
                  <a:pt x="800100" y="33338"/>
                  <a:pt x="800100" y="0"/>
                </a:cubicBezTo>
              </a:path>
            </a:pathLst>
          </a:custGeom>
          <a:noFill/>
          <a:ln w="11430">
            <a:solidFill>
              <a:srgbClr val="087F83"/>
            </a:solidFill>
          </a:ln>
        </p:spPr>
        <p:txBody>
          <a:bodyPr/>
          <a:lstStyle/>
          <a:p>
            <a:endParaRPr lang="it-IT"/>
          </a:p>
        </p:txBody>
      </p:sp>
      <p:sp>
        <p:nvSpPr>
          <p:cNvPr id="107" name="weight_saved_phi_caption" descr="already computed in the forward pass">
            <a:extLst>
              <a:ext uri="{FF2B5EF4-FFF2-40B4-BE49-F238E27FC236}">
                <a16:creationId xmlns:a16="http://schemas.microsoft.com/office/drawing/2014/main" id="{2F541139-BCF4-4219-8CED-E6C82AA7C63D}"/>
              </a:ext>
            </a:extLst>
          </p:cNvPr>
          <p:cNvSpPr>
            <a:spLocks noGrp="1"/>
          </p:cNvSpPr>
          <p:nvPr/>
        </p:nvSpPr>
        <p:spPr>
          <a:xfrm>
            <a:off x="91630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P spid="102" grpId="0" animBg="1"/>
      <p:bldP spid="103" grpId="0"/>
      <p:bldP spid="104" grpId="0" animBg="1"/>
      <p:bldP spid="105" grpId="0"/>
      <p:bldP spid="106" grpId="0" animBg="1"/>
      <p:bldP spid="107"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2"/>
                              </a:solidFill>
                              <a:latin typeface="Cambria Math"/>
                              <a:ea typeface="Cambria Math"/>
                              <a:cs typeface="Cambria Math"/>
                            </a:rPr>
                          </m:ctrlPr>
                        </m:sSubSup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up>
                          <m:r>
                            <a:rPr lang="en-GB" sz="2800">
                              <a:solidFill>
                                <a:srgbClr val="087F82"/>
                              </a:solidFill>
                              <a:latin typeface="Cambria Math"/>
                              <a:ea typeface="Cambria Math"/>
                              <a:cs typeface="Cambria Math"/>
                            </a:rPr>
                            <m:t>′</m:t>
                          </m:r>
                        </m:sup>
                      </m:sSubSup>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=2</m:t>
                      </m:r>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smtClean="0">
                          <a:solidFill>
                            <a:schemeClr val="accent2">
                              <a:lumMod val="75000"/>
                            </a:schemeClr>
                          </a:solidFill>
                          <a:latin typeface="Cambria Math"/>
                          <a:ea typeface="Cambria Math"/>
                          <a:cs typeface="Cambria Math"/>
                        </a:rPr>
                        <m:t>=</m:t>
                      </m:r>
                      <m:r>
                        <a:rPr lang="en-GB" sz="2800">
                          <a:solidFill>
                            <a:srgbClr val="087F82"/>
                          </a:solidFill>
                          <a:latin typeface="Cambria Math"/>
                          <a:ea typeface="Cambria Math"/>
                          <a:cs typeface="Cambria Math"/>
                        </a:rPr>
                        <m:t>2</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2"/>
                          </a:solidFill>
                          <a:latin typeface="Cambria Math" panose="02040503050406030204" pitchFamily="18" charset="0"/>
                          <a:ea typeface="Cambria Math"/>
                          <a:cs typeface="Cambria Math"/>
                        </a:rPr>
                        <m:t>⋅</m:t>
                      </m:r>
                      <m:sSub>
                        <m:sSubPr>
                          <m:ctrlPr>
                            <a:rPr lang="en-GB" sz="2600">
                              <a:solidFill>
                                <a:srgbClr val="087F82"/>
                              </a:solidFill>
                              <a:latin typeface="Cambria Math"/>
                              <a:ea typeface="Cambria Math"/>
                              <a:cs typeface="Cambria Math"/>
                            </a:rPr>
                          </m:ctrlPr>
                        </m:sSubPr>
                        <m:e>
                          <m:r>
                            <a:rPr lang="en-GB" sz="2600">
                              <a:solidFill>
                                <a:srgbClr val="087F82"/>
                              </a:solidFill>
                              <a:latin typeface="Cambria Math"/>
                              <a:ea typeface="Cambria Math"/>
                              <a:cs typeface="Cambria Math"/>
                            </a:rPr>
                            <m:t>𝜙</m:t>
                          </m:r>
                        </m:e>
                        <m:sub>
                          <m:r>
                            <a:rPr lang="en-GB" sz="2600">
                              <a:solidFill>
                                <a:srgbClr val="087F82"/>
                              </a:solidFill>
                              <a:latin typeface="Cambria Math"/>
                              <a:ea typeface="Cambria Math"/>
                              <a:cs typeface="Cambria Math"/>
                            </a:rPr>
                            <m:t>2</m:t>
                          </m:r>
                        </m:sub>
                      </m:sSub>
                      <m:d>
                        <m:dPr>
                          <m:ctrlPr>
                            <a:rPr lang="en-GB" sz="2600">
                              <a:solidFill>
                                <a:srgbClr val="087F82"/>
                              </a:solidFill>
                              <a:latin typeface="Cambria Math"/>
                              <a:ea typeface="Cambria Math"/>
                              <a:cs typeface="Cambria Math"/>
                            </a:rPr>
                          </m:ctrlPr>
                        </m:dPr>
                        <m:e>
                          <m:r>
                            <a:rPr lang="en-GB" sz="2600">
                              <a:solidFill>
                                <a:srgbClr val="087F82"/>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xmlns:a14="http://schemas.microsoft.com/office/drawing/2010/main">
        <mc:Choice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chemeClr val="accent2">
                                <a:lumMod val="75000"/>
                              </a:schemeClr>
                            </a:solidFill>
                            <a:latin typeface="Cambria Math"/>
                            <a:ea typeface="Cambria Math"/>
                            <a:cs typeface="Cambria Math"/>
                          </a:rPr>
                        </m:ctrlPr>
                      </m:sSubSupPr>
                      <m:e>
                        <m:r>
                          <a:rPr lang="en-GB" sz="1800">
                            <a:solidFill>
                              <a:schemeClr val="accent2">
                                <a:lumMod val="75000"/>
                              </a:schemeClr>
                            </a:solidFill>
                            <a:latin typeface="Cambria Math"/>
                            <a:ea typeface="Cambria Math"/>
                            <a:cs typeface="Cambria Math"/>
                          </a:rPr>
                          <m:t>𝐽</m:t>
                        </m:r>
                      </m:e>
                      <m:sub>
                        <m:r>
                          <a:rPr lang="en-GB" sz="1800">
                            <a:solidFill>
                              <a:schemeClr val="accent2">
                                <a:lumMod val="75000"/>
                              </a:schemeClr>
                            </a:solidFill>
                            <a:latin typeface="Cambria Math"/>
                            <a:ea typeface="Cambria Math"/>
                            <a:cs typeface="Cambria Math"/>
                          </a:rPr>
                          <m:t>3</m:t>
                        </m:r>
                      </m:sub>
                      <m:sup>
                        <m:r>
                          <a:rPr lang="en-GB" sz="1800">
                            <a:solidFill>
                              <a:schemeClr val="accent2">
                                <a:lumMod val="75000"/>
                              </a:schemeClr>
                            </a:solidFill>
                            <a:latin typeface="Cambria Math"/>
                            <a:ea typeface="Cambria Math"/>
                            <a:cs typeface="Cambria Math"/>
                          </a:rPr>
                          <m:t>′</m:t>
                        </m:r>
                      </m:sup>
                    </m:sSubSup>
                    <m:d>
                      <m:dPr>
                        <m:ctrlPr>
                          <a:rPr lang="en-GB" sz="1800" i="1">
                            <a:solidFill>
                              <a:schemeClr val="accent2">
                                <a:lumMod val="75000"/>
                              </a:schemeClr>
                            </a:solidFill>
                            <a:latin typeface="Cambria Math" panose="02040503050406030204" pitchFamily="18" charset="0"/>
                            <a:ea typeface="Cambria Math"/>
                            <a:cs typeface="Cambria Math"/>
                          </a:rPr>
                        </m:ctrlPr>
                      </m:dPr>
                      <m:e>
                        <m:sSub>
                          <m:sSubPr>
                            <m:ctrlPr>
                              <a:rPr lang="en-GB" sz="1800">
                                <a:solidFill>
                                  <a:schemeClr val="accent2">
                                    <a:lumMod val="75000"/>
                                  </a:schemeClr>
                                </a:solidFill>
                                <a:latin typeface="Cambria Math"/>
                                <a:ea typeface="Cambria Math"/>
                                <a:cs typeface="Cambria Math"/>
                              </a:rPr>
                            </m:ctrlPr>
                          </m:sSubPr>
                          <m:e>
                            <m:r>
                              <a:rPr lang="en-GB" sz="1800">
                                <a:solidFill>
                                  <a:schemeClr val="accent2">
                                    <a:lumMod val="75000"/>
                                  </a:schemeClr>
                                </a:solidFill>
                                <a:latin typeface="Cambria Math"/>
                                <a:ea typeface="Cambria Math"/>
                                <a:cs typeface="Cambria Math"/>
                              </a:rPr>
                              <m:t>𝑎</m:t>
                            </m:r>
                          </m:e>
                          <m:sub>
                            <m:r>
                              <a:rPr lang="en-GB" sz="1800">
                                <a:solidFill>
                                  <a:schemeClr val="accent2">
                                    <a:lumMod val="75000"/>
                                  </a:schemeClr>
                                </a:solidFill>
                                <a:latin typeface="Cambria Math"/>
                                <a:ea typeface="Cambria Math"/>
                                <a:cs typeface="Cambria Math"/>
                              </a:rPr>
                              <m:t>3</m:t>
                            </m:r>
                          </m:sub>
                        </m:sSub>
                        <m:d>
                          <m:dPr>
                            <m:ctrlPr>
                              <a:rPr lang="en-GB" sz="1800">
                                <a:solidFill>
                                  <a:schemeClr val="accent2">
                                    <a:lumMod val="75000"/>
                                  </a:schemeClr>
                                </a:solidFill>
                                <a:latin typeface="Cambria Math"/>
                                <a:ea typeface="Cambria Math"/>
                                <a:cs typeface="Cambria Math"/>
                              </a:rPr>
                            </m:ctrlPr>
                          </m:dPr>
                          <m:e>
                            <m:r>
                              <a:rPr lang="en-GB" sz="1800">
                                <a:solidFill>
                                  <a:schemeClr val="accent2">
                                    <a:lumMod val="75000"/>
                                  </a:schemeClr>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7692"/>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second layer</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1</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2</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513DF184-A3AD-B2D2-C114-5FEC34C1DC11}"/>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00B050"/>
                            </a:solidFill>
                            <a:latin typeface="Cambria Math"/>
                            <a:ea typeface="Cambria Math"/>
                            <a:cs typeface="Cambria Math"/>
                          </a:rPr>
                        </m:ctrlPr>
                      </m:sSubSupPr>
                      <m:e>
                        <m:r>
                          <a:rPr lang="ar-AE" sz="2400">
                            <a:solidFill>
                              <a:srgbClr val="00B050"/>
                            </a:solidFill>
                            <a:latin typeface="Cambria Math"/>
                            <a:ea typeface="Cambria Math"/>
                            <a:cs typeface="Cambria Math"/>
                          </a:rPr>
                          <m:t>𝐽</m:t>
                        </m:r>
                      </m:e>
                      <m:sub>
                        <m:r>
                          <a:rPr lang="ar-AE" sz="2400" b="0" i="0" smtClean="0">
                            <a:solidFill>
                              <a:srgbClr val="00B050"/>
                            </a:solidFill>
                            <a:latin typeface="Cambria Math" panose="02040503050406030204" pitchFamily="18" charset="0"/>
                            <a:ea typeface="Cambria Math"/>
                            <a:cs typeface="Cambria Math"/>
                          </a:rPr>
                          <m:t>2</m:t>
                        </m:r>
                      </m:sub>
                      <m:sup>
                        <m:r>
                          <a:rPr lang="ar-AE" sz="2400">
                            <a:solidFill>
                              <a:srgbClr val="00B050"/>
                            </a:solidFill>
                            <a:latin typeface="Cambria Math"/>
                            <a:ea typeface="Cambria Math"/>
                            <a:cs typeface="Cambria Math"/>
                          </a:rPr>
                          <m:t>′</m:t>
                        </m:r>
                      </m:sup>
                    </m:sSubSup>
                    <m:d>
                      <m:dPr>
                        <m:ctrlPr>
                          <a:rPr lang="ar-AE" sz="2400" i="1">
                            <a:solidFill>
                              <a:srgbClr val="00B050"/>
                            </a:solidFill>
                            <a:latin typeface="Cambria Math" panose="02040503050406030204" pitchFamily="18" charset="0"/>
                            <a:ea typeface="Cambria Math"/>
                            <a:cs typeface="Cambria Math"/>
                          </a:rPr>
                        </m:ctrlPr>
                      </m:dPr>
                      <m:e>
                        <m:sSub>
                          <m:sSubPr>
                            <m:ctrlPr>
                              <a:rPr lang="ar-AE" sz="2400">
                                <a:solidFill>
                                  <a:srgbClr val="00B050"/>
                                </a:solidFill>
                                <a:latin typeface="Cambria Math"/>
                                <a:ea typeface="Cambria Math"/>
                                <a:cs typeface="Cambria Math"/>
                              </a:rPr>
                            </m:ctrlPr>
                          </m:sSubPr>
                          <m:e>
                            <m:r>
                              <a:rPr lang="ar-AE" sz="2400">
                                <a:solidFill>
                                  <a:srgbClr val="00B050"/>
                                </a:solidFill>
                                <a:latin typeface="Cambria Math"/>
                                <a:ea typeface="Cambria Math"/>
                                <a:cs typeface="Cambria Math"/>
                              </a:rPr>
                              <m:t>𝑎</m:t>
                            </m:r>
                          </m:e>
                          <m:sub>
                            <m:r>
                              <a:rPr lang="it-IT" sz="2400" b="0" i="1" smtClean="0">
                                <a:solidFill>
                                  <a:srgbClr val="00B050"/>
                                </a:solidFill>
                                <a:latin typeface="Cambria Math" panose="02040503050406030204" pitchFamily="18" charset="0"/>
                                <a:ea typeface="Cambria Math"/>
                                <a:cs typeface="Cambria Math"/>
                              </a:rPr>
                              <m:t>2</m:t>
                            </m:r>
                          </m:sub>
                        </m:sSub>
                        <m:d>
                          <m:dPr>
                            <m:ctrlPr>
                              <a:rPr lang="ar-AE" sz="2400">
                                <a:solidFill>
                                  <a:srgbClr val="00B050"/>
                                </a:solidFill>
                                <a:latin typeface="Cambria Math"/>
                                <a:ea typeface="Cambria Math"/>
                                <a:cs typeface="Cambria Math"/>
                              </a:rPr>
                            </m:ctrlPr>
                          </m:dPr>
                          <m:e>
                            <m:r>
                              <a:rPr lang="ar-AE" sz="2400">
                                <a:solidFill>
                                  <a:srgbClr val="00B050"/>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513DF184-A3AD-B2D2-C114-5FEC34C1DC11}"/>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7" name="bias_saved_a_brace" descr="Underbrace identifying a_2(x) as already computed in the forward pass.">
            <a:extLst>
              <a:ext uri="{FF2B5EF4-FFF2-40B4-BE49-F238E27FC236}">
                <a16:creationId xmlns:a16="http://schemas.microsoft.com/office/drawing/2014/main" id="{E1E2A8A7-A72D-495E-9FB1-969519691AB7}"/>
              </a:ext>
            </a:extLst>
          </p:cNvPr>
          <p:cNvSpPr>
            <a:spLocks noGrp="1"/>
          </p:cNvSpPr>
          <p:nvPr/>
        </p:nvSpPr>
        <p:spPr>
          <a:xfrm>
            <a:off x="823912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9F0901EF-9165-418B-8431-FB413EF6FA70}"/>
              </a:ext>
            </a:extLst>
          </p:cNvPr>
          <p:cNvSpPr>
            <a:spLocks noGrp="1"/>
          </p:cNvSpPr>
          <p:nvPr/>
        </p:nvSpPr>
        <p:spPr>
          <a:xfrm>
            <a:off x="801528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2(x) as already computed in the forward pass.">
            <a:extLst>
              <a:ext uri="{FF2B5EF4-FFF2-40B4-BE49-F238E27FC236}">
                <a16:creationId xmlns:a16="http://schemas.microsoft.com/office/drawing/2014/main" id="{79B8835F-B85E-4477-B789-78397D9DD644}"/>
              </a:ext>
            </a:extLst>
          </p:cNvPr>
          <p:cNvSpPr>
            <a:spLocks noGrp="1"/>
          </p:cNvSpPr>
          <p:nvPr/>
        </p:nvSpPr>
        <p:spPr>
          <a:xfrm>
            <a:off x="823912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1F658E52-727F-4851-BA38-9EBD992A9A2D}"/>
              </a:ext>
            </a:extLst>
          </p:cNvPr>
          <p:cNvSpPr>
            <a:spLocks noGrp="1"/>
          </p:cNvSpPr>
          <p:nvPr/>
        </p:nvSpPr>
        <p:spPr>
          <a:xfrm>
            <a:off x="80152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1(x) as already computed in the forward pass.">
            <a:extLst>
              <a:ext uri="{FF2B5EF4-FFF2-40B4-BE49-F238E27FC236}">
                <a16:creationId xmlns:a16="http://schemas.microsoft.com/office/drawing/2014/main" id="{714A7A2D-B1D5-4A26-8B9C-024E0A250D56}"/>
              </a:ext>
            </a:extLst>
          </p:cNvPr>
          <p:cNvSpPr>
            <a:spLocks noGrp="1"/>
          </p:cNvSpPr>
          <p:nvPr/>
        </p:nvSpPr>
        <p:spPr>
          <a:xfrm>
            <a:off x="9486900" y="5362575"/>
            <a:ext cx="790575" cy="66675"/>
          </a:xfrm>
          <a:custGeom>
            <a:avLst/>
            <a:gdLst/>
            <a:ahLst/>
            <a:cxnLst/>
            <a:rect l="0" t="0" r="0" b="0"/>
            <a:pathLst>
              <a:path w="790575" h="66675">
                <a:moveTo>
                  <a:pt x="0" y="0"/>
                </a:moveTo>
                <a:cubicBezTo>
                  <a:pt x="0" y="33338"/>
                  <a:pt x="0" y="33338"/>
                  <a:pt x="94869" y="33338"/>
                </a:cubicBezTo>
                <a:lnTo>
                  <a:pt x="316230" y="33338"/>
                </a:lnTo>
                <a:cubicBezTo>
                  <a:pt x="379476" y="33338"/>
                  <a:pt x="395288" y="33338"/>
                  <a:pt x="395288" y="66675"/>
                </a:cubicBezTo>
                <a:cubicBezTo>
                  <a:pt x="395288" y="33338"/>
                  <a:pt x="411099" y="33338"/>
                  <a:pt x="474345" y="33338"/>
                </a:cubicBezTo>
                <a:lnTo>
                  <a:pt x="695706" y="33338"/>
                </a:lnTo>
                <a:cubicBezTo>
                  <a:pt x="790575" y="33338"/>
                  <a:pt x="790575" y="33338"/>
                  <a:pt x="79057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AA479AA1-F6D4-4A43-BF1D-595CC13ED700}"/>
              </a:ext>
            </a:extLst>
          </p:cNvPr>
          <p:cNvSpPr>
            <a:spLocks noGrp="1"/>
          </p:cNvSpPr>
          <p:nvPr/>
        </p:nvSpPr>
        <p:spPr>
          <a:xfrm>
            <a:off x="92725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smtClean="0">
                          <a:solidFill>
                            <a:srgbClr val="00B050"/>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smtClean="0">
                        <a:solidFill>
                          <a:srgbClr val="087F82"/>
                        </a:solidFill>
                        <a:latin typeface="Cambria Math"/>
                        <a:ea typeface="Cambria Math"/>
                        <a:cs typeface="Cambria Math"/>
                      </a:rPr>
                      <m:t>=</m:t>
                    </m:r>
                    <m:limLow>
                      <m:limLowPr>
                        <m:ctrlPr>
                          <a:rPr lang="en-GB" sz="2700" i="1">
                            <a:solidFill>
                              <a:schemeClr val="accent2">
                                <a:lumMod val="75000"/>
                              </a:schemeClr>
                            </a:solidFill>
                            <a:latin typeface="Cambria Math" panose="02040503050406030204" pitchFamily="18" charset="0"/>
                            <a:ea typeface="Cambria Math"/>
                            <a:cs typeface="Cambria Math"/>
                          </a:rPr>
                        </m:ctrlPr>
                      </m:limLowPr>
                      <m:e>
                        <m:groupChr>
                          <m:groupChrPr>
                            <m:chr m:val="⏟"/>
                            <m:pos m:val="bot"/>
                            <m:vertJc m:val="top"/>
                            <m:ctrlPr>
                              <a:rPr lang="en-GB" sz="2700" i="1">
                                <a:solidFill>
                                  <a:schemeClr val="accent2">
                                    <a:lumMod val="75000"/>
                                  </a:schemeClr>
                                </a:solidFill>
                                <a:latin typeface="Cambria Math" panose="02040503050406030204" pitchFamily="18" charset="0"/>
                                <a:ea typeface="Cambria Math"/>
                                <a:cs typeface="Cambria Math"/>
                              </a:rPr>
                            </m:ctrlPr>
                          </m:groupChrPr>
                          <m:e>
                            <m:sSubSup>
                              <m:sSubSupPr>
                                <m:ctrlPr>
                                  <a:rPr lang="en-GB" sz="2700">
                                    <a:solidFill>
                                      <a:schemeClr val="accent2">
                                        <a:lumMod val="75000"/>
                                      </a:schemeClr>
                                    </a:solidFill>
                                    <a:latin typeface="Cambria Math"/>
                                    <a:ea typeface="Cambria Math"/>
                                    <a:cs typeface="Cambria Math"/>
                                  </a:rPr>
                                </m:ctrlPr>
                              </m:sSubSupPr>
                              <m:e>
                                <m:r>
                                  <a:rPr lang="en-GB" sz="2700">
                                    <a:solidFill>
                                      <a:schemeClr val="accent2">
                                        <a:lumMod val="75000"/>
                                      </a:schemeClr>
                                    </a:solidFill>
                                    <a:latin typeface="Cambria Math"/>
                                    <a:ea typeface="Cambria Math"/>
                                    <a:cs typeface="Cambria Math"/>
                                  </a:rPr>
                                  <m:t>𝐽</m:t>
                                </m:r>
                              </m:e>
                              <m:sub>
                                <m:r>
                                  <a:rPr lang="en-GB" sz="2700">
                                    <a:solidFill>
                                      <a:schemeClr val="accent2">
                                        <a:lumMod val="75000"/>
                                      </a:schemeClr>
                                    </a:solidFill>
                                    <a:latin typeface="Cambria Math"/>
                                    <a:ea typeface="Cambria Math"/>
                                    <a:cs typeface="Cambria Math"/>
                                  </a:rPr>
                                  <m:t>3</m:t>
                                </m:r>
                              </m:sub>
                              <m:sup>
                                <m:r>
                                  <a:rPr lang="en-GB" sz="2700">
                                    <a:solidFill>
                                      <a:schemeClr val="accent2">
                                        <a:lumMod val="75000"/>
                                      </a:schemeClr>
                                    </a:solidFill>
                                    <a:latin typeface="Cambria Math"/>
                                    <a:ea typeface="Cambria Math"/>
                                    <a:cs typeface="Cambria Math"/>
                                  </a:rPr>
                                  <m:t>′</m:t>
                                </m:r>
                              </m:sup>
                            </m:sSubSup>
                            <m:d>
                              <m:dPr>
                                <m:ctrlPr>
                                  <a:rPr lang="en-GB" sz="2700" i="1">
                                    <a:solidFill>
                                      <a:schemeClr val="accent2">
                                        <a:lumMod val="75000"/>
                                      </a:schemeClr>
                                    </a:solidFill>
                                    <a:latin typeface="Cambria Math" panose="02040503050406030204" pitchFamily="18" charset="0"/>
                                    <a:ea typeface="Cambria Math"/>
                                    <a:cs typeface="Cambria Math"/>
                                  </a:rPr>
                                </m:ctrlPr>
                              </m:dPr>
                              <m:e>
                                <m:sSub>
                                  <m:sSubPr>
                                    <m:ctrlPr>
                                      <a:rPr lang="en-GB" sz="2700">
                                        <a:solidFill>
                                          <a:schemeClr val="accent2">
                                            <a:lumMod val="75000"/>
                                          </a:schemeClr>
                                        </a:solidFill>
                                        <a:latin typeface="Cambria Math"/>
                                        <a:ea typeface="Cambria Math"/>
                                        <a:cs typeface="Cambria Math"/>
                                      </a:rPr>
                                    </m:ctrlPr>
                                  </m:sSubPr>
                                  <m:e>
                                    <m:r>
                                      <a:rPr lang="en-GB" sz="2700">
                                        <a:solidFill>
                                          <a:schemeClr val="accent2">
                                            <a:lumMod val="75000"/>
                                          </a:schemeClr>
                                        </a:solidFill>
                                        <a:latin typeface="Cambria Math"/>
                                        <a:ea typeface="Cambria Math"/>
                                        <a:cs typeface="Cambria Math"/>
                                      </a:rPr>
                                      <m:t>𝑎</m:t>
                                    </m:r>
                                  </m:e>
                                  <m:sub>
                                    <m:r>
                                      <a:rPr lang="en-GB" sz="2700">
                                        <a:solidFill>
                                          <a:schemeClr val="accent2">
                                            <a:lumMod val="75000"/>
                                          </a:schemeClr>
                                        </a:solidFill>
                                        <a:latin typeface="Cambria Math"/>
                                        <a:ea typeface="Cambria Math"/>
                                        <a:cs typeface="Cambria Math"/>
                                      </a:rPr>
                                      <m:t>3</m:t>
                                    </m:r>
                                  </m:sub>
                                </m:sSub>
                                <m:d>
                                  <m:dPr>
                                    <m:ctrlPr>
                                      <a:rPr lang="en-GB" sz="2700">
                                        <a:solidFill>
                                          <a:schemeClr val="accent2">
                                            <a:lumMod val="75000"/>
                                          </a:schemeClr>
                                        </a:solidFill>
                                        <a:latin typeface="Cambria Math"/>
                                        <a:ea typeface="Cambria Math"/>
                                        <a:cs typeface="Cambria Math"/>
                                      </a:rPr>
                                    </m:ctrlPr>
                                  </m:dPr>
                                  <m:e>
                                    <m:r>
                                      <a:rPr lang="en-GB" sz="2700">
                                        <a:solidFill>
                                          <a:schemeClr val="accent2">
                                            <a:lumMod val="75000"/>
                                          </a:schemeClr>
                                        </a:solidFill>
                                        <a:latin typeface="Cambria Math"/>
                                        <a:ea typeface="Cambria Math"/>
                                        <a:cs typeface="Cambria Math"/>
                                      </a:rPr>
                                      <m:t>𝑥</m:t>
                                    </m:r>
                                  </m:e>
                                </m:d>
                              </m:e>
                            </m:d>
                          </m:e>
                        </m:groupChr>
                      </m:e>
                      <m:lim>
                        <m:eqArr>
                          <m:eqArrPr>
                            <m:ctrlPr>
                              <a:rPr lang="it-IT" sz="2700" b="0" i="1" smtClean="0">
                                <a:solidFill>
                                  <a:schemeClr val="accent2">
                                    <a:lumMod val="75000"/>
                                  </a:schemeClr>
                                </a:solidFill>
                                <a:latin typeface="Cambria Math" panose="02040503050406030204" pitchFamily="18" charset="0"/>
                                <a:ea typeface="Cambria Math"/>
                                <a:cs typeface="Cambria Math"/>
                              </a:rPr>
                            </m:ctrlPr>
                          </m:eqArrPr>
                          <m:e>
                            <m:r>
                              <m:rPr>
                                <m:sty m:val="p"/>
                              </m:rPr>
                              <a:rPr lang="it-IT" sz="2700" b="0" i="0" smtClean="0">
                                <a:solidFill>
                                  <a:schemeClr val="accent2">
                                    <a:lumMod val="75000"/>
                                  </a:schemeClr>
                                </a:solidFill>
                                <a:latin typeface="Cambria Math" panose="02040503050406030204" pitchFamily="18" charset="0"/>
                                <a:ea typeface="Cambria Math"/>
                                <a:cs typeface="Cambria Math"/>
                              </a:rPr>
                              <m:t>already</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calculated</m:t>
                            </m:r>
                          </m:e>
                          <m:e>
                            <m:r>
                              <m:rPr>
                                <m:sty m:val="p"/>
                              </m:rPr>
                              <a:rPr lang="it-IT" sz="2700" b="0" i="0" smtClean="0">
                                <a:solidFill>
                                  <a:schemeClr val="accent2">
                                    <a:lumMod val="75000"/>
                                  </a:schemeClr>
                                </a:solidFill>
                                <a:latin typeface="Cambria Math" panose="02040503050406030204" pitchFamily="18" charset="0"/>
                                <a:ea typeface="Cambria Math"/>
                                <a:cs typeface="Cambria Math"/>
                              </a:rPr>
                              <m:t>from</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the</m:t>
                            </m:r>
                            <m:r>
                              <a:rPr lang="it-IT" sz="2700" b="0" i="0" smtClean="0">
                                <a:solidFill>
                                  <a:schemeClr val="accent2">
                                    <a:lumMod val="75000"/>
                                  </a:schemeClr>
                                </a:solidFill>
                                <a:latin typeface="Cambria Math" panose="02040503050406030204" pitchFamily="18" charset="0"/>
                                <a:ea typeface="Cambria Math"/>
                                <a:cs typeface="Cambria Math"/>
                              </a:rPr>
                              <m:t> 3</m:t>
                            </m:r>
                            <m:r>
                              <m:rPr>
                                <m:sty m:val="p"/>
                              </m:rPr>
                              <a:rPr lang="it-IT" sz="2700" b="0" i="0" smtClean="0">
                                <a:solidFill>
                                  <a:schemeClr val="accent2">
                                    <a:lumMod val="75000"/>
                                  </a:schemeClr>
                                </a:solidFill>
                                <a:latin typeface="Cambria Math" panose="02040503050406030204" pitchFamily="18" charset="0"/>
                                <a:ea typeface="Cambria Math"/>
                                <a:cs typeface="Cambria Math"/>
                              </a:rPr>
                              <m:t>rd</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e>
                        </m:groupChr>
                      </m:e>
                      <m:lim>
                        <m:eqArr>
                          <m:eqArrPr>
                            <m:ctrlPr>
                              <a:rPr lang="it-IT" sz="2700" b="0" i="1" smtClean="0">
                                <a:solidFill>
                                  <a:srgbClr val="087F82"/>
                                </a:solidFill>
                                <a:latin typeface="Cambria Math" panose="02040503050406030204" pitchFamily="18" charset="0"/>
                                <a:ea typeface="Cambria Math"/>
                                <a:cs typeface="Cambria Math"/>
                              </a:rPr>
                            </m:ctrlPr>
                          </m:eqArrPr>
                          <m:e>
                            <m:r>
                              <m:rPr>
                                <m:sty m:val="p"/>
                              </m:rPr>
                              <a:rPr lang="it-IT" sz="2700" b="0" i="0" smtClean="0">
                                <a:solidFill>
                                  <a:srgbClr val="087F82"/>
                                </a:solidFill>
                                <a:latin typeface="Cambria Math" panose="02040503050406030204" pitchFamily="18" charset="0"/>
                                <a:ea typeface="Cambria Math"/>
                                <a:cs typeface="Cambria Math"/>
                              </a:rPr>
                              <m:t>known</m:t>
                            </m:r>
                          </m:e>
                          <m:e>
                            <m:r>
                              <m:rPr>
                                <m:sty m:val="p"/>
                              </m:rPr>
                              <a:rPr lang="it-IT" sz="2700" b="0" i="0" smtClean="0">
                                <a:solidFill>
                                  <a:srgbClr val="087F82"/>
                                </a:solidFill>
                                <a:latin typeface="Cambria Math" panose="02040503050406030204" pitchFamily="18" charset="0"/>
                                <a:ea typeface="Cambria Math"/>
                                <a:cs typeface="Cambria Math"/>
                              </a:rPr>
                              <m:t>weight</m:t>
                            </m:r>
                          </m:e>
                        </m:eqArr>
                      </m:lim>
                    </m:limLow>
                    <m:r>
                      <a:rPr lang="en-GB" sz="2700">
                        <a:solidFill>
                          <a:srgbClr val="087F82"/>
                        </a:solidFill>
                        <a:latin typeface="Cambria Math"/>
                        <a:ea typeface="Cambria Math"/>
                        <a:cs typeface="Cambria Math"/>
                      </a:rPr>
                      <m:t> </m:t>
                    </m:r>
                    <m:r>
                      <a:rPr lang="it-IT" sz="2700" i="1">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p>
                              <m:sSupPr>
                                <m:ctrlPr>
                                  <a:rPr lang="en-GB" sz="2700">
                                    <a:solidFill>
                                      <a:srgbClr val="087F82"/>
                                    </a:solidFill>
                                    <a:latin typeface="Cambria Math"/>
                                    <a:ea typeface="Cambria Math"/>
                                    <a:cs typeface="Cambria Math"/>
                                  </a:rPr>
                                </m:ctrlPr>
                              </m:sSupPr>
                              <m:e>
                                <m:r>
                                  <m:rPr>
                                    <m:sty m:val="p"/>
                                  </m:rPr>
                                  <a:rPr lang="en-GB" sz="2700">
                                    <a:solidFill>
                                      <a:srgbClr val="087F82"/>
                                    </a:solidFill>
                                    <a:latin typeface="Cambria Math"/>
                                    <a:ea typeface="Cambria Math"/>
                                    <a:cs typeface="Cambria Math"/>
                                  </a:rPr>
                                  <m:t>ReLU</m:t>
                                </m:r>
                              </m:e>
                              <m:sup>
                                <m:r>
                                  <a:rPr lang="en-GB" sz="2700">
                                    <a:solidFill>
                                      <a:srgbClr val="087F82"/>
                                    </a:solidFill>
                                    <a:latin typeface="Cambria Math"/>
                                    <a:ea typeface="Cambria Math"/>
                                    <a:cs typeface="Cambria Math"/>
                                  </a:rPr>
                                  <m:t>′</m:t>
                                </m:r>
                              </m:sup>
                            </m:sSup>
                            <m:d>
                              <m:dPr>
                                <m:ctrlPr>
                                  <a:rPr lang="en-GB" sz="2700" i="1">
                                    <a:solidFill>
                                      <a:srgbClr val="087F82"/>
                                    </a:solidFill>
                                    <a:latin typeface="Cambria Math" panose="02040503050406030204" pitchFamily="18" charset="0"/>
                                    <a:ea typeface="Cambria Math"/>
                                    <a:cs typeface="Cambria Math"/>
                                  </a:rPr>
                                </m:ctrlPr>
                              </m:d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𝑎</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𝑥</m:t>
                                    </m:r>
                                  </m:e>
                                </m:d>
                              </m:e>
                            </m:d>
                          </m:e>
                        </m:groupChr>
                      </m:e>
                      <m:lim>
                        <m:r>
                          <m:rPr>
                            <m:sty m:val="p"/>
                          </m:rPr>
                          <a:rPr lang="it-IT" sz="2700" b="0" i="0" smtClean="0">
                            <a:solidFill>
                              <a:srgbClr val="087F82"/>
                            </a:solidFill>
                            <a:latin typeface="Cambria Math" panose="02040503050406030204" pitchFamily="18" charset="0"/>
                            <a:ea typeface="Cambria Math"/>
                            <a:cs typeface="Cambria Math"/>
                          </a:rPr>
                          <m:t>still</m:t>
                        </m:r>
                        <m:r>
                          <a:rPr lang="it-IT" sz="2700" b="0" i="0" smtClean="0">
                            <a:solidFill>
                              <a:srgbClr val="087F82"/>
                            </a:solidFill>
                            <a:latin typeface="Cambria Math" panose="02040503050406030204" pitchFamily="18" charset="0"/>
                            <a:ea typeface="Cambria Math"/>
                            <a:cs typeface="Cambria Math"/>
                          </a:rPr>
                          <m:t> </m:t>
                        </m:r>
                        <m:r>
                          <m:rPr>
                            <m:sty m:val="p"/>
                          </m:rPr>
                          <a:rPr lang="it-IT" sz="2700" b="0" i="0" smtClean="0">
                            <a:solidFill>
                              <a:srgbClr val="087F82"/>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it-IT" sz="2800" i="1">
                              <a:solidFill>
                                <a:srgbClr val="00B050"/>
                              </a:solidFill>
                              <a:latin typeface="Cambria Math" panose="02040503050406030204" pitchFamily="18" charset="0"/>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r>
                        <a:rPr lang="en-GB" sz="2800" smtClean="0">
                          <a:solidFill>
                            <a:srgbClr val="00B050"/>
                          </a:solidFill>
                          <a:latin typeface="Cambria Math"/>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sSup>
                        <m:sSupPr>
                          <m:ctrlPr>
                            <a:rPr lang="en-GB" sz="2800">
                              <a:solidFill>
                                <a:srgbClr val="087F82"/>
                              </a:solidFill>
                              <a:latin typeface="Cambria Math"/>
                              <a:ea typeface="Cambria Math"/>
                              <a:cs typeface="Cambria Math"/>
                            </a:rPr>
                          </m:ctrlPr>
                        </m:sSupPr>
                        <m:e>
                          <m:r>
                            <m:rPr>
                              <m:sty m:val="p"/>
                            </m:rPr>
                            <a:rPr lang="en-GB" sz="2800">
                              <a:solidFill>
                                <a:srgbClr val="087F82"/>
                              </a:solidFill>
                              <a:latin typeface="Cambria Math"/>
                              <a:ea typeface="Cambria Math"/>
                              <a:cs typeface="Cambria Math"/>
                            </a:rPr>
                            <m:t>ReLU</m:t>
                          </m:r>
                        </m:e>
                        <m:sup>
                          <m:r>
                            <a:rPr lang="en-GB" sz="2800">
                              <a:solidFill>
                                <a:srgbClr val="087F82"/>
                              </a:solidFill>
                              <a:latin typeface="Cambria Math"/>
                              <a:ea typeface="Cambria Math"/>
                              <a:cs typeface="Cambria Math"/>
                            </a:rPr>
                            <m:t>′</m:t>
                          </m:r>
                        </m:sup>
                      </m:sSup>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1924050"/>
                <a:ext cx="1152525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1</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6"/>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it-IT" sz="2800" b="0" i="1" smtClean="0">
                        <a:solidFill>
                          <a:srgbClr val="087F82"/>
                        </a:solidFill>
                        <a:latin typeface="Cambria Math" panose="02040503050406030204" pitchFamily="18" charset="0"/>
                        <a:ea typeface="Cambria Math"/>
                        <a:cs typeface="Cambria Math"/>
                      </a:rPr>
                      <m:t> ⋅</m:t>
                    </m:r>
                    <m:r>
                      <m:rPr>
                        <m:sty m:val="p"/>
                      </m:rPr>
                      <a:rPr lang="en-GB" sz="2800">
                        <a:solidFill>
                          <a:srgbClr val="087F82"/>
                        </a:solidFill>
                        <a:latin typeface="Cambria Math"/>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a14:m>
                <a:r>
                  <a:rPr lang="en-GB" sz="2800" dirty="0"/>
                  <a:t>        </a:t>
                </a:r>
              </a:p>
            </p:txBody>
          </p:sp>
        </mc:Choice>
        <mc:Fallback xmlns="">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295892"/>
                            </a:solidFill>
                            <a:latin typeface="Cambria Math"/>
                            <a:ea typeface="Cambria Math"/>
                            <a:cs typeface="Cambria Math"/>
                          </a:rPr>
                        </m:ctrlPr>
                      </m:sSubSupPr>
                      <m:e>
                        <m:r>
                          <a:rPr lang="en-GB" sz="1800">
                            <a:solidFill>
                              <a:srgbClr val="295892"/>
                            </a:solidFill>
                            <a:latin typeface="Cambria Math"/>
                            <a:ea typeface="Cambria Math"/>
                            <a:cs typeface="Cambria Math"/>
                          </a:rPr>
                          <m:t>𝐽</m:t>
                        </m:r>
                      </m:e>
                      <m:sub>
                        <m:r>
                          <a:rPr lang="en-GB" sz="1800">
                            <a:solidFill>
                              <a:srgbClr val="295892"/>
                            </a:solidFill>
                            <a:latin typeface="Cambria Math"/>
                            <a:ea typeface="Cambria Math"/>
                            <a:cs typeface="Cambria Math"/>
                          </a:rPr>
                          <m:t>1</m:t>
                        </m:r>
                      </m:sub>
                      <m:sup>
                        <m:r>
                          <a:rPr lang="en-GB" sz="1800">
                            <a:solidFill>
                              <a:srgbClr val="295892"/>
                            </a:solidFill>
                            <a:latin typeface="Cambria Math"/>
                            <a:ea typeface="Cambria Math"/>
                            <a:cs typeface="Cambria Math"/>
                          </a:rPr>
                          <m:t>′</m:t>
                        </m:r>
                      </m:sup>
                    </m:sSubSup>
                    <m:d>
                      <m:dPr>
                        <m:ctrlPr>
                          <a:rPr lang="en-GB" sz="1800" i="1">
                            <a:solidFill>
                              <a:srgbClr val="295892"/>
                            </a:solidFill>
                            <a:latin typeface="Cambria Math" panose="02040503050406030204" pitchFamily="18" charset="0"/>
                            <a:ea typeface="Cambria Math"/>
                            <a:cs typeface="Cambria Math"/>
                          </a:rPr>
                        </m:ctrlPr>
                      </m:dPr>
                      <m:e>
                        <m:sSub>
                          <m:sSubPr>
                            <m:ctrlPr>
                              <a:rPr lang="en-GB" sz="1800">
                                <a:solidFill>
                                  <a:srgbClr val="295892"/>
                                </a:solidFill>
                                <a:latin typeface="Cambria Math"/>
                                <a:ea typeface="Cambria Math"/>
                                <a:cs typeface="Cambria Math"/>
                              </a:rPr>
                            </m:ctrlPr>
                          </m:sSubPr>
                          <m:e>
                            <m:r>
                              <a:rPr lang="en-GB" sz="1800">
                                <a:solidFill>
                                  <a:srgbClr val="295892"/>
                                </a:solidFill>
                                <a:latin typeface="Cambria Math"/>
                                <a:ea typeface="Cambria Math"/>
                                <a:cs typeface="Cambria Math"/>
                              </a:rPr>
                              <m:t>𝑎</m:t>
                            </m:r>
                          </m:e>
                          <m:sub>
                            <m:r>
                              <a:rPr lang="en-GB" sz="1800">
                                <a:solidFill>
                                  <a:srgbClr val="295892"/>
                                </a:solidFill>
                                <a:latin typeface="Cambria Math"/>
                                <a:ea typeface="Cambria Math"/>
                                <a:cs typeface="Cambria Math"/>
                              </a:rPr>
                              <m:t>1</m:t>
                            </m:r>
                          </m:sub>
                        </m:sSub>
                        <m:d>
                          <m:dPr>
                            <m:ctrlPr>
                              <a:rPr lang="en-GB" sz="1800">
                                <a:solidFill>
                                  <a:srgbClr val="295892"/>
                                </a:solidFill>
                                <a:latin typeface="Cambria Math"/>
                                <a:ea typeface="Cambria Math"/>
                                <a:cs typeface="Cambria Math"/>
                              </a:rPr>
                            </m:ctrlPr>
                          </m:dPr>
                          <m:e>
                            <m:r>
                              <a:rPr lang="en-GB" sz="1800">
                                <a:solidFill>
                                  <a:srgbClr val="295892"/>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8"/>
                <a:stretch>
                  <a:fillRect t="-8065"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first layer</a:t>
            </a:r>
          </a:p>
        </p:txBody>
      </p:sp>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1st layer</a:t>
            </a:r>
            <a:endParaRPr lang="en-GB" sz="2175" dirty="0"/>
          </a:p>
        </p:txBody>
      </p:sp>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0</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1</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865D38B7-9D1C-BB7F-2609-46AE8EF184F5}"/>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295892"/>
                            </a:solidFill>
                            <a:latin typeface="Cambria Math"/>
                            <a:ea typeface="Cambria Math"/>
                            <a:cs typeface="Cambria Math"/>
                          </a:rPr>
                        </m:ctrlPr>
                      </m:sSubSupPr>
                      <m:e>
                        <m:r>
                          <a:rPr lang="ar-AE" sz="2400">
                            <a:solidFill>
                              <a:srgbClr val="295892"/>
                            </a:solidFill>
                            <a:latin typeface="Cambria Math"/>
                            <a:ea typeface="Cambria Math"/>
                            <a:cs typeface="Cambria Math"/>
                          </a:rPr>
                          <m:t>𝐽</m:t>
                        </m:r>
                      </m:e>
                      <m:sub>
                        <m:r>
                          <a:rPr lang="it-IT" sz="2400" b="0" i="1" smtClean="0">
                            <a:solidFill>
                              <a:srgbClr val="295892"/>
                            </a:solidFill>
                            <a:latin typeface="Cambria Math" panose="02040503050406030204" pitchFamily="18" charset="0"/>
                            <a:ea typeface="Cambria Math"/>
                            <a:cs typeface="Cambria Math"/>
                          </a:rPr>
                          <m:t>1</m:t>
                        </m:r>
                      </m:sub>
                      <m:sup>
                        <m:r>
                          <a:rPr lang="ar-AE" sz="2400">
                            <a:solidFill>
                              <a:srgbClr val="295892"/>
                            </a:solidFill>
                            <a:latin typeface="Cambria Math"/>
                            <a:ea typeface="Cambria Math"/>
                            <a:cs typeface="Cambria Math"/>
                          </a:rPr>
                          <m:t>′</m:t>
                        </m:r>
                      </m:sup>
                    </m:sSubSup>
                    <m:d>
                      <m:dPr>
                        <m:ctrlPr>
                          <a:rPr lang="ar-AE" sz="2400" i="1">
                            <a:solidFill>
                              <a:srgbClr val="295892"/>
                            </a:solidFill>
                            <a:latin typeface="Cambria Math" panose="02040503050406030204" pitchFamily="18" charset="0"/>
                            <a:ea typeface="Cambria Math"/>
                            <a:cs typeface="Cambria Math"/>
                          </a:rPr>
                        </m:ctrlPr>
                      </m:dPr>
                      <m:e>
                        <m:sSub>
                          <m:sSubPr>
                            <m:ctrlPr>
                              <a:rPr lang="ar-AE" sz="2400">
                                <a:solidFill>
                                  <a:srgbClr val="295892"/>
                                </a:solidFill>
                                <a:latin typeface="Cambria Math"/>
                                <a:ea typeface="Cambria Math"/>
                                <a:cs typeface="Cambria Math"/>
                              </a:rPr>
                            </m:ctrlPr>
                          </m:sSubPr>
                          <m:e>
                            <m:r>
                              <a:rPr lang="ar-AE" sz="2400">
                                <a:solidFill>
                                  <a:srgbClr val="295892"/>
                                </a:solidFill>
                                <a:latin typeface="Cambria Math"/>
                                <a:ea typeface="Cambria Math"/>
                                <a:cs typeface="Cambria Math"/>
                              </a:rPr>
                              <m:t>𝑎</m:t>
                            </m:r>
                          </m:e>
                          <m:sub>
                            <m:r>
                              <a:rPr lang="it-IT" sz="2400" b="0" i="1" smtClean="0">
                                <a:solidFill>
                                  <a:srgbClr val="295892"/>
                                </a:solidFill>
                                <a:latin typeface="Cambria Math" panose="02040503050406030204" pitchFamily="18" charset="0"/>
                                <a:ea typeface="Cambria Math"/>
                                <a:cs typeface="Cambria Math"/>
                              </a:rPr>
                              <m:t>1</m:t>
                            </m:r>
                          </m:sub>
                        </m:sSub>
                        <m:d>
                          <m:dPr>
                            <m:ctrlPr>
                              <a:rPr lang="ar-AE" sz="2400">
                                <a:solidFill>
                                  <a:srgbClr val="295892"/>
                                </a:solidFill>
                                <a:latin typeface="Cambria Math"/>
                                <a:ea typeface="Cambria Math"/>
                                <a:cs typeface="Cambria Math"/>
                              </a:rPr>
                            </m:ctrlPr>
                          </m:dPr>
                          <m:e>
                            <m:r>
                              <a:rPr lang="ar-AE" sz="2400">
                                <a:solidFill>
                                  <a:srgbClr val="295892"/>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865D38B7-9D1C-BB7F-2609-46AE8EF184F5}"/>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2"/>
                <a:stretch>
                  <a:fillRect b="-8511"/>
                </a:stretch>
              </a:blipFill>
              <a:ln w="0">
                <a:noFill/>
              </a:ln>
            </p:spPr>
            <p:txBody>
              <a:bodyPr/>
              <a:lstStyle/>
              <a:p>
                <a:r>
                  <a:rPr lang="it-IT">
                    <a:noFill/>
                  </a:rPr>
                  <a:t> </a:t>
                </a:r>
              </a:p>
            </p:txBody>
          </p:sp>
        </mc:Fallback>
      </mc:AlternateContent>
      <p:sp>
        <p:nvSpPr>
          <p:cNvPr id="17" name="bias_saved_a_brace" descr="Underbrace identifying a_1(x) as already computed in the forward pass.">
            <a:extLst>
              <a:ext uri="{FF2B5EF4-FFF2-40B4-BE49-F238E27FC236}">
                <a16:creationId xmlns:a16="http://schemas.microsoft.com/office/drawing/2014/main" id="{61EBEA73-2ED5-4890-9D36-C03E7145DC7E}"/>
              </a:ext>
            </a:extLst>
          </p:cNvPr>
          <p:cNvSpPr>
            <a:spLocks noGrp="1"/>
          </p:cNvSpPr>
          <p:nvPr/>
        </p:nvSpPr>
        <p:spPr>
          <a:xfrm>
            <a:off x="8401050" y="43719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657AA797-3667-4984-BC1B-D3E11126877D}"/>
              </a:ext>
            </a:extLst>
          </p:cNvPr>
          <p:cNvSpPr>
            <a:spLocks noGrp="1"/>
          </p:cNvSpPr>
          <p:nvPr/>
        </p:nvSpPr>
        <p:spPr>
          <a:xfrm>
            <a:off x="8172450"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1(x) as already computed in the forward pass.">
            <a:extLst>
              <a:ext uri="{FF2B5EF4-FFF2-40B4-BE49-F238E27FC236}">
                <a16:creationId xmlns:a16="http://schemas.microsoft.com/office/drawing/2014/main" id="{90E370AB-7E35-4E0E-819D-B0249ACC2E5B}"/>
              </a:ext>
            </a:extLst>
          </p:cNvPr>
          <p:cNvSpPr>
            <a:spLocks noGrp="1"/>
          </p:cNvSpPr>
          <p:nvPr/>
        </p:nvSpPr>
        <p:spPr>
          <a:xfrm>
            <a:off x="8401050" y="53625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FFB75ABC-A9D2-425C-9E5E-4E580D7FDDC3}"/>
              </a:ext>
            </a:extLst>
          </p:cNvPr>
          <p:cNvSpPr>
            <a:spLocks noGrp="1"/>
          </p:cNvSpPr>
          <p:nvPr/>
        </p:nvSpPr>
        <p:spPr>
          <a:xfrm>
            <a:off x="81724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0(x) as already computed in the forward pass.">
            <a:extLst>
              <a:ext uri="{FF2B5EF4-FFF2-40B4-BE49-F238E27FC236}">
                <a16:creationId xmlns:a16="http://schemas.microsoft.com/office/drawing/2014/main" id="{47279F68-8FD5-4186-A12C-6B31602E6969}"/>
              </a:ext>
            </a:extLst>
          </p:cNvPr>
          <p:cNvSpPr>
            <a:spLocks noGrp="1"/>
          </p:cNvSpPr>
          <p:nvPr/>
        </p:nvSpPr>
        <p:spPr>
          <a:xfrm>
            <a:off x="9582150" y="5362575"/>
            <a:ext cx="809625" cy="66675"/>
          </a:xfrm>
          <a:custGeom>
            <a:avLst/>
            <a:gdLst/>
            <a:ahLst/>
            <a:cxnLst/>
            <a:rect l="0" t="0" r="0" b="0"/>
            <a:pathLst>
              <a:path w="809625" h="66675">
                <a:moveTo>
                  <a:pt x="0" y="0"/>
                </a:moveTo>
                <a:cubicBezTo>
                  <a:pt x="0" y="33338"/>
                  <a:pt x="0" y="33338"/>
                  <a:pt x="97155" y="33338"/>
                </a:cubicBezTo>
                <a:lnTo>
                  <a:pt x="323850" y="33338"/>
                </a:lnTo>
                <a:cubicBezTo>
                  <a:pt x="388620" y="33338"/>
                  <a:pt x="404813" y="33338"/>
                  <a:pt x="404813" y="66675"/>
                </a:cubicBezTo>
                <a:cubicBezTo>
                  <a:pt x="404813" y="33338"/>
                  <a:pt x="421005" y="33338"/>
                  <a:pt x="485775" y="33338"/>
                </a:cubicBezTo>
                <a:lnTo>
                  <a:pt x="712470" y="33338"/>
                </a:lnTo>
                <a:cubicBezTo>
                  <a:pt x="809625" y="33338"/>
                  <a:pt x="809625" y="33338"/>
                  <a:pt x="80962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C4D16C2F-C16F-41B7-8293-339DDFC1DABC}"/>
              </a:ext>
            </a:extLst>
          </p:cNvPr>
          <p:cNvSpPr>
            <a:spLocks noGrp="1"/>
          </p:cNvSpPr>
          <p:nvPr/>
        </p:nvSpPr>
        <p:spPr>
          <a:xfrm>
            <a:off x="9377363"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295892"/>
                              </a:solidFill>
                              <a:latin typeface="Cambria Math"/>
                              <a:ea typeface="Cambria Math"/>
                              <a:cs typeface="Cambria Math"/>
                            </a:rPr>
                          </m:ctrlPr>
                        </m:sSubSupPr>
                        <m:e>
                          <m:r>
                            <a:rPr lang="en-GB" sz="2800">
                              <a:solidFill>
                                <a:srgbClr val="295892"/>
                              </a:solidFill>
                              <a:latin typeface="Cambria Math"/>
                              <a:ea typeface="Cambria Math"/>
                              <a:cs typeface="Cambria Math"/>
                            </a:rPr>
                            <m:t>𝐽</m:t>
                          </m:r>
                        </m:e>
                        <m:sub>
                          <m:r>
                            <a:rPr lang="en-GB" sz="2800">
                              <a:solidFill>
                                <a:srgbClr val="295892"/>
                              </a:solidFill>
                              <a:latin typeface="Cambria Math"/>
                              <a:ea typeface="Cambria Math"/>
                              <a:cs typeface="Cambria Math"/>
                            </a:rPr>
                            <m:t>1</m:t>
                          </m:r>
                        </m:sub>
                        <m:sup>
                          <m:r>
                            <a:rPr lang="it-IT" sz="2800" i="1">
                              <a:solidFill>
                                <a:srgbClr val="295892"/>
                              </a:solidFill>
                              <a:latin typeface="Cambria Math" panose="02040503050406030204" pitchFamily="18" charset="0"/>
                              <a:ea typeface="Cambria Math"/>
                              <a:cs typeface="Cambria Math"/>
                            </a:rPr>
                            <m:t>′</m:t>
                          </m:r>
                        </m:sup>
                      </m:sSubSup>
                      <m:d>
                        <m:dPr>
                          <m:ctrlPr>
                            <a:rPr lang="en-GB" sz="2800" i="1">
                              <a:solidFill>
                                <a:srgbClr val="295892"/>
                              </a:solidFill>
                              <a:latin typeface="Cambria Math" panose="02040503050406030204" pitchFamily="18" charset="0"/>
                              <a:ea typeface="Cambria Math"/>
                              <a:cs typeface="Cambria Math"/>
                            </a:rPr>
                          </m:ctrlPr>
                        </m:dPr>
                        <m:e>
                          <m:sSub>
                            <m:sSubPr>
                              <m:ctrlPr>
                                <a:rPr lang="en-GB" sz="2800">
                                  <a:solidFill>
                                    <a:srgbClr val="295892"/>
                                  </a:solidFill>
                                  <a:latin typeface="Cambria Math"/>
                                  <a:ea typeface="Cambria Math"/>
                                  <a:cs typeface="Cambria Math"/>
                                </a:rPr>
                              </m:ctrlPr>
                            </m:sSubPr>
                            <m:e>
                              <m:r>
                                <a:rPr lang="en-GB" sz="2800">
                                  <a:solidFill>
                                    <a:srgbClr val="295892"/>
                                  </a:solidFill>
                                  <a:latin typeface="Cambria Math"/>
                                  <a:ea typeface="Cambria Math"/>
                                  <a:cs typeface="Cambria Math"/>
                                </a:rPr>
                                <m:t>𝑎</m:t>
                              </m:r>
                            </m:e>
                            <m:sub>
                              <m:r>
                                <a:rPr lang="en-GB" sz="2800">
                                  <a:solidFill>
                                    <a:srgbClr val="295892"/>
                                  </a:solidFill>
                                  <a:latin typeface="Cambria Math"/>
                                  <a:ea typeface="Cambria Math"/>
                                  <a:cs typeface="Cambria Math"/>
                                </a:rPr>
                                <m:t>1</m:t>
                              </m:r>
                            </m:sub>
                          </m:sSub>
                          <m:d>
                            <m:dPr>
                              <m:ctrlPr>
                                <a:rPr lang="en-GB" sz="2800">
                                  <a:solidFill>
                                    <a:srgbClr val="295892"/>
                                  </a:solidFill>
                                  <a:latin typeface="Cambria Math"/>
                                  <a:ea typeface="Cambria Math"/>
                                  <a:cs typeface="Cambria Math"/>
                                </a:rPr>
                              </m:ctrlPr>
                            </m:dPr>
                            <m:e>
                              <m:r>
                                <a:rPr lang="en-GB" sz="2800">
                                  <a:solidFill>
                                    <a:srgbClr val="295892"/>
                                  </a:solidFill>
                                  <a:latin typeface="Cambria Math"/>
                                  <a:ea typeface="Cambria Math"/>
                                  <a:cs typeface="Cambria Math"/>
                                </a:rPr>
                                <m:t>𝑥</m:t>
                              </m:r>
                            </m:e>
                          </m:d>
                        </m:e>
                      </m:d>
                    </m:oMath>
                  </m:oMathPara>
                </a14:m>
                <a:endParaRPr lang="en-GB" sz="2800" dirty="0"/>
              </a:p>
            </p:txBody>
          </p:sp>
        </mc:Choice>
        <mc:Fallback xmlns="">
          <p:sp>
            <p:nvSpPr>
              <p:cNvPr id="6" name="needed_derivative" descr="J'_{1}(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smtClean="0">
                          <a:solidFill>
                            <a:srgbClr val="295892"/>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087F82"/>
                          </a:solidFill>
                          <a:latin typeface="Cambria Math"/>
                          <a:ea typeface="Cambria Math"/>
                          <a:cs typeface="Cambria Math"/>
                        </a:rPr>
                        <m:t>=</m:t>
                      </m:r>
                      <m:limLow>
                        <m:limLowPr>
                          <m:ctrlPr>
                            <a:rPr lang="en-GB" sz="2800" i="1">
                              <a:solidFill>
                                <a:srgbClr val="00B05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0B050"/>
                                  </a:solidFill>
                                  <a:latin typeface="Cambria Math" panose="02040503050406030204" pitchFamily="18" charset="0"/>
                                  <a:ea typeface="Cambria Math"/>
                                  <a:cs typeface="Cambria Math"/>
                                </a:rPr>
                              </m:ctrlPr>
                            </m:groupChrPr>
                            <m:e>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it-IT" sz="2800" b="0" i="0" smtClean="0">
                                      <a:solidFill>
                                        <a:srgbClr val="00B050"/>
                                      </a:solidFill>
                                      <a:latin typeface="Cambria Math" panose="02040503050406030204" pitchFamily="18" charset="0"/>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it-IT" sz="2800" b="0" i="1" smtClean="0">
                                          <a:solidFill>
                                            <a:srgbClr val="00B050"/>
                                          </a:solidFill>
                                          <a:latin typeface="Cambria Math" panose="02040503050406030204" pitchFamily="18" charset="0"/>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e>
                          </m:groupChr>
                        </m:e>
                        <m:lim>
                          <m:eqArr>
                            <m:eqArrPr>
                              <m:ctrlPr>
                                <a:rPr lang="it-IT" sz="2800" i="1">
                                  <a:solidFill>
                                    <a:srgbClr val="00B050"/>
                                  </a:solidFill>
                                  <a:latin typeface="Cambria Math" panose="02040503050406030204" pitchFamily="18" charset="0"/>
                                  <a:ea typeface="Cambria Math"/>
                                  <a:cs typeface="Cambria Math"/>
                                </a:rPr>
                              </m:ctrlPr>
                            </m:eqArrPr>
                            <m:e>
                              <m:r>
                                <m:rPr>
                                  <m:sty m:val="p"/>
                                </m:rPr>
                                <a:rPr lang="it-IT" sz="2800">
                                  <a:solidFill>
                                    <a:srgbClr val="00B050"/>
                                  </a:solidFill>
                                  <a:latin typeface="Cambria Math" panose="02040503050406030204" pitchFamily="18" charset="0"/>
                                  <a:ea typeface="Cambria Math"/>
                                  <a:cs typeface="Cambria Math"/>
                                </a:rPr>
                                <m:t>already</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calculated</m:t>
                              </m:r>
                            </m:e>
                            <m:e>
                              <m:r>
                                <m:rPr>
                                  <m:sty m:val="p"/>
                                </m:rPr>
                                <a:rPr lang="it-IT" sz="2800">
                                  <a:solidFill>
                                    <a:srgbClr val="00B050"/>
                                  </a:solidFill>
                                  <a:latin typeface="Cambria Math" panose="02040503050406030204" pitchFamily="18" charset="0"/>
                                  <a:ea typeface="Cambria Math"/>
                                  <a:cs typeface="Cambria Math"/>
                                </a:rPr>
                                <m:t>from</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the</m:t>
                              </m:r>
                              <m:r>
                                <a:rPr lang="it-IT" sz="2800">
                                  <a:solidFill>
                                    <a:srgbClr val="00B050"/>
                                  </a:solidFill>
                                  <a:latin typeface="Cambria Math" panose="02040503050406030204" pitchFamily="18" charset="0"/>
                                  <a:ea typeface="Cambria Math"/>
                                  <a:cs typeface="Cambria Math"/>
                                </a:rPr>
                                <m:t> 2</m:t>
                              </m:r>
                              <m:r>
                                <m:rPr>
                                  <m:sty m:val="p"/>
                                </m:rPr>
                                <a:rPr lang="it-IT" sz="2800" b="0" i="0" smtClean="0">
                                  <a:solidFill>
                                    <a:srgbClr val="00B050"/>
                                  </a:solidFill>
                                  <a:latin typeface="Cambria Math" panose="02040503050406030204" pitchFamily="18" charset="0"/>
                                  <a:ea typeface="Cambria Math"/>
                                  <a:cs typeface="Cambria Math"/>
                                </a:rPr>
                                <m:t>nd</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limLow>
                        <m:limLowPr>
                          <m:ctrlPr>
                            <a:rPr lang="en-GB" sz="28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2"/>
                                  </a:solidFill>
                                  <a:latin typeface="Cambria Math" panose="02040503050406030204" pitchFamily="18" charset="0"/>
                                  <a:ea typeface="Cambria Math"/>
                                  <a:cs typeface="Cambria Math"/>
                                </a:rPr>
                              </m:ctrlPr>
                            </m:groupChr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it-IT" sz="2800" b="0" i="0" smtClean="0">
                                      <a:solidFill>
                                        <a:srgbClr val="087F82"/>
                                      </a:solidFill>
                                      <a:latin typeface="Cambria Math" panose="02040503050406030204" pitchFamily="18" charset="0"/>
                                      <a:ea typeface="Cambria Math"/>
                                      <a:cs typeface="Cambria Math"/>
                                    </a:rPr>
                                    <m:t>2</m:t>
                                  </m:r>
                                </m:sub>
                              </m:sSub>
                            </m:e>
                          </m:groupChr>
                        </m:e>
                        <m:lim>
                          <m:eqArr>
                            <m:eqArrPr>
                              <m:ctrlPr>
                                <a:rPr lang="it-IT" sz="2800" i="1">
                                  <a:solidFill>
                                    <a:srgbClr val="087F82"/>
                                  </a:solidFill>
                                  <a:latin typeface="Cambria Math" panose="02040503050406030204" pitchFamily="18" charset="0"/>
                                  <a:ea typeface="Cambria Math"/>
                                  <a:cs typeface="Cambria Math"/>
                                </a:rPr>
                              </m:ctrlPr>
                            </m:eqArrPr>
                            <m:e>
                              <m:r>
                                <m:rPr>
                                  <m:sty m:val="p"/>
                                </m:rPr>
                                <a:rPr lang="it-IT" sz="2800">
                                  <a:solidFill>
                                    <a:srgbClr val="087F82"/>
                                  </a:solidFill>
                                  <a:latin typeface="Cambria Math" panose="02040503050406030204" pitchFamily="18" charset="0"/>
                                  <a:ea typeface="Cambria Math"/>
                                  <a:cs typeface="Cambria Math"/>
                                </a:rPr>
                                <m:t>known</m:t>
                              </m:r>
                            </m:e>
                            <m:e>
                              <m:r>
                                <m:rPr>
                                  <m:sty m:val="p"/>
                                </m:rPr>
                                <a:rPr lang="it-IT" sz="2800">
                                  <a:solidFill>
                                    <a:srgbClr val="087F82"/>
                                  </a:solidFill>
                                  <a:latin typeface="Cambria Math" panose="02040503050406030204" pitchFamily="18" charset="0"/>
                                  <a:ea typeface="Cambria Math"/>
                                  <a:cs typeface="Cambria Math"/>
                                </a:rPr>
                                <m:t>weight</m:t>
                              </m:r>
                            </m:e>
                          </m:eqArr>
                        </m:lim>
                      </m:limLow>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limLow>
                        <m:limLowPr>
                          <m:ctrlPr>
                            <a:rPr lang="it-IT" sz="2800" b="0" i="1" smtClean="0">
                              <a:solidFill>
                                <a:srgbClr val="087F82"/>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087F82"/>
                                  </a:solidFill>
                                  <a:latin typeface="Cambria Math" panose="02040503050406030204" pitchFamily="18" charset="0"/>
                                  <a:ea typeface="Cambria Math"/>
                                  <a:cs typeface="Cambria Math"/>
                                </a:rPr>
                              </m:ctrlPr>
                            </m:groupChrPr>
                            <m:e>
                              <m:r>
                                <m:rPr>
                                  <m:sty m:val="p"/>
                                </m:rPr>
                                <a:rPr lang="it-IT" sz="2800" b="0" i="0" smtClean="0">
                                  <a:solidFill>
                                    <a:srgbClr val="087F82"/>
                                  </a:solidFill>
                                  <a:latin typeface="Cambria Math" panose="02040503050406030204" pitchFamily="18" charset="0"/>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it-IT" sz="2800" b="0" i="0" smtClean="0">
                                          <a:solidFill>
                                            <a:srgbClr val="087F82"/>
                                          </a:solidFill>
                                          <a:latin typeface="Cambria Math" panose="02040503050406030204" pitchFamily="18" charset="0"/>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e>
                          </m:groupChr>
                        </m:e>
                        <m:lim>
                          <m:r>
                            <m:rPr>
                              <m:sty m:val="p"/>
                            </m:rPr>
                            <a:rPr lang="it-IT" sz="2800" b="0" i="0" smtClean="0">
                              <a:solidFill>
                                <a:srgbClr val="087F82"/>
                              </a:solidFill>
                              <a:latin typeface="Cambria Math" panose="02040503050406030204" pitchFamily="18" charset="0"/>
                              <a:ea typeface="Cambria Math"/>
                              <a:cs typeface="Cambria Math"/>
                            </a:rPr>
                            <m:t>ReLU</m:t>
                          </m:r>
                          <m:r>
                            <a:rPr lang="it-IT" sz="2800" b="0" i="0" smtClean="0">
                              <a:solidFill>
                                <a:srgbClr val="087F82"/>
                              </a:solidFill>
                              <a:latin typeface="Cambria Math" panose="02040503050406030204" pitchFamily="18" charset="0"/>
                              <a:ea typeface="Cambria Math"/>
                              <a:cs typeface="Cambria Math"/>
                            </a:rPr>
                            <m:t> </m:t>
                          </m:r>
                          <m:r>
                            <m:rPr>
                              <m:sty m:val="p"/>
                            </m:rPr>
                            <a:rPr lang="it-IT" sz="2800" b="0" i="0" smtClean="0">
                              <a:solidFill>
                                <a:srgbClr val="087F82"/>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114800"/>
                <a:ext cx="11525250" cy="12382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0</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8"/>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18</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65" name="equation_61" descr="J'_{3}(-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8" name="equation_114"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27" name="equation_123"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36" name="equation_132"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7" name="shape_69_numerical">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8" name="note_box_70_numerical">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29" name="text_71_numerical">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0" name="note_box_72_numerical">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1" name="text_73_numerical">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2" name="note_box_74_numerical">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3" name="text_75_numerical">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4" name="note_box_76_numerical">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5" name="equation_77_numerical"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5" name="equation_77_numerical"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equation_78_numerical"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6" name="equation_78_numerical"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7" name="note_box_79_numerical">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8" name="equation_80_numerical"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8" name="equation_80_numerical"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9" name="equation_81_numerical"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39" name="equation_81_numerical"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0" name="line_82_numerical">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1" name="text_83_numerical">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2" name="note_box_84_numerical">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3" name="equation_85_numerical"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3" name="equation_85_numerical"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4" name="equation_86_numerical"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4" name="equation_86_numerical"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5" name="line_87_numerical">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6" name="text_88_numerical">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7" name="note_box_89_numerical">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8" name="equation_90_numerical"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8" name="equation_90_numerical"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9" name="equation_91_numerical"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49" name="equation_91_numerical"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50" name="line_92_numerical">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1" name="text_93_numerical">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2" name="note_box_94_numerical">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3" name="equation_95_numerical"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3" name="equation_95_numerical"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equation_96_numerical"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4" name="equation_96_numerical"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255" name="line_97_numerical">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6" name="text_98_numerical">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7" name="note_box_99_numerical">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8" name="equation_100_numerical"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8" name="equation_100_numerical"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equation_101_numerical"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59" name="equation_101_numerical"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0" name="line_102_numerical">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1" name="text_103_numerical">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2" name="note_box_104_numerical">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3" name="equation_105_numerical"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3" name="equation_105_numerical"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4" name="equation_106_numerical"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4" name="equation_106_numerical"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5" name="line_107_numerical">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6" name="text_108_numerical">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7" name="note_box_109_numerical">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8" name="equation_110_numerical"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268" name="equation_110_numerical"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269" name="line_111_numerical">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0" name="line_112_numerical">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1" name="note_box_113_numerical">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2" name="equation_114_numerical"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2" name="equation_114_numerical"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273" name="text_115_numerical">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4" name="note_box_116_numerical">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6" name="note_box_118_numerical">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278" name="note_brace_120_numerical">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79" name="text_121_numerical">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0" name="note_box_122_numerical">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1" name="equation_123_numerical"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81" name="equation_123_numerical"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2" name="text_124_numerical">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83" name="note_box_125_numerical">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5" name="note_box_127_numerical">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287" name="note_brace_129_numerical">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8" name="text_130_numerical">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89" name="note_box_131_numerical">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90" name="equation_132_numerical"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90" name="equation_132_numerical"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1" name="equation_133_numerical" descr="=2(-3-(-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e>
                      </m:d>
                    </m:oMath>
                  </m:oMathPara>
                </a14:m>
                <a:endParaRPr lang="en-GB" sz="2000"/>
              </a:p>
            </p:txBody>
          </p:sp>
        </mc:Choice>
        <mc:Fallback xmlns="">
          <p:sp>
            <p:nvSpPr>
              <p:cNvPr id="291" name="equation_133_numerical"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2" name="equation_134_numerical">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92" name="equation_134_numerical"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93" name="note_box_135_numerical">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5" name="note_box_137_numerical">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297" name="note_brace_139_numerical">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8" name="text_140_numerical">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99" name="shape_69_result">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0" name="note_box_70_result">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1" name="text_71_result">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2" name="note_box_72_result">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3" name="text_73_result">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4" name="note_box_74_result">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5" name="text_75_result">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6" name="note_box_76_result">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7" name="equation_77_result"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7" name="equation_77_result"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78_result"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08" name="equation_78_result"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09" name="note_box_79_result">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80_result"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80_result"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81_result"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1" name="equation_81_result"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2" name="line_82_result">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3" name="text_83_result">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4" name="note_box_84_result">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5" name="equation_85_result"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5" name="equation_85_result"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6" name="equation_86_result"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6" name="equation_86_result"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7" name="line_87_result">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18" name="text_88_result">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19" name="note_box_89_result">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0" name="equation_90_result"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0" name="equation_90_result"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1" name="equation_91_result"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1" name="equation_91_result"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322" name="line_92_result">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3" name="text_93_result">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4" name="note_box_94_result">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5" name="equation_95_result"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5" name="equation_95_result"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6" name="equation_96_result"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6" name="equation_96_result"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7" name="line_97_result">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28" name="text_98_result">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9" name="note_box_99_result">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30" name="equation_100_result"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30" name="equation_100_result"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1" name="equation_101_result"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31" name="equation_101_result"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2" name="line_102_result">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3" name="text_103_result">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4" name="note_box_104_result">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5" name="equation_105_result"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5" name="equation_105_result"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6" name="equation_106_result"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6" name="equation_106_result"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7" name="line_107_result">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38" name="text_108_result">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39" name="note_box_109_result">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0" name="equation_110_result"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340" name="equation_110_result"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341" name="line_111_result">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2" name="line_112_result">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3" name="note_box_113_result">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4" name="equation_114_result"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4" name="equation_114_result"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345" name="text_115_result">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46" name="note_box_116_result">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48" name="note_box_118_result">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350" name="note_brace_120_result">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1" name="text_121_result">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2" name="note_box_122_result">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3_result"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53" name="equation_123_result"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4" name="text_124_result">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5" name="note_box_125_result">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57" name="note_box_127_result">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359" name="note_brace_129_result">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0" name="text_130_result">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1" name="note_box_131_result">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62" name="equation_132_result"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62" name="equation_132_result"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3" name="equation_133_result" descr="=-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63" name="equation_133_result"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4" name="equation_134_result">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64" name="equation_134_result"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65" name="note_box_135_result">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67" name="note_box_137_result">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369" name="note_brace_139_result">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0" name="text_140_result">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a_1(x))">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97" name="equation_193" descr="J'_{1}(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a_2(x))">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206" name="equation_202" descr="J'_{2}(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a_3(x))">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15" name="equation_211" descr="J'_{3}(-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7943850" y="4392295"/>
                <a:ext cx="3086100" cy="63563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1"/>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p:cNvSpPr>
              <p:nvPr/>
            </p:nvSpPr>
            <p:spPr>
              <a:xfrm>
                <a:off x="7943850" y="5467349"/>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−2</m:t>
                      </m:r>
                    </m:oMath>
                  </m:oMathPara>
                </a14:m>
                <a:endParaRPr lang="en-GB" sz="2000" dirty="0"/>
              </a:p>
            </p:txBody>
          </p:sp>
        </mc:Choice>
        <mc:Fallback xmlns="">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7943850" y="5467349"/>
                <a:ext cx="3086100" cy="581025"/>
              </a:xfrm>
              <a:prstGeom prst="rect">
                <a:avLst/>
              </a:prstGeom>
              <a:blipFill>
                <a:blip r:embed="rId32"/>
                <a:stretch>
                  <a:fillRect b="-7368"/>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3"/>
                <a:stretch>
                  <a:fillRect t="-5970" b="-16418"/>
                </a:stretch>
              </a:blipFill>
              <a:ln w="0">
                <a:noFill/>
              </a:ln>
            </p:spPr>
            <p:txBody>
              <a:bodyPr/>
              <a:lstStyle/>
              <a:p>
                <a:r>
                  <a:rPr lang="it-IT">
                    <a:noFill/>
                  </a:rPr>
                  <a:t> </a:t>
                </a:r>
              </a:p>
            </p:txBody>
          </p:sp>
        </mc:Fallback>
      </mc:AlternateContent>
      <p:sp>
        <p:nvSpPr>
          <p:cNvPr id="371" name="bias_numerical_result" descr="=-2">
            <a:extLst>
              <a:ext uri="{FF2B5EF4-FFF2-40B4-BE49-F238E27FC236}">
                <a16:creationId xmlns:a16="http://schemas.microsoft.com/office/drawing/2014/main" id="{9C085802-1052-4D03-9D5E-24A76A4A2A29}"/>
              </a:ext>
            </a:extLst>
          </p:cNvPr>
          <p:cNvSpPr>
            <a:spLocks noGrp="1"/>
          </p:cNvSpPr>
          <p:nvPr/>
        </p:nvSpPr>
        <p:spPr>
          <a:xfrm>
            <a:off x="80581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2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grpId="0" nodeType="clickEffect">
                                  <p:stCondLst>
                                    <p:cond delay="0"/>
                                  </p:stCondLst>
                                  <p:childTnLst>
                                    <p:set>
                                      <p:cBhvr>
                                        <p:cTn id="298" dur="1" fill="hold">
                                          <p:stCondLst>
                                            <p:cond delay="0"/>
                                          </p:stCondLst>
                                        </p:cTn>
                                        <p:tgtEl>
                                          <p:spTgt spid="29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30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childTnLst>
                          </p:cTn>
                        </p:par>
                      </p:childTnLst>
                    </p:cTn>
                  </p:par>
                  <p:par>
                    <p:cTn id="441" fill="hold">
                      <p:stCondLst>
                        <p:cond delay="indefinite"/>
                      </p:stCondLst>
                      <p:childTnLst>
                        <p:par>
                          <p:cTn id="442" fill="hold">
                            <p:stCondLst>
                              <p:cond delay="0"/>
                            </p:stCondLst>
                            <p:childTnLst>
                              <p:par>
                                <p:cTn id="443" presetID="1" presetClass="entr" presetSubtype="0" fill="hold" grpId="0" nodeType="clickEffect">
                                  <p:stCondLst>
                                    <p:cond delay="0"/>
                                  </p:stCondLst>
                                  <p:childTnLst>
                                    <p:set>
                                      <p:cBhvr>
                                        <p:cTn id="444" dur="1" fill="hold">
                                          <p:stCondLst>
                                            <p:cond delay="0"/>
                                          </p:stCondLst>
                                        </p:cTn>
                                        <p:tgtEl>
                                          <p:spTgt spid="145"/>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146"/>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147"/>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148"/>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9"/>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50"/>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51"/>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2"/>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3"/>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4"/>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5"/>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6"/>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7"/>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8"/>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9"/>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60"/>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61"/>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2"/>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3"/>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4"/>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5"/>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6"/>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7"/>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8"/>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9"/>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70"/>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71"/>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2"/>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3"/>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4"/>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5"/>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6"/>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7"/>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8"/>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8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8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9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9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20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20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1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1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4"/>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5"/>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6"/>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7"/>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8"/>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9"/>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20"/>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21"/>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2"/>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3"/>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4"/>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6"/>
                                        </p:tgtEl>
                                        <p:attrNameLst>
                                          <p:attrName>style.visibility</p:attrName>
                                        </p:attrNameLst>
                                      </p:cBhvr>
                                      <p:to>
                                        <p:strVal val="visible"/>
                                      </p:to>
                                    </p:set>
                                  </p:childTnLst>
                                </p:cTn>
                              </p:par>
                              <p:par>
                                <p:cTn id="605" presetID="1" presetClass="entr" presetSubtype="0" fill="hold" grpId="0" nodeType="withEffect" nodePh="1">
                                  <p:stCondLst>
                                    <p:cond delay="0"/>
                                  </p:stCondLst>
                                  <p:endCondLst>
                                    <p:cond evt="begin" delay="0">
                                      <p:tn val="605"/>
                                    </p:cond>
                                  </p:endCondLst>
                                  <p:childTnLst>
                                    <p:set>
                                      <p:cBhvr>
                                        <p:cTn id="606" dur="1" fill="hold">
                                          <p:stCondLst>
                                            <p:cond delay="0"/>
                                          </p:stCondLst>
                                        </p:cTn>
                                        <p:tgtEl>
                                          <p:spTgt spid="3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227" grpId="0" animBg="1"/>
      <p:bldP spid="228" grpId="0" animBg="1"/>
      <p:bldP spid="229" grpId="0"/>
      <p:bldP spid="230" grpId="0" animBg="1"/>
      <p:bldP spid="231" grpId="0"/>
      <p:bldP spid="232" grpId="0" animBg="1"/>
      <p:bldP spid="233" grpId="0"/>
      <p:bldP spid="234" grpId="0" animBg="1"/>
      <p:bldP spid="235" grpId="0"/>
      <p:bldP spid="236" grpId="0"/>
      <p:bldP spid="237" grpId="0" animBg="1"/>
      <p:bldP spid="238" grpId="0"/>
      <p:bldP spid="239" grpId="0"/>
      <p:bldP spid="240" grpId="0" animBg="1"/>
      <p:bldP spid="241" grpId="0"/>
      <p:bldP spid="242" grpId="0" animBg="1"/>
      <p:bldP spid="243" grpId="0"/>
      <p:bldP spid="244" grpId="0"/>
      <p:bldP spid="245" grpId="0" animBg="1"/>
      <p:bldP spid="246" grpId="0"/>
      <p:bldP spid="247" grpId="0" animBg="1"/>
      <p:bldP spid="248" grpId="0"/>
      <p:bldP spid="249" grpId="0"/>
      <p:bldP spid="250" grpId="0" animBg="1"/>
      <p:bldP spid="251" grpId="0"/>
      <p:bldP spid="252" grpId="0" animBg="1"/>
      <p:bldP spid="253" grpId="0"/>
      <p:bldP spid="254" grpId="0"/>
      <p:bldP spid="255" grpId="0" animBg="1"/>
      <p:bldP spid="256" grpId="0"/>
      <p:bldP spid="257" grpId="0" animBg="1"/>
      <p:bldP spid="258" grpId="0"/>
      <p:bldP spid="259" grpId="0"/>
      <p:bldP spid="260" grpId="0" animBg="1"/>
      <p:bldP spid="261" grpId="0"/>
      <p:bldP spid="262" grpId="0" animBg="1"/>
      <p:bldP spid="263" grpId="0"/>
      <p:bldP spid="264" grpId="0"/>
      <p:bldP spid="265" grpId="0" animBg="1"/>
      <p:bldP spid="266" grpId="0"/>
      <p:bldP spid="267" grpId="0" animBg="1"/>
      <p:bldP spid="268" grpId="0"/>
      <p:bldP spid="269" grpId="0" animBg="1"/>
      <p:bldP spid="270" grpId="0" animBg="1"/>
      <p:bldP spid="271" grpId="0" animBg="1"/>
      <p:bldP spid="272" grpId="0"/>
      <p:bldP spid="273" grpId="0"/>
      <p:bldP spid="274" grpId="0" animBg="1"/>
      <p:bldP spid="275" grpId="0"/>
      <p:bldP spid="276" grpId="0" animBg="1"/>
      <p:bldP spid="277" grpId="0"/>
      <p:bldP spid="278" grpId="0" animBg="1"/>
      <p:bldP spid="279" grpId="0"/>
      <p:bldP spid="280" grpId="0" animBg="1"/>
      <p:bldP spid="281" grpId="0"/>
      <p:bldP spid="282" grpId="0"/>
      <p:bldP spid="283" grpId="0" animBg="1"/>
      <p:bldP spid="284" grpId="0"/>
      <p:bldP spid="285" grpId="0" animBg="1"/>
      <p:bldP spid="286" grpId="0"/>
      <p:bldP spid="287" grpId="0" animBg="1"/>
      <p:bldP spid="288" grpId="0"/>
      <p:bldP spid="289" grpId="0" animBg="1"/>
      <p:bldP spid="290" grpId="0"/>
      <p:bldP spid="291" grpId="0"/>
      <p:bldP spid="292" grpId="0"/>
      <p:bldP spid="293" grpId="0" animBg="1"/>
      <p:bldP spid="294" grpId="0"/>
      <p:bldP spid="295" grpId="0" animBg="1"/>
      <p:bldP spid="296" grpId="0"/>
      <p:bldP spid="297" grpId="0" animBg="1"/>
      <p:bldP spid="298" grpId="0"/>
      <p:bldP spid="299" grpId="0" animBg="1"/>
      <p:bldP spid="300" grpId="0" animBg="1"/>
      <p:bldP spid="301" grpId="0"/>
      <p:bldP spid="302" grpId="0" animBg="1"/>
      <p:bldP spid="303" grpId="0"/>
      <p:bldP spid="304" grpId="0" animBg="1"/>
      <p:bldP spid="305" grpId="0"/>
      <p:bldP spid="306" grpId="0" animBg="1"/>
      <p:bldP spid="307" grpId="0"/>
      <p:bldP spid="308" grpId="0"/>
      <p:bldP spid="309" grpId="0" animBg="1"/>
      <p:bldP spid="310" grpId="0"/>
      <p:bldP spid="311" grpId="0"/>
      <p:bldP spid="312" grpId="0" animBg="1"/>
      <p:bldP spid="313" grpId="0"/>
      <p:bldP spid="314" grpId="0" animBg="1"/>
      <p:bldP spid="315" grpId="0"/>
      <p:bldP spid="316" grpId="0"/>
      <p:bldP spid="317" grpId="0" animBg="1"/>
      <p:bldP spid="318" grpId="0"/>
      <p:bldP spid="319" grpId="0" animBg="1"/>
      <p:bldP spid="320" grpId="0"/>
      <p:bldP spid="321" grpId="0"/>
      <p:bldP spid="322" grpId="0" animBg="1"/>
      <p:bldP spid="323" grpId="0"/>
      <p:bldP spid="324" grpId="0" animBg="1"/>
      <p:bldP spid="325" grpId="0"/>
      <p:bldP spid="326" grpId="0"/>
      <p:bldP spid="327" grpId="0" animBg="1"/>
      <p:bldP spid="328" grpId="0"/>
      <p:bldP spid="329" grpId="0" animBg="1"/>
      <p:bldP spid="330" grpId="0"/>
      <p:bldP spid="331" grpId="0"/>
      <p:bldP spid="332" grpId="0" animBg="1"/>
      <p:bldP spid="333" grpId="0"/>
      <p:bldP spid="334" grpId="0" animBg="1"/>
      <p:bldP spid="335" grpId="0"/>
      <p:bldP spid="336" grpId="0"/>
      <p:bldP spid="337" grpId="0" animBg="1"/>
      <p:bldP spid="338" grpId="0"/>
      <p:bldP spid="339" grpId="0" animBg="1"/>
      <p:bldP spid="340" grpId="0"/>
      <p:bldP spid="341" grpId="0" animBg="1"/>
      <p:bldP spid="342" grpId="0" animBg="1"/>
      <p:bldP spid="343" grpId="0" animBg="1"/>
      <p:bldP spid="344" grpId="0"/>
      <p:bldP spid="345" grpId="0"/>
      <p:bldP spid="346" grpId="0" animBg="1"/>
      <p:bldP spid="347" grpId="0"/>
      <p:bldP spid="348" grpId="0" animBg="1"/>
      <p:bldP spid="349" grpId="0"/>
      <p:bldP spid="350" grpId="0" animBg="1"/>
      <p:bldP spid="351" grpId="0"/>
      <p:bldP spid="352" grpId="0" animBg="1"/>
      <p:bldP spid="353" grpId="0"/>
      <p:bldP spid="354" grpId="0"/>
      <p:bldP spid="355" grpId="0" animBg="1"/>
      <p:bldP spid="356" grpId="0"/>
      <p:bldP spid="357" grpId="0" animBg="1"/>
      <p:bldP spid="358" grpId="0"/>
      <p:bldP spid="359" grpId="0" animBg="1"/>
      <p:bldP spid="360" grpId="0"/>
      <p:bldP spid="361" grpId="0" animBg="1"/>
      <p:bldP spid="362" grpId="0"/>
      <p:bldP spid="363" grpId="0"/>
      <p:bldP spid="364" grpId="0"/>
      <p:bldP spid="365" grpId="0" animBg="1"/>
      <p:bldP spid="366" grpId="0"/>
      <p:bldP spid="367" grpId="0" animBg="1"/>
      <p:bldP spid="368" grpId="0"/>
      <p:bldP spid="369" grpId="0" animBg="1"/>
      <p:bldP spid="370"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P spid="371"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4958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20"/>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a_2(x))">
                <a:extLst>
                  <a:ext uri="{FF2B5EF4-FFF2-40B4-BE49-F238E27FC236}">
                    <a16:creationId xmlns:a16="http://schemas.microsoft.com/office/drawing/2014/main" id="{514A5E6B-73E6-47FD-A0A9-764FED096C71}"/>
                  </a:ext>
                </a:extLst>
              </p:cNvPr>
              <p:cNvSpPr>
                <a:spLocks noGrp="1"/>
              </p:cNvSpPr>
              <p:nvPr/>
            </p:nvSpPr>
            <p:spPr>
              <a:xfrm>
                <a:off x="45339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8" name="equation_124"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a_3(x))\,w_3\cdot\mathrm{step}(a_2(x))">
                <a:extLst>
                  <a:ext uri="{FF2B5EF4-FFF2-40B4-BE49-F238E27FC236}">
                    <a16:creationId xmlns:a16="http://schemas.microsoft.com/office/drawing/2014/main" id="{9D5B0E3B-8587-474D-8B97-DE93172DF58D}"/>
                  </a:ext>
                </a:extLst>
              </p:cNvPr>
              <p:cNvSpPr>
                <a:spLocks noGrp="1"/>
              </p:cNvSpPr>
              <p:nvPr/>
            </p:nvSpPr>
            <p:spPr>
              <a:xfrm>
                <a:off x="45339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9" name="equation_125"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9" name="shape_69_numerical">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30" name="note_box_70_numerical">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1" name="text_71_numerical">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2" name="note_box_72_numerical">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3" name="text_73_numerical">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4" name="note_box_74_numerical">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5" name="text_75_numerical">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6" name="note_box_76_numerical">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7" name="equation_77_numerical"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7" name="equation_77_numerical"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8" name="equation_78_numerical"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8" name="equation_78_numerical"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9" name="note_box_79_numerical">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0" name="equation_80_numerical"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0" name="equation_80_numerical"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1" name="equation_81_numerical"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1" name="equation_81_numerical"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2" name="line_82_numerical">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3" name="text_83_numerical">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4" name="note_box_84_numerical">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5" name="equation_85_numerical"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45" name="equation_85_numerical"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6" name="equation_86_numerical"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6" name="equation_86_numerical"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7" name="line_87_numerical">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8" name="text_88_numerical">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9" name="note_box_89_numerical">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90_numerical"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0" name="equation_90_numerical"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91_numerical"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1" name="equation_91_numerical"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2" name="line_92_numerical">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3" name="text_93_numerical">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4" name="note_box_94_numerical">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5" name="equation_95_numerical"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5" name="equation_95_numerical"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96_numerical"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6" name="equation_96_numerical"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257" name="line_97_numerical">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8" name="text_98_numerical">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9" name="note_box_99_numerical">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equation_100_numerical"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60" name="equation_100_numerical"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101_numerical"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1" name="equation_101_numerical"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262" name="line_102_numerical">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3" name="text_103_numerical">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4" name="note_box_104_numerical">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105_numerical"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5" name="equation_105_numerical"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106_numerical"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6" name="equation_106_numerical"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267" name="line_107_numerical">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8" name="text_108_numerical">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9" name="note_box_109_numerical">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0" name="equation_110_numerical"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270" name="equation_110_numerical"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271" name="line_111_numerical">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2" name="line_112_numerical">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3" name="line_113_numerical">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4" name="note_box_114_numerical">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5_numerical"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5" name="equation_115_numerical"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276" name="text_116_numerical">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7" name="note_box_117_numerical">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79" name="note_box_119_numerical">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281" name="note_brace_121_numerical">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2_numerical">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3_numerical">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84" name="equation_124_numerical"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84" name="equation_124_numerical"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125_numerical" descr="=(-2)\cdot(-1)\cdot\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285" name="equation_125_numerical"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6" name="equation_126_numerical" descr="=(-2)\cdot(-1)\cdot1">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⋅1</m:t>
                      </m:r>
                    </m:oMath>
                  </m:oMathPara>
                </a14:m>
                <a:endParaRPr lang="en-GB" sz="2000"/>
              </a:p>
            </p:txBody>
          </p:sp>
        </mc:Choice>
        <mc:Fallback xmlns="">
          <p:sp>
            <p:nvSpPr>
              <p:cNvPr id="286" name="equation_126_numerical"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287" name="note_box_127_numerical">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289" name="note_box_129_numerical">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291" name="note_brace_131_numerical">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2" name="text_132_numerical">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3" name="note_box_133_numerical">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4" name="equation_134_numerical"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94" name="equation_134_numerical"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295" name="text_135_numerical">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96" name="note_box_136_numerical">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98" name="note_box_138_numerical">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00" name="note_brace_140_numerical">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1" name="text_141_numerical">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2" name="shape_69_result">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3" name="note_box_70_result">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4" name="text_71_result">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5" name="note_box_72_result">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6" name="text_73_result">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7" name="note_box_74_result">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8" name="text_75_result">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9" name="note_box_76_result">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77_result"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77_result"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78_result"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11" name="equation_78_result"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2" name="note_box_79_result">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80_result"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3" name="equation_80_result"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81_result"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4" name="equation_81_result"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5" name="line_82_result">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6" name="text_83_result">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7" name="note_box_84_result">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8" name="equation_85_result"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8" name="equation_85_result"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9" name="equation_86_result"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9" name="equation_86_result"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20" name="line_87_result">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1" name="text_88_result">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2" name="note_box_89_result">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3" name="equation_90_result"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3" name="equation_90_result"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4" name="equation_91_result"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4" name="equation_91_result"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5" name="line_92_result">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6" name="text_93_result">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7" name="note_box_94_result">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8" name="equation_95_result"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8" name="equation_95_result"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9" name="equation_96_result"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9" name="equation_96_result"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30" name="line_97_result">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1" name="text_98_result">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2" name="note_box_99_result">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3" name="equation_100_result"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3" name="equation_100_result"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4" name="equation_101_result"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4" name="equation_101_result"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35" name="line_102_result">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6" name="text_103_result">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7" name="note_box_104_result">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8" name="equation_105_result"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8" name="equation_105_result"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9" name="equation_106_result"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9" name="equation_106_result"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340" name="line_107_result">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1" name="text_108_result">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2" name="note_box_109_result">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3" name="equation_110_result"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343" name="equation_110_result"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344" name="line_111_result">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5" name="line_112_result">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6" name="line_113_result">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7" name="note_box_114_result">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8" name="equation_115_result"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8" name="equation_115_result"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349" name="text_116_result">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0" name="note_box_117_result">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352" name="note_box_119_result">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354" name="note_brace_121_result">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2_result">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3_result">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57" name="equation_124_result"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57" name="equation_124_result"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8" name="equation_125_result" descr="=2">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58" name="equation_125_result"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9" name="equation_126_result">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59" name="equation_126_result"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360" name="note_box_127_result">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362" name="note_box_129_result">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364" name="note_brace_131_result">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5" name="text_132_result">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6" name="note_box_133_result">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7" name="equation_134_result"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67" name="equation_134_result"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368" name="text_135_result">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9" name="note_box_136_result">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371" name="note_box_138_result">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73" name="note_brace_140_result">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4" name="text_141_result">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30"/>
                <a:stretch>
                  <a:fillRect b="-6849"/>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a_2(x))">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208" name="equation_204" descr="J'_{2}(a_2(x))">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31"/>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2">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dirty="0"/>
              </a:p>
            </p:txBody>
          </p:sp>
        </mc:Choice>
        <mc:Fallback xmlns="">
          <p:sp>
            <p:nvSpPr>
              <p:cNvPr id="209" name="equation_205" descr="=J'_{3}(-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2"/>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33"/>
                <a:stretch>
                  <a:fillRect l="-3198" r="-426"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4"/>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p:cNvSpPr>
              <p:nvPr/>
            </p:nvSpPr>
            <p:spPr>
              <a:xfrm>
                <a:off x="4757737" y="5465255"/>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57737" y="5465255"/>
                <a:ext cx="2857500" cy="581025"/>
              </a:xfrm>
              <a:prstGeom prst="rect">
                <a:avLst/>
              </a:prstGeom>
              <a:blipFill>
                <a:blip r:embed="rId35"/>
                <a:stretch>
                  <a:fillRect b="-6316"/>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7"/>
                <a:stretch>
                  <a:fillRect t="-5970" b="-16418"/>
                </a:stretch>
              </a:blipFill>
              <a:ln w="0">
                <a:noFill/>
              </a:ln>
            </p:spPr>
            <p:txBody>
              <a:bodyPr/>
              <a:lstStyle/>
              <a:p>
                <a:r>
                  <a:rPr lang="it-IT">
                    <a:noFill/>
                  </a:rPr>
                  <a:t> </a:t>
                </a:r>
              </a:p>
            </p:txBody>
          </p:sp>
        </mc:Fallback>
      </mc:AlternateContent>
      <p:sp>
        <p:nvSpPr>
          <p:cNvPr id="375" name="bias_numerical_result" descr="=2">
            <a:extLst>
              <a:ext uri="{FF2B5EF4-FFF2-40B4-BE49-F238E27FC236}">
                <a16:creationId xmlns:a16="http://schemas.microsoft.com/office/drawing/2014/main" id="{965FEEC9-AB50-403C-BC2A-ABA261099850}"/>
              </a:ext>
            </a:extLst>
          </p:cNvPr>
          <p:cNvSpPr>
            <a:spLocks noGrp="1"/>
          </p:cNvSpPr>
          <p:nvPr/>
        </p:nvSpPr>
        <p:spPr>
          <a:xfrm>
            <a:off x="47053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3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4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2"/>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3"/>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4"/>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5"/>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6"/>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7"/>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8"/>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9"/>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50"/>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1"/>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2"/>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3"/>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4"/>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5"/>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6"/>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7"/>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8"/>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9"/>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60"/>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1"/>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2"/>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3"/>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4"/>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5"/>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6"/>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7"/>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8"/>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9"/>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70"/>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1"/>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2"/>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3"/>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4"/>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5"/>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6"/>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7"/>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8"/>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9"/>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80"/>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1"/>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2"/>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3"/>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4"/>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5"/>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6"/>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7"/>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8"/>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9"/>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90"/>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1"/>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2"/>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3"/>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4"/>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5"/>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6"/>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7"/>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8"/>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9"/>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300"/>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1"/>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2"/>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3"/>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4"/>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5"/>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6"/>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7"/>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8"/>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9"/>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10"/>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1"/>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2"/>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3"/>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4"/>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5"/>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6"/>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7"/>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8"/>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9"/>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20"/>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1"/>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2"/>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3"/>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4"/>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5"/>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6"/>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7"/>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8"/>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9"/>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30"/>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1"/>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2"/>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3"/>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4"/>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5"/>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6"/>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7"/>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8"/>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9"/>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40"/>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1"/>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2"/>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3"/>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4"/>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5"/>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6"/>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7"/>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8"/>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9"/>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50"/>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1"/>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2"/>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3"/>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4"/>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5"/>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6"/>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7"/>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8"/>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9"/>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60"/>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1"/>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2"/>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3"/>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4"/>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5"/>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6"/>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7"/>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8"/>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9"/>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70"/>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1"/>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2"/>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3"/>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4"/>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228"/>
                                        </p:tgtEl>
                                        <p:attrNameLst>
                                          <p:attrName>style.visibility</p:attrName>
                                        </p:attrNameLst>
                                      </p:cBhvr>
                                      <p:to>
                                        <p:strVal val="visible"/>
                                      </p:to>
                                    </p:set>
                                  </p:childTnLst>
                                </p:cTn>
                              </p:par>
                              <p:par>
                                <p:cTn id="613" presetID="1" presetClass="entr" presetSubtype="0" fill="hold" grpId="0" nodeType="withEffect" nodePh="1">
                                  <p:stCondLst>
                                    <p:cond delay="0"/>
                                  </p:stCondLst>
                                  <p:endCondLst>
                                    <p:cond evt="begin" delay="0">
                                      <p:tn val="613"/>
                                    </p:cond>
                                  </p:endCondLst>
                                  <p:childTnLst>
                                    <p:set>
                                      <p:cBhvr>
                                        <p:cTn id="614" dur="1" fill="hold">
                                          <p:stCondLst>
                                            <p:cond delay="0"/>
                                          </p:stCondLst>
                                        </p:cTn>
                                        <p:tgtEl>
                                          <p:spTgt spid="3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9" grpId="0" animBg="1"/>
      <p:bldP spid="230" grpId="0" animBg="1"/>
      <p:bldP spid="231" grpId="0"/>
      <p:bldP spid="232" grpId="0" animBg="1"/>
      <p:bldP spid="233" grpId="0"/>
      <p:bldP spid="234" grpId="0" animBg="1"/>
      <p:bldP spid="235" grpId="0"/>
      <p:bldP spid="236" grpId="0" animBg="1"/>
      <p:bldP spid="237" grpId="0"/>
      <p:bldP spid="238" grpId="0"/>
      <p:bldP spid="239" grpId="0" animBg="1"/>
      <p:bldP spid="240" grpId="0"/>
      <p:bldP spid="241" grpId="0"/>
      <p:bldP spid="242" grpId="0" animBg="1"/>
      <p:bldP spid="243" grpId="0"/>
      <p:bldP spid="244" grpId="0" animBg="1"/>
      <p:bldP spid="245" grpId="0"/>
      <p:bldP spid="246" grpId="0"/>
      <p:bldP spid="247" grpId="0" animBg="1"/>
      <p:bldP spid="248" grpId="0"/>
      <p:bldP spid="249" grpId="0" animBg="1"/>
      <p:bldP spid="250" grpId="0"/>
      <p:bldP spid="251" grpId="0"/>
      <p:bldP spid="252" grpId="0" animBg="1"/>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animBg="1"/>
      <p:bldP spid="272" grpId="0" animBg="1"/>
      <p:bldP spid="273" grpId="0" animBg="1"/>
      <p:bldP spid="274" grpId="0" animBg="1"/>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p:bldP spid="287" grpId="0" animBg="1"/>
      <p:bldP spid="288" grpId="0"/>
      <p:bldP spid="289" grpId="0" animBg="1"/>
      <p:bldP spid="290" grpId="0"/>
      <p:bldP spid="291" grpId="0" animBg="1"/>
      <p:bldP spid="292" grpId="0"/>
      <p:bldP spid="293" grpId="0" animBg="1"/>
      <p:bldP spid="294" grpId="0"/>
      <p:bldP spid="295" grpId="0"/>
      <p:bldP spid="296" grpId="0" animBg="1"/>
      <p:bldP spid="297" grpId="0"/>
      <p:bldP spid="298" grpId="0" animBg="1"/>
      <p:bldP spid="299" grpId="0"/>
      <p:bldP spid="300" grpId="0" animBg="1"/>
      <p:bldP spid="301" grpId="0"/>
      <p:bldP spid="302" grpId="0" animBg="1"/>
      <p:bldP spid="303" grpId="0" animBg="1"/>
      <p:bldP spid="304" grpId="0"/>
      <p:bldP spid="305" grpId="0" animBg="1"/>
      <p:bldP spid="306" grpId="0"/>
      <p:bldP spid="307" grpId="0" animBg="1"/>
      <p:bldP spid="308" grpId="0"/>
      <p:bldP spid="309" grpId="0" animBg="1"/>
      <p:bldP spid="310" grpId="0"/>
      <p:bldP spid="311" grpId="0"/>
      <p:bldP spid="312" grpId="0" animBg="1"/>
      <p:bldP spid="313" grpId="0"/>
      <p:bldP spid="314" grpId="0"/>
      <p:bldP spid="315" grpId="0" animBg="1"/>
      <p:bldP spid="316" grpId="0"/>
      <p:bldP spid="317" grpId="0" animBg="1"/>
      <p:bldP spid="318" grpId="0"/>
      <p:bldP spid="319" grpId="0"/>
      <p:bldP spid="320" grpId="0" animBg="1"/>
      <p:bldP spid="321" grpId="0"/>
      <p:bldP spid="322" grpId="0" animBg="1"/>
      <p:bldP spid="323" grpId="0"/>
      <p:bldP spid="324" grpId="0"/>
      <p:bldP spid="325" grpId="0" animBg="1"/>
      <p:bldP spid="326" grpId="0"/>
      <p:bldP spid="327" grpId="0" animBg="1"/>
      <p:bldP spid="328" grpId="0"/>
      <p:bldP spid="329" grpId="0"/>
      <p:bldP spid="330" grpId="0" animBg="1"/>
      <p:bldP spid="331" grpId="0"/>
      <p:bldP spid="332" grpId="0" animBg="1"/>
      <p:bldP spid="333" grpId="0"/>
      <p:bldP spid="334" grpId="0"/>
      <p:bldP spid="335" grpId="0" animBg="1"/>
      <p:bldP spid="336" grpId="0"/>
      <p:bldP spid="337" grpId="0" animBg="1"/>
      <p:bldP spid="338" grpId="0"/>
      <p:bldP spid="339" grpId="0"/>
      <p:bldP spid="340" grpId="0" animBg="1"/>
      <p:bldP spid="341" grpId="0"/>
      <p:bldP spid="342" grpId="0" animBg="1"/>
      <p:bldP spid="343" grpId="0"/>
      <p:bldP spid="344" grpId="0" animBg="1"/>
      <p:bldP spid="345" grpId="0" animBg="1"/>
      <p:bldP spid="346" grpId="0" animBg="1"/>
      <p:bldP spid="347" grpId="0" animBg="1"/>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p:bldP spid="360" grpId="0" animBg="1"/>
      <p:bldP spid="361" grpId="0"/>
      <p:bldP spid="362" grpId="0" animBg="1"/>
      <p:bldP spid="363" grpId="0"/>
      <p:bldP spid="364" grpId="0" animBg="1"/>
      <p:bldP spid="365" grpId="0"/>
      <p:bldP spid="366" grpId="0" animBg="1"/>
      <p:bldP spid="367" grpId="0"/>
      <p:bldP spid="368" grpId="0"/>
      <p:bldP spid="369" grpId="0" animBg="1"/>
      <p:bldP spid="370" grpId="0"/>
      <p:bldP spid="371" grpId="0" animBg="1"/>
      <p:bldP spid="372" grpId="0"/>
      <p:bldP spid="373" grpId="0" animBg="1"/>
      <p:bldP spid="374"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P spid="375"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1430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B2065F6D-A6A5-4A2A-B511-7F384C0D2510}"/>
                  </a:ext>
                </a:extLst>
              </p:cNvPr>
              <p:cNvSpPr>
                <a:spLocks noGrp="1"/>
              </p:cNvSpPr>
              <p:nvPr/>
            </p:nvSpPr>
            <p:spPr>
              <a:xfrm>
                <a:off x="11811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a_2(x))\,w_2\cdot\mathrm{step}(a_1(x))">
                <a:extLst>
                  <a:ext uri="{FF2B5EF4-FFF2-40B4-BE49-F238E27FC236}">
                    <a16:creationId xmlns:a16="http://schemas.microsoft.com/office/drawing/2014/main" id="{39F1719F-F060-4D35-8423-D2FF453494E7}"/>
                  </a:ext>
                </a:extLst>
              </p:cNvPr>
              <p:cNvSpPr>
                <a:spLocks noGrp="1"/>
              </p:cNvSpPr>
              <p:nvPr/>
            </p:nvSpPr>
            <p:spPr>
              <a:xfrm>
                <a:off x="11811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0" name="equation_116"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8" name="shape_69_numerical">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9" name="note_box_70_numerical">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0" name="text_71_numerical">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1" name="note_box_72_numerical">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2" name="text_73_numerical">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3" name="note_box_74_numerical">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4" name="text_75_numerical">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5" name="note_box_76_numerical">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6" name="equation_77_numerical"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6" name="equation_77_numerical"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78_numerical"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237" name="equation_78_numerical"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8" name="note_box_79_numerical">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9" name="equation_80_numerical"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9" name="equation_80_numerical"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0" name="equation_81_numerical"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0" name="equation_81_numerical"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1" name="line_82_numerical">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2" name="text_83_numerical">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3" name="note_box_84_numerical">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4" name="equation_85_numerical"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4" name="equation_85_numerical"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5" name="equation_86_numerical"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5" name="equation_86_numerical"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6" name="line_87_numerical">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7" name="text_88_numerical">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8" name="note_box_89_numerical">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9" name="equation_90_numerical"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9" name="equation_90_numerical"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0" name="equation_91_numerical"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0" name="equation_91_numerical"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1" name="line_92_numerical">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2" name="text_93_numerical">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3" name="note_box_94_numerical">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4" name="equation_95_numerical"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4" name="equation_95_numerical"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5" name="equation_96_numerical"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5" name="equation_96_numerical"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6" name="line_97_numerical">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7" name="text_98_numerical">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8" name="note_box_99_numerical">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9" name="equation_100_numerical"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9" name="equation_100_numerical"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0" name="equation_101_numerical"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0" name="equation_101_numerical"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1" name="line_102_numerical">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2" name="text_103_numerical">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3" name="note_box_104_numerical">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4" name="equation_105_numerical"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4" name="equation_105_numerical"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106_numerical"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5" name="equation_106_numerical"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6" name="line_107_numerical">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7" name="text_108_numerical">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8" name="note_box_109_numerical">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9" name="equation_110_numerical"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269" name="equation_110_numerical"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270" name="line_111_numerical">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1" name="line_112_numerical">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2" name="line_113_numerical">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3" name="note_box_114_numerical">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4" name="equation_115_numerical"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74" name="equation_115_numerical"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116_numerical" descr="=2\cdot2\cdot\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75" name="equation_116_numerical"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117_numerical" descr="=2\cdot2\cdot1">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=2⋅2⋅1</m:t>
                      </m:r>
                    </m:oMath>
                  </m:oMathPara>
                </a14:m>
                <a:endParaRPr lang="en-GB" sz="2000"/>
              </a:p>
            </p:txBody>
          </p:sp>
        </mc:Choice>
        <mc:Fallback xmlns="">
          <p:sp>
            <p:nvSpPr>
              <p:cNvPr id="276" name="equation_117_numerical"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77" name="note_box_118_numerical">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9" name="note_box_120_numerical">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281" name="note_brace_122_numerical">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3_numerical">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4_numerical">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84" name="equation_125_numerical"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84" name="equation_125_numerical"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5" name="text_126_numerical">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86" name="note_box_127_numerical">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8" name="note_box_129_numerical">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290" name="note_brace_131_numerical">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1" name="text_132_numerical">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2" name="note_box_133_numerical">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3" name="equation_134_numerical"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293" name="equation_134_numerical"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294" name="text_135_numerical">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95" name="note_box_136_numerical">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7" name="note_box_138_numerical">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299" name="note_brace_140_numerical">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0" name="text_141_numerical">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1" name="shape_69_result">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2" name="note_box_70_result">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3" name="text_71_result">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4" name="note_box_72_result">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5" name="text_73_result">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6" name="note_box_74_result">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7" name="text_75_result">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8" name="note_box_76_result">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9" name="equation_77_result"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9" name="equation_77_result"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0" name="equation_78_result"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310" name="equation_78_result"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1" name="note_box_79_result">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2" name="equation_80_result"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2" name="equation_80_result"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81_result"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3" name="equation_81_result"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4" name="line_82_result">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5" name="text_83_result">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6" name="note_box_84_result">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7" name="equation_85_result"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7" name="equation_85_result"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86_result"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8" name="equation_86_result"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19" name="line_87_result">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0" name="text_88_result">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1" name="note_box_89_result">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2" name="equation_90_result"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2" name="equation_90_result"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91_result"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3" name="equation_91_result"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4" name="line_92_result">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5" name="text_93_result">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6" name="note_box_94_result">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7" name="equation_95_result"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7" name="equation_95_result"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96_result"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8" name="equation_96_result"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9" name="line_97_result">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0" name="text_98_result">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1" name="note_box_99_result">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2" name="equation_100_result"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2" name="equation_100_result"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equation_101_result"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3" name="equation_101_result"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4" name="line_102_result">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5" name="text_103_result">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6" name="note_box_104_result">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7" name="equation_105_result"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7" name="equation_105_result"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equation_106_result"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8" name="equation_106_result"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9" name="line_107_result">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0" name="text_108_result">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1" name="note_box_109_result">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2" name="equation_110_result"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342" name="equation_110_result"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343" name="line_111_result">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4" name="line_112_result">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5" name="line_113_result">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6" name="note_box_114_result">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47" name="equation_115_result"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47" name="equation_115_result"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8" name="equation_116_result" descr="=4">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a:p>
            </p:txBody>
          </p:sp>
        </mc:Choice>
        <mc:Fallback xmlns="">
          <p:sp>
            <p:nvSpPr>
              <p:cNvPr id="348" name="equation_116_result"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equation_117_result">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49" name="equation_117_result"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50" name="note_box_118_result">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52" name="note_box_120_result">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354" name="note_brace_122_result">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3_result">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4_result">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7" name="equation_125_result"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57" name="equation_125_result"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8" name="text_126_result">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59" name="note_box_127_result">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61" name="note_box_129_result">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363" name="note_brace_131_result">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4" name="text_132_result">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5" name="note_box_133_result">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4_result"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366" name="equation_134_result"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367" name="text_135_result">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8" name="note_box_136_result">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70" name="note_box_138_result">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372" name="note_brace_140_result">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3" name="text_141_result">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9"/>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4">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0" name="equation_196" descr="=J'_{2}(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31"/>
                <a:stretch>
                  <a:fillRect l="-2985" r="-213"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2"/>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p:cNvSpPr>
              <p:nvPr/>
            </p:nvSpPr>
            <p:spPr>
              <a:xfrm>
                <a:off x="1364742" y="5467349"/>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=4</m:t>
                      </m:r>
                    </m:oMath>
                  </m:oMathPara>
                </a14:m>
                <a:endParaRPr lang="en-GB" sz="2000" dirty="0"/>
              </a:p>
            </p:txBody>
          </p:sp>
        </mc:Choice>
        <mc:Fallback xmlns="">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64742" y="5467349"/>
                <a:ext cx="2857500" cy="581025"/>
              </a:xfrm>
              <a:prstGeom prst="rect">
                <a:avLst/>
              </a:prstGeom>
              <a:blipFill>
                <a:blip r:embed="rId33"/>
                <a:stretch>
                  <a:fillRect b="-6316"/>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a_2(x))=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0" name="equation_206" descr="J'_{2}(a_2(x))=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34"/>
                <a:stretch>
                  <a:fillRect b="-6849"/>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dirty="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35"/>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99"/>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0"/>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1"/>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2"/>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3"/>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8" grpId="0" animBg="1"/>
      <p:bldP spid="229" grpId="0" animBg="1"/>
      <p:bldP spid="230" grpId="0"/>
      <p:bldP spid="231" grpId="0" animBg="1"/>
      <p:bldP spid="232" grpId="0"/>
      <p:bldP spid="233" grpId="0" animBg="1"/>
      <p:bldP spid="234" grpId="0"/>
      <p:bldP spid="235" grpId="0" animBg="1"/>
      <p:bldP spid="236" grpId="0"/>
      <p:bldP spid="237" grpId="0"/>
      <p:bldP spid="238" grpId="0" animBg="1"/>
      <p:bldP spid="239" grpId="0"/>
      <p:bldP spid="240" grpId="0"/>
      <p:bldP spid="241" grpId="0" animBg="1"/>
      <p:bldP spid="242" grpId="0"/>
      <p:bldP spid="243" grpId="0" animBg="1"/>
      <p:bldP spid="244" grpId="0"/>
      <p:bldP spid="245" grpId="0"/>
      <p:bldP spid="246" grpId="0" animBg="1"/>
      <p:bldP spid="247" grpId="0"/>
      <p:bldP spid="248" grpId="0" animBg="1"/>
      <p:bldP spid="249" grpId="0"/>
      <p:bldP spid="250" grpId="0"/>
      <p:bldP spid="251" grpId="0" animBg="1"/>
      <p:bldP spid="252" grpId="0"/>
      <p:bldP spid="253" grpId="0" animBg="1"/>
      <p:bldP spid="254" grpId="0"/>
      <p:bldP spid="255" grpId="0"/>
      <p:bldP spid="256" grpId="0" animBg="1"/>
      <p:bldP spid="257" grpId="0"/>
      <p:bldP spid="258" grpId="0" animBg="1"/>
      <p:bldP spid="259" grpId="0"/>
      <p:bldP spid="260" grpId="0"/>
      <p:bldP spid="261" grpId="0" animBg="1"/>
      <p:bldP spid="262" grpId="0"/>
      <p:bldP spid="263" grpId="0" animBg="1"/>
      <p:bldP spid="264" grpId="0"/>
      <p:bldP spid="265" grpId="0"/>
      <p:bldP spid="266" grpId="0" animBg="1"/>
      <p:bldP spid="267" grpId="0"/>
      <p:bldP spid="268" grpId="0" animBg="1"/>
      <p:bldP spid="269" grpId="0"/>
      <p:bldP spid="270" grpId="0" animBg="1"/>
      <p:bldP spid="271" grpId="0" animBg="1"/>
      <p:bldP spid="272" grpId="0" animBg="1"/>
      <p:bldP spid="273" grpId="0" animBg="1"/>
      <p:bldP spid="274" grpId="0"/>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p:bldP spid="297" grpId="0" animBg="1"/>
      <p:bldP spid="298" grpId="0"/>
      <p:bldP spid="299" grpId="0" animBg="1"/>
      <p:bldP spid="300" grpId="0"/>
      <p:bldP spid="301" grpId="0" animBg="1"/>
      <p:bldP spid="302" grpId="0" animBg="1"/>
      <p:bldP spid="303" grpId="0"/>
      <p:bldP spid="304" grpId="0" animBg="1"/>
      <p:bldP spid="305" grpId="0"/>
      <p:bldP spid="306" grpId="0" animBg="1"/>
      <p:bldP spid="307" grpId="0"/>
      <p:bldP spid="308" grpId="0" animBg="1"/>
      <p:bldP spid="309" grpId="0"/>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p:bldP spid="334" grpId="0" animBg="1"/>
      <p:bldP spid="335" grpId="0"/>
      <p:bldP spid="336" grpId="0" animBg="1"/>
      <p:bldP spid="337" grpId="0"/>
      <p:bldP spid="338" grpId="0"/>
      <p:bldP spid="339" grpId="0" animBg="1"/>
      <p:bldP spid="340" grpId="0"/>
      <p:bldP spid="341" grpId="0" animBg="1"/>
      <p:bldP spid="342" grpId="0"/>
      <p:bldP spid="343" grpId="0" animBg="1"/>
      <p:bldP spid="344" grpId="0" animBg="1"/>
      <p:bldP spid="345" grpId="0" animBg="1"/>
      <p:bldP spid="346" grpId="0" animBg="1"/>
      <p:bldP spid="347" grpId="0"/>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animBg="1"/>
      <p:bldP spid="360" grpId="0"/>
      <p:bldP spid="361" grpId="0" animBg="1"/>
      <p:bldP spid="362" grpId="0"/>
      <p:bldP spid="363" grpId="0" animBg="1"/>
      <p:bldP spid="364" grpId="0"/>
      <p:bldP spid="365" grpId="0" animBg="1"/>
      <p:bldP spid="366" grpId="0"/>
      <p:bldP spid="367" grpId="0"/>
      <p:bldP spid="368" grpId="0" animBg="1"/>
      <p:bldP spid="369" grpId="0"/>
      <p:bldP spid="370" grpId="0" animBg="1"/>
      <p:bldP spid="371" grpId="0"/>
      <p:bldP spid="372" grpId="0" animBg="1"/>
      <p:bldP spid="373"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2066925"/>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smtClean="0">
                          <a:solidFill>
                            <a:srgbClr val="7030A0"/>
                          </a:solidFill>
                          <a:latin typeface="Cambria Math"/>
                          <a:ea typeface="Cambria Math"/>
                          <a:cs typeface="Cambria Math"/>
                        </a:rPr>
                        <m:t>∇</m:t>
                      </m:r>
                      <m:sSub>
                        <m:sSubPr>
                          <m:ctrlPr>
                            <a:rPr lang="en-GB" sz="3500">
                              <a:solidFill>
                                <a:srgbClr val="7030A0"/>
                              </a:solidFill>
                              <a:latin typeface="Cambria Math"/>
                              <a:ea typeface="Cambria Math"/>
                              <a:cs typeface="Cambria Math"/>
                            </a:rPr>
                          </m:ctrlPr>
                        </m:sSubPr>
                        <m:e>
                          <m:r>
                            <a:rPr lang="en-GB" sz="3500">
                              <a:solidFill>
                                <a:srgbClr val="7030A0"/>
                              </a:solidFill>
                              <a:latin typeface="Cambria Math"/>
                              <a:ea typeface="Cambria Math"/>
                              <a:cs typeface="Cambria Math"/>
                            </a:rPr>
                            <m:t>ℒ</m:t>
                          </m:r>
                        </m:e>
                        <m:sub>
                          <m:r>
                            <m:rPr>
                              <m:sty m:val="p"/>
                            </m:rPr>
                            <a:rPr lang="en-GB" sz="3500">
                              <a:solidFill>
                                <a:srgbClr val="7030A0"/>
                              </a:solidFill>
                              <a:latin typeface="Cambria Math"/>
                              <a:ea typeface="Cambria Math"/>
                              <a:cs typeface="Cambria Math"/>
                            </a:rPr>
                            <m:t>sq</m:t>
                          </m:r>
                        </m:sub>
                      </m:sSub>
                      <m:d>
                        <m:dPr>
                          <m:ctrlPr>
                            <a:rPr lang="en-GB" sz="3500" i="1">
                              <a:solidFill>
                                <a:srgbClr val="7030A0"/>
                              </a:solidFill>
                              <a:latin typeface="Cambria Math" panose="02040503050406030204" pitchFamily="18" charset="0"/>
                              <a:ea typeface="Cambria Math"/>
                              <a:cs typeface="Cambria Math"/>
                            </a:rPr>
                          </m:ctrlPr>
                        </m:dPr>
                        <m:e>
                          <m:sSup>
                            <m:sSupPr>
                              <m:ctrlPr>
                                <a:rPr lang="en-GB" sz="3500">
                                  <a:solidFill>
                                    <a:srgbClr val="7030A0"/>
                                  </a:solidFill>
                                  <a:latin typeface="Cambria Math"/>
                                  <a:ea typeface="Cambria Math"/>
                                  <a:cs typeface="Cambria Math"/>
                                </a:rPr>
                              </m:ctrlPr>
                            </m:sSupPr>
                            <m:e>
                              <m:r>
                                <a:rPr lang="en-GB" sz="3500">
                                  <a:solidFill>
                                    <a:srgbClr val="7030A0"/>
                                  </a:solidFill>
                                  <a:latin typeface="Cambria Math"/>
                                  <a:ea typeface="Cambria Math"/>
                                  <a:cs typeface="Cambria Math"/>
                                </a:rPr>
                                <m:t>𝛉</m:t>
                              </m:r>
                            </m:e>
                            <m:sup>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𝑡</m:t>
                                  </m:r>
                                </m:e>
                              </m:d>
                            </m:sup>
                          </m:sSup>
                        </m:e>
                      </m:d>
                      <m:r>
                        <a:rPr lang="en-GB" sz="3500">
                          <a:solidFill>
                            <a:srgbClr val="7030A0"/>
                          </a:solidFill>
                          <a:latin typeface="Cambria Math"/>
                          <a:ea typeface="Cambria Math"/>
                          <a:cs typeface="Cambria Math"/>
                        </a:rPr>
                        <m:t>=</m:t>
                      </m:r>
                      <m:sSup>
                        <m:sSupPr>
                          <m:ctrlPr>
                            <a:rPr lang="en-GB" sz="3500" i="1">
                              <a:solidFill>
                                <a:srgbClr val="7030A0"/>
                              </a:solidFill>
                              <a:latin typeface="Cambria Math" panose="02040503050406030204" pitchFamily="18" charset="0"/>
                              <a:ea typeface="Cambria Math"/>
                              <a:cs typeface="Cambria Math"/>
                            </a:rPr>
                          </m:ctrlPr>
                        </m:sSupPr>
                        <m:e>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4,8,2,6,−2,−10</m:t>
                              </m:r>
                            </m:e>
                          </m:d>
                        </m:e>
                        <m:sup>
                          <m:r>
                            <a:rPr lang="en-GB" sz="3500">
                              <a:solidFill>
                                <a:srgbClr val="7030A0"/>
                              </a:solidFill>
                              <a:latin typeface="Cambria Math"/>
                              <a:ea typeface="Cambria Math"/>
                              <a:cs typeface="Cambria Math"/>
                            </a:rPr>
                            <m:t>𝖳</m:t>
                          </m:r>
                        </m:sup>
                      </m:sSup>
                    </m:oMath>
                  </m:oMathPara>
                </a14:m>
                <a:endParaRPr lang="en-GB" sz="3500" dirty="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2066925"/>
                <a:ext cx="108585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30289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3028950"/>
                <a:ext cx="11144250" cy="9334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323850" y="4495800"/>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7"/>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12"/>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23</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Tree>
    <p:extLst>
      <p:ext uri="{BB962C8B-B14F-4D97-AF65-F5344CB8AC3E}">
        <p14:creationId xmlns:p14="http://schemas.microsoft.com/office/powerpoint/2010/main" val="850935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final affine row is the network output; no </a:t>
            </a:r>
            <a:r>
              <a:rPr sz="1875" b="1" dirty="0" err="1">
                <a:solidFill>
                  <a:srgbClr val="182D45"/>
                </a:solidFill>
                <a:latin typeface="DejaVu Sans"/>
                <a:ea typeface="DejaVu Sans"/>
                <a:cs typeface="DejaVu Sans"/>
              </a:rPr>
              <a:t>ReLU</a:t>
            </a:r>
            <a:r>
              <a:rPr sz="1875" b="1" dirty="0">
                <a:solidFill>
                  <a:srgbClr val="182D45"/>
                </a:solidFill>
                <a:latin typeface="DejaVu Sans"/>
                <a:ea typeface="DejaVu Sans"/>
                <a:cs typeface="DejaVu Sans"/>
              </a:rPr>
              <a:t>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err="1">
                <a:solidFill>
                  <a:srgbClr val="FF0000"/>
                </a:solidFill>
                <a:latin typeface="DejaVu Sans"/>
                <a:ea typeface="DejaVu Sans"/>
                <a:cs typeface="DejaVu Sans"/>
              </a:rPr>
              <a:t>Preactivations</a:t>
            </a:r>
            <a:endParaRPr sz="1875" dirty="0">
              <a:solidFill>
                <a:srgbClr val="FF0000"/>
              </a:solidFill>
              <a:latin typeface="DejaVu Sans"/>
              <a:ea typeface="DejaVu Sans"/>
              <a:cs typeface="DejaVu Sans"/>
            </a:endParaRP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25</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7" name="equation_3" descr="J_{r}:\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1"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7" name="equation_3" descr="J_{r}:\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𝐑𝐞𝐋𝐔</m:t>
                          </m:r>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𝐖</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𝐛</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e>
                      </m:d>
                      <m:r>
                        <a:rPr lang="en-GB" sz="2800">
                          <a:solidFill>
                            <a:srgbClr val="FF0000"/>
                          </a:solidFill>
                          <a:latin typeface="Cambria Math"/>
                          <a:ea typeface="Cambria Math"/>
                          <a:cs typeface="Cambria Math"/>
                        </a:rPr>
                        <m:t>, </m:t>
                      </m:r>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&lt;</m:t>
                      </m:r>
                      <m:r>
                        <a:rPr lang="en-GB" sz="2800">
                          <a:solidFill>
                            <a:srgbClr val="FF0000"/>
                          </a:solidFill>
                          <a:latin typeface="Cambria Math"/>
                          <a:ea typeface="Cambria Math"/>
                          <a:cs typeface="Cambria Math"/>
                        </a:rPr>
                        <m:t>𝐿</m:t>
                      </m:r>
                    </m:oMath>
                  </m:oMathPara>
                </a14:m>
                <a:endParaRPr lang="en-GB" sz="2800" dirty="0">
                  <a:solidFill>
                    <a:srgbClr val="FF0000"/>
                  </a:solidFill>
                </a:endParaRPr>
              </a:p>
            </p:txBody>
          </p:sp>
        </mc:Choice>
        <mc:Fallback xmlns="">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𝐿</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it-IT" sz="2800" b="0" i="1" smtClean="0">
                          <a:solidFill>
                            <a:srgbClr val="FF0000"/>
                          </a:solidFill>
                          <a:latin typeface="Cambria Math" panose="02040503050406030204" pitchFamily="18" charset="0"/>
                          <a:ea typeface="Cambria Math"/>
                          <a:cs typeface="Cambria Math"/>
                        </a:rPr>
                        <m:t>=</m:t>
                      </m:r>
                      <m:sSub>
                        <m:sSubPr>
                          <m:ctrlPr>
                            <a:rPr lang="it-IT" sz="2800" b="0" i="1" smtClean="0">
                              <a:solidFill>
                                <a:srgbClr val="FF0000"/>
                              </a:solidFill>
                              <a:latin typeface="Cambria Math" panose="02040503050406030204" pitchFamily="18" charset="0"/>
                              <a:ea typeface="Cambria Math"/>
                              <a:cs typeface="Cambria Math"/>
                            </a:rPr>
                          </m:ctrlPr>
                        </m:sSubPr>
                        <m:e>
                          <m:r>
                            <a:rPr lang="it-IT" sz="2800" b="0" i="1" smtClean="0">
                              <a:solidFill>
                                <a:srgbClr val="FF0000"/>
                              </a:solidFill>
                              <a:latin typeface="Cambria Math" panose="02040503050406030204" pitchFamily="18" charset="0"/>
                              <a:ea typeface="Cambria Math"/>
                              <a:cs typeface="Cambria Math"/>
                            </a:rPr>
                            <m:t>𝐽</m:t>
                          </m:r>
                        </m:e>
                        <m:sub>
                          <m:r>
                            <a:rPr lang="it-IT" sz="2800" b="0" i="1" smtClean="0">
                              <a:solidFill>
                                <a:srgbClr val="FF0000"/>
                              </a:solidFill>
                              <a:latin typeface="Cambria Math" panose="02040503050406030204" pitchFamily="18" charset="0"/>
                              <a:ea typeface="Cambria Math"/>
                              <a:cs typeface="Cambria Math"/>
                            </a:rPr>
                            <m:t>𝐿</m:t>
                          </m:r>
                        </m:sub>
                      </m:sSub>
                      <m:d>
                        <m:dPr>
                          <m:ctrlPr>
                            <a:rPr lang="it-IT" sz="2800" b="0" i="1" smtClean="0">
                              <a:solidFill>
                                <a:srgbClr val="FF0000"/>
                              </a:solidFill>
                              <a:latin typeface="Cambria Math" panose="02040503050406030204" pitchFamily="18" charset="0"/>
                              <a:ea typeface="Cambria Math"/>
                            </a:rPr>
                          </m:ctrlPr>
                        </m:dPr>
                        <m:e>
                          <m:d>
                            <m:dPr>
                              <m:begChr m:val="["/>
                              <m:endChr m:val="]"/>
                              <m:ctrlPr>
                                <a:rPr lang="it-IT" sz="2800" b="0" i="1" smtClean="0">
                                  <a:solidFill>
                                    <a:srgbClr val="FF0000"/>
                                  </a:solidFill>
                                  <a:latin typeface="Cambria Math" panose="02040503050406030204" pitchFamily="18" charset="0"/>
                                  <a:ea typeface="Cambria Math"/>
                                </a:rPr>
                              </m:ctrlPr>
                            </m:dPr>
                            <m:e>
                              <m:sSub>
                                <m:sSubPr>
                                  <m:ctrlPr>
                                    <a:rPr lang="it-IT" sz="2800" b="0" i="1" smtClean="0">
                                      <a:solidFill>
                                        <a:srgbClr val="FF0000"/>
                                      </a:solidFill>
                                      <a:latin typeface="Cambria Math" panose="02040503050406030204" pitchFamily="18" charset="0"/>
                                      <a:ea typeface="Cambria Math"/>
                                    </a:rPr>
                                  </m:ctrlPr>
                                </m:sSubPr>
                                <m:e>
                                  <m:r>
                                    <a:rPr lang="it-IT" sz="2800" b="0" i="1" smtClean="0">
                                      <a:solidFill>
                                        <a:srgbClr val="FF0000"/>
                                      </a:solidFill>
                                      <a:latin typeface="Cambria Math" panose="02040503050406030204" pitchFamily="18" charset="0"/>
                                      <a:ea typeface="Cambria Math"/>
                                    </a:rPr>
                                    <m:t>𝑢</m:t>
                                  </m:r>
                                </m:e>
                                <m:sub>
                                  <m:r>
                                    <a:rPr lang="it-IT" sz="2800" b="0" i="1" smtClean="0">
                                      <a:solidFill>
                                        <a:srgbClr val="FF0000"/>
                                      </a:solidFill>
                                      <a:latin typeface="Cambria Math" panose="02040503050406030204" pitchFamily="18" charset="0"/>
                                      <a:ea typeface="Cambria Math"/>
                                    </a:rPr>
                                    <m:t>1</m:t>
                                  </m:r>
                                </m:sub>
                              </m:sSub>
                            </m:e>
                          </m:d>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𝑢</m:t>
                          </m:r>
                        </m:e>
                        <m:sub>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Sup>
                        <m:sSupPr>
                          <m:ctrlPr>
                            <a:rPr lang="en-GB" sz="2800">
                              <a:solidFill>
                                <a:srgbClr val="FF0000"/>
                              </a:solidFill>
                              <a:latin typeface="Cambria Math"/>
                              <a:ea typeface="Cambria Math"/>
                              <a:cs typeface="Cambria Math"/>
                            </a:rPr>
                          </m:ctrlPr>
                        </m:sSupPr>
                        <m:e>
                          <m:r>
                            <a:rPr lang="en-GB" sz="2800">
                              <a:solidFill>
                                <a:srgbClr val="FF0000"/>
                              </a:solidFill>
                              <a:latin typeface="Cambria Math"/>
                              <a:ea typeface="Cambria Math"/>
                              <a:cs typeface="Cambria Math"/>
                            </a:rPr>
                            <m:t>)</m:t>
                          </m:r>
                        </m:e>
                        <m:sup>
                          <m:r>
                            <a:rPr lang="en-GB" sz="2800">
                              <a:solidFill>
                                <a:srgbClr val="FF0000"/>
                              </a:solidFill>
                              <a:latin typeface="Cambria Math"/>
                              <a:ea typeface="Cambria Math"/>
                              <a:cs typeface="Cambria Math"/>
                            </a:rPr>
                            <m:t>2</m:t>
                          </m:r>
                        </m:sup>
                      </m:sSup>
                    </m:oMath>
                  </m:oMathPara>
                </a14:m>
                <a:endParaRPr sz="2800" dirty="0"/>
              </a:p>
            </p:txBody>
          </p:sp>
        </mc:Choice>
        <mc:Fallback xmlns="">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Two different</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dirty="0">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dirty="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dirty="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dirty="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27</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dirty="0">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dirty="0">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dirty="0">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5" name="lead">
                <a:extLst>
                  <a:ext uri="{FF2B5EF4-FFF2-40B4-BE49-F238E27FC236}">
                    <a16:creationId xmlns:a16="http://schemas.microsoft.com/office/drawing/2014/main" id="{9DA703B0-0BF6-CFE0-6932-355F48F919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I</a:t>
                </a:r>
                <a:r>
                  <a:rPr lang="en-GB" sz="2175" b="0" dirty="0" err="1">
                    <a:solidFill>
                      <a:srgbClr val="526276"/>
                    </a:solidFill>
                    <a:latin typeface="DejaVu Sans"/>
                    <a:ea typeface="DejaVu Sans"/>
                    <a:cs typeface="DejaVu Sans"/>
                  </a:rPr>
                  <a:t>dentify</a:t>
                </a:r>
                <a:r>
                  <a:rPr lang="en-GB" sz="2175" b="0" dirty="0">
                    <a:solidFill>
                      <a:srgbClr val="526276"/>
                    </a:solidFill>
                    <a:latin typeface="DejaVu Sans"/>
                    <a:ea typeface="DejaVu Sans"/>
                    <a:cs typeface="DejaVu Sans"/>
                  </a:rPr>
                  <a:t> each number with a </a:t>
                </a:r>
                <a14:m>
                  <m:oMath xmlns:m="http://schemas.openxmlformats.org/officeDocument/2006/math">
                    <m:r>
                      <a:rPr lang="en-GB" sz="2175">
                        <a:solidFill>
                          <a:srgbClr val="526276"/>
                        </a:solidFill>
                        <a:latin typeface="Cambria Math"/>
                        <a:ea typeface="Cambria Math"/>
                        <a:cs typeface="Cambria Math"/>
                      </a:rPr>
                      <m:t>1×1</m:t>
                    </m:r>
                  </m:oMath>
                </a14:m>
                <a:r>
                  <a:rPr lang="en-GB" sz="2175" b="0" dirty="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Transposes leave </a:t>
                </a:r>
                <a14:m>
                  <m:oMath xmlns:m="http://schemas.openxmlformats.org/officeDocument/2006/math">
                    <m:r>
                      <a:rPr lang="en-GB" sz="2175">
                        <a:solidFill>
                          <a:srgbClr val="526276"/>
                        </a:solidFill>
                        <a:latin typeface="Cambria Math"/>
                        <a:ea typeface="Cambria Math"/>
                        <a:cs typeface="Cambria Math"/>
                      </a:rPr>
                      <m:t>1×1</m:t>
                    </m:r>
                  </m:oMath>
                </a14:m>
                <a:r>
                  <a:rPr lang="en-GB" sz="2175" dirty="0">
                    <a:solidFill>
                      <a:srgbClr val="526276"/>
                    </a:solidFill>
                    <a:latin typeface="DejaVu Sans"/>
                    <a:ea typeface="DejaVu Sans"/>
                    <a:cs typeface="DejaVu Sans"/>
                  </a:rPr>
                  <a:t> matrices unchanged</a:t>
                </a:r>
                <a:endParaRPr lang="en-GB"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Both </a:t>
                </a:r>
                <a14:m>
                  <m:oMath xmlns:m="http://schemas.openxmlformats.org/officeDocument/2006/math">
                    <m:r>
                      <a:rPr lang="en-GB" sz="2400">
                        <a:solidFill>
                          <a:srgbClr val="78459A"/>
                        </a:solidFill>
                        <a:latin typeface="Cambria Math"/>
                        <a:ea typeface="Cambria Math"/>
                        <a:cs typeface="Cambria Math"/>
                      </a:rPr>
                      <m:t>⋅</m:t>
                    </m:r>
                  </m:oMath>
                </a14:m>
                <a:r>
                  <a:rPr lang="en-GB" sz="2175" dirty="0">
                    <a:solidFill>
                      <a:srgbClr val="526276"/>
                    </a:solidFill>
                    <a:latin typeface="DejaVu Sans"/>
                    <a:ea typeface="DejaVu Sans"/>
                    <a:cs typeface="DejaVu Sans"/>
                  </a:rPr>
                  <a:t> and </a:t>
                </a:r>
                <a14:m>
                  <m:oMath xmlns:m="http://schemas.openxmlformats.org/officeDocument/2006/math">
                    <m:r>
                      <a:rPr lang="en-GB" sz="2400">
                        <a:solidFill>
                          <a:srgbClr val="167B32"/>
                        </a:solidFill>
                        <a:latin typeface="Cambria Math"/>
                        <a:ea typeface="Cambria Math"/>
                        <a:cs typeface="Cambria Math"/>
                      </a:rPr>
                      <m:t>⊙</m:t>
                    </m:r>
                  </m:oMath>
                </a14:m>
                <a:r>
                  <a:rPr lang="en-GB" sz="2175" dirty="0">
                    <a:solidFill>
                      <a:srgbClr val="526276"/>
                    </a:solidFill>
                    <a:latin typeface="DejaVu Sans"/>
                    <a:ea typeface="DejaVu Sans"/>
                    <a:cs typeface="DejaVu Sans"/>
                  </a:rPr>
                  <a:t> act as scalar multiplication for </a:t>
                </a:r>
                <a14:m>
                  <m:oMath xmlns:m="http://schemas.openxmlformats.org/officeDocument/2006/math">
                    <m:r>
                      <a:rPr lang="en-GB" sz="2175">
                        <a:solidFill>
                          <a:srgbClr val="526276"/>
                        </a:solidFill>
                        <a:latin typeface="Cambria Math"/>
                        <a:ea typeface="Cambria Math"/>
                        <a:cs typeface="Cambria Math"/>
                      </a:rPr>
                      <m:t>1×1</m:t>
                    </m:r>
                  </m:oMath>
                </a14:m>
                <a:r>
                  <a:rPr lang="en-GB" sz="2175" dirty="0">
                    <a:solidFill>
                      <a:srgbClr val="526276"/>
                    </a:solidFill>
                    <a:latin typeface="DejaVu Sans"/>
                    <a:ea typeface="DejaVu Sans"/>
                    <a:cs typeface="DejaVu Sans"/>
                  </a:rPr>
                  <a:t> matrices</a:t>
                </a:r>
                <a:endParaRPr sz="2175" b="0" dirty="0">
                  <a:solidFill>
                    <a:srgbClr val="526276"/>
                  </a:solidFill>
                  <a:latin typeface="DejaVu Sans"/>
                  <a:ea typeface="DejaVu Sans"/>
                  <a:cs typeface="DejaVu Sans"/>
                </a:endParaRPr>
              </a:p>
            </p:txBody>
          </p:sp>
        </mc:Choice>
        <mc:Fallback>
          <p:sp>
            <p:nvSpPr>
              <p:cNvPr id="35" name="lead">
                <a:extLst>
                  <a:ext uri="{FF2B5EF4-FFF2-40B4-BE49-F238E27FC236}">
                    <a16:creationId xmlns:a16="http://schemas.microsoft.com/office/drawing/2014/main" id="{9DA703B0-0BF6-CFE0-6932-355F48F919E3}"/>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16"/>
                <a:stretch>
                  <a:fillRect t="-31148" b="-3934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We</a:t>
            </a:r>
            <a:r>
              <a:rPr lang="it-IT" sz="2175" b="0" dirty="0">
                <a:solidFill>
                  <a:srgbClr val="526276"/>
                </a:solidFill>
                <a:latin typeface="DejaVu Sans"/>
                <a:ea typeface="DejaVu Sans"/>
                <a:cs typeface="DejaVu Sans"/>
              </a:rPr>
              <a:t> can </a:t>
            </a:r>
            <a:r>
              <a:rPr lang="it-IT" sz="2175" b="0" dirty="0" err="1">
                <a:solidFill>
                  <a:srgbClr val="526276"/>
                </a:solidFill>
                <a:latin typeface="DejaVu Sans"/>
                <a:ea typeface="DejaVu Sans"/>
                <a:cs typeface="DejaVu Sans"/>
              </a:rPr>
              <a:t>rewrite</a:t>
            </a:r>
            <a:r>
              <a:rPr lang="it-IT" sz="2175" b="0" dirty="0">
                <a:solidFill>
                  <a:srgbClr val="526276"/>
                </a:solidFill>
                <a:latin typeface="DejaVu Sans"/>
                <a:ea typeface="DejaVu Sans"/>
                <a:cs typeface="DejaVu Sans"/>
              </a:rPr>
              <a:t> the </a:t>
            </a:r>
            <a:r>
              <a:rPr lang="it-IT" sz="2175" b="0" dirty="0" err="1">
                <a:solidFill>
                  <a:srgbClr val="526276"/>
                </a:solidFill>
                <a:latin typeface="DejaVu Sans"/>
                <a:ea typeface="DejaVu Sans"/>
                <a:cs typeface="DejaVu Sans"/>
              </a:rPr>
              <a:t>backward</a:t>
            </a:r>
            <a:r>
              <a:rPr lang="it-IT" sz="2175" b="0" dirty="0">
                <a:solidFill>
                  <a:srgbClr val="526276"/>
                </a:solidFill>
                <a:latin typeface="DejaVu Sans"/>
                <a:ea typeface="DejaVu Sans"/>
                <a:cs typeface="DejaVu Sans"/>
              </a:rPr>
              <a:t> step </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75CCEB02-C3B2-449B-899A-FE18D5C85428}"/>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093C9229-7576-4D9D-BF01-D88F40986F07}"/>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wider network</a:t>
            </a:r>
          </a:p>
        </p:txBody>
      </p:sp>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29</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mathbf{a}_{r-1}(\mathbf{x}))">
                <a:extLst>
                  <a:ext uri="{FF2B5EF4-FFF2-40B4-BE49-F238E27FC236}">
                    <a16:creationId xmlns:a16="http://schemas.microsoft.com/office/drawing/2014/main" id="{9ABF777F-E289-40B4-A93A-EDF67333392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21"/>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mathbf{a}_r(\mathbf{x}))">
                <a:extLst>
                  <a:ext uri="{FF2B5EF4-FFF2-40B4-BE49-F238E27FC236}">
                    <a16:creationId xmlns:a16="http://schemas.microsoft.com/office/drawing/2014/main" id="{06001031-F9CD-437E-A3AD-658699A3D0F9}"/>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22"/>
                <a:stretch>
                  <a:fillRect b="-1087"/>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24"/>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25"/>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
        <p:nvSpPr>
          <p:cNvPr id="5" name="lead">
            <a:extLst>
              <a:ext uri="{FF2B5EF4-FFF2-40B4-BE49-F238E27FC236}">
                <a16:creationId xmlns:a16="http://schemas.microsoft.com/office/drawing/2014/main" id="{7509500D-0463-34B1-E91C-9131ED006D6A}"/>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To </a:t>
            </a:r>
            <a:r>
              <a:rPr lang="it-IT" sz="2175" b="0" dirty="0" err="1">
                <a:solidFill>
                  <a:srgbClr val="526276"/>
                </a:solidFill>
                <a:latin typeface="DejaVu Sans"/>
                <a:ea typeface="DejaVu Sans"/>
                <a:cs typeface="DejaVu Sans"/>
              </a:rPr>
              <a:t>obtain</a:t>
            </a:r>
            <a:r>
              <a:rPr lang="it-IT" sz="2175" b="0" dirty="0">
                <a:solidFill>
                  <a:srgbClr val="526276"/>
                </a:solidFill>
                <a:latin typeface="DejaVu Sans"/>
                <a:ea typeface="DejaVu Sans"/>
                <a:cs typeface="DejaVu Sans"/>
              </a:rPr>
              <a:t> the </a:t>
            </a:r>
            <a:r>
              <a:rPr lang="it-IT" sz="2175" b="0" dirty="0" err="1">
                <a:solidFill>
                  <a:srgbClr val="526276"/>
                </a:solidFill>
                <a:latin typeface="DejaVu Sans"/>
                <a:ea typeface="DejaVu Sans"/>
                <a:cs typeface="DejaVu Sans"/>
              </a:rPr>
              <a:t>wider</a:t>
            </a:r>
            <a:r>
              <a:rPr lang="it-IT" sz="2175" b="0" dirty="0">
                <a:solidFill>
                  <a:srgbClr val="526276"/>
                </a:solidFill>
                <a:latin typeface="DejaVu Sans"/>
                <a:ea typeface="DejaVu Sans"/>
                <a:cs typeface="DejaVu Sans"/>
              </a:rPr>
              <a:t> network </a:t>
            </a:r>
            <a:r>
              <a:rPr lang="it-IT" sz="2175" b="0" dirty="0" err="1">
                <a:solidFill>
                  <a:srgbClr val="526276"/>
                </a:solidFill>
                <a:latin typeface="DejaVu Sans"/>
                <a:ea typeface="DejaVu Sans"/>
                <a:cs typeface="DejaVu Sans"/>
              </a:rPr>
              <a:t>version</a:t>
            </a:r>
            <a:r>
              <a:rPr lang="it-IT"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replace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scalars</a:t>
            </a:r>
            <a:r>
              <a:rPr lang="it-IT" sz="2175" b="0" dirty="0">
                <a:solidFill>
                  <a:srgbClr val="526276"/>
                </a:solidFill>
                <a:latin typeface="DejaVu Sans"/>
                <a:ea typeface="DejaVu Sans"/>
                <a:cs typeface="DejaVu Sans"/>
              </a:rPr>
              <a:t> with </a:t>
            </a:r>
            <a:r>
              <a:rPr lang="it-IT" sz="2175" b="0" dirty="0" err="1">
                <a:solidFill>
                  <a:srgbClr val="526276"/>
                </a:solidFill>
                <a:latin typeface="DejaVu Sans"/>
                <a:ea typeface="DejaVu Sans"/>
                <a:cs typeface="DejaVu Sans"/>
              </a:rPr>
              <a:t>matrices</a:t>
            </a:r>
            <a:r>
              <a:rPr lang="it-IT" sz="2175" b="0" dirty="0">
                <a:solidFill>
                  <a:srgbClr val="526276"/>
                </a:solidFill>
                <a:latin typeface="DejaVu Sans"/>
                <a:ea typeface="DejaVu Sans"/>
                <a:cs typeface="DejaVu Sans"/>
              </a:rPr>
              <a:t> and </a:t>
            </a:r>
            <a:r>
              <a:rPr lang="it-IT" sz="2175" b="0" dirty="0" err="1">
                <a:solidFill>
                  <a:srgbClr val="526276"/>
                </a:solidFill>
                <a:latin typeface="DejaVu Sans"/>
                <a:ea typeface="DejaVu Sans"/>
                <a:cs typeface="DejaVu Sans"/>
              </a:rPr>
              <a:t>scalar derivatives</a:t>
            </a:r>
            <a:r>
              <a:rPr lang="it-IT" sz="2175" b="0" dirty="0">
                <a:solidFill>
                  <a:srgbClr val="526276"/>
                </a:solidFill>
                <a:latin typeface="DejaVu Sans"/>
                <a:ea typeface="DejaVu Sans"/>
                <a:cs typeface="DejaVu Sans"/>
              </a:rPr>
              <a:t> with </a:t>
            </a:r>
            <a:r>
              <a:rPr lang="it-IT" sz="2175" b="0" dirty="0" err="1">
                <a:solidFill>
                  <a:srgbClr val="526276"/>
                </a:solidFill>
                <a:latin typeface="DejaVu Sans"/>
                <a:ea typeface="DejaVu Sans"/>
                <a:cs typeface="DejaVu Sans"/>
              </a:rPr>
              <a:t>gradients.</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30</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31</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18"/>
                <a:stretch>
                  <a:fillRect b="-8571"/>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5"/>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26"/>
                <a:stretch>
                  <a:fillRect b="-4000"/>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xmlns="">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7"/>
                <a:stretch>
                  <a:fillRect t="-4478" b="-1791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15873"/>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a:t>
            </a:r>
          </a:p>
        </p:txBody>
      </p:sp>
    </p:spTree>
    <p:extLst>
      <p:ext uri="{BB962C8B-B14F-4D97-AF65-F5344CB8AC3E}">
        <p14:creationId xmlns:p14="http://schemas.microsoft.com/office/powerpoint/2010/main" val="1460307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35</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3" name="regression_loss" descr="J_{L}(\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23" name="regression_loss" descr="J_{L}(\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binary_loss" descr="J_{L}(\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xmlns="">
          <p:sp>
            <p:nvSpPr>
              <p:cNvPr id="24" name="binary_loss" descr="J_{L}(\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xmlns="">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xmlns="">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4" grpId="0"/>
      <p:bldP spid="26" grpId="0"/>
      <p:bldP spid="28" grpId="0"/>
      <p:bldP spid="29" grpId="0"/>
      <p:bldP spid="30" grpId="0"/>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36</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xmlns="">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𝛉</m:t>
                      </m:r>
                      <m:r>
                        <a:rPr lang="it-IT" sz="2800" b="0" i="1" smtClean="0">
                          <a:solidFill>
                            <a:srgbClr val="087F83"/>
                          </a:solidFill>
                          <a:latin typeface="Cambria Math" panose="02040503050406030204" pitchFamily="18" charset="0"/>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xmlns:a14="http://schemas.microsoft.com/office/drawing/2010/main">
        <mc:Choice Requires="a14">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xmlns="">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xmlns="">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xmlns="">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37</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38</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39</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lang="en-GB" sz="1350" b="0" dirty="0">
                <a:solidFill>
                  <a:srgbClr val="526276"/>
                </a:solidFill>
                <a:latin typeface="DejaVu Sans"/>
                <a:ea typeface="DejaVu Sans"/>
                <a:cs typeface="DejaVu Sans"/>
              </a:rPr>
              <a:t>40</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634</TotalTime>
  <Words>15469</Words>
  <Application>Microsoft Office PowerPoint</Application>
  <DocSecurity>0</DocSecurity>
  <PresentationFormat>Widescreen</PresentationFormat>
  <Paragraphs>2703</Paragraphs>
  <Slides>40</Slides>
  <Notes>40</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40</vt:i4>
      </vt:variant>
    </vt:vector>
  </HeadingPairs>
  <TitlesOfParts>
    <vt:vector size="48"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33</cp:revision>
  <dcterms:created xsi:type="dcterms:W3CDTF">2026-10-18T16:31:13Z</dcterms:created>
  <dcterms:modified xsi:type="dcterms:W3CDTF">2026-10-22T23:37:58Z</dcterms:modified>
</cp:coreProperties>
</file>