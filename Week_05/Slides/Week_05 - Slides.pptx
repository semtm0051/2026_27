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7" r:id="rId4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Two different products</a:t>
            </a:r>
          </a:p>
          <a:p>
            <a:r>
              <a:rPr lang="en-GB"/>
              <a:t>Suggested time: 1.1 minutes</a:t>
            </a:r>
          </a:p>
          <a:p>
            <a:r>
              <a:rPr lang="en-GB"/>
              <a:t>Target interval: 27:39–28:45 (including pauses).</a:t>
            </a:r>
          </a:p>
          <a:p>
            <a:r>
              <a:rPr lang="en-GB"/>
              <a:t>[ON ENTRY]</a:t>
            </a:r>
          </a:p>
          <a:p>
            <a:r>
              <a:rPr lang="en-GB"/>
              <a:t>The whole slide is visible immediately. There are no animation clicks on this slide. Here are two matrices, A and B. Both matrix multiplication and componentwise multiplication are defined for these shapes. The matrices are identical in both calculations.</a:t>
            </a:r>
          </a:p>
          <a:p>
            <a:r>
              <a:rPr lang="en-GB"/>
              <a:t>Compare the top-left entries. For the matrix product, take the first row of A and the first column of B: one times five plus two times seven gives nineteen. For the componentwise product, multiply the two top-left entries: one times five gives five. There is no sum.</a:t>
            </a:r>
          </a:p>
          <a:p>
            <a:r>
              <a:rPr lang="en-GB"/>
              <a:t>[PAUSE: 4 seconds.]</a:t>
            </a:r>
          </a:p>
          <a:p>
            <a:r>
              <a:rPr lang="en-GB"/>
              <a:t>Matrix multiplication combines contributions across coordinates. Componentwise multiplication keeps the coordinates separate. In general, the componentwise product requires matching shapes, whereas the matrix product requires matching inner dimensions. Backpropagation uses both, for different parts of the chain rule.</a:t>
            </a:r>
          </a:p>
          <a:p>
            <a:r>
              <a:rPr lang="en-GB"/>
              <a:t>[NEXT SLIDE]</a:t>
            </a:r>
          </a:p>
          <a:p>
            <a:r>
              <a:rPr lang="en-GB"/>
              <a:t>Now recall the complete scalar backward step. We will keep its diagram fixed, identify numbers with one-by-one matrices, and then allow several neurons per layer.</a:t>
            </a:r>
          </a:p>
          <a:p>
            <a:r>
              <a:rPr lang="en-GB"/>
              <a:t>Source: Week 5 lecture notes, pages 12–14.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28:45–29:15 (including pauses).</a:t>
            </a:r>
          </a:p>
          <a:p>
            <a:r>
              <a:rPr lang="en-GB"/>
              <a:t>[ON ENTRY]</a:t>
            </a:r>
          </a:p>
          <a:p>
            <a:r>
              <a:rPr lang="en-GB"/>
              <a:t>The scalar diagram is visible; the three observations above it are initially hidden. Recall the known derivative on the right. It supplies the preceding-layer derivative on the left and both parameter derivatives below. Every quantity is a number, and the products in the diagram are ordinary scalar multiplication.</a:t>
            </a:r>
          </a:p>
          <a:p>
            <a:r>
              <a:rPr lang="en-GB"/>
              <a:t>[CLICK1]</a:t>
            </a:r>
          </a:p>
          <a:p>
            <a:r>
              <a:rPr lang="en-GB"/>
              <a:t>The three observations appear together. Identify each number with a one-by-one matrix. Transposing a one-by-one matrix leaves its entry unchanged. Both matrix multiplication and componentwise multiplication reduce to multiplying the single entries. This lets us rewrite the scalar formulas with transposes and the two product symbols without changing their values.</a:t>
            </a:r>
          </a:p>
          <a:p>
            <a:r>
              <a:rPr lang="en-GB"/>
              <a:t>[NEXT SLIDE]</a:t>
            </a:r>
          </a:p>
          <a:p>
            <a:r>
              <a:rPr lang="en-GB"/>
              <a:t>Keep every box and arrow in the same place. We now 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29:15–29:35 (including pauses).</a:t>
            </a:r>
          </a:p>
          <a:p>
            <a:r>
              <a:rPr lang="en-GB"/>
              <a:t>[ON ENTRY]</a:t>
            </a:r>
          </a:p>
          <a:p>
            <a:r>
              <a:rPr lang="en-GB"/>
              <a:t>The whole diagram is visible immediately. There are no animation clicks on this slide. Using the one-by-one identification just introduced, compare the two rewritten formulas with the preceding slide.</a:t>
            </a:r>
          </a:p>
          <a:p>
            <a:r>
              <a:rPr lang="en-GB"/>
              <a:t>For the preceding-layer derivative, write the product with the transposed weight first, followed by the componentwise product with the step factor. For the weight derivative, transpose the saved input and multiply it by the known derivative. The bias derivative is unchanged. In the scalar case these formulas give exactly the same numbers as before.</a:t>
            </a:r>
          </a:p>
          <a:p>
            <a:r>
              <a:rPr lang="en-GB"/>
              <a:t>The purple dot denotes matrix multiplication; the green circled dot denotes componentwise multiplication. Their order and the transposes prepare the formulas for the matrix shapes on the next slide.</a:t>
            </a:r>
          </a:p>
          <a:p>
            <a:r>
              <a:rPr lang="en-GB"/>
              <a:t>[NEXT SLIDE]</a:t>
            </a:r>
          </a:p>
          <a:p>
            <a:r>
              <a:rPr lang="en-GB"/>
              <a:t>Now keep the diagram fixed and allow multiple neurons in each layer. Scalars become matrices, and the scalar derivatives of J become row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and combine observations into the empirical loss.</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The entire slide is visible immediately, with no animation clicks. Discuss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[BINARY CLASSIFICATION] Turn to the binary-classification column, which is already visible. Compare its loss, gradient shape, gradient coordinate and probability definition with the regression column.</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a:t>
            </a:r>
          </a:p>
          <a:p>
            <a:r>
              <a:rPr lang="en-GB"/>
              <a:t>The entire slide is visible immediately, with no animation clicks. Discuss the definition of J_L, the probability row, the initial gradient and the example in that order. Fix one observation (x,y), with the observed class y in 1,...,K. With K classes, the network outputs the score row f_theta(x)=a_L(x), and d_L=K.</a:t>
            </a:r>
          </a:p>
          <a:p>
            <a:r>
              <a:rPr lang="en-GB"/>
              <a:t>For an arbitrary score row u of shape 1 by K, define J_L(u)=ell_multi(softmax(u),y). This is a scalar-valued function of the scores. It applies softmax and then the same cross-entropy loss introduced in Week 4. The target y is fixed and its dependence is suppressed in the notation, as for the other J_r functions.</a:t>
            </a:r>
          </a:p>
          <a:p>
            <a:r>
              <a:rPr lang="en-GB"/>
              <a:t>At the actual network output, p_theta(x)=softmax(a_L(x)), so J_L(a_L(x))=ell_multi(p_theta(x),y)=-log p_theta,y(x). This connects the displayed definition to the probability row underneath it.</a:t>
            </a:r>
          </a:p>
          <a:p>
            <a:r>
              <a:rPr lang="en-GB"/>
              <a:t>[INITIAL GRADIENT]</a:t>
            </a:r>
          </a:p>
          <a:p>
            <a:r>
              <a:rPr lang="en-GB"/>
              <a:t>Turn to the initial-gradient row. Start from the probability row and subtract 1 from the entry corresponding to the true class. All other entries keep their probability values.</a:t>
            </a:r>
          </a:p>
          <a:p>
            <a:r>
              <a:rPr lang="en-GB"/>
              <a:t>This is the gradient of J_L with respect to its score-row argument, evaluated at a_L(x), before softmax. It already includes differentiating through softmax. Do not apply another softmax derivative. The gradient result is the new step here, using the probability and loss definitions introduced in Week 4.</a:t>
            </a:r>
          </a:p>
          <a:p>
            <a:r>
              <a:rPr lang="en-GB"/>
              <a:t>[EXAMPLE]</a:t>
            </a:r>
          </a:p>
          <a:p>
            <a:r>
              <a:rPr lang="en-GB"/>
              <a:t>Discuss the example with K=3 and y=2. The row is (p_theta,1(x), p_theta,2(x)-1, p_theta,3(x)). Subtract one at the observed class, regardless of which class currently has the largest probability.</a:t>
            </a:r>
          </a:p>
          <a:p>
            <a:r>
              <a:rPr lang="en-GB"/>
              <a:t>[PAUSE: 3 seconds.]</a:t>
            </a:r>
          </a:p>
          <a:p>
            <a:r>
              <a:rPr lang="en-GB"/>
              <a:t>This row has shape 1 by K. It supplies the starting gradient for the same backward calculation through the hidden layers.</a:t>
            </a:r>
          </a:p>
          <a:p>
            <a:r>
              <a:rPr lang="en-GB"/>
              <a:t>[NEXT SLIDE]</a:t>
            </a:r>
          </a:p>
          <a:p>
            <a:r>
              <a:rPr lang="en-GB"/>
              <a:t>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complete gradient-descent update</a:t>
            </a:r>
          </a:p>
          <a:p>
            <a:r>
              <a:rPr lang="en-GB"/>
              <a:t>Suggested time: 1.15 minutes</a:t>
            </a:r>
          </a:p>
          <a:p>
            <a:r>
              <a:rPr lang="en-GB"/>
              <a:t>Target interval: 44:33–45:42 (including pauses).</a:t>
            </a:r>
          </a:p>
          <a:p>
            <a:r>
              <a:rPr lang="en-GB"/>
              <a:t/>
            </a:r>
          </a:p>
          <a:p>
            <a:r>
              <a:rPr lang="en-GB"/>
              <a:t>[ON ENTRY] All three steps are visible immediately, with no animation clicks. Walk through them in order.</a:t>
            </a:r>
          </a:p>
          <a:p>
            <a:r>
              <a:rPr lang="en-GB"/>
              <a:t>[STEP 1] Begin with a zero accumulator, with an entry for every parameter. Keep the current parameters fixed.</a:t>
            </a:r>
          </a:p>
          <a:p>
            <a:r>
              <a:rPr lang="en-GB"/>
              <a:t/>
            </a:r>
          </a:p>
          <a:p>
            <a:r>
              <a:rPr lang="en-GB"/>
              <a:t>[STEP 2]</a:t>
            </a:r>
          </a:p>
          <a:p>
            <a:r>
              <a:rPr lang="en-GB"/>
              <a:t>For each observation, perform the forward pass, save its intermediate values, perform the backward pass, and add its parameter derivatives to the accumulator.</a:t>
            </a:r>
          </a:p>
          <a:p>
            <a:r>
              <a:rPr lang="en-GB"/>
              <a:t/>
            </a:r>
          </a:p>
          <a:p>
            <a:r>
              <a:rPr lang="en-GB"/>
              <a:t>[STEP 3]</a:t>
            </a:r>
          </a:p>
          <a:p>
            <a:r>
              <a:rPr lang="en-GB"/>
              <a:t>After every observation has contributed, the accumulator contains the empirical-loss gradient. We then update all parameters together, using our chosen learning rate.</a:t>
            </a:r>
          </a:p>
          <a:p>
            <a:r>
              <a:rPr lang="en-GB"/>
              <a:t/>
            </a:r>
          </a:p>
          <a:p>
            <a:r>
              <a:rPr lang="en-GB"/>
              <a:t>Would updating between observations implement this same procedure?</a:t>
            </a:r>
          </a:p>
          <a:p>
            <a:r>
              <a:rPr lang="en-GB"/>
              <a:t/>
            </a:r>
          </a:p>
          <a:p>
            <a:r>
              <a:rPr lang="en-GB"/>
              <a:t>[PAUSE: 4 seconds.]</a:t>
            </a:r>
          </a:p>
          <a:p>
            <a:r>
              <a:rPr lang="en-GB"/>
              <a:t>No. It would use changing parameter values and therefore be a different procedure. Backpropagation supplies the derivatives; the update rule specifies how and when to use them.</a:t>
            </a:r>
          </a:p>
          <a:p>
            <a:r>
              <a:rPr lang="en-GB"/>
              <a:t/>
            </a:r>
          </a:p>
          <a:p>
            <a:r>
              <a:rPr lang="en-GB"/>
              <a:t>[NEXT SLIDE]</a:t>
            </a:r>
          </a:p>
          <a:p>
            <a:r>
              <a:rPr lang="en-GB"/>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124.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11" Type="http://schemas.openxmlformats.org/officeDocument/2006/relationships/image" Target="../media/image125.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126.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20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dirty="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lead">
                <a:extLst>
                  <a:ext uri="{FF2B5EF4-FFF2-40B4-BE49-F238E27FC236}">
                    <a16:creationId xmlns:a16="http://schemas.microsoft.com/office/drawing/2014/main" id="{9DA703B0-0BF6-CFE0-6932-355F48F919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I</a:t>
                </a:r>
                <a:r>
                  <a:rPr lang="en-GB" sz="2175" b="0" dirty="0" err="1">
                    <a:solidFill>
                      <a:srgbClr val="526276"/>
                    </a:solidFill>
                    <a:latin typeface="DejaVu Sans"/>
                    <a:ea typeface="DejaVu Sans"/>
                    <a:cs typeface="DejaVu Sans"/>
                  </a:rPr>
                  <a:t>dentify</a:t>
                </a:r>
                <a:r>
                  <a:rPr lang="en-GB" sz="2175" b="0" dirty="0">
                    <a:solidFill>
                      <a:srgbClr val="526276"/>
                    </a:solidFill>
                    <a:latin typeface="DejaVu Sans"/>
                    <a:ea typeface="DejaVu Sans"/>
                    <a:cs typeface="DejaVu Sans"/>
                  </a:rPr>
                  <a:t> each number with a </a:t>
                </a:r>
                <a14:m>
                  <m:oMath xmlns:m="http://schemas.openxmlformats.org/officeDocument/2006/math">
                    <m:r>
                      <a:rPr lang="en-GB" sz="2175">
                        <a:solidFill>
                          <a:srgbClr val="526276"/>
                        </a:solidFill>
                        <a:latin typeface="Cambria Math"/>
                        <a:ea typeface="Cambria Math"/>
                        <a:cs typeface="Cambria Math"/>
                      </a:rPr>
                      <m:t>1×1</m:t>
                    </m:r>
                  </m:oMath>
                </a14:m>
                <a:r>
                  <a:rPr lang="en-GB"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Transposes leave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 unchanged</a:t>
                </a:r>
                <a:endParaRPr lang="en-GB"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Both </a:t>
                </a:r>
                <a14:m>
                  <m:oMath xmlns:m="http://schemas.openxmlformats.org/officeDocument/2006/math">
                    <m:r>
                      <a:rPr lang="en-GB" sz="2400">
                        <a:solidFill>
                          <a:srgbClr val="78459A"/>
                        </a:solidFill>
                        <a:latin typeface="Cambria Math"/>
                        <a:ea typeface="Cambria Math"/>
                        <a:cs typeface="Cambria Math"/>
                      </a:rPr>
                      <m:t>⋅</m:t>
                    </m:r>
                  </m:oMath>
                </a14:m>
                <a:r>
                  <a:rPr lang="en-GB" sz="2175" dirty="0">
                    <a:solidFill>
                      <a:srgbClr val="526276"/>
                    </a:solidFill>
                    <a:latin typeface="DejaVu Sans"/>
                    <a:ea typeface="DejaVu Sans"/>
                    <a:cs typeface="DejaVu Sans"/>
                  </a:rPr>
                  <a:t> and </a:t>
                </a:r>
                <a14:m>
                  <m:oMath xmlns:m="http://schemas.openxmlformats.org/officeDocument/2006/math">
                    <m:r>
                      <a:rPr lang="en-GB" sz="2400">
                        <a:solidFill>
                          <a:srgbClr val="167B32"/>
                        </a:solidFill>
                        <a:latin typeface="Cambria Math"/>
                        <a:ea typeface="Cambria Math"/>
                        <a:cs typeface="Cambria Math"/>
                      </a:rPr>
                      <m:t>⊙</m:t>
                    </m:r>
                  </m:oMath>
                </a14:m>
                <a:r>
                  <a:rPr lang="en-GB" sz="2175" dirty="0">
                    <a:solidFill>
                      <a:srgbClr val="526276"/>
                    </a:solidFill>
                    <a:latin typeface="DejaVu Sans"/>
                    <a:ea typeface="DejaVu Sans"/>
                    <a:cs typeface="DejaVu Sans"/>
                  </a:rPr>
                  <a:t> act as scalar multiplication for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a:t>
                </a:r>
                <a:endParaRPr sz="2175" b="0" dirty="0">
                  <a:solidFill>
                    <a:srgbClr val="526276"/>
                  </a:solidFill>
                  <a:latin typeface="DejaVu Sans"/>
                  <a:ea typeface="DejaVu Sans"/>
                  <a:cs typeface="DejaVu Sans"/>
                </a:endParaRPr>
              </a:p>
            </p:txBody>
          </p:sp>
        </mc:Choice>
        <mc:Fallback xmlns="">
          <p:sp>
            <p:nvSpPr>
              <p:cNvPr id="35" name="lead">
                <a:extLst>
                  <a:ext uri="{FF2B5EF4-FFF2-40B4-BE49-F238E27FC236}">
                    <a16:creationId xmlns:a16="http://schemas.microsoft.com/office/drawing/2014/main" id="{9DA703B0-0BF6-CFE0-6932-355F48F919E3}"/>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16"/>
                <a:stretch>
                  <a:fillRect t="-31148" b="-3934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can </a:t>
            </a:r>
            <a:r>
              <a:rPr lang="it-IT" sz="2175" b="0" dirty="0" err="1">
                <a:solidFill>
                  <a:srgbClr val="526276"/>
                </a:solidFill>
                <a:latin typeface="DejaVu Sans"/>
                <a:ea typeface="DejaVu Sans"/>
                <a:cs typeface="DejaVu Sans"/>
              </a:rPr>
              <a:t>rewrite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backward</a:t>
            </a:r>
            <a:r>
              <a:rPr lang="it-IT" sz="2175" b="0" dirty="0">
                <a:solidFill>
                  <a:srgbClr val="526276"/>
                </a:solidFill>
                <a:latin typeface="DejaVu Sans"/>
                <a:ea typeface="DejaVu Sans"/>
                <a:cs typeface="DejaVu Sans"/>
              </a:rPr>
              <a:t> step </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
        <p:nvSpPr>
          <p:cNvPr id="5" name="lead">
            <a:extLst>
              <a:ext uri="{FF2B5EF4-FFF2-40B4-BE49-F238E27FC236}">
                <a16:creationId xmlns:a16="http://schemas.microsoft.com/office/drawing/2014/main" id="{7509500D-0463-34B1-E91C-9131ED006D6A}"/>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wider</a:t>
            </a:r>
            <a:r>
              <a:rPr lang="it-IT" sz="2175" b="0" dirty="0">
                <a:solidFill>
                  <a:srgbClr val="526276"/>
                </a:solidFill>
                <a:latin typeface="DejaVu Sans"/>
                <a:ea typeface="DejaVu Sans"/>
                <a:cs typeface="DejaVu Sans"/>
              </a:rPr>
              <a:t> network </a:t>
            </a:r>
            <a:r>
              <a:rPr lang="it-IT" sz="2175" b="0" dirty="0" err="1">
                <a:solidFill>
                  <a:srgbClr val="526276"/>
                </a:solidFill>
                <a:latin typeface="DejaVu Sans"/>
                <a:ea typeface="DejaVu Sans"/>
                <a:cs typeface="DejaVu Sans"/>
              </a:rPr>
              <a:t>version</a:t>
            </a:r>
            <a:r>
              <a:rPr lang="it-IT"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replace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scalars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matrices</a:t>
            </a:r>
            <a:r>
              <a:rPr lang="it-IT" sz="2175" b="0" dirty="0">
                <a:solidFill>
                  <a:srgbClr val="526276"/>
                </a:solidFill>
                <a:latin typeface="DejaVu Sans"/>
                <a:ea typeface="DejaVu Sans"/>
                <a:cs typeface="DejaVu Sans"/>
              </a:rPr>
              <a:t> and </a:t>
            </a:r>
            <a:r>
              <a:rPr lang="it-IT" sz="2175" b="0" dirty="0" err="1">
                <a:solidFill>
                  <a:srgbClr val="526276"/>
                </a:solidFill>
                <a:latin typeface="DejaVu Sans"/>
                <a:ea typeface="DejaVu Sans"/>
                <a:cs typeface="DejaVu Sans"/>
              </a:rPr>
              <a:t>scalar derivatives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gradients.</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dirty="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 name="binary_loss" descr="J_{L}(\mathbf{u})=\ell_{\mathrm{log}}(\sigma(u_1),y)">
                <a:extLst>
                  <a:ext uri="{FF2B5EF4-FFF2-40B4-BE49-F238E27FC236}">
                    <a16:creationId xmlns:a16="http://schemas.microsoft.com/office/drawing/2014/main" id="{7C587A14-5369-5D64-44CA-E5450463DA66}"/>
                  </a:ext>
                </a:extLst>
              </p:cNvPr>
              <p:cNvSpPr>
                <a:spLocks noGrp="1"/>
              </p:cNvSpPr>
              <p:nvPr/>
            </p:nvSpPr>
            <p:spPr>
              <a:xfrm>
                <a:off x="3238500" y="1400175"/>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𝐮</m:t>
                      </m:r>
                      <m:r>
                        <a:rPr lang="it-IT" sz="2700" b="0" i="0" smtClean="0">
                          <a:solidFill>
                            <a:srgbClr val="087F83"/>
                          </a:solidFill>
                          <a:latin typeface="Cambria Math" panose="02040503050406030204" pitchFamily="18" charset="0"/>
                          <a:ea typeface="Cambria Math"/>
                          <a:cs typeface="Cambria Math"/>
                        </a:rPr>
                        <m:t>=</m:t>
                      </m:r>
                      <m:d>
                        <m:dPr>
                          <m:begChr m:val="["/>
                          <m:endChr m:val="]"/>
                          <m:ctrlPr>
                            <a:rPr lang="it-IT" sz="2700" b="0" i="1" smtClean="0">
                              <a:solidFill>
                                <a:srgbClr val="087F83"/>
                              </a:solidFill>
                              <a:latin typeface="Cambria Math" panose="02040503050406030204" pitchFamily="18" charset="0"/>
                              <a:ea typeface="Cambria Math"/>
                            </a:rPr>
                          </m:ctrlPr>
                        </m:dPr>
                        <m:e>
                          <m:sSub>
                            <m:sSubPr>
                              <m:ctrlPr>
                                <a:rPr lang="it-IT" sz="2700" b="0" i="1" smtClean="0">
                                  <a:solidFill>
                                    <a:srgbClr val="087F83"/>
                                  </a:solidFill>
                                  <a:latin typeface="Cambria Math" panose="02040503050406030204" pitchFamily="18" charset="0"/>
                                  <a:ea typeface="Cambria Math"/>
                                </a:rPr>
                              </m:ctrlPr>
                            </m:sSubPr>
                            <m:e>
                              <m:r>
                                <a:rPr lang="it-IT" sz="2700" b="0" i="1" smtClean="0">
                                  <a:solidFill>
                                    <a:srgbClr val="087F83"/>
                                  </a:solidFill>
                                  <a:latin typeface="Cambria Math" panose="02040503050406030204" pitchFamily="18" charset="0"/>
                                  <a:ea typeface="Cambria Math"/>
                                </a:rPr>
                                <m:t>𝑢</m:t>
                              </m:r>
                            </m:e>
                            <m:sub>
                              <m:r>
                                <a:rPr lang="it-IT" sz="2700" b="0" i="1" smtClean="0">
                                  <a:solidFill>
                                    <a:srgbClr val="087F83"/>
                                  </a:solidFill>
                                  <a:latin typeface="Cambria Math" panose="02040503050406030204" pitchFamily="18" charset="0"/>
                                  <a:ea typeface="Cambria Math"/>
                                </a:rPr>
                                <m:t>1</m:t>
                              </m:r>
                            </m:sub>
                          </m:sSub>
                        </m:e>
                      </m:d>
                      <m:r>
                        <a:rPr lang="it-IT" sz="2700" b="0" i="1" smtClean="0">
                          <a:solidFill>
                            <a:srgbClr val="087F83"/>
                          </a:solidFill>
                          <a:latin typeface="Cambria Math" panose="02040503050406030204" pitchFamily="18" charset="0"/>
                          <a:ea typeface="Cambria Math"/>
                        </a:rPr>
                        <m:t>∈</m:t>
                      </m:r>
                      <m:sSup>
                        <m:sSupPr>
                          <m:ctrlPr>
                            <a:rPr lang="it-IT" sz="2700" b="0" i="1" smtClean="0">
                              <a:solidFill>
                                <a:srgbClr val="087F83"/>
                              </a:solidFill>
                              <a:latin typeface="Cambria Math" panose="02040503050406030204" pitchFamily="18" charset="0"/>
                              <a:ea typeface="Cambria Math"/>
                            </a:rPr>
                          </m:ctrlPr>
                        </m:sSupPr>
                        <m:e>
                          <m:r>
                            <a:rPr lang="it-IT" sz="2700" b="0" i="1" smtClean="0">
                              <a:solidFill>
                                <a:srgbClr val="087F83"/>
                              </a:solidFill>
                              <a:latin typeface="Cambria Math" panose="02040503050406030204" pitchFamily="18" charset="0"/>
                              <a:ea typeface="Cambria Math"/>
                            </a:rPr>
                            <m:t>ℝ</m:t>
                          </m:r>
                        </m:e>
                        <m:sup>
                          <m:r>
                            <a:rPr lang="it-IT" sz="2700" b="0" i="1" smtClean="0">
                              <a:solidFill>
                                <a:srgbClr val="087F83"/>
                              </a:solidFill>
                              <a:latin typeface="Cambria Math" panose="02040503050406030204" pitchFamily="18" charset="0"/>
                              <a:ea typeface="Cambria Math"/>
                            </a:rPr>
                            <m:t>1×1</m:t>
                          </m:r>
                        </m:sup>
                      </m:sSup>
                    </m:oMath>
                  </m:oMathPara>
                </a14:m>
                <a:endParaRPr lang="en-GB" sz="2700" dirty="0"/>
              </a:p>
            </p:txBody>
          </p:sp>
        </mc:Choice>
        <mc:Fallback xmlns="">
          <p:sp>
            <p:nvSpPr>
              <p:cNvPr id="4" name="binary_loss" descr="J_{L}(\mathbf{u})=\ell_{\mathrm{log}}(\sigma(u_1),y)">
                <a:extLst>
                  <a:ext uri="{FF2B5EF4-FFF2-40B4-BE49-F238E27FC236}">
                    <a16:creationId xmlns:a16="http://schemas.microsoft.com/office/drawing/2014/main" id="{7C587A14-5369-5D64-44CA-E5450463DA66}"/>
                  </a:ext>
                </a:extLst>
              </p:cNvPr>
              <p:cNvSpPr>
                <a:spLocks noGrp="1" noRot="1" noChangeAspect="1" noMove="1" noResize="1" noEditPoints="1" noAdjustHandles="1" noChangeArrowheads="1" noChangeShapeType="1" noTextEdit="1"/>
              </p:cNvSpPr>
              <p:nvPr/>
            </p:nvSpPr>
            <p:spPr>
              <a:xfrm>
                <a:off x="3238500" y="1400175"/>
                <a:ext cx="5619750" cy="666750"/>
              </a:xfrm>
              <a:prstGeom prst="rect">
                <a:avLst/>
              </a:prstGeom>
              <a:blipFill>
                <a:blip r:embed="rId11"/>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d>
                        <m:dPr>
                          <m:ctrlPr>
                            <a:rPr lang="en-GB" sz="2800">
                              <a:solidFill>
                                <a:srgbClr val="087F83"/>
                              </a:solidFill>
                              <a:latin typeface="Cambria Math"/>
                              <a:ea typeface="Cambria Math"/>
                              <a:cs typeface="Cambria Math"/>
                            </a:rPr>
                          </m:ctrlPr>
                        </m:dPr>
                        <m:e>
                          <m:r>
                            <m:rPr>
                              <m:sty m:val="p"/>
                            </m:rPr>
                            <a:rPr lang="en-GB" sz="2800">
                              <a:solidFill>
                                <a:srgbClr val="087F83"/>
                              </a:solidFill>
                              <a:latin typeface="Cambria Math"/>
                              <a:ea typeface="Cambria Math"/>
                              <a:cs typeface="Cambria Math"/>
                            </a:rPr>
                            <m:t>softmax</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𝐮</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800"/>
              </a:p>
            </p:txBody>
          </p:sp>
        </mc:Choice>
        <mc:Fallback xmlns="">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Class probabilities:</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a:t>
            </a:r>
            <a:r>
              <a:rPr lang="it-IT" sz="2325" b="0" dirty="0">
                <a:solidFill>
                  <a:srgbClr val="182D45"/>
                </a:solidFill>
                <a:latin typeface="DejaVu Sans"/>
                <a:ea typeface="DejaVu Sans"/>
                <a:cs typeface="DejaVu Sans"/>
              </a:rPr>
              <a:t>After </a:t>
            </a:r>
            <a:r>
              <a:rPr lang="it-IT" sz="2325" b="0" dirty="0" err="1">
                <a:solidFill>
                  <a:srgbClr val="182D45"/>
                </a:solidFill>
                <a:latin typeface="DejaVu Sans"/>
                <a:ea typeface="DejaVu Sans"/>
                <a:cs typeface="DejaVu Sans"/>
              </a:rPr>
              <a:t>having</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run</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through</a:t>
            </a:r>
            <a:r>
              <a:rPr lang="it-IT" sz="2325" b="0" dirty="0">
                <a:solidFill>
                  <a:srgbClr val="182D45"/>
                </a:solidFill>
                <a:latin typeface="DejaVu Sans"/>
                <a:ea typeface="DejaVu Sans"/>
                <a:cs typeface="DejaVu Sans"/>
              </a:rPr>
              <a:t> the </a:t>
            </a:r>
            <a:r>
              <a:rPr lang="it-IT" sz="2325" b="0" dirty="0" err="1">
                <a:solidFill>
                  <a:srgbClr val="182D45"/>
                </a:solidFill>
                <a:latin typeface="DejaVu Sans"/>
                <a:ea typeface="DejaVu Sans"/>
                <a:cs typeface="DejaVu Sans"/>
              </a:rPr>
              <a:t>whole</a:t>
            </a:r>
            <a:r>
              <a:rPr lang="it-IT" sz="2325" b="0" dirty="0">
                <a:solidFill>
                  <a:srgbClr val="182D45"/>
                </a:solidFill>
                <a:latin typeface="DejaVu Sans"/>
                <a:ea typeface="DejaVu Sans"/>
                <a:cs typeface="DejaVu Sans"/>
              </a:rPr>
              <a:t> dataset</a:t>
            </a:r>
          </a:p>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Use the accumulated gradient to update all parameters.</a:t>
            </a:r>
          </a:p>
        </p:txBody>
      </p:sp>
    </p:spTree>
    <p:extLst>
      <p:ext uri="{BB962C8B-B14F-4D97-AF65-F5344CB8AC3E}">
        <p14:creationId xmlns:p14="http://schemas.microsoft.com/office/powerpoint/2010/main" val="940050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39</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648</TotalTime>
  <Words>15735</Words>
  <Application>Microsoft Office PowerPoint</Application>
  <DocSecurity>0</DocSecurity>
  <PresentationFormat>Widescreen</PresentationFormat>
  <Paragraphs>2706</Paragraphs>
  <Slides>39</Slides>
  <Notes>39</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39</vt:i4>
      </vt:variant>
    </vt:vector>
  </HeadingPairs>
  <TitlesOfParts>
    <vt:vector size="47"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39</cp:revision>
  <dcterms:created xsi:type="dcterms:W3CDTF">2026-10-18T16:31:13Z</dcterms:created>
  <dcterms:modified xsi:type="dcterms:W3CDTF">2026-10-23T00:15:56Z</dcterms:modified>
</cp:coreProperties>
</file>