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6"/>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4" r:id="rId43"/>
    <p:sldId id="295" r:id="rId44"/>
    <p:sldId id="297" r:id="rId4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viewProps" Target="viewProp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notesMaster" Target="notesMasters/notesMaster1.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r>
              <a:rPr lang="en-GB"/>
              <a:t/>
            </a:r>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The notation convention appears with this first click: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appear together.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r>
              <a:rPr lang="en-GB"/>
              <a:t/>
            </a:r>
          </a:p>
          <a:p>
            <a:r>
              <a:rPr lang="en-GB"/>
              <a:t>[ON ENTRY]</a:t>
            </a:r>
          </a:p>
          <a:p>
            <a:r>
              <a:rPr lang="en-GB"/>
              <a:t>Keep the J_3 region already introduced on the preceding slide. Starting at a_2(x), which operations still remain before we obtain the loss? Identify ReLU, the output affine operation and the final loss.</a:t>
            </a:r>
          </a:p>
          <a:p>
            <a:r>
              <a:rPr lang="en-GB"/>
              <a:t>[CLICK 1]</a:t>
            </a:r>
          </a:p>
          <a:p>
            <a:r>
              <a:rPr lang="en-GB"/>
              <a:t>The J_2 boundary appears with its definition and the loss composition. Apply ReLU to a possible preactivation u, then the output affine operation. Use J_3 for the remaining squared-loss operation. This function uses only w_3, b_3 and y. The earlier boundary remains visible.</a:t>
            </a:r>
          </a:p>
          <a:p>
            <a:r>
              <a:rPr lang="en-GB"/>
              <a:t>[CLICK 2]</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r>
              <a:rPr lang="en-GB"/>
              <a:t/>
            </a:r>
          </a:p>
          <a:p>
            <a:r>
              <a:rPr lang="en-GB"/>
              <a:t>[ON ENTRY]</a:t>
            </a:r>
          </a:p>
          <a:p>
            <a:r>
              <a:rPr lang="en-GB"/>
              <a:t>Keep the J_3 and J_2 regions from the preceding slide. Start at a_1(x). Which operations are needed before we can use the already-defined function J_2?</a:t>
            </a:r>
          </a:p>
          <a:p>
            <a:r>
              <a:rPr lang="en-GB"/>
              <a:t>[CLICK 1]</a:t>
            </a:r>
          </a:p>
          <a:p>
            <a:r>
              <a:rPr lang="en-GB"/>
              <a:t>The J_1 boundary appears together with its definition and the loss composition. The red equality states L_sq(θ)=J_1(a_1(x)). The definition has the same color as the new boundary and uses J_2 for the remaining computation. Read the fixed-parameter statement below. The earlier boundaries remain visible.</a:t>
            </a:r>
          </a:p>
          <a:p>
            <a:r>
              <a:rPr lang="en-GB"/>
              <a:t>[CLICK 2]</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r>
              <a:rPr lang="en-GB"/>
              <a:t/>
            </a:r>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Collect them into the gradient in the same order as the parameter column, then use that complete gradient for the update.</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r>
              <a:rPr lang="en-GB"/>
              <a:t/>
            </a:r>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r>
              <a:rPr lang="en-GB" dirty="0"/>
              <a:t/>
            </a:r>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r>
              <a:rPr lang="en-GB" dirty="0"/>
              <a:t/>
            </a:r>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r>
              <a:rPr lang="en-GB" dirty="0"/>
              <a:t/>
            </a:r>
          </a:p>
          <a:p>
            <a:r>
              <a:rPr lang="en-GB" dirty="0"/>
              <a:t>[PAUSE: 4 seconds.]</a:t>
            </a:r>
          </a:p>
          <a:p>
            <a:r>
              <a:rPr lang="en-GB" dirty="0"/>
              <a:t>We use a sum here, consistently with our empirical-loss convention. Add the observations' parameter-gradient contributions before updating the parameters. Here is the complete procedure.</a:t>
            </a:r>
          </a:p>
          <a:p>
            <a:r>
              <a:rPr lang="en-GB" dirty="0"/>
              <a:t/>
            </a:r>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r>
              <a:rPr lang="en-GB" dirty="0"/>
              <a:t/>
            </a:r>
          </a:p>
          <a:p>
            <a:r>
              <a:rPr lang="en-GB" dirty="0"/>
              <a:t>[ON ENTRY]</a:t>
            </a:r>
          </a:p>
          <a:p>
            <a:r>
              <a:rPr lang="en-GB" dirty="0"/>
              <a:t>Begin with a zero accumulator, with an entry for every parameter. Keep the current parameters fixed.</a:t>
            </a:r>
          </a:p>
          <a:p>
            <a:r>
              <a:rPr lang="en-GB" dirty="0"/>
              <a:t/>
            </a:r>
          </a:p>
          <a:p>
            <a:r>
              <a:rPr lang="en-GB" dirty="0"/>
              <a:t>[CLICK1]</a:t>
            </a:r>
          </a:p>
          <a:p>
            <a:r>
              <a:rPr lang="en-GB" dirty="0"/>
              <a:t>For each observation, perform the forward pass, save its intermediate values, perform the backward pass, and add its parameter derivatives to the accumulator.</a:t>
            </a:r>
          </a:p>
          <a:p>
            <a:r>
              <a:rPr lang="en-GB" dirty="0"/>
              <a:t/>
            </a:r>
          </a:p>
          <a:p>
            <a:r>
              <a:rPr lang="en-GB" dirty="0"/>
              <a:t>[CLICK2]</a:t>
            </a:r>
          </a:p>
          <a:p>
            <a:r>
              <a:rPr lang="en-GB" dirty="0"/>
              <a:t>After every observation has contributed, the accumulator contains the empirical-loss gradient. We then update all parameters together, using our chosen learning rate.</a:t>
            </a:r>
          </a:p>
          <a:p>
            <a:r>
              <a:rPr lang="en-GB" dirty="0"/>
              <a:t/>
            </a:r>
          </a:p>
          <a:p>
            <a:r>
              <a:rPr lang="en-GB" dirty="0"/>
              <a:t>Would updating between observations implement this same procedure?</a:t>
            </a:r>
          </a:p>
          <a:p>
            <a:r>
              <a:rPr lang="en-GB" dirty="0"/>
              <a:t/>
            </a:r>
          </a:p>
          <a:p>
            <a:r>
              <a:rPr lang="en-GB" dirty="0"/>
              <a:t>[PAUSE: 4 seconds.]</a:t>
            </a:r>
          </a:p>
          <a:p>
            <a:r>
              <a:rPr lang="en-GB" dirty="0"/>
              <a:t>No. It would use changing parameter values and therefore be a different procedure. Backpropagation supplies the derivatives; the update rule specifies how and when to use them.</a:t>
            </a:r>
          </a:p>
          <a:p>
            <a:r>
              <a:rPr lang="en-GB" dirty="0"/>
              <a:t/>
            </a:r>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Computational cost of backpropagation</a:t>
            </a:r>
          </a:p>
          <a:p>
            <a:r>
              <a:rPr lang="en-GB" dirty="0"/>
              <a:t>Suggested time: 0.5 minutes</a:t>
            </a:r>
          </a:p>
          <a:p>
            <a:r>
              <a:rPr lang="en-GB" dirty="0"/>
              <a:t>[ON ENTRY]</a:t>
            </a:r>
          </a:p>
          <a:p>
            <a:r>
              <a:rPr lang="en-GB" dirty="0"/>
              <a:t>Let P be the number of adjustable weights and biases. For the networks we have studied, one forward pass and one backward pass for one observation take O(P) time.</a:t>
            </a:r>
          </a:p>
          <a:p>
            <a:r>
              <a:rPr lang="en-GB" dirty="0"/>
              <a:t>[CLICK 1]</a:t>
            </a:r>
          </a:p>
          <a:p>
            <a:r>
              <a:rPr lang="en-GB" dirty="0"/>
              <a:t>With N observations, repeat this calculation for each observation and add its parameter derivatives. Computing the empirical-loss gradient takes O(NP) time.</a:t>
            </a:r>
          </a:p>
          <a:p>
            <a:r>
              <a:rPr lang="en-GB" dirty="0"/>
              <a:t>These are scaling statements, not exact operation counts.</a:t>
            </a:r>
          </a:p>
          <a:p>
            <a:r>
              <a:rPr lang="en-GB" dirty="0"/>
              <a:t>[NEXT SLIDE]</a:t>
            </a:r>
          </a:p>
          <a:p>
            <a:r>
              <a:rPr lang="en-GB" dirty="0"/>
              <a:t>Summarise what we save during the forward pass, what we reuse during the backward pass, and when we update the parameters.</a:t>
            </a:r>
          </a:p>
          <a:p>
            <a:r>
              <a:rPr lang="en-GB" dirty="0"/>
              <a:t>Source: Week 5 lecture notes, pages 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Take-home messages from backpropagation</a:t>
            </a:r>
          </a:p>
          <a:p>
            <a:r>
              <a:rPr lang="en-GB"/>
              <a:t>Suggested time: 1.1 minutes.</a:t>
            </a:r>
          </a:p>
          <a:p>
            <a:r>
              <a:rPr lang="en-GB"/>
              <a:t>[ON ENTRY] Backpropagation calculates the gradient efficiently. Summarise the three stages, revealing one line per click.</a:t>
            </a:r>
          </a:p>
          <a:p>
            <a:r>
              <a:rPr lang="en-GB"/>
              <a:t>[CLICK 1] Forward: calculate the output and loss, saving the preactivations and inputs to each layer that the backward calculation will use.</a:t>
            </a:r>
          </a:p>
          <a:p>
            <a:r>
              <a:rPr lang="en-GB"/>
              <a:t>[CLICK 2] Backward: start at the loss and reuse intermediate derivatives, layer by layer, to obtain all parameter derivatives.</a:t>
            </a:r>
          </a:p>
          <a:p>
            <a:r>
              <a:rPr lang="en-GB"/>
              <a:t>[CLICK 3] Update: use the computed gradient to update the parameters. Backpropagation computes the gradient; the optimiser then uses it to choose an update. These are separate steps.</a:t>
            </a:r>
          </a:p>
          <a:p>
            <a:r>
              <a:rPr lang="en-GB"/>
              <a:t>[PAUSE] Let the three take-home messages remain visible.</a:t>
            </a:r>
          </a:p>
          <a:p>
            <a:r>
              <a:rPr lang="en-GB"/>
              <a:t>[NEXT SLIDE] Point to the course materials.</a:t>
            </a:r>
          </a:p>
          <a:p>
            <a:r>
              <a:rPr lang="en-GB"/>
              <a:t>Source: Week 5 lecture notes, pages 1,21–22.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12" Type="http://schemas.openxmlformats.org/officeDocument/2006/relationships/image" Target="../media/image114.png"/><Relationship Id="rId17" Type="http://schemas.openxmlformats.org/officeDocument/2006/relationships/image" Target="../media/image119.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27" Type="http://schemas.openxmlformats.org/officeDocument/2006/relationships/image" Target="../media/image102.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50.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27" Type="http://schemas.openxmlformats.org/officeDocument/2006/relationships/image" Target="../media/image1040.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2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14.png"/><Relationship Id="rId7" Type="http://schemas.openxmlformats.org/officeDocument/2006/relationships/image" Target="../media/image2060.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213.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21.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212.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12" Type="http://schemas.openxmlformats.org/officeDocument/2006/relationships/image" Target="../media/image2100.png"/><Relationship Id="rId17" Type="http://schemas.openxmlformats.org/officeDocument/2006/relationships/image" Target="../media/image202.png"/><Relationship Id="rIdFit_18_equation_48" Type="http://schemas.openxmlformats.org/officeDocument/2006/relationships/image" Target="../media/animation_fit_18_equation_48.png"/><Relationship Id="rId25" Type="http://schemas.openxmlformats.org/officeDocument/2006/relationships/image" Target="../media/image217.png"/><Relationship Id="rIdFit_18_equation_130" Type="http://schemas.openxmlformats.org/officeDocument/2006/relationships/image" Target="../media/animation_fit_18_equation_130.png"/><Relationship Id="rIdFit_18_equation_211" Type="http://schemas.openxmlformats.org/officeDocument/2006/relationships/image" Target="../media/animation_fit_18_equation_211.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2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2040.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19.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238.png"/><Relationship Id="rId3" Type="http://schemas.openxmlformats.org/officeDocument/2006/relationships/image" Target="../media/image228.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251.png"/><Relationship Id="rId4" Type="http://schemas.openxmlformats.org/officeDocument/2006/relationships/image" Target="../media/image234.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2160.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2260.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8" Type="http://schemas.openxmlformats.org/officeDocument/2006/relationships/image" Target="../media/image2221.png"/><Relationship Id="rId3" Type="http://schemas.openxmlformats.org/officeDocument/2006/relationships/image" Target="../media/image401.png"/><Relationship Id="rId7" Type="http://schemas.openxmlformats.org/officeDocument/2006/relationships/image" Target="../media/image2210.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4020.png"/><Relationship Id="rId5" Type="http://schemas.openxmlformats.org/officeDocument/2006/relationships/image" Target="../media/image402.png"/><Relationship Id="rId10" Type="http://schemas.openxmlformats.org/officeDocument/2006/relationships/image" Target="../media/image2241.png"/><Relationship Id="rId4" Type="http://schemas.openxmlformats.org/officeDocument/2006/relationships/image" Target="../media/image4010.png"/><Relationship Id="rId9" Type="http://schemas.openxmlformats.org/officeDocument/2006/relationships/image" Target="../media/image2231.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2.xml"/><Relationship Id="rId1" Type="http://schemas.openxmlformats.org/officeDocument/2006/relationships/slideLayout" Target="../slideLayouts/slideLayout8.xml"/><Relationship Id="rId4" Type="http://schemas.openxmlformats.org/officeDocument/2006/relationships/image" Target="../media/image36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mc:Choice xmlns:a14="http://schemas.microsoft.com/office/drawing/2010/main"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it-IT" sz="3100" b="0" i="0" smtClean="0">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6</a:t>
            </a:r>
          </a:p>
        </p:txBody>
      </p:sp>
      <mc:AlternateContent xmlns:mc="http://schemas.openxmlformats.org/markup-compatibility/2006">
        <mc:Choice xmlns:a14="http://schemas.microsoft.com/office/drawing/2010/main"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it-IT" sz="2900" b="0" i="1" smtClean="0">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04825" y="4533720"/>
            <a:ext cx="11144250" cy="182136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182D45"/>
                </a:solidFill>
                <a:latin typeface="DejaVu Sans"/>
              </a:rPr>
              <a:t/>
            </a:r>
            <a:r>
              <a:rPr lang="en-GB" sz="1850" b="1" dirty="0">
                <a:solidFill>
                  <a:srgbClr val="FF0000"/>
                </a:solidFill>
                <a:latin typeface="DejaVu Sans"/>
              </a:rPr>
              <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mc:Choice xmlns:a14="http://schemas.microsoft.com/office/drawing/2010/main"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p:sp xmlns:a14="http://schemas.microsoft.com/office/drawing/2010/main">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a network with parameters </a:t>
            </a:r>
            <a:r>
              <a:rPr lang="en-GB" sz="2100" dirty="0">
                <a:solidFill>
                  <a:schemeClr val="tx2"/>
                </a:solidFill>
                <a:latin typeface="DejaVu Sans"/>
                <a:ea typeface="DejaVu Sans"/>
                <a:cs typeface="DejaVu Sans"/>
              </a:rPr>
              <a:t/>
            </a:r>
            <a:r>
              <a:rPr lang="en-GB" sz="2100" dirty="0">
                <a:solidFill>
                  <a:schemeClr val="tx2"/>
                </a:solidFill>
                <a:latin typeface="DejaVu Sans"/>
                <a:ea typeface="DejaVu Sans"/>
                <a:cs typeface="DejaVu Sans"/>
              </a:rPr>
              <a:t/>
            </a:r>
            <a14:m>
              <m:oMath xmlns:m="http://schemas.openxmlformats.org/officeDocument/2006/math">
                <m:r>
                  <a:rPr lang="it-IT" sz="2000" b="1">
                    <a:solidFill>
                      <a:schemeClr val="tx2"/>
                    </a:solidFill>
                    <a:latin typeface="Cambria Math" panose="02040503050406030204" pitchFamily="18" charset="0"/>
                    <a:ea typeface="Cambria Math"/>
                    <a:cs typeface="Cambria Math"/>
                  </a:rPr>
                  <m:t>𝛝</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AlternateContent xmlns:mc="http://schemas.openxmlformats.org/markup-compatibility/2006">
        <mc:Choice xmlns:a14="http://schemas.microsoft.com/office/drawing/2010/main"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xmlns:m="http://schemas.openxmlformats.org/officeDocument/2006/math" xmlns:a14="http://schemas.microsoft.com/office/drawing/2010/main">
              <m:o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J</m:t>
                    </m:r>
                  </m:e>
                  <m:sub>
                    <m:r>
                      <a:rPr lang="en-GB" sz="1650">
                        <a:solidFill>
                          <a:srgbClr val="526276"/>
                        </a:solidFill>
                        <a:latin typeface="Cambria Math"/>
                        <a:ea typeface="Cambria Math"/>
                        <a:cs typeface="Cambria Math"/>
                      </a:rPr>
                      <m:t>r</m:t>
                    </m:r>
                  </m:sub>
                </m:sSub>
              </m:oMath>
            </a14:m>
            <a:r>
              <a:rPr lang="en-GB" sz="1650">
                <a:solidFill>
                  <a:srgbClr val="526276"/>
                </a:solidFill>
                <a:latin typeface="DejaVu Sans"/>
              </a:rPr>
              <a:t>.</a:t>
            </a:r>
          </a:p>
        </p:txBody>
      </p:sp>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8" grpId="0"/>
      <p:bldP spid="18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mc:Choice xmlns:a14="http://schemas.microsoft.com/office/drawing/2010/main" Requires="a14">
          <p:sp>
            <p:nvSpPr>
              <p:cNvPr id="191" name="continuity_8_0_191" descr="J_{3}">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p:sp>
            <p:nvSpPr>
              <p:cNvPr id="191" name="continuity_8_0_191" descr="J_{3}">
                <a:extLst>
                  <a:ext uri="{FF2B5EF4-FFF2-40B4-BE49-F238E27FC236}">
                    <a16:creationId xmlns:a16="http://schemas.microsoft.com/office/drawing/2014/main" id="{5475EC27-0519-4426-8A0B-772C03136D04}"/>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mc:Choice xmlns:a14="http://schemas.microsoft.com/office/drawing/2010/main"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mc:Choice xmlns:a14="http://schemas.microsoft.com/office/drawing/2010/main"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mc:Choice xmlns:a14="http://schemas.microsoft.com/office/drawing/2010/main"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p:sp xmlns:a14="http://schemas.microsoft.com/office/drawing/2010/main">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a network with parameters </a:t>
            </a:r>
            <a:r>
              <a:rPr lang="en-GB" sz="2100" dirty="0">
                <a:solidFill>
                  <a:schemeClr val="tx2"/>
                </a:solidFill>
                <a:latin typeface="DejaVu Sans"/>
                <a:ea typeface="DejaVu Sans"/>
                <a:cs typeface="DejaVu Sans"/>
              </a:rPr>
              <a:t/>
            </a:r>
            <a:r>
              <a:rPr lang="en-GB" sz="2100" dirty="0">
                <a:solidFill>
                  <a:schemeClr val="tx2"/>
                </a:solidFill>
                <a:latin typeface="DejaVu Sans"/>
                <a:ea typeface="DejaVu Sans"/>
                <a:cs typeface="DejaVu Sans"/>
              </a:rPr>
              <a:t/>
            </a:r>
            <a14:m>
              <m:oMath xmlns:m="http://schemas.openxmlformats.org/officeDocument/2006/math">
                <m:r>
                  <a:rPr lang="it-IT" sz="2000" b="1">
                    <a:solidFill>
                      <a:schemeClr val="tx2"/>
                    </a:solidFill>
                    <a:latin typeface="Cambria Math" panose="02040503050406030204" pitchFamily="18" charset="0"/>
                    <a:ea typeface="Cambria Math"/>
                    <a:cs typeface="Cambria Math"/>
                  </a:rPr>
                  <m:t>𝛝</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40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402"/>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mc:Choice xmlns:a14="http://schemas.microsoft.com/office/drawing/2010/main" Requires="a14">
          <p:sp>
            <p:nvSpPr>
              <p:cNvPr id="191" name="continuity_9_0_191" descr="J_{2}">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p:sp>
            <p:nvSpPr>
              <p:cNvPr id="191" name="continuity_9_0_191" descr="J_{2}">
                <a:extLst>
                  <a:ext uri="{FF2B5EF4-FFF2-40B4-BE49-F238E27FC236}">
                    <a16:creationId xmlns:a16="http://schemas.microsoft.com/office/drawing/2014/main" id="{129FDA3A-54B5-408D-AE84-6BCF67F02433}"/>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mc:Choice xmlns:a14="http://schemas.microsoft.com/office/drawing/2010/main" Requires="a14">
          <p:sp>
            <p:nvSpPr>
              <p:cNvPr id="193" name="continuity_9_0_193" descr="J_{3}">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p:sp>
            <p:nvSpPr>
              <p:cNvPr id="193" name="continuity_9_0_193" descr="J_{3}">
                <a:extLst>
                  <a:ext uri="{FF2B5EF4-FFF2-40B4-BE49-F238E27FC236}">
                    <a16:creationId xmlns:a16="http://schemas.microsoft.com/office/drawing/2014/main" id="{BC5BEB9C-0A65-4899-AD58-244777DA89E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mc:Choice xmlns:a14="http://schemas.microsoft.com/office/drawing/2010/main"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mc:Choice xmlns:a14="http://schemas.microsoft.com/office/drawing/2010/main"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mc:Choice xmlns:a14="http://schemas.microsoft.com/office/drawing/2010/main"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mc:Choice xmlns:a14="http://schemas.microsoft.com/office/drawing/2010/main"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p:sp xmlns:a14="http://schemas.microsoft.com/office/drawing/2010/main">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a network with parameters </a:t>
            </a:r>
            <a:r>
              <a:rPr lang="en-GB" sz="2100" dirty="0">
                <a:solidFill>
                  <a:schemeClr val="tx2"/>
                </a:solidFill>
                <a:latin typeface="DejaVu Sans"/>
                <a:ea typeface="DejaVu Sans"/>
                <a:cs typeface="DejaVu Sans"/>
              </a:rPr>
              <a:t/>
            </a:r>
            <a:r>
              <a:rPr lang="en-GB" sz="2100" dirty="0">
                <a:solidFill>
                  <a:schemeClr val="tx2"/>
                </a:solidFill>
                <a:latin typeface="DejaVu Sans"/>
                <a:ea typeface="DejaVu Sans"/>
                <a:cs typeface="DejaVu Sans"/>
              </a:rPr>
              <a:t/>
            </a:r>
            <a14:m>
              <m:oMath xmlns:m="http://schemas.openxmlformats.org/officeDocument/2006/math">
                <m:r>
                  <a:rPr lang="it-IT" sz="2000" b="1">
                    <a:solidFill>
                      <a:schemeClr val="tx2"/>
                    </a:solidFill>
                    <a:latin typeface="Cambria Math" panose="02040503050406030204" pitchFamily="18" charset="0"/>
                    <a:ea typeface="Cambria Math"/>
                    <a:cs typeface="Cambria Math"/>
                  </a:rPr>
                  <m:t>𝛝</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40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40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10</a:t>
            </a:r>
          </a:p>
        </p:txBody>
      </p:sp>
      <mc:AlternateContent xmlns:mc="http://schemas.openxmlformats.org/markup-compatibility/2006">
        <mc:Choice xmlns:a14="http://schemas.microsoft.com/office/drawing/2010/main"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mc:Choice xmlns:a14="http://schemas.microsoft.com/office/drawing/2010/main"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11</a:t>
            </a:r>
          </a:p>
        </p:txBody>
      </p:sp>
      <mc:AlternateContent xmlns:mc="http://schemas.openxmlformats.org/markup-compatibility/2006">
        <mc:Choice xmlns:a14="http://schemas.microsoft.com/office/drawing/2010/main"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mc:Choice xmlns:a14="http://schemas.microsoft.com/office/drawing/2010/main"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mc:Choice xmlns:a14="http://schemas.microsoft.com/office/drawing/2010/main"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12</a:t>
            </a:r>
          </a:p>
        </p:txBody>
      </p:sp>
      <mc:AlternateContent xmlns:mc="http://schemas.openxmlformats.org/markup-compatibility/2006">
        <mc:Choice xmlns:a14="http://schemas.microsoft.com/office/drawing/2010/main"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mc:Choice xmlns:a14="http://schemas.microsoft.com/office/drawing/2010/main"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13</a:t>
            </a:r>
          </a:p>
        </p:txBody>
      </p:sp>
      <mc:AlternateContent xmlns:mc="http://schemas.openxmlformats.org/markup-compatibility/2006">
        <mc:Choice xmlns:a14="http://schemas.microsoft.com/office/drawing/2010/main"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15</a:t>
            </a:r>
          </a:p>
        </p:txBody>
      </p:sp>
      <mc:AlternateContent xmlns:mc="http://schemas.openxmlformats.org/markup-compatibility/2006">
        <mc:Choice xmlns:a14="http://schemas.microsoft.com/office/drawing/2010/main"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mc:Choice xmlns:a14="http://schemas.microsoft.com/office/drawing/2010/main"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16</a:t>
            </a:r>
          </a:p>
        </p:txBody>
      </p:sp>
      <mc:AlternateContent xmlns:mc="http://schemas.openxmlformats.org/markup-compatibility/2006">
        <mc:Choice xmlns:a14="http://schemas.microsoft.com/office/drawing/2010/main"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mc:Choice xmlns:a14="http://schemas.microsoft.com/office/drawing/2010/main"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17</a:t>
            </a:r>
          </a:p>
        </p:txBody>
      </p:sp>
      <mc:AlternateContent xmlns:mc="http://schemas.openxmlformats.org/markup-compatibility/2006">
        <mc:Choice xmlns:a14="http://schemas.microsoft.com/office/drawing/2010/main"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47" name="equation_43" descr="J'_{1}(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56" name="equation_52" descr="J'_{2}(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65" name="equation_61" descr="J'_{3}(-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18" name="equation_114" descr="J'_{1}(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27" name="equation_123" descr="J'_{2}(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136" name="equation_132" descr="J'_{3}(-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97" name="equation_193" descr="J'_{1}(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206" name="equation_202" descr="J'_{2}(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215" name="equation_211" descr="J'_{3}(-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p:sp>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p:sp>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50"/>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47" name="equation_43" descr="J'_{1}(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56" name="equation_52" descr="J'_{2}(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65" name="equation_61" descr="J'_{3}(-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19" name="equation_115" descr="J'_{1}(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128" name="equation_124" descr="J'_{2}(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9" name="equation_125" descr="=J'_{3}(-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138" name="equation_134" descr="J'_{3}(-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99" name="equation_195" descr="J'_{1}(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199" name="equation_195" descr="J'_{1}(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208" name="equation_204" descr="J'_{2}(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p:sp>
            <p:nvSpPr>
              <p:cNvPr id="208" name="equation_204" descr="J'_{2}(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09" name="equation_205" descr="=J'_{3}(-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p:sp>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1"/>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p:sp>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467350"/>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219" name="equation_215" descr="J'_{3}(-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p:sp>
            <p:nvSpPr>
              <p:cNvPr id="219" name="equation_215" descr="J'_{3}(-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4"/>
                <a:stretch>
                  <a:fillRect t="-5970" b="-1641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47" name="equation_43" descr="J'_{1}(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56" name="equation_52" descr="J'_{2}(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65" name="equation_61" descr="J'_{3}(-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119" name="equation_115" descr="J'_{1}(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0" name="equation_116" descr="=J'_{2}(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129" name="equation_125" descr="J'_{2}(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38" name="equation_134" descr="J'_{3}(-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199" name="equation_195" descr="J'_{1}(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p:sp>
            <p:nvSpPr>
              <p:cNvPr id="199" name="equation_195" descr="J'_{1}(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00" name="equation_196" descr="=J'_{2}(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p:sp>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p:sp>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467350"/>
                <a:ext cx="2857500" cy="581025"/>
              </a:xfrm>
              <a:prstGeom prst="rect">
                <a:avLst/>
              </a:prstGeom>
              <a:blipFill>
                <a:blip r:embed="rId32"/>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210" name="equation_206" descr="J'_{2}(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p:sp>
            <p:nvSpPr>
              <p:cNvPr id="210" name="equation_206" descr="J'_{2}(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219" name="equation_215" descr="J'_{3}(-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p:sp>
            <p:nvSpPr>
              <p:cNvPr id="219" name="equation_215" descr="J'_{3}(-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21</a:t>
            </a:r>
          </a:p>
        </p:txBody>
      </p:sp>
      <mc:AlternateContent xmlns:mc="http://schemas.openxmlformats.org/markup-compatibility/2006">
        <mc:Choice xmlns:a14="http://schemas.microsoft.com/office/drawing/2010/main"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24</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mc:Choice xmlns:a14="http://schemas.microsoft.com/office/drawing/2010/main"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mc:Choice xmlns:a14="http://schemas.microsoft.com/office/drawing/2010/main"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smtClean="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sub>
                      </m:sSub>
                      <m:d>
                        <m:dPr>
                          <m:ctrlPr>
                            <a:rPr lang="en-GB" sz="2800">
                              <a:solidFill>
                                <a:srgbClr val="00868B"/>
                              </a:solidFill>
                              <a:latin typeface="Cambria Math"/>
                              <a:ea typeface="Cambria Math"/>
                              <a:cs typeface="Cambria Math"/>
                            </a:rPr>
                          </m:ctrlPr>
                        </m:dPr>
                        <m:e>
                          <m:r>
                            <a:rPr lang="en-GB" sz="2800">
                              <a:solidFill>
                                <a:srgbClr val="00868B"/>
                              </a:solidFill>
                              <a:latin typeface="Cambria Math"/>
                              <a:ea typeface="Cambria Math"/>
                              <a:cs typeface="Cambria Math"/>
                            </a:rPr>
                            <m:t>𝐮</m:t>
                          </m:r>
                        </m:e>
                      </m:d>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mc:Choice xmlns:a14="http://schemas.microsoft.com/office/drawing/2010/main"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mc:Choice xmlns:a14="http://schemas.microsoft.com/office/drawing/2010/main"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mc:Choice xmlns:a14="http://schemas.microsoft.com/office/drawing/2010/main"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mc:Choice xmlns:a14="http://schemas.microsoft.com/office/drawing/2010/main"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mc:Choice xmlns:a14="http://schemas.microsoft.com/office/drawing/2010/main"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mc:Choice xmlns:a14="http://schemas.microsoft.com/office/drawing/2010/main"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mc:Choice xmlns:a14="http://schemas.microsoft.com/office/drawing/2010/main"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37</a:t>
            </a:r>
          </a:p>
        </p:txBody>
      </p:sp>
      <mc:AlternateContent xmlns:mc="http://schemas.openxmlformats.org/markup-compatibility/2006">
        <mc:Choice xmlns:a14="http://schemas.microsoft.com/office/drawing/2010/main"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mc:Choice xmlns:a14="http://schemas.microsoft.com/office/drawing/2010/main"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14B5310-7159-4906-998B-4B7026E4D1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lang="en-GB">
                <a:solidFill>
                  <a:srgbClr val="182D45"/>
                </a:solidFill>
                <a:latin typeface="DejaVu Sans"/>
                <a:ea typeface="DejaVu Sans"/>
                <a:cs typeface="DejaVu Sans"/>
              </a:rPr>
              <a:t>Computational cost of backpropagation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122412F-B7A8-4D3E-80EB-1D9ECC272024}"/>
                  </a:ext>
                </a:extLst>
              </p:cNvPr>
              <p:cNvSpPr>
                <a:spLocks noGrp="1"/>
              </p:cNvSpPr>
              <p:nvPr/>
            </p:nvSpPr>
            <p:spPr>
              <a:xfrm>
                <a:off x="523875" y="866775"/>
                <a:ext cx="11144250" cy="5905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 </a:t>
                </a:r>
                <a14:m>
                  <m:oMath xmlns:m="http://schemas.openxmlformats.org/officeDocument/2006/math">
                    <m:r>
                      <a:rPr lang="en-GB" sz="2175">
                        <a:solidFill>
                          <a:srgbClr val="526276"/>
                        </a:solidFill>
                        <a:latin typeface="Cambria Math"/>
                        <a:ea typeface="Cambria Math"/>
                        <a:cs typeface="Cambria Math"/>
                      </a:rPr>
                      <m:t>𝑃</m:t>
                    </m:r>
                  </m:oMath>
                </a14:m>
                <a:r>
                  <a:rPr sz="2175" b="0">
                    <a:solidFill>
                      <a:srgbClr val="526276"/>
                    </a:solidFill>
                    <a:latin typeface="DejaVu Sans"/>
                    <a:ea typeface="DejaVu Sans"/>
                    <a:cs typeface="DejaVu Sans"/>
                  </a:rPr>
                  <a:t> be the number of adjustable weights and biases.</a:t>
                </a:r>
              </a:p>
            </p:txBody>
          </p:sp>
        </mc:Choice>
        <mc:Fallback xmlns="">
          <p:sp>
            <p:nvSpPr>
              <p:cNvPr id="2" name="lead">
                <a:extLst>
                  <a:ext uri="{FF2B5EF4-FFF2-40B4-BE49-F238E27FC236}">
                    <a16:creationId xmlns:a16="http://schemas.microsoft.com/office/drawing/2014/main" id="{1122412F-B7A8-4D3E-80EB-1D9ECC272024}"/>
                  </a:ext>
                </a:extLst>
              </p:cNvPr>
              <p:cNvSpPr>
                <a:spLocks noGrp="1" noRot="1" noChangeAspect="1" noMove="1" noResize="1" noEditPoints="1" noAdjustHandles="1" noChangeArrowheads="1" noChangeShapeType="1" noTextEdit="1"/>
              </p:cNvSpPr>
              <p:nvPr/>
            </p:nvSpPr>
            <p:spPr>
              <a:xfrm>
                <a:off x="523875" y="866775"/>
                <a:ext cx="11144250" cy="5905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9D59886-F02C-4AB8-A96B-DC722622AA7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6F72125-25E9-4EBC-A1EB-1A596D0823A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40</a:t>
            </a:r>
          </a:p>
        </p:txBody>
      </p:sp>
      <p:sp>
        <p:nvSpPr>
          <p:cNvPr id="5" name="text_1">
            <a:extLst>
              <a:ext uri="{FF2B5EF4-FFF2-40B4-BE49-F238E27FC236}">
                <a16:creationId xmlns:a16="http://schemas.microsoft.com/office/drawing/2014/main" id="{51575E6D-CD94-478A-BBE8-FF12560236A9}"/>
              </a:ext>
            </a:extLst>
          </p:cNvPr>
          <p:cNvSpPr>
            <a:spLocks noGrp="1"/>
          </p:cNvSpPr>
          <p:nvPr/>
        </p:nvSpPr>
        <p:spPr>
          <a:xfrm>
            <a:off x="904875" y="1905000"/>
            <a:ext cx="10382250" cy="40005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r>
              <a:rPr sz="2250" b="1">
                <a:solidFill>
                  <a:srgbClr val="182D45"/>
                </a:solidFill>
                <a:latin typeface="DejaVu Sans"/>
                <a:ea typeface="DejaVu Sans"/>
                <a:cs typeface="DejaVu Sans"/>
              </a:rPr>
              <a:t>One observation</a:t>
            </a:r>
          </a:p>
        </p:txBody>
      </p:sp>
      <p:sp xmlns:a14="http://schemas.microsoft.com/office/drawing/2010/main">
        <p:nvSpPr>
          <p:cNvPr id="6" name="equation_2" descr="O(P)\ \mathrm{time}">
            <a:extLst>
              <a:ext uri="{FF2B5EF4-FFF2-40B4-BE49-F238E27FC236}">
                <a16:creationId xmlns:a16="http://schemas.microsoft.com/office/drawing/2014/main" id="{DFAEF439-C243-47A8-89E5-AF62C18FAC4B}"/>
              </a:ext>
            </a:extLst>
          </p:cNvPr>
          <p:cNvSpPr>
            <a:spLocks noGrp="1"/>
          </p:cNvSpPr>
          <p:nvPr/>
        </p:nvSpPr>
        <p:spPr>
          <a:xfrm>
            <a:off x="666750" y="242887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oMath>
              </m:oMathPara>
            </a14:m>
            <a:endParaRPr lang="en-GB" sz="3400"/>
          </a:p>
        </p:txBody>
      </p:sp>
      <p:sp xmlns:a14="http://schemas.microsoft.com/office/drawing/2010/main">
        <p:nvSpPr>
          <p:cNvPr id="7" name="text_3">
            <a:extLst>
              <a:ext uri="{FF2B5EF4-FFF2-40B4-BE49-F238E27FC236}">
                <a16:creationId xmlns:a16="http://schemas.microsoft.com/office/drawing/2014/main" id="{916F1C7B-9D77-4266-B6E9-ECB44355BD9C}"/>
              </a:ext>
            </a:extLst>
          </p:cNvPr>
          <p:cNvSpPr>
            <a:spLocks noGrp="1"/>
          </p:cNvSpPr>
          <p:nvPr/>
        </p:nvSpPr>
        <p:spPr>
          <a:xfrm>
            <a:off x="904875" y="4000500"/>
            <a:ext cx="10382250" cy="41910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14:m>
              <m:oMath xmlns:m="http://schemas.openxmlformats.org/officeDocument/2006/math">
                <m:r>
                  <a:rPr lang="en-GB" sz="2250">
                    <a:solidFill>
                      <a:srgbClr val="182D45"/>
                    </a:solidFill>
                    <a:latin typeface="Cambria Math"/>
                    <a:ea typeface="Cambria Math"/>
                    <a:cs typeface="Cambria Math"/>
                  </a:rPr>
                  <m:t>𝑁</m:t>
                </m:r>
              </m:oMath>
            </a14:m>
            <a:r>
              <a:rPr sz="2250" b="1" lang="en-GB">
                <a:solidFill>
                  <a:srgbClr val="182D45"/>
                </a:solidFill>
                <a:latin typeface="DejaVu Sans"/>
                <a:ea typeface="DejaVu Sans"/>
                <a:cs typeface="DejaVu Sans"/>
              </a:rPr>
              <a:t> observations</a:t>
            </a:r>
          </a:p>
        </p:txBody>
      </p:sp>
      <p:sp xmlns:a14="http://schemas.microsoft.com/office/drawing/2010/main">
        <p:nvSpPr>
          <p:cNvPr id="8" name="equation_4" descr="O(NP)\ \mathrm{time}">
            <a:extLst>
              <a:ext uri="{FF2B5EF4-FFF2-40B4-BE49-F238E27FC236}">
                <a16:creationId xmlns:a16="http://schemas.microsoft.com/office/drawing/2014/main" id="{45EFE285-4FCE-4D3D-A90E-00FB4879BDAD}"/>
              </a:ext>
            </a:extLst>
          </p:cNvPr>
          <p:cNvSpPr>
            <a:spLocks noGrp="1"/>
          </p:cNvSpPr>
          <p:nvPr/>
        </p:nvSpPr>
        <p:spPr>
          <a:xfrm>
            <a:off x="666750" y="452437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𝑁𝑃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oMath>
              </m:oMathPara>
            </a14:m>
            <a:endParaRPr lang="en-GB" sz="3400"/>
          </a:p>
        </p:txBody>
      </p:sp>
    </p:spTree>
    <p:extLst>
      <p:ext uri="{BB962C8B-B14F-4D97-AF65-F5344CB8AC3E}">
        <p14:creationId xmlns:p14="http://schemas.microsoft.com/office/powerpoint/2010/main" val="924775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Take-home messages from backpropagation</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lang="en-GB">
                <a:solidFill>
                  <a:srgbClr val="526276"/>
                </a:solidFill>
                <a:latin typeface="DejaVu Sans"/>
                <a:ea typeface="DejaVu Sans"/>
                <a:cs typeface="DejaVu Sans"/>
              </a:rPr>
              <a:t>41</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computed gradient.</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lang="en-GB">
                <a:solidFill>
                  <a:srgbClr val="526276"/>
                </a:solidFill>
                <a:latin typeface="DejaVu Sans"/>
                <a:ea typeface="DejaVu Sans"/>
                <a:cs typeface="DejaVu Sans"/>
              </a:rPr>
              <a:t>42</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594</TotalTime>
  <Words>15414</Words>
  <Application>Microsoft Office PowerPoint</Application>
  <DocSecurity>0</DocSecurity>
  <PresentationFormat>Widescreen</PresentationFormat>
  <Paragraphs>2591</Paragraphs>
  <Slides>42</Slides>
  <Notes>42</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42</vt:i4>
      </vt:variant>
    </vt:vector>
  </HeadingPairs>
  <TitlesOfParts>
    <vt:vector size="50"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25</cp:revision>
  <dcterms:created xsi:type="dcterms:W3CDTF">2026-10-18T16:31:13Z</dcterms:created>
  <dcterms:modified xsi:type="dcterms:W3CDTF">2026-10-21T21:49:52Z</dcterms:modified>
</cp:coreProperties>
</file>