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7"/>
  </p:notesMasterIdLst>
  <p:sldIdLst>
    <p:sldId id="256" r:id="rId4"/>
    <p:sldId id="257" r:id="rId5"/>
    <p:sldId id="258" r:id="rId6"/>
    <p:sldId id="259" r:id="rId7"/>
    <p:sldId id="260" r:id="rId8"/>
    <p:sldId id="261" r:id="rId9"/>
    <p:sldId id="265" r:id="rId10"/>
    <p:sldId id="266" r:id="rId11"/>
    <p:sldId id="267" r:id="rId12"/>
    <p:sldId id="300" r:id="rId13"/>
    <p:sldId id="262" r:id="rId14"/>
    <p:sldId id="303" r:id="rId15"/>
    <p:sldId id="270" r:id="rId16"/>
    <p:sldId id="263" r:id="rId17"/>
    <p:sldId id="269" r:id="rId18"/>
    <p:sldId id="302" r:id="rId19"/>
    <p:sldId id="301" r:id="rId20"/>
    <p:sldId id="264" r:id="rId21"/>
    <p:sldId id="272" r:id="rId22"/>
    <p:sldId id="273" r:id="rId23"/>
    <p:sldId id="274" r:id="rId24"/>
    <p:sldId id="271" r:id="rId25"/>
    <p:sldId id="275" r:id="rId26"/>
    <p:sldId id="276" r:id="rId27"/>
    <p:sldId id="277" r:id="rId28"/>
    <p:sldId id="278" r:id="rId29"/>
    <p:sldId id="279" r:id="rId30"/>
    <p:sldId id="282" r:id="rId31"/>
    <p:sldId id="298" r:id="rId32"/>
    <p:sldId id="299" r:id="rId33"/>
    <p:sldId id="283" r:id="rId34"/>
    <p:sldId id="284" r:id="rId35"/>
    <p:sldId id="285" r:id="rId36"/>
    <p:sldId id="286" r:id="rId37"/>
    <p:sldId id="288" r:id="rId38"/>
    <p:sldId id="289" r:id="rId39"/>
    <p:sldId id="290" r:id="rId40"/>
    <p:sldId id="291" r:id="rId41"/>
    <p:sldId id="292" r:id="rId42"/>
    <p:sldId id="293" r:id="rId43"/>
    <p:sldId id="294" r:id="rId44"/>
    <p:sldId id="295" r:id="rId45"/>
    <p:sldId id="297"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910"/>
    <a:srgbClr val="087F82"/>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endParaRPr/>
          </a:p>
          <a:p>
            <a:r>
              <a:t>Suggested time: 1.2 minutes</a:t>
            </a:r>
            <a:endParaRPr/>
          </a:p>
          <a:p>
            <a:r>
              <a:t>Target interval: 02:15–03:27 (including pauses).</a:t>
            </a:r>
            <a:endParaRPr/>
          </a:p>
          <a:p>
            <a:r>
              <a:t>[ON ENTRY]</a:t>
            </a:r>
            <a:endParaRP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endParaRPr/>
          </a:p>
          <a:p>
            <a:r>
              <a:t>The first neuron forms phi zero of x times w one plus b one, then applies ReLU. The second uses the first activation as its input. Finally, the output layer takes an affine combination of the second activation, without another ReLU.</a:t>
            </a:r>
            <a:endParaRPr/>
          </a:p>
          <a:p>
            <a:r>
              <a:t>There are three weights and three biases. An early parameter affects an intermediate value, which affects the next layer, and eventually the loss.</a:t>
            </a:r>
            <a:endParaRPr/>
          </a:p>
          <a:p>
            <a:r>
              <a:t>[NEXT SLIDE]</a:t>
            </a:r>
            <a:endParaRPr/>
          </a:p>
          <a:p>
            <a:r>
              <a:t>Before differentiating anything, let us calculate and save those intermediate values for one observation.</a:t>
            </a:r>
            <a:endParaRPr/>
          </a:p>
          <a:p>
            <a:r>
              <a:t>Source: Week 5 lecture notes, pages 1–2.</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a preactivation</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orange boundary and the formula appear together. J_{3,θ,y}(u)=(u-y)^2 is the squared loss as a function of a possible output preactivation. Substituting the actual forward value a_3(x) gives L_sq(θ)=J_{3,θ,y}(a_3(x)).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J_{3,θ,y} region already introduced on the preceding slide. Starting at a_2(x), which operations still remain before we obtain the loss? Identify ReLU, the output affine operation and the final loss.</a:t>
            </a:r>
          </a:p>
          <a:p>
            <a:r>
              <a:rPr lang="en-GB"/>
              <a:t>[CLICK 1]</a:t>
            </a:r>
          </a:p>
          <a:p>
            <a:r>
              <a:rPr lang="en-GB"/>
              <a:t>The J_{2,θ,y} boundary appears with its definition and the loss composition. Apply ReLU to a possible preactivation u, then the output affine operation. Use J_{3,θ,y} for the remaining squared-loss operation. Substituting a_2(x) recovers the original loss. This function uses only w_3, b_3 and y. The earlier boundary remains visible.</a:t>
            </a:r>
          </a:p>
          <a:p>
            <a:r>
              <a:rPr lang="en-GB"/>
              <a:t>[NEXT SLIDE]</a:t>
            </a:r>
          </a:p>
          <a:p>
            <a:r>
              <a:rPr lang="en-GB"/>
              <a:t>Keep the J_{3,θ,y} and J_{2,θ,y}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remaining function for each layer</a:t>
            </a:r>
          </a:p>
          <a:p>
            <a:r>
              <a:rPr lang="en-GB"/>
              <a:t>Suggested time: 1.1 minutes</a:t>
            </a:r>
          </a:p>
          <a:p>
            <a:r>
              <a:rPr lang="en-GB"/>
              <a:t>Target interval: 08:24–09:30 (including pauses).</a:t>
            </a:r>
          </a:p>
          <a:p>
            <a:endParaRPr lang="en-GB"/>
          </a:p>
          <a:p>
            <a:r>
              <a:rPr lang="en-GB"/>
              <a:t>[ON ENTRY]</a:t>
            </a:r>
          </a:p>
          <a:p>
            <a:r>
              <a:rPr lang="en-GB"/>
              <a:t>Keep the J_{3,θ,y} and J_{2,θ,y} regions from the preceding slide. Start at a_1(x). Which operations are needed before we can use the already-defined function J_{2,θ,y}?</a:t>
            </a:r>
          </a:p>
          <a:p>
            <a:r>
              <a:rPr lang="en-GB"/>
              <a:t>[CLICK 1]</a:t>
            </a:r>
          </a:p>
          <a:p>
            <a:r>
              <a:rPr lang="en-GB"/>
              <a:t>The J_{1,θ,y} boundary appears together with its definition and the loss composition. The teal equality states L_sq(θ)=J_{1,θ,y}(a_1(x)). The definition has the same color as the new boundary and uses J_{2,θ,y} for the remaining computation. Read the fixed-parameter statement below. The earlier boundaries remain visible.</a:t>
            </a:r>
          </a:p>
          <a:p>
            <a:r>
              <a:rPr lang="en-GB"/>
              <a:t>[NEXT SLIDE]</a:t>
            </a:r>
          </a:p>
          <a:p>
            <a:r>
              <a:rPr lang="en-GB"/>
              <a:t>Place the three representations of the same loss side by side, then recall the chain rule before differentiating with respect to the output parameters.</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0.55 minutes</a:t>
            </a:r>
          </a:p>
          <a:p>
            <a:r>
              <a:t>Target interval: 09:30–10:03 (including pauses).</a:t>
            </a:r>
          </a:p>
          <a:p>
            <a:r>
              <a:t>The same loss, three compositions</a:t>
            </a:r>
          </a:p>
          <a:p>
            <a:r>
              <a:t>[ON ENTRY]</a:t>
            </a:r>
            <a:endParaRPr/>
          </a:p>
          <a:p>
            <a:r>
              <a:t>The definitions describe the same completed computation. Keep the input and target fixed. Starting from the output preactivation, J_{3,θ,y} gives the loss.</a:t>
            </a:r>
          </a:p>
          <a:p>
            <a:r>
              <a:t>Starting from a_2(x), J_{2,θ,y} completes the same calculation and gives the same loss. Keep the previous identity visible.</a:t>
            </a:r>
          </a:p>
          <a:p>
            <a:r>
              <a:t>Starting from a_1(x), J_{1,θ,y} also gives the same loss. These are three representations of one objective, not three different objectives.</a:t>
            </a:r>
          </a:p>
          <a:p>
            <a:r>
              <a:t>Recall the ordinary chain rule. We will choose the representation in which the parameter we vary changes the inner argument while the outer remaining function stays fixed.</a:t>
            </a:r>
          </a:p>
          <a:p>
            <a:r>
              <a:t>[NEXT SLIDE]</a:t>
            </a:r>
          </a:p>
          <a:p>
            <a:r>
              <a:t>Begin with the output parameters. Which factor does the chain rule require?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J_{3,theta,y}(a3(x)). Keep the input, target and all other parameters fixed. J_{3,theta,y}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J'_{3,theta,y}(a3(x)). We now calculate it once.</a:t>
            </a:r>
          </a:p>
          <a:p>
            <a:r>
              <a:rPr lang="en-GB"/>
              <a:t>[NEXT SLIDE]</a:t>
            </a:r>
          </a:p>
          <a:p>
            <a:r>
              <a:rPr lang="en-GB"/>
              <a:t>Return to the definition of J_{3,theta,y}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a:t>
            </a:r>
          </a:p>
          <a:p>
            <a:r>
              <a:t>Target interval: 11:18–12:18 (including pauses).</a:t>
            </a:r>
          </a:p>
          <a:p>
            <a:r>
              <a:t>The second-layer parameter derivatives</a:t>
            </a:r>
          </a:p>
          <a:p>
            <a:r>
              <a:t>[ON ENTRY]</a:t>
            </a:r>
            <a:endParaRPr/>
          </a:p>
          <a:p>
            <a:r>
              <a:t>First point to the loss composition L_sq(theta)=J_{2,theta,y}(a_2(x)). The two definitions underneath identify the outer remaining-loss function and the inner affine preactivation. J_{2,theta,y} does not use w_2 or b_2; the input phi_1(x)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b_2. The prime always denotes differentiation with respect to the supplied scalar argument.</a:t>
            </a:r>
          </a:p>
          <a:p>
            <a:r>
              <a:t>[CLICK 2]</a:t>
            </a:r>
          </a:p>
          <a:p>
            <a:r>
              <a:t>Append the local derivative, one. Keep the chain-rule product visible.</a:t>
            </a:r>
          </a:p>
          <a:p>
            <a:r>
              <a:t>[CLICK 3]</a:t>
            </a:r>
          </a:p>
          <a:p>
            <a:r>
              <a:t>Repeat for w_2. The same outer derivative appears again.</a:t>
            </a:r>
          </a:p>
          <a:p>
            <a:r>
              <a:t>[CLICK 4]</a:t>
            </a:r>
          </a:p>
          <a:p>
            <a:r>
              <a:t>The local derivative is phi_1(x), the input to this layer saved during the forward pass.</a:t>
            </a:r>
          </a:p>
          <a:p>
            <a:r>
              <a:t>[CLICK 5]</a:t>
            </a:r>
          </a:p>
          <a:p>
            <a:r>
              <a:t>Both parameter derivatives require the same evaluated factor J'_{2,θ,y}(a_2(x)). We now calculate it once, starting from the definition of J_{2,θ,y}.</a:t>
            </a:r>
          </a:p>
          <a:p>
            <a:r>
              <a:t>[NEXT SLIDE]</a:t>
            </a:r>
          </a:p>
          <a:p>
            <a:r>
              <a:t>We have identified J'_{2,θ,y}(a_2(x)) as the missing factor. Return to the definition of J_{2,θ,y}: can the derivative we already calculated help us find it?</a:t>
            </a:r>
            <a:endParaRP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Reusing the output derivative</a:t>
            </a:r>
          </a:p>
          <a:p>
            <a:r>
              <a:t>Suggested time: 1.3 minutes</a:t>
            </a:r>
            <a:endParaRPr/>
          </a:p>
          <a:p>
            <a:r>
              <a:t>Target interval: 12:18–13:36 (including pauses).</a:t>
            </a:r>
          </a:p>
          <a:p>
            <a:r>
              <a:t>[ON ENTRY]</a:t>
            </a:r>
          </a:p>
          <a:p>
            <a:r>
              <a:t>The second-layer parameter derivatives require J'_{2,theta,y}(a_2(x)). Begin with that target at the top of the slide. Underneath, recall the definition J_{2,theta,y}(u)=J_{3,theta,y}(ReLU(u)w_3+b_3).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endParaRPr/>
          </a:p>
          <a:p>
            <a:r>
              <a:t>[CLICK 1]</a:t>
            </a:r>
          </a:p>
          <a:p>
            <a:r>
              <a:t>Apply the chain rule to this definition. The outer derivative is J'_{3,θ,y} at the inner argument. The derivative of the affine expression contributes w_3, and the ReLU contributes ReLU'(u). This identity holds for u nonzero.</a:t>
            </a:r>
          </a:p>
          <a:p>
            <a:r>
              <a:t>[CLICK 2]</a:t>
            </a:r>
          </a:p>
          <a:p>
            <a:r>
              <a:t>Evaluate at the saved a_2(x). Look at the underbrace inside J'_{3,θ,y}: ReLU(a_2(x))w_3+b_3 is exactly a_3(x), the output preactivation already computed during the forward pass. We need the outer derivative at that same point.</a:t>
            </a:r>
          </a:p>
          <a:p>
            <a:r>
              <a:t>[CLICK 3]</a:t>
            </a:r>
          </a:p>
          <a:p>
            <a:r>
              <a:t>We have already obtained J'_{3,θ,y}(a_3(x))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t>[NEXT SLIDE]</a:t>
            </a:r>
          </a:p>
          <a:p>
            <a:r>
              <a:t>Calculate the remaining local derivative, then use the resulting shared factor in the two parameter derivatives already established.</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J'_{3,theta,y}(a3(x)) is already available, w3 is a known fixed weight, and the remaining factor is ReLU'(a2(x)).</a:t>
            </a:r>
          </a:p>
          <a:p>
            <a:r>
              <a:rPr lang="en-GB"/>
              <a:t>[CLICK 1]</a:t>
            </a:r>
          </a:p>
          <a:p>
            <a:r>
              <a:rPr lang="en-GB"/>
              <a:t>For the nonzero preactivation in this calculation, replace ReLU'(a2(x)) by step(a2(x)). We have now obtained J'_{2,theta,y}(a2(x))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0.9 minutes</a:t>
            </a:r>
          </a:p>
          <a:p>
            <a:r>
              <a:t>Target interval: 14:39–15:33 (including pauses).</a:t>
            </a:r>
          </a:p>
          <a:p>
            <a:r>
              <a:t>The first-layer parameter derivatives</a:t>
            </a:r>
          </a:p>
          <a:p>
            <a:r>
              <a:t>[ON ENTRY]</a:t>
            </a:r>
            <a:endParaRPr/>
          </a:p>
          <a:p>
            <a:r>
              <a:t>First point to the loss composition L_sq(theta)=J_{1,theta,y}(a_1(x)). The two definitions underneath identify the outer remaining-loss function and the inner affine preactivation. J_{1,theta,y} does not use w_1 or b_1; the input phi_0(x)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b_1. The prime always denotes differentiation with respect to the supplied scalar argument.</a:t>
            </a:r>
          </a:p>
          <a:p>
            <a:r>
              <a:t>[CLICK 2]</a:t>
            </a:r>
          </a:p>
          <a:p>
            <a:r>
              <a:t>Append the local derivative, one. Keep the chain-rule product visible.</a:t>
            </a:r>
          </a:p>
          <a:p>
            <a:r>
              <a:t>[CLICK 3]</a:t>
            </a:r>
          </a:p>
          <a:p>
            <a:r>
              <a:t>Repeat for w_1. The same outer derivative appears again.</a:t>
            </a:r>
          </a:p>
          <a:p>
            <a:r>
              <a:t>[CLICK 4]</a:t>
            </a:r>
          </a:p>
          <a:p>
            <a:r>
              <a:t>The local derivative is phi_0(x), the input to this layer saved during the forward pass.</a:t>
            </a:r>
          </a:p>
          <a:p>
            <a:r>
              <a:t>[CLICK 5]</a:t>
            </a:r>
          </a:p>
          <a:p>
            <a:r>
              <a:t>Both parameter derivatives require the same evaluated factor J'_{1,θ,y}(a_1(x)). We now calculate it once, starting from the definition of J_{1,θ,y}.</a:t>
            </a:r>
          </a:p>
          <a:p>
            <a:r>
              <a:t>[NEXT SLIDE]</a:t>
            </a:r>
          </a:p>
          <a:p>
            <a:r>
              <a:t>The missing factor is J'_{1,θ,y}(a_1(x)). Its definition uses J_{2,θ,y}, whose evaluated derivative is now available.</a:t>
            </a:r>
            <a:endParaRP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J'_{1,theta,y}(a1(x)). Begin with that target, exactly as we did for the second layer. Recall the definition of J_{1,theta,y} in terms of J_{2,theta,y}.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J'_{2,theta,y}(a2(x)).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Before collecting them into the gradient, use one diagram to summarise the calculation we have just repeated at each layer.</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backward step</a:t>
            </a:r>
          </a:p>
          <a:p>
            <a:r>
              <a:t>Suggested time: 2.55 minutes</a:t>
            </a:r>
          </a:p>
          <a:p>
            <a:r>
              <a:t>Target interval: 20:36–23:09 (including pauses).</a:t>
            </a:r>
          </a:p>
          <a:p>
            <a:endParaRPr/>
          </a:p>
          <a:p>
            <a:r>
              <a:t>[ON ENTRY]</a:t>
            </a:r>
          </a:p>
          <a:p>
            <a:r>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t>[CLICK 1]</a:t>
            </a:r>
          </a:p>
          <a:p>
            <a:r>
              <a:t>First, use the known blue derivative to calculate both parameter derivatives for layer r. For the weight, multiply it by the saved layer input. For the bias, use it directly. These are separate branches: the bias derivative does not depend on the weight derivative.</a:t>
            </a:r>
          </a:p>
          <a:p>
            <a:r>
              <a:t>[CLICK 2]</a:t>
            </a:r>
          </a:p>
          <a:p>
            <a:r>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t>[NEXT SLIDE]</a:t>
            </a:r>
          </a:p>
          <a:p>
            <a:r>
              <a:t>Collect the six numerical parameter derivatives in the order of the parameter column. Only after the whole backward pass is complete will we update the parameters.</a:t>
            </a:r>
          </a:p>
          <a:p>
            <a:r>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have the complete gradient</a:t>
            </a:r>
            <a:endParaRPr/>
          </a:p>
          <a:p>
            <a:r>
              <a:t>Suggested time: 1.1 minutes</a:t>
            </a:r>
            <a:endParaRPr/>
          </a:p>
          <a:p>
            <a:r>
              <a:t>Target interval: 23:09–24:15 (including pauses).</a:t>
            </a:r>
            <a:endParaRPr/>
          </a:p>
          <a:p>
            <a:r>
              <a:t>[ON ENTRY]</a:t>
            </a:r>
            <a:endParaRPr/>
          </a:p>
          <a:p>
            <a:r>
              <a:t>Our order was bias, weight, bias, weight, bias, weight, working forwards through the layers. In that order the gradient is 4, 8, 2, 6, minus 2, minus 10.</a:t>
            </a:r>
            <a:endParaRPr/>
          </a:p>
          <a:p>
            <a:r>
              <a:t>We calculated the entries in reverse layer order, but place them in the column according to their corresponding parameters. All six derivatives are evaluated at the same current parameter column theta^(t) and use the same observation.</a:t>
            </a:r>
            <a:endParaRPr/>
          </a:p>
          <a:p>
            <a:r>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endParaRPr/>
          </a:p>
          <a:p>
            <a:r>
              <a:t>[NEXT SLIDE]</a:t>
            </a:r>
            <a:endParaRPr/>
          </a:p>
          <a:p>
            <a:r>
              <a:t>We now have the complete scalar calculation. Next, we keep this organisation and allow several neurons per layer.</a:t>
            </a:r>
            <a:endParaRPr/>
          </a:p>
          <a:p>
            <a:r>
              <a:t>Source: Week 5 lecture notes, pages 11.</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backward step</a:t>
            </a:r>
          </a:p>
          <a:p>
            <a:r>
              <a:t>Suggested time: 0.42 minutes</a:t>
            </a:r>
          </a:p>
          <a:p>
            <a:r>
              <a:t>Target interval: 29:35–30:00 (including pauses).</a:t>
            </a:r>
          </a:p>
          <a:p>
            <a:r>
              <a:t>[ON ENTRY]</a:t>
            </a:r>
          </a:p>
          <a:p>
            <a:r>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t>[NEXT SLIDE]</a:t>
            </a:r>
          </a:p>
          <a:p>
            <a:r>
              <a:t>The diagram gives the complete backward step. We now return to the network from Lecture 4 and carry out a numerical example. First calculate and save its forward values, then use them to calculate the output and hidden-layer gradients.</a:t>
            </a:r>
          </a:p>
          <a:p>
            <a:r>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loss determines where we start</a:t>
            </a:r>
            <a:endParaRPr/>
          </a:p>
          <a:p>
            <a:r>
              <a:t>Suggested time: 1.5 minutes</a:t>
            </a:r>
            <a:endParaRPr/>
          </a:p>
          <a:p>
            <a:r>
              <a:t>Target interval: 40:36–42:06 (including pauses).</a:t>
            </a:r>
            <a:endParaRPr/>
          </a:p>
          <a:p>
            <a:r>
              <a:t>[ON ENTRY]</a:t>
            </a:r>
            <a:endParaRPr/>
          </a:p>
          <a:p>
            <a:r>
              <a:t>We now choose the remaining loss function for one fixed observation. Regression and binary classification both use an output row with one entry, so d L equals one. We keep the row notation: u one denotes that single output coordinate. In regression it is the prediction, and squared loss compares it with the target. In binary classification it is a score: sigmoid turns it into a probability, which enters the logistic loss.</a:t>
            </a:r>
            <a:endParaRPr/>
          </a:p>
          <a:p>
            <a:r>
              <a:t>[CLICK1]</a:t>
            </a:r>
            <a:endParaRPr/>
          </a:p>
          <a:p>
            <a:r>
              <a:t>The complete regression and binary-classification derivative equations appear together. The initial backward row has one entry in either case. For regression, it is twice the difference between prediction and target. For binary classification, it is predicted probability minus label. This is the derivative with respect to the output score. The binary formula already includes differentiating through sigmoid; do not multiply by the sigmoid derivative again.</a:t>
            </a:r>
            <a:endParaRPr/>
          </a:p>
          <a:p>
            <a:r>
              <a:t>For example, a probability of one half and a label of one give an initial derivative of minus one half. Increasing the score slightly would decrease the loss, as we would expect.</a:t>
            </a:r>
            <a:endParaRPr/>
          </a:p>
          <a:p>
            <a:r>
              <a:t>[PAUSE: 3 seconds.]</a:t>
            </a:r>
            <a:endParaRPr/>
          </a:p>
          <a:p>
            <a:r>
              <a:t>After this initial row, the hidden-layer calculation is unchanged. What if the output contains several scores?</a:t>
            </a:r>
            <a:endParaRPr/>
          </a:p>
          <a:p>
            <a:r>
              <a:t>[NEXT SLIDE]</a:t>
            </a:r>
            <a:endParaRPr/>
          </a:p>
          <a:p>
            <a:r>
              <a:t>Source: Week 5 lecture notes, pages 20,26.</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Multiclass: one initial derivative per score</a:t>
            </a:r>
            <a:endParaRPr/>
          </a:p>
          <a:p>
            <a:r>
              <a:t>Suggested time: 1.2 minutes</a:t>
            </a:r>
            <a:endParaRPr/>
          </a:p>
          <a:p>
            <a:r>
              <a:t>Target interval: 42:06–43:18 (including pauses).</a:t>
            </a:r>
            <a:endParaRPr/>
          </a:p>
          <a:p>
            <a:r>
              <a:t>[ON ENTRY]</a:t>
            </a:r>
            <a:endParaRPr/>
          </a:p>
          <a:p>
            <a:r>
              <a:t>For multiclass classification with K classes, the output row contains one score, or logit, per class, so d_L=K. Softmax gives the probabilities; p_{theta,k}(x) denotes its kth class probability. The multiclass loss uses the observed class label.</a:t>
            </a:r>
            <a:endParaRPr/>
          </a:p>
          <a:p>
            <a:r>
              <a:t>[CLICK1]</a:t>
            </a:r>
            <a:endParaRPr/>
          </a:p>
          <a:p>
            <a:r>
              <a:t>The initial derivative for score k is its probability minus delta k y. Delta is one when k is the observed class and zero otherwise.</a:t>
            </a:r>
            <a:endParaRPr/>
          </a:p>
          <a:p>
            <a:r>
              <a:t>[CLICK2]</a:t>
            </a:r>
            <a:endParaRPr/>
          </a:p>
          <a:p>
            <a:r>
              <a:t>With three classes and observed label two, the gradient row is p one, p two minus one, p three. We subtract one at the observed class, regardless of which class currently has the largest probability.</a:t>
            </a:r>
            <a:endParaRPr/>
          </a:p>
          <a:p>
            <a:r>
              <a:t>[PAUSE: 3 seconds.]</a:t>
            </a:r>
            <a:endParaRPr/>
          </a:p>
          <a:p>
            <a:r>
              <a:t>This already includes differentiating through softmax. We now have a starting gradient for each task, but still for just one observation.</a:t>
            </a:r>
            <a:endParaRPr/>
          </a:p>
          <a:p>
            <a:r>
              <a:t>[NEXT SLIDE]</a:t>
            </a:r>
            <a:endParaRPr/>
          </a:p>
          <a:p>
            <a:r>
              <a:t>Source: Week 5 lecture notes, pages 20,27.</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endParaRPr lang="en-GB"/>
          </a:p>
          <a:p>
            <a:r>
              <a:rPr lang="en-GB" dirty="0"/>
              <a:t>Suggested time: 1.25 minutes</a:t>
            </a:r>
            <a:endParaRPr lang="en-GB"/>
          </a:p>
          <a:p>
            <a:r>
              <a:rPr lang="en-GB" dirty="0"/>
              <a:t>Target interval: 43:18–44:33 (including pauses).</a:t>
            </a:r>
            <a:endParaRPr lang="en-GB"/>
          </a:p>
          <a:p>
            <a:endParaRPr lang="en-GB"/>
          </a:p>
          <a:p>
            <a:r>
              <a:rPr lang="en-GB" dirty="0"/>
              <a:t>[ON ENTRY]</a:t>
            </a:r>
            <a:endParaRPr lang="en-GB"/>
          </a:p>
          <a:p>
            <a:r>
              <a:rPr lang="en-GB" dirty="0"/>
              <a:t>Until now, we have differentiated the loss associated with one observation. Our empirical loss for the whole dataset is the sum of those individual losses. Each observation has its own input and target, but the network parameters are shared.</a:t>
            </a:r>
            <a:endParaRPr lang="en-GB"/>
          </a:p>
          <a:p>
            <a:endParaRPr lang="en-GB"/>
          </a:p>
          <a:p>
            <a:r>
              <a:rPr lang="en-GB" dirty="0"/>
              <a:t>[CLICK1]</a:t>
            </a:r>
            <a:endParaRPr lang="en-GB"/>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endParaRPr lang="en-GB"/>
          </a:p>
          <a:p>
            <a:endParaRPr lang="en-GB"/>
          </a:p>
          <a:p>
            <a:r>
              <a:rPr lang="en-GB" dirty="0"/>
              <a:t>[PAUSE: 4 seconds.]</a:t>
            </a:r>
            <a:endParaRPr lang="en-GB"/>
          </a:p>
          <a:p>
            <a:r>
              <a:rPr lang="en-GB" dirty="0"/>
              <a:t>We use a sum here, consistently with our empirical-loss convention. We can accumulate it without keeping every observation's intermediate values simultaneously. Here is the complete procedure.</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endParaRPr lang="en-GB"/>
          </a:p>
          <a:p>
            <a:r>
              <a:rPr lang="en-GB" dirty="0"/>
              <a:t>Suggested time: 1.15 minutes</a:t>
            </a:r>
            <a:endParaRPr lang="en-GB"/>
          </a:p>
          <a:p>
            <a:r>
              <a:rPr lang="en-GB" dirty="0"/>
              <a:t>Target interval: 44:33–45:42 (including pauses).</a:t>
            </a:r>
            <a:endParaRPr lang="en-GB"/>
          </a:p>
          <a:p>
            <a:endParaRPr lang="en-GB"/>
          </a:p>
          <a:p>
            <a:r>
              <a:rPr lang="en-GB" dirty="0"/>
              <a:t>[ON ENTRY]</a:t>
            </a:r>
            <a:endParaRPr lang="en-GB"/>
          </a:p>
          <a:p>
            <a:r>
              <a:rPr lang="en-GB" dirty="0"/>
              <a:t>Begin with a zero accumulator, with an entry for every parameter. Keep the current parameters fixed.</a:t>
            </a:r>
            <a:endParaRPr lang="en-GB"/>
          </a:p>
          <a:p>
            <a:endParaRPr lang="en-GB"/>
          </a:p>
          <a:p>
            <a:r>
              <a:rPr lang="en-GB" dirty="0"/>
              <a:t>[CLICK1]</a:t>
            </a:r>
            <a:endParaRPr lang="en-GB"/>
          </a:p>
          <a:p>
            <a:r>
              <a:rPr lang="en-GB" dirty="0"/>
              <a:t>For each observation, perform the forward pass, save its intermediate values, perform the backward pass, and add its parameter derivatives to the accumulator. Once added, that observation's saved intermediate values can be discarded.</a:t>
            </a:r>
            <a:endParaRPr lang="en-GB"/>
          </a:p>
          <a:p>
            <a:endParaRPr lang="en-GB"/>
          </a:p>
          <a:p>
            <a:r>
              <a:rPr lang="en-GB" dirty="0"/>
              <a:t>[CLICK2]</a:t>
            </a:r>
            <a:endParaRPr lang="en-GB"/>
          </a:p>
          <a:p>
            <a:r>
              <a:rPr lang="en-GB" dirty="0"/>
              <a:t>After every observation has contributed, the accumulator contains the empirical-loss gradient. We then update all parameters together, using our chosen learning rate.</a:t>
            </a:r>
            <a:endParaRPr lang="en-GB"/>
          </a:p>
          <a:p>
            <a:endParaRPr lang="en-GB"/>
          </a:p>
          <a:p>
            <a:r>
              <a:rPr lang="en-GB" dirty="0"/>
              <a:t>Would updating between observations implement this same procedure?</a:t>
            </a:r>
            <a:endParaRPr lang="en-GB"/>
          </a:p>
          <a:p>
            <a:endParaRPr lang="en-GB"/>
          </a:p>
          <a:p>
            <a:r>
              <a:rPr lang="en-GB" dirty="0"/>
              <a:t>[PAUSE: 4 seconds.]</a:t>
            </a:r>
            <a:endParaRPr lang="en-GB"/>
          </a:p>
          <a:p>
            <a:r>
              <a:rPr lang="en-GB" dirty="0"/>
              <a:t>No. It would use changing parameter values and therefore be a different procedure. Backpropagation supplies the derivatives; the update rule specifies how and when to use them.</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does reuse save work?</a:t>
            </a:r>
            <a:endParaRPr lang="en-GB"/>
          </a:p>
          <a:p>
            <a:r>
              <a:rPr lang="en-GB" dirty="0"/>
              <a:t>Suggested time: 1.2 minutes</a:t>
            </a:r>
            <a:endParaRPr lang="en-GB"/>
          </a:p>
          <a:p>
            <a:r>
              <a:rPr lang="en-GB" dirty="0"/>
              <a:t>Target interval: 45:42–46:54 (including pauses).</a:t>
            </a:r>
            <a:endParaRPr lang="en-GB"/>
          </a:p>
          <a:p>
            <a:endParaRPr lang="en-GB"/>
          </a:p>
          <a:p>
            <a:r>
              <a:rPr lang="en-GB" dirty="0"/>
              <a:t>[ON ENTRY]</a:t>
            </a:r>
            <a:endParaRPr lang="en-GB"/>
          </a:p>
          <a:p>
            <a:r>
              <a:rPr lang="en-GB" dirty="0"/>
              <a:t>Why is this organisation useful computationally? Consider a scalar chain with L layers, one weight and one bias per layer. It has P equals two L parameters.</a:t>
            </a:r>
            <a:endParaRPr lang="en-GB"/>
          </a:p>
          <a:p>
            <a:endParaRPr lang="en-GB"/>
          </a:p>
          <a:p>
            <a:r>
              <a:rPr lang="en-GB" dirty="0"/>
              <a:t>If we separately follow the chain from each parameter to the loss, the first pair requires L stages, the next pair L minus one, and so on. We repeatedly calculate the same later parts. That gives the sum on the left.</a:t>
            </a:r>
            <a:endParaRPr lang="en-GB"/>
          </a:p>
          <a:p>
            <a:endParaRPr lang="en-GB"/>
          </a:p>
          <a:p>
            <a:r>
              <a:rPr lang="en-GB" dirty="0"/>
              <a:t>[CLICK1]</a:t>
            </a:r>
            <a:endParaRPr lang="en-GB"/>
          </a:p>
          <a:p>
            <a:r>
              <a:rPr lang="en-GB" dirty="0"/>
              <a:t>The sum is L times L plus one, quadratic in P. Backpropagation instead makes one forward pass and one backward pass, with work proportional to P.</a:t>
            </a:r>
            <a:endParaRPr lang="en-GB"/>
          </a:p>
          <a:p>
            <a:endParaRPr lang="en-GB"/>
          </a:p>
          <a:p>
            <a:r>
              <a:rPr lang="en-GB" dirty="0"/>
              <a:t>[PAUSE: 4 seconds.]</a:t>
            </a:r>
            <a:endParaRPr lang="en-GB"/>
          </a:p>
          <a:p>
            <a:r>
              <a:rPr lang="en-GB" dirty="0"/>
              <a:t>This comparison concerns the repeated separate calculation just described. The saving comes from reusing shared derivatives. The same linear cost extends to our wider networks.</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Cost for the networks we have studied</a:t>
            </a:r>
            <a:endParaRPr lang="en-GB"/>
          </a:p>
          <a:p>
            <a:r>
              <a:rPr lang="en-GB" dirty="0"/>
              <a:t>Suggested time: 1 minutes</a:t>
            </a:r>
            <a:endParaRPr lang="en-GB"/>
          </a:p>
          <a:p>
            <a:r>
              <a:rPr lang="en-GB" dirty="0"/>
              <a:t>Target interval: 46:54–47:54 (including pauses).</a:t>
            </a:r>
            <a:endParaRPr lang="en-GB"/>
          </a:p>
          <a:p>
            <a:endParaRPr lang="en-GB"/>
          </a:p>
          <a:p>
            <a:r>
              <a:rPr lang="en-GB" dirty="0"/>
              <a:t>[ON ENTRY]</a:t>
            </a:r>
            <a:endParaRPr lang="en-GB"/>
          </a:p>
          <a:p>
            <a:r>
              <a:rPr lang="en-GB" dirty="0"/>
              <a:t>For the networks we have studied, one observation takes order P time and order P working memory. The memory includes the parameters, the saved forward values and the parameter gradients.</a:t>
            </a:r>
            <a:endParaRPr lang="en-GB"/>
          </a:p>
          <a:p>
            <a:endParaRPr lang="en-GB"/>
          </a:p>
          <a:p>
            <a:r>
              <a:rPr lang="en-GB" dirty="0"/>
              <a:t>[CLICK1]</a:t>
            </a:r>
            <a:endParaRPr lang="en-GB"/>
          </a:p>
          <a:p>
            <a:r>
              <a:rPr lang="en-GB" dirty="0"/>
              <a:t>With N observations processed one at a time, the time becomes order N P. Working memory can remain order P: we accumulate gradients and reuse the space for each observation's intermediate values. The stored dataset itself is excluded from this memory count.</a:t>
            </a:r>
            <a:endParaRPr lang="en-GB"/>
          </a:p>
          <a:p>
            <a:endParaRPr lang="en-GB"/>
          </a:p>
          <a:p>
            <a:r>
              <a:rPr lang="en-GB" dirty="0"/>
              <a:t>Writing down all P gradient entries already requires work proportional to P.</a:t>
            </a:r>
            <a:endParaRPr lang="en-GB"/>
          </a:p>
          <a:p>
            <a:endParaRPr lang="en-GB"/>
          </a:p>
          <a:p>
            <a:r>
              <a:rPr lang="en-GB" dirty="0"/>
              <a:t>These are scaling statements, not exact operation counts. They explain why obtaining a full gradient need not require a separate full network calculation for every parameter.</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 organises the chain rule</a:t>
            </a:r>
            <a:endParaRPr lang="en-GB"/>
          </a:p>
          <a:p>
            <a:r>
              <a:rPr lang="en-GB" dirty="0"/>
              <a:t>Suggested time: 1.1 minutes</a:t>
            </a:r>
            <a:endParaRPr lang="en-GB"/>
          </a:p>
          <a:p>
            <a:r>
              <a:rPr lang="en-GB" dirty="0"/>
              <a:t>Target interval: 47:54–49:00 (including pauses).</a:t>
            </a:r>
            <a:endParaRPr lang="en-GB"/>
          </a:p>
          <a:p>
            <a:endParaRPr lang="en-GB"/>
          </a:p>
          <a:p>
            <a:r>
              <a:rPr lang="en-GB" dirty="0"/>
              <a:t>[ON ENTRY]</a:t>
            </a:r>
            <a:endParaRPr lang="en-GB"/>
          </a:p>
          <a:p>
            <a:r>
              <a:rPr lang="en-GB" dirty="0"/>
              <a:t>Here are the three stages to keep separate. Forward: calculate the network output and loss, saving the intermediate values we will need.</a:t>
            </a:r>
            <a:endParaRPr lang="en-GB"/>
          </a:p>
          <a:p>
            <a:endParaRPr lang="en-GB"/>
          </a:p>
          <a:p>
            <a:r>
              <a:rPr lang="en-GB" dirty="0"/>
              <a:t>[CLICK1]</a:t>
            </a:r>
            <a:endParaRPr lang="en-GB"/>
          </a:p>
          <a:p>
            <a:r>
              <a:rPr lang="en-GB" dirty="0"/>
              <a:t>Backward: start with the loss derivative and reuse derivatives as we move towards the input. This is backpropagation: an efficient organisation of the chain rule.</a:t>
            </a:r>
            <a:endParaRPr lang="en-GB"/>
          </a:p>
          <a:p>
            <a:endParaRPr lang="en-GB"/>
          </a:p>
          <a:p>
            <a:r>
              <a:rPr lang="en-GB" dirty="0"/>
              <a:t>[CLICK2]</a:t>
            </a:r>
            <a:endParaRPr lang="en-GB"/>
          </a:p>
          <a:p>
            <a:r>
              <a:rPr lang="en-GB" dirty="0"/>
              <a:t>Update: use the completed parameter gradient to change the parameters. Calculating a gradient is not itself a gradient-descent update, and an efficiently calculated gradient does not guarantee that optimisation reaches a global minimum.</a:t>
            </a:r>
            <a:endParaRPr lang="en-GB"/>
          </a:p>
          <a:p>
            <a:endParaRPr lang="en-GB"/>
          </a:p>
          <a:p>
            <a:r>
              <a:rPr lang="en-GB" dirty="0"/>
              <a:t>[PAUSE: 3 seconds.]</a:t>
            </a:r>
            <a:endParaRPr lang="en-GB"/>
          </a:p>
          <a:p>
            <a:r>
              <a:rPr lang="en-GB" dirty="0"/>
              <a:t>The exercises give you practice with each part of this calculation.</a:t>
            </a:r>
            <a:endParaRPr lang="en-GB"/>
          </a:p>
          <a:p>
            <a:endParaRPr lang="en-GB"/>
          </a:p>
          <a:p>
            <a:r>
              <a:rPr lang="en-GB" dirty="0"/>
              <a:t>[NEXT SLIDE]</a:t>
            </a:r>
            <a:endParaRPr lang="en-GB"/>
          </a:p>
          <a:p>
            <a:r>
              <a:rPr lang="en-GB" dirty="0"/>
              <a:t>Source: Week 5 lecture notes, pages 1,21–22.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9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1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99.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70.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FullJ67" Type="http://schemas.openxmlformats.org/officeDocument/2006/relationships/image" Target="../media/full_j_7_67.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0.png"/><Relationship Id="rId12" Type="http://schemas.openxmlformats.org/officeDocument/2006/relationships/image" Target="../media/image114.png"/><Relationship Id="rId17" Type="http://schemas.openxmlformats.org/officeDocument/2006/relationships/image" Target="../media/image119.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FullJ191" Type="http://schemas.openxmlformats.org/officeDocument/2006/relationships/image" Target="../media/full_j_8_191.png"/><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3.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FullJ249" Type="http://schemas.openxmlformats.org/officeDocument/2006/relationships/image" Target="../media/full_j_8_249.png"/><Relationship Id="rId28" Type="http://schemas.openxmlformats.org/officeDocument/2006/relationships/image" Target="../media/image102.png"/><Relationship Id="rId10" Type="http://schemas.openxmlformats.org/officeDocument/2006/relationships/image" Target="../media/image133.png"/><Relationship Id="rId19" Type="http://schemas.openxmlformats.org/officeDocument/2006/relationships/image" Target="../media/image14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FullJ251" Type="http://schemas.openxmlformats.org/officeDocument/2006/relationships/image" Target="../media/full_j_8_251.png"/><Relationship Id="rId27" Type="http://schemas.openxmlformats.org/officeDocument/2006/relationships/image" Target="../media/image1000.png"/></Relationships>
</file>

<file path=ppt/slides/_rels/slide9.xml.rels><?xml version="1.0" encoding="UTF-8" standalone="yes"?>
<Relationships xmlns="http://schemas.openxmlformats.org/package/2006/relationships"><Relationship Id="rIdFullJ191" Type="http://schemas.openxmlformats.org/officeDocument/2006/relationships/image" Target="../media/full_j_9_191.png"/><Relationship Id="rId8" Type="http://schemas.openxmlformats.org/officeDocument/2006/relationships/image" Target="../media/image132.png"/><Relationship Id="rId13" Type="http://schemas.openxmlformats.org/officeDocument/2006/relationships/image" Target="../media/image137.png"/><Relationship Id="rId18" Type="http://schemas.openxmlformats.org/officeDocument/2006/relationships/image" Target="../media/image142.png"/><Relationship Id="rId3" Type="http://schemas.openxmlformats.org/officeDocument/2006/relationships/image" Target="../media/image104.png"/><Relationship Id="rId21" Type="http://schemas.openxmlformats.org/officeDocument/2006/relationships/image" Target="../media/image145.png"/><Relationship Id="rId7" Type="http://schemas.openxmlformats.org/officeDocument/2006/relationships/image" Target="../media/image131.png"/><Relationship Id="rId12" Type="http://schemas.openxmlformats.org/officeDocument/2006/relationships/image" Target="../media/image136.png"/><Relationship Id="rId17" Type="http://schemas.openxmlformats.org/officeDocument/2006/relationships/image" Target="../media/image141.png"/><Relationship Id="rIdFullJ254" Type="http://schemas.openxmlformats.org/officeDocument/2006/relationships/image" Target="../media/full_j_9_254.png"/><Relationship Id="rId2" Type="http://schemas.openxmlformats.org/officeDocument/2006/relationships/notesSlide" Target="../notesSlides/notesSlide9.xml"/><Relationship Id="rId16" Type="http://schemas.openxmlformats.org/officeDocument/2006/relationships/image" Target="../media/image140.png"/><Relationship Id="rId20" Type="http://schemas.openxmlformats.org/officeDocument/2006/relationships/image" Target="../media/image144.png"/><Relationship Id="rId29" Type="http://schemas.openxmlformats.org/officeDocument/2006/relationships/image" Target="../media/image105.png"/><Relationship Id="rId1" Type="http://schemas.openxmlformats.org/officeDocument/2006/relationships/slideLayout" Target="../slideLayouts/slideLayout6.xml"/><Relationship Id="rIdFullJ193" Type="http://schemas.openxmlformats.org/officeDocument/2006/relationships/image" Target="../media/full_j_9_193.png"/><Relationship Id="rId6" Type="http://schemas.openxmlformats.org/officeDocument/2006/relationships/image" Target="../media/image130.png"/><Relationship Id="rId11" Type="http://schemas.openxmlformats.org/officeDocument/2006/relationships/image" Target="../media/image135.png"/><Relationship Id="rId24" Type="http://schemas.openxmlformats.org/officeDocument/2006/relationships/image" Target="../media/image148.png"/><Relationship Id="rId5" Type="http://schemas.openxmlformats.org/officeDocument/2006/relationships/image" Target="../media/image129.png"/><Relationship Id="rId15" Type="http://schemas.openxmlformats.org/officeDocument/2006/relationships/image" Target="../media/image139.png"/><Relationship Id="rId23" Type="http://schemas.openxmlformats.org/officeDocument/2006/relationships/image" Target="../media/image147.png"/><Relationship Id="rIdFullJ252" Type="http://schemas.openxmlformats.org/officeDocument/2006/relationships/image" Target="../media/full_j_9_252.png"/><Relationship Id="rId28" Type="http://schemas.openxmlformats.org/officeDocument/2006/relationships/image" Target="../media/image1030.png"/><Relationship Id="rId10" Type="http://schemas.openxmlformats.org/officeDocument/2006/relationships/image" Target="../media/image134.png"/><Relationship Id="rId19" Type="http://schemas.openxmlformats.org/officeDocument/2006/relationships/image" Target="../media/image143.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 Id="rId22" Type="http://schemas.openxmlformats.org/officeDocument/2006/relationships/image" Target="../media/image146.png"/><Relationship Id="rId27" Type="http://schemas.openxmlformats.org/officeDocument/2006/relationships/image" Target="../media/image1040.png"/><Relationship Id="rIdFullJ256" Type="http://schemas.openxmlformats.org/officeDocument/2006/relationships/image" Target="../media/full_j_9_256.png"/></Relationships>
</file>

<file path=ppt/slides/_rels/slide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511.png"/><Relationship Id="rId3" Type="http://schemas.openxmlformats.org/officeDocument/2006/relationships/image" Target="../media/image15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6.png"/><Relationship Id="rId11" Type="http://schemas.openxmlformats.org/officeDocument/2006/relationships/image" Target="../media/image158.png"/><Relationship Id="rId5" Type="http://schemas.openxmlformats.org/officeDocument/2006/relationships/image" Target="../media/image155.png"/><Relationship Id="rId10" Type="http://schemas.openxmlformats.org/officeDocument/2006/relationships/image" Target="../media/image1530.png"/><Relationship Id="rId4" Type="http://schemas.openxmlformats.org/officeDocument/2006/relationships/image" Target="../media/image154.png"/><Relationship Id="rId9" Type="http://schemas.openxmlformats.org/officeDocument/2006/relationships/image" Target="../media/image157.png"/></Relationships>
</file>

<file path=ppt/slides/_rels/slide12.xml.rels><?xml version="1.0" encoding="UTF-8" standalone="yes"?>
<Relationships xmlns="http://schemas.openxmlformats.org/package/2006/relationships"><Relationship Id="rId8" Type="http://schemas.openxmlformats.org/officeDocument/2006/relationships/image" Target="../media/image163.png"/><Relationship Id="rId3" Type="http://schemas.openxmlformats.org/officeDocument/2006/relationships/image" Target="../media/image127.png"/><Relationship Id="rId7" Type="http://schemas.openxmlformats.org/officeDocument/2006/relationships/image" Target="../media/image16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13.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image" Target="../media/image1590.png"/><Relationship Id="rId7" Type="http://schemas.openxmlformats.org/officeDocument/2006/relationships/image" Target="../media/image163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620.png"/><Relationship Id="rId11" Type="http://schemas.openxmlformats.org/officeDocument/2006/relationships/image" Target="../media/image167.png"/><Relationship Id="rId5" Type="http://schemas.openxmlformats.org/officeDocument/2006/relationships/image" Target="../media/image1610.png"/><Relationship Id="rId10" Type="http://schemas.openxmlformats.org/officeDocument/2006/relationships/image" Target="../media/image166.png"/><Relationship Id="rId4" Type="http://schemas.openxmlformats.org/officeDocument/2006/relationships/image" Target="../media/image1600.png"/><Relationship Id="rId9" Type="http://schemas.openxmlformats.org/officeDocument/2006/relationships/image" Target="../media/image165.png"/></Relationships>
</file>

<file path=ppt/slides/_rels/slide14.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15.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png"/><Relationship Id="rId7"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77.png"/><Relationship Id="rId5" Type="http://schemas.openxmlformats.org/officeDocument/2006/relationships/image" Target="../media/image176.png"/><Relationship Id="rId4" Type="http://schemas.openxmlformats.org/officeDocument/2006/relationships/image" Target="../media/image175.png"/></Relationships>
</file>

<file path=ppt/slides/_rels/slide16.xml.rels><?xml version="1.0" encoding="UTF-8" standalone="yes"?>
<Relationships xmlns="http://schemas.openxmlformats.org/package/2006/relationships"><Relationship Id="rId8" Type="http://schemas.openxmlformats.org/officeDocument/2006/relationships/image" Target="../media/image179.png"/><Relationship Id="rId3" Type="http://schemas.openxmlformats.org/officeDocument/2006/relationships/image" Target="../media/image174.png"/><Relationship Id="rId7" Type="http://schemas.openxmlformats.org/officeDocument/2006/relationships/image" Target="../media/image178.png"/><Relationship Id="rId2" Type="http://schemas.openxmlformats.org/officeDocument/2006/relationships/notesSlide" Target="../notesSlides/notesSlide16.xml"/><Relationship Id="rId1" Type="http://schemas.openxmlformats.org/officeDocument/2006/relationships/slideLayout" Target="../slideLayouts/slideLayout6.xml"/><Relationship Id="rId11" Type="http://schemas.openxmlformats.org/officeDocument/2006/relationships/image" Target="../media/image182.png"/><Relationship Id="rId10" Type="http://schemas.openxmlformats.org/officeDocument/2006/relationships/image" Target="../media/image181.png"/><Relationship Id="rId9" Type="http://schemas.openxmlformats.org/officeDocument/2006/relationships/image" Target="../media/image180.png"/></Relationships>
</file>

<file path=ppt/slides/_rels/slide17.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1811.png"/><Relationship Id="rId7" Type="http://schemas.openxmlformats.org/officeDocument/2006/relationships/image" Target="../media/image185.png"/><Relationship Id="rId12"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0" Type="http://schemas.openxmlformats.org/officeDocument/2006/relationships/image" Target="../media/image188.png"/><Relationship Id="rId4" Type="http://schemas.openxmlformats.org/officeDocument/2006/relationships/image" Target="../media/image1821.png"/><Relationship Id="rId9" Type="http://schemas.openxmlformats.org/officeDocument/2006/relationships/image" Target="../media/image187.png"/></Relationships>
</file>

<file path=ppt/slides/_rels/slide18.xml.rels><?xml version="1.0" encoding="UTF-8" standalone="yes"?>
<Relationships xmlns="http://schemas.openxmlformats.org/package/2006/relationships"><Relationship Id="rId8" Type="http://schemas.openxmlformats.org/officeDocument/2006/relationships/image" Target="../media/image196.png"/><Relationship Id="rId7" Type="http://schemas.openxmlformats.org/officeDocument/2006/relationships/image" Target="../media/image195.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94.png"/><Relationship Id="rId11" Type="http://schemas.openxmlformats.org/officeDocument/2006/relationships/image" Target="../media/image198.png"/><Relationship Id="rId5" Type="http://schemas.openxmlformats.org/officeDocument/2006/relationships/image" Target="../media/image193.png"/><Relationship Id="rId10" Type="http://schemas.openxmlformats.org/officeDocument/2006/relationships/image" Target="../media/image191.png"/><Relationship Id="rId4" Type="http://schemas.openxmlformats.org/officeDocument/2006/relationships/image" Target="../media/image192.png"/><Relationship Id="rId9" Type="http://schemas.openxmlformats.org/officeDocument/2006/relationships/image" Target="../media/image197.png"/></Relationships>
</file>

<file path=ppt/slides/_rels/slide19.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2" Type="http://schemas.openxmlformats.org/officeDocument/2006/relationships/notesSlide" Target="../notesSlides/notesSlide19.xml"/><Relationship Id="rId16" Type="http://schemas.openxmlformats.org/officeDocument/2006/relationships/image" Target="../media/image1900.png"/><Relationship Id="rIdFullJ127" Type="http://schemas.openxmlformats.org/officeDocument/2006/relationships/image" Target="../media/full_j_16_127.png"/><Relationship Id="rId29" Type="http://schemas.openxmlformats.org/officeDocument/2006/relationships/image" Target="../media/image199.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FullJ56" Type="http://schemas.openxmlformats.org/officeDocument/2006/relationships/image" Target="../media/full_j_16_56.png"/><Relationship Id="rId24" Type="http://schemas.openxmlformats.org/officeDocument/2006/relationships/image" Target="../media/image1980.png"/><Relationship Id="rIdFullJ118" Type="http://schemas.openxmlformats.org/officeDocument/2006/relationships/image" Target="../media/full_j_16_118.png"/><Relationship Id="rIdFit_16_equation_128" Type="http://schemas.openxmlformats.org/officeDocument/2006/relationships/image" Target="../media/animation_fit_16_equation_128.png"/><Relationship Id="rId5" Type="http://schemas.openxmlformats.org/officeDocument/2006/relationships/image" Target="../media/image1790.png"/><Relationship Id="rId15" Type="http://schemas.openxmlformats.org/officeDocument/2006/relationships/image" Target="../media/image1890.png"/><Relationship Id="rIdFullJ47" Type="http://schemas.openxmlformats.org/officeDocument/2006/relationships/image" Target="../media/full_j_16_47.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FullJ215" Type="http://schemas.openxmlformats.org/officeDocument/2006/relationships/image" Target="../media/full_j_16_215.png"/><Relationship Id="rId10" Type="http://schemas.openxmlformats.org/officeDocument/2006/relationships/image" Target="../media/image1840.png"/><Relationship Id="rIdFullJ197" Type="http://schemas.openxmlformats.org/officeDocument/2006/relationships/image" Target="../media/full_j_16_197.png"/><Relationship Id="rIdFit_16_equation_198" Type="http://schemas.openxmlformats.org/officeDocument/2006/relationships/image" Target="../media/animation_fit_16_equation_198.png"/><Relationship Id="rIdFullJ206" Type="http://schemas.openxmlformats.org/officeDocument/2006/relationships/image" Target="../media/full_j_16_206.png"/><Relationship Id="rIdFullJ219" Type="http://schemas.openxmlformats.org/officeDocument/2006/relationships/image" Target="../media/full_j_16_219.png"/><Relationship Id="rId31" Type="http://schemas.openxmlformats.org/officeDocument/2006/relationships/image" Target="../media/image201.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0.png"/><Relationship Id="rIdFullJ222" Type="http://schemas.openxmlformats.org/officeDocument/2006/relationships/image" Target="../media/full_j_16_222.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 Id="rId12" Type="http://schemas.openxmlformats.org/officeDocument/2006/relationships/image" Target="../media/image1860.png"/><Relationship Id="rIdFullJ65" Type="http://schemas.openxmlformats.org/officeDocument/2006/relationships/image" Target="../media/full_j_16_65.png"/><Relationship Id="rIdFullJ136" Type="http://schemas.openxmlformats.org/officeDocument/2006/relationships/image" Target="../media/full_j_16_136.png"/></Relationships>
</file>

<file path=ppt/slides/_rels/slide20.xml.rels><?xml version="1.0" encoding="UTF-8" standalone="yes"?>
<Relationships xmlns="http://schemas.openxmlformats.org/package/2006/relationships"><Relationship Id="rId13" Type="http://schemas.openxmlformats.org/officeDocument/2006/relationships/image" Target="../media/image2100.png"/><Relationship Id="rIdFit_17_equation_57" Type="http://schemas.openxmlformats.org/officeDocument/2006/relationships/image" Target="../media/animation_fit_17_equation_57.png"/><Relationship Id="rIdFullJ129" Type="http://schemas.openxmlformats.org/officeDocument/2006/relationships/image" Target="../media/full_j_17_129.png"/><Relationship Id="rIdFullJ209" Type="http://schemas.openxmlformats.org/officeDocument/2006/relationships/image" Target="../media/full_j_17_209.png"/><Relationship Id="rId7" Type="http://schemas.openxmlformats.org/officeDocument/2006/relationships/image" Target="../media/image2060.png"/><Relationship Id="rIdFullJ212" Type="http://schemas.openxmlformats.org/officeDocument/2006/relationships/image" Target="../media/full_j_17_212.png"/><Relationship Id="rIdFit_17_equation_220" Type="http://schemas.openxmlformats.org/officeDocument/2006/relationships/image" Target="../media/animation_fit_17_equation_220.png"/><Relationship Id="rId2" Type="http://schemas.openxmlformats.org/officeDocument/2006/relationships/notesSlide" Target="../notesSlides/notesSlide20.xml"/><Relationship Id="rId16" Type="http://schemas.openxmlformats.org/officeDocument/2006/relationships/image" Target="../media/image1890.png"/><Relationship Id="rIdFullJ119" Type="http://schemas.openxmlformats.org/officeDocument/2006/relationships/image" Target="../media/full_j_17_119.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ullJ56" Type="http://schemas.openxmlformats.org/officeDocument/2006/relationships/image" Target="../media/full_j_17_56.png"/><Relationship Id="rIdFit_17_equation_130" Type="http://schemas.openxmlformats.org/officeDocument/2006/relationships/image" Target="../media/animation_fit_17_equation_130.png"/><Relationship Id="rId32" Type="http://schemas.openxmlformats.org/officeDocument/2006/relationships/image" Target="../media/image203.png"/><Relationship Id="rId5" Type="http://schemas.openxmlformats.org/officeDocument/2006/relationships/image" Target="../media/image1790.png"/><Relationship Id="rId15" Type="http://schemas.openxmlformats.org/officeDocument/2006/relationships/image" Target="../media/image1880.png"/><Relationship Id="rIdFullJ47" Type="http://schemas.openxmlformats.org/officeDocument/2006/relationships/image" Target="../media/full_j_17_47.png"/><Relationship Id="rIdFit_17_equation_139" Type="http://schemas.openxmlformats.org/officeDocument/2006/relationships/image" Target="../media/animation_fit_17_equation_139.png"/><Relationship Id="rIdFullJ215" Type="http://schemas.openxmlformats.org/officeDocument/2006/relationships/image" Target="../media/full_j_17_215.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FullJ138" Type="http://schemas.openxmlformats.org/officeDocument/2006/relationships/image" Target="../media/full_j_17_138.png"/><Relationship Id="rId31" Type="http://schemas.openxmlformats.org/officeDocument/2006/relationships/image" Target="../media/image202.png"/><Relationship Id="rIdFullJ219" Type="http://schemas.openxmlformats.org/officeDocument/2006/relationships/image" Target="../media/full_j_17_21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FullJ128" Type="http://schemas.openxmlformats.org/officeDocument/2006/relationships/image" Target="../media/full_j_17_128.png"/><Relationship Id="rId12" Type="http://schemas.openxmlformats.org/officeDocument/2006/relationships/image" Target="../media/image1830.png"/><Relationship Id="rId17" Type="http://schemas.openxmlformats.org/officeDocument/2006/relationships/image" Target="../media/image2120.png"/><Relationship Id="rIdFullJ65" Type="http://schemas.openxmlformats.org/officeDocument/2006/relationships/image" Target="../media/full_j_17_65.png"/><Relationship Id="rId25" Type="http://schemas.openxmlformats.org/officeDocument/2006/relationships/image" Target="../media/image2140.png"/><Relationship Id="rIdFullJ199" Type="http://schemas.openxmlformats.org/officeDocument/2006/relationships/image" Target="../media/full_j_17_199.png"/><Relationship Id="rIdFullJ208" Type="http://schemas.openxmlformats.org/officeDocument/2006/relationships/image" Target="../media/full_j_17_208.png"/></Relationships>
</file>

<file path=ppt/slides/_rels/slide21.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FullJ129" Type="http://schemas.openxmlformats.org/officeDocument/2006/relationships/image" Target="../media/full_j_18_129.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1.xml"/><Relationship Id="rId16" Type="http://schemas.openxmlformats.org/officeDocument/2006/relationships/image" Target="../media/image2250.png"/><Relationship Id="rIdFullJ119" Type="http://schemas.openxmlformats.org/officeDocument/2006/relationships/image" Target="../media/full_j_18_119.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FullJ203" Type="http://schemas.openxmlformats.org/officeDocument/2006/relationships/image" Target="../media/full_j_18_20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FullJ56" Type="http://schemas.openxmlformats.org/officeDocument/2006/relationships/image" Target="../media/full_j_18_56.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5" Type="http://schemas.openxmlformats.org/officeDocument/2006/relationships/image" Target="../media/image2240.png"/><Relationship Id="rId15" Type="http://schemas.openxmlformats.org/officeDocument/2006/relationships/image" Target="../media/image1890.png"/><Relationship Id="rIdFullJ47" Type="http://schemas.openxmlformats.org/officeDocument/2006/relationships/image" Target="../media/full_j_18_47.png"/><Relationship Id="rId28" Type="http://schemas.openxmlformats.org/officeDocument/2006/relationships/image" Target="../media/image2320.png"/><Relationship Id="rIdFullJ210" Type="http://schemas.openxmlformats.org/officeDocument/2006/relationships/image" Target="../media/full_j_18_210.png"/><Relationship Id="rId10" Type="http://schemas.openxmlformats.org/officeDocument/2006/relationships/image" Target="../media/image1830.png"/><Relationship Id="rIdFullJ138" Type="http://schemas.openxmlformats.org/officeDocument/2006/relationships/image" Target="../media/full_j_18_138.png"/><Relationship Id="rIdFullJ206" Type="http://schemas.openxmlformats.org/officeDocument/2006/relationships/image" Target="../media/full_j_18_206.png"/><Relationship Id="rIdFullJ219" Type="http://schemas.openxmlformats.org/officeDocument/2006/relationships/image" Target="../media/full_j_18_219.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FullJ120" Type="http://schemas.openxmlformats.org/officeDocument/2006/relationships/image" Target="../media/full_j_18_120.png"/><Relationship Id="rId30" Type="http://schemas.openxmlformats.org/officeDocument/2006/relationships/image" Target="../media/image204.png"/><Relationship Id="rId8" Type="http://schemas.openxmlformats.org/officeDocument/2006/relationships/image" Target="../media/image1800.png"/><Relationship Id="rIdFullJ200" Type="http://schemas.openxmlformats.org/officeDocument/2006/relationships/image" Target="../media/full_j_18_2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FullJ65" Type="http://schemas.openxmlformats.org/officeDocument/2006/relationships/image" Target="../media/full_j_18_65.png"/><Relationship Id="rIdFullJ199" Type="http://schemas.openxmlformats.org/officeDocument/2006/relationships/image" Target="../media/full_j_18_199.png"/><Relationship Id="rIdFit_18_equation_211" Type="http://schemas.openxmlformats.org/officeDocument/2006/relationships/image" Target="../media/animation_fit_18_equation_211.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9.png"/><Relationship Id="rId2" Type="http://schemas.openxmlformats.org/officeDocument/2006/relationships/notesSlide" Target="../notesSlides/notesSlide22.xml"/><Relationship Id="rIdFullJ19" Type="http://schemas.openxmlformats.org/officeDocument/2006/relationships/image" Target="../media/full_j_15_19.png"/><Relationship Id="rIdFullJ27" Type="http://schemas.openxmlformats.org/officeDocument/2006/relationships/image" Target="../media/full_j_15_27.png"/><Relationship Id="rId1" Type="http://schemas.openxmlformats.org/officeDocument/2006/relationships/slideLayout" Target="../slideLayouts/slideLayout6.xml"/><Relationship Id="rId6" Type="http://schemas.openxmlformats.org/officeDocument/2006/relationships/image" Target="../media/image230.png"/><Relationship Id="rId5" Type="http://schemas.openxmlformats.org/officeDocument/2006/relationships/image" Target="../media/image1700.png"/><Relationship Id="rIdFullJ13" Type="http://schemas.openxmlformats.org/officeDocument/2006/relationships/image" Target="../media/full_j_15_13.png"/><Relationship Id="rId15" Type="http://schemas.openxmlformats.org/officeDocument/2006/relationships/image" Target="../media/image233.png"/><Relationship Id="rId10" Type="http://schemas.openxmlformats.org/officeDocument/2006/relationships/image" Target="../media/image232.png"/><Relationship Id="rIdFullJ25" Type="http://schemas.openxmlformats.org/officeDocument/2006/relationships/image" Target="../media/full_j_15_25.png"/><Relationship Id="rId4" Type="http://schemas.openxmlformats.org/officeDocument/2006/relationships/image" Target="../media/image1690.png"/><Relationship Id="rId9" Type="http://schemas.openxmlformats.org/officeDocument/2006/relationships/image" Target="../media/image1720.png"/><Relationship Id="rIdFullJ20" Type="http://schemas.openxmlformats.org/officeDocument/2006/relationships/image" Target="../media/full_j_15_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38.png"/><Relationship Id="rId4" Type="http://schemas.openxmlformats.org/officeDocument/2006/relationships/image" Target="../media/image2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6.xml.rels><?xml version="1.0" encoding="UTF-8" standalone="yes"?>
<Relationships xmlns="http://schemas.openxmlformats.org/package/2006/relationships"><Relationship Id="rId3" Type="http://schemas.openxmlformats.org/officeDocument/2006/relationships/image" Target="../media/image205.png"/><Relationship Id="rIdFullJ10" Type="http://schemas.openxmlformats.org/officeDocument/2006/relationships/image" Target="../media/full_j_22_10.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07.png"/><Relationship Id="rIdFullJ9" Type="http://schemas.openxmlformats.org/officeDocument/2006/relationships/image" Target="../media/full_j_22_9.png"/><Relationship Id="rId10" Type="http://schemas.openxmlformats.org/officeDocument/2006/relationships/image" Target="../media/image208.png"/><Relationship Id="rId4" Type="http://schemas.openxmlformats.org/officeDocument/2006/relationships/image" Target="../media/image206.png"/><Relationship Id="rIdFullJ12" Type="http://schemas.openxmlformats.org/officeDocument/2006/relationships/image" Target="../media/full_j_22_12.png"/><Relationship Id="rId9" Type="http://schemas.openxmlformats.org/officeDocument/2006/relationships/image" Target="../media/image257.png"/></Relationships>
</file>

<file path=ppt/slides/_rels/slide27.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8.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4_15.png"/><Relationship Id="rId12" Type="http://schemas.openxmlformats.org/officeDocument/2006/relationships/image" Target="../media/image1720.png"/><Relationship Id="rIdFullJ23" Type="http://schemas.openxmlformats.org/officeDocument/2006/relationships/image" Target="../media/full_j_24_23.png"/><Relationship Id="rId2" Type="http://schemas.openxmlformats.org/officeDocument/2006/relationships/notesSlide" Target="../notesSlides/notesSlide28.xml"/><Relationship Id="rIdFullJ14" Type="http://schemas.openxmlformats.org/officeDocument/2006/relationships/image" Target="../media/full_j_24_14.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4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4_25.png"/><Relationship Id="rId4" Type="http://schemas.openxmlformats.org/officeDocument/2006/relationships/image" Target="../media/image1690.png"/><Relationship Id="rId9" Type="http://schemas.openxmlformats.org/officeDocument/2006/relationships/image" Target="../media/image230.png"/></Relationships>
</file>

<file path=ppt/slides/_rels/slide29.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5_15.png"/><Relationship Id="rId12" Type="http://schemas.openxmlformats.org/officeDocument/2006/relationships/image" Target="../media/image1720.png"/><Relationship Id="rIdFullJ23" Type="http://schemas.openxmlformats.org/officeDocument/2006/relationships/image" Target="../media/full_j_25_23.png"/><Relationship Id="rId17" Type="http://schemas.openxmlformats.org/officeDocument/2006/relationships/image" Target="../media/image277.png"/><Relationship Id="rId2" Type="http://schemas.openxmlformats.org/officeDocument/2006/relationships/notesSlide" Target="../notesSlides/notesSlide29.xml"/><Relationship Id="rIdFullJ14" Type="http://schemas.openxmlformats.org/officeDocument/2006/relationships/image" Target="../media/full_j_25_14.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5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5_25.png"/><Relationship Id="rId4" Type="http://schemas.openxmlformats.org/officeDocument/2006/relationships/image" Target="../media/image1690.png"/><Relationship Id="rId9" Type="http://schemas.openxmlformats.org/officeDocument/2006/relationships/image" Target="../media/image230.png"/></Relationships>
</file>

<file path=ppt/slides/_rels/slide30.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FullJ49" Type="http://schemas.openxmlformats.org/officeDocument/2006/relationships/image" Target="../media/full_j_26_49.png"/><Relationship Id="rIdFullJ52" Type="http://schemas.openxmlformats.org/officeDocument/2006/relationships/image" Target="../media/full_j_26_52.png"/><Relationship Id="rIdFullJ57" Type="http://schemas.openxmlformats.org/officeDocument/2006/relationships/image" Target="../media/full_j_26_57.png"/><Relationship Id="rId17" Type="http://schemas.openxmlformats.org/officeDocument/2006/relationships/image" Target="../media/image277.png"/><Relationship Id="rId2" Type="http://schemas.openxmlformats.org/officeDocument/2006/relationships/notesSlide" Target="../notesSlides/notesSlide30.xml"/><Relationship Id="rIdFullJ48" Type="http://schemas.openxmlformats.org/officeDocument/2006/relationships/image" Target="../media/full_j_26_48.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FullJ59" Type="http://schemas.openxmlformats.org/officeDocument/2006/relationships/image" Target="../media/full_j_26_59.png"/><Relationship Id="rId9" Type="http://schemas.openxmlformats.org/officeDocument/2006/relationships/image" Target="../media/image230.png"/></Relationships>
</file>

<file path=ppt/slides/_rels/slide31.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1.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2.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3" Type="http://schemas.openxmlformats.org/officeDocument/2006/relationships/image" Target="../media/image33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FullJ152" Type="http://schemas.openxmlformats.org/officeDocument/2006/relationships/image" Target="../media/full_j_30_152.png"/><Relationship Id="rId25" Type="http://schemas.openxmlformats.org/officeDocument/2006/relationships/image" Target="../media/image214.png"/><Relationship Id="rId2" Type="http://schemas.openxmlformats.org/officeDocument/2006/relationships/notesSlide" Target="../notesSlides/notesSlide32.xml"/><Relationship Id="rId16" Type="http://schemas.openxmlformats.org/officeDocument/2006/relationships/image" Target="../media/image343.png"/><Relationship Id="rId20" Type="http://schemas.openxmlformats.org/officeDocument/2006/relationships/image" Target="../media/image347.png"/><Relationship Id="rIdFullJ94" Type="http://schemas.openxmlformats.org/officeDocument/2006/relationships/image" Target="../media/full_j_30_94.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FullJ43" Type="http://schemas.openxmlformats.org/officeDocument/2006/relationships/image" Target="../media/full_j_30_43.png"/><Relationship Id="rIdFullJ85" Type="http://schemas.openxmlformats.org/officeDocument/2006/relationships/image" Target="../media/full_j_30_85.png"/><Relationship Id="rId24" Type="http://schemas.openxmlformats.org/officeDocument/2006/relationships/image" Target="../media/image351.png"/><Relationship Id="rId5" Type="http://schemas.openxmlformats.org/officeDocument/2006/relationships/image" Target="../media/image332.png"/><Relationship Id="rIdFullJ34" Type="http://schemas.openxmlformats.org/officeDocument/2006/relationships/image" Target="../media/full_j_30_34.png"/><Relationship Id="rId23" Type="http://schemas.openxmlformats.org/officeDocument/2006/relationships/image" Target="../media/image213.png"/><Relationship Id="rIdFullJ147" Type="http://schemas.openxmlformats.org/officeDocument/2006/relationships/image" Target="../media/full_j_30_147.png"/><Relationship Id="rIdFullJ155" Type="http://schemas.openxmlformats.org/officeDocument/2006/relationships/image" Target="../media/full_j_30_155.png"/><Relationship Id="rId10" Type="http://schemas.openxmlformats.org/officeDocument/2006/relationships/image" Target="../media/image337.png"/><Relationship Id="rId19" Type="http://schemas.openxmlformats.org/officeDocument/2006/relationships/image" Target="../media/image346.png"/><Relationship Id="rIdFullJ138" Type="http://schemas.openxmlformats.org/officeDocument/2006/relationships/image" Target="../media/full_j_30_138.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s>
</file>

<file path=ppt/slides/_rels/slide33.xml.rels><?xml version="1.0" encoding="UTF-8" standalone="yes"?>
<Relationships xmlns="http://schemas.openxmlformats.org/package/2006/relationships"><Relationship Id="rId13" Type="http://schemas.openxmlformats.org/officeDocument/2006/relationships/image" Target="../media/image359.png"/><Relationship Id="rIdFullJ37" Type="http://schemas.openxmlformats.org/officeDocument/2006/relationships/image" Target="../media/full_j_31_37.png"/><Relationship Id="rId3" Type="http://schemas.openxmlformats.org/officeDocument/2006/relationships/image" Target="../media/image3310.png"/><Relationship Id="rIdFullJ40" Type="http://schemas.openxmlformats.org/officeDocument/2006/relationships/image" Target="../media/full_j_31_40.png"/><Relationship Id="rId21" Type="http://schemas.openxmlformats.org/officeDocument/2006/relationships/image" Target="../media/image344.png"/><Relationship Id="rIdFullJ87" Type="http://schemas.openxmlformats.org/officeDocument/2006/relationships/image" Target="../media/full_j_31_87.png"/><Relationship Id="rIdFullJ95" Type="http://schemas.openxmlformats.org/officeDocument/2006/relationships/image" Target="../media/full_j_31_95.png"/><Relationship Id="rIdFit_31_equation_92" Type="http://schemas.openxmlformats.org/officeDocument/2006/relationships/image" Target="../media/animation_fit_31_equation_92.png"/><Relationship Id="rId7" Type="http://schemas.openxmlformats.org/officeDocument/2006/relationships/image" Target="../media/image355.png"/><Relationship Id="rId12" Type="http://schemas.openxmlformats.org/officeDocument/2006/relationships/image" Target="../media/image340.png"/><Relationship Id="rIdFullJ90" Type="http://schemas.openxmlformats.org/officeDocument/2006/relationships/image" Target="../media/full_j_31_90.png"/><Relationship Id="rIdFullJ144" Type="http://schemas.openxmlformats.org/officeDocument/2006/relationships/image" Target="../media/full_j_31_144.png"/><Relationship Id="rIdFullJ149" Type="http://schemas.openxmlformats.org/officeDocument/2006/relationships/image" Target="../media/full_j_31_149.png"/><Relationship Id="rId2" Type="http://schemas.openxmlformats.org/officeDocument/2006/relationships/notesSlide" Target="../notesSlides/notesSlide33.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FullJ93" Type="http://schemas.openxmlformats.org/officeDocument/2006/relationships/image" Target="../media/full_j_31_93.png"/><Relationship Id="rId5" Type="http://schemas.openxmlformats.org/officeDocument/2006/relationships/image" Target="../media/image353.png"/><Relationship Id="rIdFullJ34" Type="http://schemas.openxmlformats.org/officeDocument/2006/relationships/image" Target="../media/full_j_31_34.png"/><Relationship Id="rIdFullJ42" Type="http://schemas.openxmlformats.org/officeDocument/2006/relationships/image" Target="../media/full_j_31_42.png"/><Relationship Id="rIdFullJ147" Type="http://schemas.openxmlformats.org/officeDocument/2006/relationships/image" Target="../media/full_j_31_147.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4" Type="http://schemas.openxmlformats.org/officeDocument/2006/relationships/image" Target="../media/image332.png"/><Relationship Id="rId9" Type="http://schemas.openxmlformats.org/officeDocument/2006/relationships/image" Target="../media/image357.png"/><Relationship Id="rIdFit_31_equation_39" Type="http://schemas.openxmlformats.org/officeDocument/2006/relationships/image" Target="../media/animation_fit_31_equation_39.png"/><Relationship Id="rId22" Type="http://schemas.openxmlformats.org/officeDocument/2006/relationships/image" Target="../media/image215.png"/><Relationship Id="rIdFit_31_equation_93" Type="http://schemas.openxmlformats.org/officeDocument/2006/relationships/image" Target="../media/animation_fit_31_equation_93.png"/><Relationship Id="rIdFullJ141" Type="http://schemas.openxmlformats.org/officeDocument/2006/relationships/image" Target="../media/full_j_31_141.png"/><Relationship Id="rIdFit_31_equation_146" Type="http://schemas.openxmlformats.org/officeDocument/2006/relationships/image" Target="../media/animation_fit_31_equation_146.png"/><Relationship Id="rId8" Type="http://schemas.openxmlformats.org/officeDocument/2006/relationships/image" Target="../media/image356.png"/></Relationships>
</file>

<file path=ppt/slides/_rels/slide34.xml.rels><?xml version="1.0" encoding="UTF-8" standalone="yes"?>
<Relationships xmlns="http://schemas.openxmlformats.org/package/2006/relationships"><Relationship Id="rId13" Type="http://schemas.openxmlformats.org/officeDocument/2006/relationships/image" Target="../media/image340.png"/><Relationship Id="rIdFullJ37" Type="http://schemas.openxmlformats.org/officeDocument/2006/relationships/image" Target="../media/full_j_32_37.png"/><Relationship Id="rIdFullJ145" Type="http://schemas.openxmlformats.org/officeDocument/2006/relationships/image" Target="../media/full_j_32_145.png"/><Relationship Id="rId26" Type="http://schemas.openxmlformats.org/officeDocument/2006/relationships/image" Target="../media/image379.png"/><Relationship Id="rIdFullJ40" Type="http://schemas.openxmlformats.org/officeDocument/2006/relationships/image" Target="../media/full_j_32_40.png"/><Relationship Id="rIdFit_32_equation_39" Type="http://schemas.openxmlformats.org/officeDocument/2006/relationships/image" Target="../media/animation_fit_32_equation_39.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4.xml"/><Relationship Id="rIdPhi0_32_lead" Type="http://schemas.openxmlformats.org/officeDocument/2006/relationships/image" Target="../media/phi0_consistent_32_lead.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ullJ85" Type="http://schemas.openxmlformats.org/officeDocument/2006/relationships/image" Target="../media/full_j_32_85.png"/><Relationship Id="rIdFullJ93" Type="http://schemas.openxmlformats.org/officeDocument/2006/relationships/image" Target="../media/full_j_32_93.png"/><Relationship Id="rIdFit_32_equation_91" Type="http://schemas.openxmlformats.org/officeDocument/2006/relationships/image" Target="../media/animation_fit_32_equation_91.png"/><Relationship Id="rIdFullJ151" Type="http://schemas.openxmlformats.org/officeDocument/2006/relationships/image" Target="../media/full_j_32_151.png"/><Relationship Id="rId5" Type="http://schemas.openxmlformats.org/officeDocument/2006/relationships/image" Target="../media/image371.png"/><Relationship Id="rIdFullJ34" Type="http://schemas.openxmlformats.org/officeDocument/2006/relationships/image" Target="../media/full_j_32_34.png"/><Relationship Id="rIdFullJ42" Type="http://schemas.openxmlformats.org/officeDocument/2006/relationships/image" Target="../media/full_j_32_4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Fit_32_equation_90" Type="http://schemas.openxmlformats.org/officeDocument/2006/relationships/image" Target="../media/animation_fit_32_equation_90.png"/><Relationship Id="rIdFullJ139" Type="http://schemas.openxmlformats.org/officeDocument/2006/relationships/image" Target="../media/full_j_32_139.png"/><Relationship Id="rIdFullJ142" Type="http://schemas.openxmlformats.org/officeDocument/2006/relationships/image" Target="../media/full_j_32_142.png"/><Relationship Id="rIdFullJ147" Type="http://schemas.openxmlformats.org/officeDocument/2006/relationships/image" Target="../media/full_j_32_147.png"/><Relationship Id="rId10" Type="http://schemas.openxmlformats.org/officeDocument/2006/relationships/image" Target="../media/image357.png"/><Relationship Id="rIdFullJ97" Type="http://schemas.openxmlformats.org/officeDocument/2006/relationships/image" Target="../media/full_j_32_97.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ullJ88" Type="http://schemas.openxmlformats.org/officeDocument/2006/relationships/image" Target="../media/full_j_32_88.png"/><Relationship Id="rIdFit_32_equation_145" Type="http://schemas.openxmlformats.org/officeDocument/2006/relationships/image" Target="../media/animation_fit_32_equation_145.png"/><Relationship Id="rId8" Type="http://schemas.openxmlformats.org/officeDocument/2006/relationships/image" Target="../media/image355.png"/><Relationship Id="rIdFullJ91" Type="http://schemas.openxmlformats.org/officeDocument/2006/relationships/image" Target="../media/full_j_32_91.png"/><Relationship Id="rIdFit_32_equation_144" Type="http://schemas.openxmlformats.org/officeDocument/2006/relationships/image" Target="../media/animation_fit_32_equation_14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FullJ11" Type="http://schemas.openxmlformats.org/officeDocument/2006/relationships/image" Target="../media/full_j_35_11.png"/><Relationship Id="rId3" Type="http://schemas.openxmlformats.org/officeDocument/2006/relationships/image" Target="../media/image384.png"/><Relationship Id="rIdFullJ10" Type="http://schemas.openxmlformats.org/officeDocument/2006/relationships/image" Target="../media/full_j_35_10.png"/><Relationship Id="rId7" Type="http://schemas.openxmlformats.org/officeDocument/2006/relationships/image" Target="../media/image388.png"/><Relationship Id="rId2" Type="http://schemas.openxmlformats.org/officeDocument/2006/relationships/notesSlide" Target="../notesSlides/notesSlide36.xml"/><Relationship Id="rId1" Type="http://schemas.openxmlformats.org/officeDocument/2006/relationships/slideLayout" Target="../slideLayouts/slideLayout6.xml"/><Relationship Id="rIdFullJ13" Type="http://schemas.openxmlformats.org/officeDocument/2006/relationships/image" Target="../media/full_j_35_13.png"/><Relationship Id="rIdFullJ9" Type="http://schemas.openxmlformats.org/officeDocument/2006/relationships/image" Target="../media/full_j_35_9.png"/><Relationship Id="rId10" Type="http://schemas.openxmlformats.org/officeDocument/2006/relationships/image" Target="../media/image391.png"/><Relationship Id="rId9" Type="http://schemas.openxmlformats.org/officeDocument/2006/relationships/image" Target="../media/image390.png"/></Relationships>
</file>

<file path=ppt/slides/_rels/slide37.xml.rels><?xml version="1.0" encoding="UTF-8" standalone="yes"?>
<Relationships xmlns="http://schemas.openxmlformats.org/package/2006/relationships"><Relationship Id="rId3" Type="http://schemas.openxmlformats.org/officeDocument/2006/relationships/image" Target="../media/image216.png"/><Relationship Id="rId7" Type="http://schemas.openxmlformats.org/officeDocument/2006/relationships/image" Target="../media/image220.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219.png"/><Relationship Id="rId5" Type="http://schemas.openxmlformats.org/officeDocument/2006/relationships/image" Target="../media/image218.png"/><Relationship Id="rId4" Type="http://schemas.openxmlformats.org/officeDocument/2006/relationships/image" Target="../media/image217.png"/></Relationships>
</file>

<file path=ppt/slides/_rels/slide38.xml.rels><?xml version="1.0" encoding="UTF-8" standalone="yes"?>
<Relationships xmlns="http://schemas.openxmlformats.org/package/2006/relationships"><Relationship Id="rId3" Type="http://schemas.openxmlformats.org/officeDocument/2006/relationships/image" Target="../media/image39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9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98.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400.png"/><Relationship Id="rId5" Type="http://schemas.openxmlformats.org/officeDocument/2006/relationships/image" Target="../media/image399.png"/><Relationship Id="rId4" Type="http://schemas.openxmlformats.org/officeDocument/2006/relationships/image" Target="../media/image3980.png"/></Relationships>
</file>

<file path=ppt/slides/_rels/slide41.xml.rels><?xml version="1.0" encoding="UTF-8" standalone="yes"?>
<Relationships xmlns="http://schemas.openxmlformats.org/package/2006/relationships"><Relationship Id="rId8" Type="http://schemas.openxmlformats.org/officeDocument/2006/relationships/image" Target="../media/image222.png"/><Relationship Id="rId3" Type="http://schemas.openxmlformats.org/officeDocument/2006/relationships/image" Target="../media/image401.png"/><Relationship Id="rId7" Type="http://schemas.openxmlformats.org/officeDocument/2006/relationships/image" Target="../media/image221.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png"/><Relationship Id="rId4" Type="http://schemas.openxmlformats.org/officeDocument/2006/relationships/image" Target="../media/image4010.png"/><Relationship Id="rId9" Type="http://schemas.openxmlformats.org/officeDocument/2006/relationships/image" Target="../media/image223.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22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9716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9716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5717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9051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5717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9051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5717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9051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3717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5717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169282"/>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174806"/>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556188"/>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556188"/>
                <a:ext cx="5143500" cy="5524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551616"/>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551616"/>
                <a:ext cx="5143500" cy="5524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175313"/>
                <a:ext cx="5143500" cy="5524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175313"/>
                <a:ext cx="5143500" cy="5524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857875"/>
                <a:ext cx="108585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857875"/>
                <a:ext cx="10858500" cy="5905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677984"/>
                <a:ext cx="11049000" cy="3810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677984"/>
                <a:ext cx="11049000" cy="381000"/>
              </a:xfrm>
              <a:prstGeom prst="rect">
                <a:avLst/>
              </a:prstGeom>
              <a:blipFill>
                <a:blip r:embed="rId12"/>
                <a:stretch>
                  <a:fillRect t="-7937" b="-238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sz="2300" b="0">
                    <a:solidFill>
                      <a:srgbClr val="526276"/>
                    </a:solidFill>
                    <a:latin typeface="DejaVu Sans"/>
                    <a:ea typeface="DejaVu Sans"/>
                    <a:cs typeface="DejaVu Sans"/>
                  </a:rPr>
                  <a:t>For example, consider </a:t>
                </a:r>
                <a14:m>
                  <m:oMath xmlns:m="http://schemas.openxmlformats.org/officeDocument/2006/math">
                    <m:r>
                      <a:rPr lang="en-GB" sz="2300">
                        <a:solidFill>
                          <a:srgbClr val="087F83"/>
                        </a:solidFill>
                        <a:latin typeface="Cambria Math"/>
                        <a:ea typeface="Cambria Math"/>
                        <a:cs typeface="Cambria Math"/>
                      </a:rPr>
                      <m:t>𝛉</m:t>
                    </m:r>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3</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3</m:t>
                                </m:r>
                              </m:sub>
                            </m:sSub>
                          </m:e>
                        </m:d>
                      </m:e>
                      <m:sup>
                        <m:r>
                          <a:rPr lang="en-GB" sz="2300">
                            <a:solidFill>
                              <a:srgbClr val="087F83"/>
                            </a:solidFill>
                            <a:latin typeface="Cambria Math"/>
                            <a:ea typeface="Cambria Math"/>
                            <a:cs typeface="Cambria Math"/>
                          </a:rPr>
                          <m:t>𝖳</m:t>
                        </m:r>
                      </m:sup>
                    </m:sSup>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1,1,−1,2,2,−1</m:t>
                            </m:r>
                          </m:e>
                        </m:d>
                      </m:e>
                      <m:sup>
                        <m:r>
                          <a:rPr lang="en-GB" sz="2300">
                            <a:solidFill>
                              <a:srgbClr val="087F83"/>
                            </a:solidFill>
                            <a:latin typeface="Cambria Math"/>
                            <a:ea typeface="Cambria Math"/>
                            <a:cs typeface="Cambria Math"/>
                          </a:rPr>
                          <m:t>𝖳</m:t>
                        </m:r>
                      </m:sup>
                    </m:sSup>
                  </m:oMath>
                </a14:m>
                <a:r>
                  <a:rPr sz="2300" b="0">
                    <a:solidFill>
                      <a:srgbClr val="526276"/>
                    </a:solidFill>
                    <a:latin typeface="DejaVu Sans"/>
                    <a:ea typeface="DejaVu Sans"/>
                    <a:cs typeface="DejaVu Sans"/>
                  </a:rPr>
                  <a:t>.</a:t>
                </a:r>
                <a:endParaRPr lang="en-GB" sz="230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t="-2353" b="-1882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2" name="lead">
            <a:extLst>
              <a:ext uri="{FF2B5EF4-FFF2-40B4-BE49-F238E27FC236}">
                <a16:creationId xmlns:a16="http://schemas.microsoft.com/office/drawing/2014/main" id="{61B39439-CC14-4405-9D1A-5E9C5A1C0F0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input and target stay fixed while we differentiate the loss.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p:cNvSpPr>
              <p:nvPr/>
            </p:nvSpPr>
            <p:spPr>
              <a:xfrm>
                <a:off x="666750" y="2319338"/>
                <a:ext cx="10858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𝛉</m:t>
                      </m:r>
                      <m:r>
                        <a:rPr lang="en-GB" sz="3200">
                          <a:solidFill>
                            <a:srgbClr val="087F83"/>
                          </a:solidFill>
                          <a:latin typeface="Cambria Math"/>
                          <a:ea typeface="Cambria Math"/>
                          <a:cs typeface="Cambria Math"/>
                        </a:rPr>
                        <m:t>=</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3</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3</m:t>
                                  </m:r>
                                </m:sub>
                              </m:sSub>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noRot="1" noChangeAspect="1" noMove="1" noResize="1" noEditPoints="1" noAdjustHandles="1" noChangeArrowheads="1" noChangeShapeType="1" noTextEdit="1"/>
              </p:cNvSpPr>
              <p:nvPr/>
            </p:nvSpPr>
            <p:spPr>
              <a:xfrm>
                <a:off x="666750" y="2319338"/>
                <a:ext cx="10858500"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3684952"/>
                <a:ext cx="11144250" cy="1381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e>
                          </m:d>
                        </m:e>
                        <m:sup>
                          <m:r>
                            <a:rPr lang="en-GB" sz="2900">
                              <a:solidFill>
                                <a:srgbClr val="087F83"/>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3684952"/>
                <a:ext cx="11144250" cy="1381125"/>
              </a:xfrm>
              <a:prstGeom prst="rect">
                <a:avLst/>
              </a:prstGeom>
              <a:blipFill>
                <a:blip r:embed="rId4"/>
                <a:stretch>
                  <a:fillRect/>
                </a:stretch>
              </a:blipFill>
              <a:ln w="0">
                <a:noFill/>
              </a:ln>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B2726046-1735-2EA4-1A85-36DBD934D6C3}"/>
              </a:ext>
            </a:extLst>
          </p:cNvPr>
          <p:cNvSpPr txBox="1"/>
          <p:nvPr/>
        </p:nvSpPr>
        <p:spPr>
          <a:xfrm>
            <a:off x="3048762" y="1907808"/>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parameters of our neural network</a:t>
            </a:r>
          </a:p>
        </p:txBody>
      </p:sp>
      <p:sp>
        <p:nvSpPr>
          <p:cNvPr id="12" name="CasellaDiTesto 11">
            <a:extLst>
              <a:ext uri="{FF2B5EF4-FFF2-40B4-BE49-F238E27FC236}">
                <a16:creationId xmlns:a16="http://schemas.microsoft.com/office/drawing/2014/main" id="{8DC71CCE-3890-A37B-8DCF-6CBE4063A45B}"/>
              </a:ext>
            </a:extLst>
          </p:cNvPr>
          <p:cNvSpPr txBox="1"/>
          <p:nvPr/>
        </p:nvSpPr>
        <p:spPr>
          <a:xfrm>
            <a:off x="3048762" y="3355689"/>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5514975"/>
            <a:ext cx="11144250" cy="89535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 </a:t>
            </a:r>
            <a:r>
              <a:rPr lang="it-IT" sz="1850" b="1" dirty="0" err="1">
                <a:solidFill>
                  <a:srgbClr val="182D45"/>
                </a:solidFill>
                <a:latin typeface="DejaVu Sans"/>
              </a:rPr>
              <a:t>reusing</a:t>
            </a:r>
            <a:r>
              <a:rPr lang="it-IT" sz="1850" b="1" dirty="0">
                <a:solidFill>
                  <a:srgbClr val="182D45"/>
                </a:solidFill>
                <a:latin typeface="DejaVu Sans"/>
              </a:rPr>
              <a:t> the derivative </a:t>
            </a:r>
            <a:r>
              <a:rPr lang="it-IT" sz="1850" b="1" dirty="0" err="1">
                <a:solidFill>
                  <a:srgbClr val="182D45"/>
                </a:solidFill>
                <a:latin typeface="DejaVu Sans"/>
              </a:rPr>
              <a:t>factors</a:t>
            </a:r>
            <a:r>
              <a:rPr lang="it-IT" sz="1850" b="1" dirty="0">
                <a:solidFill>
                  <a:srgbClr val="182D45"/>
                </a:solidFill>
                <a:latin typeface="DejaVu Sans"/>
              </a:rPr>
              <a:t> </a:t>
            </a:r>
            <a:r>
              <a:rPr lang="it-IT" sz="1850" b="1" dirty="0" err="1">
                <a:solidFill>
                  <a:srgbClr val="182D45"/>
                </a:solidFill>
                <a:latin typeface="DejaVu Sans"/>
              </a:rPr>
              <a:t>that</a:t>
            </a:r>
            <a:r>
              <a:rPr lang="it-IT" sz="1850" b="1" dirty="0">
                <a:solidFill>
                  <a:srgbClr val="182D45"/>
                </a:solidFill>
                <a:latin typeface="DejaVu Sans"/>
              </a:rPr>
              <a:t> </a:t>
            </a:r>
            <a:r>
              <a:rPr lang="it-IT" sz="1850" b="1" dirty="0" err="1">
                <a:solidFill>
                  <a:srgbClr val="182D45"/>
                </a:solidFill>
                <a:latin typeface="DejaVu Sans"/>
              </a:rPr>
              <a:t>appear</a:t>
            </a:r>
            <a:r>
              <a:rPr lang="it-IT" sz="1850" b="1" dirty="0">
                <a:solidFill>
                  <a:srgbClr val="182D45"/>
                </a:solidFill>
                <a:latin typeface="DejaVu Sans"/>
              </a:rPr>
              <a:t> in the </a:t>
            </a:r>
            <a:r>
              <a:rPr lang="it-IT" sz="1850" b="1" dirty="0">
                <a:solidFill>
                  <a:srgbClr val="FF0000"/>
                </a:solidFill>
                <a:latin typeface="DejaVu Sans"/>
              </a:rPr>
              <a:t>chain rule.</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boldsymbol{\theta},y}">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67" name="equation_63" descr="J_{3,\boldsymbol{\theta},y}">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67"/>
                <a:stretch>
                  <a:fillRect/>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3" name="text_119">
                <a:extLst>
                  <a:ext uri="{FF2B5EF4-FFF2-40B4-BE49-F238E27FC236}">
                    <a16:creationId xmlns:a16="http://schemas.microsoft.com/office/drawing/2014/main" id="{EC2ECB5D-DAE8-4A2F-A71E-6ED4D1FE0425}"/>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3" name="text_119">
                <a:extLst>
                  <a:ext uri="{FF2B5EF4-FFF2-40B4-BE49-F238E27FC236}">
                    <a16:creationId xmlns:a16="http://schemas.microsoft.com/office/drawing/2014/main" id="{EC2ECB5D-DAE8-4A2F-A71E-6ED4D1FE0425}"/>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49"/>
                <a:stretch>
                  <a:fillRect t="-23404" b="-3191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lead">
                <a:extLst>
                  <a:ext uri="{FF2B5EF4-FFF2-40B4-BE49-F238E27FC236}">
                    <a16:creationId xmlns:a16="http://schemas.microsoft.com/office/drawing/2014/main" id="{94EA83E3-057F-5F32-0AF4-F97733D64CDB}"/>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7" name="lead">
                <a:extLst>
                  <a:ext uri="{FF2B5EF4-FFF2-40B4-BE49-F238E27FC236}">
                    <a16:creationId xmlns:a16="http://schemas.microsoft.com/office/drawing/2014/main" id="{94EA83E3-057F-5F32-0AF4-F97733D64CDB}"/>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50"/>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preactivation_argument">
                <a:extLst>
                  <a:ext uri="{FF2B5EF4-FFF2-40B4-BE49-F238E27FC236}">
                    <a16:creationId xmlns:a16="http://schemas.microsoft.com/office/drawing/2014/main" id="{10871B27-9DEC-49B7-B05A-F6665E4200FC}"/>
                  </a:ext>
                </a:extLst>
              </p:cNvPr>
              <p:cNvSpPr>
                <a:spLocks noGrp="1"/>
              </p:cNvSpPr>
              <p:nvPr/>
            </p:nvSpPr>
            <p:spPr>
              <a:xfrm>
                <a:off x="666750" y="6096000"/>
                <a:ext cx="10858500" cy="276225"/>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Here </a:t>
                </a:r>
                <a14:m>
                  <m:oMath xmlns:m="http://schemas.openxmlformats.org/officeDocument/2006/math">
                    <m:r>
                      <a:rPr lang="en-GB" sz="1650">
                        <a:solidFill>
                          <a:srgbClr val="526276"/>
                        </a:solidFill>
                        <a:latin typeface="Cambria Math"/>
                        <a:ea typeface="Cambria Math"/>
                        <a:cs typeface="Cambria Math"/>
                      </a:rPr>
                      <m:t>𝑢</m:t>
                    </m:r>
                  </m:oMath>
                </a14:m>
                <a:r>
                  <a:rPr sz="1650" b="0">
                    <a:solidFill>
                      <a:srgbClr val="526276"/>
                    </a:solidFill>
                    <a:latin typeface="DejaVu Sans"/>
                    <a:ea typeface="DejaVu Sans"/>
                    <a:cs typeface="DejaVu Sans"/>
                  </a:rPr>
                  <a:t> is a possible preactivation value.</a:t>
                </a:r>
                <a:endParaRPr lang="en-GB" sz="1650"/>
              </a:p>
            </p:txBody>
          </p:sp>
        </mc:Choice>
        <mc:Fallback xmlns="">
          <p:sp>
            <p:nvSpPr>
              <p:cNvPr id="184" name="preactivation_argument">
                <a:extLst>
                  <a:ext uri="{FF2B5EF4-FFF2-40B4-BE49-F238E27FC236}">
                    <a16:creationId xmlns:a16="http://schemas.microsoft.com/office/drawing/2014/main" id="{10871B27-9DEC-49B7-B05A-F6665E4200FC}"/>
                  </a:ext>
                </a:extLst>
              </p:cNvPr>
              <p:cNvSpPr>
                <a:spLocks noGrp="1" noRot="1" noChangeAspect="1" noMove="1" noResize="1" noEditPoints="1" noAdjustHandles="1" noChangeArrowheads="1" noChangeShapeType="1" noTextEdit="1"/>
              </p:cNvSpPr>
              <p:nvPr/>
            </p:nvSpPr>
            <p:spPr>
              <a:xfrm>
                <a:off x="666750" y="6096000"/>
                <a:ext cx="10858500" cy="276225"/>
              </a:xfrm>
              <a:prstGeom prst="rect">
                <a:avLst/>
              </a:prstGeom>
              <a:blipFill>
                <a:blip r:embed="rId51"/>
                <a:stretch>
                  <a:fillRect t="-20000" b="-4222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3"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1" name="continuity_8_0_191" descr="J_{3,\boldsymbol{\theta},y}">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1" name="continuity_8_0_191" descr="J_{3,\boldsymbol{\theta},y}">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boldsymbol{\theta},y}">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49" name="continuity_8_1_249" descr="J_{2,\boldsymbol{\theta},y}">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49"/>
                <a:stretch>
                  <a:fillRect/>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boldsymbol{\theta},y}">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1" name="continuity_8_1_251" descr="J_{3,\boldsymbol{\theta},y}">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1"/>
                <a:stretch>
                  <a:fillRect/>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7"/>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lead">
                <a:extLst>
                  <a:ext uri="{FF2B5EF4-FFF2-40B4-BE49-F238E27FC236}">
                    <a16:creationId xmlns:a16="http://schemas.microsoft.com/office/drawing/2014/main" id="{1F7E782C-0B1C-D4AA-B1CD-0C03E114EB3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6" name="lead">
                <a:extLst>
                  <a:ext uri="{FF2B5EF4-FFF2-40B4-BE49-F238E27FC236}">
                    <a16:creationId xmlns:a16="http://schemas.microsoft.com/office/drawing/2014/main" id="{1F7E782C-0B1C-D4AA-B1CD-0C03E114EB3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28"/>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F5954D1-58F5-4D8C-8303-93E438BC0324}"/>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2" name="lead">
                <a:extLst>
                  <a:ext uri="{FF2B5EF4-FFF2-40B4-BE49-F238E27FC236}">
                    <a16:creationId xmlns:a16="http://schemas.microsoft.com/office/drawing/2014/main" id="{9F5954D1-58F5-4D8C-8303-93E438BC0324}"/>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
                <a:stretch>
                  <a:fillRect t="-8197" b="-1557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191" name="continuity_9_0_191" descr="J_{2,\boldsymbol{\theta},y}">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191" name="continuity_9_0_191" descr="J_{2,\boldsymbol{\theta},y}">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3" name="continuity_9_0_193" descr="J_{3,\boldsymbol{\theta},y}">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3" name="continuity_9_0_193" descr="J_{3,\boldsymbol{\theta},y}">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3"/>
                <a:stretch>
                  <a:fillRect/>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boldsymbol{\theta},y}">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r>
                            <a:rPr lang="en-GB" sz="2000">
                              <a:solidFill>
                                <a:srgbClr val="1E4F8C"/>
                              </a:solidFill>
                              <a:latin typeface="Cambria Math"/>
                              <a:ea typeface="Cambria Math"/>
                              <a:cs typeface="Cambria Math"/>
                            </a:rPr>
                            <m:t>𝛉</m:t>
                          </m:r>
                          <m:r>
                            <a:rPr lang="en-GB" sz="2000">
                              <a:solidFill>
                                <a:srgbClr val="1E4F8C"/>
                              </a:solidFill>
                              <a:latin typeface="Cambria Math"/>
                              <a:ea typeface="Cambria Math"/>
                              <a:cs typeface="Cambria Math"/>
                            </a:rPr>
                            <m:t>,</m:t>
                          </m:r>
                          <m:r>
                            <a:rPr lang="en-GB" sz="2000">
                              <a:solidFill>
                                <a:srgbClr val="1E4F8C"/>
                              </a:solidFill>
                              <a:latin typeface="Cambria Math"/>
                              <a:ea typeface="Cambria Math"/>
                              <a:cs typeface="Cambria Math"/>
                            </a:rPr>
                            <m:t>𝑦</m:t>
                          </m:r>
                        </m:sub>
                      </m:sSub>
                    </m:oMath>
                  </m:oMathPara>
                </a14:m>
                <a:endParaRPr lang="en-GB" sz="2000"/>
              </a:p>
            </p:txBody>
          </p:sp>
        </mc:Choice>
        <mc:Fallback xmlns="">
          <p:sp>
            <p:nvSpPr>
              <p:cNvPr id="252" name="continuity_9_1_252" descr="J_{1,\boldsymbol{\theta},y}">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FullJ252"/>
                <a:stretch>
                  <a:fillRect/>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boldsymbol{\theta},y}">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54" name="continuity_9_1_254" descr="J_{2,\boldsymbol{\theta},y}">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54"/>
                <a:stretch>
                  <a:fillRect/>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boldsymbol{\theta},y}">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6" name="continuity_9_1_256" descr="J_{3,\boldsymbol{\theta},y}">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6"/>
                <a:stretch>
                  <a:fillRect/>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85663231-09A7-4576-B60C-DB7D2BD11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loss, three compositions</a:t>
            </a:r>
          </a:p>
        </p:txBody>
      </p:sp>
      <p:sp>
        <p:nvSpPr>
          <p:cNvPr id="2" name="lead">
            <a:extLst>
              <a:ext uri="{FF2B5EF4-FFF2-40B4-BE49-F238E27FC236}">
                <a16:creationId xmlns:a16="http://schemas.microsoft.com/office/drawing/2014/main" id="{F02B0289-3E59-4F8A-959A-9752C6D704CA}"/>
              </a:ext>
            </a:extLst>
          </p:cNvPr>
          <p:cNvSpPr>
            <a:spLocks noGrp="1"/>
          </p:cNvSpPr>
          <p:nvPr/>
        </p:nvSpPr>
        <p:spPr>
          <a:xfrm>
            <a:off x="476250" y="4667250"/>
            <a:ext cx="11239500" cy="6667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We now apply the </a:t>
            </a:r>
            <a:r>
              <a:rPr lang="it-IT" sz="2175" b="0" dirty="0">
                <a:solidFill>
                  <a:srgbClr val="FF0000"/>
                </a:solidFill>
                <a:latin typeface="DejaVu Sans"/>
                <a:ea typeface="DejaVu Sans"/>
                <a:cs typeface="DejaVu Sans"/>
              </a:rPr>
              <a:t>chain rule</a:t>
            </a:r>
            <a:r>
              <a:rPr lang="it-IT" sz="2175" b="0" dirty="0">
                <a:solidFill>
                  <a:srgbClr val="526276"/>
                </a:solidFill>
                <a:latin typeface="DejaVu Sans"/>
                <a:ea typeface="DejaVu Sans"/>
                <a:cs typeface="DejaVu Sans"/>
              </a:rPr>
              <a:t> recursively,</a:t>
            </a:r>
          </a:p>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reusing the derivatives already computed.</a:t>
            </a:r>
          </a:p>
        </p:txBody>
      </p:sp>
      <p:sp>
        <p:nvSpPr>
          <p:cNvPr id="3" name="footer_course">
            <a:extLst>
              <a:ext uri="{FF2B5EF4-FFF2-40B4-BE49-F238E27FC236}">
                <a16:creationId xmlns:a16="http://schemas.microsoft.com/office/drawing/2014/main" id="{95F41EE3-14D1-4C4D-A2D4-0E8CBF1DD72B}"/>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1F8803C-68BB-47C1-B8FA-1616DC580EBA}"/>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p:cNvSpPr>
              <p:nvPr/>
            </p:nvSpPr>
            <p:spPr>
              <a:xfrm>
                <a:off x="476250" y="1952625"/>
                <a:ext cx="11239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3,</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3</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oMath>
                  </m:oMathPara>
                </a14:m>
                <a:endParaRPr lang="en-GB" sz="3100" dirty="0"/>
              </a:p>
            </p:txBody>
          </p:sp>
        </mc:Choice>
        <mc:Fallback xmlns="">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noRot="1" noChangeAspect="1" noMove="1" noResize="1" noEditPoints="1" noAdjustHandles="1" noChangeArrowheads="1" noChangeShapeType="1" noTextEdit="1"/>
              </p:cNvSpPr>
              <p:nvPr/>
            </p:nvSpPr>
            <p:spPr>
              <a:xfrm>
                <a:off x="476250" y="1952625"/>
                <a:ext cx="11239500" cy="619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p:cNvSpPr>
              <p:nvPr/>
            </p:nvSpPr>
            <p:spPr>
              <a:xfrm>
                <a:off x="685800" y="2781300"/>
                <a:ext cx="11239500" cy="6191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2,</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2</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3</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b="0" i="1" smtClean="0">
                            <a:solidFill>
                              <a:srgbClr val="FF0000"/>
                            </a:solidFill>
                            <a:latin typeface="Cambria Math" panose="02040503050406030204" pitchFamily="18" charset="0"/>
                            <a:ea typeface="Cambria Math"/>
                            <a:cs typeface="Cambria Math"/>
                          </a:rPr>
                        </m:ctrlPr>
                      </m:dPr>
                      <m:e>
                        <m:func>
                          <m:funcPr>
                            <m:ctrlPr>
                              <a:rPr lang="it-IT" sz="3100" b="0" i="0" smtClean="0">
                                <a:solidFill>
                                  <a:srgbClr val="FF0000"/>
                                </a:solidFill>
                                <a:latin typeface="Cambria Math" panose="02040503050406030204" pitchFamily="18" charset="0"/>
                                <a:ea typeface="Cambria Math"/>
                                <a:cs typeface="Cambria Math"/>
                              </a:rPr>
                            </m:ctrlPr>
                          </m:funcPr>
                          <m:fName>
                            <m:r>
                              <m:rPr>
                                <m:sty m:val="p"/>
                              </m:rPr>
                              <a:rPr lang="it-IT" sz="3100" b="0" i="0" smtClean="0">
                                <a:solidFill>
                                  <a:srgbClr val="FF0000"/>
                                </a:solidFill>
                                <a:latin typeface="Cambria Math" panose="02040503050406030204" pitchFamily="18" charset="0"/>
                                <a:ea typeface="Cambria Math"/>
                                <a:cs typeface="Cambria Math"/>
                              </a:rPr>
                              <m:t>ReLU</m:t>
                            </m:r>
                          </m:fName>
                          <m:e>
                            <m:d>
                              <m:dPr>
                                <m:ctrlPr>
                                  <a:rPr lang="it-IT" sz="3100" b="0" i="1" smtClean="0">
                                    <a:solidFill>
                                      <a:srgbClr val="FF0000"/>
                                    </a:solidFill>
                                    <a:latin typeface="Cambria Math" panose="02040503050406030204" pitchFamily="18" charset="0"/>
                                    <a:ea typeface="Cambria Math"/>
                                  </a:rPr>
                                </m:ctrlPr>
                              </m:dPr>
                              <m:e>
                                <m:sSub>
                                  <m:sSubPr>
                                    <m:ctrlPr>
                                      <a:rPr lang="it-IT" sz="3100" b="0" i="1" smtClean="0">
                                        <a:solidFill>
                                          <a:srgbClr val="FF0000"/>
                                        </a:solidFill>
                                        <a:latin typeface="Cambria Math" panose="02040503050406030204" pitchFamily="18" charset="0"/>
                                        <a:ea typeface="Cambria Math"/>
                                      </a:rPr>
                                    </m:ctrlPr>
                                  </m:sSubPr>
                                  <m:e>
                                    <m:r>
                                      <a:rPr lang="it-IT" sz="3100" b="0" i="1" smtClean="0">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2</m:t>
                                    </m:r>
                                  </m:sub>
                                </m:sSub>
                                <m:d>
                                  <m:dPr>
                                    <m:ctrlPr>
                                      <a:rPr lang="it-IT" sz="3100" b="0" i="1" smtClean="0">
                                        <a:solidFill>
                                          <a:srgbClr val="FF0000"/>
                                        </a:solidFill>
                                        <a:latin typeface="Cambria Math" panose="02040503050406030204" pitchFamily="18" charset="0"/>
                                        <a:ea typeface="Cambria Math"/>
                                      </a:rPr>
                                    </m:ctrlPr>
                                  </m:dPr>
                                  <m:e>
                                    <m:r>
                                      <a:rPr lang="it-IT" sz="3100" b="0" i="1" smtClean="0">
                                        <a:solidFill>
                                          <a:srgbClr val="FF0000"/>
                                        </a:solidFill>
                                        <a:latin typeface="Cambria Math" panose="02040503050406030204" pitchFamily="18" charset="0"/>
                                        <a:ea typeface="Cambria Math"/>
                                      </a:rPr>
                                      <m:t>𝑥</m:t>
                                    </m:r>
                                  </m:e>
                                </m:d>
                              </m:e>
                            </m:d>
                          </m:e>
                        </m:func>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3</m:t>
                            </m:r>
                          </m:sub>
                        </m:sSub>
                        <m:r>
                          <a:rPr lang="it-IT" sz="3100" b="0" i="1" smtClean="0">
                            <a:solidFill>
                              <a:srgbClr val="FF0000"/>
                            </a:solidFill>
                            <a:latin typeface="Cambria Math" panose="02040503050406030204" pitchFamily="18" charset="0"/>
                            <a:ea typeface="Cambria Math"/>
                            <a:cs typeface="Cambria Math"/>
                          </a:rPr>
                          <m:t>+</m:t>
                        </m:r>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3</m:t>
                            </m:r>
                          </m:sub>
                        </m:sSub>
                      </m:e>
                    </m:d>
                  </m:oMath>
                </a14:m>
                <a:r>
                  <a:rPr lang="en-GB" sz="3100" dirty="0"/>
                  <a:t>      </a:t>
                </a:r>
              </a:p>
            </p:txBody>
          </p:sp>
        </mc:Choice>
        <mc:Fallback xmlns="">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noRot="1" noChangeAspect="1" noMove="1" noResize="1" noEditPoints="1" noAdjustHandles="1" noChangeArrowheads="1" noChangeShapeType="1" noTextEdit="1"/>
              </p:cNvSpPr>
              <p:nvPr/>
            </p:nvSpPr>
            <p:spPr>
              <a:xfrm>
                <a:off x="685800" y="2781300"/>
                <a:ext cx="11239500" cy="619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p:cNvSpPr>
              <p:nvPr/>
            </p:nvSpPr>
            <p:spPr>
              <a:xfrm>
                <a:off x="476250" y="3609975"/>
                <a:ext cx="11239500" cy="74256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1,</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1</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2</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i="1">
                              <a:solidFill>
                                <a:srgbClr val="FF0000"/>
                              </a:solidFill>
                              <a:latin typeface="Cambria Math" panose="02040503050406030204" pitchFamily="18" charset="0"/>
                              <a:ea typeface="Cambria Math"/>
                              <a:cs typeface="Cambria Math"/>
                            </a:rPr>
                          </m:ctrlPr>
                        </m:dPr>
                        <m:e>
                          <m:func>
                            <m:funcPr>
                              <m:ctrlPr>
                                <a:rPr lang="it-IT" sz="3100">
                                  <a:solidFill>
                                    <a:srgbClr val="FF0000"/>
                                  </a:solidFill>
                                  <a:latin typeface="Cambria Math" panose="02040503050406030204" pitchFamily="18" charset="0"/>
                                  <a:ea typeface="Cambria Math"/>
                                  <a:cs typeface="Cambria Math"/>
                                </a:rPr>
                              </m:ctrlPr>
                            </m:funcPr>
                            <m:fName>
                              <m:r>
                                <m:rPr>
                                  <m:sty m:val="p"/>
                                </m:rPr>
                                <a:rPr lang="it-IT" sz="3100">
                                  <a:solidFill>
                                    <a:srgbClr val="FF0000"/>
                                  </a:solidFill>
                                  <a:latin typeface="Cambria Math" panose="02040503050406030204" pitchFamily="18" charset="0"/>
                                  <a:ea typeface="Cambria Math"/>
                                  <a:cs typeface="Cambria Math"/>
                                </a:rPr>
                                <m:t>ReLU</m:t>
                              </m:r>
                            </m:fName>
                            <m:e>
                              <m:d>
                                <m:dPr>
                                  <m:ctrlPr>
                                    <a:rPr lang="it-IT" sz="3100" i="1">
                                      <a:solidFill>
                                        <a:srgbClr val="FF0000"/>
                                      </a:solidFill>
                                      <a:latin typeface="Cambria Math" panose="02040503050406030204" pitchFamily="18" charset="0"/>
                                      <a:ea typeface="Cambria Math"/>
                                    </a:rPr>
                                  </m:ctrlPr>
                                </m:dPr>
                                <m:e>
                                  <m:sSub>
                                    <m:sSubPr>
                                      <m:ctrlPr>
                                        <a:rPr lang="it-IT" sz="3100" i="1">
                                          <a:solidFill>
                                            <a:srgbClr val="FF0000"/>
                                          </a:solidFill>
                                          <a:latin typeface="Cambria Math" panose="02040503050406030204" pitchFamily="18" charset="0"/>
                                          <a:ea typeface="Cambria Math"/>
                                        </a:rPr>
                                      </m:ctrlPr>
                                    </m:sSubPr>
                                    <m:e>
                                      <m:r>
                                        <a:rPr lang="it-IT" sz="3100" i="1">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1</m:t>
                                      </m:r>
                                    </m:sub>
                                  </m:sSub>
                                  <m:d>
                                    <m:dPr>
                                      <m:ctrlPr>
                                        <a:rPr lang="it-IT" sz="3100" i="1">
                                          <a:solidFill>
                                            <a:srgbClr val="FF0000"/>
                                          </a:solidFill>
                                          <a:latin typeface="Cambria Math" panose="02040503050406030204" pitchFamily="18" charset="0"/>
                                          <a:ea typeface="Cambria Math"/>
                                        </a:rPr>
                                      </m:ctrlPr>
                                    </m:dPr>
                                    <m:e>
                                      <m:r>
                                        <a:rPr lang="it-IT" sz="3100" i="1">
                                          <a:solidFill>
                                            <a:srgbClr val="FF0000"/>
                                          </a:solidFill>
                                          <a:latin typeface="Cambria Math" panose="02040503050406030204" pitchFamily="18" charset="0"/>
                                          <a:ea typeface="Cambria Math"/>
                                        </a:rPr>
                                        <m:t>𝑥</m:t>
                                      </m:r>
                                    </m:e>
                                  </m:d>
                                </m:e>
                              </m:d>
                            </m:e>
                          </m:func>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2</m:t>
                              </m:r>
                            </m:sub>
                          </m:sSub>
                          <m:r>
                            <a:rPr lang="it-IT" sz="3100" i="1">
                              <a:solidFill>
                                <a:srgbClr val="FF0000"/>
                              </a:solidFill>
                              <a:latin typeface="Cambria Math" panose="02040503050406030204" pitchFamily="18" charset="0"/>
                              <a:ea typeface="Cambria Math"/>
                              <a:cs typeface="Cambria Math"/>
                            </a:rPr>
                            <m:t>+</m:t>
                          </m:r>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2</m:t>
                              </m:r>
                            </m:sub>
                          </m:sSub>
                        </m:e>
                      </m:d>
                    </m:oMath>
                  </m:oMathPara>
                </a14:m>
                <a:endParaRPr lang="it-IT" sz="3100" b="0" dirty="0">
                  <a:solidFill>
                    <a:srgbClr val="FF0000"/>
                  </a:solidFill>
                  <a:ea typeface="Cambria Math"/>
                  <a:cs typeface="Cambria Math"/>
                </a:endParaRPr>
              </a:p>
            </p:txBody>
          </p:sp>
        </mc:Choice>
        <mc:Fallback xmlns="">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noRot="1" noChangeAspect="1" noMove="1" noResize="1" noEditPoints="1" noAdjustHandles="1" noChangeArrowheads="1" noChangeShapeType="1" noTextEdit="1"/>
              </p:cNvSpPr>
              <p:nvPr/>
            </p:nvSpPr>
            <p:spPr>
              <a:xfrm>
                <a:off x="476250" y="3609975"/>
                <a:ext cx="11239500" cy="742569"/>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chain_rule_reminder" descr="(g\circ h)'(v)=g'(h(v))\,h'(v)">
                <a:extLst>
                  <a:ext uri="{FF2B5EF4-FFF2-40B4-BE49-F238E27FC236}">
                    <a16:creationId xmlns:a16="http://schemas.microsoft.com/office/drawing/2014/main" id="{6C2DCA27-B77D-4467-8CD7-C23A3266279C}"/>
                  </a:ext>
                </a:extLst>
              </p:cNvPr>
              <p:cNvSpPr>
                <a:spLocks noGrp="1"/>
              </p:cNvSpPr>
              <p:nvPr/>
            </p:nvSpPr>
            <p:spPr>
              <a:xfrm>
                <a:off x="476250" y="5372100"/>
                <a:ext cx="11239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000" i="1">
                              <a:solidFill>
                                <a:srgbClr val="087F83"/>
                              </a:solidFill>
                              <a:latin typeface="Cambria Math" panose="02040503050406030204" pitchFamily="18" charset="0"/>
                              <a:ea typeface="Cambria Math"/>
                              <a:cs typeface="Cambria Math"/>
                            </a:rPr>
                          </m:ctrlPr>
                        </m:sSupPr>
                        <m:e>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𝑔</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ℎ</m:t>
                              </m:r>
                            </m:e>
                          </m:d>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𝑔</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e>
                      </m:d>
                      <m:r>
                        <a:rPr lang="en-GB" sz="3000">
                          <a:solidFill>
                            <a:srgbClr val="087F83"/>
                          </a:solidFill>
                          <a:latin typeface="Cambria Math"/>
                          <a:ea typeface="Cambria Math"/>
                          <a:cs typeface="Cambria Math"/>
                        </a:rPr>
                        <m:t> </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ℎ</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oMath>
                  </m:oMathPara>
                </a14:m>
                <a:endParaRPr lang="en-GB" sz="3000" dirty="0"/>
              </a:p>
            </p:txBody>
          </p:sp>
        </mc:Choice>
        <mc:Fallback xmlns="">
          <p:sp>
            <p:nvSpPr>
              <p:cNvPr id="8" name="chain_rule_reminder" descr="(g\circ h)'(v)=g'(h(v))\,h'(v)">
                <a:extLst>
                  <a:ext uri="{FF2B5EF4-FFF2-40B4-BE49-F238E27FC236}">
                    <a16:creationId xmlns:a16="http://schemas.microsoft.com/office/drawing/2014/main" id="{6C2DCA27-B77D-4467-8CD7-C23A3266279C}"/>
                  </a:ext>
                </a:extLst>
              </p:cNvPr>
              <p:cNvSpPr>
                <a:spLocks noGrp="1" noRot="1" noChangeAspect="1" noMove="1" noResize="1" noEditPoints="1" noAdjustHandles="1" noChangeArrowheads="1" noChangeShapeType="1" noTextEdit="1"/>
              </p:cNvSpPr>
              <p:nvPr/>
            </p:nvSpPr>
            <p:spPr>
              <a:xfrm>
                <a:off x="476250" y="5372100"/>
                <a:ext cx="11239500" cy="666750"/>
              </a:xfrm>
              <a:prstGeom prst="rect">
                <a:avLst/>
              </a:prstGeom>
              <a:blipFill>
                <a:blip r:embed="rId6"/>
                <a:stretch>
                  <a:fillRect/>
                </a:stretch>
              </a:blipFill>
              <a:ln w="0">
                <a:noFill/>
              </a:ln>
            </p:spPr>
            <p:txBody>
              <a:bodyPr/>
              <a:lstStyle/>
              <a:p>
                <a:r>
                  <a:rPr lang="it-IT">
                    <a:noFill/>
                  </a:rPr>
                  <a:t> </a:t>
                </a:r>
              </a:p>
            </p:txBody>
          </p:sp>
        </mc:Fallback>
      </mc:AlternateContent>
      <p:sp>
        <p:nvSpPr>
          <p:cNvPr id="12" name="lead">
            <a:extLst>
              <a:ext uri="{FF2B5EF4-FFF2-40B4-BE49-F238E27FC236}">
                <a16:creationId xmlns:a16="http://schemas.microsoft.com/office/drawing/2014/main" id="{C2824A0B-3CA5-1E0D-66E8-833D0252E180}"/>
              </a:ext>
            </a:extLst>
          </p:cNvPr>
          <p:cNvSpPr>
            <a:spLocks noGrp="1"/>
          </p:cNvSpPr>
          <p:nvPr/>
        </p:nvSpPr>
        <p:spPr>
          <a:xfrm>
            <a:off x="676275" y="1152525"/>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remaining function starts at a different </a:t>
            </a:r>
            <a:r>
              <a:rPr sz="2175" b="0" dirty="0" err="1">
                <a:solidFill>
                  <a:srgbClr val="526276"/>
                </a:solidFill>
                <a:latin typeface="DejaVu Sans"/>
                <a:ea typeface="DejaVu Sans"/>
                <a:cs typeface="DejaVu Sans"/>
              </a:rPr>
              <a:t>preactivation</a:t>
            </a:r>
            <a:r>
              <a:rPr sz="21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630823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3rd </a:t>
            </a:r>
            <a:r>
              <a:rPr lang="it-IT" sz="2175" b="0" dirty="0" err="1">
                <a:solidFill>
                  <a:srgbClr val="526276"/>
                </a:solidFill>
                <a:latin typeface="DejaVu Sans"/>
                <a:ea typeface="DejaVu Sans"/>
                <a:cs typeface="DejaVu Sans"/>
              </a:rPr>
              <a:t>layer</a:t>
            </a:r>
            <a:endParaRPr lang="en-GB" sz="2175" dirty="0"/>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3,</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2</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3</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3</m:t>
                        </m:r>
                      </m:sub>
                    </m:sSub>
                  </m:oMath>
                </a14:m>
                <a:endParaRPr lang="en-GB" sz="2025" dirty="0"/>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boldsymbol{\theta},y}'(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boldsymbol{\theta},y}'(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boldsymbol{\theta},y}'(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boldsymbol{\theta},y}'(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We still need the shared factor in both expressions.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=2</m:t>
                      </m:r>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e>
                      </m:d>
                      <m:r>
                        <a:rPr lang="en-GB" sz="2800">
                          <a:solidFill>
                            <a:srgbClr val="A25914"/>
                          </a:solidFill>
                          <a:latin typeface="Cambria Math"/>
                          <a:ea typeface="Cambria Math"/>
                          <a:cs typeface="Cambria Math"/>
                        </a:rPr>
                        <m:t>=2</m:t>
                      </m:r>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𝑏</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𝑤</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r>
                        <a:rPr lang="it-IT" sz="2600" b="0" i="1" smtClean="0">
                          <a:solidFill>
                            <a:srgbClr val="FF0000"/>
                          </a:solidFill>
                          <a:latin typeface="Cambria Math" panose="02040503050406030204" pitchFamily="18" charset="0"/>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𝜙</m:t>
                          </m:r>
                        </m:e>
                        <m:sub>
                          <m:r>
                            <a:rPr lang="en-GB" sz="2600">
                              <a:solidFill>
                                <a:srgbClr val="FF0000"/>
                              </a:solidFill>
                              <a:latin typeface="Cambria Math"/>
                              <a:ea typeface="Cambria Math"/>
                              <a:cs typeface="Cambria Math"/>
                            </a:rPr>
                            <m:t>2</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mc:Choice xmlns:a14="http://schemas.microsoft.com/office/drawing/2010/main"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6410"/>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second-layer parameter derivatives</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2,</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1</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2</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2</m:t>
                        </m:r>
                      </m:sub>
                    </m:sSub>
                  </m:oMath>
                </a14:m>
                <a:endParaRPr lang="en-GB" sz="2025" dirty="0"/>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boldsymbol{\theta},y}'(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boldsymbol{\theta},y}'(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a:p>
            </p:txBody>
          </p:sp>
        </mc:Choice>
        <mc:Fallback xmlns="">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boldsymbol{\theta},y}'(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boldsymbol{\theta},y}'(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2A9C9D5E-5D35-4DD9-9823-73BB41801ED3}"/>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2,</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2</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 How can we calculate it?</a:t>
                </a:r>
                <a:endParaRPr lang="en-GB" sz="1950" dirty="0"/>
              </a:p>
            </p:txBody>
          </p:sp>
        </mc:Choice>
        <mc:Fallback xmlns="">
          <p:sp>
            <p:nvSpPr>
              <p:cNvPr id="13" name="text_1">
                <a:extLst>
                  <a:ext uri="{FF2B5EF4-FFF2-40B4-BE49-F238E27FC236}">
                    <a16:creationId xmlns:a16="http://schemas.microsoft.com/office/drawing/2014/main" id="{2A9C9D5E-5D35-4DD9-9823-73BB41801ED3}"/>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a:solidFill>
                          <a:srgbClr val="AB4910"/>
                        </a:solidFill>
                        <a:latin typeface="Cambria Math"/>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Sup>
                              <m:sSubSupPr>
                                <m:ctrlPr>
                                  <a:rPr lang="en-GB" sz="2700">
                                    <a:solidFill>
                                      <a:srgbClr val="AB4910"/>
                                    </a:solidFill>
                                    <a:latin typeface="Cambria Math"/>
                                    <a:ea typeface="Cambria Math"/>
                                    <a:cs typeface="Cambria Math"/>
                                  </a:rPr>
                                </m:ctrlPr>
                              </m:sSubSupPr>
                              <m:e>
                                <m:r>
                                  <a:rPr lang="en-GB" sz="2700">
                                    <a:solidFill>
                                      <a:srgbClr val="AB4910"/>
                                    </a:solidFill>
                                    <a:latin typeface="Cambria Math"/>
                                    <a:ea typeface="Cambria Math"/>
                                    <a:cs typeface="Cambria Math"/>
                                  </a:rPr>
                                  <m:t>𝐽</m:t>
                                </m:r>
                              </m:e>
                              <m:sub>
                                <m:r>
                                  <a:rPr lang="en-GB" sz="2700">
                                    <a:solidFill>
                                      <a:srgbClr val="AB4910"/>
                                    </a:solidFill>
                                    <a:latin typeface="Cambria Math"/>
                                    <a:ea typeface="Cambria Math"/>
                                    <a:cs typeface="Cambria Math"/>
                                  </a:rPr>
                                  <m:t>3,</m:t>
                                </m:r>
                                <m:r>
                                  <a:rPr lang="en-GB" sz="2700">
                                    <a:solidFill>
                                      <a:srgbClr val="AB4910"/>
                                    </a:solidFill>
                                    <a:latin typeface="Cambria Math"/>
                                    <a:ea typeface="Cambria Math"/>
                                    <a:cs typeface="Cambria Math"/>
                                  </a:rPr>
                                  <m:t>𝛉</m:t>
                                </m:r>
                                <m:r>
                                  <a:rPr lang="en-GB" sz="2700">
                                    <a:solidFill>
                                      <a:srgbClr val="AB4910"/>
                                    </a:solidFill>
                                    <a:latin typeface="Cambria Math"/>
                                    <a:ea typeface="Cambria Math"/>
                                    <a:cs typeface="Cambria Math"/>
                                  </a:rPr>
                                  <m:t>,</m:t>
                                </m:r>
                                <m:r>
                                  <a:rPr lang="en-GB" sz="2700">
                                    <a:solidFill>
                                      <a:srgbClr val="AB4910"/>
                                    </a:solidFill>
                                    <a:latin typeface="Cambria Math"/>
                                    <a:ea typeface="Cambria Math"/>
                                    <a:cs typeface="Cambria Math"/>
                                  </a:rPr>
                                  <m:t>𝑦</m:t>
                                </m:r>
                              </m:sub>
                              <m:sup>
                                <m:r>
                                  <a:rPr lang="en-GB" sz="2700">
                                    <a:solidFill>
                                      <a:srgbClr val="AB4910"/>
                                    </a:solidFill>
                                    <a:latin typeface="Cambria Math"/>
                                    <a:ea typeface="Cambria Math"/>
                                    <a:cs typeface="Cambria Math"/>
                                  </a:rPr>
                                  <m:t>′</m:t>
                                </m:r>
                              </m:sup>
                            </m:sSub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3</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already</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calculated</m:t>
                            </m:r>
                          </m:e>
                          <m:e>
                            <m:r>
                              <m:rPr>
                                <m:sty m:val="p"/>
                              </m:rPr>
                              <a:rPr lang="it-IT" sz="2700" b="0" i="0" smtClean="0">
                                <a:solidFill>
                                  <a:srgbClr val="AB4910"/>
                                </a:solidFill>
                                <a:latin typeface="Cambria Math" panose="02040503050406030204" pitchFamily="18" charset="0"/>
                                <a:ea typeface="Cambria Math"/>
                                <a:cs typeface="Cambria Math"/>
                              </a:rPr>
                              <m:t>from</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the</m:t>
                            </m:r>
                            <m:r>
                              <a:rPr lang="it-IT" sz="2700" b="0" i="0" smtClean="0">
                                <a:solidFill>
                                  <a:srgbClr val="AB4910"/>
                                </a:solidFill>
                                <a:latin typeface="Cambria Math" panose="02040503050406030204" pitchFamily="18" charset="0"/>
                                <a:ea typeface="Cambria Math"/>
                                <a:cs typeface="Cambria Math"/>
                              </a:rPr>
                              <m:t> 3</m:t>
                            </m:r>
                            <m:r>
                              <m:rPr>
                                <m:sty m:val="p"/>
                              </m:rPr>
                              <a:rPr lang="it-IT" sz="2700" b="0" i="0" smtClean="0">
                                <a:solidFill>
                                  <a:srgbClr val="AB4910"/>
                                </a:solidFill>
                                <a:latin typeface="Cambria Math" panose="02040503050406030204" pitchFamily="18" charset="0"/>
                                <a:ea typeface="Cambria Math"/>
                                <a:cs typeface="Cambria Math"/>
                              </a:rPr>
                              <m:t>rd</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𝑤</m:t>
                                </m:r>
                              </m:e>
                              <m:sub>
                                <m:r>
                                  <a:rPr lang="en-GB" sz="2700">
                                    <a:solidFill>
                                      <a:srgbClr val="AB4910"/>
                                    </a:solidFill>
                                    <a:latin typeface="Cambria Math"/>
                                    <a:ea typeface="Cambria Math"/>
                                    <a:cs typeface="Cambria Math"/>
                                  </a:rPr>
                                  <m:t>3</m:t>
                                </m:r>
                              </m:sub>
                            </m:sSub>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known</m:t>
                            </m:r>
                          </m:e>
                          <m:e>
                            <m:r>
                              <m:rPr>
                                <m:sty m:val="p"/>
                              </m:rPr>
                              <a:rPr lang="it-IT" sz="2700" b="0" i="0" smtClean="0">
                                <a:solidFill>
                                  <a:srgbClr val="AB4910"/>
                                </a:solidFill>
                                <a:latin typeface="Cambria Math" panose="02040503050406030204" pitchFamily="18" charset="0"/>
                                <a:ea typeface="Cambria Math"/>
                                <a:cs typeface="Cambria Math"/>
                              </a:rPr>
                              <m:t>weight</m:t>
                            </m:r>
                          </m:e>
                        </m:eqArr>
                      </m:lim>
                    </m:limLow>
                    <m:r>
                      <a:rPr lang="en-GB" sz="2700">
                        <a:solidFill>
                          <a:srgbClr val="AB4910"/>
                        </a:solidFill>
                        <a:latin typeface="Cambria Math"/>
                        <a:ea typeface="Cambria Math"/>
                        <a:cs typeface="Cambria Math"/>
                      </a:rPr>
                      <m:t> </m:t>
                    </m:r>
                    <m:r>
                      <a:rPr lang="it-IT" sz="2700" i="1">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p>
                              <m:sSupPr>
                                <m:ctrlPr>
                                  <a:rPr lang="en-GB" sz="2700">
                                    <a:solidFill>
                                      <a:srgbClr val="AB4910"/>
                                    </a:solidFill>
                                    <a:latin typeface="Cambria Math"/>
                                    <a:ea typeface="Cambria Math"/>
                                    <a:cs typeface="Cambria Math"/>
                                  </a:rPr>
                                </m:ctrlPr>
                              </m:sSupPr>
                              <m:e>
                                <m:r>
                                  <m:rPr>
                                    <m:sty m:val="p"/>
                                  </m:rPr>
                                  <a:rPr lang="en-GB" sz="2700">
                                    <a:solidFill>
                                      <a:srgbClr val="AB4910"/>
                                    </a:solidFill>
                                    <a:latin typeface="Cambria Math"/>
                                    <a:ea typeface="Cambria Math"/>
                                    <a:cs typeface="Cambria Math"/>
                                  </a:rPr>
                                  <m:t>ReLU</m:t>
                                </m:r>
                              </m:e>
                              <m:sup>
                                <m:r>
                                  <a:rPr lang="en-GB" sz="2700">
                                    <a:solidFill>
                                      <a:srgbClr val="AB4910"/>
                                    </a:solidFill>
                                    <a:latin typeface="Cambria Math"/>
                                    <a:ea typeface="Cambria Math"/>
                                    <a:cs typeface="Cambria Math"/>
                                  </a:rPr>
                                  <m:t>′</m:t>
                                </m:r>
                              </m:sup>
                            </m:s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2</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r>
                          <m:rPr>
                            <m:sty m:val="p"/>
                          </m:rPr>
                          <a:rPr lang="it-IT" sz="2700" b="0" i="0" smtClean="0">
                            <a:solidFill>
                              <a:srgbClr val="AB4910"/>
                            </a:solidFill>
                            <a:latin typeface="Cambria Math" panose="02040503050406030204" pitchFamily="18" charset="0"/>
                            <a:ea typeface="Cambria Math"/>
                            <a:cs typeface="Cambria Math"/>
                          </a:rPr>
                          <m:t>still</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t="-1143" b="-5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2" name="recurrence_before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2,</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p>
                        <m:sSupPr>
                          <m:ctrlPr>
                            <a:rPr lang="en-GB" sz="2800">
                              <a:solidFill>
                                <a:srgbClr val="AB4910"/>
                              </a:solidFill>
                              <a:latin typeface="Cambria Math"/>
                              <a:ea typeface="Cambria Math"/>
                              <a:cs typeface="Cambria Math"/>
                            </a:rPr>
                          </m:ctrlPr>
                        </m:sSupPr>
                        <m:e>
                          <m:r>
                            <m:rPr>
                              <m:sty m:val="p"/>
                            </m:rPr>
                            <a:rPr lang="en-GB" sz="2800">
                              <a:solidFill>
                                <a:srgbClr val="AB4910"/>
                              </a:solidFill>
                              <a:latin typeface="Cambria Math"/>
                              <a:ea typeface="Cambria Math"/>
                              <a:cs typeface="Cambria Math"/>
                            </a:rPr>
                            <m:t>ReLU</m:t>
                          </m:r>
                        </m:e>
                        <m:sup>
                          <m:r>
                            <a:rPr lang="en-GB" sz="2800">
                              <a:solidFill>
                                <a:srgbClr val="AB4910"/>
                              </a:solidFill>
                              <a:latin typeface="Cambria Math"/>
                              <a:ea typeface="Cambria Math"/>
                              <a:cs typeface="Cambria Math"/>
                            </a:rPr>
                            <m:t>′</m:t>
                          </m:r>
                        </m:sup>
                      </m:s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completed_recurrence"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2465195"/>
                <a:ext cx="11525250" cy="1576769"/>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9"/>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1" smtClean="0">
                          <a:solidFill>
                            <a:srgbClr val="AB4910"/>
                          </a:solidFill>
                          <a:latin typeface="Cambria Math" panose="02040503050406030204" pitchFamily="18" charset="0"/>
                          <a:ea typeface="Cambria Math"/>
                          <a:cs typeface="Cambria Math"/>
                        </a:rPr>
                        <m:t>                      =</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it-IT" sz="2800" b="0" i="1" smtClean="0">
                          <a:solidFill>
                            <a:srgbClr val="AB4910"/>
                          </a:solidFill>
                          <a:latin typeface="Cambria Math" panose="02040503050406030204" pitchFamily="18" charset="0"/>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dirty="0"/>
              </a:p>
            </p:txBody>
          </p:sp>
        </mc:Choice>
        <mc:Fallback xmlns="">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11"/>
                <a:stretch>
                  <a:fillRect t="-9677" b="-2096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first-layer parameter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1st layer,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𝜙</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oMath>
                </a14:m>
                <a:r>
                  <a:rPr sz="2175" b="0">
                    <a:solidFill>
                      <a:srgbClr val="526276"/>
                    </a:solidFill>
                    <a:latin typeface="DejaVu Sans"/>
                    <a:ea typeface="DejaVu Sans"/>
                    <a:cs typeface="DejaVu Sans"/>
                  </a:rPr>
                  <a:t>.</a:t>
                </a:r>
                <a:endParaRPr lang="en-GB" sz="2175"/>
              </a:p>
            </p:txBody>
          </p:sp>
        </mc:Choice>
        <mc:Fallback xmlns="">
          <p:sp>
            <p:nvSpPr>
              <p:cNvPr id="2" name="lead">
                <a:extLst>
                  <a:ext uri="{FF2B5EF4-FFF2-40B4-BE49-F238E27FC236}">
                    <a16:creationId xmlns:a16="http://schemas.microsoft.com/office/drawing/2014/main" id="{75BE1AA6-D64D-469A-9C7A-BF9A1737370B}"/>
                  </a:ext>
                </a:extLst>
              </p:cNvPr>
              <p:cNvSpPr>
                <a:spLocks noGrp="1" noRot="1" noChangeAspect="1" noMove="1" noResize="1" noEditPoints="1" noAdjustHandles="1" noChangeArrowheads="1" noChangeShapeType="1" noTextEdit="1"/>
              </p:cNvSpPr>
              <p:nvPr/>
            </p:nvSpPr>
            <p:spPr>
              <a:xfrm>
                <a:off x="523875" y="814388"/>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1,</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0</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1</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1</m:t>
                        </m:r>
                      </m:sub>
                    </m:sSub>
                  </m:oMath>
                </a14:m>
                <a:endParaRPr lang="en-GB" sz="2025" dirty="0"/>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boldsymbol{\theta},y}'(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boldsymbol{\theta},y}'(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boldsymbol{\theta},y}^{\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boldsymbol{\theta},y}^{\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687327B6-B942-4227-8ABB-CF83F9627EA7}"/>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1,</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1</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a:t>
                </a:r>
                <a:r>
                  <a:rPr lang="it-IT" sz="1950" b="1" dirty="0">
                    <a:solidFill>
                      <a:srgbClr val="182D45"/>
                    </a:solidFill>
                    <a:latin typeface="DejaVu Sans"/>
                    <a:ea typeface="DejaVu Sans"/>
                    <a:cs typeface="DejaVu Sans"/>
                  </a:rPr>
                  <a:t> </a:t>
                </a:r>
                <a:r>
                  <a:rPr lang="en-GB" sz="1950" b="1" dirty="0">
                    <a:solidFill>
                      <a:srgbClr val="182D45"/>
                    </a:solidFill>
                    <a:latin typeface="DejaVu Sans"/>
                    <a:ea typeface="DejaVu Sans"/>
                    <a:cs typeface="DejaVu Sans"/>
                  </a:rPr>
                  <a:t>How can we calculate it?</a:t>
                </a:r>
                <a:endParaRPr lang="en-GB" sz="1950" dirty="0"/>
              </a:p>
            </p:txBody>
          </p:sp>
        </mc:Choice>
        <mc:Fallback xmlns="">
          <p:sp>
            <p:nvSpPr>
              <p:cNvPr id="13" name="text_1">
                <a:extLst>
                  <a:ext uri="{FF2B5EF4-FFF2-40B4-BE49-F238E27FC236}">
                    <a16:creationId xmlns:a16="http://schemas.microsoft.com/office/drawing/2014/main" id="{687327B6-B942-4227-8ABB-CF83F9627EA7}"/>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2"/>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boldsymbol{\theta},y}(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needed_derivative" descr="J'_{1,\boldsymbol{\theta},y}(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AA4910"/>
                          </a:solidFill>
                          <a:latin typeface="Cambria Math"/>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Sup>
                                <m:sSubSupPr>
                                  <m:ctrlPr>
                                    <a:rPr lang="en-GB" sz="2800">
                                      <a:solidFill>
                                        <a:srgbClr val="AA4910"/>
                                      </a:solidFill>
                                      <a:latin typeface="Cambria Math"/>
                                      <a:ea typeface="Cambria Math"/>
                                      <a:cs typeface="Cambria Math"/>
                                    </a:rPr>
                                  </m:ctrlPr>
                                </m:sSubSupPr>
                                <m:e>
                                  <m:r>
                                    <a:rPr lang="en-GB" sz="2800">
                                      <a:solidFill>
                                        <a:srgbClr val="AA4910"/>
                                      </a:solidFill>
                                      <a:latin typeface="Cambria Math"/>
                                      <a:ea typeface="Cambria Math"/>
                                      <a:cs typeface="Cambria Math"/>
                                    </a:rPr>
                                    <m:t>𝐽</m:t>
                                  </m:r>
                                </m:e>
                                <m:sub>
                                  <m:r>
                                    <a:rPr lang="it-IT" sz="2800" b="0" i="0" smtClean="0">
                                      <a:solidFill>
                                        <a:srgbClr val="AA4910"/>
                                      </a:solidFill>
                                      <a:latin typeface="Cambria Math" panose="02040503050406030204" pitchFamily="18" charset="0"/>
                                      <a:ea typeface="Cambria Math"/>
                                      <a:cs typeface="Cambria Math"/>
                                    </a:rPr>
                                    <m:t>2</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𝛉</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𝑦</m:t>
                                  </m:r>
                                </m:sub>
                                <m:sup>
                                  <m:r>
                                    <a:rPr lang="en-GB" sz="2800">
                                      <a:solidFill>
                                        <a:srgbClr val="AA4910"/>
                                      </a:solidFill>
                                      <a:latin typeface="Cambria Math"/>
                                      <a:ea typeface="Cambria Math"/>
                                      <a:cs typeface="Cambria Math"/>
                                    </a:rPr>
                                    <m:t>′</m:t>
                                  </m:r>
                                </m:sup>
                              </m:sSubSup>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1" smtClean="0">
                                          <a:solidFill>
                                            <a:srgbClr val="AA4910"/>
                                          </a:solidFill>
                                          <a:latin typeface="Cambria Math" panose="02040503050406030204" pitchFamily="18" charset="0"/>
                                          <a:ea typeface="Cambria Math"/>
                                          <a:cs typeface="Cambria Math"/>
                                        </a:rPr>
                                        <m:t>2</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already</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calculated</m:t>
                              </m:r>
                            </m:e>
                            <m:e>
                              <m:r>
                                <m:rPr>
                                  <m:sty m:val="p"/>
                                </m:rPr>
                                <a:rPr lang="it-IT" sz="2800">
                                  <a:solidFill>
                                    <a:srgbClr val="AA4910"/>
                                  </a:solidFill>
                                  <a:latin typeface="Cambria Math" panose="02040503050406030204" pitchFamily="18" charset="0"/>
                                  <a:ea typeface="Cambria Math"/>
                                  <a:cs typeface="Cambria Math"/>
                                </a:rPr>
                                <m:t>from</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the</m:t>
                              </m:r>
                              <m:r>
                                <a:rPr lang="it-IT" sz="2800">
                                  <a:solidFill>
                                    <a:srgbClr val="AA4910"/>
                                  </a:solidFill>
                                  <a:latin typeface="Cambria Math" panose="02040503050406030204" pitchFamily="18" charset="0"/>
                                  <a:ea typeface="Cambria Math"/>
                                  <a:cs typeface="Cambria Math"/>
                                </a:rPr>
                                <m:t> 2</m:t>
                              </m:r>
                              <m:r>
                                <m:rPr>
                                  <m:sty m:val="p"/>
                                </m:rPr>
                                <a:rPr lang="it-IT" sz="2800" b="0" i="0" smtClean="0">
                                  <a:solidFill>
                                    <a:srgbClr val="AA4910"/>
                                  </a:solidFill>
                                  <a:latin typeface="Cambria Math" panose="02040503050406030204" pitchFamily="18" charset="0"/>
                                  <a:ea typeface="Cambria Math"/>
                                  <a:cs typeface="Cambria Math"/>
                                </a:rPr>
                                <m:t>nd</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𝑤</m:t>
                                  </m:r>
                                </m:e>
                                <m:sub>
                                  <m:r>
                                    <a:rPr lang="it-IT" sz="2800" b="0" i="0" smtClean="0">
                                      <a:solidFill>
                                        <a:srgbClr val="AA4910"/>
                                      </a:solidFill>
                                      <a:latin typeface="Cambria Math" panose="02040503050406030204" pitchFamily="18" charset="0"/>
                                      <a:ea typeface="Cambria Math"/>
                                      <a:cs typeface="Cambria Math"/>
                                    </a:rPr>
                                    <m:t>2</m:t>
                                  </m:r>
                                </m:sub>
                              </m:sSub>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known</m:t>
                              </m:r>
                            </m:e>
                            <m:e>
                              <m:r>
                                <m:rPr>
                                  <m:sty m:val="p"/>
                                </m:rPr>
                                <a:rPr lang="it-IT" sz="2800">
                                  <a:solidFill>
                                    <a:srgbClr val="AA4910"/>
                                  </a:solidFill>
                                  <a:latin typeface="Cambria Math" panose="02040503050406030204" pitchFamily="18" charset="0"/>
                                  <a:ea typeface="Cambria Math"/>
                                  <a:cs typeface="Cambria Math"/>
                                </a:rPr>
                                <m:t>weight</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it-IT" sz="2800" b="0" i="1" smtClean="0">
                              <a:solidFill>
                                <a:srgbClr val="AA4910"/>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AA4910"/>
                                  </a:solidFill>
                                  <a:latin typeface="Cambria Math" panose="02040503050406030204" pitchFamily="18" charset="0"/>
                                  <a:ea typeface="Cambria Math"/>
                                  <a:cs typeface="Cambria Math"/>
                                </a:rPr>
                              </m:ctrlPr>
                            </m:groupChrPr>
                            <m:e>
                              <m:r>
                                <m:rPr>
                                  <m:sty m:val="p"/>
                                </m:rPr>
                                <a:rPr lang="it-IT" sz="2800" b="0" i="0" smtClean="0">
                                  <a:solidFill>
                                    <a:srgbClr val="AA4910"/>
                                  </a:solidFill>
                                  <a:latin typeface="Cambria Math" panose="02040503050406030204" pitchFamily="18" charset="0"/>
                                  <a:ea typeface="Cambria Math"/>
                                  <a:cs typeface="Cambria Math"/>
                                </a:rPr>
                                <m:t>step</m:t>
                              </m:r>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0" smtClean="0">
                                          <a:solidFill>
                                            <a:srgbClr val="AA4910"/>
                                          </a:solidFill>
                                          <a:latin typeface="Cambria Math" panose="02040503050406030204" pitchFamily="18" charset="0"/>
                                          <a:ea typeface="Cambria Math"/>
                                          <a:cs typeface="Cambria Math"/>
                                        </a:rPr>
                                        <m:t>1</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r>
                            <m:rPr>
                              <m:sty m:val="p"/>
                            </m:rPr>
                            <a:rPr lang="it-IT" sz="2800" b="0" i="0" smtClean="0">
                              <a:solidFill>
                                <a:srgbClr val="AA4910"/>
                              </a:solidFill>
                              <a:latin typeface="Cambria Math" panose="02040503050406030204" pitchFamily="18" charset="0"/>
                              <a:ea typeface="Cambria Math"/>
                              <a:cs typeface="Cambria Math"/>
                            </a:rPr>
                            <m:t>ReLU</m:t>
                          </m:r>
                          <m:r>
                            <a:rPr lang="it-IT" sz="2800" b="0" i="0" smtClean="0">
                              <a:solidFill>
                                <a:srgbClr val="AA4910"/>
                              </a:solidFill>
                              <a:latin typeface="Cambria Math" panose="02040503050406030204" pitchFamily="18" charset="0"/>
                              <a:ea typeface="Cambria Math"/>
                              <a:cs typeface="Cambria Math"/>
                            </a:rPr>
                            <m:t> </m:t>
                          </m:r>
                          <m:r>
                            <m:rPr>
                              <m:sty m:val="p"/>
                            </m:rPr>
                            <a:rPr lang="it-IT" sz="2800" b="0" i="0" smtClean="0">
                              <a:solidFill>
                                <a:srgbClr val="AA4910"/>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214415"/>
                <a:ext cx="11525250" cy="1547724"/>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0</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9"/>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boldsymbol{\theta},y}(-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boldsymbol{\theta},y}(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boldsymbol{\theta},y}(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8"/>
                <a:stretch>
                  <a:fillRect/>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boldsymbol{\theta},y}(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boldsymbol{\theta},y}(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7"/>
                <a:stretch>
                  <a:fillRect/>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boldsymbol{\theta},y}(-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boldsymbol{\theta},y}(-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13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boldsymbol{\theta},y}(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boldsymbol{\theta},y}(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7"/>
                <a:stretch>
                  <a:fillRect/>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boldsymbol{\theta},y}(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boldsymbol{\theta},y}(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boldsymbol{\theta},y}(-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boldsymbol{\theta},y}(-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2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8001000" y="4392295"/>
                <a:ext cx="2971800" cy="635635"/>
              </a:xfrm>
              <a:prstGeom prst="rect">
                <a:avLst/>
              </a:prstGeom>
              <a:blipFill>
                <a:blip r:embed="rIdFullJ2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0"/>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ullJ222"/>
                <a:stretch>
                  <a:fillRect/>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1"/>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9"/>
                <a:stretch>
                  <a:fillRect/>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boldsymbol{\theta},y}(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boldsymbol{\theta},y}(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1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boldsymbol{\theta},y}(-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boldsymbol{\theta},y}(-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12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9"/>
                <a:stretch>
                  <a:fillRect/>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boldsymbol{\theta},y}(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boldsymbol{\theta},y}(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20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boldsymbol{\theta},y}(-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boldsymbol{\theta},y}(-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20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FullJ2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ullJ215"/>
                <a:stretch>
                  <a:fillRect/>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boldsymbol{\theta},y}(-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2"/>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boldsymbol{\theta},y}(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boldsymbol{\theta},y}(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boldsymbol{\theta},y}(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1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boldsymbol{\theta},y}(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boldsymbol{\theta},y}(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9"/>
                <a:stretch>
                  <a:fillRect/>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9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boldsymbol{\theta},y}(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boldsymbol{\theta},y}(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20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FullJ20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0"/>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boldsymbol{\theta},y}(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boldsymbol{\theta},y}(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10"/>
                <a:stretch>
                  <a:fillRect/>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boldsymbol{\theta},y}(-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boldsymbol{\theta},y}(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3"/>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boldsymbol{\theta},y}(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boldsymbol{\theta},y}(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FullJ20"/>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7"/>
                <a:stretch>
                  <a:fillRect/>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p:cNvSpPr>
              <p:nvPr/>
            </p:nvSpPr>
            <p:spPr>
              <a:xfrm>
                <a:off x="666750" y="2009775"/>
                <a:ext cx="108585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sSup>
                        <m:sSupPr>
                          <m:ctrlPr>
                            <a:rPr lang="en-GB" sz="3100" i="1">
                              <a:solidFill>
                                <a:srgbClr val="087F83"/>
                              </a:solidFill>
                              <a:latin typeface="Cambria Math" panose="02040503050406030204" pitchFamily="18" charset="0"/>
                              <a:ea typeface="Cambria Math"/>
                              <a:cs typeface="Cambria Math"/>
                            </a:rPr>
                          </m:ctrlPr>
                        </m:sSupPr>
                        <m:e>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3</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3</m:t>
                                  </m:r>
                                </m:sub>
                              </m:sSub>
                            </m:e>
                          </m:d>
                        </m:e>
                        <m:sup>
                          <m:r>
                            <a:rPr lang="en-GB" sz="3100">
                              <a:solidFill>
                                <a:srgbClr val="087F83"/>
                              </a:solidFill>
                              <a:latin typeface="Cambria Math"/>
                              <a:ea typeface="Cambria Math"/>
                              <a:cs typeface="Cambria Math"/>
                            </a:rPr>
                            <m:t>𝖳</m:t>
                          </m:r>
                        </m:sup>
                      </m:sSup>
                    </m:oMath>
                  </m:oMathPara>
                </a14:m>
                <a:endParaRPr lang="en-GB" sz="3100"/>
              </a:p>
            </p:txBody>
          </p:sp>
        </mc:Choice>
        <mc:Fallback xmlns="">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noRot="1" noChangeAspect="1" noMove="1" noResize="1" noEditPoints="1" noAdjustHandles="1" noChangeArrowheads="1" noChangeShapeType="1" noTextEdit="1"/>
              </p:cNvSpPr>
              <p:nvPr/>
            </p:nvSpPr>
            <p:spPr>
              <a:xfrm>
                <a:off x="666750" y="2009775"/>
                <a:ext cx="10858500" cy="7524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3143250"/>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a:solidFill>
                            <a:srgbClr val="087F83"/>
                          </a:solidFill>
                          <a:latin typeface="Cambria Math"/>
                          <a:ea typeface="Cambria Math"/>
                          <a:cs typeface="Cambria Math"/>
                        </a:rPr>
                        <m:t>∇</m:t>
                      </m:r>
                      <m:sSub>
                        <m:sSubPr>
                          <m:ctrlPr>
                            <a:rPr lang="en-GB" sz="3500">
                              <a:solidFill>
                                <a:srgbClr val="087F83"/>
                              </a:solidFill>
                              <a:latin typeface="Cambria Math"/>
                              <a:ea typeface="Cambria Math"/>
                              <a:cs typeface="Cambria Math"/>
                            </a:rPr>
                          </m:ctrlPr>
                        </m:sSubPr>
                        <m:e>
                          <m:r>
                            <a:rPr lang="en-GB" sz="3500">
                              <a:solidFill>
                                <a:srgbClr val="087F83"/>
                              </a:solidFill>
                              <a:latin typeface="Cambria Math"/>
                              <a:ea typeface="Cambria Math"/>
                              <a:cs typeface="Cambria Math"/>
                            </a:rPr>
                            <m:t>ℒ</m:t>
                          </m:r>
                        </m:e>
                        <m:sub>
                          <m:r>
                            <m:rPr>
                              <m:sty m:val="p"/>
                            </m:rPr>
                            <a:rPr lang="en-GB" sz="3500">
                              <a:solidFill>
                                <a:srgbClr val="087F83"/>
                              </a:solidFill>
                              <a:latin typeface="Cambria Math"/>
                              <a:ea typeface="Cambria Math"/>
                              <a:cs typeface="Cambria Math"/>
                            </a:rPr>
                            <m:t>sq</m:t>
                          </m:r>
                        </m:sub>
                      </m:sSub>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r>
                        <a:rPr lang="en-GB" sz="3500">
                          <a:solidFill>
                            <a:srgbClr val="087F83"/>
                          </a:solidFill>
                          <a:latin typeface="Cambria Math"/>
                          <a:ea typeface="Cambria Math"/>
                          <a:cs typeface="Cambria Math"/>
                        </a:rPr>
                        <m:t>=</m:t>
                      </m:r>
                      <m:sSup>
                        <m:sSupPr>
                          <m:ctrlPr>
                            <a:rPr lang="en-GB" sz="3500" i="1">
                              <a:solidFill>
                                <a:srgbClr val="087F83"/>
                              </a:solidFill>
                              <a:latin typeface="Cambria Math" panose="02040503050406030204" pitchFamily="18" charset="0"/>
                              <a:ea typeface="Cambria Math"/>
                              <a:cs typeface="Cambria Math"/>
                            </a:rPr>
                          </m:ctrlPr>
                        </m:sSupPr>
                        <m:e>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4,8,2,6,−2,−10</m:t>
                              </m:r>
                            </m:e>
                          </m:d>
                        </m:e>
                        <m:sup>
                          <m:r>
                            <a:rPr lang="en-GB" sz="3500">
                              <a:solidFill>
                                <a:srgbClr val="087F83"/>
                              </a:solidFill>
                              <a:latin typeface="Cambria Math"/>
                              <a:ea typeface="Cambria Math"/>
                              <a:cs typeface="Cambria Math"/>
                            </a:rPr>
                            <m:t>𝖳</m:t>
                          </m:r>
                        </m:sup>
                      </m:sSup>
                    </m:oMath>
                  </m:oMathPara>
                </a14:m>
                <a:endParaRPr lang="en-GB" sz="350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3143250"/>
                <a:ext cx="108585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44005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4400550"/>
                <a:ext cx="11144250" cy="933450"/>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mc:Choice xmlns:a14="http://schemas.microsoft.com/office/drawing/2010/main" Requires="a14">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boldsymbol{\theta},y}(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boldsymbol{\theta},y}(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FullJ10"/>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FullJ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𝛉</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𝐮</m:t>
                      </m:r>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b="-27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C99C2EF0-7ABA-4E3F-8BB2-07570A608F10}"/>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boldsymbol{\theta},y}(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boldsymbol{\theta},y}(a_r(x))\cdot w_r^{\mathsf{T}}\bigr)⊙\mathrm{step}(a_{r-1}(x))">
                <a:extLst>
                  <a:ext uri="{FF2B5EF4-FFF2-40B4-BE49-F238E27FC236}">
                    <a16:creationId xmlns:a16="http://schemas.microsoft.com/office/drawing/2014/main" id="{4ACF015F-4111-4DD4-99B9-748CB830328E}"/>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20451667-0CB5-4532-A117-92DBE7CDBBE6}"/>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boldsymbol{\theta},y}(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boldsymbol{\theta},y}(a_r(x))">
                <a:extLst>
                  <a:ext uri="{FF2B5EF4-FFF2-40B4-BE49-F238E27FC236}">
                    <a16:creationId xmlns:a16="http://schemas.microsoft.com/office/drawing/2014/main" id="{8E2C1A0D-AE75-48B9-B4E0-124576AAF7C6}"/>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1FC0548D-A8ED-49D4-9953-5997B9C821D3}"/>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boldsymbol{\theta},y}(\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boldsymbol{\theta},y}(\mathbf{a}_{r-1}(\mathbf{x}))">
                <a:extLst>
                  <a:ext uri="{FF2B5EF4-FFF2-40B4-BE49-F238E27FC236}">
                    <a16:creationId xmlns:a16="http://schemas.microsoft.com/office/drawing/2014/main" id="{50A1DB1D-CC7E-4BE8-9A33-435B09CC0A4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FullJ4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boldsymbol{\theta},y}(\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𝛉</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boldsymbol{\theta},y}(\mathbf{a}_r(\mathbf{x}))\cdot\mathbf{W}_r^{\mathsf{T}}\bigr)⊙\mathbf{step}(\mathbf{a}_{r-1}(\mathbf{x}))">
                <a:extLst>
                  <a:ext uri="{FF2B5EF4-FFF2-40B4-BE49-F238E27FC236}">
                    <a16:creationId xmlns:a16="http://schemas.microsoft.com/office/drawing/2014/main" id="{0679FFC8-7133-40F6-ACA1-81E72D39E0DA}"/>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FullJ49"/>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boldsymbol{\theta},y}(\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boldsymbol{\theta},y}(\mathbf{a}_r(\mathbf{x}))">
                <a:extLst>
                  <a:ext uri="{FF2B5EF4-FFF2-40B4-BE49-F238E27FC236}">
                    <a16:creationId xmlns:a16="http://schemas.microsoft.com/office/drawing/2014/main" id="{1EF156B3-968A-4366-B623-D07986FFDC92}"/>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FullJ52"/>
                <a:stretch>
                  <a:fillRect/>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boldsymbol{\theta},y}(\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boldsymbol{\theta},y}(\mathbf{a}_r(\mathbf{x}))">
                <a:extLst>
                  <a:ext uri="{FF2B5EF4-FFF2-40B4-BE49-F238E27FC236}">
                    <a16:creationId xmlns:a16="http://schemas.microsoft.com/office/drawing/2014/main" id="{892B63E6-2248-46B6-BF49-0BF59D15A9A0}"/>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57"/>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boldsymbol{\theta},y}(\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boldsymbol{\theta},y}(\mathbf{a}_r(\mathbf{x}))">
                <a:extLst>
                  <a:ext uri="{FF2B5EF4-FFF2-40B4-BE49-F238E27FC236}">
                    <a16:creationId xmlns:a16="http://schemas.microsoft.com/office/drawing/2014/main" id="{5E43F9B8-AA93-441C-AAA7-A67A33258473}"/>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FullJ59"/>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FullJ43"/>
                <a:stretch>
                  <a:fillRect/>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9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5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4"/>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boldsymbol{\theta},y}(\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nabla J_{2,\boldsymbol{\theta},y}(\mathbf a_2(\mathbf{x}))]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55"/>
                <a:stretch>
                  <a:fillRect/>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5"/>
                <a:stretch>
                  <a:fillRect t="-4478" b="-1641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39"/>
                <a:stretch>
                  <a:fillRect t="-8889" b="-53333"/>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7"/>
                <a:stretch>
                  <a:fillRect/>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9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boldsymbol{\theta},y}(\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nabla J_{2,\boldsymbol{\theta},y}(\mathbf a_2(\mathbf{x}))]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3"/>
                <a:stretch>
                  <a:fillRect/>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92"/>
                <a:stretch>
                  <a:fillRect t="-8889" b="-5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41"/>
                <a:stretch>
                  <a:fillRect/>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boldsymbol{\theta},y}(\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nabla J_{2,\boldsymbol{\theta},y}(\mathbf a_2(\mathbf{x}))]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7"/>
                <a:stretch>
                  <a:fillRect/>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146"/>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r>
                          <a:rPr lang="en-GB" sz="2175">
                            <a:solidFill>
                              <a:srgbClr val="526276"/>
                            </a:solidFill>
                            <a:latin typeface="Cambria Math"/>
                            <a:ea typeface="Cambria Math"/>
                            <a:cs typeface="Cambria Math"/>
                          </a:rPr>
                          <m:t>𝛉</m:t>
                        </m:r>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𝑦</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Phi0_32_lead"/>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39"/>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8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boldsymbol{\theta},y}(\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nabla J_{2,\boldsymbol{\theta},y}(\mathbf a_2(\mathbf{x}))]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1"/>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90"/>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9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39"/>
                <a:stretch>
                  <a:fillRect/>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boldsymbol{\theta},y}(\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nabla J_{2,\boldsymbol{\theta},y}(\mathbf a_2(\mathbf{x}))]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5"/>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144"/>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15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𝑦</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26984"/>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35</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loss determines where we start</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36</a:t>
            </a:r>
          </a:p>
        </p:txBody>
      </p:sp>
      <p:sp>
        <p:nvSpPr>
          <p:cNvPr id="4" name="text_1">
            <a:extLst>
              <a:ext uri="{FF2B5EF4-FFF2-40B4-BE49-F238E27FC236}">
                <a16:creationId xmlns:a16="http://schemas.microsoft.com/office/drawing/2014/main" id="{E7915699-A93A-4AF7-8698-A97B52D155A9}"/>
              </a:ext>
            </a:extLst>
          </p:cNvPr>
          <p:cNvSpPr>
            <a:spLocks noGrp="1"/>
          </p:cNvSpPr>
          <p:nvPr/>
        </p:nvSpPr>
        <p:spPr>
          <a:xfrm>
            <a:off x="1428750" y="1028700"/>
            <a:ext cx="7810500" cy="4095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one fixed observation, we use one output:</a:t>
            </a:r>
          </a:p>
        </p:txBody>
      </p:sp>
      <mc:AlternateContent xmlns:mc="http://schemas.openxmlformats.org/markup-compatibility/2006" xmlns:a14="http://schemas.microsoft.com/office/drawing/2010/main">
        <mc:Choice Requires="a14">
          <p:sp>
            <p:nvSpPr>
              <p:cNvPr id="5" name="equation_2" descr="d_L=1">
                <a:extLst>
                  <a:ext uri="{FF2B5EF4-FFF2-40B4-BE49-F238E27FC236}">
                    <a16:creationId xmlns:a16="http://schemas.microsoft.com/office/drawing/2014/main" id="{4CCD4FC5-43A5-4910-8591-4C853F9373E0}"/>
                  </a:ext>
                </a:extLst>
              </p:cNvPr>
              <p:cNvSpPr>
                <a:spLocks noGrp="1"/>
              </p:cNvSpPr>
              <p:nvPr/>
            </p:nvSpPr>
            <p:spPr>
              <a:xfrm>
                <a:off x="9191625" y="1028700"/>
                <a:ext cx="15716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526276"/>
                              </a:solidFill>
                              <a:latin typeface="Cambria Math"/>
                              <a:ea typeface="Cambria Math"/>
                              <a:cs typeface="Cambria Math"/>
                            </a:rPr>
                          </m:ctrlPr>
                        </m:sSubPr>
                        <m:e>
                          <m:r>
                            <a:rPr lang="en-GB" sz="2700">
                              <a:solidFill>
                                <a:srgbClr val="526276"/>
                              </a:solidFill>
                              <a:latin typeface="Cambria Math"/>
                              <a:ea typeface="Cambria Math"/>
                              <a:cs typeface="Cambria Math"/>
                            </a:rPr>
                            <m:t>𝑑</m:t>
                          </m:r>
                        </m:e>
                        <m:sub>
                          <m:r>
                            <a:rPr lang="en-GB" sz="2700">
                              <a:solidFill>
                                <a:srgbClr val="526276"/>
                              </a:solidFill>
                              <a:latin typeface="Cambria Math"/>
                              <a:ea typeface="Cambria Math"/>
                              <a:cs typeface="Cambria Math"/>
                            </a:rPr>
                            <m:t>𝐿</m:t>
                          </m:r>
                        </m:sub>
                      </m:sSub>
                      <m:r>
                        <a:rPr lang="en-GB" sz="2700">
                          <a:solidFill>
                            <a:srgbClr val="526276"/>
                          </a:solidFill>
                          <a:latin typeface="Cambria Math"/>
                          <a:ea typeface="Cambria Math"/>
                          <a:cs typeface="Cambria Math"/>
                        </a:rPr>
                        <m:t>=1</m:t>
                      </m:r>
                    </m:oMath>
                  </m:oMathPara>
                </a14:m>
                <a:endParaRPr lang="en-GB" sz="2700"/>
              </a:p>
            </p:txBody>
          </p:sp>
        </mc:Choice>
        <mc:Fallback xmlns="">
          <p:sp>
            <p:nvSpPr>
              <p:cNvPr id="5" name="equation_2" descr="d_L=1">
                <a:extLst>
                  <a:ext uri="{FF2B5EF4-FFF2-40B4-BE49-F238E27FC236}">
                    <a16:creationId xmlns:a16="http://schemas.microsoft.com/office/drawing/2014/main" id="{4CCD4FC5-43A5-4910-8591-4C853F9373E0}"/>
                  </a:ext>
                </a:extLst>
              </p:cNvPr>
              <p:cNvSpPr>
                <a:spLocks noGrp="1" noRot="1" noChangeAspect="1" noMove="1" noResize="1" noEditPoints="1" noAdjustHandles="1" noChangeArrowheads="1" noChangeShapeType="1" noTextEdit="1"/>
              </p:cNvSpPr>
              <p:nvPr/>
            </p:nvSpPr>
            <p:spPr>
              <a:xfrm>
                <a:off x="9191625" y="1028700"/>
                <a:ext cx="1571625" cy="4095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3">
            <a:extLst>
              <a:ext uri="{FF2B5EF4-FFF2-40B4-BE49-F238E27FC236}">
                <a16:creationId xmlns:a16="http://schemas.microsoft.com/office/drawing/2014/main" id="{16DA3EA3-5206-4402-B78C-6035A5549ED5}"/>
              </a:ext>
            </a:extLst>
          </p:cNvPr>
          <p:cNvSpPr>
            <a:spLocks noGrp="1"/>
          </p:cNvSpPr>
          <p:nvPr/>
        </p:nvSpPr>
        <p:spPr>
          <a:xfrm>
            <a:off x="762000" y="1457325"/>
            <a:ext cx="10668000" cy="371475"/>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A prediction in regression; a score in binary classification.</a:t>
            </a:r>
          </a:p>
        </p:txBody>
      </p:sp>
      <p:sp>
        <p:nvSpPr>
          <p:cNvPr id="7" name="text_4">
            <a:extLst>
              <a:ext uri="{FF2B5EF4-FFF2-40B4-BE49-F238E27FC236}">
                <a16:creationId xmlns:a16="http://schemas.microsoft.com/office/drawing/2014/main" id="{397EE192-0CD6-485F-8BED-48A6FA0251EB}"/>
              </a:ext>
            </a:extLst>
          </p:cNvPr>
          <p:cNvSpPr>
            <a:spLocks noGrp="1"/>
          </p:cNvSpPr>
          <p:nvPr/>
        </p:nvSpPr>
        <p:spPr>
          <a:xfrm>
            <a:off x="666750" y="2076450"/>
            <a:ext cx="5238750" cy="457200"/>
          </a:xfrm>
          <a:prstGeom prst="rect">
            <a:avLst/>
          </a:prstGeom>
          <a:noFill/>
          <a:ln w="0">
            <a:noFill/>
          </a:ln>
        </p:spPr>
        <p:txBody>
          <a:bodyPr anchor="ctr">
            <a:noAutofit/>
          </a:bodyPr>
          <a:lstStyle>
            <a:defPPr algn="ctr">
              <a:defRPr sz="2325" b="1">
                <a:solidFill>
                  <a:srgbClr val="182D45"/>
                </a:solidFill>
                <a:latin typeface="DejaVu Sans"/>
                <a:ea typeface="DejaVu Sans"/>
                <a:cs typeface="DejaVu Sans"/>
              </a:defRPr>
            </a:defP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Regression</a:t>
            </a:r>
          </a:p>
        </p:txBody>
      </p:sp>
      <p:sp>
        <p:nvSpPr>
          <p:cNvPr id="8" name="text_5">
            <a:extLst>
              <a:ext uri="{FF2B5EF4-FFF2-40B4-BE49-F238E27FC236}">
                <a16:creationId xmlns:a16="http://schemas.microsoft.com/office/drawing/2014/main" id="{A9D2D37F-91BE-4D8D-90D8-7A739FB0BDCF}"/>
              </a:ext>
            </a:extLst>
          </p:cNvPr>
          <p:cNvSpPr>
            <a:spLocks noGrp="1"/>
          </p:cNvSpPr>
          <p:nvPr/>
        </p:nvSpPr>
        <p:spPr>
          <a:xfrm>
            <a:off x="6286500" y="2076450"/>
            <a:ext cx="5238750" cy="457200"/>
          </a:xfrm>
          <a:prstGeom prst="rect">
            <a:avLst/>
          </a:prstGeom>
          <a:noFill/>
          <a:ln w="0">
            <a:noFill/>
          </a:ln>
        </p:spPr>
        <p:txBody>
          <a:bodyPr anchor="ctr">
            <a:noAutofit/>
          </a:bodyPr>
          <a:lstStyle>
            <a:defPPr algn="ctr">
              <a:defRPr sz="2325" b="1">
                <a:solidFill>
                  <a:srgbClr val="182D45"/>
                </a:solidFill>
                <a:latin typeface="DejaVu Sans"/>
                <a:ea typeface="DejaVu Sans"/>
                <a:cs typeface="DejaVu Sans"/>
              </a:defRPr>
            </a:defP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9" name="equation_6" descr="J_{L,\boldsymbol{\theta},y}(\mathbf{u})=(u_1-y)^2">
                <a:extLst>
                  <a:ext uri="{FF2B5EF4-FFF2-40B4-BE49-F238E27FC236}">
                    <a16:creationId xmlns:a16="http://schemas.microsoft.com/office/drawing/2014/main" id="{60BB1FB3-D1C3-4470-8A4F-BB68BE1F7830}"/>
                  </a:ext>
                </a:extLst>
              </p:cNvPr>
              <p:cNvSpPr>
                <a:spLocks noGrp="1"/>
              </p:cNvSpPr>
              <p:nvPr/>
            </p:nvSpPr>
            <p:spPr>
              <a:xfrm>
                <a:off x="571500" y="2686050"/>
                <a:ext cx="53340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𝐮</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e>
                        <m:sup>
                          <m:r>
                            <a:rPr lang="en-GB" sz="2900">
                              <a:solidFill>
                                <a:srgbClr val="087F83"/>
                              </a:solidFill>
                              <a:latin typeface="Cambria Math"/>
                              <a:ea typeface="Cambria Math"/>
                              <a:cs typeface="Cambria Math"/>
                            </a:rPr>
                            <m:t>2</m:t>
                          </m:r>
                        </m:sup>
                      </m:sSup>
                    </m:oMath>
                  </m:oMathPara>
                </a14:m>
                <a:endParaRPr lang="en-GB" sz="2900"/>
              </a:p>
            </p:txBody>
          </p:sp>
        </mc:Choice>
        <mc:Fallback xmlns="">
          <p:sp>
            <p:nvSpPr>
              <p:cNvPr id="9" name="equation_6" descr="J_{L,\boldsymbol{\theta},y}(\mathbf{u})=(u_1-y)^2">
                <a:extLst>
                  <a:ext uri="{FF2B5EF4-FFF2-40B4-BE49-F238E27FC236}">
                    <a16:creationId xmlns:a16="http://schemas.microsoft.com/office/drawing/2014/main" id="{60BB1FB3-D1C3-4470-8A4F-BB68BE1F7830}"/>
                  </a:ext>
                </a:extLst>
              </p:cNvPr>
              <p:cNvSpPr>
                <a:spLocks noGrp="1" noRot="1" noChangeAspect="1" noMove="1" noResize="1" noEditPoints="1" noAdjustHandles="1" noChangeArrowheads="1" noChangeShapeType="1" noTextEdit="1"/>
              </p:cNvSpPr>
              <p:nvPr/>
            </p:nvSpPr>
            <p:spPr>
              <a:xfrm>
                <a:off x="571500" y="2686050"/>
                <a:ext cx="5334000" cy="723900"/>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7" descr="J_{L,\boldsymbol{\theta},y}(\mathbf{u})=\ell_{\mathrm{log}}(\sigma(u_1),y)">
                <a:extLst>
                  <a:ext uri="{FF2B5EF4-FFF2-40B4-BE49-F238E27FC236}">
                    <a16:creationId xmlns:a16="http://schemas.microsoft.com/office/drawing/2014/main" id="{916767D7-DC33-457C-9F91-C3F8DA743054}"/>
                  </a:ext>
                </a:extLst>
              </p:cNvPr>
              <p:cNvSpPr>
                <a:spLocks noGrp="1"/>
              </p:cNvSpPr>
              <p:nvPr/>
            </p:nvSpPr>
            <p:spPr>
              <a:xfrm>
                <a:off x="6191250" y="2686050"/>
                <a:ext cx="5429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𝑢</m:t>
                                  </m:r>
                                </m:e>
                                <m:sub>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oMath>
                  </m:oMathPara>
                </a14:m>
                <a:endParaRPr lang="en-GB" sz="2800"/>
              </a:p>
            </p:txBody>
          </p:sp>
        </mc:Choice>
        <mc:Fallback xmlns="">
          <p:sp>
            <p:nvSpPr>
              <p:cNvPr id="10" name="equation_7" descr="J_{L,\boldsymbol{\theta},y}(\mathbf{u})=\ell_{\mathrm{log}}(\sigma(u_1),y)">
                <a:extLst>
                  <a:ext uri="{FF2B5EF4-FFF2-40B4-BE49-F238E27FC236}">
                    <a16:creationId xmlns:a16="http://schemas.microsoft.com/office/drawing/2014/main" id="{916767D7-DC33-457C-9F91-C3F8DA743054}"/>
                  </a:ext>
                </a:extLst>
              </p:cNvPr>
              <p:cNvSpPr>
                <a:spLocks noGrp="1" noRot="1" noChangeAspect="1" noMove="1" noResize="1" noEditPoints="1" noAdjustHandles="1" noChangeArrowheads="1" noChangeShapeType="1" noTextEdit="1"/>
              </p:cNvSpPr>
              <p:nvPr/>
            </p:nvSpPr>
            <p:spPr>
              <a:xfrm>
                <a:off x="6191250" y="2686050"/>
                <a:ext cx="5429250" cy="723900"/>
              </a:xfrm>
              <a:prstGeom prst="rect">
                <a:avLst/>
              </a:prstGeom>
              <a:blipFill>
                <a:blip r:embed="rIdFullJ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8" descr="\left[\nabla J_{L,\boldsymbol{\theta},y}(\mathbf{a}_L(\mathbf{x}))\right]_1">
                <a:extLst>
                  <a:ext uri="{FF2B5EF4-FFF2-40B4-BE49-F238E27FC236}">
                    <a16:creationId xmlns:a16="http://schemas.microsoft.com/office/drawing/2014/main" id="{05B59684-0384-4E5C-8C65-2E580BE9643A}"/>
                  </a:ext>
                </a:extLst>
              </p:cNvPr>
              <p:cNvSpPr>
                <a:spLocks noGrp="1"/>
              </p:cNvSpPr>
              <p:nvPr/>
            </p:nvSpPr>
            <p:spPr>
              <a:xfrm>
                <a:off x="523875" y="3619500"/>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i="1">
                              <a:solidFill>
                                <a:srgbClr val="C45C28"/>
                              </a:solidFill>
                              <a:latin typeface="Cambria Math" panose="02040503050406030204" pitchFamily="18" charset="0"/>
                              <a:ea typeface="Cambria Math"/>
                              <a:cs typeface="Cambria Math"/>
                            </a:rPr>
                          </m:ctrlPr>
                        </m:sSubPr>
                        <m:e>
                          <m:d>
                            <m:dPr>
                              <m:begChr m:val="["/>
                              <m:endChr m:val="]"/>
                              <m:ctrlPr>
                                <a:rPr lang="en-GB" sz="2900">
                                  <a:solidFill>
                                    <a:srgbClr val="C45C28"/>
                                  </a:solidFill>
                                  <a:latin typeface="Cambria Math"/>
                                  <a:ea typeface="Cambria Math"/>
                                  <a:cs typeface="Cambria Math"/>
                                </a:rPr>
                              </m:ctrlPr>
                            </m:dPr>
                            <m:e>
                              <m:r>
                                <m:rPr>
                                  <m:sty m:val="p"/>
                                </m:rP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𝐽</m:t>
                                  </m:r>
                                </m:e>
                                <m:sub>
                                  <m:r>
                                    <a:rPr lang="en-GB" sz="2900">
                                      <a:solidFill>
                                        <a:srgbClr val="C45C28"/>
                                      </a:solidFill>
                                      <a:latin typeface="Cambria Math"/>
                                      <a:ea typeface="Cambria Math"/>
                                      <a:cs typeface="Cambria Math"/>
                                    </a:rPr>
                                    <m:t>𝐿</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𝛉</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sub>
                              </m:sSub>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𝐚</m:t>
                                      </m:r>
                                    </m:e>
                                    <m:sub>
                                      <m:r>
                                        <a:rPr lang="en-GB" sz="2900">
                                          <a:solidFill>
                                            <a:srgbClr val="C45C28"/>
                                          </a:solidFill>
                                          <a:latin typeface="Cambria Math"/>
                                          <a:ea typeface="Cambria Math"/>
                                          <a:cs typeface="Cambria Math"/>
                                        </a:rPr>
                                        <m:t>𝐿</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e>
                              </m:d>
                            </m:e>
                          </m:d>
                        </m:e>
                        <m:sub>
                          <m:r>
                            <a:rPr lang="en-GB" sz="2900">
                              <a:solidFill>
                                <a:srgbClr val="C45C28"/>
                              </a:solidFill>
                              <a:latin typeface="Cambria Math"/>
                              <a:ea typeface="Cambria Math"/>
                              <a:cs typeface="Cambria Math"/>
                            </a:rPr>
                            <m:t>1</m:t>
                          </m:r>
                        </m:sub>
                      </m:sSub>
                    </m:oMath>
                  </m:oMathPara>
                </a14:m>
                <a:endParaRPr lang="en-GB" sz="2900"/>
              </a:p>
            </p:txBody>
          </p:sp>
        </mc:Choice>
        <mc:Fallback xmlns="">
          <p:sp>
            <p:nvSpPr>
              <p:cNvPr id="11" name="equation_8" descr="[\nabla J_{L,\boldsymbol{\theta},y}(\mathbf{a}_L(\mathbf{x}))]_1">
                <a:extLst>
                  <a:ext uri="{FF2B5EF4-FFF2-40B4-BE49-F238E27FC236}">
                    <a16:creationId xmlns:a16="http://schemas.microsoft.com/office/drawing/2014/main" id="{05B59684-0384-4E5C-8C65-2E580BE9643A}"/>
                  </a:ext>
                </a:extLst>
              </p:cNvPr>
              <p:cNvSpPr>
                <a:spLocks noGrp="1" noRot="1" noChangeAspect="1" noMove="1" noResize="1" noEditPoints="1" noAdjustHandles="1" noChangeArrowheads="1" noChangeShapeType="1" noTextEdit="1"/>
              </p:cNvSpPr>
              <p:nvPr/>
            </p:nvSpPr>
            <p:spPr>
              <a:xfrm>
                <a:off x="523875" y="3619500"/>
                <a:ext cx="5429250" cy="619125"/>
              </a:xfrm>
              <a:prstGeom prst="rect">
                <a:avLst/>
              </a:prstGeom>
              <a:blipFill>
                <a:blip r:embed="rIdFullJ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9" descr="=2\bigl(f_{\boldsymbol{\theta}}(\mathbf{x})-y\bigr)">
                <a:extLst>
                  <a:ext uri="{FF2B5EF4-FFF2-40B4-BE49-F238E27FC236}">
                    <a16:creationId xmlns:a16="http://schemas.microsoft.com/office/drawing/2014/main" id="{855034C8-C3A7-4C3D-BADA-895BB83D2D0D}"/>
                  </a:ext>
                </a:extLst>
              </p:cNvPr>
              <p:cNvSpPr>
                <a:spLocks noGrp="1"/>
              </p:cNvSpPr>
              <p:nvPr/>
            </p:nvSpPr>
            <p:spPr>
              <a:xfrm>
                <a:off x="523875" y="4238625"/>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𝑓</m:t>
                              </m:r>
                            </m:e>
                            <m:sub>
                              <m:r>
                                <a:rPr lang="en-GB" sz="2900">
                                  <a:solidFill>
                                    <a:srgbClr val="C45C28"/>
                                  </a:solidFill>
                                  <a:latin typeface="Cambria Math"/>
                                  <a:ea typeface="Cambria Math"/>
                                  <a:cs typeface="Cambria Math"/>
                                </a:rPr>
                                <m:t>𝛉</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e>
                      </m:d>
                    </m:oMath>
                  </m:oMathPara>
                </a14:m>
                <a:endParaRPr lang="en-GB" sz="2900"/>
              </a:p>
            </p:txBody>
          </p:sp>
        </mc:Choice>
        <mc:Fallback xmlns="">
          <p:sp>
            <p:nvSpPr>
              <p:cNvPr id="12" name="equation_9" descr="=2\bigl(f_{\boldsymbol{\theta}}(\mathbf{x})-y\bigr)">
                <a:extLst>
                  <a:ext uri="{FF2B5EF4-FFF2-40B4-BE49-F238E27FC236}">
                    <a16:creationId xmlns:a16="http://schemas.microsoft.com/office/drawing/2014/main" id="{855034C8-C3A7-4C3D-BADA-895BB83D2D0D}"/>
                  </a:ext>
                </a:extLst>
              </p:cNvPr>
              <p:cNvSpPr>
                <a:spLocks noGrp="1" noRot="1" noChangeAspect="1" noMove="1" noResize="1" noEditPoints="1" noAdjustHandles="1" noChangeArrowheads="1" noChangeShapeType="1" noTextEdit="1"/>
              </p:cNvSpPr>
              <p:nvPr/>
            </p:nvSpPr>
            <p:spPr>
              <a:xfrm>
                <a:off x="523875" y="4238625"/>
                <a:ext cx="5429250"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10" descr="\left[\nabla J_{L,\boldsymbol{\theta},y}(\mathbf{a}_L(\mathbf{x}))\right]_1">
                <a:extLst>
                  <a:ext uri="{FF2B5EF4-FFF2-40B4-BE49-F238E27FC236}">
                    <a16:creationId xmlns:a16="http://schemas.microsoft.com/office/drawing/2014/main" id="{EF23B8EA-1EEA-402F-8570-B13379FDD44E}"/>
                  </a:ext>
                </a:extLst>
              </p:cNvPr>
              <p:cNvSpPr>
                <a:spLocks noGrp="1"/>
              </p:cNvSpPr>
              <p:nvPr/>
            </p:nvSpPr>
            <p:spPr>
              <a:xfrm>
                <a:off x="6191250" y="3619500"/>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i="1">
                              <a:solidFill>
                                <a:srgbClr val="C45C28"/>
                              </a:solidFill>
                              <a:latin typeface="Cambria Math" panose="02040503050406030204" pitchFamily="18" charset="0"/>
                              <a:ea typeface="Cambria Math"/>
                              <a:cs typeface="Cambria Math"/>
                            </a:rPr>
                          </m:ctrlPr>
                        </m:sSubPr>
                        <m:e>
                          <m:d>
                            <m:dPr>
                              <m:begChr m:val="["/>
                              <m:endChr m:val="]"/>
                              <m:ctrlPr>
                                <a:rPr lang="en-GB" sz="2900">
                                  <a:solidFill>
                                    <a:srgbClr val="C45C28"/>
                                  </a:solidFill>
                                  <a:latin typeface="Cambria Math"/>
                                  <a:ea typeface="Cambria Math"/>
                                  <a:cs typeface="Cambria Math"/>
                                </a:rPr>
                              </m:ctrlPr>
                            </m:dPr>
                            <m:e>
                              <m:r>
                                <m:rPr>
                                  <m:sty m:val="p"/>
                                </m:rP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𝐽</m:t>
                                  </m:r>
                                </m:e>
                                <m:sub>
                                  <m:r>
                                    <a:rPr lang="en-GB" sz="2900">
                                      <a:solidFill>
                                        <a:srgbClr val="C45C28"/>
                                      </a:solidFill>
                                      <a:latin typeface="Cambria Math"/>
                                      <a:ea typeface="Cambria Math"/>
                                      <a:cs typeface="Cambria Math"/>
                                    </a:rPr>
                                    <m:t>𝐿</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𝛉</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sub>
                              </m:sSub>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𝐚</m:t>
                                      </m:r>
                                    </m:e>
                                    <m:sub>
                                      <m:r>
                                        <a:rPr lang="en-GB" sz="2900">
                                          <a:solidFill>
                                            <a:srgbClr val="C45C28"/>
                                          </a:solidFill>
                                          <a:latin typeface="Cambria Math"/>
                                          <a:ea typeface="Cambria Math"/>
                                          <a:cs typeface="Cambria Math"/>
                                        </a:rPr>
                                        <m:t>𝐿</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e>
                              </m:d>
                            </m:e>
                          </m:d>
                        </m:e>
                        <m:sub>
                          <m:r>
                            <a:rPr lang="en-GB" sz="2900">
                              <a:solidFill>
                                <a:srgbClr val="C45C28"/>
                              </a:solidFill>
                              <a:latin typeface="Cambria Math"/>
                              <a:ea typeface="Cambria Math"/>
                              <a:cs typeface="Cambria Math"/>
                            </a:rPr>
                            <m:t>1</m:t>
                          </m:r>
                        </m:sub>
                      </m:sSub>
                    </m:oMath>
                  </m:oMathPara>
                </a14:m>
                <a:endParaRPr lang="en-GB" sz="2900"/>
              </a:p>
            </p:txBody>
          </p:sp>
        </mc:Choice>
        <mc:Fallback xmlns="">
          <p:sp>
            <p:nvSpPr>
              <p:cNvPr id="13" name="equation_10" descr="[\nabla J_{L,\boldsymbol{\theta},y}(\mathbf{a}_L(\mathbf{x}))]_1">
                <a:extLst>
                  <a:ext uri="{FF2B5EF4-FFF2-40B4-BE49-F238E27FC236}">
                    <a16:creationId xmlns:a16="http://schemas.microsoft.com/office/drawing/2014/main" id="{EF23B8EA-1EEA-402F-8570-B13379FDD44E}"/>
                  </a:ext>
                </a:extLst>
              </p:cNvPr>
              <p:cNvSpPr>
                <a:spLocks noGrp="1" noRot="1" noChangeAspect="1" noMove="1" noResize="1" noEditPoints="1" noAdjustHandles="1" noChangeArrowheads="1" noChangeShapeType="1" noTextEdit="1"/>
              </p:cNvSpPr>
              <p:nvPr/>
            </p:nvSpPr>
            <p:spPr>
              <a:xfrm>
                <a:off x="6191250" y="3619500"/>
                <a:ext cx="5429250" cy="619125"/>
              </a:xfrm>
              <a:prstGeom prst="rect">
                <a:avLst/>
              </a:prstGeom>
              <a:blipFill>
                <a:blip r:embed="rIdFullJ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1" descr="=p_{\boldsymbol{\theta}}(\mathbf{x})-y">
                <a:extLst>
                  <a:ext uri="{FF2B5EF4-FFF2-40B4-BE49-F238E27FC236}">
                    <a16:creationId xmlns:a16="http://schemas.microsoft.com/office/drawing/2014/main" id="{0B51F71C-711E-410E-857D-746C56C88173}"/>
                  </a:ext>
                </a:extLst>
              </p:cNvPr>
              <p:cNvSpPr>
                <a:spLocks noGrp="1"/>
              </p:cNvSpPr>
              <p:nvPr/>
            </p:nvSpPr>
            <p:spPr>
              <a:xfrm>
                <a:off x="6191250" y="4238625"/>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𝑝</m:t>
                          </m:r>
                        </m:e>
                        <m:sub>
                          <m:r>
                            <a:rPr lang="en-GB" sz="2900">
                              <a:solidFill>
                                <a:srgbClr val="C45C28"/>
                              </a:solidFill>
                              <a:latin typeface="Cambria Math"/>
                              <a:ea typeface="Cambria Math"/>
                              <a:cs typeface="Cambria Math"/>
                            </a:rPr>
                            <m:t>𝛉</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oMath>
                  </m:oMathPara>
                </a14:m>
                <a:endParaRPr lang="en-GB" sz="2900"/>
              </a:p>
            </p:txBody>
          </p:sp>
        </mc:Choice>
        <mc:Fallback xmlns="">
          <p:sp>
            <p:nvSpPr>
              <p:cNvPr id="14" name="equation_11" descr="=p_{\boldsymbol{\theta}}(\mathbf{x})-y">
                <a:extLst>
                  <a:ext uri="{FF2B5EF4-FFF2-40B4-BE49-F238E27FC236}">
                    <a16:creationId xmlns:a16="http://schemas.microsoft.com/office/drawing/2014/main" id="{0B51F71C-711E-410E-857D-746C56C88173}"/>
                  </a:ext>
                </a:extLst>
              </p:cNvPr>
              <p:cNvSpPr>
                <a:spLocks noGrp="1" noRot="1" noChangeAspect="1" noMove="1" noResize="1" noEditPoints="1" noAdjustHandles="1" noChangeArrowheads="1" noChangeShapeType="1" noTextEdit="1"/>
              </p:cNvSpPr>
              <p:nvPr/>
            </p:nvSpPr>
            <p:spPr>
              <a:xfrm>
                <a:off x="6191250" y="4238625"/>
                <a:ext cx="5429250" cy="619125"/>
              </a:xfrm>
              <a:prstGeom prst="rect">
                <a:avLst/>
              </a:prstGeom>
              <a:blipFill>
                <a:blip r:embed="rId9"/>
                <a:stretch>
                  <a:fillRect/>
                </a:stretch>
              </a:blipFill>
              <a:ln w="0">
                <a:noFill/>
              </a:ln>
            </p:spPr>
            <p:txBody>
              <a:bodyPr/>
              <a:lstStyle/>
              <a:p>
                <a:r>
                  <a:rPr lang="it-IT">
                    <a:noFill/>
                  </a:rPr>
                  <a:t> </a:t>
                </a:r>
              </a:p>
            </p:txBody>
          </p:sp>
        </mc:Fallback>
      </mc:AlternateContent>
      <p:sp>
        <p:nvSpPr>
          <p:cNvPr id="15" name="text_12">
            <a:extLst>
              <a:ext uri="{FF2B5EF4-FFF2-40B4-BE49-F238E27FC236}">
                <a16:creationId xmlns:a16="http://schemas.microsoft.com/office/drawing/2014/main" id="{834FDB5E-5A1F-40C9-AE38-66FB235F95F2}"/>
              </a:ext>
            </a:extLst>
          </p:cNvPr>
          <p:cNvSpPr>
            <a:spLocks noGrp="1"/>
          </p:cNvSpPr>
          <p:nvPr/>
        </p:nvSpPr>
        <p:spPr>
          <a:xfrm>
            <a:off x="857250" y="5619750"/>
            <a:ext cx="10477500" cy="381000"/>
          </a:xfrm>
          <a:prstGeom prst="rect">
            <a:avLst/>
          </a:prstGeom>
          <a:noFill/>
          <a:ln w="0">
            <a:noFill/>
          </a:ln>
        </p:spPr>
        <p:txBody>
          <a:bodyPr anchor="ctr">
            <a:noAutofit/>
          </a:bodyPr>
          <a:lstStyle>
            <a:defPPr algn="ctr">
              <a:defRPr sz="1875" b="0">
                <a:solidFill>
                  <a:srgbClr val="526276"/>
                </a:solidFill>
                <a:latin typeface="DejaVu Sans"/>
                <a:ea typeface="DejaVu Sans"/>
                <a:cs typeface="DejaVu Sans"/>
              </a:defRPr>
            </a:defPPr>
          </a:lstStyle>
          <a:p>
            <a:pPr algn="ctr">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binary formula already includes the sigmoid derivative.</a:t>
            </a:r>
          </a:p>
        </p:txBody>
      </p:sp>
      <p:sp>
        <p:nvSpPr>
          <p:cNvPr id="16" name="text_13">
            <a:extLst>
              <a:ext uri="{FF2B5EF4-FFF2-40B4-BE49-F238E27FC236}">
                <a16:creationId xmlns:a16="http://schemas.microsoft.com/office/drawing/2014/main" id="{1235560D-EFDA-440E-95AF-5E055C216C18}"/>
              </a:ext>
            </a:extLst>
          </p:cNvPr>
          <p:cNvSpPr>
            <a:spLocks noGrp="1"/>
          </p:cNvSpPr>
          <p:nvPr/>
        </p:nvSpPr>
        <p:spPr>
          <a:xfrm>
            <a:off x="571500" y="6134100"/>
            <a:ext cx="11049000" cy="2857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After this initial derivative, use the same backward calculation.</a:t>
            </a:r>
          </a:p>
        </p:txBody>
      </p:sp>
      <mc:AlternateContent xmlns:mc="http://schemas.openxmlformats.org/markup-compatibility/2006" xmlns:a14="http://schemas.microsoft.com/office/drawing/2010/main">
        <mc:Choice Requires="a14">
          <p:sp>
            <p:nvSpPr>
              <p:cNvPr id="17" name="equation_14" descr="p_{\boldsymbol{\theta}}(\mathbf{x})=\sigma(f_{\boldsymbol{\theta}}(\mathbf{x}))">
                <a:extLst>
                  <a:ext uri="{FF2B5EF4-FFF2-40B4-BE49-F238E27FC236}">
                    <a16:creationId xmlns:a16="http://schemas.microsoft.com/office/drawing/2014/main" id="{C26ADB72-B5C2-424E-A562-540BFE3AF4F9}"/>
                  </a:ext>
                </a:extLst>
              </p:cNvPr>
              <p:cNvSpPr>
                <a:spLocks noGrp="1"/>
              </p:cNvSpPr>
              <p:nvPr/>
            </p:nvSpPr>
            <p:spPr>
              <a:xfrm>
                <a:off x="857250" y="5067300"/>
                <a:ext cx="104775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526276"/>
                              </a:solidFill>
                              <a:latin typeface="Cambria Math"/>
                              <a:ea typeface="Cambria Math"/>
                              <a:cs typeface="Cambria Math"/>
                            </a:rPr>
                          </m:ctrlPr>
                        </m:sSubPr>
                        <m:e>
                          <m:r>
                            <a:rPr lang="en-GB" sz="2500">
                              <a:solidFill>
                                <a:srgbClr val="526276"/>
                              </a:solidFill>
                              <a:latin typeface="Cambria Math"/>
                              <a:ea typeface="Cambria Math"/>
                              <a:cs typeface="Cambria Math"/>
                            </a:rPr>
                            <m:t>𝑝</m:t>
                          </m:r>
                        </m:e>
                        <m:sub>
                          <m:r>
                            <a:rPr lang="en-GB" sz="2500">
                              <a:solidFill>
                                <a:srgbClr val="526276"/>
                              </a:solidFill>
                              <a:latin typeface="Cambria Math"/>
                              <a:ea typeface="Cambria Math"/>
                              <a:cs typeface="Cambria Math"/>
                            </a:rPr>
                            <m:t>𝛉</m:t>
                          </m:r>
                        </m:sub>
                      </m:sSub>
                      <m:d>
                        <m:dPr>
                          <m:ctrlPr>
                            <a:rPr lang="en-GB" sz="2500">
                              <a:solidFill>
                                <a:srgbClr val="526276"/>
                              </a:solidFill>
                              <a:latin typeface="Cambria Math"/>
                              <a:ea typeface="Cambria Math"/>
                              <a:cs typeface="Cambria Math"/>
                            </a:rPr>
                          </m:ctrlPr>
                        </m:dPr>
                        <m:e>
                          <m:r>
                            <a:rPr lang="en-GB" sz="2500">
                              <a:solidFill>
                                <a:srgbClr val="526276"/>
                              </a:solidFill>
                              <a:latin typeface="Cambria Math"/>
                              <a:ea typeface="Cambria Math"/>
                              <a:cs typeface="Cambria Math"/>
                            </a:rPr>
                            <m:t>𝐱</m:t>
                          </m:r>
                        </m:e>
                      </m:d>
                      <m:r>
                        <a:rPr lang="en-GB" sz="2500">
                          <a:solidFill>
                            <a:srgbClr val="526276"/>
                          </a:solidFill>
                          <a:latin typeface="Cambria Math"/>
                          <a:ea typeface="Cambria Math"/>
                          <a:cs typeface="Cambria Math"/>
                        </a:rPr>
                        <m:t>=</m:t>
                      </m:r>
                      <m:r>
                        <a:rPr lang="en-GB" sz="2500">
                          <a:solidFill>
                            <a:srgbClr val="526276"/>
                          </a:solidFill>
                          <a:latin typeface="Cambria Math"/>
                          <a:ea typeface="Cambria Math"/>
                          <a:cs typeface="Cambria Math"/>
                        </a:rPr>
                        <m:t>𝜎</m:t>
                      </m:r>
                      <m:d>
                        <m:dPr>
                          <m:ctrlPr>
                            <a:rPr lang="en-GB" sz="2500" i="1">
                              <a:solidFill>
                                <a:srgbClr val="526276"/>
                              </a:solidFill>
                              <a:latin typeface="Cambria Math" panose="02040503050406030204" pitchFamily="18" charset="0"/>
                              <a:ea typeface="Cambria Math"/>
                              <a:cs typeface="Cambria Math"/>
                            </a:rPr>
                          </m:ctrlPr>
                        </m:dPr>
                        <m:e>
                          <m:sSub>
                            <m:sSubPr>
                              <m:ctrlPr>
                                <a:rPr lang="en-GB" sz="2500">
                                  <a:solidFill>
                                    <a:srgbClr val="526276"/>
                                  </a:solidFill>
                                  <a:latin typeface="Cambria Math"/>
                                  <a:ea typeface="Cambria Math"/>
                                  <a:cs typeface="Cambria Math"/>
                                </a:rPr>
                              </m:ctrlPr>
                            </m:sSubPr>
                            <m:e>
                              <m:r>
                                <a:rPr lang="en-GB" sz="2500">
                                  <a:solidFill>
                                    <a:srgbClr val="526276"/>
                                  </a:solidFill>
                                  <a:latin typeface="Cambria Math"/>
                                  <a:ea typeface="Cambria Math"/>
                                  <a:cs typeface="Cambria Math"/>
                                </a:rPr>
                                <m:t>𝑓</m:t>
                              </m:r>
                            </m:e>
                            <m:sub>
                              <m:r>
                                <a:rPr lang="en-GB" sz="2500">
                                  <a:solidFill>
                                    <a:srgbClr val="526276"/>
                                  </a:solidFill>
                                  <a:latin typeface="Cambria Math"/>
                                  <a:ea typeface="Cambria Math"/>
                                  <a:cs typeface="Cambria Math"/>
                                </a:rPr>
                                <m:t>𝛉</m:t>
                              </m:r>
                            </m:sub>
                          </m:sSub>
                          <m:d>
                            <m:dPr>
                              <m:ctrlPr>
                                <a:rPr lang="en-GB" sz="2500">
                                  <a:solidFill>
                                    <a:srgbClr val="526276"/>
                                  </a:solidFill>
                                  <a:latin typeface="Cambria Math"/>
                                  <a:ea typeface="Cambria Math"/>
                                  <a:cs typeface="Cambria Math"/>
                                </a:rPr>
                              </m:ctrlPr>
                            </m:dPr>
                            <m:e>
                              <m:r>
                                <a:rPr lang="en-GB" sz="2500">
                                  <a:solidFill>
                                    <a:srgbClr val="526276"/>
                                  </a:solidFill>
                                  <a:latin typeface="Cambria Math"/>
                                  <a:ea typeface="Cambria Math"/>
                                  <a:cs typeface="Cambria Math"/>
                                </a:rPr>
                                <m:t>𝐱</m:t>
                              </m:r>
                            </m:e>
                          </m:d>
                        </m:e>
                      </m:d>
                    </m:oMath>
                  </m:oMathPara>
                </a14:m>
                <a:endParaRPr lang="en-GB" sz="2500"/>
              </a:p>
            </p:txBody>
          </p:sp>
        </mc:Choice>
        <mc:Fallback xmlns="">
          <p:sp>
            <p:nvSpPr>
              <p:cNvPr id="17" name="equation_14" descr="p_{\boldsymbol{\theta}}(\mathbf{x})=\sigma(f_{\boldsymbol{\theta}}(\mathbf{x}))">
                <a:extLst>
                  <a:ext uri="{FF2B5EF4-FFF2-40B4-BE49-F238E27FC236}">
                    <a16:creationId xmlns:a16="http://schemas.microsoft.com/office/drawing/2014/main" id="{C26ADB72-B5C2-424E-A562-540BFE3AF4F9}"/>
                  </a:ext>
                </a:extLst>
              </p:cNvPr>
              <p:cNvSpPr>
                <a:spLocks noGrp="1" noRot="1" noChangeAspect="1" noMove="1" noResize="1" noEditPoints="1" noAdjustHandles="1" noChangeArrowheads="1" noChangeShapeType="1" noTextEdit="1"/>
              </p:cNvSpPr>
              <p:nvPr/>
            </p:nvSpPr>
            <p:spPr>
              <a:xfrm>
                <a:off x="857250" y="5067300"/>
                <a:ext cx="10477500" cy="523875"/>
              </a:xfrm>
              <a:prstGeom prst="rect">
                <a:avLst/>
              </a:prstGeom>
              <a:blipFill>
                <a:blip r:embed="rId10"/>
                <a:stretch>
                  <a:fillRect b="-1046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37</a:t>
            </a:r>
          </a:p>
        </p:txBody>
      </p:sp>
      <mc:AlternateContent xmlns:mc="http://schemas.openxmlformats.org/markup-compatibility/2006">
        <mc:Choice xmlns:a14="http://schemas.microsoft.com/office/drawing/2010/main" Requires="a14">
          <p:sp>
            <p:nvSpPr>
              <p:cNvPr id="5" name="equation_1" descr="J_{L,\boldsymbol{\theta},y}(\mathbf{u})=\ell_{\mathrm{multi}}(\mathrm{softmax}(\mathbf{u}),y)">
                <a:extLst>
                  <a:ext uri="{FF2B5EF4-FFF2-40B4-BE49-F238E27FC236}">
                    <a16:creationId xmlns:a16="http://schemas.microsoft.com/office/drawing/2014/main" id="{E529810F-A26D-419C-86A2-50531AB75F15}"/>
                  </a:ext>
                </a:extLst>
              </p:cNvPr>
              <p:cNvSpPr>
                <a:spLocks noGrp="1"/>
              </p:cNvSpPr>
              <p:nvPr/>
            </p:nvSpPr>
            <p:spPr>
              <a:xfrm>
                <a:off x="571500" y="1043655"/>
                <a:ext cx="11049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𝐮</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multi</m:t>
                          </m:r>
                        </m:sub>
                      </m:sSub>
                      <m:d>
                        <m:dPr>
                          <m:ctrlPr>
                            <a:rPr lang="en-GB" sz="3100">
                              <a:solidFill>
                                <a:srgbClr val="087F83"/>
                              </a:solidFill>
                              <a:latin typeface="Cambria Math"/>
                              <a:ea typeface="Cambria Math"/>
                              <a:cs typeface="Cambria Math"/>
                            </a:rPr>
                          </m:ctrlPr>
                        </m:dPr>
                        <m:e>
                          <m:r>
                            <m:rPr>
                              <m:sty m:val="p"/>
                            </m:rPr>
                            <a:rPr lang="en-GB" sz="3100">
                              <a:solidFill>
                                <a:srgbClr val="087F83"/>
                              </a:solidFill>
                              <a:latin typeface="Cambria Math"/>
                              <a:ea typeface="Cambria Math"/>
                              <a:cs typeface="Cambria Math"/>
                            </a:rPr>
                            <m:t>softmax</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𝐮</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e>
                      </m:d>
                    </m:oMath>
                  </m:oMathPara>
                </a14:m>
                <a:endParaRPr lang="en-GB" sz="3100" dirty="0"/>
              </a:p>
            </p:txBody>
          </p:sp>
        </mc:Choice>
        <mc:Fallback>
          <p:sp>
            <p:nvSpPr>
              <p:cNvPr id="5" name="equation_1" descr="J_{L,\boldsymbol{\theta},y}(\mathbf{u})=\ell_{\mathrm{multi}}(\mathrm{softmax}(\mathbf{u}),y)">
                <a:extLst>
                  <a:ext uri="{FF2B5EF4-FFF2-40B4-BE49-F238E27FC236}">
                    <a16:creationId xmlns:a16="http://schemas.microsoft.com/office/drawing/2014/main" id="{E529810F-A26D-419C-86A2-50531AB75F15}"/>
                  </a:ext>
                </a:extLst>
              </p:cNvPr>
              <p:cNvSpPr>
                <a:spLocks noGrp="1" noRot="1" noChangeAspect="1" noMove="1" noResize="1" noEditPoints="1" noAdjustHandles="1" noChangeArrowheads="1" noChangeShapeType="1" noTextEdit="1"/>
              </p:cNvSpPr>
              <p:nvPr/>
            </p:nvSpPr>
            <p:spPr>
              <a:xfrm>
                <a:off x="571500" y="1043655"/>
                <a:ext cx="110490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equation_2" descr="\left[\nabla J_{L,\boldsymbol{\theta},y}(\mathbf{a}_L(\mathbf{x}))\right]_k=p_{\boldsymbol{\theta},k}(\mathbf{x})-\delta_{ky},\qquad k=1,\ldots,K">
                <a:extLst>
                  <a:ext uri="{FF2B5EF4-FFF2-40B4-BE49-F238E27FC236}">
                    <a16:creationId xmlns:a16="http://schemas.microsoft.com/office/drawing/2014/main" id="{1AE61AC7-30C8-47F6-87CB-194A24D4AF72}"/>
                  </a:ext>
                </a:extLst>
              </p:cNvPr>
              <p:cNvSpPr>
                <a:spLocks noGrp="1"/>
              </p:cNvSpPr>
              <p:nvPr/>
            </p:nvSpPr>
            <p:spPr>
              <a:xfrm>
                <a:off x="476250" y="1992090"/>
                <a:ext cx="1123950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i="1">
                              <a:solidFill>
                                <a:srgbClr val="C45C28"/>
                              </a:solidFill>
                              <a:latin typeface="Cambria Math" panose="02040503050406030204" pitchFamily="18" charset="0"/>
                              <a:ea typeface="Cambria Math"/>
                              <a:cs typeface="Cambria Math"/>
                            </a:rPr>
                          </m:ctrlPr>
                        </m:sSubPr>
                        <m:e>
                          <m:d>
                            <m:dPr>
                              <m:begChr m:val="["/>
                              <m:endChr m:val="]"/>
                              <m:ctrlPr>
                                <a:rPr lang="en-GB" sz="3200">
                                  <a:solidFill>
                                    <a:srgbClr val="C45C28"/>
                                  </a:solidFill>
                                  <a:latin typeface="Cambria Math"/>
                                  <a:ea typeface="Cambria Math"/>
                                  <a:cs typeface="Cambria Math"/>
                                </a:rPr>
                              </m:ctrlPr>
                            </m:dPr>
                            <m:e>
                              <m:r>
                                <m:rPr>
                                  <m:sty m:val="p"/>
                                </m:rP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𝐽</m:t>
                                  </m:r>
                                </m:e>
                                <m:sub>
                                  <m:r>
                                    <a:rPr lang="en-GB" sz="3200">
                                      <a:solidFill>
                                        <a:srgbClr val="C45C28"/>
                                      </a:solidFill>
                                      <a:latin typeface="Cambria Math"/>
                                      <a:ea typeface="Cambria Math"/>
                                      <a:cs typeface="Cambria Math"/>
                                    </a:rPr>
                                    <m:t>𝐿</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𝛉</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𝑦</m:t>
                                  </m:r>
                                </m:sub>
                              </m:sSub>
                              <m:d>
                                <m:dPr>
                                  <m:ctrlPr>
                                    <a:rPr lang="en-GB" sz="3200" i="1">
                                      <a:solidFill>
                                        <a:srgbClr val="C45C28"/>
                                      </a:solidFill>
                                      <a:latin typeface="Cambria Math" panose="02040503050406030204" pitchFamily="18" charset="0"/>
                                      <a:ea typeface="Cambria Math"/>
                                      <a:cs typeface="Cambria Math"/>
                                    </a:rPr>
                                  </m:ctrlPr>
                                </m:dPr>
                                <m:e>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𝐚</m:t>
                                      </m:r>
                                    </m:e>
                                    <m:sub>
                                      <m:r>
                                        <a:rPr lang="en-GB" sz="3200">
                                          <a:solidFill>
                                            <a:srgbClr val="C45C28"/>
                                          </a:solidFill>
                                          <a:latin typeface="Cambria Math"/>
                                          <a:ea typeface="Cambria Math"/>
                                          <a:cs typeface="Cambria Math"/>
                                        </a:rPr>
                                        <m:t>𝐿</m:t>
                                      </m:r>
                                    </m:sub>
                                  </m:sSub>
                                  <m:d>
                                    <m:dPr>
                                      <m:ctrlPr>
                                        <a:rPr lang="en-GB" sz="3200">
                                          <a:solidFill>
                                            <a:srgbClr val="C45C28"/>
                                          </a:solidFill>
                                          <a:latin typeface="Cambria Math"/>
                                          <a:ea typeface="Cambria Math"/>
                                          <a:cs typeface="Cambria Math"/>
                                        </a:rPr>
                                      </m:ctrlPr>
                                    </m:dPr>
                                    <m:e>
                                      <m:r>
                                        <a:rPr lang="en-GB" sz="3200">
                                          <a:solidFill>
                                            <a:srgbClr val="C45C28"/>
                                          </a:solidFill>
                                          <a:latin typeface="Cambria Math"/>
                                          <a:ea typeface="Cambria Math"/>
                                          <a:cs typeface="Cambria Math"/>
                                        </a:rPr>
                                        <m:t>𝐱</m:t>
                                      </m:r>
                                    </m:e>
                                  </m:d>
                                </m:e>
                              </m:d>
                            </m:e>
                          </m:d>
                        </m:e>
                        <m:sub>
                          <m:r>
                            <a:rPr lang="en-GB" sz="3200">
                              <a:solidFill>
                                <a:srgbClr val="C45C28"/>
                              </a:solidFill>
                              <a:latin typeface="Cambria Math"/>
                              <a:ea typeface="Cambria Math"/>
                              <a:cs typeface="Cambria Math"/>
                            </a:rPr>
                            <m:t>𝑘</m:t>
                          </m:r>
                        </m:sub>
                      </m:sSub>
                      <m: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𝑝</m:t>
                          </m:r>
                        </m:e>
                        <m:sub>
                          <m:r>
                            <a:rPr lang="en-GB" sz="3200">
                              <a:solidFill>
                                <a:srgbClr val="C45C28"/>
                              </a:solidFill>
                              <a:latin typeface="Cambria Math"/>
                              <a:ea typeface="Cambria Math"/>
                              <a:cs typeface="Cambria Math"/>
                            </a:rPr>
                            <m:t>𝛉</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𝑘</m:t>
                          </m:r>
                        </m:sub>
                      </m:sSub>
                      <m:d>
                        <m:dPr>
                          <m:ctrlPr>
                            <a:rPr lang="en-GB" sz="3200">
                              <a:solidFill>
                                <a:srgbClr val="C45C28"/>
                              </a:solidFill>
                              <a:latin typeface="Cambria Math"/>
                              <a:ea typeface="Cambria Math"/>
                              <a:cs typeface="Cambria Math"/>
                            </a:rPr>
                          </m:ctrlPr>
                        </m:dPr>
                        <m:e>
                          <m:r>
                            <a:rPr lang="en-GB" sz="3200">
                              <a:solidFill>
                                <a:srgbClr val="C45C28"/>
                              </a:solidFill>
                              <a:latin typeface="Cambria Math"/>
                              <a:ea typeface="Cambria Math"/>
                              <a:cs typeface="Cambria Math"/>
                            </a:rPr>
                            <m:t>𝐱</m:t>
                          </m:r>
                        </m:e>
                      </m:d>
                      <m: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𝛿</m:t>
                          </m:r>
                        </m:e>
                        <m:sub>
                          <m:r>
                            <a:rPr lang="en-GB" sz="3200">
                              <a:solidFill>
                                <a:srgbClr val="C45C28"/>
                              </a:solidFill>
                              <a:latin typeface="Cambria Math"/>
                              <a:ea typeface="Cambria Math"/>
                              <a:cs typeface="Cambria Math"/>
                            </a:rPr>
                            <m:t>𝑘𝑦</m:t>
                          </m:r>
                        </m:sub>
                      </m:sSub>
                      <m:r>
                        <a:rPr lang="en-GB" sz="3200">
                          <a:solidFill>
                            <a:srgbClr val="C45C28"/>
                          </a:solidFill>
                          <a:latin typeface="Cambria Math"/>
                          <a:ea typeface="Cambria Math"/>
                          <a:cs typeface="Cambria Math"/>
                        </a:rPr>
                        <m:t>,  </m:t>
                      </m:r>
                      <m:r>
                        <a:rPr lang="en-GB" sz="3200">
                          <a:solidFill>
                            <a:srgbClr val="C45C28"/>
                          </a:solidFill>
                          <a:latin typeface="Cambria Math"/>
                          <a:ea typeface="Cambria Math"/>
                          <a:cs typeface="Cambria Math"/>
                        </a:rPr>
                        <m:t>𝑘</m:t>
                      </m:r>
                      <m:r>
                        <a:rPr lang="en-GB" sz="3200">
                          <a:solidFill>
                            <a:srgbClr val="C45C28"/>
                          </a:solidFill>
                          <a:latin typeface="Cambria Math"/>
                          <a:ea typeface="Cambria Math"/>
                          <a:cs typeface="Cambria Math"/>
                        </a:rPr>
                        <m:t>=1,…,</m:t>
                      </m:r>
                      <m:r>
                        <a:rPr lang="en-GB" sz="3200">
                          <a:solidFill>
                            <a:srgbClr val="C45C28"/>
                          </a:solidFill>
                          <a:latin typeface="Cambria Math"/>
                          <a:ea typeface="Cambria Math"/>
                          <a:cs typeface="Cambria Math"/>
                        </a:rPr>
                        <m:t>𝐾</m:t>
                      </m:r>
                    </m:oMath>
                  </m:oMathPara>
                </a14:m>
                <a:endParaRPr lang="en-GB" sz="3200" dirty="0"/>
              </a:p>
            </p:txBody>
          </p:sp>
        </mc:Choice>
        <mc:Fallback>
          <p:sp>
            <p:nvSpPr>
              <p:cNvPr id="6" name="equation_2" descr="\left[\nabla J_{L,\boldsymbol{\theta},y}(\mathbf{a}_L(\mathbf{x}))\right]_k=p_{\boldsymbol{\theta},k}(\mathbf{x})-\delta_{ky},\qquad k=1,\ldots,K">
                <a:extLst>
                  <a:ext uri="{FF2B5EF4-FFF2-40B4-BE49-F238E27FC236}">
                    <a16:creationId xmlns:a16="http://schemas.microsoft.com/office/drawing/2014/main" id="{1AE61AC7-30C8-47F6-87CB-194A24D4AF72}"/>
                  </a:ext>
                </a:extLst>
              </p:cNvPr>
              <p:cNvSpPr>
                <a:spLocks noGrp="1" noRot="1" noChangeAspect="1" noMove="1" noResize="1" noEditPoints="1" noAdjustHandles="1" noChangeArrowheads="1" noChangeShapeType="1" noTextEdit="1"/>
              </p:cNvSpPr>
              <p:nvPr/>
            </p:nvSpPr>
            <p:spPr>
              <a:xfrm>
                <a:off x="476250" y="1992090"/>
                <a:ext cx="1123950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text_3">
                <a:extLst>
                  <a:ext uri="{FF2B5EF4-FFF2-40B4-BE49-F238E27FC236}">
                    <a16:creationId xmlns:a16="http://schemas.microsoft.com/office/drawing/2014/main" id="{59EDC703-3B6C-4AA6-AD2E-10DDA34F0D95}"/>
                  </a:ext>
                </a:extLst>
              </p:cNvPr>
              <p:cNvSpPr>
                <a:spLocks noGrp="1"/>
              </p:cNvSpPr>
              <p:nvPr/>
            </p:nvSpPr>
            <p:spPr>
              <a:xfrm>
                <a:off x="857250" y="3073845"/>
                <a:ext cx="10477500" cy="371475"/>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where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𝛿</m:t>
                        </m:r>
                      </m:e>
                      <m:sub>
                        <m:r>
                          <a:rPr lang="en-GB" sz="1800">
                            <a:solidFill>
                              <a:srgbClr val="526276"/>
                            </a:solidFill>
                            <a:latin typeface="Cambria Math"/>
                            <a:ea typeface="Cambria Math"/>
                            <a:cs typeface="Cambria Math"/>
                          </a:rPr>
                          <m:t>𝑘𝑦</m:t>
                        </m:r>
                      </m:sub>
                    </m:sSub>
                  </m:oMath>
                </a14:m>
                <a:r>
                  <a:rPr sz="1800" b="0" dirty="0">
                    <a:solidFill>
                      <a:srgbClr val="526276"/>
                    </a:solidFill>
                    <a:latin typeface="DejaVu Sans"/>
                    <a:ea typeface="DejaVu Sans"/>
                    <a:cs typeface="DejaVu Sans"/>
                  </a:rPr>
                  <a:t> is the Kronecker delta: </a:t>
                </a:r>
                <a14:m>
                  <m:oMath xmlns:m="http://schemas.openxmlformats.org/officeDocument/2006/math">
                    <m:r>
                      <a:rPr lang="en-GB" sz="1800">
                        <a:solidFill>
                          <a:srgbClr val="526276"/>
                        </a:solidFill>
                        <a:latin typeface="Cambria Math"/>
                        <a:ea typeface="Cambria Math"/>
                        <a:cs typeface="Cambria Math"/>
                      </a:rPr>
                      <m:t>1</m:t>
                    </m:r>
                  </m:oMath>
                </a14:m>
                <a:r>
                  <a:rPr sz="1800" b="0" dirty="0">
                    <a:solidFill>
                      <a:srgbClr val="526276"/>
                    </a:solidFill>
                    <a:latin typeface="DejaVu Sans"/>
                    <a:ea typeface="DejaVu Sans"/>
                    <a:cs typeface="DejaVu Sans"/>
                  </a:rPr>
                  <a:t> when </a:t>
                </a:r>
                <a14:m>
                  <m:oMath xmlns:m="http://schemas.openxmlformats.org/officeDocument/2006/math">
                    <m:r>
                      <a:rPr lang="en-GB" sz="1800">
                        <a:solidFill>
                          <a:srgbClr val="526276"/>
                        </a:solidFill>
                        <a:latin typeface="Cambria Math"/>
                        <a:ea typeface="Cambria Math"/>
                        <a:cs typeface="Cambria Math"/>
                      </a:rPr>
                      <m:t>𝑘</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oMath>
                </a14:m>
                <a:r>
                  <a:rPr sz="1800" b="0" dirty="0">
                    <a:solidFill>
                      <a:srgbClr val="526276"/>
                    </a:solidFill>
                    <a:latin typeface="DejaVu Sans"/>
                    <a:ea typeface="DejaVu Sans"/>
                    <a:cs typeface="DejaVu Sans"/>
                  </a:rPr>
                  <a:t> and </a:t>
                </a:r>
                <a14:m>
                  <m:oMath xmlns:m="http://schemas.openxmlformats.org/officeDocument/2006/math">
                    <m:r>
                      <a:rPr lang="en-GB" sz="1800">
                        <a:solidFill>
                          <a:srgbClr val="526276"/>
                        </a:solidFill>
                        <a:latin typeface="Cambria Math"/>
                        <a:ea typeface="Cambria Math"/>
                        <a:cs typeface="Cambria Math"/>
                      </a:rPr>
                      <m:t>0</m:t>
                    </m:r>
                  </m:oMath>
                </a14:m>
                <a:r>
                  <a:rPr sz="1800" b="0" dirty="0">
                    <a:solidFill>
                      <a:srgbClr val="526276"/>
                    </a:solidFill>
                    <a:latin typeface="DejaVu Sans"/>
                    <a:ea typeface="DejaVu Sans"/>
                    <a:cs typeface="DejaVu Sans"/>
                  </a:rPr>
                  <a:t> otherwise.</a:t>
                </a:r>
              </a:p>
            </p:txBody>
          </p:sp>
        </mc:Choice>
        <mc:Fallback>
          <p:sp>
            <p:nvSpPr>
              <p:cNvPr id="7" name="text_3">
                <a:extLst>
                  <a:ext uri="{FF2B5EF4-FFF2-40B4-BE49-F238E27FC236}">
                    <a16:creationId xmlns:a16="http://schemas.microsoft.com/office/drawing/2014/main" id="{59EDC703-3B6C-4AA6-AD2E-10DDA34F0D95}"/>
                  </a:ext>
                </a:extLst>
              </p:cNvPr>
              <p:cNvSpPr>
                <a:spLocks noGrp="1" noRot="1" noChangeAspect="1" noMove="1" noResize="1" noEditPoints="1" noAdjustHandles="1" noChangeArrowheads="1" noChangeShapeType="1" noTextEdit="1"/>
              </p:cNvSpPr>
              <p:nvPr/>
            </p:nvSpPr>
            <p:spPr>
              <a:xfrm>
                <a:off x="857250" y="3073845"/>
                <a:ext cx="10477500" cy="371475"/>
              </a:xfrm>
              <a:prstGeom prst="rect">
                <a:avLst/>
              </a:prstGeom>
              <a:blipFill>
                <a:blip r:embed="rId5"/>
                <a:stretch>
                  <a:fillRect t="-13115" b="-2131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K=3,\qquad y=2:">
                <a:extLst>
                  <a:ext uri="{FF2B5EF4-FFF2-40B4-BE49-F238E27FC236}">
                    <a16:creationId xmlns:a16="http://schemas.microsoft.com/office/drawing/2014/main" id="{419FD6DD-0C27-4F9D-B01D-7CF5310902BF}"/>
                  </a:ext>
                </a:extLst>
              </p:cNvPr>
              <p:cNvSpPr>
                <a:spLocks noGrp="1"/>
              </p:cNvSpPr>
              <p:nvPr/>
            </p:nvSpPr>
            <p:spPr>
              <a:xfrm>
                <a:off x="523875" y="4498500"/>
                <a:ext cx="1114425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=3,  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=2:</m:t>
                      </m:r>
                    </m:oMath>
                  </m:oMathPara>
                </a14:m>
                <a:endParaRPr lang="en-GB" sz="2500" dirty="0"/>
              </a:p>
            </p:txBody>
          </p:sp>
        </mc:Choice>
        <mc:Fallback>
          <p:sp>
            <p:nvSpPr>
              <p:cNvPr id="8" name="equation_4" descr="K=3,\qquad y=2:">
                <a:extLst>
                  <a:ext uri="{FF2B5EF4-FFF2-40B4-BE49-F238E27FC236}">
                    <a16:creationId xmlns:a16="http://schemas.microsoft.com/office/drawing/2014/main" id="{419FD6DD-0C27-4F9D-B01D-7CF5310902BF}"/>
                  </a:ext>
                </a:extLst>
              </p:cNvPr>
              <p:cNvSpPr>
                <a:spLocks noGrp="1" noRot="1" noChangeAspect="1" noMove="1" noResize="1" noEditPoints="1" noAdjustHandles="1" noChangeArrowheads="1" noChangeShapeType="1" noTextEdit="1"/>
              </p:cNvSpPr>
              <p:nvPr/>
            </p:nvSpPr>
            <p:spPr>
              <a:xfrm>
                <a:off x="523875" y="4498500"/>
                <a:ext cx="11144250" cy="381000"/>
              </a:xfrm>
              <a:prstGeom prst="rect">
                <a:avLst/>
              </a:prstGeom>
              <a:blipFill>
                <a:blip r:embed="rId6"/>
                <a:stretch>
                  <a:fillRect b="-2419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quation_5" descr="\nabla J_{L,\boldsymbol{\theta},y}(\mathbf{a}_L(\mathbf{x}))=\bigl(p_{\boldsymbol{\theta},1}(\mathbf{x}),p_{\boldsymbol{\theta},2}(\mathbf{x})-1,p_{\boldsymbol{\theta},3}(\mathbf{x})\bigr)">
                <a:extLst>
                  <a:ext uri="{FF2B5EF4-FFF2-40B4-BE49-F238E27FC236}">
                    <a16:creationId xmlns:a16="http://schemas.microsoft.com/office/drawing/2014/main" id="{E4E24C5A-4515-47D2-988E-E6AD84897603}"/>
                  </a:ext>
                </a:extLst>
              </p:cNvPr>
              <p:cNvSpPr>
                <a:spLocks noGrp="1"/>
              </p:cNvSpPr>
              <p:nvPr/>
            </p:nvSpPr>
            <p:spPr>
              <a:xfrm>
                <a:off x="523875" y="5145912"/>
                <a:ext cx="11144250" cy="66402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p:sp>
            <p:nvSpPr>
              <p:cNvPr id="9" name="equation_5" descr="\nabla J_{L,\boldsymbol{\theta},y}(\mathbf{a}_L(\mathbf{x}))=\bigl(p_{\boldsymbol{\theta},1}(\mathbf{x}),p_{\boldsymbol{\theta},2}(\mathbf{x})-1,p_{\boldsymbol{\theta},3}(\mathbf{x})\bigr)">
                <a:extLst>
                  <a:ext uri="{FF2B5EF4-FFF2-40B4-BE49-F238E27FC236}">
                    <a16:creationId xmlns:a16="http://schemas.microsoft.com/office/drawing/2014/main" id="{E4E24C5A-4515-47D2-988E-E6AD84897603}"/>
                  </a:ext>
                </a:extLst>
              </p:cNvPr>
              <p:cNvSpPr>
                <a:spLocks noGrp="1" noRot="1" noChangeAspect="1" noMove="1" noResize="1" noEditPoints="1" noAdjustHandles="1" noChangeArrowheads="1" noChangeShapeType="1" noTextEdit="1"/>
              </p:cNvSpPr>
              <p:nvPr/>
            </p:nvSpPr>
            <p:spPr>
              <a:xfrm>
                <a:off x="523875" y="5145912"/>
                <a:ext cx="11144250" cy="664020"/>
              </a:xfrm>
              <a:prstGeom prst="rect">
                <a:avLst/>
              </a:prstGeom>
              <a:blipFill>
                <a:blip r:embed="rId7"/>
                <a:stretch>
                  <a:fillRect/>
                </a:stretch>
              </a:blipFill>
              <a:ln w="0">
                <a:noFill/>
              </a:ln>
            </p:spPr>
            <p:txBody>
              <a:bodyPr/>
              <a:lstStyle/>
              <a:p>
                <a:r>
                  <a:rPr lang="it-IT">
                    <a:noFill/>
                  </a:rPr>
                  <a:t> </a:t>
                </a:r>
              </a:p>
            </p:txBody>
          </p:sp>
        </mc:Fallback>
      </mc:AlternateContent>
      <p:sp>
        <p:nvSpPr>
          <p:cNvPr id="12" name="text_6">
            <a:extLst>
              <a:ext uri="{FF2B5EF4-FFF2-40B4-BE49-F238E27FC236}">
                <a16:creationId xmlns:a16="http://schemas.microsoft.com/office/drawing/2014/main" id="{7462E571-6B89-448B-AE75-E77F5623B4D4}"/>
              </a:ext>
            </a:extLst>
          </p:cNvPr>
          <p:cNvSpPr>
            <a:spLocks noGrp="1"/>
          </p:cNvSpPr>
          <p:nvPr/>
        </p:nvSpPr>
        <p:spPr>
          <a:xfrm>
            <a:off x="571500" y="3834480"/>
            <a:ext cx="11049000"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Example</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
        <p:nvSpPr>
          <p:cNvPr id="13" name="multiclass_notation">
            <a:extLst>
              <a:ext uri="{FF2B5EF4-FFF2-40B4-BE49-F238E27FC236}">
                <a16:creationId xmlns:a16="http://schemas.microsoft.com/office/drawing/2014/main" id="{5148495A-6696-4EAD-936C-39D826182DEE}"/>
              </a:ext>
            </a:extLst>
          </p:cNvPr>
          <p:cNvSpPr>
            <a:spLocks noGrp="1"/>
          </p:cNvSpPr>
          <p:nvPr/>
        </p:nvSpPr>
        <p:spPr>
          <a:xfrm>
            <a:off x="523875" y="3467100"/>
            <a:ext cx="11144250" cy="342900"/>
          </a:xfrm>
          <a:prstGeom prst="rect">
            <a:avLst/>
          </a:prstGeom>
          <a:noFill/>
          <a:ln w="0">
            <a:noFill/>
          </a:ln>
        </p:spPr>
        <p:txBody>
          <a:bodyPr anchor="ctr" wrap="none" lIns="0" rIns="0" tIns="0" bIns="0"/>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For </a:t>
            </a:r>
            <a14:m xmlns:a14="http://schemas.microsoft.com/office/drawing/2010/main">
              <m:oMath xmlns:m="http://schemas.openxmlformats.org/officeDocument/2006/math">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 classes, </a:t>
            </a:r>
            <a14:m xmlns:a14="http://schemas.microsoft.com/office/drawing/2010/main">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d</m:t>
                    </m:r>
                  </m:e>
                  <m:sub>
                    <m:r>
                      <a:rPr lang="en-GB" sz="1800">
                        <a:solidFill>
                          <a:srgbClr val="526276"/>
                        </a:solidFill>
                        <a:latin typeface="Cambria Math"/>
                        <a:ea typeface="Cambria Math"/>
                        <a:cs typeface="Cambria Math"/>
                      </a:rPr>
                      <m:t>L</m:t>
                    </m:r>
                  </m:sub>
                </m:sSub>
                <m:r>
                  <m:rPr>
                    <m:sty m:val="p"/>
                  </m:rP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 </a:t>
            </a:r>
            <a14:m xmlns:a14="http://schemas.microsoft.com/office/drawing/2010/main">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p</m:t>
                    </m:r>
                  </m:e>
                  <m:sub>
                    <m:r>
                      <m:rPr>
                        <m:sty m:val="b"/>
                      </m:rPr>
                      <a:rPr lang="en-GB" sz="1800">
                        <a:solidFill>
                          <a:srgbClr val="526276"/>
                        </a:solidFill>
                        <a:latin typeface="Cambria Math"/>
                        <a:ea typeface="Cambria Math"/>
                        <a:cs typeface="Cambria Math"/>
                      </a:rPr>
                      <m:t>θ</m:t>
                    </m:r>
                    <m:r>
                      <m:rPr>
                        <m:sty m:val="p"/>
                      </m:rP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k</m:t>
                    </m:r>
                  </m:sub>
                </m:sSub>
                <m:r>
                  <m:rPr>
                    <m:sty m:val="p"/>
                  </m:rPr>
                  <a:rPr lang="en-GB" sz="1800">
                    <a:solidFill>
                      <a:srgbClr val="526276"/>
                    </a:solidFill>
                    <a:latin typeface="Cambria Math"/>
                    <a:ea typeface="Cambria Math"/>
                    <a:cs typeface="Cambria Math"/>
                  </a:rPr>
                  <m:t>(</m:t>
                </m:r>
                <m:r>
                  <m:rPr>
                    <m:sty m:val="b"/>
                  </m:rPr>
                  <a:rPr lang="en-GB" sz="1800">
                    <a:solidFill>
                      <a:srgbClr val="526276"/>
                    </a:solidFill>
                    <a:latin typeface="Cambria Math"/>
                    <a:ea typeface="Cambria Math"/>
                    <a:cs typeface="Cambria Math"/>
                  </a:rPr>
                  <m:t>x</m:t>
                </m:r>
                <m:r>
                  <m:rPr>
                    <m:sty m:val="p"/>
                  </m:rP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is the softmax probability of class </a:t>
            </a:r>
            <a14:m xmlns:a14="http://schemas.microsoft.com/office/drawing/2010/main">
              <m:oMath xmlns:m="http://schemas.openxmlformats.org/officeDocument/2006/math">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a:t>
            </a:r>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38</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e>
                      </m:nary>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e>
                      </m:nary>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39</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40</a:t>
            </a:r>
          </a:p>
        </p:txBody>
      </p:sp>
      <p:sp>
        <p:nvSpPr>
          <p:cNvPr id="5" name="text_1">
            <a:extLst>
              <a:ext uri="{FF2B5EF4-FFF2-40B4-BE49-F238E27FC236}">
                <a16:creationId xmlns:a16="http://schemas.microsoft.com/office/drawing/2014/main" id="{DCE18A47-7F15-4A38-B8FC-F7BA02B2AAF5}"/>
              </a:ext>
            </a:extLst>
          </p:cNvPr>
          <p:cNvSpPr>
            <a:spLocks noGrp="1"/>
          </p:cNvSpPr>
          <p:nvPr/>
        </p:nvSpPr>
        <p:spPr>
          <a:xfrm>
            <a:off x="619125" y="2124075"/>
            <a:ext cx="5381625" cy="5238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6" name="text_2">
            <a:extLst>
              <a:ext uri="{FF2B5EF4-FFF2-40B4-BE49-F238E27FC236}">
                <a16:creationId xmlns:a16="http://schemas.microsoft.com/office/drawing/2014/main" id="{D3DFB75B-45B0-4116-A2C3-2E65342F88D1}"/>
              </a:ext>
            </a:extLst>
          </p:cNvPr>
          <p:cNvSpPr>
            <a:spLocks noGrp="1"/>
          </p:cNvSpPr>
          <p:nvPr/>
        </p:nvSpPr>
        <p:spPr>
          <a:xfrm>
            <a:off x="6429375" y="2124075"/>
            <a:ext cx="5143500" cy="523875"/>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Backpropagation</a:t>
            </a:r>
          </a:p>
        </p:txBody>
      </p:sp>
      <mc:AlternateContent xmlns:mc="http://schemas.openxmlformats.org/markup-compatibility/2006" xmlns:a14="http://schemas.microsoft.com/office/drawing/2010/main">
        <mc:Choice Requires="a14">
          <p:sp>
            <p:nvSpPr>
              <p:cNvPr id="7" name="equation_3" descr="2\bigl(L+(L-1)+\cdots+1\bigr)">
                <a:extLst>
                  <a:ext uri="{FF2B5EF4-FFF2-40B4-BE49-F238E27FC236}">
                    <a16:creationId xmlns:a16="http://schemas.microsoft.com/office/drawing/2014/main" id="{6E83DFB4-A43B-4DDA-9D2D-3AE1F3AA8B4E}"/>
                  </a:ext>
                </a:extLst>
              </p:cNvPr>
              <p:cNvSpPr>
                <a:spLocks noGrp="1"/>
              </p:cNvSpPr>
              <p:nvPr/>
            </p:nvSpPr>
            <p:spPr>
              <a:xfrm>
                <a:off x="523875" y="3076575"/>
                <a:ext cx="5524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2</m:t>
                      </m:r>
                      <m:d>
                        <m:dPr>
                          <m:ctrlPr>
                            <a:rPr lang="en-GB" sz="3000">
                              <a:solidFill>
                                <a:srgbClr val="526276"/>
                              </a:solidFill>
                              <a:latin typeface="Cambria Math"/>
                              <a:ea typeface="Cambria Math"/>
                              <a:cs typeface="Cambria Math"/>
                            </a:rPr>
                          </m:ctrlPr>
                        </m:dPr>
                        <m:e>
                          <m:r>
                            <a:rPr lang="en-GB" sz="3000">
                              <a:solidFill>
                                <a:srgbClr val="526276"/>
                              </a:solidFill>
                              <a:latin typeface="Cambria Math"/>
                              <a:ea typeface="Cambria Math"/>
                              <a:cs typeface="Cambria Math"/>
                            </a:rPr>
                            <m:t>𝐿</m:t>
                          </m:r>
                          <m:r>
                            <a:rPr lang="en-GB" sz="3000">
                              <a:solidFill>
                                <a:srgbClr val="526276"/>
                              </a:solidFill>
                              <a:latin typeface="Cambria Math"/>
                              <a:ea typeface="Cambria Math"/>
                              <a:cs typeface="Cambria Math"/>
                            </a:rPr>
                            <m:t>+</m:t>
                          </m:r>
                          <m:d>
                            <m:dPr>
                              <m:ctrlPr>
                                <a:rPr lang="en-GB" sz="3000">
                                  <a:solidFill>
                                    <a:srgbClr val="526276"/>
                                  </a:solidFill>
                                  <a:latin typeface="Cambria Math"/>
                                  <a:ea typeface="Cambria Math"/>
                                  <a:cs typeface="Cambria Math"/>
                                </a:rPr>
                              </m:ctrlPr>
                            </m:dPr>
                            <m:e>
                              <m:r>
                                <a:rPr lang="en-GB" sz="3000">
                                  <a:solidFill>
                                    <a:srgbClr val="526276"/>
                                  </a:solidFill>
                                  <a:latin typeface="Cambria Math"/>
                                  <a:ea typeface="Cambria Math"/>
                                  <a:cs typeface="Cambria Math"/>
                                </a:rPr>
                                <m:t>𝐿</m:t>
                              </m:r>
                              <m:r>
                                <a:rPr lang="en-GB" sz="3000">
                                  <a:solidFill>
                                    <a:srgbClr val="526276"/>
                                  </a:solidFill>
                                  <a:latin typeface="Cambria Math"/>
                                  <a:ea typeface="Cambria Math"/>
                                  <a:cs typeface="Cambria Math"/>
                                </a:rPr>
                                <m:t>−1</m:t>
                              </m:r>
                            </m:e>
                          </m:d>
                          <m:r>
                            <a:rPr lang="en-GB" sz="3000">
                              <a:solidFill>
                                <a:srgbClr val="526276"/>
                              </a:solidFill>
                              <a:latin typeface="Cambria Math"/>
                              <a:ea typeface="Cambria Math"/>
                              <a:cs typeface="Cambria Math"/>
                            </a:rPr>
                            <m:t>+⋯+1</m:t>
                          </m:r>
                        </m:e>
                      </m:d>
                    </m:oMath>
                  </m:oMathPara>
                </a14:m>
                <a:endParaRPr lang="en-GB" sz="3000"/>
              </a:p>
            </p:txBody>
          </p:sp>
        </mc:Choice>
        <mc:Fallback xmlns="">
          <p:sp>
            <p:nvSpPr>
              <p:cNvPr id="7" name="equation_3" descr="2\bigl(L+(L-1)+\cdots+1\bigr)">
                <a:extLst>
                  <a:ext uri="{FF2B5EF4-FFF2-40B4-BE49-F238E27FC236}">
                    <a16:creationId xmlns:a16="http://schemas.microsoft.com/office/drawing/2014/main" id="{6E83DFB4-A43B-4DDA-9D2D-3AE1F3AA8B4E}"/>
                  </a:ext>
                </a:extLst>
              </p:cNvPr>
              <p:cNvSpPr>
                <a:spLocks noGrp="1" noRot="1" noChangeAspect="1" noMove="1" noResize="1" noEditPoints="1" noAdjustHandles="1" noChangeArrowheads="1" noChangeShapeType="1" noTextEdit="1"/>
              </p:cNvSpPr>
              <p:nvPr/>
            </p:nvSpPr>
            <p:spPr>
              <a:xfrm>
                <a:off x="523875" y="3076575"/>
                <a:ext cx="5524500"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D19348F3-E7E5-4AEF-90CC-65656EC08053}"/>
              </a:ext>
            </a:extLst>
          </p:cNvPr>
          <p:cNvSpPr>
            <a:spLocks noGrp="1"/>
          </p:cNvSpPr>
          <p:nvPr/>
        </p:nvSpPr>
        <p:spPr>
          <a:xfrm>
            <a:off x="6477000" y="2924175"/>
            <a:ext cx="5048250" cy="1162050"/>
          </a:xfrm>
          <a:prstGeom prst="rect">
            <a:avLst/>
          </a:prstGeom>
          <a:noFill/>
          <a:ln w="0">
            <a:noFill/>
          </a:ln>
        </p:spPr>
        <p:txBody>
          <a:bodyPr anchor="ctr">
            <a:noAutofit/>
          </a:bodyPr>
          <a:lstStyle>
            <a:defPPr algn="ctr">
              <a:defRPr sz="2250" b="0">
                <a:solidFill>
                  <a:srgbClr val="087F83"/>
                </a:solidFill>
                <a:latin typeface="DejaVu Sans"/>
                <a:ea typeface="DejaVu Sans"/>
                <a:cs typeface="DejaVu Sans"/>
              </a:defRPr>
            </a:defPPr>
          </a:lstStyle>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One forward pass</a:t>
            </a:r>
          </a:p>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a:t>
            </a:r>
          </a:p>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one backward pass</a:t>
            </a:r>
          </a:p>
        </p:txBody>
      </p:sp>
      <mc:AlternateContent xmlns:mc="http://schemas.openxmlformats.org/markup-compatibility/2006" xmlns:a14="http://schemas.microsoft.com/office/drawing/2010/main">
        <mc:Choice Requires="a14">
          <p:sp>
            <p:nvSpPr>
              <p:cNvPr id="9" name="equation_5" descr="L(L+1)=O(P^2)">
                <a:extLst>
                  <a:ext uri="{FF2B5EF4-FFF2-40B4-BE49-F238E27FC236}">
                    <a16:creationId xmlns:a16="http://schemas.microsoft.com/office/drawing/2014/main" id="{4DB00DAA-4863-4645-BE03-4E2B7CC63BAD}"/>
                  </a:ext>
                </a:extLst>
              </p:cNvPr>
              <p:cNvSpPr>
                <a:spLocks noGrp="1"/>
              </p:cNvSpPr>
              <p:nvPr/>
            </p:nvSpPr>
            <p:spPr>
              <a:xfrm>
                <a:off x="619125" y="4381500"/>
                <a:ext cx="538162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526276"/>
                          </a:solidFill>
                          <a:latin typeface="Cambria Math"/>
                          <a:ea typeface="Cambria Math"/>
                          <a:cs typeface="Cambria Math"/>
                        </a:rPr>
                        <m:t>𝐿</m:t>
                      </m:r>
                      <m:d>
                        <m:dPr>
                          <m:ctrlPr>
                            <a:rPr lang="en-GB" sz="3400">
                              <a:solidFill>
                                <a:srgbClr val="526276"/>
                              </a:solidFill>
                              <a:latin typeface="Cambria Math"/>
                              <a:ea typeface="Cambria Math"/>
                              <a:cs typeface="Cambria Math"/>
                            </a:rPr>
                          </m:ctrlPr>
                        </m:dPr>
                        <m:e>
                          <m:r>
                            <a:rPr lang="en-GB" sz="3400">
                              <a:solidFill>
                                <a:srgbClr val="526276"/>
                              </a:solidFill>
                              <a:latin typeface="Cambria Math"/>
                              <a:ea typeface="Cambria Math"/>
                              <a:cs typeface="Cambria Math"/>
                            </a:rPr>
                            <m:t>𝐿</m:t>
                          </m:r>
                          <m:r>
                            <a:rPr lang="en-GB" sz="3400">
                              <a:solidFill>
                                <a:srgbClr val="526276"/>
                              </a:solidFill>
                              <a:latin typeface="Cambria Math"/>
                              <a:ea typeface="Cambria Math"/>
                              <a:cs typeface="Cambria Math"/>
                            </a:rPr>
                            <m:t>+1</m:t>
                          </m:r>
                        </m:e>
                      </m:d>
                      <m:r>
                        <a:rPr lang="en-GB" sz="3400">
                          <a:solidFill>
                            <a:srgbClr val="526276"/>
                          </a:solidFill>
                          <a:latin typeface="Cambria Math"/>
                          <a:ea typeface="Cambria Math"/>
                          <a:cs typeface="Cambria Math"/>
                        </a:rPr>
                        <m:t>=</m:t>
                      </m:r>
                      <m:r>
                        <a:rPr lang="en-GB" sz="3400">
                          <a:solidFill>
                            <a:srgbClr val="526276"/>
                          </a:solidFill>
                          <a:latin typeface="Cambria Math"/>
                          <a:ea typeface="Cambria Math"/>
                          <a:cs typeface="Cambria Math"/>
                        </a:rPr>
                        <m:t>𝑂</m:t>
                      </m:r>
                      <m:d>
                        <m:dPr>
                          <m:ctrlPr>
                            <a:rPr lang="en-GB" sz="3400" i="1">
                              <a:solidFill>
                                <a:srgbClr val="526276"/>
                              </a:solidFill>
                              <a:latin typeface="Cambria Math" panose="02040503050406030204" pitchFamily="18" charset="0"/>
                              <a:ea typeface="Cambria Math"/>
                              <a:cs typeface="Cambria Math"/>
                            </a:rPr>
                          </m:ctrlPr>
                        </m:dPr>
                        <m:e>
                          <m:sSup>
                            <m:sSupPr>
                              <m:ctrlPr>
                                <a:rPr lang="en-GB" sz="3400">
                                  <a:solidFill>
                                    <a:srgbClr val="526276"/>
                                  </a:solidFill>
                                  <a:latin typeface="Cambria Math"/>
                                  <a:ea typeface="Cambria Math"/>
                                  <a:cs typeface="Cambria Math"/>
                                </a:rPr>
                              </m:ctrlPr>
                            </m:sSupPr>
                            <m:e>
                              <m:r>
                                <a:rPr lang="en-GB" sz="3400">
                                  <a:solidFill>
                                    <a:srgbClr val="526276"/>
                                  </a:solidFill>
                                  <a:latin typeface="Cambria Math"/>
                                  <a:ea typeface="Cambria Math"/>
                                  <a:cs typeface="Cambria Math"/>
                                </a:rPr>
                                <m:t>𝑃</m:t>
                              </m:r>
                            </m:e>
                            <m:sup>
                              <m:r>
                                <a:rPr lang="en-GB" sz="3400">
                                  <a:solidFill>
                                    <a:srgbClr val="526276"/>
                                  </a:solidFill>
                                  <a:latin typeface="Cambria Math"/>
                                  <a:ea typeface="Cambria Math"/>
                                  <a:cs typeface="Cambria Math"/>
                                </a:rPr>
                                <m:t>2</m:t>
                              </m:r>
                            </m:sup>
                          </m:sSup>
                        </m:e>
                      </m:d>
                    </m:oMath>
                  </m:oMathPara>
                </a14:m>
                <a:endParaRPr lang="en-GB" sz="3400"/>
              </a:p>
            </p:txBody>
          </p:sp>
        </mc:Choice>
        <mc:Fallback xmlns="">
          <p:sp>
            <p:nvSpPr>
              <p:cNvPr id="9" name="equation_5" descr="L(L+1)=O(P^2)">
                <a:extLst>
                  <a:ext uri="{FF2B5EF4-FFF2-40B4-BE49-F238E27FC236}">
                    <a16:creationId xmlns:a16="http://schemas.microsoft.com/office/drawing/2014/main" id="{4DB00DAA-4863-4645-BE03-4E2B7CC63BAD}"/>
                  </a:ext>
                </a:extLst>
              </p:cNvPr>
              <p:cNvSpPr>
                <a:spLocks noGrp="1" noRot="1" noChangeAspect="1" noMove="1" noResize="1" noEditPoints="1" noAdjustHandles="1" noChangeArrowheads="1" noChangeShapeType="1" noTextEdit="1"/>
              </p:cNvSpPr>
              <p:nvPr/>
            </p:nvSpPr>
            <p:spPr>
              <a:xfrm>
                <a:off x="619125" y="4381500"/>
                <a:ext cx="5381625" cy="8572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O(P)">
                <a:extLst>
                  <a:ext uri="{FF2B5EF4-FFF2-40B4-BE49-F238E27FC236}">
                    <a16:creationId xmlns:a16="http://schemas.microsoft.com/office/drawing/2014/main" id="{E917F3BD-79D5-4E79-BB51-9D3E163A8B20}"/>
                  </a:ext>
                </a:extLst>
              </p:cNvPr>
              <p:cNvSpPr>
                <a:spLocks noGrp="1"/>
              </p:cNvSpPr>
              <p:nvPr/>
            </p:nvSpPr>
            <p:spPr>
              <a:xfrm>
                <a:off x="6429375" y="4381500"/>
                <a:ext cx="5143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800">
                          <a:solidFill>
                            <a:srgbClr val="087F83"/>
                          </a:solidFill>
                          <a:latin typeface="Cambria Math"/>
                          <a:ea typeface="Cambria Math"/>
                          <a:cs typeface="Cambria Math"/>
                        </a:rPr>
                        <m:t>𝑂</m:t>
                      </m:r>
                      <m:d>
                        <m:dPr>
                          <m:ctrlPr>
                            <a:rPr lang="en-GB" sz="3800">
                              <a:solidFill>
                                <a:srgbClr val="087F83"/>
                              </a:solidFill>
                              <a:latin typeface="Cambria Math"/>
                              <a:ea typeface="Cambria Math"/>
                              <a:cs typeface="Cambria Math"/>
                            </a:rPr>
                          </m:ctrlPr>
                        </m:dPr>
                        <m:e>
                          <m:r>
                            <a:rPr lang="en-GB" sz="3800">
                              <a:solidFill>
                                <a:srgbClr val="087F83"/>
                              </a:solidFill>
                              <a:latin typeface="Cambria Math"/>
                              <a:ea typeface="Cambria Math"/>
                              <a:cs typeface="Cambria Math"/>
                            </a:rPr>
                            <m:t>𝑃</m:t>
                          </m:r>
                        </m:e>
                      </m:d>
                    </m:oMath>
                  </m:oMathPara>
                </a14:m>
                <a:endParaRPr lang="en-GB" sz="3800"/>
              </a:p>
            </p:txBody>
          </p:sp>
        </mc:Choice>
        <mc:Fallback xmlns="">
          <p:sp>
            <p:nvSpPr>
              <p:cNvPr id="10" name="equation_6" descr="O(P)">
                <a:extLst>
                  <a:ext uri="{FF2B5EF4-FFF2-40B4-BE49-F238E27FC236}">
                    <a16:creationId xmlns:a16="http://schemas.microsoft.com/office/drawing/2014/main" id="{E917F3BD-79D5-4E79-BB51-9D3E163A8B20}"/>
                  </a:ext>
                </a:extLst>
              </p:cNvPr>
              <p:cNvSpPr>
                <a:spLocks noGrp="1" noRot="1" noChangeAspect="1" noMove="1" noResize="1" noEditPoints="1" noAdjustHandles="1" noChangeArrowheads="1" noChangeShapeType="1" noTextEdit="1"/>
              </p:cNvSpPr>
              <p:nvPr/>
            </p:nvSpPr>
            <p:spPr>
              <a:xfrm>
                <a:off x="6429375" y="4381500"/>
                <a:ext cx="5143500" cy="8572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603D082E-1627-4954-B5CF-02B7D40E6914}"/>
              </a:ext>
            </a:extLst>
          </p:cNvPr>
          <p:cNvSpPr>
            <a:spLocks noGrp="1"/>
          </p:cNvSpPr>
          <p:nvPr/>
        </p:nvSpPr>
        <p:spPr>
          <a:xfrm>
            <a:off x="571500" y="59721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Compute each remaining derivative once and reuse it.</a:t>
            </a:r>
          </a:p>
        </p:txBody>
      </p:sp>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Cost for the networks we have studied</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5621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mc:AlternateContent xmlns:mc="http://schemas.openxmlformats.org/markup-compatibility/2006" xmlns:a14="http://schemas.microsoft.com/office/drawing/2010/main">
        <mc:Choice Requires="a14">
          <p:sp>
            <p:nvSpPr>
              <p:cNvPr id="6" name="equation_2" descr="O(P)\ \text{time},\qquad O(P)\ \text{working memory}">
                <a:extLst>
                  <a:ext uri="{FF2B5EF4-FFF2-40B4-BE49-F238E27FC236}">
                    <a16:creationId xmlns:a16="http://schemas.microsoft.com/office/drawing/2014/main" id="{DFAEF439-C243-47A8-89E5-AF62C18FAC4B}"/>
                  </a:ext>
                </a:extLst>
              </p:cNvPr>
              <p:cNvSpPr>
                <a:spLocks noGrp="1"/>
              </p:cNvSpPr>
              <p:nvPr/>
            </p:nvSpPr>
            <p:spPr>
              <a:xfrm>
                <a:off x="666750" y="1981200"/>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6" name="equation_2" descr="O(P)\ \text{time},\qquad O(P)\ \text{working memory}">
                <a:extLst>
                  <a:ext uri="{FF2B5EF4-FFF2-40B4-BE49-F238E27FC236}">
                    <a16:creationId xmlns:a16="http://schemas.microsoft.com/office/drawing/2014/main" id="{DFAEF439-C243-47A8-89E5-AF62C18FAC4B}"/>
                  </a:ext>
                </a:extLst>
              </p:cNvPr>
              <p:cNvSpPr>
                <a:spLocks noGrp="1" noRot="1" noChangeAspect="1" noMove="1" noResize="1" noEditPoints="1" noAdjustHandles="1" noChangeArrowheads="1" noChangeShapeType="1" noTextEdit="1"/>
              </p:cNvSpPr>
              <p:nvPr/>
            </p:nvSpPr>
            <p:spPr>
              <a:xfrm>
                <a:off x="666750" y="1981200"/>
                <a:ext cx="10858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3">
                <a:extLst>
                  <a:ext uri="{FF2B5EF4-FFF2-40B4-BE49-F238E27FC236}">
                    <a16:creationId xmlns:a16="http://schemas.microsoft.com/office/drawing/2014/main" id="{916F1C7B-9D77-4266-B6E9-ECB44355BD9C}"/>
                  </a:ext>
                </a:extLst>
              </p:cNvPr>
              <p:cNvSpPr>
                <a:spLocks noGrp="1"/>
              </p:cNvSpPr>
              <p:nvPr/>
            </p:nvSpPr>
            <p:spPr>
              <a:xfrm>
                <a:off x="904875" y="386715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a:solidFill>
                      <a:srgbClr val="182D45"/>
                    </a:solidFill>
                    <a:latin typeface="DejaVu Sans"/>
                    <a:ea typeface="DejaVu Sans"/>
                    <a:cs typeface="DejaVu Sans"/>
                  </a:rPr>
                  <a:t> observations, processed one at a time</a:t>
                </a:r>
              </a:p>
            </p:txBody>
          </p:sp>
        </mc:Choice>
        <mc:Fallback xmlns="">
          <p:sp>
            <p:nvSpPr>
              <p:cNvPr id="7" name="text_3">
                <a:extLst>
                  <a:ext uri="{FF2B5EF4-FFF2-40B4-BE49-F238E27FC236}">
                    <a16:creationId xmlns:a16="http://schemas.microsoft.com/office/drawing/2014/main" id="{916F1C7B-9D77-4266-B6E9-ECB44355BD9C}"/>
                  </a:ext>
                </a:extLst>
              </p:cNvPr>
              <p:cNvSpPr>
                <a:spLocks noGrp="1" noRot="1" noChangeAspect="1" noMove="1" noResize="1" noEditPoints="1" noAdjustHandles="1" noChangeArrowheads="1" noChangeShapeType="1" noTextEdit="1"/>
              </p:cNvSpPr>
              <p:nvPr/>
            </p:nvSpPr>
            <p:spPr>
              <a:xfrm>
                <a:off x="904875" y="3867150"/>
                <a:ext cx="10382250" cy="419100"/>
              </a:xfrm>
              <a:prstGeom prst="rect">
                <a:avLst/>
              </a:prstGeom>
              <a:blipFill>
                <a:blip r:embed="rId5"/>
                <a:stretch>
                  <a:fillRect t="-5128" b="-217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p:cNvSpPr>
              <p:nvPr/>
            </p:nvSpPr>
            <p:spPr>
              <a:xfrm>
                <a:off x="666750" y="431482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noRot="1" noChangeAspect="1" noMove="1" noResize="1" noEditPoints="1" noAdjustHandles="1" noChangeArrowheads="1" noChangeShapeType="1" noTextEdit="1"/>
              </p:cNvSpPr>
              <p:nvPr/>
            </p:nvSpPr>
            <p:spPr>
              <a:xfrm>
                <a:off x="666750" y="4314825"/>
                <a:ext cx="10858500" cy="666750"/>
              </a:xfrm>
              <a:prstGeom prst="rect">
                <a:avLst/>
              </a:prstGeom>
              <a:blipFill>
                <a:blip r:embed="rId6"/>
                <a:stretch>
                  <a:fillRect/>
                </a:stretch>
              </a:blipFill>
              <a:ln w="0">
                <a:noFill/>
              </a:ln>
            </p:spPr>
            <p:txBody>
              <a:bodyPr/>
              <a:lstStyle/>
              <a:p>
                <a:r>
                  <a:rPr lang="it-IT">
                    <a:noFill/>
                  </a:rPr>
                  <a:t> </a:t>
                </a:r>
              </a:p>
            </p:txBody>
          </p:sp>
        </mc:Fallback>
      </mc:AlternateContent>
      <p:sp>
        <p:nvSpPr>
          <p:cNvPr id="9" name="text_5">
            <a:extLst>
              <a:ext uri="{FF2B5EF4-FFF2-40B4-BE49-F238E27FC236}">
                <a16:creationId xmlns:a16="http://schemas.microsoft.com/office/drawing/2014/main" id="{DC7C836F-6021-4180-9378-3031C74CD60B}"/>
              </a:ext>
            </a:extLst>
          </p:cNvPr>
          <p:cNvSpPr>
            <a:spLocks noGrp="1"/>
          </p:cNvSpPr>
          <p:nvPr/>
        </p:nvSpPr>
        <p:spPr>
          <a:xfrm>
            <a:off x="809625" y="6038850"/>
            <a:ext cx="10572750" cy="34290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800" b="0">
                <a:solidFill>
                  <a:srgbClr val="526276"/>
                </a:solidFill>
                <a:latin typeface="DejaVu Sans"/>
                <a:ea typeface="DejaVu Sans"/>
                <a:cs typeface="DejaVu Sans"/>
              </a:rPr>
              <a:t>Working memory excludes the dataset.</a:t>
            </a:r>
          </a:p>
        </p:txBody>
      </p:sp>
      <mc:AlternateContent xmlns:mc="http://schemas.openxmlformats.org/markup-compatibility/2006">
        <mc:Choice xmlns:a14="http://schemas.microsoft.com/office/drawing/2010/main" Requires="a14">
          <p:sp>
            <p:nvSpPr>
              <p:cNvPr id="11" name="memory_parameters">
                <a:extLst>
                  <a:ext uri="{FF2B5EF4-FFF2-40B4-BE49-F238E27FC236}">
                    <a16:creationId xmlns:a16="http://schemas.microsoft.com/office/drawing/2014/main" id="{AF2827B0-530E-4D7B-9F22-03FECF6DAE59}"/>
                  </a:ext>
                </a:extLst>
              </p:cNvPr>
              <p:cNvSpPr>
                <a:spLocks noGrp="1"/>
              </p:cNvSpPr>
              <p:nvPr/>
            </p:nvSpPr>
            <p:spPr>
              <a:xfrm>
                <a:off x="523875" y="26860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Parameters and parameter gradients: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 each.</a:t>
                </a:r>
              </a:p>
            </p:txBody>
          </p:sp>
        </mc:Choice>
        <mc:Fallback>
          <p:sp>
            <p:nvSpPr>
              <p:cNvPr id="11" name="memory_parameters">
                <a:extLst>
                  <a:ext uri="{FF2B5EF4-FFF2-40B4-BE49-F238E27FC236}">
                    <a16:creationId xmlns:a16="http://schemas.microsoft.com/office/drawing/2014/main" id="{AF2827B0-530E-4D7B-9F22-03FECF6DAE59}"/>
                  </a:ext>
                </a:extLst>
              </p:cNvPr>
              <p:cNvSpPr>
                <a:spLocks noGrp="1" noRot="1" noChangeAspect="1" noMove="1" noResize="1" noEditPoints="1" noAdjustHandles="1" noChangeArrowheads="1" noChangeShapeType="1" noTextEdit="1"/>
              </p:cNvSpPr>
              <p:nvPr/>
            </p:nvSpPr>
            <p:spPr>
              <a:xfrm>
                <a:off x="523875" y="2686050"/>
                <a:ext cx="11144250" cy="295275"/>
              </a:xfrm>
              <a:prstGeom prst="rect">
                <a:avLst/>
              </a:prstGeom>
              <a:blipFill>
                <a:blip r:embed="rId7"/>
                <a:stretch>
                  <a:fillRect t="-25000" b="-458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memory_saved">
                <a:extLst>
                  <a:ext uri="{FF2B5EF4-FFF2-40B4-BE49-F238E27FC236}">
                    <a16:creationId xmlns:a16="http://schemas.microsoft.com/office/drawing/2014/main" id="{0C820F0D-54C2-41E1-AD07-0E0779027101}"/>
                  </a:ext>
                </a:extLst>
              </p:cNvPr>
              <p:cNvSpPr>
                <a:spLocks noGrp="1"/>
              </p:cNvSpPr>
              <p:nvPr/>
            </p:nvSpPr>
            <p:spPr>
              <a:xfrm>
                <a:off x="523875" y="30289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Saved values and intermediate gradients: </a:t>
                </a:r>
                <a14:m>
                  <m:oMath xmlns:m="http://schemas.openxmlformats.org/officeDocument/2006/math">
                    <m:r>
                      <a:rPr lang="en-GB" sz="1800">
                        <a:solidFill>
                          <a:srgbClr val="526276"/>
                        </a:solidFill>
                        <a:latin typeface="Cambria Math"/>
                        <a:ea typeface="Cambria Math"/>
                        <a:cs typeface="Cambria Math"/>
                      </a:rPr>
                      <m:t>𝑂</m:t>
                    </m:r>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entries.</a:t>
                </a:r>
              </a:p>
            </p:txBody>
          </p:sp>
        </mc:Choice>
        <mc:Fallback>
          <p:sp>
            <p:nvSpPr>
              <p:cNvPr id="12" name="memory_saved">
                <a:extLst>
                  <a:ext uri="{FF2B5EF4-FFF2-40B4-BE49-F238E27FC236}">
                    <a16:creationId xmlns:a16="http://schemas.microsoft.com/office/drawing/2014/main" id="{0C820F0D-54C2-41E1-AD07-0E0779027101}"/>
                  </a:ext>
                </a:extLst>
              </p:cNvPr>
              <p:cNvSpPr>
                <a:spLocks noGrp="1" noRot="1" noChangeAspect="1" noMove="1" noResize="1" noEditPoints="1" noAdjustHandles="1" noChangeArrowheads="1" noChangeShapeType="1" noTextEdit="1"/>
              </p:cNvSpPr>
              <p:nvPr/>
            </p:nvSpPr>
            <p:spPr>
              <a:xfrm>
                <a:off x="523875" y="3028950"/>
                <a:ext cx="11144250" cy="295275"/>
              </a:xfrm>
              <a:prstGeom prst="rect">
                <a:avLst/>
              </a:prstGeom>
              <a:blipFill>
                <a:blip r:embed="rId8"/>
                <a:stretch>
                  <a:fillRect t="-22917" b="-458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memory_bound">
                <a:extLst>
                  <a:ext uri="{FF2B5EF4-FFF2-40B4-BE49-F238E27FC236}">
                    <a16:creationId xmlns:a16="http://schemas.microsoft.com/office/drawing/2014/main" id="{34A6FBFA-DE40-400A-9023-71607F0131B1}"/>
                  </a:ext>
                </a:extLst>
              </p:cNvPr>
              <p:cNvSpPr>
                <a:spLocks noGrp="1"/>
              </p:cNvSpPr>
              <p:nvPr/>
            </p:nvSpPr>
            <p:spPr>
              <a:xfrm>
                <a:off x="381000" y="3371850"/>
                <a:ext cx="1143000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one bias per non-input neuron, plus at least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oMath>
                </a14:m>
                <a:r>
                  <a:rPr sz="1800" b="0">
                    <a:solidFill>
                      <a:srgbClr val="526276"/>
                    </a:solidFill>
                    <a:latin typeface="DejaVu Sans"/>
                    <a:ea typeface="DejaVu Sans"/>
                    <a:cs typeface="DejaVu Sans"/>
                  </a:rPr>
                  <a:t> first-layer weights.</a:t>
                </a:r>
              </a:p>
            </p:txBody>
          </p:sp>
        </mc:Choice>
        <mc:Fallback>
          <p:sp>
            <p:nvSpPr>
              <p:cNvPr id="13" name="memory_bound">
                <a:extLst>
                  <a:ext uri="{FF2B5EF4-FFF2-40B4-BE49-F238E27FC236}">
                    <a16:creationId xmlns:a16="http://schemas.microsoft.com/office/drawing/2014/main" id="{34A6FBFA-DE40-400A-9023-71607F0131B1}"/>
                  </a:ext>
                </a:extLst>
              </p:cNvPr>
              <p:cNvSpPr>
                <a:spLocks noGrp="1" noRot="1" noChangeAspect="1" noMove="1" noResize="1" noEditPoints="1" noAdjustHandles="1" noChangeArrowheads="1" noChangeShapeType="1" noTextEdit="1"/>
              </p:cNvSpPr>
              <p:nvPr/>
            </p:nvSpPr>
            <p:spPr>
              <a:xfrm>
                <a:off x="381000" y="3371850"/>
                <a:ext cx="11430000" cy="295275"/>
              </a:xfrm>
              <a:prstGeom prst="rect">
                <a:avLst/>
              </a:prstGeom>
              <a:blipFill>
                <a:blip r:embed="rId9"/>
                <a:stretch>
                  <a:fillRect t="-22449" b="-4285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memory_accumulation">
                <a:extLst>
                  <a:ext uri="{FF2B5EF4-FFF2-40B4-BE49-F238E27FC236}">
                    <a16:creationId xmlns:a16="http://schemas.microsoft.com/office/drawing/2014/main" id="{10F27F8D-950C-4D11-A4F4-AE6139D0FD29}"/>
                  </a:ext>
                </a:extLst>
              </p:cNvPr>
              <p:cNvSpPr>
                <a:spLocks noGrp="1"/>
              </p:cNvSpPr>
              <p:nvPr/>
            </p:nvSpPr>
            <p:spPr>
              <a:xfrm>
                <a:off x="523875" y="51149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Accumulate each observation’s gradient into one vector with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a:t>
                </a:r>
              </a:p>
            </p:txBody>
          </p:sp>
        </mc:Choice>
        <mc:Fallback>
          <p:sp>
            <p:nvSpPr>
              <p:cNvPr id="14" name="memory_accumulation">
                <a:extLst>
                  <a:ext uri="{FF2B5EF4-FFF2-40B4-BE49-F238E27FC236}">
                    <a16:creationId xmlns:a16="http://schemas.microsoft.com/office/drawing/2014/main" id="{10F27F8D-950C-4D11-A4F4-AE6139D0FD29}"/>
                  </a:ext>
                </a:extLst>
              </p:cNvPr>
              <p:cNvSpPr>
                <a:spLocks noGrp="1" noRot="1" noChangeAspect="1" noMove="1" noResize="1" noEditPoints="1" noAdjustHandles="1" noChangeArrowheads="1" noChangeShapeType="1" noTextEdit="1"/>
              </p:cNvSpPr>
              <p:nvPr/>
            </p:nvSpPr>
            <p:spPr>
              <a:xfrm>
                <a:off x="523875" y="5114925"/>
                <a:ext cx="11144250" cy="295275"/>
              </a:xfrm>
              <a:prstGeom prst="rect">
                <a:avLst/>
              </a:prstGeom>
              <a:blipFill>
                <a:blip r:embed="rId10"/>
                <a:stretch>
                  <a:fillRect t="-22449" b="-42857"/>
                </a:stretch>
              </a:blipFill>
              <a:ln w="0">
                <a:noFill/>
              </a:ln>
            </p:spPr>
            <p:txBody>
              <a:bodyPr/>
              <a:lstStyle/>
              <a:p>
                <a:r>
                  <a:rPr lang="it-IT">
                    <a:noFill/>
                  </a:rPr>
                  <a:t> </a:t>
                </a:r>
              </a:p>
            </p:txBody>
          </p:sp>
        </mc:Fallback>
      </mc:AlternateContent>
      <p:sp>
        <p:nvSpPr>
          <p:cNvPr id="15" name="memory_reuse">
            <a:extLst>
              <a:ext uri="{FF2B5EF4-FFF2-40B4-BE49-F238E27FC236}">
                <a16:creationId xmlns:a16="http://schemas.microsoft.com/office/drawing/2014/main" id="{6A48C0A8-685E-4D3C-9EF9-45202E6484AD}"/>
              </a:ext>
            </a:extLst>
          </p:cNvPr>
          <p:cNvSpPr>
            <a:spLocks noGrp="1"/>
          </p:cNvSpPr>
          <p:nvPr/>
        </p:nvSpPr>
        <p:spPr>
          <a:xfrm>
            <a:off x="523875" y="54578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Then reuse its forward/backward storage for the next observation.</a:t>
            </a:r>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Backpropagation organises the chain rule</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42</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completed gradient.</a:t>
            </a:r>
          </a:p>
        </p:txBody>
      </p:sp>
      <p:sp>
        <p:nvSpPr>
          <p:cNvPr id="8" name="text_4">
            <a:extLst>
              <a:ext uri="{FF2B5EF4-FFF2-40B4-BE49-F238E27FC236}">
                <a16:creationId xmlns:a16="http://schemas.microsoft.com/office/drawing/2014/main" id="{B1EA03C3-C546-4186-B12D-9EFBFA43C3B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Calculating the gradient and choosing the update are separate steps.</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495</TotalTime>
  <Words>13923</Words>
  <Application>Microsoft Office PowerPoint</Application>
  <DocSecurity>0</DocSecurity>
  <PresentationFormat>Widescreen</PresentationFormat>
  <Paragraphs>2420</Paragraphs>
  <Slides>43</Slides>
  <Notes>43</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43</vt:i4>
      </vt:variant>
    </vt:vector>
  </HeadingPairs>
  <TitlesOfParts>
    <vt:vector size="51"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13</cp:revision>
  <dcterms:created xsi:type="dcterms:W3CDTF">2026-10-18T16:31:13Z</dcterms:created>
  <dcterms:modified xsi:type="dcterms:W3CDTF">2026-10-20T20:27:00Z</dcterms:modified>
</cp:coreProperties>
</file>