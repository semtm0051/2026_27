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5"/>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5" r:id="rId43"/>
    <p:sldId id="297" r:id="rId4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vectors,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[CLICK 1]</a:t>
            </a:r>
          </a:p>
          <a:p>
            <a:r>
              <a:rPr lang="en-GB"/>
              <a:t>The notation convention appears with this first click: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appear together.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When the definition appears, 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Keep the J_3 region already introduced on the preceding slide. Starting at a_2(x), which operations still remain before we obtain the loss? Identify ReLU, the output affine operation and the final loss.</a:t>
            </a:r>
          </a:p>
          <a:p>
            <a:r>
              <a:rPr lang="en-GB"/>
              <a:t>[CLICK 1]</a:t>
            </a:r>
          </a:p>
          <a:p>
            <a:r>
              <a:rPr lang="en-GB"/>
              <a:t>The J_2 boundary appears with its definition and the loss composition. Apply ReLU to a possible preactivation u, then the output affine operation. Use J_3 for the remaining squared-loss operation. This function uses only w_3, b_3 and y. The earlier boundary remains visible.</a:t>
            </a:r>
          </a:p>
          <a:p>
            <a:r>
              <a:rPr lang="en-GB"/>
              <a:t>[CLICK 2]</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Keep the J_3 and J_2 regions from the preceding slide. Start at a_1(x). Which operations are needed before we can use the already-defined function J_2?</a:t>
            </a:r>
          </a:p>
          <a:p>
            <a:r>
              <a:rPr lang="en-GB"/>
              <a:t>[CLICK 1]</a:t>
            </a:r>
          </a:p>
          <a:p>
            <a:r>
              <a:rPr lang="en-GB"/>
              <a:t>The J_1 boundary appears together with its definition and the loss composition. The red equality states L_sq(θ)=J_1(a_1(x)). The definition has the same color as the new boundary and uses J_2 for the remaining computation. Read the fixed-parameter statement below. The earlier boundaries remain visible.</a:t>
            </a:r>
          </a:p>
          <a:p>
            <a:r>
              <a:rPr lang="en-GB"/>
              <a:t>[CLICK 2]</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the output layer</a:t>
            </a:r>
          </a:p>
          <a:p>
            <a:r>
              <a:rPr lang="en-GB"/>
              <a:t>Suggested time: 1.35 minutes</a:t>
            </a:r>
          </a:p>
          <a:p>
            <a:r>
              <a:rPr lang="en-GB"/>
              <a:t>Target interval: 16:33–17:54 (including pauses).</a:t>
            </a:r>
          </a:p>
          <a:p>
            <a:endParaRPr lang="en-GB"/>
          </a:p>
          <a:p>
            <a:r>
              <a:rPr lang="en-GB"/>
              <a:t>[ON ENTRY]</a:t>
            </a:r>
          </a:p>
          <a:p>
            <a:r>
              <a:rPr lang="en-GB"/>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rPr lang="en-GB"/>
              <a:t>[CLICK 1]</a:t>
            </a:r>
          </a:p>
          <a:p>
            <a:r>
              <a:rPr lang="en-GB"/>
              <a:t>Follow the dashed blue arrows into the output column. Twice the difference between output and target gives minus two. The new intermediate derivative is orange.</a:t>
            </a:r>
          </a:p>
          <a:p>
            <a:r>
              <a:rPr lang="en-GB"/>
              <a:t>[CLICK 2]</a:t>
            </a:r>
          </a:p>
          <a:p>
            <a:r>
              <a:rPr lang="en-GB"/>
              <a:t>The orange arrows show how we reuse it. It gives the bias derivative directly. For the weight derivative, the dashed blue arrow supplies the saved activation five: minus two times five gives minus ten. The red boxes are parameter derivatives needed for the update.</a:t>
            </a:r>
          </a:p>
          <a:p>
            <a:r>
              <a:rPr lang="en-GB"/>
              <a:t>[NEXT SLIDE]</a:t>
            </a:r>
          </a:p>
          <a:p>
            <a:r>
              <a:rPr lang="en-GB"/>
              <a:t>Now move one column to the left, keeping these results.</a:t>
            </a:r>
          </a:p>
          <a:p>
            <a:r>
              <a:rPr lang="en-GB"/>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2</a:t>
            </a:r>
          </a:p>
          <a:p>
            <a:r>
              <a:rPr lang="en-GB"/>
              <a:t>Suggested time: 1.4 minutes</a:t>
            </a:r>
          </a:p>
          <a:p>
            <a:r>
              <a:rPr lang="en-GB"/>
              <a:t>Target interval: 17:54–19:18 (including pauses).</a:t>
            </a:r>
          </a:p>
          <a:p>
            <a:endParaRPr lang="en-GB"/>
          </a:p>
          <a:p>
            <a:r>
              <a:rPr lang="en-GB"/>
              <a:t>[ON ENTRY]</a:t>
            </a:r>
          </a:p>
          <a:p>
            <a:r>
              <a:rPr lang="en-GB"/>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rPr lang="en-GB"/>
              <a:t>[CLICK 1]</a:t>
            </a:r>
          </a:p>
          <a:p>
            <a:r>
              <a:rPr lang="en-GB"/>
              <a:t>Follow the dashed arrow from right to left. Multiply the available derivative minus two by the weight minus one and the ReLU factor at five, which is one. We obtain the new orange intermediate derivative, two.</a:t>
            </a:r>
          </a:p>
          <a:p>
            <a:r>
              <a:rPr lang="en-GB"/>
              <a:t>[CLICK 2]</a:t>
            </a:r>
          </a:p>
          <a:p>
            <a:r>
              <a:rPr lang="en-GB"/>
              <a:t>The bias derivative is therefore two. The weight derivative also uses the saved input to this layer. The blue dashed path brings in the activation three, so two times three gives six. The new parameter derivatives are red; the earlier ones remain grey.</a:t>
            </a:r>
          </a:p>
          <a:p>
            <a:r>
              <a:rPr lang="en-GB"/>
              <a:t>[NEXT SLIDE]</a:t>
            </a:r>
          </a:p>
          <a:p>
            <a:r>
              <a:rPr lang="en-GB"/>
              <a:t>We can repeat exactly this step for the first hidden layer.</a:t>
            </a:r>
          </a:p>
          <a:p>
            <a:r>
              <a:rPr lang="en-GB"/>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Backward pass: hidden layer 1</a:t>
            </a:r>
          </a:p>
          <a:p>
            <a:r>
              <a:rPr lang="en-GB"/>
              <a:t>Suggested time: 1.3 minutes</a:t>
            </a:r>
          </a:p>
          <a:p>
            <a:r>
              <a:rPr lang="en-GB"/>
              <a:t>Target interval: 19:18–20:36 (including pauses).</a:t>
            </a:r>
          </a:p>
          <a:p>
            <a:endParaRPr lang="en-GB"/>
          </a:p>
          <a:p>
            <a:r>
              <a:rPr lang="en-GB"/>
              <a:t>[ON ENTRY]</a:t>
            </a:r>
          </a:p>
          <a:p>
            <a:r>
              <a:rPr lang="en-GB"/>
              <a:t>We now work in the left-hand column. The derivative two from hidden layer two is blue because we reuse it. The earlier output derivative is grey because this step does not need it. All saved forward values remain in their original positions.</a:t>
            </a:r>
          </a:p>
          <a:p>
            <a:r>
              <a:rPr lang="en-GB"/>
              <a:t>[CLICK 1]</a:t>
            </a:r>
          </a:p>
          <a:p>
            <a:r>
              <a:rPr lang="en-GB"/>
              <a:t>Combine the derivative two with the connecting weight two and the ReLU factor at preactivation three. The result is four, shown in orange. We have propagated the derivative all the way back to the first hidden layer.</a:t>
            </a:r>
          </a:p>
          <a:p>
            <a:r>
              <a:rPr lang="en-GB"/>
              <a:t>[CLICK 2]</a:t>
            </a:r>
          </a:p>
          <a:p>
            <a:r>
              <a:rPr lang="en-GB"/>
              <a:t>This gives the bias derivative four. For the weight derivative, the blue path supplies the original input: phi zero of x equals x, which is two here. Four times two gives eight. All six parameter derivatives are now visible, with the newly calculated pair in red.</a:t>
            </a:r>
          </a:p>
          <a:p>
            <a:r>
              <a:rPr lang="en-GB"/>
              <a:t>[NEXT SLIDE]</a:t>
            </a:r>
          </a:p>
          <a:p>
            <a:r>
              <a:rPr lang="en-GB"/>
              <a:t>All six parameter derivatives are now available. Collect them into the gradient in the same order as the parameter column, then use that complete gradient for the update.</a:t>
            </a:r>
          </a:p>
          <a:p>
            <a:r>
              <a:rPr lang="en-GB"/>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and allow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endParaRPr lang="en-GB"/>
          </a:p>
          <a:p>
            <a:r>
              <a:rPr lang="en-GB" dirty="0"/>
              <a:t>Suggested time: 1.6 minutes</a:t>
            </a:r>
            <a:endParaRPr lang="en-GB"/>
          </a:p>
          <a:p>
            <a:r>
              <a:rPr lang="en-GB" dirty="0"/>
              <a:t>Target interval: 24:33–26:09 (including pauses).</a:t>
            </a:r>
            <a:endParaRPr lang="en-GB"/>
          </a:p>
          <a:p>
            <a:endParaRPr lang="en-GB"/>
          </a:p>
          <a:p>
            <a:r>
              <a:rPr lang="en-GB" dirty="0"/>
              <a:t>[ON ENTRY]</a:t>
            </a:r>
            <a:endParaRPr lang="en-GB"/>
          </a:p>
          <a:p>
            <a:r>
              <a:rPr lang="en-GB" dirty="0"/>
              <a:t>The organisation stays the same, but let us identify exactly what changes. On the left are the quantities from our scalar network; on the right are their counterparts in a wider network. The input to layer r becomes a row with one entry per incoming coordinate. One weight becomes a matrix: its rows index incoming coordinates and its columns index the neurons we are calculating. Each neuron also has its own bias, and produces one preactivation. The bias and preactivation rows therefore both have d sub r entries.</a:t>
            </a:r>
            <a:endParaRPr lang="en-GB"/>
          </a:p>
          <a:p>
            <a:endParaRPr lang="en-GB"/>
          </a:p>
          <a:p>
            <a:r>
              <a:rPr lang="en-GB" dirty="0"/>
              <a:t>[PAUSE: point across the four rows.]</a:t>
            </a:r>
            <a:endParaRPr lang="en-GB"/>
          </a:p>
          <a:p>
            <a:r>
              <a:rPr lang="en-GB" dirty="0"/>
              <a:t>For example, two incoming coordinates and three neurons require a two-by-three weight matrix.</a:t>
            </a:r>
            <a:endParaRPr lang="en-GB"/>
          </a:p>
          <a:p>
            <a:endParaRPr lang="en-GB"/>
          </a:p>
          <a:p>
            <a:r>
              <a:rPr lang="en-GB" dirty="0"/>
              <a:t>[CLICK 1]</a:t>
            </a:r>
            <a:endParaRPr lang="en-GB"/>
          </a:p>
          <a:p>
            <a:r>
              <a:rPr lang="en-GB" dirty="0"/>
              <a:t>The forward calculation has the same form. Multiply the preceding activation row by the weight matrix and add the bias row. At a hidden layer, apply ReLU to each coordinate. The input row is phi zero of x, which equals x. Layer L is the affine output; it has no following ReLU.</a:t>
            </a:r>
            <a:endParaRPr lang="en-GB"/>
          </a:p>
          <a:p>
            <a:endParaRPr lang="en-GB"/>
          </a:p>
          <a:p>
            <a:r>
              <a:rPr lang="en-GB" dirty="0"/>
              <a:t>[NEXT SLIDE]</a:t>
            </a:r>
            <a:endParaRPr lang="en-GB"/>
          </a:p>
          <a:p>
            <a:r>
              <a:rPr lang="en-GB" dirty="0"/>
              <a:t>The remaining loss function must now accept a row too.</a:t>
            </a:r>
            <a:endParaRPr lang="en-GB"/>
          </a:p>
          <a:p>
            <a:r>
              <a:rPr lang="en-GB" dirty="0"/>
              <a:t>Source: Week 5 lecture notes, pages 11–12.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vector version.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endParaRPr lang="en-GB" dirty="0"/>
          </a:p>
          <a:p>
            <a:r>
              <a:rPr lang="en-GB" dirty="0"/>
              <a:t>[ON ENTRY]</a:t>
            </a:r>
          </a:p>
          <a:p>
            <a:r>
              <a:rPr lang="en-GB" dirty="0"/>
              <a:t>Begin with a zero accumulator, with an entry for every parameter. Keep the current parameters fixed.</a:t>
            </a:r>
          </a:p>
          <a:p>
            <a:endParaRPr lang="en-GB" dirty="0"/>
          </a:p>
          <a:p>
            <a:r>
              <a:rPr lang="en-GB" dirty="0"/>
              <a:t>[CLICK1]</a:t>
            </a:r>
          </a:p>
          <a:p>
            <a:r>
              <a:rPr lang="en-GB" dirty="0"/>
              <a:t>For each observation, perform the forward pass, save its intermediate values, perform the backward pass, and add its parameter derivatives to the accumulator.</a:t>
            </a:r>
          </a:p>
          <a:p>
            <a:endParaRPr lang="en-GB" dirty="0"/>
          </a:p>
          <a:p>
            <a:r>
              <a:rPr lang="en-GB" dirty="0"/>
              <a:t>[CLICK2]</a:t>
            </a:r>
          </a:p>
          <a:p>
            <a:r>
              <a:rPr lang="en-GB" dirty="0"/>
              <a:t>After every observation has contributed, the accumulator contains the empirical-loss gradient. We then update all parameters together, using our chosen learning rate.</a:t>
            </a:r>
          </a:p>
          <a:p>
            <a:endParaRPr lang="en-GB" dirty="0"/>
          </a:p>
          <a:p>
            <a:r>
              <a:rPr lang="en-GB" dirty="0"/>
              <a:t>Would updating between observations implement this same procedure?</a:t>
            </a:r>
          </a:p>
          <a:p>
            <a:endParaRPr lang="en-GB" dirty="0"/>
          </a:p>
          <a:p>
            <a:r>
              <a:rPr lang="en-GB" dirty="0"/>
              <a:t>[PAUSE: 4 seconds.]</a:t>
            </a:r>
          </a:p>
          <a:p>
            <a:r>
              <a:rPr lang="en-GB" dirty="0"/>
              <a:t>No. It would use changing parameter values and therefore be a different procedure. Backpropagation supplies the derivatives; the update rule specifies how and when to use them.</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Take-home messages from backpropagation</a:t>
            </a:r>
          </a:p>
          <a:p>
            <a:r>
              <a:rPr lang="en-GB"/>
              <a:t>Suggested time: 1.1 minutes.</a:t>
            </a:r>
          </a:p>
          <a:p>
            <a:r>
              <a:rPr lang="en-GB"/>
              <a:t>[ON ENTRY] Backpropagation calculates the gradient efficiently. Summarise the three stages, revealing one line per click.</a:t>
            </a:r>
          </a:p>
          <a:p>
            <a:r>
              <a:rPr lang="en-GB"/>
              <a:t>[CLICK 1] Forward: calculate the output and loss, saving the preactivations and inputs to each layer that the backward calculation will use.</a:t>
            </a:r>
          </a:p>
          <a:p>
            <a:r>
              <a:rPr lang="en-GB"/>
              <a:t>[CLICK 2] Backward: start at the loss and reuse intermediate derivatives, layer by layer, to obtain all parameter derivatives.</a:t>
            </a:r>
          </a:p>
          <a:p>
            <a:r>
              <a:rPr lang="en-GB"/>
              <a:t>[CLICK 3] Update: use the computed gradient to update the parameters. Backpropagation computes the gradient; the optimiser then uses it to choose an update. These are separate steps.</a:t>
            </a:r>
          </a:p>
          <a:p>
            <a:r>
              <a:rPr lang="en-GB"/>
              <a:t>[PAUSE] Let the three take-home messages remain visible.</a:t>
            </a:r>
          </a:p>
          <a:p>
            <a:r>
              <a:rPr lang="en-GB"/>
              <a:t>[NEXT SLIDE] Point to the course materials.</a:t>
            </a:r>
          </a:p>
          <a:p>
            <a:r>
              <a:rPr lang="en-GB"/>
              <a:t>Source: Week 5 lecture notes, pages 1,21–22.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r>
              <a:rPr lang="en-GB" dirty="0"/>
              <a:t>Target interval: 49:42–50:00 (including pauses).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3" Type="http://schemas.openxmlformats.org/officeDocument/2006/relationships/image" Target="../media/image115.png"/><Relationship Id="rId18" Type="http://schemas.openxmlformats.org/officeDocument/2006/relationships/image" Target="../media/image120.png"/><Relationship Id="rId39" Type="http://schemas.openxmlformats.org/officeDocument/2006/relationships/image" Target="../media/image140.png"/><Relationship Id="rId21" Type="http://schemas.openxmlformats.org/officeDocument/2006/relationships/image" Target="../media/image123.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7" Type="http://schemas.openxmlformats.org/officeDocument/2006/relationships/image" Target="../media/image109.png"/><Relationship Id="rId2" Type="http://schemas.openxmlformats.org/officeDocument/2006/relationships/notesSlide" Target="../notesSlides/notesSlide7.xml"/><Relationship Id="rId16" Type="http://schemas.openxmlformats.org/officeDocument/2006/relationships/image" Target="../media/image118.png"/><Relationship Id="rId29" Type="http://schemas.openxmlformats.org/officeDocument/2006/relationships/image" Target="../media/image130.png"/><Relationship Id="rId11" Type="http://schemas.openxmlformats.org/officeDocument/2006/relationships/image" Target="../media/image113.png"/><Relationship Id="rId24" Type="http://schemas.openxmlformats.org/officeDocument/2006/relationships/image" Target="../media/image126.png"/><Relationship Id="rIdFullJ64" Type="http://schemas.openxmlformats.org/officeDocument/2006/relationships/image" Target="../media/full_j_7_64.png"/><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17.png"/><Relationship Id="rId23" Type="http://schemas.openxmlformats.org/officeDocument/2006/relationships/image" Target="../media/image125.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10" Type="http://schemas.openxmlformats.org/officeDocument/2006/relationships/image" Target="../media/image112.png"/><Relationship Id="rId19" Type="http://schemas.openxmlformats.org/officeDocument/2006/relationships/image" Target="../media/image121.png"/><Relationship Id="rId31" Type="http://schemas.openxmlformats.org/officeDocument/2006/relationships/image" Target="../media/image132.png"/><Relationship Id="rId44"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1.png"/><Relationship Id="rId14" Type="http://schemas.openxmlformats.org/officeDocument/2006/relationships/image" Target="../media/image116.png"/><Relationship Id="rId22" Type="http://schemas.openxmlformats.org/officeDocument/2006/relationships/image" Target="../media/image124.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 Id="rId8" Type="http://schemas.openxmlformats.org/officeDocument/2006/relationships/image" Target="../media/image110.png"/><Relationship Id="rId51" Type="http://schemas.openxmlformats.org/officeDocument/2006/relationships/image" Target="../media/image101.png"/><Relationship Id="rId12" Type="http://schemas.openxmlformats.org/officeDocument/2006/relationships/image" Target="../media/image114.png"/><Relationship Id="rId17" Type="http://schemas.openxmlformats.org/officeDocument/2006/relationships/image" Target="../media/image119.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0" Type="http://schemas.openxmlformats.org/officeDocument/2006/relationships/image" Target="../media/image122.png"/><Relationship Id="rId41" Type="http://schemas.openxmlformats.org/officeDocument/2006/relationships/image" Target="../media/image142.png"/><Relationship Id="rId1" Type="http://schemas.openxmlformats.org/officeDocument/2006/relationships/slideLayout" Target="../slideLayouts/slideLayout6.xml"/><Relationship Id="rId6" Type="http://schemas.openxmlformats.org/officeDocument/2006/relationships/image" Target="../media/image10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26" Type="http://schemas.openxmlformats.org/officeDocument/2006/relationships/image" Target="../media/image1010.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27" Type="http://schemas.openxmlformats.org/officeDocument/2006/relationships/image" Target="../media/image102.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50.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27" Type="http://schemas.openxmlformats.org/officeDocument/2006/relationships/image" Target="../media/image1040.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2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2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14.png"/><Relationship Id="rId7" Type="http://schemas.openxmlformats.org/officeDocument/2006/relationships/image" Target="../media/image2060.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213.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21.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212.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20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7" Type="http://schemas.openxmlformats.org/officeDocument/2006/relationships/image" Target="../media/image1810.png"/><Relationship Id="rId12" Type="http://schemas.openxmlformats.org/officeDocument/2006/relationships/image" Target="../media/image2100.png"/><Relationship Id="rId17" Type="http://schemas.openxmlformats.org/officeDocument/2006/relationships/image" Target="../media/image202.png"/><Relationship Id="rIdFit_18_equation_48" Type="http://schemas.openxmlformats.org/officeDocument/2006/relationships/image" Target="../media/animation_fit_18_equation_48.png"/><Relationship Id="rId25" Type="http://schemas.openxmlformats.org/officeDocument/2006/relationships/image" Target="../media/image217.png"/><Relationship Id="rIdFit_18_equation_130" Type="http://schemas.openxmlformats.org/officeDocument/2006/relationships/image" Target="../media/animation_fit_18_equation_130.png"/><Relationship Id="rIdFit_18_equation_211" Type="http://schemas.openxmlformats.org/officeDocument/2006/relationships/image" Target="../media/animation_fit_18_equation_211.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2030.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2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2040.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19.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8" Type="http://schemas.openxmlformats.org/officeDocument/2006/relationships/image" Target="../media/image243.png"/><Relationship Id="rId13" Type="http://schemas.openxmlformats.org/officeDocument/2006/relationships/image" Target="../media/image248.png"/><Relationship Id="rId3" Type="http://schemas.openxmlformats.org/officeDocument/2006/relationships/image" Target="../media/image239.png"/><Relationship Id="rId7" Type="http://schemas.openxmlformats.org/officeDocument/2006/relationships/image" Target="../media/image242.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241.png"/><Relationship Id="rId11" Type="http://schemas.openxmlformats.org/officeDocument/2006/relationships/image" Target="../media/image246.png"/><Relationship Id="rId5" Type="http://schemas.openxmlformats.org/officeDocument/2006/relationships/image" Target="../media/image240.png"/><Relationship Id="rId15" Type="http://schemas.openxmlformats.org/officeDocument/2006/relationships/image" Target="../media/image250.png"/><Relationship Id="rId10" Type="http://schemas.openxmlformats.org/officeDocument/2006/relationships/image" Target="../media/image245.png"/><Relationship Id="rId4" Type="http://schemas.openxmlformats.org/officeDocument/2006/relationships/image" Target="../media/image2390.png"/><Relationship Id="rId9" Type="http://schemas.openxmlformats.org/officeDocument/2006/relationships/image" Target="../media/image244.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238.png"/><Relationship Id="rId3" Type="http://schemas.openxmlformats.org/officeDocument/2006/relationships/image" Target="../media/image228.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251.png"/><Relationship Id="rId4" Type="http://schemas.openxmlformats.org/officeDocument/2006/relationships/image" Target="../media/image234.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3" Type="http://schemas.openxmlformats.org/officeDocument/2006/relationships/image" Target="../media/image199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2160.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2260.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1.xml"/><Relationship Id="rId1" Type="http://schemas.openxmlformats.org/officeDocument/2006/relationships/slideLayout" Target="../slideLayouts/slideLayout8.xml"/><Relationship Id="rId4" Type="http://schemas.openxmlformats.org/officeDocument/2006/relationships/image" Target="../media/image36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04825" y="4533720"/>
            <a:ext cx="11144250" cy="1821360"/>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Tree>
    <p:extLst>
      <p:ext uri="{BB962C8B-B14F-4D97-AF65-F5344CB8AC3E}">
        <p14:creationId xmlns:p14="http://schemas.microsoft.com/office/powerpoint/2010/main" val="1955957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5" name="note_box_1">
            <a:extLst>
              <a:ext uri="{FF2B5EF4-FFF2-40B4-BE49-F238E27FC236}">
                <a16:creationId xmlns:a16="http://schemas.microsoft.com/office/drawing/2014/main" id="{328E08D8-36F3-4966-8A4D-237FAEA730A5}"/>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32803342-8106-48AF-B5A9-477CFBA284B6}"/>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0</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6" name="equation_2" descr="\phi_0(x)">
                <a:extLst>
                  <a:ext uri="{FF2B5EF4-FFF2-40B4-BE49-F238E27FC236}">
                    <a16:creationId xmlns:a16="http://schemas.microsoft.com/office/drawing/2014/main" id="{32803342-8106-48AF-B5A9-477CFBA284B6}"/>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943706E8-CDEA-4106-B6DA-46EE68456AA3}"/>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2</m:t>
                      </m:r>
                    </m:oMath>
                  </m:oMathPara>
                </a14:m>
                <a:endParaRPr lang="en-GB" sz="2100"/>
              </a:p>
            </p:txBody>
          </p:sp>
        </mc:Choice>
        <mc:Fallback xmlns="">
          <p:sp>
            <p:nvSpPr>
              <p:cNvPr id="7" name="equation_3" descr="2">
                <a:extLst>
                  <a:ext uri="{FF2B5EF4-FFF2-40B4-BE49-F238E27FC236}">
                    <a16:creationId xmlns:a16="http://schemas.microsoft.com/office/drawing/2014/main" id="{943706E8-CDEA-4106-B6DA-46EE68456AA3}"/>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5"/>
                <a:stretch>
                  <a:fillRect t="-4651" b="-20930"/>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6DC06932-BAC7-4CDF-9D89-3D062A30DABF}"/>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D5C150AD-3ACC-41F2-B1C1-03FE3A3AF7F3}"/>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9" name="equation_5" descr="a_1(x)">
                <a:extLst>
                  <a:ext uri="{FF2B5EF4-FFF2-40B4-BE49-F238E27FC236}">
                    <a16:creationId xmlns:a16="http://schemas.microsoft.com/office/drawing/2014/main" id="{D5C150AD-3ACC-41F2-B1C1-03FE3A3AF7F3}"/>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6"/>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3">
                <a:extLst>
                  <a:ext uri="{FF2B5EF4-FFF2-40B4-BE49-F238E27FC236}">
                    <a16:creationId xmlns:a16="http://schemas.microsoft.com/office/drawing/2014/main" id="{8148C647-8927-4489-B857-CC94A7D6FE6F}"/>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0" name="equation_6" descr="3">
                <a:extLst>
                  <a:ext uri="{FF2B5EF4-FFF2-40B4-BE49-F238E27FC236}">
                    <a16:creationId xmlns:a16="http://schemas.microsoft.com/office/drawing/2014/main" id="{8148C647-8927-4489-B857-CC94A7D6FE6F}"/>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7"/>
                <a:stretch>
                  <a:fillRect t="-4651" b="-20930"/>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00EA034-BCA0-4154-A300-D1848633AF46}"/>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4F414924-0C31-4161-A59A-A387CBF374B3}"/>
              </a:ext>
            </a:extLst>
          </p:cNvPr>
          <p:cNvSpPr>
            <a:spLocks noGrp="1"/>
          </p:cNvSpPr>
          <p:nvPr/>
        </p:nvSpPr>
        <p:spPr>
          <a:xfrm>
            <a:off x="1377553"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AFCC86B4-14E6-44FE-AA00-C23340F395F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2E9AE472-2975-49A4-AE8C-E94D7D7C8FDF}"/>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1</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4" name="equation_10" descr="\phi_1(x)">
                <a:extLst>
                  <a:ext uri="{FF2B5EF4-FFF2-40B4-BE49-F238E27FC236}">
                    <a16:creationId xmlns:a16="http://schemas.microsoft.com/office/drawing/2014/main" id="{2E9AE472-2975-49A4-AE8C-E94D7D7C8FDF}"/>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8"/>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3">
                <a:extLst>
                  <a:ext uri="{FF2B5EF4-FFF2-40B4-BE49-F238E27FC236}">
                    <a16:creationId xmlns:a16="http://schemas.microsoft.com/office/drawing/2014/main" id="{EE06E0E6-1839-4A36-9103-639D3BD5BCD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15" name="equation_11" descr="3">
                <a:extLst>
                  <a:ext uri="{FF2B5EF4-FFF2-40B4-BE49-F238E27FC236}">
                    <a16:creationId xmlns:a16="http://schemas.microsoft.com/office/drawing/2014/main" id="{EE06E0E6-1839-4A36-9103-639D3BD5BCD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9"/>
                <a:stretch>
                  <a:fillRect t="-4651" b="-20930"/>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FB9A6D5-5C58-4E8A-9DE8-17478069456A}"/>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A5BDB9B8-AF5D-4F94-8B3B-FB7FBF0912FA}"/>
              </a:ext>
            </a:extLst>
          </p:cNvPr>
          <p:cNvSpPr>
            <a:spLocks noGrp="1"/>
          </p:cNvSpPr>
          <p:nvPr/>
        </p:nvSpPr>
        <p:spPr>
          <a:xfrm>
            <a:off x="2974181"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0EBBC021-5A69-4A53-9126-CE5EC3834EA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8DD9AAAA-B91B-4092-90BB-7D707CD675C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19" name="equation_15" descr="a_2(x)">
                <a:extLst>
                  <a:ext uri="{FF2B5EF4-FFF2-40B4-BE49-F238E27FC236}">
                    <a16:creationId xmlns:a16="http://schemas.microsoft.com/office/drawing/2014/main" id="{8DD9AAAA-B91B-4092-90BB-7D707CD675C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0"/>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5">
                <a:extLst>
                  <a:ext uri="{FF2B5EF4-FFF2-40B4-BE49-F238E27FC236}">
                    <a16:creationId xmlns:a16="http://schemas.microsoft.com/office/drawing/2014/main" id="{EC3177C5-8660-4537-841C-4B67D143C600}"/>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0" name="equation_16" descr="5">
                <a:extLst>
                  <a:ext uri="{FF2B5EF4-FFF2-40B4-BE49-F238E27FC236}">
                    <a16:creationId xmlns:a16="http://schemas.microsoft.com/office/drawing/2014/main" id="{EC3177C5-8660-4537-841C-4B67D143C600}"/>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1"/>
                <a:stretch>
                  <a:fillRect t="-6977" b="-20930"/>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33D5835C-79E3-48CC-828C-AA289E4F2833}"/>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4A765FC4-95A9-4E6E-AD57-786DC13E4FC3}"/>
              </a:ext>
            </a:extLst>
          </p:cNvPr>
          <p:cNvSpPr>
            <a:spLocks noGrp="1"/>
          </p:cNvSpPr>
          <p:nvPr/>
        </p:nvSpPr>
        <p:spPr>
          <a:xfrm>
            <a:off x="4570809"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AE84547A-4E38-472B-B906-8D9A3A039479}"/>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9CD2286E-68B2-4D96-99C9-8E999D1B32D5}"/>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𝜙</m:t>
                          </m:r>
                        </m:e>
                        <m:sub>
                          <m:r>
                            <a:rPr lang="en-GB" sz="1900">
                              <a:solidFill>
                                <a:srgbClr val="235C99"/>
                              </a:solidFill>
                              <a:latin typeface="Cambria Math"/>
                              <a:ea typeface="Cambria Math"/>
                              <a:cs typeface="Cambria Math"/>
                            </a:rPr>
                            <m:t>2</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4" name="equation_20" descr="\phi_2(x)">
                <a:extLst>
                  <a:ext uri="{FF2B5EF4-FFF2-40B4-BE49-F238E27FC236}">
                    <a16:creationId xmlns:a16="http://schemas.microsoft.com/office/drawing/2014/main" id="{9CD2286E-68B2-4D96-99C9-8E999D1B32D5}"/>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2"/>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5">
                <a:extLst>
                  <a:ext uri="{FF2B5EF4-FFF2-40B4-BE49-F238E27FC236}">
                    <a16:creationId xmlns:a16="http://schemas.microsoft.com/office/drawing/2014/main" id="{E9A090E3-99C3-45E0-9363-7AA5CEB02426}"/>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5</m:t>
                      </m:r>
                    </m:oMath>
                  </m:oMathPara>
                </a14:m>
                <a:endParaRPr lang="en-GB" sz="2100"/>
              </a:p>
            </p:txBody>
          </p:sp>
        </mc:Choice>
        <mc:Fallback xmlns="">
          <p:sp>
            <p:nvSpPr>
              <p:cNvPr id="25" name="equation_21" descr="5">
                <a:extLst>
                  <a:ext uri="{FF2B5EF4-FFF2-40B4-BE49-F238E27FC236}">
                    <a16:creationId xmlns:a16="http://schemas.microsoft.com/office/drawing/2014/main" id="{E9A090E3-99C3-45E0-9363-7AA5CEB02426}"/>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3"/>
                <a:stretch>
                  <a:fillRect t="-6977" b="-20930"/>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BB9815B-8E90-452D-9B75-03E036CB5F8A}"/>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FDDCF1E4-ED6B-4725-9C17-6B9B38340716}"/>
              </a:ext>
            </a:extLst>
          </p:cNvPr>
          <p:cNvSpPr>
            <a:spLocks noGrp="1"/>
          </p:cNvSpPr>
          <p:nvPr/>
        </p:nvSpPr>
        <p:spPr>
          <a:xfrm>
            <a:off x="6167438"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F471D17F-C04F-45B9-B22E-D9AA7403BD28}"/>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419C7946-2B46-4ED9-9756-E11A06A15A5E}"/>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𝑎</m:t>
                          </m:r>
                        </m:e>
                        <m:sub>
                          <m:r>
                            <a:rPr lang="en-GB" sz="1900">
                              <a:solidFill>
                                <a:srgbClr val="235C99"/>
                              </a:solidFill>
                              <a:latin typeface="Cambria Math"/>
                              <a:ea typeface="Cambria Math"/>
                              <a:cs typeface="Cambria Math"/>
                            </a:rPr>
                            <m:t>3</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𝑥</m:t>
                          </m:r>
                        </m:e>
                      </m:d>
                    </m:oMath>
                  </m:oMathPara>
                </a14:m>
                <a:endParaRPr lang="en-GB" sz="1900"/>
              </a:p>
            </p:txBody>
          </p:sp>
        </mc:Choice>
        <mc:Fallback xmlns="">
          <p:sp>
            <p:nvSpPr>
              <p:cNvPr id="29" name="equation_25" descr="a_3(x)">
                <a:extLst>
                  <a:ext uri="{FF2B5EF4-FFF2-40B4-BE49-F238E27FC236}">
                    <a16:creationId xmlns:a16="http://schemas.microsoft.com/office/drawing/2014/main" id="{419C7946-2B46-4ED9-9756-E11A06A15A5E}"/>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4"/>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3">
                <a:extLst>
                  <a:ext uri="{FF2B5EF4-FFF2-40B4-BE49-F238E27FC236}">
                    <a16:creationId xmlns:a16="http://schemas.microsoft.com/office/drawing/2014/main" id="{9F34C34C-DC72-4E26-BA89-82FEE794F99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−3</m:t>
                      </m:r>
                    </m:oMath>
                  </m:oMathPara>
                </a14:m>
                <a:endParaRPr lang="en-GB" sz="2100"/>
              </a:p>
            </p:txBody>
          </p:sp>
        </mc:Choice>
        <mc:Fallback xmlns="">
          <p:sp>
            <p:nvSpPr>
              <p:cNvPr id="30" name="equation_26" descr="-3">
                <a:extLst>
                  <a:ext uri="{FF2B5EF4-FFF2-40B4-BE49-F238E27FC236}">
                    <a16:creationId xmlns:a16="http://schemas.microsoft.com/office/drawing/2014/main" id="{9F34C34C-DC72-4E26-BA89-82FEE794F99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5"/>
                <a:stretch>
                  <a:fillRect t="-4651" b="-20930"/>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5062839B-EB41-4959-A99D-BFCF09F95912}"/>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AB10ABE3-951F-4255-84C8-C9D7BE52C1B4}"/>
              </a:ext>
            </a:extLst>
          </p:cNvPr>
          <p:cNvSpPr>
            <a:spLocks noGrp="1"/>
          </p:cNvSpPr>
          <p:nvPr/>
        </p:nvSpPr>
        <p:spPr>
          <a:xfrm>
            <a:off x="7764066"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E6E93D4-F719-43F1-9914-FB4BA123F8C4}"/>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F9D5AB54-08DB-4F5A-86E9-959056AC5751}"/>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35C99"/>
                              </a:solidFill>
                              <a:latin typeface="Cambria Math"/>
                              <a:ea typeface="Cambria Math"/>
                              <a:cs typeface="Cambria Math"/>
                            </a:rPr>
                          </m:ctrlPr>
                        </m:sSubPr>
                        <m:e>
                          <m:r>
                            <a:rPr lang="en-GB" sz="1900">
                              <a:solidFill>
                                <a:srgbClr val="235C99"/>
                              </a:solidFill>
                              <a:latin typeface="Cambria Math"/>
                              <a:ea typeface="Cambria Math"/>
                              <a:cs typeface="Cambria Math"/>
                            </a:rPr>
                            <m:t>ℒ</m:t>
                          </m:r>
                        </m:e>
                        <m:sub>
                          <m:r>
                            <m:rPr>
                              <m:sty m:val="p"/>
                            </m:rPr>
                            <a:rPr lang="en-GB" sz="1900">
                              <a:solidFill>
                                <a:srgbClr val="235C99"/>
                              </a:solidFill>
                              <a:latin typeface="Cambria Math"/>
                              <a:ea typeface="Cambria Math"/>
                              <a:cs typeface="Cambria Math"/>
                            </a:rPr>
                            <m:t>sq</m:t>
                          </m:r>
                        </m:sub>
                      </m:sSub>
                      <m:d>
                        <m:dPr>
                          <m:ctrlPr>
                            <a:rPr lang="en-GB" sz="1900">
                              <a:solidFill>
                                <a:srgbClr val="235C99"/>
                              </a:solidFill>
                              <a:latin typeface="Cambria Math"/>
                              <a:ea typeface="Cambria Math"/>
                              <a:cs typeface="Cambria Math"/>
                            </a:rPr>
                          </m:ctrlPr>
                        </m:dPr>
                        <m:e>
                          <m:r>
                            <a:rPr lang="en-GB" sz="1900">
                              <a:solidFill>
                                <a:srgbClr val="235C99"/>
                              </a:solidFill>
                              <a:latin typeface="Cambria Math"/>
                              <a:ea typeface="Cambria Math"/>
                              <a:cs typeface="Cambria Math"/>
                            </a:rPr>
                            <m:t>𝛉</m:t>
                          </m:r>
                        </m:e>
                      </m:d>
                    </m:oMath>
                  </m:oMathPara>
                </a14:m>
                <a:endParaRPr lang="en-GB" sz="1900"/>
              </a:p>
            </p:txBody>
          </p:sp>
        </mc:Choice>
        <mc:Fallback xmlns="">
          <p:sp>
            <p:nvSpPr>
              <p:cNvPr id="34" name="equation_30" descr="\mathcal{L}_{\mathrm{sq}}">
                <a:extLst>
                  <a:ext uri="{FF2B5EF4-FFF2-40B4-BE49-F238E27FC236}">
                    <a16:creationId xmlns:a16="http://schemas.microsoft.com/office/drawing/2014/main" id="{F9D5AB54-08DB-4F5A-86E9-959056AC5751}"/>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6"/>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1">
                <a:extLst>
                  <a:ext uri="{FF2B5EF4-FFF2-40B4-BE49-F238E27FC236}">
                    <a16:creationId xmlns:a16="http://schemas.microsoft.com/office/drawing/2014/main" id="{FEDF04FE-93AB-46FB-B586-01A2C7ED27AA}"/>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35C99"/>
                          </a:solidFill>
                          <a:latin typeface="Cambria Math"/>
                          <a:ea typeface="Cambria Math"/>
                          <a:cs typeface="Cambria Math"/>
                        </a:rPr>
                        <m:t>1</m:t>
                      </m:r>
                    </m:oMath>
                  </m:oMathPara>
                </a14:m>
                <a:endParaRPr lang="en-GB" sz="2100"/>
              </a:p>
            </p:txBody>
          </p:sp>
        </mc:Choice>
        <mc:Fallback xmlns="">
          <p:sp>
            <p:nvSpPr>
              <p:cNvPr id="35" name="equation_31" descr="1">
                <a:extLst>
                  <a:ext uri="{FF2B5EF4-FFF2-40B4-BE49-F238E27FC236}">
                    <a16:creationId xmlns:a16="http://schemas.microsoft.com/office/drawing/2014/main" id="{FEDF04FE-93AB-46FB-B586-01A2C7ED27AA}"/>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7"/>
                <a:stretch>
                  <a:fillRect t="-4651" b="-20930"/>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DA1A4F37-D7AE-41B1-8881-FBF49A5698F4}"/>
              </a:ext>
            </a:extLst>
          </p:cNvPr>
          <p:cNvSpPr>
            <a:spLocks noGrp="1"/>
          </p:cNvSpPr>
          <p:nvPr/>
        </p:nvSpPr>
        <p:spPr>
          <a:xfrm>
            <a:off x="9554766" y="3333750"/>
            <a:ext cx="358378" cy="476"/>
          </a:xfrm>
          <a:prstGeom prst="line">
            <a:avLst/>
          </a:prstGeom>
          <a:noFill/>
          <a:ln w="13335">
            <a:solidFill>
              <a:srgbClr val="AB4910"/>
            </a:solidFill>
            <a:tailEnd type="triangle" w="sm" len="sm"/>
          </a:ln>
        </p:spPr>
        <p:txBody>
          <a:bodyPr/>
          <a:lstStyle/>
          <a:p>
            <a:endParaRPr lang="it-IT"/>
          </a:p>
        </p:txBody>
      </p:sp>
      <p:sp>
        <p:nvSpPr>
          <p:cNvPr id="37" name="text_33">
            <a:extLst>
              <a:ext uri="{FF2B5EF4-FFF2-40B4-BE49-F238E27FC236}">
                <a16:creationId xmlns:a16="http://schemas.microsoft.com/office/drawing/2014/main" id="{67F36F90-CA11-4186-AFE2-F92569A8F667}"/>
              </a:ext>
            </a:extLst>
          </p:cNvPr>
          <p:cNvSpPr>
            <a:spLocks noGrp="1"/>
          </p:cNvSpPr>
          <p:nvPr/>
        </p:nvSpPr>
        <p:spPr>
          <a:xfrm>
            <a:off x="9360694" y="2714625"/>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D5020BFE-11BE-469A-A70D-F1EBB13D7873}"/>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ECF66607-C1DB-4609-915F-FB073792A67C}"/>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ECF66607-C1DB-4609-915F-FB073792A67C}"/>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BEF3D129-8BCD-43CB-B00B-9C659DF8482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FE897944-11CC-4282-A862-159BFC6C5FB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D4FEADFD-C141-4B5D-BC2A-05A60A1F97D3}"/>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D4FEADFD-C141-4B5D-BC2A-05A60A1F97D3}"/>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A283918E-898F-4B74-B5F2-7C945C91C03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28E3677C-0755-4CAD-AA60-0550585731A4}"/>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D693ADB7-B589-4FC0-82CB-012E36974DA1}"/>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D693ADB7-B589-4FC0-82CB-012E36974DA1}"/>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FDB3318E-8D2C-47B7-B771-91C2DF4731D5}"/>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11577FF-D4FB-450B-8ABD-BF1E00F7C9A9}"/>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C59C0840-E091-4816-8BF9-3F17E05D9AF1}"/>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C59C0840-E091-4816-8BF9-3F17E05D9AF1}"/>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C367D37B-1800-46B6-B14D-9C5F9C5549A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1FCFCCAD-86D1-42EE-A5B6-B419375E9AF9}"/>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8FA309F3-E957-4380-B764-33DFA24E5FD4}"/>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8FA309F3-E957-4380-B764-33DFA24E5FD4}"/>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1A12180A-A4FB-47D5-99AC-E2524E522F8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1456181F-BB17-4469-A965-356A882C05B4}"/>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5A2E70D6-2C54-48A1-AD71-5A7F6962FFC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5A2E70D6-2C54-48A1-AD71-5A7F6962FFC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145C11BA-8F32-44B7-ADB2-CEF016C12EE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5FE885F8-F9CB-4237-A185-D80FB1E44DA7}"/>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5FE885F8-F9CB-4237-A185-D80FB1E44DA7}"/>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9F3D6F00-A896-4B48-9D53-FA00D1FC2CCD}"/>
              </a:ext>
            </a:extLst>
          </p:cNvPr>
          <p:cNvSpPr>
            <a:spLocks noGrp="1"/>
          </p:cNvSpPr>
          <p:nvPr/>
        </p:nvSpPr>
        <p:spPr>
          <a:xfrm flipV="1">
            <a:off x="10532269" y="3667125"/>
            <a:ext cx="476" cy="139065"/>
          </a:xfrm>
          <a:prstGeom prst="line">
            <a:avLst/>
          </a:prstGeom>
          <a:noFill/>
          <a:ln w="12383">
            <a:solidFill>
              <a:srgbClr val="235C99"/>
            </a:solidFill>
            <a:tailEnd type="triangle" w="sm" len="sm"/>
          </a:ln>
        </p:spPr>
        <p:txBody>
          <a:bodyPr/>
          <a:lstStyle/>
          <a:p>
            <a:endParaRPr lang="it-IT"/>
          </a:p>
        </p:txBody>
      </p:sp>
      <p:sp>
        <p:nvSpPr>
          <p:cNvPr id="58" name="note_brace_54">
            <a:extLst>
              <a:ext uri="{FF2B5EF4-FFF2-40B4-BE49-F238E27FC236}">
                <a16:creationId xmlns:a16="http://schemas.microsoft.com/office/drawing/2014/main" id="{F52887A0-020A-4360-B4B4-E8EFB272727E}"/>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DDA3D254-5996-4585-9039-20C9977E78BC}"/>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A6CA051C-1E20-4F4C-86D8-73EE9F898F44}"/>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AAEB411-8B43-44A0-B322-2179B8D59C5A}"/>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0A7009BB-B6C1-47D9-9193-5CE65FB9E59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65771E3C-3378-4BD8-A6FC-4B5331ED88F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4" name="text_60">
                <a:extLst>
                  <a:ext uri="{FF2B5EF4-FFF2-40B4-BE49-F238E27FC236}">
                    <a16:creationId xmlns:a16="http://schemas.microsoft.com/office/drawing/2014/main" id="{35246236-A0EA-4EA4-9687-752F7C637555}"/>
                  </a:ext>
                </a:extLst>
              </p:cNvPr>
              <p:cNvSpPr>
                <a:spLocks noGrp="1"/>
              </p:cNvSpPr>
              <p:nvPr/>
            </p:nvSpPr>
            <p:spPr>
              <a:xfrm>
                <a:off x="571500" y="5199380"/>
                <a:ext cx="11049000" cy="68834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output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3</m:t>
                        </m:r>
                      </m:sub>
                    </m:sSub>
                    <m:r>
                      <a:rPr lang="en-GB" sz="2175">
                        <a:solidFill>
                          <a:srgbClr val="526276"/>
                        </a:solidFill>
                        <a:latin typeface="Cambria Math"/>
                        <a:ea typeface="Cambria Math"/>
                        <a:cs typeface="Cambria Math"/>
                      </a:rPr>
                      <m:t>(</m:t>
                    </m:r>
                    <m:r>
                      <a:rPr lang="en-GB" sz="2175">
                        <a:solidFill>
                          <a:srgbClr val="526276"/>
                        </a:solidFill>
                        <a:latin typeface="Cambria Math"/>
                        <a:ea typeface="Cambria Math"/>
                        <a:cs typeface="Cambria Math"/>
                      </a:rPr>
                      <m:t>𝑥</m:t>
                    </m:r>
                    <m:r>
                      <a:rPr lang="en-GB" sz="2175">
                        <a:solidFill>
                          <a:srgbClr val="526276"/>
                        </a:solidFill>
                        <a:latin typeface="Cambria Math"/>
                        <a:ea typeface="Cambria Math"/>
                        <a:cs typeface="Cambria Math"/>
                      </a:rPr>
                      <m:t>)</m:t>
                    </m:r>
                  </m:oMath>
                </a14:m>
                <a:r>
                  <a:rPr sz="2175" b="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Then move backwards one layer at a time.</a:t>
                </a:r>
              </a:p>
            </p:txBody>
          </p:sp>
        </mc:Choice>
        <mc:Fallback xmlns="">
          <p:sp>
            <p:nvSpPr>
              <p:cNvPr id="64" name="text_60">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571500" y="5199380"/>
                <a:ext cx="11049000" cy="688340"/>
              </a:xfrm>
              <a:prstGeom prst="rect">
                <a:avLst/>
              </a:prstGeom>
              <a:blipFill>
                <a:blip r:embed="rIdFullJ64"/>
                <a:stretch>
                  <a:fillRect/>
                </a:stretch>
              </a:blipFill>
              <a:ln w="0">
                <a:noFill/>
              </a:ln>
            </p:spPr>
            <p:txBody>
              <a:bodyPr/>
              <a:lstStyle/>
              <a:p>
                <a:r>
                  <a:rPr lang="it-IT">
                    <a:noFill/>
                  </a:rPr>
                  <a:t> </a:t>
                </a:r>
              </a:p>
            </p:txBody>
          </p:sp>
        </mc:Fallback>
      </mc:AlternateContent>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a network with parameters </a:t>
                </a:r>
                <a14:m>
                  <m:oMath xmlns:m="http://schemas.openxmlformats.org/officeDocument/2006/math">
                    <m:r>
                      <a:rPr lang="it-IT" sz="2000" b="1">
                        <a:solidFill>
                          <a:schemeClr val="tx2"/>
                        </a:solidFill>
                        <a:latin typeface="Cambria Math" panose="02040503050406030204" pitchFamily="18" charset="0"/>
                        <a:ea typeface="Cambria Math"/>
                        <a:cs typeface="Cambria Math"/>
                      </a:rPr>
                      <m:t>𝛝</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animBg="1"/>
      <p:bldP spid="69" grpId="0"/>
      <p:bldP spid="70" grpId="0"/>
      <p:bldP spid="71" grpId="0" animBg="1"/>
      <p:bldP spid="72" grpId="0"/>
      <p:bldP spid="73" grpId="0"/>
      <p:bldP spid="74" grpId="0" animBg="1"/>
      <p:bldP spid="75" grpId="0" animBg="1"/>
      <p:bldP spid="76" grpId="0"/>
      <p:bldP spid="77" grpId="0"/>
      <p:bldP spid="78" grpId="0" animBg="1"/>
      <p:bldP spid="79" grpId="0" animBg="1"/>
      <p:bldP spid="80" grpId="0"/>
      <p:bldP spid="81" grpId="0"/>
      <p:bldP spid="82" grpId="0" animBg="1"/>
      <p:bldP spid="83" grpId="0" animBg="1"/>
      <p:bldP spid="84" grpId="0"/>
      <p:bldP spid="85" grpId="0"/>
      <p:bldP spid="86" grpId="0" animBg="1"/>
      <p:bldP spid="87" grpId="0"/>
      <p:bldP spid="88" grpId="0" animBg="1"/>
      <p:bldP spid="89" grpId="0"/>
      <p:bldP spid="90" grpId="0"/>
      <p:bldP spid="91" grpId="0" animBg="1"/>
      <p:bldP spid="92" grpId="0" animBg="1"/>
      <p:bldP spid="93" grpId="0"/>
      <p:bldP spid="94" grpId="0"/>
      <p:bldP spid="95" grpId="0" animBg="1"/>
      <p:bldP spid="96" grpId="0" animBg="1"/>
      <p:bldP spid="97" grpId="0"/>
      <p:bldP spid="98" grpId="0" animBg="1"/>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p:bldP spid="115" grpId="0" animBg="1"/>
      <p:bldP spid="116" grpId="0" animBg="1"/>
      <p:bldP spid="117" grpId="0"/>
      <p:bldP spid="118" grpId="0" animBg="1"/>
      <p:bldP spid="119" grpId="0"/>
      <p:bldP spid="120" grpId="0" animBg="1"/>
      <p:bldP spid="121" grpId="0"/>
      <p:bldP spid="122" grpId="0"/>
      <p:bldP spid="128" grpId="0"/>
      <p:bldP spid="18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190" name="continuity_8_0_190">
            <a:extLst>
              <a:ext uri="{FF2B5EF4-FFF2-40B4-BE49-F238E27FC236}">
                <a16:creationId xmlns:a16="http://schemas.microsoft.com/office/drawing/2014/main" id="{FF472A8C-08D5-4413-B72C-71EB402437D3}"/>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1" name="continuity_8_0_191" descr="J_{3}">
                <a:extLst>
                  <a:ext uri="{FF2B5EF4-FFF2-40B4-BE49-F238E27FC236}">
                    <a16:creationId xmlns:a16="http://schemas.microsoft.com/office/drawing/2014/main" id="{5475EC27-0519-4426-8A0B-772C03136D04}"/>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191" name="continuity_8_0_191" descr="J_{3}">
                <a:extLst>
                  <a:ext uri="{FF2B5EF4-FFF2-40B4-BE49-F238E27FC236}">
                    <a16:creationId xmlns:a16="http://schemas.microsoft.com/office/drawing/2014/main" id="{5475EC27-0519-4426-8A0B-772C03136D04}"/>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192" name="continuity_8_0_192">
            <a:extLst>
              <a:ext uri="{FF2B5EF4-FFF2-40B4-BE49-F238E27FC236}">
                <a16:creationId xmlns:a16="http://schemas.microsoft.com/office/drawing/2014/main" id="{58BDEAB0-0209-4782-A4E5-4AFFEC99F96C}"/>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3" name="continuity_8_0_193" descr="\phi_0(x)">
                <a:extLst>
                  <a:ext uri="{FF2B5EF4-FFF2-40B4-BE49-F238E27FC236}">
                    <a16:creationId xmlns:a16="http://schemas.microsoft.com/office/drawing/2014/main" id="{2339531E-E90C-406F-AB35-DDE416582A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3" name="continuity_8_0_193" descr="\phi_0(x)">
                <a:extLst>
                  <a:ext uri="{FF2B5EF4-FFF2-40B4-BE49-F238E27FC236}">
                    <a16:creationId xmlns:a16="http://schemas.microsoft.com/office/drawing/2014/main" id="{2339531E-E90C-406F-AB35-DDE416582A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continuity_8_0_194" descr="2">
                <a:extLst>
                  <a:ext uri="{FF2B5EF4-FFF2-40B4-BE49-F238E27FC236}">
                    <a16:creationId xmlns:a16="http://schemas.microsoft.com/office/drawing/2014/main" id="{1D48FD7D-8437-45F3-8A56-2F780AFC73A7}"/>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4" name="continuity_8_0_194" descr="2">
                <a:extLst>
                  <a:ext uri="{FF2B5EF4-FFF2-40B4-BE49-F238E27FC236}">
                    <a16:creationId xmlns:a16="http://schemas.microsoft.com/office/drawing/2014/main" id="{1D48FD7D-8437-45F3-8A56-2F780AFC73A7}"/>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5" name="continuity_8_0_195">
            <a:extLst>
              <a:ext uri="{FF2B5EF4-FFF2-40B4-BE49-F238E27FC236}">
                <a16:creationId xmlns:a16="http://schemas.microsoft.com/office/drawing/2014/main" id="{CE7C512E-3233-48D9-B3A1-D55BD60CA57C}"/>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6" name="continuity_8_0_196" descr="a_1(x)">
                <a:extLst>
                  <a:ext uri="{FF2B5EF4-FFF2-40B4-BE49-F238E27FC236}">
                    <a16:creationId xmlns:a16="http://schemas.microsoft.com/office/drawing/2014/main" id="{8A4790D2-3496-4318-BBB8-51639DE7A39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6" name="continuity_8_0_196" descr="a_1(x)">
                <a:extLst>
                  <a:ext uri="{FF2B5EF4-FFF2-40B4-BE49-F238E27FC236}">
                    <a16:creationId xmlns:a16="http://schemas.microsoft.com/office/drawing/2014/main" id="{8A4790D2-3496-4318-BBB8-51639DE7A39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continuity_8_0_197" descr="3">
                <a:extLst>
                  <a:ext uri="{FF2B5EF4-FFF2-40B4-BE49-F238E27FC236}">
                    <a16:creationId xmlns:a16="http://schemas.microsoft.com/office/drawing/2014/main" id="{4CF87E67-39D8-4171-B7EC-275E4516736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7" name="continuity_8_0_197" descr="3">
                <a:extLst>
                  <a:ext uri="{FF2B5EF4-FFF2-40B4-BE49-F238E27FC236}">
                    <a16:creationId xmlns:a16="http://schemas.microsoft.com/office/drawing/2014/main" id="{4CF87E67-39D8-4171-B7EC-275E4516736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198" name="continuity_8_0_198">
            <a:extLst>
              <a:ext uri="{FF2B5EF4-FFF2-40B4-BE49-F238E27FC236}">
                <a16:creationId xmlns:a16="http://schemas.microsoft.com/office/drawing/2014/main" id="{3C09B668-B864-438A-B11F-73BA3C984F3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199" name="continuity_8_0_199">
            <a:extLst>
              <a:ext uri="{FF2B5EF4-FFF2-40B4-BE49-F238E27FC236}">
                <a16:creationId xmlns:a16="http://schemas.microsoft.com/office/drawing/2014/main" id="{08230F7D-9D45-43BA-A736-73FDD6B36676}"/>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continuity_8_0_200" descr="\phi_1(x)">
                <a:extLst>
                  <a:ext uri="{FF2B5EF4-FFF2-40B4-BE49-F238E27FC236}">
                    <a16:creationId xmlns:a16="http://schemas.microsoft.com/office/drawing/2014/main" id="{98306F8B-B030-4FCC-BC0A-57F1334EB6F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0" name="continuity_8_0_200" descr="\phi_1(x)">
                <a:extLst>
                  <a:ext uri="{FF2B5EF4-FFF2-40B4-BE49-F238E27FC236}">
                    <a16:creationId xmlns:a16="http://schemas.microsoft.com/office/drawing/2014/main" id="{98306F8B-B030-4FCC-BC0A-57F1334EB6F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continuity_8_0_201" descr="3">
                <a:extLst>
                  <a:ext uri="{FF2B5EF4-FFF2-40B4-BE49-F238E27FC236}">
                    <a16:creationId xmlns:a16="http://schemas.microsoft.com/office/drawing/2014/main" id="{3B74632D-E92E-49A4-8057-FEA3783D170B}"/>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1" name="continuity_8_0_201" descr="3">
                <a:extLst>
                  <a:ext uri="{FF2B5EF4-FFF2-40B4-BE49-F238E27FC236}">
                    <a16:creationId xmlns:a16="http://schemas.microsoft.com/office/drawing/2014/main" id="{3B74632D-E92E-49A4-8057-FEA3783D170B}"/>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2" name="continuity_8_0_202">
            <a:extLst>
              <a:ext uri="{FF2B5EF4-FFF2-40B4-BE49-F238E27FC236}">
                <a16:creationId xmlns:a16="http://schemas.microsoft.com/office/drawing/2014/main" id="{7380FE58-A602-4F9A-8803-89754876F3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3" name="continuity_8_0_203">
            <a:extLst>
              <a:ext uri="{FF2B5EF4-FFF2-40B4-BE49-F238E27FC236}">
                <a16:creationId xmlns:a16="http://schemas.microsoft.com/office/drawing/2014/main" id="{D627F2DA-C1C1-4C7C-910B-618D6B35A429}"/>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continuity_8_0_204" descr="a_2(x)">
                <a:extLst>
                  <a:ext uri="{FF2B5EF4-FFF2-40B4-BE49-F238E27FC236}">
                    <a16:creationId xmlns:a16="http://schemas.microsoft.com/office/drawing/2014/main" id="{22703617-446D-476A-BD19-9DB19B141B0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4" name="continuity_8_0_204" descr="a_2(x)">
                <a:extLst>
                  <a:ext uri="{FF2B5EF4-FFF2-40B4-BE49-F238E27FC236}">
                    <a16:creationId xmlns:a16="http://schemas.microsoft.com/office/drawing/2014/main" id="{22703617-446D-476A-BD19-9DB19B141B0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5" name="continuity_8_0_205" descr="5">
                <a:extLst>
                  <a:ext uri="{FF2B5EF4-FFF2-40B4-BE49-F238E27FC236}">
                    <a16:creationId xmlns:a16="http://schemas.microsoft.com/office/drawing/2014/main" id="{66B97A7E-98D4-4409-9250-163D68B642B7}"/>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5" name="continuity_8_0_205" descr="5">
                <a:extLst>
                  <a:ext uri="{FF2B5EF4-FFF2-40B4-BE49-F238E27FC236}">
                    <a16:creationId xmlns:a16="http://schemas.microsoft.com/office/drawing/2014/main" id="{66B97A7E-98D4-4409-9250-163D68B642B7}"/>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6" name="continuity_8_0_206">
            <a:extLst>
              <a:ext uri="{FF2B5EF4-FFF2-40B4-BE49-F238E27FC236}">
                <a16:creationId xmlns:a16="http://schemas.microsoft.com/office/drawing/2014/main" id="{21211FEB-512B-4244-ACFA-D563D8C03CA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07" name="continuity_8_0_207">
            <a:extLst>
              <a:ext uri="{FF2B5EF4-FFF2-40B4-BE49-F238E27FC236}">
                <a16:creationId xmlns:a16="http://schemas.microsoft.com/office/drawing/2014/main" id="{B65DAF30-04D3-4ADC-98A4-9098E110E5DF}"/>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continuity_8_0_208" descr="\phi_2(x)">
                <a:extLst>
                  <a:ext uri="{FF2B5EF4-FFF2-40B4-BE49-F238E27FC236}">
                    <a16:creationId xmlns:a16="http://schemas.microsoft.com/office/drawing/2014/main" id="{0CBD3094-0BA2-4CB5-9537-D0FED3F54158}"/>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8" name="continuity_8_0_208" descr="\phi_2(x)">
                <a:extLst>
                  <a:ext uri="{FF2B5EF4-FFF2-40B4-BE49-F238E27FC236}">
                    <a16:creationId xmlns:a16="http://schemas.microsoft.com/office/drawing/2014/main" id="{0CBD3094-0BA2-4CB5-9537-D0FED3F54158}"/>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continuity_8_0_209" descr="5">
                <a:extLst>
                  <a:ext uri="{FF2B5EF4-FFF2-40B4-BE49-F238E27FC236}">
                    <a16:creationId xmlns:a16="http://schemas.microsoft.com/office/drawing/2014/main" id="{6FEB3D99-43F5-444B-BF05-4E50B6F9EDC2}"/>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9" name="continuity_8_0_209" descr="5">
                <a:extLst>
                  <a:ext uri="{FF2B5EF4-FFF2-40B4-BE49-F238E27FC236}">
                    <a16:creationId xmlns:a16="http://schemas.microsoft.com/office/drawing/2014/main" id="{6FEB3D99-43F5-444B-BF05-4E50B6F9EDC2}"/>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0" name="continuity_8_0_210">
            <a:extLst>
              <a:ext uri="{FF2B5EF4-FFF2-40B4-BE49-F238E27FC236}">
                <a16:creationId xmlns:a16="http://schemas.microsoft.com/office/drawing/2014/main" id="{509CED5D-25D1-4FFE-A620-FF532C7AFCC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1" name="continuity_8_0_211">
            <a:extLst>
              <a:ext uri="{FF2B5EF4-FFF2-40B4-BE49-F238E27FC236}">
                <a16:creationId xmlns:a16="http://schemas.microsoft.com/office/drawing/2014/main" id="{143613EC-C077-43DB-ABDA-D11C6B50E479}"/>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2" name="continuity_8_0_212">
            <a:extLst>
              <a:ext uri="{FF2B5EF4-FFF2-40B4-BE49-F238E27FC236}">
                <a16:creationId xmlns:a16="http://schemas.microsoft.com/office/drawing/2014/main" id="{AB7EAEEE-E995-4232-B37A-8645F000C4B2}"/>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3" name="continuity_8_0_213" descr="a_3(x)">
                <a:extLst>
                  <a:ext uri="{FF2B5EF4-FFF2-40B4-BE49-F238E27FC236}">
                    <a16:creationId xmlns:a16="http://schemas.microsoft.com/office/drawing/2014/main" id="{B9A3E492-69B6-4FFC-8B47-51972011DAC4}"/>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3" name="continuity_8_0_213" descr="a_3(x)">
                <a:extLst>
                  <a:ext uri="{FF2B5EF4-FFF2-40B4-BE49-F238E27FC236}">
                    <a16:creationId xmlns:a16="http://schemas.microsoft.com/office/drawing/2014/main" id="{B9A3E492-69B6-4FFC-8B47-51972011DAC4}"/>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continuity_8_0_214" descr="-3">
                <a:extLst>
                  <a:ext uri="{FF2B5EF4-FFF2-40B4-BE49-F238E27FC236}">
                    <a16:creationId xmlns:a16="http://schemas.microsoft.com/office/drawing/2014/main" id="{D0175451-4727-4A8A-ABDD-D15650F85F7A}"/>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4" name="continuity_8_0_214" descr="-3">
                <a:extLst>
                  <a:ext uri="{FF2B5EF4-FFF2-40B4-BE49-F238E27FC236}">
                    <a16:creationId xmlns:a16="http://schemas.microsoft.com/office/drawing/2014/main" id="{D0175451-4727-4A8A-ABDD-D15650F85F7A}"/>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5" name="continuity_8_0_215">
            <a:extLst>
              <a:ext uri="{FF2B5EF4-FFF2-40B4-BE49-F238E27FC236}">
                <a16:creationId xmlns:a16="http://schemas.microsoft.com/office/drawing/2014/main" id="{697B5821-F4F4-4269-822D-E7FDEBFBAE0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6" name="continuity_8_0_216">
            <a:extLst>
              <a:ext uri="{FF2B5EF4-FFF2-40B4-BE49-F238E27FC236}">
                <a16:creationId xmlns:a16="http://schemas.microsoft.com/office/drawing/2014/main" id="{78F29D88-F478-4AA6-88A1-A8ECA79E2F4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7" name="continuity_8_0_217" descr="\mathcal{L}_{\mathrm{sq}}">
                <a:extLst>
                  <a:ext uri="{FF2B5EF4-FFF2-40B4-BE49-F238E27FC236}">
                    <a16:creationId xmlns:a16="http://schemas.microsoft.com/office/drawing/2014/main" id="{5963F9D1-53C1-4830-9E47-30D1C399047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17" name="continuity_8_0_217" descr="\mathcal{L}_{\mathrm{sq}}">
                <a:extLst>
                  <a:ext uri="{FF2B5EF4-FFF2-40B4-BE49-F238E27FC236}">
                    <a16:creationId xmlns:a16="http://schemas.microsoft.com/office/drawing/2014/main" id="{5963F9D1-53C1-4830-9E47-30D1C399047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8" name="continuity_8_0_218" descr="1">
                <a:extLst>
                  <a:ext uri="{FF2B5EF4-FFF2-40B4-BE49-F238E27FC236}">
                    <a16:creationId xmlns:a16="http://schemas.microsoft.com/office/drawing/2014/main" id="{3B2699F6-7DC2-45C6-8173-3ACB2701FA9B}"/>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18" name="continuity_8_0_218" descr="1">
                <a:extLst>
                  <a:ext uri="{FF2B5EF4-FFF2-40B4-BE49-F238E27FC236}">
                    <a16:creationId xmlns:a16="http://schemas.microsoft.com/office/drawing/2014/main" id="{3B2699F6-7DC2-45C6-8173-3ACB2701FA9B}"/>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19" name="continuity_8_0_219">
            <a:extLst>
              <a:ext uri="{FF2B5EF4-FFF2-40B4-BE49-F238E27FC236}">
                <a16:creationId xmlns:a16="http://schemas.microsoft.com/office/drawing/2014/main" id="{8F98D8C3-EDA7-4F86-91CA-24B75847BB4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0" name="continuity_8_0_220">
            <a:extLst>
              <a:ext uri="{FF2B5EF4-FFF2-40B4-BE49-F238E27FC236}">
                <a16:creationId xmlns:a16="http://schemas.microsoft.com/office/drawing/2014/main" id="{C0A35573-8C1B-4EF2-BE0C-0649C28E37FF}"/>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1" name="continuity_8_0_221" descr="w_1=1">
                <a:extLst>
                  <a:ext uri="{FF2B5EF4-FFF2-40B4-BE49-F238E27FC236}">
                    <a16:creationId xmlns:a16="http://schemas.microsoft.com/office/drawing/2014/main" id="{F9195A1F-0508-4DF8-B05D-9148F267CBCB}"/>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1" name="continuity_8_0_221" descr="w_1=1">
                <a:extLst>
                  <a:ext uri="{FF2B5EF4-FFF2-40B4-BE49-F238E27FC236}">
                    <a16:creationId xmlns:a16="http://schemas.microsoft.com/office/drawing/2014/main" id="{F9195A1F-0508-4DF8-B05D-9148F267CBCB}"/>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2" name="continuity_8_0_222">
            <a:extLst>
              <a:ext uri="{FF2B5EF4-FFF2-40B4-BE49-F238E27FC236}">
                <a16:creationId xmlns:a16="http://schemas.microsoft.com/office/drawing/2014/main" id="{9331037F-5ACF-4872-8E2F-844FAE9B51D5}"/>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3" name="continuity_8_0_223">
            <a:extLst>
              <a:ext uri="{FF2B5EF4-FFF2-40B4-BE49-F238E27FC236}">
                <a16:creationId xmlns:a16="http://schemas.microsoft.com/office/drawing/2014/main" id="{066603E9-9266-4454-9024-4ED0D879EA5F}"/>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8_0_224" descr="b_1=1">
                <a:extLst>
                  <a:ext uri="{FF2B5EF4-FFF2-40B4-BE49-F238E27FC236}">
                    <a16:creationId xmlns:a16="http://schemas.microsoft.com/office/drawing/2014/main" id="{9E45C3FA-D9C1-4DC3-86F6-C84B43F0D671}"/>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8_0_224" descr="b_1=1">
                <a:extLst>
                  <a:ext uri="{FF2B5EF4-FFF2-40B4-BE49-F238E27FC236}">
                    <a16:creationId xmlns:a16="http://schemas.microsoft.com/office/drawing/2014/main" id="{9E45C3FA-D9C1-4DC3-86F6-C84B43F0D671}"/>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5" name="continuity_8_0_225">
            <a:extLst>
              <a:ext uri="{FF2B5EF4-FFF2-40B4-BE49-F238E27FC236}">
                <a16:creationId xmlns:a16="http://schemas.microsoft.com/office/drawing/2014/main" id="{74474CCD-458B-447D-80EC-CEF47859A28C}"/>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8_0_226">
            <a:extLst>
              <a:ext uri="{FF2B5EF4-FFF2-40B4-BE49-F238E27FC236}">
                <a16:creationId xmlns:a16="http://schemas.microsoft.com/office/drawing/2014/main" id="{A0EEE2CA-122B-45ED-A351-859D9E7B9A3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8_0_227" descr="w_2=2">
                <a:extLst>
                  <a:ext uri="{FF2B5EF4-FFF2-40B4-BE49-F238E27FC236}">
                    <a16:creationId xmlns:a16="http://schemas.microsoft.com/office/drawing/2014/main" id="{C7AA6B54-4183-4CAF-98DA-8D5054B9EAF7}"/>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27" name="continuity_8_0_227" descr="w_2=2">
                <a:extLst>
                  <a:ext uri="{FF2B5EF4-FFF2-40B4-BE49-F238E27FC236}">
                    <a16:creationId xmlns:a16="http://schemas.microsoft.com/office/drawing/2014/main" id="{C7AA6B54-4183-4CAF-98DA-8D5054B9EAF7}"/>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28" name="continuity_8_0_228">
            <a:extLst>
              <a:ext uri="{FF2B5EF4-FFF2-40B4-BE49-F238E27FC236}">
                <a16:creationId xmlns:a16="http://schemas.microsoft.com/office/drawing/2014/main" id="{3E07F0F7-A861-4B52-BBFF-D7E17A8DDC8E}"/>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8_0_229">
            <a:extLst>
              <a:ext uri="{FF2B5EF4-FFF2-40B4-BE49-F238E27FC236}">
                <a16:creationId xmlns:a16="http://schemas.microsoft.com/office/drawing/2014/main" id="{EC56E10D-173E-4BC8-8CFF-52F5410A01C6}"/>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8_0_230" descr="b_2=-1">
                <a:extLst>
                  <a:ext uri="{FF2B5EF4-FFF2-40B4-BE49-F238E27FC236}">
                    <a16:creationId xmlns:a16="http://schemas.microsoft.com/office/drawing/2014/main" id="{60F0FE3B-1A27-4A20-AD1E-765CF6B46664}"/>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0" name="continuity_8_0_230" descr="b_2=-1">
                <a:extLst>
                  <a:ext uri="{FF2B5EF4-FFF2-40B4-BE49-F238E27FC236}">
                    <a16:creationId xmlns:a16="http://schemas.microsoft.com/office/drawing/2014/main" id="{60F0FE3B-1A27-4A20-AD1E-765CF6B46664}"/>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1" name="continuity_8_0_231">
            <a:extLst>
              <a:ext uri="{FF2B5EF4-FFF2-40B4-BE49-F238E27FC236}">
                <a16:creationId xmlns:a16="http://schemas.microsoft.com/office/drawing/2014/main" id="{20A034DE-455B-4DE6-BDE5-71898658CE96}"/>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8_0_232">
            <a:extLst>
              <a:ext uri="{FF2B5EF4-FFF2-40B4-BE49-F238E27FC236}">
                <a16:creationId xmlns:a16="http://schemas.microsoft.com/office/drawing/2014/main" id="{93EC7659-6CBA-49BA-99C1-9AC2C4C1ACCD}"/>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8_0_233" descr="w_3=-1">
                <a:extLst>
                  <a:ext uri="{FF2B5EF4-FFF2-40B4-BE49-F238E27FC236}">
                    <a16:creationId xmlns:a16="http://schemas.microsoft.com/office/drawing/2014/main" id="{03868AA7-A8F3-4B13-8AA9-4085ABA7ADA8}"/>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8_0_233" descr="w_3=-1">
                <a:extLst>
                  <a:ext uri="{FF2B5EF4-FFF2-40B4-BE49-F238E27FC236}">
                    <a16:creationId xmlns:a16="http://schemas.microsoft.com/office/drawing/2014/main" id="{03868AA7-A8F3-4B13-8AA9-4085ABA7ADA8}"/>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4" name="continuity_8_0_234">
            <a:extLst>
              <a:ext uri="{FF2B5EF4-FFF2-40B4-BE49-F238E27FC236}">
                <a16:creationId xmlns:a16="http://schemas.microsoft.com/office/drawing/2014/main" id="{C38317B3-1249-47D8-90E4-76A59421C7B6}"/>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8_0_235">
            <a:extLst>
              <a:ext uri="{FF2B5EF4-FFF2-40B4-BE49-F238E27FC236}">
                <a16:creationId xmlns:a16="http://schemas.microsoft.com/office/drawing/2014/main" id="{9D3EAD35-4BA8-48FE-8D0B-C487EF1D9409}"/>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8_0_236" descr="b_3=2">
                <a:extLst>
                  <a:ext uri="{FF2B5EF4-FFF2-40B4-BE49-F238E27FC236}">
                    <a16:creationId xmlns:a16="http://schemas.microsoft.com/office/drawing/2014/main" id="{9A0DA5F7-0465-4AB5-87A2-BA70843C1F2D}"/>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6" name="continuity_8_0_236" descr="b_3=2">
                <a:extLst>
                  <a:ext uri="{FF2B5EF4-FFF2-40B4-BE49-F238E27FC236}">
                    <a16:creationId xmlns:a16="http://schemas.microsoft.com/office/drawing/2014/main" id="{9A0DA5F7-0465-4AB5-87A2-BA70843C1F2D}"/>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37" name="continuity_8_0_237">
            <a:extLst>
              <a:ext uri="{FF2B5EF4-FFF2-40B4-BE49-F238E27FC236}">
                <a16:creationId xmlns:a16="http://schemas.microsoft.com/office/drawing/2014/main" id="{25231712-E110-409F-8D99-351103E36D5D}"/>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continuity_8_0_238" descr="y=-2">
                <a:extLst>
                  <a:ext uri="{FF2B5EF4-FFF2-40B4-BE49-F238E27FC236}">
                    <a16:creationId xmlns:a16="http://schemas.microsoft.com/office/drawing/2014/main" id="{51C1444F-62C7-4A65-95E2-ED547EE79571}"/>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38" name="continuity_8_0_238" descr="y=-2">
                <a:extLst>
                  <a:ext uri="{FF2B5EF4-FFF2-40B4-BE49-F238E27FC236}">
                    <a16:creationId xmlns:a16="http://schemas.microsoft.com/office/drawing/2014/main" id="{51C1444F-62C7-4A65-95E2-ED547EE79571}"/>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39" name="continuity_8_0_239">
            <a:extLst>
              <a:ext uri="{FF2B5EF4-FFF2-40B4-BE49-F238E27FC236}">
                <a16:creationId xmlns:a16="http://schemas.microsoft.com/office/drawing/2014/main" id="{B464C101-DA59-45DC-AB48-583E9FC2F38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0" name="continuity_8_0_240">
            <a:extLst>
              <a:ext uri="{FF2B5EF4-FFF2-40B4-BE49-F238E27FC236}">
                <a16:creationId xmlns:a16="http://schemas.microsoft.com/office/drawing/2014/main" id="{B0F086B7-DAC6-4AAC-87CB-1A51433924C1}"/>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1" name="continuity_8_0_241">
            <a:extLst>
              <a:ext uri="{FF2B5EF4-FFF2-40B4-BE49-F238E27FC236}">
                <a16:creationId xmlns:a16="http://schemas.microsoft.com/office/drawing/2014/main" id="{DEC11A52-DFB3-47CC-AD5E-D548731A4733}"/>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2" name="continuity_8_0_242">
            <a:extLst>
              <a:ext uri="{FF2B5EF4-FFF2-40B4-BE49-F238E27FC236}">
                <a16:creationId xmlns:a16="http://schemas.microsoft.com/office/drawing/2014/main" id="{E15154ED-B88F-4E2D-A09E-95E4E3CCD279}"/>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continuity_8_0_243">
            <a:extLst>
              <a:ext uri="{FF2B5EF4-FFF2-40B4-BE49-F238E27FC236}">
                <a16:creationId xmlns:a16="http://schemas.microsoft.com/office/drawing/2014/main" id="{AFAAF086-AFB8-4421-9BF2-CA5F15521BB3}"/>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4" name="continuity_8_0_244">
            <a:extLst>
              <a:ext uri="{FF2B5EF4-FFF2-40B4-BE49-F238E27FC236}">
                <a16:creationId xmlns:a16="http://schemas.microsoft.com/office/drawing/2014/main" id="{5FBDFDE2-5EDE-4E3B-8404-82689B3833AA}"/>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5" name="continuity_8_0_245">
            <a:extLst>
              <a:ext uri="{FF2B5EF4-FFF2-40B4-BE49-F238E27FC236}">
                <a16:creationId xmlns:a16="http://schemas.microsoft.com/office/drawing/2014/main" id="{C687AADC-49DC-4D99-8D82-EE6BE419BDF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6" name="continuity_8_0_246">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6" name="continuity_8_0_246">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6"/>
                <a:stretch>
                  <a:fillRect b="-10112"/>
                </a:stretch>
              </a:blipFill>
              <a:ln w="0">
                <a:noFill/>
              </a:ln>
            </p:spPr>
            <p:txBody>
              <a:bodyPr/>
              <a:lstStyle/>
              <a:p>
                <a:r>
                  <a:rPr lang="it-IT">
                    <a:noFill/>
                  </a:rPr>
                  <a:t> </a:t>
                </a:r>
              </a:p>
            </p:txBody>
          </p:sp>
        </mc:Fallback>
      </mc:AlternateContent>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a network with parameters </a:t>
                </a:r>
                <a14:m>
                  <m:oMath xmlns:m="http://schemas.openxmlformats.org/officeDocument/2006/math">
                    <m:r>
                      <a:rPr lang="it-IT" sz="2000" b="1">
                        <a:solidFill>
                          <a:schemeClr val="tx2"/>
                        </a:solidFill>
                        <a:latin typeface="Cambria Math" panose="02040503050406030204" pitchFamily="18" charset="0"/>
                        <a:ea typeface="Cambria Math"/>
                        <a:cs typeface="Cambria Math"/>
                      </a:rPr>
                      <m:t>𝛝</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29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9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9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0"/>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1"/>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3"/>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4"/>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5"/>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6"/>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0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40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402"/>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animBg="1"/>
      <p:bldP spid="248" grpId="0" animBg="1"/>
      <p:bldP spid="249" grpId="0"/>
      <p:bldP spid="250" grpId="0" animBg="1"/>
      <p:bldP spid="251" grpId="0"/>
      <p:bldP spid="252" grpId="0" animBg="1"/>
      <p:bldP spid="253" grpId="0"/>
      <p:bldP spid="254" grpId="0"/>
      <p:bldP spid="255" grpId="0" animBg="1"/>
      <p:bldP spid="256" grpId="0"/>
      <p:bldP spid="257" grpId="0"/>
      <p:bldP spid="258" grpId="0" animBg="1"/>
      <p:bldP spid="259" grpId="0" animBg="1"/>
      <p:bldP spid="260" grpId="0"/>
      <p:bldP spid="261" grpId="0"/>
      <p:bldP spid="262" grpId="0" animBg="1"/>
      <p:bldP spid="263" grpId="0"/>
      <p:bldP spid="264" grpId="0" animBg="1"/>
      <p:bldP spid="265" grpId="0"/>
      <p:bldP spid="266" grpId="0"/>
      <p:bldP spid="267" grpId="0" animBg="1"/>
      <p:bldP spid="268" grpId="0" animBg="1"/>
      <p:bldP spid="269" grpId="0"/>
      <p:bldP spid="270" grpId="0"/>
      <p:bldP spid="271" grpId="0" animBg="1"/>
      <p:bldP spid="272" grpId="0"/>
      <p:bldP spid="273" grpId="0" animBg="1"/>
      <p:bldP spid="274" grpId="0"/>
      <p:bldP spid="275" grpId="0"/>
      <p:bldP spid="276" grpId="0" animBg="1"/>
      <p:bldP spid="277" grpId="0" animBg="1"/>
      <p:bldP spid="278" grpId="0"/>
      <p:bldP spid="279" grpId="0"/>
      <p:bldP spid="280" grpId="0" animBg="1"/>
      <p:bldP spid="281" grpId="0" animBg="1"/>
      <p:bldP spid="282" grpId="0"/>
      <p:bldP spid="283" grpId="0" animBg="1"/>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p:bldP spid="300" grpId="0" animBg="1"/>
      <p:bldP spid="301" grpId="0" animBg="1"/>
      <p:bldP spid="302" grpId="0"/>
      <p:bldP spid="303" grpId="0" animBg="1"/>
      <p:bldP spid="304" grpId="0"/>
      <p:bldP spid="305" grpId="0" animBg="1"/>
      <p:bldP spid="306" grpId="0"/>
      <p:bldP spid="307" grpId="0"/>
      <p:bldP spid="8" grpId="0"/>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190" name="continuity_9_0_190">
            <a:extLst>
              <a:ext uri="{FF2B5EF4-FFF2-40B4-BE49-F238E27FC236}">
                <a16:creationId xmlns:a16="http://schemas.microsoft.com/office/drawing/2014/main" id="{7428CBC9-4ED1-4D5C-8FC5-30C66E4D52D0}"/>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191" name="continuity_9_0_191" descr="J_{2}">
                <a:extLst>
                  <a:ext uri="{FF2B5EF4-FFF2-40B4-BE49-F238E27FC236}">
                    <a16:creationId xmlns:a16="http://schemas.microsoft.com/office/drawing/2014/main" id="{129FDA3A-54B5-408D-AE84-6BCF67F02433}"/>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191" name="continuity_9_0_191" descr="J_{2}">
                <a:extLst>
                  <a:ext uri="{FF2B5EF4-FFF2-40B4-BE49-F238E27FC236}">
                    <a16:creationId xmlns:a16="http://schemas.microsoft.com/office/drawing/2014/main" id="{129FDA3A-54B5-408D-AE84-6BCF67F02433}"/>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192" name="continuity_9_0_192">
            <a:extLst>
              <a:ext uri="{FF2B5EF4-FFF2-40B4-BE49-F238E27FC236}">
                <a16:creationId xmlns:a16="http://schemas.microsoft.com/office/drawing/2014/main" id="{F31F99A5-77C7-4251-B873-7D0DF3B38D8C}"/>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193" name="continuity_9_0_193" descr="J_{3}">
                <a:extLst>
                  <a:ext uri="{FF2B5EF4-FFF2-40B4-BE49-F238E27FC236}">
                    <a16:creationId xmlns:a16="http://schemas.microsoft.com/office/drawing/2014/main" id="{BC5BEB9C-0A65-4899-AD58-244777DA89E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193" name="continuity_9_0_193" descr="J_{3}">
                <a:extLst>
                  <a:ext uri="{FF2B5EF4-FFF2-40B4-BE49-F238E27FC236}">
                    <a16:creationId xmlns:a16="http://schemas.microsoft.com/office/drawing/2014/main" id="{BC5BEB9C-0A65-4899-AD58-244777DA89E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194" name="continuity_9_0_194">
            <a:extLst>
              <a:ext uri="{FF2B5EF4-FFF2-40B4-BE49-F238E27FC236}">
                <a16:creationId xmlns:a16="http://schemas.microsoft.com/office/drawing/2014/main" id="{1091EA2C-2A35-42CA-ABB7-5A8662C44C3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5" name="continuity_9_0_195" descr="\phi_0(x)">
                <a:extLst>
                  <a:ext uri="{FF2B5EF4-FFF2-40B4-BE49-F238E27FC236}">
                    <a16:creationId xmlns:a16="http://schemas.microsoft.com/office/drawing/2014/main" id="{059F8D8D-A86E-444D-AA7B-4AFC0369327A}"/>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5" name="continuity_9_0_195" descr="\phi_0(x)">
                <a:extLst>
                  <a:ext uri="{FF2B5EF4-FFF2-40B4-BE49-F238E27FC236}">
                    <a16:creationId xmlns:a16="http://schemas.microsoft.com/office/drawing/2014/main" id="{059F8D8D-A86E-444D-AA7B-4AFC0369327A}"/>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continuity_9_0_196" descr="2">
                <a:extLst>
                  <a:ext uri="{FF2B5EF4-FFF2-40B4-BE49-F238E27FC236}">
                    <a16:creationId xmlns:a16="http://schemas.microsoft.com/office/drawing/2014/main" id="{277134A2-ADC6-46F4-B617-1934D607904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196" name="continuity_9_0_196" descr="2">
                <a:extLst>
                  <a:ext uri="{FF2B5EF4-FFF2-40B4-BE49-F238E27FC236}">
                    <a16:creationId xmlns:a16="http://schemas.microsoft.com/office/drawing/2014/main" id="{277134A2-ADC6-46F4-B617-1934D607904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197" name="continuity_9_0_197">
            <a:extLst>
              <a:ext uri="{FF2B5EF4-FFF2-40B4-BE49-F238E27FC236}">
                <a16:creationId xmlns:a16="http://schemas.microsoft.com/office/drawing/2014/main" id="{82FF0243-670C-4A81-8A7C-C84FC5509ACA}"/>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8" name="continuity_9_0_198" descr="a_1(x)">
                <a:extLst>
                  <a:ext uri="{FF2B5EF4-FFF2-40B4-BE49-F238E27FC236}">
                    <a16:creationId xmlns:a16="http://schemas.microsoft.com/office/drawing/2014/main" id="{630DCD31-DFB8-4DD5-9D4A-FCA7111FAA75}"/>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198" name="continuity_9_0_198" descr="a_1(x)">
                <a:extLst>
                  <a:ext uri="{FF2B5EF4-FFF2-40B4-BE49-F238E27FC236}">
                    <a16:creationId xmlns:a16="http://schemas.microsoft.com/office/drawing/2014/main" id="{630DCD31-DFB8-4DD5-9D4A-FCA7111FAA75}"/>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continuity_9_0_199" descr="3">
                <a:extLst>
                  <a:ext uri="{FF2B5EF4-FFF2-40B4-BE49-F238E27FC236}">
                    <a16:creationId xmlns:a16="http://schemas.microsoft.com/office/drawing/2014/main" id="{DA7DB62C-53C0-4B18-9A2D-FB74B20989CE}"/>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199" name="continuity_9_0_199" descr="3">
                <a:extLst>
                  <a:ext uri="{FF2B5EF4-FFF2-40B4-BE49-F238E27FC236}">
                    <a16:creationId xmlns:a16="http://schemas.microsoft.com/office/drawing/2014/main" id="{DA7DB62C-53C0-4B18-9A2D-FB74B20989CE}"/>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00" name="continuity_9_0_200">
            <a:extLst>
              <a:ext uri="{FF2B5EF4-FFF2-40B4-BE49-F238E27FC236}">
                <a16:creationId xmlns:a16="http://schemas.microsoft.com/office/drawing/2014/main" id="{4EE5BD78-F529-4108-B2B0-8E2C9B6EF954}"/>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01" name="continuity_9_0_201">
            <a:extLst>
              <a:ext uri="{FF2B5EF4-FFF2-40B4-BE49-F238E27FC236}">
                <a16:creationId xmlns:a16="http://schemas.microsoft.com/office/drawing/2014/main" id="{E8E23D68-0874-467A-ADAA-B0A3C363DB8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continuity_9_0_202" descr="\phi_1(x)">
                <a:extLst>
                  <a:ext uri="{FF2B5EF4-FFF2-40B4-BE49-F238E27FC236}">
                    <a16:creationId xmlns:a16="http://schemas.microsoft.com/office/drawing/2014/main" id="{242B92E8-A253-4F31-9315-AE0F169D6403}"/>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2" name="continuity_9_0_202" descr="\phi_1(x)">
                <a:extLst>
                  <a:ext uri="{FF2B5EF4-FFF2-40B4-BE49-F238E27FC236}">
                    <a16:creationId xmlns:a16="http://schemas.microsoft.com/office/drawing/2014/main" id="{242B92E8-A253-4F31-9315-AE0F169D6403}"/>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continuity_9_0_203" descr="3">
                <a:extLst>
                  <a:ext uri="{FF2B5EF4-FFF2-40B4-BE49-F238E27FC236}">
                    <a16:creationId xmlns:a16="http://schemas.microsoft.com/office/drawing/2014/main" id="{15D44D29-393B-4D93-BADD-867DC70A3364}"/>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03" name="continuity_9_0_203" descr="3">
                <a:extLst>
                  <a:ext uri="{FF2B5EF4-FFF2-40B4-BE49-F238E27FC236}">
                    <a16:creationId xmlns:a16="http://schemas.microsoft.com/office/drawing/2014/main" id="{15D44D29-393B-4D93-BADD-867DC70A3364}"/>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04" name="continuity_9_0_204">
            <a:extLst>
              <a:ext uri="{FF2B5EF4-FFF2-40B4-BE49-F238E27FC236}">
                <a16:creationId xmlns:a16="http://schemas.microsoft.com/office/drawing/2014/main" id="{64F89EE3-2DB8-48A2-93C7-DCE6646AA22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05" name="continuity_9_0_205">
            <a:extLst>
              <a:ext uri="{FF2B5EF4-FFF2-40B4-BE49-F238E27FC236}">
                <a16:creationId xmlns:a16="http://schemas.microsoft.com/office/drawing/2014/main" id="{C0C5679A-884E-42C9-82FF-0D4B2351C728}"/>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06" name="continuity_9_0_206">
            <a:extLst>
              <a:ext uri="{FF2B5EF4-FFF2-40B4-BE49-F238E27FC236}">
                <a16:creationId xmlns:a16="http://schemas.microsoft.com/office/drawing/2014/main" id="{EC15FC14-B237-4399-8491-02A187FFAC2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07" name="continuity_9_0_207" descr="a_2(x)">
                <a:extLst>
                  <a:ext uri="{FF2B5EF4-FFF2-40B4-BE49-F238E27FC236}">
                    <a16:creationId xmlns:a16="http://schemas.microsoft.com/office/drawing/2014/main" id="{D115DC0C-8D7C-40C7-B4AB-596C4BFA1097}"/>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07" name="continuity_9_0_207" descr="a_2(x)">
                <a:extLst>
                  <a:ext uri="{FF2B5EF4-FFF2-40B4-BE49-F238E27FC236}">
                    <a16:creationId xmlns:a16="http://schemas.microsoft.com/office/drawing/2014/main" id="{D115DC0C-8D7C-40C7-B4AB-596C4BFA1097}"/>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continuity_9_0_208" descr="5">
                <a:extLst>
                  <a:ext uri="{FF2B5EF4-FFF2-40B4-BE49-F238E27FC236}">
                    <a16:creationId xmlns:a16="http://schemas.microsoft.com/office/drawing/2014/main" id="{8473863A-E09B-459C-902C-230348D689BC}"/>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08" name="continuity_9_0_208" descr="5">
                <a:extLst>
                  <a:ext uri="{FF2B5EF4-FFF2-40B4-BE49-F238E27FC236}">
                    <a16:creationId xmlns:a16="http://schemas.microsoft.com/office/drawing/2014/main" id="{8473863A-E09B-459C-902C-230348D689BC}"/>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09" name="continuity_9_0_209">
            <a:extLst>
              <a:ext uri="{FF2B5EF4-FFF2-40B4-BE49-F238E27FC236}">
                <a16:creationId xmlns:a16="http://schemas.microsoft.com/office/drawing/2014/main" id="{CDEA02E8-B0C0-427E-99FC-AA5DE58D5E2D}"/>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10" name="continuity_9_0_210">
            <a:extLst>
              <a:ext uri="{FF2B5EF4-FFF2-40B4-BE49-F238E27FC236}">
                <a16:creationId xmlns:a16="http://schemas.microsoft.com/office/drawing/2014/main" id="{5E4B9D4C-B3C4-47B7-A179-F07B683D431D}"/>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continuity_9_0_211" descr="\phi_2(x)">
                <a:extLst>
                  <a:ext uri="{FF2B5EF4-FFF2-40B4-BE49-F238E27FC236}">
                    <a16:creationId xmlns:a16="http://schemas.microsoft.com/office/drawing/2014/main" id="{70423223-29EF-4C7F-8FDA-B45EC3123DDF}"/>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1" name="continuity_9_0_211" descr="\phi_2(x)">
                <a:extLst>
                  <a:ext uri="{FF2B5EF4-FFF2-40B4-BE49-F238E27FC236}">
                    <a16:creationId xmlns:a16="http://schemas.microsoft.com/office/drawing/2014/main" id="{70423223-29EF-4C7F-8FDA-B45EC3123DDF}"/>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2" name="continuity_9_0_212" descr="5">
                <a:extLst>
                  <a:ext uri="{FF2B5EF4-FFF2-40B4-BE49-F238E27FC236}">
                    <a16:creationId xmlns:a16="http://schemas.microsoft.com/office/drawing/2014/main" id="{CFF74AE7-4B68-4A0F-B356-D15DB119A7CC}"/>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12" name="continuity_9_0_212" descr="5">
                <a:extLst>
                  <a:ext uri="{FF2B5EF4-FFF2-40B4-BE49-F238E27FC236}">
                    <a16:creationId xmlns:a16="http://schemas.microsoft.com/office/drawing/2014/main" id="{CFF74AE7-4B68-4A0F-B356-D15DB119A7CC}"/>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13" name="continuity_9_0_213">
            <a:extLst>
              <a:ext uri="{FF2B5EF4-FFF2-40B4-BE49-F238E27FC236}">
                <a16:creationId xmlns:a16="http://schemas.microsoft.com/office/drawing/2014/main" id="{F3D17D67-D0F6-4E09-A423-3676FCD05327}"/>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14" name="continuity_9_0_214">
            <a:extLst>
              <a:ext uri="{FF2B5EF4-FFF2-40B4-BE49-F238E27FC236}">
                <a16:creationId xmlns:a16="http://schemas.microsoft.com/office/drawing/2014/main" id="{2802A8EE-3603-4247-907A-D2EA1816D1EF}"/>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15" name="continuity_9_0_215">
            <a:extLst>
              <a:ext uri="{FF2B5EF4-FFF2-40B4-BE49-F238E27FC236}">
                <a16:creationId xmlns:a16="http://schemas.microsoft.com/office/drawing/2014/main" id="{C4B1B9F9-9966-4FBD-BFE4-2BA3ED626DB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16" name="continuity_9_0_216" descr="a_3(x)">
                <a:extLst>
                  <a:ext uri="{FF2B5EF4-FFF2-40B4-BE49-F238E27FC236}">
                    <a16:creationId xmlns:a16="http://schemas.microsoft.com/office/drawing/2014/main" id="{5DF6E0EC-CDD0-427E-B8BB-106AD05A14F5}"/>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16" name="continuity_9_0_216" descr="a_3(x)">
                <a:extLst>
                  <a:ext uri="{FF2B5EF4-FFF2-40B4-BE49-F238E27FC236}">
                    <a16:creationId xmlns:a16="http://schemas.microsoft.com/office/drawing/2014/main" id="{5DF6E0EC-CDD0-427E-B8BB-106AD05A14F5}"/>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continuity_9_0_217" descr="-3">
                <a:extLst>
                  <a:ext uri="{FF2B5EF4-FFF2-40B4-BE49-F238E27FC236}">
                    <a16:creationId xmlns:a16="http://schemas.microsoft.com/office/drawing/2014/main" id="{6CE10251-F2CE-4D94-ADF7-2FF2BD3D3102}"/>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17" name="continuity_9_0_217" descr="-3">
                <a:extLst>
                  <a:ext uri="{FF2B5EF4-FFF2-40B4-BE49-F238E27FC236}">
                    <a16:creationId xmlns:a16="http://schemas.microsoft.com/office/drawing/2014/main" id="{6CE10251-F2CE-4D94-ADF7-2FF2BD3D3102}"/>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18" name="continuity_9_0_218">
            <a:extLst>
              <a:ext uri="{FF2B5EF4-FFF2-40B4-BE49-F238E27FC236}">
                <a16:creationId xmlns:a16="http://schemas.microsoft.com/office/drawing/2014/main" id="{A2749756-7448-4E91-A939-D22787AD758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19" name="continuity_9_0_219">
            <a:extLst>
              <a:ext uri="{FF2B5EF4-FFF2-40B4-BE49-F238E27FC236}">
                <a16:creationId xmlns:a16="http://schemas.microsoft.com/office/drawing/2014/main" id="{CD266A4B-56B7-4BDB-90DE-CD8327417792}"/>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0" name="continuity_9_0_220" descr="\mathcal{L}_{\mathrm{sq}}">
                <a:extLst>
                  <a:ext uri="{FF2B5EF4-FFF2-40B4-BE49-F238E27FC236}">
                    <a16:creationId xmlns:a16="http://schemas.microsoft.com/office/drawing/2014/main" id="{ADE529DA-E0B3-4570-81CD-3BA4863D2D35}"/>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20" name="continuity_9_0_220" descr="\mathcal{L}_{\mathrm{sq}}">
                <a:extLst>
                  <a:ext uri="{FF2B5EF4-FFF2-40B4-BE49-F238E27FC236}">
                    <a16:creationId xmlns:a16="http://schemas.microsoft.com/office/drawing/2014/main" id="{ADE529DA-E0B3-4570-81CD-3BA4863D2D35}"/>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continuity_9_0_221" descr="1">
                <a:extLst>
                  <a:ext uri="{FF2B5EF4-FFF2-40B4-BE49-F238E27FC236}">
                    <a16:creationId xmlns:a16="http://schemas.microsoft.com/office/drawing/2014/main" id="{E4E5962F-E6CA-446A-B403-1CFC24F6273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21" name="continuity_9_0_221" descr="1">
                <a:extLst>
                  <a:ext uri="{FF2B5EF4-FFF2-40B4-BE49-F238E27FC236}">
                    <a16:creationId xmlns:a16="http://schemas.microsoft.com/office/drawing/2014/main" id="{E4E5962F-E6CA-446A-B403-1CFC24F6273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22" name="continuity_9_0_222">
            <a:extLst>
              <a:ext uri="{FF2B5EF4-FFF2-40B4-BE49-F238E27FC236}">
                <a16:creationId xmlns:a16="http://schemas.microsoft.com/office/drawing/2014/main" id="{BAD171C5-AD5A-47E4-8527-708E3E6F2EB1}"/>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23" name="continuity_9_0_223">
            <a:extLst>
              <a:ext uri="{FF2B5EF4-FFF2-40B4-BE49-F238E27FC236}">
                <a16:creationId xmlns:a16="http://schemas.microsoft.com/office/drawing/2014/main" id="{45BE632E-F3DF-4941-9F6B-D7981F84E2A1}"/>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continuity_9_0_224" descr="w_1=1">
                <a:extLst>
                  <a:ext uri="{FF2B5EF4-FFF2-40B4-BE49-F238E27FC236}">
                    <a16:creationId xmlns:a16="http://schemas.microsoft.com/office/drawing/2014/main" id="{310A0518-2E26-41DD-ADB0-9534BF034667}"/>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4" name="continuity_9_0_224" descr="w_1=1">
                <a:extLst>
                  <a:ext uri="{FF2B5EF4-FFF2-40B4-BE49-F238E27FC236}">
                    <a16:creationId xmlns:a16="http://schemas.microsoft.com/office/drawing/2014/main" id="{310A0518-2E26-41DD-ADB0-9534BF034667}"/>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5" name="continuity_9_0_225">
            <a:extLst>
              <a:ext uri="{FF2B5EF4-FFF2-40B4-BE49-F238E27FC236}">
                <a16:creationId xmlns:a16="http://schemas.microsoft.com/office/drawing/2014/main" id="{BE148C0E-9C12-4704-BB8A-044E5D217A6B}"/>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26" name="continuity_9_0_226">
            <a:extLst>
              <a:ext uri="{FF2B5EF4-FFF2-40B4-BE49-F238E27FC236}">
                <a16:creationId xmlns:a16="http://schemas.microsoft.com/office/drawing/2014/main" id="{626851FD-CE73-4A68-B165-A8422A9955C8}"/>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7" name="continuity_9_0_227" descr="b_1=1">
                <a:extLst>
                  <a:ext uri="{FF2B5EF4-FFF2-40B4-BE49-F238E27FC236}">
                    <a16:creationId xmlns:a16="http://schemas.microsoft.com/office/drawing/2014/main" id="{281D37F0-7FD0-4B22-A17E-8BF355CBE904}"/>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27" name="continuity_9_0_227" descr="b_1=1">
                <a:extLst>
                  <a:ext uri="{FF2B5EF4-FFF2-40B4-BE49-F238E27FC236}">
                    <a16:creationId xmlns:a16="http://schemas.microsoft.com/office/drawing/2014/main" id="{281D37F0-7FD0-4B22-A17E-8BF355CBE904}"/>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28" name="continuity_9_0_228">
            <a:extLst>
              <a:ext uri="{FF2B5EF4-FFF2-40B4-BE49-F238E27FC236}">
                <a16:creationId xmlns:a16="http://schemas.microsoft.com/office/drawing/2014/main" id="{4B62CA97-E45A-4F21-A5EC-E6335CD8D68E}"/>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29" name="continuity_9_0_229">
            <a:extLst>
              <a:ext uri="{FF2B5EF4-FFF2-40B4-BE49-F238E27FC236}">
                <a16:creationId xmlns:a16="http://schemas.microsoft.com/office/drawing/2014/main" id="{64E5FAC7-80FB-4214-A85D-DF6432A58E56}"/>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0" name="continuity_9_0_230" descr="w_2=2">
                <a:extLst>
                  <a:ext uri="{FF2B5EF4-FFF2-40B4-BE49-F238E27FC236}">
                    <a16:creationId xmlns:a16="http://schemas.microsoft.com/office/drawing/2014/main" id="{65FCE38D-8223-41DE-8E43-B8492F4A62CD}"/>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0" name="continuity_9_0_230" descr="w_2=2">
                <a:extLst>
                  <a:ext uri="{FF2B5EF4-FFF2-40B4-BE49-F238E27FC236}">
                    <a16:creationId xmlns:a16="http://schemas.microsoft.com/office/drawing/2014/main" id="{65FCE38D-8223-41DE-8E43-B8492F4A62CD}"/>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31" name="continuity_9_0_231">
            <a:extLst>
              <a:ext uri="{FF2B5EF4-FFF2-40B4-BE49-F238E27FC236}">
                <a16:creationId xmlns:a16="http://schemas.microsoft.com/office/drawing/2014/main" id="{4147BCFF-98E2-4D10-8148-7EF86A4DB140}"/>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32" name="continuity_9_0_232">
            <a:extLst>
              <a:ext uri="{FF2B5EF4-FFF2-40B4-BE49-F238E27FC236}">
                <a16:creationId xmlns:a16="http://schemas.microsoft.com/office/drawing/2014/main" id="{AABAC7A6-D3C7-459C-B825-470E6725F9D5}"/>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3" name="continuity_9_0_233" descr="b_2=-1">
                <a:extLst>
                  <a:ext uri="{FF2B5EF4-FFF2-40B4-BE49-F238E27FC236}">
                    <a16:creationId xmlns:a16="http://schemas.microsoft.com/office/drawing/2014/main" id="{6C99BA10-2C86-4E4C-8148-E3C5518F0295}"/>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3" name="continuity_9_0_233" descr="b_2=-1">
                <a:extLst>
                  <a:ext uri="{FF2B5EF4-FFF2-40B4-BE49-F238E27FC236}">
                    <a16:creationId xmlns:a16="http://schemas.microsoft.com/office/drawing/2014/main" id="{6C99BA10-2C86-4E4C-8148-E3C5518F0295}"/>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34" name="continuity_9_0_234">
            <a:extLst>
              <a:ext uri="{FF2B5EF4-FFF2-40B4-BE49-F238E27FC236}">
                <a16:creationId xmlns:a16="http://schemas.microsoft.com/office/drawing/2014/main" id="{9B84DEA9-D851-4871-BD86-DF6CA04EA7CF}"/>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35" name="continuity_9_0_235">
            <a:extLst>
              <a:ext uri="{FF2B5EF4-FFF2-40B4-BE49-F238E27FC236}">
                <a16:creationId xmlns:a16="http://schemas.microsoft.com/office/drawing/2014/main" id="{3C23D9F5-9B05-46CA-A48A-BF0F0635D12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6" name="continuity_9_0_236" descr="w_3=-1">
                <a:extLst>
                  <a:ext uri="{FF2B5EF4-FFF2-40B4-BE49-F238E27FC236}">
                    <a16:creationId xmlns:a16="http://schemas.microsoft.com/office/drawing/2014/main" id="{4389024F-F34F-4BA8-AE46-718BE2749695}"/>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36" name="continuity_9_0_236" descr="w_3=-1">
                <a:extLst>
                  <a:ext uri="{FF2B5EF4-FFF2-40B4-BE49-F238E27FC236}">
                    <a16:creationId xmlns:a16="http://schemas.microsoft.com/office/drawing/2014/main" id="{4389024F-F34F-4BA8-AE46-718BE2749695}"/>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37" name="continuity_9_0_237">
            <a:extLst>
              <a:ext uri="{FF2B5EF4-FFF2-40B4-BE49-F238E27FC236}">
                <a16:creationId xmlns:a16="http://schemas.microsoft.com/office/drawing/2014/main" id="{074DF9EE-C42E-424A-B560-A3CA9EBB8DF0}"/>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38" name="continuity_9_0_238">
            <a:extLst>
              <a:ext uri="{FF2B5EF4-FFF2-40B4-BE49-F238E27FC236}">
                <a16:creationId xmlns:a16="http://schemas.microsoft.com/office/drawing/2014/main" id="{FDFEF498-6EAF-47BE-B301-61F02947B6D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9" name="continuity_9_0_239" descr="b_3=2">
                <a:extLst>
                  <a:ext uri="{FF2B5EF4-FFF2-40B4-BE49-F238E27FC236}">
                    <a16:creationId xmlns:a16="http://schemas.microsoft.com/office/drawing/2014/main" id="{DF1FAF50-EE35-431A-99D0-1EB6599B956C}"/>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39" name="continuity_9_0_239" descr="b_3=2">
                <a:extLst>
                  <a:ext uri="{FF2B5EF4-FFF2-40B4-BE49-F238E27FC236}">
                    <a16:creationId xmlns:a16="http://schemas.microsoft.com/office/drawing/2014/main" id="{DF1FAF50-EE35-431A-99D0-1EB6599B956C}"/>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40" name="continuity_9_0_240">
            <a:extLst>
              <a:ext uri="{FF2B5EF4-FFF2-40B4-BE49-F238E27FC236}">
                <a16:creationId xmlns:a16="http://schemas.microsoft.com/office/drawing/2014/main" id="{474CF347-BE58-4D2C-889F-63DE5FE4B75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1" name="continuity_9_0_241" descr="y=-2">
                <a:extLst>
                  <a:ext uri="{FF2B5EF4-FFF2-40B4-BE49-F238E27FC236}">
                    <a16:creationId xmlns:a16="http://schemas.microsoft.com/office/drawing/2014/main" id="{7A2B4027-3F85-4663-ABE3-B9400EA66715}"/>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41" name="continuity_9_0_241" descr="y=-2">
                <a:extLst>
                  <a:ext uri="{FF2B5EF4-FFF2-40B4-BE49-F238E27FC236}">
                    <a16:creationId xmlns:a16="http://schemas.microsoft.com/office/drawing/2014/main" id="{7A2B4027-3F85-4663-ABE3-B9400EA66715}"/>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242" name="continuity_9_0_242">
            <a:extLst>
              <a:ext uri="{FF2B5EF4-FFF2-40B4-BE49-F238E27FC236}">
                <a16:creationId xmlns:a16="http://schemas.microsoft.com/office/drawing/2014/main" id="{B7B26D2E-DDB5-49EE-8E58-1D9017AC5F91}"/>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243" name="continuity_9_0_243">
            <a:extLst>
              <a:ext uri="{FF2B5EF4-FFF2-40B4-BE49-F238E27FC236}">
                <a16:creationId xmlns:a16="http://schemas.microsoft.com/office/drawing/2014/main" id="{C771B6A0-4DA7-4784-AC64-9ECEE8D0F089}"/>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4" name="continuity_9_0_244">
            <a:extLst>
              <a:ext uri="{FF2B5EF4-FFF2-40B4-BE49-F238E27FC236}">
                <a16:creationId xmlns:a16="http://schemas.microsoft.com/office/drawing/2014/main" id="{08B9AACD-55C9-4D78-825F-E9C828BDC4E1}"/>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5" name="continuity_9_0_245">
            <a:extLst>
              <a:ext uri="{FF2B5EF4-FFF2-40B4-BE49-F238E27FC236}">
                <a16:creationId xmlns:a16="http://schemas.microsoft.com/office/drawing/2014/main" id="{C5DA74D6-27F0-46AB-BA9B-1A66BC2F0EA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6" name="continuity_9_0_246">
            <a:extLst>
              <a:ext uri="{FF2B5EF4-FFF2-40B4-BE49-F238E27FC236}">
                <a16:creationId xmlns:a16="http://schemas.microsoft.com/office/drawing/2014/main" id="{7B4976AC-D629-4CB2-8C0B-FAA3C20DA89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7" name="continuity_9_0_247">
            <a:extLst>
              <a:ext uri="{FF2B5EF4-FFF2-40B4-BE49-F238E27FC236}">
                <a16:creationId xmlns:a16="http://schemas.microsoft.com/office/drawing/2014/main" id="{8A74F5D6-413F-4FB5-B1AC-D5A827E1CCBC}"/>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8" name="continuity_9_0_248">
            <a:extLst>
              <a:ext uri="{FF2B5EF4-FFF2-40B4-BE49-F238E27FC236}">
                <a16:creationId xmlns:a16="http://schemas.microsoft.com/office/drawing/2014/main" id="{394DF060-252A-4442-B2D7-3B03050CD62A}"/>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9" name="continuity_9_0_249">
                <a:extLst>
                  <a:ext uri="{FF2B5EF4-FFF2-40B4-BE49-F238E27FC236}">
                    <a16:creationId xmlns:a16="http://schemas.microsoft.com/office/drawing/2014/main" id="{35246236-A0EA-4EA4-9687-752F7C637555}"/>
                  </a:ext>
                </a:extLst>
              </p:cNvPr>
              <p:cNvSpPr>
                <a:spLocks noGrp="1"/>
              </p:cNvSpPr>
              <p:nvPr/>
            </p:nvSpPr>
            <p:spPr>
              <a:xfrm>
                <a:off x="666750" y="5238750"/>
                <a:ext cx="10858500" cy="5429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Start at the preactivation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oMath>
                </a14:m>
                <a:r>
                  <a:rPr sz="2175" b="0">
                    <a:solidFill>
                      <a:srgbClr val="526276"/>
                    </a:solidFill>
                    <a:latin typeface="DejaVu Sans"/>
                    <a:ea typeface="DejaVu Sans"/>
                    <a:cs typeface="DejaVu Sans"/>
                  </a:rPr>
                  <a:t>.</a:t>
                </a:r>
                <a:endParaRPr lang="en-GB" sz="2175"/>
              </a:p>
            </p:txBody>
          </p:sp>
        </mc:Choice>
        <mc:Fallback xmlns="">
          <p:sp>
            <p:nvSpPr>
              <p:cNvPr id="249" name="continuity_9_0_249">
                <a:extLst>
                  <a:ext uri="{FF2B5EF4-FFF2-40B4-BE49-F238E27FC236}">
                    <a16:creationId xmlns:a16="http://schemas.microsoft.com/office/drawing/2014/main" id="{35246236-A0EA-4EA4-9687-752F7C637555}"/>
                  </a:ext>
                </a:extLst>
              </p:cNvPr>
              <p:cNvSpPr>
                <a:spLocks noGrp="1" noRot="1" noChangeAspect="1" noMove="1" noResize="1" noEditPoints="1" noAdjustHandles="1" noChangeArrowheads="1" noChangeShapeType="1" noTextEdit="1"/>
              </p:cNvSpPr>
              <p:nvPr/>
            </p:nvSpPr>
            <p:spPr>
              <a:xfrm>
                <a:off x="666750" y="5238750"/>
                <a:ext cx="10858500" cy="542925"/>
              </a:xfrm>
              <a:prstGeom prst="rect">
                <a:avLst/>
              </a:prstGeom>
              <a:blipFill>
                <a:blip r:embed="rId27"/>
                <a:stretch>
                  <a:fillRect b="-10112"/>
                </a:stretch>
              </a:blipFill>
              <a:ln w="0">
                <a:noFill/>
              </a:ln>
            </p:spPr>
            <p:txBody>
              <a:bodyPr/>
              <a:lstStyle/>
              <a:p>
                <a:r>
                  <a:rPr lang="it-IT">
                    <a:noFill/>
                  </a:rPr>
                  <a:t> </a:t>
                </a:r>
              </a:p>
            </p:txBody>
          </p:sp>
        </mc:Fallback>
      </mc:AlternateContent>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a network with parameters </a:t>
                </a:r>
                <a14:m>
                  <m:oMath xmlns:m="http://schemas.openxmlformats.org/officeDocument/2006/math">
                    <m:r>
                      <a:rPr lang="it-IT" sz="2000" b="1">
                        <a:solidFill>
                          <a:schemeClr val="tx2"/>
                        </a:solidFill>
                        <a:latin typeface="Cambria Math" panose="02040503050406030204" pitchFamily="18" charset="0"/>
                        <a:ea typeface="Cambria Math"/>
                        <a:cs typeface="Cambria Math"/>
                      </a:rPr>
                      <m:t>𝛝</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6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7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7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7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8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8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8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8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28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8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9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29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29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9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2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29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29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29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298"/>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299"/>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30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30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30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0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304"/>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305"/>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306"/>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307"/>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30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09"/>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310"/>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311"/>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31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313"/>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40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40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 grpId="0" animBg="1"/>
      <p:bldP spid="251" grpId="0" animBg="1"/>
      <p:bldP spid="252" grpId="0"/>
      <p:bldP spid="253" grpId="0" animBg="1"/>
      <p:bldP spid="254" grpId="0"/>
      <p:bldP spid="255" grpId="0" animBg="1"/>
      <p:bldP spid="256" grpId="0"/>
      <p:bldP spid="257" grpId="0" animBg="1"/>
      <p:bldP spid="258" grpId="0"/>
      <p:bldP spid="259" grpId="0"/>
      <p:bldP spid="260" grpId="0"/>
      <p:bldP spid="261" grpId="0" animBg="1"/>
      <p:bldP spid="262" grpId="0"/>
      <p:bldP spid="263" grpId="0"/>
      <p:bldP spid="264" grpId="0" animBg="1"/>
      <p:bldP spid="265" grpId="0" animBg="1"/>
      <p:bldP spid="266" grpId="0"/>
      <p:bldP spid="267" grpId="0"/>
      <p:bldP spid="268" grpId="0" animBg="1"/>
      <p:bldP spid="269" grpId="0"/>
      <p:bldP spid="270" grpId="0" animBg="1"/>
      <p:bldP spid="271" grpId="0"/>
      <p:bldP spid="272" grpId="0"/>
      <p:bldP spid="273" grpId="0" animBg="1"/>
      <p:bldP spid="274" grpId="0" animBg="1"/>
      <p:bldP spid="275" grpId="0"/>
      <p:bldP spid="276" grpId="0"/>
      <p:bldP spid="277" grpId="0" animBg="1"/>
      <p:bldP spid="278" grpId="0"/>
      <p:bldP spid="279" grpId="0" animBg="1"/>
      <p:bldP spid="280" grpId="0"/>
      <p:bldP spid="281" grpId="0"/>
      <p:bldP spid="282" grpId="0" animBg="1"/>
      <p:bldP spid="283" grpId="0" animBg="1"/>
      <p:bldP spid="284" grpId="0"/>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animBg="1"/>
      <p:bldP spid="303" grpId="0"/>
      <p:bldP spid="304" grpId="0" animBg="1"/>
      <p:bldP spid="305" grpId="0"/>
      <p:bldP spid="306" grpId="0" animBg="1"/>
      <p:bldP spid="307" grpId="0" animBg="1"/>
      <p:bldP spid="308" grpId="0"/>
      <p:bldP spid="309" grpId="0" animBg="1"/>
      <p:bldP spid="310" grpId="0"/>
      <p:bldP spid="311" grpId="0" animBg="1"/>
      <p:bldP spid="312" grpId="0"/>
      <p:bldP spid="313" grpId="0"/>
      <p:bldP spid="8" grpId="0"/>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76262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76262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3)">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5)">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3)">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3)">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5)">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3)">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2(-3+2)=-2">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3)">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5)">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3)">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a_3(x)-y)">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descr="=2(-3+2)=-2">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−3+2</m:t>
                          </m:r>
                        </m:e>
                      </m:d>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9" name="equation_215" descr="\frac{\partial\mathcal{L}_{\mathrm{sq}}}{\partial w_3}=J'_{3}(-3)\,\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22" name="equation_218" descr="\frac{\partial\mathcal{L}_{\mathrm{sq}}}{\partial b_3}=J'_{3}(-3)=-2">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50"/>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145"/>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3)">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5)">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5</m:t>
                          </m:r>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3)=-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3)">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5)">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3)\,w_3\,\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1)(1)=2">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3)=-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5819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3)">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199" name="equation_195" descr="J'_{1}(3)">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7053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5)">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8" name="equation_204" descr="J'_{2}(5)">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J'_{3}(-3)\,w_3\,\mathrm{step}(5)">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descr="=(-2)(-1)(1)=2">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it-IT" sz="2000" b="0" i="1" smtClean="0">
                          <a:solidFill>
                            <a:srgbClr val="AB4910"/>
                          </a:solidFill>
                          <a:latin typeface="Cambria Math" panose="02040503050406030204" pitchFamily="18" charset="0"/>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it-IT" sz="2000" b="0" i="1" smtClean="0">
                          <a:solidFill>
                            <a:srgbClr val="AB4910"/>
                          </a:solidFill>
                          <a:latin typeface="Cambria Math" panose="02040503050406030204" pitchFamily="18" charset="0"/>
                          <a:ea typeface="Cambria Math"/>
                          <a:cs typeface="Cambria Math"/>
                        </a:rPr>
                        <m:t>⋅1</m:t>
                      </m:r>
                      <m:r>
                        <a:rPr lang="en-GB" sz="2000">
                          <a:solidFill>
                            <a:srgbClr val="AB4910"/>
                          </a:solidFill>
                          <a:latin typeface="Cambria Math"/>
                          <a:ea typeface="Cambria Math"/>
                          <a:cs typeface="Cambria Math"/>
                        </a:rPr>
                        <m:t>=2</m:t>
                      </m:r>
                    </m:oMath>
                  </m:oMathPara>
                </a14:m>
                <a:endParaRPr lang="en-GB" sz="2000" dirty="0"/>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12" name="equation_208" descr="\frac{\partial\mathcal{L}_{\mathrm{sq}}}{\partial w_2}=J'_{2}(5)\,\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1"/>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5</m:t>
                          </m:r>
                        </m:e>
                      </m:d>
                      <m:r>
                        <a:rPr lang="en-GB" sz="2000">
                          <a:solidFill>
                            <a:srgbClr val="AF1B29"/>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J'_{2}(5)=2">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05350" y="5467350"/>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3)=-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−3</m:t>
                          </m:r>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3)=-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5</m:t>
                        </m:r>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3</m:t>
                        </m:r>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4"/>
                <a:stretch>
                  <a:fillRect t="-5970" b="-1641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3)">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5)=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3)=-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3)">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5)\,w_2\,\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descr="=2(2)(1)=4">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5)=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3)=-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229100" y="3733800"/>
            <a:ext cx="47625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3525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3)">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199" name="equation_195" descr="J'_{1}(3)">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J'_{2}(5)\,w_2\,\mathrm{step}(3)">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 </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descr="=2(2)(1)=4">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B4910"/>
                          </a:solidFill>
                          <a:latin typeface="Cambria Math"/>
                          <a:ea typeface="Cambria Math"/>
                          <a:cs typeface="Cambria Math"/>
                        </a:rPr>
                        <m:t>=2</m:t>
                      </m:r>
                      <m:r>
                        <a:rPr lang="it-IT" sz="2000" b="0" i="1" smtClean="0">
                          <a:solidFill>
                            <a:srgbClr val="AB4910"/>
                          </a:solidFill>
                          <a:latin typeface="Cambria Math" panose="02040503050406030204" pitchFamily="18" charset="0"/>
                          <a:ea typeface="Cambria Math"/>
                          <a:cs typeface="Cambria Math"/>
                        </a:rPr>
                        <m:t>⋅2⋅1</m:t>
                      </m:r>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9"/>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a:p>
            </p:txBody>
          </p:sp>
        </mc:Choice>
        <mc:Fallback xmlns="">
          <p:sp>
            <p:nvSpPr>
              <p:cNvPr id="203" name="equation_199" descr="\frac{\partial\mathcal{L}_{\mathrm{sq}}}{\partial w_1}=J'_{1}(3)\,\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1"/>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3</m:t>
                          </m:r>
                        </m:e>
                      </m:d>
                      <m:r>
                        <a:rPr lang="en-GB" sz="2000">
                          <a:solidFill>
                            <a:srgbClr val="AF1B29"/>
                          </a:solidFill>
                          <a:latin typeface="Cambria Math"/>
                          <a:ea typeface="Cambria Math"/>
                          <a:cs typeface="Cambria Math"/>
                        </a:rPr>
                        <m:t>=4</m:t>
                      </m:r>
                    </m:oMath>
                  </m:oMathPara>
                </a14:m>
                <a:endParaRPr lang="en-GB" sz="2000"/>
              </a:p>
            </p:txBody>
          </p:sp>
        </mc:Choice>
        <mc:Fallback xmlns="">
          <p:sp>
            <p:nvSpPr>
              <p:cNvPr id="206" name="equation_202" descr="\frac{\partial\mathcal{L}_{\mathrm{sq}}}{\partial b_1}=J'_{1}(3)=4">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52550" y="5467350"/>
                <a:ext cx="2857500" cy="581025"/>
              </a:xfrm>
              <a:prstGeom prst="rect">
                <a:avLst/>
              </a:prstGeom>
              <a:blipFill>
                <a:blip r:embed="rId32"/>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5)=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5</m:t>
                          </m:r>
                        </m:e>
                      </m:d>
                      <m:r>
                        <a:rPr lang="en-GB" sz="2000">
                          <a:solidFill>
                            <a:srgbClr val="235C99"/>
                          </a:solidFill>
                          <a:latin typeface="Cambria Math"/>
                          <a:ea typeface="Cambria Math"/>
                          <a:cs typeface="Cambria Math"/>
                        </a:rPr>
                        <m:t>=2</m:t>
                      </m:r>
                    </m:oMath>
                  </m:oMathPara>
                </a14:m>
                <a:endParaRPr lang="en-GB" sz="2000"/>
              </a:p>
            </p:txBody>
          </p:sp>
        </mc:Choice>
        <mc:Fallback xmlns="">
          <p:sp>
            <p:nvSpPr>
              <p:cNvPr id="210" name="equation_206" descr="J'_{2}(5)=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3)=-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−3</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19" name="equation_215" descr="J'_{3}(-3)=-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47"/>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8"/>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9"/>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50"/>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51"/>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52"/>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53"/>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54"/>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55"/>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56"/>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57"/>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8"/>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9"/>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60"/>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61"/>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62"/>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63"/>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64"/>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65"/>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66"/>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67"/>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8"/>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9"/>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70"/>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71"/>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72"/>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73"/>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74"/>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75"/>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76"/>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77"/>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8"/>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9"/>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80"/>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81"/>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82"/>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83"/>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84"/>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85"/>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86"/>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87"/>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8"/>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9"/>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90"/>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91"/>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92"/>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9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9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9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9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97"/>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98"/>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9"/>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00"/>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01"/>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02"/>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03"/>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04"/>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05"/>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0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0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0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1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1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1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1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1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1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1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1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1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2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2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2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2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2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2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p:sp>
        <p:nvSpPr>
          <p:cNvPr id="5" name="shape_1">
            <a:extLst>
              <a:ext uri="{FF2B5EF4-FFF2-40B4-BE49-F238E27FC236}">
                <a16:creationId xmlns:a16="http://schemas.microsoft.com/office/drawing/2014/main" id="{421A1C15-B960-4B15-8B7E-D63EC00B4BBA}"/>
              </a:ext>
            </a:extLst>
          </p:cNvPr>
          <p:cNvSpPr>
            <a:spLocks noGrp="1"/>
          </p:cNvSpPr>
          <p:nvPr/>
        </p:nvSpPr>
        <p:spPr>
          <a:xfrm>
            <a:off x="523875" y="1952625"/>
            <a:ext cx="11144250" cy="438150"/>
          </a:xfrm>
          <a:prstGeom prst="rect">
            <a:avLst/>
          </a:prstGeom>
          <a:solidFill>
            <a:srgbClr val="F1F6F8"/>
          </a:solidFill>
          <a:ln w="9525">
            <a:solidFill>
              <a:srgbClr val="B6C2CD"/>
            </a:solidFill>
          </a:ln>
        </p:spPr>
        <p:txBody>
          <a:bodyPr/>
          <a:lstStyle/>
          <a:p>
            <a:endParaRPr lang="it-IT"/>
          </a:p>
        </p:txBody>
      </p:sp>
      <p:sp>
        <p:nvSpPr>
          <p:cNvPr id="6" name="text_2">
            <a:extLst>
              <a:ext uri="{FF2B5EF4-FFF2-40B4-BE49-F238E27FC236}">
                <a16:creationId xmlns:a16="http://schemas.microsoft.com/office/drawing/2014/main" id="{03F1E1A6-D61B-47DA-9656-BF7E255CC99D}"/>
              </a:ext>
            </a:extLst>
          </p:cNvPr>
          <p:cNvSpPr>
            <a:spLocks noGrp="1"/>
          </p:cNvSpPr>
          <p:nvPr/>
        </p:nvSpPr>
        <p:spPr>
          <a:xfrm>
            <a:off x="619125" y="1990725"/>
            <a:ext cx="2609850" cy="361950"/>
          </a:xfrm>
          <a:prstGeom prst="rect">
            <a:avLst/>
          </a:prstGeom>
          <a:noFill/>
          <a:ln w="0">
            <a:noFill/>
          </a:ln>
        </p:spPr>
        <p:txBody>
          <a:bodyPr anchor="ctr">
            <a:noAutofit/>
          </a:bodyPr>
          <a:lstStyle>
            <a:defPPr algn="l">
              <a:defRPr sz="1875" b="1">
                <a:solidFill>
                  <a:srgbClr val="182D45"/>
                </a:solidFill>
                <a:latin typeface="DejaVu Sans"/>
                <a:ea typeface="DejaVu Sans"/>
                <a:cs typeface="DejaVu Sans"/>
              </a:defRPr>
            </a:defPPr>
          </a:lstStyle>
          <a:p>
            <a:pPr algn="l">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Quantity</a:t>
            </a:r>
          </a:p>
        </p:txBody>
      </p:sp>
      <p:sp>
        <p:nvSpPr>
          <p:cNvPr id="7" name="text_3">
            <a:extLst>
              <a:ext uri="{FF2B5EF4-FFF2-40B4-BE49-F238E27FC236}">
                <a16:creationId xmlns:a16="http://schemas.microsoft.com/office/drawing/2014/main" id="{BB4AA9BC-0FD0-400E-B104-16097F8D65CE}"/>
              </a:ext>
            </a:extLst>
          </p:cNvPr>
          <p:cNvSpPr>
            <a:spLocks noGrp="1"/>
          </p:cNvSpPr>
          <p:nvPr/>
        </p:nvSpPr>
        <p:spPr>
          <a:xfrm>
            <a:off x="3238500" y="1990725"/>
            <a:ext cx="257175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Scalar network</a:t>
            </a:r>
          </a:p>
        </p:txBody>
      </p:sp>
      <p:sp>
        <p:nvSpPr>
          <p:cNvPr id="8" name="text_4">
            <a:extLst>
              <a:ext uri="{FF2B5EF4-FFF2-40B4-BE49-F238E27FC236}">
                <a16:creationId xmlns:a16="http://schemas.microsoft.com/office/drawing/2014/main" id="{C33C99B4-864E-41A8-9344-73F58ACB2306}"/>
              </a:ext>
            </a:extLst>
          </p:cNvPr>
          <p:cNvSpPr>
            <a:spLocks noGrp="1"/>
          </p:cNvSpPr>
          <p:nvPr/>
        </p:nvSpPr>
        <p:spPr>
          <a:xfrm>
            <a:off x="5953125" y="1990725"/>
            <a:ext cx="5524500" cy="36195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9" name="text_5">
                <a:extLst>
                  <a:ext uri="{FF2B5EF4-FFF2-40B4-BE49-F238E27FC236}">
                    <a16:creationId xmlns:a16="http://schemas.microsoft.com/office/drawing/2014/main" id="{B8772D61-0A31-48A8-AF78-26028C21ECD6}"/>
                  </a:ext>
                </a:extLst>
              </p:cNvPr>
              <p:cNvSpPr>
                <a:spLocks noGrp="1"/>
              </p:cNvSpPr>
              <p:nvPr/>
            </p:nvSpPr>
            <p:spPr>
              <a:xfrm>
                <a:off x="619125" y="2438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Input to layer </a:t>
                </a:r>
                <a14:m>
                  <m:oMath xmlns:m="http://schemas.openxmlformats.org/officeDocument/2006/math">
                    <m:r>
                      <a:rPr lang="en-GB" sz="1875">
                        <a:solidFill>
                          <a:srgbClr val="182D45"/>
                        </a:solidFill>
                        <a:latin typeface="Cambria Math"/>
                        <a:ea typeface="Cambria Math"/>
                        <a:cs typeface="Cambria Math"/>
                      </a:rPr>
                      <m:t>𝑟</m:t>
                    </m:r>
                  </m:oMath>
                </a14:m>
                <a:endParaRPr sz="1875" b="0">
                  <a:solidFill>
                    <a:srgbClr val="182D45"/>
                  </a:solidFill>
                  <a:latin typeface="DejaVu Sans"/>
                  <a:ea typeface="DejaVu Sans"/>
                  <a:cs typeface="DejaVu Sans"/>
                </a:endParaRPr>
              </a:p>
            </p:txBody>
          </p:sp>
        </mc:Choice>
        <mc:Fallback xmlns="">
          <p:sp>
            <p:nvSpPr>
              <p:cNvPr id="9" name="text_5">
                <a:extLst>
                  <a:ext uri="{FF2B5EF4-FFF2-40B4-BE49-F238E27FC236}">
                    <a16:creationId xmlns:a16="http://schemas.microsoft.com/office/drawing/2014/main" id="{B8772D61-0A31-48A8-AF78-26028C21ECD6}"/>
                  </a:ext>
                </a:extLst>
              </p:cNvPr>
              <p:cNvSpPr>
                <a:spLocks noGrp="1" noRot="1" noChangeAspect="1" noMove="1" noResize="1" noEditPoints="1" noAdjustHandles="1" noChangeArrowheads="1" noChangeShapeType="1" noTextEdit="1"/>
              </p:cNvSpPr>
              <p:nvPr/>
            </p:nvSpPr>
            <p:spPr>
              <a:xfrm>
                <a:off x="619125" y="2438400"/>
                <a:ext cx="2609850" cy="628650"/>
              </a:xfrm>
              <a:prstGeom prst="rect">
                <a:avLst/>
              </a:prstGeom>
              <a:blipFill>
                <a:blip r:embed="rId3"/>
                <a:stretch>
                  <a:fillRect l="-210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phi_{r-1}(x)">
                <a:extLst>
                  <a:ext uri="{FF2B5EF4-FFF2-40B4-BE49-F238E27FC236}">
                    <a16:creationId xmlns:a16="http://schemas.microsoft.com/office/drawing/2014/main" id="{E906914E-D7D9-4E0C-BA05-FC706B51CA68}"/>
                  </a:ext>
                </a:extLst>
              </p:cNvPr>
              <p:cNvSpPr>
                <a:spLocks noGrp="1"/>
              </p:cNvSpPr>
              <p:nvPr/>
            </p:nvSpPr>
            <p:spPr>
              <a:xfrm>
                <a:off x="3238500" y="2438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𝑟</m:t>
                          </m:r>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10" name="equation_6" descr="\phi_{r-1}(x)">
                <a:extLst>
                  <a:ext uri="{FF2B5EF4-FFF2-40B4-BE49-F238E27FC236}">
                    <a16:creationId xmlns:a16="http://schemas.microsoft.com/office/drawing/2014/main" id="{E906914E-D7D9-4E0C-BA05-FC706B51CA68}"/>
                  </a:ext>
                </a:extLst>
              </p:cNvPr>
              <p:cNvSpPr>
                <a:spLocks noGrp="1" noRot="1" noChangeAspect="1" noMove="1" noResize="1" noEditPoints="1" noAdjustHandles="1" noChangeArrowheads="1" noChangeShapeType="1" noTextEdit="1"/>
              </p:cNvSpPr>
              <p:nvPr/>
            </p:nvSpPr>
            <p:spPr>
              <a:xfrm>
                <a:off x="3238500" y="2438400"/>
                <a:ext cx="2571750"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p:cNvSpPr>
              <p:nvPr/>
            </p:nvSpPr>
            <p:spPr>
              <a:xfrm>
                <a:off x="5953125" y="2438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𝛟</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sup>
                      </m:sSup>
                    </m:oMath>
                  </m:oMathPara>
                </a14:m>
                <a:endParaRPr lang="en-GB" sz="2800"/>
              </a:p>
            </p:txBody>
          </p:sp>
        </mc:Choice>
        <mc:Fallback xmlns="">
          <p:sp>
            <p:nvSpPr>
              <p:cNvPr id="11" name="equation_7" descr="\boldsymbol{\phi}_{r-1}(\mathbf{x})\in\mathbb{R}^{1\times d_{r-1}}">
                <a:extLst>
                  <a:ext uri="{FF2B5EF4-FFF2-40B4-BE49-F238E27FC236}">
                    <a16:creationId xmlns:a16="http://schemas.microsoft.com/office/drawing/2014/main" id="{52D69121-8E73-44D3-9043-76863399AE22}"/>
                  </a:ext>
                </a:extLst>
              </p:cNvPr>
              <p:cNvSpPr>
                <a:spLocks noGrp="1" noRot="1" noChangeAspect="1" noMove="1" noResize="1" noEditPoints="1" noAdjustHandles="1" noChangeArrowheads="1" noChangeShapeType="1" noTextEdit="1"/>
              </p:cNvSpPr>
              <p:nvPr/>
            </p:nvSpPr>
            <p:spPr>
              <a:xfrm>
                <a:off x="5953125" y="2438400"/>
                <a:ext cx="5524500" cy="628650"/>
              </a:xfrm>
              <a:prstGeom prst="rect">
                <a:avLst/>
              </a:prstGeom>
              <a:blipFill>
                <a:blip r:embed="rId5"/>
                <a:stretch>
                  <a:fillRect/>
                </a:stretch>
              </a:blipFill>
              <a:ln w="0">
                <a:noFill/>
              </a:ln>
            </p:spPr>
            <p:txBody>
              <a:bodyPr/>
              <a:lstStyle/>
              <a:p>
                <a:r>
                  <a:rPr lang="it-IT">
                    <a:noFill/>
                  </a:rPr>
                  <a:t> </a:t>
                </a:r>
              </a:p>
            </p:txBody>
          </p:sp>
        </mc:Fallback>
      </mc:AlternateContent>
      <p:sp>
        <p:nvSpPr>
          <p:cNvPr id="12" name="line_8">
            <a:extLst>
              <a:ext uri="{FF2B5EF4-FFF2-40B4-BE49-F238E27FC236}">
                <a16:creationId xmlns:a16="http://schemas.microsoft.com/office/drawing/2014/main" id="{03BF95F0-D78A-41E7-B4F6-10A2FECE079E}"/>
              </a:ext>
            </a:extLst>
          </p:cNvPr>
          <p:cNvSpPr>
            <a:spLocks noGrp="1"/>
          </p:cNvSpPr>
          <p:nvPr/>
        </p:nvSpPr>
        <p:spPr>
          <a:xfrm>
            <a:off x="523875" y="3143250"/>
            <a:ext cx="11144250" cy="476"/>
          </a:xfrm>
          <a:prstGeom prst="line">
            <a:avLst/>
          </a:prstGeom>
          <a:noFill/>
          <a:ln w="9525">
            <a:solidFill>
              <a:srgbClr val="B6C2CD"/>
            </a:solidFill>
          </a:ln>
        </p:spPr>
        <p:txBody>
          <a:bodyPr/>
          <a:lstStyle/>
          <a:p>
            <a:endParaRPr lang="it-IT"/>
          </a:p>
        </p:txBody>
      </p:sp>
      <p:sp>
        <p:nvSpPr>
          <p:cNvPr id="13" name="text_9">
            <a:extLst>
              <a:ext uri="{FF2B5EF4-FFF2-40B4-BE49-F238E27FC236}">
                <a16:creationId xmlns:a16="http://schemas.microsoft.com/office/drawing/2014/main" id="{A5FF8AE5-BC2D-4687-A553-E75D0B406F49}"/>
              </a:ext>
            </a:extLst>
          </p:cNvPr>
          <p:cNvSpPr>
            <a:spLocks noGrp="1"/>
          </p:cNvSpPr>
          <p:nvPr/>
        </p:nvSpPr>
        <p:spPr>
          <a:xfrm>
            <a:off x="619125" y="3200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Weights</a:t>
            </a:r>
          </a:p>
        </p:txBody>
      </p:sp>
      <mc:AlternateContent xmlns:mc="http://schemas.openxmlformats.org/markup-compatibility/2006" xmlns:a14="http://schemas.microsoft.com/office/drawing/2010/main">
        <mc:Choice Requires="a14">
          <p:sp>
            <p:nvSpPr>
              <p:cNvPr id="14" name="equation_10" descr="w_r">
                <a:extLst>
                  <a:ext uri="{FF2B5EF4-FFF2-40B4-BE49-F238E27FC236}">
                    <a16:creationId xmlns:a16="http://schemas.microsoft.com/office/drawing/2014/main" id="{15225FBE-A201-4349-B22C-EE941C663870}"/>
                  </a:ext>
                </a:extLst>
              </p:cNvPr>
              <p:cNvSpPr>
                <a:spLocks noGrp="1"/>
              </p:cNvSpPr>
              <p:nvPr/>
            </p:nvSpPr>
            <p:spPr>
              <a:xfrm>
                <a:off x="3238500" y="3200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4" name="equation_10" descr="w_r">
                <a:extLst>
                  <a:ext uri="{FF2B5EF4-FFF2-40B4-BE49-F238E27FC236}">
                    <a16:creationId xmlns:a16="http://schemas.microsoft.com/office/drawing/2014/main" id="{15225FBE-A201-4349-B22C-EE941C663870}"/>
                  </a:ext>
                </a:extLst>
              </p:cNvPr>
              <p:cNvSpPr>
                <a:spLocks noGrp="1" noRot="1" noChangeAspect="1" noMove="1" noResize="1" noEditPoints="1" noAdjustHandles="1" noChangeArrowheads="1" noChangeShapeType="1" noTextEdit="1"/>
              </p:cNvSpPr>
              <p:nvPr/>
            </p:nvSpPr>
            <p:spPr>
              <a:xfrm>
                <a:off x="3238500" y="3200400"/>
                <a:ext cx="2571750"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mathbf{W}_r\in\mathbb{R}^{d_{r-1}\times d_r}">
                <a:extLst>
                  <a:ext uri="{FF2B5EF4-FFF2-40B4-BE49-F238E27FC236}">
                    <a16:creationId xmlns:a16="http://schemas.microsoft.com/office/drawing/2014/main" id="{0769D1F5-9AF8-4D2A-9114-468141412CDA}"/>
                  </a:ext>
                </a:extLst>
              </p:cNvPr>
              <p:cNvSpPr>
                <a:spLocks noGrp="1"/>
              </p:cNvSpPr>
              <p:nvPr/>
            </p:nvSpPr>
            <p:spPr>
              <a:xfrm>
                <a:off x="5953125" y="3200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5" name="equation_11" descr="\mathbf{W}_r\in\mathbb{R}^{d_{r-1}\times d_r}">
                <a:extLst>
                  <a:ext uri="{FF2B5EF4-FFF2-40B4-BE49-F238E27FC236}">
                    <a16:creationId xmlns:a16="http://schemas.microsoft.com/office/drawing/2014/main" id="{0769D1F5-9AF8-4D2A-9114-468141412CDA}"/>
                  </a:ext>
                </a:extLst>
              </p:cNvPr>
              <p:cNvSpPr>
                <a:spLocks noGrp="1" noRot="1" noChangeAspect="1" noMove="1" noResize="1" noEditPoints="1" noAdjustHandles="1" noChangeArrowheads="1" noChangeShapeType="1" noTextEdit="1"/>
              </p:cNvSpPr>
              <p:nvPr/>
            </p:nvSpPr>
            <p:spPr>
              <a:xfrm>
                <a:off x="5953125" y="3200400"/>
                <a:ext cx="5524500" cy="628650"/>
              </a:xfrm>
              <a:prstGeom prst="rect">
                <a:avLst/>
              </a:prstGeom>
              <a:blipFill>
                <a:blip r:embed="rId7"/>
                <a:stretch>
                  <a:fillRect/>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87D0D348-E2D9-45D7-8C0F-363931B933DE}"/>
              </a:ext>
            </a:extLst>
          </p:cNvPr>
          <p:cNvSpPr>
            <a:spLocks noGrp="1"/>
          </p:cNvSpPr>
          <p:nvPr/>
        </p:nvSpPr>
        <p:spPr>
          <a:xfrm>
            <a:off x="523875" y="3905250"/>
            <a:ext cx="11144250" cy="476"/>
          </a:xfrm>
          <a:prstGeom prst="line">
            <a:avLst/>
          </a:prstGeom>
          <a:noFill/>
          <a:ln w="9525">
            <a:solidFill>
              <a:srgbClr val="B6C2CD"/>
            </a:solidFill>
          </a:ln>
        </p:spPr>
        <p:txBody>
          <a:bodyPr/>
          <a:lstStyle/>
          <a:p>
            <a:endParaRPr lang="it-IT"/>
          </a:p>
        </p:txBody>
      </p:sp>
      <p:sp>
        <p:nvSpPr>
          <p:cNvPr id="17" name="text_13">
            <a:extLst>
              <a:ext uri="{FF2B5EF4-FFF2-40B4-BE49-F238E27FC236}">
                <a16:creationId xmlns:a16="http://schemas.microsoft.com/office/drawing/2014/main" id="{15B69CA5-16E4-4E9F-AAAE-29D01B87934F}"/>
              </a:ext>
            </a:extLst>
          </p:cNvPr>
          <p:cNvSpPr>
            <a:spLocks noGrp="1"/>
          </p:cNvSpPr>
          <p:nvPr/>
        </p:nvSpPr>
        <p:spPr>
          <a:xfrm>
            <a:off x="619125" y="3962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Biases</a:t>
            </a:r>
          </a:p>
        </p:txBody>
      </p:sp>
      <mc:AlternateContent xmlns:mc="http://schemas.openxmlformats.org/markup-compatibility/2006" xmlns:a14="http://schemas.microsoft.com/office/drawing/2010/main">
        <mc:Choice Requires="a14">
          <p:sp>
            <p:nvSpPr>
              <p:cNvPr id="18" name="equation_14" descr="b_r">
                <a:extLst>
                  <a:ext uri="{FF2B5EF4-FFF2-40B4-BE49-F238E27FC236}">
                    <a16:creationId xmlns:a16="http://schemas.microsoft.com/office/drawing/2014/main" id="{B894A534-37BE-4ED8-ABEC-3112EE1CDC7E}"/>
                  </a:ext>
                </a:extLst>
              </p:cNvPr>
              <p:cNvSpPr>
                <a:spLocks noGrp="1"/>
              </p:cNvSpPr>
              <p:nvPr/>
            </p:nvSpPr>
            <p:spPr>
              <a:xfrm>
                <a:off x="3238500" y="3962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𝑟</m:t>
                          </m:r>
                        </m:sub>
                      </m:sSub>
                    </m:oMath>
                  </m:oMathPara>
                </a14:m>
                <a:endParaRPr lang="en-GB" sz="2900"/>
              </a:p>
            </p:txBody>
          </p:sp>
        </mc:Choice>
        <mc:Fallback xmlns="">
          <p:sp>
            <p:nvSpPr>
              <p:cNvPr id="18" name="equation_14" descr="b_r">
                <a:extLst>
                  <a:ext uri="{FF2B5EF4-FFF2-40B4-BE49-F238E27FC236}">
                    <a16:creationId xmlns:a16="http://schemas.microsoft.com/office/drawing/2014/main" id="{B894A534-37BE-4ED8-ABEC-3112EE1CDC7E}"/>
                  </a:ext>
                </a:extLst>
              </p:cNvPr>
              <p:cNvSpPr>
                <a:spLocks noGrp="1" noRot="1" noChangeAspect="1" noMove="1" noResize="1" noEditPoints="1" noAdjustHandles="1" noChangeArrowheads="1" noChangeShapeType="1" noTextEdit="1"/>
              </p:cNvSpPr>
              <p:nvPr/>
            </p:nvSpPr>
            <p:spPr>
              <a:xfrm>
                <a:off x="3238500" y="3962400"/>
                <a:ext cx="257175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mathbf{b}_r\in\mathbb{R}^{1\times d_r}">
                <a:extLst>
                  <a:ext uri="{FF2B5EF4-FFF2-40B4-BE49-F238E27FC236}">
                    <a16:creationId xmlns:a16="http://schemas.microsoft.com/office/drawing/2014/main" id="{B20D7559-5B53-45AE-BE6B-B8312A11893D}"/>
                  </a:ext>
                </a:extLst>
              </p:cNvPr>
              <p:cNvSpPr>
                <a:spLocks noGrp="1"/>
              </p:cNvSpPr>
              <p:nvPr/>
            </p:nvSpPr>
            <p:spPr>
              <a:xfrm>
                <a:off x="5953125" y="3962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sub>
                      </m:sSub>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19" name="equation_15" descr="\mathbf{b}_r\in\mathbb{R}^{1\times d_r}">
                <a:extLst>
                  <a:ext uri="{FF2B5EF4-FFF2-40B4-BE49-F238E27FC236}">
                    <a16:creationId xmlns:a16="http://schemas.microsoft.com/office/drawing/2014/main" id="{B20D7559-5B53-45AE-BE6B-B8312A11893D}"/>
                  </a:ext>
                </a:extLst>
              </p:cNvPr>
              <p:cNvSpPr>
                <a:spLocks noGrp="1" noRot="1" noChangeAspect="1" noMove="1" noResize="1" noEditPoints="1" noAdjustHandles="1" noChangeArrowheads="1" noChangeShapeType="1" noTextEdit="1"/>
              </p:cNvSpPr>
              <p:nvPr/>
            </p:nvSpPr>
            <p:spPr>
              <a:xfrm>
                <a:off x="5953125" y="3962400"/>
                <a:ext cx="5524500" cy="628650"/>
              </a:xfrm>
              <a:prstGeom prst="rect">
                <a:avLst/>
              </a:prstGeom>
              <a:blipFill>
                <a:blip r:embed="rId9"/>
                <a:stretch>
                  <a:fillRect/>
                </a:stretch>
              </a:blipFill>
              <a:ln w="0">
                <a:noFill/>
              </a:ln>
            </p:spPr>
            <p:txBody>
              <a:bodyPr/>
              <a:lstStyle/>
              <a:p>
                <a:r>
                  <a:rPr lang="it-IT">
                    <a:noFill/>
                  </a:rPr>
                  <a:t> </a:t>
                </a:r>
              </a:p>
            </p:txBody>
          </p:sp>
        </mc:Fallback>
      </mc:AlternateContent>
      <p:sp>
        <p:nvSpPr>
          <p:cNvPr id="20" name="line_16">
            <a:extLst>
              <a:ext uri="{FF2B5EF4-FFF2-40B4-BE49-F238E27FC236}">
                <a16:creationId xmlns:a16="http://schemas.microsoft.com/office/drawing/2014/main" id="{25553892-9435-42BF-BEC8-1B004B7C8B33}"/>
              </a:ext>
            </a:extLst>
          </p:cNvPr>
          <p:cNvSpPr>
            <a:spLocks noGrp="1"/>
          </p:cNvSpPr>
          <p:nvPr/>
        </p:nvSpPr>
        <p:spPr>
          <a:xfrm>
            <a:off x="523875" y="4667250"/>
            <a:ext cx="11144250" cy="476"/>
          </a:xfrm>
          <a:prstGeom prst="line">
            <a:avLst/>
          </a:prstGeom>
          <a:noFill/>
          <a:ln w="9525">
            <a:solidFill>
              <a:srgbClr val="B6C2CD"/>
            </a:solidFill>
          </a:ln>
        </p:spPr>
        <p:txBody>
          <a:bodyPr/>
          <a:lstStyle/>
          <a:p>
            <a:endParaRPr lang="it-IT"/>
          </a:p>
        </p:txBody>
      </p:sp>
      <p:sp>
        <p:nvSpPr>
          <p:cNvPr id="21" name="text_17">
            <a:extLst>
              <a:ext uri="{FF2B5EF4-FFF2-40B4-BE49-F238E27FC236}">
                <a16:creationId xmlns:a16="http://schemas.microsoft.com/office/drawing/2014/main" id="{38FD9909-4A40-4495-B48F-878F72E1DEF2}"/>
              </a:ext>
            </a:extLst>
          </p:cNvPr>
          <p:cNvSpPr>
            <a:spLocks noGrp="1"/>
          </p:cNvSpPr>
          <p:nvPr/>
        </p:nvSpPr>
        <p:spPr>
          <a:xfrm>
            <a:off x="619125" y="4724400"/>
            <a:ext cx="2609850" cy="628650"/>
          </a:xfrm>
          <a:prstGeom prst="rect">
            <a:avLst/>
          </a:prstGeom>
          <a:noFill/>
          <a:ln w="0">
            <a:noFill/>
          </a:ln>
        </p:spPr>
        <p:txBody>
          <a:bodyPr anchor="ctr">
            <a:noAutofit/>
          </a:bodyPr>
          <a:lstStyle>
            <a:defPPr algn="l">
              <a:defRPr sz="1875" b="0">
                <a:solidFill>
                  <a:srgbClr val="182D45"/>
                </a:solidFill>
                <a:latin typeface="DejaVu Sans"/>
                <a:ea typeface="DejaVu Sans"/>
                <a:cs typeface="DejaVu Sans"/>
              </a:defRPr>
            </a:defPPr>
          </a:lstStyle>
          <a:p>
            <a:pPr algn="l">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Preactivations</a:t>
            </a:r>
          </a:p>
        </p:txBody>
      </p:sp>
      <mc:AlternateContent xmlns:mc="http://schemas.openxmlformats.org/markup-compatibility/2006" xmlns:a14="http://schemas.microsoft.com/office/drawing/2010/main">
        <mc:Choice Requires="a14">
          <p:sp>
            <p:nvSpPr>
              <p:cNvPr id="22" name="equation_18" descr="a_r(x)">
                <a:extLst>
                  <a:ext uri="{FF2B5EF4-FFF2-40B4-BE49-F238E27FC236}">
                    <a16:creationId xmlns:a16="http://schemas.microsoft.com/office/drawing/2014/main" id="{6898AD62-1F14-44CC-8929-EE016FE6124F}"/>
                  </a:ext>
                </a:extLst>
              </p:cNvPr>
              <p:cNvSpPr>
                <a:spLocks noGrp="1"/>
              </p:cNvSpPr>
              <p:nvPr/>
            </p:nvSpPr>
            <p:spPr>
              <a:xfrm>
                <a:off x="3238500" y="4724400"/>
                <a:ext cx="2571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a:p>
            </p:txBody>
          </p:sp>
        </mc:Choice>
        <mc:Fallback xmlns="">
          <p:sp>
            <p:nvSpPr>
              <p:cNvPr id="22" name="equation_18" descr="a_r(x)">
                <a:extLst>
                  <a:ext uri="{FF2B5EF4-FFF2-40B4-BE49-F238E27FC236}">
                    <a16:creationId xmlns:a16="http://schemas.microsoft.com/office/drawing/2014/main" id="{6898AD62-1F14-44CC-8929-EE016FE6124F}"/>
                  </a:ext>
                </a:extLst>
              </p:cNvPr>
              <p:cNvSpPr>
                <a:spLocks noGrp="1" noRot="1" noChangeAspect="1" noMove="1" noResize="1" noEditPoints="1" noAdjustHandles="1" noChangeArrowheads="1" noChangeShapeType="1" noTextEdit="1"/>
              </p:cNvSpPr>
              <p:nvPr/>
            </p:nvSpPr>
            <p:spPr>
              <a:xfrm>
                <a:off x="3238500" y="4724400"/>
                <a:ext cx="2571750" cy="6286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mathbf{a}_r(\mathbf{x})\in\mathbb{R}^{1\times d_r}">
                <a:extLst>
                  <a:ext uri="{FF2B5EF4-FFF2-40B4-BE49-F238E27FC236}">
                    <a16:creationId xmlns:a16="http://schemas.microsoft.com/office/drawing/2014/main" id="{73B1B25C-4447-44FA-83E1-160773409120}"/>
                  </a:ext>
                </a:extLst>
              </p:cNvPr>
              <p:cNvSpPr>
                <a:spLocks noGrp="1"/>
              </p:cNvSpPr>
              <p:nvPr/>
            </p:nvSpPr>
            <p:spPr>
              <a:xfrm>
                <a:off x="5953125" y="4724400"/>
                <a:ext cx="55245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𝐚</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𝑑</m:t>
                              </m:r>
                            </m:e>
                            <m:sub>
                              <m:r>
                                <a:rPr lang="en-GB" sz="2800">
                                  <a:solidFill>
                                    <a:srgbClr val="087F83"/>
                                  </a:solidFill>
                                  <a:latin typeface="Cambria Math"/>
                                  <a:ea typeface="Cambria Math"/>
                                  <a:cs typeface="Cambria Math"/>
                                </a:rPr>
                                <m:t>𝑟</m:t>
                              </m:r>
                            </m:sub>
                          </m:sSub>
                        </m:sup>
                      </m:sSup>
                    </m:oMath>
                  </m:oMathPara>
                </a14:m>
                <a:endParaRPr lang="en-GB" sz="2800"/>
              </a:p>
            </p:txBody>
          </p:sp>
        </mc:Choice>
        <mc:Fallback xmlns="">
          <p:sp>
            <p:nvSpPr>
              <p:cNvPr id="23" name="equation_19" descr="\mathbf{a}_r(\mathbf{x})\in\mathbb{R}^{1\times d_r}">
                <a:extLst>
                  <a:ext uri="{FF2B5EF4-FFF2-40B4-BE49-F238E27FC236}">
                    <a16:creationId xmlns:a16="http://schemas.microsoft.com/office/drawing/2014/main" id="{73B1B25C-4447-44FA-83E1-160773409120}"/>
                  </a:ext>
                </a:extLst>
              </p:cNvPr>
              <p:cNvSpPr>
                <a:spLocks noGrp="1" noRot="1" noChangeAspect="1" noMove="1" noResize="1" noEditPoints="1" noAdjustHandles="1" noChangeArrowheads="1" noChangeShapeType="1" noTextEdit="1"/>
              </p:cNvSpPr>
              <p:nvPr/>
            </p:nvSpPr>
            <p:spPr>
              <a:xfrm>
                <a:off x="5953125" y="4724400"/>
                <a:ext cx="5524500" cy="628650"/>
              </a:xfrm>
              <a:prstGeom prst="rect">
                <a:avLst/>
              </a:prstGeom>
              <a:blipFill>
                <a:blip r:embed="rId11"/>
                <a:stretch>
                  <a:fillRect/>
                </a:stretch>
              </a:blipFill>
              <a:ln w="0">
                <a:noFill/>
              </a:ln>
            </p:spPr>
            <p:txBody>
              <a:bodyPr/>
              <a:lstStyle/>
              <a:p>
                <a:r>
                  <a:rPr lang="it-IT">
                    <a:noFill/>
                  </a:rPr>
                  <a:t> </a:t>
                </a:r>
              </a:p>
            </p:txBody>
          </p:sp>
        </mc:Fallback>
      </mc:AlternateContent>
      <p:sp>
        <p:nvSpPr>
          <p:cNvPr id="24" name="line_20">
            <a:extLst>
              <a:ext uri="{FF2B5EF4-FFF2-40B4-BE49-F238E27FC236}">
                <a16:creationId xmlns:a16="http://schemas.microsoft.com/office/drawing/2014/main" id="{DFB25830-B0F9-46D9-8E55-3DDCA3FE0C4D}"/>
              </a:ext>
            </a:extLst>
          </p:cNvPr>
          <p:cNvSpPr>
            <a:spLocks noGrp="1"/>
          </p:cNvSpPr>
          <p:nvPr/>
        </p:nvSpPr>
        <p:spPr>
          <a:xfrm>
            <a:off x="523875" y="5429250"/>
            <a:ext cx="11144250" cy="476"/>
          </a:xfrm>
          <a:prstGeom prst="line">
            <a:avLst/>
          </a:prstGeom>
          <a:noFill/>
          <a:ln w="9525">
            <a:solidFill>
              <a:srgbClr val="B6C2CD"/>
            </a:solidFill>
          </a:ln>
        </p:spPr>
        <p:txBody>
          <a:bodyPr/>
          <a:lstStyle/>
          <a:p>
            <a:endParaRPr lang="it-IT"/>
          </a:p>
        </p:txBody>
      </p:sp>
      <p:sp>
        <p:nvSpPr>
          <p:cNvPr id="25" name="text_21">
            <a:extLst>
              <a:ext uri="{FF2B5EF4-FFF2-40B4-BE49-F238E27FC236}">
                <a16:creationId xmlns:a16="http://schemas.microsoft.com/office/drawing/2014/main" id="{1E44AA3B-BB04-49F8-9687-1B91649E3FE5}"/>
              </a:ext>
            </a:extLst>
          </p:cNvPr>
          <p:cNvSpPr>
            <a:spLocks noGrp="1"/>
          </p:cNvSpPr>
          <p:nvPr/>
        </p:nvSpPr>
        <p:spPr>
          <a:xfrm>
            <a:off x="571500" y="5905500"/>
            <a:ext cx="11049000" cy="4953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weight per connection; one bias per neuron.</a:t>
            </a:r>
          </a:p>
        </p:txBody>
      </p:sp>
      <p:sp>
        <p:nvSpPr>
          <p:cNvPr id="26" name="shape_22">
            <a:extLst>
              <a:ext uri="{FF2B5EF4-FFF2-40B4-BE49-F238E27FC236}">
                <a16:creationId xmlns:a16="http://schemas.microsoft.com/office/drawing/2014/main" id="{5E725C52-17B0-48CA-971A-8317B01578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final affine row is the network output; no ReLU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Preactivations</a:t>
            </a: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28" grpId="0"/>
      <p:bldP spid="29" grpId="0"/>
      <p:bldP spid="30" grpId="0"/>
      <p:bldP spid="31" grpId="0"/>
      <p:bldP spid="33" grpId="0"/>
      <p:bldP spid="34" grpId="0"/>
      <p:bldP spid="35" grpId="0"/>
      <p:bldP spid="3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𝐖</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𝐛</m:t>
                              </m:r>
                            </m:e>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Sub>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&lt;</m:t>
                      </m:r>
                      <m:r>
                        <a:rPr lang="en-GB" sz="2800">
                          <a:solidFill>
                            <a:srgbClr val="087F83"/>
                          </a:solidFill>
                          <a:latin typeface="Cambria Math"/>
                          <a:ea typeface="Cambria Math"/>
                          <a:cs typeface="Cambria Math"/>
                        </a:rPr>
                        <m:t>𝐿</m:t>
                      </m:r>
                    </m:oMath>
                  </m:oMathPara>
                </a14:m>
                <a:endParaRPr lang="en-GB" sz="2800" dirty="0"/>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r>
                        <m:rPr>
                          <m:nor/>
                        </m:rPr>
                        <a:rPr lang="en-GB" sz="2800" i="0" smtClean="0">
                          <a:solidFill>
                            <a:srgbClr val="00868B"/>
                          </a:solidFill>
                          <a:latin typeface="Cambria Math"/>
                          <a:ea typeface="Cambria Math"/>
                          <a:cs typeface="Cambria Math"/>
                        </a:rPr>
                        <m:t>Squared loss, one output:</m:t>
                      </m:r>
                      <m:r>
                        <a:rPr lang="en-GB" sz="2800">
                          <a:solidFill>
                            <a:srgbClr val="00868B"/>
                          </a:solidFill>
                          <a:latin typeface="Cambria Math"/>
                          <a:ea typeface="Cambria Math"/>
                          <a:cs typeface="Cambria Math"/>
                        </a:rPr>
                        <m:t> </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𝐽</m:t>
                          </m:r>
                        </m:e>
                        <m:sub>
                          <m:r>
                            <a:rPr lang="en-GB" sz="2800">
                              <a:solidFill>
                                <a:srgbClr val="00868B"/>
                              </a:solidFill>
                              <a:latin typeface="Cambria Math"/>
                              <a:ea typeface="Cambria Math"/>
                              <a:cs typeface="Cambria Math"/>
                            </a:rPr>
                            <m:t>𝐿</m:t>
                          </m:r>
                        </m:sub>
                      </m:sSub>
                      <m:d>
                        <m:dPr>
                          <m:ctrlPr>
                            <a:rPr lang="en-GB" sz="2800">
                              <a:solidFill>
                                <a:srgbClr val="00868B"/>
                              </a:solidFill>
                              <a:latin typeface="Cambria Math"/>
                              <a:ea typeface="Cambria Math"/>
                              <a:cs typeface="Cambria Math"/>
                            </a:rPr>
                          </m:ctrlPr>
                        </m:dPr>
                        <m:e>
                          <m:r>
                            <a:rPr lang="en-GB" sz="2800">
                              <a:solidFill>
                                <a:srgbClr val="00868B"/>
                              </a:solidFill>
                              <a:latin typeface="Cambria Math"/>
                              <a:ea typeface="Cambria Math"/>
                              <a:cs typeface="Cambria Math"/>
                            </a:rPr>
                            <m:t>𝐮</m:t>
                          </m:r>
                        </m:e>
                      </m:d>
                      <m:r>
                        <a:rPr lang="en-GB" sz="2800">
                          <a:solidFill>
                            <a:srgbClr val="00868B"/>
                          </a:solidFill>
                          <a:latin typeface="Cambria Math"/>
                          <a:ea typeface="Cambria Math"/>
                          <a:cs typeface="Cambria Math"/>
                        </a:rPr>
                        <m:t>=(</m:t>
                      </m:r>
                      <m:sSub>
                        <m:sSubPr>
                          <m:ctrlPr>
                            <a:rPr lang="en-GB" sz="2800">
                              <a:solidFill>
                                <a:srgbClr val="00868B"/>
                              </a:solidFill>
                              <a:latin typeface="Cambria Math"/>
                              <a:ea typeface="Cambria Math"/>
                              <a:cs typeface="Cambria Math"/>
                            </a:rPr>
                          </m:ctrlPr>
                        </m:sSubPr>
                        <m:e>
                          <m:r>
                            <a:rPr lang="en-GB" sz="2800">
                              <a:solidFill>
                                <a:srgbClr val="00868B"/>
                              </a:solidFill>
                              <a:latin typeface="Cambria Math"/>
                              <a:ea typeface="Cambria Math"/>
                              <a:cs typeface="Cambria Math"/>
                            </a:rPr>
                            <m:t>𝑢</m:t>
                          </m:r>
                        </m:e>
                        <m:sub>
                          <m:r>
                            <a:rPr lang="en-GB" sz="2800">
                              <a:solidFill>
                                <a:srgbClr val="00868B"/>
                              </a:solidFill>
                              <a:latin typeface="Cambria Math"/>
                              <a:ea typeface="Cambria Math"/>
                              <a:cs typeface="Cambria Math"/>
                            </a:rPr>
                            <m:t>1</m:t>
                          </m:r>
                        </m:sub>
                      </m:sSub>
                      <m:r>
                        <a:rPr lang="en-GB" sz="2800">
                          <a:solidFill>
                            <a:srgbClr val="00868B"/>
                          </a:solidFill>
                          <a:latin typeface="Cambria Math"/>
                          <a:ea typeface="Cambria Math"/>
                          <a:cs typeface="Cambria Math"/>
                        </a:rPr>
                        <m:t>−</m:t>
                      </m:r>
                      <m:r>
                        <a:rPr lang="en-GB" sz="2800">
                          <a:solidFill>
                            <a:srgbClr val="00868B"/>
                          </a:solidFill>
                          <a:latin typeface="Cambria Math"/>
                          <a:ea typeface="Cambria Math"/>
                          <a:cs typeface="Cambria Math"/>
                        </a:rPr>
                        <m:t>𝑦</m:t>
                      </m:r>
                      <m:sSup>
                        <m:sSupPr>
                          <m:ctrlPr>
                            <a:rPr lang="en-GB" sz="2800">
                              <a:solidFill>
                                <a:srgbClr val="00868B"/>
                              </a:solidFill>
                              <a:latin typeface="Cambria Math"/>
                              <a:ea typeface="Cambria Math"/>
                              <a:cs typeface="Cambria Math"/>
                            </a:rPr>
                          </m:ctrlPr>
                        </m:sSupPr>
                        <m:e>
                          <m:r>
                            <a:rPr lang="en-GB" sz="2800">
                              <a:solidFill>
                                <a:srgbClr val="00868B"/>
                              </a:solidFill>
                              <a:latin typeface="Cambria Math"/>
                              <a:ea typeface="Cambria Math"/>
                              <a:cs typeface="Cambria Math"/>
                            </a:rPr>
                            <m:t>)</m:t>
                          </m:r>
                        </m:e>
                        <m:sup>
                          <m:r>
                            <a:rPr lang="en-GB" sz="2800">
                              <a:solidFill>
                                <a:srgbClr val="00868B"/>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different 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A632A53-0662-4D1E-9566-938334C81BA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Recall the scalar backward step: every quantity is a number.</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All products are ordinary scalar multiplications.</a:t>
                </a:r>
              </a:p>
            </p:txBody>
          </p:sp>
        </mc:Choice>
        <mc:Fallback xmlns="">
          <p:sp>
            <p:nvSpPr>
              <p:cNvPr id="2" name="lead">
                <a:extLst>
                  <a:ext uri="{FF2B5EF4-FFF2-40B4-BE49-F238E27FC236}">
                    <a16:creationId xmlns:a16="http://schemas.microsoft.com/office/drawing/2014/main" id="{2A632A53-0662-4D1E-9566-938334C81BA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E4876184-3045-49B8-81FE-022B1468D6F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We write </a:t>
                </a:r>
                <a14:m>
                  <m:oMath xmlns:m="http://schemas.openxmlformats.org/officeDocument/2006/math">
                    <m:r>
                      <a:rPr lang="en-GB" sz="2175">
                        <a:solidFill>
                          <a:srgbClr val="526276"/>
                        </a:solidFill>
                        <a:latin typeface="Cambria Math"/>
                        <a:ea typeface="Cambria Math"/>
                        <a:cs typeface="Cambria Math"/>
                      </a:rPr>
                      <m:t>ℒ</m:t>
                    </m:r>
                  </m:oMath>
                </a14:m>
                <a:r>
                  <a:rPr sz="2175" b="0">
                    <a:solidFill>
                      <a:srgbClr val="526276"/>
                    </a:solidFill>
                    <a:latin typeface="DejaVu Sans"/>
                    <a:ea typeface="DejaVu Sans"/>
                    <a:cs typeface="DejaVu Sans"/>
                  </a:rPr>
                  <a:t> for a general loss, differentiable with respect to the output.</a:t>
                </a:r>
                <a:endParaRPr lang="en-GB" sz="2175"/>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Given its output gradient, the same backward rules apply.</a:t>
                </a:r>
                <a:endParaRPr lang="en-GB" sz="2175"/>
              </a:p>
            </p:txBody>
          </p:sp>
        </mc:Choice>
        <mc:Fallback xmlns="">
          <p:sp>
            <p:nvSpPr>
              <p:cNvPr id="2" name="lead">
                <a:extLst>
                  <a:ext uri="{FF2B5EF4-FFF2-40B4-BE49-F238E27FC236}">
                    <a16:creationId xmlns:a16="http://schemas.microsoft.com/office/drawing/2014/main" id="{E4876184-3045-49B8-81FE-022B1468D6F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with vectors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C55F19-C06B-4DE7-A1E5-B9036BB4C8C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Take-home messages from backpropagation</a:t>
            </a:r>
          </a:p>
        </p:txBody>
      </p:sp>
      <p:sp>
        <p:nvSpPr>
          <p:cNvPr id="2" name="lead">
            <a:extLst>
              <a:ext uri="{FF2B5EF4-FFF2-40B4-BE49-F238E27FC236}">
                <a16:creationId xmlns:a16="http://schemas.microsoft.com/office/drawing/2014/main" id="{42F9A9B0-6C53-4D43-8B3F-A1E70BFF310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Its purpose is to calculate the gradient efficiently.</a:t>
            </a:r>
          </a:p>
        </p:txBody>
      </p:sp>
      <p:sp>
        <p:nvSpPr>
          <p:cNvPr id="3" name="footer_course">
            <a:extLst>
              <a:ext uri="{FF2B5EF4-FFF2-40B4-BE49-F238E27FC236}">
                <a16:creationId xmlns:a16="http://schemas.microsoft.com/office/drawing/2014/main" id="{7152D9F1-4F57-4A2D-AB90-731406630046}"/>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C2AFA07-516C-49DB-99AA-32403A2B787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40</a:t>
            </a:r>
          </a:p>
        </p:txBody>
      </p:sp>
      <p:sp>
        <p:nvSpPr>
          <p:cNvPr id="5" name="text_1">
            <a:extLst>
              <a:ext uri="{FF2B5EF4-FFF2-40B4-BE49-F238E27FC236}">
                <a16:creationId xmlns:a16="http://schemas.microsoft.com/office/drawing/2014/main" id="{BBF4E285-13B1-43CF-B96A-46CD1260DBE3}"/>
              </a:ext>
            </a:extLst>
          </p:cNvPr>
          <p:cNvSpPr>
            <a:spLocks noGrp="1"/>
          </p:cNvSpPr>
          <p:nvPr/>
        </p:nvSpPr>
        <p:spPr>
          <a:xfrm>
            <a:off x="857250" y="2190750"/>
            <a:ext cx="10477500" cy="619125"/>
          </a:xfrm>
          <a:prstGeom prst="rect">
            <a:avLst/>
          </a:prstGeom>
          <a:noFill/>
          <a:ln w="0">
            <a:noFill/>
          </a:ln>
        </p:spPr>
        <p:txBody>
          <a:bodyPr anchor="ctr">
            <a:noAutofit/>
          </a:bodyPr>
          <a:lstStyle>
            <a:defPPr algn="ctr">
              <a:defRPr sz="2400" b="1">
                <a:solidFill>
                  <a:srgbClr val="326CB2"/>
                </a:solidFill>
                <a:latin typeface="DejaVu Sans"/>
                <a:ea typeface="DejaVu Sans"/>
                <a:cs typeface="DejaVu Sans"/>
              </a:defRPr>
            </a:defPPr>
          </a:lstStyle>
          <a:p>
            <a:pPr algn="ctr">
              <a:defRPr sz="2400" b="1">
                <a:solidFill>
                  <a:srgbClr val="326CB2"/>
                </a:solidFill>
                <a:latin typeface="DejaVu Sans"/>
                <a:ea typeface="DejaVu Sans"/>
                <a:cs typeface="DejaVu Sans"/>
              </a:defRPr>
            </a:pPr>
            <a:r>
              <a:rPr sz="2400" b="1">
                <a:solidFill>
                  <a:srgbClr val="326CB2"/>
                </a:solidFill>
                <a:latin typeface="DejaVu Sans"/>
                <a:ea typeface="DejaVu Sans"/>
                <a:cs typeface="DejaVu Sans"/>
              </a:rPr>
              <a:t>Forward: save preactivations and inputs to each layer.</a:t>
            </a:r>
          </a:p>
        </p:txBody>
      </p:sp>
      <p:sp>
        <p:nvSpPr>
          <p:cNvPr id="6" name="text_2">
            <a:extLst>
              <a:ext uri="{FF2B5EF4-FFF2-40B4-BE49-F238E27FC236}">
                <a16:creationId xmlns:a16="http://schemas.microsoft.com/office/drawing/2014/main" id="{EBA841D3-9AB3-4077-9273-434890D5D7C0}"/>
              </a:ext>
            </a:extLst>
          </p:cNvPr>
          <p:cNvSpPr>
            <a:spLocks noGrp="1"/>
          </p:cNvSpPr>
          <p:nvPr/>
        </p:nvSpPr>
        <p:spPr>
          <a:xfrm>
            <a:off x="762000" y="3286125"/>
            <a:ext cx="10668000" cy="762000"/>
          </a:xfrm>
          <a:prstGeom prst="rect">
            <a:avLst/>
          </a:prstGeom>
          <a:noFill/>
          <a:ln w="0">
            <a:noFill/>
          </a:ln>
        </p:spPr>
        <p:txBody>
          <a:bodyPr anchor="ctr">
            <a:noAutofit/>
          </a:bodyPr>
          <a:lstStyle>
            <a:defPPr algn="ctr">
              <a:defRPr sz="2400" b="1">
                <a:solidFill>
                  <a:srgbClr val="C45C28"/>
                </a:solidFill>
                <a:latin typeface="DejaVu Sans"/>
                <a:ea typeface="DejaVu Sans"/>
                <a:cs typeface="DejaVu Sans"/>
              </a:defRPr>
            </a:defPPr>
          </a:lstStyle>
          <a:p>
            <a:pPr algn="ctr">
              <a:defRPr sz="2400" b="1">
                <a:solidFill>
                  <a:srgbClr val="C45C28"/>
                </a:solidFill>
                <a:latin typeface="DejaVu Sans"/>
                <a:ea typeface="DejaVu Sans"/>
                <a:cs typeface="DejaVu Sans"/>
              </a:defRPr>
            </a:pPr>
            <a:r>
              <a:rPr sz="2400" b="1">
                <a:solidFill>
                  <a:srgbClr val="C45C28"/>
                </a:solidFill>
                <a:latin typeface="DejaVu Sans"/>
                <a:ea typeface="DejaVu Sans"/>
                <a:cs typeface="DejaVu Sans"/>
              </a:rPr>
              <a:t>Backward: reuse derivatives, layer by layer.</a:t>
            </a:r>
          </a:p>
        </p:txBody>
      </p:sp>
      <p:sp>
        <p:nvSpPr>
          <p:cNvPr id="7" name="text_3">
            <a:extLst>
              <a:ext uri="{FF2B5EF4-FFF2-40B4-BE49-F238E27FC236}">
                <a16:creationId xmlns:a16="http://schemas.microsoft.com/office/drawing/2014/main" id="{CEA94365-683B-492D-A3B0-B4825E0805E6}"/>
              </a:ext>
            </a:extLst>
          </p:cNvPr>
          <p:cNvSpPr>
            <a:spLocks noGrp="1"/>
          </p:cNvSpPr>
          <p:nvPr/>
        </p:nvSpPr>
        <p:spPr>
          <a:xfrm>
            <a:off x="762000" y="4562475"/>
            <a:ext cx="10668000" cy="762000"/>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Update: change parameters using the computed gradient.</a:t>
            </a:r>
          </a:p>
        </p:txBody>
      </p:sp>
    </p:spTree>
    <p:extLst>
      <p:ext uri="{BB962C8B-B14F-4D97-AF65-F5344CB8AC3E}">
        <p14:creationId xmlns:p14="http://schemas.microsoft.com/office/powerpoint/2010/main" val="277926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41</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599</TotalTime>
  <Words>14956</Words>
  <Application>Microsoft Office PowerPoint</Application>
  <DocSecurity>0</DocSecurity>
  <PresentationFormat>Widescreen</PresentationFormat>
  <Paragraphs>2561</Paragraphs>
  <Slides>41</Slides>
  <Notes>41</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41</vt:i4>
      </vt:variant>
    </vt:vector>
  </HeadingPairs>
  <TitlesOfParts>
    <vt:vector size="49"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26</cp:revision>
  <dcterms:created xsi:type="dcterms:W3CDTF">2026-10-18T16:31:13Z</dcterms:created>
  <dcterms:modified xsi:type="dcterms:W3CDTF">2026-10-21T22:16:28Z</dcterms:modified>
</cp:coreProperties>
</file>