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5C28"/>
    <a:srgbClr val="457AB9"/>
    <a:srgbClr val="087F83"/>
    <a:srgbClr val="326CB2"/>
    <a:srgbClr val="B6C2CD"/>
    <a:srgbClr val="526276"/>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5.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77.png"/><Relationship Id="rId7" Type="http://schemas.openxmlformats.org/officeDocument/2006/relationships/image" Target="../media/image650.png"/><Relationship Id="rId2" Type="http://schemas.openxmlformats.org/officeDocument/2006/relationships/notesSlide" Target="../notesSlides/notesSlide19.xml"/><Relationship Id="rId1" Type="http://schemas.openxmlformats.org/officeDocument/2006/relationships/slideLayout" Target="../slideLayouts/slideLayout1.xml"/><Relationship Id="rIdNotation20_1_11" Type="http://schemas.openxmlformats.org/officeDocument/2006/relationships/image" Target="../media/notation_s20_1_556.png"/><Relationship Id="rId5" Type="http://schemas.openxmlformats.org/officeDocument/2006/relationships/image" Target="../media/image93.png"/><Relationship Id="rIdNotation20_0_10" Type="http://schemas.openxmlformats.org/officeDocument/2006/relationships/image" Target="../media/notation_s20_0_555.png"/><Relationship Id="rId10" Type="http://schemas.openxmlformats.org/officeDocument/2006/relationships/image" Target="../media/image78.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81.png"/><Relationship Id="rId5" Type="http://schemas.openxmlformats.org/officeDocument/2006/relationships/image" Target="../media/image136.png"/><Relationship Id="rId4" Type="http://schemas.openxmlformats.org/officeDocument/2006/relationships/image" Target="../media/image128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0.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6.xml"/><Relationship Id="rId10" Type="http://schemas.openxmlformats.org/officeDocument/2006/relationships/image" Target="../media/image144.png"/><Relationship Id="rId4" Type="http://schemas.openxmlformats.org/officeDocument/2006/relationships/image" Target="../media/image119.png"/><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145.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2.png"/><Relationship Id="rId5" Type="http://schemas.openxmlformats.org/officeDocument/2006/relationships/image" Target="../media/image94.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6.png"/></Relationships>
</file>

<file path=ppt/slides/_rels/slide33.xml.rels><?xml version="1.0" encoding="UTF-8" standalone="yes"?>
<Relationships xmlns="http://schemas.openxmlformats.org/package/2006/relationships"><Relationship Id="rIdNotation33_1_10" Type="http://schemas.openxmlformats.org/officeDocument/2006/relationships/image" Target="../media/notation_s33_1_560.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9.png"/><Relationship Id="rIdNotation33_2_11" Type="http://schemas.openxmlformats.org/officeDocument/2006/relationships/image" Target="../media/notation_s33_2_561.png"/><Relationship Id="rId4" Type="http://schemas.openxmlformats.org/officeDocument/2006/relationships/chart" Target="../charts/char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1.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5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2"/>
                <a:stretch>
                  <a:fillRect t="-21600" b="-296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Input:</a:t>
                </a:r>
                <a:endParaRPr lang="en-GB" sz="1800" dirty="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dirty="0">
                    <a:solidFill>
                      <a:srgbClr val="182D45"/>
                    </a:solidFill>
                    <a:latin typeface="DejaVu Sans"/>
                  </a:rPr>
                  <a:t> coordinates</a:t>
                </a:r>
                <a:endParaRPr lang="en-GB" sz="1800" dirty="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1:</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dirty="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2:</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dirty="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42900" y="4648200"/>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endParaRPr lang="en-GB" sz="1875" dirty="0"/>
          </a:p>
          <a:p>
            <a:pPr algn="ctr">
              <a:lnSpc>
                <a:spcPts val="2300"/>
              </a:lnSpc>
            </a:pPr>
            <a:r>
              <a:rPr lang="en-GB" sz="1875" b="0" dirty="0">
                <a:solidFill>
                  <a:srgbClr val="182D45"/>
                </a:solidFill>
                <a:latin typeface="DejaVu Sans"/>
              </a:rPr>
              <a:t>computing </a:t>
            </a:r>
            <a:r>
              <a:rPr lang="en-GB" sz="1875" b="0" dirty="0">
                <a:solidFill>
                  <a:srgbClr val="FF0000"/>
                </a:solidFill>
                <a:latin typeface="DejaVu Sans"/>
              </a:rPr>
              <a:t>new features</a:t>
            </a:r>
            <a:r>
              <a:rPr lang="en-GB" sz="1875" b="0" dirty="0">
                <a:solidFill>
                  <a:srgbClr val="182D45"/>
                </a:solidFill>
                <a:latin typeface="DejaVu Sans"/>
              </a:rPr>
              <a:t> from the </a:t>
            </a:r>
            <a:r>
              <a:rPr lang="en-GB" sz="1875" b="0" dirty="0">
                <a:solidFill>
                  <a:srgbClr val="FF0000"/>
                </a:solidFill>
                <a:latin typeface="DejaVu Sans"/>
              </a:rPr>
              <a:t>previous features</a:t>
            </a:r>
            <a:r>
              <a:rPr lang="en-GB" sz="1875" b="0" dirty="0">
                <a:solidFill>
                  <a:srgbClr val="182D45"/>
                </a:solidFill>
                <a:latin typeface="DejaVu Sans"/>
              </a:rPr>
              <a:t>.</a:t>
            </a:r>
            <a:endParaRPr lang="en-GB" sz="1875" dirty="0"/>
          </a:p>
        </p:txBody>
      </p:sp>
      <p:sp>
        <p:nvSpPr>
          <p:cNvPr id="98" name="architecture_definition"/>
          <p:cNvSpPr txBox="1"/>
          <p:nvPr/>
        </p:nvSpPr>
        <p:spPr>
          <a:xfrm>
            <a:off x="317501" y="5343525"/>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lang="it-IT" sz="1950" b="0" dirty="0">
                <a:solidFill>
                  <a:srgbClr val="182D45"/>
                </a:solidFill>
                <a:latin typeface="DejaVu Sans"/>
                <a:ea typeface="DejaVu Sans"/>
                <a:cs typeface="DejaVu Sans"/>
              </a:rPr>
              <a:t>T</a:t>
            </a:r>
            <a:r>
              <a:rPr sz="1950" b="0">
                <a:solidFill>
                  <a:srgbClr val="182D45"/>
                </a:solidFill>
                <a:latin typeface="DejaVu Sans"/>
                <a:ea typeface="DejaVu Sans"/>
                <a:cs typeface="DejaVu Sans"/>
              </a:rPr>
              <a:t>he </a:t>
            </a:r>
            <a:r>
              <a:rPr sz="1950" b="0" dirty="0">
                <a:solidFill>
                  <a:srgbClr val="182D45"/>
                </a:solidFill>
                <a:latin typeface="DejaVu Sans"/>
                <a:ea typeface="DejaVu Sans"/>
                <a:cs typeface="DejaVu Sans"/>
              </a:rPr>
              <a:t>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p:sp>
        <p:nvSpPr>
          <p:cNvPr id="99" name="architecture_parameters"/>
          <p:cNvSpPr txBox="1"/>
          <p:nvPr/>
        </p:nvSpPr>
        <p:spPr>
          <a:xfrm>
            <a:off x="381000" y="5989828"/>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89" grpId="0"/>
      <p:bldP spid="90" grpId="0"/>
      <p:bldP spid="91" grpId="0"/>
      <p:bldP spid="97" grpId="0"/>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r>
                  <a:rPr lang="en-GB" sz="2400" dirty="0">
                    <a:solidFill>
                      <a:srgbClr val="FF0000"/>
                    </a:solidFill>
                    <a:latin typeface="DejaVu Sans"/>
                  </a:rPr>
                  <a:t>Input: </a:t>
                </a:r>
                <a14:m>
                  <m:oMath xmlns:m="http://schemas.openxmlformats.org/officeDocument/2006/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oMath>
                </a14:m>
                <a:endParaRPr lang="en-GB" sz="2400" dirty="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3"/>
                <a:stretch>
                  <a:fillRect t="-18310" b="-3098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Hidden layer hidden_recursion, r=1,\ldots,L-1">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t>
                </a:r>
                <a:r>
                  <a:rPr lang="en-GB" sz="2500" dirty="0">
                    <a:solidFill>
                      <a:srgbClr val="FF0000"/>
                    </a:solidFill>
                    <a:latin typeface="DejaVu Sans"/>
                  </a:rPr>
                  <a:t>p</a:t>
                </a:r>
                <a:r>
                  <a:rPr lang="en-GB" sz="2500" b="0" dirty="0">
                    <a:solidFill>
                      <a:srgbClr val="FF0000"/>
                    </a:solidFill>
                    <a:latin typeface="DejaVu Sans"/>
                  </a:rPr>
                  <a:t>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1"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Notation20_0_10"/>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dirty="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5"/>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descr="Hidden layer hidden_activations, r=1,\ldots,L-1">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activations :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𝐑𝐞𝐋𝐔</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Notation20_1_11"/>
                <a:stretch>
                  <a:fillRect t="-20588" b="-39706"/>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3" name="lead">
                <a:extLst>
                  <a:ext uri="{FF2B5EF4-FFF2-40B4-BE49-F238E27FC236}">
                    <a16:creationId xmlns:a16="http://schemas.microsoft.com/office/drawing/2014/main" id="{A2C19FED-93C5-E890-34A2-04526B2AF594}"/>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3" name="lead">
                <a:extLst>
                  <a:ext uri="{FF2B5EF4-FFF2-40B4-BE49-F238E27FC236}">
                    <a16:creationId xmlns:a16="http://schemas.microsoft.com/office/drawing/2014/main" id="{A2C19FED-93C5-E890-34A2-04526B2AF594}"/>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7"/>
                <a:stretch>
                  <a:fillRect t="-21600" b="-296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 name="network_caption_3">
                <a:extLst>
                  <a:ext uri="{FF2B5EF4-FFF2-40B4-BE49-F238E27FC236}">
                    <a16:creationId xmlns:a16="http://schemas.microsoft.com/office/drawing/2014/main" id="{6F47D461-0574-E372-7880-2381DC36B841}"/>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2" name="network_caption_3">
                <a:extLst>
                  <a:ext uri="{FF2B5EF4-FFF2-40B4-BE49-F238E27FC236}">
                    <a16:creationId xmlns:a16="http://schemas.microsoft.com/office/drawing/2014/main" id="{6F47D461-0574-E372-7880-2381DC36B841}"/>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p:bldP spid="93" grpId="0"/>
      <p:bldP spid="94" grpId="0"/>
      <p:bldP spid="120"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m:t>
                      </m:r>
                      <m:r>
                        <a:rPr lang="en-GB" sz="300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,1</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smtClean="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𝐾</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e>
                      </m:d>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𝑘</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𝑐</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𝑐</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sup>
                              </m:sSup>
                            </m:e>
                          </m:nary>
                        </m:den>
                      </m:f>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xmlns="">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Can we build it</a:t>
            </a:r>
            <a:endParaRPr lang="it-IT" sz="2250" b="1" dirty="0">
              <a:solidFill>
                <a:srgbClr val="FF0000"/>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FF0000"/>
                </a:solidFill>
                <a:latin typeface="DejaVu Sans"/>
                <a:ea typeface="DejaVu Sans"/>
                <a:cs typeface="DejaVu Sans"/>
              </a:rPr>
              <a:t>adjusting</a:t>
            </a:r>
            <a:r>
              <a:rPr lang="it-IT" sz="2250" b="1" dirty="0">
                <a:solidFill>
                  <a:srgbClr val="FF0000"/>
                </a:solidFill>
                <a:latin typeface="DejaVu Sans"/>
                <a:ea typeface="DejaVu Sans"/>
                <a:cs typeface="DejaVu Sans"/>
              </a:rPr>
              <a:t> the </a:t>
            </a:r>
            <a:r>
              <a:rPr lang="it-IT" sz="2250" b="1" dirty="0" err="1">
                <a:solidFill>
                  <a:srgbClr val="FF0000"/>
                </a:solidFill>
                <a:latin typeface="DejaVu Sans"/>
                <a:ea typeface="DejaVu Sans"/>
                <a:cs typeface="DejaVu Sans"/>
              </a:rPr>
              <a:t>parameters</a:t>
            </a:r>
            <a:r>
              <a:rPr lang="it-IT" sz="2250" b="1" dirty="0">
                <a:solidFill>
                  <a:srgbClr val="FF0000"/>
                </a:solidFill>
                <a:latin typeface="DejaVu Sans"/>
                <a:ea typeface="DejaVu Sans"/>
                <a:cs typeface="DejaVu Sans"/>
              </a:rPr>
              <a:t> </a:t>
            </a:r>
            <a:r>
              <a:rPr lang="it-IT" sz="2250" b="1" dirty="0">
                <a:solidFill>
                  <a:srgbClr val="182D45"/>
                </a:solidFill>
                <a:latin typeface="DejaVu Sans"/>
                <a:ea typeface="DejaVu Sans"/>
                <a:cs typeface="DejaVu Sans"/>
              </a:rPr>
              <a:t>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solidFill>
                      <a:srgbClr val="526276"/>
                    </a:solidFill>
                    <a:ea typeface="Cambria Math"/>
                    <a:cs typeface="Cambria Math"/>
                  </a:rPr>
                  <a:t>Depth </a:t>
                </a:r>
                <a14:m>
                  <m:oMath xmlns:m="http://schemas.openxmlformats.org/officeDocument/2006/math">
                    <m:r>
                      <a:rPr lang="en-GB" sz="2400">
                        <a:solidFill>
                          <a:srgbClr val="526276"/>
                        </a:solidFill>
                        <a:latin typeface="Cambria Math"/>
                        <a:ea typeface="Cambria Math"/>
                        <a:cs typeface="Cambria Math"/>
                      </a:rPr>
                      <m:t>𝐿</m:t>
                    </m:r>
                    <m:r>
                      <a:rPr lang="en-GB" sz="2400">
                        <a:solidFill>
                          <a:srgbClr val="526276"/>
                        </a:solidFill>
                        <a:latin typeface="Cambria Math"/>
                        <a:ea typeface="Cambria Math"/>
                        <a:cs typeface="Cambria Math"/>
                      </a:rPr>
                      <m:t>=2</m:t>
                    </m:r>
                  </m:oMath>
                </a14:m>
                <a:r>
                  <a:rPr lang="en-GB" sz="2400" b="0" dirty="0">
                    <a:solidFill>
                      <a:srgbClr val="526276"/>
                    </a:solidFill>
                    <a:latin typeface="DejaVu Sans"/>
                  </a:rPr>
                  <a:t>, with widths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0</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1</m:t>
                        </m:r>
                      </m:sub>
                    </m:sSub>
                    <m:r>
                      <a:rPr lang="en-GB" sz="2400">
                        <a:solidFill>
                          <a:srgbClr val="526276"/>
                        </a:solidFill>
                        <a:latin typeface="Cambria Math"/>
                        <a:ea typeface="Cambria Math"/>
                        <a:cs typeface="Cambria Math"/>
                      </a:rPr>
                      <m:t>=3</m:t>
                    </m:r>
                  </m:oMath>
                </a14:m>
                <a:r>
                  <a:rPr lang="en-GB" sz="2400" b="0" dirty="0">
                    <a:solidFill>
                      <a:srgbClr val="526276"/>
                    </a:solidFill>
                    <a:latin typeface="DejaVu Sans"/>
                  </a:rPr>
                  <a:t> and </a:t>
                </a:r>
                <a14:m>
                  <m:oMath xmlns:m="http://schemas.openxmlformats.org/officeDocument/2006/math">
                    <m:sSub>
                      <m:sSubPr>
                        <m:ctrlPr>
                          <a:rPr lang="en-GB" sz="2400">
                            <a:solidFill>
                              <a:srgbClr val="526276"/>
                            </a:solidFill>
                            <a:latin typeface="Cambria Math"/>
                            <a:ea typeface="Cambria Math"/>
                            <a:cs typeface="Cambria Math"/>
                          </a:rPr>
                        </m:ctrlPr>
                      </m:sSubPr>
                      <m:e>
                        <m:r>
                          <a:rPr lang="en-GB" sz="2400">
                            <a:solidFill>
                              <a:srgbClr val="526276"/>
                            </a:solidFill>
                            <a:latin typeface="Cambria Math"/>
                            <a:ea typeface="Cambria Math"/>
                            <a:cs typeface="Cambria Math"/>
                          </a:rPr>
                          <m:t>𝑚</m:t>
                        </m:r>
                      </m:e>
                      <m:sub>
                        <m:r>
                          <a:rPr lang="en-GB" sz="2400">
                            <a:solidFill>
                              <a:srgbClr val="526276"/>
                            </a:solidFill>
                            <a:latin typeface="Cambria Math"/>
                            <a:ea typeface="Cambria Math"/>
                            <a:cs typeface="Cambria Math"/>
                          </a:rPr>
                          <m:t>2</m:t>
                        </m:r>
                      </m:sub>
                    </m:sSub>
                    <m:r>
                      <a:rPr lang="en-GB" sz="2400">
                        <a:solidFill>
                          <a:srgbClr val="526276"/>
                        </a:solidFill>
                        <a:latin typeface="Cambria Math"/>
                        <a:ea typeface="Cambria Math"/>
                        <a:cs typeface="Cambria Math"/>
                      </a:rPr>
                      <m:t>=1</m:t>
                    </m:r>
                  </m:oMath>
                </a14:m>
                <a:r>
                  <a:rPr lang="en-GB" sz="2400" b="0" dirty="0">
                    <a:solidFill>
                      <a:srgbClr val="526276"/>
                    </a:solidFill>
                    <a:latin typeface="DejaVu Sans"/>
                  </a:rPr>
                  <a:t>.</a:t>
                </a:r>
                <a:endParaRPr lang="en-GB" sz="2400" dirty="0"/>
              </a:p>
            </p:txBody>
          </p:sp>
        </mc:Choice>
        <mc:Fallback xmlns="">
          <p:sp>
            <p:nvSpPr>
              <p:cNvPr id="2" name="lead">
                <a:extLst>
                  <a:ext uri="{FF2B5EF4-FFF2-40B4-BE49-F238E27FC236}">
                    <a16:creationId xmlns:a16="http://schemas.microsoft.com/office/drawing/2014/main" id="{F5186BFC-575D-4444-A6D5-4C74F4BBA5D5}"/>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r>
                            <a:rPr lang="it-IT" sz="2700" i="1">
                              <a:solidFill>
                                <a:srgbClr val="9C7400"/>
                              </a:solidFill>
                              <a:latin typeface="Cambria Math" panose="02040503050406030204" pitchFamily="18" charset="0"/>
                              <a:ea typeface="Cambria Math"/>
                              <a:cs typeface="Cambria Math"/>
                            </a:rPr>
                            <m:t>0</m:t>
                          </m:r>
                        </m:e>
                      </m:d>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−1</m:t>
                              </m:r>
                            </m:e>
                          </m:d>
                        </m:e>
                      </m:d>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ReLU</m:t>
                      </m:r>
                      <m:d>
                        <m:dPr>
                          <m:ctrlPr>
                            <a:rPr lang="it-IT" sz="2700" i="1">
                              <a:solidFill>
                                <a:srgbClr val="FF0000"/>
                              </a:solidFill>
                              <a:latin typeface="Cambria Math" panose="02040503050406030204" pitchFamily="18" charset="0"/>
                              <a:ea typeface="Cambria Math"/>
                              <a:cs typeface="Cambria Math"/>
                            </a:rPr>
                          </m:ctrlPr>
                        </m:dPr>
                        <m:e>
                          <m:r>
                            <a:rPr lang="it-IT" sz="2700" i="1">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−2</m:t>
                              </m:r>
                            </m:e>
                          </m:d>
                        </m:e>
                      </m:d>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XOR problem</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s(0,0)=b&lt;=0; s(1,1)=b+w_1+w_2&lt;=0">
                <a:extLst>
                  <a:ext uri="{FF2B5EF4-FFF2-40B4-BE49-F238E27FC236}">
                    <a16:creationId xmlns:a16="http://schemas.microsoft.com/office/drawing/2014/main" id="{7E5319D7-00E7-4360-A52F-EB2C926622E5}"/>
                  </a:ext>
                </a:extLst>
              </p:cNvPr>
              <p:cNvSpPr>
                <a:spLocks noGrp="1"/>
              </p:cNvSpPr>
              <p:nvPr/>
            </p:nvSpPr>
            <p:spPr>
              <a:xfrm>
                <a:off x="42862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𝑏</m:t>
                      </m:r>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0,0</m:t>
                          </m:r>
                        </m:e>
                      </m:d>
                      <m:r>
                        <a:rPr lang="en-GB" sz="2800">
                          <a:solidFill>
                            <a:srgbClr val="326CB2"/>
                          </a:solidFill>
                          <a:latin typeface="Cambria Math"/>
                          <a:ea typeface="Cambria Math"/>
                          <a:cs typeface="Cambria Math"/>
                        </a:rPr>
                        <m:t>≤0</m:t>
                      </m:r>
                    </m:oMath>
                  </m:oMathPara>
                </a14:m>
                <a:endParaRPr lang="en-GB" sz="2800" dirty="0"/>
              </a:p>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1,1</m:t>
                          </m:r>
                        </m:e>
                      </m:d>
                      <m:r>
                        <a:rPr lang="en-GB" sz="2800">
                          <a:solidFill>
                            <a:srgbClr val="326CB2"/>
                          </a:solidFill>
                          <a:latin typeface="Cambria Math"/>
                          <a:ea typeface="Cambria Math"/>
                          <a:cs typeface="Cambria Math"/>
                        </a:rPr>
                        <m:t>≤0</m:t>
                      </m:r>
                    </m:oMath>
                  </m:oMathPara>
                </a14:m>
                <a:endParaRPr lang="en-GB" sz="2800" dirty="0"/>
              </a:p>
            </p:txBody>
          </p:sp>
        </mc:Choice>
        <mc:Fallback xmlns="">
          <p:sp>
            <p:nvSpPr>
              <p:cNvPr id="8" name="equation_4" descr="s(0,0)=b&lt;=0; s(1,1)=b+w_1+w_2&lt;=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10953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s(1,0)=b+w_1&gt;0; s(0,1)=b+w_2&gt;0">
                <a:extLst>
                  <a:ext uri="{FF2B5EF4-FFF2-40B4-BE49-F238E27FC236}">
                    <a16:creationId xmlns:a16="http://schemas.microsoft.com/office/drawing/2014/main" id="{B98D4047-F6CD-4082-B738-B633B0AE30EA}"/>
                  </a:ext>
                </a:extLst>
              </p:cNvPr>
              <p:cNvSpPr>
                <a:spLocks noGrp="1"/>
              </p:cNvSpPr>
              <p:nvPr/>
            </p:nvSpPr>
            <p:spPr>
              <a:xfrm>
                <a:off x="623887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C45C28"/>
                          </a:solidFill>
                          <a:latin typeface="Cambria Math"/>
                          <a:ea typeface="Cambria Math"/>
                          <a:cs typeface="Cambria Math"/>
                        </a:rPr>
                        <m:t>𝑏</m:t>
                      </m:r>
                      <m: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1,0</m:t>
                          </m:r>
                        </m:e>
                      </m:d>
                      <m:r>
                        <a:rPr lang="en-GB" sz="2800">
                          <a:solidFill>
                            <a:srgbClr val="C45C28"/>
                          </a:solidFill>
                          <a:latin typeface="Cambria Math"/>
                          <a:ea typeface="Cambria Math"/>
                          <a:cs typeface="Cambria Math"/>
                        </a:rPr>
                        <m:t>&gt;0</m:t>
                      </m:r>
                    </m:oMath>
                  </m:oMathPara>
                </a14:m>
                <a:endParaRPr lang="en-GB" sz="2800" dirty="0"/>
              </a:p>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0,1</m:t>
                          </m:r>
                        </m:e>
                      </m:d>
                      <m:r>
                        <a:rPr lang="en-GB" sz="2800">
                          <a:solidFill>
                            <a:srgbClr val="C45C28"/>
                          </a:solidFill>
                          <a:latin typeface="Cambria Math"/>
                          <a:ea typeface="Cambria Math"/>
                          <a:cs typeface="Cambria Math"/>
                        </a:rPr>
                        <m:t>&gt;0</m:t>
                      </m:r>
                    </m:oMath>
                  </m:oMathPara>
                </a14:m>
                <a:endParaRPr lang="en-GB" sz="2800" dirty="0"/>
              </a:p>
            </p:txBody>
          </p:sp>
        </mc:Choice>
        <mc:Fallback xmlns="">
          <p:sp>
            <p:nvSpPr>
              <p:cNvPr id="9" name="equation_5" descr="s(1,0)=b+w_1&gt;0; s(0,1)=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10953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76250" y="542001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dirty="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76250" y="542001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19825" y="5470112"/>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dirty="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19825" y="5470112"/>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714375" y="4836984"/>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Adding the inequalities within each class</a:t>
            </a:r>
          </a:p>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gives two </a:t>
            </a:r>
            <a:r>
              <a:rPr lang="en-GB" sz="2100" b="1" dirty="0">
                <a:solidFill>
                  <a:srgbClr val="FF0000"/>
                </a:solidFill>
                <a:latin typeface="DejaVu Sans"/>
                <a:ea typeface="DejaVu Sans"/>
                <a:cs typeface="DejaVu Sans"/>
              </a:rPr>
              <a:t>incompatible</a:t>
            </a:r>
            <a:r>
              <a:rPr lang="en-GB" sz="2100" b="1" dirty="0">
                <a:solidFill>
                  <a:srgbClr val="182D45"/>
                </a:solidFill>
                <a:latin typeface="DejaVu Sans"/>
                <a:ea typeface="DejaVu Sans"/>
                <a:cs typeface="DejaVu Sans"/>
              </a:rPr>
              <a:t> inequalities.</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dirty="0">
                    <a:solidFill>
                      <a:srgbClr val="526276"/>
                    </a:solidFill>
                    <a:latin typeface="DejaVu Sans"/>
                  </a:rPr>
                  <a:t>.</a:t>
                </a:r>
                <a:endParaRPr lang="en-GB" sz="2100" dirty="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xmlns="">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bm x)+\phi_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dirty="0"/>
              </a:p>
            </p:txBody>
          </p:sp>
        </mc:Choice>
        <mc:Fallback xmlns="">
          <p:sp>
            <p:nvSpPr>
              <p:cNvPr id="17" name="equation_11" descr="\phi_1(\bm x)+\phi_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Notation33_1_10"/>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Notation33_2_11"/>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xmlns="">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a:t>
                </a:r>
                <a:endParaRPr lang="en-GB" sz="1850" dirty="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430</TotalTime>
  <Words>7939</Words>
  <Application>Microsoft Office PowerPoint</Application>
  <DocSecurity>0</DocSecurity>
  <PresentationFormat>Widescreen</PresentationFormat>
  <Paragraphs>874</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35</cp:revision>
  <dcterms:created xsi:type="dcterms:W3CDTF">2026-10-03T10:26:10Z</dcterms:created>
  <dcterms:modified xsi:type="dcterms:W3CDTF">2026-10-15T22:26:29Z</dcterms:modified>
</cp:coreProperties>
</file>