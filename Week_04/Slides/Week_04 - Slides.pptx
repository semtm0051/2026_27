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C45C28"/>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11" Type="http://schemas.openxmlformats.org/officeDocument/2006/relationships/image" Target="../media/image94.png"/><Relationship Id="rId5" Type="http://schemas.openxmlformats.org/officeDocument/2006/relationships/image" Target="../media/image93.png"/><Relationship Id="rId10" Type="http://schemas.openxmlformats.org/officeDocument/2006/relationships/image" Target="../media/image731.png"/><Relationship Id="rId4" Type="http://schemas.openxmlformats.org/officeDocument/2006/relationships/image" Target="../media/image78.png"/><Relationship Id="rId9" Type="http://schemas.openxmlformats.org/officeDocument/2006/relationships/image" Target="../media/image72.png"/><Relationship Id="rIdNotation20_0_10" Type="http://schemas.openxmlformats.org/officeDocument/2006/relationships/image" Target="../media/notation_s20_0_555.png"/><Relationship Id="rIdNotation20_1_11" Type="http://schemas.openxmlformats.org/officeDocument/2006/relationships/image" Target="../media/notation_s20_1_556.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81.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0.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4.png"/><Relationship Id="rId4" Type="http://schemas.openxmlformats.org/officeDocument/2006/relationships/image" Target="../media/image119.png"/><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401.png"/><Relationship Id="rId3" Type="http://schemas.openxmlformats.org/officeDocument/2006/relationships/image" Target="../media/image145.png"/><Relationship Id="rId7" Type="http://schemas.openxmlformats.org/officeDocument/2006/relationships/image" Target="../media/image139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6.png"/><Relationship Id="rIdNotation32_0_6" Type="http://schemas.openxmlformats.org/officeDocument/2006/relationships/image" Target="../media/notation_s32_0_557.png"/><Relationship Id="rIdNotation32_1_7" Type="http://schemas.openxmlformats.org/officeDocument/2006/relationships/image" Target="../media/notation_s32_1_558.png"/></Relationships>
</file>

<file path=ppt/slides/_rels/slide33.xml.rels><?xml version='1.0' encoding='UTF-8' standalone='yes'?>
<Relationships xmlns="http://schemas.openxmlformats.org/package/2006/relationships"><Relationship Id="rId8" Type="http://schemas.openxmlformats.org/officeDocument/2006/relationships/image" Target="../media/image153.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10.png"/><Relationship Id="rId4" Type="http://schemas.openxmlformats.org/officeDocument/2006/relationships/chart" Target="../charts/chart9.xml"/><Relationship Id="rId9" Type="http://schemas.openxmlformats.org/officeDocument/2006/relationships/image" Target="../media/image154.png"/><Relationship Id="rIdNotation33_0_9" Type="http://schemas.openxmlformats.org/officeDocument/2006/relationships/image" Target="../media/notation_s33_0_559.png"/><Relationship Id="rIdNotation33_1_10" Type="http://schemas.openxmlformats.org/officeDocument/2006/relationships/image" Target="../media/notation_s33_1_560.png"/><Relationship Id="rIdNotation33_2_11" Type="http://schemas.openxmlformats.org/officeDocument/2006/relationships/image" Target="../media/notation_s33_2_561.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5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2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2"/>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endParaRPr lang="en-GB" sz="1875" dirty="0"/>
          </a:p>
          <a:p>
            <a:pPr algn="ctr">
              <a:lnSpc>
                <a:spcPts val="2300"/>
              </a:lnSpc>
            </a:pPr>
            <a:r>
              <a:rPr lang="en-GB" sz="1875" b="0" dirty="0">
                <a:solidFill>
                  <a:srgbClr val="182D45"/>
                </a:solidFill>
                <a:latin typeface="DejaVu Sans"/>
              </a:rPr>
              <a:t>computing </a:t>
            </a:r>
            <a:r>
              <a:rPr lang="en-GB" sz="1875" b="0" dirty="0">
                <a:solidFill>
                  <a:srgbClr val="FF0000"/>
                </a:solidFill>
                <a:latin typeface="DejaVu Sans"/>
              </a:rPr>
              <a:t>new features</a:t>
            </a:r>
            <a:r>
              <a:rPr lang="en-GB" sz="1875" b="0" dirty="0">
                <a:solidFill>
                  <a:srgbClr val="182D45"/>
                </a:solidFill>
                <a:latin typeface="DejaVu Sans"/>
              </a:rPr>
              <a:t> from the </a:t>
            </a:r>
            <a:r>
              <a:rPr lang="en-GB" sz="1875" b="0" dirty="0">
                <a:solidFill>
                  <a:srgbClr val="FF0000"/>
                </a:solidFill>
                <a:latin typeface="DejaVu Sans"/>
              </a:rPr>
              <a:t>previous features</a:t>
            </a:r>
            <a:r>
              <a:rPr lang="en-GB" sz="1875" b="0"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For </a:t>
            </a:r>
            <a:r>
              <a:rPr sz="1950" b="0" dirty="0">
                <a:solidFill>
                  <a:srgbClr val="FF0000"/>
                </a:solidFill>
                <a:latin typeface="DejaVu Sans"/>
                <a:ea typeface="DejaVu Sans"/>
                <a:cs typeface="DejaVu Sans"/>
              </a:rPr>
              <a:t>fully connected networks </a:t>
            </a:r>
            <a:r>
              <a:rPr sz="1950" b="0" dirty="0">
                <a:solidFill>
                  <a:srgbClr val="182D45"/>
                </a:solidFill>
                <a:latin typeface="DejaVu Sans"/>
                <a:ea typeface="DejaVu Sans"/>
                <a:cs typeface="DejaVu Sans"/>
              </a:rPr>
              <a:t>with </a:t>
            </a:r>
            <a:r>
              <a:rPr sz="1950" b="0" dirty="0" err="1">
                <a:solidFill>
                  <a:srgbClr val="182D45"/>
                </a:solidFill>
                <a:latin typeface="DejaVu Sans"/>
                <a:ea typeface="DejaVu Sans"/>
                <a:cs typeface="DejaVu Sans"/>
              </a:rPr>
              <a:t>ReLU</a:t>
            </a:r>
            <a:r>
              <a:rPr sz="1950" b="0" dirty="0">
                <a:solidFill>
                  <a:srgbClr val="182D45"/>
                </a:solidFill>
                <a:latin typeface="DejaVu Sans"/>
                <a:ea typeface="DejaVu Sans"/>
                <a:cs typeface="DejaVu Sans"/>
              </a:rPr>
              <a:t> hidden layers and an affine output,</a:t>
            </a:r>
          </a:p>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7"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mc:Choice xmlns:a14="http://schemas.microsoft.com/office/drawing/2010/main"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network_caption_3">
                <a:extLst>
                  <a:ext uri="{FF2B5EF4-FFF2-40B4-BE49-F238E27FC236}">
                    <a16:creationId xmlns:a16="http://schemas.microsoft.com/office/drawing/2014/main" id="{CDF8B53F-ABC1-3C44-0B4C-D01EDCC62C0E}"/>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119" name="network_caption_3">
                <a:extLst>
                  <a:ext uri="{FF2B5EF4-FFF2-40B4-BE49-F238E27FC236}">
                    <a16:creationId xmlns:a16="http://schemas.microsoft.com/office/drawing/2014/main" id="{CDF8B53F-ABC1-3C44-0B4C-D01EDCC62C0E}"/>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7"/>
                <a:stretch>
                  <a:fillRect t="-21600" b="-296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mc:Choice>
        <mc:Fallback xmlns="">
          <p:sp>
            <p:nvSpPr>
              <p:cNvPr id="2" name="lead">
                <a:extLst>
                  <a:ext uri="{FF2B5EF4-FFF2-40B4-BE49-F238E27FC236}">
                    <a16:creationId xmlns:a16="http://schemas.microsoft.com/office/drawing/2014/main" id="{F5186BFC-575D-4444-A6D5-4C74F4BBA5D5}"/>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mc:Choice xmlns:a14="http://schemas.microsoft.com/office/drawing/2010/main"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e>
                      </m:d>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−1</m:t>
                              </m:r>
                            </m:e>
                          </m:d>
                        </m:e>
                      </m:d>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a:solidFill>
                            <a:srgbClr val="087F83"/>
                          </a:solidFill>
                          <a:latin typeface="Cambria Math"/>
                          <a:ea typeface="Cambria Math"/>
                          <a:cs typeface="Cambria Math"/>
                        </a:rPr>
                        <m:t>U</m:t>
                      </m:r>
                      <m:d>
                        <m:dPr>
                          <m:ctrlPr>
                            <a:rPr lang="it-IT" sz="2700" i="1">
                              <a:solidFill>
                                <a:srgbClr val="FF0000"/>
                              </a:solidFill>
                              <a:latin typeface="Cambria Math" panose="02040503050406030204" pitchFamily="18" charset="0"/>
                              <a:ea typeface="Cambria Math"/>
                              <a:cs typeface="Cambria Math"/>
                            </a:rPr>
                          </m:ctrlPr>
                        </m:dPr>
                        <m:e>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−2</m:t>
                              </m:r>
                            </m:e>
                          </m:d>
                        </m:e>
                      </m:d>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b\leq0,\qquad b+w_1+w_2\leq0">
                <a:extLst>
                  <a:ext uri="{FF2B5EF4-FFF2-40B4-BE49-F238E27FC236}">
                    <a16:creationId xmlns:a16="http://schemas.microsoft.com/office/drawing/2014/main" id="{7E5319D7-00E7-4360-A52F-EB2C926622E5}"/>
                  </a:ext>
                </a:extLst>
              </p:cNvPr>
              <p:cNvSpPr>
                <a:spLocks noGrp="1"/>
              </p:cNvSpPr>
              <p:nvPr/>
            </p:nvSpPr>
            <p:spPr>
              <a:xfrm>
                <a:off x="42862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≤0,  </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en-GB" sz="2800">
                          <a:solidFill>
                            <a:srgbClr val="326CB2"/>
                          </a:solidFill>
                          <a:latin typeface="Cambria Math"/>
                          <a:ea typeface="Cambria Math"/>
                          <a:cs typeface="Cambria Math"/>
                        </a:rPr>
                        <m:t>≤0</m:t>
                      </m:r>
                    </m:oMath>
                  </m:oMathPara>
                </a14:m>
                <a:endParaRPr lang="en-GB" sz="2800"/>
              </a:p>
            </p:txBody>
          </p:sp>
        </mc:Choice>
        <mc:Fallback xmlns="">
          <p:sp>
            <p:nvSpPr>
              <p:cNvPr id="8" name="equation_4" descr="b\leq0,\qquad b+w_1+w_2\leq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904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b+w_1&gt;0,\qquad b+w_2&gt;0">
                <a:extLst>
                  <a:ext uri="{FF2B5EF4-FFF2-40B4-BE49-F238E27FC236}">
                    <a16:creationId xmlns:a16="http://schemas.microsoft.com/office/drawing/2014/main" id="{B98D4047-F6CD-4082-B738-B633B0AE30EA}"/>
                  </a:ext>
                </a:extLst>
              </p:cNvPr>
              <p:cNvSpPr>
                <a:spLocks noGrp="1"/>
              </p:cNvSpPr>
              <p:nvPr/>
            </p:nvSpPr>
            <p:spPr>
              <a:xfrm>
                <a:off x="623887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en-GB" sz="2800">
                          <a:solidFill>
                            <a:srgbClr val="C45C28"/>
                          </a:solidFill>
                          <a:latin typeface="Cambria Math"/>
                          <a:ea typeface="Cambria Math"/>
                          <a:cs typeface="Cambria Math"/>
                        </a:rPr>
                        <m:t>&gt;0,  </m:t>
                      </m:r>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en-GB" sz="2800">
                          <a:solidFill>
                            <a:srgbClr val="C45C28"/>
                          </a:solidFill>
                          <a:latin typeface="Cambria Math"/>
                          <a:ea typeface="Cambria Math"/>
                          <a:cs typeface="Cambria Math"/>
                        </a:rPr>
                        <m:t>&gt;0</m:t>
                      </m:r>
                    </m:oMath>
                  </m:oMathPara>
                </a14:m>
                <a:endParaRPr lang="en-GB" sz="2800"/>
              </a:p>
            </p:txBody>
          </p:sp>
        </mc:Choice>
        <mc:Fallback xmlns="">
          <p:sp>
            <p:nvSpPr>
              <p:cNvPr id="9" name="equation_5" descr="b+w_1&gt;0,\qquad 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9048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2862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28625" y="478155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3887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38875" y="4781550"/>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Adding the inequalities gives a </a:t>
            </a:r>
            <a:r>
              <a:rPr sz="2100" b="1" dirty="0">
                <a:solidFill>
                  <a:srgbClr val="FF0000"/>
                </a:solidFill>
                <a:latin typeface="DejaVu Sans"/>
                <a:ea typeface="DejaVu Sans"/>
                <a:cs typeface="DejaVu Sans"/>
              </a:rPr>
              <a:t>contradiction</a:t>
            </a:r>
            <a:r>
              <a:rPr sz="21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dirty="0">
                    <a:solidFill>
                      <a:srgbClr val="526276"/>
                    </a:solidFill>
                    <a:latin typeface="DejaVu Sans"/>
                  </a:rPr>
                  <a:t>.</a:t>
                </a:r>
                <a:endParaRPr lang="en-GB" sz="2100" dirty="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xmlns="">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Notation32_0_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Notation32_1_7"/>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a:p>
            </p:txBody>
          </p:sp>
        </mc:Choice>
        <mc:Fallback xmlns="">
          <p:sp>
            <p:nvSpPr>
              <p:cNvPr id="17" name="equation_11" descr="\phi_{1,1}(\bm x)+\phi_{1,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Notation33_0_9"/>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a:t>
                </a:r>
                <a:endParaRPr lang="en-GB" sz="1850" dirty="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423</TotalTime>
  <Words>7932</Words>
  <Application>Microsoft Office PowerPoint</Application>
  <DocSecurity>0</DocSecurity>
  <PresentationFormat>Widescreen</PresentationFormat>
  <Paragraphs>872</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32</cp:revision>
  <dcterms:created xsi:type="dcterms:W3CDTF">2026-10-03T10:26:10Z</dcterms:created>
  <dcterms:modified xsi:type="dcterms:W3CDTF">2026-10-15T21:20:50Z</dcterms:modified>
</cp:coreProperties>
</file>