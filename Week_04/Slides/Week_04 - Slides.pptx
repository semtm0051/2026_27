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5C28"/>
    <a:srgbClr val="326CB2"/>
    <a:srgbClr val="B6C2CD"/>
    <a:srgbClr val="526276"/>
    <a:srgbClr val="087F83"/>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77.png"/><Relationship Id="rId2" Type="http://schemas.openxmlformats.org/officeDocument/2006/relationships/image" Target="../media/image641.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94.png"/><Relationship Id="rId7" Type="http://schemas.openxmlformats.org/officeDocument/2006/relationships/image" Target="../media/image65.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23.png"/><Relationship Id="rId11" Type="http://schemas.openxmlformats.org/officeDocument/2006/relationships/image" Target="../media/image124.png"/><Relationship Id="rId5" Type="http://schemas.openxmlformats.org/officeDocument/2006/relationships/image" Target="../media/image122.png"/><Relationship Id="rId10" Type="http://schemas.openxmlformats.org/officeDocument/2006/relationships/image" Target="../media/image731.png"/><Relationship Id="rId4" Type="http://schemas.openxmlformats.org/officeDocument/2006/relationships/image" Target="../media/image119.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136.png"/><Relationship Id="rId4" Type="http://schemas.openxmlformats.org/officeDocument/2006/relationships/image" Target="../media/image128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2.png"/><Relationship Id="rId3" Type="http://schemas.openxmlformats.org/officeDocument/2006/relationships/image" Target="../media/image120.png"/><Relationship Id="rId7" Type="http://schemas.openxmlformats.org/officeDocument/2006/relationships/image" Target="../media/image13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6.xml"/><Relationship Id="rId10" Type="http://schemas.openxmlformats.org/officeDocument/2006/relationships/image" Target="../media/image144.png"/><Relationship Id="rId4" Type="http://schemas.openxmlformats.org/officeDocument/2006/relationships/image" Target="../media/image93.png"/><Relationship Id="rId9" Type="http://schemas.openxmlformats.org/officeDocument/2006/relationships/image" Target="../media/image143.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401.png"/><Relationship Id="rId3" Type="http://schemas.openxmlformats.org/officeDocument/2006/relationships/image" Target="../media/image145.png"/><Relationship Id="rId7" Type="http://schemas.openxmlformats.org/officeDocument/2006/relationships/image" Target="../media/image139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30.png"/><Relationship Id="rId5" Type="http://schemas.openxmlformats.org/officeDocument/2006/relationships/image" Target="../media/image122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6.png"/></Relationships>
</file>

<file path=ppt/slides/_rels/slide33.xml.rels><?xml version="1.0" encoding="UTF-8" standalone="yes"?>
<Relationships xmlns="http://schemas.openxmlformats.org/package/2006/relationships"><Relationship Id="rId8" Type="http://schemas.openxmlformats.org/officeDocument/2006/relationships/image" Target="../media/image153.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10.png"/><Relationship Id="rId4" Type="http://schemas.openxmlformats.org/officeDocument/2006/relationships/chart" Target="../charts/chart9.xml"/><Relationship Id="rId9" Type="http://schemas.openxmlformats.org/officeDocument/2006/relationships/image" Target="../media/image15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51.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48.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8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weighted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xmlns="">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xmlns="">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xmlns:a14="http://schemas.microsoft.com/office/drawing/2010/main">
        <mc:Choice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xmlns="">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xmlns="">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xmlns="">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914400"/>
            <a:ext cx="11144250" cy="952500"/>
          </a:xfrm>
          <a:prstGeom prst="rect">
            <a:avLst/>
          </a:prstGeom>
          <a:noFill/>
          <a:ln w="0">
            <a:noFill/>
          </a:ln>
        </p:spPr>
        <p:txBody>
          <a:bodyPr wrap="none" lIns="0" tIns="0" rIns="0" bIns="0" anchor="ctr">
            <a:noAutofit/>
          </a:bodyPr>
          <a:lstStyle/>
          <a:p>
            <a:pPr algn="ctr">
              <a:lnSpc>
                <a:spcPts val="2350"/>
              </a:lnSpc>
            </a:pPr>
            <a:r>
              <a:rPr lang="en-GB" sz="2025" b="0" dirty="0">
                <a:solidFill>
                  <a:srgbClr val="526276"/>
                </a:solidFill>
                <a:latin typeface="DejaVu Sans"/>
              </a:rPr>
              <a:t>A </a:t>
            </a:r>
            <a:r>
              <a:rPr lang="en-GB" sz="2025" b="0" dirty="0">
                <a:solidFill>
                  <a:srgbClr val="FF0000"/>
                </a:solidFill>
                <a:latin typeface="DejaVu Sans"/>
              </a:rPr>
              <a:t>neuron</a:t>
            </a:r>
            <a:r>
              <a:rPr lang="en-GB" sz="2025" b="0" dirty="0">
                <a:solidFill>
                  <a:srgbClr val="526276"/>
                </a:solidFill>
                <a:latin typeface="DejaVu Sans"/>
              </a:rPr>
              <a:t> is a </a:t>
            </a:r>
            <a:r>
              <a:rPr lang="en-GB" sz="2025" b="0" dirty="0">
                <a:solidFill>
                  <a:srgbClr val="FF0000"/>
                </a:solidFill>
                <a:latin typeface="DejaVu Sans"/>
              </a:rPr>
              <a:t>function</a:t>
            </a:r>
            <a:r>
              <a:rPr lang="en-GB" sz="2025" b="0" dirty="0">
                <a:solidFill>
                  <a:srgbClr val="526276"/>
                </a:solidFill>
                <a:latin typeface="DejaVu Sans"/>
              </a:rPr>
              <a:t> that combines several inputs into one output.</a:t>
            </a:r>
            <a:endParaRPr lang="en-GB" sz="2025" dirty="0"/>
          </a:p>
          <a:p>
            <a:pPr algn="ctr">
              <a:lnSpc>
                <a:spcPts val="2350"/>
              </a:lnSpc>
            </a:pPr>
            <a:r>
              <a:rPr lang="en-GB" sz="2025" b="0" dirty="0">
                <a:solidFill>
                  <a:srgbClr val="526276"/>
                </a:solidFill>
                <a:latin typeface="DejaVu Sans"/>
              </a:rPr>
              <a:t>The name is loosely inspired by </a:t>
            </a:r>
            <a:r>
              <a:rPr lang="en-GB" sz="2025" b="0" dirty="0">
                <a:solidFill>
                  <a:srgbClr val="FF0000"/>
                </a:solidFill>
                <a:latin typeface="DejaVu Sans"/>
              </a:rPr>
              <a:t>biological neurons</a:t>
            </a:r>
            <a:r>
              <a:rPr lang="en-GB" sz="2025" b="0" dirty="0">
                <a:solidFill>
                  <a:srgbClr val="526276"/>
                </a:solidFill>
                <a:latin typeface="DejaVu Sans"/>
              </a:rPr>
              <a:t>,</a:t>
            </a:r>
          </a:p>
          <a:p>
            <a:pPr algn="ctr">
              <a:lnSpc>
                <a:spcPts val="2350"/>
              </a:lnSpc>
            </a:pPr>
            <a:r>
              <a:rPr lang="en-GB" sz="2025" b="0" dirty="0">
                <a:solidFill>
                  <a:srgbClr val="526276"/>
                </a:solidFill>
                <a:latin typeface="DejaVu Sans"/>
              </a:rPr>
              <a:t>which receive signals</a:t>
            </a:r>
            <a:r>
              <a:rPr lang="en-GB" sz="2025" dirty="0"/>
              <a:t> </a:t>
            </a:r>
            <a:r>
              <a:rPr lang="en-GB" sz="2025" b="0" dirty="0">
                <a:solidFill>
                  <a:srgbClr val="526276"/>
                </a:solidFill>
                <a:latin typeface="DejaVu Sans"/>
              </a:rPr>
              <a:t>from other cells and produce an output signal.</a:t>
            </a:r>
            <a:endParaRPr lang="en-GB" sz="2025" dirty="0"/>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Each horizontal row represents one </a:t>
            </a:r>
            <a:r>
              <a:rPr lang="en-GB" sz="1875" b="1" dirty="0">
                <a:solidFill>
                  <a:srgbClr val="FF0000"/>
                </a:solidFill>
                <a:latin typeface="DejaVu Sans"/>
              </a:rPr>
              <a:t>neuron</a:t>
            </a:r>
            <a:r>
              <a:rPr lang="en-GB" sz="1875" b="1" dirty="0">
                <a:solidFill>
                  <a:srgbClr val="182D45"/>
                </a:solidFill>
                <a:latin typeface="DejaVu Sans"/>
              </a:rPr>
              <a:t>.</a:t>
            </a:r>
            <a:endParaRPr lang="en-GB" sz="1875"/>
          </a:p>
          <a:p>
            <a:pPr algn="ctr">
              <a:lnSpc>
                <a:spcPts val="2300"/>
              </a:lnSpc>
            </a:pPr>
            <a:r>
              <a:rPr lang="en-GB" sz="1875" b="1" dirty="0">
                <a:solidFill>
                  <a:srgbClr val="182D45"/>
                </a:solidFill>
                <a:latin typeface="DejaVu Sans"/>
              </a:rPr>
              <a:t>It forms a weighted sum, adds a bias and applies an activation function.</a:t>
            </a:r>
            <a:endParaRPr lang="en-GB" sz="1875"/>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333375" y="1000125"/>
            <a:ext cx="11525250" cy="457200"/>
          </a:xfrm>
          <a:prstGeom prst="rect">
            <a:avLst/>
          </a:prstGeom>
          <a:noFill/>
          <a:ln w="0">
            <a:noFill/>
          </a:ln>
        </p:spPr>
        <p:txBody>
          <a:bodyPr wrap="none" lIns="0" tIns="0" rIns="0" bIns="0" anchor="ctr">
            <a:noAutofit/>
          </a:bodyPr>
          <a:lstStyle/>
          <a:p>
            <a:pPr algn="ctr"/>
            <a:r>
              <a:rPr lang="en-GB" sz="2025" b="0" dirty="0">
                <a:solidFill>
                  <a:srgbClr val="526276"/>
                </a:solidFill>
                <a:latin typeface="DejaVu Sans"/>
              </a:rPr>
              <a:t>The highlighted row shows the complete calculation performed by </a:t>
            </a:r>
            <a:r>
              <a:rPr lang="en-GB" sz="2025" b="0" dirty="0">
                <a:solidFill>
                  <a:srgbClr val="FF0000"/>
                </a:solidFill>
                <a:latin typeface="DejaVu Sans"/>
              </a:rPr>
              <a:t>one neuron</a:t>
            </a:r>
            <a:r>
              <a:rPr lang="en-GB" sz="2025" b="0" dirty="0">
                <a:solidFill>
                  <a:srgbClr val="526276"/>
                </a:solidFill>
                <a:latin typeface="DejaVu Sans"/>
              </a:rPr>
              <a:t>.</a:t>
            </a:r>
            <a:endParaRPr lang="en-GB" sz="2025"/>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A neuron is a </a:t>
            </a:r>
            <a:r>
              <a:rPr lang="en-GB" sz="1875" b="1" dirty="0">
                <a:solidFill>
                  <a:srgbClr val="FF0000"/>
                </a:solidFill>
                <a:latin typeface="DejaVu Sans"/>
              </a:rPr>
              <a:t>function</a:t>
            </a:r>
            <a:r>
              <a:rPr lang="en-GB" sz="1875" b="1" dirty="0">
                <a:solidFill>
                  <a:srgbClr val="182D45"/>
                </a:solidFill>
                <a:latin typeface="DejaVu Sans"/>
              </a:rPr>
              <a:t> that combines its inputs into one output,</a:t>
            </a:r>
            <a:endParaRPr lang="en-GB" sz="1875"/>
          </a:p>
          <a:p>
            <a:pPr algn="ctr">
              <a:lnSpc>
                <a:spcPts val="2300"/>
              </a:lnSpc>
            </a:pPr>
            <a:r>
              <a:rPr lang="en-GB" sz="1875" b="1" dirty="0">
                <a:solidFill>
                  <a:srgbClr val="182D45"/>
                </a:solidFill>
                <a:latin typeface="DejaVu Sans"/>
              </a:rPr>
              <a:t>called its </a:t>
            </a:r>
            <a:r>
              <a:rPr lang="en-GB" sz="1875" b="1" dirty="0">
                <a:solidFill>
                  <a:srgbClr val="FF0000"/>
                </a:solidFill>
                <a:latin typeface="DejaVu Sans"/>
              </a:rPr>
              <a:t>activation</a:t>
            </a:r>
            <a:r>
              <a:rPr lang="en-GB" sz="1875" b="1" dirty="0">
                <a:solidFill>
                  <a:srgbClr val="182D45"/>
                </a:solidFill>
                <a:latin typeface="DejaVu Sans"/>
              </a:rPr>
              <a:t>.</a:t>
            </a:r>
            <a:endParaRPr lang="en-GB" sz="1875"/>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100" b="0" dirty="0">
                <a:solidFill>
                  <a:srgbClr val="526276"/>
                </a:solidFill>
                <a:latin typeface="DejaVu Sans"/>
              </a:rPr>
              <a:t>Together, these neurons and the affine output layer form a </a:t>
            </a:r>
            <a:r>
              <a:rPr lang="en-GB" sz="2100" b="0" dirty="0">
                <a:solidFill>
                  <a:srgbClr val="FF0000"/>
                </a:solidFill>
                <a:latin typeface="DejaVu Sans"/>
              </a:rPr>
              <a:t>neural network</a:t>
            </a:r>
            <a:r>
              <a:rPr lang="en-GB" sz="2100" b="0" dirty="0">
                <a:solidFill>
                  <a:srgbClr val="526276"/>
                </a:solidFill>
                <a:latin typeface="DejaVu Sans"/>
              </a:rPr>
              <a:t>.</a:t>
            </a:r>
            <a:endParaRPr lang="en-GB" sz="2100"/>
          </a:p>
          <a:p>
            <a:pPr algn="ctr">
              <a:lnSpc>
                <a:spcPts val="2550"/>
              </a:lnSpc>
            </a:pPr>
            <a:r>
              <a:rPr lang="en-GB" sz="2100" b="0" dirty="0">
                <a:solidFill>
                  <a:srgbClr val="526276"/>
                </a:solidFill>
                <a:latin typeface="DejaVu Sans"/>
              </a:rPr>
              <a:t>The output layer combines the neurons’ activations using </a:t>
            </a:r>
            <a:r>
              <a:rPr lang="en-GB" sz="2100" b="0" dirty="0">
                <a:solidFill>
                  <a:srgbClr val="FF0000"/>
                </a:solidFill>
                <a:latin typeface="DejaVu Sans"/>
              </a:rPr>
              <a:t>weights</a:t>
            </a:r>
            <a:r>
              <a:rPr lang="en-GB" sz="2100" b="0" dirty="0">
                <a:solidFill>
                  <a:srgbClr val="526276"/>
                </a:solidFill>
                <a:latin typeface="DejaVu Sans"/>
              </a:rPr>
              <a:t> and a </a:t>
            </a:r>
            <a:r>
              <a:rPr lang="en-GB" sz="2100" b="0" dirty="0">
                <a:solidFill>
                  <a:srgbClr val="FF0000"/>
                </a:solidFill>
                <a:latin typeface="DejaVu Sans"/>
              </a:rPr>
              <a:t>bias</a:t>
            </a:r>
            <a:r>
              <a:rPr lang="en-GB" sz="2100" b="0" dirty="0">
                <a:solidFill>
                  <a:srgbClr val="526276"/>
                </a:solidFill>
                <a:latin typeface="DejaVu Sans"/>
              </a:rPr>
              <a:t>.</a:t>
            </a:r>
            <a:endParaRPr lang="en-GB" sz="2100"/>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mc:Choice xmlns:a14="http://schemas.microsoft.com/office/drawing/2010/main"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A </a:t>
                </a:r>
                <a:r>
                  <a:rPr lang="en-GB" sz="2025" b="0" dirty="0">
                    <a:solidFill>
                      <a:srgbClr val="FF0000"/>
                    </a:solidFill>
                    <a:latin typeface="DejaVu Sans"/>
                  </a:rPr>
                  <a:t>hidden layer </a:t>
                </a:r>
                <a:r>
                  <a:rPr lang="en-GB" sz="2025" b="0" dirty="0">
                    <a:solidFill>
                      <a:srgbClr val="526276"/>
                    </a:solidFill>
                    <a:latin typeface="DejaVu Sans"/>
                  </a:rPr>
                  <a:t>groups neurons receiving the </a:t>
                </a:r>
                <a:r>
                  <a:rPr lang="en-GB" sz="2025" b="0" dirty="0">
                    <a:solidFill>
                      <a:srgbClr val="FF0000"/>
                    </a:solidFill>
                    <a:latin typeface="DejaVu Sans"/>
                  </a:rPr>
                  <a:t>same input row</a:t>
                </a:r>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Its </a:t>
                </a:r>
                <a:r>
                  <a:rPr lang="en-GB" sz="2025" b="0" dirty="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dirty="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dirty="0">
                    <a:solidFill>
                      <a:srgbClr val="526276"/>
                    </a:solidFill>
                    <a:latin typeface="DejaVu Sans"/>
                  </a:rPr>
                  <a:t>.</a:t>
                </a:r>
                <a:endParaRPr lang="en-GB" sz="2025" dirty="0"/>
              </a:p>
            </p:txBody>
          </p:sp>
        </mc:Choice>
        <mc:Fallback>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977900"/>
                <a:ext cx="11430000" cy="762000"/>
              </a:xfrm>
              <a:prstGeom prst="rect">
                <a:avLst/>
              </a:prstGeom>
              <a:noFill/>
              <a:ln w="0">
                <a:noFill/>
              </a:ln>
            </p:spPr>
            <p:txBody>
              <a:bodyPr wrap="none" lIns="0" tIns="0" rIns="0" bIns="0" anchor="ctr">
                <a:noAutofit/>
              </a:bodyPr>
              <a:lstStyle/>
              <a:p>
                <a:pPr algn="ctr">
                  <a:lnSpc>
                    <a:spcPts val="2500"/>
                  </a:lnSpc>
                </a:pPr>
                <a:r>
                  <a:rPr lang="en-GB" sz="2000" b="0">
                    <a:solidFill>
                      <a:srgbClr val="FF0000"/>
                    </a:solidFill>
                    <a:latin typeface="DejaVu Sans"/>
                  </a:rPr>
                  <a:t>Width </a:t>
                </a:r>
                <a14:m>
                  <m:oMath xmlns:m="http://schemas.openxmlformats.org/officeDocument/2006/math">
                    <m:sSub>
                      <m:sSubPr>
                        <m:ctrlPr>
                          <a:rPr lang="en-GB" sz="2000">
                            <a:solidFill>
                              <a:srgbClr val="182D45"/>
                            </a:solidFill>
                            <a:latin typeface="Cambria Math"/>
                            <a:ea typeface="Cambria Math"/>
                            <a:cs typeface="Cambria Math"/>
                          </a:rPr>
                        </m:ctrlPr>
                      </m:sSubPr>
                      <m:e>
                        <m:r>
                          <a:rPr lang="en-GB" sz="2000">
                            <a:solidFill>
                              <a:srgbClr val="182D45"/>
                            </a:solidFill>
                            <a:latin typeface="Cambria Math"/>
                            <a:ea typeface="Cambria Math"/>
                            <a:cs typeface="Cambria Math"/>
                          </a:rPr>
                          <m:t>𝑚</m:t>
                        </m:r>
                      </m:e>
                      <m:sub>
                        <m:r>
                          <a:rPr lang="en-GB" sz="2000">
                            <a:solidFill>
                              <a:srgbClr val="182D45"/>
                            </a:solidFill>
                            <a:latin typeface="Cambria Math"/>
                            <a:ea typeface="Cambria Math"/>
                            <a:cs typeface="Cambria Math"/>
                          </a:rPr>
                          <m:t>𝑟</m:t>
                        </m:r>
                      </m:sub>
                    </m:sSub>
                  </m:oMath>
                </a14:m>
                <a:r>
                  <a:rPr lang="en-GB" sz="2000" b="0">
                    <a:solidFill>
                      <a:srgbClr val="182D45"/>
                    </a:solidFill>
                    <a:latin typeface="DejaVu Sans"/>
                  </a:rPr>
                  <a:t>: the number of neurons in layer </a:t>
                </a:r>
                <a14:m>
                  <m:oMath xmlns:m="http://schemas.openxmlformats.org/officeDocument/2006/math">
                    <m:r>
                      <a:rPr lang="en-GB" sz="2000">
                        <a:solidFill>
                          <a:srgbClr val="182D45"/>
                        </a:solidFill>
                        <a:latin typeface="Cambria Math"/>
                        <a:ea typeface="Cambria Math"/>
                        <a:cs typeface="Cambria Math"/>
                      </a:rPr>
                      <m:t>𝑟</m:t>
                    </m:r>
                  </m:oMath>
                </a14:m>
                <a:r>
                  <a:rPr lang="en-GB" sz="2000" b="0">
                    <a:solidFill>
                      <a:srgbClr val="182D45"/>
                    </a:solidFill>
                    <a:latin typeface="DejaVu Sans"/>
                  </a:rPr>
                  <a:t>.</a:t>
                </a:r>
                <a:endParaRPr lang="en-GB" sz="2000"/>
              </a:p>
              <a:p>
                <a:pPr algn="ctr">
                  <a:lnSpc>
                    <a:spcPts val="2500"/>
                  </a:lnSpc>
                </a:pPr>
                <a:r>
                  <a:rPr lang="en-GB" sz="2000" b="0">
                    <a:solidFill>
                      <a:srgbClr val="FF0000"/>
                    </a:solidFill>
                    <a:latin typeface="DejaVu Sans"/>
                  </a:rPr>
                  <a:t>Depth </a:t>
                </a:r>
                <a14:m>
                  <m:oMath xmlns:m="http://schemas.openxmlformats.org/officeDocument/2006/math">
                    <m:r>
                      <a:rPr lang="en-GB" sz="2000">
                        <a:solidFill>
                          <a:srgbClr val="182D45"/>
                        </a:solidFill>
                        <a:latin typeface="Cambria Math"/>
                        <a:ea typeface="Cambria Math"/>
                        <a:cs typeface="Cambria Math"/>
                      </a:rPr>
                      <m:t>𝐿</m:t>
                    </m:r>
                  </m:oMath>
                </a14:m>
                <a:r>
                  <a:rPr lang="en-GB" sz="2000" b="0">
                    <a:solidFill>
                      <a:srgbClr val="182D45"/>
                    </a:solidFill>
                    <a:latin typeface="DejaVu Sans"/>
                  </a:rPr>
                  <a:t>: the number of layers, counting the output but excluding the input.</a:t>
                </a:r>
                <a:endParaRPr lang="en-GB" sz="200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977900"/>
                <a:ext cx="11430000" cy="762000"/>
              </a:xfrm>
              <a:prstGeom prst="rect">
                <a:avLst/>
              </a:prstGeom>
              <a:blipFill>
                <a:blip r:embed="rId2"/>
                <a:stretch>
                  <a:fillRect t="-2400" b="-104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33375" y="4524375"/>
            <a:ext cx="11525250" cy="619125"/>
          </a:xfrm>
          <a:prstGeom prst="rect">
            <a:avLst/>
          </a:prstGeom>
          <a:noFill/>
          <a:ln w="0">
            <a:noFill/>
          </a:ln>
        </p:spPr>
        <p:txBody>
          <a:bodyPr wrap="none" lIns="0" tIns="0" rIns="0" bIns="0" anchor="ctr">
            <a:noAutofit/>
          </a:bodyPr>
          <a:lstStyle/>
          <a:p>
            <a:pPr algn="ctr">
              <a:lnSpc>
                <a:spcPts val="2300"/>
              </a:lnSpc>
            </a:pPr>
            <a:r>
              <a:rPr lang="en-GB" sz="1875" b="0" dirty="0">
                <a:solidFill>
                  <a:srgbClr val="182D45"/>
                </a:solidFill>
                <a:latin typeface="DejaVu Sans"/>
              </a:rPr>
              <a:t>Each additional hidden layer uses the previous layer’s </a:t>
            </a:r>
            <a:r>
              <a:rPr lang="en-GB" sz="1875" b="0" dirty="0">
                <a:solidFill>
                  <a:srgbClr val="FF0000"/>
                </a:solidFill>
                <a:latin typeface="DejaVu Sans"/>
              </a:rPr>
              <a:t>activations</a:t>
            </a:r>
            <a:r>
              <a:rPr lang="en-GB" sz="1875" b="0" dirty="0">
                <a:solidFill>
                  <a:srgbClr val="182D45"/>
                </a:solidFill>
                <a:latin typeface="DejaVu Sans"/>
              </a:rPr>
              <a:t> as inputs,</a:t>
            </a:r>
            <a:endParaRPr lang="en-GB" sz="1875" dirty="0"/>
          </a:p>
          <a:p>
            <a:pPr algn="ctr">
              <a:lnSpc>
                <a:spcPts val="2300"/>
              </a:lnSpc>
            </a:pPr>
            <a:r>
              <a:rPr lang="en-GB" sz="1875" b="0" dirty="0">
                <a:solidFill>
                  <a:srgbClr val="182D45"/>
                </a:solidFill>
                <a:latin typeface="DejaVu Sans"/>
              </a:rPr>
              <a:t>computing </a:t>
            </a:r>
            <a:r>
              <a:rPr lang="en-GB" sz="1875" b="0" dirty="0">
                <a:solidFill>
                  <a:srgbClr val="FF0000"/>
                </a:solidFill>
                <a:latin typeface="DejaVu Sans"/>
              </a:rPr>
              <a:t>new features</a:t>
            </a:r>
            <a:r>
              <a:rPr lang="en-GB" sz="1875" b="0" dirty="0">
                <a:solidFill>
                  <a:srgbClr val="182D45"/>
                </a:solidFill>
                <a:latin typeface="DejaVu Sans"/>
              </a:rPr>
              <a:t> from the </a:t>
            </a:r>
            <a:r>
              <a:rPr lang="en-GB" sz="1875" b="0" dirty="0">
                <a:solidFill>
                  <a:srgbClr val="FF0000"/>
                </a:solidFill>
                <a:latin typeface="DejaVu Sans"/>
              </a:rPr>
              <a:t>previous features</a:t>
            </a:r>
            <a:r>
              <a:rPr lang="en-GB" sz="1875" b="0" dirty="0">
                <a:solidFill>
                  <a:srgbClr val="182D45"/>
                </a:solidFill>
                <a:latin typeface="DejaVu Sans"/>
              </a:rPr>
              <a:t>.</a:t>
            </a:r>
            <a:endParaRPr lang="en-GB" sz="1875" dirty="0"/>
          </a:p>
        </p:txBody>
      </p:sp>
      <p:sp>
        <p:nvSpPr>
          <p:cNvPr id="98" name="architecture_definition"/>
          <p:cNvSpPr txBox="1"/>
          <p:nvPr/>
        </p:nvSpPr>
        <p:spPr>
          <a:xfrm>
            <a:off x="317497" y="5200650"/>
            <a:ext cx="11556997" cy="619125"/>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For </a:t>
            </a:r>
            <a:r>
              <a:rPr sz="1950" b="0" dirty="0">
                <a:solidFill>
                  <a:srgbClr val="FF0000"/>
                </a:solidFill>
                <a:latin typeface="DejaVu Sans"/>
                <a:ea typeface="DejaVu Sans"/>
                <a:cs typeface="DejaVu Sans"/>
              </a:rPr>
              <a:t>fully connected networks </a:t>
            </a:r>
            <a:r>
              <a:rPr sz="1950" b="0" dirty="0">
                <a:solidFill>
                  <a:srgbClr val="182D45"/>
                </a:solidFill>
                <a:latin typeface="DejaVu Sans"/>
                <a:ea typeface="DejaVu Sans"/>
                <a:cs typeface="DejaVu Sans"/>
              </a:rPr>
              <a:t>with </a:t>
            </a:r>
            <a:r>
              <a:rPr sz="1950" b="0" dirty="0" err="1">
                <a:solidFill>
                  <a:srgbClr val="182D45"/>
                </a:solidFill>
                <a:latin typeface="DejaVu Sans"/>
                <a:ea typeface="DejaVu Sans"/>
                <a:cs typeface="DejaVu Sans"/>
              </a:rPr>
              <a:t>ReLU</a:t>
            </a:r>
            <a:r>
              <a:rPr sz="1950" b="0" dirty="0">
                <a:solidFill>
                  <a:srgbClr val="182D45"/>
                </a:solidFill>
                <a:latin typeface="DejaVu Sans"/>
                <a:ea typeface="DejaVu Sans"/>
                <a:cs typeface="DejaVu Sans"/>
              </a:rPr>
              <a:t> hidden layers and an affine output,</a:t>
            </a:r>
          </a:p>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mc:AlternateContent xmlns:mc="http://schemas.openxmlformats.org/markup-compatibility/2006">
        <mc:Choice xmlns:a14="http://schemas.microsoft.com/office/drawing/2010/main" Requires="a14">
          <p:sp>
            <p:nvSpPr>
              <p:cNvPr id="99" name="architecture_parameters"/>
              <p:cNvSpPr txBox="1"/>
              <p:nvPr/>
            </p:nvSpPr>
            <p:spPr>
              <a:xfrm>
                <a:off x="381000" y="5905500"/>
                <a:ext cx="11430000" cy="571500"/>
              </a:xfrm>
              <a:prstGeom prst="rect">
                <a:avLst/>
              </a:prstGeom>
              <a:noFill/>
              <a:ln w="0">
                <a:noFill/>
              </a:ln>
            </p:spPr>
            <p:txBody>
              <a:bodyPr wrap="none" lIns="0" tIns="0" rIns="0" bIns="0" anchor="ctr">
                <a:noAutofit/>
              </a:bodyPr>
              <a:lstStyle/>
              <a:p>
                <a:pPr algn="ctr">
                  <a:lnSpc>
                    <a:spcPts val="2300"/>
                  </a:lnSpc>
                </a:pPr>
                <a:r>
                  <a:rPr lang="en-GB" sz="1750" b="0" dirty="0">
                    <a:solidFill>
                      <a:srgbClr val="526276"/>
                    </a:solidFill>
                    <a:latin typeface="DejaVu Sans"/>
                  </a:rPr>
                  <a:t>By convention,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0</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𝑑</m:t>
                    </m:r>
                  </m:oMath>
                </a14:m>
                <a:r>
                  <a:rPr lang="en-GB" sz="1750" b="0" dirty="0">
                    <a:solidFill>
                      <a:srgbClr val="526276"/>
                    </a:solidFill>
                    <a:latin typeface="DejaVu Sans"/>
                  </a:rPr>
                  <a:t> is the </a:t>
                </a:r>
                <a:r>
                  <a:rPr lang="en-GB" sz="1750" b="0" dirty="0">
                    <a:solidFill>
                      <a:srgbClr val="FF0000"/>
                    </a:solidFill>
                    <a:latin typeface="DejaVu Sans"/>
                  </a:rPr>
                  <a:t>input dimension </a:t>
                </a:r>
                <a:r>
                  <a:rPr lang="en-GB" sz="1750" b="0" dirty="0">
                    <a:solidFill>
                      <a:srgbClr val="526276"/>
                    </a:solidFill>
                    <a:latin typeface="DejaVu Sans"/>
                  </a:rPr>
                  <a:t>and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𝐿</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𝑞</m:t>
                    </m:r>
                  </m:oMath>
                </a14:m>
                <a:r>
                  <a:rPr lang="en-GB" sz="1750" b="0" dirty="0">
                    <a:solidFill>
                      <a:srgbClr val="526276"/>
                    </a:solidFill>
                    <a:latin typeface="DejaVu Sans"/>
                  </a:rPr>
                  <a:t> the </a:t>
                </a:r>
                <a:r>
                  <a:rPr lang="en-GB" sz="1750" b="0" dirty="0">
                    <a:solidFill>
                      <a:srgbClr val="FF0000"/>
                    </a:solidFill>
                    <a:latin typeface="DejaVu Sans"/>
                  </a:rPr>
                  <a:t>output dimension</a:t>
                </a:r>
                <a:r>
                  <a:rPr lang="en-GB" sz="1750" b="0" dirty="0">
                    <a:solidFill>
                      <a:srgbClr val="526276"/>
                    </a:solidFill>
                    <a:latin typeface="DejaVu Sans"/>
                  </a:rPr>
                  <a:t>.</a:t>
                </a:r>
                <a:endParaRPr lang="en-GB" sz="1750" dirty="0"/>
              </a:p>
              <a:p>
                <a:pPr algn="ctr">
                  <a:lnSpc>
                    <a:spcPts val="2300"/>
                  </a:lnSpc>
                </a:pPr>
                <a:r>
                  <a:rPr lang="en-GB" sz="1750" b="0" dirty="0">
                    <a:solidFill>
                      <a:srgbClr val="526276"/>
                    </a:solidFill>
                    <a:latin typeface="DejaVu Sans"/>
                  </a:rPr>
                  <a:t>The architecture fixes parameter shapes; fitting adjusts their values.</a:t>
                </a:r>
                <a:endParaRPr lang="en-GB" sz="1750" dirty="0"/>
              </a:p>
            </p:txBody>
          </p:sp>
        </mc:Choice>
        <mc:Fallback>
          <p:sp>
            <p:nvSpPr>
              <p:cNvPr id="99" name="architecture_parameters"/>
              <p:cNvSpPr txBox="1">
                <a:spLocks noRot="1" noChangeAspect="1" noMove="1" noResize="1" noEditPoints="1" noAdjustHandles="1" noChangeArrowheads="1" noChangeShapeType="1" noTextEdit="1"/>
              </p:cNvSpPr>
              <p:nvPr/>
            </p:nvSpPr>
            <p:spPr>
              <a:xfrm>
                <a:off x="381000" y="5905500"/>
                <a:ext cx="11430000" cy="571500"/>
              </a:xfrm>
              <a:prstGeom prst="rect">
                <a:avLst/>
              </a:prstGeom>
              <a:blipFill>
                <a:blip r:embed="rId7"/>
                <a:stretch>
                  <a:fillRect t="-10638" b="-2127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 grpId="0"/>
      <p:bldP spid="9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Layer </a:t>
                </a:r>
                <a14:m>
                  <m:oMath xmlns:m="http://schemas.openxmlformats.org/officeDocument/2006/math">
                    <m:r>
                      <a:rPr lang="en-GB" sz="2025">
                        <a:solidFill>
                          <a:srgbClr val="526276"/>
                        </a:solidFill>
                        <a:latin typeface="Cambria Math"/>
                        <a:ea typeface="Cambria Math"/>
                        <a:cs typeface="Cambria Math"/>
                      </a:rPr>
                      <m:t>𝑟</m:t>
                    </m:r>
                  </m:oMath>
                </a14:m>
                <a:r>
                  <a:rPr lang="en-GB" sz="2025" b="0" dirty="0">
                    <a:solidFill>
                      <a:srgbClr val="526276"/>
                    </a:solidFill>
                    <a:latin typeface="DejaVu Sans"/>
                  </a:rPr>
                  <a:t> has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dirty="0">
                    <a:solidFill>
                      <a:srgbClr val="526276"/>
                    </a:solidFill>
                    <a:latin typeface="DejaVu Sans"/>
                  </a:rPr>
                  <a:t> neurons, indexed by </a:t>
                </a:r>
                <a14:m>
                  <m:oMath xmlns:m="http://schemas.openxmlformats.org/officeDocument/2006/math">
                    <m:r>
                      <a:rPr lang="en-GB" sz="2025">
                        <a:solidFill>
                          <a:srgbClr val="526276"/>
                        </a:solidFill>
                        <a:latin typeface="Cambria Math"/>
                        <a:ea typeface="Cambria Math"/>
                        <a:cs typeface="Cambria Math"/>
                      </a:rPr>
                      <m:t>𝑗</m:t>
                    </m:r>
                    <m:r>
                      <a:rPr lang="en-GB" sz="2025">
                        <a:solidFill>
                          <a:srgbClr val="526276"/>
                        </a:solidFill>
                        <a:latin typeface="Cambria Math"/>
                        <a:ea typeface="Cambria Math"/>
                        <a:cs typeface="Cambria Math"/>
                      </a:rPr>
                      <m:t>=1,…,</m:t>
                    </m:r>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For the first hidden layer, the previous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𝑗</m:t>
                        </m:r>
                      </m:sub>
                    </m:sSub>
                  </m:oMath>
                </a14:m>
                <a:r>
                  <a:rPr lang="en-GB" sz="2025" b="0" dirty="0">
                    <a:solidFill>
                      <a:srgbClr val="526276"/>
                    </a:solidFill>
                    <a:latin typeface="DejaVu Sans"/>
                  </a:rPr>
                  <a:t> is now written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1,</m:t>
                        </m:r>
                        <m:r>
                          <a:rPr lang="en-GB" sz="2025">
                            <a:solidFill>
                              <a:srgbClr val="526276"/>
                            </a:solidFill>
                            <a:latin typeface="Cambria Math"/>
                            <a:ea typeface="Cambria Math"/>
                            <a:cs typeface="Cambria Math"/>
                          </a:rPr>
                          <m:t>𝑗</m:t>
                        </m:r>
                      </m:sub>
                    </m:sSub>
                  </m:oMath>
                </a14:m>
                <a:r>
                  <a:rPr lang="en-GB" sz="2025" b="0" dirty="0">
                    <a:solidFill>
                      <a:srgbClr val="526276"/>
                    </a:solidFill>
                    <a:latin typeface="DejaVu Sans"/>
                  </a:rPr>
                  <a:t>.</a:t>
                </a:r>
                <a:endParaRPr lang="en-GB" sz="2025" dirty="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2344" b="-7813"/>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𝑟</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𝑚</m:t>
                              </m:r>
                            </m:e>
                            <m:sub>
                              <m:r>
                                <a:rPr lang="en-GB" sz="2400">
                                  <a:solidFill>
                                    <a:srgbClr val="087F83"/>
                                  </a:solidFill>
                                  <a:latin typeface="Cambria Math"/>
                                  <a:ea typeface="Cambria Math"/>
                                  <a:cs typeface="Cambria Math"/>
                                </a:rPr>
                                <m:t>𝑟</m:t>
                              </m:r>
                            </m:sub>
                          </m:sSub>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oMath>
                  </m:oMathPara>
                </a14:m>
                <a:endParaRPr lang="en-GB" sz="240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4"/>
                <a:stretch>
                  <a:fillRect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Preactivations: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oMath>
                </a14:m>
                <a:endParaRPr lang="en-GB" sz="250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5"/>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6"/>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network_caption_3">
                <a:extLst>
                  <a:ext uri="{FF2B5EF4-FFF2-40B4-BE49-F238E27FC236}">
                    <a16:creationId xmlns:a16="http://schemas.microsoft.com/office/drawing/2014/main" id="{CDF8B53F-ABC1-3C44-0B4C-D01EDCC62C0E}"/>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119" name="network_caption_3">
                <a:extLst>
                  <a:ext uri="{FF2B5EF4-FFF2-40B4-BE49-F238E27FC236}">
                    <a16:creationId xmlns:a16="http://schemas.microsoft.com/office/drawing/2014/main" id="{CDF8B53F-ABC1-3C44-0B4C-D01EDCC62C0E}"/>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𝐑𝐞𝐋𝐔</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oMath>
                </a14:m>
                <a:endParaRPr lang="en-GB" sz="250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11"/>
                <a:stretch>
                  <a:fillRect t="-22059" b="-38235"/>
                </a:stretch>
              </a:blipFill>
              <a:ln w="0">
                <a:noFill/>
              </a:ln>
            </p:spPr>
            <p:txBody>
              <a:bodyPr/>
              <a:lstStyle/>
              <a:p>
                <a:r>
                  <a:rPr lang="it-IT">
                    <a:noFill/>
                  </a:rPr>
                  <a:t> </a:t>
                </a:r>
              </a:p>
            </p:txBody>
          </p:sp>
        </mc:Fallback>
      </mc:AlternateContent>
      <p:sp>
        <p:nvSpPr>
          <p:cNvPr id="88" name="title">
            <a:extLst>
              <a:ext uri="{FF2B5EF4-FFF2-40B4-BE49-F238E27FC236}">
                <a16:creationId xmlns:a16="http://schemas.microsoft.com/office/drawing/2014/main" id="{784F2E96-5A71-15CA-2D15-F0258BC18DFF}"/>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98530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,1</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smtClean="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𝐾</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e>
                      </m:d>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𝑐</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𝑐</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e>
                          </m:nary>
                        </m:den>
                      </m:f>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xmlns="">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182D45"/>
                </a:solidFill>
                <a:latin typeface="DejaVu Sans"/>
                <a:ea typeface="DejaVu Sans"/>
                <a:cs typeface="DejaVu Sans"/>
              </a:rPr>
              <a:t>Can we build it</a:t>
            </a:r>
            <a:endParaRPr lang="it-IT" sz="2250" b="1" dirty="0">
              <a:solidFill>
                <a:srgbClr val="182D45"/>
              </a:solidFill>
              <a:latin typeface="DejaVu Sans"/>
              <a:ea typeface="DejaVu Sans"/>
              <a:cs typeface="DejaVu Sans"/>
            </a:endParaRPr>
          </a:p>
          <a:p>
            <a:pPr algn="ctr">
              <a:defRPr sz="2250" b="1">
                <a:solidFill>
                  <a:srgbClr val="182D45"/>
                </a:solidFill>
                <a:latin typeface="DejaVu Sans"/>
                <a:ea typeface="DejaVu Sans"/>
                <a:cs typeface="DejaVu Sans"/>
              </a:defRPr>
            </a:pPr>
            <a:r>
              <a:rPr lang="it-IT" sz="2250" b="1" dirty="0">
                <a:solidFill>
                  <a:srgbClr val="182D45"/>
                </a:solidFill>
                <a:latin typeface="DejaVu Sans"/>
                <a:ea typeface="DejaVu Sans"/>
                <a:cs typeface="DejaVu Sans"/>
              </a:rPr>
              <a:t>by </a:t>
            </a:r>
            <a:r>
              <a:rPr lang="it-IT" sz="2250" b="1" dirty="0" err="1">
                <a:solidFill>
                  <a:srgbClr val="182D45"/>
                </a:solidFill>
                <a:latin typeface="DejaVu Sans"/>
                <a:ea typeface="DejaVu Sans"/>
                <a:cs typeface="DejaVu Sans"/>
              </a:rPr>
              <a:t>adjusting</a:t>
            </a:r>
            <a:r>
              <a:rPr lang="it-IT" sz="2250" b="1" dirty="0">
                <a:solidFill>
                  <a:srgbClr val="182D45"/>
                </a:solidFill>
                <a:latin typeface="DejaVu Sans"/>
                <a:ea typeface="DejaVu Sans"/>
                <a:cs typeface="DejaVu Sans"/>
              </a:rPr>
              <a:t> the </a:t>
            </a:r>
            <a:r>
              <a:rPr lang="it-IT" sz="2250" b="1" dirty="0" err="1">
                <a:solidFill>
                  <a:srgbClr val="182D45"/>
                </a:solidFill>
                <a:latin typeface="DejaVu Sans"/>
                <a:ea typeface="DejaVu Sans"/>
                <a:cs typeface="DejaVu Sans"/>
              </a:rPr>
              <a:t>parameters</a:t>
            </a:r>
            <a:r>
              <a:rPr lang="it-IT" sz="2250" b="1" dirty="0">
                <a:solidFill>
                  <a:srgbClr val="182D45"/>
                </a:solidFill>
                <a:latin typeface="DejaVu Sans"/>
                <a:ea typeface="DejaVu Sans"/>
                <a:cs typeface="DejaVu Sans"/>
              </a:rPr>
              <a:t> of a </a:t>
            </a:r>
            <a:r>
              <a:rPr lang="it-IT" sz="2250" b="1" dirty="0" err="1">
                <a:solidFill>
                  <a:srgbClr val="182D45"/>
                </a:solidFill>
                <a:latin typeface="DejaVu Sans"/>
                <a:ea typeface="DejaVu Sans"/>
                <a:cs typeface="DejaVu Sans"/>
              </a:rPr>
              <a:t>Neural</a:t>
            </a:r>
            <a:r>
              <a:rPr lang="it-IT" sz="2250" b="1" dirty="0">
                <a:solidFill>
                  <a:srgbClr val="182D45"/>
                </a:solidFill>
                <a:latin typeface="DejaVu Sans"/>
                <a:ea typeface="DejaVu Sans"/>
                <a:cs typeface="DejaVu Sans"/>
              </a:rPr>
              <a:t> Network?</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a:t>
            </a:r>
            <a:r>
              <a:rPr lang="it-IT" sz="2025" b="1" dirty="0">
                <a:solidFill>
                  <a:srgbClr val="182D45"/>
                </a:solidFill>
                <a:latin typeface="DejaVu Sans"/>
                <a:ea typeface="DejaVu Sans"/>
                <a:cs typeface="DejaVu Sans"/>
              </a:rPr>
              <a:t>can </a:t>
            </a:r>
            <a:r>
              <a:rPr sz="2025" b="1" dirty="0">
                <a:solidFill>
                  <a:srgbClr val="182D45"/>
                </a:solidFill>
                <a:latin typeface="DejaVu Sans"/>
                <a:ea typeface="DejaVu Sans"/>
                <a:cs typeface="DejaVu Sans"/>
              </a:rPr>
              <a:t>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solidFill>
                      <a:srgbClr val="526276"/>
                    </a:solidFill>
                    <a:ea typeface="Cambria Math"/>
                    <a:cs typeface="Cambria Math"/>
                  </a:rPr>
                  <a:t>Depth </a:t>
                </a:r>
                <a14:m>
                  <m:oMath xmlns:m="http://schemas.openxmlformats.org/officeDocument/2006/math">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=2</m:t>
                    </m:r>
                  </m:oMath>
                </a14:m>
                <a:r>
                  <a:rPr lang="en-GB" sz="2400" b="0" dirty="0">
                    <a:solidFill>
                      <a:srgbClr val="526276"/>
                    </a:solidFill>
                    <a:latin typeface="DejaVu Sans"/>
                  </a:rPr>
                  <a:t>, with widths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=3</m:t>
                    </m:r>
                  </m:oMath>
                </a14:m>
                <a:r>
                  <a:rPr lang="en-GB" sz="2400" b="0" dirty="0">
                    <a:solidFill>
                      <a:srgbClr val="526276"/>
                    </a:solidFill>
                    <a:latin typeface="DejaVu Sans"/>
                  </a:rPr>
                  <a:t> and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a:t>
                </a:r>
                <a:endParaRPr lang="en-GB" sz="2400" dirty="0"/>
              </a:p>
            </p:txBody>
          </p:sp>
        </mc:Choice>
        <mc:Fallback xmlns="">
          <p:sp>
            <p:nvSpPr>
              <p:cNvPr id="2" name="lead">
                <a:extLst>
                  <a:ext uri="{FF2B5EF4-FFF2-40B4-BE49-F238E27FC236}">
                    <a16:creationId xmlns:a16="http://schemas.microsoft.com/office/drawing/2014/main" id="{F5186BFC-575D-4444-A6D5-4C74F4BBA5D5}"/>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mc:Choice xmlns:a14="http://schemas.microsoft.com/office/drawing/2010/main"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82296" y="1809750"/>
                <a:ext cx="11996928"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it-IT" sz="2700" b="0" i="0" smtClean="0">
                              <a:solidFill>
                                <a:srgbClr val="FF0000"/>
                              </a:solidFill>
                              <a:latin typeface="Cambria Math" panose="02040503050406030204" pitchFamily="18" charset="0"/>
                              <a:ea typeface="Cambria Math"/>
                              <a:cs typeface="Cambria Math"/>
                            </a:rPr>
                          </m:ctrlPr>
                        </m:dPr>
                        <m:e>
                          <m:r>
                            <a:rPr lang="it-IT" sz="2700" b="0" i="0" smtClean="0">
                              <a:solidFill>
                                <a:srgbClr val="FF000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b="0" i="0" smtClean="0">
                              <a:solidFill>
                                <a:srgbClr val="087F83"/>
                              </a:solidFill>
                              <a:latin typeface="Cambria Math" panose="02040503050406030204" pitchFamily="18" charset="0"/>
                              <a:ea typeface="Cambria Math"/>
                              <a:cs typeface="Cambria Math"/>
                            </a:rPr>
                            <m:t>+</m:t>
                          </m:r>
                          <m:r>
                            <a:rPr lang="it-IT" sz="2700" b="0" i="1" smtClean="0">
                              <a:solidFill>
                                <a:srgbClr val="9C7400"/>
                              </a:solidFill>
                              <a:latin typeface="Cambria Math" panose="02040503050406030204" pitchFamily="18" charset="0"/>
                              <a:ea typeface="Cambria Math"/>
                              <a:cs typeface="Cambria Math"/>
                            </a:rPr>
                            <m:t>0</m:t>
                          </m:r>
                        </m:e>
                      </m:d>
                      <m:r>
                        <a:rPr lang="en-GB" sz="2700">
                          <a:solidFill>
                            <a:srgbClr val="087F83"/>
                          </a:solidFill>
                          <a:latin typeface="Cambria Math"/>
                          <a:ea typeface="Cambria Math"/>
                          <a:cs typeface="Cambria Math"/>
                        </a:rPr>
                        <m:t>−</m:t>
                      </m:r>
                      <m:r>
                        <a:rPr lang="en-GB" sz="2700" smtClean="0">
                          <a:solidFill>
                            <a:srgbClr val="00B0F0"/>
                          </a:solidFill>
                          <a:latin typeface="Cambria Math"/>
                          <a:ea typeface="Cambria Math"/>
                          <a:cs typeface="Cambria Math"/>
                        </a:rPr>
                        <m:t>2</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ReLU</m:t>
                      </m:r>
                      <m:d>
                        <m:dPr>
                          <m:ctrlPr>
                            <a:rPr lang="it-IT" sz="2700" b="0" i="0" smtClean="0">
                              <a:solidFill>
                                <a:srgbClr val="FF0000"/>
                              </a:solidFill>
                              <a:latin typeface="Cambria Math" panose="02040503050406030204" pitchFamily="18" charset="0"/>
                              <a:ea typeface="Cambria Math"/>
                              <a:cs typeface="Cambria Math"/>
                            </a:rPr>
                          </m:ctrlPr>
                        </m:dPr>
                        <m:e>
                          <m:r>
                            <a:rPr lang="it-IT" sz="2700" b="0" i="0" smtClean="0">
                              <a:solidFill>
                                <a:srgbClr val="FF000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b="0" i="0" smtClean="0">
                              <a:solidFill>
                                <a:srgbClr val="087F83"/>
                              </a:solidFill>
                              <a:latin typeface="Cambria Math" panose="02040503050406030204" pitchFamily="18" charset="0"/>
                              <a:ea typeface="Cambria Math"/>
                              <a:cs typeface="Cambria Math"/>
                            </a:rPr>
                            <m:t>+</m:t>
                          </m:r>
                          <m:d>
                            <m:dPr>
                              <m:ctrlPr>
                                <a:rPr lang="en-GB" sz="2700" smtClean="0">
                                  <a:solidFill>
                                    <a:srgbClr val="9C7400"/>
                                  </a:solidFill>
                                  <a:latin typeface="Cambria Math"/>
                                  <a:ea typeface="Cambria Math"/>
                                  <a:cs typeface="Cambria Math"/>
                                </a:rPr>
                              </m:ctrlPr>
                            </m:dPr>
                            <m:e>
                              <m:r>
                                <a:rPr lang="en-GB" sz="2700" smtClean="0">
                                  <a:solidFill>
                                    <a:srgbClr val="9C7400"/>
                                  </a:solidFill>
                                  <a:latin typeface="Cambria Math"/>
                                  <a:ea typeface="Cambria Math"/>
                                  <a:cs typeface="Cambria Math"/>
                                </a:rPr>
                                <m:t>−1</m:t>
                              </m:r>
                            </m:e>
                          </m:d>
                        </m:e>
                      </m:d>
                      <m:r>
                        <a:rPr lang="en-GB" sz="270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ReLU</m:t>
                      </m:r>
                      <m:d>
                        <m:dPr>
                          <m:ctrlPr>
                            <a:rPr lang="it-IT" sz="2700" b="0" i="1" smtClean="0">
                              <a:solidFill>
                                <a:srgbClr val="FF0000"/>
                              </a:solidFill>
                              <a:latin typeface="Cambria Math" panose="02040503050406030204" pitchFamily="18" charset="0"/>
                              <a:ea typeface="Cambria Math"/>
                              <a:cs typeface="Cambria Math"/>
                            </a:rPr>
                          </m:ctrlPr>
                        </m:dPr>
                        <m:e>
                          <m:r>
                            <a:rPr lang="it-IT" sz="2700" b="0" i="1" smtClean="0">
                              <a:solidFill>
                                <a:srgbClr val="FF000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b="0" i="0" smtClean="0">
                              <a:solidFill>
                                <a:srgbClr val="087F83"/>
                              </a:solidFill>
                              <a:latin typeface="Cambria Math" panose="02040503050406030204" pitchFamily="18" charset="0"/>
                              <a:ea typeface="Cambria Math"/>
                              <a:cs typeface="Cambria Math"/>
                            </a:rPr>
                            <m:t>+</m:t>
                          </m:r>
                          <m:d>
                            <m:dPr>
                              <m:ctrlPr>
                                <a:rPr lang="en-GB" sz="2700" smtClean="0">
                                  <a:solidFill>
                                    <a:srgbClr val="9C7400"/>
                                  </a:solidFill>
                                  <a:latin typeface="Cambria Math"/>
                                  <a:ea typeface="Cambria Math"/>
                                  <a:cs typeface="Cambria Math"/>
                                </a:rPr>
                              </m:ctrlPr>
                            </m:dPr>
                            <m:e>
                              <m:r>
                                <a:rPr lang="en-GB" sz="2700" smtClean="0">
                                  <a:solidFill>
                                    <a:srgbClr val="9C7400"/>
                                  </a:solidFill>
                                  <a:latin typeface="Cambria Math"/>
                                  <a:ea typeface="Cambria Math"/>
                                  <a:cs typeface="Cambria Math"/>
                                </a:rPr>
                                <m:t>−2</m:t>
                              </m:r>
                            </m:e>
                          </m:d>
                        </m:e>
                      </m:d>
                      <m:r>
                        <a:rPr lang="it-IT" sz="2700" b="0" i="1" smtClean="0">
                          <a:solidFill>
                            <a:srgbClr val="087F83"/>
                          </a:solidFill>
                          <a:latin typeface="Cambria Math" panose="02040503050406030204" pitchFamily="18" charset="0"/>
                          <a:ea typeface="Cambria Math"/>
                          <a:cs typeface="Cambria Math"/>
                        </a:rPr>
                        <m:t>+</m:t>
                      </m:r>
                      <m:r>
                        <a:rPr lang="it-IT" sz="2700" b="0" i="1" smtClean="0">
                          <a:solidFill>
                            <a:srgbClr val="C45C28"/>
                          </a:solidFill>
                          <a:latin typeface="Cambria Math" panose="02040503050406030204" pitchFamily="18" charset="0"/>
                          <a:ea typeface="Cambria Math"/>
                          <a:cs typeface="Cambria Math"/>
                        </a:rPr>
                        <m:t>0</m:t>
                      </m:r>
                    </m:oMath>
                  </m:oMathPara>
                </a14:m>
                <a:endParaRPr lang="en-GB" sz="2700" dirty="0"/>
              </a:p>
            </p:txBody>
          </p:sp>
        </mc:Choice>
        <mc:Fallback>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82296" y="1809750"/>
                <a:ext cx="11996928"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𝐖</m:t>
                          </m:r>
                        </m:e>
                        <m:sub>
                          <m:r>
                            <a:rPr lang="en-GB" sz="2600">
                              <a:solidFill>
                                <a:srgbClr val="FF0000"/>
                              </a:solidFill>
                              <a:latin typeface="Cambria Math"/>
                              <a:ea typeface="Cambria Math"/>
                              <a:cs typeface="Cambria Math"/>
                            </a:rPr>
                            <m:t>1</m:t>
                          </m:r>
                        </m:sub>
                      </m:sSub>
                      <m:r>
                        <a:rPr lang="en-GB" sz="2600">
                          <a:solidFill>
                            <a:srgbClr val="FF0000"/>
                          </a:solidFill>
                          <a:latin typeface="Cambria Math"/>
                          <a:ea typeface="Cambria Math"/>
                          <a:cs typeface="Cambria Math"/>
                        </a:rPr>
                        <m:t>=</m:t>
                      </m:r>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1,1,1</m:t>
                          </m:r>
                        </m:e>
                      </m:d>
                    </m:oMath>
                  </m:oMathPara>
                </a14:m>
                <a:endParaRPr lang="en-GB" sz="2600" dirty="0"/>
              </a:p>
            </p:txBody>
          </p:sp>
        </mc:Choice>
        <mc:Fallback>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9C7400"/>
                              </a:solidFill>
                              <a:latin typeface="Cambria Math"/>
                              <a:ea typeface="Cambria Math"/>
                              <a:cs typeface="Cambria Math"/>
                            </a:rPr>
                          </m:ctrlPr>
                        </m:sSubPr>
                        <m:e>
                          <m:r>
                            <a:rPr lang="en-GB" sz="2600">
                              <a:solidFill>
                                <a:srgbClr val="9C7400"/>
                              </a:solidFill>
                              <a:latin typeface="Cambria Math"/>
                              <a:ea typeface="Cambria Math"/>
                              <a:cs typeface="Cambria Math"/>
                            </a:rPr>
                            <m:t>𝐛</m:t>
                          </m:r>
                        </m:e>
                        <m:sub>
                          <m:r>
                            <a:rPr lang="en-GB" sz="2600">
                              <a:solidFill>
                                <a:srgbClr val="9C7400"/>
                              </a:solidFill>
                              <a:latin typeface="Cambria Math"/>
                              <a:ea typeface="Cambria Math"/>
                              <a:cs typeface="Cambria Math"/>
                            </a:rPr>
                            <m:t>1</m:t>
                          </m:r>
                        </m:sub>
                      </m:sSub>
                      <m:r>
                        <a:rPr lang="en-GB" sz="2600">
                          <a:solidFill>
                            <a:srgbClr val="9C7400"/>
                          </a:solidFill>
                          <a:latin typeface="Cambria Math"/>
                          <a:ea typeface="Cambria Math"/>
                          <a:cs typeface="Cambria Math"/>
                        </a:rPr>
                        <m:t>=</m:t>
                      </m:r>
                      <m:d>
                        <m:dPr>
                          <m:ctrlPr>
                            <a:rPr lang="en-GB" sz="2600">
                              <a:solidFill>
                                <a:srgbClr val="9C7400"/>
                              </a:solidFill>
                              <a:latin typeface="Cambria Math"/>
                              <a:ea typeface="Cambria Math"/>
                              <a:cs typeface="Cambria Math"/>
                            </a:rPr>
                          </m:ctrlPr>
                        </m:dPr>
                        <m:e>
                          <m:r>
                            <a:rPr lang="en-GB" sz="2600">
                              <a:solidFill>
                                <a:srgbClr val="9C7400"/>
                              </a:solidFill>
                              <a:latin typeface="Cambria Math"/>
                              <a:ea typeface="Cambria Math"/>
                              <a:cs typeface="Cambria Math"/>
                            </a:rPr>
                            <m:t>0,−1,−2</m:t>
                          </m:r>
                        </m:e>
                      </m:d>
                    </m:oMath>
                  </m:oMathPara>
                </a14:m>
                <a:endParaRPr lang="en-GB" sz="2600" dirty="0"/>
              </a:p>
            </p:txBody>
          </p:sp>
        </mc:Choice>
        <mc:Fallback>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0B0F0"/>
                              </a:solidFill>
                              <a:latin typeface="Cambria Math"/>
                              <a:ea typeface="Cambria Math"/>
                              <a:cs typeface="Cambria Math"/>
                            </a:rPr>
                          </m:ctrlPr>
                        </m:sSubPr>
                        <m:e>
                          <m:r>
                            <a:rPr lang="en-GB" sz="2600">
                              <a:solidFill>
                                <a:srgbClr val="00B0F0"/>
                              </a:solidFill>
                              <a:latin typeface="Cambria Math"/>
                              <a:ea typeface="Cambria Math"/>
                              <a:cs typeface="Cambria Math"/>
                            </a:rPr>
                            <m:t>𝐖</m:t>
                          </m:r>
                        </m:e>
                        <m:sub>
                          <m:r>
                            <a:rPr lang="en-GB" sz="2600">
                              <a:solidFill>
                                <a:srgbClr val="00B0F0"/>
                              </a:solidFill>
                              <a:latin typeface="Cambria Math"/>
                              <a:ea typeface="Cambria Math"/>
                              <a:cs typeface="Cambria Math"/>
                            </a:rPr>
                            <m:t>2</m:t>
                          </m:r>
                        </m:sub>
                      </m:sSub>
                      <m:r>
                        <a:rPr lang="en-GB" sz="2600">
                          <a:solidFill>
                            <a:srgbClr val="00B0F0"/>
                          </a:solidFill>
                          <a:latin typeface="Cambria Math"/>
                          <a:ea typeface="Cambria Math"/>
                          <a:cs typeface="Cambria Math"/>
                        </a:rPr>
                        <m:t>=</m:t>
                      </m:r>
                      <m:sSup>
                        <m:sSupPr>
                          <m:ctrlPr>
                            <a:rPr lang="en-GB" sz="2600" i="1">
                              <a:solidFill>
                                <a:srgbClr val="00B0F0"/>
                              </a:solidFill>
                              <a:latin typeface="Cambria Math" panose="02040503050406030204" pitchFamily="18" charset="0"/>
                              <a:ea typeface="Cambria Math"/>
                              <a:cs typeface="Cambria Math"/>
                            </a:rPr>
                          </m:ctrlPr>
                        </m:sSupPr>
                        <m:e>
                          <m:d>
                            <m:dPr>
                              <m:ctrlPr>
                                <a:rPr lang="en-GB" sz="2600">
                                  <a:solidFill>
                                    <a:srgbClr val="00B0F0"/>
                                  </a:solidFill>
                                  <a:latin typeface="Cambria Math"/>
                                  <a:ea typeface="Cambria Math"/>
                                  <a:cs typeface="Cambria Math"/>
                                </a:rPr>
                              </m:ctrlPr>
                            </m:dPr>
                            <m:e>
                              <m:r>
                                <a:rPr lang="en-GB" sz="2600">
                                  <a:solidFill>
                                    <a:srgbClr val="00B0F0"/>
                                  </a:solidFill>
                                  <a:latin typeface="Cambria Math"/>
                                  <a:ea typeface="Cambria Math"/>
                                  <a:cs typeface="Cambria Math"/>
                                </a:rPr>
                                <m:t>1,−2,1</m:t>
                              </m:r>
                            </m:e>
                          </m:d>
                        </m:e>
                        <m:sup>
                          <m:r>
                            <a:rPr lang="en-GB" sz="2600">
                              <a:solidFill>
                                <a:srgbClr val="00B0F0"/>
                              </a:solidFill>
                              <a:latin typeface="Cambria Math"/>
                              <a:ea typeface="Cambria Math"/>
                              <a:cs typeface="Cambria Math"/>
                            </a:rPr>
                            <m:t>𝖳</m:t>
                          </m:r>
                        </m:sup>
                      </m:sSup>
                    </m:oMath>
                  </m:oMathPara>
                </a14:m>
                <a:endParaRPr lang="en-GB" sz="2600" dirty="0"/>
              </a:p>
            </p:txBody>
          </p:sp>
        </mc:Choice>
        <mc:Fallback>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C45C28"/>
                              </a:solidFill>
                              <a:latin typeface="Cambria Math"/>
                              <a:ea typeface="Cambria Math"/>
                              <a:cs typeface="Cambria Math"/>
                            </a:rPr>
                          </m:ctrlPr>
                        </m:sSubPr>
                        <m:e>
                          <m:r>
                            <a:rPr lang="en-GB" sz="2600">
                              <a:solidFill>
                                <a:srgbClr val="C45C28"/>
                              </a:solidFill>
                              <a:latin typeface="Cambria Math"/>
                              <a:ea typeface="Cambria Math"/>
                              <a:cs typeface="Cambria Math"/>
                            </a:rPr>
                            <m:t>𝐛</m:t>
                          </m:r>
                        </m:e>
                        <m:sub>
                          <m:r>
                            <a:rPr lang="en-GB" sz="2600">
                              <a:solidFill>
                                <a:srgbClr val="C45C28"/>
                              </a:solidFill>
                              <a:latin typeface="Cambria Math"/>
                              <a:ea typeface="Cambria Math"/>
                              <a:cs typeface="Cambria Math"/>
                            </a:rPr>
                            <m:t>2</m:t>
                          </m:r>
                        </m:sub>
                      </m:sSub>
                      <m:r>
                        <a:rPr lang="en-GB" sz="2600">
                          <a:solidFill>
                            <a:srgbClr val="C45C28"/>
                          </a:solidFill>
                          <a:latin typeface="Cambria Math"/>
                          <a:ea typeface="Cambria Math"/>
                          <a:cs typeface="Cambria Math"/>
                        </a:rPr>
                        <m:t>=</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m:t>
                          </m:r>
                        </m:e>
                      </m:d>
                    </m:oMath>
                  </m:oMathPara>
                </a14:m>
                <a:endParaRPr lang="en-GB" sz="2600" dirty="0"/>
              </a:p>
            </p:txBody>
          </p:sp>
        </mc:Choice>
        <mc:Fallback>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XOR problem</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score</a:t>
                </a:r>
                <a:r>
                  <a:rPr sz="2175" b="0" dirty="0">
                    <a:solidFill>
                      <a:srgbClr val="526276"/>
                    </a:solidFill>
                    <a:latin typeface="DejaVu Sans"/>
                    <a:ea typeface="DejaVu Sans"/>
                    <a:cs typeface="DejaVu Sans"/>
                  </a:rPr>
                  <a:t> must be </a:t>
                </a:r>
                <a:r>
                  <a:rPr lang="it-IT" sz="2175" b="0" dirty="0">
                    <a:solidFill>
                      <a:srgbClr val="C45C28"/>
                    </a:solidFill>
                    <a:latin typeface="DejaVu Sans"/>
                    <a:ea typeface="DejaVu Sans"/>
                    <a:cs typeface="DejaVu Sans"/>
                  </a:rPr>
                  <a:t>positive for class </a:t>
                </a:r>
                <a14:m>
                  <m:oMath xmlns:m="http://schemas.openxmlformats.org/officeDocument/2006/math">
                    <m:r>
                      <a:rPr lang="it-IT" sz="2175" b="0" i="1" dirty="0" smtClean="0">
                        <a:solidFill>
                          <a:srgbClr val="C45C28"/>
                        </a:solidFill>
                        <a:latin typeface="Cambria Math" panose="02040503050406030204" pitchFamily="18" charset="0"/>
                        <a:ea typeface="DejaVu Sans"/>
                        <a:cs typeface="DejaVu Sans"/>
                      </a:rPr>
                      <m:t>1</m:t>
                    </m:r>
                  </m:oMath>
                </a14:m>
                <a:r>
                  <a:rPr lang="it-IT" sz="2175" b="0" dirty="0">
                    <a:solidFill>
                      <a:srgbClr val="C45C28"/>
                    </a:solidFill>
                    <a:latin typeface="DejaVu Sans"/>
                    <a:ea typeface="DejaVu Sans"/>
                    <a:cs typeface="DejaVu Sans"/>
                  </a:rPr>
                  <a:t> </a:t>
                </a:r>
                <a:r>
                  <a:rPr sz="2175" b="0" dirty="0">
                    <a:solidFill>
                      <a:srgbClr val="526276"/>
                    </a:solidFill>
                    <a:latin typeface="DejaVu Sans"/>
                    <a:ea typeface="DejaVu Sans"/>
                    <a:cs typeface="DejaVu Sans"/>
                  </a:rPr>
                  <a:t>and </a:t>
                </a:r>
                <a:r>
                  <a:rPr lang="it-IT" sz="2175" b="0" dirty="0">
                    <a:solidFill>
                      <a:srgbClr val="326CB2"/>
                    </a:solidFill>
                    <a:latin typeface="DejaVu Sans"/>
                    <a:ea typeface="DejaVu Sans"/>
                    <a:cs typeface="DejaVu Sans"/>
                  </a:rPr>
                  <a:t>nonpositive for class </a:t>
                </a:r>
                <a14:m>
                  <m:oMath xmlns:m="http://schemas.openxmlformats.org/officeDocument/2006/math">
                    <m:r>
                      <a:rPr lang="it-IT" sz="2175" b="0" i="1" dirty="0" smtClean="0">
                        <a:solidFill>
                          <a:srgbClr val="326CB2"/>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dirty="0">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b\leq0,\qquad b+w_1+w_2\leq0">
                <a:extLst>
                  <a:ext uri="{FF2B5EF4-FFF2-40B4-BE49-F238E27FC236}">
                    <a16:creationId xmlns:a16="http://schemas.microsoft.com/office/drawing/2014/main" id="{7E5319D7-00E7-4360-A52F-EB2C926622E5}"/>
                  </a:ext>
                </a:extLst>
              </p:cNvPr>
              <p:cNvSpPr>
                <a:spLocks noGrp="1"/>
              </p:cNvSpPr>
              <p:nvPr/>
            </p:nvSpPr>
            <p:spPr>
              <a:xfrm>
                <a:off x="42862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≤0,  </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en-GB" sz="2800">
                          <a:solidFill>
                            <a:srgbClr val="326CB2"/>
                          </a:solidFill>
                          <a:latin typeface="Cambria Math"/>
                          <a:ea typeface="Cambria Math"/>
                          <a:cs typeface="Cambria Math"/>
                        </a:rPr>
                        <m:t>≤0</m:t>
                      </m:r>
                    </m:oMath>
                  </m:oMathPara>
                </a14:m>
                <a:endParaRPr lang="en-GB" sz="2800"/>
              </a:p>
            </p:txBody>
          </p:sp>
        </mc:Choice>
        <mc:Fallback xmlns="">
          <p:sp>
            <p:nvSpPr>
              <p:cNvPr id="8" name="equation_4" descr="b\leq0,\qquad b+w_1+w_2\leq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904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b+w_1&gt;0,\qquad b+w_2&gt;0">
                <a:extLst>
                  <a:ext uri="{FF2B5EF4-FFF2-40B4-BE49-F238E27FC236}">
                    <a16:creationId xmlns:a16="http://schemas.microsoft.com/office/drawing/2014/main" id="{B98D4047-F6CD-4082-B738-B633B0AE30EA}"/>
                  </a:ext>
                </a:extLst>
              </p:cNvPr>
              <p:cNvSpPr>
                <a:spLocks noGrp="1"/>
              </p:cNvSpPr>
              <p:nvPr/>
            </p:nvSpPr>
            <p:spPr>
              <a:xfrm>
                <a:off x="623887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en-GB" sz="2800">
                          <a:solidFill>
                            <a:srgbClr val="C45C28"/>
                          </a:solidFill>
                          <a:latin typeface="Cambria Math"/>
                          <a:ea typeface="Cambria Math"/>
                          <a:cs typeface="Cambria Math"/>
                        </a:rPr>
                        <m:t>&gt;0,  </m:t>
                      </m:r>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en-GB" sz="2800">
                          <a:solidFill>
                            <a:srgbClr val="C45C28"/>
                          </a:solidFill>
                          <a:latin typeface="Cambria Math"/>
                          <a:ea typeface="Cambria Math"/>
                          <a:cs typeface="Cambria Math"/>
                        </a:rPr>
                        <m:t>&gt;0</m:t>
                      </m:r>
                    </m:oMath>
                  </m:oMathPara>
                </a14:m>
                <a:endParaRPr lang="en-GB" sz="2800"/>
              </a:p>
            </p:txBody>
          </p:sp>
        </mc:Choice>
        <mc:Fallback xmlns="">
          <p:sp>
            <p:nvSpPr>
              <p:cNvPr id="9" name="equation_5" descr="b+w_1&gt;0,\qquad 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9048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2862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28625" y="478155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3887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38875" y="4781550"/>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Adding the inequalities gives a </a:t>
            </a:r>
            <a:r>
              <a:rPr sz="2100" b="1" dirty="0">
                <a:solidFill>
                  <a:srgbClr val="FF0000"/>
                </a:solidFill>
                <a:latin typeface="DejaVu Sans"/>
                <a:ea typeface="DejaVu Sans"/>
                <a:cs typeface="DejaVu Sans"/>
              </a:rPr>
              <a:t>contradiction</a:t>
            </a:r>
            <a:r>
              <a:rPr sz="21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dirty="0">
                    <a:solidFill>
                      <a:srgbClr val="526276"/>
                    </a:solidFill>
                    <a:latin typeface="DejaVu Sans"/>
                  </a:rPr>
                  <a:t>.</a:t>
                </a:r>
                <a:endParaRPr lang="en-GB" sz="2100" dirty="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mc:Choice xmlns:a14="http://schemas.microsoft.com/office/drawing/2010/main" Requires="a14">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e>
                      </m:d>
                    </m:oMath>
                  </m:oMathPara>
                </a14:m>
                <a:endParaRPr lang="en-GB" sz="2600" dirty="0"/>
              </a:p>
            </p:txBody>
          </p:sp>
        </mc:Choice>
        <mc:Fallback>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1}(\bm x)+\phi_{1,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1,2</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a:p>
            </p:txBody>
          </p:sp>
        </mc:Choice>
        <mc:Fallback xmlns="">
          <p:sp>
            <p:nvSpPr>
              <p:cNvPr id="17" name="equation_11" descr="\phi_{1,1}(\bm x)+\phi_{1,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1,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9"/>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dirty="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dirty="0">
                    <a:solidFill>
                      <a:srgbClr val="526276"/>
                    </a:solidFill>
                    <a:latin typeface="DejaVu Sans"/>
                  </a:rPr>
                  <a:t> be the </a:t>
                </a:r>
                <a:r>
                  <a:rPr lang="en-GB" sz="2225" b="0" dirty="0">
                    <a:solidFill>
                      <a:srgbClr val="FF0000"/>
                    </a:solidFill>
                    <a:latin typeface="DejaVu Sans"/>
                  </a:rPr>
                  <a:t>empirical loss</a:t>
                </a:r>
                <a:r>
                  <a:rPr lang="en-GB" sz="2225" b="0" dirty="0">
                    <a:solidFill>
                      <a:srgbClr val="526276"/>
                    </a:solidFill>
                    <a:latin typeface="DejaVu Sans"/>
                  </a:rPr>
                  <a:t> for the task.</a:t>
                </a:r>
                <a:endParaRPr lang="en-GB" sz="2225" dirty="0"/>
              </a:p>
              <a:p>
                <a:pPr algn="ctr">
                  <a:lnSpc>
                    <a:spcPts val="2700"/>
                  </a:lnSpc>
                </a:pPr>
                <a:r>
                  <a:rPr lang="en-GB" sz="2225" b="0" dirty="0">
                    <a:solidFill>
                      <a:srgbClr val="FF0000"/>
                    </a:solidFill>
                    <a:latin typeface="DejaVu Sans"/>
                  </a:rPr>
                  <a:t>Where differentiable</a:t>
                </a:r>
                <a:r>
                  <a:rPr lang="en-GB" sz="2225" b="0" dirty="0">
                    <a:solidFill>
                      <a:srgbClr val="526276"/>
                    </a:solidFill>
                    <a:latin typeface="DejaVu Sans"/>
                  </a:rPr>
                  <a:t>, we update the parameters by </a:t>
                </a:r>
                <a:r>
                  <a:rPr lang="en-GB" sz="2225" b="0" dirty="0">
                    <a:solidFill>
                      <a:srgbClr val="FF0000"/>
                    </a:solidFill>
                    <a:latin typeface="DejaVu Sans"/>
                  </a:rPr>
                  <a:t>gradient descent</a:t>
                </a:r>
                <a:r>
                  <a:rPr lang="en-GB" sz="2225" b="0" dirty="0">
                    <a:solidFill>
                      <a:srgbClr val="526276"/>
                    </a:solidFill>
                    <a:latin typeface="DejaVu Sans"/>
                  </a:rPr>
                  <a:t>.</a:t>
                </a:r>
                <a:endParaRPr lang="en-GB" sz="2225" dirty="0"/>
              </a:p>
            </p:txBody>
          </p:sp>
        </mc:Choice>
        <mc:Fallback>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a:t>
                </a:r>
                <a:endParaRPr lang="en-GB" sz="2025" dirty="0"/>
              </a:p>
              <a:p>
                <a:pPr algn="ctr">
                  <a:lnSpc>
                    <a:spcPts val="2500"/>
                  </a:lnSpc>
                </a:pPr>
                <a:r>
                  <a:rPr lang="en-GB" sz="2025" b="0" dirty="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All other coefficients stay fixed.</a:t>
                </a:r>
                <a:endParaRPr lang="en-GB" sz="2025" dirty="0"/>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The two biases vary together</a:t>
            </a:r>
            <a:endParaRPr lang="en-GB" sz="2025" dirty="0">
              <a:solidFill>
                <a:srgbClr val="FF0000"/>
              </a:solidFill>
            </a:endParaRPr>
          </a:p>
          <a:p>
            <a:pPr algn="ctr">
              <a:lnSpc>
                <a:spcPts val="2500"/>
              </a:lnSpc>
            </a:pPr>
            <a:r>
              <a:rPr lang="en-GB" sz="2025" b="0" dirty="0">
                <a:solidFill>
                  <a:srgbClr val="FF0000"/>
                </a:solidFill>
                <a:latin typeface="DejaVu Sans"/>
              </a:rPr>
              <a:t>and remain opposites.</a:t>
            </a:r>
            <a:endParaRPr lang="en-GB" sz="2025" dirty="0">
              <a:solidFill>
                <a:srgbClr val="FF0000"/>
              </a:solidFill>
            </a:endParaRPr>
          </a:p>
        </p:txBody>
      </p:sp>
      <mc:AlternateContent xmlns:mc="http://schemas.openxmlformats.org/markup-compatibility/2006">
        <mc:Choice xmlns:a14="http://schemas.microsoft.com/office/drawing/2010/main"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Changing </a:t>
                </a:r>
                <a14:m>
                  <m:oMath xmlns:m="http://schemas.openxmlformats.org/officeDocument/2006/math">
                    <m:r>
                      <a:rPr lang="en-GB" sz="2025">
                        <a:solidFill>
                          <a:srgbClr val="FF0000"/>
                        </a:solidFill>
                        <a:latin typeface="Cambria Math"/>
                        <a:ea typeface="Cambria Math"/>
                        <a:cs typeface="Cambria Math"/>
                      </a:rPr>
                      <m:t>𝜃</m:t>
                    </m:r>
                  </m:oMath>
                </a14:m>
                <a:r>
                  <a:rPr lang="en-GB" sz="2025" b="0" dirty="0">
                    <a:solidFill>
                      <a:srgbClr val="FF0000"/>
                    </a:solidFill>
                    <a:latin typeface="DejaVu Sans"/>
                  </a:rPr>
                  <a:t> shifts the</a:t>
                </a:r>
                <a:endParaRPr lang="en-GB" sz="2025" dirty="0">
                  <a:solidFill>
                    <a:srgbClr val="FF0000"/>
                  </a:solidFill>
                </a:endParaRPr>
              </a:p>
              <a:p>
                <a:pPr algn="ctr">
                  <a:lnSpc>
                    <a:spcPts val="2500"/>
                  </a:lnSpc>
                </a:pPr>
                <a:r>
                  <a:rPr lang="en-GB" sz="2025" b="0" dirty="0">
                    <a:solidFill>
                      <a:srgbClr val="FF0000"/>
                    </a:solidFill>
                    <a:latin typeface="DejaVu Sans"/>
                  </a:rPr>
                  <a:t>graph horizontally.</a:t>
                </a:r>
                <a:endParaRPr lang="en-GB" sz="2025" dirty="0">
                  <a:solidFill>
                    <a:srgbClr val="FF0000"/>
                  </a:solidFill>
                </a:endParaRPr>
              </a:p>
            </p:txBody>
          </p:sp>
        </mc:Choice>
        <mc:Fallback>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a:t>
                </a:r>
                <a:endParaRPr lang="en-GB" sz="1850" dirty="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180" b="0" dirty="0">
                <a:solidFill>
                  <a:srgbClr val="FF0000"/>
                </a:solidFill>
                <a:latin typeface="DejaVu Sans"/>
                <a:ea typeface="DejaVu Sans"/>
                <a:cs typeface="DejaVu Sans"/>
              </a:rPr>
              <a:t>Different starting points</a:t>
            </a:r>
            <a:r>
              <a:rPr sz="2180" b="0" dirty="0">
                <a:solidFill>
                  <a:srgbClr val="182D45"/>
                </a:solidFill>
                <a:latin typeface="DejaVu Sans"/>
                <a:ea typeface="DejaVu Sans"/>
                <a:cs typeface="DejaVu Sans"/>
              </a:rPr>
              <a:t> can lead to different final </a:t>
            </a:r>
            <a:r>
              <a:rPr lang="it-IT" sz="2180" b="0" dirty="0" err="1">
                <a:solidFill>
                  <a:srgbClr val="182D45"/>
                </a:solidFill>
                <a:latin typeface="DejaVu Sans"/>
                <a:ea typeface="DejaVu Sans"/>
                <a:cs typeface="DejaVu Sans"/>
              </a:rPr>
              <a:t>parameters</a:t>
            </a:r>
            <a:r>
              <a:rPr sz="2180"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lang="it-IT" sz="2180" b="0" dirty="0" err="1">
                <a:solidFill>
                  <a:srgbClr val="FF0000"/>
                </a:solidFill>
                <a:latin typeface="DejaVu Sans"/>
                <a:ea typeface="DejaVu Sans"/>
                <a:cs typeface="DejaVu Sans"/>
              </a:rPr>
              <a:t>Stochastic</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Gradient</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Descent</a:t>
            </a:r>
            <a:r>
              <a:rPr lang="it-IT" sz="2180" b="0" dirty="0">
                <a:solidFill>
                  <a:srgbClr val="FF0000"/>
                </a:solidFill>
                <a:latin typeface="DejaVu Sans"/>
                <a:ea typeface="DejaVu Sans"/>
                <a:cs typeface="DejaVu Sans"/>
              </a:rPr>
              <a:t>: </a:t>
            </a:r>
            <a:r>
              <a:rPr sz="2180" b="0" dirty="0">
                <a:solidFill>
                  <a:srgbClr val="182D45"/>
                </a:solidFill>
                <a:latin typeface="DejaVu Sans"/>
                <a:ea typeface="DejaVu Sans"/>
                <a:cs typeface="DejaVu Sans"/>
              </a:rPr>
              <a:t>use gradients from small random subsets.</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A wider network can sometimes be easier to </a:t>
            </a:r>
            <a:r>
              <a:rPr sz="2180" b="0" dirty="0" err="1">
                <a:solidFill>
                  <a:srgbClr val="182D45"/>
                </a:solidFill>
                <a:latin typeface="DejaVu Sans"/>
                <a:ea typeface="DejaVu Sans"/>
                <a:cs typeface="DejaVu Sans"/>
              </a:rPr>
              <a:t>optimise</a:t>
            </a:r>
            <a:r>
              <a:rPr sz="2180" b="0" dirty="0">
                <a:solidFill>
                  <a:srgbClr val="182D45"/>
                </a:solidFill>
                <a:latin typeface="DejaVu Sans"/>
                <a:ea typeface="DejaVu Sans"/>
                <a:cs typeface="DejaVu Sans"/>
              </a:rPr>
              <a: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Increasing width </a:t>
            </a:r>
            <a:r>
              <a:rPr sz="2180" b="0" dirty="0">
                <a:solidFill>
                  <a:srgbClr val="FF0000"/>
                </a:solidFill>
                <a:latin typeface="DejaVu Sans"/>
                <a:ea typeface="DejaVu Sans"/>
                <a:cs typeface="DejaVu Sans"/>
              </a:rPr>
              <a:t>does not guarantee</a:t>
            </a:r>
            <a:r>
              <a:rPr sz="2180" b="0" dirty="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a:t>
            </a:r>
            <a:r>
              <a:rPr sz="2150" b="0" dirty="0">
                <a:solidFill>
                  <a:srgbClr val="FF0000"/>
                </a:solidFill>
                <a:latin typeface="DejaVu Sans"/>
                <a:ea typeface="DejaVu Sans"/>
                <a:cs typeface="DejaVu Sans"/>
              </a:rPr>
              <a:t>differentiable</a:t>
            </a:r>
            <a:r>
              <a:rPr sz="2150" b="0" dirty="0">
                <a:solidFill>
                  <a:srgbClr val="087F83"/>
                </a:solidFill>
                <a:latin typeface="DejaVu Sans"/>
                <a:ea typeface="DejaVu Sans"/>
                <a:cs typeface="DejaVu Sans"/>
              </a:rPr>
              <a:t>,</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a:t>
            </a:r>
            <a:r>
              <a:rPr sz="2150" b="0" dirty="0">
                <a:solidFill>
                  <a:srgbClr val="FF0000"/>
                </a:solidFill>
                <a:latin typeface="DejaVu Sans"/>
                <a:ea typeface="DejaVu Sans"/>
                <a:cs typeface="DejaVu Sans"/>
              </a:rPr>
              <a:t>computational convention</a:t>
            </a:r>
            <a:r>
              <a:rPr sz="2150" b="0" dirty="0">
                <a:solidFill>
                  <a:srgbClr val="182D45"/>
                </a:solidFill>
                <a:latin typeface="DejaVu Sans"/>
                <a:ea typeface="DejaVu Sans"/>
                <a:cs typeface="DejaVu Sans"/>
              </a:rPr>
              <a:t>,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413</TotalTime>
  <Words>7940</Words>
  <Application>Microsoft Office PowerPoint</Application>
  <DocSecurity>0</DocSecurity>
  <PresentationFormat>Widescreen</PresentationFormat>
  <Paragraphs>871</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31</cp:revision>
  <dcterms:created xsi:type="dcterms:W3CDTF">2026-10-03T10:26:10Z</dcterms:created>
  <dcterms:modified xsi:type="dcterms:W3CDTF">2026-10-15T20:56:58Z</dcterms:modified>
</cp:coreProperties>
</file>