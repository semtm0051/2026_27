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charts/chart12.xml" ContentType="application/vnd.openxmlformats-officedocument.drawingml.chart+xml"/>
  <Override PartName="/ppt/notesSlides/notesSlide38.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39.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6"/>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90" r:id="rId40"/>
    <p:sldId id="291" r:id="rId41"/>
    <p:sldId id="292" r:id="rId42"/>
    <p:sldId id="293" r:id="rId43"/>
    <p:sldId id="294" r:id="rId44"/>
    <p:sldId id="295" r:id="rId4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7F83"/>
    <a:srgbClr val="C45C28"/>
    <a:srgbClr val="457AB9"/>
    <a:srgbClr val="326CB2"/>
    <a:srgbClr val="B6C2CD"/>
    <a:srgbClr val="526276"/>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viewProps" Target="viewProps.xml"/><Relationship Id="rId8" Type="http://schemas.openxmlformats.org/officeDocument/2006/relationships/slide" Target="slides/slide6.xml"/><Relationship Id="rId51" Type="http://schemas.microsoft.com/office/2016/11/relationships/changesInfo" Target="changesInfos/changesInfo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-1.1499999999999999</c:v>
                </c:pt>
                <c:pt idx="18">
                  <c:v>-1.1000000000000001</c:v>
                </c:pt>
                <c:pt idx="19">
                  <c:v>-1.05</c:v>
                </c:pt>
                <c:pt idx="20">
                  <c:v>-1</c:v>
                </c:pt>
                <c:pt idx="21">
                  <c:v>-0.95</c:v>
                </c:pt>
                <c:pt idx="22">
                  <c:v>-0.9</c:v>
                </c:pt>
                <c:pt idx="23">
                  <c:v>-0.85</c:v>
                </c:pt>
                <c:pt idx="24">
                  <c:v>-0.8</c:v>
                </c:pt>
                <c:pt idx="25">
                  <c:v>-0.75</c:v>
                </c:pt>
                <c:pt idx="26">
                  <c:v>-0.7</c:v>
                </c:pt>
                <c:pt idx="27">
                  <c:v>-0.65</c:v>
                </c:pt>
                <c:pt idx="28">
                  <c:v>-0.6</c:v>
                </c:pt>
                <c:pt idx="29">
                  <c:v>-0.55000000000000004</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yVal>
          <c:smooth val="0"/>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yVal>
          <c:smooth val="0"/>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-4.9999999999999802E-2</c:v>
                </c:pt>
                <c:pt idx="62">
                  <c:v>-0.1</c:v>
                </c:pt>
                <c:pt idx="63">
                  <c:v>-0.15</c:v>
                </c:pt>
                <c:pt idx="64">
                  <c:v>-0.2</c:v>
                </c:pt>
                <c:pt idx="65">
                  <c:v>-0.25</c:v>
                </c:pt>
                <c:pt idx="66">
                  <c:v>-0.3</c:v>
                </c:pt>
                <c:pt idx="67">
                  <c:v>-0.35</c:v>
                </c:pt>
                <c:pt idx="68">
                  <c:v>-0.4</c:v>
                </c:pt>
                <c:pt idx="69">
                  <c:v>-0.45</c:v>
                </c:pt>
                <c:pt idx="70">
                  <c:v>-0.5</c:v>
                </c:pt>
                <c:pt idx="71">
                  <c:v>-0.55000000000000004</c:v>
                </c:pt>
                <c:pt idx="72">
                  <c:v>-0.6</c:v>
                </c:pt>
                <c:pt idx="73">
                  <c:v>-0.65</c:v>
                </c:pt>
                <c:pt idx="74">
                  <c:v>-0.7</c:v>
                </c:pt>
                <c:pt idx="75">
                  <c:v>-0.75</c:v>
                </c:pt>
                <c:pt idx="76">
                  <c:v>-0.8</c:v>
                </c:pt>
                <c:pt idx="77">
                  <c:v>-0.85</c:v>
                </c:pt>
                <c:pt idx="78">
                  <c:v>-0.9</c:v>
                </c:pt>
                <c:pt idx="79">
                  <c:v>-0.95</c:v>
                </c:pt>
                <c:pt idx="80">
                  <c:v>-1</c:v>
                </c:pt>
              </c:numCache>
            </c:numRef>
          </c:yVal>
          <c:smooth val="0"/>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dirty="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9.9999999999999603E-2</c:v>
                </c:pt>
                <c:pt idx="9">
                  <c:v>4.9999999999999802E-2</c:v>
                </c:pt>
                <c:pt idx="10">
                  <c:v>0</c:v>
                </c:pt>
                <c:pt idx="11">
                  <c:v>-4.9999999999999802E-2</c:v>
                </c:pt>
                <c:pt idx="12">
                  <c:v>-0.1</c:v>
                </c:pt>
                <c:pt idx="13">
                  <c:v>-0.15</c:v>
                </c:pt>
                <c:pt idx="14">
                  <c:v>-0.2</c:v>
                </c:pt>
                <c:pt idx="15">
                  <c:v>-0.25</c:v>
                </c:pt>
                <c:pt idx="16">
                  <c:v>-0.3</c:v>
                </c:pt>
                <c:pt idx="17">
                  <c:v>-0.35</c:v>
                </c:pt>
                <c:pt idx="18">
                  <c:v>-0.4</c:v>
                </c:pt>
                <c:pt idx="19">
                  <c:v>-0.45</c:v>
                </c:pt>
                <c:pt idx="20">
                  <c:v>-0.5</c:v>
                </c:pt>
                <c:pt idx="21">
                  <c:v>-0.55000000000000004</c:v>
                </c:pt>
                <c:pt idx="22">
                  <c:v>-0.6</c:v>
                </c:pt>
                <c:pt idx="23">
                  <c:v>-0.65</c:v>
                </c:pt>
                <c:pt idx="24">
                  <c:v>-0.7</c:v>
                </c:pt>
                <c:pt idx="25">
                  <c:v>-0.75</c:v>
                </c:pt>
                <c:pt idx="26">
                  <c:v>-0.8</c:v>
                </c:pt>
                <c:pt idx="27">
                  <c:v>-0.85</c:v>
                </c:pt>
                <c:pt idx="28">
                  <c:v>-0.9</c:v>
                </c:pt>
                <c:pt idx="29">
                  <c:v>-0.95</c:v>
                </c:pt>
                <c:pt idx="30">
                  <c:v>-1</c:v>
                </c:pt>
                <c:pt idx="31">
                  <c:v>-1.05</c:v>
                </c:pt>
                <c:pt idx="32">
                  <c:v>-1.1000000000000001</c:v>
                </c:pt>
                <c:pt idx="33">
                  <c:v>-1.1499999999999999</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-2.0499999999999998</c:v>
                </c:pt>
                <c:pt idx="52">
                  <c:v>-2.1</c:v>
                </c:pt>
                <c:pt idx="53">
                  <c:v>-2.15</c:v>
                </c:pt>
                <c:pt idx="54">
                  <c:v>-2.2000000000000002</c:v>
                </c:pt>
                <c:pt idx="55">
                  <c:v>-2.25</c:v>
                </c:pt>
                <c:pt idx="56">
                  <c:v>-2.2999999999999998</c:v>
                </c:pt>
                <c:pt idx="57">
                  <c:v>-2.35</c:v>
                </c:pt>
                <c:pt idx="58">
                  <c:v>-2.4</c:v>
                </c:pt>
                <c:pt idx="59">
                  <c:v>-2.4500000000000002</c:v>
                </c:pt>
                <c:pt idx="60">
                  <c:v>-2.5</c:v>
                </c:pt>
                <c:pt idx="61">
                  <c:v>-2.5499999999999998</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-2.5499999999999998</c:v>
                </c:pt>
                <c:pt idx="80">
                  <c:v>-2.5</c:v>
                </c:pt>
                <c:pt idx="81">
                  <c:v>-2.4500000000000002</c:v>
                </c:pt>
                <c:pt idx="82">
                  <c:v>-2.4</c:v>
                </c:pt>
                <c:pt idx="83">
                  <c:v>-2.35</c:v>
                </c:pt>
                <c:pt idx="84">
                  <c:v>-2.2999999999999998</c:v>
                </c:pt>
                <c:pt idx="85">
                  <c:v>-2.25</c:v>
                </c:pt>
                <c:pt idx="86">
                  <c:v>-2.2000000000000002</c:v>
                </c:pt>
                <c:pt idx="87">
                  <c:v>-2.15</c:v>
                </c:pt>
                <c:pt idx="88">
                  <c:v>-2.1</c:v>
                </c:pt>
                <c:pt idx="89">
                  <c:v>-2.0499999999999998</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-1.1499999999999999</c:v>
                </c:pt>
                <c:pt idx="108">
                  <c:v>-1.1000000000000001</c:v>
                </c:pt>
                <c:pt idx="109">
                  <c:v>-1.05</c:v>
                </c:pt>
                <c:pt idx="110">
                  <c:v>-1</c:v>
                </c:pt>
                <c:pt idx="111">
                  <c:v>-0.95</c:v>
                </c:pt>
                <c:pt idx="112">
                  <c:v>-0.9</c:v>
                </c:pt>
                <c:pt idx="113">
                  <c:v>-0.85</c:v>
                </c:pt>
                <c:pt idx="114">
                  <c:v>-0.8</c:v>
                </c:pt>
                <c:pt idx="115">
                  <c:v>-0.75</c:v>
                </c:pt>
                <c:pt idx="116">
                  <c:v>-0.7</c:v>
                </c:pt>
                <c:pt idx="117">
                  <c:v>-0.65</c:v>
                </c:pt>
                <c:pt idx="118">
                  <c:v>-0.6</c:v>
                </c:pt>
                <c:pt idx="119">
                  <c:v>-0.55000000000000004</c:v>
                </c:pt>
                <c:pt idx="120">
                  <c:v>-0.5</c:v>
                </c:pt>
                <c:pt idx="121">
                  <c:v>-0.45</c:v>
                </c:pt>
                <c:pt idx="122">
                  <c:v>-0.4</c:v>
                </c:pt>
                <c:pt idx="123">
                  <c:v>-0.35</c:v>
                </c:pt>
                <c:pt idx="124">
                  <c:v>-0.3</c:v>
                </c:pt>
                <c:pt idx="125">
                  <c:v>-0.25</c:v>
                </c:pt>
                <c:pt idx="126">
                  <c:v>-0.2</c:v>
                </c:pt>
                <c:pt idx="127">
                  <c:v>-0.15</c:v>
                </c:pt>
                <c:pt idx="128">
                  <c:v>-0.1</c:v>
                </c:pt>
                <c:pt idx="129">
                  <c:v>-4.9999999999999802E-2</c:v>
                </c:pt>
                <c:pt idx="130">
                  <c:v>0</c:v>
                </c:pt>
                <c:pt idx="131">
                  <c:v>4.9999999999999802E-2</c:v>
                </c:pt>
                <c:pt idx="132">
                  <c:v>0.1</c:v>
                </c:pt>
                <c:pt idx="133">
                  <c:v>0.15</c:v>
                </c:pt>
                <c:pt idx="134">
                  <c:v>0.2</c:v>
                </c:pt>
                <c:pt idx="135">
                  <c:v>0.25</c:v>
                </c:pt>
                <c:pt idx="136">
                  <c:v>0.3</c:v>
                </c:pt>
                <c:pt idx="137">
                  <c:v>0.35</c:v>
                </c:pt>
                <c:pt idx="138">
                  <c:v>0.4</c:v>
                </c:pt>
                <c:pt idx="139">
                  <c:v>0.45</c:v>
                </c:pt>
                <c:pt idx="140">
                  <c:v>0.5</c:v>
                </c:pt>
                <c:pt idx="141">
                  <c:v>0.55000000000000004</c:v>
                </c:pt>
                <c:pt idx="142">
                  <c:v>0.6</c:v>
                </c:pt>
                <c:pt idx="143">
                  <c:v>0.65</c:v>
                </c:pt>
                <c:pt idx="144">
                  <c:v>0.7</c:v>
                </c:pt>
                <c:pt idx="145">
                  <c:v>0.75</c:v>
                </c:pt>
                <c:pt idx="146">
                  <c:v>0.8</c:v>
                </c:pt>
                <c:pt idx="147">
                  <c:v>0.85</c:v>
                </c:pt>
                <c:pt idx="148">
                  <c:v>0.9</c:v>
                </c:pt>
                <c:pt idx="149">
                  <c:v>0.95</c:v>
                </c:pt>
                <c:pt idx="150">
                  <c:v>1</c:v>
                </c:pt>
                <c:pt idx="151">
                  <c:v>1.05</c:v>
                </c:pt>
                <c:pt idx="152">
                  <c:v>1.1000000000000001</c:v>
                </c:pt>
                <c:pt idx="153">
                  <c:v>1.1499999999999999</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2.0499999999999998</c:v>
                </c:pt>
                <c:pt idx="172">
                  <c:v>2.1</c:v>
                </c:pt>
                <c:pt idx="173">
                  <c:v>2.15</c:v>
                </c:pt>
                <c:pt idx="174">
                  <c:v>2.2000000000000002</c:v>
                </c:pt>
                <c:pt idx="175">
                  <c:v>2.25</c:v>
                </c:pt>
                <c:pt idx="176">
                  <c:v>2.2999999999999998</c:v>
                </c:pt>
                <c:pt idx="177">
                  <c:v>2.35</c:v>
                </c:pt>
                <c:pt idx="178">
                  <c:v>2.4</c:v>
                </c:pt>
                <c:pt idx="179">
                  <c:v>2.4500000000000002</c:v>
                </c:pt>
                <c:pt idx="180">
                  <c:v>2.5</c:v>
                </c:pt>
              </c:numCache>
            </c:numRef>
          </c:yVal>
          <c:smooth val="0"/>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Data'!$D$2:$D$182</c:f>
              <c:numCache>
                <c:formatCode>General</c:formatCode>
                <c:ptCount val="181"/>
                <c:pt idx="0">
                  <c:v>2.5</c:v>
                </c:pt>
                <c:pt idx="1">
                  <c:v>2.4500000000000002</c:v>
                </c:pt>
                <c:pt idx="2">
                  <c:v>2.4</c:v>
                </c:pt>
                <c:pt idx="3">
                  <c:v>2.35</c:v>
                </c:pt>
                <c:pt idx="4">
                  <c:v>2.2999999999999998</c:v>
                </c:pt>
                <c:pt idx="5">
                  <c:v>2.25</c:v>
                </c:pt>
                <c:pt idx="6">
                  <c:v>2.2000000000000002</c:v>
                </c:pt>
                <c:pt idx="7">
                  <c:v>2.15</c:v>
                </c:pt>
                <c:pt idx="8">
                  <c:v>2.1</c:v>
                </c:pt>
                <c:pt idx="9">
                  <c:v>2.0499999999999998</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1.1499999999999999</c:v>
                </c:pt>
                <c:pt idx="28">
                  <c:v>1.1000000000000001</c:v>
                </c:pt>
                <c:pt idx="29">
                  <c:v>1.05</c:v>
                </c:pt>
                <c:pt idx="30">
                  <c:v>1</c:v>
                </c:pt>
                <c:pt idx="31">
                  <c:v>0.95</c:v>
                </c:pt>
                <c:pt idx="32">
                  <c:v>0.9</c:v>
                </c:pt>
                <c:pt idx="33">
                  <c:v>0.85</c:v>
                </c:pt>
                <c:pt idx="34">
                  <c:v>0.8</c:v>
                </c:pt>
                <c:pt idx="35">
                  <c:v>0.75</c:v>
                </c:pt>
                <c:pt idx="36">
                  <c:v>0.7</c:v>
                </c:pt>
                <c:pt idx="37">
                  <c:v>0.65</c:v>
                </c:pt>
                <c:pt idx="38">
                  <c:v>0.6</c:v>
                </c:pt>
                <c:pt idx="39">
                  <c:v>0.55000000000000004</c:v>
                </c:pt>
                <c:pt idx="40">
                  <c:v>0.5</c:v>
                </c:pt>
                <c:pt idx="41">
                  <c:v>0.45</c:v>
                </c:pt>
                <c:pt idx="42">
                  <c:v>0.4</c:v>
                </c:pt>
                <c:pt idx="43">
                  <c:v>0.35</c:v>
                </c:pt>
                <c:pt idx="44">
                  <c:v>0.3</c:v>
                </c:pt>
                <c:pt idx="45">
                  <c:v>0.25</c:v>
                </c:pt>
                <c:pt idx="46">
                  <c:v>0.2</c:v>
                </c:pt>
                <c:pt idx="47">
                  <c:v>0.15</c:v>
                </c:pt>
                <c:pt idx="48">
                  <c:v>0.1</c:v>
                </c:pt>
                <c:pt idx="49">
                  <c:v>4.9999999999999802E-2</c:v>
                </c:pt>
                <c:pt idx="50">
                  <c:v>0</c:v>
                </c:pt>
                <c:pt idx="51">
                  <c:v>-4.9999999999999802E-2</c:v>
                </c:pt>
                <c:pt idx="52">
                  <c:v>-0.1</c:v>
                </c:pt>
                <c:pt idx="53">
                  <c:v>-0.15</c:v>
                </c:pt>
                <c:pt idx="54">
                  <c:v>-0.2</c:v>
                </c:pt>
                <c:pt idx="55">
                  <c:v>-0.25</c:v>
                </c:pt>
                <c:pt idx="56">
                  <c:v>-0.3</c:v>
                </c:pt>
                <c:pt idx="57">
                  <c:v>-0.35</c:v>
                </c:pt>
                <c:pt idx="58">
                  <c:v>-0.4</c:v>
                </c:pt>
                <c:pt idx="59">
                  <c:v>-0.45</c:v>
                </c:pt>
                <c:pt idx="60">
                  <c:v>-0.5</c:v>
                </c:pt>
                <c:pt idx="61">
                  <c:v>-0.55000000000000004</c:v>
                </c:pt>
                <c:pt idx="62">
                  <c:v>-0.6</c:v>
                </c:pt>
                <c:pt idx="63">
                  <c:v>-0.65</c:v>
                </c:pt>
                <c:pt idx="64">
                  <c:v>-0.7</c:v>
                </c:pt>
                <c:pt idx="65">
                  <c:v>-0.75</c:v>
                </c:pt>
                <c:pt idx="66">
                  <c:v>-0.8</c:v>
                </c:pt>
                <c:pt idx="67">
                  <c:v>-0.85</c:v>
                </c:pt>
                <c:pt idx="68">
                  <c:v>-0.9</c:v>
                </c:pt>
                <c:pt idx="69">
                  <c:v>-0.95</c:v>
                </c:pt>
                <c:pt idx="70">
                  <c:v>-1</c:v>
                </c:pt>
                <c:pt idx="71">
                  <c:v>-1.05</c:v>
                </c:pt>
                <c:pt idx="72">
                  <c:v>-1.1000000000000001</c:v>
                </c:pt>
                <c:pt idx="73">
                  <c:v>-1.1499999999999999</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-2.0499999999999998</c:v>
                </c:pt>
                <c:pt idx="92">
                  <c:v>-2.1</c:v>
                </c:pt>
                <c:pt idx="93">
                  <c:v>-2.15</c:v>
                </c:pt>
                <c:pt idx="94">
                  <c:v>-2.2000000000000002</c:v>
                </c:pt>
                <c:pt idx="95">
                  <c:v>-2.25</c:v>
                </c:pt>
                <c:pt idx="96">
                  <c:v>-2.2999999999999998</c:v>
                </c:pt>
                <c:pt idx="97">
                  <c:v>-2.35</c:v>
                </c:pt>
                <c:pt idx="98">
                  <c:v>-2.4</c:v>
                </c:pt>
                <c:pt idx="99">
                  <c:v>-2.4500000000000002</c:v>
                </c:pt>
                <c:pt idx="100">
                  <c:v>-2.5</c:v>
                </c:pt>
                <c:pt idx="101">
                  <c:v>-2.5499999999999998</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-2.5499999999999998</c:v>
                </c:pt>
                <c:pt idx="120">
                  <c:v>-2.5</c:v>
                </c:pt>
                <c:pt idx="121">
                  <c:v>-2.4500000000000002</c:v>
                </c:pt>
                <c:pt idx="122">
                  <c:v>-2.4</c:v>
                </c:pt>
                <c:pt idx="123">
                  <c:v>-2.35</c:v>
                </c:pt>
                <c:pt idx="124">
                  <c:v>-2.2999999999999998</c:v>
                </c:pt>
                <c:pt idx="125">
                  <c:v>-2.25</c:v>
                </c:pt>
                <c:pt idx="126">
                  <c:v>-2.2000000000000002</c:v>
                </c:pt>
                <c:pt idx="127">
                  <c:v>-2.15</c:v>
                </c:pt>
                <c:pt idx="128">
                  <c:v>-2.1</c:v>
                </c:pt>
                <c:pt idx="129">
                  <c:v>-2.0499999999999998</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-1.1499999999999999</c:v>
                </c:pt>
                <c:pt idx="148">
                  <c:v>-1.1000000000000001</c:v>
                </c:pt>
                <c:pt idx="149">
                  <c:v>-1.05</c:v>
                </c:pt>
                <c:pt idx="150">
                  <c:v>-1</c:v>
                </c:pt>
                <c:pt idx="151">
                  <c:v>-0.95</c:v>
                </c:pt>
                <c:pt idx="152">
                  <c:v>-0.9</c:v>
                </c:pt>
                <c:pt idx="153">
                  <c:v>-0.85</c:v>
                </c:pt>
                <c:pt idx="154">
                  <c:v>-0.8</c:v>
                </c:pt>
                <c:pt idx="155">
                  <c:v>-0.75</c:v>
                </c:pt>
                <c:pt idx="156">
                  <c:v>-0.7</c:v>
                </c:pt>
                <c:pt idx="157">
                  <c:v>-0.65</c:v>
                </c:pt>
                <c:pt idx="158">
                  <c:v>-0.6</c:v>
                </c:pt>
                <c:pt idx="159">
                  <c:v>-0.55000000000000004</c:v>
                </c:pt>
                <c:pt idx="160">
                  <c:v>-0.5</c:v>
                </c:pt>
                <c:pt idx="161">
                  <c:v>-0.45</c:v>
                </c:pt>
                <c:pt idx="162">
                  <c:v>-0.4</c:v>
                </c:pt>
                <c:pt idx="163">
                  <c:v>-0.35</c:v>
                </c:pt>
                <c:pt idx="164">
                  <c:v>-0.3</c:v>
                </c:pt>
                <c:pt idx="165">
                  <c:v>-0.25</c:v>
                </c:pt>
                <c:pt idx="166">
                  <c:v>-0.2</c:v>
                </c:pt>
                <c:pt idx="167">
                  <c:v>-0.15</c:v>
                </c:pt>
                <c:pt idx="168">
                  <c:v>-0.1</c:v>
                </c:pt>
                <c:pt idx="169">
                  <c:v>-4.9999999999999802E-2</c:v>
                </c:pt>
                <c:pt idx="170">
                  <c:v>0</c:v>
                </c:pt>
                <c:pt idx="171">
                  <c:v>4.9999999999999802E-2</c:v>
                </c:pt>
                <c:pt idx="172">
                  <c:v>9.9999999999999603E-2</c:v>
                </c:pt>
                <c:pt idx="173">
                  <c:v>0.15</c:v>
                </c:pt>
                <c:pt idx="174">
                  <c:v>0.2</c:v>
                </c:pt>
                <c:pt idx="175">
                  <c:v>0.25</c:v>
                </c:pt>
                <c:pt idx="176">
                  <c:v>0.3</c:v>
                </c:pt>
                <c:pt idx="177">
                  <c:v>0.35</c:v>
                </c:pt>
                <c:pt idx="178">
                  <c:v>0.4</c:v>
                </c:pt>
                <c:pt idx="179">
                  <c:v>0.45</c:v>
                </c:pt>
                <c:pt idx="180">
                  <c:v>0.5</c:v>
                </c:pt>
              </c:numCache>
            </c:numRef>
          </c:yVal>
          <c:smooth val="0"/>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1.8431999999999999</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1.8431999999999999</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9.8431999999999995</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9.8431999999999995</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1.8431999999999999</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9.8431999999999995</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-2.2320000000000002</c:v>
                </c:pt>
                <c:pt idx="4">
                  <c:v>-2.3856000000000002</c:v>
                </c:pt>
                <c:pt idx="5">
                  <c:v>-2.50848</c:v>
                </c:pt>
              </c:numCache>
            </c:numRef>
          </c:xVal>
          <c:yVal>
            <c:numRef>
              <c:f>'Chart Data'!$H$2:$H$7</c:f>
              <c:numCache>
                <c:formatCode>General</c:formatCode>
                <c:ptCount val="6"/>
                <c:pt idx="0">
                  <c:v>4.5</c:v>
                </c:pt>
                <c:pt idx="1">
                  <c:v>2.88</c:v>
                </c:pt>
                <c:pt idx="2">
                  <c:v>1.8431999999999999</c:v>
                </c:pt>
                <c:pt idx="3">
                  <c:v>1.179648</c:v>
                </c:pt>
                <c:pt idx="4">
                  <c:v>0.75497471999999999</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-2.2320000000000002</c:v>
                </c:pt>
                <c:pt idx="3">
                  <c:v>-2.3856000000000002</c:v>
                </c:pt>
                <c:pt idx="4">
                  <c:v>-2.50848</c:v>
                </c:pt>
              </c:numCache>
            </c:numRef>
          </c:xVal>
          <c:yVal>
            <c:numRef>
              <c:f>'Chart Data'!$L$2:$L$6</c:f>
              <c:numCache>
                <c:formatCode>General</c:formatCode>
                <c:ptCount val="5"/>
                <c:pt idx="0">
                  <c:v>2.88</c:v>
                </c:pt>
                <c:pt idx="1">
                  <c:v>1.8431999999999999</c:v>
                </c:pt>
                <c:pt idx="2">
                  <c:v>1.179648</c:v>
                </c:pt>
                <c:pt idx="3">
                  <c:v>0.75497471999999999</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2.2320000000000002</c:v>
                </c:pt>
                <c:pt idx="4">
                  <c:v>2.3856000000000002</c:v>
                </c:pt>
                <c:pt idx="5">
                  <c:v>2.50848</c:v>
                </c:pt>
              </c:numCache>
            </c:numRef>
          </c:xVal>
          <c:yVal>
            <c:numRef>
              <c:f>'Chart Data'!$N$2:$N$7</c:f>
              <c:numCache>
                <c:formatCode>General</c:formatCode>
                <c:ptCount val="6"/>
                <c:pt idx="0">
                  <c:v>12.5</c:v>
                </c:pt>
                <c:pt idx="1">
                  <c:v>10.88</c:v>
                </c:pt>
                <c:pt idx="2">
                  <c:v>9.8431999999999995</c:v>
                </c:pt>
                <c:pt idx="3">
                  <c:v>9.1796480000000003</c:v>
                </c:pt>
                <c:pt idx="4">
                  <c:v>8.7549747199999999</c:v>
                </c:pt>
                <c:pt idx="5">
                  <c:v>8.4831838208000008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2.2320000000000002</c:v>
                </c:pt>
                <c:pt idx="3">
                  <c:v>2.3856000000000002</c:v>
                </c:pt>
                <c:pt idx="4">
                  <c:v>2.50848</c:v>
                </c:pt>
              </c:numCache>
            </c:numRef>
          </c:xVal>
          <c:yVal>
            <c:numRef>
              <c:f>'Chart Data'!$R$2:$R$6</c:f>
              <c:numCache>
                <c:formatCode>General</c:formatCode>
                <c:ptCount val="5"/>
                <c:pt idx="0">
                  <c:v>10.88</c:v>
                </c:pt>
                <c:pt idx="1">
                  <c:v>9.8431999999999995</c:v>
                </c:pt>
                <c:pt idx="2">
                  <c:v>9.1796480000000003</c:v>
                </c:pt>
                <c:pt idx="3">
                  <c:v>8.7549747199999999</c:v>
                </c:pt>
                <c:pt idx="4">
                  <c:v>8.4831838208000008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8.4831838208000008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Data'!$H$2:$H$12</c:f>
              <c:numCache>
                <c:formatCode>General</c:formatCode>
                <c:ptCount val="1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Data'!$L$2:$L$11</c:f>
              <c:numCache>
                <c:formatCode>General</c:formatCode>
                <c:ptCount val="1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Data'!$N$2:$N$12</c:f>
              <c:numCache>
                <c:formatCode>General</c:formatCode>
                <c:ptCount val="1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Data'!$R$2:$R$11</c:f>
              <c:numCache>
                <c:formatCode>General</c:formatCode>
                <c:ptCount val="1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-2.8389387263999999</c:v>
                </c:pt>
              </c:numCache>
            </c:numRef>
          </c:xVal>
          <c:yVal>
            <c:numRef>
              <c:f>'Chart Data'!$T$2:$T$2</c:f>
              <c:numCache>
                <c:formatCode>General</c:formatCode>
                <c:ptCount val="1"/>
                <c:pt idx="0">
                  <c:v>5.1881467707308199E-2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2.8389387263999999</c:v>
                </c:pt>
              </c:numCache>
            </c:numRef>
          </c:xVal>
          <c:yVal>
            <c:numRef>
              <c:f>'Chart Data'!$V$2:$V$2</c:f>
              <c:numCache>
                <c:formatCode>General</c:formatCode>
                <c:ptCount val="1"/>
                <c:pt idx="0">
                  <c:v>8.0518814677073092</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Data'!$H$2:$H$22</c:f>
              <c:numCache>
                <c:formatCode>General</c:formatCode>
                <c:ptCount val="2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pt idx="11">
                  <c:v>3.3204139332677199E-2</c:v>
                </c:pt>
                <c:pt idx="12">
                  <c:v>2.1250649172913399E-2</c:v>
                </c:pt>
                <c:pt idx="13">
                  <c:v>1.36004154706646E-2</c:v>
                </c:pt>
                <c:pt idx="14">
                  <c:v>8.7042659012253696E-3</c:v>
                </c:pt>
                <c:pt idx="15">
                  <c:v>5.5707301767842603E-3</c:v>
                </c:pt>
                <c:pt idx="16">
                  <c:v>3.5652673131419499E-3</c:v>
                </c:pt>
                <c:pt idx="17">
                  <c:v>2.2817710804108301E-3</c:v>
                </c:pt>
                <c:pt idx="18">
                  <c:v>1.4603334914629199E-3</c:v>
                </c:pt>
                <c:pt idx="19">
                  <c:v>9.3461343453626899E-4</c:v>
                </c:pt>
                <c:pt idx="20">
                  <c:v>5.9815259810320597E-4</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Data'!$L$2:$L$21</c:f>
              <c:numCache>
                <c:formatCode>General</c:formatCode>
                <c:ptCount val="2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pt idx="10">
                  <c:v>3.3204139332677199E-2</c:v>
                </c:pt>
                <c:pt idx="11">
                  <c:v>2.1250649172913399E-2</c:v>
                </c:pt>
                <c:pt idx="12">
                  <c:v>1.36004154706646E-2</c:v>
                </c:pt>
                <c:pt idx="13">
                  <c:v>8.7042659012253696E-3</c:v>
                </c:pt>
                <c:pt idx="14">
                  <c:v>5.5707301767842603E-3</c:v>
                </c:pt>
                <c:pt idx="15">
                  <c:v>3.5652673131419499E-3</c:v>
                </c:pt>
                <c:pt idx="16">
                  <c:v>2.2817710804108301E-3</c:v>
                </c:pt>
                <c:pt idx="17">
                  <c:v>1.4603334914629199E-3</c:v>
                </c:pt>
                <c:pt idx="18">
                  <c:v>9.3461343453626899E-4</c:v>
                </c:pt>
                <c:pt idx="19">
                  <c:v>5.9815259810320597E-4</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Data'!$N$2:$N$22</c:f>
              <c:numCache>
                <c:formatCode>General</c:formatCode>
                <c:ptCount val="2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pt idx="11">
                  <c:v>8.0332041393326801</c:v>
                </c:pt>
                <c:pt idx="12">
                  <c:v>8.0212506491729094</c:v>
                </c:pt>
                <c:pt idx="13">
                  <c:v>8.0136004154706608</c:v>
                </c:pt>
                <c:pt idx="14">
                  <c:v>8.0087042659012297</c:v>
                </c:pt>
                <c:pt idx="15">
                  <c:v>8.00557073017678</c:v>
                </c:pt>
                <c:pt idx="16">
                  <c:v>8.0035652673131406</c:v>
                </c:pt>
                <c:pt idx="17">
                  <c:v>8.0022817710804102</c:v>
                </c:pt>
                <c:pt idx="18">
                  <c:v>8.00146033349146</c:v>
                </c:pt>
                <c:pt idx="19">
                  <c:v>8.0009346134345396</c:v>
                </c:pt>
                <c:pt idx="20">
                  <c:v>8.0005981525980996</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Data'!$R$2:$R$21</c:f>
              <c:numCache>
                <c:formatCode>General</c:formatCode>
                <c:ptCount val="2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pt idx="10">
                  <c:v>8.0332041393326801</c:v>
                </c:pt>
                <c:pt idx="11">
                  <c:v>8.0212506491729094</c:v>
                </c:pt>
                <c:pt idx="12">
                  <c:v>8.0136004154706608</c:v>
                </c:pt>
                <c:pt idx="13">
                  <c:v>8.0087042659012297</c:v>
                </c:pt>
                <c:pt idx="14">
                  <c:v>8.00557073017678</c:v>
                </c:pt>
                <c:pt idx="15">
                  <c:v>8.0035652673131406</c:v>
                </c:pt>
                <c:pt idx="16">
                  <c:v>8.0022817710804102</c:v>
                </c:pt>
                <c:pt idx="17">
                  <c:v>8.00146033349146</c:v>
                </c:pt>
                <c:pt idx="18">
                  <c:v>8.0009346134345396</c:v>
                </c:pt>
                <c:pt idx="19">
                  <c:v>8.0005981525980996</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-2.9827061774309001</c:v>
                </c:pt>
              </c:numCache>
            </c:numRef>
          </c:xVal>
          <c:yVal>
            <c:numRef>
              <c:f>'Chart Data'!$T$2:$T$2</c:f>
              <c:numCache>
                <c:formatCode>General</c:formatCode>
                <c:ptCount val="1"/>
                <c:pt idx="0">
                  <c:v>5.9815259810320597E-4</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2.9827061774309001</c:v>
                </c:pt>
              </c:numCache>
            </c:numRef>
          </c:xVal>
          <c:yVal>
            <c:numRef>
              <c:f>'Chart Data'!$V$2:$V$2</c:f>
              <c:numCache>
                <c:formatCode>General</c:formatCode>
                <c:ptCount val="1"/>
                <c:pt idx="0">
                  <c:v>8.0005981525980996</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1.0529667184726601</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3.0529667184726601</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1.0529667184726601</c:v>
                </c:pt>
                <c:pt idx="1">
                  <c:v>0.91535908154921297</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0.91535908154921297</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3.0529667184726601</c:v>
                </c:pt>
                <c:pt idx="1">
                  <c:v>2.9153590815492101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2.9153590815492101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0.91535908154921297</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2.9153590815492101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-2.0028280816253501</c:v>
                </c:pt>
              </c:numCache>
            </c:numRef>
          </c:xVal>
          <c:yVal>
            <c:numRef>
              <c:f>'Chart Data'!$H$2:$H$4</c:f>
              <c:numCache>
                <c:formatCode>General</c:formatCode>
                <c:ptCount val="3"/>
                <c:pt idx="0">
                  <c:v>1.0529667184726601</c:v>
                </c:pt>
                <c:pt idx="1">
                  <c:v>0.91535908154921297</c:v>
                </c:pt>
                <c:pt idx="2">
                  <c:v>0.81899968631237396</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-2.0028280816253501</c:v>
                </c:pt>
              </c:numCache>
            </c:numRef>
          </c:xVal>
          <c:yVal>
            <c:numRef>
              <c:f>'Chart Data'!$L$2:$L$3</c:f>
              <c:numCache>
                <c:formatCode>General</c:formatCode>
                <c:ptCount val="2"/>
                <c:pt idx="0">
                  <c:v>0.91535908154921297</c:v>
                </c:pt>
                <c:pt idx="1">
                  <c:v>0.81899968631237396</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2.0028280816253501</c:v>
                </c:pt>
              </c:numCache>
            </c:numRef>
          </c:xVal>
          <c:yVal>
            <c:numRef>
              <c:f>'Chart Data'!$N$2:$N$4</c:f>
              <c:numCache>
                <c:formatCode>General</c:formatCode>
                <c:ptCount val="3"/>
                <c:pt idx="0">
                  <c:v>3.0529667184726601</c:v>
                </c:pt>
                <c:pt idx="1">
                  <c:v>2.9153590815492101</c:v>
                </c:pt>
                <c:pt idx="2">
                  <c:v>2.8189996863123699</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2.0028280816253501</c:v>
                </c:pt>
              </c:numCache>
            </c:numRef>
          </c:xVal>
          <c:yVal>
            <c:numRef>
              <c:f>'Chart Data'!$R$2:$R$3</c:f>
              <c:numCache>
                <c:formatCode>General</c:formatCode>
                <c:ptCount val="2"/>
                <c:pt idx="0">
                  <c:v>2.9153590815492101</c:v>
                </c:pt>
                <c:pt idx="1">
                  <c:v>2.8189996863123699</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-2.0028280816253501</c:v>
                </c:pt>
              </c:numCache>
            </c:numRef>
          </c:xVal>
          <c:yVal>
            <c:numRef>
              <c:f>'Chart Data'!$T$2:$T$2</c:f>
              <c:numCache>
                <c:formatCode>General</c:formatCode>
                <c:ptCount val="1"/>
                <c:pt idx="0">
                  <c:v>0.81899968631237396</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2.0028280816253501</c:v>
                </c:pt>
              </c:numCache>
            </c:numRef>
          </c:xVal>
          <c:yVal>
            <c:numRef>
              <c:f>'Chart Data'!$V$2:$V$2</c:f>
              <c:numCache>
                <c:formatCode>General</c:formatCode>
                <c:ptCount val="1"/>
                <c:pt idx="0">
                  <c:v>2.8189996863123699</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Data'!$H$2:$H$7</c:f>
              <c:numCache>
                <c:formatCode>General</c:formatCode>
                <c:ptCount val="6"/>
                <c:pt idx="0">
                  <c:v>1.0529667184726601</c:v>
                </c:pt>
                <c:pt idx="1">
                  <c:v>0.91535908154921297</c:v>
                </c:pt>
                <c:pt idx="2">
                  <c:v>0.81899968631237396</c:v>
                </c:pt>
                <c:pt idx="3">
                  <c:v>0.75336939836065198</c:v>
                </c:pt>
                <c:pt idx="4">
                  <c:v>0.70950513723730702</c:v>
                </c:pt>
                <c:pt idx="5">
                  <c:v>0.68055026965488097</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-2.0028280816253501</c:v>
                </c:pt>
                <c:pt idx="2">
                  <c:v>-2.1927244854727701</c:v>
                </c:pt>
                <c:pt idx="3">
                  <c:v>-2.34822435115727</c:v>
                </c:pt>
                <c:pt idx="4">
                  <c:v>-2.47469633489384</c:v>
                </c:pt>
              </c:numCache>
            </c:numRef>
          </c:xVal>
          <c:yVal>
            <c:numRef>
              <c:f>'Chart Data'!$L$2:$L$6</c:f>
              <c:numCache>
                <c:formatCode>General</c:formatCode>
                <c:ptCount val="5"/>
                <c:pt idx="0">
                  <c:v>0.91535908154921297</c:v>
                </c:pt>
                <c:pt idx="1">
                  <c:v>0.81899968631237396</c:v>
                </c:pt>
                <c:pt idx="2">
                  <c:v>0.75336939836065198</c:v>
                </c:pt>
                <c:pt idx="3">
                  <c:v>0.70950513723730702</c:v>
                </c:pt>
                <c:pt idx="4">
                  <c:v>0.68055026965488097</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Data'!$N$2:$N$7</c:f>
              <c:numCache>
                <c:formatCode>General</c:formatCode>
                <c:ptCount val="6"/>
                <c:pt idx="0">
                  <c:v>3.0529667184726601</c:v>
                </c:pt>
                <c:pt idx="1">
                  <c:v>2.9153590815492101</c:v>
                </c:pt>
                <c:pt idx="2">
                  <c:v>2.8189996863123699</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2.0028280816253501</c:v>
                </c:pt>
                <c:pt idx="2">
                  <c:v>2.1927244854727701</c:v>
                </c:pt>
                <c:pt idx="3">
                  <c:v>2.34822435115727</c:v>
                </c:pt>
                <c:pt idx="4">
                  <c:v>2.47469633489384</c:v>
                </c:pt>
              </c:numCache>
            </c:numRef>
          </c:xVal>
          <c:yVal>
            <c:numRef>
              <c:f>'Chart Data'!$R$2:$R$6</c:f>
              <c:numCache>
                <c:formatCode>General</c:formatCode>
                <c:ptCount val="5"/>
                <c:pt idx="0">
                  <c:v>2.9153590815492101</c:v>
                </c:pt>
                <c:pt idx="1">
                  <c:v>2.8189996863123699</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0.68055026965488097</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Data'!$H$2:$H$12</c:f>
              <c:numCache>
                <c:formatCode>General</c:formatCode>
                <c:ptCount val="1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Data'!$L$2:$L$11</c:f>
              <c:numCache>
                <c:formatCode>General</c:formatCode>
                <c:ptCount val="1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Data'!$N$2:$N$12</c:f>
              <c:numCache>
                <c:formatCode>General</c:formatCode>
                <c:ptCount val="1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Data'!$R$2:$R$11</c:f>
              <c:numCache>
                <c:formatCode>General</c:formatCode>
                <c:ptCount val="1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2.6326602851760499</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Data'!$H$2:$H$22</c:f>
              <c:numCache>
                <c:formatCode>General</c:formatCode>
                <c:ptCount val="2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pt idx="11">
                  <c:v>0.63048681114118998</c:v>
                </c:pt>
                <c:pt idx="12">
                  <c:v>0.62908253657515101</c:v>
                </c:pt>
                <c:pt idx="13">
                  <c:v>0.62817557055110596</c:v>
                </c:pt>
                <c:pt idx="14">
                  <c:v>0.62758993458416101</c:v>
                </c:pt>
                <c:pt idx="15">
                  <c:v>0.627211841705685</c:v>
                </c:pt>
                <c:pt idx="16">
                  <c:v>0.62696776479785599</c:v>
                </c:pt>
                <c:pt idx="17">
                  <c:v>0.62681021152666105</c:v>
                </c:pt>
                <c:pt idx="18">
                  <c:v>0.62670851398994898</c:v>
                </c:pt>
                <c:pt idx="19">
                  <c:v>0.62664287195968604</c:v>
                </c:pt>
                <c:pt idx="20">
                  <c:v>0.62660050315668403</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Data'!$L$2:$L$21</c:f>
              <c:numCache>
                <c:formatCode>General</c:formatCode>
                <c:ptCount val="2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pt idx="10">
                  <c:v>0.63048681114118998</c:v>
                </c:pt>
                <c:pt idx="11">
                  <c:v>0.62908253657515101</c:v>
                </c:pt>
                <c:pt idx="12">
                  <c:v>0.62817557055110596</c:v>
                </c:pt>
                <c:pt idx="13">
                  <c:v>0.62758993458416101</c:v>
                </c:pt>
                <c:pt idx="14">
                  <c:v>0.627211841705685</c:v>
                </c:pt>
                <c:pt idx="15">
                  <c:v>0.62696776479785599</c:v>
                </c:pt>
                <c:pt idx="16">
                  <c:v>0.62681021152666105</c:v>
                </c:pt>
                <c:pt idx="17">
                  <c:v>0.62670851398994898</c:v>
                </c:pt>
                <c:pt idx="18">
                  <c:v>0.62664287195968604</c:v>
                </c:pt>
                <c:pt idx="19">
                  <c:v>0.62660050315668403</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Data'!$N$2:$N$22</c:f>
              <c:numCache>
                <c:formatCode>General</c:formatCode>
                <c:ptCount val="2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pt idx="11">
                  <c:v>2.6304868111411901</c:v>
                </c:pt>
                <c:pt idx="12">
                  <c:v>2.62908253657515</c:v>
                </c:pt>
                <c:pt idx="13">
                  <c:v>2.6281755705511101</c:v>
                </c:pt>
                <c:pt idx="14">
                  <c:v>2.6275899345841598</c:v>
                </c:pt>
                <c:pt idx="15">
                  <c:v>2.6272118417056798</c:v>
                </c:pt>
                <c:pt idx="16">
                  <c:v>2.6269677647978602</c:v>
                </c:pt>
                <c:pt idx="17">
                  <c:v>2.6268102115266601</c:v>
                </c:pt>
                <c:pt idx="18">
                  <c:v>2.62670851398995</c:v>
                </c:pt>
                <c:pt idx="19">
                  <c:v>2.6266428719596902</c:v>
                </c:pt>
                <c:pt idx="20">
                  <c:v>2.6266005031566801</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Data'!$R$2:$R$21</c:f>
              <c:numCache>
                <c:formatCode>General</c:formatCode>
                <c:ptCount val="2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pt idx="10">
                  <c:v>2.6304868111411901</c:v>
                </c:pt>
                <c:pt idx="11">
                  <c:v>2.62908253657515</c:v>
                </c:pt>
                <c:pt idx="12">
                  <c:v>2.6281755705511101</c:v>
                </c:pt>
                <c:pt idx="13">
                  <c:v>2.6275899345841598</c:v>
                </c:pt>
                <c:pt idx="14">
                  <c:v>2.6272118417056798</c:v>
                </c:pt>
                <c:pt idx="15">
                  <c:v>2.6269677647978602</c:v>
                </c:pt>
                <c:pt idx="16">
                  <c:v>2.6268102115266601</c:v>
                </c:pt>
                <c:pt idx="17">
                  <c:v>2.62670851398995</c:v>
                </c:pt>
                <c:pt idx="18">
                  <c:v>2.6266428719596902</c:v>
                </c:pt>
                <c:pt idx="19">
                  <c:v>2.6266005031566801</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-2.9801937292217602</c:v>
                </c:pt>
              </c:numCache>
            </c:numRef>
          </c:xVal>
          <c:yVal>
            <c:numRef>
              <c:f>'Chart Data'!$T$2:$T$2</c:f>
              <c:numCache>
                <c:formatCode>General</c:formatCode>
                <c:ptCount val="1"/>
                <c:pt idx="0">
                  <c:v>0.62660050315668403</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2.9801937292217602</c:v>
                </c:pt>
              </c:numCache>
            </c:numRef>
          </c:xVal>
          <c:yVal>
            <c:numRef>
              <c:f>'Chart Data'!$V$2:$V$2</c:f>
              <c:numCache>
                <c:formatCode>General</c:formatCode>
                <c:ptCount val="1"/>
                <c:pt idx="0">
                  <c:v>2.6266005031566801</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0.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272.png"/><Relationship Id="rId18" Type="http://schemas.openxmlformats.org/officeDocument/2006/relationships/image" Target="../media/image710.png"/><Relationship Id="rId26" Type="http://schemas.openxmlformats.org/officeDocument/2006/relationships/image" Target="../media/image28.png"/><Relationship Id="rId3" Type="http://schemas.openxmlformats.org/officeDocument/2006/relationships/image" Target="../media/image25.png"/><Relationship Id="rId21" Type="http://schemas.openxmlformats.org/officeDocument/2006/relationships/image" Target="../media/image740.png"/><Relationship Id="rId7" Type="http://schemas.openxmlformats.org/officeDocument/2006/relationships/image" Target="../media/image600.png"/><Relationship Id="rId12" Type="http://schemas.openxmlformats.org/officeDocument/2006/relationships/image" Target="../media/image261.png"/><Relationship Id="rId17" Type="http://schemas.openxmlformats.org/officeDocument/2006/relationships/image" Target="../media/image700.png"/><Relationship Id="rId25" Type="http://schemas.openxmlformats.org/officeDocument/2006/relationships/image" Target="../media/image780.png"/><Relationship Id="rId2" Type="http://schemas.openxmlformats.org/officeDocument/2006/relationships/notesSlide" Target="../notesSlides/notesSlide10.xml"/><Relationship Id="rId16" Type="http://schemas.openxmlformats.org/officeDocument/2006/relationships/image" Target="../media/image690.png"/><Relationship Id="rId20" Type="http://schemas.openxmlformats.org/officeDocument/2006/relationships/image" Target="../media/image730.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770.png"/><Relationship Id="rId5" Type="http://schemas.openxmlformats.org/officeDocument/2006/relationships/image" Target="../media/image27.png"/><Relationship Id="rId15" Type="http://schemas.openxmlformats.org/officeDocument/2006/relationships/image" Target="../media/image681.png"/><Relationship Id="rId23" Type="http://schemas.openxmlformats.org/officeDocument/2006/relationships/image" Target="../media/image760.png"/><Relationship Id="rId10" Type="http://schemas.openxmlformats.org/officeDocument/2006/relationships/image" Target="../media/image630.png"/><Relationship Id="rId19" Type="http://schemas.openxmlformats.org/officeDocument/2006/relationships/image" Target="../media/image720.png"/><Relationship Id="rId4" Type="http://schemas.openxmlformats.org/officeDocument/2006/relationships/image" Target="../media/image26.png"/><Relationship Id="rId9" Type="http://schemas.openxmlformats.org/officeDocument/2006/relationships/image" Target="../media/image620.png"/><Relationship Id="rId14" Type="http://schemas.openxmlformats.org/officeDocument/2006/relationships/image" Target="../media/image671.png"/><Relationship Id="rId22" Type="http://schemas.openxmlformats.org/officeDocument/2006/relationships/image" Target="../media/image750.png"/><Relationship Id="rId27"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600.png"/><Relationship Id="rId13" Type="http://schemas.openxmlformats.org/officeDocument/2006/relationships/image" Target="../media/image261.png"/><Relationship Id="rId18" Type="http://schemas.openxmlformats.org/officeDocument/2006/relationships/image" Target="../media/image700.png"/><Relationship Id="rId26" Type="http://schemas.openxmlformats.org/officeDocument/2006/relationships/image" Target="../media/image90.png"/><Relationship Id="rId3" Type="http://schemas.openxmlformats.org/officeDocument/2006/relationships/image" Target="../media/image48.png"/><Relationship Id="rId21" Type="http://schemas.openxmlformats.org/officeDocument/2006/relationships/image" Target="../media/image86.png"/><Relationship Id="rId7" Type="http://schemas.openxmlformats.org/officeDocument/2006/relationships/image" Target="../media/image590.png"/><Relationship Id="rId12" Type="http://schemas.openxmlformats.org/officeDocument/2006/relationships/image" Target="../media/image640.png"/><Relationship Id="rId17" Type="http://schemas.openxmlformats.org/officeDocument/2006/relationships/image" Target="../media/image830.png"/><Relationship Id="rId25" Type="http://schemas.openxmlformats.org/officeDocument/2006/relationships/image" Target="../media/image89.png"/><Relationship Id="rId2" Type="http://schemas.openxmlformats.org/officeDocument/2006/relationships/notesSlide" Target="../notesSlides/notesSlide11.xml"/><Relationship Id="rId16" Type="http://schemas.openxmlformats.org/officeDocument/2006/relationships/image" Target="../media/image820.png"/><Relationship Id="rId20" Type="http://schemas.openxmlformats.org/officeDocument/2006/relationships/image" Target="../media/image85.png"/><Relationship Id="rId1" Type="http://schemas.openxmlformats.org/officeDocument/2006/relationships/slideLayout" Target="../slideLayouts/slideLayout1.xml"/><Relationship Id="rId6" Type="http://schemas.openxmlformats.org/officeDocument/2006/relationships/image" Target="../media/image29.png"/><Relationship Id="rId11" Type="http://schemas.openxmlformats.org/officeDocument/2006/relationships/image" Target="../media/image630.png"/><Relationship Id="rId24" Type="http://schemas.openxmlformats.org/officeDocument/2006/relationships/image" Target="../media/image88.png"/><Relationship Id="rId5" Type="http://schemas.openxmlformats.org/officeDocument/2006/relationships/image" Target="../media/image31.png"/><Relationship Id="rId15" Type="http://schemas.openxmlformats.org/officeDocument/2006/relationships/image" Target="../media/image810.png"/><Relationship Id="rId23" Type="http://schemas.openxmlformats.org/officeDocument/2006/relationships/image" Target="../media/image750.png"/><Relationship Id="rId28" Type="http://schemas.openxmlformats.org/officeDocument/2006/relationships/image" Target="../media/image293.png"/><Relationship Id="rId10" Type="http://schemas.openxmlformats.org/officeDocument/2006/relationships/image" Target="../media/image620.png"/><Relationship Id="rId19" Type="http://schemas.openxmlformats.org/officeDocument/2006/relationships/image" Target="../media/image84.png"/><Relationship Id="rId4" Type="http://schemas.openxmlformats.org/officeDocument/2006/relationships/image" Target="../media/image30.png"/><Relationship Id="rId9" Type="http://schemas.openxmlformats.org/officeDocument/2006/relationships/image" Target="../media/image611.png"/><Relationship Id="rId14" Type="http://schemas.openxmlformats.org/officeDocument/2006/relationships/image" Target="../media/image272.png"/><Relationship Id="rId22" Type="http://schemas.openxmlformats.org/officeDocument/2006/relationships/image" Target="../media/image87.png"/><Relationship Id="rId27" Type="http://schemas.openxmlformats.org/officeDocument/2006/relationships/image" Target="../media/image91.png"/></Relationships>
</file>

<file path=ppt/slides/_rels/slide12.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301.png"/><Relationship Id="rId18" Type="http://schemas.openxmlformats.org/officeDocument/2006/relationships/image" Target="../media/image99.png"/><Relationship Id="rId26" Type="http://schemas.openxmlformats.org/officeDocument/2006/relationships/image" Target="../media/image107.png"/><Relationship Id="rId3" Type="http://schemas.openxmlformats.org/officeDocument/2006/relationships/image" Target="../media/image48.png"/><Relationship Id="rId21" Type="http://schemas.openxmlformats.org/officeDocument/2006/relationships/image" Target="../media/image102.png"/><Relationship Id="rId7" Type="http://schemas.openxmlformats.org/officeDocument/2006/relationships/image" Target="../media/image600.png"/><Relationship Id="rId12" Type="http://schemas.openxmlformats.org/officeDocument/2006/relationships/image" Target="../media/image292.png"/><Relationship Id="rId17" Type="http://schemas.openxmlformats.org/officeDocument/2006/relationships/image" Target="../media/image98.png"/><Relationship Id="rId25" Type="http://schemas.openxmlformats.org/officeDocument/2006/relationships/image" Target="../media/image106.png"/><Relationship Id="rId2" Type="http://schemas.openxmlformats.org/officeDocument/2006/relationships/notesSlide" Target="../notesSlides/notesSlide12.xml"/><Relationship Id="rId16" Type="http://schemas.openxmlformats.org/officeDocument/2006/relationships/image" Target="../media/image97.png"/><Relationship Id="rId20" Type="http://schemas.openxmlformats.org/officeDocument/2006/relationships/image" Target="../media/image101.png"/><Relationship Id="rId29"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105.png"/><Relationship Id="rId5" Type="http://schemas.openxmlformats.org/officeDocument/2006/relationships/image" Target="../media/image33.png"/><Relationship Id="rId15" Type="http://schemas.openxmlformats.org/officeDocument/2006/relationships/image" Target="../media/image96.png"/><Relationship Id="rId23" Type="http://schemas.openxmlformats.org/officeDocument/2006/relationships/image" Target="../media/image104.png"/><Relationship Id="rId28" Type="http://schemas.openxmlformats.org/officeDocument/2006/relationships/image" Target="../media/image34.png"/><Relationship Id="rId10" Type="http://schemas.openxmlformats.org/officeDocument/2006/relationships/image" Target="../media/image630.png"/><Relationship Id="rId19" Type="http://schemas.openxmlformats.org/officeDocument/2006/relationships/image" Target="../media/image100.png"/><Relationship Id="rId4" Type="http://schemas.openxmlformats.org/officeDocument/2006/relationships/image" Target="../media/image32.png"/><Relationship Id="rId9" Type="http://schemas.openxmlformats.org/officeDocument/2006/relationships/image" Target="../media/image620.png"/><Relationship Id="rId14" Type="http://schemas.openxmlformats.org/officeDocument/2006/relationships/image" Target="../media/image95.png"/><Relationship Id="rId22" Type="http://schemas.openxmlformats.org/officeDocument/2006/relationships/image" Target="../media/image103.png"/><Relationship Id="rId27" Type="http://schemas.openxmlformats.org/officeDocument/2006/relationships/image" Target="../media/image108.png"/></Relationships>
</file>

<file path=ppt/slides/_rels/slide13.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36.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notesSlide" Target="../notesSlides/notesSlide13.xml"/><Relationship Id="rId16" Type="http://schemas.openxmlformats.org/officeDocument/2006/relationships/image" Target="../media/image40.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38.png"/><Relationship Id="rId15" Type="http://schemas.openxmlformats.org/officeDocument/2006/relationships/image" Target="../media/image39.png"/><Relationship Id="rId10" Type="http://schemas.openxmlformats.org/officeDocument/2006/relationships/image" Target="../media/image114.png"/><Relationship Id="rId4" Type="http://schemas.openxmlformats.org/officeDocument/2006/relationships/image" Target="../media/image37.png"/><Relationship Id="rId9" Type="http://schemas.openxmlformats.org/officeDocument/2006/relationships/image" Target="../media/image113.png"/><Relationship Id="rId14" Type="http://schemas.openxmlformats.org/officeDocument/2006/relationships/image" Target="../media/image118.png"/></Relationships>
</file>

<file path=ppt/slides/_rels/slide14.xml.rels><?xml version="1.0" encoding="UTF-8" standalone="yes"?>
<Relationships xmlns="http://schemas.openxmlformats.org/package/2006/relationships"><Relationship Id="rId8" Type="http://schemas.openxmlformats.org/officeDocument/2006/relationships/image" Target="../media/image350.png"/><Relationship Id="rId13" Type="http://schemas.openxmlformats.org/officeDocument/2006/relationships/image" Target="../media/image271.png"/><Relationship Id="rId18" Type="http://schemas.openxmlformats.org/officeDocument/2006/relationships/image" Target="../media/image45.png"/><Relationship Id="rId3" Type="http://schemas.openxmlformats.org/officeDocument/2006/relationships/image" Target="../media/image300.png"/><Relationship Id="rId21" Type="http://schemas.openxmlformats.org/officeDocument/2006/relationships/image" Target="../media/image390.png"/><Relationship Id="rId7" Type="http://schemas.openxmlformats.org/officeDocument/2006/relationships/image" Target="../media/image340.png"/><Relationship Id="rId12" Type="http://schemas.openxmlformats.org/officeDocument/2006/relationships/image" Target="../media/image260.png"/><Relationship Id="rId17" Type="http://schemas.openxmlformats.org/officeDocument/2006/relationships/image" Target="../media/image291.png"/><Relationship Id="rId2" Type="http://schemas.openxmlformats.org/officeDocument/2006/relationships/notesSlide" Target="../notesSlides/notesSlide14.xml"/><Relationship Id="rId16" Type="http://schemas.openxmlformats.org/officeDocument/2006/relationships/image" Target="../media/image281.png"/><Relationship Id="rId20" Type="http://schemas.openxmlformats.org/officeDocument/2006/relationships/image" Target="../media/image360.png"/><Relationship Id="rId1" Type="http://schemas.openxmlformats.org/officeDocument/2006/relationships/slideLayout" Target="../slideLayouts/slideLayout1.xml"/><Relationship Id="rId6" Type="http://schemas.openxmlformats.org/officeDocument/2006/relationships/image" Target="../media/image330.png"/><Relationship Id="rId11" Type="http://schemas.openxmlformats.org/officeDocument/2006/relationships/image" Target="../media/image380.png"/><Relationship Id="rId5" Type="http://schemas.openxmlformats.org/officeDocument/2006/relationships/image" Target="../media/image320.png"/><Relationship Id="rId15" Type="http://schemas.openxmlformats.org/officeDocument/2006/relationships/image" Target="../media/image42.png"/><Relationship Id="rId10" Type="http://schemas.openxmlformats.org/officeDocument/2006/relationships/image" Target="../media/image370.png"/><Relationship Id="rId19" Type="http://schemas.openxmlformats.org/officeDocument/2006/relationships/image" Target="../media/image46.png"/><Relationship Id="rId4" Type="http://schemas.openxmlformats.org/officeDocument/2006/relationships/image" Target="../media/image310.png"/><Relationship Id="rId9" Type="http://schemas.openxmlformats.org/officeDocument/2006/relationships/image" Target="../media/image250.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3.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57.png"/><Relationship Id="rId7" Type="http://schemas.openxmlformats.org/officeDocument/2006/relationships/image" Target="../media/image51.png"/><Relationship Id="rId12" Type="http://schemas.openxmlformats.org/officeDocument/2006/relationships/image" Target="../media/image401.png"/><Relationship Id="rId17" Type="http://schemas.openxmlformats.org/officeDocument/2006/relationships/image" Target="../media/image47.png"/><Relationship Id="rId2" Type="http://schemas.openxmlformats.org/officeDocument/2006/relationships/notesSlide" Target="../notesSlides/notesSlide15.xml"/><Relationship Id="rId16" Type="http://schemas.openxmlformats.org/officeDocument/2006/relationships/image" Target="../media/image44.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6.png"/><Relationship Id="rId3" Type="http://schemas.openxmlformats.org/officeDocument/2006/relationships/image" Target="../media/image400.png"/><Relationship Id="rId7" Type="http://schemas.openxmlformats.org/officeDocument/2006/relationships/image" Target="../media/image67.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72.png"/><Relationship Id="rId11" Type="http://schemas.openxmlformats.org/officeDocument/2006/relationships/image" Target="../media/image74.png"/><Relationship Id="rId5" Type="http://schemas.openxmlformats.org/officeDocument/2006/relationships/image" Target="../media/image441.png"/><Relationship Id="rId15" Type="http://schemas.openxmlformats.org/officeDocument/2006/relationships/image" Target="../media/image471.png"/><Relationship Id="rId10" Type="http://schemas.openxmlformats.org/officeDocument/2006/relationships/image" Target="../media/image430.png"/><Relationship Id="rId4" Type="http://schemas.openxmlformats.org/officeDocument/2006/relationships/image" Target="../media/image431.png"/><Relationship Id="rId9" Type="http://schemas.openxmlformats.org/officeDocument/2006/relationships/image" Target="../media/image69.png"/><Relationship Id="rId14" Type="http://schemas.openxmlformats.org/officeDocument/2006/relationships/image" Target="../media/image440.png"/></Relationships>
</file>

<file path=ppt/slides/_rels/slide17.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60.png"/><Relationship Id="rId7" Type="http://schemas.openxmlformats.org/officeDocument/2006/relationships/image" Target="../media/image80.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511.png"/><Relationship Id="rId10" Type="http://schemas.openxmlformats.org/officeDocument/2006/relationships/image" Target="../media/image711.png"/><Relationship Id="rId4" Type="http://schemas.openxmlformats.org/officeDocument/2006/relationships/image" Target="../media/image61.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3" Type="http://schemas.openxmlformats.org/officeDocument/2006/relationships/image" Target="../media/image650.png"/><Relationship Id="rId2" Type="http://schemas.openxmlformats.org/officeDocument/2006/relationships/image" Target="../media/image65.png"/><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 Id="rIdWidthDr4" Type="http://schemas.openxmlformats.org/officeDocument/2006/relationships/image" Target="../media/width_dr_s19_shape4.png"/><Relationship Id="rIdWidthDr88" Type="http://schemas.openxmlformats.org/officeDocument/2006/relationships/image" Target="../media/width_dr_s19_shape88.png"/><Relationship Id="rIdWidthDr89" Type="http://schemas.openxmlformats.org/officeDocument/2006/relationships/image" Target="../media/width_dr_s19_shape89.png"/><Relationship Id="rIdWidthDr90" Type="http://schemas.openxmlformats.org/officeDocument/2006/relationships/image" Target="../media/width_dr_s19_shape90.png"/><Relationship Id="rIdWidthDr91" Type="http://schemas.openxmlformats.org/officeDocument/2006/relationships/image" Target="../media/width_dr_s19_shape91.png"/></Relationships>
</file>

<file path=ppt/slides/_rels/slide2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77.png"/><Relationship Id="rId7" Type="http://schemas.openxmlformats.org/officeDocument/2006/relationships/image" Target="../media/image650.png"/><Relationship Id="rId2" Type="http://schemas.openxmlformats.org/officeDocument/2006/relationships/notesSlide" Target="../notesSlides/notesSlide19.xml"/><Relationship Id="rId1" Type="http://schemas.openxmlformats.org/officeDocument/2006/relationships/slideLayout" Target="../slideLayouts/slideLayout1.xml"/><Relationship Id="rIdNotation20_1_11" Type="http://schemas.openxmlformats.org/officeDocument/2006/relationships/image" Target="../media/notation_s20_1_556.png"/><Relationship Id="rId5" Type="http://schemas.openxmlformats.org/officeDocument/2006/relationships/image" Target="../media/image93.png"/><Relationship Id="rIdNotation20_0_10" Type="http://schemas.openxmlformats.org/officeDocument/2006/relationships/image" Target="../media/notation_s20_0_555.png"/><Relationship Id="rId10" Type="http://schemas.openxmlformats.org/officeDocument/2006/relationships/image" Target="../media/image78.png"/><Relationship Id="rId9" Type="http://schemas.openxmlformats.org/officeDocument/2006/relationships/image" Target="../media/image72.png"/><Relationship Id="rIdWidthDr113" Type="http://schemas.openxmlformats.org/officeDocument/2006/relationships/image" Target="../media/width_dr_s20_shape113.png"/><Relationship Id="rIdWidthDr115" Type="http://schemas.openxmlformats.org/officeDocument/2006/relationships/image" Target="../media/width_dr_s20_shape115.png"/><Relationship Id="rIdWidthDr117" Type="http://schemas.openxmlformats.org/officeDocument/2006/relationships/image" Target="../media/width_dr_s20_shape117.png"/><Relationship Id="rIdWidthDr3" Type="http://schemas.openxmlformats.org/officeDocument/2006/relationships/image" Target="../media/width_dr_s20_shape3.png"/><Relationship Id="rIdWidthDr2" Type="http://schemas.openxmlformats.org/officeDocument/2006/relationships/image" Target="../media/width_dr_s20_shape2.png"/></Relationships>
</file>

<file path=ppt/slides/_rels/slide21.xml.rels><?xml version='1.0' encoding='UTF-8' standalone='yes'?>
<Relationships xmlns="http://schemas.openxmlformats.org/package/2006/relationships"><Relationship Id="rId3" Type="http://schemas.openxmlformats.org/officeDocument/2006/relationships/image" Target="../media/image125.png"/><Relationship Id="rId7" Type="http://schemas.openxmlformats.org/officeDocument/2006/relationships/image" Target="../media/image1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8.png"/><Relationship Id="rId4" Type="http://schemas.openxmlformats.org/officeDocument/2006/relationships/image" Target="../media/image470.png"/><Relationship Id="rIdWidthDr13" Type="http://schemas.openxmlformats.org/officeDocument/2006/relationships/image" Target="../media/width_dr_s21_shape13.png"/></Relationships>
</file>

<file path=ppt/slides/_rels/slide22.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480.png"/><Relationship Id="rId7" Type="http://schemas.openxmlformats.org/officeDocument/2006/relationships/image" Target="../media/image1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 Id="rId9" Type="http://schemas.openxmlformats.org/officeDocument/2006/relationships/image" Target="../media/image134.png"/></Relationships>
</file>

<file path=ppt/slides/_rels/slide23.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6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94.png"/><Relationship Id="rIdWidthDr2" Type="http://schemas.openxmlformats.org/officeDocument/2006/relationships/image" Target="../media/width_dr_s23_shape2.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7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21.png"/><Relationship Id="rId7" Type="http://schemas.openxmlformats.org/officeDocument/2006/relationships/image" Target="../media/image13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3.xml"/><Relationship Id="rId4" Type="http://schemas.openxmlformats.org/officeDocument/2006/relationships/image" Target="../media/image1300.png"/><Relationship Id="rIdWidthDr8" Type="http://schemas.openxmlformats.org/officeDocument/2006/relationships/image" Target="../media/width_dr_s26_shape8.png"/></Relationships>
</file>

<file path=ppt/slides/_rels/slide27.xml.rels><?xml version='1.0' encoding='UTF-8' standalone='yes'?>
<Relationships xmlns="http://schemas.openxmlformats.org/package/2006/relationships"><Relationship Id="rId8" Type="http://schemas.openxmlformats.org/officeDocument/2006/relationships/image" Target="../media/image1321.png"/><Relationship Id="rId3" Type="http://schemas.openxmlformats.org/officeDocument/2006/relationships/image" Target="../media/image1391.png"/><Relationship Id="rId7" Type="http://schemas.openxmlformats.org/officeDocument/2006/relationships/image" Target="../media/image14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4.xml"/><Relationship Id="rId4" Type="http://schemas.openxmlformats.org/officeDocument/2006/relationships/image" Target="../media/image1310.png"/><Relationship Id="rIdWidthDr8" Type="http://schemas.openxmlformats.org/officeDocument/2006/relationships/image" Target="../media/width_dr_s27_shape8.png"/></Relationships>
</file>

<file path=ppt/slides/_rels/slide28.xml.rels><?xml version='1.0' encoding='UTF-8' standalone='yes'?>
<Relationships xmlns="http://schemas.openxmlformats.org/package/2006/relationships"><Relationship Id="rId3" Type="http://schemas.openxmlformats.org/officeDocument/2006/relationships/image" Target="../media/image1400.png"/><Relationship Id="rId7" Type="http://schemas.openxmlformats.org/officeDocument/2006/relationships/image" Target="../media/image14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5.xml"/><Relationship Id="rId4" Type="http://schemas.openxmlformats.org/officeDocument/2006/relationships/image" Target="../media/image1320.png"/><Relationship Id="rIdWidthDr19" Type="http://schemas.openxmlformats.org/officeDocument/2006/relationships/image" Target="../media/width_dr_s28_shape19.png"/></Relationships>
</file>

<file path=ppt/slides/_rels/slide29.xml.rels><?xml version="1.0" encoding="UTF-8" standalone="yes"?>
<Relationships xmlns="http://schemas.openxmlformats.org/package/2006/relationships"><Relationship Id="rId8" Type="http://schemas.openxmlformats.org/officeDocument/2006/relationships/image" Target="../media/image142.png"/><Relationship Id="rId3" Type="http://schemas.openxmlformats.org/officeDocument/2006/relationships/image" Target="../media/image122.png"/><Relationship Id="rId7" Type="http://schemas.openxmlformats.org/officeDocument/2006/relationships/image" Target="../media/image137.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8.png"/><Relationship Id="rId10" Type="http://schemas.openxmlformats.org/officeDocument/2006/relationships/image" Target="../media/image144.png"/><Relationship Id="rId4" Type="http://schemas.openxmlformats.org/officeDocument/2006/relationships/chart" Target="../charts/chart6.xml"/><Relationship Id="rId9" Type="http://schemas.openxmlformats.org/officeDocument/2006/relationships/image" Target="../media/image143.png"/></Relationships>
</file>

<file path=ppt/slides/_rels/slide30.xml.rels><?xml version="1.0" encoding="UTF-8" standalone="yes"?>
<Relationships xmlns="http://schemas.openxmlformats.org/package/2006/relationships"><Relationship Id="rId3" Type="http://schemas.openxmlformats.org/officeDocument/2006/relationships/image" Target="../media/image14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0.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24.png"/><Relationship Id="rId3" Type="http://schemas.openxmlformats.org/officeDocument/2006/relationships/image" Target="../media/image145.png"/><Relationship Id="rId7" Type="http://schemas.openxmlformats.org/officeDocument/2006/relationships/image" Target="../media/image123.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20.png"/><Relationship Id="rId5" Type="http://schemas.openxmlformats.org/officeDocument/2006/relationships/image" Target="../media/image940.png"/><Relationship Id="rId4" Type="http://schemas.openxmlformats.org/officeDocument/2006/relationships/image" Target="../media/image1420.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8.png"/><Relationship Id="rId4" Type="http://schemas.openxmlformats.org/officeDocument/2006/relationships/image" Target="../media/image146.png"/></Relationships>
</file>

<file path=ppt/slides/_rels/slide33.xml.rels><?xml version="1.0" encoding="UTF-8" standalone="yes"?>
<Relationships xmlns="http://schemas.openxmlformats.org/package/2006/relationships"><Relationship Id="rIdNotation33_1_10" Type="http://schemas.openxmlformats.org/officeDocument/2006/relationships/image" Target="../media/notation_s33_1_560.png"/><Relationship Id="rId3" Type="http://schemas.openxmlformats.org/officeDocument/2006/relationships/chart" Target="../charts/chart8.xml"/><Relationship Id="rId7" Type="http://schemas.openxmlformats.org/officeDocument/2006/relationships/image" Target="../media/image15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49.png"/><Relationship Id="rIdNotation33_2_11" Type="http://schemas.openxmlformats.org/officeDocument/2006/relationships/image" Target="../media/notation_s33_2_561.png"/><Relationship Id="rId4" Type="http://schemas.openxmlformats.org/officeDocument/2006/relationships/chart" Target="../charts/chart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1460.png"/><Relationship Id="rId4" Type="http://schemas.openxmlformats.org/officeDocument/2006/relationships/image" Target="../media/image1481.png"/></Relationships>
</file>

<file path=ppt/slides/_rels/slide36.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5.png"/><Relationship Id="rId7" Type="http://schemas.openxmlformats.org/officeDocument/2006/relationships/image" Target="../media/image15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563.png"/><Relationship Id="rId5" Type="http://schemas.openxmlformats.org/officeDocument/2006/relationships/chart" Target="../charts/chart10.xml"/><Relationship Id="rId4" Type="http://schemas.openxmlformats.org/officeDocument/2006/relationships/image" Target="../media/image156.png"/><Relationship Id="rId9" Type="http://schemas.openxmlformats.org/officeDocument/2006/relationships/image" Target="../media/image159.png"/></Relationships>
</file>

<file path=ppt/slides/_rels/slide37.xml.rels><?xml version="1.0" encoding="UTF-8" standalone="yes"?>
<Relationships xmlns="http://schemas.openxmlformats.org/package/2006/relationships"><Relationship Id="rId3" Type="http://schemas.openxmlformats.org/officeDocument/2006/relationships/image" Target="../media/image161.png"/><Relationship Id="rId7" Type="http://schemas.openxmlformats.org/officeDocument/2006/relationships/image" Target="../media/image150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0.png"/><Relationship Id="rId5" Type="http://schemas.openxmlformats.org/officeDocument/2006/relationships/chart" Target="../charts/chart11.xml"/><Relationship Id="rId4" Type="http://schemas.openxmlformats.org/officeDocument/2006/relationships/image" Target="../media/image1480.png"/></Relationships>
</file>

<file path=ppt/slides/_rels/slide38.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39.xml.rels><?xml version="1.0" encoding="UTF-8" standalone="yes"?>
<Relationships xmlns="http://schemas.openxmlformats.org/package/2006/relationships"><Relationship Id="rId8" Type="http://schemas.openxmlformats.org/officeDocument/2006/relationships/image" Target="../media/image164.png"/><Relationship Id="rId13" Type="http://schemas.openxmlformats.org/officeDocument/2006/relationships/image" Target="../media/image167.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0.png"/><Relationship Id="rId21" Type="http://schemas.openxmlformats.org/officeDocument/2006/relationships/image" Target="../media/image171.png"/><Relationship Id="rId7" Type="http://schemas.openxmlformats.org/officeDocument/2006/relationships/image" Target="../media/image1581.png"/><Relationship Id="rId12" Type="http://schemas.openxmlformats.org/officeDocument/2006/relationships/image" Target="../media/image166.png"/><Relationship Id="rId17" Type="http://schemas.openxmlformats.org/officeDocument/2006/relationships/image" Target="../media/image169.png"/><Relationship Id="rId25" Type="http://schemas.openxmlformats.org/officeDocument/2006/relationships/image" Target="../media/image173.png"/><Relationship Id="rId2" Type="http://schemas.openxmlformats.org/officeDocument/2006/relationships/notesSlide" Target="../notesSlides/notesSlide38.xml"/><Relationship Id="rId16" Type="http://schemas.openxmlformats.org/officeDocument/2006/relationships/image" Target="../media/image168.png"/><Relationship Id="rId20" Type="http://schemas.openxmlformats.org/officeDocument/2006/relationships/image" Target="../media/image170.png"/><Relationship Id="rId29"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1.png"/><Relationship Id="rId24" Type="http://schemas.openxmlformats.org/officeDocument/2006/relationships/image" Target="../media/image172.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74.png"/><Relationship Id="rId10" Type="http://schemas.openxmlformats.org/officeDocument/2006/relationships/chart" Target="../charts/chart14.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65.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1.png"/></Relationships>
</file>

<file path=ppt/slides/_rels/slide40.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79.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84.png"/><Relationship Id="rId7" Type="http://schemas.openxmlformats.org/officeDocument/2006/relationships/image" Target="../media/image1581.png"/><Relationship Id="rId12" Type="http://schemas.openxmlformats.org/officeDocument/2006/relationships/image" Target="../media/image178.png"/><Relationship Id="rId17" Type="http://schemas.openxmlformats.org/officeDocument/2006/relationships/image" Target="../media/image182.png"/><Relationship Id="rId25" Type="http://schemas.openxmlformats.org/officeDocument/2006/relationships/image" Target="../media/image186.png"/><Relationship Id="rId2" Type="http://schemas.openxmlformats.org/officeDocument/2006/relationships/notesSlide" Target="../notesSlides/notesSlide39.xml"/><Relationship Id="rId16" Type="http://schemas.openxmlformats.org/officeDocument/2006/relationships/image" Target="../media/image181.png"/><Relationship Id="rId20" Type="http://schemas.openxmlformats.org/officeDocument/2006/relationships/image" Target="../media/image183.png"/><Relationship Id="rId29" Type="http://schemas.openxmlformats.org/officeDocument/2006/relationships/image" Target="../media/image188.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1.png"/><Relationship Id="rId24" Type="http://schemas.openxmlformats.org/officeDocument/2006/relationships/image" Target="../media/image185.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87.png"/><Relationship Id="rId10" Type="http://schemas.openxmlformats.org/officeDocument/2006/relationships/chart" Target="../charts/chart20.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77.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0.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13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10" name="agenda_first_topic_neutral">
            <a:extLst>
              <a:ext uri="{FF2B5EF4-FFF2-40B4-BE49-F238E27FC236}">
                <a16:creationId xmlns:a16="http://schemas.microsoft.com/office/drawing/2014/main" id="{73051655-E1B0-40DC-A151-F293F4BC4CEF}"/>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features and activation functions</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solidFill>
            <a:srgbClr val="FFFFFF"/>
          </a:solidFill>
          <a:ln w="0">
            <a:noFill/>
          </a:ln>
        </p:spPr>
        <p:txBody>
          <a:bodyPr anchor="ctr">
            <a:noAutofit/>
          </a:bodyPr>
          <a:lstStyle/>
          <a:p>
            <a:pPr algn="ctr">
              <a:defRPr sz="2475" b="1">
                <a:solidFill>
                  <a:srgbClr val="087F83"/>
                </a:solidFill>
                <a:latin typeface="DejaVu Sans"/>
                <a:ea typeface="DejaVu Sans"/>
                <a:cs typeface="DejaVu Sans"/>
              </a:defRPr>
            </a:pPr>
            <a:r>
              <a:rPr sz="2475" b="1" dirty="0">
                <a:solidFill>
                  <a:srgbClr val="087F83"/>
                </a:solidFill>
                <a:latin typeface="DejaVu Sans"/>
                <a:ea typeface="DejaVu Sans"/>
                <a:cs typeface="DejaVu Sans"/>
              </a:rPr>
              <a:t>Affine </a:t>
            </a:r>
            <a:r>
              <a:rPr lang="it-IT" sz="2475" b="1" dirty="0">
                <a:solidFill>
                  <a:srgbClr val="087F83"/>
                </a:solidFill>
                <a:latin typeface="DejaVu Sans"/>
                <a:ea typeface="DejaVu Sans"/>
                <a:cs typeface="DejaVu Sans"/>
              </a:rPr>
              <a:t>features</a:t>
            </a:r>
            <a:r>
              <a:rPr sz="2475" b="1" dirty="0">
                <a:solidFill>
                  <a:srgbClr val="087F83"/>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neural networks?</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So far, we have </a:t>
            </a:r>
            <a:r>
              <a:rPr lang="en-GB" sz="2175" b="0" dirty="0">
                <a:solidFill>
                  <a:srgbClr val="FF0000"/>
                </a:solidFill>
                <a:latin typeface="DejaVu Sans"/>
                <a:ea typeface="DejaVu Sans"/>
                <a:cs typeface="DejaVu Sans"/>
              </a:rPr>
              <a:t>chosen the features</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and fitted the output parameters.</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629090"/>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7" y="3031332"/>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i="1">
                              <a:solidFill>
                                <a:srgbClr val="087F83"/>
                              </a:solidFill>
                              <a:latin typeface="Cambria Math" panose="02040503050406030204" pitchFamily="18" charset="0"/>
                              <a:ea typeface="Cambria Math"/>
                              <a:cs typeface="Cambria Math"/>
                            </a:rPr>
                          </m:ctrlPr>
                        </m:sSubPr>
                        <m:e>
                          <m:r>
                            <a:rPr lang="it-IT" sz="3000" i="1">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i="1">
                              <a:solidFill>
                                <a:srgbClr val="087F83"/>
                              </a:solidFill>
                              <a:latin typeface="Cambria Math" panose="02040503050406030204" pitchFamily="18" charset="0"/>
                              <a:ea typeface="Cambria Math"/>
                              <a:cs typeface="Cambria Math"/>
                            </a:rPr>
                          </m:ctrlPr>
                        </m:dPr>
                        <m:e>
                          <m:r>
                            <a:rPr lang="it-IT" sz="3000" i="1">
                              <a:solidFill>
                                <a:srgbClr val="087F83"/>
                              </a:solidFill>
                              <a:latin typeface="Cambria Math" panose="02040503050406030204" pitchFamily="18" charset="0"/>
                              <a:ea typeface="Cambria Math"/>
                              <a:cs typeface="Cambria Math"/>
                            </a:rPr>
                            <m:t>𝑥</m:t>
                          </m:r>
                        </m:e>
                      </m:d>
                      <m:r>
                        <a:rPr lang="it-IT" sz="3000" i="1">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1,  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3</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7" y="3031332"/>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0" y="4016786"/>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1" y="4364259"/>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1" y="4364259"/>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Can we also learn the features from data?</a:t>
            </a:r>
          </a:p>
        </p:txBody>
      </p:sp>
    </p:spTree>
    <p:extLst>
      <p:ext uri="{BB962C8B-B14F-4D97-AF65-F5344CB8AC3E}">
        <p14:creationId xmlns:p14="http://schemas.microsoft.com/office/powerpoint/2010/main" val="18904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chemeClr val="tx2"/>
                </a:solidFill>
                <a:latin typeface="DejaVu Sans"/>
                <a:ea typeface="DejaVu Sans"/>
                <a:cs typeface="DejaVu Sans"/>
              </a:rPr>
              <a:t>A neural network places adjustable parameters </a:t>
            </a:r>
            <a:r>
              <a:rPr sz="2175" b="0" dirty="0">
                <a:solidFill>
                  <a:srgbClr val="FF0000"/>
                </a:solidFill>
                <a:latin typeface="DejaVu Sans"/>
                <a:ea typeface="DejaVu Sans"/>
                <a:cs typeface="DejaVu Sans"/>
              </a:rPr>
              <a:t>inside</a:t>
            </a:r>
            <a:r>
              <a:rPr sz="2175" b="0" dirty="0">
                <a:solidFill>
                  <a:schemeClr val="tx2"/>
                </a:solidFill>
                <a:latin typeface="DejaVu Sans"/>
                <a:ea typeface="DejaVu Sans"/>
                <a:cs typeface="DejaVu Sans"/>
              </a:rPr>
              <a:t>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476250" y="1594580"/>
                <a:ext cx="10668000" cy="209397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d>
                        <m:dPr>
                          <m:ctrlPr>
                            <a:rPr lang="en-GB" sz="3600" smtClean="0">
                              <a:solidFill>
                                <a:srgbClr val="087F83"/>
                              </a:solidFill>
                              <a:latin typeface="Cambria Math"/>
                              <a:ea typeface="Cambria Math"/>
                              <a:cs typeface="Cambria Math"/>
                            </a:rPr>
                          </m:ctrlPr>
                        </m:dPr>
                        <m:e>
                          <m:r>
                            <a:rPr lang="en-GB" sz="3600" smtClean="0">
                              <a:solidFill>
                                <a:srgbClr val="087F83"/>
                              </a:solidFill>
                              <a:latin typeface="Cambria Math"/>
                              <a:ea typeface="Cambria Math"/>
                              <a:cs typeface="Cambria Math"/>
                            </a:rPr>
                            <m:t>𝐱</m:t>
                          </m:r>
                        </m:e>
                      </m:d>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476250" y="1594580"/>
                <a:ext cx="10668000" cy="2093976"/>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662458"/>
            <a:ext cx="5095875" cy="785622"/>
          </a:xfrm>
          <a:prstGeom prst="rect">
            <a:avLst/>
          </a:prstGeom>
          <a:noFill/>
          <a:ln w="0">
            <a:noFill/>
          </a:ln>
        </p:spPr>
        <p:txBody>
          <a:bodyPr wrap="none" lIns="0" tIns="0" rIns="0" bIns="0" anchor="ctr">
            <a:noAutofit/>
          </a:bodyPr>
          <a:lstStyle/>
          <a:p>
            <a:pPr algn="ctr"/>
            <a:r>
              <a:rPr lang="en-GB" sz="2200" b="1">
                <a:solidFill>
                  <a:srgbClr val="182D45"/>
                </a:solidFill>
                <a:latin typeface="DejaVu Sans"/>
              </a:rPr>
              <a:t>Feature functions with</a:t>
            </a:r>
            <a:endParaRPr lang="en-GB" sz="2200"/>
          </a:p>
          <a:p>
            <a:pPr algn="ctr"/>
            <a:r>
              <a:rPr lang="en-GB" sz="2200" b="1">
                <a:solidFill>
                  <a:srgbClr val="182D45"/>
                </a:solidFill>
                <a:latin typeface="DejaVu Sans"/>
              </a:rPr>
              <a:t>adjustable parameters</a:t>
            </a:r>
            <a:endParaRPr lang="en-GB" sz="2200"/>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385119"/>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385119"/>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640931"/>
            <a:ext cx="5238750" cy="7810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combining</a:t>
            </a:r>
            <a:r>
              <a:rPr lang="it-IT" sz="2175" b="1" dirty="0">
                <a:solidFill>
                  <a:srgbClr val="182D45"/>
                </a:solidFill>
                <a:latin typeface="DejaVu Sans"/>
                <a:ea typeface="DejaVu Sans"/>
                <a:cs typeface="DejaVu Sans"/>
              </a:rPr>
              <a:t> </a:t>
            </a:r>
            <a:r>
              <a:rPr sz="2175" b="1" dirty="0">
                <a:solidFill>
                  <a:srgbClr val="182D45"/>
                </a:solidFill>
                <a:latin typeface="DejaVu Sans"/>
                <a:ea typeface="DejaVu Sans"/>
                <a:cs typeface="DejaVu Sans"/>
              </a:rPr>
              <a:t>the values</a:t>
            </a:r>
            <a:r>
              <a:rPr lang="it-IT" sz="2175" b="1" dirty="0">
                <a:solidFill>
                  <a:srgbClr val="182D45"/>
                </a:solidFill>
                <a:latin typeface="DejaVu Sans"/>
                <a:ea typeface="DejaVu Sans"/>
                <a:cs typeface="DejaVu Sans"/>
              </a:rPr>
              <a:t> of the feature </a:t>
            </a:r>
            <a:r>
              <a:rPr lang="it-IT" sz="2175" b="1" dirty="0" err="1">
                <a:solidFill>
                  <a:srgbClr val="182D45"/>
                </a:solidFill>
                <a:latin typeface="DejaVu Sans"/>
                <a:ea typeface="DejaVu Sans"/>
                <a:cs typeface="DejaVu Sans"/>
              </a:rPr>
              <a:t>functions</a:t>
            </a:r>
            <a:endParaRPr sz="217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381750" y="4385119"/>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381750" y="4385119"/>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3" name="text_6">
            <a:extLst>
              <a:ext uri="{FF2B5EF4-FFF2-40B4-BE49-F238E27FC236}">
                <a16:creationId xmlns:a16="http://schemas.microsoft.com/office/drawing/2014/main" id="{CD5884E1-25C0-54A3-8C41-D6675A18290B}"/>
              </a:ext>
            </a:extLst>
          </p:cNvPr>
          <p:cNvSpPr>
            <a:spLocks noGrp="1"/>
          </p:cNvSpPr>
          <p:nvPr/>
        </p:nvSpPr>
        <p:spPr>
          <a:xfrm>
            <a:off x="285750" y="5257800"/>
            <a:ext cx="11049000" cy="52387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How do </a:t>
            </a:r>
            <a:r>
              <a:rPr lang="it-IT" sz="2100" b="1" dirty="0" err="1">
                <a:solidFill>
                  <a:srgbClr val="182D45"/>
                </a:solidFill>
                <a:latin typeface="DejaVu Sans"/>
                <a:ea typeface="DejaVu Sans"/>
                <a:cs typeface="DejaVu Sans"/>
              </a:rPr>
              <a:t>we</a:t>
            </a:r>
            <a:r>
              <a:rPr lang="it-IT" sz="2100" b="1" dirty="0">
                <a:solidFill>
                  <a:srgbClr val="182D45"/>
                </a:solidFill>
                <a:latin typeface="DejaVu Sans"/>
                <a:ea typeface="DejaVu Sans"/>
                <a:cs typeface="DejaVu Sans"/>
              </a:rPr>
              <a:t> do </a:t>
            </a:r>
            <a:r>
              <a:rPr lang="it-IT" sz="2100" b="1" dirty="0" err="1">
                <a:solidFill>
                  <a:srgbClr val="182D45"/>
                </a:solidFill>
                <a:latin typeface="DejaVu Sans"/>
                <a:ea typeface="DejaVu Sans"/>
                <a:cs typeface="DejaVu Sans"/>
              </a:rPr>
              <a:t>that</a:t>
            </a:r>
            <a:r>
              <a:rPr lang="it-IT" sz="2100" b="1" dirty="0">
                <a:solidFill>
                  <a:srgbClr val="182D45"/>
                </a:solidFill>
                <a:latin typeface="DejaVu Sans"/>
                <a:ea typeface="DejaVu Sans"/>
                <a:cs typeface="DejaVu Sans"/>
              </a:rPr>
              <a:t>?</a:t>
            </a:r>
          </a:p>
        </p:txBody>
      </p:sp>
      <p:sp>
        <p:nvSpPr>
          <p:cNvPr id="15" name="text_6">
            <a:extLst>
              <a:ext uri="{FF2B5EF4-FFF2-40B4-BE49-F238E27FC236}">
                <a16:creationId xmlns:a16="http://schemas.microsoft.com/office/drawing/2014/main" id="{38F702B2-5DF7-4FC9-1C5E-5EB9790C8CEE}"/>
              </a:ext>
            </a:extLst>
          </p:cNvPr>
          <p:cNvSpPr>
            <a:spLocks noGrp="1"/>
          </p:cNvSpPr>
          <p:nvPr/>
        </p:nvSpPr>
        <p:spPr>
          <a:xfrm>
            <a:off x="571500" y="5857875"/>
            <a:ext cx="11049000" cy="404432"/>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First, let us try </a:t>
            </a:r>
            <a:r>
              <a:rPr sz="2100" b="1" dirty="0">
                <a:solidFill>
                  <a:srgbClr val="FF0000"/>
                </a:solidFill>
                <a:latin typeface="DejaVu Sans"/>
                <a:ea typeface="DejaVu Sans"/>
                <a:cs typeface="DejaVu Sans"/>
              </a:rPr>
              <a:t>affine feature functions</a:t>
            </a:r>
            <a:r>
              <a:rPr sz="2100" b="1" dirty="0">
                <a:solidFill>
                  <a:srgbClr val="182D45"/>
                </a:solidFill>
                <a:latin typeface="DejaVu Sans"/>
                <a:ea typeface="DejaVu Sans"/>
                <a:cs typeface="DejaVu Sans"/>
              </a:rPr>
              <a:t> with adjustable coefficients.</a:t>
            </a:r>
          </a:p>
        </p:txBody>
      </p:sp>
    </p:spTree>
    <p:extLst>
      <p:ext uri="{BB962C8B-B14F-4D97-AF65-F5344CB8AC3E}">
        <p14:creationId xmlns:p14="http://schemas.microsoft.com/office/powerpoint/2010/main" val="16322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M</a:t>
            </a:r>
            <a:r>
              <a:rPr sz="2175" b="0" dirty="0" err="1">
                <a:solidFill>
                  <a:srgbClr val="526276"/>
                </a:solidFill>
                <a:latin typeface="DejaVu Sans"/>
                <a:ea typeface="DejaVu Sans"/>
                <a:cs typeface="DejaVu Sans"/>
              </a:rPr>
              <a:t>ake</a:t>
            </a:r>
            <a:r>
              <a:rPr sz="2175" b="0" dirty="0">
                <a:solidFill>
                  <a:srgbClr val="526276"/>
                </a:solidFill>
                <a:latin typeface="DejaVu Sans"/>
                <a:ea typeface="DejaVu Sans"/>
                <a:cs typeface="DejaVu Sans"/>
              </a:rPr>
              <a:t> each feature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map</a:t>
            </a:r>
            <a:r>
              <a:rPr sz="2175" b="0" dirty="0">
                <a:solidFill>
                  <a:srgbClr val="526276"/>
                </a:solidFill>
                <a:latin typeface="DejaVu Sans"/>
                <a:ea typeface="DejaVu Sans"/>
                <a:cs typeface="DejaVu Sans"/>
              </a:rPr>
              <a:t>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e>
                          </m:groupChr>
                        </m:e>
                        <m:lim>
                          <m:r>
                            <m:rPr>
                              <m:sty m:val="p"/>
                            </m:rPr>
                            <a:rPr lang="it-IT" sz="3100" b="0" i="0" smtClean="0">
                              <a:solidFill>
                                <a:srgbClr val="087F83"/>
                              </a:solidFill>
                              <a:latin typeface="Cambria Math" panose="02040503050406030204" pitchFamily="18" charset="0"/>
                              <a:ea typeface="Cambria Math"/>
                            </a:rPr>
                            <m:t>weighted</m:t>
                          </m:r>
                          <m:r>
                            <a:rPr lang="it-IT" sz="3100" b="0" i="0" smtClean="0">
                              <a:solidFill>
                                <a:srgbClr val="087F83"/>
                              </a:solidFill>
                              <a:latin typeface="Cambria Math" panose="02040503050406030204" pitchFamily="18" charset="0"/>
                              <a:ea typeface="Cambria Math"/>
                            </a:rPr>
                            <m:t> </m:t>
                          </m:r>
                          <m:r>
                            <m:rPr>
                              <m:sty m:val="p"/>
                            </m:rPr>
                            <a:rPr lang="it-IT" sz="3100" b="0" i="0" smtClean="0">
                              <a:solidFill>
                                <a:srgbClr val="087F83"/>
                              </a:solidFill>
                              <a:latin typeface="Cambria Math" panose="02040503050406030204" pitchFamily="18" charset="0"/>
                              <a:ea typeface="Cambria Math"/>
                            </a:rPr>
                            <m:t>sum</m:t>
                          </m:r>
                        </m:lim>
                      </m:limLow>
                      <m:r>
                        <a:rPr lang="en-GB" sz="3100">
                          <a:solidFill>
                            <a:srgbClr val="087F83"/>
                          </a:solidFill>
                          <a:latin typeface="Cambria Math"/>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e>
                          </m:groupChr>
                        </m:e>
                        <m:lim>
                          <m:r>
                            <m:rPr>
                              <m:sty m:val="p"/>
                            </m:rPr>
                            <a:rPr lang="it-IT" sz="3100" b="0" i="0" smtClean="0">
                              <a:solidFill>
                                <a:srgbClr val="087F83"/>
                              </a:solidFill>
                              <a:latin typeface="Cambria Math" panose="02040503050406030204" pitchFamily="18" charset="0"/>
                              <a:ea typeface="Cambria Math"/>
                            </a:rPr>
                            <m:t>bias</m:t>
                          </m:r>
                        </m:lim>
                      </m:limLow>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xmlns="">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30994" b="-356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23875" y="5757100"/>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23875" y="5757100"/>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composition</a:t>
            </a:r>
            <a:r>
              <a:rPr lang="it-IT" sz="2175" b="0" dirty="0">
                <a:solidFill>
                  <a:srgbClr val="526276"/>
                </a:solidFill>
                <a:latin typeface="DejaVu Sans"/>
                <a:ea typeface="DejaVu Sans"/>
                <a:cs typeface="DejaVu Sans"/>
              </a:rPr>
              <a:t> of</a:t>
            </a:r>
            <a:r>
              <a:rPr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two 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functions</a:t>
            </a:r>
            <a:r>
              <a:rPr sz="2175" b="0" dirty="0">
                <a:solidFill>
                  <a:srgbClr val="FF0000"/>
                </a:solidFill>
                <a:latin typeface="DejaVu Sans"/>
                <a:ea typeface="DejaVu Sans"/>
                <a:cs typeface="DejaVu Sans"/>
              </a:rPr>
              <a:t> </a:t>
            </a:r>
            <a:r>
              <a:rPr lang="it-IT" sz="2175" b="0" dirty="0" err="1">
                <a:solidFill>
                  <a:srgbClr val="526276"/>
                </a:solidFill>
                <a:latin typeface="DejaVu Sans"/>
                <a:ea typeface="DejaVu Sans"/>
                <a:cs typeface="DejaVu Sans"/>
              </a:rPr>
              <a:t>is</a:t>
            </a:r>
            <a:r>
              <a:rPr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 </a:t>
            </a:r>
            <a:r>
              <a:rPr sz="2175" b="0" dirty="0">
                <a:solidFill>
                  <a:srgbClr val="FF0000"/>
                </a:solidFill>
                <a:latin typeface="DejaVu Sans"/>
                <a:ea typeface="DejaVu Sans"/>
                <a:cs typeface="DejaVu Sans"/>
              </a:rPr>
              <a:t>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a:t>
            </a:r>
            <a:r>
              <a:rPr sz="2175" b="0" dirty="0">
                <a:solidFill>
                  <a:srgbClr val="526276"/>
                </a:solidFill>
                <a:latin typeface="DejaVu Sans"/>
                <a:ea typeface="DejaVu Sans"/>
                <a:cs typeface="DejaVu Sans"/>
              </a:rPr>
              <a:t>.</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05565"/>
                <a:ext cx="11049000" cy="619124"/>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We</a:t>
                </a:r>
                <a:r>
                  <a:rPr lang="it-IT" sz="2025" b="1" dirty="0">
                    <a:solidFill>
                      <a:srgbClr val="182D45"/>
                    </a:solidFill>
                    <a:latin typeface="DejaVu Sans"/>
                    <a:ea typeface="DejaVu Sans"/>
                    <a:cs typeface="DejaVu Sans"/>
                  </a:rPr>
                  <a:t> can </a:t>
                </a:r>
                <a:r>
                  <a:rPr lang="it-IT" sz="2025" b="1" dirty="0" err="1">
                    <a:solidFill>
                      <a:srgbClr val="182D45"/>
                    </a:solidFill>
                    <a:latin typeface="DejaVu Sans"/>
                    <a:ea typeface="DejaVu Sans"/>
                    <a:cs typeface="DejaVu Sans"/>
                  </a:rPr>
                  <a:t>write</a:t>
                </a:r>
                <a:r>
                  <a:rPr lang="it-IT" sz="2025" b="1" dirty="0">
                    <a:solidFill>
                      <a:srgbClr val="182D45"/>
                    </a:solidFill>
                    <a:latin typeface="DejaVu Sans"/>
                    <a:ea typeface="DejaVu Sans"/>
                    <a:cs typeface="DejaVu Sans"/>
                  </a:rPr>
                  <a:t> the </a:t>
                </a:r>
                <a:r>
                  <a:rPr lang="it-IT" sz="2025" b="1" dirty="0" err="1">
                    <a:solidFill>
                      <a:srgbClr val="182D45"/>
                    </a:solidFill>
                    <a:latin typeface="DejaVu Sans"/>
                    <a:ea typeface="DejaVu Sans"/>
                    <a:cs typeface="DejaVu Sans"/>
                  </a:rPr>
                  <a:t>same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predictor</a:t>
                </a:r>
                <a:r>
                  <a:rPr lang="it-IT" sz="2025" b="1" dirty="0">
                    <a:solidFill>
                      <a:srgbClr val="182D45"/>
                    </a:solidFill>
                    <a:latin typeface="DejaVu Sans"/>
                    <a:ea typeface="DejaVu Sans"/>
                    <a:cs typeface="DejaVu Sans"/>
                  </a:rPr>
                  <a:t> </a:t>
                </a:r>
                <a:r>
                  <a:rPr sz="2025" b="1" dirty="0">
                    <a:solidFill>
                      <a:srgbClr val="182D45"/>
                    </a:solidFill>
                    <a:latin typeface="DejaVu Sans"/>
                    <a:ea typeface="DejaVu Sans"/>
                    <a:cs typeface="DejaVu Sans"/>
                  </a:rPr>
                  <a:t>directly </a:t>
                </a:r>
                <a:r>
                  <a:rPr lang="it-IT" sz="2025" b="1" dirty="0" err="1">
                    <a:solidFill>
                      <a:srgbClr val="182D45"/>
                    </a:solidFill>
                    <a:latin typeface="DejaVu Sans"/>
                    <a:ea typeface="DejaVu Sans"/>
                    <a:cs typeface="DejaVu Sans"/>
                  </a:rPr>
                  <a:t>as</a:t>
                </a:r>
                <a:r>
                  <a:rPr lang="it-IT" sz="2025" b="1" dirty="0">
                    <a:solidFill>
                      <a:srgbClr val="182D45"/>
                    </a:solidFill>
                    <a:latin typeface="DejaVu Sans"/>
                    <a:ea typeface="DejaVu Sans"/>
                    <a:cs typeface="DejaVu Sans"/>
                  </a:rPr>
                  <a:t> an </a:t>
                </a:r>
                <a:r>
                  <a:rPr lang="it-IT" sz="2025" b="1" dirty="0">
                    <a:solidFill>
                      <a:srgbClr val="FF0000"/>
                    </a:solidFill>
                    <a:latin typeface="DejaVu Sans"/>
                    <a:ea typeface="DejaVu Sans"/>
                    <a:cs typeface="DejaVu Sans"/>
                  </a:rPr>
                  <a:t>affine </a:t>
                </a:r>
                <a:r>
                  <a:rPr lang="it-IT" sz="2025" b="1" dirty="0" err="1">
                    <a:solidFill>
                      <a:srgbClr val="FF0000"/>
                    </a:solidFill>
                    <a:latin typeface="DejaVu Sans"/>
                    <a:ea typeface="DejaVu Sans"/>
                    <a:cs typeface="DejaVu Sans"/>
                  </a:rPr>
                  <a:t>function</a:t>
                </a:r>
                <a:r>
                  <a:rPr lang="it-IT" sz="2025" b="1" dirty="0">
                    <a:solidFill>
                      <a:srgbClr val="FF0000"/>
                    </a:solidFill>
                    <a:latin typeface="DejaVu Sans"/>
                    <a:ea typeface="DejaVu Sans"/>
                    <a:cs typeface="DejaVu Sans"/>
                  </a:rPr>
                  <a:t> </a:t>
                </a:r>
                <a:r>
                  <a:rPr lang="it-IT" sz="2025" b="1" dirty="0">
                    <a:solidFill>
                      <a:srgbClr val="182D45"/>
                    </a:solidFill>
                    <a:latin typeface="DejaVu Sans"/>
                    <a:ea typeface="DejaVu Sans"/>
                    <a:cs typeface="DejaVu Sans"/>
                  </a:rPr>
                  <a:t>of</a:t>
                </a:r>
                <a:r>
                  <a:rPr sz="2025" b="1" dirty="0">
                    <a:solidFill>
                      <a:srgbClr val="182D45"/>
                    </a:solidFill>
                    <a:latin typeface="DejaVu Sans"/>
                    <a:ea typeface="DejaVu Sans"/>
                    <a:cs typeface="DejaVu Sans"/>
                  </a:rPr>
                  <a:t>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𝒙</m:t>
                    </m:r>
                  </m:oMath>
                </a14:m>
                <a:r>
                  <a:rPr sz="2025" b="1" dirty="0">
                    <a:solidFill>
                      <a:srgbClr val="182D45"/>
                    </a:solidFill>
                    <a:latin typeface="DejaVu Sans"/>
                    <a:ea typeface="DejaVu Sans"/>
                    <a:cs typeface="DejaVu Sans"/>
                  </a:rPr>
                  <a:t>,</a:t>
                </a:r>
                <a:endParaRPr lang="it-IT" sz="2025" b="1" dirty="0">
                  <a:solidFill>
                    <a:srgbClr val="182D45"/>
                  </a:solidFill>
                  <a:latin typeface="DejaVu Sans"/>
                  <a:ea typeface="DejaVu Sans"/>
                  <a:cs typeface="DejaVu Sans"/>
                </a:endParaRPr>
              </a:p>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with </a:t>
                </a:r>
                <a:r>
                  <a:rPr sz="2025" b="1" dirty="0">
                    <a:solidFill>
                      <a:srgbClr val="FF0000"/>
                    </a:solidFill>
                    <a:latin typeface="DejaVu Sans"/>
                    <a:ea typeface="DejaVu Sans"/>
                    <a:cs typeface="DejaVu Sans"/>
                  </a:rPr>
                  <a:t>no intermediate feature</a:t>
                </a:r>
                <a:r>
                  <a:rPr lang="it-IT" sz="2025" b="1" dirty="0">
                    <a:solidFill>
                      <a:srgbClr val="FF0000"/>
                    </a:solidFill>
                    <a:latin typeface="DejaVu Sans"/>
                    <a:ea typeface="DejaVu Sans"/>
                    <a:cs typeface="DejaVu Sans"/>
                  </a:rPr>
                  <a:t>s</a:t>
                </a:r>
                <a:r>
                  <a:rPr sz="2025" b="1" dirty="0">
                    <a:solidFill>
                      <a:srgbClr val="182D45"/>
                    </a:solidFill>
                    <a:latin typeface="DejaVu Sans"/>
                    <a:ea typeface="DejaVu Sans"/>
                    <a:cs typeface="DejaVu Sans"/>
                  </a:rPr>
                  <a:t>:</a:t>
                </a:r>
              </a:p>
            </p:txBody>
          </p:sp>
        </mc:Choice>
        <mc:Fallback xmlns="">
          <p:sp>
            <p:nvSpPr>
              <p:cNvPr id="10" name="equivalence">
                <a:extLst>
                  <a:ext uri="{FF2B5EF4-FFF2-40B4-BE49-F238E27FC236}">
                    <a16:creationId xmlns:a16="http://schemas.microsoft.com/office/drawing/2014/main" id="{2E5AEEA2-3C34-4C9C-9CEE-7B4266C4DA26}"/>
                  </a:ext>
                </a:extLst>
              </p:cNvPr>
              <p:cNvSpPr>
                <a:spLocks noGrp="1" noRot="1" noChangeAspect="1" noMove="1" noResize="1" noEditPoints="1" noAdjustHandles="1" noChangeArrowheads="1" noChangeShapeType="1" noTextEdit="1"/>
              </p:cNvSpPr>
              <p:nvPr/>
            </p:nvSpPr>
            <p:spPr>
              <a:xfrm>
                <a:off x="571500" y="4905565"/>
                <a:ext cx="11049000" cy="619124"/>
              </a:xfrm>
              <a:prstGeom prst="rect">
                <a:avLst/>
              </a:prstGeom>
              <a:blipFill>
                <a:blip r:embed="rId8"/>
                <a:stretch>
                  <a:fillRect t="-12871" b="-257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9"/>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Same </a:t>
            </a:r>
            <a:r>
              <a:rPr lang="it-IT" sz="2175" b="0" dirty="0" err="1">
                <a:solidFill>
                  <a:srgbClr val="526276"/>
                </a:solidFill>
                <a:latin typeface="DejaVu Sans"/>
                <a:ea typeface="DejaVu Sans"/>
                <a:cs typeface="DejaVu Sans"/>
              </a:rPr>
              <a:t>problem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for </a:t>
            </a:r>
            <a:r>
              <a:rPr sz="2175" b="0" dirty="0">
                <a:solidFill>
                  <a:srgbClr val="FF0000"/>
                </a:solidFill>
                <a:latin typeface="DejaVu Sans"/>
                <a:ea typeface="DejaVu Sans"/>
                <a:cs typeface="DejaVu Sans"/>
              </a:rPr>
              <a:t>any</a:t>
            </a:r>
            <a:r>
              <a:rPr sz="2175" b="0" dirty="0">
                <a:solidFill>
                  <a:srgbClr val="526276"/>
                </a:solidFill>
                <a:latin typeface="DejaVu Sans"/>
                <a:ea typeface="DejaVu Sans"/>
                <a:cs typeface="DejaVu Sans"/>
              </a:rPr>
              <a:t>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FF0000"/>
                        </a:solidFill>
                        <a:latin typeface="Cambria Math" panose="02040503050406030204" pitchFamily="18" charset="0"/>
                        <a:ea typeface="DejaVu Sans"/>
                        <a:cs typeface="DejaVu Sans"/>
                      </a:rPr>
                      <m:t>𝑓</m:t>
                    </m:r>
                  </m:oMath>
                </a14:m>
                <a:r>
                  <a:rPr lang="en-GB" sz="1950" b="0" dirty="0">
                    <a:solidFill>
                      <a:srgbClr val="FF0000"/>
                    </a:solidFill>
                    <a:latin typeface="DejaVu Sans"/>
                    <a:ea typeface="DejaVu Sans"/>
                    <a:cs typeface="DejaVu Sans"/>
                  </a:rPr>
                  <a:t> is still an affine function </a:t>
                </a:r>
                <a:r>
                  <a:rPr lang="en-GB" sz="1950" b="0" dirty="0">
                    <a:solidFill>
                      <a:srgbClr val="526276"/>
                    </a:solidFill>
                    <a:latin typeface="DejaVu Sans"/>
                    <a:ea typeface="DejaVu Sans"/>
                    <a:cs typeface="DejaVu Sans"/>
                  </a:rPr>
                  <a:t>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wrap="none" lIns="0" tIns="0" rIns="0" bIns="0" anchor="ctr">
            <a:noAutofit/>
          </a:bodyPr>
          <a:lstStyle/>
          <a:p>
            <a:pPr algn="ctr"/>
            <a:r>
              <a:rPr lang="en-GB" sz="1875" b="0">
                <a:solidFill>
                  <a:srgbClr val="526276"/>
                </a:solidFill>
                <a:latin typeface="DejaVu Sans"/>
              </a:rPr>
              <a:t>Repeating the argument: </a:t>
            </a:r>
            <a:r>
              <a:rPr lang="en-GB" sz="1875" b="0">
                <a:solidFill>
                  <a:srgbClr val="FF0000"/>
                </a:solidFill>
                <a:latin typeface="DejaVu Sans"/>
              </a:rPr>
              <a:t>the composition of any number of affine maps remains affine.</a:t>
            </a:r>
            <a:endParaRPr lang="en-GB" sz="1875"/>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a:t>
            </a:r>
            <a:r>
              <a:rPr lang="it-IT" sz="1950" b="1" dirty="0" err="1">
                <a:solidFill>
                  <a:srgbClr val="182D45"/>
                </a:solidFill>
                <a:latin typeface="DejaVu Sans"/>
                <a:ea typeface="DejaVu Sans"/>
                <a:cs typeface="DejaVu Sans"/>
              </a:rPr>
              <a:t>maps</a:t>
            </a:r>
            <a:r>
              <a:rPr sz="1950" b="1" dirty="0">
                <a:solidFill>
                  <a:srgbClr val="182D45"/>
                </a:solidFill>
                <a:latin typeface="DejaVu Sans"/>
                <a:ea typeface="DejaVu Sans"/>
                <a:cs typeface="DejaVu Sans"/>
              </a:rPr>
              <a:t>.</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Each feature combines an affine transformation with </a:t>
            </a:r>
            <a:r>
              <a:rPr sz="2100" b="1" dirty="0" err="1">
                <a:solidFill>
                  <a:srgbClr val="FF0000"/>
                </a:solidFill>
                <a:latin typeface="DejaVu Sans"/>
                <a:ea typeface="DejaVu Sans"/>
                <a:cs typeface="DejaVu Sans"/>
              </a:rPr>
              <a:t>ReLU</a:t>
            </a:r>
            <a:r>
              <a:rPr sz="2100" b="1" dirty="0">
                <a:solidFill>
                  <a:srgbClr val="FF0000"/>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a:t>
            </a:r>
            <a:r>
              <a:rPr lang="it-IT" sz="2475" b="0" dirty="0">
                <a:solidFill>
                  <a:srgbClr val="8993A0"/>
                </a:solidFill>
                <a:latin typeface="DejaVu Sans"/>
                <a:ea typeface="DejaVu Sans"/>
                <a:cs typeface="DejaVu Sans"/>
              </a:rPr>
              <a:t>features</a:t>
            </a:r>
            <a:r>
              <a:rPr sz="2475" b="0" dirty="0">
                <a:solidFill>
                  <a:srgbClr val="8993A0"/>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weighted</a:t>
            </a:r>
            <a:r>
              <a:rPr lang="it-IT" sz="3300" b="1" dirty="0">
                <a:solidFill>
                  <a:srgbClr val="182D45"/>
                </a:solidFill>
                <a:latin typeface="DejaVu Sans"/>
                <a:ea typeface="DejaVu Sans"/>
                <a:cs typeface="DejaVu Sans"/>
              </a:rPr>
              <a:t> sum</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855976"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Weighted sums</a:t>
                </a:r>
                <a:r>
                  <a:rPr lang="it-IT" sz="1875" b="1" dirty="0">
                    <a:solidFill>
                      <a:srgbClr val="087F83"/>
                    </a:solidFill>
                    <a:latin typeface="DejaVu Sans"/>
                    <a:ea typeface="DejaVu Sans"/>
                    <a:cs typeface="DejaVu Sans"/>
                  </a:rPr>
                  <a:t> </a:t>
                </a:r>
                <a14:m>
                  <m:oMath xmlns:m="http://schemas.openxmlformats.org/officeDocument/2006/math">
                    <m:r>
                      <a:rPr lang="en-GB" sz="2000">
                        <a:solidFill>
                          <a:srgbClr val="087F83"/>
                        </a:solidFill>
                        <a:latin typeface="Cambria Math"/>
                        <a:ea typeface="Cambria Math"/>
                        <a:cs typeface="Cambria Math"/>
                      </a:rPr>
                      <m:t>𝐱𝐖</m:t>
                    </m:r>
                  </m:oMath>
                </a14:m>
                <a:endParaRPr sz="1875" b="1" dirty="0">
                  <a:solidFill>
                    <a:srgbClr val="087F83"/>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19256590-E040-4945-B327-B8EC30621C7F}"/>
                  </a:ext>
                </a:extLst>
              </p:cNvPr>
              <p:cNvSpPr>
                <a:spLocks noGrp="1" noRot="1" noChangeAspect="1" noMove="1" noResize="1" noEditPoints="1" noAdjustHandles="1" noChangeArrowheads="1" noChangeShapeType="1" noTextEdit="1"/>
              </p:cNvSpPr>
              <p:nvPr/>
            </p:nvSpPr>
            <p:spPr>
              <a:xfrm>
                <a:off x="3124200" y="1943100"/>
                <a:ext cx="2855976"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855946"/>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Preactivations</a:t>
                </a:r>
              </a:p>
              <a:p>
                <a:pPr algn="ctr">
                  <a:defRPr sz="1875" b="1">
                    <a:solidFill>
                      <a:srgbClr val="B6C2CD"/>
                    </a:solidFill>
                    <a:latin typeface="DejaVu Sans"/>
                    <a:ea typeface="DejaVu Sans"/>
                    <a:cs typeface="DejaVu Sans"/>
                  </a:defRPr>
                </a:pPr>
                <a14:m>
                  <m:oMathPara xmlns:m="http://schemas.openxmlformats.org/officeDocument/2006/math">
                    <m:oMath>
                      <m:r>
                        <a:rPr lang="it-IT" smtClean="0">
                          <a:solidFill>
                            <a:srgbClr val="B6C2CD"/>
                          </a:solidFill>
                          <a:latin typeface="Cambria Math"/>
                          <a:ea typeface="Cambria Math"/>
                          <a:cs typeface="Cambria Math"/>
                        </a:rPr>
                        <m:t>𝐱𝐖</m:t>
                      </m:r>
                      <m:r>
                        <a:rPr lang="it-IT" b="1" i="0" smtClean="0">
                          <a:solidFill>
                            <a:srgbClr val="B6C2CD"/>
                          </a:solidFill>
                          <a:latin typeface="Cambria Math" panose="02040503050406030204" pitchFamily="18" charset="0"/>
                          <a:ea typeface="Cambria Math"/>
                          <a:cs typeface="Cambria Math"/>
                        </a:rPr>
                        <m:t>+</m:t>
                      </m:r>
                      <m:r>
                        <a:rPr lang="it-IT" b="1" i="0" smtClean="0">
                          <a:solidFill>
                            <a:srgbClr val="B6C2CD"/>
                          </a:solidFill>
                          <a:latin typeface="Cambria Math" panose="02040503050406030204" pitchFamily="18" charset="0"/>
                          <a:ea typeface="Cambria Math"/>
                          <a:cs typeface="Cambria Math"/>
                        </a:rPr>
                        <m:t>𝐛</m:t>
                      </m:r>
                    </m:oMath>
                  </m:oMathPara>
                </a14:m>
                <a:endParaRPr sz="1875" b="1" dirty="0">
                  <a:solidFill>
                    <a:srgbClr val="B6C2CD"/>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93FECA29-7AD4-4443-A452-343233E30276}"/>
                  </a:ext>
                </a:extLst>
              </p:cNvPr>
              <p:cNvSpPr>
                <a:spLocks noGrp="1" noRot="1" noChangeAspect="1" noMove="1" noResize="1" noEditPoints="1" noAdjustHandles="1" noChangeArrowheads="1" noChangeShapeType="1" noTextEdit="1"/>
              </p:cNvSpPr>
              <p:nvPr/>
            </p:nvSpPr>
            <p:spPr>
              <a:xfrm>
                <a:off x="6324600" y="1855946"/>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6"/>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63" name="activation_heading">
                <a:extLst>
                  <a:ext uri="{FF2B5EF4-FFF2-40B4-BE49-F238E27FC236}">
                    <a16:creationId xmlns:a16="http://schemas.microsoft.com/office/drawing/2014/main" id="{D09BC7B6-750C-D887-2D10-C7EF8983410D}"/>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endParaRPr sz="1875" b="1" dirty="0">
                  <a:solidFill>
                    <a:srgbClr val="B6C2CD"/>
                  </a:solidFill>
                  <a:latin typeface="DejaVu Sans"/>
                  <a:ea typeface="DejaVu Sans"/>
                  <a:cs typeface="DejaVu Sans"/>
                </a:endParaRPr>
              </a:p>
            </p:txBody>
          </p:sp>
        </mc:Choice>
        <mc:Fallback xmlns="">
          <p:sp>
            <p:nvSpPr>
              <p:cNvPr id="63" name="activation_heading">
                <a:extLst>
                  <a:ext uri="{FF2B5EF4-FFF2-40B4-BE49-F238E27FC236}">
                    <a16:creationId xmlns:a16="http://schemas.microsoft.com/office/drawing/2014/main" id="{D09BC7B6-750C-D887-2D10-C7EF8983410D}"/>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27"/>
                <a:stretch>
                  <a:fillRect t="-45161" b="-629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preactivations</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sums</a:t>
                </a:r>
                <a:r>
                  <a:rPr lang="it-IT" sz="1875" b="1" dirty="0">
                    <a:solidFill>
                      <a:srgbClr val="182D45"/>
                    </a:solidFill>
                    <a:latin typeface="DejaVu Sans"/>
                    <a:ea typeface="DejaVu Sans"/>
                    <a:cs typeface="DejaVu Sans"/>
                  </a:rPr>
                  <a:t> </a:t>
                </a:r>
                <a14:m>
                  <m:oMath xmlns:m="http://schemas.openxmlformats.org/officeDocument/2006/math">
                    <m:r>
                      <a:rPr lang="en-GB" sz="2000" smtClean="0">
                        <a:solidFill>
                          <a:schemeClr val="tx2"/>
                        </a:solidFill>
                        <a:latin typeface="Cambria Math"/>
                        <a:ea typeface="Cambria Math"/>
                        <a:cs typeface="Cambria Math"/>
                      </a:rPr>
                      <m:t>𝐱𝐖</m:t>
                    </m:r>
                  </m:oMath>
                </a14:m>
                <a:endParaRPr sz="1875" b="1" dirty="0">
                  <a:solidFill>
                    <a:srgbClr val="182D45"/>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28C22478-79C6-4885-9D6D-2ACDA5819465}"/>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861661"/>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Preactivations</a:t>
                </a:r>
              </a:p>
              <a:p>
                <a:pPr algn="ctr">
                  <a:defRPr sz="1875" b="1">
                    <a:solidFill>
                      <a:srgbClr val="087F83"/>
                    </a:solidFill>
                    <a:latin typeface="DejaVu Sans"/>
                    <a:ea typeface="DejaVu Sans"/>
                    <a:cs typeface="DejaVu Sans"/>
                  </a:defRPr>
                </a:pPr>
                <a14:m>
                  <m:oMathPara xmlns:m="http://schemas.openxmlformats.org/officeDocument/2006/math">
                    <m:oMath>
                      <m:r>
                        <a:rPr lang="it-IT">
                          <a:solidFill>
                            <a:srgbClr val="087F83"/>
                          </a:solidFill>
                          <a:latin typeface="Cambria Math"/>
                          <a:ea typeface="Cambria Math"/>
                          <a:cs typeface="Cambria Math"/>
                        </a:rPr>
                        <m:t>𝐱𝐖</m:t>
                      </m:r>
                      <m:r>
                        <a:rPr lang="it-IT" b="1" i="0" smtClean="0">
                          <a:solidFill>
                            <a:srgbClr val="087F83"/>
                          </a:solidFill>
                          <a:latin typeface="Cambria Math" panose="02040503050406030204" pitchFamily="18" charset="0"/>
                          <a:ea typeface="Cambria Math"/>
                          <a:cs typeface="Cambria Math"/>
                        </a:rPr>
                        <m:t>+</m:t>
                      </m:r>
                      <m:r>
                        <a:rPr lang="it-IT" b="1" i="0" smtClean="0">
                          <a:solidFill>
                            <a:srgbClr val="087F83"/>
                          </a:solidFill>
                          <a:latin typeface="Cambria Math" panose="02040503050406030204" pitchFamily="18" charset="0"/>
                          <a:ea typeface="Cambria Math"/>
                          <a:cs typeface="Cambria Math"/>
                        </a:rPr>
                        <m:t>𝐛</m:t>
                      </m:r>
                    </m:oMath>
                  </m:oMathPara>
                </a14:m>
                <a:endParaRPr sz="1875" b="1" dirty="0">
                  <a:solidFill>
                    <a:srgbClr val="087F83"/>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5DD5E62E-875E-44A4-8990-7A4DB343836B}"/>
                  </a:ext>
                </a:extLst>
              </p:cNvPr>
              <p:cNvSpPr>
                <a:spLocks noGrp="1" noRot="1" noChangeAspect="1" noMove="1" noResize="1" noEditPoints="1" noAdjustHandles="1" noChangeArrowheads="1" noChangeShapeType="1" noTextEdit="1"/>
              </p:cNvSpPr>
              <p:nvPr/>
            </p:nvSpPr>
            <p:spPr>
              <a:xfrm>
                <a:off x="6324600" y="1861661"/>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r>
                  <a:rPr lang="it-IT" sz="1875" b="1" dirty="0">
                    <a:solidFill>
                      <a:srgbClr val="B6C2CD"/>
                    </a:solidFill>
                    <a:latin typeface="DejaVu Sans"/>
                    <a:ea typeface="DejaVu Sans"/>
                    <a:cs typeface="DejaVu Sans"/>
                  </a:rPr>
                  <a:t> </a:t>
                </a:r>
                <a:endParaRPr sz="1875" b="1" dirty="0">
                  <a:solidFill>
                    <a:srgbClr val="B6C2CD"/>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A7EAE599-21D4-4975-AF44-39CB58C8C5CC}"/>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6"/>
                <a:stretch>
                  <a:fillRect t="-45161" b="-6290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7"/>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8"/>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9"/>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1"/>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2"/>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4"/>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dirty="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6"/>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7"/>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dirty="0" err="1">
                <a:solidFill>
                  <a:srgbClr val="B6C2CD"/>
                </a:solidFill>
                <a:latin typeface="DejaVu Sans"/>
                <a:ea typeface="DejaVu Sans"/>
                <a:cs typeface="DejaVu Sans"/>
              </a:rPr>
              <a:t>ReLU</a:t>
            </a:r>
            <a:endParaRPr sz="1875" b="0" dirty="0">
              <a:solidFill>
                <a:srgbClr val="B6C2CD"/>
              </a:solidFill>
              <a:latin typeface="DejaVu Sans"/>
              <a:ea typeface="DejaVu Sans"/>
              <a:cs typeface="DejaVu Sans"/>
            </a:endParaRP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20"/>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1"/>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2"/>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4"/>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6"/>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7"/>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it-IT" sz="2800" b="0" i="0"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−1,3,1</m:t>
                          </m:r>
                        </m:e>
                      </m:d>
                    </m:oMath>
                  </m:oMathPara>
                </a14:m>
                <a:endParaRPr lang="en-GB" sz="28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8"/>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activations</a:t>
            </a:r>
            <a:r>
              <a:rPr lang="it-IT" sz="3300" b="1" dirty="0">
                <a:solidFill>
                  <a:srgbClr val="182D45"/>
                </a:solidFill>
                <a:latin typeface="DejaVu Sans"/>
                <a:ea typeface="DejaVu Sans"/>
                <a:cs typeface="DejaVu Sans"/>
              </a:rPr>
              <a:t> / features</a:t>
            </a: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860042"/>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lang="it-IT" sz="1875" b="1" dirty="0">
                    <a:solidFill>
                      <a:srgbClr val="526276"/>
                    </a:solidFill>
                    <a:latin typeface="DejaVu Sans"/>
                    <a:ea typeface="DejaVu Sans"/>
                    <a:cs typeface="DejaVu Sans"/>
                  </a:rPr>
                  <a:t>Preactivations</a:t>
                </a:r>
              </a:p>
              <a:p>
                <a:pPr algn="ctr">
                  <a:defRPr sz="1875" b="1">
                    <a:solidFill>
                      <a:srgbClr val="526276"/>
                    </a:solidFill>
                    <a:latin typeface="DejaVu Sans"/>
                    <a:ea typeface="DejaVu Sans"/>
                    <a:cs typeface="DejaVu Sans"/>
                  </a:defRPr>
                </a:pPr>
                <a14:m>
                  <m:oMathPara xmlns:m="http://schemas.openxmlformats.org/officeDocument/2006/math">
                    <m:oMath>
                      <m:r>
                        <a:rPr lang="it-IT">
                          <a:solidFill>
                            <a:srgbClr val="526276"/>
                          </a:solidFill>
                          <a:latin typeface="Cambria Math"/>
                          <a:ea typeface="Cambria Math"/>
                          <a:cs typeface="Cambria Math"/>
                        </a:rPr>
                        <m:t>𝐱𝐖</m:t>
                      </m:r>
                      <m:r>
                        <a:rPr lang="it-IT" b="1" i="0" smtClean="0">
                          <a:solidFill>
                            <a:srgbClr val="526276"/>
                          </a:solidFill>
                          <a:latin typeface="Cambria Math" panose="02040503050406030204" pitchFamily="18" charset="0"/>
                          <a:ea typeface="Cambria Math"/>
                          <a:cs typeface="Cambria Math"/>
                        </a:rPr>
                        <m:t>+</m:t>
                      </m:r>
                      <m:r>
                        <a:rPr lang="it-IT" b="1" i="0" smtClean="0">
                          <a:solidFill>
                            <a:srgbClr val="526276"/>
                          </a:solidFill>
                          <a:latin typeface="Cambria Math" panose="02040503050406030204" pitchFamily="18" charset="0"/>
                          <a:ea typeface="Cambria Math"/>
                          <a:cs typeface="Cambria Math"/>
                        </a:rPr>
                        <m:t>𝐛</m:t>
                      </m:r>
                    </m:oMath>
                  </m:oMathPara>
                </a14:m>
                <a:endParaRPr sz="1875" b="1" dirty="0">
                  <a:solidFill>
                    <a:srgbClr val="526276"/>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83CEACA2-96A5-4E01-B9EF-D666DF5A8E7A}"/>
                  </a:ext>
                </a:extLst>
              </p:cNvPr>
              <p:cNvSpPr>
                <a:spLocks noGrp="1" noRot="1" noChangeAspect="1" noMove="1" noResize="1" noEditPoints="1" noAdjustHandles="1" noChangeArrowheads="1" noChangeShapeType="1" noTextEdit="1"/>
              </p:cNvSpPr>
              <p:nvPr/>
            </p:nvSpPr>
            <p:spPr>
              <a:xfrm>
                <a:off x="6324600" y="1860042"/>
                <a:ext cx="2571750" cy="381000"/>
              </a:xfrm>
              <a:prstGeom prst="rect">
                <a:avLst/>
              </a:prstGeom>
              <a:blipFill>
                <a:blip r:embed="rId4"/>
                <a:stretch>
                  <a:fillRect t="-44444"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53600" y="1743075"/>
                <a:ext cx="2324100" cy="55245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Activations</a:t>
                </a: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i="0" smtClean="0">
                        <a:solidFill>
                          <a:srgbClr val="087F83"/>
                        </a:solidFill>
                        <a:latin typeface="Cambria Math" panose="02040503050406030204" pitchFamily="18" charset="0"/>
                        <a:ea typeface="DejaVu Sans"/>
                        <a:cs typeface="DejaVu Sans"/>
                      </a:rPr>
                      <m:t>𝛟</m:t>
                    </m:r>
                    <m:d>
                      <m:dPr>
                        <m:ctrlPr>
                          <a:rPr lang="it-IT" sz="1875" b="1" i="0" smtClean="0">
                            <a:solidFill>
                              <a:srgbClr val="087F83"/>
                            </a:solidFill>
                            <a:latin typeface="Cambria Math" panose="02040503050406030204" pitchFamily="18" charset="0"/>
                            <a:ea typeface="DejaVu Sans"/>
                            <a:cs typeface="DejaVu Sans"/>
                          </a:rPr>
                        </m:ctrlPr>
                      </m:dPr>
                      <m:e>
                        <m:r>
                          <a:rPr lang="it-IT" sz="1875" b="1" i="0" smtClean="0">
                            <a:solidFill>
                              <a:srgbClr val="087F83"/>
                            </a:solidFill>
                            <a:latin typeface="Cambria Math" panose="02040503050406030204" pitchFamily="18" charset="0"/>
                            <a:ea typeface="DejaVu Sans"/>
                            <a:cs typeface="DejaVu Sans"/>
                          </a:rPr>
                          <m:t>𝐱</m:t>
                        </m:r>
                      </m:e>
                    </m:d>
                  </m:oMath>
                </a14:m>
                <a:endParaRPr sz="1875" b="1" dirty="0">
                  <a:solidFill>
                    <a:srgbClr val="087F83"/>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3A3D7F12-3314-4F2C-8C1D-3566A45A2BBF}"/>
                  </a:ext>
                </a:extLst>
              </p:cNvPr>
              <p:cNvSpPr>
                <a:spLocks noGrp="1" noRot="1" noChangeAspect="1" noMove="1" noResize="1" noEditPoints="1" noAdjustHandles="1" noChangeArrowheads="1" noChangeShapeType="1" noTextEdit="1"/>
              </p:cNvSpPr>
              <p:nvPr/>
            </p:nvSpPr>
            <p:spPr>
              <a:xfrm>
                <a:off x="9753600" y="1743075"/>
                <a:ext cx="2324100" cy="552450"/>
              </a:xfrm>
              <a:prstGeom prst="rect">
                <a:avLst/>
              </a:prstGeom>
              <a:blipFill>
                <a:blip r:embed="rId5"/>
                <a:stretch>
                  <a:fillRect t="-15385" b="-26374"/>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1" smtClean="0">
                          <a:solidFill>
                            <a:srgbClr val="087F83"/>
                          </a:solidFill>
                          <a:latin typeface="Cambria Math" panose="02040503050406030204" pitchFamily="18" charset="0"/>
                          <a:ea typeface="DejaVu Sans"/>
                          <a:cs typeface="DejaVu Sans"/>
                        </a:rPr>
                        <m:t>𝛟</m:t>
                      </m:r>
                      <m:d>
                        <m:dPr>
                          <m:ctrlPr>
                            <a:rPr lang="it-IT" sz="2800" b="1">
                              <a:solidFill>
                                <a:srgbClr val="087F83"/>
                              </a:solidFill>
                              <a:latin typeface="Cambria Math" panose="02040503050406030204" pitchFamily="18" charset="0"/>
                              <a:ea typeface="DejaVu Sans"/>
                              <a:cs typeface="DejaVu Sans"/>
                            </a:rPr>
                          </m:ctrlPr>
                        </m:dPr>
                        <m:e>
                          <m:r>
                            <a:rPr lang="it-IT" sz="2800" b="1">
                              <a:solidFill>
                                <a:srgbClr val="087F83"/>
                              </a:solidFill>
                              <a:latin typeface="Cambria Math" panose="02040503050406030204" pitchFamily="18" charset="0"/>
                              <a:ea typeface="DejaVu Sans"/>
                              <a:cs typeface="DejaVu Sans"/>
                            </a:rPr>
                            <m:t>𝐱</m:t>
                          </m:r>
                        </m:e>
                      </m:d>
                      <m:r>
                        <a:rPr lang="it-IT" sz="2800" b="1" i="1" smtClean="0">
                          <a:solidFill>
                            <a:srgbClr val="087F83"/>
                          </a:solidFill>
                          <a:latin typeface="Cambria Math" panose="02040503050406030204" pitchFamily="18" charset="0"/>
                          <a:ea typeface="DejaVu Sans"/>
                          <a:cs typeface="DejaVu Sans"/>
                        </a:rPr>
                        <m:t>=</m:t>
                      </m:r>
                      <m:d>
                        <m:dPr>
                          <m:ctrlPr>
                            <a:rPr lang="it-IT" sz="2800" b="0" i="0" smtClean="0">
                              <a:solidFill>
                                <a:srgbClr val="087F83"/>
                              </a:solidFill>
                              <a:latin typeface="Cambria Math" panose="02040503050406030204" pitchFamily="18" charset="0"/>
                              <a:ea typeface="Cambria Math"/>
                              <a:cs typeface="Cambria Math"/>
                            </a:rPr>
                          </m:ctrlPr>
                        </m:dPr>
                        <m:e>
                          <m:r>
                            <m:rPr>
                              <m:sty m:val="p"/>
                            </m:rPr>
                            <a:rPr lang="it-IT" sz="2800" b="0" i="0" smtClean="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1</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2</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i="1">
                                      <a:solidFill>
                                        <a:srgbClr val="087F83"/>
                                      </a:solidFill>
                                      <a:latin typeface="Cambria Math" panose="02040503050406030204" pitchFamily="18" charset="0"/>
                                      <a:ea typeface="Cambria Math"/>
                                    </a:rPr>
                                    <m:t>3</m:t>
                                  </m:r>
                                </m:sub>
                              </m:sSub>
                            </m:e>
                          </m:d>
                        </m:e>
                      </m:d>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0,3,1</m:t>
                          </m:r>
                        </m:e>
                      </m:d>
                    </m:oMath>
                  </m:oMathPara>
                </a14:m>
                <a:endParaRPr lang="en-GB" sz="2800" dirty="0"/>
              </a:p>
            </p:txBody>
          </p:sp>
        </mc:Choice>
        <mc:Fallback xmlns="">
          <p:sp>
            <p:nvSpPr>
              <p:cNvPr id="58" name="result_row" descr="(\phi_1((1,2)),\phi_2((1,2)),\phi_3((1,2)))=(0,3,1)">
                <a:extLst>
                  <a:ext uri="{FF2B5EF4-FFF2-40B4-BE49-F238E27FC236}">
                    <a16:creationId xmlns:a16="http://schemas.microsoft.com/office/drawing/2014/main" id="{383503D8-A6C4-4F72-BDBB-FEF09031A8C3}"/>
                  </a:ext>
                </a:extLst>
              </p:cNvPr>
              <p:cNvSpPr>
                <a:spLocks noGrp="1" noRot="1" noChangeAspect="1" noMove="1" noResize="1" noEditPoints="1" noAdjustHandles="1" noChangeArrowheads="1" noChangeShapeType="1" noTextEdit="1"/>
              </p:cNvSpPr>
              <p:nvPr/>
            </p:nvSpPr>
            <p:spPr>
              <a:xfrm>
                <a:off x="476250" y="6029325"/>
                <a:ext cx="11239500" cy="495300"/>
              </a:xfrm>
              <a:prstGeom prst="rect">
                <a:avLst/>
              </a:prstGeom>
              <a:blipFill>
                <a:blip r:embed="rId28"/>
                <a:stretch>
                  <a:fillRect l="-868"/>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63" name="weighted_heading">
                <a:extLst>
                  <a:ext uri="{FF2B5EF4-FFF2-40B4-BE49-F238E27FC236}">
                    <a16:creationId xmlns:a16="http://schemas.microsoft.com/office/drawing/2014/main" id="{614A04DB-6022-AB05-055C-922BFC516D66}"/>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lang="it-IT" sz="1875" b="1" dirty="0">
                    <a:solidFill>
                      <a:srgbClr val="526276"/>
                    </a:solidFill>
                    <a:latin typeface="DejaVu Sans"/>
                    <a:ea typeface="DejaVu Sans"/>
                    <a:cs typeface="DejaVu Sans"/>
                  </a:rPr>
                  <a:t>Weighted sums </a:t>
                </a:r>
                <a14:m>
                  <m:oMath xmlns:m="http://schemas.openxmlformats.org/officeDocument/2006/math">
                    <m:r>
                      <a:rPr lang="it-IT" sz="2000" smtClean="0">
                        <a:solidFill>
                          <a:srgbClr val="526276"/>
                        </a:solidFill>
                        <a:latin typeface="Cambria Math"/>
                        <a:ea typeface="Cambria Math"/>
                        <a:cs typeface="Cambria Math"/>
                      </a:rPr>
                      <m:t>𝐱𝐖</m:t>
                    </m:r>
                  </m:oMath>
                </a14:m>
                <a:endParaRPr lang="it-IT" sz="1875" b="1" dirty="0">
                  <a:solidFill>
                    <a:srgbClr val="526276"/>
                  </a:solidFill>
                  <a:latin typeface="DejaVu Sans"/>
                  <a:ea typeface="DejaVu Sans"/>
                  <a:cs typeface="DejaVu Sans"/>
                </a:endParaRPr>
              </a:p>
            </p:txBody>
          </p:sp>
        </mc:Choice>
        <mc:Fallback xmlns="">
          <p:sp>
            <p:nvSpPr>
              <p:cNvPr id="63" name="weighted_heading">
                <a:extLst>
                  <a:ext uri="{FF2B5EF4-FFF2-40B4-BE49-F238E27FC236}">
                    <a16:creationId xmlns:a16="http://schemas.microsoft.com/office/drawing/2014/main" id="{614A04DB-6022-AB05-055C-922BFC516D66}"/>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29"/>
                <a:stretch>
                  <a:fillRect t="-6452" b="-2741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output</a:t>
            </a:r>
          </a:p>
        </p:txBody>
      </p:sp>
      <mc:AlternateContent xmlns:mc="http://schemas.openxmlformats.org/markup-compatibility/2006" xmlns:a14="http://schemas.microsoft.com/office/drawing/2010/main">
        <mc:Choice Requires="a14">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err="1">
                    <a:solidFill>
                      <a:srgbClr val="087F83"/>
                    </a:solidFill>
                    <a:latin typeface="DejaVu Sans"/>
                    <a:ea typeface="DejaVu Sans"/>
                    <a:cs typeface="DejaVu Sans"/>
                  </a:rPr>
                  <a:t>Activations</a:t>
                </a:r>
                <a:endParaRPr lang="it-IT"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a:solidFill>
                          <a:srgbClr val="087F83"/>
                        </a:solidFill>
                        <a:latin typeface="Cambria Math" panose="02040503050406030204" pitchFamily="18" charset="0"/>
                        <a:ea typeface="DejaVu Sans"/>
                        <a:cs typeface="DejaVu Sans"/>
                      </a:rPr>
                      <m:t>𝛟</m:t>
                    </m:r>
                    <m:d>
                      <m:dPr>
                        <m:ctrlPr>
                          <a:rPr lang="ar-AE" sz="1875" b="1">
                            <a:solidFill>
                              <a:srgbClr val="087F83"/>
                            </a:solidFill>
                            <a:latin typeface="Cambria Math" panose="02040503050406030204" pitchFamily="18" charset="0"/>
                            <a:ea typeface="DejaVu Sans"/>
                            <a:cs typeface="DejaVu Sans"/>
                          </a:rPr>
                        </m:ctrlPr>
                      </m:dPr>
                      <m:e>
                        <m:r>
                          <a:rPr lang="ar-AE" sz="1875" b="1">
                            <a:solidFill>
                              <a:srgbClr val="087F83"/>
                            </a:solidFill>
                            <a:latin typeface="Cambria Math" panose="02040503050406030204" pitchFamily="18" charset="0"/>
                            <a:ea typeface="DejaVu Sans"/>
                            <a:cs typeface="DejaVu Sans"/>
                          </a:rPr>
                          <m:t>𝐱</m:t>
                        </m:r>
                      </m:e>
                    </m:d>
                  </m:oMath>
                </a14:m>
                <a:endParaRPr lang="ar-AE"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 </a:t>
                </a:r>
                <a:endParaRPr sz="1875" b="1" dirty="0">
                  <a:solidFill>
                    <a:srgbClr val="087F83"/>
                  </a:solidFill>
                  <a:latin typeface="DejaVu Sans"/>
                  <a:ea typeface="DejaVu Sans"/>
                  <a:cs typeface="DejaVu Sans"/>
                </a:endParaRPr>
              </a:p>
            </p:txBody>
          </p:sp>
        </mc:Choice>
        <mc:Fallback xmlns="">
          <p:sp>
            <p:nvSpPr>
              <p:cNvPr id="5" name="activation_heading">
                <a:extLst>
                  <a:ext uri="{FF2B5EF4-FFF2-40B4-BE49-F238E27FC236}">
                    <a16:creationId xmlns:a16="http://schemas.microsoft.com/office/drawing/2014/main" id="{EA67880A-55BD-454D-82A3-C3A3D3E2A002}"/>
                  </a:ext>
                </a:extLst>
              </p:cNvPr>
              <p:cNvSpPr>
                <a:spLocks noGrp="1" noRot="1" noChangeAspect="1" noMove="1" noResize="1" noEditPoints="1" noAdjustHandles="1" noChangeArrowheads="1" noChangeShapeType="1" noTextEdit="1"/>
              </p:cNvSpPr>
              <p:nvPr/>
            </p:nvSpPr>
            <p:spPr>
              <a:xfrm>
                <a:off x="571500" y="1943100"/>
                <a:ext cx="3238500" cy="381000"/>
              </a:xfrm>
              <a:prstGeom prst="rect">
                <a:avLst/>
              </a:prstGeom>
              <a:blipFill>
                <a:blip r:embed="rId3"/>
                <a:stretch>
                  <a:fillRect t="-83871" b="-2580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2757487"/>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endParaRPr lang="it-IT" sz="1875"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14:m>
                  <m:oMathPara xmlns:m="http://schemas.openxmlformats.org/officeDocument/2006/math">
                    <m:oMath>
                      <m:r>
                        <a:rPr lang="ar-AE" sz="1875" b="1" smtClean="0">
                          <a:solidFill>
                            <a:schemeClr val="tx2"/>
                          </a:solidFill>
                          <a:latin typeface="Cambria Math" panose="02040503050406030204" pitchFamily="18" charset="0"/>
                          <a:ea typeface="DejaVu Sans"/>
                          <a:cs typeface="DejaVu Sans"/>
                        </a:rPr>
                        <m:t>𝛟</m:t>
                      </m:r>
                      <m:d>
                        <m:dPr>
                          <m:ctrlPr>
                            <a:rPr lang="ar-AE" sz="1875" b="1">
                              <a:solidFill>
                                <a:schemeClr val="tx2"/>
                              </a:solidFill>
                              <a:latin typeface="Cambria Math" panose="02040503050406030204" pitchFamily="18" charset="0"/>
                              <a:ea typeface="DejaVu Sans"/>
                              <a:cs typeface="DejaVu Sans"/>
                            </a:rPr>
                          </m:ctrlPr>
                        </m:dPr>
                        <m:e>
                          <m:r>
                            <a:rPr lang="ar-AE" sz="1875" b="1">
                              <a:solidFill>
                                <a:schemeClr val="tx2"/>
                              </a:solidFill>
                              <a:latin typeface="Cambria Math" panose="02040503050406030204" pitchFamily="18" charset="0"/>
                              <a:ea typeface="DejaVu Sans"/>
                              <a:cs typeface="DejaVu Sans"/>
                            </a:rPr>
                            <m:t>𝐱</m:t>
                          </m:r>
                        </m:e>
                      </m:d>
                      <m:sSub>
                        <m:sSubPr>
                          <m:ctrlPr>
                            <a:rPr lang="ar-AE" sz="2000">
                              <a:solidFill>
                                <a:schemeClr val="tx2"/>
                              </a:solidFill>
                              <a:latin typeface="Cambria Math"/>
                              <a:ea typeface="Cambria Math"/>
                              <a:cs typeface="Cambria Math"/>
                            </a:rPr>
                          </m:ctrlPr>
                        </m:sSubPr>
                        <m:e>
                          <m:r>
                            <a:rPr lang="ar-AE" sz="2000">
                              <a:solidFill>
                                <a:schemeClr val="tx2"/>
                              </a:solidFill>
                              <a:latin typeface="Cambria Math"/>
                              <a:ea typeface="Cambria Math"/>
                              <a:cs typeface="Cambria Math"/>
                            </a:rPr>
                            <m:t>𝐖</m:t>
                          </m:r>
                        </m:e>
                        <m:sub>
                          <m:r>
                            <m:rPr>
                              <m:sty m:val="p"/>
                            </m:rPr>
                            <a:rPr lang="it-IT" sz="2000">
                              <a:solidFill>
                                <a:schemeClr val="tx2"/>
                              </a:solidFill>
                              <a:latin typeface="Cambria Math"/>
                              <a:ea typeface="Cambria Math"/>
                              <a:cs typeface="Cambria Math"/>
                            </a:rPr>
                            <m:t>out</m:t>
                          </m:r>
                        </m:sub>
                      </m:sSub>
                    </m:oMath>
                  </m:oMathPara>
                </a14:m>
                <a:endParaRPr lang="ar-AE" sz="1875" b="1" dirty="0">
                  <a:solidFill>
                    <a:schemeClr val="tx2"/>
                  </a:solidFill>
                  <a:latin typeface="DejaVu Sans"/>
                  <a:ea typeface="DejaVu Sans"/>
                  <a:cs typeface="DejaVu Sans"/>
                </a:endParaRPr>
              </a:p>
            </p:txBody>
          </p:sp>
        </mc:Choice>
        <mc:Fallback xmlns="">
          <p:sp>
            <p:nvSpPr>
              <p:cNvPr id="6" name="sum_heading">
                <a:extLst>
                  <a:ext uri="{FF2B5EF4-FFF2-40B4-BE49-F238E27FC236}">
                    <a16:creationId xmlns:a16="http://schemas.microsoft.com/office/drawing/2014/main" id="{E4D88998-F393-411B-BBDD-CB731F7F43AB}"/>
                  </a:ext>
                </a:extLst>
              </p:cNvPr>
              <p:cNvSpPr>
                <a:spLocks noGrp="1" noRot="1" noChangeAspect="1" noMove="1" noResize="1" noEditPoints="1" noAdjustHandles="1" noChangeArrowheads="1" noChangeShapeType="1" noTextEdit="1"/>
              </p:cNvSpPr>
              <p:nvPr/>
            </p:nvSpPr>
            <p:spPr>
              <a:xfrm>
                <a:off x="5715000" y="2757487"/>
                <a:ext cx="2667000" cy="381000"/>
              </a:xfrm>
              <a:prstGeom prst="rect">
                <a:avLst/>
              </a:prstGeom>
              <a:blipFill>
                <a:blip r:embed="rId4"/>
                <a:stretch>
                  <a:fillRect t="-46032" b="-539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410700" y="2757487"/>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lang="it-IT" sz="1875" b="1" dirty="0">
                    <a:solidFill>
                      <a:srgbClr val="C45C28"/>
                    </a:solidFill>
                    <a:latin typeface="DejaVu Sans"/>
                    <a:ea typeface="DejaVu Sans"/>
                    <a:cs typeface="DejaVu Sans"/>
                  </a:rPr>
                  <a:t>Output</a:t>
                </a:r>
              </a:p>
              <a:p>
                <a:pPr algn="ctr">
                  <a:defRPr sz="1875" b="1">
                    <a:solidFill>
                      <a:srgbClr val="C45C28"/>
                    </a:solidFill>
                    <a:latin typeface="DejaVu Sans"/>
                    <a:ea typeface="DejaVu Sans"/>
                    <a:cs typeface="DejaVu Sans"/>
                  </a:defRPr>
                </a:pPr>
                <a14:m>
                  <m:oMathPara xmlns:m="http://schemas.openxmlformats.org/officeDocument/2006/math">
                    <m:oMath>
                      <m:r>
                        <a:rPr lang="it-IT" b="1" smtClean="0">
                          <a:solidFill>
                            <a:srgbClr val="C45C28"/>
                          </a:solidFill>
                          <a:latin typeface="Cambria Math" panose="02040503050406030204" pitchFamily="18" charset="0"/>
                          <a:ea typeface="DejaVu Sans"/>
                          <a:cs typeface="DejaVu Sans"/>
                        </a:rPr>
                        <m:t>𝛟</m:t>
                      </m:r>
                      <m:d>
                        <m:dPr>
                          <m:ctrlPr>
                            <a:rPr lang="ar-AE" b="1">
                              <a:solidFill>
                                <a:srgbClr val="C45C28"/>
                              </a:solidFill>
                              <a:latin typeface="Cambria Math" panose="02040503050406030204" pitchFamily="18" charset="0"/>
                              <a:ea typeface="DejaVu Sans"/>
                              <a:cs typeface="DejaVu Sans"/>
                            </a:rPr>
                          </m:ctrlPr>
                        </m:dPr>
                        <m:e>
                          <m:r>
                            <a:rPr lang="ar-AE" b="1">
                              <a:solidFill>
                                <a:srgbClr val="C45C28"/>
                              </a:solidFill>
                              <a:latin typeface="Cambria Math" panose="02040503050406030204" pitchFamily="18" charset="0"/>
                              <a:ea typeface="DejaVu Sans"/>
                              <a:cs typeface="DejaVu Sans"/>
                            </a:rPr>
                            <m:t>𝐱</m:t>
                          </m:r>
                        </m:e>
                      </m:d>
                      <m:sSub>
                        <m:sSubPr>
                          <m:ctrlPr>
                            <a:rPr lang="ar-AE">
                              <a:solidFill>
                                <a:srgbClr val="C45C28"/>
                              </a:solidFill>
                              <a:latin typeface="Cambria Math"/>
                              <a:ea typeface="Cambria Math"/>
                              <a:cs typeface="Cambria Math"/>
                            </a:rPr>
                          </m:ctrlPr>
                        </m:sSubPr>
                        <m:e>
                          <m:r>
                            <a:rPr lang="ar-AE">
                              <a:solidFill>
                                <a:srgbClr val="C45C28"/>
                              </a:solidFill>
                              <a:latin typeface="Cambria Math"/>
                              <a:ea typeface="Cambria Math"/>
                              <a:cs typeface="Cambria Math"/>
                            </a:rPr>
                            <m:t>𝐖</m:t>
                          </m:r>
                        </m:e>
                        <m:sub>
                          <m:r>
                            <m:rPr>
                              <m:sty m:val="p"/>
                            </m:rPr>
                            <a:rPr lang="it-IT">
                              <a:solidFill>
                                <a:srgbClr val="C45C28"/>
                              </a:solidFill>
                              <a:latin typeface="Cambria Math"/>
                              <a:ea typeface="Cambria Math"/>
                              <a:cs typeface="Cambria Math"/>
                            </a:rPr>
                            <m:t>out</m:t>
                          </m:r>
                        </m:sub>
                      </m:sSub>
                      <m:r>
                        <a:rPr lang="ar-AE" b="1" i="1" smtClean="0">
                          <a:solidFill>
                            <a:srgbClr val="C45C28"/>
                          </a:solidFill>
                          <a:latin typeface="Cambria Math" panose="02040503050406030204" pitchFamily="18" charset="0"/>
                          <a:ea typeface="Cambria Math"/>
                          <a:cs typeface="Cambria Math"/>
                        </a:rPr>
                        <m:t>+</m:t>
                      </m:r>
                      <m:sSub>
                        <m:sSubPr>
                          <m:ctrlPr>
                            <a:rPr lang="en-GB" sz="2000">
                              <a:solidFill>
                                <a:srgbClr val="C45C28"/>
                              </a:solidFill>
                              <a:latin typeface="Cambria Math"/>
                              <a:ea typeface="Cambria Math"/>
                              <a:cs typeface="Cambria Math"/>
                            </a:rPr>
                          </m:ctrlPr>
                        </m:sSubPr>
                        <m:e>
                          <m:r>
                            <a:rPr lang="en-GB" sz="2000">
                              <a:solidFill>
                                <a:srgbClr val="C45C28"/>
                              </a:solidFill>
                              <a:latin typeface="Cambria Math"/>
                              <a:ea typeface="Cambria Math"/>
                              <a:cs typeface="Cambria Math"/>
                            </a:rPr>
                            <m:t>𝑏</m:t>
                          </m:r>
                        </m:e>
                        <m:sub>
                          <m:r>
                            <m:rPr>
                              <m:sty m:val="p"/>
                            </m:rPr>
                            <a:rPr lang="en-GB" sz="2000">
                              <a:solidFill>
                                <a:srgbClr val="C45C28"/>
                              </a:solidFill>
                              <a:latin typeface="Cambria Math"/>
                              <a:ea typeface="Cambria Math"/>
                              <a:cs typeface="Cambria Math"/>
                            </a:rPr>
                            <m:t>out</m:t>
                          </m:r>
                        </m:sub>
                      </m:sSub>
                    </m:oMath>
                  </m:oMathPara>
                </a14:m>
                <a:endParaRPr lang="ar-AE" sz="1875" b="1" dirty="0">
                  <a:solidFill>
                    <a:srgbClr val="C45C28"/>
                  </a:solidFill>
                  <a:latin typeface="DejaVu Sans"/>
                  <a:ea typeface="DejaVu Sans"/>
                  <a:cs typeface="DejaVu Sans"/>
                </a:endParaRPr>
              </a:p>
              <a:p>
                <a:pPr algn="ctr">
                  <a:defRPr sz="1875" b="1">
                    <a:solidFill>
                      <a:srgbClr val="C45C28"/>
                    </a:solidFill>
                    <a:latin typeface="DejaVu Sans"/>
                    <a:ea typeface="DejaVu Sans"/>
                    <a:cs typeface="DejaVu Sans"/>
                  </a:defRPr>
                </a:pPr>
                <a:endParaRPr sz="1875" b="1" dirty="0">
                  <a:solidFill>
                    <a:srgbClr val="C45C28"/>
                  </a:solidFill>
                  <a:latin typeface="DejaVu Sans"/>
                  <a:ea typeface="DejaVu Sans"/>
                  <a:cs typeface="DejaVu Sans"/>
                </a:endParaRPr>
              </a:p>
            </p:txBody>
          </p:sp>
        </mc:Choice>
        <mc:Fallback xmlns="">
          <p:sp>
            <p:nvSpPr>
              <p:cNvPr id="7" name="output_heading">
                <a:extLst>
                  <a:ext uri="{FF2B5EF4-FFF2-40B4-BE49-F238E27FC236}">
                    <a16:creationId xmlns:a16="http://schemas.microsoft.com/office/drawing/2014/main" id="{B20C2B9D-9F55-426C-8B56-1CF97BC5DEEF}"/>
                  </a:ext>
                </a:extLst>
              </p:cNvPr>
              <p:cNvSpPr>
                <a:spLocks noGrp="1" noRot="1" noChangeAspect="1" noMove="1" noResize="1" noEditPoints="1" noAdjustHandles="1" noChangeArrowheads="1" noChangeShapeType="1" noTextEdit="1"/>
              </p:cNvSpPr>
              <p:nvPr/>
            </p:nvSpPr>
            <p:spPr>
              <a:xfrm>
                <a:off x="9410700" y="2757487"/>
                <a:ext cx="2286000" cy="381000"/>
              </a:xfrm>
              <a:prstGeom prst="rect">
                <a:avLst/>
              </a:prstGeom>
              <a:blipFill>
                <a:blip r:embed="rId5"/>
                <a:stretch>
                  <a:fillRect t="-84127" b="-17460"/>
                </a:stretch>
              </a:blipFill>
              <a:ln w="0">
                <a:noFill/>
              </a:ln>
            </p:spPr>
            <p:txBody>
              <a:bodyPr/>
              <a:lstStyle/>
              <a:p>
                <a:r>
                  <a:rPr lang="it-IT">
                    <a:noFill/>
                  </a:rPr>
                  <a:t> </a:t>
                </a:r>
              </a:p>
            </p:txBody>
          </p:sp>
        </mc:Fallback>
      </mc:AlternateContent>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7"/>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9"/>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11"/>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3"/>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FF0000"/>
                          </a:solidFill>
                          <a:latin typeface="Cambria Math"/>
                          <a:ea typeface="Cambria Math"/>
                          <a:cs typeface="Cambria Math"/>
                        </a:rPr>
                        <m:t>𝑓</m:t>
                      </m:r>
                      <m:d>
                        <m:dPr>
                          <m:ctrlPr>
                            <a:rPr lang="en-GB" sz="2400" i="1" smtClean="0">
                              <a:solidFill>
                                <a:srgbClr val="FF0000"/>
                              </a:solidFill>
                              <a:latin typeface="Cambria Math" panose="02040503050406030204" pitchFamily="18" charset="0"/>
                              <a:ea typeface="Cambria Math"/>
                              <a:cs typeface="Cambria Math"/>
                            </a:rPr>
                          </m:ctrlPr>
                        </m:dPr>
                        <m:e>
                          <m:d>
                            <m:dPr>
                              <m:ctrlPr>
                                <a:rPr lang="en-GB" sz="2400" smtClean="0">
                                  <a:solidFill>
                                    <a:srgbClr val="FF0000"/>
                                  </a:solidFill>
                                  <a:latin typeface="Cambria Math"/>
                                  <a:ea typeface="Cambria Math"/>
                                  <a:cs typeface="Cambria Math"/>
                                </a:rPr>
                              </m:ctrlPr>
                            </m:dPr>
                            <m:e>
                              <m:r>
                                <a:rPr lang="en-GB" sz="2400" smtClean="0">
                                  <a:solidFill>
                                    <a:srgbClr val="FF0000"/>
                                  </a:solidFill>
                                  <a:latin typeface="Cambria Math"/>
                                  <a:ea typeface="Cambria Math"/>
                                  <a:cs typeface="Cambria Math"/>
                                </a:rPr>
                                <m:t>1,2</m:t>
                              </m:r>
                            </m:e>
                          </m:d>
                        </m:e>
                      </m:d>
                      <m:r>
                        <a:rPr lang="en-GB" sz="2400" smtClean="0">
                          <a:solidFill>
                            <a:srgbClr val="FF0000"/>
                          </a:solidFill>
                          <a:latin typeface="Cambria Math"/>
                          <a:ea typeface="Cambria Math"/>
                          <a:cs typeface="Cambria Math"/>
                        </a:rPr>
                        <m:t>=0</m:t>
                      </m:r>
                      <m:r>
                        <a:rPr lang="it-IT" sz="2400" b="0" i="1" smtClean="0">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(2)+3</m:t>
                      </m:r>
                      <m:r>
                        <a:rPr lang="it-IT" sz="2400" i="1">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(−1)+1</m:t>
                      </m:r>
                      <m:r>
                        <a:rPr lang="it-IT" sz="2400" i="1">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1</m:t>
                              </m:r>
                            </m:num>
                            <m:den>
                              <m:r>
                                <a:rPr lang="en-GB" sz="2400">
                                  <a:solidFill>
                                    <a:srgbClr val="FF0000"/>
                                  </a:solidFill>
                                  <a:latin typeface="Cambria Math"/>
                                  <a:ea typeface="Cambria Math"/>
                                  <a:cs typeface="Cambria Math"/>
                                </a:rPr>
                                <m:t>2</m:t>
                              </m:r>
                            </m:den>
                          </m:f>
                        </m:e>
                      </m:d>
                      <m:r>
                        <a:rPr lang="en-GB" sz="2400">
                          <a:solidFill>
                            <a:srgbClr val="FF0000"/>
                          </a:solidFill>
                          <a:latin typeface="Cambria Math"/>
                          <a:ea typeface="Cambria Math"/>
                          <a:cs typeface="Cambria Math"/>
                        </a:rPr>
                        <m:t>−1=−</m:t>
                      </m:r>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7</m:t>
                          </m:r>
                        </m:num>
                        <m:den>
                          <m:r>
                            <a:rPr lang="en-GB" sz="2400">
                              <a:solidFill>
                                <a:srgbClr val="FF0000"/>
                              </a:solidFill>
                              <a:latin typeface="Cambria Math"/>
                              <a:ea typeface="Cambria Math"/>
                              <a:cs typeface="Cambria Math"/>
                            </a:rPr>
                            <m:t>2</m:t>
                          </m:r>
                        </m:den>
                      </m:f>
                    </m:oMath>
                  </m:oMathPara>
                </a14:m>
                <a:endParaRPr lang="en-GB" sz="2400" dirty="0">
                  <a:solidFill>
                    <a:srgbClr val="FF0000"/>
                  </a:solidFill>
                </a:endParaRPr>
              </a:p>
            </p:txBody>
          </p:sp>
        </mc:Choice>
        <mc:Fallback xmlns="">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5"/>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xmlns="">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Neurons</a:t>
            </a:r>
            <a:endParaRPr sz="3300" b="1" dirty="0">
              <a:solidFill>
                <a:srgbClr val="182D45"/>
              </a:solidFill>
              <a:latin typeface="DejaVu Sans"/>
              <a:ea typeface="DejaVu Sans"/>
              <a:cs typeface="DejaVu Sans"/>
            </a:endParaRP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914400"/>
            <a:ext cx="11144250" cy="952500"/>
          </a:xfrm>
          <a:prstGeom prst="rect">
            <a:avLst/>
          </a:prstGeom>
          <a:noFill/>
          <a:ln w="0">
            <a:noFill/>
          </a:ln>
        </p:spPr>
        <p:txBody>
          <a:bodyPr wrap="none" lIns="0" tIns="0" rIns="0" bIns="0" anchor="ctr">
            <a:noAutofit/>
          </a:bodyPr>
          <a:lstStyle/>
          <a:p>
            <a:pPr algn="ctr">
              <a:lnSpc>
                <a:spcPts val="2350"/>
              </a:lnSpc>
            </a:pPr>
            <a:r>
              <a:rPr lang="en-GB" sz="2025" b="0" dirty="0">
                <a:solidFill>
                  <a:srgbClr val="526276"/>
                </a:solidFill>
                <a:latin typeface="DejaVu Sans"/>
              </a:rPr>
              <a:t>A </a:t>
            </a:r>
            <a:r>
              <a:rPr lang="en-GB" sz="2025" b="0" dirty="0">
                <a:solidFill>
                  <a:srgbClr val="FF0000"/>
                </a:solidFill>
                <a:latin typeface="DejaVu Sans"/>
              </a:rPr>
              <a:t>neuron</a:t>
            </a:r>
            <a:r>
              <a:rPr lang="en-GB" sz="2025" b="0" dirty="0">
                <a:solidFill>
                  <a:srgbClr val="526276"/>
                </a:solidFill>
                <a:latin typeface="DejaVu Sans"/>
              </a:rPr>
              <a:t> is a </a:t>
            </a:r>
            <a:r>
              <a:rPr lang="en-GB" sz="2025" b="0" dirty="0">
                <a:solidFill>
                  <a:srgbClr val="FF0000"/>
                </a:solidFill>
                <a:latin typeface="DejaVu Sans"/>
              </a:rPr>
              <a:t>function</a:t>
            </a:r>
            <a:r>
              <a:rPr lang="en-GB" sz="2025" b="0" dirty="0">
                <a:solidFill>
                  <a:srgbClr val="526276"/>
                </a:solidFill>
                <a:latin typeface="DejaVu Sans"/>
              </a:rPr>
              <a:t> that combines several inputs into one output.</a:t>
            </a:r>
            <a:endParaRPr lang="en-GB" sz="2025" dirty="0"/>
          </a:p>
          <a:p>
            <a:pPr algn="ctr">
              <a:lnSpc>
                <a:spcPts val="2350"/>
              </a:lnSpc>
            </a:pPr>
            <a:r>
              <a:rPr lang="en-GB" sz="2025" b="0" dirty="0">
                <a:solidFill>
                  <a:srgbClr val="526276"/>
                </a:solidFill>
                <a:latin typeface="DejaVu Sans"/>
              </a:rPr>
              <a:t>The name is loosely inspired by </a:t>
            </a:r>
            <a:r>
              <a:rPr lang="en-GB" sz="2025" b="0" dirty="0">
                <a:solidFill>
                  <a:srgbClr val="FF0000"/>
                </a:solidFill>
                <a:latin typeface="DejaVu Sans"/>
              </a:rPr>
              <a:t>biological neurons</a:t>
            </a:r>
            <a:r>
              <a:rPr lang="en-GB" sz="2025" b="0" dirty="0">
                <a:solidFill>
                  <a:srgbClr val="526276"/>
                </a:solidFill>
                <a:latin typeface="DejaVu Sans"/>
              </a:rPr>
              <a:t>,</a:t>
            </a:r>
          </a:p>
          <a:p>
            <a:pPr algn="ctr">
              <a:lnSpc>
                <a:spcPts val="2350"/>
              </a:lnSpc>
            </a:pPr>
            <a:r>
              <a:rPr lang="en-GB" sz="2025" b="0" dirty="0">
                <a:solidFill>
                  <a:srgbClr val="526276"/>
                </a:solidFill>
                <a:latin typeface="DejaVu Sans"/>
              </a:rPr>
              <a:t>which receive signals</a:t>
            </a:r>
            <a:r>
              <a:rPr lang="en-GB" sz="2025" dirty="0"/>
              <a:t> </a:t>
            </a:r>
            <a:r>
              <a:rPr lang="en-GB" sz="2025" b="0" dirty="0">
                <a:solidFill>
                  <a:srgbClr val="526276"/>
                </a:solidFill>
                <a:latin typeface="DejaVu Sans"/>
              </a:rPr>
              <a:t>from other cells and produce an output signal.</a:t>
            </a:r>
            <a:endParaRPr lang="en-GB" sz="2025" dirty="0"/>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Each horizontal row represents one </a:t>
            </a:r>
            <a:r>
              <a:rPr lang="en-GB" sz="1875" b="1" dirty="0">
                <a:solidFill>
                  <a:srgbClr val="FF0000"/>
                </a:solidFill>
                <a:latin typeface="DejaVu Sans"/>
              </a:rPr>
              <a:t>neuron</a:t>
            </a:r>
            <a:r>
              <a:rPr lang="en-GB" sz="1875" b="1" dirty="0">
                <a:solidFill>
                  <a:srgbClr val="182D45"/>
                </a:solidFill>
                <a:latin typeface="DejaVu Sans"/>
              </a:rPr>
              <a:t>.</a:t>
            </a:r>
            <a:endParaRPr lang="en-GB" sz="1875"/>
          </a:p>
          <a:p>
            <a:pPr algn="ctr">
              <a:lnSpc>
                <a:spcPts val="2300"/>
              </a:lnSpc>
            </a:pPr>
            <a:r>
              <a:rPr lang="en-GB" sz="1875" b="1" dirty="0">
                <a:solidFill>
                  <a:srgbClr val="182D45"/>
                </a:solidFill>
                <a:latin typeface="DejaVu Sans"/>
              </a:rPr>
              <a:t>It forms a weighted sum, adds a bias and applies an activation function.</a:t>
            </a:r>
            <a:endParaRPr lang="en-GB" sz="1875"/>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sz="3300" b="1" dirty="0">
                <a:solidFill>
                  <a:srgbClr val="182D45"/>
                </a:solidFill>
                <a:latin typeface="DejaVu Sans"/>
                <a:ea typeface="DejaVu Sans"/>
                <a:cs typeface="DejaVu Sans"/>
              </a:rPr>
              <a:t>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333375" y="1000125"/>
            <a:ext cx="11525250" cy="457200"/>
          </a:xfrm>
          <a:prstGeom prst="rect">
            <a:avLst/>
          </a:prstGeom>
          <a:noFill/>
          <a:ln w="0">
            <a:noFill/>
          </a:ln>
        </p:spPr>
        <p:txBody>
          <a:bodyPr wrap="none" lIns="0" tIns="0" rIns="0" bIns="0" anchor="ctr">
            <a:noAutofit/>
          </a:bodyPr>
          <a:lstStyle/>
          <a:p>
            <a:pPr algn="ctr"/>
            <a:r>
              <a:rPr lang="en-GB" sz="2025" b="0" dirty="0">
                <a:solidFill>
                  <a:srgbClr val="526276"/>
                </a:solidFill>
                <a:latin typeface="DejaVu Sans"/>
              </a:rPr>
              <a:t>The highlighted row shows the complete calculation performed by </a:t>
            </a:r>
            <a:r>
              <a:rPr lang="en-GB" sz="2025" b="0" dirty="0">
                <a:solidFill>
                  <a:srgbClr val="FF0000"/>
                </a:solidFill>
                <a:latin typeface="DejaVu Sans"/>
              </a:rPr>
              <a:t>one neuron</a:t>
            </a:r>
            <a:r>
              <a:rPr lang="en-GB" sz="2025" b="0" dirty="0">
                <a:solidFill>
                  <a:srgbClr val="526276"/>
                </a:solidFill>
                <a:latin typeface="DejaVu Sans"/>
              </a:rPr>
              <a:t>.</a:t>
            </a:r>
            <a:endParaRPr lang="en-GB" sz="2025"/>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A neuron is a </a:t>
            </a:r>
            <a:r>
              <a:rPr lang="en-GB" sz="1875" b="1" dirty="0">
                <a:solidFill>
                  <a:srgbClr val="FF0000"/>
                </a:solidFill>
                <a:latin typeface="DejaVu Sans"/>
              </a:rPr>
              <a:t>function</a:t>
            </a:r>
            <a:r>
              <a:rPr lang="en-GB" sz="1875" b="1" dirty="0">
                <a:solidFill>
                  <a:srgbClr val="182D45"/>
                </a:solidFill>
                <a:latin typeface="DejaVu Sans"/>
              </a:rPr>
              <a:t> that combines its inputs into one output,</a:t>
            </a:r>
            <a:endParaRPr lang="en-GB" sz="1875"/>
          </a:p>
          <a:p>
            <a:pPr algn="ctr">
              <a:lnSpc>
                <a:spcPts val="2300"/>
              </a:lnSpc>
            </a:pPr>
            <a:r>
              <a:rPr lang="en-GB" sz="1875" b="1" dirty="0">
                <a:solidFill>
                  <a:srgbClr val="182D45"/>
                </a:solidFill>
                <a:latin typeface="DejaVu Sans"/>
              </a:rPr>
              <a:t>called its </a:t>
            </a:r>
            <a:r>
              <a:rPr lang="en-GB" sz="1875" b="1" dirty="0">
                <a:solidFill>
                  <a:srgbClr val="FF0000"/>
                </a:solidFill>
                <a:latin typeface="DejaVu Sans"/>
              </a:rPr>
              <a:t>activation</a:t>
            </a:r>
            <a:r>
              <a:rPr lang="en-GB" sz="1875" b="1" dirty="0">
                <a:solidFill>
                  <a:srgbClr val="182D45"/>
                </a:solidFill>
                <a:latin typeface="DejaVu Sans"/>
              </a:rPr>
              <a:t>.</a:t>
            </a:r>
            <a:endParaRPr lang="en-GB" sz="1875"/>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xmlns="">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100" b="0" dirty="0">
                <a:solidFill>
                  <a:srgbClr val="526276"/>
                </a:solidFill>
                <a:latin typeface="DejaVu Sans"/>
              </a:rPr>
              <a:t>Together, these neurons and the affine output layer form a </a:t>
            </a:r>
            <a:r>
              <a:rPr lang="en-GB" sz="2100" b="0" dirty="0">
                <a:solidFill>
                  <a:srgbClr val="FF0000"/>
                </a:solidFill>
                <a:latin typeface="DejaVu Sans"/>
              </a:rPr>
              <a:t>neural network</a:t>
            </a:r>
            <a:r>
              <a:rPr lang="en-GB" sz="2100" b="0" dirty="0">
                <a:solidFill>
                  <a:srgbClr val="526276"/>
                </a:solidFill>
                <a:latin typeface="DejaVu Sans"/>
              </a:rPr>
              <a:t>.</a:t>
            </a:r>
            <a:endParaRPr lang="en-GB" sz="2100"/>
          </a:p>
          <a:p>
            <a:pPr algn="ctr">
              <a:lnSpc>
                <a:spcPts val="2550"/>
              </a:lnSpc>
            </a:pPr>
            <a:r>
              <a:rPr lang="en-GB" sz="2100" b="0" dirty="0">
                <a:solidFill>
                  <a:srgbClr val="526276"/>
                </a:solidFill>
                <a:latin typeface="DejaVu Sans"/>
              </a:rPr>
              <a:t>The output layer combines the neurons’ activations using </a:t>
            </a:r>
            <a:r>
              <a:rPr lang="en-GB" sz="2100" b="0" dirty="0">
                <a:solidFill>
                  <a:srgbClr val="FF0000"/>
                </a:solidFill>
                <a:latin typeface="DejaVu Sans"/>
              </a:rPr>
              <a:t>weights</a:t>
            </a:r>
            <a:r>
              <a:rPr lang="en-GB" sz="2100" b="0" dirty="0">
                <a:solidFill>
                  <a:srgbClr val="526276"/>
                </a:solidFill>
                <a:latin typeface="DejaVu Sans"/>
              </a:rPr>
              <a:t> and a </a:t>
            </a:r>
            <a:r>
              <a:rPr lang="en-GB" sz="2100" b="0" dirty="0">
                <a:solidFill>
                  <a:srgbClr val="FF0000"/>
                </a:solidFill>
                <a:latin typeface="DejaVu Sans"/>
              </a:rPr>
              <a:t>bias</a:t>
            </a:r>
            <a:r>
              <a:rPr lang="en-GB" sz="2100" b="0" dirty="0">
                <a:solidFill>
                  <a:srgbClr val="526276"/>
                </a:solidFill>
                <a:latin typeface="DejaVu Sans"/>
              </a:rPr>
              <a:t>.</a:t>
            </a:r>
            <a:endParaRPr lang="en-GB" sz="2100"/>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61975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119312" y="5613464"/>
            <a:ext cx="22860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Hidden layer</a:t>
            </a: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624513"/>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dirty="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05525"/>
            <a:ext cx="11239500" cy="438150"/>
          </a:xfrm>
          <a:prstGeom prst="rect">
            <a:avLst/>
          </a:prstGeom>
          <a:noFill/>
          <a:ln w="0">
            <a:noFill/>
          </a:ln>
        </p:spPr>
        <p:txBody>
          <a:bodyPr tIns="0" bIns="0" anchor="ctr">
            <a:noAutofit/>
          </a:bodyPr>
          <a:lstStyle/>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These neurons form a </a:t>
            </a:r>
            <a:r>
              <a:rPr sz="1700" b="1" dirty="0">
                <a:solidFill>
                  <a:srgbClr val="FF0000"/>
                </a:solidFill>
                <a:latin typeface="DejaVu Sans"/>
                <a:ea typeface="DejaVu Sans"/>
                <a:cs typeface="DejaVu Sans"/>
              </a:rPr>
              <a:t>hidden layer</a:t>
            </a:r>
            <a:r>
              <a:rPr sz="1700" b="1" dirty="0">
                <a:solidFill>
                  <a:srgbClr val="182D45"/>
                </a:solidFill>
                <a:latin typeface="DejaVu Sans"/>
                <a:ea typeface="DejaVu Sans"/>
                <a:cs typeface="DejaVu Sans"/>
              </a:rPr>
              <a:t>:</a:t>
            </a:r>
            <a:endParaRPr lang="it-IT" sz="1700"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their activations are </a:t>
            </a:r>
            <a:r>
              <a:rPr sz="1700" b="1" dirty="0">
                <a:solidFill>
                  <a:srgbClr val="FF0000"/>
                </a:solidFill>
                <a:latin typeface="DejaVu Sans"/>
                <a:ea typeface="DejaVu Sans"/>
                <a:cs typeface="DejaVu Sans"/>
              </a:rPr>
              <a:t>intermediate values</a:t>
            </a:r>
            <a:r>
              <a:rPr sz="1700" b="1" dirty="0">
                <a:solidFill>
                  <a:srgbClr val="182D45"/>
                </a:solidFill>
                <a:latin typeface="DejaVu Sans"/>
                <a:ea typeface="DejaVu Sans"/>
                <a:cs typeface="DejaVu Sans"/>
              </a:rPr>
              <a:t>,</a:t>
            </a:r>
            <a:r>
              <a:rPr lang="it-IT" sz="1700" b="1" dirty="0">
                <a:solidFill>
                  <a:srgbClr val="182D45"/>
                </a:solidFill>
                <a:latin typeface="DejaVu Sans"/>
                <a:ea typeface="DejaVu Sans"/>
                <a:cs typeface="DejaVu Sans"/>
              </a:rPr>
              <a:t> </a:t>
            </a:r>
            <a:r>
              <a:rPr sz="1700" b="1" dirty="0">
                <a:solidFill>
                  <a:srgbClr val="182D45"/>
                </a:solidFill>
                <a:latin typeface="DejaVu Sans"/>
                <a:ea typeface="DejaVu Sans"/>
                <a:cs typeface="DejaVu Sans"/>
              </a:rPr>
              <a:t>computed inside the network.</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613464"/>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dirty="0">
                    <a:solidFill>
                      <a:srgbClr val="526276"/>
                    </a:solidFill>
                    <a:latin typeface="DejaVu Sans"/>
                  </a:rPr>
                  <a:t>A </a:t>
                </a:r>
                <a:r>
                  <a:rPr lang="en-GB" sz="2025" b="0" dirty="0">
                    <a:solidFill>
                      <a:srgbClr val="FF0000"/>
                    </a:solidFill>
                    <a:latin typeface="DejaVu Sans"/>
                  </a:rPr>
                  <a:t>hidden layer </a:t>
                </a:r>
                <a:r>
                  <a:rPr lang="en-GB" sz="2025" b="0" dirty="0">
                    <a:solidFill>
                      <a:srgbClr val="526276"/>
                    </a:solidFill>
                    <a:latin typeface="DejaVu Sans"/>
                  </a:rPr>
                  <a:t>groups neurons receiving the </a:t>
                </a:r>
                <a:r>
                  <a:rPr lang="en-GB" sz="2025" b="0" dirty="0">
                    <a:solidFill>
                      <a:srgbClr val="FF0000"/>
                    </a:solidFill>
                    <a:latin typeface="DejaVu Sans"/>
                  </a:rPr>
                  <a:t>same input row</a:t>
                </a:r>
                <a:r>
                  <a:rPr lang="en-GB" sz="2025" b="0" dirty="0">
                    <a:solidFill>
                      <a:srgbClr val="526276"/>
                    </a:solidFill>
                    <a:latin typeface="DejaVu Sans"/>
                  </a:rPr>
                  <a:t>.</a:t>
                </a:r>
                <a:endParaRPr lang="en-GB" sz="2025" dirty="0"/>
              </a:p>
              <a:p>
                <a:pPr algn="ctr">
                  <a:lnSpc>
                    <a:spcPts val="2550"/>
                  </a:lnSpc>
                </a:pPr>
                <a:r>
                  <a:rPr lang="en-GB" sz="2025" b="0" dirty="0">
                    <a:solidFill>
                      <a:srgbClr val="526276"/>
                    </a:solidFill>
                    <a:latin typeface="DejaVu Sans"/>
                  </a:rPr>
                  <a:t>Its </a:t>
                </a:r>
                <a:r>
                  <a:rPr lang="en-GB" sz="2025" b="0" dirty="0">
                    <a:solidFill>
                      <a:srgbClr val="FF0000"/>
                    </a:solidFill>
                    <a:latin typeface="DejaVu Sans"/>
                  </a:rPr>
                  <a:t>width </a:t>
                </a:r>
                <a14:m>
                  <m:oMath xmlns:m="http://schemas.openxmlformats.org/officeDocument/2006/math">
                    <m:r>
                      <a:rPr lang="en-GB" sz="2025">
                        <a:solidFill>
                          <a:srgbClr val="526276"/>
                        </a:solidFill>
                        <a:latin typeface="Cambria Math"/>
                        <a:ea typeface="Cambria Math"/>
                        <a:cs typeface="Cambria Math"/>
                      </a:rPr>
                      <m:t>𝑚</m:t>
                    </m:r>
                  </m:oMath>
                </a14:m>
                <a:r>
                  <a:rPr lang="en-GB" sz="2025" b="0" dirty="0">
                    <a:solidFill>
                      <a:srgbClr val="526276"/>
                    </a:solidFill>
                    <a:latin typeface="DejaVu Sans"/>
                  </a:rPr>
                  <a:t> is the number of neurons. Input and output dimensions are </a:t>
                </a:r>
                <a14:m>
                  <m:oMath xmlns:m="http://schemas.openxmlformats.org/officeDocument/2006/math">
                    <m:r>
                      <a:rPr lang="en-GB" sz="2025">
                        <a:solidFill>
                          <a:srgbClr val="526276"/>
                        </a:solidFill>
                        <a:latin typeface="Cambria Math"/>
                        <a:ea typeface="Cambria Math"/>
                        <a:cs typeface="Cambria Math"/>
                      </a:rPr>
                      <m:t>𝑑</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𝑞</m:t>
                    </m:r>
                  </m:oMath>
                </a14:m>
                <a:r>
                  <a:rPr lang="en-GB" sz="2025" b="0" dirty="0">
                    <a:solidFill>
                      <a:srgbClr val="526276"/>
                    </a:solidFill>
                    <a:latin typeface="DejaVu Sans"/>
                  </a:rPr>
                  <a:t>.</a:t>
                </a:r>
                <a:endParaRPr lang="en-GB" sz="2025" dirty="0"/>
              </a:p>
            </p:txBody>
          </p:sp>
        </mc:Choice>
        <mc:Fallback xmlns="">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1015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input_domain" descr="\mathbf{x}=(x_1,\ldots,x_d)\in\mathbb{R}^{1\times d}">
                <a:extLst>
                  <a:ext uri="{FF2B5EF4-FFF2-40B4-BE49-F238E27FC236}">
                    <a16:creationId xmlns:a16="http://schemas.microsoft.com/office/drawing/2014/main" id="{BCD701CE-E2BA-4DFB-8B8A-12AB86C86FE8}"/>
                  </a:ext>
                </a:extLst>
              </p:cNvPr>
              <p:cNvSpPr>
                <a:spLocks noGrp="1"/>
              </p:cNvSpPr>
              <p:nvPr/>
            </p:nvSpPr>
            <p:spPr>
              <a:xfrm>
                <a:off x="333375" y="1733550"/>
                <a:ext cx="1152525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3" name="input_domain" descr="\mathbf{x}=(x_1,\ldots,x_d)\in\mathbb{R}^{1\times d}">
                <a:extLst>
                  <a:ext uri="{FF2B5EF4-FFF2-40B4-BE49-F238E27FC236}">
                    <a16:creationId xmlns:a16="http://schemas.microsoft.com/office/drawing/2014/main" id="{BCD701CE-E2BA-4DFB-8B8A-12AB86C86FE8}"/>
                  </a:ext>
                </a:extLst>
              </p:cNvPr>
              <p:cNvSpPr>
                <a:spLocks noGrp="1" noRot="1" noChangeAspect="1" noMove="1" noResize="1" noEditPoints="1" noAdjustHandles="1" noChangeArrowheads="1" noChangeShapeType="1" noTextEdit="1"/>
              </p:cNvSpPr>
              <p:nvPr/>
            </p:nvSpPr>
            <p:spPr>
              <a:xfrm>
                <a:off x="333375" y="1733550"/>
                <a:ext cx="11525250" cy="504825"/>
              </a:xfrm>
              <a:prstGeom prst="rect">
                <a:avLst/>
              </a:prstGeom>
              <a:blipFill>
                <a:blip r:embed="rId4"/>
                <a:stretch>
                  <a:fillRect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2247900"/>
                <a:ext cx="1152525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2247900"/>
                <a:ext cx="11525250" cy="5524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7"/>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8"/>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parameter</a:t>
                </a:r>
                <a:r>
                  <a:rPr sz="2025" b="1" dirty="0">
                    <a:solidFill>
                      <a:srgbClr val="182D45"/>
                    </a:solidFill>
                    <a:latin typeface="DejaVu Sans"/>
                    <a:ea typeface="DejaVu Sans"/>
                    <a:cs typeface="DejaVu Sans"/>
                  </a:rPr>
                  <a:t>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9"/>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a:t>
            </a:r>
            <a:r>
              <a:rPr lang="it-IT" sz="3300" b="1" dirty="0">
                <a:solidFill>
                  <a:srgbClr val="182D45"/>
                </a:solidFill>
                <a:latin typeface="DejaVu Sans"/>
                <a:ea typeface="DejaVu Sans"/>
                <a:cs typeface="DejaVu Sans"/>
              </a:rPr>
              <a:t> can</a:t>
            </a:r>
            <a:r>
              <a:rPr sz="3300" b="1" dirty="0">
                <a:solidFill>
                  <a:srgbClr val="182D45"/>
                </a:solidFill>
                <a:latin typeface="DejaVu Sans"/>
                <a:ea typeface="DejaVu Sans"/>
                <a:cs typeface="DejaVu Sans"/>
              </a:rPr>
              <a:t> change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𝑑</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𝑑</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𝑑</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WidthDr4"/>
                <a:stretch>
                  <a:fillRect t="-21600" b="-29600"/>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Input:</a:t>
                </a:r>
                <a:endParaRPr lang="en-GB" sz="1800" dirty="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𝑑</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dirty="0">
                    <a:solidFill>
                      <a:srgbClr val="182D45"/>
                    </a:solidFill>
                    <a:latin typeface="DejaVu Sans"/>
                  </a:rPr>
                  <a:t> coordinates</a:t>
                </a:r>
                <a:endParaRPr lang="en-GB" sz="1800" dirty="0"/>
              </a:p>
            </p:txBody>
          </p:sp>
        </mc:Choice>
        <mc:Fallback xmlns="">
          <p:sp>
            <p:nvSpPr>
              <p:cNvPr id="88" name="network_caption_0">
                <a:extLst>
                  <a:ext uri="{FF2B5EF4-FFF2-40B4-BE49-F238E27FC236}">
                    <a16:creationId xmlns:a16="http://schemas.microsoft.com/office/drawing/2014/main" id="{386FC55F-75D8-40DB-BD3D-7F5B7E7A4677}"/>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WidthDr88"/>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1:</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𝑑</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dirty="0"/>
              </a:p>
            </p:txBody>
          </p:sp>
        </mc:Choice>
        <mc:Fallback xmlns="">
          <p:sp>
            <p:nvSpPr>
              <p:cNvPr id="89" name="network_caption_1">
                <a:extLst>
                  <a:ext uri="{FF2B5EF4-FFF2-40B4-BE49-F238E27FC236}">
                    <a16:creationId xmlns:a16="http://schemas.microsoft.com/office/drawing/2014/main" id="{972C6CF3-42DE-43C4-A4DC-CDCC5B411D4F}"/>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WidthDr89"/>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2:</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𝑑</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dirty="0"/>
              </a:p>
            </p:txBody>
          </p:sp>
        </mc:Choice>
        <mc:Fallback xmlns="">
          <p:sp>
            <p:nvSpPr>
              <p:cNvPr id="90" name="network_caption_2">
                <a:extLst>
                  <a:ext uri="{FF2B5EF4-FFF2-40B4-BE49-F238E27FC236}">
                    <a16:creationId xmlns:a16="http://schemas.microsoft.com/office/drawing/2014/main" id="{0F457F3F-5C5D-4B35-BE62-81517E7CE3F8}"/>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WidthDr90"/>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𝑑</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91" name="network_caption_3">
                <a:extLst>
                  <a:ext uri="{FF2B5EF4-FFF2-40B4-BE49-F238E27FC236}">
                    <a16:creationId xmlns:a16="http://schemas.microsoft.com/office/drawing/2014/main" id="{DEB8C583-82F5-4C2B-A558-EC613127E434}"/>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WidthDr91"/>
                <a:stretch>
                  <a:fillRect t="-14894" b="-22340"/>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97" name="depth_example"/>
          <p:cNvSpPr txBox="1"/>
          <p:nvPr/>
        </p:nvSpPr>
        <p:spPr>
          <a:xfrm>
            <a:off x="342900" y="4648200"/>
            <a:ext cx="11525250" cy="619125"/>
          </a:xfrm>
          <a:prstGeom prst="rect">
            <a:avLst/>
          </a:prstGeom>
          <a:noFill/>
          <a:ln w="0">
            <a:noFill/>
          </a:ln>
        </p:spPr>
        <p:txBody>
          <a:bodyPr wrap="none" lIns="0" tIns="0" rIns="0" bIns="0" anchor="ctr">
            <a:noAutofit/>
          </a:bodyPr>
          <a:lstStyle/>
          <a:p>
            <a:pPr algn="ctr">
              <a:lnSpc>
                <a:spcPts val="2300"/>
              </a:lnSpc>
            </a:pPr>
            <a:r>
              <a:rPr lang="en-GB" sz="1875" b="0" dirty="0">
                <a:solidFill>
                  <a:srgbClr val="182D45"/>
                </a:solidFill>
                <a:latin typeface="DejaVu Sans"/>
              </a:rPr>
              <a:t>Each additional hidden layer uses the previous layer’s </a:t>
            </a:r>
            <a:r>
              <a:rPr lang="en-GB" sz="1875" b="0" dirty="0">
                <a:solidFill>
                  <a:srgbClr val="FF0000"/>
                </a:solidFill>
                <a:latin typeface="DejaVu Sans"/>
              </a:rPr>
              <a:t>activations</a:t>
            </a:r>
            <a:r>
              <a:rPr lang="en-GB" sz="1875" b="0" dirty="0">
                <a:solidFill>
                  <a:srgbClr val="182D45"/>
                </a:solidFill>
                <a:latin typeface="DejaVu Sans"/>
              </a:rPr>
              <a:t> as inputs</a:t>
            </a:r>
            <a:r>
              <a:rPr lang="en-GB" sz="1875" dirty="0">
                <a:solidFill>
                  <a:srgbClr val="182D45"/>
                </a:solidFill>
                <a:latin typeface="DejaVu Sans"/>
              </a:rPr>
              <a:t>.</a:t>
            </a:r>
            <a:endParaRPr lang="en-GB" sz="1875" dirty="0"/>
          </a:p>
        </p:txBody>
      </p:sp>
      <p:sp>
        <p:nvSpPr>
          <p:cNvPr id="98" name="architecture_definition"/>
          <p:cNvSpPr txBox="1"/>
          <p:nvPr/>
        </p:nvSpPr>
        <p:spPr>
          <a:xfrm>
            <a:off x="317501" y="5343525"/>
            <a:ext cx="11556997" cy="619125"/>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lang="it-IT" sz="1950" b="0" dirty="0">
                <a:solidFill>
                  <a:srgbClr val="182D45"/>
                </a:solidFill>
                <a:latin typeface="DejaVu Sans"/>
                <a:ea typeface="DejaVu Sans"/>
                <a:cs typeface="DejaVu Sans"/>
              </a:rPr>
              <a:t>T</a:t>
            </a:r>
            <a:r>
              <a:rPr sz="1950" b="0" dirty="0">
                <a:solidFill>
                  <a:srgbClr val="182D45"/>
                </a:solidFill>
                <a:latin typeface="DejaVu Sans"/>
                <a:ea typeface="DejaVu Sans"/>
                <a:cs typeface="DejaVu Sans"/>
              </a:rPr>
              <a:t>he input dimension and layer widths specify the </a:t>
            </a:r>
            <a:r>
              <a:rPr sz="1950" b="0" dirty="0">
                <a:solidFill>
                  <a:srgbClr val="FF0000"/>
                </a:solidFill>
                <a:latin typeface="DejaVu Sans"/>
                <a:ea typeface="DejaVu Sans"/>
                <a:cs typeface="DejaVu Sans"/>
              </a:rPr>
              <a:t>architecture</a:t>
            </a:r>
            <a:r>
              <a:rPr sz="1950" b="0" dirty="0">
                <a:solidFill>
                  <a:srgbClr val="182D45"/>
                </a:solidFill>
                <a:latin typeface="DejaVu Sans"/>
                <a:ea typeface="DejaVu Sans"/>
                <a:cs typeface="DejaVu Sans"/>
              </a:rPr>
              <a:t>: </a:t>
            </a:r>
            <a:r>
              <a:rPr sz="1950" b="1" dirty="0">
                <a:solidFill>
                  <a:srgbClr val="182D45"/>
                </a:solidFill>
                <a:latin typeface="DejaVu Sans"/>
                <a:ea typeface="DejaVu Sans"/>
                <a:cs typeface="DejaVu Sans"/>
              </a:rPr>
              <a:t>2 → 5 → 7 → 3</a:t>
            </a:r>
            <a:r>
              <a:rPr sz="1950" b="0" dirty="0">
                <a:solidFill>
                  <a:srgbClr val="182D45"/>
                </a:solidFill>
                <a:latin typeface="DejaVu Sans"/>
                <a:ea typeface="DejaVu Sans"/>
                <a:cs typeface="DejaVu Sans"/>
              </a:rPr>
              <a:t>.</a:t>
            </a:r>
          </a:p>
        </p:txBody>
      </p:sp>
      <p:sp>
        <p:nvSpPr>
          <p:cNvPr id="99" name="architecture_parameters"/>
          <p:cNvSpPr txBox="1"/>
          <p:nvPr/>
        </p:nvSpPr>
        <p:spPr>
          <a:xfrm>
            <a:off x="381000" y="5989828"/>
            <a:ext cx="11430000" cy="571500"/>
          </a:xfrm>
          <a:prstGeom prst="rect">
            <a:avLst/>
          </a:prstGeom>
          <a:noFill/>
          <a:ln w="0">
            <a:noFill/>
          </a:ln>
        </p:spPr>
        <p:txBody>
          <a:bodyPr wrap="none" lIns="0" tIns="0" rIns="0" bIns="0" anchor="ctr">
            <a:noAutofit/>
          </a:bodyPr>
          <a:lstStyle/>
          <a:p>
            <a:pPr algn="ctr">
              <a:lnSpc>
                <a:spcPts val="2300"/>
              </a:lnSpc>
            </a:pPr>
            <a:r>
              <a:rPr lang="en-GB" sz="1750" b="0" dirty="0">
                <a:solidFill>
                  <a:srgbClr val="526276"/>
                </a:solidFill>
                <a:latin typeface="DejaVu Sans"/>
              </a:rPr>
              <a:t>The architecture fixes parameter shapes; fitting adjusts their values.</a:t>
            </a:r>
            <a:endParaRPr lang="en-GB" sz="1750" dirty="0"/>
          </a:p>
        </p:txBody>
      </p:sp>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89" grpId="0"/>
      <p:bldP spid="90" grpId="0"/>
      <p:bldP spid="91" grpId="0"/>
      <p:bldP spid="98" grpId="0"/>
      <p:bldP spid="99"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92" name="component_definition" descr="\bm\phi_0(\bm x)=\bm x,\qquad\bm\phi_r(\bm x):=(\phi_{r,1}(\bm x),\ldots,\phi_{r,d_r}(\bm x)),\quad r=1,\ldots,L-1">
                <a:extLst>
                  <a:ext uri="{FF2B5EF4-FFF2-40B4-BE49-F238E27FC236}">
                    <a16:creationId xmlns:a16="http://schemas.microsoft.com/office/drawing/2014/main" id="{10863436-4DDE-440B-B054-A221EE7465F3}"/>
                  </a:ext>
                </a:extLst>
              </p:cNvPr>
              <p:cNvSpPr>
                <a:spLocks noGrp="1"/>
              </p:cNvSpPr>
              <p:nvPr/>
            </p:nvSpPr>
            <p:spPr>
              <a:xfrm>
                <a:off x="285750" y="4562475"/>
                <a:ext cx="11620500" cy="428625"/>
              </a:xfrm>
              <a:prstGeom prst="rect">
                <a:avLst/>
              </a:prstGeom>
              <a:noFill/>
              <a:ln w="0">
                <a:noFill/>
              </a:ln>
            </p:spPr>
            <p:txBody>
              <a:bodyPr vertOverflow="overflow" horzOverflow="overflow" wrap="none" lIns="0" tIns="0" rIns="0" bIns="0" anchor="ctr">
                <a:noAutofit/>
              </a:bodyPr>
              <a:lstStyle/>
              <a:p>
                <a:pPr algn="ctr"/>
                <a:r>
                  <a:rPr lang="en-GB" sz="2400" dirty="0">
                    <a:solidFill>
                      <a:srgbClr val="FF0000"/>
                    </a:solidFill>
                    <a:latin typeface="DejaVu Sans"/>
                  </a:rPr>
                  <a:t>Input: </a:t>
                </a:r>
                <a14:m>
                  <m:oMath xmlns:m="http://schemas.openxmlformats.org/officeDocument/2006/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0</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oMath>
                </a14:m>
                <a:endParaRPr lang="en-GB" sz="2400" dirty="0"/>
              </a:p>
            </p:txBody>
          </p:sp>
        </mc:Choice>
        <mc:Fallback xmlns="">
          <p:sp>
            <p:nvSpPr>
              <p:cNvPr id="92" name="component_definition" descr="\bm\phi_0(\bm x)=\bm x,\qquad\bm\phi_r(\bm x):=(\phi_{r,1}(\bm x),\ldots,\phi_{r,d_r}(\bm x)),\quad r=1,\ldots,L-1">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85750" y="4562475"/>
                <a:ext cx="11620500" cy="428625"/>
              </a:xfrm>
              <a:prstGeom prst="rect">
                <a:avLst/>
              </a:prstGeom>
              <a:blipFill>
                <a:blip r:embed="rId3"/>
                <a:stretch>
                  <a:fillRect t="-18310" b="-3098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Hidden layer hidden_recursion, r=1,\ldots,L-1">
                <a:extLst>
                  <a:ext uri="{FF2B5EF4-FFF2-40B4-BE49-F238E27FC236}">
                    <a16:creationId xmlns:a16="http://schemas.microsoft.com/office/drawing/2014/main" id="{A805226D-734D-463B-B7FE-7103B008F39B}"/>
                  </a:ext>
                </a:extLst>
              </p:cNvPr>
              <p:cNvSpPr>
                <a:spLocks noGrp="1"/>
              </p:cNvSpPr>
              <p:nvPr/>
            </p:nvSpPr>
            <p:spPr>
              <a:xfrm>
                <a:off x="285750" y="50673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t>
                </a:r>
                <a:r>
                  <a:rPr lang="en-GB" sz="2500" dirty="0">
                    <a:solidFill>
                      <a:srgbClr val="FF0000"/>
                    </a:solidFill>
                    <a:latin typeface="DejaVu Sans"/>
                  </a:rPr>
                  <a:t>p</a:t>
                </a:r>
                <a:r>
                  <a:rPr lang="en-GB" sz="2500" b="0" dirty="0">
                    <a:solidFill>
                      <a:srgbClr val="FF0000"/>
                    </a:solidFill>
                    <a:latin typeface="DejaVu Sans"/>
                  </a:rPr>
                  <a:t>reactivations: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1"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285750" y="5067300"/>
                <a:ext cx="11620500" cy="409575"/>
              </a:xfrm>
              <a:prstGeom prst="rect">
                <a:avLst/>
              </a:prstGeom>
              <a:blipFill>
                <a:blip r:embed="rIdNotation20_0_10"/>
                <a:stretch>
                  <a:fillRect t="-22388" b="-4029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285750" y="60198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Output: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𝐟</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𝐿</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𝐿</m:t>
                        </m:r>
                      </m:sub>
                    </m:sSub>
                  </m:oMath>
                </a14:m>
                <a:endParaRPr lang="en-GB" sz="2500" dirty="0"/>
              </a:p>
            </p:txBody>
          </p:sp>
        </mc:Choice>
        <mc:Fallback xmlns="">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285750" y="6019800"/>
                <a:ext cx="11620500" cy="409575"/>
              </a:xfrm>
              <a:prstGeom prst="rect">
                <a:avLst/>
              </a:prstGeom>
              <a:blipFill>
                <a:blip r:embed="rId5"/>
                <a:stretch>
                  <a:fillRect t="-23881" b="-38806"/>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113" name="network_caption_0">
                <a:extLst>
                  <a:ext uri="{FF2B5EF4-FFF2-40B4-BE49-F238E27FC236}">
                    <a16:creationId xmlns:a16="http://schemas.microsoft.com/office/drawing/2014/main" id="{4A6C3825-273B-C416-6CC6-6B983BAFBBBE}"/>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𝑑</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113" name="network_caption_0">
                <a:extLst>
                  <a:ext uri="{FF2B5EF4-FFF2-40B4-BE49-F238E27FC236}">
                    <a16:creationId xmlns:a16="http://schemas.microsoft.com/office/drawing/2014/main" id="{4A6C3825-273B-C416-6CC6-6B983BAFBBBE}"/>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WidthDr113"/>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network_caption_1">
                <a:extLst>
                  <a:ext uri="{FF2B5EF4-FFF2-40B4-BE49-F238E27FC236}">
                    <a16:creationId xmlns:a16="http://schemas.microsoft.com/office/drawing/2014/main" id="{91AD7A91-90A7-32DC-FB3A-9717C0AD1B8B}"/>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𝑑</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115" name="network_caption_1">
                <a:extLst>
                  <a:ext uri="{FF2B5EF4-FFF2-40B4-BE49-F238E27FC236}">
                    <a16:creationId xmlns:a16="http://schemas.microsoft.com/office/drawing/2014/main" id="{91AD7A91-90A7-32DC-FB3A-9717C0AD1B8B}"/>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WidthDr115"/>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network_caption_2">
                <a:extLst>
                  <a:ext uri="{FF2B5EF4-FFF2-40B4-BE49-F238E27FC236}">
                    <a16:creationId xmlns:a16="http://schemas.microsoft.com/office/drawing/2014/main" id="{FEB7A787-A5A9-3CA0-EC9E-90EC61DEEA6C}"/>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𝑑</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117" name="network_caption_2">
                <a:extLst>
                  <a:ext uri="{FF2B5EF4-FFF2-40B4-BE49-F238E27FC236}">
                    <a16:creationId xmlns:a16="http://schemas.microsoft.com/office/drawing/2014/main" id="{FEB7A787-A5A9-3CA0-EC9E-90EC61DEEA6C}"/>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WidthDr117"/>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hidden_activations" descr="Hidden layer hidden_activations, r=1,\ldots,L-1">
                <a:extLst>
                  <a:ext uri="{FF2B5EF4-FFF2-40B4-BE49-F238E27FC236}">
                    <a16:creationId xmlns:a16="http://schemas.microsoft.com/office/drawing/2014/main" id="{6655FCC5-8B8B-40CF-8429-8317F0E429D7}"/>
                  </a:ext>
                </a:extLst>
              </p:cNvPr>
              <p:cNvSpPr>
                <a:spLocks noGrp="1"/>
              </p:cNvSpPr>
              <p:nvPr/>
            </p:nvSpPr>
            <p:spPr>
              <a:xfrm>
                <a:off x="285750" y="554355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activations :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𝐑𝐞𝐋𝐔</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120" name="hidden_activations">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285750" y="5543550"/>
                <a:ext cx="11620500" cy="409575"/>
              </a:xfrm>
              <a:prstGeom prst="rect">
                <a:avLst/>
              </a:prstGeom>
              <a:blipFill>
                <a:blip r:embed="rIdNotation20_1_11"/>
                <a:stretch>
                  <a:fillRect t="-20588" b="-39706"/>
                </a:stretch>
              </a:blipFill>
              <a:ln w="0">
                <a:noFill/>
              </a:ln>
            </p:spPr>
            <p:txBody>
              <a:bodyPr/>
              <a:lstStyle/>
              <a:p>
                <a:r>
                  <a:rPr lang="it-IT">
                    <a:noFill/>
                  </a:rPr>
                  <a:t> </a:t>
                </a:r>
              </a:p>
            </p:txBody>
          </p:sp>
        </mc:Fallback>
      </mc:AlternateContent>
      <p:sp>
        <p:nvSpPr>
          <p:cNvPr id="88" name="title">
            <a:extLst>
              <a:ext uri="{FF2B5EF4-FFF2-40B4-BE49-F238E27FC236}">
                <a16:creationId xmlns:a16="http://schemas.microsoft.com/office/drawing/2014/main" id="{784F2E96-5A71-15CA-2D15-F0258BC18DFF}"/>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3" name="lead">
                <a:extLst>
                  <a:ext uri="{FF2B5EF4-FFF2-40B4-BE49-F238E27FC236}">
                    <a16:creationId xmlns:a16="http://schemas.microsoft.com/office/drawing/2014/main" id="{A2C19FED-93C5-E890-34A2-04526B2AF594}"/>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𝑑</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𝑑</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𝑑</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3" name="lead">
                <a:extLst>
                  <a:ext uri="{FF2B5EF4-FFF2-40B4-BE49-F238E27FC236}">
                    <a16:creationId xmlns:a16="http://schemas.microsoft.com/office/drawing/2014/main" id="{A2C19FED-93C5-E890-34A2-04526B2AF594}"/>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WidthDr3"/>
                <a:stretch>
                  <a:fillRect t="-21600" b="-296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 name="network_caption_3">
                <a:extLst>
                  <a:ext uri="{FF2B5EF4-FFF2-40B4-BE49-F238E27FC236}">
                    <a16:creationId xmlns:a16="http://schemas.microsoft.com/office/drawing/2014/main" id="{6F47D461-0574-E372-7880-2381DC36B841}"/>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𝑑</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2" name="network_caption_3">
                <a:extLst>
                  <a:ext uri="{FF2B5EF4-FFF2-40B4-BE49-F238E27FC236}">
                    <a16:creationId xmlns:a16="http://schemas.microsoft.com/office/drawing/2014/main" id="{6F47D461-0574-E372-7880-2381DC36B841}"/>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WidthDr2"/>
                <a:stretch>
                  <a:fillRect t="-14894" b="-2234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 grpId="0"/>
      <p:bldP spid="94" grpId="0"/>
      <p:bldP spid="120"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600"/>
                  </a:lnSpc>
                </a:pPr>
                <a:r>
                  <a:rPr lang="en-GB" sz="2100" b="0">
                    <a:solidFill>
                      <a:srgbClr val="526276"/>
                    </a:solidFill>
                    <a:latin typeface="DejaVu Sans"/>
                  </a:rPr>
                  <a:t>For the </a:t>
                </a:r>
                <a:r>
                  <a:rPr lang="en-GB" sz="2100" b="0">
                    <a:solidFill>
                      <a:srgbClr val="FF0000"/>
                    </a:solidFill>
                    <a:latin typeface="DejaVu Sans"/>
                  </a:rPr>
                  <a:t>architecture </a:t>
                </a:r>
                <a14:m>
                  <m:oMath xmlns:m="http://schemas.openxmlformats.org/officeDocument/2006/math">
                    <m:r>
                      <a:rPr lang="en-GB" sz="2100">
                        <a:solidFill>
                          <a:srgbClr val="526276"/>
                        </a:solidFill>
                        <a:latin typeface="Cambria Math"/>
                        <a:ea typeface="Cambria Math"/>
                        <a:cs typeface="Cambria Math"/>
                      </a:rPr>
                      <m:t>2→5→7→3</m:t>
                    </m:r>
                  </m:oMath>
                </a14:m>
                <a:r>
                  <a:rPr lang="en-GB" sz="2100" b="0">
                    <a:solidFill>
                      <a:srgbClr val="526276"/>
                    </a:solidFill>
                    <a:latin typeface="DejaVu Sans"/>
                  </a:rPr>
                  <a:t>,</a:t>
                </a:r>
                <a:endParaRPr lang="en-GB" sz="2100"/>
              </a:p>
              <a:p>
                <a:pPr algn="ctr">
                  <a:lnSpc>
                    <a:spcPts val="2600"/>
                  </a:lnSpc>
                </a:pPr>
                <a:r>
                  <a:rPr lang="en-GB" sz="2100" b="0">
                    <a:solidFill>
                      <a:srgbClr val="526276"/>
                    </a:solidFill>
                    <a:latin typeface="DejaVu Sans"/>
                  </a:rPr>
                  <a:t>each layer </a:t>
                </a:r>
                <a14:m>
                  <m:oMath xmlns:m="http://schemas.openxmlformats.org/officeDocument/2006/math">
                    <m:r>
                      <a:rPr lang="en-GB" sz="2100">
                        <a:solidFill>
                          <a:srgbClr val="526276"/>
                        </a:solidFill>
                        <a:latin typeface="Cambria Math"/>
                        <a:ea typeface="Cambria Math"/>
                        <a:cs typeface="Cambria Math"/>
                      </a:rPr>
                      <m:t>𝑟</m:t>
                    </m:r>
                  </m:oMath>
                </a14:m>
                <a:r>
                  <a:rPr lang="en-GB" sz="2100" b="0">
                    <a:solidFill>
                      <a:srgbClr val="526276"/>
                    </a:solidFill>
                    <a:latin typeface="DejaVu Sans"/>
                  </a:rPr>
                  <a:t> has its own weights and biases.</a:t>
                </a:r>
                <a:endParaRPr lang="en-GB" sz="2100"/>
              </a:p>
            </p:txBody>
          </p:sp>
        </mc:Choice>
        <mc:Fallback xmlns="">
          <p:sp>
            <p:nvSpPr>
              <p:cNvPr id="2" name="lead">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4688" b="-1093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781300"/>
          <a:ext cx="10668000" cy="2286000"/>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71500">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571500">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5"/>
                <a:stretch>
                  <a:fillRect t="-13846" b="-3076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general_dimensions" descr="\bm W_r\in\mathbb R^{d_{r-1}\times d_r},\qquad\bm b_r\in\mathbb R^{1\times d_r},\qquad r=1,\ldots,L">
                <a:extLst>
                  <a:ext uri="{FF2B5EF4-FFF2-40B4-BE49-F238E27FC236}">
                    <a16:creationId xmlns:a16="http://schemas.microsoft.com/office/drawing/2014/main" id="{72121462-FE2B-47A7-B458-089B74E6380E}"/>
                  </a:ext>
                </a:extLst>
              </p:cNvPr>
              <p:cNvSpPr>
                <a:spLocks noGrp="1"/>
              </p:cNvSpPr>
              <p:nvPr/>
            </p:nvSpPr>
            <p:spPr>
              <a:xfrm>
                <a:off x="381000" y="182880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𝑑</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𝑑</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𝑑</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𝐿</m:t>
                      </m:r>
                    </m:oMath>
                  </m:oMathPara>
                </a14:m>
                <a:endParaRPr lang="en-GB" sz="2600"/>
              </a:p>
            </p:txBody>
          </p:sp>
        </mc:Choice>
        <mc:Fallback xmlns="">
          <p:sp>
            <p:nvSpPr>
              <p:cNvPr id="13" name="general_dimensions" descr="\bm W_r\in\mathbb R^{d_{r-1}\times d_r},\qquad\bm b_r\in\mathbb R^{1\times d_r},\qquad r=1,\ldots,L">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1828800"/>
                <a:ext cx="11430000" cy="504825"/>
              </a:xfrm>
              <a:prstGeom prst="rect">
                <a:avLst/>
              </a:prstGeom>
              <a:blipFill>
                <a:blip r:embed="rIdWidthDr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parameter_notation">
                <a:extLst>
                  <a:ext uri="{FF2B5EF4-FFF2-40B4-BE49-F238E27FC236}">
                    <a16:creationId xmlns:a16="http://schemas.microsoft.com/office/drawing/2014/main" id="{72121462-FE2B-47A7-B458-089B74E6380E}"/>
                  </a:ext>
                </a:extLst>
              </p:cNvPr>
              <p:cNvSpPr>
                <a:spLocks noGrp="1"/>
              </p:cNvSpPr>
              <p:nvPr/>
            </p:nvSpPr>
            <p:spPr>
              <a:xfrm>
                <a:off x="381000" y="2343150"/>
                <a:ext cx="11430000" cy="352425"/>
              </a:xfrm>
              <a:prstGeom prst="rect">
                <a:avLst/>
              </a:prstGeom>
              <a:noFill/>
              <a:ln w="0">
                <a:noFill/>
              </a:ln>
            </p:spPr>
            <p:txBody>
              <a:bodyPr wrap="none" lIns="0" tIns="0" rIns="0" bIns="0" anchor="ctr">
                <a:noAutofit/>
              </a:bodyPr>
              <a:lstStyle/>
              <a:p>
                <a:pPr algn="ctr"/>
                <a:r>
                  <a:rPr lang="en-GB" sz="1900" b="0">
                    <a:solidFill>
                      <a:srgbClr val="526276"/>
                    </a:solidFill>
                    <a:latin typeface="DejaVu Sans"/>
                  </a:rPr>
                  <a:t>Output parameters: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 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a:t>
                </a:r>
                <a:endParaRPr lang="en-GB" sz="1900"/>
              </a:p>
            </p:txBody>
          </p:sp>
        </mc:Choice>
        <mc:Fallback xmlns="">
          <p:sp>
            <p:nvSpPr>
              <p:cNvPr id="14" name="output_parameter_notation">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2343150"/>
                <a:ext cx="11430000" cy="352425"/>
              </a:xfrm>
              <a:prstGeom prst="rect">
                <a:avLst/>
              </a:prstGeom>
              <a:blipFill>
                <a:blip r:embed="rId7"/>
                <a:stretch>
                  <a:fillRect t="-15517" b="-3103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886075"/>
                <a:ext cx="53816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886075"/>
                <a:ext cx="5381625" cy="7143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8384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838450"/>
                <a:ext cx="5429250"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681036" y="4539424"/>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681036" y="4539424"/>
                <a:ext cx="5381625"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09975"/>
                <a:ext cx="5334000" cy="971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dirty="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09975"/>
                <a:ext cx="5334000" cy="9715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681036" y="5482402"/>
            <a:ext cx="5381625"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62687" y="5436682"/>
            <a:ext cx="5429250"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logistic loss</a:t>
            </a:r>
            <a:r>
              <a:rPr sz="2175" b="0" dirty="0">
                <a:solidFill>
                  <a:srgbClr val="526276"/>
                </a:solidFill>
                <a:latin typeface="DejaVu Sans"/>
                <a:ea typeface="DejaVu Sans"/>
                <a:cs typeface="DejaVu Sans"/>
              </a:rPr>
              <a:t>.</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6027231"/>
            <a:ext cx="11049000" cy="59055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each task,</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neural networks use the </a:t>
            </a:r>
            <a:r>
              <a:rPr sz="2100" b="1" dirty="0">
                <a:solidFill>
                  <a:srgbClr val="FF0000"/>
                </a:solidFill>
                <a:latin typeface="DejaVu Sans"/>
                <a:ea typeface="DejaVu Sans"/>
                <a:cs typeface="DejaVu Sans"/>
              </a:rPr>
              <a:t>same loss</a:t>
            </a:r>
          </a:p>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as the corresponding linear model.</a:t>
            </a:r>
          </a:p>
        </p:txBody>
      </p:sp>
      <mc:AlternateContent xmlns:mc="http://schemas.openxmlformats.org/markup-compatibility/2006" xmlns:a14="http://schemas.microsoft.com/office/drawing/2010/main">
        <mc:Choice Requires="a14">
          <p:sp>
            <p:nvSpPr>
              <p:cNvPr id="15" name="regression_output_role">
                <a:extLst>
                  <a:ext uri="{FF2B5EF4-FFF2-40B4-BE49-F238E27FC236}">
                    <a16:creationId xmlns:a16="http://schemas.microsoft.com/office/drawing/2014/main" id="{52635A5C-1CFC-4DA6-ACDD-CD20412E9A33}"/>
                  </a:ext>
                </a:extLst>
              </p:cNvPr>
              <p:cNvSpPr>
                <a:spLocks noGrp="1"/>
              </p:cNvSpPr>
              <p:nvPr/>
            </p:nvSpPr>
            <p:spPr>
              <a:xfrm>
                <a:off x="523875" y="2247900"/>
                <a:ext cx="5381625"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endParaRPr lang="en-GB" sz="1950" dirty="0"/>
              </a:p>
              <a:p>
                <a:pPr algn="ctr">
                  <a:lnSpc>
                    <a:spcPts val="2400"/>
                  </a:lnSpc>
                </a:pPr>
                <a:r>
                  <a:rPr lang="en-GB" sz="1950" dirty="0">
                    <a:solidFill>
                      <a:srgbClr val="526276"/>
                    </a:solidFill>
                    <a:latin typeface="DejaVu Sans"/>
                  </a:rPr>
                  <a:t>is the </a:t>
                </a:r>
                <a:r>
                  <a:rPr lang="en-GB" sz="1950" dirty="0">
                    <a:solidFill>
                      <a:srgbClr val="087F83"/>
                    </a:solidFill>
                    <a:latin typeface="DejaVu Sans"/>
                  </a:rPr>
                  <a:t>predicted value.</a:t>
                </a:r>
                <a:endParaRPr lang="en-GB" sz="1950" dirty="0"/>
              </a:p>
            </p:txBody>
          </p:sp>
        </mc:Choice>
        <mc:Fallback xmlns="">
          <p:sp>
            <p:nvSpPr>
              <p:cNvPr id="15" name="regress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523875" y="2247900"/>
                <a:ext cx="5381625" cy="590550"/>
              </a:xfrm>
              <a:prstGeom prst="rect">
                <a:avLst/>
              </a:prstGeom>
              <a:blipFill>
                <a:blip r:embed="rId7"/>
                <a:stretch>
                  <a:fillRect t="-15464" b="-247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lassification_output_role">
                <a:extLst>
                  <a:ext uri="{FF2B5EF4-FFF2-40B4-BE49-F238E27FC236}">
                    <a16:creationId xmlns:a16="http://schemas.microsoft.com/office/drawing/2014/main" id="{52635A5C-1CFC-4DA6-ACDD-CD20412E9A33}"/>
                  </a:ext>
                </a:extLst>
              </p:cNvPr>
              <p:cNvSpPr>
                <a:spLocks noGrp="1"/>
              </p:cNvSpPr>
              <p:nvPr/>
            </p:nvSpPr>
            <p:spPr>
              <a:xfrm>
                <a:off x="6238875" y="2247900"/>
                <a:ext cx="5429250"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r>
                  <a:rPr lang="en-GB" sz="1950" dirty="0"/>
                  <a:t> </a:t>
                </a:r>
                <a:r>
                  <a:rPr lang="en-GB" sz="1950" dirty="0">
                    <a:solidFill>
                      <a:srgbClr val="526276"/>
                    </a:solidFill>
                    <a:latin typeface="DejaVu Sans"/>
                  </a:rPr>
                  <a:t>is a </a:t>
                </a:r>
                <a:r>
                  <a:rPr lang="en-GB" sz="1950" dirty="0">
                    <a:solidFill>
                      <a:srgbClr val="087F83"/>
                    </a:solidFill>
                    <a:latin typeface="DejaVu Sans"/>
                  </a:rPr>
                  <a:t>score.</a:t>
                </a:r>
              </a:p>
            </p:txBody>
          </p:sp>
        </mc:Choice>
        <mc:Fallback xmlns="">
          <p:sp>
            <p:nvSpPr>
              <p:cNvPr id="16" name="classificat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6238875" y="2247900"/>
                <a:ext cx="5429250" cy="5905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5" descr="\ell_{\mathrm{sq}}(\widehat y,y)=(\widehat y-y)^2">
                <a:extLst>
                  <a:ext uri="{FF2B5EF4-FFF2-40B4-BE49-F238E27FC236}">
                    <a16:creationId xmlns:a16="http://schemas.microsoft.com/office/drawing/2014/main" id="{EAA82288-5201-A251-33EE-3522197982D4}"/>
                  </a:ext>
                </a:extLst>
              </p:cNvPr>
              <p:cNvSpPr>
                <a:spLocks noGrp="1"/>
              </p:cNvSpPr>
              <p:nvPr/>
            </p:nvSpPr>
            <p:spPr>
              <a:xfrm>
                <a:off x="6096000" y="4529902"/>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it-IT" sz="2700" b="0" i="0" smtClean="0">
                              <a:solidFill>
                                <a:srgbClr val="087F83"/>
                              </a:solidFill>
                              <a:latin typeface="Cambria Math" panose="02040503050406030204" pitchFamily="18" charset="0"/>
                              <a:ea typeface="Cambria Math"/>
                              <a:cs typeface="Cambria Math"/>
                            </a:rPr>
                            <m:t>log</m:t>
                          </m:r>
                        </m:sub>
                      </m:sSub>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𝑦</m:t>
                      </m:r>
                      <m:func>
                        <m:funcPr>
                          <m:ctrlPr>
                            <a:rPr lang="it-IT" sz="2700" b="0" i="0" smtClean="0">
                              <a:solidFill>
                                <a:srgbClr val="087F83"/>
                              </a:solidFill>
                              <a:latin typeface="Cambria Math" panose="02040503050406030204" pitchFamily="18" charset="0"/>
                              <a:ea typeface="Cambria Math"/>
                              <a:cs typeface="Cambria Math"/>
                            </a:rPr>
                          </m:ctrlPr>
                        </m:funcPr>
                        <m:fName>
                          <m:r>
                            <m:rPr>
                              <m:sty m:val="p"/>
                            </m:rPr>
                            <a:rPr lang="it-IT" sz="2700" b="0" i="0" smtClean="0">
                              <a:solidFill>
                                <a:srgbClr val="087F83"/>
                              </a:solidFill>
                              <a:latin typeface="Cambria Math" panose="02040503050406030204" pitchFamily="18" charset="0"/>
                              <a:ea typeface="Cambria Math"/>
                              <a:cs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b="0" i="1" smtClean="0">
                                      <a:solidFill>
                                        <a:srgbClr val="087F83"/>
                                      </a:solidFill>
                                      <a:latin typeface="Cambria Math" panose="02040503050406030204" pitchFamily="18" charset="0"/>
                                      <a:ea typeface="Cambria Math"/>
                                    </a:rPr>
                                    <m:t>𝑝</m:t>
                                  </m:r>
                                </m:den>
                              </m:f>
                            </m:e>
                          </m:d>
                        </m:e>
                      </m:func>
                      <m:r>
                        <a:rPr lang="it-IT" sz="2700" b="0" i="1" smtClean="0">
                          <a:solidFill>
                            <a:srgbClr val="087F83"/>
                          </a:solidFill>
                          <a:latin typeface="Cambria Math" panose="02040503050406030204" pitchFamily="18" charset="0"/>
                          <a:ea typeface="Cambria Math"/>
                          <a:cs typeface="Cambria Math"/>
                        </a:rPr>
                        <m:t>+</m:t>
                      </m:r>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b="0" i="1" smtClean="0">
                              <a:solidFill>
                                <a:srgbClr val="087F83"/>
                              </a:solidFill>
                              <a:latin typeface="Cambria Math" panose="02040503050406030204" pitchFamily="18" charset="0"/>
                              <a:ea typeface="Cambria Math"/>
                            </a:rPr>
                            <m:t>𝑦</m:t>
                          </m:r>
                        </m:e>
                      </m:d>
                      <m:func>
                        <m:funcPr>
                          <m:ctrlPr>
                            <a:rPr lang="it-IT" sz="2700" b="0" i="0" smtClean="0">
                              <a:solidFill>
                                <a:srgbClr val="087F83"/>
                              </a:solidFill>
                              <a:latin typeface="Cambria Math" panose="02040503050406030204" pitchFamily="18" charset="0"/>
                              <a:ea typeface="Cambria Math"/>
                            </a:rPr>
                          </m:ctrlPr>
                        </m:funcPr>
                        <m:fName>
                          <m:r>
                            <m:rPr>
                              <m:sty m:val="p"/>
                            </m:rPr>
                            <a:rPr lang="it-IT" sz="2700" b="0" i="0" smtClean="0">
                              <a:solidFill>
                                <a:srgbClr val="087F83"/>
                              </a:solidFill>
                              <a:latin typeface="Cambria Math" panose="02040503050406030204" pitchFamily="18" charset="0"/>
                              <a:ea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i="1">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𝑝</m:t>
                                  </m:r>
                                </m:den>
                              </m:f>
                            </m:e>
                          </m:d>
                        </m:e>
                      </m:func>
                    </m:oMath>
                  </m:oMathPara>
                </a14:m>
                <a:endParaRPr lang="en-GB" sz="2700" dirty="0"/>
              </a:p>
            </p:txBody>
          </p:sp>
        </mc:Choice>
        <mc:Fallback xmlns="">
          <p:sp>
            <p:nvSpPr>
              <p:cNvPr id="20" name="equation_5" descr="\ell_{\mathrm{sq}}(\widehat y,y)=(\widehat y-y)^2">
                <a:extLst>
                  <a:ext uri="{FF2B5EF4-FFF2-40B4-BE49-F238E27FC236}">
                    <a16:creationId xmlns:a16="http://schemas.microsoft.com/office/drawing/2014/main" id="{EAA82288-5201-A251-33EE-3522197982D4}"/>
                  </a:ext>
                </a:extLst>
              </p:cNvPr>
              <p:cNvSpPr>
                <a:spLocks noGrp="1" noRot="1" noChangeAspect="1" noMove="1" noResize="1" noEditPoints="1" noAdjustHandles="1" noChangeArrowheads="1" noChangeShapeType="1" noTextEdit="1"/>
              </p:cNvSpPr>
              <p:nvPr/>
            </p:nvSpPr>
            <p:spPr>
              <a:xfrm>
                <a:off x="6096000" y="4529902"/>
                <a:ext cx="5381625" cy="952500"/>
              </a:xfrm>
              <a:prstGeom prst="rect">
                <a:avLst/>
              </a:prstGeom>
              <a:blipFill>
                <a:blip r:embed="rId9"/>
                <a:stretch>
                  <a:fillRect l="-10079" r="-82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26081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5" grpId="0"/>
      <p:bldP spid="16"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With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classes, the network outputs a row of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real scores.</a:t>
                </a:r>
                <a:endParaRPr lang="en-GB" sz="2025"/>
              </a:p>
              <a:p>
                <a:pPr algn="ctr">
                  <a:lnSpc>
                    <a:spcPts val="2500"/>
                  </a:lnSpc>
                </a:pPr>
                <a:r>
                  <a:rPr lang="en-GB" sz="2025" b="0">
                    <a:solidFill>
                      <a:srgbClr val="526276"/>
                    </a:solidFill>
                    <a:latin typeface="DejaVu Sans"/>
                  </a:rPr>
                  <a:t>The output width is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𝑑</m:t>
                        </m:r>
                      </m:e>
                      <m:sub>
                        <m:r>
                          <a:rPr lang="en-GB" sz="2025">
                            <a:solidFill>
                              <a:srgbClr val="526276"/>
                            </a:solidFill>
                            <a:latin typeface="Cambria Math"/>
                            <a:ea typeface="Cambria Math"/>
                            <a:cs typeface="Cambria Math"/>
                          </a:rPr>
                          <m:t>𝐿</m:t>
                        </m:r>
                      </m:sub>
                    </m:sSub>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𝑞</m:t>
                    </m:r>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𝐾</m:t>
                    </m:r>
                  </m:oMath>
                </a14:m>
                <a:r>
                  <a:rPr lang="en-GB" sz="2025" b="0">
                    <a:solidFill>
                      <a:srgbClr val="526276"/>
                    </a:solidFill>
                    <a:latin typeface="DejaVu Sans"/>
                  </a:rPr>
                  <a:t>.</a:t>
                </a:r>
                <a:endParaRPr lang="en-GB" sz="2025"/>
              </a:p>
            </p:txBody>
          </p:sp>
        </mc:Choice>
        <mc:Fallback xmlns="">
          <p:sp>
            <p:nvSpPr>
              <p:cNvPr id="2" name="lead">
                <a:extLst>
                  <a:ext uri="{FF2B5EF4-FFF2-40B4-BE49-F238E27FC236}">
                    <a16:creationId xmlns:a16="http://schemas.microsoft.com/office/drawing/2014/main" id="{F6425441-51AB-4D1B-9B23-5D6FD7DE36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WidthDr2"/>
                <a:stretch>
                  <a:fillRect t="-1563" b="-859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ℝ</m:t>
                          </m:r>
                        </m:e>
                        <m:sup>
                          <m:r>
                            <a:rPr lang="it-IT" sz="3000" b="0" i="1" smtClean="0">
                              <a:solidFill>
                                <a:srgbClr val="087F83"/>
                              </a:solidFill>
                              <a:latin typeface="Cambria Math" panose="02040503050406030204" pitchFamily="18" charset="0"/>
                              <a:ea typeface="Cambria Math"/>
                              <a:cs typeface="Cambria Math"/>
                            </a:rPr>
                            <m:t>1×</m:t>
                          </m:r>
                          <m:r>
                            <a:rPr lang="it-IT" sz="3000" b="0" i="1" smtClean="0">
                              <a:solidFill>
                                <a:srgbClr val="087F83"/>
                              </a:solidFill>
                              <a:latin typeface="Cambria Math" panose="02040503050406030204" pitchFamily="18" charset="0"/>
                              <a:ea typeface="Cambria Math"/>
                              <a:cs typeface="Cambria Math"/>
                            </a:rPr>
                            <m:t>𝐾</m:t>
                          </m:r>
                        </m:sup>
                      </m:sSup>
                    </m:oMath>
                  </m:oMathPara>
                </a14:m>
                <a:endParaRPr lang="en-GB" sz="3000" dirty="0"/>
              </a:p>
            </p:txBody>
          </p:sp>
        </mc:Choice>
        <mc:Fallback xmlns="">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𝐩</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e>
                      </m:d>
                      <m:r>
                        <a:rPr lang="it-IT" sz="2600" b="0" i="1" smtClean="0">
                          <a:solidFill>
                            <a:srgbClr val="087F83"/>
                          </a:solidFill>
                          <a:latin typeface="Cambria Math" panose="02040503050406030204" pitchFamily="18" charset="0"/>
                          <a:ea typeface="Cambria Math"/>
                          <a:cs typeface="Cambria Math"/>
                        </a:rPr>
                        <m:t>∈</m:t>
                      </m:r>
                      <m:sSup>
                        <m:sSupPr>
                          <m:ctrlPr>
                            <a:rPr lang="it-IT" sz="2600" b="0" i="1" smtClean="0">
                              <a:solidFill>
                                <a:srgbClr val="087F83"/>
                              </a:solidFill>
                              <a:latin typeface="Cambria Math" panose="02040503050406030204" pitchFamily="18" charset="0"/>
                              <a:ea typeface="Cambria Math"/>
                            </a:rPr>
                          </m:ctrlPr>
                        </m:sSupPr>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0,1</m:t>
                              </m:r>
                            </m:e>
                          </m:d>
                        </m:e>
                        <m:sup>
                          <m:r>
                            <a:rPr lang="it-IT" sz="2600" b="0" i="1" smtClean="0">
                              <a:solidFill>
                                <a:srgbClr val="087F83"/>
                              </a:solidFill>
                              <a:latin typeface="Cambria Math" panose="02040503050406030204" pitchFamily="18" charset="0"/>
                              <a:ea typeface="Cambria Math"/>
                            </a:rPr>
                            <m:t>1×</m:t>
                          </m:r>
                          <m:r>
                            <a:rPr lang="it-IT" sz="2600" b="0" i="1" smtClean="0">
                              <a:solidFill>
                                <a:srgbClr val="087F83"/>
                              </a:solidFill>
                              <a:latin typeface="Cambria Math" panose="02040503050406030204" pitchFamily="18" charset="0"/>
                              <a:ea typeface="Cambria Math"/>
                            </a:rPr>
                            <m:t>𝐾</m:t>
                          </m:r>
                        </m:sup>
                      </m:sSup>
                    </m:oMath>
                  </m:oMathPara>
                </a14:m>
                <a:endParaRPr lang="en-GB" sz="2600" dirty="0"/>
              </a:p>
            </p:txBody>
          </p:sp>
        </mc:Choice>
        <mc:Fallback xmlns="">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r>
                  <a:rPr lang="en-GB" sz="2900" dirty="0"/>
                  <a:t>Use the </a:t>
                </a:r>
                <a:r>
                  <a:rPr lang="en-GB" sz="2900" dirty="0">
                    <a:solidFill>
                      <a:srgbClr val="FF0000"/>
                    </a:solidFill>
                  </a:rPr>
                  <a:t>plug-in classifier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it-IT" sz="2900" b="0" i="1" smtClean="0">
                        <a:solidFill>
                          <a:srgbClr val="087F83"/>
                        </a:solidFill>
                        <a:latin typeface="Cambria Math" panose="02040503050406030204" pitchFamily="18" charset="0"/>
                        <a:ea typeface="Cambria Math"/>
                        <a:cs typeface="Cambria Math"/>
                      </a:rPr>
                      <m:t>∈</m:t>
                    </m:r>
                    <m:d>
                      <m:dPr>
                        <m:begChr m:val="{"/>
                        <m:endChr m:val="}"/>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1,…,</m:t>
                        </m:r>
                        <m:r>
                          <a:rPr lang="it-IT" sz="2900" b="0" i="1" smtClean="0">
                            <a:solidFill>
                              <a:srgbClr val="087F83"/>
                            </a:solidFill>
                            <a:latin typeface="Cambria Math" panose="02040503050406030204" pitchFamily="18" charset="0"/>
                            <a:ea typeface="Cambria Math"/>
                          </a:rPr>
                          <m:t>𝐾</m:t>
                        </m:r>
                      </m:e>
                    </m:d>
                  </m:oMath>
                </a14:m>
                <a:r>
                  <a:rPr lang="en-GB" sz="2900" dirty="0"/>
                  <a:t> associated with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a:t>
                </a:r>
              </a:p>
              <a:p>
                <a:pPr algn="ctr"/>
                <a:r>
                  <a:rPr lang="en-GB" sz="2900" dirty="0"/>
                  <a:t>choose the most probable class, breaking ties with the smallest index.</a:t>
                </a:r>
              </a:p>
            </p:txBody>
          </p:sp>
        </mc:Choice>
        <mc:Fallback xmlns="">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noRot="1" noChangeAspect="1" noMove="1" noResize="1" noEditPoints="1" noAdjustHandles="1" noChangeArrowheads="1" noChangeShapeType="1" noTextEdit="1"/>
              </p:cNvSpPr>
              <p:nvPr/>
            </p:nvSpPr>
            <p:spPr>
              <a:xfrm>
                <a:off x="666750" y="4324350"/>
                <a:ext cx="10858500" cy="923925"/>
              </a:xfrm>
              <a:prstGeom prst="rect">
                <a:avLst/>
              </a:prstGeom>
              <a:blipFill>
                <a:blip r:embed="rId6"/>
                <a:stretch>
                  <a:fillRect t="-11184" b="-243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448300"/>
                <a:ext cx="11049000" cy="9239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Fit with the same </a:t>
                </a:r>
                <a:r>
                  <a:rPr sz="2100" b="1" dirty="0">
                    <a:solidFill>
                      <a:srgbClr val="FF0000"/>
                    </a:solidFill>
                    <a:latin typeface="DejaVu Sans"/>
                    <a:ea typeface="DejaVu Sans"/>
                    <a:cs typeface="DejaVu Sans"/>
                  </a:rPr>
                  <a:t>cross-entropy loss</a:t>
                </a:r>
                <a:endParaRPr lang="it-IT" sz="21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endParaRPr lang="it-IT" sz="12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14:m>
                  <m:oMathPara xmlns:m="http://schemas.openxmlformats.org/officeDocument/2006/math">
                    <m:oMath>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multi</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𝐩</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𝑦</m:t>
                              </m:r>
                            </m:sub>
                          </m:sSub>
                        </m:e>
                      </m:d>
                    </m:oMath>
                  </m:oMathPara>
                </a14:m>
                <a:endParaRPr sz="2600" b="1" dirty="0">
                  <a:solidFill>
                    <a:srgbClr val="182D45"/>
                  </a:solidFill>
                  <a:latin typeface="DejaVu Sans"/>
                  <a:ea typeface="DejaVu Sans"/>
                  <a:cs typeface="DejaVu Sans"/>
                </a:endParaRPr>
              </a:p>
            </p:txBody>
          </p:sp>
        </mc:Choice>
        <mc:Fallback xmlns="">
          <p:sp>
            <p:nvSpPr>
              <p:cNvPr id="8" name="text_4">
                <a:extLst>
                  <a:ext uri="{FF2B5EF4-FFF2-40B4-BE49-F238E27FC236}">
                    <a16:creationId xmlns:a16="http://schemas.microsoft.com/office/drawing/2014/main" id="{F7AFA847-46A5-403C-A182-D33E7849F830}"/>
                  </a:ext>
                </a:extLst>
              </p:cNvPr>
              <p:cNvSpPr>
                <a:spLocks noGrp="1" noRot="1" noChangeAspect="1" noMove="1" noResize="1" noEditPoints="1" noAdjustHandles="1" noChangeArrowheads="1" noChangeShapeType="1" noTextEdit="1"/>
              </p:cNvSpPr>
              <p:nvPr/>
            </p:nvSpPr>
            <p:spPr>
              <a:xfrm>
                <a:off x="571500" y="5448300"/>
                <a:ext cx="11049000" cy="923925"/>
              </a:xfrm>
              <a:prstGeom prst="rect">
                <a:avLst/>
              </a:prstGeom>
              <a:blipFill>
                <a:blip r:embed="rId7"/>
                <a:stretch>
                  <a:fillRect t="-11921" b="-264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regression</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problem</a:t>
            </a:r>
            <a:r>
              <a:rPr lang="it-IT" sz="3300" b="1" dirty="0">
                <a:solidFill>
                  <a:srgbClr val="182D45"/>
                </a:solidFill>
                <a:latin typeface="DejaVu Sans"/>
                <a:ea typeface="DejaVu Sans"/>
                <a:cs typeface="DejaVu Sans"/>
              </a:rPr>
              <a:t>: the</a:t>
            </a:r>
            <a:r>
              <a:rPr sz="3300" b="1" dirty="0">
                <a:solidFill>
                  <a:srgbClr val="182D45"/>
                </a:solidFill>
                <a:latin typeface="DejaVu Sans"/>
                <a:ea typeface="DejaVu Sans"/>
                <a:cs typeface="DejaVu Sans"/>
              </a:rPr>
              <a:t>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could choose this function as a </a:t>
            </a:r>
            <a:r>
              <a:rPr sz="2175" b="0" dirty="0">
                <a:solidFill>
                  <a:srgbClr val="FF0000"/>
                </a:solidFill>
                <a:latin typeface="DejaVu Sans"/>
                <a:ea typeface="DejaVu Sans"/>
                <a:cs typeface="DejaVu Sans"/>
              </a:rPr>
              <a:t>fixed feature</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sz="1650" b="0" dirty="0">
                  <a:solidFill>
                    <a:srgbClr val="182D45"/>
                  </a:solidFill>
                  <a:latin typeface="DejaVu Sans"/>
                  <a:ea typeface="DejaVu Sans"/>
                  <a:cs typeface="DejaVu Sans"/>
                </a:endParaRPr>
              </a:p>
            </p:txBody>
          </p:sp>
        </mc:Choice>
        <mc:Fallback xmlns="">
          <p:sp>
            <p:nvSpPr>
              <p:cNvPr id="4" name="axis_x">
                <a:extLst>
                  <a:ext uri="{FF2B5EF4-FFF2-40B4-BE49-F238E27FC236}">
                    <a16:creationId xmlns:a16="http://schemas.microsoft.com/office/drawing/2014/main" id="{0CAA4C5D-0F32-42C1-8AB5-231A04B11C71}"/>
                  </a:ext>
                </a:extLst>
              </p:cNvPr>
              <p:cNvSpPr>
                <a:spLocks noGrp="1" noRot="1" noChangeAspect="1" noMove="1" noResize="1" noEditPoints="1" noAdjustHandles="1" noChangeArrowheads="1" noChangeShapeType="1" noTextEdit="1"/>
              </p:cNvSpPr>
              <p:nvPr/>
            </p:nvSpPr>
            <p:spPr>
              <a:xfrm>
                <a:off x="5505450" y="5200650"/>
                <a:ext cx="1619250" cy="285750"/>
              </a:xfrm>
              <a:prstGeom prst="rect">
                <a:avLst/>
              </a:prstGeom>
              <a:blipFill>
                <a:blip r:embed="rId3"/>
                <a:stretch>
                  <a:fillRect/>
                </a:stretch>
              </a:blipFill>
              <a:ln w="0">
                <a:noFill/>
              </a:ln>
            </p:spPr>
            <p:txBody>
              <a:bodyPr/>
              <a:lstStyle/>
              <a:p>
                <a:r>
                  <a:rPr lang="it-IT">
                    <a:noFill/>
                  </a:rPr>
                  <a:t> </a:t>
                </a:r>
              </a:p>
            </p:txBody>
          </p:sp>
        </mc:Fallback>
      </mc:AlternateContent>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Can we build it</a:t>
            </a:r>
            <a:endParaRPr lang="it-IT" sz="2250" b="1" dirty="0">
              <a:solidFill>
                <a:srgbClr val="FF0000"/>
              </a:solidFill>
              <a:latin typeface="DejaVu Sans"/>
              <a:ea typeface="DejaVu Sans"/>
              <a:cs typeface="DejaVu Sans"/>
            </a:endParaRPr>
          </a:p>
          <a:p>
            <a:pPr algn="ctr">
              <a:defRPr sz="2250" b="1">
                <a:solidFill>
                  <a:srgbClr val="182D45"/>
                </a:solidFill>
                <a:latin typeface="DejaVu Sans"/>
                <a:ea typeface="DejaVu Sans"/>
                <a:cs typeface="DejaVu Sans"/>
              </a:defRPr>
            </a:pPr>
            <a:r>
              <a:rPr lang="it-IT" sz="2250" b="1" dirty="0">
                <a:solidFill>
                  <a:srgbClr val="182D45"/>
                </a:solidFill>
                <a:latin typeface="DejaVu Sans"/>
                <a:ea typeface="DejaVu Sans"/>
                <a:cs typeface="DejaVu Sans"/>
              </a:rPr>
              <a:t>by </a:t>
            </a:r>
            <a:r>
              <a:rPr lang="it-IT" sz="2250" b="1" dirty="0" err="1">
                <a:solidFill>
                  <a:srgbClr val="FF0000"/>
                </a:solidFill>
                <a:latin typeface="DejaVu Sans"/>
                <a:ea typeface="DejaVu Sans"/>
                <a:cs typeface="DejaVu Sans"/>
              </a:rPr>
              <a:t>adjusting</a:t>
            </a:r>
            <a:r>
              <a:rPr lang="it-IT" sz="2250" b="1" dirty="0">
                <a:solidFill>
                  <a:srgbClr val="FF0000"/>
                </a:solidFill>
                <a:latin typeface="DejaVu Sans"/>
                <a:ea typeface="DejaVu Sans"/>
                <a:cs typeface="DejaVu Sans"/>
              </a:rPr>
              <a:t> the </a:t>
            </a:r>
            <a:r>
              <a:rPr lang="it-IT" sz="2250" b="1" dirty="0" err="1">
                <a:solidFill>
                  <a:srgbClr val="FF0000"/>
                </a:solidFill>
                <a:latin typeface="DejaVu Sans"/>
                <a:ea typeface="DejaVu Sans"/>
                <a:cs typeface="DejaVu Sans"/>
              </a:rPr>
              <a:t>parameters</a:t>
            </a:r>
            <a:r>
              <a:rPr lang="it-IT" sz="2250" b="1" dirty="0">
                <a:solidFill>
                  <a:srgbClr val="FF0000"/>
                </a:solidFill>
                <a:latin typeface="DejaVu Sans"/>
                <a:ea typeface="DejaVu Sans"/>
                <a:cs typeface="DejaVu Sans"/>
              </a:rPr>
              <a:t> </a:t>
            </a:r>
            <a:r>
              <a:rPr lang="it-IT" sz="2250" b="1" dirty="0">
                <a:solidFill>
                  <a:srgbClr val="182D45"/>
                </a:solidFill>
                <a:latin typeface="DejaVu Sans"/>
                <a:ea typeface="DejaVu Sans"/>
                <a:cs typeface="DejaVu Sans"/>
              </a:rPr>
              <a:t>of a </a:t>
            </a:r>
            <a:r>
              <a:rPr lang="it-IT" sz="2250" b="1" dirty="0" err="1">
                <a:solidFill>
                  <a:srgbClr val="182D45"/>
                </a:solidFill>
                <a:latin typeface="DejaVu Sans"/>
                <a:ea typeface="DejaVu Sans"/>
                <a:cs typeface="DejaVu Sans"/>
              </a:rPr>
              <a:t>Neural</a:t>
            </a:r>
            <a:r>
              <a:rPr lang="it-IT" sz="2250" b="1" dirty="0">
                <a:solidFill>
                  <a:srgbClr val="182D45"/>
                </a:solidFill>
                <a:latin typeface="DejaVu Sans"/>
                <a:ea typeface="DejaVu Sans"/>
                <a:cs typeface="DejaVu Sans"/>
              </a:rPr>
              <a:t> Network?</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2DC0162E-A9AD-40AE-A592-5DEC1D4527A6}"/>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One neuron</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𝑑</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=1</m:t>
                    </m:r>
                  </m:oMath>
                </a14:m>
                <a:endParaRPr lang="en-GB" sz="2100"/>
              </a:p>
            </p:txBody>
          </p:sp>
        </mc:Choice>
        <mc:Fallback xmlns="">
          <p:sp>
            <p:nvSpPr>
              <p:cNvPr id="8" name="text_3">
                <a:extLst>
                  <a:ext uri="{FF2B5EF4-FFF2-40B4-BE49-F238E27FC236}">
                    <a16:creationId xmlns:a16="http://schemas.microsoft.com/office/drawing/2014/main" id="{E54DFE30-6504-402F-ABFB-041A6244DD92}"/>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WidthDr8"/>
                <a:stretch>
                  <a:fillRect b="-6383"/>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364D716E-2A84-49C8-B364-FF588A76D0A9}"/>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Two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𝑑</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=2</m:t>
                    </m:r>
                  </m:oMath>
                </a14:m>
                <a:endParaRPr lang="en-GB" sz="2100"/>
              </a:p>
            </p:txBody>
          </p:sp>
        </mc:Choice>
        <mc:Fallback xmlns="">
          <p:sp>
            <p:nvSpPr>
              <p:cNvPr id="8" name="text_3">
                <a:extLst>
                  <a:ext uri="{FF2B5EF4-FFF2-40B4-BE49-F238E27FC236}">
                    <a16:creationId xmlns:a16="http://schemas.microsoft.com/office/drawing/2014/main" id="{8C01EC18-3ED5-4278-B4A6-2DCA40AE57A6}"/>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WidthDr8"/>
                <a:stretch>
                  <a:fillRect b="-63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xmlns="">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8"/>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DB58D26C-81DD-4B96-8ED9-2F7FFA0708E2}"/>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Three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𝑑</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=3</m:t>
                    </m:r>
                  </m:oMath>
                </a14:m>
                <a:endParaRPr lang="en-GB" sz="2100"/>
              </a:p>
            </p:txBody>
          </p:sp>
        </mc:Choice>
        <mc:Fallback xmlns="">
          <p:sp>
            <p:nvSpPr>
              <p:cNvPr id="19" name="three_units">
                <a:extLst>
                  <a:ext uri="{FF2B5EF4-FFF2-40B4-BE49-F238E27FC236}">
                    <a16:creationId xmlns:a16="http://schemas.microsoft.com/office/drawing/2014/main" id="{1F632ECA-7704-4BBC-BAC9-983DF2DE212F}"/>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WidthDr19"/>
                <a:stretch>
                  <a:fillRect b="-6383"/>
                </a:stretch>
              </a:blipFill>
              <a:ln w="0">
                <a:noFill/>
              </a:ln>
            </p:spPr>
            <p:txBody>
              <a:bodyPr/>
              <a:lstStyle/>
              <a:p>
                <a:r>
                  <a:rPr lang="it-IT">
                    <a:noFill/>
                  </a:rPr>
                  <a:t> </a:t>
                </a:r>
              </a:p>
            </p:txBody>
          </p:sp>
        </mc:Fallback>
      </mc:AlternateContent>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Three </a:t>
            </a:r>
            <a:r>
              <a:rPr lang="it-IT" sz="2025" b="1" dirty="0" err="1">
                <a:solidFill>
                  <a:srgbClr val="182D45"/>
                </a:solidFill>
                <a:latin typeface="DejaVu Sans"/>
                <a:ea typeface="DejaVu Sans"/>
                <a:cs typeface="DejaVu Sans"/>
              </a:rPr>
              <a:t>neurons</a:t>
            </a:r>
            <a:r>
              <a:rPr sz="2025" b="1" dirty="0">
                <a:solidFill>
                  <a:srgbClr val="182D45"/>
                </a:solidFill>
                <a:latin typeface="DejaVu Sans"/>
                <a:ea typeface="DejaVu Sans"/>
                <a:cs typeface="DejaVu Sans"/>
              </a:rPr>
              <a:t> </a:t>
            </a:r>
            <a:r>
              <a:rPr lang="it-IT" sz="2025" b="1" dirty="0">
                <a:solidFill>
                  <a:srgbClr val="182D45"/>
                </a:solidFill>
                <a:latin typeface="DejaVu Sans"/>
                <a:ea typeface="DejaVu Sans"/>
                <a:cs typeface="DejaVu Sans"/>
              </a:rPr>
              <a:t>can </a:t>
            </a:r>
            <a:r>
              <a:rPr sz="2025" b="1" dirty="0">
                <a:solidFill>
                  <a:srgbClr val="182D45"/>
                </a:solidFill>
                <a:latin typeface="DejaVu Sans"/>
                <a:ea typeface="DejaVu Sans"/>
                <a:cs typeface="DejaVu Sans"/>
              </a:rPr>
              <a:t>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parameters of the tent network</a:t>
            </a:r>
          </a:p>
        </p:txBody>
      </p:sp>
      <p:sp>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400" dirty="0">
                <a:ea typeface="Cambria Math"/>
                <a:cs typeface="Cambria Math"/>
              </a:rPr>
              <a:t>The tent function can be represented by a neural network with architecture:  </a:t>
            </a:r>
            <a:r>
              <a:rPr lang="it-IT" sz="2400" dirty="0">
                <a:latin typeface="DejaVu Sans"/>
                <a:ea typeface="DejaVu Sans"/>
                <a:cs typeface="DejaVu Sans"/>
              </a:rPr>
              <a:t>1 → 3 → 1</a:t>
            </a:r>
            <a:endParaRPr lang="en-GB" sz="2400" dirty="0"/>
          </a:p>
        </p:txBody>
      </p:sp>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82296" y="1809750"/>
                <a:ext cx="11996928"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smtClean="0">
                          <a:solidFill>
                            <a:srgbClr val="087F83"/>
                          </a:solidFill>
                          <a:latin typeface="Cambria Math"/>
                          <a:ea typeface="Cambria Math"/>
                          <a:cs typeface="Cambria Math"/>
                        </a:rPr>
                        <m:t>ReLU</m:t>
                      </m:r>
                      <m:r>
                        <a:rPr lang="it-IT" sz="2700" b="0" i="0">
                          <a:solidFill>
                            <a:srgbClr val="087F83"/>
                          </a:solidFill>
                          <a:latin typeface="Cambria Math" panose="02040503050406030204" pitchFamily="18" charset="0"/>
                          <a:ea typeface="Cambria Math"/>
                          <a:cs typeface="Cambria Math"/>
                        </a:rPr>
                        <m:t>(</m:t>
                      </m:r>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r>
                        <a:rPr lang="it-IT" sz="2700" i="1">
                          <a:solidFill>
                            <a:srgbClr val="9C7400"/>
                          </a:solidFill>
                          <a:latin typeface="Cambria Math" panose="02040503050406030204" pitchFamily="18" charset="0"/>
                          <a:ea typeface="Cambria Math"/>
                          <a:cs typeface="Cambria Math"/>
                        </a:rPr>
                        <m:t>0</m:t>
                      </m:r>
                      <m:r>
                        <a:rPr lang="it-IT" sz="2700" b="0" i="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m:t>
                      </m:r>
                      <m:r>
                        <a:rPr lang="en-GB" sz="2700" smtClean="0">
                          <a:solidFill>
                            <a:srgbClr val="00B0F0"/>
                          </a:solidFill>
                          <a:latin typeface="Cambria Math"/>
                          <a:ea typeface="Cambria Math"/>
                          <a:cs typeface="Cambria Math"/>
                        </a:rPr>
                        <m:t>2</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m:t>
                      </m:r>
                      <m:r>
                        <m:rPr>
                          <m:sty m:val="p"/>
                        </m:rPr>
                        <a:rPr lang="en-GB" sz="2700" smtClean="0">
                          <a:solidFill>
                            <a:srgbClr val="087F83"/>
                          </a:solidFill>
                          <a:latin typeface="Cambria Math"/>
                          <a:ea typeface="Cambria Math"/>
                          <a:cs typeface="Cambria Math"/>
                        </a:rPr>
                        <m:t>U</m:t>
                      </m:r>
                      <m:r>
                        <a:rPr lang="it-IT" sz="2700" b="0" i="0">
                          <a:solidFill>
                            <a:srgbClr val="087F83"/>
                          </a:solidFill>
                          <a:latin typeface="Cambria Math" panose="02040503050406030204" pitchFamily="18" charset="0"/>
                          <a:ea typeface="Cambria Math"/>
                          <a:cs typeface="Cambria Math"/>
                        </a:rPr>
                        <m:t>(</m:t>
                      </m:r>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smtClean="0">
                          <a:solidFill>
                            <a:srgbClr val="087F83"/>
                          </a:solidFill>
                          <a:latin typeface="Cambria Math" panose="02040503050406030204" pitchFamily="18" charset="0"/>
                          <a:ea typeface="Cambria Math"/>
                          <a:cs typeface="Cambria Math"/>
                        </a:rPr>
                        <m:t>+</m:t>
                      </m:r>
                      <m:r>
                        <a:rPr lang="en-GB" sz="2700" b="0" i="0">
                          <a:solidFill>
                            <a:srgbClr val="087F83"/>
                          </a:solidFill>
                          <a:latin typeface="Cambria Math"/>
                          <a:ea typeface="Cambria Math"/>
                          <a:cs typeface="Cambria Math"/>
                        </a:rPr>
                        <m:t>(</m:t>
                      </m:r>
                      <m:r>
                        <a:rPr lang="en-GB" sz="2700">
                          <a:solidFill>
                            <a:srgbClr val="9C7400"/>
                          </a:solidFill>
                          <a:latin typeface="Cambria Math"/>
                          <a:ea typeface="Cambria Math"/>
                          <a:cs typeface="Cambria Math"/>
                        </a:rPr>
                        <m:t>−1</m:t>
                      </m:r>
                      <m:r>
                        <a:rPr lang="en-GB" sz="2700" b="0" i="0">
                          <a:solidFill>
                            <a:srgbClr val="087F83"/>
                          </a:solidFill>
                          <a:latin typeface="Cambria Math"/>
                          <a:ea typeface="Cambria Math"/>
                          <a:cs typeface="Cambria Math"/>
                        </a:rPr>
                        <m:t>)</m:t>
                      </m:r>
                      <m:r>
                        <a:rPr lang="it-IT" sz="2700" b="0" i="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m:t>
                      </m:r>
                      <m:r>
                        <m:rPr>
                          <m:sty m:val="p"/>
                        </m:rPr>
                        <a:rPr lang="en-GB" sz="2700" smtClean="0">
                          <a:solidFill>
                            <a:srgbClr val="087F83"/>
                          </a:solidFill>
                          <a:latin typeface="Cambria Math"/>
                          <a:ea typeface="Cambria Math"/>
                          <a:cs typeface="Cambria Math"/>
                        </a:rPr>
                        <m:t>U</m:t>
                      </m:r>
                      <m:r>
                        <a:rPr lang="it-IT" sz="2700" b="0" i="0">
                          <a:solidFill>
                            <a:srgbClr val="087F83"/>
                          </a:solidFill>
                          <a:latin typeface="Cambria Math" panose="02040503050406030204" pitchFamily="18" charset="0"/>
                          <a:ea typeface="Cambria Math"/>
                          <a:cs typeface="Cambria Math"/>
                        </a:rPr>
                        <m:t>(</m:t>
                      </m:r>
                      <m:r>
                        <a:rPr lang="it-IT" sz="2700" i="1">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smtClean="0">
                          <a:solidFill>
                            <a:srgbClr val="087F83"/>
                          </a:solidFill>
                          <a:latin typeface="Cambria Math" panose="02040503050406030204" pitchFamily="18" charset="0"/>
                          <a:ea typeface="Cambria Math"/>
                          <a:cs typeface="Cambria Math"/>
                        </a:rPr>
                        <m:t>+</m:t>
                      </m:r>
                      <m:r>
                        <a:rPr lang="en-GB" sz="2700" b="0" i="0">
                          <a:solidFill>
                            <a:srgbClr val="087F83"/>
                          </a:solidFill>
                          <a:latin typeface="Cambria Math"/>
                          <a:ea typeface="Cambria Math"/>
                          <a:cs typeface="Cambria Math"/>
                        </a:rPr>
                        <m:t>(</m:t>
                      </m:r>
                      <m:r>
                        <a:rPr lang="en-GB" sz="2700">
                          <a:solidFill>
                            <a:srgbClr val="9C7400"/>
                          </a:solidFill>
                          <a:latin typeface="Cambria Math"/>
                          <a:ea typeface="Cambria Math"/>
                          <a:cs typeface="Cambria Math"/>
                        </a:rPr>
                        <m:t>−2</m:t>
                      </m:r>
                      <m:r>
                        <a:rPr lang="en-GB" sz="2700" b="0" i="0">
                          <a:solidFill>
                            <a:srgbClr val="087F83"/>
                          </a:solidFill>
                          <a:latin typeface="Cambria Math"/>
                          <a:ea typeface="Cambria Math"/>
                          <a:cs typeface="Cambria Math"/>
                        </a:rPr>
                        <m:t>)</m:t>
                      </m:r>
                      <m:r>
                        <a:rPr lang="it-IT" sz="2700" b="0" i="0">
                          <a:solidFill>
                            <a:srgbClr val="087F83"/>
                          </a:solidFill>
                          <a:latin typeface="Cambria Math" panose="02040503050406030204" pitchFamily="18" charset="0"/>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m:t>
                      </m:r>
                      <m:r>
                        <a:rPr lang="it-IT" sz="2700" b="0" i="1" smtClean="0">
                          <a:solidFill>
                            <a:srgbClr val="C45C28"/>
                          </a:solidFill>
                          <a:latin typeface="Cambria Math" panose="02040503050406030204" pitchFamily="18" charset="0"/>
                          <a:ea typeface="Cambria Math"/>
                          <a:cs typeface="Cambria Math"/>
                        </a:rPr>
                        <m:t>0</m:t>
                      </m:r>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82296" y="1809750"/>
                <a:ext cx="11996928" cy="809625"/>
              </a:xfrm>
              <a:prstGeom prst="rect">
                <a:avLst/>
              </a:prstGeom>
              <a:blipFill>
                <a:blip r:embed="rId3"/>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ABA1D3F4-A5E5-42A9-917E-7EA950A575A3}"/>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m W_1=(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𝐖</m:t>
                          </m:r>
                        </m:e>
                        <m:sub>
                          <m:r>
                            <a:rPr lang="en-GB" sz="2600">
                              <a:solidFill>
                                <a:srgbClr val="FF0000"/>
                              </a:solidFill>
                              <a:latin typeface="Cambria Math"/>
                              <a:ea typeface="Cambria Math"/>
                              <a:cs typeface="Cambria Math"/>
                            </a:rPr>
                            <m:t>1</m:t>
                          </m:r>
                        </m:sub>
                      </m:sSub>
                      <m:r>
                        <a:rPr lang="en-GB" sz="2600">
                          <a:solidFill>
                            <a:srgbClr val="FF0000"/>
                          </a:solidFill>
                          <a:latin typeface="Cambria Math"/>
                          <a:ea typeface="Cambria Math"/>
                          <a:cs typeface="Cambria Math"/>
                        </a:rPr>
                        <m:t>=</m:t>
                      </m:r>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1,1,1</m:t>
                          </m:r>
                        </m:e>
                      </m:d>
                    </m:oMath>
                  </m:oMathPara>
                </a14:m>
                <a:endParaRPr lang="en-GB" sz="2600" dirty="0"/>
              </a:p>
            </p:txBody>
          </p:sp>
        </mc:Choice>
        <mc:Fallback xmlns="">
          <p:sp>
            <p:nvSpPr>
              <p:cNvPr id="8" name="equation_3" descr="\bm W_1=(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4" descr="\bm b_1=(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9C7400"/>
                              </a:solidFill>
                              <a:latin typeface="Cambria Math"/>
                              <a:ea typeface="Cambria Math"/>
                              <a:cs typeface="Cambria Math"/>
                            </a:rPr>
                          </m:ctrlPr>
                        </m:sSubPr>
                        <m:e>
                          <m:r>
                            <a:rPr lang="en-GB" sz="2600">
                              <a:solidFill>
                                <a:srgbClr val="9C7400"/>
                              </a:solidFill>
                              <a:latin typeface="Cambria Math"/>
                              <a:ea typeface="Cambria Math"/>
                              <a:cs typeface="Cambria Math"/>
                            </a:rPr>
                            <m:t>𝐛</m:t>
                          </m:r>
                        </m:e>
                        <m:sub>
                          <m:r>
                            <a:rPr lang="en-GB" sz="2600">
                              <a:solidFill>
                                <a:srgbClr val="9C7400"/>
                              </a:solidFill>
                              <a:latin typeface="Cambria Math"/>
                              <a:ea typeface="Cambria Math"/>
                              <a:cs typeface="Cambria Math"/>
                            </a:rPr>
                            <m:t>1</m:t>
                          </m:r>
                        </m:sub>
                      </m:sSub>
                      <m:r>
                        <a:rPr lang="en-GB" sz="2600">
                          <a:solidFill>
                            <a:srgbClr val="9C7400"/>
                          </a:solidFill>
                          <a:latin typeface="Cambria Math"/>
                          <a:ea typeface="Cambria Math"/>
                          <a:cs typeface="Cambria Math"/>
                        </a:rPr>
                        <m:t>=</m:t>
                      </m:r>
                      <m:d>
                        <m:dPr>
                          <m:ctrlPr>
                            <a:rPr lang="en-GB" sz="2600">
                              <a:solidFill>
                                <a:srgbClr val="9C7400"/>
                              </a:solidFill>
                              <a:latin typeface="Cambria Math"/>
                              <a:ea typeface="Cambria Math"/>
                              <a:cs typeface="Cambria Math"/>
                            </a:rPr>
                          </m:ctrlPr>
                        </m:dPr>
                        <m:e>
                          <m:r>
                            <a:rPr lang="en-GB" sz="2600">
                              <a:solidFill>
                                <a:srgbClr val="9C7400"/>
                              </a:solidFill>
                              <a:latin typeface="Cambria Math"/>
                              <a:ea typeface="Cambria Math"/>
                              <a:cs typeface="Cambria Math"/>
                            </a:rPr>
                            <m:t>0,−1,−2</m:t>
                          </m:r>
                        </m:e>
                      </m:d>
                    </m:oMath>
                  </m:oMathPara>
                </a14:m>
                <a:endParaRPr lang="en-GB" sz="2600" dirty="0"/>
              </a:p>
            </p:txBody>
          </p:sp>
        </mc:Choice>
        <mc:Fallback xmlns="">
          <p:sp>
            <p:nvSpPr>
              <p:cNvPr id="9" name="equation_4" descr="\bm b_1=(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5" descr="\bm W_2=(1,-2,1)^{\mathsf T}">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0B0F0"/>
                              </a:solidFill>
                              <a:latin typeface="Cambria Math"/>
                              <a:ea typeface="Cambria Math"/>
                              <a:cs typeface="Cambria Math"/>
                            </a:rPr>
                          </m:ctrlPr>
                        </m:sSubPr>
                        <m:e>
                          <m:r>
                            <a:rPr lang="en-GB" sz="2600">
                              <a:solidFill>
                                <a:srgbClr val="00B0F0"/>
                              </a:solidFill>
                              <a:latin typeface="Cambria Math"/>
                              <a:ea typeface="Cambria Math"/>
                              <a:cs typeface="Cambria Math"/>
                            </a:rPr>
                            <m:t>𝐖</m:t>
                          </m:r>
                        </m:e>
                        <m:sub>
                          <m:r>
                            <a:rPr lang="en-GB" sz="2600">
                              <a:solidFill>
                                <a:srgbClr val="00B0F0"/>
                              </a:solidFill>
                              <a:latin typeface="Cambria Math"/>
                              <a:ea typeface="Cambria Math"/>
                              <a:cs typeface="Cambria Math"/>
                            </a:rPr>
                            <m:t>2</m:t>
                          </m:r>
                        </m:sub>
                      </m:sSub>
                      <m:r>
                        <a:rPr lang="en-GB" sz="2600">
                          <a:solidFill>
                            <a:srgbClr val="00B0F0"/>
                          </a:solidFill>
                          <a:latin typeface="Cambria Math"/>
                          <a:ea typeface="Cambria Math"/>
                          <a:cs typeface="Cambria Math"/>
                        </a:rPr>
                        <m:t>=</m:t>
                      </m:r>
                      <m:sSup>
                        <m:sSupPr>
                          <m:ctrlPr>
                            <a:rPr lang="en-GB" sz="2600" i="1">
                              <a:solidFill>
                                <a:srgbClr val="00B0F0"/>
                              </a:solidFill>
                              <a:latin typeface="Cambria Math" panose="02040503050406030204" pitchFamily="18" charset="0"/>
                              <a:ea typeface="Cambria Math"/>
                              <a:cs typeface="Cambria Math"/>
                            </a:rPr>
                          </m:ctrlPr>
                        </m:sSupPr>
                        <m:e>
                          <m:d>
                            <m:dPr>
                              <m:ctrlPr>
                                <a:rPr lang="en-GB" sz="2600">
                                  <a:solidFill>
                                    <a:srgbClr val="00B0F0"/>
                                  </a:solidFill>
                                  <a:latin typeface="Cambria Math"/>
                                  <a:ea typeface="Cambria Math"/>
                                  <a:cs typeface="Cambria Math"/>
                                </a:rPr>
                              </m:ctrlPr>
                            </m:dPr>
                            <m:e>
                              <m:r>
                                <a:rPr lang="en-GB" sz="2600">
                                  <a:solidFill>
                                    <a:srgbClr val="00B0F0"/>
                                  </a:solidFill>
                                  <a:latin typeface="Cambria Math"/>
                                  <a:ea typeface="Cambria Math"/>
                                  <a:cs typeface="Cambria Math"/>
                                </a:rPr>
                                <m:t>1,−2,1</m:t>
                              </m:r>
                            </m:e>
                          </m:d>
                        </m:e>
                        <m:sup>
                          <m:r>
                            <a:rPr lang="en-GB" sz="2600">
                              <a:solidFill>
                                <a:srgbClr val="00B0F0"/>
                              </a:solidFill>
                              <a:latin typeface="Cambria Math"/>
                              <a:ea typeface="Cambria Math"/>
                              <a:cs typeface="Cambria Math"/>
                            </a:rPr>
                            <m:t>𝖳</m:t>
                          </m:r>
                        </m:sup>
                      </m:sSup>
                    </m:oMath>
                  </m:oMathPara>
                </a14:m>
                <a:endParaRPr lang="en-GB" sz="2600" dirty="0"/>
              </a:p>
            </p:txBody>
          </p:sp>
        </mc:Choice>
        <mc:Fallback xmlns="">
          <p:sp>
            <p:nvSpPr>
              <p:cNvPr id="10" name="equation_5" descr="\bm W_2=(1,-2,1)^{\mathsf T}">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6" descr="\bm b_2=(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C45C28"/>
                              </a:solidFill>
                              <a:latin typeface="Cambria Math"/>
                              <a:ea typeface="Cambria Math"/>
                              <a:cs typeface="Cambria Math"/>
                            </a:rPr>
                          </m:ctrlPr>
                        </m:sSubPr>
                        <m:e>
                          <m:r>
                            <a:rPr lang="en-GB" sz="2600">
                              <a:solidFill>
                                <a:srgbClr val="C45C28"/>
                              </a:solidFill>
                              <a:latin typeface="Cambria Math"/>
                              <a:ea typeface="Cambria Math"/>
                              <a:cs typeface="Cambria Math"/>
                            </a:rPr>
                            <m:t>𝐛</m:t>
                          </m:r>
                        </m:e>
                        <m:sub>
                          <m:r>
                            <a:rPr lang="en-GB" sz="2600">
                              <a:solidFill>
                                <a:srgbClr val="C45C28"/>
                              </a:solidFill>
                              <a:latin typeface="Cambria Math"/>
                              <a:ea typeface="Cambria Math"/>
                              <a:cs typeface="Cambria Math"/>
                            </a:rPr>
                            <m:t>2</m:t>
                          </m:r>
                        </m:sub>
                      </m:sSub>
                      <m:r>
                        <a:rPr lang="en-GB" sz="2600">
                          <a:solidFill>
                            <a:srgbClr val="C45C28"/>
                          </a:solidFill>
                          <a:latin typeface="Cambria Math"/>
                          <a:ea typeface="Cambria Math"/>
                          <a:cs typeface="Cambria Math"/>
                        </a:rPr>
                        <m:t>=</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m:t>
                          </m:r>
                        </m:e>
                      </m:d>
                    </m:oMath>
                  </m:oMathPara>
                </a14:m>
                <a:endParaRPr lang="en-GB" sz="2600" dirty="0"/>
              </a:p>
            </p:txBody>
          </p:sp>
        </mc:Choice>
        <mc:Fallback xmlns="">
          <p:sp>
            <p:nvSpPr>
              <p:cNvPr id="11" name="equation_6" descr="\bm b_2=(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10"/>
                <a:stretch>
                  <a:fillRect/>
                </a:stretch>
              </a:blipFill>
              <a:ln w="0">
                <a:noFill/>
              </a:ln>
            </p:spPr>
            <p:txBody>
              <a:bodyPr/>
              <a:lstStyle/>
              <a:p>
                <a:r>
                  <a:rPr lang="it-IT">
                    <a:noFill/>
                  </a:rPr>
                  <a:t> </a:t>
                </a:r>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classification</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problem</a:t>
            </a:r>
            <a:r>
              <a:rPr lang="it-IT" sz="3300" b="1" dirty="0">
                <a:solidFill>
                  <a:srgbClr val="182D45"/>
                </a:solidFill>
                <a:latin typeface="DejaVu Sans"/>
                <a:ea typeface="DejaVu Sans"/>
                <a:cs typeface="DejaVu Sans"/>
              </a:rPr>
              <a:t>: t</a:t>
            </a:r>
            <a:r>
              <a:rPr sz="3300" b="1" dirty="0">
                <a:solidFill>
                  <a:srgbClr val="182D45"/>
                </a:solidFill>
                <a:latin typeface="DejaVu Sans"/>
                <a:ea typeface="DejaVu Sans"/>
                <a:cs typeface="DejaVu Sans"/>
              </a:rPr>
              <a:t>he XO</a:t>
            </a:r>
            <a:r>
              <a:rPr lang="it-IT" sz="3300" b="1" dirty="0">
                <a:solidFill>
                  <a:srgbClr val="182D45"/>
                </a:solidFill>
                <a:latin typeface="DejaVu Sans"/>
                <a:ea typeface="DejaVu Sans"/>
                <a:cs typeface="DejaVu Sans"/>
              </a:rPr>
              <a:t>R </a:t>
            </a:r>
            <a:r>
              <a:rPr lang="it-IT" sz="3300" b="1">
                <a:solidFill>
                  <a:srgbClr val="182D45"/>
                </a:solidFill>
                <a:latin typeface="DejaVu Sans"/>
                <a:ea typeface="DejaVu Sans"/>
                <a:cs typeface="DejaVu Sans"/>
              </a:rPr>
              <a:t>function</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The label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 when exactly one input coordinate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dirty="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one </a:t>
            </a:r>
            <a:r>
              <a:rPr lang="it-IT" sz="2100" b="1" dirty="0" err="1">
                <a:solidFill>
                  <a:srgbClr val="182D45"/>
                </a:solidFill>
                <a:latin typeface="DejaVu Sans"/>
                <a:ea typeface="DejaVu Sans"/>
                <a:cs typeface="DejaVu Sans"/>
              </a:rPr>
              <a:t>straight</a:t>
            </a:r>
            <a:r>
              <a:rPr lang="it-IT" sz="2100" b="1" dirty="0">
                <a:solidFill>
                  <a:srgbClr val="182D45"/>
                </a:solidFill>
                <a:latin typeface="DejaVu Sans"/>
                <a:ea typeface="DejaVu Sans"/>
                <a:cs typeface="DejaVu Sans"/>
              </a:rPr>
              <a:t>-line</a:t>
            </a:r>
            <a:r>
              <a:rPr sz="2100" b="1" dirty="0">
                <a:solidFill>
                  <a:srgbClr val="182D45"/>
                </a:solidFill>
                <a:latin typeface="DejaVu Sans"/>
                <a:ea typeface="DejaVu Sans"/>
                <a:cs typeface="DejaVu Sans"/>
              </a:rPr>
              <a: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score</a:t>
                </a:r>
                <a:r>
                  <a:rPr sz="2175" b="0" dirty="0">
                    <a:solidFill>
                      <a:srgbClr val="526276"/>
                    </a:solidFill>
                    <a:latin typeface="DejaVu Sans"/>
                    <a:ea typeface="DejaVu Sans"/>
                    <a:cs typeface="DejaVu Sans"/>
                  </a:rPr>
                  <a:t> must be </a:t>
                </a:r>
                <a:r>
                  <a:rPr lang="it-IT" sz="2175" b="0" dirty="0">
                    <a:solidFill>
                      <a:srgbClr val="C45C28"/>
                    </a:solidFill>
                    <a:latin typeface="DejaVu Sans"/>
                    <a:ea typeface="DejaVu Sans"/>
                    <a:cs typeface="DejaVu Sans"/>
                  </a:rPr>
                  <a:t>positive for class </a:t>
                </a:r>
                <a14:m>
                  <m:oMath xmlns:m="http://schemas.openxmlformats.org/officeDocument/2006/math">
                    <m:r>
                      <a:rPr lang="it-IT" sz="2175" b="0" i="1" dirty="0" smtClean="0">
                        <a:solidFill>
                          <a:srgbClr val="C45C28"/>
                        </a:solidFill>
                        <a:latin typeface="Cambria Math" panose="02040503050406030204" pitchFamily="18" charset="0"/>
                        <a:ea typeface="DejaVu Sans"/>
                        <a:cs typeface="DejaVu Sans"/>
                      </a:rPr>
                      <m:t>1</m:t>
                    </m:r>
                  </m:oMath>
                </a14:m>
                <a:r>
                  <a:rPr lang="it-IT" sz="2175" b="0" dirty="0">
                    <a:solidFill>
                      <a:srgbClr val="C45C28"/>
                    </a:solidFill>
                    <a:latin typeface="DejaVu Sans"/>
                    <a:ea typeface="DejaVu Sans"/>
                    <a:cs typeface="DejaVu Sans"/>
                  </a:rPr>
                  <a:t> </a:t>
                </a:r>
                <a:r>
                  <a:rPr sz="2175" b="0" dirty="0">
                    <a:solidFill>
                      <a:srgbClr val="526276"/>
                    </a:solidFill>
                    <a:latin typeface="DejaVu Sans"/>
                    <a:ea typeface="DejaVu Sans"/>
                    <a:cs typeface="DejaVu Sans"/>
                  </a:rPr>
                  <a:t>and </a:t>
                </a:r>
                <a:r>
                  <a:rPr lang="it-IT" sz="2175" b="0" dirty="0">
                    <a:solidFill>
                      <a:srgbClr val="326CB2"/>
                    </a:solidFill>
                    <a:latin typeface="DejaVu Sans"/>
                    <a:ea typeface="DejaVu Sans"/>
                    <a:cs typeface="DejaVu Sans"/>
                  </a:rPr>
                  <a:t>nonpositive for class </a:t>
                </a:r>
                <a14:m>
                  <m:oMath xmlns:m="http://schemas.openxmlformats.org/officeDocument/2006/math">
                    <m:r>
                      <a:rPr lang="it-IT" sz="2175" b="0" i="1" dirty="0" smtClean="0">
                        <a:solidFill>
                          <a:srgbClr val="326CB2"/>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dirty="0">
                <a:solidFill>
                  <a:srgbClr val="C45C28"/>
                </a:solidFill>
                <a:latin typeface="DejaVu Sans"/>
                <a:ea typeface="DejaVu Sans"/>
                <a:cs typeface="DejaVu Sans"/>
              </a:rPr>
              <a:t>Class 1 observations</a:t>
            </a:r>
          </a:p>
        </p:txBody>
      </p:sp>
      <mc:AlternateContent xmlns:mc="http://schemas.openxmlformats.org/markup-compatibility/2006" xmlns:a14="http://schemas.microsoft.com/office/drawing/2010/main">
        <mc:Choice Requires="a14">
          <p:sp>
            <p:nvSpPr>
              <p:cNvPr id="8" name="equation_4" descr="s(0,0)=b&lt;=0; s(1,1)=b+w_1+w_2&lt;=0">
                <a:extLst>
                  <a:ext uri="{FF2B5EF4-FFF2-40B4-BE49-F238E27FC236}">
                    <a16:creationId xmlns:a16="http://schemas.microsoft.com/office/drawing/2014/main" id="{7E5319D7-00E7-4360-A52F-EB2C926622E5}"/>
                  </a:ext>
                </a:extLst>
              </p:cNvPr>
              <p:cNvSpPr>
                <a:spLocks noGrp="1"/>
              </p:cNvSpPr>
              <p:nvPr/>
            </p:nvSpPr>
            <p:spPr>
              <a:xfrm>
                <a:off x="42862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𝑏</m:t>
                      </m:r>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0,0</m:t>
                          </m:r>
                        </m:e>
                      </m:d>
                      <m:r>
                        <a:rPr lang="en-GB" sz="2800">
                          <a:solidFill>
                            <a:srgbClr val="326CB2"/>
                          </a:solidFill>
                          <a:latin typeface="Cambria Math"/>
                          <a:ea typeface="Cambria Math"/>
                          <a:cs typeface="Cambria Math"/>
                        </a:rPr>
                        <m:t>≤0</m:t>
                      </m:r>
                    </m:oMath>
                  </m:oMathPara>
                </a14:m>
                <a:endParaRPr lang="en-GB" sz="2800" dirty="0"/>
              </a:p>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1,1</m:t>
                          </m:r>
                        </m:e>
                      </m:d>
                      <m:r>
                        <a:rPr lang="en-GB" sz="2800">
                          <a:solidFill>
                            <a:srgbClr val="326CB2"/>
                          </a:solidFill>
                          <a:latin typeface="Cambria Math"/>
                          <a:ea typeface="Cambria Math"/>
                          <a:cs typeface="Cambria Math"/>
                        </a:rPr>
                        <m:t>≤0</m:t>
                      </m:r>
                    </m:oMath>
                  </m:oMathPara>
                </a14:m>
                <a:endParaRPr lang="en-GB" sz="2800" dirty="0"/>
              </a:p>
            </p:txBody>
          </p:sp>
        </mc:Choice>
        <mc:Fallback xmlns="">
          <p:sp>
            <p:nvSpPr>
              <p:cNvPr id="8" name="equation_4" descr="s(0,0)=b&lt;=0; s(1,1)=b+w_1+w_2&lt;=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10953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s(1,0)=b+w_1&gt;0; s(0,1)=b+w_2&gt;0">
                <a:extLst>
                  <a:ext uri="{FF2B5EF4-FFF2-40B4-BE49-F238E27FC236}">
                    <a16:creationId xmlns:a16="http://schemas.microsoft.com/office/drawing/2014/main" id="{B98D4047-F6CD-4082-B738-B633B0AE30EA}"/>
                  </a:ext>
                </a:extLst>
              </p:cNvPr>
              <p:cNvSpPr>
                <a:spLocks noGrp="1"/>
              </p:cNvSpPr>
              <p:nvPr/>
            </p:nvSpPr>
            <p:spPr>
              <a:xfrm>
                <a:off x="623887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C45C28"/>
                          </a:solidFill>
                          <a:latin typeface="Cambria Math"/>
                          <a:ea typeface="Cambria Math"/>
                          <a:cs typeface="Cambria Math"/>
                        </a:rPr>
                        <m:t>𝑏</m:t>
                      </m:r>
                      <m: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1,0</m:t>
                          </m:r>
                        </m:e>
                      </m:d>
                      <m:r>
                        <a:rPr lang="en-GB" sz="2800">
                          <a:solidFill>
                            <a:srgbClr val="C45C28"/>
                          </a:solidFill>
                          <a:latin typeface="Cambria Math"/>
                          <a:ea typeface="Cambria Math"/>
                          <a:cs typeface="Cambria Math"/>
                        </a:rPr>
                        <m:t>&gt;0</m:t>
                      </m:r>
                    </m:oMath>
                  </m:oMathPara>
                </a14:m>
                <a:endParaRPr lang="en-GB" sz="2800" dirty="0"/>
              </a:p>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0,1</m:t>
                          </m:r>
                        </m:e>
                      </m:d>
                      <m:r>
                        <a:rPr lang="en-GB" sz="2800">
                          <a:solidFill>
                            <a:srgbClr val="C45C28"/>
                          </a:solidFill>
                          <a:latin typeface="Cambria Math"/>
                          <a:ea typeface="Cambria Math"/>
                          <a:cs typeface="Cambria Math"/>
                        </a:rPr>
                        <m:t>&gt;0</m:t>
                      </m:r>
                    </m:oMath>
                  </m:oMathPara>
                </a14:m>
                <a:endParaRPr lang="en-GB" sz="2800" dirty="0"/>
              </a:p>
            </p:txBody>
          </p:sp>
        </mc:Choice>
        <mc:Fallback xmlns="">
          <p:sp>
            <p:nvSpPr>
              <p:cNvPr id="9" name="equation_5" descr="s(1,0)=b+w_1&gt;0; s(0,1)=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10953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76250" y="542001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dirty="0"/>
              </a:p>
            </p:txBody>
          </p:sp>
        </mc:Choice>
        <mc:Fallback xmlns="">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76250" y="542001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19825" y="5470112"/>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dirty="0"/>
              </a:p>
            </p:txBody>
          </p:sp>
        </mc:Choice>
        <mc:Fallback xmlns="">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19825" y="5470112"/>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714375" y="4836984"/>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Adding the inequalities within each class</a:t>
            </a:r>
          </a:p>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gives two </a:t>
            </a:r>
            <a:r>
              <a:rPr lang="en-GB" sz="2100" b="1" dirty="0">
                <a:solidFill>
                  <a:srgbClr val="FF0000"/>
                </a:solidFill>
                <a:latin typeface="DejaVu Sans"/>
                <a:ea typeface="DejaVu Sans"/>
                <a:cs typeface="DejaVu Sans"/>
              </a:rPr>
              <a:t>incompatible</a:t>
            </a:r>
            <a:r>
              <a:rPr lang="en-GB" sz="2100" b="1" dirty="0">
                <a:solidFill>
                  <a:srgbClr val="182D45"/>
                </a:solidFill>
                <a:latin typeface="DejaVu Sans"/>
                <a:ea typeface="DejaVu Sans"/>
                <a:cs typeface="DejaVu Sans"/>
              </a:rPr>
              <a:t> inequalities.</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p:sp>
        <p:nvSpPr>
          <p:cNvPr id="2" name="lead">
            <a:extLst>
              <a:ext uri="{FF2B5EF4-FFF2-40B4-BE49-F238E27FC236}">
                <a16:creationId xmlns:a16="http://schemas.microsoft.com/office/drawing/2014/main" id="{6413CF4A-81FD-4695-B7C7-EFC993AEB8AB}"/>
              </a:ext>
            </a:extLst>
          </p:cNvPr>
          <p:cNvSpPr>
            <a:spLocks noGrp="1"/>
          </p:cNvSpPr>
          <p:nvPr/>
        </p:nvSpPr>
        <p:spPr>
          <a:xfrm>
            <a:off x="523875" y="933450"/>
            <a:ext cx="11144250" cy="523875"/>
          </a:xfrm>
          <a:prstGeom prst="rect">
            <a:avLst/>
          </a:prstGeom>
          <a:noFill/>
          <a:ln w="0">
            <a:noFill/>
          </a:ln>
        </p:spPr>
        <p:txBody>
          <a:bodyPr wrap="none" lIns="0" tIns="0" rIns="0" bIns="0" anchor="ctr">
            <a:noAutofit/>
          </a:bodyPr>
          <a:lstStyle/>
          <a:p>
            <a:pPr algn="ctr">
              <a:lnSpc>
                <a:spcPts val="2500"/>
              </a:lnSpc>
            </a:pPr>
            <a:r>
              <a:rPr lang="en-GB" sz="2000" dirty="0">
                <a:ea typeface="Cambria Math"/>
                <a:cs typeface="Cambria Math"/>
              </a:rPr>
              <a:t>The XOR function can be represented by a neural network with architecture:  </a:t>
            </a:r>
            <a:r>
              <a:rPr lang="it-IT" sz="2000" dirty="0">
                <a:latin typeface="DejaVu Sans"/>
                <a:ea typeface="DejaVu Sans"/>
                <a:cs typeface="DejaVu Sans"/>
              </a:rPr>
              <a:t>2 → 2 → 1</a:t>
            </a:r>
            <a:endParaRPr lang="en-GB" sz="2000" dirty="0"/>
          </a:p>
        </p:txBody>
      </p:sp>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xmlns:a14="http://schemas.microsoft.com/office/drawing/2010/main">
        <mc:Choice Requires="a14">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p:cNvSpPr>
              <p:nvPr/>
            </p:nvSpPr>
            <p:spPr>
              <a:xfrm>
                <a:off x="285750" y="1514475"/>
                <a:ext cx="116205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e>
                      </m:d>
                    </m:oMath>
                  </m:oMathPara>
                </a14:m>
                <a:endParaRPr lang="en-GB" sz="2600" dirty="0"/>
              </a:p>
            </p:txBody>
          </p:sp>
        </mc:Choice>
        <mc:Fallback xmlns="">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514475"/>
                <a:ext cx="1162050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p:cNvSpPr>
              <p:nvPr/>
            </p:nvSpPr>
            <p:spPr>
              <a:xfrm>
                <a:off x="333375" y="2171700"/>
                <a:ext cx="1152525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171700"/>
                <a:ext cx="11525250" cy="771525"/>
              </a:xfrm>
              <a:prstGeom prst="rect">
                <a:avLst/>
              </a:prstGeom>
              <a:blipFill>
                <a:blip r:embed="rId5"/>
                <a:stretch>
                  <a:fillRect/>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4219575"/>
          <a:ext cx="9620250" cy="2095500"/>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19100">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19100">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19100">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19100">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19100">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p:cNvSpPr>
              <p:nvPr/>
            </p:nvSpPr>
            <p:spPr>
              <a:xfrm>
                <a:off x="333375" y="3038475"/>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0,0</m:t>
                          </m:r>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oMath>
                  </m:oMathPara>
                </a14:m>
                <a:endParaRPr lang="en-GB" sz="2400" dirty="0"/>
              </a:p>
            </p:txBody>
          </p:sp>
        </mc:Choice>
        <mc:Fallback xmlns="">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333375" y="3038475"/>
                <a:ext cx="11525250" cy="9525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Non-affine features </a:t>
            </a:r>
            <a:r>
              <a:rPr lang="en-GB" sz="2175" b="0" dirty="0">
                <a:solidFill>
                  <a:srgbClr val="526276"/>
                </a:solidFill>
                <a:latin typeface="DejaVu Sans"/>
                <a:ea typeface="DejaVu Sans"/>
                <a:cs typeface="DejaVu Sans"/>
              </a:rPr>
              <a:t>allow an affine output to produce</a:t>
            </a:r>
          </a:p>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a nonlinear decision boundary</a:t>
            </a:r>
            <a:r>
              <a:rPr lang="en-GB" sz="2175" b="0" dirty="0">
                <a:solidFill>
                  <a:srgbClr val="526276"/>
                </a:solidFill>
                <a:latin typeface="DejaVu Sans"/>
                <a:ea typeface="DejaVu Sans"/>
                <a:cs typeface="DejaVu Sans"/>
              </a:rPr>
              <a:t> in the original input space.</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xmlns:a14="http://schemas.microsoft.com/office/drawing/2010/main">
        <mc:Choice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1" descr="\phi_1(\bm x)+\phi_2(\bm x)=\frac12">
                <a:extLst>
                  <a:ext uri="{FF2B5EF4-FFF2-40B4-BE49-F238E27FC236}">
                    <a16:creationId xmlns:a16="http://schemas.microsoft.com/office/drawing/2014/main" id="{3A3A070A-4A4C-4664-95D6-93F892C0FA18}"/>
                  </a:ext>
                </a:extLst>
              </p:cNvPr>
              <p:cNvSpPr>
                <a:spLocks noGrp="1"/>
              </p:cNvSpPr>
              <p:nvPr/>
            </p:nvSpPr>
            <p:spPr>
              <a:xfrm>
                <a:off x="6204452" y="56102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oMath>
                  </m:oMathPara>
                </a14:m>
                <a:endParaRPr lang="en-GB" sz="2500" dirty="0"/>
              </a:p>
            </p:txBody>
          </p:sp>
        </mc:Choice>
        <mc:Fallback xmlns="">
          <p:sp>
            <p:nvSpPr>
              <p:cNvPr id="17" name="equation_11" descr="\phi_1(\bm x)+\phi_2(\bm 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204452" y="5610225"/>
                <a:ext cx="5381625" cy="495300"/>
              </a:xfrm>
              <a:prstGeom prst="rect">
                <a:avLst/>
              </a:prstGeom>
              <a:blipFill>
                <a:blip r:embed="rId6"/>
                <a:stretch>
                  <a:fillRect t="-12195" b="-219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272211"/>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d>
                      <m:dPr>
                        <m:ctrlPr>
                          <a:rPr lang="ar-AE" sz="1575" b="0" i="1" dirty="0" smtClean="0">
                            <a:solidFill>
                              <a:srgbClr val="526276"/>
                            </a:solidFill>
                            <a:latin typeface="Cambria Math" panose="02040503050406030204" pitchFamily="18" charset="0"/>
                            <a:ea typeface="DejaVu Sans"/>
                            <a:cs typeface="DejaVu Sans"/>
                          </a:rPr>
                        </m:ctrlPr>
                      </m:dPr>
                      <m:e>
                        <m:r>
                          <a:rPr lang="ar-AE" sz="1575" b="0" i="1" dirty="0" smtClean="0">
                            <a:solidFill>
                              <a:srgbClr val="526276"/>
                            </a:solidFill>
                            <a:latin typeface="Cambria Math" panose="02040503050406030204" pitchFamily="18" charset="0"/>
                            <a:ea typeface="DejaVu Sans"/>
                            <a:cs typeface="DejaVu Sans"/>
                          </a:rPr>
                          <m:t>0, 0</m:t>
                        </m:r>
                      </m:e>
                    </m:d>
                  </m:oMath>
                </a14:m>
                <a:r>
                  <a:rPr lang="it-IT" sz="1575" b="0" dirty="0">
                    <a:solidFill>
                      <a:srgbClr val="526276"/>
                    </a:solidFill>
                    <a:latin typeface="DejaVu Sans"/>
                    <a:ea typeface="DejaVu Sans"/>
                    <a:cs typeface="DejaVu Sans"/>
                  </a:rPr>
                  <a:t> and </a:t>
                </a:r>
                <a14:m>
                  <m:oMath xmlns:m="http://schemas.openxmlformats.org/officeDocument/2006/math">
                    <m:d>
                      <m:dPr>
                        <m:ctrlPr>
                          <a:rPr lang="it-IT" sz="1575" b="0" i="1" dirty="0" smtClean="0">
                            <a:solidFill>
                              <a:srgbClr val="526276"/>
                            </a:solidFill>
                            <a:latin typeface="Cambria Math" panose="02040503050406030204" pitchFamily="18" charset="0"/>
                            <a:ea typeface="DejaVu Sans"/>
                            <a:cs typeface="DejaVu Sans"/>
                          </a:rPr>
                        </m:ctrlPr>
                      </m:dPr>
                      <m:e>
                        <m:r>
                          <a:rPr lang="it-IT" sz="1575" b="0" i="1" dirty="0" smtClean="0">
                            <a:solidFill>
                              <a:srgbClr val="526276"/>
                            </a:solidFill>
                            <a:latin typeface="Cambria Math" panose="02040503050406030204" pitchFamily="18" charset="0"/>
                            <a:ea typeface="DejaVu Sans"/>
                            <a:cs typeface="DejaVu Sans"/>
                          </a:rPr>
                          <m:t>1, 1</m:t>
                        </m:r>
                      </m:e>
                    </m:d>
                  </m:oMath>
                </a14:m>
                <a:r>
                  <a:rPr lang="it-IT" sz="1575" b="0" dirty="0">
                    <a:solidFill>
                      <a:srgbClr val="526276"/>
                    </a:solidFill>
                    <a:latin typeface="DejaVu Sans"/>
                    <a:ea typeface="DejaVu Sans"/>
                    <a:cs typeface="DejaVu Sans"/>
                  </a:rPr>
                  <a:t> both map to the origin.</a:t>
                </a:r>
                <a:endParaRPr sz="1575" b="0" dirty="0">
                  <a:solidFill>
                    <a:srgbClr val="526276"/>
                  </a:solidFill>
                  <a:latin typeface="DejaVu Sans"/>
                  <a:ea typeface="DejaVu Sans"/>
                  <a:cs typeface="DejaVu Sans"/>
                </a:endParaRPr>
              </a:p>
            </p:txBody>
          </p:sp>
        </mc:Choice>
        <mc:Fallback xmlns="">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272211"/>
                <a:ext cx="5524500" cy="314325"/>
              </a:xfrm>
              <a:prstGeom prst="rect">
                <a:avLst/>
              </a:prstGeom>
              <a:blipFill>
                <a:blip r:embed="rId7"/>
                <a:stretch>
                  <a:fillRect t="-9804"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bm 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8" name="feature_axis_x" descr="\phi_{1,1}(\bm 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Notation33_1_10"/>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2(\bm 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2</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9" name="feature_axis_y" descr="\phi_{1,2}(\bm 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Notation33_2_11"/>
                <a:stretch>
                  <a:fillRect r="-283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285875" y="1514475"/>
            <a:ext cx="4953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xmlns="">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wrap="none" lIns="0" tIns="0" rIns="0" bIns="0" anchor="ctr">
                <a:noAutofit/>
              </a:bodyPr>
              <a:lstStyle/>
              <a:p>
                <a:pPr algn="ctr">
                  <a:lnSpc>
                    <a:spcPts val="2700"/>
                  </a:lnSpc>
                </a:pPr>
                <a:r>
                  <a:rPr lang="en-GB" sz="2225" b="0" dirty="0">
                    <a:solidFill>
                      <a:srgbClr val="526276"/>
                    </a:solidFill>
                    <a:latin typeface="DejaVu Sans"/>
                  </a:rPr>
                  <a:t>Let </a:t>
                </a:r>
                <a14:m>
                  <m:oMath xmlns:m="http://schemas.openxmlformats.org/officeDocument/2006/math">
                    <m:r>
                      <a:rPr lang="en-GB" sz="2225">
                        <a:solidFill>
                          <a:srgbClr val="526276"/>
                        </a:solidFill>
                        <a:latin typeface="Cambria Math"/>
                        <a:ea typeface="Cambria Math"/>
                        <a:cs typeface="Cambria Math"/>
                      </a:rPr>
                      <m:t>ℒ</m:t>
                    </m:r>
                  </m:oMath>
                </a14:m>
                <a:r>
                  <a:rPr lang="en-GB" sz="2225" b="0" dirty="0">
                    <a:solidFill>
                      <a:srgbClr val="526276"/>
                    </a:solidFill>
                    <a:latin typeface="DejaVu Sans"/>
                  </a:rPr>
                  <a:t> be the </a:t>
                </a:r>
                <a:r>
                  <a:rPr lang="en-GB" sz="2225" b="0" dirty="0">
                    <a:solidFill>
                      <a:srgbClr val="FF0000"/>
                    </a:solidFill>
                    <a:latin typeface="DejaVu Sans"/>
                  </a:rPr>
                  <a:t>empirical loss</a:t>
                </a:r>
                <a:r>
                  <a:rPr lang="en-GB" sz="2225" b="0" dirty="0">
                    <a:solidFill>
                      <a:srgbClr val="526276"/>
                    </a:solidFill>
                    <a:latin typeface="DejaVu Sans"/>
                  </a:rPr>
                  <a:t> for the task.</a:t>
                </a:r>
                <a:endParaRPr lang="en-GB" sz="2225" dirty="0"/>
              </a:p>
              <a:p>
                <a:pPr algn="ctr">
                  <a:lnSpc>
                    <a:spcPts val="2700"/>
                  </a:lnSpc>
                </a:pPr>
                <a:r>
                  <a:rPr lang="en-GB" sz="2225" b="0" dirty="0">
                    <a:solidFill>
                      <a:srgbClr val="FF0000"/>
                    </a:solidFill>
                    <a:latin typeface="DejaVu Sans"/>
                  </a:rPr>
                  <a:t>Where differentiable</a:t>
                </a:r>
                <a:r>
                  <a:rPr lang="en-GB" sz="2225" b="0" dirty="0">
                    <a:solidFill>
                      <a:srgbClr val="526276"/>
                    </a:solidFill>
                    <a:latin typeface="DejaVu Sans"/>
                  </a:rPr>
                  <a:t>, we update the parameters by </a:t>
                </a:r>
                <a:r>
                  <a:rPr lang="en-GB" sz="2225" b="0" dirty="0">
                    <a:solidFill>
                      <a:srgbClr val="FF0000"/>
                    </a:solidFill>
                    <a:latin typeface="DejaVu Sans"/>
                  </a:rPr>
                  <a:t>gradient descent</a:t>
                </a:r>
                <a:r>
                  <a:rPr lang="en-GB" sz="2225" b="0" dirty="0">
                    <a:solidFill>
                      <a:srgbClr val="526276"/>
                    </a:solidFill>
                    <a:latin typeface="DejaVu Sans"/>
                  </a:rPr>
                  <a:t>.</a:t>
                </a:r>
                <a:endParaRPr lang="en-GB" sz="2225" dirty="0"/>
              </a:p>
            </p:txBody>
          </p:sp>
        </mc:Choice>
        <mc:Fallback xmlns="">
          <p:sp>
            <p:nvSpPr>
              <p:cNvPr id="6" name="text_2">
                <a:extLst>
                  <a:ext uri="{FF2B5EF4-FFF2-40B4-BE49-F238E27FC236}">
                    <a16:creationId xmlns:a16="http://schemas.microsoft.com/office/drawing/2014/main" id="{36190696-B368-4CAA-8D2F-19364027A9E4}"/>
                  </a:ext>
                </a:extLst>
              </p:cNvPr>
              <p:cNvSpPr>
                <a:spLocks noGrp="1" noRot="1" noChangeAspect="1" noMove="1" noResize="1" noEditPoints="1" noAdjustHandles="1" noChangeArrowheads="1" noChangeShapeType="1" noTextEdit="1"/>
              </p:cNvSpPr>
              <p:nvPr/>
            </p:nvSpPr>
            <p:spPr>
              <a:xfrm>
                <a:off x="381000" y="3786188"/>
                <a:ext cx="11144250" cy="666750"/>
              </a:xfrm>
              <a:prstGeom prst="rect">
                <a:avLst/>
              </a:prstGeom>
              <a:blipFill>
                <a:blip r:embed="rId4"/>
                <a:stretch>
                  <a:fillRect t="-16514" b="-247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5857875" y="1514475"/>
            <a:ext cx="4572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428625" y="933450"/>
                <a:ext cx="11334750" cy="695325"/>
              </a:xfrm>
              <a:prstGeom prst="rect">
                <a:avLst/>
              </a:prstGeom>
              <a:noFill/>
              <a:ln w="0">
                <a:noFill/>
              </a:ln>
            </p:spPr>
            <p:txBody>
              <a:bodyPr wrap="none" lIns="0" tIns="0" rIns="0" bIns="0" anchor="ctr">
                <a:noAutofit/>
              </a:bodyPr>
              <a:lstStyle/>
              <a:p>
                <a:pPr algn="ctr">
                  <a:lnSpc>
                    <a:spcPts val="2500"/>
                  </a:lnSpc>
                </a:pPr>
                <a:r>
                  <a:rPr lang="en-GB" sz="2025" b="0" dirty="0">
                    <a:solidFill>
                      <a:srgbClr val="526276"/>
                    </a:solidFill>
                    <a:latin typeface="DejaVu Sans"/>
                  </a:rPr>
                  <a:t>To visualise the empirical loss, we vary only one scalar parameter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a:t>
                </a:r>
                <a:endParaRPr lang="en-GB" sz="2025" dirty="0"/>
              </a:p>
              <a:p>
                <a:pPr algn="ctr">
                  <a:lnSpc>
                    <a:spcPts val="2500"/>
                  </a:lnSpc>
                </a:pPr>
                <a:r>
                  <a:rPr lang="en-GB" sz="2025" b="0" dirty="0">
                    <a:solidFill>
                      <a:srgbClr val="526276"/>
                    </a:solidFill>
                    <a:latin typeface="DejaVu Sans"/>
                  </a:rPr>
                  <a:t>The hidden biases are </a:t>
                </a:r>
                <a14:m>
                  <m:oMath xmlns:m="http://schemas.openxmlformats.org/officeDocument/2006/math">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All other coefficients stay fixed.</a:t>
                </a:r>
                <a:endParaRPr lang="en-GB" sz="2025" dirty="0"/>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933450"/>
                <a:ext cx="11334750" cy="695325"/>
              </a:xfrm>
              <a:prstGeom prst="rect">
                <a:avLst/>
              </a:prstGeom>
              <a:blipFill>
                <a:blip r:embed="rId3"/>
                <a:stretch>
                  <a:fillRect t="-7895" b="-15789"/>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2009775"/>
                <a:ext cx="1152525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2009775"/>
                <a:ext cx="11525250" cy="800100"/>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14:m>
                  <m:oMathPara xmlns:m="http://schemas.openxmlformats.org/officeDocument/2006/math">
                    <m:oMath>
                      <m:r>
                        <a:rPr lang="it-IT" sz="1725" b="1" i="1" dirty="0" smtClean="0">
                          <a:solidFill>
                            <a:srgbClr val="326CB2"/>
                          </a:solidFill>
                          <a:latin typeface="Cambria Math" panose="02040503050406030204" pitchFamily="18" charset="0"/>
                          <a:ea typeface="DejaVu Sans"/>
                          <a:cs typeface="DejaVu Sans"/>
                        </a:rPr>
                        <m:t>𝜽</m:t>
                      </m:r>
                      <m:r>
                        <a:rPr lang="it-IT" sz="1725" b="1" i="1" dirty="0" smtClean="0">
                          <a:solidFill>
                            <a:srgbClr val="326CB2"/>
                          </a:solidFill>
                          <a:latin typeface="Cambria Math" panose="02040503050406030204" pitchFamily="18" charset="0"/>
                          <a:ea typeface="DejaVu Sans"/>
                          <a:cs typeface="DejaVu Sans"/>
                        </a:rPr>
                        <m:t> = −</m:t>
                      </m:r>
                      <m:r>
                        <a:rPr lang="it-IT" sz="1725" b="1" i="1" dirty="0" smtClean="0">
                          <a:solidFill>
                            <a:srgbClr val="326CB2"/>
                          </a:solidFill>
                          <a:latin typeface="Cambria Math" panose="02040503050406030204" pitchFamily="18" charset="0"/>
                          <a:ea typeface="DejaVu Sans"/>
                          <a:cs typeface="DejaVu Sans"/>
                        </a:rPr>
                        <m:t>𝟏</m:t>
                      </m:r>
                    </m:oMath>
                  </m:oMathPara>
                </a14:m>
                <a:endParaRPr/>
              </a:p>
            </p:txBody>
          </p:sp>
        </mc:Choice>
        <mc:Fallback xmlns="">
          <p:sp>
            <p:nvSpPr>
              <p:cNvPr id="8" name="text_3">
                <a:extLst>
                  <a:ext uri="{FF2B5EF4-FFF2-40B4-BE49-F238E27FC236}">
                    <a16:creationId xmlns:a16="http://schemas.microsoft.com/office/drawing/2014/main" id="{4809BE71-0C43-4A51-9797-32525EFDA411}"/>
                  </a:ext>
                </a:extLst>
              </p:cNvPr>
              <p:cNvSpPr>
                <a:spLocks noGrp="1" noRot="1" noChangeAspect="1" noMove="1" noResize="1" noEditPoints="1" noAdjustHandles="1" noChangeArrowheads="1" noChangeShapeType="1" noTextEdit="1"/>
              </p:cNvSpPr>
              <p:nvPr/>
            </p:nvSpPr>
            <p:spPr>
              <a:xfrm>
                <a:off x="1524000" y="2857500"/>
                <a:ext cx="2095500" cy="285750"/>
              </a:xfrm>
              <a:prstGeom prst="rect">
                <a:avLst/>
              </a:prstGeom>
              <a:blipFill>
                <a:blip r:embed="rId6"/>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14:m>
                  <m:oMathPara xmlns:m="http://schemas.openxmlformats.org/officeDocument/2006/math">
                    <m:oMath>
                      <m:r>
                        <a:rPr lang="it-IT" sz="1725" b="1" i="1" dirty="0" smtClean="0">
                          <a:solidFill>
                            <a:srgbClr val="C45C28"/>
                          </a:solidFill>
                          <a:latin typeface="Cambria Math" panose="02040503050406030204" pitchFamily="18" charset="0"/>
                          <a:ea typeface="DejaVu Sans"/>
                          <a:cs typeface="DejaVu Sans"/>
                        </a:rPr>
                        <m:t>𝜽</m:t>
                      </m:r>
                      <m:r>
                        <a:rPr lang="it-IT" sz="1725" b="1" i="1" dirty="0" smtClean="0">
                          <a:solidFill>
                            <a:srgbClr val="C45C28"/>
                          </a:solidFill>
                          <a:latin typeface="Cambria Math" panose="02040503050406030204" pitchFamily="18" charset="0"/>
                          <a:ea typeface="DejaVu Sans"/>
                          <a:cs typeface="DejaVu Sans"/>
                        </a:rPr>
                        <m:t> = +</m:t>
                      </m:r>
                      <m:r>
                        <a:rPr lang="it-IT" sz="1725" b="1" i="1" dirty="0" smtClean="0">
                          <a:solidFill>
                            <a:srgbClr val="C45C28"/>
                          </a:solidFill>
                          <a:latin typeface="Cambria Math" panose="02040503050406030204" pitchFamily="18" charset="0"/>
                          <a:ea typeface="DejaVu Sans"/>
                          <a:cs typeface="DejaVu Sans"/>
                        </a:rPr>
                        <m:t>𝟏</m:t>
                      </m:r>
                    </m:oMath>
                  </m:oMathPara>
                </a14:m>
                <a:endParaRPr/>
              </a:p>
            </p:txBody>
          </p:sp>
        </mc:Choice>
        <mc:Fallback xmlns="">
          <p:sp>
            <p:nvSpPr>
              <p:cNvPr id="9" name="text_4">
                <a:extLst>
                  <a:ext uri="{FF2B5EF4-FFF2-40B4-BE49-F238E27FC236}">
                    <a16:creationId xmlns:a16="http://schemas.microsoft.com/office/drawing/2014/main" id="{DB09A4AC-539D-4F7B-BCDC-3A79FF2852D7}"/>
                  </a:ext>
                </a:extLst>
              </p:cNvPr>
              <p:cNvSpPr>
                <a:spLocks noGrp="1" noRot="1" noChangeAspect="1" noMove="1" noResize="1" noEditPoints="1" noAdjustHandles="1" noChangeArrowheads="1" noChangeShapeType="1" noTextEdit="1"/>
              </p:cNvSpPr>
              <p:nvPr/>
            </p:nvSpPr>
            <p:spPr>
              <a:xfrm>
                <a:off x="4095750" y="2857500"/>
                <a:ext cx="2095500" cy="285750"/>
              </a:xfrm>
              <a:prstGeom prst="rect">
                <a:avLst/>
              </a:prstGeom>
              <a:blipFill>
                <a:blip r:embed="rId7"/>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086100"/>
                <a:ext cx="3905250" cy="847725"/>
              </a:xfrm>
              <a:prstGeom prst="rect">
                <a:avLst/>
              </a:prstGeom>
              <a:noFill/>
              <a:ln w="0">
                <a:noFill/>
              </a:ln>
            </p:spPr>
            <p:txBody>
              <a:bodyPr wrap="none" lIns="0" tIns="0" rIns="0" bIns="0" anchor="ctr">
                <a:noAutofit/>
              </a:bodyPr>
              <a:lstStyle/>
              <a:p>
                <a:pPr algn="ctr">
                  <a:lnSpc>
                    <a:spcPts val="3000"/>
                  </a:lnSpc>
                </a:pPr>
                <a:r>
                  <a:rPr lang="en-GB" sz="2200" b="1" dirty="0">
                    <a:solidFill>
                      <a:srgbClr val="182D45"/>
                    </a:solidFill>
                    <a:latin typeface="DejaVu Sans"/>
                  </a:rPr>
                  <a:t>Hidden bias row:</a:t>
                </a:r>
                <a:endParaRPr lang="en-GB" sz="2200" dirty="0"/>
              </a:p>
              <a:p>
                <a:pPr algn="ctr">
                  <a:lnSpc>
                    <a:spcPts val="3000"/>
                  </a:lnSpc>
                </a:pP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𝐛</m:t>
                          </m:r>
                        </m:e>
                        <m:sub>
                          <m:r>
                            <a:rPr lang="en-GB" sz="2200">
                              <a:solidFill>
                                <a:srgbClr val="182D45"/>
                              </a:solidFill>
                              <a:latin typeface="Cambria Math"/>
                              <a:ea typeface="Cambria Math"/>
                              <a:cs typeface="Cambria Math"/>
                            </a:rPr>
                            <m:t>1</m:t>
                          </m:r>
                        </m:sub>
                      </m:sSub>
                      <m:r>
                        <a:rPr lang="en-GB" sz="2200">
                          <a:solidFill>
                            <a:srgbClr val="182D45"/>
                          </a:solidFill>
                          <a:latin typeface="Cambria Math"/>
                          <a:ea typeface="Cambria Math"/>
                          <a:cs typeface="Cambria Math"/>
                        </a:rPr>
                        <m:t>=</m:t>
                      </m:r>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e>
                      </m:d>
                    </m:oMath>
                  </m:oMathPara>
                </a14:m>
                <a:endParaRPr lang="en-GB" sz="2200" dirty="0"/>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086100"/>
                <a:ext cx="3905250" cy="847725"/>
              </a:xfrm>
              <a:prstGeom prst="rect">
                <a:avLst/>
              </a:prstGeom>
              <a:blipFill>
                <a:blip r:embed="rId8"/>
                <a:stretch>
                  <a:fillRect t="-3597"/>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The two biases vary together</a:t>
            </a:r>
            <a:endParaRPr lang="en-GB" sz="2025" dirty="0">
              <a:solidFill>
                <a:srgbClr val="FF0000"/>
              </a:solidFill>
            </a:endParaRPr>
          </a:p>
          <a:p>
            <a:pPr algn="ctr">
              <a:lnSpc>
                <a:spcPts val="2500"/>
              </a:lnSpc>
            </a:pPr>
            <a:r>
              <a:rPr lang="en-GB" sz="2025" b="0" dirty="0">
                <a:solidFill>
                  <a:srgbClr val="FF0000"/>
                </a:solidFill>
                <a:latin typeface="DejaVu Sans"/>
              </a:rPr>
              <a:t>and remain opposites.</a:t>
            </a:r>
            <a:endParaRPr lang="en-GB" sz="2025" dirty="0">
              <a:solidFill>
                <a:srgbClr val="FF0000"/>
              </a:solidFill>
            </a:endParaRPr>
          </a:p>
        </p:txBody>
      </p:sp>
      <mc:AlternateContent xmlns:mc="http://schemas.openxmlformats.org/markup-compatibility/2006" xmlns:a14="http://schemas.microsoft.com/office/drawing/2010/main">
        <mc:Choice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Changing </a:t>
                </a:r>
                <a14:m>
                  <m:oMath xmlns:m="http://schemas.openxmlformats.org/officeDocument/2006/math">
                    <m:r>
                      <a:rPr lang="en-GB" sz="2025">
                        <a:solidFill>
                          <a:srgbClr val="FF0000"/>
                        </a:solidFill>
                        <a:latin typeface="Cambria Math"/>
                        <a:ea typeface="Cambria Math"/>
                        <a:cs typeface="Cambria Math"/>
                      </a:rPr>
                      <m:t>𝜃</m:t>
                    </m:r>
                  </m:oMath>
                </a14:m>
                <a:r>
                  <a:rPr lang="en-GB" sz="2025" b="0" dirty="0">
                    <a:solidFill>
                      <a:srgbClr val="FF0000"/>
                    </a:solidFill>
                    <a:latin typeface="DejaVu Sans"/>
                  </a:rPr>
                  <a:t> shifts the</a:t>
                </a:r>
                <a:endParaRPr lang="en-GB" sz="2025" dirty="0">
                  <a:solidFill>
                    <a:srgbClr val="FF0000"/>
                  </a:solidFill>
                </a:endParaRPr>
              </a:p>
              <a:p>
                <a:pPr algn="ctr">
                  <a:lnSpc>
                    <a:spcPts val="2500"/>
                  </a:lnSpc>
                </a:pPr>
                <a:r>
                  <a:rPr lang="en-GB" sz="2025" b="0" dirty="0">
                    <a:solidFill>
                      <a:srgbClr val="FF0000"/>
                    </a:solidFill>
                    <a:latin typeface="DejaVu Sans"/>
                  </a:rPr>
                  <a:t>graph horizontally.</a:t>
                </a:r>
                <a:endParaRPr lang="en-GB" sz="2025" dirty="0">
                  <a:solidFill>
                    <a:srgbClr val="FF0000"/>
                  </a:solidFill>
                </a:endParaRPr>
              </a:p>
            </p:txBody>
          </p:sp>
        </mc:Choice>
        <mc:Fallback xmlns="">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9"/>
                <a:stretch>
                  <a:fillRect t="-769" b="-7692"/>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895975"/>
            <a:ext cx="11049000" cy="590550"/>
          </a:xfrm>
          <a:prstGeom prst="rect">
            <a:avLst/>
          </a:prstGeom>
          <a:noFill/>
          <a:ln w="0">
            <a:noFill/>
          </a:ln>
        </p:spPr>
        <p:txBody>
          <a:bodyPr wrap="none" lIns="0" tIns="0" rIns="0" bIns="0" anchor="ctr">
            <a:noAutofit/>
          </a:bodyPr>
          <a:lstStyle/>
          <a:p>
            <a:pPr algn="ctr">
              <a:lnSpc>
                <a:spcPts val="2400"/>
              </a:lnSpc>
            </a:pPr>
            <a:r>
              <a:rPr lang="en-GB" sz="2025" b="1" dirty="0">
                <a:solidFill>
                  <a:srgbClr val="182D45"/>
                </a:solidFill>
                <a:latin typeface="DejaVu Sans"/>
              </a:rPr>
              <a:t>Similar optimisation difficulties can also occur</a:t>
            </a:r>
            <a:endParaRPr lang="en-GB" sz="2025" dirty="0"/>
          </a:p>
          <a:p>
            <a:pPr algn="ctr">
              <a:lnSpc>
                <a:spcPts val="2400"/>
              </a:lnSpc>
            </a:pPr>
            <a:r>
              <a:rPr lang="en-GB" sz="2025" b="1" dirty="0">
                <a:solidFill>
                  <a:srgbClr val="182D45"/>
                </a:solidFill>
                <a:latin typeface="DejaVu Sans"/>
              </a:rPr>
              <a:t>in networks where all parameters can vary.</a:t>
            </a:r>
            <a:endParaRPr lang="en-GB" sz="2025" dirty="0"/>
          </a:p>
        </p:txBody>
      </p:sp>
      <p:sp>
        <p:nvSpPr>
          <p:cNvPr id="20" name="architecture">
            <a:extLst>
              <a:ext uri="{FF2B5EF4-FFF2-40B4-BE49-F238E27FC236}">
                <a16:creationId xmlns:a16="http://schemas.microsoft.com/office/drawing/2014/main" id="{96CF802D-53F6-4B77-9F88-46B1EF7E90FA}"/>
              </a:ext>
            </a:extLst>
          </p:cNvPr>
          <p:cNvSpPr>
            <a:spLocks noGrp="1"/>
          </p:cNvSpPr>
          <p:nvPr/>
        </p:nvSpPr>
        <p:spPr>
          <a:xfrm>
            <a:off x="428625" y="1647825"/>
            <a:ext cx="11334750" cy="333375"/>
          </a:xfrm>
          <a:prstGeom prst="rect">
            <a:avLst/>
          </a:prstGeom>
          <a:noFill/>
          <a:ln w="0">
            <a:noFill/>
          </a:ln>
        </p:spPr>
        <p:txBody>
          <a:bodyPr wrap="none" lIns="0" tIns="0" rIns="0" bIns="0" anchor="ctr">
            <a:noAutofit/>
          </a:bodyPr>
          <a:lstStyle/>
          <a:p>
            <a:pPr algn="ctr"/>
            <a:r>
              <a:rPr lang="en-GB" b="1" dirty="0"/>
              <a:t>Architecture</a:t>
            </a:r>
            <a:r>
              <a:rPr lang="en-GB" dirty="0"/>
              <a:t>: </a:t>
            </a:r>
            <a:r>
              <a:rPr lang="it-IT" dirty="0">
                <a:latin typeface="DejaVu Sans"/>
                <a:ea typeface="DejaVu Sans"/>
                <a:cs typeface="DejaVu Sans"/>
              </a:rPr>
              <a:t>1 → 2 → 1</a:t>
            </a:r>
            <a:endParaRPr lang="en-GB" dirty="0"/>
          </a:p>
        </p:txBody>
      </p:sp>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1</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1</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2</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2</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1</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1</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2</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2</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xmlns="">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xmlns="">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xmlns="">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xmlns="">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xmlns="">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xmlns="">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xmlns="">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xmlns="">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xmlns="">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xmlns="">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sSub>
                        <m:sSubPr>
                          <m:ctrlPr>
                            <a:rPr lang="en-GB" sz="2400" smtClean="0">
                              <a:solidFill>
                                <a:srgbClr val="326CB2"/>
                              </a:solidFill>
                              <a:latin typeface="Cambria Math"/>
                              <a:ea typeface="Cambria Math"/>
                              <a:cs typeface="Cambria Math"/>
                            </a:rPr>
                          </m:ctrlPr>
                        </m:sSubPr>
                        <m:e>
                          <m:r>
                            <a:rPr lang="en-GB" sz="2400" smtClean="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xmlns="">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xmlns="">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xmlns="">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xmlns="">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xmlns="">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xmlns="">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xmlns="">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xmlns="">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xmlns="">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xmlns="">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xmlns="">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xmlns="">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xmlns="">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xmlns="">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1</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180" b="0" dirty="0">
                <a:solidFill>
                  <a:srgbClr val="FF0000"/>
                </a:solidFill>
                <a:latin typeface="DejaVu Sans"/>
                <a:ea typeface="DejaVu Sans"/>
                <a:cs typeface="DejaVu Sans"/>
              </a:rPr>
              <a:t>Different starting points</a:t>
            </a:r>
            <a:r>
              <a:rPr sz="2180" b="0" dirty="0">
                <a:solidFill>
                  <a:srgbClr val="182D45"/>
                </a:solidFill>
                <a:latin typeface="DejaVu Sans"/>
                <a:ea typeface="DejaVu Sans"/>
                <a:cs typeface="DejaVu Sans"/>
              </a:rPr>
              <a:t> can lead to different final </a:t>
            </a:r>
            <a:r>
              <a:rPr lang="it-IT" sz="2180" b="0" dirty="0" err="1">
                <a:solidFill>
                  <a:srgbClr val="182D45"/>
                </a:solidFill>
                <a:latin typeface="DejaVu Sans"/>
                <a:ea typeface="DejaVu Sans"/>
                <a:cs typeface="DejaVu Sans"/>
              </a:rPr>
              <a:t>parameters</a:t>
            </a:r>
            <a:r>
              <a:rPr sz="2180" b="0" dirty="0">
                <a:solidFill>
                  <a:srgbClr val="182D45"/>
                </a:solidFill>
                <a:latin typeface="DejaVu Sans"/>
                <a:ea typeface="DejaVu Sans"/>
                <a:cs typeface="DejaVu Sans"/>
              </a:rPr>
              <a:t>.</a:t>
            </a:r>
          </a:p>
          <a:p>
            <a:pPr algn="ctr">
              <a:defRPr sz="2025"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lang="it-IT" sz="2180" b="0" dirty="0" err="1">
                <a:solidFill>
                  <a:srgbClr val="FF0000"/>
                </a:solidFill>
                <a:latin typeface="DejaVu Sans"/>
                <a:ea typeface="DejaVu Sans"/>
                <a:cs typeface="DejaVu Sans"/>
              </a:rPr>
              <a:t>Stochastic</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Gradient</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Descent</a:t>
            </a:r>
            <a:r>
              <a:rPr lang="it-IT" sz="2180" b="0" dirty="0">
                <a:solidFill>
                  <a:srgbClr val="FF0000"/>
                </a:solidFill>
                <a:latin typeface="DejaVu Sans"/>
                <a:ea typeface="DejaVu Sans"/>
                <a:cs typeface="DejaVu Sans"/>
              </a:rPr>
              <a:t>: </a:t>
            </a:r>
            <a:r>
              <a:rPr sz="2180" b="0" dirty="0">
                <a:solidFill>
                  <a:srgbClr val="182D45"/>
                </a:solidFill>
                <a:latin typeface="DejaVu Sans"/>
                <a:ea typeface="DejaVu Sans"/>
                <a:cs typeface="DejaVu Sans"/>
              </a:rPr>
              <a:t>use gradients from small random subsets.</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A wider network can sometimes be easier to </a:t>
            </a:r>
            <a:r>
              <a:rPr sz="2180" b="0" dirty="0" err="1">
                <a:solidFill>
                  <a:srgbClr val="182D45"/>
                </a:solidFill>
                <a:latin typeface="DejaVu Sans"/>
                <a:ea typeface="DejaVu Sans"/>
                <a:cs typeface="DejaVu Sans"/>
              </a:rPr>
              <a:t>optimise</a:t>
            </a:r>
            <a:r>
              <a:rPr sz="2180" b="0" dirty="0">
                <a:solidFill>
                  <a:srgbClr val="182D45"/>
                </a:solidFill>
                <a:latin typeface="DejaVu Sans"/>
                <a:ea typeface="DejaVu Sans"/>
                <a:cs typeface="DejaVu Sans"/>
              </a:rPr>
              <a: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Increasing width </a:t>
            </a:r>
            <a:r>
              <a:rPr sz="2180" b="0" dirty="0">
                <a:solidFill>
                  <a:srgbClr val="FF0000"/>
                </a:solidFill>
                <a:latin typeface="DejaVu Sans"/>
                <a:ea typeface="DejaVu Sans"/>
                <a:cs typeface="DejaVu Sans"/>
              </a:rPr>
              <a:t>does not guarantee</a:t>
            </a:r>
            <a:r>
              <a:rPr sz="2180" b="0" dirty="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a:t>
            </a:r>
            <a:r>
              <a:rPr sz="2150" b="0" dirty="0">
                <a:solidFill>
                  <a:srgbClr val="FF0000"/>
                </a:solidFill>
                <a:latin typeface="DejaVu Sans"/>
                <a:ea typeface="DejaVu Sans"/>
                <a:cs typeface="DejaVu Sans"/>
              </a:rPr>
              <a:t>differentiable</a:t>
            </a:r>
            <a:r>
              <a:rPr sz="2150" b="0" dirty="0">
                <a:solidFill>
                  <a:srgbClr val="087F83"/>
                </a:solidFill>
                <a:latin typeface="DejaVu Sans"/>
                <a:ea typeface="DejaVu Sans"/>
                <a:cs typeface="DejaVu Sans"/>
              </a:rPr>
              <a:t>,</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a:t>
            </a:r>
            <a:r>
              <a:rPr sz="2150" b="0" dirty="0">
                <a:solidFill>
                  <a:srgbClr val="FF0000"/>
                </a:solidFill>
                <a:latin typeface="DejaVu Sans"/>
                <a:ea typeface="DejaVu Sans"/>
                <a:cs typeface="DejaVu Sans"/>
              </a:rPr>
              <a:t>computational convention</a:t>
            </a:r>
            <a:r>
              <a:rPr sz="2150" b="0" dirty="0">
                <a:solidFill>
                  <a:srgbClr val="182D45"/>
                </a:solidFill>
                <a:latin typeface="DejaVu Sans"/>
                <a:ea typeface="DejaVu Sans"/>
                <a:cs typeface="DejaVu Sans"/>
              </a:rPr>
              <a:t>,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3</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469</TotalTime>
  <Words>7789</Words>
  <Application>Microsoft Office PowerPoint</Application>
  <DocSecurity>0</DocSecurity>
  <PresentationFormat>Widescreen</PresentationFormat>
  <Paragraphs>851</Paragraphs>
  <Slides>43</Slides>
  <Notes>42</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43</vt:i4>
      </vt:variant>
    </vt:vector>
  </HeadingPairs>
  <TitlesOfParts>
    <vt:vector size="49"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46</cp:revision>
  <dcterms:created xsi:type="dcterms:W3CDTF">2026-10-03T10:26:10Z</dcterms:created>
  <dcterms:modified xsi:type="dcterms:W3CDTF">2026-10-16T05:55:11Z</dcterms:modified>
</cp:coreProperties>
</file>