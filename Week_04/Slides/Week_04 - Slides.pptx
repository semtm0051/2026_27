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2.xml" ContentType="application/vnd.openxmlformats-officedocument.drawingml.chart+xml"/>
  <Override PartName="/ppt/notesSlides/notesSlide25.xml" ContentType="application/vnd.openxmlformats-officedocument.presentationml.notesSlide+xml"/>
  <Override PartName="/ppt/charts/chart3.xml" ContentType="application/vnd.openxmlformats-officedocument.drawingml.chart+xml"/>
  <Override PartName="/ppt/notesSlides/notesSlide26.xml" ContentType="application/vnd.openxmlformats-officedocument.presentationml.notesSlide+xml"/>
  <Override PartName="/ppt/charts/chart4.xml" ContentType="application/vnd.openxmlformats-officedocument.drawingml.chart+xml"/>
  <Override PartName="/ppt/notesSlides/notesSlide27.xml" ContentType="application/vnd.openxmlformats-officedocument.presentationml.notesSlide+xml"/>
  <Override PartName="/ppt/charts/chart5.xml" ContentType="application/vnd.openxmlformats-officedocument.drawingml.chart+xml"/>
  <Override PartName="/ppt/notesSlides/notesSlide28.xml" ContentType="application/vnd.openxmlformats-officedocument.presentationml.notesSlide+xml"/>
  <Override PartName="/ppt/charts/chart6.xml" ContentType="application/vnd.openxmlformats-officedocument.drawingml.chart+xml"/>
  <Override PartName="/ppt/notesSlides/notesSlide29.xml" ContentType="application/vnd.openxmlformats-officedocument.presentationml.notesSlide+xml"/>
  <Override PartName="/ppt/charts/chart7.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10.xml" ContentType="application/vnd.openxmlformats-officedocument.drawingml.chart+xml"/>
  <Override PartName="/ppt/notesSlides/notesSlide36.xml" ContentType="application/vnd.openxmlformats-officedocument.presentationml.notesSlide+xml"/>
  <Override PartName="/ppt/charts/chart11.xml" ContentType="application/vnd.openxmlformats-officedocument.drawingml.chart+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12.xml" ContentType="application/vnd.openxmlformats-officedocument.drawingml.chart+xml"/>
  <Override PartName="/ppt/notesSlides/notesSlide39.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notesSlides/notesSlide40.xml" ContentType="application/vnd.openxmlformats-officedocument.presentationml.notes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notesMasterIdLst>
    <p:notesMasterId r:id="rId47"/>
  </p:notesMasterIdLst>
  <p:sldIdLst>
    <p:sldId id="256" r:id="rId3"/>
    <p:sldId id="257" r:id="rId4"/>
    <p:sldId id="258" r:id="rId5"/>
    <p:sldId id="259" r:id="rId6"/>
    <p:sldId id="260" r:id="rId7"/>
    <p:sldId id="262" r:id="rId8"/>
    <p:sldId id="263" r:id="rId9"/>
    <p:sldId id="264" r:id="rId10"/>
    <p:sldId id="296" r:id="rId11"/>
    <p:sldId id="299" r:id="rId12"/>
    <p:sldId id="270" r:id="rId13"/>
    <p:sldId id="271" r:id="rId14"/>
    <p:sldId id="272" r:id="rId15"/>
    <p:sldId id="267" r:id="rId16"/>
    <p:sldId id="301" r:id="rId17"/>
    <p:sldId id="269" r:id="rId18"/>
    <p:sldId id="268" r:id="rId19"/>
    <p:sldId id="273" r:id="rId20"/>
    <p:sldId id="303" r:id="rId21"/>
    <p:sldId id="274" r:id="rId22"/>
    <p:sldId id="275" r:id="rId23"/>
    <p:sldId id="276" r:id="rId24"/>
    <p:sldId id="277" r:id="rId25"/>
    <p:sldId id="297" r:id="rId26"/>
    <p:sldId id="302" r:id="rId27"/>
    <p:sldId id="278" r:id="rId28"/>
    <p:sldId id="279" r:id="rId29"/>
    <p:sldId id="300" r:id="rId30"/>
    <p:sldId id="280" r:id="rId31"/>
    <p:sldId id="281" r:id="rId32"/>
    <p:sldId id="282" r:id="rId33"/>
    <p:sldId id="283" r:id="rId34"/>
    <p:sldId id="284" r:id="rId35"/>
    <p:sldId id="298" r:id="rId36"/>
    <p:sldId id="286" r:id="rId37"/>
    <p:sldId id="287" r:id="rId38"/>
    <p:sldId id="288" r:id="rId39"/>
    <p:sldId id="289" r:id="rId40"/>
    <p:sldId id="290" r:id="rId41"/>
    <p:sldId id="291" r:id="rId42"/>
    <p:sldId id="292" r:id="rId43"/>
    <p:sldId id="293" r:id="rId44"/>
    <p:sldId id="294" r:id="rId45"/>
    <p:sldId id="295" r:id="rId4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7F83"/>
    <a:srgbClr val="C45C28"/>
    <a:srgbClr val="457AB9"/>
    <a:srgbClr val="326CB2"/>
    <a:srgbClr val="B6C2CD"/>
    <a:srgbClr val="526276"/>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modSld">
      <pc:chgData name="Roberto Colomboni" userId="dd40f206-3c8d-4cae-a481-e04c30f4a734" providerId="ADAL" clId="{60E66902-36BF-4793-9F68-7CEF37DD1CC7}" dt="2026-10-06T11:06:27.655" v="142" actId="20577"/>
      <pc:docMkLst>
        <pc:docMk/>
      </pc:docMkLst>
      <pc:sldChg chg="modSp mod">
        <pc:chgData name="Roberto Colomboni" userId="dd40f206-3c8d-4cae-a481-e04c30f4a734" providerId="ADAL" clId="{60E66902-36BF-4793-9F68-7CEF37DD1CC7}" dt="2026-10-06T11:06:27.655" v="142" actId="20577"/>
        <pc:sldMkLst>
          <pc:docMk/>
          <pc:sldMk cId="556765960" sldId="293"/>
        </pc:sldMkLst>
        <pc:spChg chg="mod">
          <ac:chgData name="Roberto Colomboni" userId="dd40f206-3c8d-4cae-a481-e04c30f4a734" providerId="ADAL" clId="{60E66902-36BF-4793-9F68-7CEF37DD1CC7}" dt="2026-10-06T11:06:27.655" v="142" actId="20577"/>
          <ac:spMkLst>
            <pc:docMk/>
            <pc:sldMk cId="556765960" sldId="293"/>
            <ac:spMk id="8" creationId="{7AFDAF17-BA98-4773-9B6D-AC59EC084D3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ReLU</c:v>
          </c:tx>
          <c:spPr>
            <a:ln w="29528">
              <a:solidFill>
                <a:srgbClr val="087F83"/>
              </a:solidFill>
            </a:ln>
          </c:spPr>
          <c:marker>
            <c:symbol val="none"/>
          </c:marker>
          <c:xVal>
            <c:numRef>
              <c:f>'Chart Data'!$A$2:$A$102</c:f>
              <c:numCache>
                <c:formatCode>General</c:formatCode>
                <c:ptCount val="101"/>
                <c:pt idx="0">
                  <c:v>-2</c:v>
                </c:pt>
                <c:pt idx="1">
                  <c:v>-1.95</c:v>
                </c:pt>
                <c:pt idx="2">
                  <c:v>-1.9</c:v>
                </c:pt>
                <c:pt idx="3">
                  <c:v>-1.85</c:v>
                </c:pt>
                <c:pt idx="4">
                  <c:v>-1.8</c:v>
                </c:pt>
                <c:pt idx="5">
                  <c:v>-1.75</c:v>
                </c:pt>
                <c:pt idx="6">
                  <c:v>-1.7</c:v>
                </c:pt>
                <c:pt idx="7">
                  <c:v>-1.65</c:v>
                </c:pt>
                <c:pt idx="8">
                  <c:v>-1.6</c:v>
                </c:pt>
                <c:pt idx="9">
                  <c:v>-1.55</c:v>
                </c:pt>
                <c:pt idx="10">
                  <c:v>-1.5</c:v>
                </c:pt>
                <c:pt idx="11">
                  <c:v>-1.45</c:v>
                </c:pt>
                <c:pt idx="12">
                  <c:v>-1.4</c:v>
                </c:pt>
                <c:pt idx="13">
                  <c:v>-1.35</c:v>
                </c:pt>
                <c:pt idx="14">
                  <c:v>-1.3</c:v>
                </c:pt>
                <c:pt idx="15">
                  <c:v>-1.25</c:v>
                </c:pt>
                <c:pt idx="16">
                  <c:v>-1.2</c:v>
                </c:pt>
                <c:pt idx="17">
                  <c:v>-1.1499999999999999</c:v>
                </c:pt>
                <c:pt idx="18">
                  <c:v>-1.1000000000000001</c:v>
                </c:pt>
                <c:pt idx="19">
                  <c:v>-1.05</c:v>
                </c:pt>
                <c:pt idx="20">
                  <c:v>-1</c:v>
                </c:pt>
                <c:pt idx="21">
                  <c:v>-0.95</c:v>
                </c:pt>
                <c:pt idx="22">
                  <c:v>-0.9</c:v>
                </c:pt>
                <c:pt idx="23">
                  <c:v>-0.85</c:v>
                </c:pt>
                <c:pt idx="24">
                  <c:v>-0.8</c:v>
                </c:pt>
                <c:pt idx="25">
                  <c:v>-0.75</c:v>
                </c:pt>
                <c:pt idx="26">
                  <c:v>-0.7</c:v>
                </c:pt>
                <c:pt idx="27">
                  <c:v>-0.65</c:v>
                </c:pt>
                <c:pt idx="28">
                  <c:v>-0.6</c:v>
                </c:pt>
                <c:pt idx="29">
                  <c:v>-0.55000000000000004</c:v>
                </c:pt>
                <c:pt idx="30">
                  <c:v>-0.5</c:v>
                </c:pt>
                <c:pt idx="31">
                  <c:v>-0.45</c:v>
                </c:pt>
                <c:pt idx="32">
                  <c:v>-0.4</c:v>
                </c:pt>
                <c:pt idx="33">
                  <c:v>-0.35</c:v>
                </c:pt>
                <c:pt idx="34">
                  <c:v>-0.3</c:v>
                </c:pt>
                <c:pt idx="35">
                  <c:v>-0.25</c:v>
                </c:pt>
                <c:pt idx="36">
                  <c:v>-0.2</c:v>
                </c:pt>
                <c:pt idx="37">
                  <c:v>-0.15</c:v>
                </c:pt>
                <c:pt idx="38">
                  <c:v>-0.1</c:v>
                </c:pt>
                <c:pt idx="39">
                  <c:v>-0.05</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xVal>
          <c:yVal>
            <c:numRef>
              <c:f>'Chart Data'!$B$2:$B$102</c:f>
              <c:numCache>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yVal>
          <c:smooth val="0"/>
          <c:extLst>
            <c:ext xmlns:c16="http://schemas.microsoft.com/office/drawing/2014/chart" uri="{C3380CC4-5D6E-409C-BE32-E72D297353CC}">
              <c16:uniqueId val="{00000000-0EC2-48E4-B745-882E94E4F004}"/>
            </c:ext>
          </c:extLst>
        </c:ser>
        <c:dLbls>
          <c:showLegendKey val="0"/>
          <c:showVal val="0"/>
          <c:showCatName val="0"/>
          <c:showSerName val="0"/>
          <c:showPercent val="0"/>
          <c:showBubbleSize val="0"/>
        </c:dLbls>
        <c:axId val="48650112"/>
        <c:axId val="48672768"/>
      </c:scatterChart>
      <c:valAx>
        <c:axId val="48672768"/>
        <c:scaling>
          <c:orientation val="minMax"/>
          <c:max val="3.5"/>
          <c:min val="-0.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ReLU(a)</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2"/>
        <c:crossBetween val="midCat"/>
        <c:majorUnit val="0.5"/>
      </c:valAx>
      <c:valAx>
        <c:axId val="48650112"/>
        <c:scaling>
          <c:orientation val="minMax"/>
          <c:max val="3"/>
          <c:min val="-2"/>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5"/>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1.25"/>
          <c:min val="0"/>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0.5"/>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E384-494A-8B1D-A9F8E19BCBD0}"/>
            </c:ext>
          </c:extLst>
        </c:ser>
        <c:ser>
          <c:idx val="1"/>
          <c:order val="1"/>
          <c:tx>
            <c:v>ReLU(x)</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yVal>
          <c:smooth val="0"/>
          <c:extLst>
            <c:ext xmlns:c16="http://schemas.microsoft.com/office/drawing/2014/chart" uri="{C3380CC4-5D6E-409C-BE32-E72D297353CC}">
              <c16:uniqueId val="{00000001-E384-494A-8B1D-A9F8E19BCBD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AD36-4EEC-BED0-6A31D1FFFAAD}"/>
            </c:ext>
          </c:extLst>
        </c:ser>
        <c:ser>
          <c:idx val="1"/>
          <c:order val="1"/>
          <c:tx>
            <c:v>ReLU(x) − 2 ReLU(x − 1)</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-4.9999999999999802E-2</c:v>
                </c:pt>
                <c:pt idx="62">
                  <c:v>-0.1</c:v>
                </c:pt>
                <c:pt idx="63">
                  <c:v>-0.15</c:v>
                </c:pt>
                <c:pt idx="64">
                  <c:v>-0.2</c:v>
                </c:pt>
                <c:pt idx="65">
                  <c:v>-0.25</c:v>
                </c:pt>
                <c:pt idx="66">
                  <c:v>-0.3</c:v>
                </c:pt>
                <c:pt idx="67">
                  <c:v>-0.35</c:v>
                </c:pt>
                <c:pt idx="68">
                  <c:v>-0.4</c:v>
                </c:pt>
                <c:pt idx="69">
                  <c:v>-0.45</c:v>
                </c:pt>
                <c:pt idx="70">
                  <c:v>-0.5</c:v>
                </c:pt>
                <c:pt idx="71">
                  <c:v>-0.55000000000000004</c:v>
                </c:pt>
                <c:pt idx="72">
                  <c:v>-0.6</c:v>
                </c:pt>
                <c:pt idx="73">
                  <c:v>-0.65</c:v>
                </c:pt>
                <c:pt idx="74">
                  <c:v>-0.7</c:v>
                </c:pt>
                <c:pt idx="75">
                  <c:v>-0.75</c:v>
                </c:pt>
                <c:pt idx="76">
                  <c:v>-0.8</c:v>
                </c:pt>
                <c:pt idx="77">
                  <c:v>-0.85</c:v>
                </c:pt>
                <c:pt idx="78">
                  <c:v>-0.9</c:v>
                </c:pt>
                <c:pt idx="79">
                  <c:v>-0.95</c:v>
                </c:pt>
                <c:pt idx="80">
                  <c:v>-1</c:v>
                </c:pt>
              </c:numCache>
            </c:numRef>
          </c:yVal>
          <c:smooth val="0"/>
          <c:extLst>
            <c:ext xmlns:c16="http://schemas.microsoft.com/office/drawing/2014/chart" uri="{C3380CC4-5D6E-409C-BE32-E72D297353CC}">
              <c16:uniqueId val="{00000001-AD36-4EEC-BED0-6A31D1FFFAAD}"/>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00ED-464D-B288-EBB028ABB98F}"/>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00ED-464D-B288-EBB028ABB98F}"/>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dirty="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2B58-4968-8F73-C02AD810444E}"/>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2B58-4968-8F73-C02AD810444E}"/>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0.25</c:v>
                </c:pt>
                <c:pt idx="1">
                  <c:v>1.25</c:v>
                </c:pt>
              </c:numCache>
            </c:numRef>
          </c:yVal>
          <c:smooth val="1"/>
          <c:extLst>
            <c:ext xmlns:c16="http://schemas.microsoft.com/office/drawing/2014/chart" uri="{C3380CC4-5D6E-409C-BE32-E72D297353CC}">
              <c16:uniqueId val="{00000002-2B58-4968-8F73-C02AD810444E}"/>
            </c:ext>
          </c:extLst>
        </c:ser>
        <c:ser>
          <c:idx val="3"/>
          <c:order val="3"/>
          <c:tx>
            <c:v>Decision boundary</c:v>
          </c:tx>
          <c:spPr>
            <a:ln w="21908">
              <a:solidFill>
                <a:srgbClr val="087F83"/>
              </a:solidFill>
            </a:ln>
          </c:spPr>
          <c:marker>
            <c:symbol val="none"/>
          </c:marker>
          <c:xVal>
            <c:numRef>
              <c:f>'Chart Data'!$G$2:$G$3</c:f>
              <c:numCache>
                <c:formatCode>General</c:formatCode>
                <c:ptCount val="2"/>
                <c:pt idx="0">
                  <c:v>0.25</c:v>
                </c:pt>
                <c:pt idx="1">
                  <c:v>1.25</c:v>
                </c:pt>
              </c:numCache>
            </c:numRef>
          </c:xVal>
          <c:yVal>
            <c:numRef>
              <c:f>'Chart Data'!$H$2:$H$3</c:f>
              <c:numCache>
                <c:formatCode>General</c:formatCode>
                <c:ptCount val="2"/>
                <c:pt idx="0">
                  <c:v>-0.25</c:v>
                </c:pt>
                <c:pt idx="1">
                  <c:v>0.75</c:v>
                </c:pt>
              </c:numCache>
            </c:numRef>
          </c:yVal>
          <c:smooth val="1"/>
          <c:extLst>
            <c:ext xmlns:c16="http://schemas.microsoft.com/office/drawing/2014/chart" uri="{C3380CC4-5D6E-409C-BE32-E72D297353CC}">
              <c16:uniqueId val="{00000003-2B58-4968-8F73-C02AD810444E}"/>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 (2 observations)</c:v>
          </c:tx>
          <c:spPr>
            <a:ln w="0">
              <a:noFill/>
            </a:ln>
          </c:spPr>
          <c:marker>
            <c:symbol val="circle"/>
            <c:size val="12"/>
            <c:spPr>
              <a:solidFill>
                <a:srgbClr val="326CB2"/>
              </a:solidFill>
              <a:ln w="9525">
                <a:solidFill>
                  <a:srgbClr val="326CB2"/>
                </a:solidFill>
              </a:ln>
            </c:spPr>
          </c:marker>
          <c:xVal>
            <c:numRef>
              <c:f>'Chart Data'!$A$2:$A$2</c:f>
              <c:numCache>
                <c:formatCode>General</c:formatCode>
                <c:ptCount val="1"/>
                <c:pt idx="0">
                  <c:v>0</c:v>
                </c:pt>
              </c:numCache>
            </c:numRef>
          </c:xVal>
          <c:yVal>
            <c:numRef>
              <c:f>'Chart Data'!$B$2:$B$2</c:f>
              <c:numCache>
                <c:formatCode>General</c:formatCode>
                <c:ptCount val="1"/>
                <c:pt idx="0">
                  <c:v>0</c:v>
                </c:pt>
              </c:numCache>
            </c:numRef>
          </c:yVal>
          <c:smooth val="1"/>
          <c:extLst>
            <c:ext xmlns:c16="http://schemas.microsoft.com/office/drawing/2014/chart" uri="{C3380CC4-5D6E-409C-BE32-E72D297353CC}">
              <c16:uniqueId val="{00000000-944E-4AE0-8144-21810AFAC8D1}"/>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944E-4AE0-8144-21810AFAC8D1}"/>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0.75</c:v>
                </c:pt>
                <c:pt idx="1">
                  <c:v>-0.25</c:v>
                </c:pt>
              </c:numCache>
            </c:numRef>
          </c:yVal>
          <c:smooth val="1"/>
          <c:extLst>
            <c:ext xmlns:c16="http://schemas.microsoft.com/office/drawing/2014/chart" uri="{C3380CC4-5D6E-409C-BE32-E72D297353CC}">
              <c16:uniqueId val="{00000002-944E-4AE0-8144-21810AFAC8D1}"/>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θ = -1</c:v>
          </c:tx>
          <c:spPr>
            <a:ln w="29528">
              <a:solidFill>
                <a:srgbClr val="326CB2"/>
              </a:solidFill>
            </a:ln>
          </c:spPr>
          <c:marker>
            <c:symbol val="none"/>
          </c:marker>
          <c:xVal>
            <c:numRef>
              <c:f>'Chart Data'!$A$2:$A$182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Data'!$B$2:$B$182</c:f>
              <c:numCache>
                <c:formatCode>General</c:formatCode>
                <c:ptCount val="181"/>
                <c:pt idx="0">
                  <c:v>0.5</c:v>
                </c:pt>
                <c:pt idx="1">
                  <c:v>0.45</c:v>
                </c:pt>
                <c:pt idx="2">
                  <c:v>0.4</c:v>
                </c:pt>
                <c:pt idx="3">
                  <c:v>0.35</c:v>
                </c:pt>
                <c:pt idx="4">
                  <c:v>0.3</c:v>
                </c:pt>
                <c:pt idx="5">
                  <c:v>0.25</c:v>
                </c:pt>
                <c:pt idx="6">
                  <c:v>0.2</c:v>
                </c:pt>
                <c:pt idx="7">
                  <c:v>0.15</c:v>
                </c:pt>
                <c:pt idx="8">
                  <c:v>9.9999999999999603E-2</c:v>
                </c:pt>
                <c:pt idx="9">
                  <c:v>4.9999999999999802E-2</c:v>
                </c:pt>
                <c:pt idx="10">
                  <c:v>0</c:v>
                </c:pt>
                <c:pt idx="11">
                  <c:v>-4.9999999999999802E-2</c:v>
                </c:pt>
                <c:pt idx="12">
                  <c:v>-0.1</c:v>
                </c:pt>
                <c:pt idx="13">
                  <c:v>-0.15</c:v>
                </c:pt>
                <c:pt idx="14">
                  <c:v>-0.2</c:v>
                </c:pt>
                <c:pt idx="15">
                  <c:v>-0.25</c:v>
                </c:pt>
                <c:pt idx="16">
                  <c:v>-0.3</c:v>
                </c:pt>
                <c:pt idx="17">
                  <c:v>-0.35</c:v>
                </c:pt>
                <c:pt idx="18">
                  <c:v>-0.4</c:v>
                </c:pt>
                <c:pt idx="19">
                  <c:v>-0.45</c:v>
                </c:pt>
                <c:pt idx="20">
                  <c:v>-0.5</c:v>
                </c:pt>
                <c:pt idx="21">
                  <c:v>-0.55000000000000004</c:v>
                </c:pt>
                <c:pt idx="22">
                  <c:v>-0.6</c:v>
                </c:pt>
                <c:pt idx="23">
                  <c:v>-0.65</c:v>
                </c:pt>
                <c:pt idx="24">
                  <c:v>-0.7</c:v>
                </c:pt>
                <c:pt idx="25">
                  <c:v>-0.75</c:v>
                </c:pt>
                <c:pt idx="26">
                  <c:v>-0.8</c:v>
                </c:pt>
                <c:pt idx="27">
                  <c:v>-0.85</c:v>
                </c:pt>
                <c:pt idx="28">
                  <c:v>-0.9</c:v>
                </c:pt>
                <c:pt idx="29">
                  <c:v>-0.95</c:v>
                </c:pt>
                <c:pt idx="30">
                  <c:v>-1</c:v>
                </c:pt>
                <c:pt idx="31">
                  <c:v>-1.05</c:v>
                </c:pt>
                <c:pt idx="32">
                  <c:v>-1.1000000000000001</c:v>
                </c:pt>
                <c:pt idx="33">
                  <c:v>-1.1499999999999999</c:v>
                </c:pt>
                <c:pt idx="34">
                  <c:v>-1.2</c:v>
                </c:pt>
                <c:pt idx="35">
                  <c:v>-1.25</c:v>
                </c:pt>
                <c:pt idx="36">
                  <c:v>-1.3</c:v>
                </c:pt>
                <c:pt idx="37">
                  <c:v>-1.35</c:v>
                </c:pt>
                <c:pt idx="38">
                  <c:v>-1.4</c:v>
                </c:pt>
                <c:pt idx="39">
                  <c:v>-1.45</c:v>
                </c:pt>
                <c:pt idx="40">
                  <c:v>-1.5</c:v>
                </c:pt>
                <c:pt idx="41">
                  <c:v>-1.55</c:v>
                </c:pt>
                <c:pt idx="42">
                  <c:v>-1.6</c:v>
                </c:pt>
                <c:pt idx="43">
                  <c:v>-1.65</c:v>
                </c:pt>
                <c:pt idx="44">
                  <c:v>-1.7</c:v>
                </c:pt>
                <c:pt idx="45">
                  <c:v>-1.75</c:v>
                </c:pt>
                <c:pt idx="46">
                  <c:v>-1.8</c:v>
                </c:pt>
                <c:pt idx="47">
                  <c:v>-1.85</c:v>
                </c:pt>
                <c:pt idx="48">
                  <c:v>-1.9</c:v>
                </c:pt>
                <c:pt idx="49">
                  <c:v>-1.95</c:v>
                </c:pt>
                <c:pt idx="50">
                  <c:v>-2</c:v>
                </c:pt>
                <c:pt idx="51">
                  <c:v>-2.0499999999999998</c:v>
                </c:pt>
                <c:pt idx="52">
                  <c:v>-2.1</c:v>
                </c:pt>
                <c:pt idx="53">
                  <c:v>-2.15</c:v>
                </c:pt>
                <c:pt idx="54">
                  <c:v>-2.2000000000000002</c:v>
                </c:pt>
                <c:pt idx="55">
                  <c:v>-2.25</c:v>
                </c:pt>
                <c:pt idx="56">
                  <c:v>-2.2999999999999998</c:v>
                </c:pt>
                <c:pt idx="57">
                  <c:v>-2.35</c:v>
                </c:pt>
                <c:pt idx="58">
                  <c:v>-2.4</c:v>
                </c:pt>
                <c:pt idx="59">
                  <c:v>-2.4500000000000002</c:v>
                </c:pt>
                <c:pt idx="60">
                  <c:v>-2.5</c:v>
                </c:pt>
                <c:pt idx="61">
                  <c:v>-2.5499999999999998</c:v>
                </c:pt>
                <c:pt idx="62">
                  <c:v>-2.6</c:v>
                </c:pt>
                <c:pt idx="63">
                  <c:v>-2.65</c:v>
                </c:pt>
                <c:pt idx="64">
                  <c:v>-2.7</c:v>
                </c:pt>
                <c:pt idx="65">
                  <c:v>-2.75</c:v>
                </c:pt>
                <c:pt idx="66">
                  <c:v>-2.8</c:v>
                </c:pt>
                <c:pt idx="67">
                  <c:v>-2.85</c:v>
                </c:pt>
                <c:pt idx="68">
                  <c:v>-2.9</c:v>
                </c:pt>
                <c:pt idx="69">
                  <c:v>-2.95</c:v>
                </c:pt>
                <c:pt idx="70">
                  <c:v>-3</c:v>
                </c:pt>
                <c:pt idx="71">
                  <c:v>-2.95</c:v>
                </c:pt>
                <c:pt idx="72">
                  <c:v>-2.9</c:v>
                </c:pt>
                <c:pt idx="73">
                  <c:v>-2.85</c:v>
                </c:pt>
                <c:pt idx="74">
                  <c:v>-2.8</c:v>
                </c:pt>
                <c:pt idx="75">
                  <c:v>-2.75</c:v>
                </c:pt>
                <c:pt idx="76">
                  <c:v>-2.7</c:v>
                </c:pt>
                <c:pt idx="77">
                  <c:v>-2.65</c:v>
                </c:pt>
                <c:pt idx="78">
                  <c:v>-2.6</c:v>
                </c:pt>
                <c:pt idx="79">
                  <c:v>-2.5499999999999998</c:v>
                </c:pt>
                <c:pt idx="80">
                  <c:v>-2.5</c:v>
                </c:pt>
                <c:pt idx="81">
                  <c:v>-2.4500000000000002</c:v>
                </c:pt>
                <c:pt idx="82">
                  <c:v>-2.4</c:v>
                </c:pt>
                <c:pt idx="83">
                  <c:v>-2.35</c:v>
                </c:pt>
                <c:pt idx="84">
                  <c:v>-2.2999999999999998</c:v>
                </c:pt>
                <c:pt idx="85">
                  <c:v>-2.25</c:v>
                </c:pt>
                <c:pt idx="86">
                  <c:v>-2.2000000000000002</c:v>
                </c:pt>
                <c:pt idx="87">
                  <c:v>-2.15</c:v>
                </c:pt>
                <c:pt idx="88">
                  <c:v>-2.1</c:v>
                </c:pt>
                <c:pt idx="89">
                  <c:v>-2.0499999999999998</c:v>
                </c:pt>
                <c:pt idx="90">
                  <c:v>-2</c:v>
                </c:pt>
                <c:pt idx="91">
                  <c:v>-1.95</c:v>
                </c:pt>
                <c:pt idx="92">
                  <c:v>-1.9</c:v>
                </c:pt>
                <c:pt idx="93">
                  <c:v>-1.85</c:v>
                </c:pt>
                <c:pt idx="94">
                  <c:v>-1.8</c:v>
                </c:pt>
                <c:pt idx="95">
                  <c:v>-1.75</c:v>
                </c:pt>
                <c:pt idx="96">
                  <c:v>-1.7</c:v>
                </c:pt>
                <c:pt idx="97">
                  <c:v>-1.65</c:v>
                </c:pt>
                <c:pt idx="98">
                  <c:v>-1.6</c:v>
                </c:pt>
                <c:pt idx="99">
                  <c:v>-1.55</c:v>
                </c:pt>
                <c:pt idx="100">
                  <c:v>-1.5</c:v>
                </c:pt>
                <c:pt idx="101">
                  <c:v>-1.45</c:v>
                </c:pt>
                <c:pt idx="102">
                  <c:v>-1.4</c:v>
                </c:pt>
                <c:pt idx="103">
                  <c:v>-1.35</c:v>
                </c:pt>
                <c:pt idx="104">
                  <c:v>-1.3</c:v>
                </c:pt>
                <c:pt idx="105">
                  <c:v>-1.25</c:v>
                </c:pt>
                <c:pt idx="106">
                  <c:v>-1.2</c:v>
                </c:pt>
                <c:pt idx="107">
                  <c:v>-1.1499999999999999</c:v>
                </c:pt>
                <c:pt idx="108">
                  <c:v>-1.1000000000000001</c:v>
                </c:pt>
                <c:pt idx="109">
                  <c:v>-1.05</c:v>
                </c:pt>
                <c:pt idx="110">
                  <c:v>-1</c:v>
                </c:pt>
                <c:pt idx="111">
                  <c:v>-0.95</c:v>
                </c:pt>
                <c:pt idx="112">
                  <c:v>-0.9</c:v>
                </c:pt>
                <c:pt idx="113">
                  <c:v>-0.85</c:v>
                </c:pt>
                <c:pt idx="114">
                  <c:v>-0.8</c:v>
                </c:pt>
                <c:pt idx="115">
                  <c:v>-0.75</c:v>
                </c:pt>
                <c:pt idx="116">
                  <c:v>-0.7</c:v>
                </c:pt>
                <c:pt idx="117">
                  <c:v>-0.65</c:v>
                </c:pt>
                <c:pt idx="118">
                  <c:v>-0.6</c:v>
                </c:pt>
                <c:pt idx="119">
                  <c:v>-0.55000000000000004</c:v>
                </c:pt>
                <c:pt idx="120">
                  <c:v>-0.5</c:v>
                </c:pt>
                <c:pt idx="121">
                  <c:v>-0.45</c:v>
                </c:pt>
                <c:pt idx="122">
                  <c:v>-0.4</c:v>
                </c:pt>
                <c:pt idx="123">
                  <c:v>-0.35</c:v>
                </c:pt>
                <c:pt idx="124">
                  <c:v>-0.3</c:v>
                </c:pt>
                <c:pt idx="125">
                  <c:v>-0.25</c:v>
                </c:pt>
                <c:pt idx="126">
                  <c:v>-0.2</c:v>
                </c:pt>
                <c:pt idx="127">
                  <c:v>-0.15</c:v>
                </c:pt>
                <c:pt idx="128">
                  <c:v>-0.1</c:v>
                </c:pt>
                <c:pt idx="129">
                  <c:v>-4.9999999999999802E-2</c:v>
                </c:pt>
                <c:pt idx="130">
                  <c:v>0</c:v>
                </c:pt>
                <c:pt idx="131">
                  <c:v>4.9999999999999802E-2</c:v>
                </c:pt>
                <c:pt idx="132">
                  <c:v>0.1</c:v>
                </c:pt>
                <c:pt idx="133">
                  <c:v>0.15</c:v>
                </c:pt>
                <c:pt idx="134">
                  <c:v>0.2</c:v>
                </c:pt>
                <c:pt idx="135">
                  <c:v>0.25</c:v>
                </c:pt>
                <c:pt idx="136">
                  <c:v>0.3</c:v>
                </c:pt>
                <c:pt idx="137">
                  <c:v>0.35</c:v>
                </c:pt>
                <c:pt idx="138">
                  <c:v>0.4</c:v>
                </c:pt>
                <c:pt idx="139">
                  <c:v>0.45</c:v>
                </c:pt>
                <c:pt idx="140">
                  <c:v>0.5</c:v>
                </c:pt>
                <c:pt idx="141">
                  <c:v>0.55000000000000004</c:v>
                </c:pt>
                <c:pt idx="142">
                  <c:v>0.6</c:v>
                </c:pt>
                <c:pt idx="143">
                  <c:v>0.65</c:v>
                </c:pt>
                <c:pt idx="144">
                  <c:v>0.7</c:v>
                </c:pt>
                <c:pt idx="145">
                  <c:v>0.75</c:v>
                </c:pt>
                <c:pt idx="146">
                  <c:v>0.8</c:v>
                </c:pt>
                <c:pt idx="147">
                  <c:v>0.85</c:v>
                </c:pt>
                <c:pt idx="148">
                  <c:v>0.9</c:v>
                </c:pt>
                <c:pt idx="149">
                  <c:v>0.95</c:v>
                </c:pt>
                <c:pt idx="150">
                  <c:v>1</c:v>
                </c:pt>
                <c:pt idx="151">
                  <c:v>1.05</c:v>
                </c:pt>
                <c:pt idx="152">
                  <c:v>1.1000000000000001</c:v>
                </c:pt>
                <c:pt idx="153">
                  <c:v>1.1499999999999999</c:v>
                </c:pt>
                <c:pt idx="154">
                  <c:v>1.2</c:v>
                </c:pt>
                <c:pt idx="155">
                  <c:v>1.25</c:v>
                </c:pt>
                <c:pt idx="156">
                  <c:v>1.3</c:v>
                </c:pt>
                <c:pt idx="157">
                  <c:v>1.35</c:v>
                </c:pt>
                <c:pt idx="158">
                  <c:v>1.4</c:v>
                </c:pt>
                <c:pt idx="159">
                  <c:v>1.45</c:v>
                </c:pt>
                <c:pt idx="160">
                  <c:v>1.5</c:v>
                </c:pt>
                <c:pt idx="161">
                  <c:v>1.55</c:v>
                </c:pt>
                <c:pt idx="162">
                  <c:v>1.6</c:v>
                </c:pt>
                <c:pt idx="163">
                  <c:v>1.65</c:v>
                </c:pt>
                <c:pt idx="164">
                  <c:v>1.7</c:v>
                </c:pt>
                <c:pt idx="165">
                  <c:v>1.75</c:v>
                </c:pt>
                <c:pt idx="166">
                  <c:v>1.8</c:v>
                </c:pt>
                <c:pt idx="167">
                  <c:v>1.85</c:v>
                </c:pt>
                <c:pt idx="168">
                  <c:v>1.9</c:v>
                </c:pt>
                <c:pt idx="169">
                  <c:v>1.95</c:v>
                </c:pt>
                <c:pt idx="170">
                  <c:v>2</c:v>
                </c:pt>
                <c:pt idx="171">
                  <c:v>2.0499999999999998</c:v>
                </c:pt>
                <c:pt idx="172">
                  <c:v>2.1</c:v>
                </c:pt>
                <c:pt idx="173">
                  <c:v>2.15</c:v>
                </c:pt>
                <c:pt idx="174">
                  <c:v>2.2000000000000002</c:v>
                </c:pt>
                <c:pt idx="175">
                  <c:v>2.25</c:v>
                </c:pt>
                <c:pt idx="176">
                  <c:v>2.2999999999999998</c:v>
                </c:pt>
                <c:pt idx="177">
                  <c:v>2.35</c:v>
                </c:pt>
                <c:pt idx="178">
                  <c:v>2.4</c:v>
                </c:pt>
                <c:pt idx="179">
                  <c:v>2.4500000000000002</c:v>
                </c:pt>
                <c:pt idx="180">
                  <c:v>2.5</c:v>
                </c:pt>
              </c:numCache>
            </c:numRef>
          </c:yVal>
          <c:smooth val="0"/>
          <c:extLst>
            <c:ext xmlns:c16="http://schemas.microsoft.com/office/drawing/2014/chart" uri="{C3380CC4-5D6E-409C-BE32-E72D297353CC}">
              <c16:uniqueId val="{00000000-D995-45D0-AF4F-057EAB323F7F}"/>
            </c:ext>
          </c:extLst>
        </c:ser>
        <c:ser>
          <c:idx val="1"/>
          <c:order val="1"/>
          <c:tx>
            <c:v>θ = 1</c:v>
          </c:tx>
          <c:spPr>
            <a:ln w="29528">
              <a:solidFill>
                <a:srgbClr val="C45C28"/>
              </a:solidFill>
            </a:ln>
          </c:spPr>
          <c:marker>
            <c:symbol val="none"/>
          </c:marker>
          <c:xVal>
            <c:numRef>
              <c:f>'Chart Data'!$C$2:$C$182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Data'!$D$2:$D$182</c:f>
              <c:numCache>
                <c:formatCode>General</c:formatCode>
                <c:ptCount val="181"/>
                <c:pt idx="0">
                  <c:v>2.5</c:v>
                </c:pt>
                <c:pt idx="1">
                  <c:v>2.4500000000000002</c:v>
                </c:pt>
                <c:pt idx="2">
                  <c:v>2.4</c:v>
                </c:pt>
                <c:pt idx="3">
                  <c:v>2.35</c:v>
                </c:pt>
                <c:pt idx="4">
                  <c:v>2.2999999999999998</c:v>
                </c:pt>
                <c:pt idx="5">
                  <c:v>2.25</c:v>
                </c:pt>
                <c:pt idx="6">
                  <c:v>2.2000000000000002</c:v>
                </c:pt>
                <c:pt idx="7">
                  <c:v>2.15</c:v>
                </c:pt>
                <c:pt idx="8">
                  <c:v>2.1</c:v>
                </c:pt>
                <c:pt idx="9">
                  <c:v>2.0499999999999998</c:v>
                </c:pt>
                <c:pt idx="10">
                  <c:v>2</c:v>
                </c:pt>
                <c:pt idx="11">
                  <c:v>1.95</c:v>
                </c:pt>
                <c:pt idx="12">
                  <c:v>1.9</c:v>
                </c:pt>
                <c:pt idx="13">
                  <c:v>1.85</c:v>
                </c:pt>
                <c:pt idx="14">
                  <c:v>1.8</c:v>
                </c:pt>
                <c:pt idx="15">
                  <c:v>1.75</c:v>
                </c:pt>
                <c:pt idx="16">
                  <c:v>1.7</c:v>
                </c:pt>
                <c:pt idx="17">
                  <c:v>1.65</c:v>
                </c:pt>
                <c:pt idx="18">
                  <c:v>1.6</c:v>
                </c:pt>
                <c:pt idx="19">
                  <c:v>1.55</c:v>
                </c:pt>
                <c:pt idx="20">
                  <c:v>1.5</c:v>
                </c:pt>
                <c:pt idx="21">
                  <c:v>1.45</c:v>
                </c:pt>
                <c:pt idx="22">
                  <c:v>1.4</c:v>
                </c:pt>
                <c:pt idx="23">
                  <c:v>1.35</c:v>
                </c:pt>
                <c:pt idx="24">
                  <c:v>1.3</c:v>
                </c:pt>
                <c:pt idx="25">
                  <c:v>1.25</c:v>
                </c:pt>
                <c:pt idx="26">
                  <c:v>1.2</c:v>
                </c:pt>
                <c:pt idx="27">
                  <c:v>1.1499999999999999</c:v>
                </c:pt>
                <c:pt idx="28">
                  <c:v>1.1000000000000001</c:v>
                </c:pt>
                <c:pt idx="29">
                  <c:v>1.05</c:v>
                </c:pt>
                <c:pt idx="30">
                  <c:v>1</c:v>
                </c:pt>
                <c:pt idx="31">
                  <c:v>0.95</c:v>
                </c:pt>
                <c:pt idx="32">
                  <c:v>0.9</c:v>
                </c:pt>
                <c:pt idx="33">
                  <c:v>0.85</c:v>
                </c:pt>
                <c:pt idx="34">
                  <c:v>0.8</c:v>
                </c:pt>
                <c:pt idx="35">
                  <c:v>0.75</c:v>
                </c:pt>
                <c:pt idx="36">
                  <c:v>0.7</c:v>
                </c:pt>
                <c:pt idx="37">
                  <c:v>0.65</c:v>
                </c:pt>
                <c:pt idx="38">
                  <c:v>0.6</c:v>
                </c:pt>
                <c:pt idx="39">
                  <c:v>0.55000000000000004</c:v>
                </c:pt>
                <c:pt idx="40">
                  <c:v>0.5</c:v>
                </c:pt>
                <c:pt idx="41">
                  <c:v>0.45</c:v>
                </c:pt>
                <c:pt idx="42">
                  <c:v>0.4</c:v>
                </c:pt>
                <c:pt idx="43">
                  <c:v>0.35</c:v>
                </c:pt>
                <c:pt idx="44">
                  <c:v>0.3</c:v>
                </c:pt>
                <c:pt idx="45">
                  <c:v>0.25</c:v>
                </c:pt>
                <c:pt idx="46">
                  <c:v>0.2</c:v>
                </c:pt>
                <c:pt idx="47">
                  <c:v>0.15</c:v>
                </c:pt>
                <c:pt idx="48">
                  <c:v>0.1</c:v>
                </c:pt>
                <c:pt idx="49">
                  <c:v>4.9999999999999802E-2</c:v>
                </c:pt>
                <c:pt idx="50">
                  <c:v>0</c:v>
                </c:pt>
                <c:pt idx="51">
                  <c:v>-4.9999999999999802E-2</c:v>
                </c:pt>
                <c:pt idx="52">
                  <c:v>-0.1</c:v>
                </c:pt>
                <c:pt idx="53">
                  <c:v>-0.15</c:v>
                </c:pt>
                <c:pt idx="54">
                  <c:v>-0.2</c:v>
                </c:pt>
                <c:pt idx="55">
                  <c:v>-0.25</c:v>
                </c:pt>
                <c:pt idx="56">
                  <c:v>-0.3</c:v>
                </c:pt>
                <c:pt idx="57">
                  <c:v>-0.35</c:v>
                </c:pt>
                <c:pt idx="58">
                  <c:v>-0.4</c:v>
                </c:pt>
                <c:pt idx="59">
                  <c:v>-0.45</c:v>
                </c:pt>
                <c:pt idx="60">
                  <c:v>-0.5</c:v>
                </c:pt>
                <c:pt idx="61">
                  <c:v>-0.55000000000000004</c:v>
                </c:pt>
                <c:pt idx="62">
                  <c:v>-0.6</c:v>
                </c:pt>
                <c:pt idx="63">
                  <c:v>-0.65</c:v>
                </c:pt>
                <c:pt idx="64">
                  <c:v>-0.7</c:v>
                </c:pt>
                <c:pt idx="65">
                  <c:v>-0.75</c:v>
                </c:pt>
                <c:pt idx="66">
                  <c:v>-0.8</c:v>
                </c:pt>
                <c:pt idx="67">
                  <c:v>-0.85</c:v>
                </c:pt>
                <c:pt idx="68">
                  <c:v>-0.9</c:v>
                </c:pt>
                <c:pt idx="69">
                  <c:v>-0.95</c:v>
                </c:pt>
                <c:pt idx="70">
                  <c:v>-1</c:v>
                </c:pt>
                <c:pt idx="71">
                  <c:v>-1.05</c:v>
                </c:pt>
                <c:pt idx="72">
                  <c:v>-1.1000000000000001</c:v>
                </c:pt>
                <c:pt idx="73">
                  <c:v>-1.1499999999999999</c:v>
                </c:pt>
                <c:pt idx="74">
                  <c:v>-1.2</c:v>
                </c:pt>
                <c:pt idx="75">
                  <c:v>-1.25</c:v>
                </c:pt>
                <c:pt idx="76">
                  <c:v>-1.3</c:v>
                </c:pt>
                <c:pt idx="77">
                  <c:v>-1.35</c:v>
                </c:pt>
                <c:pt idx="78">
                  <c:v>-1.4</c:v>
                </c:pt>
                <c:pt idx="79">
                  <c:v>-1.45</c:v>
                </c:pt>
                <c:pt idx="80">
                  <c:v>-1.5</c:v>
                </c:pt>
                <c:pt idx="81">
                  <c:v>-1.55</c:v>
                </c:pt>
                <c:pt idx="82">
                  <c:v>-1.6</c:v>
                </c:pt>
                <c:pt idx="83">
                  <c:v>-1.65</c:v>
                </c:pt>
                <c:pt idx="84">
                  <c:v>-1.7</c:v>
                </c:pt>
                <c:pt idx="85">
                  <c:v>-1.75</c:v>
                </c:pt>
                <c:pt idx="86">
                  <c:v>-1.8</c:v>
                </c:pt>
                <c:pt idx="87">
                  <c:v>-1.85</c:v>
                </c:pt>
                <c:pt idx="88">
                  <c:v>-1.9</c:v>
                </c:pt>
                <c:pt idx="89">
                  <c:v>-1.95</c:v>
                </c:pt>
                <c:pt idx="90">
                  <c:v>-2</c:v>
                </c:pt>
                <c:pt idx="91">
                  <c:v>-2.0499999999999998</c:v>
                </c:pt>
                <c:pt idx="92">
                  <c:v>-2.1</c:v>
                </c:pt>
                <c:pt idx="93">
                  <c:v>-2.15</c:v>
                </c:pt>
                <c:pt idx="94">
                  <c:v>-2.2000000000000002</c:v>
                </c:pt>
                <c:pt idx="95">
                  <c:v>-2.25</c:v>
                </c:pt>
                <c:pt idx="96">
                  <c:v>-2.2999999999999998</c:v>
                </c:pt>
                <c:pt idx="97">
                  <c:v>-2.35</c:v>
                </c:pt>
                <c:pt idx="98">
                  <c:v>-2.4</c:v>
                </c:pt>
                <c:pt idx="99">
                  <c:v>-2.4500000000000002</c:v>
                </c:pt>
                <c:pt idx="100">
                  <c:v>-2.5</c:v>
                </c:pt>
                <c:pt idx="101">
                  <c:v>-2.5499999999999998</c:v>
                </c:pt>
                <c:pt idx="102">
                  <c:v>-2.6</c:v>
                </c:pt>
                <c:pt idx="103">
                  <c:v>-2.65</c:v>
                </c:pt>
                <c:pt idx="104">
                  <c:v>-2.7</c:v>
                </c:pt>
                <c:pt idx="105">
                  <c:v>-2.75</c:v>
                </c:pt>
                <c:pt idx="106">
                  <c:v>-2.8</c:v>
                </c:pt>
                <c:pt idx="107">
                  <c:v>-2.85</c:v>
                </c:pt>
                <c:pt idx="108">
                  <c:v>-2.9</c:v>
                </c:pt>
                <c:pt idx="109">
                  <c:v>-2.95</c:v>
                </c:pt>
                <c:pt idx="110">
                  <c:v>-3</c:v>
                </c:pt>
                <c:pt idx="111">
                  <c:v>-2.95</c:v>
                </c:pt>
                <c:pt idx="112">
                  <c:v>-2.9</c:v>
                </c:pt>
                <c:pt idx="113">
                  <c:v>-2.85</c:v>
                </c:pt>
                <c:pt idx="114">
                  <c:v>-2.8</c:v>
                </c:pt>
                <c:pt idx="115">
                  <c:v>-2.75</c:v>
                </c:pt>
                <c:pt idx="116">
                  <c:v>-2.7</c:v>
                </c:pt>
                <c:pt idx="117">
                  <c:v>-2.65</c:v>
                </c:pt>
                <c:pt idx="118">
                  <c:v>-2.6</c:v>
                </c:pt>
                <c:pt idx="119">
                  <c:v>-2.5499999999999998</c:v>
                </c:pt>
                <c:pt idx="120">
                  <c:v>-2.5</c:v>
                </c:pt>
                <c:pt idx="121">
                  <c:v>-2.4500000000000002</c:v>
                </c:pt>
                <c:pt idx="122">
                  <c:v>-2.4</c:v>
                </c:pt>
                <c:pt idx="123">
                  <c:v>-2.35</c:v>
                </c:pt>
                <c:pt idx="124">
                  <c:v>-2.2999999999999998</c:v>
                </c:pt>
                <c:pt idx="125">
                  <c:v>-2.25</c:v>
                </c:pt>
                <c:pt idx="126">
                  <c:v>-2.2000000000000002</c:v>
                </c:pt>
                <c:pt idx="127">
                  <c:v>-2.15</c:v>
                </c:pt>
                <c:pt idx="128">
                  <c:v>-2.1</c:v>
                </c:pt>
                <c:pt idx="129">
                  <c:v>-2.0499999999999998</c:v>
                </c:pt>
                <c:pt idx="130">
                  <c:v>-2</c:v>
                </c:pt>
                <c:pt idx="131">
                  <c:v>-1.95</c:v>
                </c:pt>
                <c:pt idx="132">
                  <c:v>-1.9</c:v>
                </c:pt>
                <c:pt idx="133">
                  <c:v>-1.85</c:v>
                </c:pt>
                <c:pt idx="134">
                  <c:v>-1.8</c:v>
                </c:pt>
                <c:pt idx="135">
                  <c:v>-1.75</c:v>
                </c:pt>
                <c:pt idx="136">
                  <c:v>-1.7</c:v>
                </c:pt>
                <c:pt idx="137">
                  <c:v>-1.65</c:v>
                </c:pt>
                <c:pt idx="138">
                  <c:v>-1.6</c:v>
                </c:pt>
                <c:pt idx="139">
                  <c:v>-1.55</c:v>
                </c:pt>
                <c:pt idx="140">
                  <c:v>-1.5</c:v>
                </c:pt>
                <c:pt idx="141">
                  <c:v>-1.45</c:v>
                </c:pt>
                <c:pt idx="142">
                  <c:v>-1.4</c:v>
                </c:pt>
                <c:pt idx="143">
                  <c:v>-1.35</c:v>
                </c:pt>
                <c:pt idx="144">
                  <c:v>-1.3</c:v>
                </c:pt>
                <c:pt idx="145">
                  <c:v>-1.25</c:v>
                </c:pt>
                <c:pt idx="146">
                  <c:v>-1.2</c:v>
                </c:pt>
                <c:pt idx="147">
                  <c:v>-1.1499999999999999</c:v>
                </c:pt>
                <c:pt idx="148">
                  <c:v>-1.1000000000000001</c:v>
                </c:pt>
                <c:pt idx="149">
                  <c:v>-1.05</c:v>
                </c:pt>
                <c:pt idx="150">
                  <c:v>-1</c:v>
                </c:pt>
                <c:pt idx="151">
                  <c:v>-0.95</c:v>
                </c:pt>
                <c:pt idx="152">
                  <c:v>-0.9</c:v>
                </c:pt>
                <c:pt idx="153">
                  <c:v>-0.85</c:v>
                </c:pt>
                <c:pt idx="154">
                  <c:v>-0.8</c:v>
                </c:pt>
                <c:pt idx="155">
                  <c:v>-0.75</c:v>
                </c:pt>
                <c:pt idx="156">
                  <c:v>-0.7</c:v>
                </c:pt>
                <c:pt idx="157">
                  <c:v>-0.65</c:v>
                </c:pt>
                <c:pt idx="158">
                  <c:v>-0.6</c:v>
                </c:pt>
                <c:pt idx="159">
                  <c:v>-0.55000000000000004</c:v>
                </c:pt>
                <c:pt idx="160">
                  <c:v>-0.5</c:v>
                </c:pt>
                <c:pt idx="161">
                  <c:v>-0.45</c:v>
                </c:pt>
                <c:pt idx="162">
                  <c:v>-0.4</c:v>
                </c:pt>
                <c:pt idx="163">
                  <c:v>-0.35</c:v>
                </c:pt>
                <c:pt idx="164">
                  <c:v>-0.3</c:v>
                </c:pt>
                <c:pt idx="165">
                  <c:v>-0.25</c:v>
                </c:pt>
                <c:pt idx="166">
                  <c:v>-0.2</c:v>
                </c:pt>
                <c:pt idx="167">
                  <c:v>-0.15</c:v>
                </c:pt>
                <c:pt idx="168">
                  <c:v>-0.1</c:v>
                </c:pt>
                <c:pt idx="169">
                  <c:v>-4.9999999999999802E-2</c:v>
                </c:pt>
                <c:pt idx="170">
                  <c:v>0</c:v>
                </c:pt>
                <c:pt idx="171">
                  <c:v>4.9999999999999802E-2</c:v>
                </c:pt>
                <c:pt idx="172">
                  <c:v>9.9999999999999603E-2</c:v>
                </c:pt>
                <c:pt idx="173">
                  <c:v>0.15</c:v>
                </c:pt>
                <c:pt idx="174">
                  <c:v>0.2</c:v>
                </c:pt>
                <c:pt idx="175">
                  <c:v>0.25</c:v>
                </c:pt>
                <c:pt idx="176">
                  <c:v>0.3</c:v>
                </c:pt>
                <c:pt idx="177">
                  <c:v>0.35</c:v>
                </c:pt>
                <c:pt idx="178">
                  <c:v>0.4</c:v>
                </c:pt>
                <c:pt idx="179">
                  <c:v>0.45</c:v>
                </c:pt>
                <c:pt idx="180">
                  <c:v>0.5</c:v>
                </c:pt>
              </c:numCache>
            </c:numRef>
          </c:yVal>
          <c:smooth val="0"/>
          <c:extLst>
            <c:ext xmlns:c16="http://schemas.microsoft.com/office/drawing/2014/chart" uri="{C3380CC4-5D6E-409C-BE32-E72D297353CC}">
              <c16:uniqueId val="{00000001-D995-45D0-AF4F-057EAB323F7F}"/>
            </c:ext>
          </c:extLst>
        </c:ser>
        <c:dLbls>
          <c:showLegendKey val="0"/>
          <c:showVal val="0"/>
          <c:showCatName val="0"/>
          <c:showSerName val="0"/>
          <c:showPercent val="0"/>
          <c:showBubbleSize val="0"/>
        </c:dLbls>
        <c:axId val="48650112"/>
        <c:axId val="48672768"/>
      </c:scatterChart>
      <c:valAx>
        <c:axId val="48672768"/>
        <c:scaling>
          <c:orientation val="minMax"/>
          <c:max val="6"/>
          <c:min val="-4"/>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f</a:t>
                </a:r>
                <a:r>
                  <a:rPr lang="el-GR" sz="1650">
                    <a:solidFill>
                      <a:srgbClr val="182D45"/>
                    </a:solidFill>
                    <a:latin typeface="DejaVu Sans"/>
                    <a:ea typeface="DejaVu Sans"/>
                    <a:cs typeface="DejaVu Sans"/>
                  </a:rPr>
                  <a:t>θ(</a:t>
                </a:r>
                <a:r>
                  <a:rPr lang="it-IT" sz="1650">
                    <a:solidFill>
                      <a:srgbClr val="182D45"/>
                    </a:solidFill>
                    <a:latin typeface="DejaVu Sans"/>
                    <a:ea typeface="DejaVu Sans"/>
                    <a:cs typeface="DejaVu Sans"/>
                  </a:rPr>
                  <a:t>x)</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2"/>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4"/>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2E40-4DAE-A576-590DF7561AE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2E40-4DAE-A576-590DF7561AE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2E40-4DAE-A576-590DF7561AE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42E0-4640-974D-4FE0A3EF328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42E0-4640-974D-4FE0A3EF328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42E0-4640-974D-4FE0A3EF328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811-4C11-8B76-96D00CBE794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811-4C11-8B76-96D00CBE794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811-4C11-8B76-96D00CBE7948}"/>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4.5</c:v>
                </c:pt>
              </c:numCache>
            </c:numRef>
          </c:yVal>
          <c:smooth val="1"/>
          <c:extLst>
            <c:ext xmlns:c16="http://schemas.microsoft.com/office/drawing/2014/chart" uri="{C3380CC4-5D6E-409C-BE32-E72D297353CC}">
              <c16:uniqueId val="{00000003-D811-4C11-8B76-96D00CBE7948}"/>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12.5</c:v>
                </c:pt>
              </c:numCache>
            </c:numRef>
          </c:yVal>
          <c:smooth val="1"/>
          <c:extLst>
            <c:ext xmlns:c16="http://schemas.microsoft.com/office/drawing/2014/chart" uri="{C3380CC4-5D6E-409C-BE32-E72D297353CC}">
              <c16:uniqueId val="{00000004-D811-4C11-8B76-96D00CBE7948}"/>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25B-44FA-A8CF-A3995CF36986}"/>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25B-44FA-A8CF-A3995CF36986}"/>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25B-44FA-A8CF-A3995CF36986}"/>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-1.8</c:v>
                </c:pt>
              </c:numCache>
            </c:numRef>
          </c:xVal>
          <c:yVal>
            <c:numRef>
              <c:f>'Chart Data'!$H$2:$H$3</c:f>
              <c:numCache>
                <c:formatCode>General</c:formatCode>
                <c:ptCount val="2"/>
                <c:pt idx="0">
                  <c:v>4.5</c:v>
                </c:pt>
                <c:pt idx="1">
                  <c:v>2.88</c:v>
                </c:pt>
              </c:numCache>
            </c:numRef>
          </c:yVal>
          <c:smooth val="1"/>
          <c:extLst>
            <c:ext xmlns:c16="http://schemas.microsoft.com/office/drawing/2014/chart" uri="{C3380CC4-5D6E-409C-BE32-E72D297353CC}">
              <c16:uniqueId val="{00000003-625B-44FA-A8CF-A3995CF36986}"/>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25B-44FA-A8CF-A3995CF36986}"/>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-1.8</c:v>
                </c:pt>
              </c:numCache>
            </c:numRef>
          </c:xVal>
          <c:yVal>
            <c:numRef>
              <c:f>'Chart Data'!$L$2:$L$2</c:f>
              <c:numCache>
                <c:formatCode>General</c:formatCode>
                <c:ptCount val="1"/>
                <c:pt idx="0">
                  <c:v>2.88</c:v>
                </c:pt>
              </c:numCache>
            </c:numRef>
          </c:yVal>
          <c:smooth val="1"/>
          <c:extLst>
            <c:ext xmlns:c16="http://schemas.microsoft.com/office/drawing/2014/chart" uri="{C3380CC4-5D6E-409C-BE32-E72D297353CC}">
              <c16:uniqueId val="{00000005-625B-44FA-A8CF-A3995CF36986}"/>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1.8</c:v>
                </c:pt>
              </c:numCache>
            </c:numRef>
          </c:xVal>
          <c:yVal>
            <c:numRef>
              <c:f>'Chart Data'!$N$2:$N$3</c:f>
              <c:numCache>
                <c:formatCode>General</c:formatCode>
                <c:ptCount val="2"/>
                <c:pt idx="0">
                  <c:v>12.5</c:v>
                </c:pt>
                <c:pt idx="1">
                  <c:v>10.88</c:v>
                </c:pt>
              </c:numCache>
            </c:numRef>
          </c:yVal>
          <c:smooth val="1"/>
          <c:extLst>
            <c:ext xmlns:c16="http://schemas.microsoft.com/office/drawing/2014/chart" uri="{C3380CC4-5D6E-409C-BE32-E72D297353CC}">
              <c16:uniqueId val="{00000006-625B-44FA-A8CF-A3995CF36986}"/>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25B-44FA-A8CF-A3995CF36986}"/>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1.8</c:v>
                </c:pt>
              </c:numCache>
            </c:numRef>
          </c:xVal>
          <c:yVal>
            <c:numRef>
              <c:f>'Chart Data'!$R$2:$R$2</c:f>
              <c:numCache>
                <c:formatCode>General</c:formatCode>
                <c:ptCount val="1"/>
                <c:pt idx="0">
                  <c:v>10.88</c:v>
                </c:pt>
              </c:numCache>
            </c:numRef>
          </c:yVal>
          <c:smooth val="1"/>
          <c:extLst>
            <c:ext xmlns:c16="http://schemas.microsoft.com/office/drawing/2014/chart" uri="{C3380CC4-5D6E-409C-BE32-E72D297353CC}">
              <c16:uniqueId val="{00000008-625B-44FA-A8CF-A3995CF36986}"/>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-1.8</c:v>
                </c:pt>
              </c:numCache>
            </c:numRef>
          </c:xVal>
          <c:yVal>
            <c:numRef>
              <c:f>'Chart Data'!$T$2:$T$2</c:f>
              <c:numCache>
                <c:formatCode>General</c:formatCode>
                <c:ptCount val="1"/>
                <c:pt idx="0">
                  <c:v>2.88</c:v>
                </c:pt>
              </c:numCache>
            </c:numRef>
          </c:yVal>
          <c:smooth val="1"/>
          <c:extLst>
            <c:ext xmlns:c16="http://schemas.microsoft.com/office/drawing/2014/chart" uri="{C3380CC4-5D6E-409C-BE32-E72D297353CC}">
              <c16:uniqueId val="{00000009-625B-44FA-A8CF-A3995CF36986}"/>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1.8</c:v>
                </c:pt>
              </c:numCache>
            </c:numRef>
          </c:xVal>
          <c:yVal>
            <c:numRef>
              <c:f>'Chart Data'!$V$2:$V$2</c:f>
              <c:numCache>
                <c:formatCode>General</c:formatCode>
                <c:ptCount val="1"/>
                <c:pt idx="0">
                  <c:v>10.88</c:v>
                </c:pt>
              </c:numCache>
            </c:numRef>
          </c:yVal>
          <c:smooth val="1"/>
          <c:extLst>
            <c:ext xmlns:c16="http://schemas.microsoft.com/office/drawing/2014/chart" uri="{C3380CC4-5D6E-409C-BE32-E72D297353CC}">
              <c16:uniqueId val="{0000000A-625B-44FA-A8CF-A3995CF36986}"/>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251-4580-AD2C-6B2A7B4CEA3E}"/>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251-4580-AD2C-6B2A7B4CEA3E}"/>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251-4580-AD2C-6B2A7B4CEA3E}"/>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-1.8</c:v>
                </c:pt>
                <c:pt idx="2">
                  <c:v>-2.04</c:v>
                </c:pt>
              </c:numCache>
            </c:numRef>
          </c:xVal>
          <c:yVal>
            <c:numRef>
              <c:f>'Chart Data'!$H$2:$H$4</c:f>
              <c:numCache>
                <c:formatCode>General</c:formatCode>
                <c:ptCount val="3"/>
                <c:pt idx="0">
                  <c:v>4.5</c:v>
                </c:pt>
                <c:pt idx="1">
                  <c:v>2.88</c:v>
                </c:pt>
                <c:pt idx="2">
                  <c:v>1.8431999999999999</c:v>
                </c:pt>
              </c:numCache>
            </c:numRef>
          </c:yVal>
          <c:smooth val="1"/>
          <c:extLst>
            <c:ext xmlns:c16="http://schemas.microsoft.com/office/drawing/2014/chart" uri="{C3380CC4-5D6E-409C-BE32-E72D297353CC}">
              <c16:uniqueId val="{00000003-D251-4580-AD2C-6B2A7B4CEA3E}"/>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251-4580-AD2C-6B2A7B4CEA3E}"/>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-1.8</c:v>
                </c:pt>
                <c:pt idx="1">
                  <c:v>-2.04</c:v>
                </c:pt>
              </c:numCache>
            </c:numRef>
          </c:xVal>
          <c:yVal>
            <c:numRef>
              <c:f>'Chart Data'!$L$2:$L$3</c:f>
              <c:numCache>
                <c:formatCode>General</c:formatCode>
                <c:ptCount val="2"/>
                <c:pt idx="0">
                  <c:v>2.88</c:v>
                </c:pt>
                <c:pt idx="1">
                  <c:v>1.8431999999999999</c:v>
                </c:pt>
              </c:numCache>
            </c:numRef>
          </c:yVal>
          <c:smooth val="1"/>
          <c:extLst>
            <c:ext xmlns:c16="http://schemas.microsoft.com/office/drawing/2014/chart" uri="{C3380CC4-5D6E-409C-BE32-E72D297353CC}">
              <c16:uniqueId val="{00000005-D251-4580-AD2C-6B2A7B4CEA3E}"/>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1.8</c:v>
                </c:pt>
                <c:pt idx="2">
                  <c:v>2.04</c:v>
                </c:pt>
              </c:numCache>
            </c:numRef>
          </c:xVal>
          <c:yVal>
            <c:numRef>
              <c:f>'Chart Data'!$N$2:$N$4</c:f>
              <c:numCache>
                <c:formatCode>General</c:formatCode>
                <c:ptCount val="3"/>
                <c:pt idx="0">
                  <c:v>12.5</c:v>
                </c:pt>
                <c:pt idx="1">
                  <c:v>10.88</c:v>
                </c:pt>
                <c:pt idx="2">
                  <c:v>9.8431999999999995</c:v>
                </c:pt>
              </c:numCache>
            </c:numRef>
          </c:yVal>
          <c:smooth val="1"/>
          <c:extLst>
            <c:ext xmlns:c16="http://schemas.microsoft.com/office/drawing/2014/chart" uri="{C3380CC4-5D6E-409C-BE32-E72D297353CC}">
              <c16:uniqueId val="{00000006-D251-4580-AD2C-6B2A7B4CEA3E}"/>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251-4580-AD2C-6B2A7B4CEA3E}"/>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1.8</c:v>
                </c:pt>
                <c:pt idx="1">
                  <c:v>2.04</c:v>
                </c:pt>
              </c:numCache>
            </c:numRef>
          </c:xVal>
          <c:yVal>
            <c:numRef>
              <c:f>'Chart Data'!$R$2:$R$3</c:f>
              <c:numCache>
                <c:formatCode>General</c:formatCode>
                <c:ptCount val="2"/>
                <c:pt idx="0">
                  <c:v>10.88</c:v>
                </c:pt>
                <c:pt idx="1">
                  <c:v>9.8431999999999995</c:v>
                </c:pt>
              </c:numCache>
            </c:numRef>
          </c:yVal>
          <c:smooth val="1"/>
          <c:extLst>
            <c:ext xmlns:c16="http://schemas.microsoft.com/office/drawing/2014/chart" uri="{C3380CC4-5D6E-409C-BE32-E72D297353CC}">
              <c16:uniqueId val="{00000008-D251-4580-AD2C-6B2A7B4CEA3E}"/>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-2.04</c:v>
                </c:pt>
              </c:numCache>
            </c:numRef>
          </c:xVal>
          <c:yVal>
            <c:numRef>
              <c:f>'Chart Data'!$T$2:$T$2</c:f>
              <c:numCache>
                <c:formatCode>General</c:formatCode>
                <c:ptCount val="1"/>
                <c:pt idx="0">
                  <c:v>1.8431999999999999</c:v>
                </c:pt>
              </c:numCache>
            </c:numRef>
          </c:yVal>
          <c:smooth val="1"/>
          <c:extLst>
            <c:ext xmlns:c16="http://schemas.microsoft.com/office/drawing/2014/chart" uri="{C3380CC4-5D6E-409C-BE32-E72D297353CC}">
              <c16:uniqueId val="{00000009-D251-4580-AD2C-6B2A7B4CEA3E}"/>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2.04</c:v>
                </c:pt>
              </c:numCache>
            </c:numRef>
          </c:xVal>
          <c:yVal>
            <c:numRef>
              <c:f>'Chart Data'!$V$2:$V$2</c:f>
              <c:numCache>
                <c:formatCode>General</c:formatCode>
                <c:ptCount val="1"/>
                <c:pt idx="0">
                  <c:v>9.8431999999999995</c:v>
                </c:pt>
              </c:numCache>
            </c:numRef>
          </c:yVal>
          <c:smooth val="1"/>
          <c:extLst>
            <c:ext xmlns:c16="http://schemas.microsoft.com/office/drawing/2014/chart" uri="{C3380CC4-5D6E-409C-BE32-E72D297353CC}">
              <c16:uniqueId val="{0000000A-D251-4580-AD2C-6B2A7B4CEA3E}"/>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C1E-4140-BB35-5A4BDEE4FDD5}"/>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C1E-4140-BB35-5A4BDEE4FDD5}"/>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C1E-4140-BB35-5A4BDEE4FDD5}"/>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-1.8</c:v>
                </c:pt>
                <c:pt idx="2">
                  <c:v>-2.04</c:v>
                </c:pt>
                <c:pt idx="3">
                  <c:v>-2.2320000000000002</c:v>
                </c:pt>
                <c:pt idx="4">
                  <c:v>-2.3856000000000002</c:v>
                </c:pt>
                <c:pt idx="5">
                  <c:v>-2.50848</c:v>
                </c:pt>
              </c:numCache>
            </c:numRef>
          </c:xVal>
          <c:yVal>
            <c:numRef>
              <c:f>'Chart Data'!$H$2:$H$7</c:f>
              <c:numCache>
                <c:formatCode>General</c:formatCode>
                <c:ptCount val="6"/>
                <c:pt idx="0">
                  <c:v>4.5</c:v>
                </c:pt>
                <c:pt idx="1">
                  <c:v>2.88</c:v>
                </c:pt>
                <c:pt idx="2">
                  <c:v>1.8431999999999999</c:v>
                </c:pt>
                <c:pt idx="3">
                  <c:v>1.179648</c:v>
                </c:pt>
                <c:pt idx="4">
                  <c:v>0.75497471999999999</c:v>
                </c:pt>
                <c:pt idx="5">
                  <c:v>0.4831838208</c:v>
                </c:pt>
              </c:numCache>
            </c:numRef>
          </c:yVal>
          <c:smooth val="1"/>
          <c:extLst>
            <c:ext xmlns:c16="http://schemas.microsoft.com/office/drawing/2014/chart" uri="{C3380CC4-5D6E-409C-BE32-E72D297353CC}">
              <c16:uniqueId val="{00000003-DC1E-4140-BB35-5A4BDEE4FDD5}"/>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C1E-4140-BB35-5A4BDEE4FDD5}"/>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-1.8</c:v>
                </c:pt>
                <c:pt idx="1">
                  <c:v>-2.04</c:v>
                </c:pt>
                <c:pt idx="2">
                  <c:v>-2.2320000000000002</c:v>
                </c:pt>
                <c:pt idx="3">
                  <c:v>-2.3856000000000002</c:v>
                </c:pt>
                <c:pt idx="4">
                  <c:v>-2.50848</c:v>
                </c:pt>
              </c:numCache>
            </c:numRef>
          </c:xVal>
          <c:yVal>
            <c:numRef>
              <c:f>'Chart Data'!$L$2:$L$6</c:f>
              <c:numCache>
                <c:formatCode>General</c:formatCode>
                <c:ptCount val="5"/>
                <c:pt idx="0">
                  <c:v>2.88</c:v>
                </c:pt>
                <c:pt idx="1">
                  <c:v>1.8431999999999999</c:v>
                </c:pt>
                <c:pt idx="2">
                  <c:v>1.179648</c:v>
                </c:pt>
                <c:pt idx="3">
                  <c:v>0.75497471999999999</c:v>
                </c:pt>
                <c:pt idx="4">
                  <c:v>0.4831838208</c:v>
                </c:pt>
              </c:numCache>
            </c:numRef>
          </c:yVal>
          <c:smooth val="1"/>
          <c:extLst>
            <c:ext xmlns:c16="http://schemas.microsoft.com/office/drawing/2014/chart" uri="{C3380CC4-5D6E-409C-BE32-E72D297353CC}">
              <c16:uniqueId val="{00000005-DC1E-4140-BB35-5A4BDEE4FDD5}"/>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1.8</c:v>
                </c:pt>
                <c:pt idx="2">
                  <c:v>2.04</c:v>
                </c:pt>
                <c:pt idx="3">
                  <c:v>2.2320000000000002</c:v>
                </c:pt>
                <c:pt idx="4">
                  <c:v>2.3856000000000002</c:v>
                </c:pt>
                <c:pt idx="5">
                  <c:v>2.50848</c:v>
                </c:pt>
              </c:numCache>
            </c:numRef>
          </c:xVal>
          <c:yVal>
            <c:numRef>
              <c:f>'Chart Data'!$N$2:$N$7</c:f>
              <c:numCache>
                <c:formatCode>General</c:formatCode>
                <c:ptCount val="6"/>
                <c:pt idx="0">
                  <c:v>12.5</c:v>
                </c:pt>
                <c:pt idx="1">
                  <c:v>10.88</c:v>
                </c:pt>
                <c:pt idx="2">
                  <c:v>9.8431999999999995</c:v>
                </c:pt>
                <c:pt idx="3">
                  <c:v>9.1796480000000003</c:v>
                </c:pt>
                <c:pt idx="4">
                  <c:v>8.7549747199999999</c:v>
                </c:pt>
                <c:pt idx="5">
                  <c:v>8.4831838208000008</c:v>
                </c:pt>
              </c:numCache>
            </c:numRef>
          </c:yVal>
          <c:smooth val="1"/>
          <c:extLst>
            <c:ext xmlns:c16="http://schemas.microsoft.com/office/drawing/2014/chart" uri="{C3380CC4-5D6E-409C-BE32-E72D297353CC}">
              <c16:uniqueId val="{00000006-DC1E-4140-BB35-5A4BDEE4FDD5}"/>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C1E-4140-BB35-5A4BDEE4FDD5}"/>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1.8</c:v>
                </c:pt>
                <c:pt idx="1">
                  <c:v>2.04</c:v>
                </c:pt>
                <c:pt idx="2">
                  <c:v>2.2320000000000002</c:v>
                </c:pt>
                <c:pt idx="3">
                  <c:v>2.3856000000000002</c:v>
                </c:pt>
                <c:pt idx="4">
                  <c:v>2.50848</c:v>
                </c:pt>
              </c:numCache>
            </c:numRef>
          </c:xVal>
          <c:yVal>
            <c:numRef>
              <c:f>'Chart Data'!$R$2:$R$6</c:f>
              <c:numCache>
                <c:formatCode>General</c:formatCode>
                <c:ptCount val="5"/>
                <c:pt idx="0">
                  <c:v>10.88</c:v>
                </c:pt>
                <c:pt idx="1">
                  <c:v>9.8431999999999995</c:v>
                </c:pt>
                <c:pt idx="2">
                  <c:v>9.1796480000000003</c:v>
                </c:pt>
                <c:pt idx="3">
                  <c:v>8.7549747199999999</c:v>
                </c:pt>
                <c:pt idx="4">
                  <c:v>8.4831838208000008</c:v>
                </c:pt>
              </c:numCache>
            </c:numRef>
          </c:yVal>
          <c:smooth val="1"/>
          <c:extLst>
            <c:ext xmlns:c16="http://schemas.microsoft.com/office/drawing/2014/chart" uri="{C3380CC4-5D6E-409C-BE32-E72D297353CC}">
              <c16:uniqueId val="{00000008-DC1E-4140-BB35-5A4BDEE4FDD5}"/>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-2.50848</c:v>
                </c:pt>
              </c:numCache>
            </c:numRef>
          </c:xVal>
          <c:yVal>
            <c:numRef>
              <c:f>'Chart Data'!$T$2:$T$2</c:f>
              <c:numCache>
                <c:formatCode>General</c:formatCode>
                <c:ptCount val="1"/>
                <c:pt idx="0">
                  <c:v>0.4831838208</c:v>
                </c:pt>
              </c:numCache>
            </c:numRef>
          </c:yVal>
          <c:smooth val="1"/>
          <c:extLst>
            <c:ext xmlns:c16="http://schemas.microsoft.com/office/drawing/2014/chart" uri="{C3380CC4-5D6E-409C-BE32-E72D297353CC}">
              <c16:uniqueId val="{00000009-DC1E-4140-BB35-5A4BDEE4FDD5}"/>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2.50848</c:v>
                </c:pt>
              </c:numCache>
            </c:numRef>
          </c:xVal>
          <c:yVal>
            <c:numRef>
              <c:f>'Chart Data'!$V$2:$V$2</c:f>
              <c:numCache>
                <c:formatCode>General</c:formatCode>
                <c:ptCount val="1"/>
                <c:pt idx="0">
                  <c:v>8.4831838208000008</c:v>
                </c:pt>
              </c:numCache>
            </c:numRef>
          </c:yVal>
          <c:smooth val="1"/>
          <c:extLst>
            <c:ext xmlns:c16="http://schemas.microsoft.com/office/drawing/2014/chart" uri="{C3380CC4-5D6E-409C-BE32-E72D297353CC}">
              <c16:uniqueId val="{0000000A-DC1E-4140-BB35-5A4BDEE4FDD5}"/>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7CBE-411D-9BA4-260E0324C44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7CBE-411D-9BA4-260E0324C44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7CBE-411D-9BA4-260E0324C447}"/>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Data'!$H$2:$H$12</c:f>
              <c:numCache>
                <c:formatCode>General</c:formatCode>
                <c:ptCount val="1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numCache>
            </c:numRef>
          </c:yVal>
          <c:smooth val="1"/>
          <c:extLst>
            <c:ext xmlns:c16="http://schemas.microsoft.com/office/drawing/2014/chart" uri="{C3380CC4-5D6E-409C-BE32-E72D297353CC}">
              <c16:uniqueId val="{00000003-7CBE-411D-9BA4-260E0324C447}"/>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7CBE-411D-9BA4-260E0324C447}"/>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Data'!$L$2:$L$11</c:f>
              <c:numCache>
                <c:formatCode>General</c:formatCode>
                <c:ptCount val="1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numCache>
            </c:numRef>
          </c:yVal>
          <c:smooth val="1"/>
          <c:extLst>
            <c:ext xmlns:c16="http://schemas.microsoft.com/office/drawing/2014/chart" uri="{C3380CC4-5D6E-409C-BE32-E72D297353CC}">
              <c16:uniqueId val="{00000005-7CBE-411D-9BA4-260E0324C447}"/>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Data'!$N$2:$N$12</c:f>
              <c:numCache>
                <c:formatCode>General</c:formatCode>
                <c:ptCount val="1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numCache>
            </c:numRef>
          </c:yVal>
          <c:smooth val="1"/>
          <c:extLst>
            <c:ext xmlns:c16="http://schemas.microsoft.com/office/drawing/2014/chart" uri="{C3380CC4-5D6E-409C-BE32-E72D297353CC}">
              <c16:uniqueId val="{00000006-7CBE-411D-9BA4-260E0324C447}"/>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7CBE-411D-9BA4-260E0324C447}"/>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Data'!$R$2:$R$11</c:f>
              <c:numCache>
                <c:formatCode>General</c:formatCode>
                <c:ptCount val="1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numCache>
            </c:numRef>
          </c:yVal>
          <c:smooth val="1"/>
          <c:extLst>
            <c:ext xmlns:c16="http://schemas.microsoft.com/office/drawing/2014/chart" uri="{C3380CC4-5D6E-409C-BE32-E72D297353CC}">
              <c16:uniqueId val="{00000008-7CBE-411D-9BA4-260E0324C447}"/>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-2.8389387263999999</c:v>
                </c:pt>
              </c:numCache>
            </c:numRef>
          </c:xVal>
          <c:yVal>
            <c:numRef>
              <c:f>'Chart Data'!$T$2:$T$2</c:f>
              <c:numCache>
                <c:formatCode>General</c:formatCode>
                <c:ptCount val="1"/>
                <c:pt idx="0">
                  <c:v>5.1881467707308199E-2</c:v>
                </c:pt>
              </c:numCache>
            </c:numRef>
          </c:yVal>
          <c:smooth val="1"/>
          <c:extLst>
            <c:ext xmlns:c16="http://schemas.microsoft.com/office/drawing/2014/chart" uri="{C3380CC4-5D6E-409C-BE32-E72D297353CC}">
              <c16:uniqueId val="{00000009-7CBE-411D-9BA4-260E0324C447}"/>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2.8389387263999999</c:v>
                </c:pt>
              </c:numCache>
            </c:numRef>
          </c:xVal>
          <c:yVal>
            <c:numRef>
              <c:f>'Chart Data'!$V$2:$V$2</c:f>
              <c:numCache>
                <c:formatCode>General</c:formatCode>
                <c:ptCount val="1"/>
                <c:pt idx="0">
                  <c:v>8.0518814677073092</c:v>
                </c:pt>
              </c:numCache>
            </c:numRef>
          </c:yVal>
          <c:smooth val="1"/>
          <c:extLst>
            <c:ext xmlns:c16="http://schemas.microsoft.com/office/drawing/2014/chart" uri="{C3380CC4-5D6E-409C-BE32-E72D297353CC}">
              <c16:uniqueId val="{0000000A-7CBE-411D-9BA4-260E0324C44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413-4A4B-9AB9-AAA669FE2A9D}"/>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413-4A4B-9AB9-AAA669FE2A9D}"/>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413-4A4B-9AB9-AAA669FE2A9D}"/>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Data'!$H$2:$H$22</c:f>
              <c:numCache>
                <c:formatCode>General</c:formatCode>
                <c:ptCount val="2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pt idx="11">
                  <c:v>3.3204139332677199E-2</c:v>
                </c:pt>
                <c:pt idx="12">
                  <c:v>2.1250649172913399E-2</c:v>
                </c:pt>
                <c:pt idx="13">
                  <c:v>1.36004154706646E-2</c:v>
                </c:pt>
                <c:pt idx="14">
                  <c:v>8.7042659012253696E-3</c:v>
                </c:pt>
                <c:pt idx="15">
                  <c:v>5.5707301767842603E-3</c:v>
                </c:pt>
                <c:pt idx="16">
                  <c:v>3.5652673131419499E-3</c:v>
                </c:pt>
                <c:pt idx="17">
                  <c:v>2.2817710804108301E-3</c:v>
                </c:pt>
                <c:pt idx="18">
                  <c:v>1.4603334914629199E-3</c:v>
                </c:pt>
                <c:pt idx="19">
                  <c:v>9.3461343453626899E-4</c:v>
                </c:pt>
                <c:pt idx="20">
                  <c:v>5.9815259810320597E-4</c:v>
                </c:pt>
              </c:numCache>
            </c:numRef>
          </c:yVal>
          <c:smooth val="1"/>
          <c:extLst>
            <c:ext xmlns:c16="http://schemas.microsoft.com/office/drawing/2014/chart" uri="{C3380CC4-5D6E-409C-BE32-E72D297353CC}">
              <c16:uniqueId val="{00000003-6413-4A4B-9AB9-AAA669FE2A9D}"/>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413-4A4B-9AB9-AAA669FE2A9D}"/>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Data'!$L$2:$L$21</c:f>
              <c:numCache>
                <c:formatCode>General</c:formatCode>
                <c:ptCount val="2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pt idx="10">
                  <c:v>3.3204139332677199E-2</c:v>
                </c:pt>
                <c:pt idx="11">
                  <c:v>2.1250649172913399E-2</c:v>
                </c:pt>
                <c:pt idx="12">
                  <c:v>1.36004154706646E-2</c:v>
                </c:pt>
                <c:pt idx="13">
                  <c:v>8.7042659012253696E-3</c:v>
                </c:pt>
                <c:pt idx="14">
                  <c:v>5.5707301767842603E-3</c:v>
                </c:pt>
                <c:pt idx="15">
                  <c:v>3.5652673131419499E-3</c:v>
                </c:pt>
                <c:pt idx="16">
                  <c:v>2.2817710804108301E-3</c:v>
                </c:pt>
                <c:pt idx="17">
                  <c:v>1.4603334914629199E-3</c:v>
                </c:pt>
                <c:pt idx="18">
                  <c:v>9.3461343453626899E-4</c:v>
                </c:pt>
                <c:pt idx="19">
                  <c:v>5.9815259810320597E-4</c:v>
                </c:pt>
              </c:numCache>
            </c:numRef>
          </c:yVal>
          <c:smooth val="1"/>
          <c:extLst>
            <c:ext xmlns:c16="http://schemas.microsoft.com/office/drawing/2014/chart" uri="{C3380CC4-5D6E-409C-BE32-E72D297353CC}">
              <c16:uniqueId val="{00000005-6413-4A4B-9AB9-AAA669FE2A9D}"/>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Data'!$N$2:$N$22</c:f>
              <c:numCache>
                <c:formatCode>General</c:formatCode>
                <c:ptCount val="2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pt idx="11">
                  <c:v>8.0332041393326801</c:v>
                </c:pt>
                <c:pt idx="12">
                  <c:v>8.0212506491729094</c:v>
                </c:pt>
                <c:pt idx="13">
                  <c:v>8.0136004154706608</c:v>
                </c:pt>
                <c:pt idx="14">
                  <c:v>8.0087042659012297</c:v>
                </c:pt>
                <c:pt idx="15">
                  <c:v>8.00557073017678</c:v>
                </c:pt>
                <c:pt idx="16">
                  <c:v>8.0035652673131406</c:v>
                </c:pt>
                <c:pt idx="17">
                  <c:v>8.0022817710804102</c:v>
                </c:pt>
                <c:pt idx="18">
                  <c:v>8.00146033349146</c:v>
                </c:pt>
                <c:pt idx="19">
                  <c:v>8.0009346134345396</c:v>
                </c:pt>
                <c:pt idx="20">
                  <c:v>8.0005981525980996</c:v>
                </c:pt>
              </c:numCache>
            </c:numRef>
          </c:yVal>
          <c:smooth val="1"/>
          <c:extLst>
            <c:ext xmlns:c16="http://schemas.microsoft.com/office/drawing/2014/chart" uri="{C3380CC4-5D6E-409C-BE32-E72D297353CC}">
              <c16:uniqueId val="{00000006-6413-4A4B-9AB9-AAA669FE2A9D}"/>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413-4A4B-9AB9-AAA669FE2A9D}"/>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Data'!$R$2:$R$21</c:f>
              <c:numCache>
                <c:formatCode>General</c:formatCode>
                <c:ptCount val="2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pt idx="10">
                  <c:v>8.0332041393326801</c:v>
                </c:pt>
                <c:pt idx="11">
                  <c:v>8.0212506491729094</c:v>
                </c:pt>
                <c:pt idx="12">
                  <c:v>8.0136004154706608</c:v>
                </c:pt>
                <c:pt idx="13">
                  <c:v>8.0087042659012297</c:v>
                </c:pt>
                <c:pt idx="14">
                  <c:v>8.00557073017678</c:v>
                </c:pt>
                <c:pt idx="15">
                  <c:v>8.0035652673131406</c:v>
                </c:pt>
                <c:pt idx="16">
                  <c:v>8.0022817710804102</c:v>
                </c:pt>
                <c:pt idx="17">
                  <c:v>8.00146033349146</c:v>
                </c:pt>
                <c:pt idx="18">
                  <c:v>8.0009346134345396</c:v>
                </c:pt>
                <c:pt idx="19">
                  <c:v>8.0005981525980996</c:v>
                </c:pt>
              </c:numCache>
            </c:numRef>
          </c:yVal>
          <c:smooth val="1"/>
          <c:extLst>
            <c:ext xmlns:c16="http://schemas.microsoft.com/office/drawing/2014/chart" uri="{C3380CC4-5D6E-409C-BE32-E72D297353CC}">
              <c16:uniqueId val="{00000008-6413-4A4B-9AB9-AAA669FE2A9D}"/>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-2.9827061774309001</c:v>
                </c:pt>
              </c:numCache>
            </c:numRef>
          </c:xVal>
          <c:yVal>
            <c:numRef>
              <c:f>'Chart Data'!$T$2:$T$2</c:f>
              <c:numCache>
                <c:formatCode>General</c:formatCode>
                <c:ptCount val="1"/>
                <c:pt idx="0">
                  <c:v>5.9815259810320597E-4</c:v>
                </c:pt>
              </c:numCache>
            </c:numRef>
          </c:yVal>
          <c:smooth val="1"/>
          <c:extLst>
            <c:ext xmlns:c16="http://schemas.microsoft.com/office/drawing/2014/chart" uri="{C3380CC4-5D6E-409C-BE32-E72D297353CC}">
              <c16:uniqueId val="{00000009-6413-4A4B-9AB9-AAA669FE2A9D}"/>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2.9827061774309001</c:v>
                </c:pt>
              </c:numCache>
            </c:numRef>
          </c:xVal>
          <c:yVal>
            <c:numRef>
              <c:f>'Chart Data'!$V$2:$V$2</c:f>
              <c:numCache>
                <c:formatCode>General</c:formatCode>
                <c:ptCount val="1"/>
                <c:pt idx="0">
                  <c:v>8.0005981525980996</c:v>
                </c:pt>
              </c:numCache>
            </c:numRef>
          </c:yVal>
          <c:smooth val="1"/>
          <c:extLst>
            <c:ext xmlns:c16="http://schemas.microsoft.com/office/drawing/2014/chart" uri="{C3380CC4-5D6E-409C-BE32-E72D297353CC}">
              <c16:uniqueId val="{0000000A-6413-4A4B-9AB9-AAA669FE2A9D}"/>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8831-42E8-82F3-E5164956590F}"/>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8831-42E8-82F3-E5164956590F}"/>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8831-42E8-82F3-E5164956590F}"/>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1.0529667184726601</c:v>
                </c:pt>
              </c:numCache>
            </c:numRef>
          </c:yVal>
          <c:smooth val="1"/>
          <c:extLst>
            <c:ext xmlns:c16="http://schemas.microsoft.com/office/drawing/2014/chart" uri="{C3380CC4-5D6E-409C-BE32-E72D297353CC}">
              <c16:uniqueId val="{00000003-8831-42E8-82F3-E5164956590F}"/>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3.0529667184726601</c:v>
                </c:pt>
              </c:numCache>
            </c:numRef>
          </c:yVal>
          <c:smooth val="1"/>
          <c:extLst>
            <c:ext xmlns:c16="http://schemas.microsoft.com/office/drawing/2014/chart" uri="{C3380CC4-5D6E-409C-BE32-E72D297353CC}">
              <c16:uniqueId val="{00000004-8831-42E8-82F3-E5164956590F}"/>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D8E-424D-B19C-B1CAF72CC23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D8E-424D-B19C-B1CAF72CC23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D8E-424D-B19C-B1CAF72CC238}"/>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-1.77330057559031</c:v>
                </c:pt>
              </c:numCache>
            </c:numRef>
          </c:xVal>
          <c:yVal>
            <c:numRef>
              <c:f>'Chart Data'!$H$2:$H$3</c:f>
              <c:numCache>
                <c:formatCode>General</c:formatCode>
                <c:ptCount val="2"/>
                <c:pt idx="0">
                  <c:v>1.0529667184726601</c:v>
                </c:pt>
                <c:pt idx="1">
                  <c:v>0.91535908154921297</c:v>
                </c:pt>
              </c:numCache>
            </c:numRef>
          </c:yVal>
          <c:smooth val="1"/>
          <c:extLst>
            <c:ext xmlns:c16="http://schemas.microsoft.com/office/drawing/2014/chart" uri="{C3380CC4-5D6E-409C-BE32-E72D297353CC}">
              <c16:uniqueId val="{00000003-BD8E-424D-B19C-B1CAF72CC238}"/>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D8E-424D-B19C-B1CAF72CC238}"/>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-1.77330057559031</c:v>
                </c:pt>
              </c:numCache>
            </c:numRef>
          </c:xVal>
          <c:yVal>
            <c:numRef>
              <c:f>'Chart Data'!$L$2:$L$2</c:f>
              <c:numCache>
                <c:formatCode>General</c:formatCode>
                <c:ptCount val="1"/>
                <c:pt idx="0">
                  <c:v>0.91535908154921297</c:v>
                </c:pt>
              </c:numCache>
            </c:numRef>
          </c:yVal>
          <c:smooth val="1"/>
          <c:extLst>
            <c:ext xmlns:c16="http://schemas.microsoft.com/office/drawing/2014/chart" uri="{C3380CC4-5D6E-409C-BE32-E72D297353CC}">
              <c16:uniqueId val="{00000005-BD8E-424D-B19C-B1CAF72CC238}"/>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1.77330057559031</c:v>
                </c:pt>
              </c:numCache>
            </c:numRef>
          </c:xVal>
          <c:yVal>
            <c:numRef>
              <c:f>'Chart Data'!$N$2:$N$3</c:f>
              <c:numCache>
                <c:formatCode>General</c:formatCode>
                <c:ptCount val="2"/>
                <c:pt idx="0">
                  <c:v>3.0529667184726601</c:v>
                </c:pt>
                <c:pt idx="1">
                  <c:v>2.9153590815492101</c:v>
                </c:pt>
              </c:numCache>
            </c:numRef>
          </c:yVal>
          <c:smooth val="1"/>
          <c:extLst>
            <c:ext xmlns:c16="http://schemas.microsoft.com/office/drawing/2014/chart" uri="{C3380CC4-5D6E-409C-BE32-E72D297353CC}">
              <c16:uniqueId val="{00000006-BD8E-424D-B19C-B1CAF72CC238}"/>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D8E-424D-B19C-B1CAF72CC238}"/>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1.77330057559031</c:v>
                </c:pt>
              </c:numCache>
            </c:numRef>
          </c:xVal>
          <c:yVal>
            <c:numRef>
              <c:f>'Chart Data'!$R$2:$R$2</c:f>
              <c:numCache>
                <c:formatCode>General</c:formatCode>
                <c:ptCount val="1"/>
                <c:pt idx="0">
                  <c:v>2.9153590815492101</c:v>
                </c:pt>
              </c:numCache>
            </c:numRef>
          </c:yVal>
          <c:smooth val="1"/>
          <c:extLst>
            <c:ext xmlns:c16="http://schemas.microsoft.com/office/drawing/2014/chart" uri="{C3380CC4-5D6E-409C-BE32-E72D297353CC}">
              <c16:uniqueId val="{00000008-BD8E-424D-B19C-B1CAF72CC238}"/>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-1.77330057559031</c:v>
                </c:pt>
              </c:numCache>
            </c:numRef>
          </c:xVal>
          <c:yVal>
            <c:numRef>
              <c:f>'Chart Data'!$T$2:$T$2</c:f>
              <c:numCache>
                <c:formatCode>General</c:formatCode>
                <c:ptCount val="1"/>
                <c:pt idx="0">
                  <c:v>0.91535908154921297</c:v>
                </c:pt>
              </c:numCache>
            </c:numRef>
          </c:yVal>
          <c:smooth val="1"/>
          <c:extLst>
            <c:ext xmlns:c16="http://schemas.microsoft.com/office/drawing/2014/chart" uri="{C3380CC4-5D6E-409C-BE32-E72D297353CC}">
              <c16:uniqueId val="{00000009-BD8E-424D-B19C-B1CAF72CC238}"/>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1.77330057559031</c:v>
                </c:pt>
              </c:numCache>
            </c:numRef>
          </c:xVal>
          <c:yVal>
            <c:numRef>
              <c:f>'Chart Data'!$V$2:$V$2</c:f>
              <c:numCache>
                <c:formatCode>General</c:formatCode>
                <c:ptCount val="1"/>
                <c:pt idx="0">
                  <c:v>2.9153590815492101</c:v>
                </c:pt>
              </c:numCache>
            </c:numRef>
          </c:yVal>
          <c:smooth val="1"/>
          <c:extLst>
            <c:ext xmlns:c16="http://schemas.microsoft.com/office/drawing/2014/chart" uri="{C3380CC4-5D6E-409C-BE32-E72D297353CC}">
              <c16:uniqueId val="{0000000A-BD8E-424D-B19C-B1CAF72CC238}"/>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090A-4828-8432-730962B580B1}"/>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090A-4828-8432-730962B580B1}"/>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090A-4828-8432-730962B580B1}"/>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-1.77330057559031</c:v>
                </c:pt>
                <c:pt idx="2">
                  <c:v>-2.0028280816253501</c:v>
                </c:pt>
              </c:numCache>
            </c:numRef>
          </c:xVal>
          <c:yVal>
            <c:numRef>
              <c:f>'Chart Data'!$H$2:$H$4</c:f>
              <c:numCache>
                <c:formatCode>General</c:formatCode>
                <c:ptCount val="3"/>
                <c:pt idx="0">
                  <c:v>1.0529667184726601</c:v>
                </c:pt>
                <c:pt idx="1">
                  <c:v>0.91535908154921297</c:v>
                </c:pt>
                <c:pt idx="2">
                  <c:v>0.81899968631237396</c:v>
                </c:pt>
              </c:numCache>
            </c:numRef>
          </c:yVal>
          <c:smooth val="1"/>
          <c:extLst>
            <c:ext xmlns:c16="http://schemas.microsoft.com/office/drawing/2014/chart" uri="{C3380CC4-5D6E-409C-BE32-E72D297353CC}">
              <c16:uniqueId val="{00000003-090A-4828-8432-730962B580B1}"/>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090A-4828-8432-730962B580B1}"/>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-1.77330057559031</c:v>
                </c:pt>
                <c:pt idx="1">
                  <c:v>-2.0028280816253501</c:v>
                </c:pt>
              </c:numCache>
            </c:numRef>
          </c:xVal>
          <c:yVal>
            <c:numRef>
              <c:f>'Chart Data'!$L$2:$L$3</c:f>
              <c:numCache>
                <c:formatCode>General</c:formatCode>
                <c:ptCount val="2"/>
                <c:pt idx="0">
                  <c:v>0.91535908154921297</c:v>
                </c:pt>
                <c:pt idx="1">
                  <c:v>0.81899968631237396</c:v>
                </c:pt>
              </c:numCache>
            </c:numRef>
          </c:yVal>
          <c:smooth val="1"/>
          <c:extLst>
            <c:ext xmlns:c16="http://schemas.microsoft.com/office/drawing/2014/chart" uri="{C3380CC4-5D6E-409C-BE32-E72D297353CC}">
              <c16:uniqueId val="{00000005-090A-4828-8432-730962B580B1}"/>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1.77330057559031</c:v>
                </c:pt>
                <c:pt idx="2">
                  <c:v>2.0028280816253501</c:v>
                </c:pt>
              </c:numCache>
            </c:numRef>
          </c:xVal>
          <c:yVal>
            <c:numRef>
              <c:f>'Chart Data'!$N$2:$N$4</c:f>
              <c:numCache>
                <c:formatCode>General</c:formatCode>
                <c:ptCount val="3"/>
                <c:pt idx="0">
                  <c:v>3.0529667184726601</c:v>
                </c:pt>
                <c:pt idx="1">
                  <c:v>2.9153590815492101</c:v>
                </c:pt>
                <c:pt idx="2">
                  <c:v>2.8189996863123699</c:v>
                </c:pt>
              </c:numCache>
            </c:numRef>
          </c:yVal>
          <c:smooth val="1"/>
          <c:extLst>
            <c:ext xmlns:c16="http://schemas.microsoft.com/office/drawing/2014/chart" uri="{C3380CC4-5D6E-409C-BE32-E72D297353CC}">
              <c16:uniqueId val="{00000006-090A-4828-8432-730962B580B1}"/>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090A-4828-8432-730962B580B1}"/>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1.77330057559031</c:v>
                </c:pt>
                <c:pt idx="1">
                  <c:v>2.0028280816253501</c:v>
                </c:pt>
              </c:numCache>
            </c:numRef>
          </c:xVal>
          <c:yVal>
            <c:numRef>
              <c:f>'Chart Data'!$R$2:$R$3</c:f>
              <c:numCache>
                <c:formatCode>General</c:formatCode>
                <c:ptCount val="2"/>
                <c:pt idx="0">
                  <c:v>2.9153590815492101</c:v>
                </c:pt>
                <c:pt idx="1">
                  <c:v>2.8189996863123699</c:v>
                </c:pt>
              </c:numCache>
            </c:numRef>
          </c:yVal>
          <c:smooth val="1"/>
          <c:extLst>
            <c:ext xmlns:c16="http://schemas.microsoft.com/office/drawing/2014/chart" uri="{C3380CC4-5D6E-409C-BE32-E72D297353CC}">
              <c16:uniqueId val="{00000008-090A-4828-8432-730962B580B1}"/>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-2.0028280816253501</c:v>
                </c:pt>
              </c:numCache>
            </c:numRef>
          </c:xVal>
          <c:yVal>
            <c:numRef>
              <c:f>'Chart Data'!$T$2:$T$2</c:f>
              <c:numCache>
                <c:formatCode>General</c:formatCode>
                <c:ptCount val="1"/>
                <c:pt idx="0">
                  <c:v>0.81899968631237396</c:v>
                </c:pt>
              </c:numCache>
            </c:numRef>
          </c:yVal>
          <c:smooth val="1"/>
          <c:extLst>
            <c:ext xmlns:c16="http://schemas.microsoft.com/office/drawing/2014/chart" uri="{C3380CC4-5D6E-409C-BE32-E72D297353CC}">
              <c16:uniqueId val="{00000009-090A-4828-8432-730962B580B1}"/>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2.0028280816253501</c:v>
                </c:pt>
              </c:numCache>
            </c:numRef>
          </c:xVal>
          <c:yVal>
            <c:numRef>
              <c:f>'Chart Data'!$V$2:$V$2</c:f>
              <c:numCache>
                <c:formatCode>General</c:formatCode>
                <c:ptCount val="1"/>
                <c:pt idx="0">
                  <c:v>2.8189996863123699</c:v>
                </c:pt>
              </c:numCache>
            </c:numRef>
          </c:yVal>
          <c:smooth val="1"/>
          <c:extLst>
            <c:ext xmlns:c16="http://schemas.microsoft.com/office/drawing/2014/chart" uri="{C3380CC4-5D6E-409C-BE32-E72D297353CC}">
              <c16:uniqueId val="{0000000A-090A-4828-8432-730962B580B1}"/>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CAE-4D67-8089-F9F64FD45113}"/>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CAE-4D67-8089-F9F64FD45113}"/>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CAE-4D67-8089-F9F64FD45113}"/>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Data'!$H$2:$H$7</c:f>
              <c:numCache>
                <c:formatCode>General</c:formatCode>
                <c:ptCount val="6"/>
                <c:pt idx="0">
                  <c:v>1.0529667184726601</c:v>
                </c:pt>
                <c:pt idx="1">
                  <c:v>0.91535908154921297</c:v>
                </c:pt>
                <c:pt idx="2">
                  <c:v>0.81899968631237396</c:v>
                </c:pt>
                <c:pt idx="3">
                  <c:v>0.75336939836065198</c:v>
                </c:pt>
                <c:pt idx="4">
                  <c:v>0.70950513723730702</c:v>
                </c:pt>
                <c:pt idx="5">
                  <c:v>0.68055026965488097</c:v>
                </c:pt>
              </c:numCache>
            </c:numRef>
          </c:yVal>
          <c:smooth val="1"/>
          <c:extLst>
            <c:ext xmlns:c16="http://schemas.microsoft.com/office/drawing/2014/chart" uri="{C3380CC4-5D6E-409C-BE32-E72D297353CC}">
              <c16:uniqueId val="{00000003-BCAE-4D67-8089-F9F64FD45113}"/>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CAE-4D67-8089-F9F64FD45113}"/>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-1.77330057559031</c:v>
                </c:pt>
                <c:pt idx="1">
                  <c:v>-2.0028280816253501</c:v>
                </c:pt>
                <c:pt idx="2">
                  <c:v>-2.1927244854727701</c:v>
                </c:pt>
                <c:pt idx="3">
                  <c:v>-2.34822435115727</c:v>
                </c:pt>
                <c:pt idx="4">
                  <c:v>-2.47469633489384</c:v>
                </c:pt>
              </c:numCache>
            </c:numRef>
          </c:xVal>
          <c:yVal>
            <c:numRef>
              <c:f>'Chart Data'!$L$2:$L$6</c:f>
              <c:numCache>
                <c:formatCode>General</c:formatCode>
                <c:ptCount val="5"/>
                <c:pt idx="0">
                  <c:v>0.91535908154921297</c:v>
                </c:pt>
                <c:pt idx="1">
                  <c:v>0.81899968631237396</c:v>
                </c:pt>
                <c:pt idx="2">
                  <c:v>0.75336939836065198</c:v>
                </c:pt>
                <c:pt idx="3">
                  <c:v>0.70950513723730702</c:v>
                </c:pt>
                <c:pt idx="4">
                  <c:v>0.68055026965488097</c:v>
                </c:pt>
              </c:numCache>
            </c:numRef>
          </c:yVal>
          <c:smooth val="1"/>
          <c:extLst>
            <c:ext xmlns:c16="http://schemas.microsoft.com/office/drawing/2014/chart" uri="{C3380CC4-5D6E-409C-BE32-E72D297353CC}">
              <c16:uniqueId val="{00000005-BCAE-4D67-8089-F9F64FD45113}"/>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Data'!$N$2:$N$7</c:f>
              <c:numCache>
                <c:formatCode>General</c:formatCode>
                <c:ptCount val="6"/>
                <c:pt idx="0">
                  <c:v>3.0529667184726601</c:v>
                </c:pt>
                <c:pt idx="1">
                  <c:v>2.9153590815492101</c:v>
                </c:pt>
                <c:pt idx="2">
                  <c:v>2.8189996863123699</c:v>
                </c:pt>
                <c:pt idx="3">
                  <c:v>2.75336939836065</c:v>
                </c:pt>
                <c:pt idx="4">
                  <c:v>2.70950513723731</c:v>
                </c:pt>
                <c:pt idx="5">
                  <c:v>2.68055026965488</c:v>
                </c:pt>
              </c:numCache>
            </c:numRef>
          </c:yVal>
          <c:smooth val="1"/>
          <c:extLst>
            <c:ext xmlns:c16="http://schemas.microsoft.com/office/drawing/2014/chart" uri="{C3380CC4-5D6E-409C-BE32-E72D297353CC}">
              <c16:uniqueId val="{00000006-BCAE-4D67-8089-F9F64FD45113}"/>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CAE-4D67-8089-F9F64FD45113}"/>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1.77330057559031</c:v>
                </c:pt>
                <c:pt idx="1">
                  <c:v>2.0028280816253501</c:v>
                </c:pt>
                <c:pt idx="2">
                  <c:v>2.1927244854727701</c:v>
                </c:pt>
                <c:pt idx="3">
                  <c:v>2.34822435115727</c:v>
                </c:pt>
                <c:pt idx="4">
                  <c:v>2.47469633489384</c:v>
                </c:pt>
              </c:numCache>
            </c:numRef>
          </c:xVal>
          <c:yVal>
            <c:numRef>
              <c:f>'Chart Data'!$R$2:$R$6</c:f>
              <c:numCache>
                <c:formatCode>General</c:formatCode>
                <c:ptCount val="5"/>
                <c:pt idx="0">
                  <c:v>2.9153590815492101</c:v>
                </c:pt>
                <c:pt idx="1">
                  <c:v>2.8189996863123699</c:v>
                </c:pt>
                <c:pt idx="2">
                  <c:v>2.75336939836065</c:v>
                </c:pt>
                <c:pt idx="3">
                  <c:v>2.70950513723731</c:v>
                </c:pt>
                <c:pt idx="4">
                  <c:v>2.68055026965488</c:v>
                </c:pt>
              </c:numCache>
            </c:numRef>
          </c:yVal>
          <c:smooth val="1"/>
          <c:extLst>
            <c:ext xmlns:c16="http://schemas.microsoft.com/office/drawing/2014/chart" uri="{C3380CC4-5D6E-409C-BE32-E72D297353CC}">
              <c16:uniqueId val="{00000008-BCAE-4D67-8089-F9F64FD45113}"/>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-2.47469633489384</c:v>
                </c:pt>
              </c:numCache>
            </c:numRef>
          </c:xVal>
          <c:yVal>
            <c:numRef>
              <c:f>'Chart Data'!$T$2:$T$2</c:f>
              <c:numCache>
                <c:formatCode>General</c:formatCode>
                <c:ptCount val="1"/>
                <c:pt idx="0">
                  <c:v>0.68055026965488097</c:v>
                </c:pt>
              </c:numCache>
            </c:numRef>
          </c:yVal>
          <c:smooth val="1"/>
          <c:extLst>
            <c:ext xmlns:c16="http://schemas.microsoft.com/office/drawing/2014/chart" uri="{C3380CC4-5D6E-409C-BE32-E72D297353CC}">
              <c16:uniqueId val="{00000009-BCAE-4D67-8089-F9F64FD45113}"/>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2.47469633489384</c:v>
                </c:pt>
              </c:numCache>
            </c:numRef>
          </c:xVal>
          <c:yVal>
            <c:numRef>
              <c:f>'Chart Data'!$V$2:$V$2</c:f>
              <c:numCache>
                <c:formatCode>General</c:formatCode>
                <c:ptCount val="1"/>
                <c:pt idx="0">
                  <c:v>2.68055026965488</c:v>
                </c:pt>
              </c:numCache>
            </c:numRef>
          </c:yVal>
          <c:smooth val="1"/>
          <c:extLst>
            <c:ext xmlns:c16="http://schemas.microsoft.com/office/drawing/2014/chart" uri="{C3380CC4-5D6E-409C-BE32-E72D297353CC}">
              <c16:uniqueId val="{0000000A-BCAE-4D67-8089-F9F64FD45113}"/>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DAFA-488F-A6AD-C0CC66373C82}"/>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DAFA-488F-A6AD-C0CC66373C82}"/>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DAFA-488F-A6AD-C0CC66373C82}"/>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Data'!$H$2:$H$12</c:f>
              <c:numCache>
                <c:formatCode>General</c:formatCode>
                <c:ptCount val="1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numCache>
            </c:numRef>
          </c:yVal>
          <c:smooth val="1"/>
          <c:extLst>
            <c:ext xmlns:c16="http://schemas.microsoft.com/office/drawing/2014/chart" uri="{C3380CC4-5D6E-409C-BE32-E72D297353CC}">
              <c16:uniqueId val="{00000003-DAFA-488F-A6AD-C0CC66373C82}"/>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DAFA-488F-A6AD-C0CC66373C82}"/>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Data'!$L$2:$L$11</c:f>
              <c:numCache>
                <c:formatCode>General</c:formatCode>
                <c:ptCount val="1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numCache>
            </c:numRef>
          </c:yVal>
          <c:smooth val="1"/>
          <c:extLst>
            <c:ext xmlns:c16="http://schemas.microsoft.com/office/drawing/2014/chart" uri="{C3380CC4-5D6E-409C-BE32-E72D297353CC}">
              <c16:uniqueId val="{00000005-DAFA-488F-A6AD-C0CC66373C82}"/>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Data'!$N$2:$N$12</c:f>
              <c:numCache>
                <c:formatCode>General</c:formatCode>
                <c:ptCount val="1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numCache>
            </c:numRef>
          </c:yVal>
          <c:smooth val="1"/>
          <c:extLst>
            <c:ext xmlns:c16="http://schemas.microsoft.com/office/drawing/2014/chart" uri="{C3380CC4-5D6E-409C-BE32-E72D297353CC}">
              <c16:uniqueId val="{00000006-DAFA-488F-A6AD-C0CC66373C82}"/>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DAFA-488F-A6AD-C0CC66373C82}"/>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Data'!$R$2:$R$11</c:f>
              <c:numCache>
                <c:formatCode>General</c:formatCode>
                <c:ptCount val="1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numCache>
            </c:numRef>
          </c:yVal>
          <c:smooth val="1"/>
          <c:extLst>
            <c:ext xmlns:c16="http://schemas.microsoft.com/office/drawing/2014/chart" uri="{C3380CC4-5D6E-409C-BE32-E72D297353CC}">
              <c16:uniqueId val="{00000008-DAFA-488F-A6AD-C0CC66373C82}"/>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-2.82328571770543</c:v>
                </c:pt>
              </c:numCache>
            </c:numRef>
          </c:xVal>
          <c:yVal>
            <c:numRef>
              <c:f>'Chart Data'!$T$2:$T$2</c:f>
              <c:numCache>
                <c:formatCode>General</c:formatCode>
                <c:ptCount val="1"/>
                <c:pt idx="0">
                  <c:v>0.63266028517605</c:v>
                </c:pt>
              </c:numCache>
            </c:numRef>
          </c:yVal>
          <c:smooth val="1"/>
          <c:extLst>
            <c:ext xmlns:c16="http://schemas.microsoft.com/office/drawing/2014/chart" uri="{C3380CC4-5D6E-409C-BE32-E72D297353CC}">
              <c16:uniqueId val="{00000009-DAFA-488F-A6AD-C0CC66373C82}"/>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2.82328571770543</c:v>
                </c:pt>
              </c:numCache>
            </c:numRef>
          </c:xVal>
          <c:yVal>
            <c:numRef>
              <c:f>'Chart Data'!$V$2:$V$2</c:f>
              <c:numCache>
                <c:formatCode>General</c:formatCode>
                <c:ptCount val="1"/>
                <c:pt idx="0">
                  <c:v>2.6326602851760499</c:v>
                </c:pt>
              </c:numCache>
            </c:numRef>
          </c:yVal>
          <c:smooth val="1"/>
          <c:extLst>
            <c:ext xmlns:c16="http://schemas.microsoft.com/office/drawing/2014/chart" uri="{C3380CC4-5D6E-409C-BE32-E72D297353CC}">
              <c16:uniqueId val="{0000000A-DAFA-488F-A6AD-C0CC66373C82}"/>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A866-4D36-ADE2-721E6E84D79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A866-4D36-ADE2-721E6E84D79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A866-4D36-ADE2-721E6E84D790}"/>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Data'!$H$2:$H$22</c:f>
              <c:numCache>
                <c:formatCode>General</c:formatCode>
                <c:ptCount val="2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pt idx="11">
                  <c:v>0.63048681114118998</c:v>
                </c:pt>
                <c:pt idx="12">
                  <c:v>0.62908253657515101</c:v>
                </c:pt>
                <c:pt idx="13">
                  <c:v>0.62817557055110596</c:v>
                </c:pt>
                <c:pt idx="14">
                  <c:v>0.62758993458416101</c:v>
                </c:pt>
                <c:pt idx="15">
                  <c:v>0.627211841705685</c:v>
                </c:pt>
                <c:pt idx="16">
                  <c:v>0.62696776479785599</c:v>
                </c:pt>
                <c:pt idx="17">
                  <c:v>0.62681021152666105</c:v>
                </c:pt>
                <c:pt idx="18">
                  <c:v>0.62670851398994898</c:v>
                </c:pt>
                <c:pt idx="19">
                  <c:v>0.62664287195968604</c:v>
                </c:pt>
                <c:pt idx="20">
                  <c:v>0.62660050315668403</c:v>
                </c:pt>
              </c:numCache>
            </c:numRef>
          </c:yVal>
          <c:smooth val="1"/>
          <c:extLst>
            <c:ext xmlns:c16="http://schemas.microsoft.com/office/drawing/2014/chart" uri="{C3380CC4-5D6E-409C-BE32-E72D297353CC}">
              <c16:uniqueId val="{00000003-A866-4D36-ADE2-721E6E84D790}"/>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A866-4D36-ADE2-721E6E84D790}"/>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Data'!$L$2:$L$21</c:f>
              <c:numCache>
                <c:formatCode>General</c:formatCode>
                <c:ptCount val="2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pt idx="10">
                  <c:v>0.63048681114118998</c:v>
                </c:pt>
                <c:pt idx="11">
                  <c:v>0.62908253657515101</c:v>
                </c:pt>
                <c:pt idx="12">
                  <c:v>0.62817557055110596</c:v>
                </c:pt>
                <c:pt idx="13">
                  <c:v>0.62758993458416101</c:v>
                </c:pt>
                <c:pt idx="14">
                  <c:v>0.627211841705685</c:v>
                </c:pt>
                <c:pt idx="15">
                  <c:v>0.62696776479785599</c:v>
                </c:pt>
                <c:pt idx="16">
                  <c:v>0.62681021152666105</c:v>
                </c:pt>
                <c:pt idx="17">
                  <c:v>0.62670851398994898</c:v>
                </c:pt>
                <c:pt idx="18">
                  <c:v>0.62664287195968604</c:v>
                </c:pt>
                <c:pt idx="19">
                  <c:v>0.62660050315668403</c:v>
                </c:pt>
              </c:numCache>
            </c:numRef>
          </c:yVal>
          <c:smooth val="1"/>
          <c:extLst>
            <c:ext xmlns:c16="http://schemas.microsoft.com/office/drawing/2014/chart" uri="{C3380CC4-5D6E-409C-BE32-E72D297353CC}">
              <c16:uniqueId val="{00000005-A866-4D36-ADE2-721E6E84D790}"/>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Data'!$N$2:$N$22</c:f>
              <c:numCache>
                <c:formatCode>General</c:formatCode>
                <c:ptCount val="2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pt idx="11">
                  <c:v>2.6304868111411901</c:v>
                </c:pt>
                <c:pt idx="12">
                  <c:v>2.62908253657515</c:v>
                </c:pt>
                <c:pt idx="13">
                  <c:v>2.6281755705511101</c:v>
                </c:pt>
                <c:pt idx="14">
                  <c:v>2.6275899345841598</c:v>
                </c:pt>
                <c:pt idx="15">
                  <c:v>2.6272118417056798</c:v>
                </c:pt>
                <c:pt idx="16">
                  <c:v>2.6269677647978602</c:v>
                </c:pt>
                <c:pt idx="17">
                  <c:v>2.6268102115266601</c:v>
                </c:pt>
                <c:pt idx="18">
                  <c:v>2.62670851398995</c:v>
                </c:pt>
                <c:pt idx="19">
                  <c:v>2.6266428719596902</c:v>
                </c:pt>
                <c:pt idx="20">
                  <c:v>2.6266005031566801</c:v>
                </c:pt>
              </c:numCache>
            </c:numRef>
          </c:yVal>
          <c:smooth val="1"/>
          <c:extLst>
            <c:ext xmlns:c16="http://schemas.microsoft.com/office/drawing/2014/chart" uri="{C3380CC4-5D6E-409C-BE32-E72D297353CC}">
              <c16:uniqueId val="{00000006-A866-4D36-ADE2-721E6E84D790}"/>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A866-4D36-ADE2-721E6E84D790}"/>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Data'!$R$2:$R$21</c:f>
              <c:numCache>
                <c:formatCode>General</c:formatCode>
                <c:ptCount val="2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pt idx="10">
                  <c:v>2.6304868111411901</c:v>
                </c:pt>
                <c:pt idx="11">
                  <c:v>2.62908253657515</c:v>
                </c:pt>
                <c:pt idx="12">
                  <c:v>2.6281755705511101</c:v>
                </c:pt>
                <c:pt idx="13">
                  <c:v>2.6275899345841598</c:v>
                </c:pt>
                <c:pt idx="14">
                  <c:v>2.6272118417056798</c:v>
                </c:pt>
                <c:pt idx="15">
                  <c:v>2.6269677647978602</c:v>
                </c:pt>
                <c:pt idx="16">
                  <c:v>2.6268102115266601</c:v>
                </c:pt>
                <c:pt idx="17">
                  <c:v>2.62670851398995</c:v>
                </c:pt>
                <c:pt idx="18">
                  <c:v>2.6266428719596902</c:v>
                </c:pt>
                <c:pt idx="19">
                  <c:v>2.6266005031566801</c:v>
                </c:pt>
              </c:numCache>
            </c:numRef>
          </c:yVal>
          <c:smooth val="1"/>
          <c:extLst>
            <c:ext xmlns:c16="http://schemas.microsoft.com/office/drawing/2014/chart" uri="{C3380CC4-5D6E-409C-BE32-E72D297353CC}">
              <c16:uniqueId val="{00000008-A866-4D36-ADE2-721E6E84D790}"/>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-2.9801937292217602</c:v>
                </c:pt>
              </c:numCache>
            </c:numRef>
          </c:xVal>
          <c:yVal>
            <c:numRef>
              <c:f>'Chart Data'!$T$2:$T$2</c:f>
              <c:numCache>
                <c:formatCode>General</c:formatCode>
                <c:ptCount val="1"/>
                <c:pt idx="0">
                  <c:v>0.62660050315668403</c:v>
                </c:pt>
              </c:numCache>
            </c:numRef>
          </c:yVal>
          <c:smooth val="1"/>
          <c:extLst>
            <c:ext xmlns:c16="http://schemas.microsoft.com/office/drawing/2014/chart" uri="{C3380CC4-5D6E-409C-BE32-E72D297353CC}">
              <c16:uniqueId val="{00000009-A866-4D36-ADE2-721E6E84D790}"/>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2.9801937292217602</c:v>
                </c:pt>
              </c:numCache>
            </c:numRef>
          </c:xVal>
          <c:yVal>
            <c:numRef>
              <c:f>'Chart Data'!$V$2:$V$2</c:f>
              <c:numCache>
                <c:formatCode>General</c:formatCode>
                <c:ptCount val="1"/>
                <c:pt idx="0">
                  <c:v>2.6266005031566801</c:v>
                </c:pt>
              </c:numCache>
            </c:numRef>
          </c:yVal>
          <c:smooth val="1"/>
          <c:extLst>
            <c:ext xmlns:c16="http://schemas.microsoft.com/office/drawing/2014/chart" uri="{C3380CC4-5D6E-409C-BE32-E72D297353CC}">
              <c16:uniqueId val="{0000000A-A866-4D36-ADE2-721E6E84D79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Lecture 4. The cover follows the established University of Bristol design.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1: Affine layers and activation functions. Introduce the four parts of the lecture, then begin with affine layers and activation functions.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Recall the end of Lecture 2. The feature functions are fixed even though the predictor is nonlinear in x. The coefficients are what training changes.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Preview only. We will define the feature functions concretely using affine transformations and ReLU. All feature values form a row, while scalar-output weights form a column.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first attempt, not yet the final neural-network feature construction. Each column of W and one bias define one feature. All entries of W and b are adjustable. We retain the input notation x from the previous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has weight w1=2 and bias b1=1. The output has weight w2=3 and bias b2=-4. Substitution gives the identical predictor f(x)=6x-1 for every input x. The equivalent direct model has weight w_tilde=w2*w1=6 and bias b_tilde=w2*b1+b2=-1. This is an exact equivalence of functions, not an approximation or a statement about fitted values on a particular dataset.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parameters are W of size d by m and the row b of length m. The output uses the m by 1 weight column w_out and scalar bias b_out. The equivalent direct weight column is w_tilde=W*w_out, of size d by 1. The equivalent scalar bias is b_tilde=b*w_out+b_out. Hence f(x)=x*w_tilde+b_tilde for every input x. This is the same identification made numerically on the preceding slide. For vector outputs, replace the output weight column by a matrix and the bias scalar by a row: composition is still affine. Combining successive stages two at a time therefore proves that any finite sequence of affine transformations is affine. Additional affine stages alone cannot produce nonlinear predictors.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Rectified linear unit. Scalar input and scalar output. Emphasise continuity and the change of slope at zero; differentiation comes at the end.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2: Neural networks and the forward pass.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compute only xW=(-1,2,1). The input row x, hidden weight matrix W and hidden bias row b remain visible above the diagram. Both preactivations and activations are deliberately left as question marks. The six edge labels are W11=1, W21=-1, W12=2, W22=0, W13=-1, W23=1.</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every diagram element and parameter in the same position. Add b=(0,1,0) to the weighted sums (-1,2,1). The preactivation question marks become -1,3,1. The activation values are still unknown.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the previous calculations visible and all elements in fixed positions. Apply ReLU to the preactivations (-1,3,1). The activation question marks become 0,3,1. These are the values used by the output layer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hidden activations 0,3,1. Multiply them by output weights 2,-1,1/2 and add: the weighted sum is -5/2. Add b_out=-1 to obtain -7/2=-3.5. The output is affine: no ReLU is applied here.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unit, also called a neuron, computes one scalar feature value by forming a weighted sum, adding its bias and applying an activation function. Here the activation function is ReLU. Each complete horizontal row represents one hidden unit, with successive intermediate values. The three diagram columns are not three different layers.</a:t>
            </a:r>
          </a:p>
          <a:p>
            <a:r>
              <a:t>One hidden layer of width three, with two input coordinates. Follow each horizontal row: the weighted sum, addition of the bias, then ReLU. The three columns are successive values within the same unit, not three layers. Here j identifies a hidden unit. No layer subscript is needed. The output calculation is introduced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08161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0.4 min.</a:t>
            </a:r>
          </a:p>
          <a:p>
            <a:r>
              <a:t>The highlighted horizontal row is one hidden neuron. Follow its weighted sum, the addition of its own bias, its preactivation, and the scalar ReLU that produces its activation. The three displayed values belong to one calculation, not three neurons or three layers.</a:t>
            </a:r>
          </a:p>
          <a:p>
            <a:r>
              <a:t>The other two rows are two further neurons in the same hidden layer. The input coordinates are shared; each neuron has its own weights and bias. The output phi_1(x) is the value produced by the highlighted neuron.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0.8 min.</a:t>
            </a:r>
          </a:p>
          <a:p>
            <a:r>
              <a:t>The three middle circles contain the activations produced by the three hidden neurons described on the preceding slides. Each circle summarises the weighted sum, bias and ReLU calculation for one neuron. They are not a new set of hidden neurons.</a:t>
            </a:r>
          </a:p>
          <a:p>
            <a:r>
              <a:t>For a scalar output, combine the three activations using one output weight per neuron, then add the output bias. The output weights form a 3 by 1 column. The displayed sum is the component form of the row-times-column product. The affine output here does not apply another ReLU.</a:t>
            </a:r>
          </a:p>
          <a:p>
            <a:r>
              <a:t>The next slides evaluate a numerical example, starting with the hidden weighted sums. The numerical output weights and bias appear when computing the final output.</a:t>
            </a:r>
          </a:p>
          <a:p>
            <a:r>
              <a:t>Source: SEMTM0051_week4_neural_networks_generalisation.tex, one hidden layer and the forward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layer groups units receiving the same input row. Its width m is the number of these units. In the preceding example, the width is three. The input has d coordinates and the output has q coordinates.</a:t>
            </a:r>
          </a:p>
          <a:p>
            <a:r>
              <a:t>Collect the scalar preactivation functions a_j into the row-valued function a, and the scalar feature functions phi_j into the row-valued feature map phi. W and b are hidden parameters; W_out and b_out are output parameters. There is one hidden layer, so a and phi have no layer subscript. Theta collects all parameter entries in a fixed order. For q=1, W_out is a column and b_out is a scalar.</a:t>
            </a:r>
          </a:p>
          <a:p>
            <a:r>
              <a:t>Source: SEMTM0051_week4_neural_networks_generalisation.tex.</a:t>
            </a:r>
          </a:p>
          <a:p>
            <a:r>
              <a:t>This slide formalises the calculations just completed. The numerical example had two input coordinates, three hidden neurons and one output, so d=2, m=3 and q=1. We now collect preactivations and activations into rows, define ReLU on a row component by component, and collect all adjustable coefficients into theta. The notation also permits several outputs.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example changes only the first hidden neuron from the numerical forward pass. Originally W11=1, W21=-1 and b1=0. Illustratively change these parameters to W11=1, W21=1 and b1=-1. This is not a computed gradient-descent update. The other hidden neurons and the output parameters stay fixed.</a:t>
            </a:r>
          </a:p>
          <a:p>
            <a:r>
              <a:t>The two plots show the scalar value of the first feature on the input plane. Both axes cover [0,3], with equal aspect ratio, and both maps use the same continuous colour scale from 0 to 5. The original feature ranges from 0 to 3 on this domain, and the changed feature ranges from 0 to 5. White regions have activation zero, as explained in the shared legend. These are activation regions, not predicted classes.</a:t>
            </a:r>
          </a:p>
          <a:p>
            <a:r>
              <a:t>The original boundary is x1-x2=0 and the active side is x1&gt;x2. The changed boundary is x1+x2-1=0 and the active side is x1+x2&gt;1. Changing the weights alters the orientation, while the bias affects the offset. The weight norm is unchanged in this particular comparison.</a:t>
            </a:r>
          </a:p>
          <a:p>
            <a:r>
              <a:t>The same input (1,2) is marked strictly inside both plots. The original first feature gives ReLU(1-2)=0, whereas the changed first feature gives ReLU(1+2-1)=2. The comparison uses only this neuron, so no other activation values need to be recalled. Changing the hidden parameters changes the feature function and hence its value at the same input.</a:t>
            </a:r>
          </a:p>
          <a:p>
            <a:r>
              <a:t>Source: Week 4 neural network notes, the one-hidden-layer forward-pass example and discussion of learned features. The parameter perturbation is an elementary illustration extending that example.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introduce a layer index r. Bold phi_r maps the original input to the whole row of activations at hidden layer r; phi_{r,j} is its j-th scalar component. Square brackets followed by j select that component. The earlier phi_j becomes phi_{1,j}; the earlier hidden parameters W,b become W_1,b_1. Output parameters W_out,b_out become W_L,b_L. Depth L counts affine layers, including the output but excluding the input. In the pictured example L=3 and the widths are 2,5,7,3. Define phi_0(x)=x to write the recursion uniformly. ReLU applies coordinatewise.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Ask for the size of W2 before the table. Explain the count as edges plus biases. A network architecture determines the number and shapes of parameters before they are fitted.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is the same loss choice as Lectures 2 and 3. Only the family of score functions has changed. The logistic empirical loss is a sum, with no 1/N factor.</a:t>
            </a:r>
          </a:p>
          <a:p>
            <a:r>
              <a:t>Source: SEMTM0051_week4_neural_networks_generalisation.tex, lecture notes by Roberto Colomboni.</a:t>
            </a:r>
          </a:p>
          <a:p>
            <a:r>
              <a:t>Convention: the Heaviside step function is 0 for s&lt;=0 and 1 for s&gt;0, including step(0)=0. Thus h(x)=step(f_theta(x)): class 1 requires p_theta(x)&gt;1/2, equivalently a strictly positive score. Probability 1/2 or score zero gives class 0, the smaller binary class index.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Recall Softmax for a full row of probabilities from Lecture 3. The component formula makes the normalization explicit. Argmax gives the set of indices with maximal probability. The outer min selects the smallest class index in a tie. This agrees with choosing class 0 in the binary case when both labels have probability 1/2.</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3: What neural networks can represent.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Show the complete target before constructing it. It is zero before x=0, rises to one at x=1, falls to zero at x=2, and stays zero afterwards. A single affine function cannot reproduce these changes of slope.</a:t>
            </a:r>
          </a:p>
          <a:p>
            <a:r>
              <a:t>We could choose this as a fixed feature, as in Lecture 2. Here we will construct it using ReLU units with adjustable weights and biases. In this example we choose the parameters by hand to make their roles visible. This establishes representational capacity; it does not show that training will find the parameters.</a:t>
            </a:r>
          </a:p>
          <a:p>
            <a:r>
              <a:t>Source: SEMTM0051_week4_neural_networks_generalisation.tex, What the hidden layers can represent and Three ReLUs can form a triangular function.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The third hidden unit computes ReLU(x-2). Its output weight is +1, so it adds a slope of +1 after x=2 and cancels the previous slope of -1. The combined output is zero before x=0, rises to one at x=1, falls to zero at x=2 and remains zero afterwards. This completes the sequence of one, two and three hidden units.</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0.6 min.</a:t>
            </a:r>
          </a:p>
          <a:p>
            <a:r>
              <a:t>The triangular predictor uses one scalar input and one hidden layer of width three. The hidden weight row W=(1,1,1) and bias row b=(0,-1,-2) give the feature values ReLU(x), ReLU(x-1) and ReLU(x-2). The output weight column is (1,-2,1)^T and the output bias is zero. These parameters reproduce the completed triangular function on the preceding slide.</a:t>
            </a:r>
          </a:p>
          <a:p>
            <a:r>
              <a:t>Source: SEMTM0051_week4_neural_networks_generalisation.tex.</a:t>
            </a:r>
          </a:p>
          <a:p>
            <a:r>
              <a:t>The explicit parameters control the construction: hidden biases set the breakpoints, and the output weights change the slopes. These parameters can be fitted to data instead of chosen by hand. Adjusting arbitrary individual parameters need not preserve an exact tent shape.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Only four observations. This example asks whether an affine score can correctly classify these data using the same threshold convention as Lecture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1.7 min.</a:t>
            </a:r>
          </a:p>
          <a:p>
            <a:r>
              <a:t>Use h=0 at score zero. The class 0 observations require b&lt;=0 and b+w1+w2&lt;=0. The class 1 observations require b+w1&gt;0 and b+w2&gt;0. Adding each pair gives 2b+w1+w2&lt;=0 and 2b+w1+w2&gt;0, which contradict each other. This proof is short enough for the slide.</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Use phi without a layer subscript in this standalone example. The table evaluates every observation. All four labels are correct, but sigmoid probabilities are only about .378 or .622. Correct classification is not zero logistic loss.</a:t>
            </a:r>
          </a:p>
          <a:p>
            <a:r>
              <a:t>Source: SEMTM0051_week4_neural_networks_generalisation.tex, lecture notes by Roberto Colomboni.</a:t>
            </a:r>
          </a:p>
          <a:p>
            <a:r>
              <a:t>The binary rule is h(x)=1 only when f(x)&gt;0, and h(x)=0 when f(x)&lt;=0. All scores in this table are +0.5 or -0.5, so the predictions are unchanged by the convention at zero.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2.1 min.</a:t>
            </a:r>
          </a:p>
          <a:p>
            <a:r>
              <a:t>The input plane has two boundary lines. The feature plane needs one line. Both class 0 inputs map exactly to (0,0); this intentional collision is labelled, not jittered. Coordinates in the right plot are feature values.</a:t>
            </a:r>
          </a:p>
          <a:p>
            <a:r>
              <a:t>Source: SEMTM0051_week4_neural_networks_generalisation.tex, lecture notes by Roberto Colomboni.</a:t>
            </a:r>
          </a:p>
          <a:p>
            <a:r>
              <a:t>The output is affine in the hidden feature values. Since those features are nonlinear functions of the original input, the corresponding decision boundary in input space need not be a single straight line. The figure shows this directly. A suitable fixed feature expansion could also solve XOR; this example illustrates the network construction and the change of geometry.</a:t>
            </a:r>
          </a:p>
          <a:p>
            <a:r>
              <a:t>Boundary convention: points with |x1-x2|=1/2, equivalently phi1(x)+phi2(x)=1/2, have output score zero and receive class 0. Class 1 requires strict inequality &gt;1/2. The boundary locations and the four plotted observations are unchanged.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4: Fitting neural networks and local minima.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Use a generic per-observation loss: squared for regression or a classification loss applied after the appropriate probability link. All current derivatives are computed before updating parameters.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This is a restricted family. Hidden biases are tied to the same scalar with opposite signs. Do not claim that the local minima remain local minima when all weights and biases are released. Horizontal axis of this graph is x, not theta.</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1.4 min.</a:t>
            </a:r>
          </a:p>
          <a:p>
            <a:r>
              <a:t>Now the horizontal axis is the adjustable parameter theta. The data points are fixed. Derive the first piece orally if time permits; the notes contain every interval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At -3 the squared loss is zero and therefore globally minimal. At +3 the loss increases for small nonzero moves but is larger than at -3: a strict local minimum in this restricted family. Zero derivative alone does not distinguish them.</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The same scalar network gives a sigmoid probability. Natural logarithms. Global loss 2log(1+exp(-1))=.626523375, local loss 2log(1+exp(1))=2.626523375. Both stationary. Predictions reverse at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eta=.05.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These are practical heuristics in a general application. Different initialisations compare training fits; validation data assess generalisation. Minibatches use a randomly selected subset instead of all observations, so their gradient need not vanish where the full gradient does. Momentum accumulates information from past gradients and can reinforce consistent update directions. Adam combines a moving average of gradients with adaptive parameter-wise scaling based on squared gradients. These choices change the optimisation trajectory without guaranteeing escape from every local minimum.</a:t>
            </a:r>
          </a:p>
          <a:p>
            <a:r>
              <a:t>Width result: Quynh Nguyen (2019), On Connected Sublevel Sets in Deep Learning, ICML, Theorem 6.1. For fully connected ReLU networks, distinct training inputs, a loss convex in the network outputs, and every hidden layer of width at least N (the number of training inputs), the loss has no bad local valleys. For one hidden layer this condition is m &gt;= N. This concerns the geometry of the training loss and is not a theorem guaranteeing convergence of gradient descent. Non-strict suboptimal local minima on flat regions can remain. https://proceedings.mlr.press/v97/nguyen19a/nguyen19a.pdf</a:t>
            </a:r>
          </a:p>
          <a:p>
            <a:r>
              <a:t>Momentum reference: Sutskever et al. (2013), On the importance of initialization and momentum in deep learning. https://proceedings.mlr.press/v28/sutskever13.pdf. Adam reference: Kingma and Ba (2015), Adam: A Method for Stochastic Optimization. https://arxiv.org/abs/1412.6980.</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Gradient descent needs the loss gradient with respect to all network parameters. As in logistic regression, differentiating the loss requires following a composition of functions. Each network layer applies an affine transformation and an activation function, and the loss acts on the final prediction. The chain rule connects these operations. Backpropagation organises the calculation efficiently by reusing intermediate derivatives in a backward pass. Lecture 5 develops that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lecture notes on the course GitHub page give further detail and exercises. Exercise solutions are posted before the next lecture. The hyperlink and QR code both lead to the course repository.</a:t>
            </a:r>
          </a:p>
          <a:p>
            <a:r>
              <a:t>Course materials: https://github.com/semtm0051/2026_27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80.png"/></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0.png"/><Relationship Id="rId4" Type="http://schemas.openxmlformats.org/officeDocument/2006/relationships/image" Target="../media/image22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272.png"/><Relationship Id="rId18" Type="http://schemas.openxmlformats.org/officeDocument/2006/relationships/image" Target="../media/image710.png"/><Relationship Id="rId26" Type="http://schemas.openxmlformats.org/officeDocument/2006/relationships/image" Target="../media/image28.png"/><Relationship Id="rId3" Type="http://schemas.openxmlformats.org/officeDocument/2006/relationships/image" Target="../media/image25.png"/><Relationship Id="rId21" Type="http://schemas.openxmlformats.org/officeDocument/2006/relationships/image" Target="../media/image740.png"/><Relationship Id="rId7" Type="http://schemas.openxmlformats.org/officeDocument/2006/relationships/image" Target="../media/image600.png"/><Relationship Id="rId12" Type="http://schemas.openxmlformats.org/officeDocument/2006/relationships/image" Target="../media/image261.png"/><Relationship Id="rId17" Type="http://schemas.openxmlformats.org/officeDocument/2006/relationships/image" Target="../media/image700.png"/><Relationship Id="rId25" Type="http://schemas.openxmlformats.org/officeDocument/2006/relationships/image" Target="../media/image780.png"/><Relationship Id="rId2" Type="http://schemas.openxmlformats.org/officeDocument/2006/relationships/notesSlide" Target="../notesSlides/notesSlide10.xml"/><Relationship Id="rId16" Type="http://schemas.openxmlformats.org/officeDocument/2006/relationships/image" Target="../media/image690.png"/><Relationship Id="rId20" Type="http://schemas.openxmlformats.org/officeDocument/2006/relationships/image" Target="../media/image730.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770.png"/><Relationship Id="rId5" Type="http://schemas.openxmlformats.org/officeDocument/2006/relationships/image" Target="../media/image27.png"/><Relationship Id="rId15" Type="http://schemas.openxmlformats.org/officeDocument/2006/relationships/image" Target="../media/image681.png"/><Relationship Id="rId23" Type="http://schemas.openxmlformats.org/officeDocument/2006/relationships/image" Target="../media/image760.png"/><Relationship Id="rId10" Type="http://schemas.openxmlformats.org/officeDocument/2006/relationships/image" Target="../media/image630.png"/><Relationship Id="rId19" Type="http://schemas.openxmlformats.org/officeDocument/2006/relationships/image" Target="../media/image720.png"/><Relationship Id="rId4" Type="http://schemas.openxmlformats.org/officeDocument/2006/relationships/image" Target="../media/image26.png"/><Relationship Id="rId9" Type="http://schemas.openxmlformats.org/officeDocument/2006/relationships/image" Target="../media/image620.png"/><Relationship Id="rId14" Type="http://schemas.openxmlformats.org/officeDocument/2006/relationships/image" Target="../media/image671.png"/><Relationship Id="rId22" Type="http://schemas.openxmlformats.org/officeDocument/2006/relationships/image" Target="../media/image750.png"/><Relationship Id="rId27"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600.png"/><Relationship Id="rId13" Type="http://schemas.openxmlformats.org/officeDocument/2006/relationships/image" Target="../media/image261.png"/><Relationship Id="rId18" Type="http://schemas.openxmlformats.org/officeDocument/2006/relationships/image" Target="../media/image700.png"/><Relationship Id="rId26" Type="http://schemas.openxmlformats.org/officeDocument/2006/relationships/image" Target="../media/image90.png"/><Relationship Id="rId3" Type="http://schemas.openxmlformats.org/officeDocument/2006/relationships/image" Target="../media/image48.png"/><Relationship Id="rId21" Type="http://schemas.openxmlformats.org/officeDocument/2006/relationships/image" Target="../media/image86.png"/><Relationship Id="rId7" Type="http://schemas.openxmlformats.org/officeDocument/2006/relationships/image" Target="../media/image590.png"/><Relationship Id="rId12" Type="http://schemas.openxmlformats.org/officeDocument/2006/relationships/image" Target="../media/image640.png"/><Relationship Id="rId17" Type="http://schemas.openxmlformats.org/officeDocument/2006/relationships/image" Target="../media/image830.png"/><Relationship Id="rId25" Type="http://schemas.openxmlformats.org/officeDocument/2006/relationships/image" Target="../media/image89.png"/><Relationship Id="rId2" Type="http://schemas.openxmlformats.org/officeDocument/2006/relationships/notesSlide" Target="../notesSlides/notesSlide11.xml"/><Relationship Id="rId16" Type="http://schemas.openxmlformats.org/officeDocument/2006/relationships/image" Target="../media/image820.png"/><Relationship Id="rId20" Type="http://schemas.openxmlformats.org/officeDocument/2006/relationships/image" Target="../media/image85.png"/><Relationship Id="rId1" Type="http://schemas.openxmlformats.org/officeDocument/2006/relationships/slideLayout" Target="../slideLayouts/slideLayout1.xml"/><Relationship Id="rId6" Type="http://schemas.openxmlformats.org/officeDocument/2006/relationships/image" Target="../media/image29.png"/><Relationship Id="rId11" Type="http://schemas.openxmlformats.org/officeDocument/2006/relationships/image" Target="../media/image630.png"/><Relationship Id="rId24" Type="http://schemas.openxmlformats.org/officeDocument/2006/relationships/image" Target="../media/image88.png"/><Relationship Id="rId5" Type="http://schemas.openxmlformats.org/officeDocument/2006/relationships/image" Target="../media/image31.png"/><Relationship Id="rId15" Type="http://schemas.openxmlformats.org/officeDocument/2006/relationships/image" Target="../media/image810.png"/><Relationship Id="rId23" Type="http://schemas.openxmlformats.org/officeDocument/2006/relationships/image" Target="../media/image750.png"/><Relationship Id="rId28" Type="http://schemas.openxmlformats.org/officeDocument/2006/relationships/image" Target="../media/image293.png"/><Relationship Id="rId10" Type="http://schemas.openxmlformats.org/officeDocument/2006/relationships/image" Target="../media/image620.png"/><Relationship Id="rId19" Type="http://schemas.openxmlformats.org/officeDocument/2006/relationships/image" Target="../media/image84.png"/><Relationship Id="rId4" Type="http://schemas.openxmlformats.org/officeDocument/2006/relationships/image" Target="../media/image30.png"/><Relationship Id="rId9" Type="http://schemas.openxmlformats.org/officeDocument/2006/relationships/image" Target="../media/image611.png"/><Relationship Id="rId14" Type="http://schemas.openxmlformats.org/officeDocument/2006/relationships/image" Target="../media/image272.png"/><Relationship Id="rId22" Type="http://schemas.openxmlformats.org/officeDocument/2006/relationships/image" Target="../media/image87.png"/><Relationship Id="rId27" Type="http://schemas.openxmlformats.org/officeDocument/2006/relationships/image" Target="../media/image91.png"/></Relationships>
</file>

<file path=ppt/slides/_rels/slide12.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301.png"/><Relationship Id="rId18" Type="http://schemas.openxmlformats.org/officeDocument/2006/relationships/image" Target="../media/image99.png"/><Relationship Id="rId26" Type="http://schemas.openxmlformats.org/officeDocument/2006/relationships/image" Target="../media/image107.png"/><Relationship Id="rId3" Type="http://schemas.openxmlformats.org/officeDocument/2006/relationships/image" Target="../media/image48.png"/><Relationship Id="rId21" Type="http://schemas.openxmlformats.org/officeDocument/2006/relationships/image" Target="../media/image102.png"/><Relationship Id="rId7" Type="http://schemas.openxmlformats.org/officeDocument/2006/relationships/image" Target="../media/image600.png"/><Relationship Id="rId12" Type="http://schemas.openxmlformats.org/officeDocument/2006/relationships/image" Target="../media/image292.png"/><Relationship Id="rId17" Type="http://schemas.openxmlformats.org/officeDocument/2006/relationships/image" Target="../media/image98.png"/><Relationship Id="rId25" Type="http://schemas.openxmlformats.org/officeDocument/2006/relationships/image" Target="../media/image106.png"/><Relationship Id="rId2" Type="http://schemas.openxmlformats.org/officeDocument/2006/relationships/notesSlide" Target="../notesSlides/notesSlide12.xml"/><Relationship Id="rId16" Type="http://schemas.openxmlformats.org/officeDocument/2006/relationships/image" Target="../media/image97.png"/><Relationship Id="rId20" Type="http://schemas.openxmlformats.org/officeDocument/2006/relationships/image" Target="../media/image101.png"/><Relationship Id="rId29" Type="http://schemas.openxmlformats.org/officeDocument/2006/relationships/image" Target="../media/image35.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105.png"/><Relationship Id="rId5" Type="http://schemas.openxmlformats.org/officeDocument/2006/relationships/image" Target="../media/image33.png"/><Relationship Id="rId15" Type="http://schemas.openxmlformats.org/officeDocument/2006/relationships/image" Target="../media/image96.png"/><Relationship Id="rId23" Type="http://schemas.openxmlformats.org/officeDocument/2006/relationships/image" Target="../media/image104.png"/><Relationship Id="rId28" Type="http://schemas.openxmlformats.org/officeDocument/2006/relationships/image" Target="../media/image34.png"/><Relationship Id="rId10" Type="http://schemas.openxmlformats.org/officeDocument/2006/relationships/image" Target="../media/image630.png"/><Relationship Id="rId19" Type="http://schemas.openxmlformats.org/officeDocument/2006/relationships/image" Target="../media/image100.png"/><Relationship Id="rId4" Type="http://schemas.openxmlformats.org/officeDocument/2006/relationships/image" Target="../media/image32.png"/><Relationship Id="rId9" Type="http://schemas.openxmlformats.org/officeDocument/2006/relationships/image" Target="../media/image620.png"/><Relationship Id="rId14" Type="http://schemas.openxmlformats.org/officeDocument/2006/relationships/image" Target="../media/image95.png"/><Relationship Id="rId22" Type="http://schemas.openxmlformats.org/officeDocument/2006/relationships/image" Target="../media/image103.png"/><Relationship Id="rId27" Type="http://schemas.openxmlformats.org/officeDocument/2006/relationships/image" Target="../media/image108.png"/></Relationships>
</file>

<file path=ppt/slides/_rels/slide13.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3" Type="http://schemas.openxmlformats.org/officeDocument/2006/relationships/image" Target="../media/image36.png"/><Relationship Id="rId7" Type="http://schemas.openxmlformats.org/officeDocument/2006/relationships/image" Target="../media/image111.png"/><Relationship Id="rId12" Type="http://schemas.openxmlformats.org/officeDocument/2006/relationships/image" Target="../media/image116.png"/><Relationship Id="rId2" Type="http://schemas.openxmlformats.org/officeDocument/2006/relationships/notesSlide" Target="../notesSlides/notesSlide13.xml"/><Relationship Id="rId16" Type="http://schemas.openxmlformats.org/officeDocument/2006/relationships/image" Target="../media/image40.png"/><Relationship Id="rId1" Type="http://schemas.openxmlformats.org/officeDocument/2006/relationships/slideLayout" Target="../slideLayouts/slideLayout1.xml"/><Relationship Id="rId6" Type="http://schemas.openxmlformats.org/officeDocument/2006/relationships/image" Target="../media/image110.png"/><Relationship Id="rId11" Type="http://schemas.openxmlformats.org/officeDocument/2006/relationships/image" Target="../media/image115.png"/><Relationship Id="rId5" Type="http://schemas.openxmlformats.org/officeDocument/2006/relationships/image" Target="../media/image38.png"/><Relationship Id="rId15" Type="http://schemas.openxmlformats.org/officeDocument/2006/relationships/image" Target="../media/image39.png"/><Relationship Id="rId10" Type="http://schemas.openxmlformats.org/officeDocument/2006/relationships/image" Target="../media/image114.png"/><Relationship Id="rId4" Type="http://schemas.openxmlformats.org/officeDocument/2006/relationships/image" Target="../media/image37.png"/><Relationship Id="rId9" Type="http://schemas.openxmlformats.org/officeDocument/2006/relationships/image" Target="../media/image113.png"/><Relationship Id="rId14" Type="http://schemas.openxmlformats.org/officeDocument/2006/relationships/image" Target="../media/image118.png"/></Relationships>
</file>

<file path=ppt/slides/_rels/slide14.xml.rels><?xml version="1.0" encoding="UTF-8" standalone="yes"?>
<Relationships xmlns="http://schemas.openxmlformats.org/package/2006/relationships"><Relationship Id="rId8" Type="http://schemas.openxmlformats.org/officeDocument/2006/relationships/image" Target="../media/image350.png"/><Relationship Id="rId13" Type="http://schemas.openxmlformats.org/officeDocument/2006/relationships/image" Target="../media/image271.png"/><Relationship Id="rId18" Type="http://schemas.openxmlformats.org/officeDocument/2006/relationships/image" Target="../media/image45.png"/><Relationship Id="rId3" Type="http://schemas.openxmlformats.org/officeDocument/2006/relationships/image" Target="../media/image300.png"/><Relationship Id="rId21" Type="http://schemas.openxmlformats.org/officeDocument/2006/relationships/image" Target="../media/image390.png"/><Relationship Id="rId7" Type="http://schemas.openxmlformats.org/officeDocument/2006/relationships/image" Target="../media/image340.png"/><Relationship Id="rId12" Type="http://schemas.openxmlformats.org/officeDocument/2006/relationships/image" Target="../media/image260.png"/><Relationship Id="rId17" Type="http://schemas.openxmlformats.org/officeDocument/2006/relationships/image" Target="../media/image291.png"/><Relationship Id="rId2" Type="http://schemas.openxmlformats.org/officeDocument/2006/relationships/notesSlide" Target="../notesSlides/notesSlide14.xml"/><Relationship Id="rId16" Type="http://schemas.openxmlformats.org/officeDocument/2006/relationships/image" Target="../media/image281.png"/><Relationship Id="rId20" Type="http://schemas.openxmlformats.org/officeDocument/2006/relationships/image" Target="../media/image360.png"/><Relationship Id="rId1" Type="http://schemas.openxmlformats.org/officeDocument/2006/relationships/slideLayout" Target="../slideLayouts/slideLayout1.xml"/><Relationship Id="rId6" Type="http://schemas.openxmlformats.org/officeDocument/2006/relationships/image" Target="../media/image330.png"/><Relationship Id="rId11" Type="http://schemas.openxmlformats.org/officeDocument/2006/relationships/image" Target="../media/image380.png"/><Relationship Id="rId5" Type="http://schemas.openxmlformats.org/officeDocument/2006/relationships/image" Target="../media/image320.png"/><Relationship Id="rId15" Type="http://schemas.openxmlformats.org/officeDocument/2006/relationships/image" Target="../media/image42.png"/><Relationship Id="rId10" Type="http://schemas.openxmlformats.org/officeDocument/2006/relationships/image" Target="../media/image370.png"/><Relationship Id="rId19" Type="http://schemas.openxmlformats.org/officeDocument/2006/relationships/image" Target="../media/image46.png"/><Relationship Id="rId4" Type="http://schemas.openxmlformats.org/officeDocument/2006/relationships/image" Target="../media/image310.png"/><Relationship Id="rId9" Type="http://schemas.openxmlformats.org/officeDocument/2006/relationships/image" Target="../media/image250.png"/><Relationship Id="rId14" Type="http://schemas.openxmlformats.org/officeDocument/2006/relationships/image" Target="../media/image41.png"/><Relationship Id="rId22" Type="http://schemas.openxmlformats.org/officeDocument/2006/relationships/image" Target="../media/image49.png"/></Relationships>
</file>

<file path=ppt/slides/_rels/slide15.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43.png"/><Relationship Id="rId18" Type="http://schemas.openxmlformats.org/officeDocument/2006/relationships/image" Target="../media/image62.png"/><Relationship Id="rId3" Type="http://schemas.openxmlformats.org/officeDocument/2006/relationships/image" Target="../media/image270.png"/><Relationship Id="rId21" Type="http://schemas.openxmlformats.org/officeDocument/2006/relationships/image" Target="../media/image57.png"/><Relationship Id="rId7" Type="http://schemas.openxmlformats.org/officeDocument/2006/relationships/image" Target="../media/image51.png"/><Relationship Id="rId12" Type="http://schemas.openxmlformats.org/officeDocument/2006/relationships/image" Target="../media/image401.png"/><Relationship Id="rId17" Type="http://schemas.openxmlformats.org/officeDocument/2006/relationships/image" Target="../media/image47.png"/><Relationship Id="rId2" Type="http://schemas.openxmlformats.org/officeDocument/2006/relationships/notesSlide" Target="../notesSlides/notesSlide15.xml"/><Relationship Id="rId16" Type="http://schemas.openxmlformats.org/officeDocument/2006/relationships/image" Target="../media/image44.png"/><Relationship Id="rId20"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290.png"/><Relationship Id="rId15" Type="http://schemas.openxmlformats.org/officeDocument/2006/relationships/image" Target="../media/image59.png"/><Relationship Id="rId10" Type="http://schemas.openxmlformats.org/officeDocument/2006/relationships/image" Target="../media/image54.png"/><Relationship Id="rId19" Type="http://schemas.openxmlformats.org/officeDocument/2006/relationships/image" Target="../media/image63.png"/><Relationship Id="rId4" Type="http://schemas.openxmlformats.org/officeDocument/2006/relationships/image" Target="../media/image280.png"/><Relationship Id="rId9" Type="http://schemas.openxmlformats.org/officeDocument/2006/relationships/image" Target="../media/image53.png"/><Relationship Id="rId14" Type="http://schemas.openxmlformats.org/officeDocument/2006/relationships/image" Target="../media/image58.png"/><Relationship Id="rId22" Type="http://schemas.openxmlformats.org/officeDocument/2006/relationships/image" Target="../media/image66.png"/></Relationships>
</file>

<file path=ppt/slides/_rels/slide16.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image" Target="../media/image76.png"/><Relationship Id="rId3" Type="http://schemas.openxmlformats.org/officeDocument/2006/relationships/image" Target="../media/image400.png"/><Relationship Id="rId7" Type="http://schemas.openxmlformats.org/officeDocument/2006/relationships/image" Target="../media/image67.png"/><Relationship Id="rId12" Type="http://schemas.openxmlformats.org/officeDocument/2006/relationships/image" Target="../media/image7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72.png"/><Relationship Id="rId11" Type="http://schemas.openxmlformats.org/officeDocument/2006/relationships/image" Target="../media/image74.png"/><Relationship Id="rId5" Type="http://schemas.openxmlformats.org/officeDocument/2006/relationships/image" Target="../media/image441.png"/><Relationship Id="rId15" Type="http://schemas.openxmlformats.org/officeDocument/2006/relationships/image" Target="../media/image471.png"/><Relationship Id="rId10" Type="http://schemas.openxmlformats.org/officeDocument/2006/relationships/image" Target="../media/image430.png"/><Relationship Id="rId4" Type="http://schemas.openxmlformats.org/officeDocument/2006/relationships/image" Target="../media/image431.png"/><Relationship Id="rId9" Type="http://schemas.openxmlformats.org/officeDocument/2006/relationships/image" Target="../media/image69.png"/><Relationship Id="rId14" Type="http://schemas.openxmlformats.org/officeDocument/2006/relationships/image" Target="../media/image440.png"/></Relationships>
</file>

<file path=ppt/slides/_rels/slide17.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60.png"/><Relationship Id="rId7" Type="http://schemas.openxmlformats.org/officeDocument/2006/relationships/image" Target="../media/image80.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511.png"/><Relationship Id="rId10" Type="http://schemas.openxmlformats.org/officeDocument/2006/relationships/image" Target="../media/image711.png"/><Relationship Id="rId4" Type="http://schemas.openxmlformats.org/officeDocument/2006/relationships/image" Target="../media/image61.png"/><Relationship Id="rId9" Type="http://schemas.openxmlformats.org/officeDocument/2006/relationships/image" Target="../media/image71.png"/></Relationships>
</file>

<file path=ppt/slides/_rels/slide18.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82.png"/><Relationship Id="rId7"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92.png"/><Relationship Id="rId4" Type="http://schemas.openxmlformats.org/officeDocument/2006/relationships/image" Target="../media/image83.png"/></Relationships>
</file>

<file path=ppt/slides/_rels/slide19.xml.rels><?xml version="1.0" encoding="UTF-8" standalone="yes"?>
<Relationships xmlns="http://schemas.openxmlformats.org/package/2006/relationships"><Relationship Id="rId3" Type="http://schemas.openxmlformats.org/officeDocument/2006/relationships/image" Target="../media/image650.png"/><Relationship Id="rId2" Type="http://schemas.openxmlformats.org/officeDocument/2006/relationships/image" Target="../media/image65.png"/><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0.png"/></Relationships>
</file>

<file path=ppt/slides/_rels/slide20.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77.png"/><Relationship Id="rId7" Type="http://schemas.openxmlformats.org/officeDocument/2006/relationships/image" Target="../media/image650.png"/><Relationship Id="rId2" Type="http://schemas.openxmlformats.org/officeDocument/2006/relationships/notesSlide" Target="../notesSlides/notesSlide19.xml"/><Relationship Id="rId1" Type="http://schemas.openxmlformats.org/officeDocument/2006/relationships/slideLayout" Target="../slideLayouts/slideLayout1.xml"/><Relationship Id="rIdNotation20_1_11" Type="http://schemas.openxmlformats.org/officeDocument/2006/relationships/image" Target="../media/notation_s20_1_556.png"/><Relationship Id="rId5" Type="http://schemas.openxmlformats.org/officeDocument/2006/relationships/image" Target="../media/image93.png"/><Relationship Id="rIdNotation20_0_10" Type="http://schemas.openxmlformats.org/officeDocument/2006/relationships/image" Target="../media/notation_s20_0_555.png"/><Relationship Id="rId10" Type="http://schemas.openxmlformats.org/officeDocument/2006/relationships/image" Target="../media/image78.png"/><Relationship Id="rId9" Type="http://schemas.openxmlformats.org/officeDocument/2006/relationships/image" Target="../media/image72.png"/></Relationships>
</file>

<file path=ppt/slides/_rels/slide21.xml.rels><?xml version="1.0" encoding="UTF-8" standalone="yes"?>
<Relationships xmlns="http://schemas.openxmlformats.org/package/2006/relationships"><Relationship Id="rId3" Type="http://schemas.openxmlformats.org/officeDocument/2006/relationships/image" Target="../media/image125.png"/><Relationship Id="rId7" Type="http://schemas.openxmlformats.org/officeDocument/2006/relationships/image" Target="../media/image127.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8.png"/><Relationship Id="rId4" Type="http://schemas.openxmlformats.org/officeDocument/2006/relationships/image" Target="../media/image470.png"/></Relationships>
</file>

<file path=ppt/slides/_rels/slide22.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480.png"/><Relationship Id="rId7" Type="http://schemas.openxmlformats.org/officeDocument/2006/relationships/image" Target="../media/image13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9.png"/><Relationship Id="rId9" Type="http://schemas.openxmlformats.org/officeDocument/2006/relationships/image" Target="../media/image134.png"/></Relationships>
</file>

<file path=ppt/slides/_rels/slide23.xml.rels><?xml version="1.0" encoding="UTF-8" standalone="yes"?>
<Relationships xmlns="http://schemas.openxmlformats.org/package/2006/relationships"><Relationship Id="rId3" Type="http://schemas.openxmlformats.org/officeDocument/2006/relationships/image" Target="../media/image135.png"/><Relationship Id="rId7" Type="http://schemas.openxmlformats.org/officeDocument/2006/relationships/image" Target="../media/image136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94.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37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21.png"/><Relationship Id="rId7" Type="http://schemas.openxmlformats.org/officeDocument/2006/relationships/image" Target="../media/image139.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3.xml"/><Relationship Id="rId4" Type="http://schemas.openxmlformats.org/officeDocument/2006/relationships/image" Target="../media/image1300.png"/></Relationships>
</file>

<file path=ppt/slides/_rels/slide27.xml.rels><?xml version="1.0" encoding="UTF-8" standalone="yes"?>
<Relationships xmlns="http://schemas.openxmlformats.org/package/2006/relationships"><Relationship Id="rId8" Type="http://schemas.openxmlformats.org/officeDocument/2006/relationships/image" Target="../media/image1321.png"/><Relationship Id="rId3" Type="http://schemas.openxmlformats.org/officeDocument/2006/relationships/image" Target="../media/image1391.png"/><Relationship Id="rId7" Type="http://schemas.openxmlformats.org/officeDocument/2006/relationships/image" Target="../media/image14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4.xml"/><Relationship Id="rId4" Type="http://schemas.openxmlformats.org/officeDocument/2006/relationships/image" Target="../media/image1310.png"/></Relationships>
</file>

<file path=ppt/slides/_rels/slide28.xml.rels><?xml version="1.0" encoding="UTF-8" standalone="yes"?>
<Relationships xmlns="http://schemas.openxmlformats.org/package/2006/relationships"><Relationship Id="rId3" Type="http://schemas.openxmlformats.org/officeDocument/2006/relationships/image" Target="../media/image1400.png"/><Relationship Id="rId7" Type="http://schemas.openxmlformats.org/officeDocument/2006/relationships/image" Target="../media/image141.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5.xml"/><Relationship Id="rId4" Type="http://schemas.openxmlformats.org/officeDocument/2006/relationships/image" Target="../media/image1320.png"/></Relationships>
</file>

<file path=ppt/slides/_rels/slide29.xml.rels><?xml version="1.0" encoding="UTF-8" standalone="yes"?>
<Relationships xmlns="http://schemas.openxmlformats.org/package/2006/relationships"><Relationship Id="rId8" Type="http://schemas.openxmlformats.org/officeDocument/2006/relationships/image" Target="../media/image142.png"/><Relationship Id="rId3" Type="http://schemas.openxmlformats.org/officeDocument/2006/relationships/image" Target="../media/image122.png"/><Relationship Id="rId7" Type="http://schemas.openxmlformats.org/officeDocument/2006/relationships/image" Target="../media/image137.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38.png"/><Relationship Id="rId10" Type="http://schemas.openxmlformats.org/officeDocument/2006/relationships/image" Target="../media/image144.png"/><Relationship Id="rId4" Type="http://schemas.openxmlformats.org/officeDocument/2006/relationships/chart" Target="../charts/chart6.xml"/><Relationship Id="rId9" Type="http://schemas.openxmlformats.org/officeDocument/2006/relationships/image" Target="../media/image143.png"/></Relationships>
</file>

<file path=ppt/slides/_rels/slide30.xml.rels><?xml version="1.0" encoding="UTF-8" standalone="yes"?>
<Relationships xmlns="http://schemas.openxmlformats.org/package/2006/relationships"><Relationship Id="rId3" Type="http://schemas.openxmlformats.org/officeDocument/2006/relationships/image" Target="../media/image141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370.png"/><Relationship Id="rId5" Type="http://schemas.openxmlformats.org/officeDocument/2006/relationships/image" Target="../media/image1360.png"/><Relationship Id="rId4" Type="http://schemas.openxmlformats.org/officeDocument/2006/relationships/chart" Target="../charts/chart7.xml"/></Relationships>
</file>

<file path=ppt/slides/_rels/slide31.xml.rels><?xml version="1.0" encoding="UTF-8" standalone="yes"?>
<Relationships xmlns="http://schemas.openxmlformats.org/package/2006/relationships"><Relationship Id="rId8" Type="http://schemas.openxmlformats.org/officeDocument/2006/relationships/image" Target="../media/image124.png"/><Relationship Id="rId3" Type="http://schemas.openxmlformats.org/officeDocument/2006/relationships/image" Target="../media/image145.png"/><Relationship Id="rId7" Type="http://schemas.openxmlformats.org/officeDocument/2006/relationships/image" Target="../media/image123.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220.png"/><Relationship Id="rId5" Type="http://schemas.openxmlformats.org/officeDocument/2006/relationships/image" Target="../media/image940.png"/><Relationship Id="rId4" Type="http://schemas.openxmlformats.org/officeDocument/2006/relationships/image" Target="../media/image1420.png"/></Relationships>
</file>

<file path=ppt/slides/_rels/slide32.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48.png"/><Relationship Id="rId4" Type="http://schemas.openxmlformats.org/officeDocument/2006/relationships/image" Target="../media/image146.png"/></Relationships>
</file>

<file path=ppt/slides/_rels/slide33.xml.rels><?xml version="1.0" encoding="UTF-8" standalone="yes"?>
<Relationships xmlns="http://schemas.openxmlformats.org/package/2006/relationships"><Relationship Id="rIdNotation33_1_10" Type="http://schemas.openxmlformats.org/officeDocument/2006/relationships/image" Target="../media/notation_s33_1_560.png"/><Relationship Id="rId3" Type="http://schemas.openxmlformats.org/officeDocument/2006/relationships/chart" Target="../charts/chart8.xml"/><Relationship Id="rId7" Type="http://schemas.openxmlformats.org/officeDocument/2006/relationships/image" Target="../media/image15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51.png"/><Relationship Id="rId5" Type="http://schemas.openxmlformats.org/officeDocument/2006/relationships/image" Target="../media/image149.png"/><Relationship Id="rIdNotation33_2_11" Type="http://schemas.openxmlformats.org/officeDocument/2006/relationships/image" Target="../media/notation_s33_2_561.png"/><Relationship Id="rId4" Type="http://schemas.openxmlformats.org/officeDocument/2006/relationships/chart" Target="../charts/chart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1460.png"/><Relationship Id="rId4" Type="http://schemas.openxmlformats.org/officeDocument/2006/relationships/image" Target="../media/image1481.png"/></Relationships>
</file>

<file path=ppt/slides/_rels/slide36.xml.rels><?xml version="1.0" encoding="UTF-8" standalone="yes"?>
<Relationships xmlns="http://schemas.openxmlformats.org/package/2006/relationships"><Relationship Id="rId8" Type="http://schemas.openxmlformats.org/officeDocument/2006/relationships/image" Target="../media/image158.png"/><Relationship Id="rId3" Type="http://schemas.openxmlformats.org/officeDocument/2006/relationships/image" Target="../media/image155.png"/><Relationship Id="rId7" Type="http://schemas.openxmlformats.org/officeDocument/2006/relationships/image" Target="../media/image157.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563.png"/><Relationship Id="rId5" Type="http://schemas.openxmlformats.org/officeDocument/2006/relationships/chart" Target="../charts/chart10.xml"/><Relationship Id="rId10" Type="http://schemas.openxmlformats.org/officeDocument/2006/relationships/image" Target="../media/image160.png"/><Relationship Id="rId4" Type="http://schemas.openxmlformats.org/officeDocument/2006/relationships/image" Target="../media/image156.png"/><Relationship Id="rId9" Type="http://schemas.openxmlformats.org/officeDocument/2006/relationships/image" Target="../media/image159.png"/></Relationships>
</file>

<file path=ppt/slides/_rels/slide37.xml.rels><?xml version="1.0" encoding="UTF-8" standalone="yes"?>
<Relationships xmlns="http://schemas.openxmlformats.org/package/2006/relationships"><Relationship Id="rId3" Type="http://schemas.openxmlformats.org/officeDocument/2006/relationships/image" Target="../media/image161.png"/><Relationship Id="rId7" Type="http://schemas.openxmlformats.org/officeDocument/2006/relationships/image" Target="../media/image1500.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490.png"/><Relationship Id="rId5" Type="http://schemas.openxmlformats.org/officeDocument/2006/relationships/chart" Target="../charts/chart11.xml"/><Relationship Id="rId4" Type="http://schemas.openxmlformats.org/officeDocument/2006/relationships/image" Target="../media/image1480.png"/></Relationships>
</file>

<file path=ppt/slides/_rels/slide38.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1530.png"/><Relationship Id="rId4" Type="http://schemas.openxmlformats.org/officeDocument/2006/relationships/image" Target="../media/image1520.png"/></Relationships>
</file>

<file path=ppt/slides/_rels/slide3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chart" Target="../charts/chart12.xml"/><Relationship Id="rId4" Type="http://schemas.openxmlformats.org/officeDocument/2006/relationships/image" Target="../media/image1540.png"/></Relationships>
</file>

<file path=ppt/slides/_rels/slide40.xml.rels><?xml version="1.0" encoding="UTF-8" standalone="yes"?>
<Relationships xmlns="http://schemas.openxmlformats.org/package/2006/relationships"><Relationship Id="rId8" Type="http://schemas.openxmlformats.org/officeDocument/2006/relationships/image" Target="../media/image164.png"/><Relationship Id="rId13" Type="http://schemas.openxmlformats.org/officeDocument/2006/relationships/image" Target="../media/image167.png"/><Relationship Id="rId18" Type="http://schemas.openxmlformats.org/officeDocument/2006/relationships/chart" Target="../charts/chart16.xml"/><Relationship Id="rId26" Type="http://schemas.openxmlformats.org/officeDocument/2006/relationships/chart" Target="../charts/chart18.xml"/><Relationship Id="rId3" Type="http://schemas.openxmlformats.org/officeDocument/2006/relationships/image" Target="../media/image1550.png"/><Relationship Id="rId21" Type="http://schemas.openxmlformats.org/officeDocument/2006/relationships/image" Target="../media/image171.png"/><Relationship Id="rId7" Type="http://schemas.openxmlformats.org/officeDocument/2006/relationships/image" Target="../media/image1581.png"/><Relationship Id="rId12" Type="http://schemas.openxmlformats.org/officeDocument/2006/relationships/image" Target="../media/image166.png"/><Relationship Id="rId17" Type="http://schemas.openxmlformats.org/officeDocument/2006/relationships/image" Target="../media/image169.png"/><Relationship Id="rId25" Type="http://schemas.openxmlformats.org/officeDocument/2006/relationships/image" Target="../media/image173.png"/><Relationship Id="rId2" Type="http://schemas.openxmlformats.org/officeDocument/2006/relationships/notesSlide" Target="../notesSlides/notesSlide39.xml"/><Relationship Id="rId16" Type="http://schemas.openxmlformats.org/officeDocument/2006/relationships/image" Target="../media/image168.png"/><Relationship Id="rId20" Type="http://schemas.openxmlformats.org/officeDocument/2006/relationships/image" Target="../media/image170.png"/><Relationship Id="rId29" Type="http://schemas.openxmlformats.org/officeDocument/2006/relationships/image" Target="../media/image175.png"/><Relationship Id="rId1" Type="http://schemas.openxmlformats.org/officeDocument/2006/relationships/slideLayout" Target="../slideLayouts/slideLayout1.xml"/><Relationship Id="rId6" Type="http://schemas.openxmlformats.org/officeDocument/2006/relationships/chart" Target="../charts/chart13.xml"/><Relationship Id="rId11" Type="http://schemas.openxmlformats.org/officeDocument/2006/relationships/image" Target="../media/image1591.png"/><Relationship Id="rId24" Type="http://schemas.openxmlformats.org/officeDocument/2006/relationships/image" Target="../media/image172.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74.png"/><Relationship Id="rId10" Type="http://schemas.openxmlformats.org/officeDocument/2006/relationships/chart" Target="../charts/chart14.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65.png"/><Relationship Id="rId14" Type="http://schemas.openxmlformats.org/officeDocument/2006/relationships/chart" Target="../charts/chart15.xml"/><Relationship Id="rId22" Type="http://schemas.openxmlformats.org/officeDocument/2006/relationships/chart" Target="../charts/chart17.xml"/><Relationship Id="rId27" Type="http://schemas.openxmlformats.org/officeDocument/2006/relationships/image" Target="../media/image1661.png"/></Relationships>
</file>

<file path=ppt/slides/_rels/slide41.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79.png"/><Relationship Id="rId18" Type="http://schemas.openxmlformats.org/officeDocument/2006/relationships/chart" Target="../charts/chart22.xml"/><Relationship Id="rId26" Type="http://schemas.openxmlformats.org/officeDocument/2006/relationships/chart" Target="../charts/chart24.xml"/><Relationship Id="rId3" Type="http://schemas.openxmlformats.org/officeDocument/2006/relationships/image" Target="../media/image1660.png"/><Relationship Id="rId21" Type="http://schemas.openxmlformats.org/officeDocument/2006/relationships/image" Target="../media/image184.png"/><Relationship Id="rId7" Type="http://schemas.openxmlformats.org/officeDocument/2006/relationships/image" Target="../media/image1581.png"/><Relationship Id="rId12" Type="http://schemas.openxmlformats.org/officeDocument/2006/relationships/image" Target="../media/image178.png"/><Relationship Id="rId17" Type="http://schemas.openxmlformats.org/officeDocument/2006/relationships/image" Target="../media/image182.png"/><Relationship Id="rId25" Type="http://schemas.openxmlformats.org/officeDocument/2006/relationships/image" Target="../media/image186.png"/><Relationship Id="rId2" Type="http://schemas.openxmlformats.org/officeDocument/2006/relationships/notesSlide" Target="../notesSlides/notesSlide40.xml"/><Relationship Id="rId16" Type="http://schemas.openxmlformats.org/officeDocument/2006/relationships/image" Target="../media/image181.png"/><Relationship Id="rId20" Type="http://schemas.openxmlformats.org/officeDocument/2006/relationships/image" Target="../media/image183.png"/><Relationship Id="rId29" Type="http://schemas.openxmlformats.org/officeDocument/2006/relationships/image" Target="../media/image188.png"/><Relationship Id="rId1" Type="http://schemas.openxmlformats.org/officeDocument/2006/relationships/slideLayout" Target="../slideLayouts/slideLayout1.xml"/><Relationship Id="rId6" Type="http://schemas.openxmlformats.org/officeDocument/2006/relationships/chart" Target="../charts/chart19.xml"/><Relationship Id="rId11" Type="http://schemas.openxmlformats.org/officeDocument/2006/relationships/image" Target="../media/image1591.png"/><Relationship Id="rId24" Type="http://schemas.openxmlformats.org/officeDocument/2006/relationships/image" Target="../media/image185.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87.png"/><Relationship Id="rId10" Type="http://schemas.openxmlformats.org/officeDocument/2006/relationships/chart" Target="../charts/chart20.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77.png"/><Relationship Id="rId14" Type="http://schemas.openxmlformats.org/officeDocument/2006/relationships/chart" Target="../charts/chart21.xml"/><Relationship Id="rId22" Type="http://schemas.openxmlformats.org/officeDocument/2006/relationships/chart" Target="../charts/chart23.xml"/><Relationship Id="rId27" Type="http://schemas.openxmlformats.org/officeDocument/2006/relationships/image" Target="../media/image177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3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4</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Neural</a:t>
            </a:r>
          </a:p>
          <a:p>
            <a:pPr defTabSz="914400">
              <a:lnSpc>
                <a:spcPct val="100000"/>
              </a:lnSpc>
            </a:pPr>
            <a:r>
              <a:rPr lang="it-IT" sz="4650" b="1" u="none" strike="noStrike">
                <a:solidFill>
                  <a:srgbClr val="FFFFFF"/>
                </a:solidFill>
                <a:effectLst/>
                <a:uFillTx/>
                <a:latin typeface="DejaVu Sans"/>
                <a:ea typeface="DejaVu Sans"/>
              </a:rPr>
              <a:t>networks</a:t>
            </a: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693F52B-D081-4A97-B595-75339A13768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C955A40D-15A1-4849-B5E5-D3D9FD865D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9E019C6-63FB-47EE-9AF6-7B731BE2A4F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10" name="agenda_first_topic_neutral">
            <a:extLst>
              <a:ext uri="{FF2B5EF4-FFF2-40B4-BE49-F238E27FC236}">
                <a16:creationId xmlns:a16="http://schemas.microsoft.com/office/drawing/2014/main" id="{73051655-E1B0-40DC-A151-F293F4BC4CEF}"/>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features and activation functions</a:t>
            </a:r>
          </a:p>
        </p:txBody>
      </p:sp>
      <p:sp>
        <p:nvSpPr>
          <p:cNvPr id="5" name="text_1">
            <a:extLst>
              <a:ext uri="{FF2B5EF4-FFF2-40B4-BE49-F238E27FC236}">
                <a16:creationId xmlns:a16="http://schemas.microsoft.com/office/drawing/2014/main" id="{5B658870-CA52-4FA4-8882-00512766B006}"/>
              </a:ext>
            </a:extLst>
          </p:cNvPr>
          <p:cNvSpPr>
            <a:spLocks noGrp="1"/>
          </p:cNvSpPr>
          <p:nvPr/>
        </p:nvSpPr>
        <p:spPr>
          <a:xfrm>
            <a:off x="904875" y="2190750"/>
            <a:ext cx="10382250" cy="619125"/>
          </a:xfrm>
          <a:prstGeom prst="rect">
            <a:avLst/>
          </a:prstGeom>
          <a:solidFill>
            <a:srgbClr val="FFFFFF"/>
          </a:solidFill>
          <a:ln w="0">
            <a:noFill/>
          </a:ln>
        </p:spPr>
        <p:txBody>
          <a:bodyPr anchor="ctr">
            <a:noAutofit/>
          </a:bodyPr>
          <a:lstStyle/>
          <a:p>
            <a:pPr algn="ctr">
              <a:defRPr sz="2475" b="1">
                <a:solidFill>
                  <a:srgbClr val="087F83"/>
                </a:solidFill>
                <a:latin typeface="DejaVu Sans"/>
                <a:ea typeface="DejaVu Sans"/>
                <a:cs typeface="DejaVu Sans"/>
              </a:defRPr>
            </a:pPr>
            <a:r>
              <a:rPr sz="2475" b="1" dirty="0">
                <a:solidFill>
                  <a:srgbClr val="087F83"/>
                </a:solidFill>
                <a:latin typeface="DejaVu Sans"/>
                <a:ea typeface="DejaVu Sans"/>
                <a:cs typeface="DejaVu Sans"/>
              </a:rPr>
              <a:t>Affine </a:t>
            </a:r>
            <a:r>
              <a:rPr lang="it-IT" sz="2475" b="1" dirty="0">
                <a:solidFill>
                  <a:srgbClr val="087F83"/>
                </a:solidFill>
                <a:latin typeface="DejaVu Sans"/>
                <a:ea typeface="DejaVu Sans"/>
                <a:cs typeface="DejaVu Sans"/>
              </a:rPr>
              <a:t>features</a:t>
            </a:r>
            <a:r>
              <a:rPr sz="2475" b="1" dirty="0">
                <a:solidFill>
                  <a:srgbClr val="087F83"/>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3092D8BF-3CD5-4A8C-80FC-0065AF43ED5D}"/>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18D2B001-4AC1-49D4-992B-59E74B7F6F46}"/>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4A68E26D-C1FB-4612-86A2-433DD4F1E4BC}"/>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635840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43486BE5-525B-464E-9EBA-A5E17997058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neural networks?</a:t>
            </a:r>
          </a:p>
        </p:txBody>
      </p:sp>
      <p:sp>
        <p:nvSpPr>
          <p:cNvPr id="2" name="lead">
            <a:extLst>
              <a:ext uri="{FF2B5EF4-FFF2-40B4-BE49-F238E27FC236}">
                <a16:creationId xmlns:a16="http://schemas.microsoft.com/office/drawing/2014/main" id="{08DBB9DF-4BB8-40AC-A56A-770D0DFF494E}"/>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So far, we have </a:t>
            </a:r>
            <a:r>
              <a:rPr lang="en-GB" sz="2175" b="0" dirty="0">
                <a:solidFill>
                  <a:srgbClr val="FF0000"/>
                </a:solidFill>
                <a:latin typeface="DejaVu Sans"/>
                <a:ea typeface="DejaVu Sans"/>
                <a:cs typeface="DejaVu Sans"/>
              </a:rPr>
              <a:t>chosen the features</a:t>
            </a:r>
          </a:p>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and fitted the output parameters.</a:t>
            </a:r>
          </a:p>
        </p:txBody>
      </p:sp>
      <p:sp>
        <p:nvSpPr>
          <p:cNvPr id="3" name="footer_course">
            <a:extLst>
              <a:ext uri="{FF2B5EF4-FFF2-40B4-BE49-F238E27FC236}">
                <a16:creationId xmlns:a16="http://schemas.microsoft.com/office/drawing/2014/main" id="{D70A9ADE-A4EF-448E-9B1E-A98D080FA45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9D04217-F928-40FD-BD91-EA0B601FCE0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f(x)=b+w_1x+w_2x^2">
                <a:extLst>
                  <a:ext uri="{FF2B5EF4-FFF2-40B4-BE49-F238E27FC236}">
                    <a16:creationId xmlns:a16="http://schemas.microsoft.com/office/drawing/2014/main" id="{F828C226-3CA0-42C0-BB27-E8C150A467FD}"/>
                  </a:ext>
                </a:extLst>
              </p:cNvPr>
              <p:cNvSpPr>
                <a:spLocks noGrp="1"/>
              </p:cNvSpPr>
              <p:nvPr/>
            </p:nvSpPr>
            <p:spPr>
              <a:xfrm>
                <a:off x="952500" y="1595628"/>
                <a:ext cx="1028700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𝑓</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2</m:t>
                          </m:r>
                        </m:sub>
                      </m:sSub>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𝑥</m:t>
                          </m:r>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f(x)=b+w_1x+w_2x^2">
                <a:extLst>
                  <a:ext uri="{FF2B5EF4-FFF2-40B4-BE49-F238E27FC236}">
                    <a16:creationId xmlns:a16="http://schemas.microsoft.com/office/drawing/2014/main" id="{F828C226-3CA0-42C0-BB27-E8C150A467FD}"/>
                  </a:ext>
                </a:extLst>
              </p:cNvPr>
              <p:cNvSpPr>
                <a:spLocks noGrp="1" noRot="1" noChangeAspect="1" noMove="1" noResize="1" noEditPoints="1" noAdjustHandles="1" noChangeArrowheads="1" noChangeShapeType="1" noTextEdit="1"/>
              </p:cNvSpPr>
              <p:nvPr/>
            </p:nvSpPr>
            <p:spPr>
              <a:xfrm>
                <a:off x="952500" y="1595628"/>
                <a:ext cx="10287000" cy="10953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C8FA98F1-9761-431B-AE58-8DAE7459EE0F}"/>
              </a:ext>
            </a:extLst>
          </p:cNvPr>
          <p:cNvSpPr>
            <a:spLocks noGrp="1"/>
          </p:cNvSpPr>
          <p:nvPr/>
        </p:nvSpPr>
        <p:spPr>
          <a:xfrm>
            <a:off x="3342321" y="2629090"/>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Fixed feature functions</a:t>
            </a:r>
          </a:p>
        </p:txBody>
      </p:sp>
      <mc:AlternateContent xmlns:mc="http://schemas.openxmlformats.org/markup-compatibility/2006" xmlns:a14="http://schemas.microsoft.com/office/drawing/2010/main">
        <mc:Choice Requires="a14">
          <p:sp>
            <p:nvSpPr>
              <p:cNvPr id="7" name="equation_3" descr="\phi_1(x)=x, \phi_2(x)=x^2">
                <a:extLst>
                  <a:ext uri="{FF2B5EF4-FFF2-40B4-BE49-F238E27FC236}">
                    <a16:creationId xmlns:a16="http://schemas.microsoft.com/office/drawing/2014/main" id="{695D6404-5A0D-427A-8464-084750D0ED96}"/>
                  </a:ext>
                </a:extLst>
              </p:cNvPr>
              <p:cNvSpPr>
                <a:spLocks noGrp="1"/>
              </p:cNvSpPr>
              <p:nvPr/>
            </p:nvSpPr>
            <p:spPr>
              <a:xfrm>
                <a:off x="1031747" y="3031332"/>
                <a:ext cx="10128504"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it-IT" sz="3000" i="1">
                              <a:solidFill>
                                <a:srgbClr val="087F83"/>
                              </a:solidFill>
                              <a:latin typeface="Cambria Math" panose="02040503050406030204" pitchFamily="18" charset="0"/>
                              <a:ea typeface="Cambria Math"/>
                              <a:cs typeface="Cambria Math"/>
                            </a:rPr>
                          </m:ctrlPr>
                        </m:sSubPr>
                        <m:e>
                          <m:r>
                            <a:rPr lang="it-IT" sz="3000" i="1">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1</m:t>
                          </m:r>
                        </m:sub>
                      </m:sSub>
                      <m:d>
                        <m:dPr>
                          <m:ctrlPr>
                            <a:rPr lang="it-IT" sz="3000" i="1">
                              <a:solidFill>
                                <a:srgbClr val="087F83"/>
                              </a:solidFill>
                              <a:latin typeface="Cambria Math" panose="02040503050406030204" pitchFamily="18" charset="0"/>
                              <a:ea typeface="Cambria Math"/>
                              <a:cs typeface="Cambria Math"/>
                            </a:rPr>
                          </m:ctrlPr>
                        </m:dPr>
                        <m:e>
                          <m:r>
                            <a:rPr lang="it-IT" sz="3000" i="1">
                              <a:solidFill>
                                <a:srgbClr val="087F83"/>
                              </a:solidFill>
                              <a:latin typeface="Cambria Math" panose="02040503050406030204" pitchFamily="18" charset="0"/>
                              <a:ea typeface="Cambria Math"/>
                              <a:cs typeface="Cambria Math"/>
                            </a:rPr>
                            <m:t>𝑥</m:t>
                          </m:r>
                        </m:e>
                      </m:d>
                      <m:r>
                        <a:rPr lang="it-IT" sz="3000" i="1">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1,  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2</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𝑥</m:t>
                      </m:r>
                      <m:r>
                        <a:rPr lang="it-IT" sz="3000" b="0" i="1" smtClean="0">
                          <a:solidFill>
                            <a:srgbClr val="087F83"/>
                          </a:solidFill>
                          <a:latin typeface="Cambria Math" panose="02040503050406030204" pitchFamily="18" charset="0"/>
                          <a:ea typeface="Cambria Math"/>
                          <a:cs typeface="Cambria Math"/>
                        </a:rPr>
                        <m:t>,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3</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𝑥</m:t>
                          </m:r>
                        </m:e>
                        <m:sup>
                          <m:r>
                            <a:rPr lang="it-IT" sz="3000" b="0" i="1" smtClean="0">
                              <a:solidFill>
                                <a:srgbClr val="087F83"/>
                              </a:solidFill>
                              <a:latin typeface="Cambria Math" panose="02040503050406030204" pitchFamily="18" charset="0"/>
                              <a:ea typeface="Cambria Math"/>
                              <a:cs typeface="Cambria Math"/>
                            </a:rPr>
                            <m:t>2</m:t>
                          </m:r>
                        </m:sup>
                      </m:sSup>
                    </m:oMath>
                  </m:oMathPara>
                </a14:m>
                <a:endParaRPr lang="en-GB" sz="3000" dirty="0"/>
              </a:p>
            </p:txBody>
          </p:sp>
        </mc:Choice>
        <mc:Fallback xmlns="">
          <p:sp>
            <p:nvSpPr>
              <p:cNvPr id="7" name="equation_3" descr="\phi_1(x)=x, \phi_2(x)=x^2">
                <a:extLst>
                  <a:ext uri="{FF2B5EF4-FFF2-40B4-BE49-F238E27FC236}">
                    <a16:creationId xmlns:a16="http://schemas.microsoft.com/office/drawing/2014/main" id="{695D6404-5A0D-427A-8464-084750D0ED96}"/>
                  </a:ext>
                </a:extLst>
              </p:cNvPr>
              <p:cNvSpPr>
                <a:spLocks noGrp="1" noRot="1" noChangeAspect="1" noMove="1" noResize="1" noEditPoints="1" noAdjustHandles="1" noChangeArrowheads="1" noChangeShapeType="1" noTextEdit="1"/>
              </p:cNvSpPr>
              <p:nvPr/>
            </p:nvSpPr>
            <p:spPr>
              <a:xfrm>
                <a:off x="1031747" y="3031332"/>
                <a:ext cx="10128504" cy="8572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BF3CD30F-EAC1-4ED7-BD17-EF5F3C4BDF99}"/>
              </a:ext>
            </a:extLst>
          </p:cNvPr>
          <p:cNvSpPr>
            <a:spLocks noGrp="1"/>
          </p:cNvSpPr>
          <p:nvPr/>
        </p:nvSpPr>
        <p:spPr>
          <a:xfrm>
            <a:off x="3342320" y="4016786"/>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Adjustable coefficients</a:t>
            </a:r>
          </a:p>
        </p:txBody>
      </p:sp>
      <mc:AlternateContent xmlns:mc="http://schemas.openxmlformats.org/markup-compatibility/2006" xmlns:a14="http://schemas.microsoft.com/office/drawing/2010/main">
        <mc:Choice Requires="a14">
          <p:sp>
            <p:nvSpPr>
              <p:cNvPr id="9" name="equation_5" descr="b,\quad w_1,\quad w_2">
                <a:extLst>
                  <a:ext uri="{FF2B5EF4-FFF2-40B4-BE49-F238E27FC236}">
                    <a16:creationId xmlns:a16="http://schemas.microsoft.com/office/drawing/2014/main" id="{706E91FB-D9BA-4902-AEEC-0477B852F4EE}"/>
                  </a:ext>
                </a:extLst>
              </p:cNvPr>
              <p:cNvSpPr>
                <a:spLocks noGrp="1"/>
              </p:cNvSpPr>
              <p:nvPr/>
            </p:nvSpPr>
            <p:spPr>
              <a:xfrm>
                <a:off x="3548061" y="4364259"/>
                <a:ext cx="5095875"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9" name="equation_5" descr="b,\quad w_1,\quad w_2">
                <a:extLst>
                  <a:ext uri="{FF2B5EF4-FFF2-40B4-BE49-F238E27FC236}">
                    <a16:creationId xmlns:a16="http://schemas.microsoft.com/office/drawing/2014/main" id="{706E91FB-D9BA-4902-AEEC-0477B852F4EE}"/>
                  </a:ext>
                </a:extLst>
              </p:cNvPr>
              <p:cNvSpPr>
                <a:spLocks noGrp="1" noRot="1" noChangeAspect="1" noMove="1" noResize="1" noEditPoints="1" noAdjustHandles="1" noChangeArrowheads="1" noChangeShapeType="1" noTextEdit="1"/>
              </p:cNvSpPr>
              <p:nvPr/>
            </p:nvSpPr>
            <p:spPr>
              <a:xfrm>
                <a:off x="3548061" y="4364259"/>
                <a:ext cx="5095875" cy="857250"/>
              </a:xfrm>
              <a:prstGeom prst="rect">
                <a:avLst/>
              </a:prstGeom>
              <a:blipFill>
                <a:blip r:embed="rId5"/>
                <a:stretch>
                  <a:fillRect/>
                </a:stretch>
              </a:blipFill>
              <a:ln w="0">
                <a:noFill/>
              </a:ln>
            </p:spPr>
            <p:txBody>
              <a:bodyPr/>
              <a:lstStyle/>
              <a:p>
                <a:r>
                  <a:rPr lang="it-IT">
                    <a:noFill/>
                  </a:rPr>
                  <a:t> </a:t>
                </a:r>
              </a:p>
            </p:txBody>
          </p:sp>
        </mc:Fallback>
      </mc:AlternateContent>
      <p:sp>
        <p:nvSpPr>
          <p:cNvPr id="10" name="text_6">
            <a:extLst>
              <a:ext uri="{FF2B5EF4-FFF2-40B4-BE49-F238E27FC236}">
                <a16:creationId xmlns:a16="http://schemas.microsoft.com/office/drawing/2014/main" id="{B1DEFEA4-0316-4BB1-9DA7-73642A3A7A80}"/>
              </a:ext>
            </a:extLst>
          </p:cNvPr>
          <p:cNvSpPr>
            <a:spLocks noGrp="1"/>
          </p:cNvSpPr>
          <p:nvPr/>
        </p:nvSpPr>
        <p:spPr>
          <a:xfrm>
            <a:off x="571499" y="571042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Can we also learn the features from data?</a:t>
            </a:r>
          </a:p>
        </p:txBody>
      </p:sp>
    </p:spTree>
    <p:extLst>
      <p:ext uri="{BB962C8B-B14F-4D97-AF65-F5344CB8AC3E}">
        <p14:creationId xmlns:p14="http://schemas.microsoft.com/office/powerpoint/2010/main" val="1890461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08B09BA-1FA2-4191-BD4B-0C0E246EC1EE}"/>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 the feature functions</a:t>
            </a:r>
          </a:p>
        </p:txBody>
      </p:sp>
      <p:sp>
        <p:nvSpPr>
          <p:cNvPr id="2" name="lead">
            <a:extLst>
              <a:ext uri="{FF2B5EF4-FFF2-40B4-BE49-F238E27FC236}">
                <a16:creationId xmlns:a16="http://schemas.microsoft.com/office/drawing/2014/main" id="{50754E84-72BF-4D48-9A4E-71413ADAE969}"/>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chemeClr val="tx2"/>
                </a:solidFill>
                <a:latin typeface="DejaVu Sans"/>
                <a:ea typeface="DejaVu Sans"/>
                <a:cs typeface="DejaVu Sans"/>
              </a:rPr>
              <a:t>A neural network places adjustable parameters </a:t>
            </a:r>
            <a:r>
              <a:rPr sz="2175" b="0" dirty="0">
                <a:solidFill>
                  <a:srgbClr val="FF0000"/>
                </a:solidFill>
                <a:latin typeface="DejaVu Sans"/>
                <a:ea typeface="DejaVu Sans"/>
                <a:cs typeface="DejaVu Sans"/>
              </a:rPr>
              <a:t>inside</a:t>
            </a:r>
            <a:r>
              <a:rPr sz="2175" b="0" dirty="0">
                <a:solidFill>
                  <a:schemeClr val="tx2"/>
                </a:solidFill>
                <a:latin typeface="DejaVu Sans"/>
                <a:ea typeface="DejaVu Sans"/>
                <a:cs typeface="DejaVu Sans"/>
              </a:rPr>
              <a:t> the feature functions.</a:t>
            </a:r>
          </a:p>
        </p:txBody>
      </p:sp>
      <p:sp>
        <p:nvSpPr>
          <p:cNvPr id="3" name="footer_course">
            <a:extLst>
              <a:ext uri="{FF2B5EF4-FFF2-40B4-BE49-F238E27FC236}">
                <a16:creationId xmlns:a16="http://schemas.microsoft.com/office/drawing/2014/main" id="{5C6FD787-1CF6-4C6B-B0D8-D8DF7D15D23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55D5867-6860-4504-8486-FBF36BC5C7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mc:AlternateContent xmlns:mc="http://schemas.openxmlformats.org/markup-compatibility/2006" xmlns:a14="http://schemas.microsoft.com/office/drawing/2010/main">
        <mc:Choice Requires="a14">
          <p:sp>
            <p:nvSpPr>
              <p:cNvPr id="5" name="equation_1" descr="f(\mathbf{x})=b+\sum_{j=1}^{m}w_j\phi_j(\mathbf{x})">
                <a:extLst>
                  <a:ext uri="{FF2B5EF4-FFF2-40B4-BE49-F238E27FC236}">
                    <a16:creationId xmlns:a16="http://schemas.microsoft.com/office/drawing/2014/main" id="{68E39FFA-75E0-486B-BAB7-72CFB1AFFF75}"/>
                  </a:ext>
                </a:extLst>
              </p:cNvPr>
              <p:cNvSpPr>
                <a:spLocks noGrp="1"/>
              </p:cNvSpPr>
              <p:nvPr/>
            </p:nvSpPr>
            <p:spPr>
              <a:xfrm>
                <a:off x="476250" y="1594580"/>
                <a:ext cx="10668000" cy="209397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𝑓</m:t>
                      </m:r>
                      <m:d>
                        <m:dPr>
                          <m:ctrlPr>
                            <a:rPr lang="en-GB" sz="3600" smtClean="0">
                              <a:solidFill>
                                <a:srgbClr val="087F83"/>
                              </a:solidFill>
                              <a:latin typeface="Cambria Math"/>
                              <a:ea typeface="Cambria Math"/>
                              <a:cs typeface="Cambria Math"/>
                            </a:rPr>
                          </m:ctrlPr>
                        </m:dPr>
                        <m:e>
                          <m:r>
                            <a:rPr lang="en-GB" sz="3600" smtClean="0">
                              <a:solidFill>
                                <a:srgbClr val="087F83"/>
                              </a:solidFill>
                              <a:latin typeface="Cambria Math"/>
                              <a:ea typeface="Cambria Math"/>
                              <a:cs typeface="Cambria Math"/>
                            </a:rPr>
                            <m:t>𝐱</m:t>
                          </m:r>
                        </m:e>
                      </m:d>
                      <m:r>
                        <a:rPr lang="en-GB" sz="3600" smtClean="0">
                          <a:solidFill>
                            <a:srgbClr val="087F83"/>
                          </a:solidFill>
                          <a:latin typeface="Cambria Math"/>
                          <a:ea typeface="Cambria Math"/>
                          <a:cs typeface="Cambria Math"/>
                        </a:rPr>
                        <m:t>=</m:t>
                      </m:r>
                      <m:r>
                        <a:rPr lang="en-GB" sz="3600" smtClean="0">
                          <a:solidFill>
                            <a:srgbClr val="087F83"/>
                          </a:solidFill>
                          <a:latin typeface="Cambria Math"/>
                          <a:ea typeface="Cambria Math"/>
                          <a:cs typeface="Cambria Math"/>
                        </a:rPr>
                        <m:t>𝑏</m:t>
                      </m:r>
                      <m:r>
                        <a:rPr lang="en-GB" sz="3600" smtClean="0">
                          <a:solidFill>
                            <a:srgbClr val="087F83"/>
                          </a:solidFill>
                          <a:latin typeface="Cambria Math"/>
                          <a:ea typeface="Cambria Math"/>
                          <a:cs typeface="Cambria Math"/>
                        </a:rPr>
                        <m:t>+</m:t>
                      </m:r>
                      <m:nary>
                        <m:naryPr>
                          <m:chr m:val="∑"/>
                          <m:limLoc m:val="undOvr"/>
                          <m:ctrlPr>
                            <a:rPr lang="en-GB" sz="3600">
                              <a:solidFill>
                                <a:srgbClr val="087F83"/>
                              </a:solidFill>
                              <a:latin typeface="Cambria Math"/>
                              <a:ea typeface="Cambria Math"/>
                              <a:cs typeface="Cambria Math"/>
                            </a:rPr>
                          </m:ctrlPr>
                        </m:naryPr>
                        <m:sub>
                          <m:r>
                            <a:rPr lang="en-GB" sz="3600">
                              <a:solidFill>
                                <a:srgbClr val="087F83"/>
                              </a:solidFill>
                              <a:latin typeface="Cambria Math"/>
                              <a:ea typeface="Cambria Math"/>
                              <a:cs typeface="Cambria Math"/>
                            </a:rPr>
                            <m:t>𝑗</m:t>
                          </m:r>
                          <m:r>
                            <a:rPr lang="en-GB" sz="3600">
                              <a:solidFill>
                                <a:srgbClr val="087F83"/>
                              </a:solidFill>
                              <a:latin typeface="Cambria Math"/>
                              <a:ea typeface="Cambria Math"/>
                              <a:cs typeface="Cambria Math"/>
                            </a:rPr>
                            <m:t>=1</m:t>
                          </m:r>
                        </m:sub>
                        <m:sup>
                          <m:r>
                            <a:rPr lang="en-GB" sz="3600">
                              <a:solidFill>
                                <a:srgbClr val="087F83"/>
                              </a:solidFill>
                              <a:latin typeface="Cambria Math"/>
                              <a:ea typeface="Cambria Math"/>
                              <a:cs typeface="Cambria Math"/>
                            </a:rPr>
                            <m:t>𝑚</m:t>
                          </m:r>
                        </m:sup>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𝑤</m:t>
                              </m:r>
                            </m:e>
                            <m:sub>
                              <m:r>
                                <a:rPr lang="en-GB" sz="3600">
                                  <a:solidFill>
                                    <a:srgbClr val="087F83"/>
                                  </a:solidFill>
                                  <a:latin typeface="Cambria Math"/>
                                  <a:ea typeface="Cambria Math"/>
                                  <a:cs typeface="Cambria Math"/>
                                </a:rPr>
                                <m:t>𝑗</m:t>
                              </m:r>
                            </m:sub>
                          </m:sSub>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𝜙</m:t>
                              </m:r>
                            </m:e>
                            <m:sub>
                              <m:r>
                                <a:rPr lang="en-GB" sz="3600">
                                  <a:solidFill>
                                    <a:srgbClr val="087F83"/>
                                  </a:solidFill>
                                  <a:latin typeface="Cambria Math"/>
                                  <a:ea typeface="Cambria Math"/>
                                  <a:cs typeface="Cambria Math"/>
                                </a:rPr>
                                <m:t>𝑗</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nary>
                    </m:oMath>
                  </m:oMathPara>
                </a14:m>
                <a:endParaRPr lang="en-GB" sz="3600" dirty="0"/>
              </a:p>
            </p:txBody>
          </p:sp>
        </mc:Choice>
        <mc:Fallback xmlns="">
          <p:sp>
            <p:nvSpPr>
              <p:cNvPr id="5" name="equation_1" descr="f(\mathbf{x})=b+\sum_{j=1}^{m}w_j\phi_j(\mathbf{x})">
                <a:extLst>
                  <a:ext uri="{FF2B5EF4-FFF2-40B4-BE49-F238E27FC236}">
                    <a16:creationId xmlns:a16="http://schemas.microsoft.com/office/drawing/2014/main" id="{68E39FFA-75E0-486B-BAB7-72CFB1AFFF75}"/>
                  </a:ext>
                </a:extLst>
              </p:cNvPr>
              <p:cNvSpPr>
                <a:spLocks noGrp="1" noRot="1" noChangeAspect="1" noMove="1" noResize="1" noEditPoints="1" noAdjustHandles="1" noChangeArrowheads="1" noChangeShapeType="1" noTextEdit="1"/>
              </p:cNvSpPr>
              <p:nvPr/>
            </p:nvSpPr>
            <p:spPr>
              <a:xfrm>
                <a:off x="476250" y="1594580"/>
                <a:ext cx="10668000" cy="2093976"/>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A5D4D29-4DB3-4F1D-90B4-B124613B6FF0}"/>
              </a:ext>
            </a:extLst>
          </p:cNvPr>
          <p:cNvSpPr>
            <a:spLocks noGrp="1"/>
          </p:cNvSpPr>
          <p:nvPr/>
        </p:nvSpPr>
        <p:spPr>
          <a:xfrm>
            <a:off x="714375" y="3662458"/>
            <a:ext cx="5095875" cy="785622"/>
          </a:xfrm>
          <a:prstGeom prst="rect">
            <a:avLst/>
          </a:prstGeom>
          <a:noFill/>
          <a:ln w="0">
            <a:noFill/>
          </a:ln>
        </p:spPr>
        <p:txBody>
          <a:bodyPr wrap="none" lIns="0" tIns="0" rIns="0" bIns="0" anchor="ctr">
            <a:noAutofit/>
          </a:bodyPr>
          <a:lstStyle/>
          <a:p>
            <a:pPr algn="ctr"/>
            <a:r>
              <a:rPr lang="en-GB" sz="2200" b="1">
                <a:solidFill>
                  <a:srgbClr val="182D45"/>
                </a:solidFill>
                <a:latin typeface="DejaVu Sans"/>
              </a:rPr>
              <a:t>Feature functions with</a:t>
            </a:r>
            <a:endParaRPr lang="en-GB" sz="2200"/>
          </a:p>
          <a:p>
            <a:pPr algn="ctr"/>
            <a:r>
              <a:rPr lang="en-GB" sz="2200" b="1">
                <a:solidFill>
                  <a:srgbClr val="182D45"/>
                </a:solidFill>
                <a:latin typeface="DejaVu Sans"/>
              </a:rPr>
              <a:t>adjustable parameters</a:t>
            </a:r>
            <a:endParaRPr lang="en-GB" sz="2200"/>
          </a:p>
        </p:txBody>
      </p:sp>
      <mc:AlternateContent xmlns:mc="http://schemas.openxmlformats.org/markup-compatibility/2006" xmlns:a14="http://schemas.microsoft.com/office/drawing/2010/main">
        <mc:Choice Requires="a14">
          <p:sp>
            <p:nvSpPr>
              <p:cNvPr id="7" name="equation_3" descr="\phi_1,\ldots,\phi_m">
                <a:extLst>
                  <a:ext uri="{FF2B5EF4-FFF2-40B4-BE49-F238E27FC236}">
                    <a16:creationId xmlns:a16="http://schemas.microsoft.com/office/drawing/2014/main" id="{2F0861F5-3CED-4EA6-A22C-5B4B7B32B8C6}"/>
                  </a:ext>
                </a:extLst>
              </p:cNvPr>
              <p:cNvSpPr>
                <a:spLocks noGrp="1"/>
              </p:cNvSpPr>
              <p:nvPr/>
            </p:nvSpPr>
            <p:spPr>
              <a:xfrm>
                <a:off x="714375" y="4385119"/>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7" name="equation_3" descr="\phi_1,\ldots,\phi_m">
                <a:extLst>
                  <a:ext uri="{FF2B5EF4-FFF2-40B4-BE49-F238E27FC236}">
                    <a16:creationId xmlns:a16="http://schemas.microsoft.com/office/drawing/2014/main" id="{2F0861F5-3CED-4EA6-A22C-5B4B7B32B8C6}"/>
                  </a:ext>
                </a:extLst>
              </p:cNvPr>
              <p:cNvSpPr>
                <a:spLocks noGrp="1" noRot="1" noChangeAspect="1" noMove="1" noResize="1" noEditPoints="1" noAdjustHandles="1" noChangeArrowheads="1" noChangeShapeType="1" noTextEdit="1"/>
              </p:cNvSpPr>
              <p:nvPr/>
            </p:nvSpPr>
            <p:spPr>
              <a:xfrm>
                <a:off x="714375" y="4385119"/>
                <a:ext cx="5095875" cy="6667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E557E98-F97E-440D-AD7F-E6C9F0B51EAB}"/>
              </a:ext>
            </a:extLst>
          </p:cNvPr>
          <p:cNvSpPr>
            <a:spLocks noGrp="1"/>
          </p:cNvSpPr>
          <p:nvPr/>
        </p:nvSpPr>
        <p:spPr>
          <a:xfrm>
            <a:off x="6286500" y="3640931"/>
            <a:ext cx="5238750" cy="7810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Parameters combining</a:t>
            </a:r>
            <a:r>
              <a:rPr lang="it-IT" sz="2175" b="1" dirty="0">
                <a:solidFill>
                  <a:srgbClr val="182D45"/>
                </a:solidFill>
                <a:latin typeface="DejaVu Sans"/>
                <a:ea typeface="DejaVu Sans"/>
                <a:cs typeface="DejaVu Sans"/>
              </a:rPr>
              <a:t> </a:t>
            </a:r>
            <a:r>
              <a:rPr sz="2175" b="1" dirty="0">
                <a:solidFill>
                  <a:srgbClr val="182D45"/>
                </a:solidFill>
                <a:latin typeface="DejaVu Sans"/>
                <a:ea typeface="DejaVu Sans"/>
                <a:cs typeface="DejaVu Sans"/>
              </a:rPr>
              <a:t>the values</a:t>
            </a:r>
            <a:r>
              <a:rPr lang="it-IT" sz="2175" b="1" dirty="0">
                <a:solidFill>
                  <a:srgbClr val="182D45"/>
                </a:solidFill>
                <a:latin typeface="DejaVu Sans"/>
                <a:ea typeface="DejaVu Sans"/>
                <a:cs typeface="DejaVu Sans"/>
              </a:rPr>
              <a:t> of the feature </a:t>
            </a:r>
            <a:r>
              <a:rPr lang="it-IT" sz="2175" b="1" dirty="0" err="1">
                <a:solidFill>
                  <a:srgbClr val="182D45"/>
                </a:solidFill>
                <a:latin typeface="DejaVu Sans"/>
                <a:ea typeface="DejaVu Sans"/>
                <a:cs typeface="DejaVu Sans"/>
              </a:rPr>
              <a:t>functions</a:t>
            </a:r>
            <a:endParaRPr sz="2175"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9" name="equation_5" descr="b,\ w_1,\ldots,w_m">
                <a:extLst>
                  <a:ext uri="{FF2B5EF4-FFF2-40B4-BE49-F238E27FC236}">
                    <a16:creationId xmlns:a16="http://schemas.microsoft.com/office/drawing/2014/main" id="{6F5E3962-D00D-46F7-BBDF-C6710DE713E0}"/>
                  </a:ext>
                </a:extLst>
              </p:cNvPr>
              <p:cNvSpPr>
                <a:spLocks noGrp="1"/>
              </p:cNvSpPr>
              <p:nvPr/>
            </p:nvSpPr>
            <p:spPr>
              <a:xfrm>
                <a:off x="6381750" y="4385119"/>
                <a:ext cx="5238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9" name="equation_5" descr="b,\ w_1,\ldots,w_m">
                <a:extLst>
                  <a:ext uri="{FF2B5EF4-FFF2-40B4-BE49-F238E27FC236}">
                    <a16:creationId xmlns:a16="http://schemas.microsoft.com/office/drawing/2014/main" id="{6F5E3962-D00D-46F7-BBDF-C6710DE713E0}"/>
                  </a:ext>
                </a:extLst>
              </p:cNvPr>
              <p:cNvSpPr>
                <a:spLocks noGrp="1" noRot="1" noChangeAspect="1" noMove="1" noResize="1" noEditPoints="1" noAdjustHandles="1" noChangeArrowheads="1" noChangeShapeType="1" noTextEdit="1"/>
              </p:cNvSpPr>
              <p:nvPr/>
            </p:nvSpPr>
            <p:spPr>
              <a:xfrm>
                <a:off x="6381750" y="4385119"/>
                <a:ext cx="5238750" cy="666750"/>
              </a:xfrm>
              <a:prstGeom prst="rect">
                <a:avLst/>
              </a:prstGeom>
              <a:blipFill>
                <a:blip r:embed="rId5"/>
                <a:stretch>
                  <a:fillRect/>
                </a:stretch>
              </a:blipFill>
              <a:ln w="0">
                <a:noFill/>
              </a:ln>
            </p:spPr>
            <p:txBody>
              <a:bodyPr/>
              <a:lstStyle/>
              <a:p>
                <a:r>
                  <a:rPr lang="it-IT">
                    <a:noFill/>
                  </a:rPr>
                  <a:t> </a:t>
                </a:r>
              </a:p>
            </p:txBody>
          </p:sp>
        </mc:Fallback>
      </mc:AlternateContent>
      <p:sp>
        <p:nvSpPr>
          <p:cNvPr id="13" name="text_6">
            <a:extLst>
              <a:ext uri="{FF2B5EF4-FFF2-40B4-BE49-F238E27FC236}">
                <a16:creationId xmlns:a16="http://schemas.microsoft.com/office/drawing/2014/main" id="{CD5884E1-25C0-54A3-8C41-D6675A18290B}"/>
              </a:ext>
            </a:extLst>
          </p:cNvPr>
          <p:cNvSpPr>
            <a:spLocks noGrp="1"/>
          </p:cNvSpPr>
          <p:nvPr/>
        </p:nvSpPr>
        <p:spPr>
          <a:xfrm>
            <a:off x="285750" y="5257800"/>
            <a:ext cx="11049000" cy="52387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How do </a:t>
            </a:r>
            <a:r>
              <a:rPr lang="it-IT" sz="2100" b="1" dirty="0" err="1">
                <a:solidFill>
                  <a:srgbClr val="182D45"/>
                </a:solidFill>
                <a:latin typeface="DejaVu Sans"/>
                <a:ea typeface="DejaVu Sans"/>
                <a:cs typeface="DejaVu Sans"/>
              </a:rPr>
              <a:t>we</a:t>
            </a:r>
            <a:r>
              <a:rPr lang="it-IT" sz="2100" b="1" dirty="0">
                <a:solidFill>
                  <a:srgbClr val="182D45"/>
                </a:solidFill>
                <a:latin typeface="DejaVu Sans"/>
                <a:ea typeface="DejaVu Sans"/>
                <a:cs typeface="DejaVu Sans"/>
              </a:rPr>
              <a:t> do </a:t>
            </a:r>
            <a:r>
              <a:rPr lang="it-IT" sz="2100" b="1" dirty="0" err="1">
                <a:solidFill>
                  <a:srgbClr val="182D45"/>
                </a:solidFill>
                <a:latin typeface="DejaVu Sans"/>
                <a:ea typeface="DejaVu Sans"/>
                <a:cs typeface="DejaVu Sans"/>
              </a:rPr>
              <a:t>that</a:t>
            </a:r>
            <a:r>
              <a:rPr lang="it-IT" sz="2100" b="1" dirty="0">
                <a:solidFill>
                  <a:srgbClr val="182D45"/>
                </a:solidFill>
                <a:latin typeface="DejaVu Sans"/>
                <a:ea typeface="DejaVu Sans"/>
                <a:cs typeface="DejaVu Sans"/>
              </a:rPr>
              <a:t>?</a:t>
            </a:r>
          </a:p>
        </p:txBody>
      </p:sp>
      <p:sp>
        <p:nvSpPr>
          <p:cNvPr id="15" name="text_6">
            <a:extLst>
              <a:ext uri="{FF2B5EF4-FFF2-40B4-BE49-F238E27FC236}">
                <a16:creationId xmlns:a16="http://schemas.microsoft.com/office/drawing/2014/main" id="{38F702B2-5DF7-4FC9-1C5E-5EB9790C8CEE}"/>
              </a:ext>
            </a:extLst>
          </p:cNvPr>
          <p:cNvSpPr>
            <a:spLocks noGrp="1"/>
          </p:cNvSpPr>
          <p:nvPr/>
        </p:nvSpPr>
        <p:spPr>
          <a:xfrm>
            <a:off x="571500" y="5857875"/>
            <a:ext cx="11049000" cy="404432"/>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First, let us try </a:t>
            </a:r>
            <a:r>
              <a:rPr sz="2100" b="1" dirty="0">
                <a:solidFill>
                  <a:srgbClr val="FF0000"/>
                </a:solidFill>
                <a:latin typeface="DejaVu Sans"/>
                <a:ea typeface="DejaVu Sans"/>
                <a:cs typeface="DejaVu Sans"/>
              </a:rPr>
              <a:t>affine feature functions</a:t>
            </a:r>
            <a:r>
              <a:rPr sz="2100" b="1" dirty="0">
                <a:solidFill>
                  <a:srgbClr val="182D45"/>
                </a:solidFill>
                <a:latin typeface="DejaVu Sans"/>
                <a:ea typeface="DejaVu Sans"/>
                <a:cs typeface="DejaVu Sans"/>
              </a:rPr>
              <a:t> with adjustable coefficients.</a:t>
            </a:r>
          </a:p>
        </p:txBody>
      </p:sp>
    </p:spTree>
    <p:extLst>
      <p:ext uri="{BB962C8B-B14F-4D97-AF65-F5344CB8AC3E}">
        <p14:creationId xmlns:p14="http://schemas.microsoft.com/office/powerpoint/2010/main" val="163222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68942FD2-2E0A-4671-8B1D-3A22EC40820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 first idea: affine feature functions</a:t>
            </a:r>
          </a:p>
        </p:txBody>
      </p:sp>
      <p:sp>
        <p:nvSpPr>
          <p:cNvPr id="2" name="lead">
            <a:extLst>
              <a:ext uri="{FF2B5EF4-FFF2-40B4-BE49-F238E27FC236}">
                <a16:creationId xmlns:a16="http://schemas.microsoft.com/office/drawing/2014/main" id="{937CAD97-0307-4227-9B39-8A8A06AF8B9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M</a:t>
            </a:r>
            <a:r>
              <a:rPr sz="2175" b="0" dirty="0" err="1">
                <a:solidFill>
                  <a:srgbClr val="526276"/>
                </a:solidFill>
                <a:latin typeface="DejaVu Sans"/>
                <a:ea typeface="DejaVu Sans"/>
                <a:cs typeface="DejaVu Sans"/>
              </a:rPr>
              <a:t>ake</a:t>
            </a:r>
            <a:r>
              <a:rPr sz="2175" b="0" dirty="0">
                <a:solidFill>
                  <a:srgbClr val="526276"/>
                </a:solidFill>
                <a:latin typeface="DejaVu Sans"/>
                <a:ea typeface="DejaVu Sans"/>
                <a:cs typeface="DejaVu Sans"/>
              </a:rPr>
              <a:t> each feature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map</a:t>
            </a:r>
            <a:r>
              <a:rPr sz="2175" b="0" dirty="0">
                <a:solidFill>
                  <a:srgbClr val="526276"/>
                </a:solidFill>
                <a:latin typeface="DejaVu Sans"/>
                <a:ea typeface="DejaVu Sans"/>
                <a:cs typeface="DejaVu Sans"/>
              </a:rPr>
              <a:t> an </a:t>
            </a:r>
            <a:r>
              <a:rPr sz="2175" b="0" dirty="0">
                <a:solidFill>
                  <a:srgbClr val="FF0000"/>
                </a:solidFill>
                <a:latin typeface="DejaVu Sans"/>
                <a:ea typeface="DejaVu Sans"/>
                <a:cs typeface="DejaVu Sans"/>
              </a:rPr>
              <a:t>affine</a:t>
            </a:r>
            <a:r>
              <a:rPr sz="2175" b="0" dirty="0">
                <a:solidFill>
                  <a:srgbClr val="526276"/>
                </a:solidFill>
                <a:latin typeface="DejaVu Sans"/>
                <a:ea typeface="DejaVu Sans"/>
                <a:cs typeface="DejaVu Sans"/>
              </a:rPr>
              <a:t> function of the input.</a:t>
            </a:r>
          </a:p>
        </p:txBody>
      </p:sp>
      <p:sp>
        <p:nvSpPr>
          <p:cNvPr id="3" name="footer_course">
            <a:extLst>
              <a:ext uri="{FF2B5EF4-FFF2-40B4-BE49-F238E27FC236}">
                <a16:creationId xmlns:a16="http://schemas.microsoft.com/office/drawing/2014/main" id="{98C3783D-133F-490C-8108-80870F7ED16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DE3DDDB-19EB-49F0-9981-4990FF74A74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p:cNvSpPr>
              <p:nvPr/>
            </p:nvSpPr>
            <p:spPr>
              <a:xfrm>
                <a:off x="571500" y="1819275"/>
                <a:ext cx="11144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smtClean="0">
                          <a:solidFill>
                            <a:srgbClr val="087F83"/>
                          </a:solidFill>
                          <a:latin typeface="Cambria Math" panose="02040503050406030204" pitchFamily="18" charset="0"/>
                          <a:ea typeface="Cambria Math"/>
                          <a:cs typeface="Cambria Math"/>
                        </a:rPr>
                        <m:t>𝐱</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𝑑</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𝑑</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𝐖</m:t>
                      </m:r>
                      <m:r>
                        <a:rPr lang="it-IT" sz="2300" b="0" i="0" smtClean="0">
                          <a:solidFill>
                            <a:srgbClr val="087F83"/>
                          </a:solidFill>
                          <a:latin typeface="Cambria Math" panose="02040503050406030204" pitchFamily="18" charset="0"/>
                          <a:ea typeface="Cambria Math"/>
                          <a:cs typeface="Cambria Math"/>
                        </a:rPr>
                        <m:t>=</m:t>
                      </m:r>
                      <m:d>
                        <m:dPr>
                          <m:ctrlPr>
                            <a:rPr lang="it-IT" sz="2300" i="1">
                              <a:solidFill>
                                <a:srgbClr val="087F83"/>
                              </a:solidFill>
                              <a:latin typeface="Cambria Math" panose="02040503050406030204" pitchFamily="18" charset="0"/>
                            </a:rPr>
                          </m:ctrlPr>
                        </m:dPr>
                        <m:e>
                          <m:m>
                            <m:mPr>
                              <m:mcs>
                                <m:mc>
                                  <m:mcPr>
                                    <m:count m:val="3"/>
                                    <m:mcJc m:val="center"/>
                                  </m:mcPr>
                                </m:mc>
                              </m:mcs>
                              <m:ctrlPr>
                                <a:rPr lang="it-IT" sz="2300" i="1">
                                  <a:solidFill>
                                    <a:srgbClr val="087F83"/>
                                  </a:solidFill>
                                  <a:latin typeface="Cambria Math" panose="02040503050406030204" pitchFamily="18" charset="0"/>
                                </a:rPr>
                              </m:ctrlPr>
                            </m:mP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i="1">
                                        <a:solidFill>
                                          <a:srgbClr val="087F83"/>
                                        </a:solidFill>
                                        <a:latin typeface="Cambria Math" panose="02040503050406030204" pitchFamily="18" charset="0"/>
                                      </a:rPr>
                                      <m:t>11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1</m:t>
                                    </m:r>
                                    <m:r>
                                      <a:rPr lang="it-IT" sz="2300" i="1">
                                        <a:solidFill>
                                          <a:srgbClr val="087F83"/>
                                        </a:solidFill>
                                        <a:latin typeface="Cambria Math" panose="02040503050406030204" pitchFamily="18" charset="0"/>
                                      </a:rPr>
                                      <m:t>𝑚</m:t>
                                    </m:r>
                                  </m:sub>
                                </m:sSub>
                              </m:e>
                            </m:mr>
                            <m:mr>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m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𝑚</m:t>
                                    </m:r>
                                  </m:sub>
                                </m:sSub>
                              </m:e>
                            </m:mr>
                          </m:m>
                        </m:e>
                      </m:d>
                      <m:r>
                        <a:rPr lang="it-IT" sz="2300" b="0" i="1" smtClean="0">
                          <a:solidFill>
                            <a:srgbClr val="087F83"/>
                          </a:solidFill>
                          <a:latin typeface="Cambria Math" panose="02040503050406030204" pitchFamily="18" charset="0"/>
                        </a:rPr>
                        <m:t> </m:t>
                      </m:r>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𝑑</m:t>
                          </m:r>
                          <m:r>
                            <a:rPr lang="en-GB" sz="2300">
                              <a:solidFill>
                                <a:srgbClr val="087F83"/>
                              </a:solidFill>
                              <a:latin typeface="Cambria Math" panose="02040503050406030204" pitchFamily="18" charset="0"/>
                              <a:ea typeface="Cambria Math"/>
                              <a:cs typeface="Cambria Math"/>
                            </a:rPr>
                            <m:t>×</m:t>
                          </m:r>
                          <m:r>
                            <a:rPr lang="en-GB" sz="2300">
                              <a:solidFill>
                                <a:srgbClr val="087F83"/>
                              </a:solidFill>
                              <a:latin typeface="Cambria Math" panose="02040503050406030204" pitchFamily="18" charset="0"/>
                              <a:ea typeface="Cambria Math"/>
                              <a:cs typeface="Cambria Math"/>
                            </a:rPr>
                            <m:t>𝑚</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𝐛</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𝑚</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𝑚</m:t>
                          </m:r>
                        </m:sup>
                      </m:sSup>
                    </m:oMath>
                  </m:oMathPara>
                </a14:m>
                <a:endParaRPr lang="en-GB" sz="2300" dirty="0">
                  <a:solidFill>
                    <a:srgbClr val="087F83"/>
                  </a:solidFill>
                </a:endParaRPr>
              </a:p>
            </p:txBody>
          </p:sp>
        </mc:Choice>
        <mc:Fallback xmlns="">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noRot="1" noChangeAspect="1" noMove="1" noResize="1" noEditPoints="1" noAdjustHandles="1" noChangeArrowheads="1" noChangeShapeType="1" noTextEdit="1"/>
              </p:cNvSpPr>
              <p:nvPr/>
            </p:nvSpPr>
            <p:spPr>
              <a:xfrm>
                <a:off x="571500" y="1819275"/>
                <a:ext cx="11144250" cy="904875"/>
              </a:xfrm>
              <a:prstGeom prst="rect">
                <a:avLst/>
              </a:prstGeom>
              <a:blipFill>
                <a:blip r:embed="rId3"/>
                <a:stretch>
                  <a:fillRect b="-46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p:cNvSpPr>
              <p:nvPr/>
            </p:nvSpPr>
            <p:spPr>
              <a:xfrm>
                <a:off x="523875" y="3057525"/>
                <a:ext cx="1114425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𝜙</m:t>
                          </m:r>
                        </m:e>
                        <m:sub>
                          <m:r>
                            <a:rPr lang="en-GB" sz="3100">
                              <a:solidFill>
                                <a:srgbClr val="087F83"/>
                              </a:solidFill>
                              <a:latin typeface="Cambria Math"/>
                              <a:ea typeface="Cambria Math"/>
                              <a:cs typeface="Cambria Math"/>
                            </a:rPr>
                            <m:t>𝑗</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it-IT" sz="3200" b="0" i="0" smtClean="0">
                          <a:solidFill>
                            <a:srgbClr val="087F83"/>
                          </a:solidFill>
                          <a:latin typeface="Cambria Math" panose="02040503050406030204" pitchFamily="18" charset="0"/>
                          <a:ea typeface="Cambria Math"/>
                          <a:cs typeface="Cambria Math"/>
                        </a:rPr>
                        <m:t>=</m:t>
                      </m:r>
                      <m:limLow>
                        <m:limLowPr>
                          <m:ctrlPr>
                            <a:rPr lang="en-GB" sz="31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𝑘</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𝑑</m:t>
                                  </m:r>
                                </m:sup>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𝑥</m:t>
                                      </m:r>
                                    </m:e>
                                    <m:sub>
                                      <m:r>
                                        <a:rPr lang="en-GB" sz="3100">
                                          <a:solidFill>
                                            <a:srgbClr val="087F83"/>
                                          </a:solidFill>
                                          <a:latin typeface="Cambria Math"/>
                                          <a:ea typeface="Cambria Math"/>
                                          <a:cs typeface="Cambria Math"/>
                                        </a:rPr>
                                        <m:t>𝑘</m:t>
                                      </m:r>
                                    </m:sub>
                                  </m:sSub>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𝑊</m:t>
                                      </m:r>
                                    </m:e>
                                    <m:sub>
                                      <m:r>
                                        <a:rPr lang="en-GB" sz="3100">
                                          <a:solidFill>
                                            <a:srgbClr val="087F83"/>
                                          </a:solidFill>
                                          <a:latin typeface="Cambria Math"/>
                                          <a:ea typeface="Cambria Math"/>
                                          <a:cs typeface="Cambria Math"/>
                                        </a:rPr>
                                        <m:t>𝑘𝑗</m:t>
                                      </m:r>
                                    </m:sub>
                                  </m:sSub>
                                </m:e>
                              </m:nary>
                            </m:e>
                          </m:groupChr>
                        </m:e>
                        <m:lim>
                          <m:r>
                            <m:rPr>
                              <m:sty m:val="p"/>
                            </m:rPr>
                            <a:rPr lang="it-IT" sz="3100" b="0" i="0" smtClean="0">
                              <a:solidFill>
                                <a:srgbClr val="087F83"/>
                              </a:solidFill>
                              <a:latin typeface="Cambria Math" panose="02040503050406030204" pitchFamily="18" charset="0"/>
                              <a:ea typeface="Cambria Math"/>
                            </a:rPr>
                            <m:t>weighted</m:t>
                          </m:r>
                          <m:r>
                            <a:rPr lang="it-IT" sz="3100" b="0" i="0" smtClean="0">
                              <a:solidFill>
                                <a:srgbClr val="087F83"/>
                              </a:solidFill>
                              <a:latin typeface="Cambria Math" panose="02040503050406030204" pitchFamily="18" charset="0"/>
                              <a:ea typeface="Cambria Math"/>
                            </a:rPr>
                            <m:t> </m:t>
                          </m:r>
                          <m:r>
                            <m:rPr>
                              <m:sty m:val="p"/>
                            </m:rPr>
                            <a:rPr lang="it-IT" sz="3100" b="0" i="0" smtClean="0">
                              <a:solidFill>
                                <a:srgbClr val="087F83"/>
                              </a:solidFill>
                              <a:latin typeface="Cambria Math" panose="02040503050406030204" pitchFamily="18" charset="0"/>
                              <a:ea typeface="Cambria Math"/>
                            </a:rPr>
                            <m:t>sum</m:t>
                          </m:r>
                        </m:lim>
                      </m:limLow>
                      <m:r>
                        <a:rPr lang="en-GB" sz="3100">
                          <a:solidFill>
                            <a:srgbClr val="087F83"/>
                          </a:solidFill>
                          <a:latin typeface="Cambria Math"/>
                          <a:ea typeface="Cambria Math"/>
                          <a:cs typeface="Cambria Math"/>
                        </a:rPr>
                        <m:t>+</m:t>
                      </m:r>
                      <m:limLow>
                        <m:limLowPr>
                          <m:ctrlPr>
                            <a:rPr lang="en-GB" sz="31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𝑗</m:t>
                                  </m:r>
                                </m:sub>
                              </m:sSub>
                            </m:e>
                          </m:groupChr>
                        </m:e>
                        <m:lim>
                          <m:r>
                            <m:rPr>
                              <m:sty m:val="p"/>
                            </m:rPr>
                            <a:rPr lang="it-IT" sz="3100" b="0" i="0" smtClean="0">
                              <a:solidFill>
                                <a:srgbClr val="087F83"/>
                              </a:solidFill>
                              <a:latin typeface="Cambria Math" panose="02040503050406030204" pitchFamily="18" charset="0"/>
                              <a:ea typeface="Cambria Math"/>
                            </a:rPr>
                            <m:t>bias</m:t>
                          </m:r>
                        </m:lim>
                      </m:limLow>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𝑗</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𝑚</m:t>
                      </m:r>
                    </m:oMath>
                  </m:oMathPara>
                </a14:m>
                <a:endParaRPr lang="en-GB" sz="3100" dirty="0"/>
              </a:p>
            </p:txBody>
          </p:sp>
        </mc:Choice>
        <mc:Fallback xmlns="">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noRot="1" noChangeAspect="1" noMove="1" noResize="1" noEditPoints="1" noAdjustHandles="1" noChangeArrowheads="1" noChangeShapeType="1" noTextEdit="1"/>
              </p:cNvSpPr>
              <p:nvPr/>
            </p:nvSpPr>
            <p:spPr>
              <a:xfrm>
                <a:off x="523875" y="3057525"/>
                <a:ext cx="11144250" cy="1047750"/>
              </a:xfrm>
              <a:prstGeom prst="rect">
                <a:avLst/>
              </a:prstGeom>
              <a:blipFill>
                <a:blip r:embed="rId4"/>
                <a:stretch>
                  <a:fillRect t="-30994" b="-356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p:cNvSpPr>
              <p:nvPr/>
            </p:nvSpPr>
            <p:spPr>
              <a:xfrm>
                <a:off x="323850" y="4514850"/>
                <a:ext cx="11144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𝛟</m:t>
                      </m:r>
                      <m:d>
                        <m:dPr>
                          <m:ctrlPr>
                            <a:rPr lang="en-GB" sz="2900" smtClean="0">
                              <a:solidFill>
                                <a:srgbClr val="087F83"/>
                              </a:solidFill>
                              <a:latin typeface="Cambria Math"/>
                              <a:ea typeface="Cambria Math"/>
                              <a:cs typeface="Cambria Math"/>
                            </a:rPr>
                          </m:ctrlPr>
                        </m:dPr>
                        <m:e>
                          <m:r>
                            <a:rPr lang="en-GB" sz="2900" smtClean="0">
                              <a:solidFill>
                                <a:srgbClr val="087F83"/>
                              </a:solidFill>
                              <a:latin typeface="Cambria Math"/>
                              <a:ea typeface="Cambria Math"/>
                              <a:cs typeface="Cambria Math"/>
                            </a:rPr>
                            <m:t>𝐱</m:t>
                          </m:r>
                        </m:e>
                      </m:d>
                      <m:r>
                        <a:rPr lang="en-GB" sz="2900" smtClean="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𝑚</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r>
                        <a:rPr lang="it-IT" sz="2900" b="0" i="1" smtClean="0">
                          <a:solidFill>
                            <a:srgbClr val="087F83"/>
                          </a:solidFill>
                          <a:latin typeface="Cambria Math" panose="02040503050406030204" pitchFamily="18" charset="0"/>
                          <a:ea typeface="Cambria Math"/>
                          <a:cs typeface="Cambria Math"/>
                        </a:rPr>
                        <m:t>∈</m:t>
                      </m:r>
                      <m:sSup>
                        <m:sSupPr>
                          <m:ctrlPr>
                            <a:rPr lang="it-IT" sz="2900" b="0" i="1" smtClean="0">
                              <a:solidFill>
                                <a:srgbClr val="087F83"/>
                              </a:solidFill>
                              <a:latin typeface="Cambria Math" panose="02040503050406030204" pitchFamily="18" charset="0"/>
                              <a:ea typeface="Cambria Math"/>
                              <a:cs typeface="Cambria Math"/>
                            </a:rPr>
                          </m:ctrlPr>
                        </m:sSupPr>
                        <m:e>
                          <m:r>
                            <a:rPr lang="it-IT" sz="2900" b="0" i="1" smtClean="0">
                              <a:solidFill>
                                <a:srgbClr val="087F83"/>
                              </a:solidFill>
                              <a:latin typeface="Cambria Math" panose="02040503050406030204" pitchFamily="18" charset="0"/>
                              <a:ea typeface="Cambria Math"/>
                              <a:cs typeface="Cambria Math"/>
                            </a:rPr>
                            <m:t>ℝ</m:t>
                          </m:r>
                        </m:e>
                        <m:sup>
                          <m:r>
                            <a:rPr lang="it-IT" sz="2900" b="0" i="1" smtClean="0">
                              <a:solidFill>
                                <a:srgbClr val="087F83"/>
                              </a:solidFill>
                              <a:latin typeface="Cambria Math" panose="02040503050406030204" pitchFamily="18" charset="0"/>
                              <a:ea typeface="Cambria Math"/>
                              <a:cs typeface="Cambria Math"/>
                            </a:rPr>
                            <m:t>1×</m:t>
                          </m:r>
                          <m:r>
                            <a:rPr lang="it-IT" sz="2900" b="0" i="1" smtClean="0">
                              <a:solidFill>
                                <a:srgbClr val="087F83"/>
                              </a:solidFill>
                              <a:latin typeface="Cambria Math" panose="02040503050406030204" pitchFamily="18" charset="0"/>
                              <a:ea typeface="Cambria Math"/>
                              <a:cs typeface="Cambria Math"/>
                            </a:rPr>
                            <m:t>𝑚</m:t>
                          </m:r>
                        </m:sup>
                      </m:sSup>
                    </m:oMath>
                  </m:oMathPara>
                </a14:m>
                <a:endParaRPr lang="en-GB" sz="2900" dirty="0"/>
              </a:p>
            </p:txBody>
          </p:sp>
        </mc:Choice>
        <mc:Fallback xmlns="">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noRot="1" noChangeAspect="1" noMove="1" noResize="1" noEditPoints="1" noAdjustHandles="1" noChangeArrowheads="1" noChangeShapeType="1" noTextEdit="1"/>
              </p:cNvSpPr>
              <p:nvPr/>
            </p:nvSpPr>
            <p:spPr>
              <a:xfrm>
                <a:off x="323850" y="4514850"/>
                <a:ext cx="111442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akeaway">
                <a:extLst>
                  <a:ext uri="{FF2B5EF4-FFF2-40B4-BE49-F238E27FC236}">
                    <a16:creationId xmlns:a16="http://schemas.microsoft.com/office/drawing/2014/main" id="{3FADF8BD-9254-4D26-B621-55526067650B}"/>
                  </a:ext>
                </a:extLst>
              </p:cNvPr>
              <p:cNvSpPr>
                <a:spLocks noGrp="1"/>
              </p:cNvSpPr>
              <p:nvPr/>
            </p:nvSpPr>
            <p:spPr>
              <a:xfrm>
                <a:off x="523875" y="5757100"/>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The weights </a:t>
                </a:r>
                <a14:m>
                  <m:oMath xmlns:m="http://schemas.openxmlformats.org/officeDocument/2006/math">
                    <m:r>
                      <a:rPr lang="en-GB" sz="2100" b="1" i="0" smtClean="0">
                        <a:solidFill>
                          <a:srgbClr val="FF0000"/>
                        </a:solidFill>
                        <a:latin typeface="Cambria Math" panose="02040503050406030204" pitchFamily="18" charset="0"/>
                        <a:ea typeface="DejaVu Sans"/>
                        <a:cs typeface="DejaVu Sans"/>
                      </a:rPr>
                      <m:t>𝐖</m:t>
                    </m:r>
                  </m:oMath>
                </a14:m>
                <a:r>
                  <a:rPr lang="en-GB" sz="2100" b="1" dirty="0">
                    <a:solidFill>
                      <a:srgbClr val="182D45"/>
                    </a:solidFill>
                    <a:latin typeface="DejaVu Sans"/>
                    <a:ea typeface="DejaVu Sans"/>
                    <a:cs typeface="DejaVu Sans"/>
                  </a:rPr>
                  <a:t> and biases </a:t>
                </a:r>
                <a14:m>
                  <m:oMath xmlns:m="http://schemas.openxmlformats.org/officeDocument/2006/math">
                    <m:r>
                      <a:rPr lang="it-IT" sz="2100" b="1" i="0" smtClean="0">
                        <a:solidFill>
                          <a:srgbClr val="FF0000"/>
                        </a:solidFill>
                        <a:latin typeface="Cambria Math" panose="02040503050406030204" pitchFamily="18" charset="0"/>
                        <a:ea typeface="DejaVu Sans"/>
                        <a:cs typeface="DejaVu Sans"/>
                      </a:rPr>
                      <m:t>𝐛</m:t>
                    </m:r>
                  </m:oMath>
                </a14:m>
                <a:r>
                  <a:rPr lang="en-GB" sz="2100" b="1" dirty="0">
                    <a:solidFill>
                      <a:srgbClr val="182D45"/>
                    </a:solidFill>
                    <a:latin typeface="DejaVu Sans"/>
                    <a:ea typeface="DejaVu Sans"/>
                    <a:cs typeface="DejaVu Sans"/>
                  </a:rPr>
                  <a:t> determine the feature functions.</a:t>
                </a:r>
                <a:endParaRPr sz="2100" b="1" dirty="0">
                  <a:solidFill>
                    <a:srgbClr val="182D45"/>
                  </a:solidFill>
                  <a:latin typeface="DejaVu Sans"/>
                  <a:ea typeface="DejaVu Sans"/>
                  <a:cs typeface="DejaVu Sans"/>
                </a:endParaRPr>
              </a:p>
            </p:txBody>
          </p:sp>
        </mc:Choice>
        <mc:Fallback xmlns="">
          <p:sp>
            <p:nvSpPr>
              <p:cNvPr id="8" name="takeaway">
                <a:extLst>
                  <a:ext uri="{FF2B5EF4-FFF2-40B4-BE49-F238E27FC236}">
                    <a16:creationId xmlns:a16="http://schemas.microsoft.com/office/drawing/2014/main" id="{3FADF8BD-9254-4D26-B621-55526067650B}"/>
                  </a:ext>
                </a:extLst>
              </p:cNvPr>
              <p:cNvSpPr>
                <a:spLocks noGrp="1" noRot="1" noChangeAspect="1" noMove="1" noResize="1" noEditPoints="1" noAdjustHandles="1" noChangeArrowheads="1" noChangeShapeType="1" noTextEdit="1"/>
              </p:cNvSpPr>
              <p:nvPr/>
            </p:nvSpPr>
            <p:spPr>
              <a:xfrm>
                <a:off x="523875" y="5757100"/>
                <a:ext cx="11049000" cy="504825"/>
              </a:xfrm>
              <a:prstGeom prst="rect">
                <a:avLst/>
              </a:prstGeom>
              <a:blipFill>
                <a:blip r:embed="rId6"/>
                <a:stretch>
                  <a:fillRect b="-1445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61985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63827BAC-EDE9-4E31-8073-0B6884A629C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An affine feature and an affine output</a:t>
            </a:r>
          </a:p>
        </p:txBody>
      </p:sp>
      <p:sp>
        <p:nvSpPr>
          <p:cNvPr id="2" name="lead">
            <a:extLst>
              <a:ext uri="{FF2B5EF4-FFF2-40B4-BE49-F238E27FC236}">
                <a16:creationId xmlns:a16="http://schemas.microsoft.com/office/drawing/2014/main" id="{BBF790CD-234F-4EE1-A996-2873D90E0CE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composition</a:t>
            </a:r>
            <a:r>
              <a:rPr lang="it-IT" sz="2175" b="0" dirty="0">
                <a:solidFill>
                  <a:srgbClr val="526276"/>
                </a:solidFill>
                <a:latin typeface="DejaVu Sans"/>
                <a:ea typeface="DejaVu Sans"/>
                <a:cs typeface="DejaVu Sans"/>
              </a:rPr>
              <a:t> of</a:t>
            </a:r>
            <a:r>
              <a:rPr sz="2175" b="0" dirty="0">
                <a:solidFill>
                  <a:srgbClr val="526276"/>
                </a:solidFill>
                <a:latin typeface="DejaVu Sans"/>
                <a:ea typeface="DejaVu Sans"/>
                <a:cs typeface="DejaVu Sans"/>
              </a:rPr>
              <a:t> </a:t>
            </a:r>
            <a:r>
              <a:rPr sz="2175" b="0" dirty="0">
                <a:solidFill>
                  <a:srgbClr val="FF0000"/>
                </a:solidFill>
                <a:latin typeface="DejaVu Sans"/>
                <a:ea typeface="DejaVu Sans"/>
                <a:cs typeface="DejaVu Sans"/>
              </a:rPr>
              <a:t>two 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functions</a:t>
            </a:r>
            <a:r>
              <a:rPr sz="2175" b="0" dirty="0">
                <a:solidFill>
                  <a:srgbClr val="FF0000"/>
                </a:solidFill>
                <a:latin typeface="DejaVu Sans"/>
                <a:ea typeface="DejaVu Sans"/>
                <a:cs typeface="DejaVu Sans"/>
              </a:rPr>
              <a:t> </a:t>
            </a:r>
            <a:r>
              <a:rPr lang="it-IT" sz="2175" b="0" dirty="0" err="1">
                <a:solidFill>
                  <a:srgbClr val="526276"/>
                </a:solidFill>
                <a:latin typeface="DejaVu Sans"/>
                <a:ea typeface="DejaVu Sans"/>
                <a:cs typeface="DejaVu Sans"/>
              </a:rPr>
              <a:t>is</a:t>
            </a:r>
            <a:r>
              <a:rPr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 </a:t>
            </a:r>
            <a:r>
              <a:rPr sz="2175" b="0" dirty="0">
                <a:solidFill>
                  <a:srgbClr val="FF0000"/>
                </a:solidFill>
                <a:latin typeface="DejaVu Sans"/>
                <a:ea typeface="DejaVu Sans"/>
                <a:cs typeface="DejaVu Sans"/>
              </a:rPr>
              <a:t>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a:t>
            </a:r>
            <a:r>
              <a:rPr sz="2175" b="0" dirty="0">
                <a:solidFill>
                  <a:srgbClr val="526276"/>
                </a:solidFill>
                <a:latin typeface="DejaVu Sans"/>
                <a:ea typeface="DejaVu Sans"/>
                <a:cs typeface="DejaVu Sans"/>
              </a:rPr>
              <a:t>.</a:t>
            </a:r>
          </a:p>
        </p:txBody>
      </p:sp>
      <p:sp>
        <p:nvSpPr>
          <p:cNvPr id="3" name="feature_label">
            <a:extLst>
              <a:ext uri="{FF2B5EF4-FFF2-40B4-BE49-F238E27FC236}">
                <a16:creationId xmlns:a16="http://schemas.microsoft.com/office/drawing/2014/main" id="{BBD61A3A-1B28-4E6D-94D6-A9ED3F6323AB}"/>
              </a:ext>
            </a:extLst>
          </p:cNvPr>
          <p:cNvSpPr>
            <a:spLocks noGrp="1"/>
          </p:cNvSpPr>
          <p:nvPr/>
        </p:nvSpPr>
        <p:spPr>
          <a:xfrm>
            <a:off x="714375"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Feature function</a:t>
            </a:r>
          </a:p>
        </p:txBody>
      </p:sp>
      <p:sp>
        <p:nvSpPr>
          <p:cNvPr id="4" name="output_label">
            <a:extLst>
              <a:ext uri="{FF2B5EF4-FFF2-40B4-BE49-F238E27FC236}">
                <a16:creationId xmlns:a16="http://schemas.microsoft.com/office/drawing/2014/main" id="{EE1D0A5C-6191-4288-A6A0-E4E265973381}"/>
              </a:ext>
            </a:extLst>
          </p:cNvPr>
          <p:cNvSpPr>
            <a:spLocks noGrp="1"/>
          </p:cNvSpPr>
          <p:nvPr/>
        </p:nvSpPr>
        <p:spPr>
          <a:xfrm>
            <a:off x="6381750"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Affine output</a:t>
            </a:r>
          </a:p>
        </p:txBody>
      </p:sp>
      <mc:AlternateContent xmlns:mc="http://schemas.openxmlformats.org/markup-compatibility/2006" xmlns:a14="http://schemas.microsoft.com/office/drawing/2010/main">
        <mc:Choice Requires="a14">
          <p:sp>
            <p:nvSpPr>
              <p:cNvPr id="5" name="feature" descr="\phi(x)=w_1x+b_1">
                <a:extLst>
                  <a:ext uri="{FF2B5EF4-FFF2-40B4-BE49-F238E27FC236}">
                    <a16:creationId xmlns:a16="http://schemas.microsoft.com/office/drawing/2014/main" id="{D3EED5AD-DD20-4651-9480-19D56536DDB7}"/>
                  </a:ext>
                </a:extLst>
              </p:cNvPr>
              <p:cNvSpPr>
                <a:spLocks noGrp="1"/>
              </p:cNvSpPr>
              <p:nvPr/>
            </p:nvSpPr>
            <p:spPr>
              <a:xfrm>
                <a:off x="714375"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1</m:t>
                          </m:r>
                        </m:sub>
                      </m:sSub>
                    </m:oMath>
                  </m:oMathPara>
                </a14:m>
                <a:endParaRPr lang="en-GB" sz="3000" dirty="0"/>
              </a:p>
            </p:txBody>
          </p:sp>
        </mc:Choice>
        <mc:Fallback xmlns="">
          <p:sp>
            <p:nvSpPr>
              <p:cNvPr id="5" name="feature" descr="\phi(x)=w_1x+b_1">
                <a:extLst>
                  <a:ext uri="{FF2B5EF4-FFF2-40B4-BE49-F238E27FC236}">
                    <a16:creationId xmlns:a16="http://schemas.microsoft.com/office/drawing/2014/main" id="{D3EED5AD-DD20-4651-9480-19D56536DDB7}"/>
                  </a:ext>
                </a:extLst>
              </p:cNvPr>
              <p:cNvSpPr>
                <a:spLocks noGrp="1" noRot="1" noChangeAspect="1" noMove="1" noResize="1" noEditPoints="1" noAdjustHandles="1" noChangeArrowheads="1" noChangeShapeType="1" noTextEdit="1"/>
              </p:cNvSpPr>
              <p:nvPr/>
            </p:nvSpPr>
            <p:spPr>
              <a:xfrm>
                <a:off x="714375" y="2447925"/>
                <a:ext cx="5095875" cy="6667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output" descr="f(x)=w_2\phi(x)+b_2">
                <a:extLst>
                  <a:ext uri="{FF2B5EF4-FFF2-40B4-BE49-F238E27FC236}">
                    <a16:creationId xmlns:a16="http://schemas.microsoft.com/office/drawing/2014/main" id="{E449B06B-2D00-4A30-B351-8EF43FF02706}"/>
                  </a:ext>
                </a:extLst>
              </p:cNvPr>
              <p:cNvSpPr>
                <a:spLocks noGrp="1"/>
              </p:cNvSpPr>
              <p:nvPr/>
            </p:nvSpPr>
            <p:spPr>
              <a:xfrm>
                <a:off x="6381750"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en-GB" sz="3000" smtClean="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smtClean="0">
                              <a:solidFill>
                                <a:srgbClr val="087F83"/>
                              </a:solidFill>
                              <a:latin typeface="Cambria Math"/>
                              <a:ea typeface="Cambria Math"/>
                              <a:cs typeface="Cambria Math"/>
                            </a:rPr>
                            <m:t>2</m:t>
                          </m:r>
                        </m:sub>
                      </m:sSub>
                      <m:r>
                        <a:rPr lang="en-GB" sz="300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2</m:t>
                          </m:r>
                        </m:sub>
                      </m:sSub>
                    </m:oMath>
                  </m:oMathPara>
                </a14:m>
                <a:endParaRPr lang="en-GB" sz="3000" dirty="0"/>
              </a:p>
            </p:txBody>
          </p:sp>
        </mc:Choice>
        <mc:Fallback xmlns="">
          <p:sp>
            <p:nvSpPr>
              <p:cNvPr id="6" name="output" descr="f(x)=w_2\phi(x)+b_2">
                <a:extLst>
                  <a:ext uri="{FF2B5EF4-FFF2-40B4-BE49-F238E27FC236}">
                    <a16:creationId xmlns:a16="http://schemas.microsoft.com/office/drawing/2014/main" id="{E449B06B-2D00-4A30-B351-8EF43FF02706}"/>
                  </a:ext>
                </a:extLst>
              </p:cNvPr>
              <p:cNvSpPr>
                <a:spLocks noGrp="1" noRot="1" noChangeAspect="1" noMove="1" noResize="1" noEditPoints="1" noAdjustHandles="1" noChangeArrowheads="1" noChangeShapeType="1" noTextEdit="1"/>
              </p:cNvSpPr>
              <p:nvPr/>
            </p:nvSpPr>
            <p:spPr>
              <a:xfrm>
                <a:off x="6381750" y="2447925"/>
                <a:ext cx="5095875"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parameters" descr="w_1=2,\qquad b_1=1">
                <a:extLst>
                  <a:ext uri="{FF2B5EF4-FFF2-40B4-BE49-F238E27FC236}">
                    <a16:creationId xmlns:a16="http://schemas.microsoft.com/office/drawing/2014/main" id="{D6C77699-23AA-47C9-986F-DE6A69CEE1F0}"/>
                  </a:ext>
                </a:extLst>
              </p:cNvPr>
              <p:cNvSpPr>
                <a:spLocks noGrp="1"/>
              </p:cNvSpPr>
              <p:nvPr/>
            </p:nvSpPr>
            <p:spPr>
              <a:xfrm>
                <a:off x="714375"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=2,  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=1</m:t>
                      </m:r>
                    </m:oMath>
                  </m:oMathPara>
                </a14:m>
                <a:endParaRPr lang="en-GB" sz="2800" dirty="0"/>
              </a:p>
            </p:txBody>
          </p:sp>
        </mc:Choice>
        <mc:Fallback xmlns="">
          <p:sp>
            <p:nvSpPr>
              <p:cNvPr id="7" name="feature_parameters" descr="w_1=2,\qquad b_1=1">
                <a:extLst>
                  <a:ext uri="{FF2B5EF4-FFF2-40B4-BE49-F238E27FC236}">
                    <a16:creationId xmlns:a16="http://schemas.microsoft.com/office/drawing/2014/main" id="{D6C77699-23AA-47C9-986F-DE6A69CEE1F0}"/>
                  </a:ext>
                </a:extLst>
              </p:cNvPr>
              <p:cNvSpPr>
                <a:spLocks noGrp="1" noRot="1" noChangeAspect="1" noMove="1" noResize="1" noEditPoints="1" noAdjustHandles="1" noChangeArrowheads="1" noChangeShapeType="1" noTextEdit="1"/>
              </p:cNvSpPr>
              <p:nvPr/>
            </p:nvSpPr>
            <p:spPr>
              <a:xfrm>
                <a:off x="714375" y="3171825"/>
                <a:ext cx="5095875"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parameters" descr="w_2=3,\qquad b_2=-4">
                <a:extLst>
                  <a:ext uri="{FF2B5EF4-FFF2-40B4-BE49-F238E27FC236}">
                    <a16:creationId xmlns:a16="http://schemas.microsoft.com/office/drawing/2014/main" id="{34B5091E-5607-44C8-B34F-538A9991DE91}"/>
                  </a:ext>
                </a:extLst>
              </p:cNvPr>
              <p:cNvSpPr>
                <a:spLocks noGrp="1"/>
              </p:cNvSpPr>
              <p:nvPr/>
            </p:nvSpPr>
            <p:spPr>
              <a:xfrm>
                <a:off x="6381750"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=3,  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=−4</m:t>
                      </m:r>
                    </m:oMath>
                  </m:oMathPara>
                </a14:m>
                <a:endParaRPr lang="en-GB" sz="2800" dirty="0"/>
              </a:p>
            </p:txBody>
          </p:sp>
        </mc:Choice>
        <mc:Fallback xmlns="">
          <p:sp>
            <p:nvSpPr>
              <p:cNvPr id="8" name="output_parameters" descr="w_2=3,\qquad b_2=-4">
                <a:extLst>
                  <a:ext uri="{FF2B5EF4-FFF2-40B4-BE49-F238E27FC236}">
                    <a16:creationId xmlns:a16="http://schemas.microsoft.com/office/drawing/2014/main" id="{34B5091E-5607-44C8-B34F-538A9991DE91}"/>
                  </a:ext>
                </a:extLst>
              </p:cNvPr>
              <p:cNvSpPr>
                <a:spLocks noGrp="1" noRot="1" noChangeAspect="1" noMove="1" noResize="1" noEditPoints="1" noAdjustHandles="1" noChangeArrowheads="1" noChangeShapeType="1" noTextEdit="1"/>
              </p:cNvSpPr>
              <p:nvPr/>
            </p:nvSpPr>
            <p:spPr>
              <a:xfrm>
                <a:off x="6381750" y="31718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osition" descr="f(x)=3(2x+1)-4=6x-1">
                <a:extLst>
                  <a:ext uri="{FF2B5EF4-FFF2-40B4-BE49-F238E27FC236}">
                    <a16:creationId xmlns:a16="http://schemas.microsoft.com/office/drawing/2014/main" id="{A9C17E82-CFAB-4DF0-975B-518A08AA1421}"/>
                  </a:ext>
                </a:extLst>
              </p:cNvPr>
              <p:cNvSpPr>
                <a:spLocks noGrp="1"/>
              </p:cNvSpPr>
              <p:nvPr/>
            </p:nvSpPr>
            <p:spPr>
              <a:xfrm>
                <a:off x="619125" y="4157662"/>
                <a:ext cx="10953750" cy="476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en-GB" sz="3000" smtClean="0">
                          <a:solidFill>
                            <a:srgbClr val="087F83"/>
                          </a:solidFill>
                          <a:latin typeface="Cambria Math"/>
                          <a:ea typeface="Cambria Math"/>
                          <a:cs typeface="Cambria Math"/>
                        </a:rPr>
                        <m:t>3</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2</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−4=6</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9" name="composition" descr="f(x)=3(2x+1)-4=6x-1">
                <a:extLst>
                  <a:ext uri="{FF2B5EF4-FFF2-40B4-BE49-F238E27FC236}">
                    <a16:creationId xmlns:a16="http://schemas.microsoft.com/office/drawing/2014/main" id="{A9C17E82-CFAB-4DF0-975B-518A08AA1421}"/>
                  </a:ext>
                </a:extLst>
              </p:cNvPr>
              <p:cNvSpPr>
                <a:spLocks noGrp="1" noRot="1" noChangeAspect="1" noMove="1" noResize="1" noEditPoints="1" noAdjustHandles="1" noChangeArrowheads="1" noChangeShapeType="1" noTextEdit="1"/>
              </p:cNvSpPr>
              <p:nvPr/>
            </p:nvSpPr>
            <p:spPr>
              <a:xfrm>
                <a:off x="619125" y="4157662"/>
                <a:ext cx="10953750" cy="4762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ivalence">
                <a:extLst>
                  <a:ext uri="{FF2B5EF4-FFF2-40B4-BE49-F238E27FC236}">
                    <a16:creationId xmlns:a16="http://schemas.microsoft.com/office/drawing/2014/main" id="{2E5AEEA2-3C34-4C9C-9CEE-7B4266C4DA26}"/>
                  </a:ext>
                </a:extLst>
              </p:cNvPr>
              <p:cNvSpPr>
                <a:spLocks noGrp="1"/>
              </p:cNvSpPr>
              <p:nvPr/>
            </p:nvSpPr>
            <p:spPr>
              <a:xfrm>
                <a:off x="571500" y="4905565"/>
                <a:ext cx="11049000" cy="619124"/>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lang="it-IT" sz="2025" b="1" dirty="0" err="1">
                    <a:solidFill>
                      <a:srgbClr val="182D45"/>
                    </a:solidFill>
                    <a:latin typeface="DejaVu Sans"/>
                    <a:ea typeface="DejaVu Sans"/>
                    <a:cs typeface="DejaVu Sans"/>
                  </a:rPr>
                  <a:t>We</a:t>
                </a:r>
                <a:r>
                  <a:rPr lang="it-IT" sz="2025" b="1" dirty="0">
                    <a:solidFill>
                      <a:srgbClr val="182D45"/>
                    </a:solidFill>
                    <a:latin typeface="DejaVu Sans"/>
                    <a:ea typeface="DejaVu Sans"/>
                    <a:cs typeface="DejaVu Sans"/>
                  </a:rPr>
                  <a:t> can </a:t>
                </a:r>
                <a:r>
                  <a:rPr lang="it-IT" sz="2025" b="1" dirty="0" err="1">
                    <a:solidFill>
                      <a:srgbClr val="182D45"/>
                    </a:solidFill>
                    <a:latin typeface="DejaVu Sans"/>
                    <a:ea typeface="DejaVu Sans"/>
                    <a:cs typeface="DejaVu Sans"/>
                  </a:rPr>
                  <a:t>write</a:t>
                </a:r>
                <a:r>
                  <a:rPr lang="it-IT" sz="2025" b="1" dirty="0">
                    <a:solidFill>
                      <a:srgbClr val="182D45"/>
                    </a:solidFill>
                    <a:latin typeface="DejaVu Sans"/>
                    <a:ea typeface="DejaVu Sans"/>
                    <a:cs typeface="DejaVu Sans"/>
                  </a:rPr>
                  <a:t> the </a:t>
                </a:r>
                <a:r>
                  <a:rPr lang="it-IT" sz="2025" b="1" dirty="0" err="1">
                    <a:solidFill>
                      <a:srgbClr val="182D45"/>
                    </a:solidFill>
                    <a:latin typeface="DejaVu Sans"/>
                    <a:ea typeface="DejaVu Sans"/>
                    <a:cs typeface="DejaVu Sans"/>
                  </a:rPr>
                  <a:t>same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predictor</a:t>
                </a:r>
                <a:r>
                  <a:rPr lang="it-IT" sz="2025" b="1" dirty="0">
                    <a:solidFill>
                      <a:srgbClr val="182D45"/>
                    </a:solidFill>
                    <a:latin typeface="DejaVu Sans"/>
                    <a:ea typeface="DejaVu Sans"/>
                    <a:cs typeface="DejaVu Sans"/>
                  </a:rPr>
                  <a:t> </a:t>
                </a:r>
                <a:r>
                  <a:rPr sz="2025" b="1" dirty="0">
                    <a:solidFill>
                      <a:srgbClr val="182D45"/>
                    </a:solidFill>
                    <a:latin typeface="DejaVu Sans"/>
                    <a:ea typeface="DejaVu Sans"/>
                    <a:cs typeface="DejaVu Sans"/>
                  </a:rPr>
                  <a:t>directly </a:t>
                </a:r>
                <a:r>
                  <a:rPr lang="it-IT" sz="2025" b="1" dirty="0" err="1">
                    <a:solidFill>
                      <a:srgbClr val="182D45"/>
                    </a:solidFill>
                    <a:latin typeface="DejaVu Sans"/>
                    <a:ea typeface="DejaVu Sans"/>
                    <a:cs typeface="DejaVu Sans"/>
                  </a:rPr>
                  <a:t>as</a:t>
                </a:r>
                <a:r>
                  <a:rPr lang="it-IT" sz="2025" b="1" dirty="0">
                    <a:solidFill>
                      <a:srgbClr val="182D45"/>
                    </a:solidFill>
                    <a:latin typeface="DejaVu Sans"/>
                    <a:ea typeface="DejaVu Sans"/>
                    <a:cs typeface="DejaVu Sans"/>
                  </a:rPr>
                  <a:t> an </a:t>
                </a:r>
                <a:r>
                  <a:rPr lang="it-IT" sz="2025" b="1" dirty="0">
                    <a:solidFill>
                      <a:srgbClr val="FF0000"/>
                    </a:solidFill>
                    <a:latin typeface="DejaVu Sans"/>
                    <a:ea typeface="DejaVu Sans"/>
                    <a:cs typeface="DejaVu Sans"/>
                  </a:rPr>
                  <a:t>affine </a:t>
                </a:r>
                <a:r>
                  <a:rPr lang="it-IT" sz="2025" b="1" dirty="0" err="1">
                    <a:solidFill>
                      <a:srgbClr val="FF0000"/>
                    </a:solidFill>
                    <a:latin typeface="DejaVu Sans"/>
                    <a:ea typeface="DejaVu Sans"/>
                    <a:cs typeface="DejaVu Sans"/>
                  </a:rPr>
                  <a:t>function</a:t>
                </a:r>
                <a:r>
                  <a:rPr lang="it-IT" sz="2025" b="1" dirty="0">
                    <a:solidFill>
                      <a:srgbClr val="FF0000"/>
                    </a:solidFill>
                    <a:latin typeface="DejaVu Sans"/>
                    <a:ea typeface="DejaVu Sans"/>
                    <a:cs typeface="DejaVu Sans"/>
                  </a:rPr>
                  <a:t> </a:t>
                </a:r>
                <a:r>
                  <a:rPr lang="it-IT" sz="2025" b="1" dirty="0">
                    <a:solidFill>
                      <a:srgbClr val="182D45"/>
                    </a:solidFill>
                    <a:latin typeface="DejaVu Sans"/>
                    <a:ea typeface="DejaVu Sans"/>
                    <a:cs typeface="DejaVu Sans"/>
                  </a:rPr>
                  <a:t>of</a:t>
                </a:r>
                <a:r>
                  <a:rPr sz="2025" b="1" dirty="0">
                    <a:solidFill>
                      <a:srgbClr val="182D45"/>
                    </a:solidFill>
                    <a:latin typeface="DejaVu Sans"/>
                    <a:ea typeface="DejaVu Sans"/>
                    <a:cs typeface="DejaVu Sans"/>
                  </a:rPr>
                  <a:t>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𝒙</m:t>
                    </m:r>
                  </m:oMath>
                </a14:m>
                <a:r>
                  <a:rPr sz="2025" b="1" dirty="0">
                    <a:solidFill>
                      <a:srgbClr val="182D45"/>
                    </a:solidFill>
                    <a:latin typeface="DejaVu Sans"/>
                    <a:ea typeface="DejaVu Sans"/>
                    <a:cs typeface="DejaVu Sans"/>
                  </a:rPr>
                  <a:t>,</a:t>
                </a:r>
                <a:endParaRPr lang="it-IT" sz="2025" b="1" dirty="0">
                  <a:solidFill>
                    <a:srgbClr val="182D45"/>
                  </a:solidFill>
                  <a:latin typeface="DejaVu Sans"/>
                  <a:ea typeface="DejaVu Sans"/>
                  <a:cs typeface="DejaVu Sans"/>
                </a:endParaRPr>
              </a:p>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with </a:t>
                </a:r>
                <a:r>
                  <a:rPr sz="2025" b="1" dirty="0">
                    <a:solidFill>
                      <a:srgbClr val="FF0000"/>
                    </a:solidFill>
                    <a:latin typeface="DejaVu Sans"/>
                    <a:ea typeface="DejaVu Sans"/>
                    <a:cs typeface="DejaVu Sans"/>
                  </a:rPr>
                  <a:t>no intermediate feature</a:t>
                </a:r>
                <a:r>
                  <a:rPr lang="it-IT" sz="2025" b="1" dirty="0">
                    <a:solidFill>
                      <a:srgbClr val="FF0000"/>
                    </a:solidFill>
                    <a:latin typeface="DejaVu Sans"/>
                    <a:ea typeface="DejaVu Sans"/>
                    <a:cs typeface="DejaVu Sans"/>
                  </a:rPr>
                  <a:t>s</a:t>
                </a:r>
                <a:r>
                  <a:rPr sz="2025" b="1" dirty="0">
                    <a:solidFill>
                      <a:srgbClr val="182D45"/>
                    </a:solidFill>
                    <a:latin typeface="DejaVu Sans"/>
                    <a:ea typeface="DejaVu Sans"/>
                    <a:cs typeface="DejaVu Sans"/>
                  </a:rPr>
                  <a:t>:</a:t>
                </a:r>
              </a:p>
            </p:txBody>
          </p:sp>
        </mc:Choice>
        <mc:Fallback xmlns="">
          <p:sp>
            <p:nvSpPr>
              <p:cNvPr id="10" name="equivalence">
                <a:extLst>
                  <a:ext uri="{FF2B5EF4-FFF2-40B4-BE49-F238E27FC236}">
                    <a16:creationId xmlns:a16="http://schemas.microsoft.com/office/drawing/2014/main" id="{2E5AEEA2-3C34-4C9C-9CEE-7B4266C4DA26}"/>
                  </a:ext>
                </a:extLst>
              </p:cNvPr>
              <p:cNvSpPr>
                <a:spLocks noGrp="1" noRot="1" noChangeAspect="1" noMove="1" noResize="1" noEditPoints="1" noAdjustHandles="1" noChangeArrowheads="1" noChangeShapeType="1" noTextEdit="1"/>
              </p:cNvSpPr>
              <p:nvPr/>
            </p:nvSpPr>
            <p:spPr>
              <a:xfrm>
                <a:off x="571500" y="4905565"/>
                <a:ext cx="11049000" cy="619124"/>
              </a:xfrm>
              <a:prstGeom prst="rect">
                <a:avLst/>
              </a:prstGeom>
              <a:blipFill>
                <a:blip r:embed="rId8"/>
                <a:stretch>
                  <a:fillRect t="-12871" b="-257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p:cNvSpPr>
              <p:nvPr/>
            </p:nvSpPr>
            <p:spPr>
              <a:xfrm>
                <a:off x="333375" y="5619750"/>
                <a:ext cx="10953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𝑓</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=6, 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=−1</m:t>
                      </m:r>
                    </m:oMath>
                  </m:oMathPara>
                </a14:m>
                <a:endParaRPr lang="en-GB" sz="2900" dirty="0"/>
              </a:p>
            </p:txBody>
          </p:sp>
        </mc:Choice>
        <mc:Fallback xmlns="">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noRot="1" noChangeAspect="1" noMove="1" noResize="1" noEditPoints="1" noAdjustHandles="1" noChangeArrowheads="1" noChangeShapeType="1" noTextEdit="1"/>
              </p:cNvSpPr>
              <p:nvPr/>
            </p:nvSpPr>
            <p:spPr>
              <a:xfrm>
                <a:off x="333375" y="5619750"/>
                <a:ext cx="10953750" cy="619125"/>
              </a:xfrm>
              <a:prstGeom prst="rect">
                <a:avLst/>
              </a:prstGeom>
              <a:blipFill>
                <a:blip r:embed="rId9"/>
                <a:stretch>
                  <a:fillRect/>
                </a:stretch>
              </a:blipFill>
              <a:ln w="0">
                <a:noFill/>
              </a:ln>
            </p:spPr>
            <p:txBody>
              <a:bodyPr/>
              <a:lstStyle/>
              <a:p>
                <a:r>
                  <a:rPr lang="it-IT">
                    <a:noFill/>
                  </a:rPr>
                  <a:t> </a:t>
                </a:r>
              </a:p>
            </p:txBody>
          </p:sp>
        </mc:Fallback>
      </mc:AlternateContent>
      <p:sp>
        <p:nvSpPr>
          <p:cNvPr id="12" name="footer_course">
            <a:extLst>
              <a:ext uri="{FF2B5EF4-FFF2-40B4-BE49-F238E27FC236}">
                <a16:creationId xmlns:a16="http://schemas.microsoft.com/office/drawing/2014/main" id="{618C5F28-A0E0-40DD-89E8-A67817A581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5019973D-CD7D-43E4-8EA7-A4D6E0B551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p:spTree>
    <p:extLst>
      <p:ext uri="{BB962C8B-B14F-4D97-AF65-F5344CB8AC3E}">
        <p14:creationId xmlns:p14="http://schemas.microsoft.com/office/powerpoint/2010/main" val="15896235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5A0813B-A63A-4769-BD48-E7CB11C8759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Affine features still give an affine predictor</a:t>
            </a:r>
          </a:p>
        </p:txBody>
      </p:sp>
      <p:sp>
        <p:nvSpPr>
          <p:cNvPr id="2" name="lead">
            <a:extLst>
              <a:ext uri="{FF2B5EF4-FFF2-40B4-BE49-F238E27FC236}">
                <a16:creationId xmlns:a16="http://schemas.microsoft.com/office/drawing/2014/main" id="{1F732E60-A452-4662-8891-37059D347768}"/>
              </a:ext>
            </a:extLst>
          </p:cNvPr>
          <p:cNvSpPr>
            <a:spLocks noGrp="1"/>
          </p:cNvSpPr>
          <p:nvPr/>
        </p:nvSpPr>
        <p:spPr>
          <a:xfrm>
            <a:off x="523875" y="787066"/>
            <a:ext cx="11144250" cy="6667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Same </a:t>
            </a:r>
            <a:r>
              <a:rPr lang="it-IT" sz="2175" b="0" dirty="0" err="1">
                <a:solidFill>
                  <a:srgbClr val="526276"/>
                </a:solidFill>
                <a:latin typeface="DejaVu Sans"/>
                <a:ea typeface="DejaVu Sans"/>
                <a:cs typeface="DejaVu Sans"/>
              </a:rPr>
              <a:t>problem</a:t>
            </a:r>
            <a:r>
              <a:rPr lang="it-IT" sz="2175" b="0" dirty="0">
                <a:solidFill>
                  <a:srgbClr val="526276"/>
                </a:solidFill>
                <a:latin typeface="DejaVu Sans"/>
                <a:ea typeface="DejaVu Sans"/>
                <a:cs typeface="DejaVu Sans"/>
              </a:rPr>
              <a:t> </a:t>
            </a:r>
            <a:r>
              <a:rPr sz="2175" b="0" dirty="0">
                <a:solidFill>
                  <a:srgbClr val="526276"/>
                </a:solidFill>
                <a:latin typeface="DejaVu Sans"/>
                <a:ea typeface="DejaVu Sans"/>
                <a:cs typeface="DejaVu Sans"/>
              </a:rPr>
              <a:t>for </a:t>
            </a:r>
            <a:r>
              <a:rPr sz="2175" b="0" dirty="0">
                <a:solidFill>
                  <a:srgbClr val="FF0000"/>
                </a:solidFill>
                <a:latin typeface="DejaVu Sans"/>
                <a:ea typeface="DejaVu Sans"/>
                <a:cs typeface="DejaVu Sans"/>
              </a:rPr>
              <a:t>any</a:t>
            </a:r>
            <a:r>
              <a:rPr sz="2175" b="0" dirty="0">
                <a:solidFill>
                  <a:srgbClr val="526276"/>
                </a:solidFill>
                <a:latin typeface="DejaVu Sans"/>
                <a:ea typeface="DejaVu Sans"/>
                <a:cs typeface="DejaVu Sans"/>
              </a:rPr>
              <a:t> number of affine features.</a:t>
            </a:r>
          </a:p>
        </p:txBody>
      </p:sp>
      <mc:AlternateContent xmlns:mc="http://schemas.openxmlformats.org/markup-compatibility/2006" xmlns:a14="http://schemas.microsoft.com/office/drawing/2010/main">
        <mc:Choice Requires="a14">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p:cNvSpPr>
              <p:nvPr/>
            </p:nvSpPr>
            <p:spPr>
              <a:xfrm>
                <a:off x="595503" y="1237980"/>
                <a:ext cx="11144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oMath>
                  </m:oMathPara>
                </a14:m>
                <a:endParaRPr lang="en-GB" sz="2900" dirty="0"/>
              </a:p>
            </p:txBody>
          </p:sp>
        </mc:Choice>
        <mc:Fallback xmlns="">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noRot="1" noChangeAspect="1" noMove="1" noResize="1" noEditPoints="1" noAdjustHandles="1" noChangeArrowheads="1" noChangeShapeType="1" noTextEdit="1"/>
              </p:cNvSpPr>
              <p:nvPr/>
            </p:nvSpPr>
            <p:spPr>
              <a:xfrm>
                <a:off x="595503" y="1237980"/>
                <a:ext cx="11144250" cy="619125"/>
              </a:xfrm>
              <a:prstGeom prst="rect">
                <a:avLst/>
              </a:prstGeom>
              <a:blipFill>
                <a:blip r:embed="rId3"/>
                <a:stretch>
                  <a:fillRect/>
                </a:stretch>
              </a:blipFill>
              <a:ln w="0">
                <a:noFill/>
              </a:ln>
            </p:spPr>
            <p:txBody>
              <a:bodyPr/>
              <a:lstStyle/>
              <a:p>
                <a:r>
                  <a:rPr lang="it-IT">
                    <a:noFill/>
                  </a:rPr>
                  <a:t> </a:t>
                </a:r>
              </a:p>
            </p:txBody>
          </p:sp>
        </mc:Fallback>
      </mc:AlternateContent>
      <p:sp>
        <p:nvSpPr>
          <p:cNvPr id="4" name="output_label">
            <a:extLst>
              <a:ext uri="{FF2B5EF4-FFF2-40B4-BE49-F238E27FC236}">
                <a16:creationId xmlns:a16="http://schemas.microsoft.com/office/drawing/2014/main" id="{297CF988-0A54-4F48-95E3-0F21A442135B}"/>
              </a:ext>
            </a:extLst>
          </p:cNvPr>
          <p:cNvSpPr>
            <a:spLocks noGrp="1"/>
          </p:cNvSpPr>
          <p:nvPr/>
        </p:nvSpPr>
        <p:spPr>
          <a:xfrm>
            <a:off x="1263015" y="1855115"/>
            <a:ext cx="4429125" cy="523875"/>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r>
              <a:rPr sz="1950" b="0" dirty="0">
                <a:solidFill>
                  <a:srgbClr val="526276"/>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p:cNvSpPr>
              <p:nvPr/>
            </p:nvSpPr>
            <p:spPr>
              <a:xfrm>
                <a:off x="4296537" y="1855114"/>
                <a:ext cx="6429375"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𝐰</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noRot="1" noChangeAspect="1" noMove="1" noResize="1" noEditPoints="1" noAdjustHandles="1" noChangeArrowheads="1" noChangeShapeType="1" noTextEdit="1"/>
              </p:cNvSpPr>
              <p:nvPr/>
            </p:nvSpPr>
            <p:spPr>
              <a:xfrm>
                <a:off x="4296537" y="1855114"/>
                <a:ext cx="6429375" cy="523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p:cNvSpPr>
              <p:nvPr/>
            </p:nvSpPr>
            <p:spPr>
              <a:xfrm>
                <a:off x="264033" y="3477162"/>
                <a:ext cx="113347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𝑓</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𝐖</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𝐛</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lim>
                      </m:limLow>
                      <m:r>
                        <a:rPr lang="it-IT" sz="2800" b="0" i="1"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𝐱</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r>
                        <a:rPr lang="en-GB" sz="2800">
                          <a:solidFill>
                            <a:srgbClr val="087F83"/>
                          </a:solidFill>
                          <a:latin typeface="Cambria Math"/>
                          <a:ea typeface="Cambria Math"/>
                          <a:cs typeface="Cambria Math"/>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oMath>
                  </m:oMathPara>
                </a14:m>
                <a:endParaRPr lang="en-GB" sz="2800" dirty="0">
                  <a:solidFill>
                    <a:srgbClr val="087F83"/>
                  </a:solidFill>
                </a:endParaRPr>
              </a:p>
            </p:txBody>
          </p:sp>
        </mc:Choice>
        <mc:Fallback xmlns="">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noRot="1" noChangeAspect="1" noMove="1" noResize="1" noEditPoints="1" noAdjustHandles="1" noChangeArrowheads="1" noChangeShapeType="1" noTextEdit="1"/>
              </p:cNvSpPr>
              <p:nvPr/>
            </p:nvSpPr>
            <p:spPr>
              <a:xfrm>
                <a:off x="264033" y="3477162"/>
                <a:ext cx="11334750" cy="714375"/>
              </a:xfrm>
              <a:prstGeom prst="rect">
                <a:avLst/>
              </a:prstGeom>
              <a:blipFill>
                <a:blip r:embed="rId5"/>
                <a:stretch>
                  <a:fillRect t="-847" b="-76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ivalent_label">
                <a:extLst>
                  <a:ext uri="{FF2B5EF4-FFF2-40B4-BE49-F238E27FC236}">
                    <a16:creationId xmlns:a16="http://schemas.microsoft.com/office/drawing/2014/main" id="{59E9C586-E5E2-4240-BB2B-60EC4D7A40B5}"/>
                  </a:ext>
                </a:extLst>
              </p:cNvPr>
              <p:cNvSpPr>
                <a:spLocks noGrp="1"/>
              </p:cNvSpPr>
              <p:nvPr/>
            </p:nvSpPr>
            <p:spPr>
              <a:xfrm>
                <a:off x="571500" y="4443681"/>
                <a:ext cx="11049000" cy="381000"/>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14:m>
                  <m:oMath xmlns:m="http://schemas.openxmlformats.org/officeDocument/2006/math">
                    <m:r>
                      <a:rPr lang="en-GB" sz="1950" b="0" i="1" smtClean="0">
                        <a:solidFill>
                          <a:srgbClr val="FF0000"/>
                        </a:solidFill>
                        <a:latin typeface="Cambria Math" panose="02040503050406030204" pitchFamily="18" charset="0"/>
                        <a:ea typeface="DejaVu Sans"/>
                        <a:cs typeface="DejaVu Sans"/>
                      </a:rPr>
                      <m:t>𝑓</m:t>
                    </m:r>
                  </m:oMath>
                </a14:m>
                <a:r>
                  <a:rPr lang="en-GB" sz="1950" b="0" dirty="0">
                    <a:solidFill>
                      <a:srgbClr val="FF0000"/>
                    </a:solidFill>
                    <a:latin typeface="DejaVu Sans"/>
                    <a:ea typeface="DejaVu Sans"/>
                    <a:cs typeface="DejaVu Sans"/>
                  </a:rPr>
                  <a:t> is still an affine function </a:t>
                </a:r>
                <a:r>
                  <a:rPr lang="en-GB" sz="1950" b="0" dirty="0">
                    <a:solidFill>
                      <a:srgbClr val="526276"/>
                    </a:solidFill>
                    <a:latin typeface="DejaVu Sans"/>
                    <a:ea typeface="DejaVu Sans"/>
                    <a:cs typeface="DejaVu Sans"/>
                  </a:rPr>
                  <a:t>with equivalent weight column and bias:</a:t>
                </a:r>
                <a:endParaRPr sz="1950" b="0" dirty="0">
                  <a:solidFill>
                    <a:srgbClr val="526276"/>
                  </a:solidFill>
                  <a:latin typeface="DejaVu Sans"/>
                  <a:ea typeface="DejaVu Sans"/>
                  <a:cs typeface="DejaVu Sans"/>
                </a:endParaRPr>
              </a:p>
            </p:txBody>
          </p:sp>
        </mc:Choice>
        <mc:Fallback xmlns="">
          <p:sp>
            <p:nvSpPr>
              <p:cNvPr id="7" name="equivalent_label">
                <a:extLst>
                  <a:ext uri="{FF2B5EF4-FFF2-40B4-BE49-F238E27FC236}">
                    <a16:creationId xmlns:a16="http://schemas.microsoft.com/office/drawing/2014/main" id="{59E9C586-E5E2-4240-BB2B-60EC4D7A40B5}"/>
                  </a:ext>
                </a:extLst>
              </p:cNvPr>
              <p:cNvSpPr>
                <a:spLocks noGrp="1" noRot="1" noChangeAspect="1" noMove="1" noResize="1" noEditPoints="1" noAdjustHandles="1" noChangeArrowheads="1" noChangeShapeType="1" noTextEdit="1"/>
              </p:cNvSpPr>
              <p:nvPr/>
            </p:nvSpPr>
            <p:spPr>
              <a:xfrm>
                <a:off x="571500" y="4443681"/>
                <a:ext cx="11049000" cy="381000"/>
              </a:xfrm>
              <a:prstGeom prst="rect">
                <a:avLst/>
              </a:prstGeom>
              <a:blipFill>
                <a:blip r:embed="rId6"/>
                <a:stretch>
                  <a:fillRect t="-9677" b="-3064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p:cNvSpPr>
              <p:nvPr/>
            </p:nvSpPr>
            <p:spPr>
              <a:xfrm>
                <a:off x="428625" y="4843731"/>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𝐰</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𝐖</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,  </m:t>
                      </m:r>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𝑏</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𝐛</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𝑏</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ℝ</m:t>
                      </m:r>
                    </m:oMath>
                  </m:oMathPara>
                </a14:m>
                <a:endParaRPr lang="en-GB" sz="2700" dirty="0"/>
              </a:p>
            </p:txBody>
          </p:sp>
        </mc:Choice>
        <mc:Fallback xmlns="">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noRot="1" noChangeAspect="1" noMove="1" noResize="1" noEditPoints="1" noAdjustHandles="1" noChangeArrowheads="1" noChangeShapeType="1" noTextEdit="1"/>
              </p:cNvSpPr>
              <p:nvPr/>
            </p:nvSpPr>
            <p:spPr>
              <a:xfrm>
                <a:off x="428625" y="4843731"/>
                <a:ext cx="11334750" cy="619125"/>
              </a:xfrm>
              <a:prstGeom prst="rect">
                <a:avLst/>
              </a:prstGeom>
              <a:blipFill>
                <a:blip r:embed="rId7"/>
                <a:stretch>
                  <a:fillRect/>
                </a:stretch>
              </a:blipFill>
              <a:ln w="0">
                <a:noFill/>
              </a:ln>
            </p:spPr>
            <p:txBody>
              <a:bodyPr/>
              <a:lstStyle/>
              <a:p>
                <a:r>
                  <a:rPr lang="it-IT">
                    <a:noFill/>
                  </a:rPr>
                  <a:t> </a:t>
                </a:r>
              </a:p>
            </p:txBody>
          </p:sp>
        </mc:Fallback>
      </mc:AlternateContent>
      <p:sp>
        <p:nvSpPr>
          <p:cNvPr id="10" name="iteration">
            <a:extLst>
              <a:ext uri="{FF2B5EF4-FFF2-40B4-BE49-F238E27FC236}">
                <a16:creationId xmlns:a16="http://schemas.microsoft.com/office/drawing/2014/main" id="{2C03BEC4-67D8-4F8A-884A-6CB3567241F3}"/>
              </a:ext>
            </a:extLst>
          </p:cNvPr>
          <p:cNvSpPr>
            <a:spLocks noGrp="1"/>
          </p:cNvSpPr>
          <p:nvPr/>
        </p:nvSpPr>
        <p:spPr>
          <a:xfrm>
            <a:off x="523875" y="5545646"/>
            <a:ext cx="11144250" cy="409575"/>
          </a:xfrm>
          <a:prstGeom prst="rect">
            <a:avLst/>
          </a:prstGeom>
          <a:noFill/>
          <a:ln w="0">
            <a:noFill/>
          </a:ln>
        </p:spPr>
        <p:txBody>
          <a:bodyPr wrap="none" lIns="0" tIns="0" rIns="0" bIns="0" anchor="ctr">
            <a:noAutofit/>
          </a:bodyPr>
          <a:lstStyle/>
          <a:p>
            <a:pPr algn="ctr"/>
            <a:r>
              <a:rPr lang="en-GB" sz="1875" b="0">
                <a:solidFill>
                  <a:srgbClr val="526276"/>
                </a:solidFill>
                <a:latin typeface="DejaVu Sans"/>
              </a:rPr>
              <a:t>Repeating the argument: </a:t>
            </a:r>
            <a:r>
              <a:rPr lang="en-GB" sz="1875" b="0">
                <a:solidFill>
                  <a:srgbClr val="FF0000"/>
                </a:solidFill>
                <a:latin typeface="DejaVu Sans"/>
              </a:rPr>
              <a:t>the composition of any number of affine maps remains affine.</a:t>
            </a:r>
            <a:endParaRPr lang="en-GB" sz="1875"/>
          </a:p>
        </p:txBody>
      </p:sp>
      <p:sp>
        <p:nvSpPr>
          <p:cNvPr id="11" name="nonlinearity">
            <a:extLst>
              <a:ext uri="{FF2B5EF4-FFF2-40B4-BE49-F238E27FC236}">
                <a16:creationId xmlns:a16="http://schemas.microsoft.com/office/drawing/2014/main" id="{7D534D4B-B82E-4E82-9E36-2FACFDA9F055}"/>
              </a:ext>
            </a:extLst>
          </p:cNvPr>
          <p:cNvSpPr>
            <a:spLocks noGrp="1"/>
          </p:cNvSpPr>
          <p:nvPr/>
        </p:nvSpPr>
        <p:spPr>
          <a:xfrm>
            <a:off x="571500" y="5987225"/>
            <a:ext cx="11049000" cy="33337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need a </a:t>
            </a:r>
            <a:r>
              <a:rPr sz="1950" b="1" dirty="0">
                <a:solidFill>
                  <a:srgbClr val="FF0000"/>
                </a:solidFill>
                <a:latin typeface="DejaVu Sans"/>
                <a:ea typeface="DejaVu Sans"/>
                <a:cs typeface="DejaVu Sans"/>
              </a:rPr>
              <a:t>nonlinear</a:t>
            </a:r>
            <a:r>
              <a:rPr sz="1950" b="1" dirty="0">
                <a:solidFill>
                  <a:srgbClr val="182D45"/>
                </a:solidFill>
                <a:latin typeface="DejaVu Sans"/>
                <a:ea typeface="DejaVu Sans"/>
                <a:cs typeface="DejaVu Sans"/>
              </a:rPr>
              <a:t> operation </a:t>
            </a:r>
            <a:r>
              <a:rPr sz="1950" b="1" dirty="0">
                <a:solidFill>
                  <a:srgbClr val="FF0000"/>
                </a:solidFill>
                <a:latin typeface="DejaVu Sans"/>
                <a:ea typeface="DejaVu Sans"/>
                <a:cs typeface="DejaVu Sans"/>
              </a:rPr>
              <a:t>between</a:t>
            </a:r>
            <a:r>
              <a:rPr sz="1950" b="1" dirty="0">
                <a:solidFill>
                  <a:srgbClr val="182D45"/>
                </a:solidFill>
                <a:latin typeface="DejaVu Sans"/>
                <a:ea typeface="DejaVu Sans"/>
                <a:cs typeface="DejaVu Sans"/>
              </a:rPr>
              <a:t> the affine </a:t>
            </a:r>
            <a:r>
              <a:rPr lang="it-IT" sz="1950" b="1" dirty="0" err="1">
                <a:solidFill>
                  <a:srgbClr val="182D45"/>
                </a:solidFill>
                <a:latin typeface="DejaVu Sans"/>
                <a:ea typeface="DejaVu Sans"/>
                <a:cs typeface="DejaVu Sans"/>
              </a:rPr>
              <a:t>maps</a:t>
            </a:r>
            <a:r>
              <a:rPr sz="1950" b="1" dirty="0">
                <a:solidFill>
                  <a:srgbClr val="182D45"/>
                </a:solidFill>
                <a:latin typeface="DejaVu Sans"/>
                <a:ea typeface="DejaVu Sans"/>
                <a:cs typeface="DejaVu Sans"/>
              </a:rPr>
              <a:t>.</a:t>
            </a:r>
          </a:p>
        </p:txBody>
      </p:sp>
      <p:sp>
        <p:nvSpPr>
          <p:cNvPr id="12" name="footer_course">
            <a:extLst>
              <a:ext uri="{FF2B5EF4-FFF2-40B4-BE49-F238E27FC236}">
                <a16:creationId xmlns:a16="http://schemas.microsoft.com/office/drawing/2014/main" id="{E1D5C1FF-6B4B-48F2-BE9B-20E14A3FC3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993E3ACF-6EA0-474C-9675-F60A4D3EC7B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16" name="CasellaDiTesto 15">
                <a:extLst>
                  <a:ext uri="{FF2B5EF4-FFF2-40B4-BE49-F238E27FC236}">
                    <a16:creationId xmlns:a16="http://schemas.microsoft.com/office/drawing/2014/main" id="{F89E6674-9B53-9202-384A-C404C826508F}"/>
                  </a:ext>
                </a:extLst>
              </p:cNvPr>
              <p:cNvSpPr txBox="1"/>
              <p:nvPr/>
            </p:nvSpPr>
            <p:spPr>
              <a:xfrm>
                <a:off x="2884170" y="2561907"/>
                <a:ext cx="6094476" cy="523220"/>
              </a:xfrm>
              <a:prstGeom prst="rect">
                <a:avLst/>
              </a:prstGeom>
              <a:noFill/>
            </p:spPr>
            <p:txBody>
              <a:bodyPr wrap="square">
                <a:spAutoFit/>
              </a:bodyPr>
              <a:lstStyle/>
              <a:p>
                <a:pPr/>
                <a14:m>
                  <m:oMathPara xmlns:m="http://schemas.openxmlformats.org/officeDocument/2006/math">
                    <m:oMath>
                      <m:r>
                        <a:rPr lang="en-GB" sz="2800" smtClean="0">
                          <a:solidFill>
                            <a:srgbClr val="087F83"/>
                          </a:solidFill>
                          <a:latin typeface="Cambria Math"/>
                          <a:ea typeface="Cambria Math"/>
                          <a:cs typeface="Cambria Math"/>
                        </a:rPr>
                        <m:t>𝑓</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𝛟</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oMath>
                  </m:oMathPara>
                </a14:m>
                <a:endParaRPr lang="it-IT" dirty="0"/>
              </a:p>
            </p:txBody>
          </p:sp>
        </mc:Choice>
        <mc:Fallback xmlns="">
          <p:sp>
            <p:nvSpPr>
              <p:cNvPr id="16" name="CasellaDiTesto 15">
                <a:extLst>
                  <a:ext uri="{FF2B5EF4-FFF2-40B4-BE49-F238E27FC236}">
                    <a16:creationId xmlns:a16="http://schemas.microsoft.com/office/drawing/2014/main" id="{F89E6674-9B53-9202-384A-C404C826508F}"/>
                  </a:ext>
                </a:extLst>
              </p:cNvPr>
              <p:cNvSpPr txBox="1">
                <a:spLocks noRot="1" noChangeAspect="1" noMove="1" noResize="1" noEditPoints="1" noAdjustHandles="1" noChangeArrowheads="1" noChangeShapeType="1" noTextEdit="1"/>
              </p:cNvSpPr>
              <p:nvPr/>
            </p:nvSpPr>
            <p:spPr>
              <a:xfrm>
                <a:off x="2884170" y="2561907"/>
                <a:ext cx="6094476" cy="523220"/>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089059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63992A9E-00F2-4C6F-BC77-E53D9B4056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a:t>
            </a:r>
            <a:r>
              <a:rPr sz="3300" b="1" dirty="0" err="1">
                <a:solidFill>
                  <a:srgbClr val="182D45"/>
                </a:solidFill>
                <a:latin typeface="DejaVu Sans"/>
                <a:ea typeface="DejaVu Sans"/>
                <a:cs typeface="DejaVu Sans"/>
              </a:rPr>
              <a:t>ReLU</a:t>
            </a:r>
            <a:r>
              <a:rPr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activation</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function</a:t>
            </a:r>
          </a:p>
        </p:txBody>
      </p:sp>
      <p:sp>
        <p:nvSpPr>
          <p:cNvPr id="2" name="lead">
            <a:extLst>
              <a:ext uri="{FF2B5EF4-FFF2-40B4-BE49-F238E27FC236}">
                <a16:creationId xmlns:a16="http://schemas.microsoft.com/office/drawing/2014/main" id="{50462555-B3BD-486A-887B-89E013202D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now apply a </a:t>
            </a:r>
            <a:r>
              <a:rPr sz="2175" b="0" dirty="0">
                <a:solidFill>
                  <a:srgbClr val="FF0000"/>
                </a:solidFill>
                <a:latin typeface="DejaVu Sans"/>
                <a:ea typeface="DejaVu Sans"/>
                <a:cs typeface="DejaVu Sans"/>
              </a:rPr>
              <a:t>nonlinear</a:t>
            </a:r>
            <a:r>
              <a:rPr sz="2175" b="0" dirty="0">
                <a:solidFill>
                  <a:srgbClr val="526276"/>
                </a:solidFill>
                <a:latin typeface="DejaVu Sans"/>
                <a:ea typeface="DejaVu Sans"/>
                <a:cs typeface="DejaVu Sans"/>
              </a:rPr>
              <a:t> function to each affine value.</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use </a:t>
            </a:r>
            <a:r>
              <a:rPr sz="2175" b="0" dirty="0" err="1">
                <a:solidFill>
                  <a:srgbClr val="FF0000"/>
                </a:solidFill>
                <a:latin typeface="DejaVu Sans"/>
                <a:ea typeface="DejaVu Sans"/>
                <a:cs typeface="DejaVu Sans"/>
              </a:rPr>
              <a:t>ReLU</a:t>
            </a:r>
            <a:r>
              <a:rPr lang="it-IT" sz="2175" b="0" dirty="0">
                <a:solidFill>
                  <a:srgbClr val="526276"/>
                </a:solidFill>
                <a:latin typeface="DejaVu Sans"/>
                <a:ea typeface="DejaVu Sans"/>
                <a:cs typeface="DejaVu Sans"/>
              </a:rPr>
              <a:t> (short for </a:t>
            </a:r>
            <a:r>
              <a:rPr lang="it-IT" sz="2175" dirty="0" err="1">
                <a:solidFill>
                  <a:srgbClr val="526276"/>
                </a:solidFill>
                <a:latin typeface="DejaVu Sans"/>
              </a:rPr>
              <a:t>Rectified</a:t>
            </a:r>
            <a:r>
              <a:rPr lang="it-IT" sz="2175" dirty="0">
                <a:solidFill>
                  <a:srgbClr val="526276"/>
                </a:solidFill>
                <a:latin typeface="DejaVu Sans"/>
              </a:rPr>
              <a:t> Linear Unit</a:t>
            </a:r>
            <a:r>
              <a:rPr lang="it-IT" sz="2175" b="0" dirty="0">
                <a:solidFill>
                  <a:srgbClr val="526276"/>
                </a:solidFill>
                <a:latin typeface="DejaVu Sans"/>
                <a:ea typeface="DejaVu Sans"/>
                <a:cs typeface="DejaVu Sans"/>
              </a:rPr>
              <a:t>)</a:t>
            </a:r>
            <a:r>
              <a:rPr sz="2175"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FDBECB4-03BE-4B05-9BF2-6ABCC042F4D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C9EFF6A7-3496-48B1-8828-7C4F065DDE0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graphicFrame>
        <p:nvGraphicFramePr>
          <p:cNvPr id="14" name="Chart"/>
          <p:cNvGraphicFramePr/>
          <p:nvPr/>
        </p:nvGraphicFramePr>
        <p:xfrm>
          <a:off x="6191250" y="1924050"/>
          <a:ext cx="5238750" cy="35052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_1">
            <a:extLst>
              <a:ext uri="{FF2B5EF4-FFF2-40B4-BE49-F238E27FC236}">
                <a16:creationId xmlns:a16="http://schemas.microsoft.com/office/drawing/2014/main" id="{9635BE8C-6454-4534-B8D2-E455D836947C}"/>
              </a:ext>
            </a:extLst>
          </p:cNvPr>
          <p:cNvSpPr>
            <a:spLocks noGrp="1"/>
          </p:cNvSpPr>
          <p:nvPr/>
        </p:nvSpPr>
        <p:spPr>
          <a:xfrm>
            <a:off x="8215313" y="5205222"/>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a</a:t>
            </a:r>
          </a:p>
        </p:txBody>
      </p:sp>
      <mc:AlternateContent xmlns:mc="http://schemas.openxmlformats.org/markup-compatibility/2006" xmlns:a14="http://schemas.microsoft.com/office/drawing/2010/main">
        <mc:Choice Requires="a14">
          <p:sp>
            <p:nvSpPr>
              <p:cNvPr id="7" name="equation_2" descr="\operatorname{ReLU}(a)=\max\{0,a\}">
                <a:extLst>
                  <a:ext uri="{FF2B5EF4-FFF2-40B4-BE49-F238E27FC236}">
                    <a16:creationId xmlns:a16="http://schemas.microsoft.com/office/drawing/2014/main" id="{3E04E679-9EC3-4209-B7A7-CE629F99103E}"/>
                  </a:ext>
                </a:extLst>
              </p:cNvPr>
              <p:cNvSpPr>
                <a:spLocks noGrp="1"/>
              </p:cNvSpPr>
              <p:nvPr/>
            </p:nvSpPr>
            <p:spPr>
              <a:xfrm>
                <a:off x="457200" y="2238375"/>
                <a:ext cx="5286375"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000">
                          <a:solidFill>
                            <a:srgbClr val="087F83"/>
                          </a:solidFill>
                          <a:latin typeface="Cambria Math"/>
                          <a:ea typeface="Cambria Math"/>
                          <a:cs typeface="Cambria Math"/>
                        </a:rPr>
                        <m:t>ReLU</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r>
                        <m:rPr>
                          <m:sty m:val="p"/>
                        </m:rPr>
                        <a:rPr lang="en-GB" sz="3000">
                          <a:solidFill>
                            <a:srgbClr val="087F83"/>
                          </a:solidFill>
                          <a:latin typeface="Cambria Math"/>
                          <a:ea typeface="Cambria Math"/>
                          <a:cs typeface="Cambria Math"/>
                        </a:rPr>
                        <m:t>max</m:t>
                      </m:r>
                      <m:r>
                        <a:rPr lang="en-GB" sz="3000">
                          <a:solidFill>
                            <a:srgbClr val="087F83"/>
                          </a:solidFill>
                          <a:latin typeface="Cambria Math"/>
                          <a:ea typeface="Cambria Math"/>
                          <a:cs typeface="Cambria Math"/>
                        </a:rPr>
                        <m:t>{0,</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oMath>
                  </m:oMathPara>
                </a14:m>
                <a:endParaRPr lang="en-GB" sz="3000" dirty="0"/>
              </a:p>
            </p:txBody>
          </p:sp>
        </mc:Choice>
        <mc:Fallback xmlns="">
          <p:sp>
            <p:nvSpPr>
              <p:cNvPr id="7" name="equation_2" descr="\operatorname{ReLU}(a)=\max\{0,a\}">
                <a:extLst>
                  <a:ext uri="{FF2B5EF4-FFF2-40B4-BE49-F238E27FC236}">
                    <a16:creationId xmlns:a16="http://schemas.microsoft.com/office/drawing/2014/main" id="{3E04E679-9EC3-4209-B7A7-CE629F99103E}"/>
                  </a:ext>
                </a:extLst>
              </p:cNvPr>
              <p:cNvSpPr>
                <a:spLocks noGrp="1" noRot="1" noChangeAspect="1" noMove="1" noResize="1" noEditPoints="1" noAdjustHandles="1" noChangeArrowheads="1" noChangeShapeType="1" noTextEdit="1"/>
              </p:cNvSpPr>
              <p:nvPr/>
            </p:nvSpPr>
            <p:spPr>
              <a:xfrm>
                <a:off x="457200" y="2238375"/>
                <a:ext cx="5286375" cy="904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egin{cases}0&amp;a\leq0\\a&amp;a&gt;0\end{cases}">
                <a:extLst>
                  <a:ext uri="{FF2B5EF4-FFF2-40B4-BE49-F238E27FC236}">
                    <a16:creationId xmlns:a16="http://schemas.microsoft.com/office/drawing/2014/main" id="{827CB886-D873-46C0-B657-F31FE45F09CE}"/>
                  </a:ext>
                </a:extLst>
              </p:cNvPr>
              <p:cNvSpPr>
                <a:spLocks noGrp="1"/>
              </p:cNvSpPr>
              <p:nvPr/>
            </p:nvSpPr>
            <p:spPr>
              <a:xfrm>
                <a:off x="457200" y="3305175"/>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m:t>
                      </m:r>
                      <m:d>
                        <m:dPr>
                          <m:begChr m:val="{"/>
                          <m:endChr m:val=""/>
                          <m:ctrlPr>
                            <a:rPr lang="en-GB" sz="30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≤0</m:t>
                                </m:r>
                              </m:e>
                            </m:mr>
                            <m:mr>
                              <m:e>
                                <m:r>
                                  <a:rPr lang="en-GB" sz="3000">
                                    <a:solidFill>
                                      <a:srgbClr val="087F83"/>
                                    </a:solidFill>
                                    <a:latin typeface="Cambria Math"/>
                                    <a:ea typeface="Cambria Math"/>
                                    <a:cs typeface="Cambria Math"/>
                                  </a:rPr>
                                  <m:t>𝑎</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&gt;0</m:t>
                                </m:r>
                              </m:e>
                            </m:mr>
                          </m:m>
                        </m:e>
                      </m:d>
                    </m:oMath>
                  </m:oMathPara>
                </a14:m>
                <a:endParaRPr lang="en-GB" sz="3000" dirty="0"/>
              </a:p>
            </p:txBody>
          </p:sp>
        </mc:Choice>
        <mc:Fallback xmlns="">
          <p:sp>
            <p:nvSpPr>
              <p:cNvPr id="8" name="equation_3" descr="=\begin{cases}0&amp;a\leq0\\a&amp;a&gt;0\end{cases}">
                <a:extLst>
                  <a:ext uri="{FF2B5EF4-FFF2-40B4-BE49-F238E27FC236}">
                    <a16:creationId xmlns:a16="http://schemas.microsoft.com/office/drawing/2014/main" id="{827CB886-D873-46C0-B657-F31FE45F09CE}"/>
                  </a:ext>
                </a:extLst>
              </p:cNvPr>
              <p:cNvSpPr>
                <a:spLocks noGrp="1" noRot="1" noChangeAspect="1" noMove="1" noResize="1" noEditPoints="1" noAdjustHandles="1" noChangeArrowheads="1" noChangeShapeType="1" noTextEdit="1"/>
              </p:cNvSpPr>
              <p:nvPr/>
            </p:nvSpPr>
            <p:spPr>
              <a:xfrm>
                <a:off x="457200" y="3305175"/>
                <a:ext cx="5286375" cy="1285875"/>
              </a:xfrm>
              <a:prstGeom prst="rect">
                <a:avLst/>
              </a:prstGeom>
              <a:blipFill>
                <a:blip r:embed="rId5"/>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8BD2D0C4-6D25-4E91-B14A-701000FC3D41}"/>
              </a:ext>
            </a:extLst>
          </p:cNvPr>
          <p:cNvSpPr>
            <a:spLocks noGrp="1"/>
          </p:cNvSpPr>
          <p:nvPr/>
        </p:nvSpPr>
        <p:spPr>
          <a:xfrm>
            <a:off x="571500" y="563403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Each feature combines an affine transformation with </a:t>
            </a:r>
            <a:r>
              <a:rPr sz="2100" b="1" dirty="0" err="1">
                <a:solidFill>
                  <a:srgbClr val="FF0000"/>
                </a:solidFill>
                <a:latin typeface="DejaVu Sans"/>
                <a:ea typeface="DejaVu Sans"/>
                <a:cs typeface="DejaVu Sans"/>
              </a:rPr>
              <a:t>ReLU</a:t>
            </a:r>
            <a:r>
              <a:rPr sz="2100" b="1" dirty="0">
                <a:solidFill>
                  <a:srgbClr val="FF0000"/>
                </a:solidFill>
                <a:latin typeface="DejaVu Sans"/>
                <a:ea typeface="DejaVu Sans"/>
                <a:cs typeface="DejaVu Sans"/>
              </a:rPr>
              <a:t>.</a:t>
            </a:r>
          </a:p>
        </p:txBody>
      </p:sp>
    </p:spTree>
    <p:extLst>
      <p:ext uri="{BB962C8B-B14F-4D97-AF65-F5344CB8AC3E}">
        <p14:creationId xmlns:p14="http://schemas.microsoft.com/office/powerpoint/2010/main" val="14628194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8F1DEF7-C4D7-4F07-BFD7-048DF4D8412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4968BECF-EA70-4A04-A578-77B64D8AB52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FD7241-0DD4-48BD-B263-6AB47DDB205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5" name="text_1">
            <a:extLst>
              <a:ext uri="{FF2B5EF4-FFF2-40B4-BE49-F238E27FC236}">
                <a16:creationId xmlns:a16="http://schemas.microsoft.com/office/drawing/2014/main" id="{46F971F3-4250-4D8F-A312-E24FC381FC58}"/>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a:t>
            </a:r>
            <a:r>
              <a:rPr lang="it-IT" sz="2475" b="0" dirty="0">
                <a:solidFill>
                  <a:srgbClr val="8993A0"/>
                </a:solidFill>
                <a:latin typeface="DejaVu Sans"/>
                <a:ea typeface="DejaVu Sans"/>
                <a:cs typeface="DejaVu Sans"/>
              </a:rPr>
              <a:t>features</a:t>
            </a:r>
            <a:r>
              <a:rPr sz="2475" b="0" dirty="0">
                <a:solidFill>
                  <a:srgbClr val="8993A0"/>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2201A493-1576-42E0-B244-DCF11D790B26}"/>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05489A15-788C-4BBD-A2EA-8D327CBDB411}"/>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69683341-D507-4A8D-BBF1-6C5D96B3A98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D442400-27FC-4203-9A9C-07109F364FE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weighted</a:t>
            </a:r>
            <a:r>
              <a:rPr lang="it-IT" sz="3300" b="1" dirty="0">
                <a:solidFill>
                  <a:srgbClr val="182D45"/>
                </a:solidFill>
                <a:latin typeface="DejaVu Sans"/>
                <a:ea typeface="DejaVu Sans"/>
                <a:cs typeface="DejaVu Sans"/>
              </a:rPr>
              <a:t> sum</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35D20C1D-A905-4EE2-9958-8AC70865BDA1}"/>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6" name="weighted_heading">
                <a:extLst>
                  <a:ext uri="{FF2B5EF4-FFF2-40B4-BE49-F238E27FC236}">
                    <a16:creationId xmlns:a16="http://schemas.microsoft.com/office/drawing/2014/main" id="{19256590-E040-4945-B327-B8EC30621C7F}"/>
                  </a:ext>
                </a:extLst>
              </p:cNvPr>
              <p:cNvSpPr>
                <a:spLocks noGrp="1"/>
              </p:cNvSpPr>
              <p:nvPr/>
            </p:nvSpPr>
            <p:spPr>
              <a:xfrm>
                <a:off x="3124200" y="1943100"/>
                <a:ext cx="2855976"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Weighted sums</a:t>
                </a:r>
                <a:r>
                  <a:rPr lang="it-IT" sz="1875" b="1" dirty="0">
                    <a:solidFill>
                      <a:srgbClr val="087F83"/>
                    </a:solidFill>
                    <a:latin typeface="DejaVu Sans"/>
                    <a:ea typeface="DejaVu Sans"/>
                    <a:cs typeface="DejaVu Sans"/>
                  </a:rPr>
                  <a:t> </a:t>
                </a:r>
                <a14:m>
                  <m:oMath xmlns:m="http://schemas.openxmlformats.org/officeDocument/2006/math">
                    <m:r>
                      <a:rPr lang="en-GB" sz="2000">
                        <a:solidFill>
                          <a:srgbClr val="087F83"/>
                        </a:solidFill>
                        <a:latin typeface="Cambria Math"/>
                        <a:ea typeface="Cambria Math"/>
                        <a:cs typeface="Cambria Math"/>
                      </a:rPr>
                      <m:t>𝐱𝐖</m:t>
                    </m:r>
                  </m:oMath>
                </a14:m>
                <a:endParaRPr sz="1875" b="1" dirty="0">
                  <a:solidFill>
                    <a:srgbClr val="087F83"/>
                  </a:solidFill>
                  <a:latin typeface="DejaVu Sans"/>
                  <a:ea typeface="DejaVu Sans"/>
                  <a:cs typeface="DejaVu Sans"/>
                </a:endParaRPr>
              </a:p>
            </p:txBody>
          </p:sp>
        </mc:Choice>
        <mc:Fallback xmlns="">
          <p:sp>
            <p:nvSpPr>
              <p:cNvPr id="6" name="weighted_heading">
                <a:extLst>
                  <a:ext uri="{FF2B5EF4-FFF2-40B4-BE49-F238E27FC236}">
                    <a16:creationId xmlns:a16="http://schemas.microsoft.com/office/drawing/2014/main" id="{19256590-E040-4945-B327-B8EC30621C7F}"/>
                  </a:ext>
                </a:extLst>
              </p:cNvPr>
              <p:cNvSpPr>
                <a:spLocks noGrp="1" noRot="1" noChangeAspect="1" noMove="1" noResize="1" noEditPoints="1" noAdjustHandles="1" noChangeArrowheads="1" noChangeShapeType="1" noTextEdit="1"/>
              </p:cNvSpPr>
              <p:nvPr/>
            </p:nvSpPr>
            <p:spPr>
              <a:xfrm>
                <a:off x="3124200" y="1943100"/>
                <a:ext cx="2855976"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93FECA29-7AD4-4443-A452-343233E30276}"/>
                  </a:ext>
                </a:extLst>
              </p:cNvPr>
              <p:cNvSpPr>
                <a:spLocks noGrp="1"/>
              </p:cNvSpPr>
              <p:nvPr/>
            </p:nvSpPr>
            <p:spPr>
              <a:xfrm>
                <a:off x="6324600" y="1855946"/>
                <a:ext cx="257175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Preactivations</a:t>
                </a:r>
              </a:p>
              <a:p>
                <a:pPr algn="ctr">
                  <a:defRPr sz="1875" b="1">
                    <a:solidFill>
                      <a:srgbClr val="B6C2CD"/>
                    </a:solidFill>
                    <a:latin typeface="DejaVu Sans"/>
                    <a:ea typeface="DejaVu Sans"/>
                    <a:cs typeface="DejaVu Sans"/>
                  </a:defRPr>
                </a:pPr>
                <a14:m>
                  <m:oMathPara xmlns:m="http://schemas.openxmlformats.org/officeDocument/2006/math">
                    <m:oMath>
                      <m:r>
                        <a:rPr lang="it-IT" smtClean="0">
                          <a:solidFill>
                            <a:srgbClr val="B6C2CD"/>
                          </a:solidFill>
                          <a:latin typeface="Cambria Math"/>
                          <a:ea typeface="Cambria Math"/>
                          <a:cs typeface="Cambria Math"/>
                        </a:rPr>
                        <m:t>𝐱𝐖</m:t>
                      </m:r>
                      <m:r>
                        <a:rPr lang="it-IT" b="1" i="0" smtClean="0">
                          <a:solidFill>
                            <a:srgbClr val="B6C2CD"/>
                          </a:solidFill>
                          <a:latin typeface="Cambria Math" panose="02040503050406030204" pitchFamily="18" charset="0"/>
                          <a:ea typeface="Cambria Math"/>
                          <a:cs typeface="Cambria Math"/>
                        </a:rPr>
                        <m:t>+</m:t>
                      </m:r>
                      <m:r>
                        <a:rPr lang="it-IT" b="1" i="0" smtClean="0">
                          <a:solidFill>
                            <a:srgbClr val="B6C2CD"/>
                          </a:solidFill>
                          <a:latin typeface="Cambria Math" panose="02040503050406030204" pitchFamily="18" charset="0"/>
                          <a:ea typeface="Cambria Math"/>
                          <a:cs typeface="Cambria Math"/>
                        </a:rPr>
                        <m:t>𝐛</m:t>
                      </m:r>
                    </m:oMath>
                  </m:oMathPara>
                </a14:m>
                <a:endParaRPr sz="1875" b="1" dirty="0">
                  <a:solidFill>
                    <a:srgbClr val="B6C2CD"/>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93FECA29-7AD4-4443-A452-343233E30276}"/>
                  </a:ext>
                </a:extLst>
              </p:cNvPr>
              <p:cNvSpPr>
                <a:spLocks noGrp="1" noRot="1" noChangeAspect="1" noMove="1" noResize="1" noEditPoints="1" noAdjustHandles="1" noChangeArrowheads="1" noChangeShapeType="1" noTextEdit="1"/>
              </p:cNvSpPr>
              <p:nvPr/>
            </p:nvSpPr>
            <p:spPr>
              <a:xfrm>
                <a:off x="6324600" y="1855946"/>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B05E3AAC-79A8-44D8-AD73-F5EE36F077BC}"/>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F61E5371-C784-4B9E-A000-071777A2CB8E}"/>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B5B8A2E-A17A-476A-8B9C-54BEFD35D95F}"/>
              </a:ext>
            </a:extLst>
          </p:cNvPr>
          <p:cNvSpPr>
            <a:spLocks noGrp="1"/>
          </p:cNvSpPr>
          <p:nvPr/>
        </p:nvSpPr>
        <p:spPr>
          <a:xfrm>
            <a:off x="5600700" y="2838450"/>
            <a:ext cx="1533525" cy="953"/>
          </a:xfrm>
          <a:prstGeom prst="line">
            <a:avLst/>
          </a:prstGeom>
          <a:noFill/>
          <a:ln w="15240">
            <a:solidFill>
              <a:srgbClr val="B6C2CD"/>
            </a:solidFill>
            <a:tailEnd type="triangle" w="sm" len="sm"/>
          </a:ln>
        </p:spPr>
        <p:txBody>
          <a:bodyPr/>
          <a:lstStyle/>
          <a:p>
            <a:endParaRPr lang="it-IT"/>
          </a:p>
        </p:txBody>
      </p:sp>
      <p:sp>
        <p:nvSpPr>
          <p:cNvPr id="12" name="relu_edge_1">
            <a:extLst>
              <a:ext uri="{FF2B5EF4-FFF2-40B4-BE49-F238E27FC236}">
                <a16:creationId xmlns:a16="http://schemas.microsoft.com/office/drawing/2014/main" id="{BC557C55-9D9F-4749-B877-BA74BFC85FF8}"/>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0563CABC-688F-4FB5-BB22-CEC257B9E888}"/>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F6B6CE7-48AC-42AC-B697-66C0D616CE3D}"/>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A36907BC-0117-44F7-B45B-CEC71CF466EB}"/>
              </a:ext>
            </a:extLst>
          </p:cNvPr>
          <p:cNvSpPr>
            <a:spLocks noGrp="1"/>
          </p:cNvSpPr>
          <p:nvPr/>
        </p:nvSpPr>
        <p:spPr>
          <a:xfrm>
            <a:off x="5600700" y="4133850"/>
            <a:ext cx="1533525" cy="953"/>
          </a:xfrm>
          <a:prstGeom prst="line">
            <a:avLst/>
          </a:prstGeom>
          <a:noFill/>
          <a:ln w="15240">
            <a:solidFill>
              <a:srgbClr val="B6C2CD"/>
            </a:solidFill>
            <a:tailEnd type="triangle" w="sm" len="sm"/>
          </a:ln>
        </p:spPr>
        <p:txBody>
          <a:bodyPr/>
          <a:lstStyle/>
          <a:p>
            <a:endParaRPr lang="it-IT"/>
          </a:p>
        </p:txBody>
      </p:sp>
      <p:sp>
        <p:nvSpPr>
          <p:cNvPr id="16" name="relu_edge_2">
            <a:extLst>
              <a:ext uri="{FF2B5EF4-FFF2-40B4-BE49-F238E27FC236}">
                <a16:creationId xmlns:a16="http://schemas.microsoft.com/office/drawing/2014/main" id="{4C6E8ADC-2AAA-4735-8BA9-998697FB54F4}"/>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6C692783-8C82-4368-906B-6CBF591BA15E}"/>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B4F9713D-6F45-4D14-8993-4E6E82BB31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9E8B89FA-8407-4EC5-94B9-EAFC1F9524D3}"/>
              </a:ext>
            </a:extLst>
          </p:cNvPr>
          <p:cNvSpPr>
            <a:spLocks noGrp="1"/>
          </p:cNvSpPr>
          <p:nvPr/>
        </p:nvSpPr>
        <p:spPr>
          <a:xfrm>
            <a:off x="5600700" y="5429250"/>
            <a:ext cx="1533525" cy="953"/>
          </a:xfrm>
          <a:prstGeom prst="line">
            <a:avLst/>
          </a:prstGeom>
          <a:noFill/>
          <a:ln w="15240">
            <a:solidFill>
              <a:srgbClr val="B6C2CD"/>
            </a:solidFill>
            <a:tailEnd type="triangle" w="sm" len="sm"/>
          </a:ln>
        </p:spPr>
        <p:txBody>
          <a:bodyPr/>
          <a:lstStyle/>
          <a:p>
            <a:endParaRPr lang="it-IT"/>
          </a:p>
        </p:txBody>
      </p:sp>
      <p:sp>
        <p:nvSpPr>
          <p:cNvPr id="20" name="relu_edge_3">
            <a:extLst>
              <a:ext uri="{FF2B5EF4-FFF2-40B4-BE49-F238E27FC236}">
                <a16:creationId xmlns:a16="http://schemas.microsoft.com/office/drawing/2014/main" id="{EEE76DAA-F66C-4579-97A8-6FAEE554139F}"/>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F1070D46-A11C-40D0-8A6D-0EF5FCA85781}"/>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1" name="weight_label_1_1" descr="1">
                <a:extLst>
                  <a:ext uri="{FF2B5EF4-FFF2-40B4-BE49-F238E27FC236}">
                    <a16:creationId xmlns:a16="http://schemas.microsoft.com/office/drawing/2014/main" id="{F1070D46-A11C-40D0-8A6D-0EF5FCA85781}"/>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84688D8-36A8-4BDE-A284-E8319C23E18C}"/>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84688D8-36A8-4BDE-A284-E8319C23E18C}"/>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F568938C-4401-4376-8096-95C1E2B159FD}"/>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F568938C-4401-4376-8096-95C1E2B159FD}"/>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85F3E0DE-D518-4D7A-802E-0E23577E9AFC}"/>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85F3E0DE-D518-4D7A-802E-0E23577E9AFC}"/>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19D3A531-7661-40A7-9F2C-200B12AD63A0}"/>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5" name="weight_label_1_3" descr="-1">
                <a:extLst>
                  <a:ext uri="{FF2B5EF4-FFF2-40B4-BE49-F238E27FC236}">
                    <a16:creationId xmlns:a16="http://schemas.microsoft.com/office/drawing/2014/main" id="{19D3A531-7661-40A7-9F2C-200B12AD63A0}"/>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9B0FCB12-E51C-40B9-BDC7-49F22C41BBAF}"/>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6" name="weight_label_2_3" descr="1">
                <a:extLst>
                  <a:ext uri="{FF2B5EF4-FFF2-40B4-BE49-F238E27FC236}">
                    <a16:creationId xmlns:a16="http://schemas.microsoft.com/office/drawing/2014/main" id="{9B0FCB12-E51C-40B9-BDC7-49F22C41BBAF}"/>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E02529F2-6FF0-4854-A387-5BAC726CCEB5}"/>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68ECF66F-9A98-4A30-99DA-1C929B3E7B85}"/>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68ECF66F-9A98-4A30-99DA-1C929B3E7B85}"/>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7FF9F28D-3157-4D3D-B338-E6ED83EB9439}"/>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80B42541-1823-4178-997C-25A9B6001A91}"/>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80B42541-1823-4178-997C-25A9B6001A91}"/>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2205D3B6-72BF-4BC1-AE44-8FC331F1789E}"/>
              </a:ext>
            </a:extLst>
          </p:cNvPr>
          <p:cNvSpPr>
            <a:spLocks noGrp="1"/>
          </p:cNvSpPr>
          <p:nvPr/>
        </p:nvSpPr>
        <p:spPr>
          <a:xfrm>
            <a:off x="3314700" y="23907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26758C7F-E74B-48BB-8970-541D0F488020}"/>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26758C7F-E74B-48BB-8970-541D0F488020}"/>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9083BF09-41D3-40A6-B98A-6E748899BD7D}"/>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9083BF09-41D3-40A6-B98A-6E748899BD7D}"/>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EAE517CE-0E3D-427A-B822-1AAFE56FA91B}"/>
              </a:ext>
            </a:extLst>
          </p:cNvPr>
          <p:cNvSpPr>
            <a:spLocks noGrp="1"/>
          </p:cNvSpPr>
          <p:nvPr/>
        </p:nvSpPr>
        <p:spPr>
          <a:xfrm>
            <a:off x="7134225"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
                <a:extLst>
                  <a:ext uri="{FF2B5EF4-FFF2-40B4-BE49-F238E27FC236}">
                    <a16:creationId xmlns:a16="http://schemas.microsoft.com/office/drawing/2014/main" id="{AF2BA880-7869-4CD9-A587-0EAE1FC0028B}"/>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5" name="pre_value_1" descr="?">
                <a:extLst>
                  <a:ext uri="{FF2B5EF4-FFF2-40B4-BE49-F238E27FC236}">
                    <a16:creationId xmlns:a16="http://schemas.microsoft.com/office/drawing/2014/main" id="{AF2BA880-7869-4CD9-A587-0EAE1FC0028B}"/>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9B1311FC-C371-4B8A-8525-559A69D4527D}"/>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2DDB1E46-8B00-4E3F-873A-EFD7370BAC4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2DDB1E46-8B00-4E3F-873A-EFD7370BAC4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2370703B-CD97-4305-AA5A-AB6DBE6AE6BD}"/>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2370703B-CD97-4305-AA5A-AB6DBE6AE6BD}"/>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8302DAF3-6DA4-4BFF-8ED7-6A9B2E86B523}"/>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0" name="sum_2">
            <a:extLst>
              <a:ext uri="{FF2B5EF4-FFF2-40B4-BE49-F238E27FC236}">
                <a16:creationId xmlns:a16="http://schemas.microsoft.com/office/drawing/2014/main" id="{9EE89B64-9AAC-462A-BF21-0C1D23D314F5}"/>
              </a:ext>
            </a:extLst>
          </p:cNvPr>
          <p:cNvSpPr>
            <a:spLocks noGrp="1"/>
          </p:cNvSpPr>
          <p:nvPr/>
        </p:nvSpPr>
        <p:spPr>
          <a:xfrm>
            <a:off x="3314700" y="36861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DB4F0987-3090-4017-862F-682D5E3363A0}"/>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DB4F0987-3090-4017-862F-682D5E3363A0}"/>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E86ECED1-BFBC-484A-9B95-9A8DAE6BD40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E86ECED1-BFBC-484A-9B95-9A8DAE6BD40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AD0699E9-9F31-412A-8EBD-3AF5B20CD138}"/>
              </a:ext>
            </a:extLst>
          </p:cNvPr>
          <p:cNvSpPr>
            <a:spLocks noGrp="1"/>
          </p:cNvSpPr>
          <p:nvPr/>
        </p:nvSpPr>
        <p:spPr>
          <a:xfrm>
            <a:off x="7134225"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
                <a:extLst>
                  <a:ext uri="{FF2B5EF4-FFF2-40B4-BE49-F238E27FC236}">
                    <a16:creationId xmlns:a16="http://schemas.microsoft.com/office/drawing/2014/main" id="{87A8F6F3-65C8-4FB9-8643-90685A5FD72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4" name="pre_value_2" descr="?">
                <a:extLst>
                  <a:ext uri="{FF2B5EF4-FFF2-40B4-BE49-F238E27FC236}">
                    <a16:creationId xmlns:a16="http://schemas.microsoft.com/office/drawing/2014/main" id="{87A8F6F3-65C8-4FB9-8643-90685A5FD72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FD08417B-64E7-428C-B891-3FDB7410000D}"/>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1C4388CD-6F2C-4A52-91A0-57127DCE7735}"/>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1C4388CD-6F2C-4A52-91A0-57127DCE7735}"/>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3E3C1C16-DD36-4594-AC1F-AB2F06F33984}"/>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3E3C1C16-DD36-4594-AC1F-AB2F06F33984}"/>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6A52D406-5398-4F5F-A4B0-C2043294E21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C577CA28-23AE-4446-AC04-EF32C6BFD6A6}"/>
              </a:ext>
            </a:extLst>
          </p:cNvPr>
          <p:cNvSpPr>
            <a:spLocks noGrp="1"/>
          </p:cNvSpPr>
          <p:nvPr/>
        </p:nvSpPr>
        <p:spPr>
          <a:xfrm>
            <a:off x="3314700" y="49815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F802895F-16F9-425C-927C-48D9EBE15247}"/>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F802895F-16F9-425C-927C-48D9EBE15247}"/>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EBDF40E6-5302-4110-99FB-D5E4EBE1A37D}"/>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EBDF40E6-5302-4110-99FB-D5E4EBE1A37D}"/>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968677A1-46A5-4599-B041-0DF27F30BFEF}"/>
              </a:ext>
            </a:extLst>
          </p:cNvPr>
          <p:cNvSpPr>
            <a:spLocks noGrp="1"/>
          </p:cNvSpPr>
          <p:nvPr/>
        </p:nvSpPr>
        <p:spPr>
          <a:xfrm>
            <a:off x="7134225"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
                <a:extLst>
                  <a:ext uri="{FF2B5EF4-FFF2-40B4-BE49-F238E27FC236}">
                    <a16:creationId xmlns:a16="http://schemas.microsoft.com/office/drawing/2014/main" id="{76E075A1-35A7-46C8-B8C1-0A6CE63A53FF}"/>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3" name="pre_value_3" descr="?">
                <a:extLst>
                  <a:ext uri="{FF2B5EF4-FFF2-40B4-BE49-F238E27FC236}">
                    <a16:creationId xmlns:a16="http://schemas.microsoft.com/office/drawing/2014/main" id="{76E075A1-35A7-46C8-B8C1-0A6CE63A53FF}"/>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313F32-F8E3-4C4F-B261-AE976F9D3931}"/>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D6A4402F-9AC1-43A4-9294-EC46FA6B2178}"/>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D6A4402F-9AC1-43A4-9294-EC46FA6B2178}"/>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E2D09BE2-0E51-49B9-9819-7FBBFEFEDACF}"/>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E2D09BE2-0E51-49B9-9819-7FBBFEFEDACF}"/>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1B5CBD00-231E-481F-8126-69A86F3AA962}"/>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mathbf{x}\mathbf{W}=(-1,2,1)">
                <a:extLst>
                  <a:ext uri="{FF2B5EF4-FFF2-40B4-BE49-F238E27FC236}">
                    <a16:creationId xmlns:a16="http://schemas.microsoft.com/office/drawing/2014/main" id="{FE592646-A934-453C-AFB5-0874F960B82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en-GB" sz="2800" smtClean="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−1,2,1</m:t>
                          </m:r>
                        </m:e>
                      </m:d>
                    </m:oMath>
                  </m:oMathPara>
                </a14:m>
                <a:endParaRPr lang="en-GB" sz="2800" dirty="0"/>
              </a:p>
            </p:txBody>
          </p:sp>
        </mc:Choice>
        <mc:Fallback xmlns="">
          <p:sp>
            <p:nvSpPr>
              <p:cNvPr id="58" name="result_row" descr="\mathbf{x}\mathbf{W}=(-1,2,1)">
                <a:extLst>
                  <a:ext uri="{FF2B5EF4-FFF2-40B4-BE49-F238E27FC236}">
                    <a16:creationId xmlns:a16="http://schemas.microsoft.com/office/drawing/2014/main" id="{FE592646-A934-453C-AFB5-0874F960B82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6"/>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B005E4E4-12E4-43CD-A205-E1D07B02A77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B92D8713-4E26-4D23-B2F1-0D1CB216F5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63" name="activation_heading">
                <a:extLst>
                  <a:ext uri="{FF2B5EF4-FFF2-40B4-BE49-F238E27FC236}">
                    <a16:creationId xmlns:a16="http://schemas.microsoft.com/office/drawing/2014/main" id="{D09BC7B6-750C-D887-2D10-C7EF8983410D}"/>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endParaRPr sz="1875" b="1" dirty="0">
                  <a:solidFill>
                    <a:srgbClr val="B6C2CD"/>
                  </a:solidFill>
                  <a:latin typeface="DejaVu Sans"/>
                  <a:ea typeface="DejaVu Sans"/>
                  <a:cs typeface="DejaVu Sans"/>
                </a:endParaRPr>
              </a:p>
            </p:txBody>
          </p:sp>
        </mc:Choice>
        <mc:Fallback xmlns="">
          <p:sp>
            <p:nvSpPr>
              <p:cNvPr id="63" name="activation_heading">
                <a:extLst>
                  <a:ext uri="{FF2B5EF4-FFF2-40B4-BE49-F238E27FC236}">
                    <a16:creationId xmlns:a16="http://schemas.microsoft.com/office/drawing/2014/main" id="{D09BC7B6-750C-D887-2D10-C7EF8983410D}"/>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27"/>
                <a:stretch>
                  <a:fillRect t="-45161" b="-6290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402715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E30C29A-FCA1-4127-9310-F61F0A271BD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preactivations</a:t>
            </a:r>
            <a:endParaRPr lang="it-IT"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E7369778-4331-40B5-967E-0C2F3C637130}"/>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6" name="weighted_heading">
                <a:extLst>
                  <a:ext uri="{FF2B5EF4-FFF2-40B4-BE49-F238E27FC236}">
                    <a16:creationId xmlns:a16="http://schemas.microsoft.com/office/drawing/2014/main" id="{28C22478-79C6-4885-9D6D-2ACDA5819465}"/>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sums</a:t>
                </a:r>
                <a:r>
                  <a:rPr lang="it-IT" sz="1875" b="1" dirty="0">
                    <a:solidFill>
                      <a:srgbClr val="182D45"/>
                    </a:solidFill>
                    <a:latin typeface="DejaVu Sans"/>
                    <a:ea typeface="DejaVu Sans"/>
                    <a:cs typeface="DejaVu Sans"/>
                  </a:rPr>
                  <a:t> </a:t>
                </a:r>
                <a14:m>
                  <m:oMath xmlns:m="http://schemas.openxmlformats.org/officeDocument/2006/math">
                    <m:r>
                      <a:rPr lang="en-GB" sz="2000" smtClean="0">
                        <a:solidFill>
                          <a:schemeClr val="tx2"/>
                        </a:solidFill>
                        <a:latin typeface="Cambria Math"/>
                        <a:ea typeface="Cambria Math"/>
                        <a:cs typeface="Cambria Math"/>
                      </a:rPr>
                      <m:t>𝐱𝐖</m:t>
                    </m:r>
                  </m:oMath>
                </a14:m>
                <a:endParaRPr sz="1875" b="1" dirty="0">
                  <a:solidFill>
                    <a:srgbClr val="182D45"/>
                  </a:solidFill>
                  <a:latin typeface="DejaVu Sans"/>
                  <a:ea typeface="DejaVu Sans"/>
                  <a:cs typeface="DejaVu Sans"/>
                </a:endParaRPr>
              </a:p>
            </p:txBody>
          </p:sp>
        </mc:Choice>
        <mc:Fallback xmlns="">
          <p:sp>
            <p:nvSpPr>
              <p:cNvPr id="6" name="weighted_heading">
                <a:extLst>
                  <a:ext uri="{FF2B5EF4-FFF2-40B4-BE49-F238E27FC236}">
                    <a16:creationId xmlns:a16="http://schemas.microsoft.com/office/drawing/2014/main" id="{28C22478-79C6-4885-9D6D-2ACDA5819465}"/>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5DD5E62E-875E-44A4-8990-7A4DB343836B}"/>
                  </a:ext>
                </a:extLst>
              </p:cNvPr>
              <p:cNvSpPr>
                <a:spLocks noGrp="1"/>
              </p:cNvSpPr>
              <p:nvPr/>
            </p:nvSpPr>
            <p:spPr>
              <a:xfrm>
                <a:off x="6324600" y="1861661"/>
                <a:ext cx="257175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Preactivations</a:t>
                </a:r>
              </a:p>
              <a:p>
                <a:pPr algn="ctr">
                  <a:defRPr sz="1875" b="1">
                    <a:solidFill>
                      <a:srgbClr val="087F83"/>
                    </a:solidFill>
                    <a:latin typeface="DejaVu Sans"/>
                    <a:ea typeface="DejaVu Sans"/>
                    <a:cs typeface="DejaVu Sans"/>
                  </a:defRPr>
                </a:pPr>
                <a14:m>
                  <m:oMathPara xmlns:m="http://schemas.openxmlformats.org/officeDocument/2006/math">
                    <m:oMath>
                      <m:r>
                        <a:rPr lang="it-IT">
                          <a:solidFill>
                            <a:srgbClr val="087F83"/>
                          </a:solidFill>
                          <a:latin typeface="Cambria Math"/>
                          <a:ea typeface="Cambria Math"/>
                          <a:cs typeface="Cambria Math"/>
                        </a:rPr>
                        <m:t>𝐱𝐖</m:t>
                      </m:r>
                      <m:r>
                        <a:rPr lang="it-IT" b="1" i="0" smtClean="0">
                          <a:solidFill>
                            <a:srgbClr val="087F83"/>
                          </a:solidFill>
                          <a:latin typeface="Cambria Math" panose="02040503050406030204" pitchFamily="18" charset="0"/>
                          <a:ea typeface="Cambria Math"/>
                          <a:cs typeface="Cambria Math"/>
                        </a:rPr>
                        <m:t>+</m:t>
                      </m:r>
                      <m:r>
                        <a:rPr lang="it-IT" b="1" i="0" smtClean="0">
                          <a:solidFill>
                            <a:srgbClr val="087F83"/>
                          </a:solidFill>
                          <a:latin typeface="Cambria Math" panose="02040503050406030204" pitchFamily="18" charset="0"/>
                          <a:ea typeface="Cambria Math"/>
                          <a:cs typeface="Cambria Math"/>
                        </a:rPr>
                        <m:t>𝐛</m:t>
                      </m:r>
                    </m:oMath>
                  </m:oMathPara>
                </a14:m>
                <a:endParaRPr sz="1875" b="1" dirty="0">
                  <a:solidFill>
                    <a:srgbClr val="087F83"/>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5DD5E62E-875E-44A4-8990-7A4DB343836B}"/>
                  </a:ext>
                </a:extLst>
              </p:cNvPr>
              <p:cNvSpPr>
                <a:spLocks noGrp="1" noRot="1" noChangeAspect="1" noMove="1" noResize="1" noEditPoints="1" noAdjustHandles="1" noChangeArrowheads="1" noChangeShapeType="1" noTextEdit="1"/>
              </p:cNvSpPr>
              <p:nvPr/>
            </p:nvSpPr>
            <p:spPr>
              <a:xfrm>
                <a:off x="6324600" y="1861661"/>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activation_heading">
                <a:extLst>
                  <a:ext uri="{FF2B5EF4-FFF2-40B4-BE49-F238E27FC236}">
                    <a16:creationId xmlns:a16="http://schemas.microsoft.com/office/drawing/2014/main" id="{A7EAE599-21D4-4975-AF44-39CB58C8C5CC}"/>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r>
                  <a:rPr lang="it-IT" sz="1875" b="1" dirty="0">
                    <a:solidFill>
                      <a:srgbClr val="B6C2CD"/>
                    </a:solidFill>
                    <a:latin typeface="DejaVu Sans"/>
                    <a:ea typeface="DejaVu Sans"/>
                    <a:cs typeface="DejaVu Sans"/>
                  </a:rPr>
                  <a:t> </a:t>
                </a:r>
                <a:endParaRPr sz="1875" b="1" dirty="0">
                  <a:solidFill>
                    <a:srgbClr val="B6C2CD"/>
                  </a:solidFill>
                  <a:latin typeface="DejaVu Sans"/>
                  <a:ea typeface="DejaVu Sans"/>
                  <a:cs typeface="DejaVu Sans"/>
                </a:endParaRPr>
              </a:p>
            </p:txBody>
          </p:sp>
        </mc:Choice>
        <mc:Fallback xmlns="">
          <p:sp>
            <p:nvSpPr>
              <p:cNvPr id="8" name="activation_heading">
                <a:extLst>
                  <a:ext uri="{FF2B5EF4-FFF2-40B4-BE49-F238E27FC236}">
                    <a16:creationId xmlns:a16="http://schemas.microsoft.com/office/drawing/2014/main" id="{A7EAE599-21D4-4975-AF44-39CB58C8C5CC}"/>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6"/>
                <a:stretch>
                  <a:fillRect t="-45161" b="-6290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5E05F2F4-6D6F-4479-A864-9195C1F2CBE9}"/>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982D12C-B345-4E53-A525-EC11AC218D23}"/>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4F0D62E-D61C-4580-A23B-ADA0E105B9CE}"/>
              </a:ext>
            </a:extLst>
          </p:cNvPr>
          <p:cNvSpPr>
            <a:spLocks noGrp="1"/>
          </p:cNvSpPr>
          <p:nvPr/>
        </p:nvSpPr>
        <p:spPr>
          <a:xfrm>
            <a:off x="5600700" y="2838450"/>
            <a:ext cx="1533525" cy="953"/>
          </a:xfrm>
          <a:prstGeom prst="line">
            <a:avLst/>
          </a:prstGeom>
          <a:noFill/>
          <a:ln w="20955">
            <a:solidFill>
              <a:srgbClr val="087F83"/>
            </a:solidFill>
            <a:tailEnd type="triangle" w="sm" len="sm"/>
          </a:ln>
        </p:spPr>
        <p:txBody>
          <a:bodyPr/>
          <a:lstStyle/>
          <a:p>
            <a:endParaRPr lang="it-IT"/>
          </a:p>
        </p:txBody>
      </p:sp>
      <p:sp>
        <p:nvSpPr>
          <p:cNvPr id="12" name="relu_edge_1">
            <a:extLst>
              <a:ext uri="{FF2B5EF4-FFF2-40B4-BE49-F238E27FC236}">
                <a16:creationId xmlns:a16="http://schemas.microsoft.com/office/drawing/2014/main" id="{499638E0-CBF7-486E-9035-CAFBCC177C8A}"/>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AEFB8F38-73D2-466C-83CF-20F4F4EDCC8F}"/>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45CF3ADB-80FC-4971-98EB-F195A615B158}"/>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2EA53786-AF25-42D3-8CB7-125A7C99A8BD}"/>
              </a:ext>
            </a:extLst>
          </p:cNvPr>
          <p:cNvSpPr>
            <a:spLocks noGrp="1"/>
          </p:cNvSpPr>
          <p:nvPr/>
        </p:nvSpPr>
        <p:spPr>
          <a:xfrm>
            <a:off x="5600700" y="4133850"/>
            <a:ext cx="1533525" cy="953"/>
          </a:xfrm>
          <a:prstGeom prst="line">
            <a:avLst/>
          </a:prstGeom>
          <a:noFill/>
          <a:ln w="20955">
            <a:solidFill>
              <a:srgbClr val="087F83"/>
            </a:solidFill>
            <a:tailEnd type="triangle" w="sm" len="sm"/>
          </a:ln>
        </p:spPr>
        <p:txBody>
          <a:bodyPr/>
          <a:lstStyle/>
          <a:p>
            <a:endParaRPr lang="it-IT"/>
          </a:p>
        </p:txBody>
      </p:sp>
      <p:sp>
        <p:nvSpPr>
          <p:cNvPr id="16" name="relu_edge_2">
            <a:extLst>
              <a:ext uri="{FF2B5EF4-FFF2-40B4-BE49-F238E27FC236}">
                <a16:creationId xmlns:a16="http://schemas.microsoft.com/office/drawing/2014/main" id="{DA60F45D-3246-41C2-AE39-76B708640179}"/>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279C15F1-B4DF-4387-ABC8-58C489848D02}"/>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DAFB299F-7673-40BA-87D5-5EE5ABB2AD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315F6E19-8212-45ED-9342-188AAA81EBC4}"/>
              </a:ext>
            </a:extLst>
          </p:cNvPr>
          <p:cNvSpPr>
            <a:spLocks noGrp="1"/>
          </p:cNvSpPr>
          <p:nvPr/>
        </p:nvSpPr>
        <p:spPr>
          <a:xfrm>
            <a:off x="5600700" y="5429250"/>
            <a:ext cx="1533525" cy="953"/>
          </a:xfrm>
          <a:prstGeom prst="line">
            <a:avLst/>
          </a:prstGeom>
          <a:noFill/>
          <a:ln w="20955">
            <a:solidFill>
              <a:srgbClr val="087F83"/>
            </a:solidFill>
            <a:tailEnd type="triangle" w="sm" len="sm"/>
          </a:ln>
        </p:spPr>
        <p:txBody>
          <a:bodyPr/>
          <a:lstStyle/>
          <a:p>
            <a:endParaRPr lang="it-IT"/>
          </a:p>
        </p:txBody>
      </p:sp>
      <p:sp>
        <p:nvSpPr>
          <p:cNvPr id="20" name="relu_edge_3">
            <a:extLst>
              <a:ext uri="{FF2B5EF4-FFF2-40B4-BE49-F238E27FC236}">
                <a16:creationId xmlns:a16="http://schemas.microsoft.com/office/drawing/2014/main" id="{23BF79FB-C612-4B2B-B3F7-4FD6C6DA1F70}"/>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A7E5FC3B-7B15-4FE1-98C0-60EB45EFED29}"/>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A7E5FC3B-7B15-4FE1-98C0-60EB45EFED29}"/>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7"/>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664EBC0E-1A6D-4312-B357-29461497DCF1}"/>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664EBC0E-1A6D-4312-B357-29461497DCF1}"/>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8"/>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2B032222-CB85-4EBC-8C4E-398F23DD62F0}"/>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2B032222-CB85-4EBC-8C4E-398F23DD62F0}"/>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9"/>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C29F320-B047-480B-906F-779AF2B1F296}"/>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C29F320-B047-480B-906F-779AF2B1F296}"/>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73494826-75AD-404E-A19F-0F5D5E9A42A3}"/>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73494826-75AD-404E-A19F-0F5D5E9A42A3}"/>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1"/>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A62D0923-B47C-48B8-ADAD-A65D7A5E72D4}"/>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A62D0923-B47C-48B8-ADAD-A65D7A5E72D4}"/>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2"/>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D8BD3D51-C41D-42F2-BE99-81B85C5DAD13}"/>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37EA3450-1897-4DE6-87EC-CFFCEDDF51B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37EA3450-1897-4DE6-87EC-CFFCEDDF51B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51B78D67-AD29-4400-90DB-0AF53AA7023B}"/>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633DE705-DA98-4F19-B5DB-D904D36B0885}"/>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633DE705-DA98-4F19-B5DB-D904D36B0885}"/>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4"/>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7417B5FB-C15E-40E2-B684-9D6F0B3827C0}"/>
              </a:ext>
            </a:extLst>
          </p:cNvPr>
          <p:cNvSpPr>
            <a:spLocks noGrp="1"/>
          </p:cNvSpPr>
          <p:nvPr/>
        </p:nvSpPr>
        <p:spPr>
          <a:xfrm>
            <a:off x="3314700" y="23907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AF39FE4A-4B31-4143-932B-24FD8B92A0A2}"/>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AF39FE4A-4B31-4143-932B-24FD8B92A0A2}"/>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6C8EF5EE-3787-4B91-9CC7-84CBCD336197}"/>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dirty="0"/>
              </a:p>
            </p:txBody>
          </p:sp>
        </mc:Choice>
        <mc:Fallback xmlns="">
          <p:sp>
            <p:nvSpPr>
              <p:cNvPr id="33" name="sum_result_1" descr="=-1">
                <a:extLst>
                  <a:ext uri="{FF2B5EF4-FFF2-40B4-BE49-F238E27FC236}">
                    <a16:creationId xmlns:a16="http://schemas.microsoft.com/office/drawing/2014/main" id="{6C8EF5EE-3787-4B91-9CC7-84CBCD336197}"/>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6"/>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A356D51F-FCD4-4A36-84AE-E146A05E2D0B}"/>
              </a:ext>
            </a:extLst>
          </p:cNvPr>
          <p:cNvSpPr>
            <a:spLocks noGrp="1"/>
          </p:cNvSpPr>
          <p:nvPr/>
        </p:nvSpPr>
        <p:spPr>
          <a:xfrm>
            <a:off x="7134225"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DE104395-2A8B-4697-8A17-3E09A26351D2}"/>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DE104395-2A8B-4697-8A17-3E09A26351D2}"/>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7"/>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C0FF115-A641-4E6F-8DCB-5748B13F2F2F}"/>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3546DED4-759F-4642-A1BD-F5F64424AC7C}"/>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3546DED4-759F-4642-A1BD-F5F64424AC7C}"/>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F2299449-27A9-4999-9A7F-C0BCA42EC074}"/>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F2299449-27A9-4999-9A7F-C0BCA42EC074}"/>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B8FA66B4-C348-4166-B867-EDEE201B65D6}"/>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dirty="0" err="1">
                <a:solidFill>
                  <a:srgbClr val="B6C2CD"/>
                </a:solidFill>
                <a:latin typeface="DejaVu Sans"/>
                <a:ea typeface="DejaVu Sans"/>
                <a:cs typeface="DejaVu Sans"/>
              </a:rPr>
              <a:t>ReLU</a:t>
            </a:r>
            <a:endParaRPr sz="1875" b="0" dirty="0">
              <a:solidFill>
                <a:srgbClr val="B6C2CD"/>
              </a:solidFill>
              <a:latin typeface="DejaVu Sans"/>
              <a:ea typeface="DejaVu Sans"/>
              <a:cs typeface="DejaVu Sans"/>
            </a:endParaRPr>
          </a:p>
        </p:txBody>
      </p:sp>
      <p:sp>
        <p:nvSpPr>
          <p:cNvPr id="40" name="sum_2">
            <a:extLst>
              <a:ext uri="{FF2B5EF4-FFF2-40B4-BE49-F238E27FC236}">
                <a16:creationId xmlns:a16="http://schemas.microsoft.com/office/drawing/2014/main" id="{94C44DBA-25DB-4351-B6F1-571129AB8DEF}"/>
              </a:ext>
            </a:extLst>
          </p:cNvPr>
          <p:cNvSpPr>
            <a:spLocks noGrp="1"/>
          </p:cNvSpPr>
          <p:nvPr/>
        </p:nvSpPr>
        <p:spPr>
          <a:xfrm>
            <a:off x="3314700" y="36861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4FE26D83-A01A-4163-8AFA-62EBC5CDAD93}"/>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4FE26D83-A01A-4163-8AFA-62EBC5CDAD93}"/>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20"/>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3167B1B0-30DE-4500-8D0A-514D45CCFD1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3167B1B0-30DE-4500-8D0A-514D45CCFD1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1"/>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D5903DE7-E8AA-4A95-9F62-5DBB326127F4}"/>
              </a:ext>
            </a:extLst>
          </p:cNvPr>
          <p:cNvSpPr>
            <a:spLocks noGrp="1"/>
          </p:cNvSpPr>
          <p:nvPr/>
        </p:nvSpPr>
        <p:spPr>
          <a:xfrm>
            <a:off x="7134225"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5E7AB545-1AA8-4700-B662-E2339CAA06E9}"/>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5E7AB545-1AA8-4700-B662-E2339CAA06E9}"/>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2"/>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C6511E20-E662-4E25-A83B-1792C495E052}"/>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DE44B86C-3683-4DE4-954B-5FD8CEFC9C36}"/>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DE44B86C-3683-4DE4-954B-5FD8CEFC9C36}"/>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23F108D9-5CB7-4CBC-843A-DADDCCE265BC}"/>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23F108D9-5CB7-4CBC-843A-DADDCCE265BC}"/>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4"/>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4834DE19-3DDF-4DB1-8D82-DD9C3A9F1A26}"/>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48757EA7-01D3-4733-975C-F351D94B39FD}"/>
              </a:ext>
            </a:extLst>
          </p:cNvPr>
          <p:cNvSpPr>
            <a:spLocks noGrp="1"/>
          </p:cNvSpPr>
          <p:nvPr/>
        </p:nvSpPr>
        <p:spPr>
          <a:xfrm>
            <a:off x="3314700" y="49815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46B102D0-E4E6-40B8-9523-EA8B19D127DB}"/>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46B102D0-E4E6-40B8-9523-EA8B19D127DB}"/>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67782B3C-899A-4C72-8DCF-88C84340DE73}"/>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67782B3C-899A-4C72-8DCF-88C84340DE73}"/>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6"/>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E8C90902-CE52-4B3A-8074-45616C87D091}"/>
              </a:ext>
            </a:extLst>
          </p:cNvPr>
          <p:cNvSpPr>
            <a:spLocks noGrp="1"/>
          </p:cNvSpPr>
          <p:nvPr/>
        </p:nvSpPr>
        <p:spPr>
          <a:xfrm>
            <a:off x="7134225"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1FCDA0E5-37C0-4015-8FBB-2BFEE1117C82}"/>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1FCDA0E5-37C0-4015-8FBB-2BFEE1117C82}"/>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7"/>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565CC9-5860-4C2F-B882-AECAB9C187AE}"/>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915D6459-36EC-442C-A392-2E4B9D4F0B41}"/>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915D6459-36EC-442C-A392-2E4B9D4F0B41}"/>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8EBC9618-663B-4923-80C1-CB75444B084D}"/>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8EBC9618-663B-4923-80C1-CB75444B084D}"/>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6F629762-9CC1-4D43-8D76-6CA1E32E3900}"/>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a_1((1,2)),a_2((1,2)),a_3((1,2)))=(-1,3,1)">
                <a:extLst>
                  <a:ext uri="{FF2B5EF4-FFF2-40B4-BE49-F238E27FC236}">
                    <a16:creationId xmlns:a16="http://schemas.microsoft.com/office/drawing/2014/main" id="{6B93748A-A9EA-4210-BA26-F6D812F4D98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it-IT" sz="2800" b="0" i="0"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−1,3,1</m:t>
                          </m:r>
                        </m:e>
                      </m:d>
                    </m:oMath>
                  </m:oMathPara>
                </a14:m>
                <a:endParaRPr lang="en-GB" sz="2800" dirty="0"/>
              </a:p>
            </p:txBody>
          </p:sp>
        </mc:Choice>
        <mc:Fallback xmlns="">
          <p:sp>
            <p:nvSpPr>
              <p:cNvPr id="58" name="result_row" descr="(a_1((1,2)),a_2((1,2)),a_3((1,2)))=(-1,3,1)">
                <a:extLst>
                  <a:ext uri="{FF2B5EF4-FFF2-40B4-BE49-F238E27FC236}">
                    <a16:creationId xmlns:a16="http://schemas.microsoft.com/office/drawing/2014/main" id="{6B93748A-A9EA-4210-BA26-F6D812F4D98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8"/>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6D1F3A7F-C450-4430-935D-467199B545B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65329E1-6984-4C59-A0BE-2836334F52A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p:spTree>
    <p:extLst>
      <p:ext uri="{BB962C8B-B14F-4D97-AF65-F5344CB8AC3E}">
        <p14:creationId xmlns:p14="http://schemas.microsoft.com/office/powerpoint/2010/main" val="1964230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C65ED4B-10E5-4F10-9645-CB8C12ABF05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activations</a:t>
            </a:r>
            <a:r>
              <a:rPr lang="it-IT" sz="3300" b="1" dirty="0">
                <a:solidFill>
                  <a:srgbClr val="182D45"/>
                </a:solidFill>
                <a:latin typeface="DejaVu Sans"/>
                <a:ea typeface="DejaVu Sans"/>
                <a:cs typeface="DejaVu Sans"/>
              </a:rPr>
              <a:t> / features</a:t>
            </a: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48847B7B-DD07-4369-B759-B531011EAD92}"/>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a:solidFill>
                  <a:srgbClr val="526276"/>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83CEACA2-96A5-4E01-B9EF-D666DF5A8E7A}"/>
                  </a:ext>
                </a:extLst>
              </p:cNvPr>
              <p:cNvSpPr>
                <a:spLocks noGrp="1"/>
              </p:cNvSpPr>
              <p:nvPr/>
            </p:nvSpPr>
            <p:spPr>
              <a:xfrm>
                <a:off x="6324600" y="1860042"/>
                <a:ext cx="257175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lang="it-IT" sz="1875" b="1" dirty="0">
                    <a:solidFill>
                      <a:srgbClr val="526276"/>
                    </a:solidFill>
                    <a:latin typeface="DejaVu Sans"/>
                    <a:ea typeface="DejaVu Sans"/>
                    <a:cs typeface="DejaVu Sans"/>
                  </a:rPr>
                  <a:t>Preactivations</a:t>
                </a:r>
              </a:p>
              <a:p>
                <a:pPr algn="ctr">
                  <a:defRPr sz="1875" b="1">
                    <a:solidFill>
                      <a:srgbClr val="526276"/>
                    </a:solidFill>
                    <a:latin typeface="DejaVu Sans"/>
                    <a:ea typeface="DejaVu Sans"/>
                    <a:cs typeface="DejaVu Sans"/>
                  </a:defRPr>
                </a:pPr>
                <a14:m>
                  <m:oMathPara xmlns:m="http://schemas.openxmlformats.org/officeDocument/2006/math">
                    <m:oMath>
                      <m:r>
                        <a:rPr lang="it-IT">
                          <a:solidFill>
                            <a:srgbClr val="526276"/>
                          </a:solidFill>
                          <a:latin typeface="Cambria Math"/>
                          <a:ea typeface="Cambria Math"/>
                          <a:cs typeface="Cambria Math"/>
                        </a:rPr>
                        <m:t>𝐱𝐖</m:t>
                      </m:r>
                      <m:r>
                        <a:rPr lang="it-IT" b="1" i="0" smtClean="0">
                          <a:solidFill>
                            <a:srgbClr val="526276"/>
                          </a:solidFill>
                          <a:latin typeface="Cambria Math" panose="02040503050406030204" pitchFamily="18" charset="0"/>
                          <a:ea typeface="Cambria Math"/>
                          <a:cs typeface="Cambria Math"/>
                        </a:rPr>
                        <m:t>+</m:t>
                      </m:r>
                      <m:r>
                        <a:rPr lang="it-IT" b="1" i="0" smtClean="0">
                          <a:solidFill>
                            <a:srgbClr val="526276"/>
                          </a:solidFill>
                          <a:latin typeface="Cambria Math" panose="02040503050406030204" pitchFamily="18" charset="0"/>
                          <a:ea typeface="Cambria Math"/>
                          <a:cs typeface="Cambria Math"/>
                        </a:rPr>
                        <m:t>𝐛</m:t>
                      </m:r>
                    </m:oMath>
                  </m:oMathPara>
                </a14:m>
                <a:endParaRPr sz="1875" b="1" dirty="0">
                  <a:solidFill>
                    <a:srgbClr val="526276"/>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83CEACA2-96A5-4E01-B9EF-D666DF5A8E7A}"/>
                  </a:ext>
                </a:extLst>
              </p:cNvPr>
              <p:cNvSpPr>
                <a:spLocks noGrp="1" noRot="1" noChangeAspect="1" noMove="1" noResize="1" noEditPoints="1" noAdjustHandles="1" noChangeArrowheads="1" noChangeShapeType="1" noTextEdit="1"/>
              </p:cNvSpPr>
              <p:nvPr/>
            </p:nvSpPr>
            <p:spPr>
              <a:xfrm>
                <a:off x="6324600" y="1860042"/>
                <a:ext cx="2571750" cy="381000"/>
              </a:xfrm>
              <a:prstGeom prst="rect">
                <a:avLst/>
              </a:prstGeom>
              <a:blipFill>
                <a:blip r:embed="rId4"/>
                <a:stretch>
                  <a:fillRect t="-44444" b="-3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activation_heading">
                <a:extLst>
                  <a:ext uri="{FF2B5EF4-FFF2-40B4-BE49-F238E27FC236}">
                    <a16:creationId xmlns:a16="http://schemas.microsoft.com/office/drawing/2014/main" id="{3A3D7F12-3314-4F2C-8C1D-3566A45A2BBF}"/>
                  </a:ext>
                </a:extLst>
              </p:cNvPr>
              <p:cNvSpPr>
                <a:spLocks noGrp="1"/>
              </p:cNvSpPr>
              <p:nvPr/>
            </p:nvSpPr>
            <p:spPr>
              <a:xfrm>
                <a:off x="9753600" y="1743075"/>
                <a:ext cx="2324100" cy="55245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Activations</a:t>
                </a: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i="0" smtClean="0">
                        <a:solidFill>
                          <a:srgbClr val="087F83"/>
                        </a:solidFill>
                        <a:latin typeface="Cambria Math" panose="02040503050406030204" pitchFamily="18" charset="0"/>
                        <a:ea typeface="DejaVu Sans"/>
                        <a:cs typeface="DejaVu Sans"/>
                      </a:rPr>
                      <m:t>𝛟</m:t>
                    </m:r>
                    <m:d>
                      <m:dPr>
                        <m:ctrlPr>
                          <a:rPr lang="it-IT" sz="1875" b="1" i="0" smtClean="0">
                            <a:solidFill>
                              <a:srgbClr val="087F83"/>
                            </a:solidFill>
                            <a:latin typeface="Cambria Math" panose="02040503050406030204" pitchFamily="18" charset="0"/>
                            <a:ea typeface="DejaVu Sans"/>
                            <a:cs typeface="DejaVu Sans"/>
                          </a:rPr>
                        </m:ctrlPr>
                      </m:dPr>
                      <m:e>
                        <m:r>
                          <a:rPr lang="it-IT" sz="1875" b="1" i="0" smtClean="0">
                            <a:solidFill>
                              <a:srgbClr val="087F83"/>
                            </a:solidFill>
                            <a:latin typeface="Cambria Math" panose="02040503050406030204" pitchFamily="18" charset="0"/>
                            <a:ea typeface="DejaVu Sans"/>
                            <a:cs typeface="DejaVu Sans"/>
                          </a:rPr>
                          <m:t>𝐱</m:t>
                        </m:r>
                      </m:e>
                    </m:d>
                  </m:oMath>
                </a14:m>
                <a:endParaRPr sz="1875" b="1" dirty="0">
                  <a:solidFill>
                    <a:srgbClr val="087F83"/>
                  </a:solidFill>
                  <a:latin typeface="DejaVu Sans"/>
                  <a:ea typeface="DejaVu Sans"/>
                  <a:cs typeface="DejaVu Sans"/>
                </a:endParaRPr>
              </a:p>
            </p:txBody>
          </p:sp>
        </mc:Choice>
        <mc:Fallback xmlns="">
          <p:sp>
            <p:nvSpPr>
              <p:cNvPr id="8" name="activation_heading">
                <a:extLst>
                  <a:ext uri="{FF2B5EF4-FFF2-40B4-BE49-F238E27FC236}">
                    <a16:creationId xmlns:a16="http://schemas.microsoft.com/office/drawing/2014/main" id="{3A3D7F12-3314-4F2C-8C1D-3566A45A2BBF}"/>
                  </a:ext>
                </a:extLst>
              </p:cNvPr>
              <p:cNvSpPr>
                <a:spLocks noGrp="1" noRot="1" noChangeAspect="1" noMove="1" noResize="1" noEditPoints="1" noAdjustHandles="1" noChangeArrowheads="1" noChangeShapeType="1" noTextEdit="1"/>
              </p:cNvSpPr>
              <p:nvPr/>
            </p:nvSpPr>
            <p:spPr>
              <a:xfrm>
                <a:off x="9753600" y="1743075"/>
                <a:ext cx="2324100" cy="552450"/>
              </a:xfrm>
              <a:prstGeom prst="rect">
                <a:avLst/>
              </a:prstGeom>
              <a:blipFill>
                <a:blip r:embed="rId5"/>
                <a:stretch>
                  <a:fillRect t="-15385" b="-26374"/>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3260A2A5-F4D7-4B2D-8BDA-5269803CE17D}"/>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B27E77B-83AE-4AA1-AC44-792E72111C3B}"/>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95FA95EE-9995-4CCB-AEA9-B3B4A4F4D405}"/>
              </a:ext>
            </a:extLst>
          </p:cNvPr>
          <p:cNvSpPr>
            <a:spLocks noGrp="1"/>
          </p:cNvSpPr>
          <p:nvPr/>
        </p:nvSpPr>
        <p:spPr>
          <a:xfrm>
            <a:off x="5600700" y="2838450"/>
            <a:ext cx="1533525" cy="953"/>
          </a:xfrm>
          <a:prstGeom prst="line">
            <a:avLst/>
          </a:prstGeom>
          <a:noFill/>
          <a:ln w="15240">
            <a:solidFill>
              <a:srgbClr val="526276"/>
            </a:solidFill>
            <a:tailEnd type="triangle" w="sm" len="sm"/>
          </a:ln>
        </p:spPr>
        <p:txBody>
          <a:bodyPr/>
          <a:lstStyle/>
          <a:p>
            <a:endParaRPr lang="it-IT"/>
          </a:p>
        </p:txBody>
      </p:sp>
      <p:sp>
        <p:nvSpPr>
          <p:cNvPr id="12" name="relu_edge_1">
            <a:extLst>
              <a:ext uri="{FF2B5EF4-FFF2-40B4-BE49-F238E27FC236}">
                <a16:creationId xmlns:a16="http://schemas.microsoft.com/office/drawing/2014/main" id="{23BAA848-943D-451E-A605-88C662810BCB}"/>
              </a:ext>
            </a:extLst>
          </p:cNvPr>
          <p:cNvSpPr>
            <a:spLocks noGrp="1"/>
          </p:cNvSpPr>
          <p:nvPr/>
        </p:nvSpPr>
        <p:spPr>
          <a:xfrm>
            <a:off x="8086725" y="2838450"/>
            <a:ext cx="2352675" cy="953"/>
          </a:xfrm>
          <a:prstGeom prst="line">
            <a:avLst/>
          </a:prstGeom>
          <a:noFill/>
          <a:ln w="21908">
            <a:solidFill>
              <a:srgbClr val="087F83"/>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3D626A44-F923-40BE-BC9D-5C154AAD48A1}"/>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921AB77-1397-4CC7-AF07-893BE4E5BA05}"/>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66FF5127-F8E8-4BF5-A165-874A718CC078}"/>
              </a:ext>
            </a:extLst>
          </p:cNvPr>
          <p:cNvSpPr>
            <a:spLocks noGrp="1"/>
          </p:cNvSpPr>
          <p:nvPr/>
        </p:nvSpPr>
        <p:spPr>
          <a:xfrm>
            <a:off x="5600700" y="4133850"/>
            <a:ext cx="1533525" cy="953"/>
          </a:xfrm>
          <a:prstGeom prst="line">
            <a:avLst/>
          </a:prstGeom>
          <a:noFill/>
          <a:ln w="15240">
            <a:solidFill>
              <a:srgbClr val="526276"/>
            </a:solidFill>
            <a:tailEnd type="triangle" w="sm" len="sm"/>
          </a:ln>
        </p:spPr>
        <p:txBody>
          <a:bodyPr/>
          <a:lstStyle/>
          <a:p>
            <a:endParaRPr lang="it-IT"/>
          </a:p>
        </p:txBody>
      </p:sp>
      <p:sp>
        <p:nvSpPr>
          <p:cNvPr id="16" name="relu_edge_2">
            <a:extLst>
              <a:ext uri="{FF2B5EF4-FFF2-40B4-BE49-F238E27FC236}">
                <a16:creationId xmlns:a16="http://schemas.microsoft.com/office/drawing/2014/main" id="{EC261601-464E-4B29-AFBF-6F1FFE09C382}"/>
              </a:ext>
            </a:extLst>
          </p:cNvPr>
          <p:cNvSpPr>
            <a:spLocks noGrp="1"/>
          </p:cNvSpPr>
          <p:nvPr/>
        </p:nvSpPr>
        <p:spPr>
          <a:xfrm>
            <a:off x="8086725" y="4133850"/>
            <a:ext cx="2352675" cy="953"/>
          </a:xfrm>
          <a:prstGeom prst="line">
            <a:avLst/>
          </a:prstGeom>
          <a:noFill/>
          <a:ln w="21908">
            <a:solidFill>
              <a:srgbClr val="087F83"/>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756E3DC5-0E9F-47DE-82BA-479A776B00FC}"/>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0DCD0A2C-7721-4E93-83FA-5D89AA422D7B}"/>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E879D10F-CA64-46D2-8EE1-92C29B62018C}"/>
              </a:ext>
            </a:extLst>
          </p:cNvPr>
          <p:cNvSpPr>
            <a:spLocks noGrp="1"/>
          </p:cNvSpPr>
          <p:nvPr/>
        </p:nvSpPr>
        <p:spPr>
          <a:xfrm>
            <a:off x="5600700" y="5429250"/>
            <a:ext cx="1533525" cy="953"/>
          </a:xfrm>
          <a:prstGeom prst="line">
            <a:avLst/>
          </a:prstGeom>
          <a:noFill/>
          <a:ln w="15240">
            <a:solidFill>
              <a:srgbClr val="526276"/>
            </a:solidFill>
            <a:tailEnd type="triangle" w="sm" len="sm"/>
          </a:ln>
        </p:spPr>
        <p:txBody>
          <a:bodyPr/>
          <a:lstStyle/>
          <a:p>
            <a:endParaRPr lang="it-IT"/>
          </a:p>
        </p:txBody>
      </p:sp>
      <p:sp>
        <p:nvSpPr>
          <p:cNvPr id="20" name="relu_edge_3">
            <a:extLst>
              <a:ext uri="{FF2B5EF4-FFF2-40B4-BE49-F238E27FC236}">
                <a16:creationId xmlns:a16="http://schemas.microsoft.com/office/drawing/2014/main" id="{97D566D9-F133-4322-9B5B-61D502DD029E}"/>
              </a:ext>
            </a:extLst>
          </p:cNvPr>
          <p:cNvSpPr>
            <a:spLocks noGrp="1"/>
          </p:cNvSpPr>
          <p:nvPr/>
        </p:nvSpPr>
        <p:spPr>
          <a:xfrm>
            <a:off x="8086725" y="5429250"/>
            <a:ext cx="2352675" cy="953"/>
          </a:xfrm>
          <a:prstGeom prst="line">
            <a:avLst/>
          </a:prstGeom>
          <a:noFill/>
          <a:ln w="21908">
            <a:solidFill>
              <a:srgbClr val="087F83"/>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7686FC50-1ED5-4AF0-968A-E9189F07D603}"/>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7686FC50-1ED5-4AF0-968A-E9189F07D603}"/>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2CB0528-2238-44B3-BF95-5CE339EAB6BF}"/>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2CB0528-2238-44B3-BF95-5CE339EAB6BF}"/>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1C3B018C-F549-445B-A133-F70F3F979F51}"/>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1C3B018C-F549-445B-A133-F70F3F979F51}"/>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585B68E-448B-411E-AAD3-4BF2928E4642}"/>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585B68E-448B-411E-AAD3-4BF2928E4642}"/>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079F5C95-50EB-422D-99D6-0781E5FDE424}"/>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079F5C95-50EB-422D-99D6-0781E5FDE424}"/>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EE7D03E9-654E-40D6-B07F-2592BB58BC89}"/>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EE7D03E9-654E-40D6-B07F-2592BB58BC89}"/>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16354130-BD0E-4C54-A7CF-DFF6DDF44D3A}"/>
              </a:ext>
            </a:extLst>
          </p:cNvPr>
          <p:cNvSpPr>
            <a:spLocks noGrp="1"/>
          </p:cNvSpPr>
          <p:nvPr/>
        </p:nvSpPr>
        <p:spPr>
          <a:xfrm>
            <a:off x="381000" y="306705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1C0D5F79-51AE-4DE5-9155-833450F7EBC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1C0D5F79-51AE-4DE5-9155-833450F7EBC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B8591171-5ED2-49CD-9F49-9896A2B67D25}"/>
              </a:ext>
            </a:extLst>
          </p:cNvPr>
          <p:cNvSpPr>
            <a:spLocks noGrp="1"/>
          </p:cNvSpPr>
          <p:nvPr/>
        </p:nvSpPr>
        <p:spPr>
          <a:xfrm>
            <a:off x="381000" y="449580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E45A1500-B9F7-42A0-9750-44B13E056936}"/>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E45A1500-B9F7-42A0-9750-44B13E056936}"/>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994AA78-079D-411D-A656-5F16FACF044A}"/>
              </a:ext>
            </a:extLst>
          </p:cNvPr>
          <p:cNvSpPr>
            <a:spLocks noGrp="1"/>
          </p:cNvSpPr>
          <p:nvPr/>
        </p:nvSpPr>
        <p:spPr>
          <a:xfrm>
            <a:off x="3314700" y="23907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D7F9D01D-4F35-4841-901D-A8585C194F5C}"/>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D7F9D01D-4F35-4841-901D-A8585C194F5C}"/>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F6C71B06-559C-4491-ACC3-FF941644A59A}"/>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F6C71B06-559C-4491-ACC3-FF941644A59A}"/>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4E3118BF-2AB5-4A31-BC23-0589B7155EED}"/>
              </a:ext>
            </a:extLst>
          </p:cNvPr>
          <p:cNvSpPr>
            <a:spLocks noGrp="1"/>
          </p:cNvSpPr>
          <p:nvPr/>
        </p:nvSpPr>
        <p:spPr>
          <a:xfrm>
            <a:off x="7134225" y="23622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522F2D7D-2F4B-4AB0-B528-763FD00470F9}"/>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526276"/>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522F2D7D-2F4B-4AB0-B528-763FD00470F9}"/>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83891E0-5E96-45EC-897B-4136FFBB14E3}"/>
              </a:ext>
            </a:extLst>
          </p:cNvPr>
          <p:cNvSpPr>
            <a:spLocks noGrp="1"/>
          </p:cNvSpPr>
          <p:nvPr/>
        </p:nvSpPr>
        <p:spPr>
          <a:xfrm>
            <a:off x="10439400"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0">
                <a:extLst>
                  <a:ext uri="{FF2B5EF4-FFF2-40B4-BE49-F238E27FC236}">
                    <a16:creationId xmlns:a16="http://schemas.microsoft.com/office/drawing/2014/main" id="{38554B25-E19C-4B6E-873C-2A1353427CB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37" name="activation_value_1" descr="0">
                <a:extLst>
                  <a:ext uri="{FF2B5EF4-FFF2-40B4-BE49-F238E27FC236}">
                    <a16:creationId xmlns:a16="http://schemas.microsoft.com/office/drawing/2014/main" id="{38554B25-E19C-4B6E-873C-2A1353427CB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D001473F-807A-47A4-A4FD-880E3A9D843A}"/>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D001473F-807A-47A4-A4FD-880E3A9D843A}"/>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4505A1C2-8F13-4C2A-9827-5EBCA2FB0370}"/>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0" name="sum_2">
            <a:extLst>
              <a:ext uri="{FF2B5EF4-FFF2-40B4-BE49-F238E27FC236}">
                <a16:creationId xmlns:a16="http://schemas.microsoft.com/office/drawing/2014/main" id="{90997F7B-B9A4-4CB5-AA62-67FC484D3B63}"/>
              </a:ext>
            </a:extLst>
          </p:cNvPr>
          <p:cNvSpPr>
            <a:spLocks noGrp="1"/>
          </p:cNvSpPr>
          <p:nvPr/>
        </p:nvSpPr>
        <p:spPr>
          <a:xfrm>
            <a:off x="3314700" y="36861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F4DF0927-9CAA-41F3-B9DC-46C1054BB4DF}"/>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F4DF0927-9CAA-41F3-B9DC-46C1054BB4DF}"/>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6428D48B-EB64-4F06-A2BF-EC40EB90334F}"/>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6428D48B-EB64-4F06-A2BF-EC40EB90334F}"/>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3835145F-AC91-40FA-AA75-0B5A8DD37EDC}"/>
              </a:ext>
            </a:extLst>
          </p:cNvPr>
          <p:cNvSpPr>
            <a:spLocks noGrp="1"/>
          </p:cNvSpPr>
          <p:nvPr/>
        </p:nvSpPr>
        <p:spPr>
          <a:xfrm>
            <a:off x="7134225" y="36576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4CEFBEBB-1548-456F-B90A-992FAD74C43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4CEFBEBB-1548-456F-B90A-992FAD74C43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22F79CD6-82D9-458D-B26F-2FC80273080D}"/>
              </a:ext>
            </a:extLst>
          </p:cNvPr>
          <p:cNvSpPr>
            <a:spLocks noGrp="1"/>
          </p:cNvSpPr>
          <p:nvPr/>
        </p:nvSpPr>
        <p:spPr>
          <a:xfrm>
            <a:off x="10439400"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3">
                <a:extLst>
                  <a:ext uri="{FF2B5EF4-FFF2-40B4-BE49-F238E27FC236}">
                    <a16:creationId xmlns:a16="http://schemas.microsoft.com/office/drawing/2014/main" id="{3562AE83-4FA7-44F5-B24C-322E0432B66A}"/>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6" name="activation_value_2" descr="3">
                <a:extLst>
                  <a:ext uri="{FF2B5EF4-FFF2-40B4-BE49-F238E27FC236}">
                    <a16:creationId xmlns:a16="http://schemas.microsoft.com/office/drawing/2014/main" id="{3562AE83-4FA7-44F5-B24C-322E0432B66A}"/>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483ABF47-F333-47E9-B7C9-F281E3F9C4A0}"/>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483ABF47-F333-47E9-B7C9-F281E3F9C4A0}"/>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BBE6BBE7-B5D0-496D-BD46-82C5CE50C95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9" name="sum_3">
            <a:extLst>
              <a:ext uri="{FF2B5EF4-FFF2-40B4-BE49-F238E27FC236}">
                <a16:creationId xmlns:a16="http://schemas.microsoft.com/office/drawing/2014/main" id="{F6D650F2-FBCE-43F5-A43F-5D219CB61AD3}"/>
              </a:ext>
            </a:extLst>
          </p:cNvPr>
          <p:cNvSpPr>
            <a:spLocks noGrp="1"/>
          </p:cNvSpPr>
          <p:nvPr/>
        </p:nvSpPr>
        <p:spPr>
          <a:xfrm>
            <a:off x="3314700" y="49815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395427E1-9FF0-4155-B6C4-23266EA5A24C}"/>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395427E1-9FF0-4155-B6C4-23266EA5A24C}"/>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F9446F2F-1BF9-44CB-8455-E22EEAC24068}"/>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F9446F2F-1BF9-44CB-8455-E22EEAC24068}"/>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D5DD73B7-E737-49D1-BFAE-7779016E6BB5}"/>
              </a:ext>
            </a:extLst>
          </p:cNvPr>
          <p:cNvSpPr>
            <a:spLocks noGrp="1"/>
          </p:cNvSpPr>
          <p:nvPr/>
        </p:nvSpPr>
        <p:spPr>
          <a:xfrm>
            <a:off x="7134225" y="4953000"/>
            <a:ext cx="952500" cy="952500"/>
          </a:xfrm>
          <a:prstGeom prst="ellipse">
            <a:avLst/>
          </a:prstGeom>
          <a:solidFill>
            <a:srgbClr val="FFFBEF"/>
          </a:solidFill>
          <a:ln w="19050">
            <a:solidFill>
              <a:srgbClr val="526276"/>
            </a:solidFill>
          </a:ln>
        </p:spPr>
        <p:txBody>
          <a:bodyPr/>
          <a:lstStyle/>
          <a:p>
            <a:endParaRPr lang="it-IT" dirty="0"/>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788E407E-35A5-4D4D-A64F-F5857822A8D3}"/>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788E407E-35A5-4D4D-A64F-F5857822A8D3}"/>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E843C245-3F77-4869-8F30-9CE1B4E4E959}"/>
              </a:ext>
            </a:extLst>
          </p:cNvPr>
          <p:cNvSpPr>
            <a:spLocks noGrp="1"/>
          </p:cNvSpPr>
          <p:nvPr/>
        </p:nvSpPr>
        <p:spPr>
          <a:xfrm>
            <a:off x="10439400"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1">
                <a:extLst>
                  <a:ext uri="{FF2B5EF4-FFF2-40B4-BE49-F238E27FC236}">
                    <a16:creationId xmlns:a16="http://schemas.microsoft.com/office/drawing/2014/main" id="{1CBA7D12-B4F2-46C2-A640-7B69129BB4E2}"/>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5" name="activation_value_3" descr="1">
                <a:extLst>
                  <a:ext uri="{FF2B5EF4-FFF2-40B4-BE49-F238E27FC236}">
                    <a16:creationId xmlns:a16="http://schemas.microsoft.com/office/drawing/2014/main" id="{1CBA7D12-B4F2-46C2-A640-7B69129BB4E2}"/>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2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92AD54D3-3586-4336-9EF0-AA7EBF4D1191}"/>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92AD54D3-3586-4336-9EF0-AA7EBF4D1191}"/>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CEEF6CA7-4A55-4F9E-8199-B379A3BBB7AE}"/>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phi_1((1,2)),\phi_2((1,2)),\phi_3((1,2)))=(0,3,1)">
                <a:extLst>
                  <a:ext uri="{FF2B5EF4-FFF2-40B4-BE49-F238E27FC236}">
                    <a16:creationId xmlns:a16="http://schemas.microsoft.com/office/drawing/2014/main" id="{383503D8-A6C4-4F72-BDBB-FEF09031A8C3}"/>
                  </a:ext>
                </a:extLst>
              </p:cNvPr>
              <p:cNvSpPr>
                <a:spLocks noGrp="1"/>
              </p:cNvSpPr>
              <p:nvPr/>
            </p:nvSpPr>
            <p:spPr>
              <a:xfrm>
                <a:off x="476250" y="6029325"/>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1" smtClean="0">
                          <a:solidFill>
                            <a:srgbClr val="087F83"/>
                          </a:solidFill>
                          <a:latin typeface="Cambria Math" panose="02040503050406030204" pitchFamily="18" charset="0"/>
                          <a:ea typeface="DejaVu Sans"/>
                          <a:cs typeface="DejaVu Sans"/>
                        </a:rPr>
                        <m:t>𝛟</m:t>
                      </m:r>
                      <m:d>
                        <m:dPr>
                          <m:ctrlPr>
                            <a:rPr lang="it-IT" sz="2800" b="1">
                              <a:solidFill>
                                <a:srgbClr val="087F83"/>
                              </a:solidFill>
                              <a:latin typeface="Cambria Math" panose="02040503050406030204" pitchFamily="18" charset="0"/>
                              <a:ea typeface="DejaVu Sans"/>
                              <a:cs typeface="DejaVu Sans"/>
                            </a:rPr>
                          </m:ctrlPr>
                        </m:dPr>
                        <m:e>
                          <m:r>
                            <a:rPr lang="it-IT" sz="2800" b="1">
                              <a:solidFill>
                                <a:srgbClr val="087F83"/>
                              </a:solidFill>
                              <a:latin typeface="Cambria Math" panose="02040503050406030204" pitchFamily="18" charset="0"/>
                              <a:ea typeface="DejaVu Sans"/>
                              <a:cs typeface="DejaVu Sans"/>
                            </a:rPr>
                            <m:t>𝐱</m:t>
                          </m:r>
                        </m:e>
                      </m:d>
                      <m:r>
                        <a:rPr lang="it-IT" sz="2800" b="1" i="1" smtClean="0">
                          <a:solidFill>
                            <a:srgbClr val="087F83"/>
                          </a:solidFill>
                          <a:latin typeface="Cambria Math" panose="02040503050406030204" pitchFamily="18" charset="0"/>
                          <a:ea typeface="DejaVu Sans"/>
                          <a:cs typeface="DejaVu Sans"/>
                        </a:rPr>
                        <m:t>=</m:t>
                      </m:r>
                      <m:d>
                        <m:dPr>
                          <m:ctrlPr>
                            <a:rPr lang="it-IT" sz="2800" b="0" i="0" smtClean="0">
                              <a:solidFill>
                                <a:srgbClr val="087F83"/>
                              </a:solidFill>
                              <a:latin typeface="Cambria Math" panose="02040503050406030204" pitchFamily="18" charset="0"/>
                              <a:ea typeface="Cambria Math"/>
                              <a:cs typeface="Cambria Math"/>
                            </a:rPr>
                          </m:ctrlPr>
                        </m:dPr>
                        <m:e>
                          <m:r>
                            <m:rPr>
                              <m:sty m:val="p"/>
                            </m:rPr>
                            <a:rPr lang="it-IT" sz="2800" b="0" i="0" smtClean="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1</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2</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i="1">
                                      <a:solidFill>
                                        <a:srgbClr val="087F83"/>
                                      </a:solidFill>
                                      <a:latin typeface="Cambria Math" panose="02040503050406030204" pitchFamily="18" charset="0"/>
                                      <a:ea typeface="Cambria Math"/>
                                    </a:rPr>
                                    <m:t>3</m:t>
                                  </m:r>
                                </m:sub>
                              </m:sSub>
                            </m:e>
                          </m:d>
                        </m:e>
                      </m:d>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0,3,1</m:t>
                          </m:r>
                        </m:e>
                      </m:d>
                    </m:oMath>
                  </m:oMathPara>
                </a14:m>
                <a:endParaRPr lang="en-GB" sz="2800" dirty="0"/>
              </a:p>
            </p:txBody>
          </p:sp>
        </mc:Choice>
        <mc:Fallback xmlns="">
          <p:sp>
            <p:nvSpPr>
              <p:cNvPr id="58" name="result_row" descr="(\phi_1((1,2)),\phi_2((1,2)),\phi_3((1,2)))=(0,3,1)">
                <a:extLst>
                  <a:ext uri="{FF2B5EF4-FFF2-40B4-BE49-F238E27FC236}">
                    <a16:creationId xmlns:a16="http://schemas.microsoft.com/office/drawing/2014/main" id="{383503D8-A6C4-4F72-BDBB-FEF09031A8C3}"/>
                  </a:ext>
                </a:extLst>
              </p:cNvPr>
              <p:cNvSpPr>
                <a:spLocks noGrp="1" noRot="1" noChangeAspect="1" noMove="1" noResize="1" noEditPoints="1" noAdjustHandles="1" noChangeArrowheads="1" noChangeShapeType="1" noTextEdit="1"/>
              </p:cNvSpPr>
              <p:nvPr/>
            </p:nvSpPr>
            <p:spPr>
              <a:xfrm>
                <a:off x="476250" y="6029325"/>
                <a:ext cx="11239500" cy="495300"/>
              </a:xfrm>
              <a:prstGeom prst="rect">
                <a:avLst/>
              </a:prstGeom>
              <a:blipFill>
                <a:blip r:embed="rId28"/>
                <a:stretch>
                  <a:fillRect l="-868"/>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986316D5-CCFA-4358-9828-831934A4543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C178C20-FDF0-48D5-8EC9-E9DED1346B2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63" name="weighted_heading">
                <a:extLst>
                  <a:ext uri="{FF2B5EF4-FFF2-40B4-BE49-F238E27FC236}">
                    <a16:creationId xmlns:a16="http://schemas.microsoft.com/office/drawing/2014/main" id="{614A04DB-6022-AB05-055C-922BFC516D66}"/>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lang="it-IT" sz="1875" b="1" dirty="0">
                    <a:solidFill>
                      <a:srgbClr val="526276"/>
                    </a:solidFill>
                    <a:latin typeface="DejaVu Sans"/>
                    <a:ea typeface="DejaVu Sans"/>
                    <a:cs typeface="DejaVu Sans"/>
                  </a:rPr>
                  <a:t>Weighted sums </a:t>
                </a:r>
                <a14:m>
                  <m:oMath xmlns:m="http://schemas.openxmlformats.org/officeDocument/2006/math">
                    <m:r>
                      <a:rPr lang="it-IT" sz="2000" smtClean="0">
                        <a:solidFill>
                          <a:srgbClr val="526276"/>
                        </a:solidFill>
                        <a:latin typeface="Cambria Math"/>
                        <a:ea typeface="Cambria Math"/>
                        <a:cs typeface="Cambria Math"/>
                      </a:rPr>
                      <m:t>𝐱𝐖</m:t>
                    </m:r>
                  </m:oMath>
                </a14:m>
                <a:endParaRPr lang="it-IT" sz="1875" b="1" dirty="0">
                  <a:solidFill>
                    <a:srgbClr val="526276"/>
                  </a:solidFill>
                  <a:latin typeface="DejaVu Sans"/>
                  <a:ea typeface="DejaVu Sans"/>
                  <a:cs typeface="DejaVu Sans"/>
                </a:endParaRPr>
              </a:p>
            </p:txBody>
          </p:sp>
        </mc:Choice>
        <mc:Fallback xmlns="">
          <p:sp>
            <p:nvSpPr>
              <p:cNvPr id="63" name="weighted_heading">
                <a:extLst>
                  <a:ext uri="{FF2B5EF4-FFF2-40B4-BE49-F238E27FC236}">
                    <a16:creationId xmlns:a16="http://schemas.microsoft.com/office/drawing/2014/main" id="{614A04DB-6022-AB05-055C-922BFC516D66}"/>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29"/>
                <a:stretch>
                  <a:fillRect t="-6452" b="-2741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788683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CB15FB8-A3DC-49E9-B95F-7746989EA3C9}"/>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output</a:t>
            </a:r>
          </a:p>
        </p:txBody>
      </p:sp>
      <mc:AlternateContent xmlns:mc="http://schemas.openxmlformats.org/markup-compatibility/2006" xmlns:a14="http://schemas.microsoft.com/office/drawing/2010/main">
        <mc:Choice Requires="a14">
          <p:sp>
            <p:nvSpPr>
              <p:cNvPr id="5" name="activation_heading">
                <a:extLst>
                  <a:ext uri="{FF2B5EF4-FFF2-40B4-BE49-F238E27FC236}">
                    <a16:creationId xmlns:a16="http://schemas.microsoft.com/office/drawing/2014/main" id="{EA67880A-55BD-454D-82A3-C3A3D3E2A002}"/>
                  </a:ext>
                </a:extLst>
              </p:cNvPr>
              <p:cNvSpPr>
                <a:spLocks noGrp="1"/>
              </p:cNvSpPr>
              <p:nvPr/>
            </p:nvSpPr>
            <p:spPr>
              <a:xfrm>
                <a:off x="571500" y="1943100"/>
                <a:ext cx="32385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err="1">
                    <a:solidFill>
                      <a:srgbClr val="087F83"/>
                    </a:solidFill>
                    <a:latin typeface="DejaVu Sans"/>
                    <a:ea typeface="DejaVu Sans"/>
                    <a:cs typeface="DejaVu Sans"/>
                  </a:rPr>
                  <a:t>Activations</a:t>
                </a:r>
                <a:endParaRPr lang="it-IT"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a:solidFill>
                          <a:srgbClr val="087F83"/>
                        </a:solidFill>
                        <a:latin typeface="Cambria Math" panose="02040503050406030204" pitchFamily="18" charset="0"/>
                        <a:ea typeface="DejaVu Sans"/>
                        <a:cs typeface="DejaVu Sans"/>
                      </a:rPr>
                      <m:t>𝛟</m:t>
                    </m:r>
                    <m:d>
                      <m:dPr>
                        <m:ctrlPr>
                          <a:rPr lang="ar-AE" sz="1875" b="1">
                            <a:solidFill>
                              <a:srgbClr val="087F83"/>
                            </a:solidFill>
                            <a:latin typeface="Cambria Math" panose="02040503050406030204" pitchFamily="18" charset="0"/>
                            <a:ea typeface="DejaVu Sans"/>
                            <a:cs typeface="DejaVu Sans"/>
                          </a:rPr>
                        </m:ctrlPr>
                      </m:dPr>
                      <m:e>
                        <m:r>
                          <a:rPr lang="ar-AE" sz="1875" b="1">
                            <a:solidFill>
                              <a:srgbClr val="087F83"/>
                            </a:solidFill>
                            <a:latin typeface="Cambria Math" panose="02040503050406030204" pitchFamily="18" charset="0"/>
                            <a:ea typeface="DejaVu Sans"/>
                            <a:cs typeface="DejaVu Sans"/>
                          </a:rPr>
                          <m:t>𝐱</m:t>
                        </m:r>
                      </m:e>
                    </m:d>
                  </m:oMath>
                </a14:m>
                <a:endParaRPr lang="ar-AE"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 </a:t>
                </a:r>
                <a:endParaRPr sz="1875" b="1" dirty="0">
                  <a:solidFill>
                    <a:srgbClr val="087F83"/>
                  </a:solidFill>
                  <a:latin typeface="DejaVu Sans"/>
                  <a:ea typeface="DejaVu Sans"/>
                  <a:cs typeface="DejaVu Sans"/>
                </a:endParaRPr>
              </a:p>
            </p:txBody>
          </p:sp>
        </mc:Choice>
        <mc:Fallback xmlns="">
          <p:sp>
            <p:nvSpPr>
              <p:cNvPr id="5" name="activation_heading">
                <a:extLst>
                  <a:ext uri="{FF2B5EF4-FFF2-40B4-BE49-F238E27FC236}">
                    <a16:creationId xmlns:a16="http://schemas.microsoft.com/office/drawing/2014/main" id="{EA67880A-55BD-454D-82A3-C3A3D3E2A002}"/>
                  </a:ext>
                </a:extLst>
              </p:cNvPr>
              <p:cNvSpPr>
                <a:spLocks noGrp="1" noRot="1" noChangeAspect="1" noMove="1" noResize="1" noEditPoints="1" noAdjustHandles="1" noChangeArrowheads="1" noChangeShapeType="1" noTextEdit="1"/>
              </p:cNvSpPr>
              <p:nvPr/>
            </p:nvSpPr>
            <p:spPr>
              <a:xfrm>
                <a:off x="571500" y="1943100"/>
                <a:ext cx="3238500" cy="381000"/>
              </a:xfrm>
              <a:prstGeom prst="rect">
                <a:avLst/>
              </a:prstGeom>
              <a:blipFill>
                <a:blip r:embed="rId3"/>
                <a:stretch>
                  <a:fillRect t="-83871" b="-2580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um_heading">
                <a:extLst>
                  <a:ext uri="{FF2B5EF4-FFF2-40B4-BE49-F238E27FC236}">
                    <a16:creationId xmlns:a16="http://schemas.microsoft.com/office/drawing/2014/main" id="{E4D88998-F393-411B-BBDD-CB731F7F43AB}"/>
                  </a:ext>
                </a:extLst>
              </p:cNvPr>
              <p:cNvSpPr>
                <a:spLocks noGrp="1"/>
              </p:cNvSpPr>
              <p:nvPr/>
            </p:nvSpPr>
            <p:spPr>
              <a:xfrm>
                <a:off x="5715000" y="2757487"/>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a:t>
                </a:r>
                <a:endParaRPr lang="it-IT" sz="1875"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14:m>
                  <m:oMathPara xmlns:m="http://schemas.openxmlformats.org/officeDocument/2006/math">
                    <m:oMath>
                      <m:r>
                        <a:rPr lang="ar-AE" sz="1875" b="1" smtClean="0">
                          <a:solidFill>
                            <a:schemeClr val="tx2"/>
                          </a:solidFill>
                          <a:latin typeface="Cambria Math" panose="02040503050406030204" pitchFamily="18" charset="0"/>
                          <a:ea typeface="DejaVu Sans"/>
                          <a:cs typeface="DejaVu Sans"/>
                        </a:rPr>
                        <m:t>𝛟</m:t>
                      </m:r>
                      <m:d>
                        <m:dPr>
                          <m:ctrlPr>
                            <a:rPr lang="ar-AE" sz="1875" b="1">
                              <a:solidFill>
                                <a:schemeClr val="tx2"/>
                              </a:solidFill>
                              <a:latin typeface="Cambria Math" panose="02040503050406030204" pitchFamily="18" charset="0"/>
                              <a:ea typeface="DejaVu Sans"/>
                              <a:cs typeface="DejaVu Sans"/>
                            </a:rPr>
                          </m:ctrlPr>
                        </m:dPr>
                        <m:e>
                          <m:r>
                            <a:rPr lang="ar-AE" sz="1875" b="1">
                              <a:solidFill>
                                <a:schemeClr val="tx2"/>
                              </a:solidFill>
                              <a:latin typeface="Cambria Math" panose="02040503050406030204" pitchFamily="18" charset="0"/>
                              <a:ea typeface="DejaVu Sans"/>
                              <a:cs typeface="DejaVu Sans"/>
                            </a:rPr>
                            <m:t>𝐱</m:t>
                          </m:r>
                        </m:e>
                      </m:d>
                      <m:sSub>
                        <m:sSubPr>
                          <m:ctrlPr>
                            <a:rPr lang="ar-AE" sz="2000">
                              <a:solidFill>
                                <a:schemeClr val="tx2"/>
                              </a:solidFill>
                              <a:latin typeface="Cambria Math"/>
                              <a:ea typeface="Cambria Math"/>
                              <a:cs typeface="Cambria Math"/>
                            </a:rPr>
                          </m:ctrlPr>
                        </m:sSubPr>
                        <m:e>
                          <m:r>
                            <a:rPr lang="ar-AE" sz="2000">
                              <a:solidFill>
                                <a:schemeClr val="tx2"/>
                              </a:solidFill>
                              <a:latin typeface="Cambria Math"/>
                              <a:ea typeface="Cambria Math"/>
                              <a:cs typeface="Cambria Math"/>
                            </a:rPr>
                            <m:t>𝐖</m:t>
                          </m:r>
                        </m:e>
                        <m:sub>
                          <m:r>
                            <m:rPr>
                              <m:sty m:val="p"/>
                            </m:rPr>
                            <a:rPr lang="it-IT" sz="2000">
                              <a:solidFill>
                                <a:schemeClr val="tx2"/>
                              </a:solidFill>
                              <a:latin typeface="Cambria Math"/>
                              <a:ea typeface="Cambria Math"/>
                              <a:cs typeface="Cambria Math"/>
                            </a:rPr>
                            <m:t>out</m:t>
                          </m:r>
                        </m:sub>
                      </m:sSub>
                    </m:oMath>
                  </m:oMathPara>
                </a14:m>
                <a:endParaRPr lang="ar-AE" sz="1875" b="1" dirty="0">
                  <a:solidFill>
                    <a:schemeClr val="tx2"/>
                  </a:solidFill>
                  <a:latin typeface="DejaVu Sans"/>
                  <a:ea typeface="DejaVu Sans"/>
                  <a:cs typeface="DejaVu Sans"/>
                </a:endParaRPr>
              </a:p>
            </p:txBody>
          </p:sp>
        </mc:Choice>
        <mc:Fallback xmlns="">
          <p:sp>
            <p:nvSpPr>
              <p:cNvPr id="6" name="sum_heading">
                <a:extLst>
                  <a:ext uri="{FF2B5EF4-FFF2-40B4-BE49-F238E27FC236}">
                    <a16:creationId xmlns:a16="http://schemas.microsoft.com/office/drawing/2014/main" id="{E4D88998-F393-411B-BBDD-CB731F7F43AB}"/>
                  </a:ext>
                </a:extLst>
              </p:cNvPr>
              <p:cNvSpPr>
                <a:spLocks noGrp="1" noRot="1" noChangeAspect="1" noMove="1" noResize="1" noEditPoints="1" noAdjustHandles="1" noChangeArrowheads="1" noChangeShapeType="1" noTextEdit="1"/>
              </p:cNvSpPr>
              <p:nvPr/>
            </p:nvSpPr>
            <p:spPr>
              <a:xfrm>
                <a:off x="5715000" y="2757487"/>
                <a:ext cx="2667000" cy="381000"/>
              </a:xfrm>
              <a:prstGeom prst="rect">
                <a:avLst/>
              </a:prstGeom>
              <a:blipFill>
                <a:blip r:embed="rId4"/>
                <a:stretch>
                  <a:fillRect t="-46032" b="-5396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output_heading">
                <a:extLst>
                  <a:ext uri="{FF2B5EF4-FFF2-40B4-BE49-F238E27FC236}">
                    <a16:creationId xmlns:a16="http://schemas.microsoft.com/office/drawing/2014/main" id="{B20C2B9D-9F55-426C-8B56-1CF97BC5DEEF}"/>
                  </a:ext>
                </a:extLst>
              </p:cNvPr>
              <p:cNvSpPr>
                <a:spLocks noGrp="1"/>
              </p:cNvSpPr>
              <p:nvPr/>
            </p:nvSpPr>
            <p:spPr>
              <a:xfrm>
                <a:off x="9410700" y="2757487"/>
                <a:ext cx="2286000" cy="381000"/>
              </a:xfrm>
              <a:prstGeom prst="rect">
                <a:avLst/>
              </a:prstGeom>
              <a:noFill/>
              <a:ln w="0">
                <a:noFill/>
              </a:ln>
            </p:spPr>
            <p:txBody>
              <a:bodyPr anchor="ctr">
                <a:noAutofit/>
              </a:bodyPr>
              <a:lstStyle/>
              <a:p>
                <a:pPr algn="ctr">
                  <a:defRPr sz="1875" b="1">
                    <a:solidFill>
                      <a:srgbClr val="C45C28"/>
                    </a:solidFill>
                    <a:latin typeface="DejaVu Sans"/>
                    <a:ea typeface="DejaVu Sans"/>
                    <a:cs typeface="DejaVu Sans"/>
                  </a:defRPr>
                </a:pPr>
                <a:r>
                  <a:rPr lang="it-IT" sz="1875" b="1" dirty="0">
                    <a:solidFill>
                      <a:srgbClr val="C45C28"/>
                    </a:solidFill>
                    <a:latin typeface="DejaVu Sans"/>
                    <a:ea typeface="DejaVu Sans"/>
                    <a:cs typeface="DejaVu Sans"/>
                  </a:rPr>
                  <a:t>Output</a:t>
                </a:r>
              </a:p>
              <a:p>
                <a:pPr algn="ctr">
                  <a:defRPr sz="1875" b="1">
                    <a:solidFill>
                      <a:srgbClr val="C45C28"/>
                    </a:solidFill>
                    <a:latin typeface="DejaVu Sans"/>
                    <a:ea typeface="DejaVu Sans"/>
                    <a:cs typeface="DejaVu Sans"/>
                  </a:defRPr>
                </a:pPr>
                <a14:m>
                  <m:oMathPara xmlns:m="http://schemas.openxmlformats.org/officeDocument/2006/math">
                    <m:oMath>
                      <m:r>
                        <a:rPr lang="it-IT" b="1" smtClean="0">
                          <a:solidFill>
                            <a:srgbClr val="C45C28"/>
                          </a:solidFill>
                          <a:latin typeface="Cambria Math" panose="02040503050406030204" pitchFamily="18" charset="0"/>
                          <a:ea typeface="DejaVu Sans"/>
                          <a:cs typeface="DejaVu Sans"/>
                        </a:rPr>
                        <m:t>𝛟</m:t>
                      </m:r>
                      <m:d>
                        <m:dPr>
                          <m:ctrlPr>
                            <a:rPr lang="ar-AE" b="1">
                              <a:solidFill>
                                <a:srgbClr val="C45C28"/>
                              </a:solidFill>
                              <a:latin typeface="Cambria Math" panose="02040503050406030204" pitchFamily="18" charset="0"/>
                              <a:ea typeface="DejaVu Sans"/>
                              <a:cs typeface="DejaVu Sans"/>
                            </a:rPr>
                          </m:ctrlPr>
                        </m:dPr>
                        <m:e>
                          <m:r>
                            <a:rPr lang="ar-AE" b="1">
                              <a:solidFill>
                                <a:srgbClr val="C45C28"/>
                              </a:solidFill>
                              <a:latin typeface="Cambria Math" panose="02040503050406030204" pitchFamily="18" charset="0"/>
                              <a:ea typeface="DejaVu Sans"/>
                              <a:cs typeface="DejaVu Sans"/>
                            </a:rPr>
                            <m:t>𝐱</m:t>
                          </m:r>
                        </m:e>
                      </m:d>
                      <m:sSub>
                        <m:sSubPr>
                          <m:ctrlPr>
                            <a:rPr lang="ar-AE">
                              <a:solidFill>
                                <a:srgbClr val="C45C28"/>
                              </a:solidFill>
                              <a:latin typeface="Cambria Math"/>
                              <a:ea typeface="Cambria Math"/>
                              <a:cs typeface="Cambria Math"/>
                            </a:rPr>
                          </m:ctrlPr>
                        </m:sSubPr>
                        <m:e>
                          <m:r>
                            <a:rPr lang="ar-AE">
                              <a:solidFill>
                                <a:srgbClr val="C45C28"/>
                              </a:solidFill>
                              <a:latin typeface="Cambria Math"/>
                              <a:ea typeface="Cambria Math"/>
                              <a:cs typeface="Cambria Math"/>
                            </a:rPr>
                            <m:t>𝐖</m:t>
                          </m:r>
                        </m:e>
                        <m:sub>
                          <m:r>
                            <m:rPr>
                              <m:sty m:val="p"/>
                            </m:rPr>
                            <a:rPr lang="it-IT">
                              <a:solidFill>
                                <a:srgbClr val="C45C28"/>
                              </a:solidFill>
                              <a:latin typeface="Cambria Math"/>
                              <a:ea typeface="Cambria Math"/>
                              <a:cs typeface="Cambria Math"/>
                            </a:rPr>
                            <m:t>out</m:t>
                          </m:r>
                        </m:sub>
                      </m:sSub>
                      <m:r>
                        <a:rPr lang="ar-AE" b="1" i="1" smtClean="0">
                          <a:solidFill>
                            <a:srgbClr val="C45C28"/>
                          </a:solidFill>
                          <a:latin typeface="Cambria Math" panose="02040503050406030204" pitchFamily="18" charset="0"/>
                          <a:ea typeface="Cambria Math"/>
                          <a:cs typeface="Cambria Math"/>
                        </a:rPr>
                        <m:t>+</m:t>
                      </m:r>
                      <m:sSub>
                        <m:sSubPr>
                          <m:ctrlPr>
                            <a:rPr lang="en-GB" sz="2000">
                              <a:solidFill>
                                <a:srgbClr val="C45C28"/>
                              </a:solidFill>
                              <a:latin typeface="Cambria Math"/>
                              <a:ea typeface="Cambria Math"/>
                              <a:cs typeface="Cambria Math"/>
                            </a:rPr>
                          </m:ctrlPr>
                        </m:sSubPr>
                        <m:e>
                          <m:r>
                            <a:rPr lang="en-GB" sz="2000">
                              <a:solidFill>
                                <a:srgbClr val="C45C28"/>
                              </a:solidFill>
                              <a:latin typeface="Cambria Math"/>
                              <a:ea typeface="Cambria Math"/>
                              <a:cs typeface="Cambria Math"/>
                            </a:rPr>
                            <m:t>𝑏</m:t>
                          </m:r>
                        </m:e>
                        <m:sub>
                          <m:r>
                            <m:rPr>
                              <m:sty m:val="p"/>
                            </m:rPr>
                            <a:rPr lang="en-GB" sz="2000">
                              <a:solidFill>
                                <a:srgbClr val="C45C28"/>
                              </a:solidFill>
                              <a:latin typeface="Cambria Math"/>
                              <a:ea typeface="Cambria Math"/>
                              <a:cs typeface="Cambria Math"/>
                            </a:rPr>
                            <m:t>out</m:t>
                          </m:r>
                        </m:sub>
                      </m:sSub>
                    </m:oMath>
                  </m:oMathPara>
                </a14:m>
                <a:endParaRPr lang="ar-AE" sz="1875" b="1" dirty="0">
                  <a:solidFill>
                    <a:srgbClr val="C45C28"/>
                  </a:solidFill>
                  <a:latin typeface="DejaVu Sans"/>
                  <a:ea typeface="DejaVu Sans"/>
                  <a:cs typeface="DejaVu Sans"/>
                </a:endParaRPr>
              </a:p>
              <a:p>
                <a:pPr algn="ctr">
                  <a:defRPr sz="1875" b="1">
                    <a:solidFill>
                      <a:srgbClr val="C45C28"/>
                    </a:solidFill>
                    <a:latin typeface="DejaVu Sans"/>
                    <a:ea typeface="DejaVu Sans"/>
                    <a:cs typeface="DejaVu Sans"/>
                  </a:defRPr>
                </a:pPr>
                <a:endParaRPr sz="1875" b="1" dirty="0">
                  <a:solidFill>
                    <a:srgbClr val="C45C28"/>
                  </a:solidFill>
                  <a:latin typeface="DejaVu Sans"/>
                  <a:ea typeface="DejaVu Sans"/>
                  <a:cs typeface="DejaVu Sans"/>
                </a:endParaRPr>
              </a:p>
            </p:txBody>
          </p:sp>
        </mc:Choice>
        <mc:Fallback xmlns="">
          <p:sp>
            <p:nvSpPr>
              <p:cNvPr id="7" name="output_heading">
                <a:extLst>
                  <a:ext uri="{FF2B5EF4-FFF2-40B4-BE49-F238E27FC236}">
                    <a16:creationId xmlns:a16="http://schemas.microsoft.com/office/drawing/2014/main" id="{B20C2B9D-9F55-426C-8B56-1CF97BC5DEEF}"/>
                  </a:ext>
                </a:extLst>
              </p:cNvPr>
              <p:cNvSpPr>
                <a:spLocks noGrp="1" noRot="1" noChangeAspect="1" noMove="1" noResize="1" noEditPoints="1" noAdjustHandles="1" noChangeArrowheads="1" noChangeShapeType="1" noTextEdit="1"/>
              </p:cNvSpPr>
              <p:nvPr/>
            </p:nvSpPr>
            <p:spPr>
              <a:xfrm>
                <a:off x="9410700" y="2757487"/>
                <a:ext cx="2286000" cy="381000"/>
              </a:xfrm>
              <a:prstGeom prst="rect">
                <a:avLst/>
              </a:prstGeom>
              <a:blipFill>
                <a:blip r:embed="rId5"/>
                <a:stretch>
                  <a:fillRect t="-84127" b="-17460"/>
                </a:stretch>
              </a:blipFill>
              <a:ln w="0">
                <a:noFill/>
              </a:ln>
            </p:spPr>
            <p:txBody>
              <a:bodyPr/>
              <a:lstStyle/>
              <a:p>
                <a:r>
                  <a:rPr lang="it-IT">
                    <a:noFill/>
                  </a:rPr>
                  <a:t> </a:t>
                </a:r>
              </a:p>
            </p:txBody>
          </p:sp>
        </mc:Fallback>
      </mc:AlternateContent>
      <p:sp>
        <p:nvSpPr>
          <p:cNvPr id="8" name="output_weight_edge_1">
            <a:extLst>
              <a:ext uri="{FF2B5EF4-FFF2-40B4-BE49-F238E27FC236}">
                <a16:creationId xmlns:a16="http://schemas.microsoft.com/office/drawing/2014/main" id="{C9ABD7B6-31B2-4839-B516-74D38CCED4C3}"/>
              </a:ext>
            </a:extLst>
          </p:cNvPr>
          <p:cNvSpPr>
            <a:spLocks noGrp="1"/>
          </p:cNvSpPr>
          <p:nvPr/>
        </p:nvSpPr>
        <p:spPr>
          <a:xfrm>
            <a:off x="2647950" y="2857500"/>
            <a:ext cx="3400425" cy="1238250"/>
          </a:xfrm>
          <a:prstGeom prst="line">
            <a:avLst/>
          </a:prstGeom>
          <a:noFill/>
          <a:ln w="17145">
            <a:solidFill>
              <a:srgbClr val="B6C2CD"/>
            </a:solidFill>
          </a:ln>
        </p:spPr>
        <p:txBody>
          <a:bodyPr/>
          <a:lstStyle/>
          <a:p>
            <a:endParaRPr lang="it-IT"/>
          </a:p>
        </p:txBody>
      </p:sp>
      <p:sp>
        <p:nvSpPr>
          <p:cNvPr id="9" name="output_weight_edge_2">
            <a:extLst>
              <a:ext uri="{FF2B5EF4-FFF2-40B4-BE49-F238E27FC236}">
                <a16:creationId xmlns:a16="http://schemas.microsoft.com/office/drawing/2014/main" id="{A854ECB1-7B18-4223-87D9-F4E8C412C900}"/>
              </a:ext>
            </a:extLst>
          </p:cNvPr>
          <p:cNvSpPr>
            <a:spLocks noGrp="1"/>
          </p:cNvSpPr>
          <p:nvPr/>
        </p:nvSpPr>
        <p:spPr>
          <a:xfrm>
            <a:off x="2647950" y="4095750"/>
            <a:ext cx="3400425" cy="953"/>
          </a:xfrm>
          <a:prstGeom prst="line">
            <a:avLst/>
          </a:prstGeom>
          <a:noFill/>
          <a:ln w="17145">
            <a:solidFill>
              <a:srgbClr val="B6C2CD"/>
            </a:solidFill>
          </a:ln>
        </p:spPr>
        <p:txBody>
          <a:bodyPr/>
          <a:lstStyle/>
          <a:p>
            <a:endParaRPr lang="it-IT"/>
          </a:p>
        </p:txBody>
      </p:sp>
      <p:sp>
        <p:nvSpPr>
          <p:cNvPr id="10" name="output_weight_edge_3">
            <a:extLst>
              <a:ext uri="{FF2B5EF4-FFF2-40B4-BE49-F238E27FC236}">
                <a16:creationId xmlns:a16="http://schemas.microsoft.com/office/drawing/2014/main" id="{CEA5086B-DEE1-4D3B-882E-444E6B7FE293}"/>
              </a:ext>
            </a:extLst>
          </p:cNvPr>
          <p:cNvSpPr>
            <a:spLocks noGrp="1"/>
          </p:cNvSpPr>
          <p:nvPr/>
        </p:nvSpPr>
        <p:spPr>
          <a:xfrm flipV="1">
            <a:off x="2647950" y="4095750"/>
            <a:ext cx="3400425" cy="1238250"/>
          </a:xfrm>
          <a:prstGeom prst="line">
            <a:avLst/>
          </a:prstGeom>
          <a:noFill/>
          <a:ln w="17145">
            <a:solidFill>
              <a:srgbClr val="B6C2CD"/>
            </a:solidFill>
          </a:ln>
        </p:spPr>
        <p:txBody>
          <a:bodyPr/>
          <a:lstStyle/>
          <a:p>
            <a:endParaRPr lang="it-IT"/>
          </a:p>
        </p:txBody>
      </p:sp>
      <p:sp>
        <p:nvSpPr>
          <p:cNvPr id="11" name="output_bias_edge">
            <a:extLst>
              <a:ext uri="{FF2B5EF4-FFF2-40B4-BE49-F238E27FC236}">
                <a16:creationId xmlns:a16="http://schemas.microsoft.com/office/drawing/2014/main" id="{47676BDE-EF09-4ACF-8C63-E076614F0498}"/>
              </a:ext>
            </a:extLst>
          </p:cNvPr>
          <p:cNvSpPr>
            <a:spLocks noGrp="1"/>
          </p:cNvSpPr>
          <p:nvPr/>
        </p:nvSpPr>
        <p:spPr>
          <a:xfrm>
            <a:off x="8048625" y="4095750"/>
            <a:ext cx="1895475" cy="953"/>
          </a:xfrm>
          <a:prstGeom prst="line">
            <a:avLst/>
          </a:prstGeom>
          <a:noFill/>
          <a:ln w="21908">
            <a:solidFill>
              <a:srgbClr val="C45C28"/>
            </a:solidFill>
            <a:tailEnd type="triangle" w="sm" len="sm"/>
          </a:ln>
        </p:spPr>
        <p:txBody>
          <a:bodyPr/>
          <a:lstStyle/>
          <a:p>
            <a:endParaRPr lang="it-IT"/>
          </a:p>
        </p:txBody>
      </p:sp>
      <p:sp>
        <p:nvSpPr>
          <p:cNvPr id="12" name="activation_1">
            <a:extLst>
              <a:ext uri="{FF2B5EF4-FFF2-40B4-BE49-F238E27FC236}">
                <a16:creationId xmlns:a16="http://schemas.microsoft.com/office/drawing/2014/main" id="{075A76ED-3166-41C9-AF91-DEF531474340}"/>
              </a:ext>
            </a:extLst>
          </p:cNvPr>
          <p:cNvSpPr>
            <a:spLocks noGrp="1"/>
          </p:cNvSpPr>
          <p:nvPr/>
        </p:nvSpPr>
        <p:spPr>
          <a:xfrm>
            <a:off x="173355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activation_math_1" descr="0">
                <a:extLst>
                  <a:ext uri="{FF2B5EF4-FFF2-40B4-BE49-F238E27FC236}">
                    <a16:creationId xmlns:a16="http://schemas.microsoft.com/office/drawing/2014/main" id="{E74E18CE-EB3D-49BD-B7C1-4DF3E6DD799B}"/>
                  </a:ext>
                </a:extLst>
              </p:cNvPr>
              <p:cNvSpPr>
                <a:spLocks noGrp="1"/>
              </p:cNvSpPr>
              <p:nvPr/>
            </p:nvSpPr>
            <p:spPr>
              <a:xfrm>
                <a:off x="173355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13" name="activation_math_1" descr="0">
                <a:extLst>
                  <a:ext uri="{FF2B5EF4-FFF2-40B4-BE49-F238E27FC236}">
                    <a16:creationId xmlns:a16="http://schemas.microsoft.com/office/drawing/2014/main" id="{E74E18CE-EB3D-49BD-B7C1-4DF3E6DD799B}"/>
                  </a:ext>
                </a:extLst>
              </p:cNvPr>
              <p:cNvSpPr>
                <a:spLocks noGrp="1" noRot="1" noChangeAspect="1" noMove="1" noResize="1" noEditPoints="1" noAdjustHandles="1" noChangeArrowheads="1" noChangeShapeType="1" noTextEdit="1"/>
              </p:cNvSpPr>
              <p:nvPr/>
            </p:nvSpPr>
            <p:spPr>
              <a:xfrm>
                <a:off x="1733550" y="2400300"/>
                <a:ext cx="914400" cy="9144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weight_label_1" descr="2">
                <a:extLst>
                  <a:ext uri="{FF2B5EF4-FFF2-40B4-BE49-F238E27FC236}">
                    <a16:creationId xmlns:a16="http://schemas.microsoft.com/office/drawing/2014/main" id="{BC9127B3-13AB-4F84-AF86-F22664F16F0E}"/>
                  </a:ext>
                </a:extLst>
              </p:cNvPr>
              <p:cNvSpPr>
                <a:spLocks noGrp="1"/>
              </p:cNvSpPr>
              <p:nvPr/>
            </p:nvSpPr>
            <p:spPr>
              <a:xfrm>
                <a:off x="3695700" y="3088006"/>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2</m:t>
                      </m:r>
                    </m:oMath>
                  </m:oMathPara>
                </a14:m>
                <a:endParaRPr lang="en-GB" sz="2500" dirty="0"/>
              </a:p>
            </p:txBody>
          </p:sp>
        </mc:Choice>
        <mc:Fallback xmlns="">
          <p:sp>
            <p:nvSpPr>
              <p:cNvPr id="14" name="output_weight_label_1" descr="2">
                <a:extLst>
                  <a:ext uri="{FF2B5EF4-FFF2-40B4-BE49-F238E27FC236}">
                    <a16:creationId xmlns:a16="http://schemas.microsoft.com/office/drawing/2014/main" id="{BC9127B3-13AB-4F84-AF86-F22664F16F0E}"/>
                  </a:ext>
                </a:extLst>
              </p:cNvPr>
              <p:cNvSpPr>
                <a:spLocks noGrp="1" noRot="1" noChangeAspect="1" noMove="1" noResize="1" noEditPoints="1" noAdjustHandles="1" noChangeArrowheads="1" noChangeShapeType="1" noTextEdit="1"/>
              </p:cNvSpPr>
              <p:nvPr/>
            </p:nvSpPr>
            <p:spPr>
              <a:xfrm>
                <a:off x="3695700" y="3088006"/>
                <a:ext cx="990600" cy="419100"/>
              </a:xfrm>
              <a:prstGeom prst="rect">
                <a:avLst/>
              </a:prstGeom>
              <a:blipFill>
                <a:blip r:embed="rId7"/>
                <a:stretch>
                  <a:fillRect b="-2941"/>
                </a:stretch>
              </a:blipFill>
              <a:ln w="0">
                <a:noFill/>
              </a:ln>
            </p:spPr>
            <p:txBody>
              <a:bodyPr/>
              <a:lstStyle/>
              <a:p>
                <a:r>
                  <a:rPr lang="it-IT">
                    <a:noFill/>
                  </a:rPr>
                  <a:t> </a:t>
                </a:r>
              </a:p>
            </p:txBody>
          </p:sp>
        </mc:Fallback>
      </mc:AlternateContent>
      <p:sp>
        <p:nvSpPr>
          <p:cNvPr id="15" name="activation_2">
            <a:extLst>
              <a:ext uri="{FF2B5EF4-FFF2-40B4-BE49-F238E27FC236}">
                <a16:creationId xmlns:a16="http://schemas.microsoft.com/office/drawing/2014/main" id="{9275E4B8-D4CD-4545-9FF5-6E7BA464CB16}"/>
              </a:ext>
            </a:extLst>
          </p:cNvPr>
          <p:cNvSpPr>
            <a:spLocks noGrp="1"/>
          </p:cNvSpPr>
          <p:nvPr/>
        </p:nvSpPr>
        <p:spPr>
          <a:xfrm>
            <a:off x="173355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activation_math_2" descr="3">
                <a:extLst>
                  <a:ext uri="{FF2B5EF4-FFF2-40B4-BE49-F238E27FC236}">
                    <a16:creationId xmlns:a16="http://schemas.microsoft.com/office/drawing/2014/main" id="{17F46BF1-DC0A-4661-94A4-8E4FA23BD668}"/>
                  </a:ext>
                </a:extLst>
              </p:cNvPr>
              <p:cNvSpPr>
                <a:spLocks noGrp="1"/>
              </p:cNvSpPr>
              <p:nvPr/>
            </p:nvSpPr>
            <p:spPr>
              <a:xfrm>
                <a:off x="173355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16" name="activation_math_2" descr="3">
                <a:extLst>
                  <a:ext uri="{FF2B5EF4-FFF2-40B4-BE49-F238E27FC236}">
                    <a16:creationId xmlns:a16="http://schemas.microsoft.com/office/drawing/2014/main" id="{17F46BF1-DC0A-4661-94A4-8E4FA23BD668}"/>
                  </a:ext>
                </a:extLst>
              </p:cNvPr>
              <p:cNvSpPr>
                <a:spLocks noGrp="1" noRot="1" noChangeAspect="1" noMove="1" noResize="1" noEditPoints="1" noAdjustHandles="1" noChangeArrowheads="1" noChangeShapeType="1" noTextEdit="1"/>
              </p:cNvSpPr>
              <p:nvPr/>
            </p:nvSpPr>
            <p:spPr>
              <a:xfrm>
                <a:off x="1733550" y="3638550"/>
                <a:ext cx="914400" cy="9144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output_weight_label_2" descr="-1">
                <a:extLst>
                  <a:ext uri="{FF2B5EF4-FFF2-40B4-BE49-F238E27FC236}">
                    <a16:creationId xmlns:a16="http://schemas.microsoft.com/office/drawing/2014/main" id="{02918B61-E7DE-4D3B-9A2C-EEA9629F095A}"/>
                  </a:ext>
                </a:extLst>
              </p:cNvPr>
              <p:cNvSpPr>
                <a:spLocks noGrp="1"/>
              </p:cNvSpPr>
              <p:nvPr/>
            </p:nvSpPr>
            <p:spPr>
              <a:xfrm>
                <a:off x="3581400" y="3835718"/>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−1</m:t>
                      </m:r>
                    </m:oMath>
                  </m:oMathPara>
                </a14:m>
                <a:endParaRPr lang="en-GB" sz="2500" dirty="0"/>
              </a:p>
            </p:txBody>
          </p:sp>
        </mc:Choice>
        <mc:Fallback xmlns="">
          <p:sp>
            <p:nvSpPr>
              <p:cNvPr id="17" name="output_weight_label_2" descr="-1">
                <a:extLst>
                  <a:ext uri="{FF2B5EF4-FFF2-40B4-BE49-F238E27FC236}">
                    <a16:creationId xmlns:a16="http://schemas.microsoft.com/office/drawing/2014/main" id="{02918B61-E7DE-4D3B-9A2C-EEA9629F095A}"/>
                  </a:ext>
                </a:extLst>
              </p:cNvPr>
              <p:cNvSpPr>
                <a:spLocks noGrp="1" noRot="1" noChangeAspect="1" noMove="1" noResize="1" noEditPoints="1" noAdjustHandles="1" noChangeArrowheads="1" noChangeShapeType="1" noTextEdit="1"/>
              </p:cNvSpPr>
              <p:nvPr/>
            </p:nvSpPr>
            <p:spPr>
              <a:xfrm>
                <a:off x="3581400" y="3835718"/>
                <a:ext cx="990600" cy="419100"/>
              </a:xfrm>
              <a:prstGeom prst="rect">
                <a:avLst/>
              </a:prstGeom>
              <a:blipFill>
                <a:blip r:embed="rId9"/>
                <a:stretch>
                  <a:fillRect b="-1449"/>
                </a:stretch>
              </a:blipFill>
              <a:ln w="0">
                <a:noFill/>
              </a:ln>
            </p:spPr>
            <p:txBody>
              <a:bodyPr/>
              <a:lstStyle/>
              <a:p>
                <a:r>
                  <a:rPr lang="it-IT">
                    <a:noFill/>
                  </a:rPr>
                  <a:t> </a:t>
                </a:r>
              </a:p>
            </p:txBody>
          </p:sp>
        </mc:Fallback>
      </mc:AlternateContent>
      <p:sp>
        <p:nvSpPr>
          <p:cNvPr id="18" name="activation_3">
            <a:extLst>
              <a:ext uri="{FF2B5EF4-FFF2-40B4-BE49-F238E27FC236}">
                <a16:creationId xmlns:a16="http://schemas.microsoft.com/office/drawing/2014/main" id="{76602D22-BE4A-4EA0-B57C-FEE992B49880}"/>
              </a:ext>
            </a:extLst>
          </p:cNvPr>
          <p:cNvSpPr>
            <a:spLocks noGrp="1"/>
          </p:cNvSpPr>
          <p:nvPr/>
        </p:nvSpPr>
        <p:spPr>
          <a:xfrm>
            <a:off x="173355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9" name="activation_math_3" descr="1">
                <a:extLst>
                  <a:ext uri="{FF2B5EF4-FFF2-40B4-BE49-F238E27FC236}">
                    <a16:creationId xmlns:a16="http://schemas.microsoft.com/office/drawing/2014/main" id="{D842BEDE-3001-4577-9577-A18D3FC92FD6}"/>
                  </a:ext>
                </a:extLst>
              </p:cNvPr>
              <p:cNvSpPr>
                <a:spLocks noGrp="1"/>
              </p:cNvSpPr>
              <p:nvPr/>
            </p:nvSpPr>
            <p:spPr>
              <a:xfrm>
                <a:off x="173355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19" name="activation_math_3" descr="1">
                <a:extLst>
                  <a:ext uri="{FF2B5EF4-FFF2-40B4-BE49-F238E27FC236}">
                    <a16:creationId xmlns:a16="http://schemas.microsoft.com/office/drawing/2014/main" id="{D842BEDE-3001-4577-9577-A18D3FC92FD6}"/>
                  </a:ext>
                </a:extLst>
              </p:cNvPr>
              <p:cNvSpPr>
                <a:spLocks noGrp="1" noRot="1" noChangeAspect="1" noMove="1" noResize="1" noEditPoints="1" noAdjustHandles="1" noChangeArrowheads="1" noChangeShapeType="1" noTextEdit="1"/>
              </p:cNvSpPr>
              <p:nvPr/>
            </p:nvSpPr>
            <p:spPr>
              <a:xfrm>
                <a:off x="1733550" y="4876800"/>
                <a:ext cx="914400" cy="91440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output_weight_label_3" descr="\frac12">
                <a:extLst>
                  <a:ext uri="{FF2B5EF4-FFF2-40B4-BE49-F238E27FC236}">
                    <a16:creationId xmlns:a16="http://schemas.microsoft.com/office/drawing/2014/main" id="{3322B156-988A-45C9-A59D-D6FFBBE309EC}"/>
                  </a:ext>
                </a:extLst>
              </p:cNvPr>
              <p:cNvSpPr>
                <a:spLocks noGrp="1"/>
              </p:cNvSpPr>
              <p:nvPr/>
            </p:nvSpPr>
            <p:spPr>
              <a:xfrm>
                <a:off x="3695700" y="4596765"/>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182D45"/>
                              </a:solidFill>
                              <a:latin typeface="Cambria Math"/>
                              <a:ea typeface="Cambria Math"/>
                              <a:cs typeface="Cambria Math"/>
                            </a:rPr>
                          </m:ctrlPr>
                        </m:fPr>
                        <m:num>
                          <m:r>
                            <a:rPr lang="en-GB" sz="2500">
                              <a:solidFill>
                                <a:srgbClr val="182D45"/>
                              </a:solidFill>
                              <a:latin typeface="Cambria Math"/>
                              <a:ea typeface="Cambria Math"/>
                              <a:cs typeface="Cambria Math"/>
                            </a:rPr>
                            <m:t>1</m:t>
                          </m:r>
                        </m:num>
                        <m:den>
                          <m:r>
                            <a:rPr lang="en-GB" sz="2500">
                              <a:solidFill>
                                <a:srgbClr val="182D45"/>
                              </a:solidFill>
                              <a:latin typeface="Cambria Math"/>
                              <a:ea typeface="Cambria Math"/>
                              <a:cs typeface="Cambria Math"/>
                            </a:rPr>
                            <m:t>2</m:t>
                          </m:r>
                        </m:den>
                      </m:f>
                    </m:oMath>
                  </m:oMathPara>
                </a14:m>
                <a:endParaRPr lang="en-GB" sz="2500" dirty="0"/>
              </a:p>
            </p:txBody>
          </p:sp>
        </mc:Choice>
        <mc:Fallback xmlns="">
          <p:sp>
            <p:nvSpPr>
              <p:cNvPr id="20" name="output_weight_label_3" descr="\frac12">
                <a:extLst>
                  <a:ext uri="{FF2B5EF4-FFF2-40B4-BE49-F238E27FC236}">
                    <a16:creationId xmlns:a16="http://schemas.microsoft.com/office/drawing/2014/main" id="{3322B156-988A-45C9-A59D-D6FFBBE309EC}"/>
                  </a:ext>
                </a:extLst>
              </p:cNvPr>
              <p:cNvSpPr>
                <a:spLocks noGrp="1" noRot="1" noChangeAspect="1" noMove="1" noResize="1" noEditPoints="1" noAdjustHandles="1" noChangeArrowheads="1" noChangeShapeType="1" noTextEdit="1"/>
              </p:cNvSpPr>
              <p:nvPr/>
            </p:nvSpPr>
            <p:spPr>
              <a:xfrm>
                <a:off x="3695700" y="4596765"/>
                <a:ext cx="990600" cy="419100"/>
              </a:xfrm>
              <a:prstGeom prst="rect">
                <a:avLst/>
              </a:prstGeom>
              <a:blipFill>
                <a:blip r:embed="rId11"/>
                <a:stretch>
                  <a:fillRect t="-24638" b="-34783"/>
                </a:stretch>
              </a:blipFill>
              <a:ln w="0">
                <a:noFill/>
              </a:ln>
            </p:spPr>
            <p:txBody>
              <a:bodyPr/>
              <a:lstStyle/>
              <a:p>
                <a:r>
                  <a:rPr lang="it-IT">
                    <a:noFill/>
                  </a:rPr>
                  <a:t> </a:t>
                </a:r>
              </a:p>
            </p:txBody>
          </p:sp>
        </mc:Fallback>
      </mc:AlternateContent>
      <p:sp>
        <p:nvSpPr>
          <p:cNvPr id="21" name="weighted_output">
            <a:extLst>
              <a:ext uri="{FF2B5EF4-FFF2-40B4-BE49-F238E27FC236}">
                <a16:creationId xmlns:a16="http://schemas.microsoft.com/office/drawing/2014/main" id="{5FD1198F-1EA5-4999-9751-FE6A8C3743C9}"/>
              </a:ext>
            </a:extLst>
          </p:cNvPr>
          <p:cNvSpPr>
            <a:spLocks noGrp="1"/>
          </p:cNvSpPr>
          <p:nvPr/>
        </p:nvSpPr>
        <p:spPr>
          <a:xfrm>
            <a:off x="6048375" y="3562350"/>
            <a:ext cx="2000250" cy="106680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2" name="weighted_output_math" descr="-\frac52">
                <a:extLst>
                  <a:ext uri="{FF2B5EF4-FFF2-40B4-BE49-F238E27FC236}">
                    <a16:creationId xmlns:a16="http://schemas.microsoft.com/office/drawing/2014/main" id="{32A93C47-065E-453C-BE8F-49675C95F7CB}"/>
                  </a:ext>
                </a:extLst>
              </p:cNvPr>
              <p:cNvSpPr>
                <a:spLocks noGrp="1"/>
              </p:cNvSpPr>
              <p:nvPr/>
            </p:nvSpPr>
            <p:spPr>
              <a:xfrm>
                <a:off x="6048375" y="3562350"/>
                <a:ext cx="200025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182D45"/>
                          </a:solidFill>
                          <a:latin typeface="Cambria Math"/>
                          <a:ea typeface="Cambria Math"/>
                          <a:cs typeface="Cambria Math"/>
                        </a:rPr>
                        <m:t>−</m:t>
                      </m:r>
                      <m:f>
                        <m:fPr>
                          <m:ctrlPr>
                            <a:rPr lang="en-GB" sz="3200">
                              <a:solidFill>
                                <a:srgbClr val="182D45"/>
                              </a:solidFill>
                              <a:latin typeface="Cambria Math"/>
                              <a:ea typeface="Cambria Math"/>
                              <a:cs typeface="Cambria Math"/>
                            </a:rPr>
                          </m:ctrlPr>
                        </m:fPr>
                        <m:num>
                          <m:r>
                            <a:rPr lang="en-GB" sz="3200">
                              <a:solidFill>
                                <a:srgbClr val="182D45"/>
                              </a:solidFill>
                              <a:latin typeface="Cambria Math"/>
                              <a:ea typeface="Cambria Math"/>
                              <a:cs typeface="Cambria Math"/>
                            </a:rPr>
                            <m:t>5</m:t>
                          </m:r>
                        </m:num>
                        <m:den>
                          <m:r>
                            <a:rPr lang="en-GB" sz="3200">
                              <a:solidFill>
                                <a:srgbClr val="182D45"/>
                              </a:solidFill>
                              <a:latin typeface="Cambria Math"/>
                              <a:ea typeface="Cambria Math"/>
                              <a:cs typeface="Cambria Math"/>
                            </a:rPr>
                            <m:t>2</m:t>
                          </m:r>
                        </m:den>
                      </m:f>
                      <m:r>
                        <a:rPr lang="it-IT" sz="3200" b="0" i="1" smtClean="0">
                          <a:solidFill>
                            <a:srgbClr val="182D45"/>
                          </a:solidFill>
                          <a:latin typeface="Cambria Math" panose="02040503050406030204" pitchFamily="18" charset="0"/>
                          <a:ea typeface="Cambria Math"/>
                          <a:cs typeface="Cambria Math"/>
                        </a:rPr>
                        <m:t>  </m:t>
                      </m:r>
                    </m:oMath>
                  </m:oMathPara>
                </a14:m>
                <a:endParaRPr lang="en-GB" sz="3200" dirty="0"/>
              </a:p>
            </p:txBody>
          </p:sp>
        </mc:Choice>
        <mc:Fallback xmlns="">
          <p:sp>
            <p:nvSpPr>
              <p:cNvPr id="22" name="weighted_output_math" descr="-\frac52">
                <a:extLst>
                  <a:ext uri="{FF2B5EF4-FFF2-40B4-BE49-F238E27FC236}">
                    <a16:creationId xmlns:a16="http://schemas.microsoft.com/office/drawing/2014/main" id="{32A93C47-065E-453C-BE8F-49675C95F7CB}"/>
                  </a:ext>
                </a:extLst>
              </p:cNvPr>
              <p:cNvSpPr>
                <a:spLocks noGrp="1" noRot="1" noChangeAspect="1" noMove="1" noResize="1" noEditPoints="1" noAdjustHandles="1" noChangeArrowheads="1" noChangeShapeType="1" noTextEdit="1"/>
              </p:cNvSpPr>
              <p:nvPr/>
            </p:nvSpPr>
            <p:spPr>
              <a:xfrm>
                <a:off x="6048375" y="3562350"/>
                <a:ext cx="2000250" cy="1066800"/>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output_bias" descr="b_{\mathrm{out}}=-1">
                <a:extLst>
                  <a:ext uri="{FF2B5EF4-FFF2-40B4-BE49-F238E27FC236}">
                    <a16:creationId xmlns:a16="http://schemas.microsoft.com/office/drawing/2014/main" id="{61216745-071F-4EAC-916C-BE18FD3366DC}"/>
                  </a:ext>
                </a:extLst>
              </p:cNvPr>
              <p:cNvSpPr>
                <a:spLocks noGrp="1"/>
              </p:cNvSpPr>
              <p:nvPr/>
            </p:nvSpPr>
            <p:spPr>
              <a:xfrm>
                <a:off x="8143875" y="3533775"/>
                <a:ext cx="1724025"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C45C28"/>
                          </a:solidFill>
                          <a:latin typeface="Cambria Math"/>
                          <a:ea typeface="Cambria Math"/>
                          <a:cs typeface="Cambria Math"/>
                        </a:rPr>
                        <m:t>−1</m:t>
                      </m:r>
                    </m:oMath>
                  </m:oMathPara>
                </a14:m>
                <a:endParaRPr lang="en-GB" sz="2200" dirty="0"/>
              </a:p>
            </p:txBody>
          </p:sp>
        </mc:Choice>
        <mc:Fallback xmlns="">
          <p:sp>
            <p:nvSpPr>
              <p:cNvPr id="23" name="output_bias" descr="b_{\mathrm{out}}=-1">
                <a:extLst>
                  <a:ext uri="{FF2B5EF4-FFF2-40B4-BE49-F238E27FC236}">
                    <a16:creationId xmlns:a16="http://schemas.microsoft.com/office/drawing/2014/main" id="{61216745-071F-4EAC-916C-BE18FD3366DC}"/>
                  </a:ext>
                </a:extLst>
              </p:cNvPr>
              <p:cNvSpPr>
                <a:spLocks noGrp="1" noRot="1" noChangeAspect="1" noMove="1" noResize="1" noEditPoints="1" noAdjustHandles="1" noChangeArrowheads="1" noChangeShapeType="1" noTextEdit="1"/>
              </p:cNvSpPr>
              <p:nvPr/>
            </p:nvSpPr>
            <p:spPr>
              <a:xfrm>
                <a:off x="8143875" y="3533775"/>
                <a:ext cx="1724025" cy="409575"/>
              </a:xfrm>
              <a:prstGeom prst="rect">
                <a:avLst/>
              </a:prstGeom>
              <a:blipFill>
                <a:blip r:embed="rId13"/>
                <a:stretch>
                  <a:fillRect/>
                </a:stretch>
              </a:blipFill>
              <a:ln w="0">
                <a:noFill/>
              </a:ln>
            </p:spPr>
            <p:txBody>
              <a:bodyPr/>
              <a:lstStyle/>
              <a:p>
                <a:r>
                  <a:rPr lang="it-IT">
                    <a:noFill/>
                  </a:rPr>
                  <a:t> </a:t>
                </a:r>
              </a:p>
            </p:txBody>
          </p:sp>
        </mc:Fallback>
      </mc:AlternateContent>
      <p:sp>
        <p:nvSpPr>
          <p:cNvPr id="24" name="output">
            <a:extLst>
              <a:ext uri="{FF2B5EF4-FFF2-40B4-BE49-F238E27FC236}">
                <a16:creationId xmlns:a16="http://schemas.microsoft.com/office/drawing/2014/main" id="{0FAE5F17-0996-40C2-BFDA-C4F24B3D442B}"/>
              </a:ext>
            </a:extLst>
          </p:cNvPr>
          <p:cNvSpPr>
            <a:spLocks noGrp="1"/>
          </p:cNvSpPr>
          <p:nvPr/>
        </p:nvSpPr>
        <p:spPr>
          <a:xfrm>
            <a:off x="9944100" y="3562350"/>
            <a:ext cx="1066800" cy="1066800"/>
          </a:xfrm>
          <a:prstGeom prst="ellipse">
            <a:avLst/>
          </a:prstGeom>
          <a:solidFill>
            <a:srgbClr val="FFF6EF"/>
          </a:solidFill>
          <a:ln w="24765">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25" name="output_math" descr="-3.5">
                <a:extLst>
                  <a:ext uri="{FF2B5EF4-FFF2-40B4-BE49-F238E27FC236}">
                    <a16:creationId xmlns:a16="http://schemas.microsoft.com/office/drawing/2014/main" id="{D8400947-63C2-438D-A8EF-5BAD53D4D218}"/>
                  </a:ext>
                </a:extLst>
              </p:cNvPr>
              <p:cNvSpPr>
                <a:spLocks noGrp="1"/>
              </p:cNvSpPr>
              <p:nvPr/>
            </p:nvSpPr>
            <p:spPr>
              <a:xfrm>
                <a:off x="9944100" y="3562350"/>
                <a:ext cx="10668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smtClean="0">
                          <a:solidFill>
                            <a:srgbClr val="C45C28"/>
                          </a:solidFill>
                          <a:latin typeface="Cambria Math"/>
                          <a:ea typeface="Cambria Math"/>
                          <a:cs typeface="Cambria Math"/>
                        </a:rPr>
                        <m:t>−</m:t>
                      </m:r>
                      <m:f>
                        <m:fPr>
                          <m:ctrlPr>
                            <a:rPr lang="it-IT" sz="3100" b="0" i="0" smtClean="0">
                              <a:solidFill>
                                <a:srgbClr val="C45C28"/>
                              </a:solidFill>
                              <a:latin typeface="Cambria Math" panose="02040503050406030204" pitchFamily="18" charset="0"/>
                              <a:ea typeface="Cambria Math"/>
                              <a:cs typeface="Cambria Math"/>
                            </a:rPr>
                          </m:ctrlPr>
                        </m:fPr>
                        <m:num>
                          <m:r>
                            <a:rPr lang="it-IT" sz="3100" b="0" i="0" smtClean="0">
                              <a:solidFill>
                                <a:srgbClr val="C45C28"/>
                              </a:solidFill>
                              <a:latin typeface="Cambria Math" panose="02040503050406030204" pitchFamily="18" charset="0"/>
                              <a:ea typeface="Cambria Math"/>
                              <a:cs typeface="Cambria Math"/>
                            </a:rPr>
                            <m:t>7</m:t>
                          </m:r>
                        </m:num>
                        <m:den>
                          <m:r>
                            <a:rPr lang="it-IT" sz="3100" b="0" i="0" smtClean="0">
                              <a:solidFill>
                                <a:srgbClr val="C45C28"/>
                              </a:solidFill>
                              <a:latin typeface="Cambria Math" panose="02040503050406030204" pitchFamily="18" charset="0"/>
                              <a:ea typeface="Cambria Math"/>
                              <a:cs typeface="Cambria Math"/>
                            </a:rPr>
                            <m:t>2</m:t>
                          </m:r>
                        </m:den>
                      </m:f>
                      <m:r>
                        <a:rPr lang="it-IT" sz="3100" b="0" i="0" smtClean="0">
                          <a:solidFill>
                            <a:srgbClr val="C45C28"/>
                          </a:solidFill>
                          <a:latin typeface="Cambria Math" panose="02040503050406030204" pitchFamily="18" charset="0"/>
                          <a:ea typeface="Cambria Math"/>
                          <a:cs typeface="Cambria Math"/>
                        </a:rPr>
                        <m:t>  </m:t>
                      </m:r>
                    </m:oMath>
                  </m:oMathPara>
                </a14:m>
                <a:endParaRPr lang="en-GB" sz="3100" dirty="0"/>
              </a:p>
            </p:txBody>
          </p:sp>
        </mc:Choice>
        <mc:Fallback xmlns="">
          <p:sp>
            <p:nvSpPr>
              <p:cNvPr id="25" name="output_math" descr="-3.5">
                <a:extLst>
                  <a:ext uri="{FF2B5EF4-FFF2-40B4-BE49-F238E27FC236}">
                    <a16:creationId xmlns:a16="http://schemas.microsoft.com/office/drawing/2014/main" id="{D8400947-63C2-438D-A8EF-5BAD53D4D218}"/>
                  </a:ext>
                </a:extLst>
              </p:cNvPr>
              <p:cNvSpPr>
                <a:spLocks noGrp="1" noRot="1" noChangeAspect="1" noMove="1" noResize="1" noEditPoints="1" noAdjustHandles="1" noChangeArrowheads="1" noChangeShapeType="1" noTextEdit="1"/>
              </p:cNvSpPr>
              <p:nvPr/>
            </p:nvSpPr>
            <p:spPr>
              <a:xfrm>
                <a:off x="9944100" y="3562350"/>
                <a:ext cx="1066800" cy="1066800"/>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p:cNvSpPr>
              <p:nvPr/>
            </p:nvSpPr>
            <p:spPr>
              <a:xfrm>
                <a:off x="381000" y="5962650"/>
                <a:ext cx="114300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FF0000"/>
                          </a:solidFill>
                          <a:latin typeface="Cambria Math"/>
                          <a:ea typeface="Cambria Math"/>
                          <a:cs typeface="Cambria Math"/>
                        </a:rPr>
                        <m:t>𝑓</m:t>
                      </m:r>
                      <m:d>
                        <m:dPr>
                          <m:ctrlPr>
                            <a:rPr lang="en-GB" sz="2400" i="1" smtClean="0">
                              <a:solidFill>
                                <a:srgbClr val="FF0000"/>
                              </a:solidFill>
                              <a:latin typeface="Cambria Math" panose="02040503050406030204" pitchFamily="18" charset="0"/>
                              <a:ea typeface="Cambria Math"/>
                              <a:cs typeface="Cambria Math"/>
                            </a:rPr>
                          </m:ctrlPr>
                        </m:dPr>
                        <m:e>
                          <m:d>
                            <m:dPr>
                              <m:ctrlPr>
                                <a:rPr lang="en-GB" sz="2400" smtClean="0">
                                  <a:solidFill>
                                    <a:srgbClr val="FF0000"/>
                                  </a:solidFill>
                                  <a:latin typeface="Cambria Math"/>
                                  <a:ea typeface="Cambria Math"/>
                                  <a:cs typeface="Cambria Math"/>
                                </a:rPr>
                              </m:ctrlPr>
                            </m:dPr>
                            <m:e>
                              <m:r>
                                <a:rPr lang="en-GB" sz="2400" smtClean="0">
                                  <a:solidFill>
                                    <a:srgbClr val="FF0000"/>
                                  </a:solidFill>
                                  <a:latin typeface="Cambria Math"/>
                                  <a:ea typeface="Cambria Math"/>
                                  <a:cs typeface="Cambria Math"/>
                                </a:rPr>
                                <m:t>1,2</m:t>
                              </m:r>
                            </m:e>
                          </m:d>
                        </m:e>
                      </m:d>
                      <m:r>
                        <a:rPr lang="en-GB" sz="2400" smtClean="0">
                          <a:solidFill>
                            <a:srgbClr val="FF0000"/>
                          </a:solidFill>
                          <a:latin typeface="Cambria Math"/>
                          <a:ea typeface="Cambria Math"/>
                          <a:cs typeface="Cambria Math"/>
                        </a:rPr>
                        <m:t>=0</m:t>
                      </m:r>
                      <m:r>
                        <a:rPr lang="it-IT" sz="2400" b="0" i="1" smtClean="0">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(2)+3</m:t>
                      </m:r>
                      <m:r>
                        <a:rPr lang="it-IT" sz="2400" i="1">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(−1)+1</m:t>
                      </m:r>
                      <m:r>
                        <a:rPr lang="it-IT" sz="2400" i="1">
                          <a:solidFill>
                            <a:srgbClr val="FF0000"/>
                          </a:solidFill>
                          <a:latin typeface="Cambria Math" panose="02040503050406030204" pitchFamily="18" charset="0"/>
                          <a:ea typeface="Cambria Math"/>
                          <a:cs typeface="Cambria Math"/>
                        </a:rPr>
                        <m:t>⋅</m:t>
                      </m:r>
                      <m:d>
                        <m:dPr>
                          <m:ctrlPr>
                            <a:rPr lang="en-GB" sz="2400" i="1">
                              <a:solidFill>
                                <a:srgbClr val="FF0000"/>
                              </a:solidFill>
                              <a:latin typeface="Cambria Math" panose="02040503050406030204" pitchFamily="18" charset="0"/>
                              <a:ea typeface="Cambria Math"/>
                              <a:cs typeface="Cambria Math"/>
                            </a:rPr>
                          </m:ctrlPr>
                        </m:dPr>
                        <m:e>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1</m:t>
                              </m:r>
                            </m:num>
                            <m:den>
                              <m:r>
                                <a:rPr lang="en-GB" sz="2400">
                                  <a:solidFill>
                                    <a:srgbClr val="FF0000"/>
                                  </a:solidFill>
                                  <a:latin typeface="Cambria Math"/>
                                  <a:ea typeface="Cambria Math"/>
                                  <a:cs typeface="Cambria Math"/>
                                </a:rPr>
                                <m:t>2</m:t>
                              </m:r>
                            </m:den>
                          </m:f>
                        </m:e>
                      </m:d>
                      <m:r>
                        <a:rPr lang="en-GB" sz="2400">
                          <a:solidFill>
                            <a:srgbClr val="FF0000"/>
                          </a:solidFill>
                          <a:latin typeface="Cambria Math"/>
                          <a:ea typeface="Cambria Math"/>
                          <a:cs typeface="Cambria Math"/>
                        </a:rPr>
                        <m:t>−1=−</m:t>
                      </m:r>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7</m:t>
                          </m:r>
                        </m:num>
                        <m:den>
                          <m:r>
                            <a:rPr lang="en-GB" sz="2400">
                              <a:solidFill>
                                <a:srgbClr val="FF0000"/>
                              </a:solidFill>
                              <a:latin typeface="Cambria Math"/>
                              <a:ea typeface="Cambria Math"/>
                              <a:cs typeface="Cambria Math"/>
                            </a:rPr>
                            <m:t>2</m:t>
                          </m:r>
                        </m:den>
                      </m:f>
                    </m:oMath>
                  </m:oMathPara>
                </a14:m>
                <a:endParaRPr lang="en-GB" sz="2400" dirty="0">
                  <a:solidFill>
                    <a:srgbClr val="FF0000"/>
                  </a:solidFill>
                </a:endParaRPr>
              </a:p>
            </p:txBody>
          </p:sp>
        </mc:Choice>
        <mc:Fallback xmlns="">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noRot="1" noChangeAspect="1" noMove="1" noResize="1" noEditPoints="1" noAdjustHandles="1" noChangeArrowheads="1" noChangeShapeType="1" noTextEdit="1"/>
              </p:cNvSpPr>
              <p:nvPr/>
            </p:nvSpPr>
            <p:spPr>
              <a:xfrm>
                <a:off x="381000" y="5962650"/>
                <a:ext cx="11430000" cy="552450"/>
              </a:xfrm>
              <a:prstGeom prst="rect">
                <a:avLst/>
              </a:prstGeom>
              <a:blipFill>
                <a:blip r:embed="rId15"/>
                <a:stretch>
                  <a:fillRect t="-17582" b="-24176"/>
                </a:stretch>
              </a:blipFill>
              <a:ln w="0">
                <a:noFill/>
              </a:ln>
            </p:spPr>
            <p:txBody>
              <a:bodyPr/>
              <a:lstStyle/>
              <a:p>
                <a:r>
                  <a:rPr lang="it-IT">
                    <a:noFill/>
                  </a:rPr>
                  <a:t> </a:t>
                </a:r>
              </a:p>
            </p:txBody>
          </p:sp>
        </mc:Fallback>
      </mc:AlternateContent>
      <p:sp>
        <p:nvSpPr>
          <p:cNvPr id="27" name="footer_course">
            <a:extLst>
              <a:ext uri="{FF2B5EF4-FFF2-40B4-BE49-F238E27FC236}">
                <a16:creationId xmlns:a16="http://schemas.microsoft.com/office/drawing/2014/main" id="{3C933E96-7C0E-48B3-B5FF-F5A3AB76C77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28" name="footer_number">
            <a:extLst>
              <a:ext uri="{FF2B5EF4-FFF2-40B4-BE49-F238E27FC236}">
                <a16:creationId xmlns:a16="http://schemas.microsoft.com/office/drawing/2014/main" id="{27C0174D-5656-4C25-8D22-EF9090860D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p:cNvSpPr>
              <p:nvPr/>
            </p:nvSpPr>
            <p:spPr>
              <a:xfrm>
                <a:off x="2029968" y="561975"/>
                <a:ext cx="7914132" cy="1619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𝐖</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m:t>
                      </m:r>
                      <m:sSup>
                        <m:sSupPr>
                          <m:ctrlPr>
                            <a:rPr lang="it-IT" sz="2900" b="0" i="1" smtClean="0">
                              <a:solidFill>
                                <a:srgbClr val="087F83"/>
                              </a:solidFill>
                              <a:latin typeface="Cambria Math" panose="02040503050406030204" pitchFamily="18" charset="0"/>
                              <a:ea typeface="Cambria Math"/>
                            </a:rPr>
                          </m:ctrlPr>
                        </m:sSupPr>
                        <m:e>
                          <m:d>
                            <m:dPr>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2,−1,</m:t>
                              </m:r>
                              <m:f>
                                <m:fPr>
                                  <m:ctrlPr>
                                    <a:rPr lang="it-IT" sz="2900" b="0" i="1" smtClean="0">
                                      <a:solidFill>
                                        <a:srgbClr val="087F83"/>
                                      </a:solidFill>
                                      <a:latin typeface="Cambria Math" panose="02040503050406030204" pitchFamily="18" charset="0"/>
                                      <a:ea typeface="Cambria Math"/>
                                    </a:rPr>
                                  </m:ctrlPr>
                                </m:fPr>
                                <m:num>
                                  <m:r>
                                    <a:rPr lang="it-IT" sz="2900" b="0" i="1" smtClean="0">
                                      <a:solidFill>
                                        <a:srgbClr val="087F83"/>
                                      </a:solidFill>
                                      <a:latin typeface="Cambria Math" panose="02040503050406030204" pitchFamily="18" charset="0"/>
                                      <a:ea typeface="Cambria Math"/>
                                    </a:rPr>
                                    <m:t>1</m:t>
                                  </m:r>
                                </m:num>
                                <m:den>
                                  <m:r>
                                    <a:rPr lang="it-IT" sz="2900" b="0" i="1" smtClean="0">
                                      <a:solidFill>
                                        <a:srgbClr val="087F83"/>
                                      </a:solidFill>
                                      <a:latin typeface="Cambria Math" panose="02040503050406030204" pitchFamily="18" charset="0"/>
                                      <a:ea typeface="Cambria Math"/>
                                    </a:rPr>
                                    <m:t>2</m:t>
                                  </m:r>
                                </m:den>
                              </m:f>
                            </m:e>
                          </m:d>
                        </m:e>
                        <m:sup>
                          <m:r>
                            <a:rPr lang="it-IT" sz="2900" b="0" i="1" smtClean="0">
                              <a:solidFill>
                                <a:srgbClr val="087F83"/>
                              </a:solidFill>
                              <a:latin typeface="Cambria Math" panose="02040503050406030204" pitchFamily="18" charset="0"/>
                              <a:ea typeface="Cambria Math"/>
                            </a:rPr>
                            <m:t>⊤</m:t>
                          </m:r>
                        </m:sup>
                      </m:sSup>
                      <m:r>
                        <a:rPr lang="en-GB" sz="2900">
                          <a:solidFill>
                            <a:srgbClr val="087F83"/>
                          </a:solidFill>
                          <a:latin typeface="Cambria Math"/>
                          <a:ea typeface="Cambria Math"/>
                          <a:cs typeface="Cambria Math"/>
                        </a:rPr>
                        <m:t>,  </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=−1</m:t>
                      </m:r>
                    </m:oMath>
                  </m:oMathPara>
                </a14:m>
                <a:endParaRPr lang="en-GB" sz="2900" dirty="0"/>
              </a:p>
            </p:txBody>
          </p:sp>
        </mc:Choice>
        <mc:Fallback xmlns="">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noRot="1" noChangeAspect="1" noMove="1" noResize="1" noEditPoints="1" noAdjustHandles="1" noChangeArrowheads="1" noChangeShapeType="1" noTextEdit="1"/>
              </p:cNvSpPr>
              <p:nvPr/>
            </p:nvSpPr>
            <p:spPr>
              <a:xfrm>
                <a:off x="2029968" y="561975"/>
                <a:ext cx="7914132" cy="1619250"/>
              </a:xfrm>
              <a:prstGeom prst="rect">
                <a:avLst/>
              </a:prstGeom>
              <a:blipFill>
                <a:blip r:embed="rId1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6949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C68D98D-E25E-43DA-839A-1D07F6258B5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Neurons</a:t>
            </a:r>
            <a:endParaRPr sz="3300" b="1" dirty="0">
              <a:solidFill>
                <a:srgbClr val="182D45"/>
              </a:solidFill>
              <a:latin typeface="DejaVu Sans"/>
              <a:ea typeface="DejaVu Sans"/>
              <a:cs typeface="DejaVu Sans"/>
            </a:endParaRPr>
          </a:p>
        </p:txBody>
      </p:sp>
      <p:sp>
        <p:nvSpPr>
          <p:cNvPr id="4" name="lead">
            <a:extLst>
              <a:ext uri="{FF2B5EF4-FFF2-40B4-BE49-F238E27FC236}">
                <a16:creationId xmlns:a16="http://schemas.microsoft.com/office/drawing/2014/main" id="{D7F7CB05-0396-4AB4-BE53-537BF6175174}"/>
              </a:ext>
            </a:extLst>
          </p:cNvPr>
          <p:cNvSpPr>
            <a:spLocks noGrp="1"/>
          </p:cNvSpPr>
          <p:nvPr/>
        </p:nvSpPr>
        <p:spPr>
          <a:xfrm>
            <a:off x="523875" y="914400"/>
            <a:ext cx="11144250" cy="952500"/>
          </a:xfrm>
          <a:prstGeom prst="rect">
            <a:avLst/>
          </a:prstGeom>
          <a:noFill/>
          <a:ln w="0">
            <a:noFill/>
          </a:ln>
        </p:spPr>
        <p:txBody>
          <a:bodyPr wrap="none" lIns="0" tIns="0" rIns="0" bIns="0" anchor="ctr">
            <a:noAutofit/>
          </a:bodyPr>
          <a:lstStyle/>
          <a:p>
            <a:pPr algn="ctr">
              <a:lnSpc>
                <a:spcPts val="2350"/>
              </a:lnSpc>
            </a:pPr>
            <a:r>
              <a:rPr lang="en-GB" sz="2025" b="0" dirty="0">
                <a:solidFill>
                  <a:srgbClr val="526276"/>
                </a:solidFill>
                <a:latin typeface="DejaVu Sans"/>
              </a:rPr>
              <a:t>A </a:t>
            </a:r>
            <a:r>
              <a:rPr lang="en-GB" sz="2025" b="0" dirty="0">
                <a:solidFill>
                  <a:srgbClr val="FF0000"/>
                </a:solidFill>
                <a:latin typeface="DejaVu Sans"/>
              </a:rPr>
              <a:t>neuron</a:t>
            </a:r>
            <a:r>
              <a:rPr lang="en-GB" sz="2025" b="0" dirty="0">
                <a:solidFill>
                  <a:srgbClr val="526276"/>
                </a:solidFill>
                <a:latin typeface="DejaVu Sans"/>
              </a:rPr>
              <a:t> is a </a:t>
            </a:r>
            <a:r>
              <a:rPr lang="en-GB" sz="2025" b="0" dirty="0">
                <a:solidFill>
                  <a:srgbClr val="FF0000"/>
                </a:solidFill>
                <a:latin typeface="DejaVu Sans"/>
              </a:rPr>
              <a:t>function</a:t>
            </a:r>
            <a:r>
              <a:rPr lang="en-GB" sz="2025" b="0" dirty="0">
                <a:solidFill>
                  <a:srgbClr val="526276"/>
                </a:solidFill>
                <a:latin typeface="DejaVu Sans"/>
              </a:rPr>
              <a:t> that combines several inputs into one output.</a:t>
            </a:r>
            <a:endParaRPr lang="en-GB" sz="2025" dirty="0"/>
          </a:p>
          <a:p>
            <a:pPr algn="ctr">
              <a:lnSpc>
                <a:spcPts val="2350"/>
              </a:lnSpc>
            </a:pPr>
            <a:r>
              <a:rPr lang="en-GB" sz="2025" b="0" dirty="0">
                <a:solidFill>
                  <a:srgbClr val="526276"/>
                </a:solidFill>
                <a:latin typeface="DejaVu Sans"/>
              </a:rPr>
              <a:t>The name is loosely inspired by </a:t>
            </a:r>
            <a:r>
              <a:rPr lang="en-GB" sz="2025" b="0" dirty="0">
                <a:solidFill>
                  <a:srgbClr val="FF0000"/>
                </a:solidFill>
                <a:latin typeface="DejaVu Sans"/>
              </a:rPr>
              <a:t>biological neurons</a:t>
            </a:r>
            <a:r>
              <a:rPr lang="en-GB" sz="2025" b="0" dirty="0">
                <a:solidFill>
                  <a:srgbClr val="526276"/>
                </a:solidFill>
                <a:latin typeface="DejaVu Sans"/>
              </a:rPr>
              <a:t>,</a:t>
            </a:r>
          </a:p>
          <a:p>
            <a:pPr algn="ctr">
              <a:lnSpc>
                <a:spcPts val="2350"/>
              </a:lnSpc>
            </a:pPr>
            <a:r>
              <a:rPr lang="en-GB" sz="2025" b="0" dirty="0">
                <a:solidFill>
                  <a:srgbClr val="526276"/>
                </a:solidFill>
                <a:latin typeface="DejaVu Sans"/>
              </a:rPr>
              <a:t>which receive signals</a:t>
            </a:r>
            <a:r>
              <a:rPr lang="en-GB" sz="2025" dirty="0"/>
              <a:t> </a:t>
            </a:r>
            <a:r>
              <a:rPr lang="en-GB" sz="2025" b="0" dirty="0">
                <a:solidFill>
                  <a:srgbClr val="526276"/>
                </a:solidFill>
                <a:latin typeface="DejaVu Sans"/>
              </a:rPr>
              <a:t>from other cells and produce an output signal.</a:t>
            </a:r>
            <a:endParaRPr lang="en-GB" sz="2025" dirty="0"/>
          </a:p>
        </p:txBody>
      </p:sp>
      <p:sp>
        <p:nvSpPr>
          <p:cNvPr id="5" name="input_heading">
            <a:extLst>
              <a:ext uri="{FF2B5EF4-FFF2-40B4-BE49-F238E27FC236}">
                <a16:creationId xmlns:a16="http://schemas.microsoft.com/office/drawing/2014/main" id="{B952CD5A-F500-4736-A211-B89B47807F79}"/>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45DD9918-FEDB-42EC-B7F4-EFF270B45F6C}"/>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6753C000-939D-4EC2-8200-585FAFF82CB5}"/>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F920E98E-035B-4401-9EA8-FA25469FBF96}"/>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853D1DFB-B542-4DF7-BAE3-09594B4F5DFA}"/>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B6255CA1-AC32-4735-993E-7F3A9246723B}"/>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B6255CA1-AC32-4735-993E-7F3A9246723B}"/>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C307BAB-3515-4BF2-B4C0-9041554FF88A}"/>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1D22AA6B-00E4-4EEF-8716-1F0226F47B07}"/>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1D22AA6B-00E4-4EEF-8716-1F0226F47B07}"/>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3A26AD9E-5688-41D4-94FC-84804D6DAC2A}"/>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52318B90-CFA5-473D-9B49-9DFEA34B721B}"/>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2B5E8FFD-836E-4238-8FDD-2C1BFBD727AF}"/>
              </a:ext>
            </a:extLst>
          </p:cNvPr>
          <p:cNvSpPr>
            <a:spLocks noGrp="1"/>
          </p:cNvSpPr>
          <p:nvPr/>
        </p:nvSpPr>
        <p:spPr>
          <a:xfrm>
            <a:off x="1123950" y="3333750"/>
            <a:ext cx="2257425" cy="7620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7BE86CC4-D13F-469B-8DFD-771ED375FEB7}"/>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7BE86CC4-D13F-469B-8DFD-771ED375FEB7}"/>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24A40FA1-4B11-4D97-BC4B-B7ACA49E5807}"/>
              </a:ext>
            </a:extLst>
          </p:cNvPr>
          <p:cNvSpPr>
            <a:spLocks noGrp="1"/>
          </p:cNvSpPr>
          <p:nvPr/>
        </p:nvSpPr>
        <p:spPr>
          <a:xfrm flipV="1">
            <a:off x="1123950" y="4095750"/>
            <a:ext cx="2257425" cy="5715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0920D33-61EB-459C-8F3F-DEC1804CCD3E}"/>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0920D33-61EB-459C-8F3F-DEC1804CCD3E}"/>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95A65CC9-0FB4-4660-BFC8-504D777A7AE3}"/>
              </a:ext>
            </a:extLst>
          </p:cNvPr>
          <p:cNvSpPr>
            <a:spLocks noGrp="1"/>
          </p:cNvSpPr>
          <p:nvPr/>
        </p:nvSpPr>
        <p:spPr>
          <a:xfrm>
            <a:off x="5572125" y="4095750"/>
            <a:ext cx="1447800" cy="953"/>
          </a:xfrm>
          <a:prstGeom prst="line">
            <a:avLst/>
          </a:prstGeom>
          <a:noFill/>
          <a:ln w="17145">
            <a:solidFill>
              <a:srgbClr val="182D45"/>
            </a:solidFill>
            <a:tailEnd type="triangle" w="sm" len="sm"/>
          </a:ln>
        </p:spPr>
        <p:txBody>
          <a:bodyPr/>
          <a:lstStyle/>
          <a:p>
            <a:endParaRPr lang="it-IT"/>
          </a:p>
        </p:txBody>
      </p:sp>
      <p:sp>
        <p:nvSpPr>
          <p:cNvPr id="20" name="relu_edge_2">
            <a:extLst>
              <a:ext uri="{FF2B5EF4-FFF2-40B4-BE49-F238E27FC236}">
                <a16:creationId xmlns:a16="http://schemas.microsoft.com/office/drawing/2014/main" id="{AB0CAE07-A0C9-4F0F-8CEF-AFAAF3A836E4}"/>
              </a:ext>
            </a:extLst>
          </p:cNvPr>
          <p:cNvSpPr>
            <a:spLocks noGrp="1"/>
          </p:cNvSpPr>
          <p:nvPr/>
        </p:nvSpPr>
        <p:spPr>
          <a:xfrm>
            <a:off x="7934325" y="4095750"/>
            <a:ext cx="2276475" cy="953"/>
          </a:xfrm>
          <a:prstGeom prst="line">
            <a:avLst/>
          </a:prstGeom>
          <a:noFill/>
          <a:ln w="17145">
            <a:solidFill>
              <a:srgbClr val="182D45"/>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C11303CE-55BB-4E7B-8913-89F24BC6A61B}"/>
              </a:ext>
            </a:extLst>
          </p:cNvPr>
          <p:cNvSpPr>
            <a:spLocks noGrp="1"/>
          </p:cNvSpPr>
          <p:nvPr/>
        </p:nvSpPr>
        <p:spPr>
          <a:xfrm>
            <a:off x="1123950" y="3333750"/>
            <a:ext cx="2257425" cy="2000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8E2F60C8-B002-453B-8BF5-CC5D72E9ED0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8E2F60C8-B002-453B-8BF5-CC5D72E9ED0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F415AA21-9195-4A3E-A7B6-38CDA885A89F}"/>
              </a:ext>
            </a:extLst>
          </p:cNvPr>
          <p:cNvSpPr>
            <a:spLocks noGrp="1"/>
          </p:cNvSpPr>
          <p:nvPr/>
        </p:nvSpPr>
        <p:spPr>
          <a:xfrm>
            <a:off x="1123950" y="4667250"/>
            <a:ext cx="2257425" cy="666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FDA11320-4833-42A1-B508-D49C8BEE4EEE}"/>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FDA11320-4833-42A1-B508-D49C8BEE4EEE}"/>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ED4932-87E8-40F5-A3E7-DFEDD53EA14F}"/>
              </a:ext>
            </a:extLst>
          </p:cNvPr>
          <p:cNvSpPr>
            <a:spLocks noGrp="1"/>
          </p:cNvSpPr>
          <p:nvPr/>
        </p:nvSpPr>
        <p:spPr>
          <a:xfrm>
            <a:off x="5572125" y="5334000"/>
            <a:ext cx="1447800" cy="953"/>
          </a:xfrm>
          <a:prstGeom prst="line">
            <a:avLst/>
          </a:prstGeom>
          <a:noFill/>
          <a:ln w="17145">
            <a:solidFill>
              <a:srgbClr val="182D45"/>
            </a:solidFill>
            <a:tailEnd type="triangle" w="sm" len="sm"/>
          </a:ln>
        </p:spPr>
        <p:txBody>
          <a:bodyPr/>
          <a:lstStyle/>
          <a:p>
            <a:endParaRPr lang="it-IT"/>
          </a:p>
        </p:txBody>
      </p:sp>
      <p:sp>
        <p:nvSpPr>
          <p:cNvPr id="26" name="relu_edge_3">
            <a:extLst>
              <a:ext uri="{FF2B5EF4-FFF2-40B4-BE49-F238E27FC236}">
                <a16:creationId xmlns:a16="http://schemas.microsoft.com/office/drawing/2014/main" id="{DC2D2BEC-B67A-4EE1-AB42-A7EE5D48F740}"/>
              </a:ext>
            </a:extLst>
          </p:cNvPr>
          <p:cNvSpPr>
            <a:spLocks noGrp="1"/>
          </p:cNvSpPr>
          <p:nvPr/>
        </p:nvSpPr>
        <p:spPr>
          <a:xfrm>
            <a:off x="7934325" y="5334000"/>
            <a:ext cx="2276475" cy="953"/>
          </a:xfrm>
          <a:prstGeom prst="line">
            <a:avLst/>
          </a:prstGeom>
          <a:noFill/>
          <a:ln w="17145">
            <a:solidFill>
              <a:srgbClr val="182D45"/>
            </a:solidFill>
            <a:tailEnd type="triangle" w="sm" len="sm"/>
          </a:ln>
        </p:spPr>
        <p:txBody>
          <a:bodyPr/>
          <a:lstStyle/>
          <a:p>
            <a:endParaRPr lang="it-IT"/>
          </a:p>
        </p:txBody>
      </p:sp>
      <p:sp>
        <p:nvSpPr>
          <p:cNvPr id="27" name="input_1">
            <a:extLst>
              <a:ext uri="{FF2B5EF4-FFF2-40B4-BE49-F238E27FC236}">
                <a16:creationId xmlns:a16="http://schemas.microsoft.com/office/drawing/2014/main" id="{A00E8907-EAB4-4A0E-9B12-85BF446833F5}"/>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2ED512AF-78A3-4317-A825-FEAAA5AEA2C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2ED512AF-78A3-4317-A825-FEAAA5AEA2C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114B9CB1-FF41-48B5-AC76-AB0395AB3696}"/>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4CE0DE2E-7C35-413D-9553-5D412234F2AC}"/>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4CE0DE2E-7C35-413D-9553-5D412234F2AC}"/>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8105C97-C002-42E9-BECC-AA32B8EB00F6}"/>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14BAD58-C52A-4ABE-BA07-74A4E3DE3DC9}"/>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14BAD58-C52A-4ABE-BA07-74A4E3DE3DC9}"/>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8B972135-212C-49DE-B2B1-2D00032446C2}"/>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B043DBFB-900E-4BEA-B6CE-28E7581DC7E4}"/>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B043DBFB-900E-4BEA-B6CE-28E7581DC7E4}"/>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19AFBD44-FFE0-4409-919E-2DD6E464C9EF}"/>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7075F15-D717-4D44-9A07-48D1A0406179}"/>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7075F15-D717-4D44-9A07-48D1A0406179}"/>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8AB0B6E1-FB31-4ED0-8443-DA78F1CAE238}"/>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8AB0B6E1-FB31-4ED0-8443-DA78F1CAE238}"/>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6BB0C1A4-A5CB-4F7F-9C59-93FBD3C85ACA}"/>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01BE4BC-09A6-4A4C-81E8-C6D938986575}"/>
              </a:ext>
            </a:extLst>
          </p:cNvPr>
          <p:cNvSpPr>
            <a:spLocks noGrp="1"/>
          </p:cNvSpPr>
          <p:nvPr/>
        </p:nvSpPr>
        <p:spPr>
          <a:xfrm>
            <a:off x="3381375" y="366712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DFD362A0-E1FC-4199-BC8F-D35001C54A3A}"/>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12</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DFD362A0-E1FC-4199-BC8F-D35001C54A3A}"/>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8080B5D7-50FA-4A3B-BFD3-353D810592A5}"/>
              </a:ext>
            </a:extLst>
          </p:cNvPr>
          <p:cNvSpPr>
            <a:spLocks noGrp="1"/>
          </p:cNvSpPr>
          <p:nvPr/>
        </p:nvSpPr>
        <p:spPr>
          <a:xfrm>
            <a:off x="7019925" y="363855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336D1271-0F7A-4FD9-B5E8-D1631C65891B}"/>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2</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336D1271-0F7A-4FD9-B5E8-D1631C65891B}"/>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3E1480BD-E858-4F4E-AD87-4B2B1E20B8BC}"/>
              </a:ext>
            </a:extLst>
          </p:cNvPr>
          <p:cNvSpPr>
            <a:spLocks noGrp="1"/>
          </p:cNvSpPr>
          <p:nvPr/>
        </p:nvSpPr>
        <p:spPr>
          <a:xfrm>
            <a:off x="1021080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8C811C57-6B2F-442C-BFD5-A0E29DD981BD}"/>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2</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8C811C57-6B2F-442C-BFD5-A0E29DD981BD}"/>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15EAFEE7-002F-4B13-B48A-B9B497096A5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15EAFEE7-002F-4B13-B48A-B9B497096A5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96E41A49-E680-4F59-B14B-1C1B98C7ECFF}"/>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47" name="sum_3">
            <a:extLst>
              <a:ext uri="{FF2B5EF4-FFF2-40B4-BE49-F238E27FC236}">
                <a16:creationId xmlns:a16="http://schemas.microsoft.com/office/drawing/2014/main" id="{C0C93215-C6FF-4308-8DF5-40FA8002D28A}"/>
              </a:ext>
            </a:extLst>
          </p:cNvPr>
          <p:cNvSpPr>
            <a:spLocks noGrp="1"/>
          </p:cNvSpPr>
          <p:nvPr/>
        </p:nvSpPr>
        <p:spPr>
          <a:xfrm>
            <a:off x="3381375" y="49053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26E0578D-061C-48F7-8B36-F9EE0BC2E078}"/>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13</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26E0578D-061C-48F7-8B36-F9EE0BC2E078}"/>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1DDA576-AD05-4FC3-806E-FEC8E3C4861E}"/>
              </a:ext>
            </a:extLst>
          </p:cNvPr>
          <p:cNvSpPr>
            <a:spLocks noGrp="1"/>
          </p:cNvSpPr>
          <p:nvPr/>
        </p:nvSpPr>
        <p:spPr>
          <a:xfrm>
            <a:off x="7019925" y="48768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A23040AA-9D02-4417-B4A6-24B93BAD8D99}"/>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3</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A23040AA-9D02-4417-B4A6-24B93BAD8D99}"/>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DB53AF4D-3290-4340-932E-A24D9DA57EC0}"/>
              </a:ext>
            </a:extLst>
          </p:cNvPr>
          <p:cNvSpPr>
            <a:spLocks noGrp="1"/>
          </p:cNvSpPr>
          <p:nvPr/>
        </p:nvSpPr>
        <p:spPr>
          <a:xfrm>
            <a:off x="1021080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3DA1A7AE-6237-486C-B167-DCFFAD2E39E5}"/>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3</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3DA1A7AE-6237-486C-B167-DCFFAD2E39E5}"/>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0EEF9ADF-2314-417E-9222-13B9CD4E4B2F}"/>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0EEF9ADF-2314-417E-9222-13B9CD4E4B2F}"/>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B0241C26-1DDF-498A-8C85-54694FB598F9}"/>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55" name="takeaway">
            <a:extLst>
              <a:ext uri="{FF2B5EF4-FFF2-40B4-BE49-F238E27FC236}">
                <a16:creationId xmlns:a16="http://schemas.microsoft.com/office/drawing/2014/main" id="{20EBE0C1-9737-4B94-85C7-F7AF56B9A187}"/>
              </a:ext>
            </a:extLst>
          </p:cNvPr>
          <p:cNvSpPr>
            <a:spLocks noGrp="1"/>
          </p:cNvSpPr>
          <p:nvPr/>
        </p:nvSpPr>
        <p:spPr>
          <a:xfrm>
            <a:off x="476250" y="5886450"/>
            <a:ext cx="11239500" cy="609600"/>
          </a:xfrm>
          <a:prstGeom prst="rect">
            <a:avLst/>
          </a:prstGeom>
          <a:noFill/>
          <a:ln w="0">
            <a:noFill/>
          </a:ln>
        </p:spPr>
        <p:txBody>
          <a:bodyPr wrap="none" lIns="0" tIns="0" rIns="0" bIns="0" anchor="ctr">
            <a:noAutofit/>
          </a:bodyPr>
          <a:lstStyle/>
          <a:p>
            <a:pPr algn="ctr">
              <a:lnSpc>
                <a:spcPts val="2300"/>
              </a:lnSpc>
            </a:pPr>
            <a:r>
              <a:rPr lang="en-GB" sz="1875" b="1" dirty="0">
                <a:solidFill>
                  <a:srgbClr val="182D45"/>
                </a:solidFill>
                <a:latin typeface="DejaVu Sans"/>
              </a:rPr>
              <a:t>Each horizontal row represents one </a:t>
            </a:r>
            <a:r>
              <a:rPr lang="en-GB" sz="1875" b="1" dirty="0">
                <a:solidFill>
                  <a:srgbClr val="FF0000"/>
                </a:solidFill>
                <a:latin typeface="DejaVu Sans"/>
              </a:rPr>
              <a:t>neuron</a:t>
            </a:r>
            <a:r>
              <a:rPr lang="en-GB" sz="1875" b="1" dirty="0">
                <a:solidFill>
                  <a:srgbClr val="182D45"/>
                </a:solidFill>
                <a:latin typeface="DejaVu Sans"/>
              </a:rPr>
              <a:t>.</a:t>
            </a:r>
            <a:endParaRPr lang="en-GB" sz="1875"/>
          </a:p>
          <a:p>
            <a:pPr algn="ctr">
              <a:lnSpc>
                <a:spcPts val="2300"/>
              </a:lnSpc>
            </a:pPr>
            <a:r>
              <a:rPr lang="en-GB" sz="1875" b="1" dirty="0">
                <a:solidFill>
                  <a:srgbClr val="182D45"/>
                </a:solidFill>
                <a:latin typeface="DejaVu Sans"/>
              </a:rPr>
              <a:t>It forms a weighted sum, adds a bias and applies an activation function.</a:t>
            </a:r>
            <a:endParaRPr lang="en-GB" sz="1875"/>
          </a:p>
        </p:txBody>
      </p:sp>
      <p:sp>
        <p:nvSpPr>
          <p:cNvPr id="56" name="footer_course">
            <a:extLst>
              <a:ext uri="{FF2B5EF4-FFF2-40B4-BE49-F238E27FC236}">
                <a16:creationId xmlns:a16="http://schemas.microsoft.com/office/drawing/2014/main" id="{A129C1C8-21DE-4E6E-9C4F-DA54CEEF59F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DB86616F-8090-4469-BEA7-6D346D1186D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p:spTree>
    <p:extLst>
      <p:ext uri="{BB962C8B-B14F-4D97-AF65-F5344CB8AC3E}">
        <p14:creationId xmlns:p14="http://schemas.microsoft.com/office/powerpoint/2010/main" val="4462736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neuron_boundary">
            <a:extLst>
              <a:ext uri="{FF2B5EF4-FFF2-40B4-BE49-F238E27FC236}">
                <a16:creationId xmlns:a16="http://schemas.microsoft.com/office/drawing/2014/main" id="{034B06DC-3973-44C6-8DD6-FE5ACAF3B791}"/>
              </a:ext>
            </a:extLst>
          </p:cNvPr>
          <p:cNvSpPr>
            <a:spLocks noGrp="1"/>
          </p:cNvSpPr>
          <p:nvPr/>
        </p:nvSpPr>
        <p:spPr>
          <a:xfrm>
            <a:off x="3295650" y="1847850"/>
            <a:ext cx="8153400" cy="1638300"/>
          </a:xfrm>
          <a:prstGeom prst="rect">
            <a:avLst/>
          </a:prstGeom>
          <a:solidFill>
            <a:srgbClr val="F4FAF8"/>
          </a:solidFill>
          <a:ln w="14288">
            <a:solidFill>
              <a:srgbClr val="087F83"/>
            </a:solidFill>
          </a:ln>
        </p:spPr>
        <p:txBody>
          <a:bodyPr/>
          <a:lstStyle/>
          <a:p>
            <a:endParaRPr lang="it-IT"/>
          </a:p>
        </p:txBody>
      </p:sp>
      <p:sp>
        <p:nvSpPr>
          <p:cNvPr id="3" name="title">
            <a:extLst>
              <a:ext uri="{FF2B5EF4-FFF2-40B4-BE49-F238E27FC236}">
                <a16:creationId xmlns:a16="http://schemas.microsoft.com/office/drawing/2014/main" id="{BE8C43BA-C099-4A65-BCB4-09CDC2C7396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sz="3300" b="1" dirty="0">
                <a:solidFill>
                  <a:srgbClr val="182D45"/>
                </a:solidFill>
                <a:latin typeface="DejaVu Sans"/>
                <a:ea typeface="DejaVu Sans"/>
                <a:cs typeface="DejaVu Sans"/>
              </a:rPr>
              <a:t>neuron</a:t>
            </a:r>
          </a:p>
        </p:txBody>
      </p:sp>
      <p:sp>
        <p:nvSpPr>
          <p:cNvPr id="4" name="lead">
            <a:extLst>
              <a:ext uri="{FF2B5EF4-FFF2-40B4-BE49-F238E27FC236}">
                <a16:creationId xmlns:a16="http://schemas.microsoft.com/office/drawing/2014/main" id="{719ECC39-3E59-4F7D-B222-3CEC974A06BF}"/>
              </a:ext>
            </a:extLst>
          </p:cNvPr>
          <p:cNvSpPr>
            <a:spLocks noGrp="1"/>
          </p:cNvSpPr>
          <p:nvPr/>
        </p:nvSpPr>
        <p:spPr>
          <a:xfrm>
            <a:off x="333375" y="1000125"/>
            <a:ext cx="11525250" cy="457200"/>
          </a:xfrm>
          <a:prstGeom prst="rect">
            <a:avLst/>
          </a:prstGeom>
          <a:noFill/>
          <a:ln w="0">
            <a:noFill/>
          </a:ln>
        </p:spPr>
        <p:txBody>
          <a:bodyPr wrap="none" lIns="0" tIns="0" rIns="0" bIns="0" anchor="ctr">
            <a:noAutofit/>
          </a:bodyPr>
          <a:lstStyle/>
          <a:p>
            <a:pPr algn="ctr"/>
            <a:r>
              <a:rPr lang="en-GB" sz="2025" b="0" dirty="0">
                <a:solidFill>
                  <a:srgbClr val="526276"/>
                </a:solidFill>
                <a:latin typeface="DejaVu Sans"/>
              </a:rPr>
              <a:t>The highlighted row shows the complete calculation performed by </a:t>
            </a:r>
            <a:r>
              <a:rPr lang="en-GB" sz="2025" b="0" dirty="0">
                <a:solidFill>
                  <a:srgbClr val="FF0000"/>
                </a:solidFill>
                <a:latin typeface="DejaVu Sans"/>
              </a:rPr>
              <a:t>one neuron</a:t>
            </a:r>
            <a:r>
              <a:rPr lang="en-GB" sz="2025" b="0" dirty="0">
                <a:solidFill>
                  <a:srgbClr val="526276"/>
                </a:solidFill>
                <a:latin typeface="DejaVu Sans"/>
              </a:rPr>
              <a:t>.</a:t>
            </a:r>
            <a:endParaRPr lang="en-GB" sz="2025"/>
          </a:p>
        </p:txBody>
      </p:sp>
      <p:sp>
        <p:nvSpPr>
          <p:cNvPr id="5" name="input_heading">
            <a:extLst>
              <a:ext uri="{FF2B5EF4-FFF2-40B4-BE49-F238E27FC236}">
                <a16:creationId xmlns:a16="http://schemas.microsoft.com/office/drawing/2014/main" id="{E2ED0F2A-E930-4CF9-932E-CF85AA411A9A}"/>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F99E1ECB-3D84-4493-BC12-019E23E70EFE}"/>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BA35EA90-8D7F-41D5-AEB4-46CBAE04F81E}"/>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7C419963-E84A-40EE-A88E-3E8AF19D29CC}"/>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70A2D7D3-882F-4292-A838-134F8D64F2A9}"/>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7CB3076A-539F-48C5-92B0-C49A54538835}"/>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7CB3076A-539F-48C5-92B0-C49A54538835}"/>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F025D34-4F39-44CD-8836-1A251DC8BD4B}"/>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91747531-66E1-4BEB-8B55-9102D2251A81}"/>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91747531-66E1-4BEB-8B55-9102D2251A81}"/>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C01D7AD5-890B-40C8-8E8C-DE4B95A8EC5C}"/>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1D771256-19A5-42B7-AE74-54D52E682B6E}"/>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F5B03F52-D251-498D-9532-FF0039DDBA60}"/>
              </a:ext>
            </a:extLst>
          </p:cNvPr>
          <p:cNvSpPr>
            <a:spLocks noGrp="1"/>
          </p:cNvSpPr>
          <p:nvPr/>
        </p:nvSpPr>
        <p:spPr>
          <a:xfrm>
            <a:off x="1123950" y="3333750"/>
            <a:ext cx="2257425" cy="7620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C462791C-E0E3-4DEC-A05E-FA8EF131F23F}"/>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C462791C-E0E3-4DEC-A05E-FA8EF131F23F}"/>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61157930-3F53-4616-A19F-FD3B7420C2E5}"/>
              </a:ext>
            </a:extLst>
          </p:cNvPr>
          <p:cNvSpPr>
            <a:spLocks noGrp="1"/>
          </p:cNvSpPr>
          <p:nvPr/>
        </p:nvSpPr>
        <p:spPr>
          <a:xfrm flipV="1">
            <a:off x="1123950" y="4095750"/>
            <a:ext cx="2257425" cy="5715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41BF6F0-67B6-49C0-AD57-ED1CE0587D71}"/>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41BF6F0-67B6-49C0-AD57-ED1CE0587D71}"/>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E2A0D20E-7ED0-4422-8B6F-64861D37040B}"/>
              </a:ext>
            </a:extLst>
          </p:cNvPr>
          <p:cNvSpPr>
            <a:spLocks noGrp="1"/>
          </p:cNvSpPr>
          <p:nvPr/>
        </p:nvSpPr>
        <p:spPr>
          <a:xfrm>
            <a:off x="5572125" y="4095750"/>
            <a:ext cx="1447800" cy="953"/>
          </a:xfrm>
          <a:prstGeom prst="line">
            <a:avLst/>
          </a:prstGeom>
          <a:noFill/>
          <a:ln w="17145">
            <a:solidFill>
              <a:srgbClr val="BAC4CE"/>
            </a:solidFill>
            <a:tailEnd type="triangle" w="sm" len="sm"/>
          </a:ln>
        </p:spPr>
        <p:txBody>
          <a:bodyPr/>
          <a:lstStyle/>
          <a:p>
            <a:endParaRPr lang="it-IT"/>
          </a:p>
        </p:txBody>
      </p:sp>
      <p:sp>
        <p:nvSpPr>
          <p:cNvPr id="20" name="relu_edge_2">
            <a:extLst>
              <a:ext uri="{FF2B5EF4-FFF2-40B4-BE49-F238E27FC236}">
                <a16:creationId xmlns:a16="http://schemas.microsoft.com/office/drawing/2014/main" id="{DE6F1DF7-8426-4DEF-B8A5-AE72D34A1E21}"/>
              </a:ext>
            </a:extLst>
          </p:cNvPr>
          <p:cNvSpPr>
            <a:spLocks noGrp="1"/>
          </p:cNvSpPr>
          <p:nvPr/>
        </p:nvSpPr>
        <p:spPr>
          <a:xfrm>
            <a:off x="7934325" y="4095750"/>
            <a:ext cx="2276475" cy="953"/>
          </a:xfrm>
          <a:prstGeom prst="line">
            <a:avLst/>
          </a:prstGeom>
          <a:noFill/>
          <a:ln w="17145">
            <a:solidFill>
              <a:srgbClr val="BAC4CE"/>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75104B2D-72A4-4C3D-A683-7DFF8C332C44}"/>
              </a:ext>
            </a:extLst>
          </p:cNvPr>
          <p:cNvSpPr>
            <a:spLocks noGrp="1"/>
          </p:cNvSpPr>
          <p:nvPr/>
        </p:nvSpPr>
        <p:spPr>
          <a:xfrm>
            <a:off x="1123950" y="3333750"/>
            <a:ext cx="2257425" cy="20002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33D1AFAC-6255-4125-A19D-1D8FBFEF417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33D1AFAC-6255-4125-A19D-1D8FBFEF417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D84486FF-0761-4652-8E48-BA1C7FB49712}"/>
              </a:ext>
            </a:extLst>
          </p:cNvPr>
          <p:cNvSpPr>
            <a:spLocks noGrp="1"/>
          </p:cNvSpPr>
          <p:nvPr/>
        </p:nvSpPr>
        <p:spPr>
          <a:xfrm>
            <a:off x="1123950" y="4667250"/>
            <a:ext cx="2257425" cy="6667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B20C7066-1033-4917-B40A-6036F6096E2C}"/>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B20C7066-1033-4917-B40A-6036F6096E2C}"/>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F2144E-5D35-4463-A579-2C5CBD499A4A}"/>
              </a:ext>
            </a:extLst>
          </p:cNvPr>
          <p:cNvSpPr>
            <a:spLocks noGrp="1"/>
          </p:cNvSpPr>
          <p:nvPr/>
        </p:nvSpPr>
        <p:spPr>
          <a:xfrm>
            <a:off x="5572125" y="5334000"/>
            <a:ext cx="1447800" cy="953"/>
          </a:xfrm>
          <a:prstGeom prst="line">
            <a:avLst/>
          </a:prstGeom>
          <a:noFill/>
          <a:ln w="17145">
            <a:solidFill>
              <a:srgbClr val="BAC4CE"/>
            </a:solidFill>
            <a:tailEnd type="triangle" w="sm" len="sm"/>
          </a:ln>
        </p:spPr>
        <p:txBody>
          <a:bodyPr/>
          <a:lstStyle/>
          <a:p>
            <a:endParaRPr lang="it-IT"/>
          </a:p>
        </p:txBody>
      </p:sp>
      <p:sp>
        <p:nvSpPr>
          <p:cNvPr id="26" name="relu_edge_3">
            <a:extLst>
              <a:ext uri="{FF2B5EF4-FFF2-40B4-BE49-F238E27FC236}">
                <a16:creationId xmlns:a16="http://schemas.microsoft.com/office/drawing/2014/main" id="{51943173-D7E2-4F95-89AE-0F97EB5D14E9}"/>
              </a:ext>
            </a:extLst>
          </p:cNvPr>
          <p:cNvSpPr>
            <a:spLocks noGrp="1"/>
          </p:cNvSpPr>
          <p:nvPr/>
        </p:nvSpPr>
        <p:spPr>
          <a:xfrm>
            <a:off x="7934325" y="5334000"/>
            <a:ext cx="2276475" cy="953"/>
          </a:xfrm>
          <a:prstGeom prst="line">
            <a:avLst/>
          </a:prstGeom>
          <a:noFill/>
          <a:ln w="17145">
            <a:solidFill>
              <a:srgbClr val="BAC4CE"/>
            </a:solidFill>
            <a:tailEnd type="triangle" w="sm" len="sm"/>
          </a:ln>
        </p:spPr>
        <p:txBody>
          <a:bodyPr/>
          <a:lstStyle/>
          <a:p>
            <a:endParaRPr lang="it-IT"/>
          </a:p>
        </p:txBody>
      </p:sp>
      <p:sp>
        <p:nvSpPr>
          <p:cNvPr id="27" name="input_1">
            <a:extLst>
              <a:ext uri="{FF2B5EF4-FFF2-40B4-BE49-F238E27FC236}">
                <a16:creationId xmlns:a16="http://schemas.microsoft.com/office/drawing/2014/main" id="{46A8A150-0599-4905-93D7-223148D38206}"/>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4E5F1401-FCD9-4BEC-9BD8-727AB67A196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4E5F1401-FCD9-4BEC-9BD8-727AB67A196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2E2C07C4-4D15-497D-8013-1D2D993EE60E}"/>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7BC8776D-C39E-4F11-8027-0198D6A5A6F6}"/>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7BC8776D-C39E-4F11-8027-0198D6A5A6F6}"/>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BF124D20-C90A-44CC-8537-0E95AA2B9FAD}"/>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CD61843-CD74-4ADE-8846-F5681ED81B47}"/>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CD61843-CD74-4ADE-8846-F5681ED81B47}"/>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B0EB52C1-B6B3-473B-BC14-113908DE6E80}"/>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64FA5829-C630-45C2-9E51-8E8B996BCA56}"/>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64FA5829-C630-45C2-9E51-8E8B996BCA56}"/>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C860546E-0521-4CD0-A12D-ED9A34BD062A}"/>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0D456E6-F629-4CB9-AD23-FA9D33A6C253}"/>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0D456E6-F629-4CB9-AD23-FA9D33A6C253}"/>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A761615F-035E-48FA-8345-89C00A84848C}"/>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A761615F-035E-48FA-8345-89C00A84848C}"/>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218D8EFC-CB6C-4140-933F-5CFD566BBB55}"/>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D105AEF-1D76-44EA-8FBE-23274A3BB348}"/>
              </a:ext>
            </a:extLst>
          </p:cNvPr>
          <p:cNvSpPr>
            <a:spLocks noGrp="1"/>
          </p:cNvSpPr>
          <p:nvPr/>
        </p:nvSpPr>
        <p:spPr>
          <a:xfrm>
            <a:off x="3381375" y="366712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9CFC7FBE-778F-46FE-B75B-3F26E0AFF778}"/>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12</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9CFC7FBE-778F-46FE-B75B-3F26E0AFF778}"/>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EECB84FE-71FE-4914-A7CE-D858B9FDD7F9}"/>
              </a:ext>
            </a:extLst>
          </p:cNvPr>
          <p:cNvSpPr>
            <a:spLocks noGrp="1"/>
          </p:cNvSpPr>
          <p:nvPr/>
        </p:nvSpPr>
        <p:spPr>
          <a:xfrm>
            <a:off x="7019925"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D23077AD-67A8-45D1-B3A9-3EB0460F3643}"/>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D23077AD-67A8-45D1-B3A9-3EB0460F3643}"/>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C9750EC0-3171-4330-9FC8-1CEFD2A3ED93}"/>
              </a:ext>
            </a:extLst>
          </p:cNvPr>
          <p:cNvSpPr>
            <a:spLocks noGrp="1"/>
          </p:cNvSpPr>
          <p:nvPr/>
        </p:nvSpPr>
        <p:spPr>
          <a:xfrm>
            <a:off x="10210800"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563CE571-E2F1-4A9E-B6D9-E1D100FAB58F}"/>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563CE571-E2F1-4A9E-B6D9-E1D100FAB58F}"/>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321287FD-829D-4B85-A432-445003A9683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321287FD-829D-4B85-A432-445003A9683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F93D3623-D71D-4766-8921-37AD4D67DC22}"/>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47" name="sum_3">
            <a:extLst>
              <a:ext uri="{FF2B5EF4-FFF2-40B4-BE49-F238E27FC236}">
                <a16:creationId xmlns:a16="http://schemas.microsoft.com/office/drawing/2014/main" id="{F0AC3F03-8B3F-40E5-9127-4CC9CD10006B}"/>
              </a:ext>
            </a:extLst>
          </p:cNvPr>
          <p:cNvSpPr>
            <a:spLocks noGrp="1"/>
          </p:cNvSpPr>
          <p:nvPr/>
        </p:nvSpPr>
        <p:spPr>
          <a:xfrm>
            <a:off x="3381375" y="490537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A9E82DC6-D91D-49C2-B2BD-757DDCE2E7C3}"/>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13</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A9E82DC6-D91D-49C2-B2BD-757DDCE2E7C3}"/>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298BD9D-3237-4D76-90D1-54B755F675AA}"/>
              </a:ext>
            </a:extLst>
          </p:cNvPr>
          <p:cNvSpPr>
            <a:spLocks noGrp="1"/>
          </p:cNvSpPr>
          <p:nvPr/>
        </p:nvSpPr>
        <p:spPr>
          <a:xfrm>
            <a:off x="7019925"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00F73493-E305-4791-8AA9-4AFE4629D2EE}"/>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00F73493-E305-4791-8AA9-4AFE4629D2EE}"/>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A92F9408-BBF3-4F11-8F1C-22339F2FE432}"/>
              </a:ext>
            </a:extLst>
          </p:cNvPr>
          <p:cNvSpPr>
            <a:spLocks noGrp="1"/>
          </p:cNvSpPr>
          <p:nvPr/>
        </p:nvSpPr>
        <p:spPr>
          <a:xfrm>
            <a:off x="10210800"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B7E70444-3EE2-4AF1-BA21-27B6F04A8A81}"/>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B7E70444-3EE2-4AF1-BA21-27B6F04A8A81}"/>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F3C803A6-CB47-456B-B50B-8FE9E58C3B59}"/>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F3C803A6-CB47-456B-B50B-8FE9E58C3B59}"/>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785E95C5-A5B2-4745-AE06-E5FE88ED6933}"/>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55" name="takeaway">
            <a:extLst>
              <a:ext uri="{FF2B5EF4-FFF2-40B4-BE49-F238E27FC236}">
                <a16:creationId xmlns:a16="http://schemas.microsoft.com/office/drawing/2014/main" id="{4803F5CA-926C-464B-889E-CBE20B2EF220}"/>
              </a:ext>
            </a:extLst>
          </p:cNvPr>
          <p:cNvSpPr>
            <a:spLocks noGrp="1"/>
          </p:cNvSpPr>
          <p:nvPr/>
        </p:nvSpPr>
        <p:spPr>
          <a:xfrm>
            <a:off x="476250" y="5886450"/>
            <a:ext cx="11239500" cy="609600"/>
          </a:xfrm>
          <a:prstGeom prst="rect">
            <a:avLst/>
          </a:prstGeom>
          <a:noFill/>
          <a:ln w="0">
            <a:noFill/>
          </a:ln>
        </p:spPr>
        <p:txBody>
          <a:bodyPr wrap="none" lIns="0" tIns="0" rIns="0" bIns="0" anchor="ctr">
            <a:noAutofit/>
          </a:bodyPr>
          <a:lstStyle/>
          <a:p>
            <a:pPr algn="ctr">
              <a:lnSpc>
                <a:spcPts val="2300"/>
              </a:lnSpc>
            </a:pPr>
            <a:r>
              <a:rPr lang="en-GB" sz="1875" b="1" dirty="0">
                <a:solidFill>
                  <a:srgbClr val="182D45"/>
                </a:solidFill>
                <a:latin typeface="DejaVu Sans"/>
              </a:rPr>
              <a:t>A neuron is a </a:t>
            </a:r>
            <a:r>
              <a:rPr lang="en-GB" sz="1875" b="1" dirty="0">
                <a:solidFill>
                  <a:srgbClr val="FF0000"/>
                </a:solidFill>
                <a:latin typeface="DejaVu Sans"/>
              </a:rPr>
              <a:t>function</a:t>
            </a:r>
            <a:r>
              <a:rPr lang="en-GB" sz="1875" b="1" dirty="0">
                <a:solidFill>
                  <a:srgbClr val="182D45"/>
                </a:solidFill>
                <a:latin typeface="DejaVu Sans"/>
              </a:rPr>
              <a:t> that combines its inputs into one output,</a:t>
            </a:r>
            <a:endParaRPr lang="en-GB" sz="1875"/>
          </a:p>
          <a:p>
            <a:pPr algn="ctr">
              <a:lnSpc>
                <a:spcPts val="2300"/>
              </a:lnSpc>
            </a:pPr>
            <a:r>
              <a:rPr lang="en-GB" sz="1875" b="1" dirty="0">
                <a:solidFill>
                  <a:srgbClr val="182D45"/>
                </a:solidFill>
                <a:latin typeface="DejaVu Sans"/>
              </a:rPr>
              <a:t>called its </a:t>
            </a:r>
            <a:r>
              <a:rPr lang="en-GB" sz="1875" b="1" dirty="0">
                <a:solidFill>
                  <a:srgbClr val="FF0000"/>
                </a:solidFill>
                <a:latin typeface="DejaVu Sans"/>
              </a:rPr>
              <a:t>activation</a:t>
            </a:r>
            <a:r>
              <a:rPr lang="en-GB" sz="1875" b="1" dirty="0">
                <a:solidFill>
                  <a:srgbClr val="182D45"/>
                </a:solidFill>
                <a:latin typeface="DejaVu Sans"/>
              </a:rPr>
              <a:t>.</a:t>
            </a:r>
            <a:endParaRPr lang="en-GB" sz="1875"/>
          </a:p>
        </p:txBody>
      </p:sp>
      <p:sp>
        <p:nvSpPr>
          <p:cNvPr id="56" name="footer_course">
            <a:extLst>
              <a:ext uri="{FF2B5EF4-FFF2-40B4-BE49-F238E27FC236}">
                <a16:creationId xmlns:a16="http://schemas.microsoft.com/office/drawing/2014/main" id="{4D290224-F2A5-4D2E-ABFB-D6BE7DF17F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2B28027E-3625-4291-B837-B3EEDBF046D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p:sp>
        <p:nvSpPr>
          <p:cNvPr id="59" name="neuron_label">
            <a:extLst>
              <a:ext uri="{FF2B5EF4-FFF2-40B4-BE49-F238E27FC236}">
                <a16:creationId xmlns:a16="http://schemas.microsoft.com/office/drawing/2014/main" id="{2A58554F-7EC9-4D06-992F-C98375CA9543}"/>
              </a:ext>
            </a:extLst>
          </p:cNvPr>
          <p:cNvSpPr>
            <a:spLocks noGrp="1"/>
          </p:cNvSpPr>
          <p:nvPr/>
        </p:nvSpPr>
        <p:spPr>
          <a:xfrm>
            <a:off x="6143625" y="1504950"/>
            <a:ext cx="2333625" cy="314325"/>
          </a:xfrm>
          <a:prstGeom prst="rect">
            <a:avLst/>
          </a:prstGeom>
          <a:noFill/>
          <a:ln w="0">
            <a:noFill/>
          </a:ln>
        </p:spPr>
        <p:txBody>
          <a:bodyPr anchor="ctr">
            <a:noAutofit/>
          </a:bodyPr>
          <a:lstStyle/>
          <a:p>
            <a:pPr algn="ctr">
              <a:defRPr sz="1800" b="1">
                <a:solidFill>
                  <a:srgbClr val="087F83"/>
                </a:solidFill>
                <a:latin typeface="DejaVu Sans"/>
                <a:ea typeface="DejaVu Sans"/>
                <a:cs typeface="DejaVu Sans"/>
              </a:defRPr>
            </a:pPr>
            <a:r>
              <a:rPr sz="1800" b="1">
                <a:solidFill>
                  <a:srgbClr val="087F83"/>
                </a:solidFill>
                <a:latin typeface="DejaVu Sans"/>
                <a:ea typeface="DejaVu Sans"/>
                <a:cs typeface="DejaVu Sans"/>
              </a:rPr>
              <a:t>One neuron</a:t>
            </a:r>
          </a:p>
        </p:txBody>
      </p:sp>
    </p:spTree>
    <p:extLst>
      <p:ext uri="{BB962C8B-B14F-4D97-AF65-F5344CB8AC3E}">
        <p14:creationId xmlns:p14="http://schemas.microsoft.com/office/powerpoint/2010/main" val="24177458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ooter_course">
            <a:extLst>
              <a:ext uri="{FF2B5EF4-FFF2-40B4-BE49-F238E27FC236}">
                <a16:creationId xmlns:a16="http://schemas.microsoft.com/office/drawing/2014/main" id="{FC45F304-9F59-4880-8FFC-B3041539D2F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3" name="footer_number">
            <a:extLst>
              <a:ext uri="{FF2B5EF4-FFF2-40B4-BE49-F238E27FC236}">
                <a16:creationId xmlns:a16="http://schemas.microsoft.com/office/drawing/2014/main" id="{E1916D76-F7A8-459D-B1BA-EAD8FE7C5889}"/>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p:sp>
        <p:nvSpPr>
          <p:cNvPr id="4" name="line_3">
            <a:extLst>
              <a:ext uri="{FF2B5EF4-FFF2-40B4-BE49-F238E27FC236}">
                <a16:creationId xmlns:a16="http://schemas.microsoft.com/office/drawing/2014/main" id="{EEAA3BBA-3577-4D55-8602-8BCB4FB5BDCE}"/>
              </a:ext>
            </a:extLst>
          </p:cNvPr>
          <p:cNvSpPr>
            <a:spLocks noGrp="1"/>
          </p:cNvSpPr>
          <p:nvPr/>
        </p:nvSpPr>
        <p:spPr>
          <a:xfrm>
            <a:off x="1362075" y="3381375"/>
            <a:ext cx="1500188" cy="476"/>
          </a:xfrm>
          <a:prstGeom prst="line">
            <a:avLst/>
          </a:prstGeom>
          <a:noFill/>
          <a:ln w="14288">
            <a:solidFill>
              <a:srgbClr val="B6C2CD"/>
            </a:solidFill>
          </a:ln>
        </p:spPr>
        <p:txBody>
          <a:bodyPr/>
          <a:lstStyle/>
          <a:p>
            <a:endParaRPr lang="it-IT"/>
          </a:p>
        </p:txBody>
      </p:sp>
      <p:sp>
        <p:nvSpPr>
          <p:cNvPr id="5" name="line_4">
            <a:extLst>
              <a:ext uri="{FF2B5EF4-FFF2-40B4-BE49-F238E27FC236}">
                <a16:creationId xmlns:a16="http://schemas.microsoft.com/office/drawing/2014/main" id="{98AEE5D7-09A5-41E2-86AB-36EB1AFD2766}"/>
              </a:ext>
            </a:extLst>
          </p:cNvPr>
          <p:cNvSpPr>
            <a:spLocks noGrp="1"/>
          </p:cNvSpPr>
          <p:nvPr/>
        </p:nvSpPr>
        <p:spPr>
          <a:xfrm>
            <a:off x="1362075" y="3381375"/>
            <a:ext cx="1500188" cy="952500"/>
          </a:xfrm>
          <a:prstGeom prst="line">
            <a:avLst/>
          </a:prstGeom>
          <a:noFill/>
          <a:ln w="14288">
            <a:solidFill>
              <a:srgbClr val="B6C2CD"/>
            </a:solidFill>
          </a:ln>
        </p:spPr>
        <p:txBody>
          <a:bodyPr/>
          <a:lstStyle/>
          <a:p>
            <a:endParaRPr lang="it-IT"/>
          </a:p>
        </p:txBody>
      </p:sp>
      <p:sp>
        <p:nvSpPr>
          <p:cNvPr id="6" name="line_5">
            <a:extLst>
              <a:ext uri="{FF2B5EF4-FFF2-40B4-BE49-F238E27FC236}">
                <a16:creationId xmlns:a16="http://schemas.microsoft.com/office/drawing/2014/main" id="{F8E834C7-A199-4048-A69B-96FB82ADB795}"/>
              </a:ext>
            </a:extLst>
          </p:cNvPr>
          <p:cNvSpPr>
            <a:spLocks noGrp="1"/>
          </p:cNvSpPr>
          <p:nvPr/>
        </p:nvSpPr>
        <p:spPr>
          <a:xfrm>
            <a:off x="1362075" y="3381375"/>
            <a:ext cx="1500188" cy="1905000"/>
          </a:xfrm>
          <a:prstGeom prst="line">
            <a:avLst/>
          </a:prstGeom>
          <a:noFill/>
          <a:ln w="14288">
            <a:solidFill>
              <a:srgbClr val="B6C2CD"/>
            </a:solidFill>
          </a:ln>
        </p:spPr>
        <p:txBody>
          <a:bodyPr/>
          <a:lstStyle/>
          <a:p>
            <a:endParaRPr lang="it-IT"/>
          </a:p>
        </p:txBody>
      </p:sp>
      <p:sp>
        <p:nvSpPr>
          <p:cNvPr id="7" name="line_6">
            <a:extLst>
              <a:ext uri="{FF2B5EF4-FFF2-40B4-BE49-F238E27FC236}">
                <a16:creationId xmlns:a16="http://schemas.microsoft.com/office/drawing/2014/main" id="{008CEA51-7BA4-488D-AF96-8763128878CA}"/>
              </a:ext>
            </a:extLst>
          </p:cNvPr>
          <p:cNvSpPr>
            <a:spLocks noGrp="1"/>
          </p:cNvSpPr>
          <p:nvPr/>
        </p:nvSpPr>
        <p:spPr>
          <a:xfrm flipV="1">
            <a:off x="1362075" y="3381375"/>
            <a:ext cx="1500188" cy="1905000"/>
          </a:xfrm>
          <a:prstGeom prst="line">
            <a:avLst/>
          </a:prstGeom>
          <a:noFill/>
          <a:ln w="14288">
            <a:solidFill>
              <a:srgbClr val="B6C2CD"/>
            </a:solidFill>
          </a:ln>
        </p:spPr>
        <p:txBody>
          <a:bodyPr/>
          <a:lstStyle/>
          <a:p>
            <a:endParaRPr lang="it-IT"/>
          </a:p>
        </p:txBody>
      </p:sp>
      <p:sp>
        <p:nvSpPr>
          <p:cNvPr id="8" name="line_7">
            <a:extLst>
              <a:ext uri="{FF2B5EF4-FFF2-40B4-BE49-F238E27FC236}">
                <a16:creationId xmlns:a16="http://schemas.microsoft.com/office/drawing/2014/main" id="{439ADAB5-8CC0-4D31-B652-F4C40A366170}"/>
              </a:ext>
            </a:extLst>
          </p:cNvPr>
          <p:cNvSpPr>
            <a:spLocks noGrp="1"/>
          </p:cNvSpPr>
          <p:nvPr/>
        </p:nvSpPr>
        <p:spPr>
          <a:xfrm flipV="1">
            <a:off x="1362075" y="4333875"/>
            <a:ext cx="1500188" cy="952500"/>
          </a:xfrm>
          <a:prstGeom prst="line">
            <a:avLst/>
          </a:prstGeom>
          <a:noFill/>
          <a:ln w="14288">
            <a:solidFill>
              <a:srgbClr val="B6C2CD"/>
            </a:solidFill>
          </a:ln>
        </p:spPr>
        <p:txBody>
          <a:bodyPr/>
          <a:lstStyle/>
          <a:p>
            <a:endParaRPr lang="it-IT"/>
          </a:p>
        </p:txBody>
      </p:sp>
      <p:sp>
        <p:nvSpPr>
          <p:cNvPr id="9" name="line_8">
            <a:extLst>
              <a:ext uri="{FF2B5EF4-FFF2-40B4-BE49-F238E27FC236}">
                <a16:creationId xmlns:a16="http://schemas.microsoft.com/office/drawing/2014/main" id="{DB8460F0-474B-4111-B517-78F01900BC5B}"/>
              </a:ext>
            </a:extLst>
          </p:cNvPr>
          <p:cNvSpPr>
            <a:spLocks noGrp="1"/>
          </p:cNvSpPr>
          <p:nvPr/>
        </p:nvSpPr>
        <p:spPr>
          <a:xfrm>
            <a:off x="1362075" y="5286375"/>
            <a:ext cx="1500188" cy="476"/>
          </a:xfrm>
          <a:prstGeom prst="line">
            <a:avLst/>
          </a:prstGeom>
          <a:noFill/>
          <a:ln w="14288">
            <a:solidFill>
              <a:srgbClr val="B6C2CD"/>
            </a:solidFill>
          </a:ln>
        </p:spPr>
        <p:txBody>
          <a:bodyPr/>
          <a:lstStyle/>
          <a:p>
            <a:endParaRPr lang="it-IT"/>
          </a:p>
        </p:txBody>
      </p:sp>
      <p:sp>
        <p:nvSpPr>
          <p:cNvPr id="10" name="line_9">
            <a:extLst>
              <a:ext uri="{FF2B5EF4-FFF2-40B4-BE49-F238E27FC236}">
                <a16:creationId xmlns:a16="http://schemas.microsoft.com/office/drawing/2014/main" id="{8D3831DA-856A-4F8C-A962-0F4073A18648}"/>
              </a:ext>
            </a:extLst>
          </p:cNvPr>
          <p:cNvSpPr>
            <a:spLocks noGrp="1"/>
          </p:cNvSpPr>
          <p:nvPr/>
        </p:nvSpPr>
        <p:spPr>
          <a:xfrm>
            <a:off x="3662362" y="3381375"/>
            <a:ext cx="1328738" cy="952500"/>
          </a:xfrm>
          <a:prstGeom prst="line">
            <a:avLst/>
          </a:prstGeom>
          <a:noFill/>
          <a:ln w="14288">
            <a:solidFill>
              <a:srgbClr val="C45C28"/>
            </a:solidFill>
          </a:ln>
        </p:spPr>
        <p:txBody>
          <a:bodyPr/>
          <a:lstStyle/>
          <a:p>
            <a:endParaRPr lang="it-IT"/>
          </a:p>
        </p:txBody>
      </p:sp>
      <p:sp>
        <p:nvSpPr>
          <p:cNvPr id="11" name="line_10">
            <a:extLst>
              <a:ext uri="{FF2B5EF4-FFF2-40B4-BE49-F238E27FC236}">
                <a16:creationId xmlns:a16="http://schemas.microsoft.com/office/drawing/2014/main" id="{14060BD3-BB6D-48AE-9C3C-EFA56A15C41A}"/>
              </a:ext>
            </a:extLst>
          </p:cNvPr>
          <p:cNvSpPr>
            <a:spLocks noGrp="1"/>
          </p:cNvSpPr>
          <p:nvPr/>
        </p:nvSpPr>
        <p:spPr>
          <a:xfrm>
            <a:off x="3662362" y="4333875"/>
            <a:ext cx="1328738" cy="476"/>
          </a:xfrm>
          <a:prstGeom prst="line">
            <a:avLst/>
          </a:prstGeom>
          <a:noFill/>
          <a:ln w="14288">
            <a:solidFill>
              <a:srgbClr val="C45C28"/>
            </a:solidFill>
          </a:ln>
        </p:spPr>
        <p:txBody>
          <a:bodyPr/>
          <a:lstStyle/>
          <a:p>
            <a:endParaRPr lang="it-IT"/>
          </a:p>
        </p:txBody>
      </p:sp>
      <p:sp>
        <p:nvSpPr>
          <p:cNvPr id="12" name="line_11">
            <a:extLst>
              <a:ext uri="{FF2B5EF4-FFF2-40B4-BE49-F238E27FC236}">
                <a16:creationId xmlns:a16="http://schemas.microsoft.com/office/drawing/2014/main" id="{9074F1E6-4706-42A3-BED0-151D25367F2F}"/>
              </a:ext>
            </a:extLst>
          </p:cNvPr>
          <p:cNvSpPr>
            <a:spLocks noGrp="1"/>
          </p:cNvSpPr>
          <p:nvPr/>
        </p:nvSpPr>
        <p:spPr>
          <a:xfrm flipV="1">
            <a:off x="3662362" y="4333875"/>
            <a:ext cx="1328738" cy="952500"/>
          </a:xfrm>
          <a:prstGeom prst="line">
            <a:avLst/>
          </a:prstGeom>
          <a:noFill/>
          <a:ln w="14288">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3" name="unit_12" descr="x_1">
                <a:extLst>
                  <a:ext uri="{FF2B5EF4-FFF2-40B4-BE49-F238E27FC236}">
                    <a16:creationId xmlns:a16="http://schemas.microsoft.com/office/drawing/2014/main" id="{C56BDD39-3D04-4530-8653-43457795C972}"/>
                  </a:ext>
                </a:extLst>
              </p:cNvPr>
              <p:cNvSpPr>
                <a:spLocks noGrp="1"/>
              </p:cNvSpPr>
              <p:nvPr/>
            </p:nvSpPr>
            <p:spPr>
              <a:xfrm>
                <a:off x="828675" y="3114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1</m:t>
                          </m:r>
                        </m:sub>
                      </m:sSub>
                    </m:oMath>
                  </m:oMathPara>
                </a14:m>
                <a:endParaRPr lang="en-GB" sz="2200" dirty="0"/>
              </a:p>
            </p:txBody>
          </p:sp>
        </mc:Choice>
        <mc:Fallback xmlns="">
          <p:sp>
            <p:nvSpPr>
              <p:cNvPr id="13" name="unit_12" descr="x_1">
                <a:extLst>
                  <a:ext uri="{FF2B5EF4-FFF2-40B4-BE49-F238E27FC236}">
                    <a16:creationId xmlns:a16="http://schemas.microsoft.com/office/drawing/2014/main" id="{C56BDD39-3D04-4530-8653-43457795C972}"/>
                  </a:ext>
                </a:extLst>
              </p:cNvPr>
              <p:cNvSpPr>
                <a:spLocks noGrp="1" noRot="1" noChangeAspect="1" noMove="1" noResize="1" noEditPoints="1" noAdjustHandles="1" noChangeArrowheads="1" noChangeShapeType="1" noTextEdit="1"/>
              </p:cNvSpPr>
              <p:nvPr/>
            </p:nvSpPr>
            <p:spPr>
              <a:xfrm>
                <a:off x="828675" y="3114675"/>
                <a:ext cx="533400" cy="533400"/>
              </a:xfrm>
              <a:prstGeom prst="ellipse">
                <a:avLst/>
              </a:prstGeom>
              <a:blipFill>
                <a:blip r:embed="rId3"/>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unit_13" descr="x_2">
                <a:extLst>
                  <a:ext uri="{FF2B5EF4-FFF2-40B4-BE49-F238E27FC236}">
                    <a16:creationId xmlns:a16="http://schemas.microsoft.com/office/drawing/2014/main" id="{252654A7-2B00-4544-ABCE-85336D16C65D}"/>
                  </a:ext>
                </a:extLst>
              </p:cNvPr>
              <p:cNvSpPr>
                <a:spLocks noGrp="1"/>
              </p:cNvSpPr>
              <p:nvPr/>
            </p:nvSpPr>
            <p:spPr>
              <a:xfrm>
                <a:off x="828675" y="5019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2</m:t>
                          </m:r>
                        </m:sub>
                      </m:sSub>
                    </m:oMath>
                  </m:oMathPara>
                </a14:m>
                <a:endParaRPr lang="en-GB" sz="2200" dirty="0"/>
              </a:p>
            </p:txBody>
          </p:sp>
        </mc:Choice>
        <mc:Fallback xmlns="">
          <p:sp>
            <p:nvSpPr>
              <p:cNvPr id="14" name="unit_13" descr="x_2">
                <a:extLst>
                  <a:ext uri="{FF2B5EF4-FFF2-40B4-BE49-F238E27FC236}">
                    <a16:creationId xmlns:a16="http://schemas.microsoft.com/office/drawing/2014/main" id="{252654A7-2B00-4544-ABCE-85336D16C65D}"/>
                  </a:ext>
                </a:extLst>
              </p:cNvPr>
              <p:cNvSpPr>
                <a:spLocks noGrp="1" noRot="1" noChangeAspect="1" noMove="1" noResize="1" noEditPoints="1" noAdjustHandles="1" noChangeArrowheads="1" noChangeShapeType="1" noTextEdit="1"/>
              </p:cNvSpPr>
              <p:nvPr/>
            </p:nvSpPr>
            <p:spPr>
              <a:xfrm>
                <a:off x="828675" y="5019675"/>
                <a:ext cx="533400" cy="533400"/>
              </a:xfrm>
              <a:prstGeom prst="ellipse">
                <a:avLst/>
              </a:prstGeom>
              <a:blipFill>
                <a:blip r:embed="rId4"/>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unit_14" descr="\phi_1(\mathbf{x})">
                <a:extLst>
                  <a:ext uri="{FF2B5EF4-FFF2-40B4-BE49-F238E27FC236}">
                    <a16:creationId xmlns:a16="http://schemas.microsoft.com/office/drawing/2014/main" id="{AE6D9723-BF44-4241-AA66-785A79E08B43}"/>
                  </a:ext>
                </a:extLst>
              </p:cNvPr>
              <p:cNvSpPr>
                <a:spLocks noGrp="1"/>
              </p:cNvSpPr>
              <p:nvPr/>
            </p:nvSpPr>
            <p:spPr>
              <a:xfrm>
                <a:off x="2862262" y="2981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1</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5" name="unit_14" descr="\phi_1(\mathbf{x})">
                <a:extLst>
                  <a:ext uri="{FF2B5EF4-FFF2-40B4-BE49-F238E27FC236}">
                    <a16:creationId xmlns:a16="http://schemas.microsoft.com/office/drawing/2014/main" id="{AE6D9723-BF44-4241-AA66-785A79E08B43}"/>
                  </a:ext>
                </a:extLst>
              </p:cNvPr>
              <p:cNvSpPr>
                <a:spLocks noGrp="1" noRot="1" noChangeAspect="1" noMove="1" noResize="1" noEditPoints="1" noAdjustHandles="1" noChangeArrowheads="1" noChangeShapeType="1" noTextEdit="1"/>
              </p:cNvSpPr>
              <p:nvPr/>
            </p:nvSpPr>
            <p:spPr>
              <a:xfrm>
                <a:off x="2862262" y="2981325"/>
                <a:ext cx="800100" cy="800100"/>
              </a:xfrm>
              <a:prstGeom prst="ellipse">
                <a:avLst/>
              </a:prstGeom>
              <a:blipFill>
                <a:blip r:embed="rId5"/>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unit_15" descr="\phi_2(\mathbf{x})">
                <a:extLst>
                  <a:ext uri="{FF2B5EF4-FFF2-40B4-BE49-F238E27FC236}">
                    <a16:creationId xmlns:a16="http://schemas.microsoft.com/office/drawing/2014/main" id="{4A6A7EFB-B19C-490F-9C22-91D76B138647}"/>
                  </a:ext>
                </a:extLst>
              </p:cNvPr>
              <p:cNvSpPr>
                <a:spLocks noGrp="1"/>
              </p:cNvSpPr>
              <p:nvPr/>
            </p:nvSpPr>
            <p:spPr>
              <a:xfrm>
                <a:off x="2862262" y="39338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2</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6" name="unit_15" descr="\phi_2(\mathbf{x})">
                <a:extLst>
                  <a:ext uri="{FF2B5EF4-FFF2-40B4-BE49-F238E27FC236}">
                    <a16:creationId xmlns:a16="http://schemas.microsoft.com/office/drawing/2014/main" id="{4A6A7EFB-B19C-490F-9C22-91D76B138647}"/>
                  </a:ext>
                </a:extLst>
              </p:cNvPr>
              <p:cNvSpPr>
                <a:spLocks noGrp="1" noRot="1" noChangeAspect="1" noMove="1" noResize="1" noEditPoints="1" noAdjustHandles="1" noChangeArrowheads="1" noChangeShapeType="1" noTextEdit="1"/>
              </p:cNvSpPr>
              <p:nvPr/>
            </p:nvSpPr>
            <p:spPr>
              <a:xfrm>
                <a:off x="2862262" y="3933825"/>
                <a:ext cx="800100" cy="800100"/>
              </a:xfrm>
              <a:prstGeom prst="ellipse">
                <a:avLst/>
              </a:prstGeom>
              <a:blipFill>
                <a:blip r:embed="rId6"/>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unit_16" descr="\phi_3(\mathbf{x})">
                <a:extLst>
                  <a:ext uri="{FF2B5EF4-FFF2-40B4-BE49-F238E27FC236}">
                    <a16:creationId xmlns:a16="http://schemas.microsoft.com/office/drawing/2014/main" id="{A4795661-6F5D-41A7-B6D3-BF585E291FD8}"/>
                  </a:ext>
                </a:extLst>
              </p:cNvPr>
              <p:cNvSpPr>
                <a:spLocks noGrp="1"/>
              </p:cNvSpPr>
              <p:nvPr/>
            </p:nvSpPr>
            <p:spPr>
              <a:xfrm>
                <a:off x="2862262" y="4886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3</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7" name="unit_16" descr="\phi_3(\mathbf{x})">
                <a:extLst>
                  <a:ext uri="{FF2B5EF4-FFF2-40B4-BE49-F238E27FC236}">
                    <a16:creationId xmlns:a16="http://schemas.microsoft.com/office/drawing/2014/main" id="{A4795661-6F5D-41A7-B6D3-BF585E291FD8}"/>
                  </a:ext>
                </a:extLst>
              </p:cNvPr>
              <p:cNvSpPr>
                <a:spLocks noGrp="1" noRot="1" noChangeAspect="1" noMove="1" noResize="1" noEditPoints="1" noAdjustHandles="1" noChangeArrowheads="1" noChangeShapeType="1" noTextEdit="1"/>
              </p:cNvSpPr>
              <p:nvPr/>
            </p:nvSpPr>
            <p:spPr>
              <a:xfrm>
                <a:off x="2862262" y="4886325"/>
                <a:ext cx="800100" cy="800100"/>
              </a:xfrm>
              <a:prstGeom prst="ellipse">
                <a:avLst/>
              </a:prstGeom>
              <a:blipFill>
                <a:blip r:embed="rId7"/>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p:cNvSpPr>
              <p:nvPr/>
            </p:nvSpPr>
            <p:spPr>
              <a:xfrm>
                <a:off x="4991100" y="3810000"/>
                <a:ext cx="2571750" cy="1047750"/>
              </a:xfrm>
              <a:prstGeom prst="ellipse">
                <a:avLst/>
              </a:prstGeom>
              <a:solidFill>
                <a:srgbClr val="F2F4F6"/>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r>
                        <a:rPr lang="it-IT" sz="1800" b="0" i="1" smtClean="0">
                          <a:solidFill>
                            <a:srgbClr val="182D45"/>
                          </a:solidFill>
                          <a:latin typeface="Cambria Math" panose="02040503050406030204" pitchFamily="18" charset="0"/>
                          <a:ea typeface="Cambria Math"/>
                          <a:cs typeface="Cambria Math"/>
                        </a:rPr>
                        <m:t>      </m:t>
                      </m:r>
                      <m:nary>
                        <m:naryPr>
                          <m:chr m:val="∑"/>
                          <m:limLoc m:val="undOvr"/>
                          <m:ctrlPr>
                            <a:rPr lang="en-GB" sz="1800">
                              <a:solidFill>
                                <a:srgbClr val="182D45"/>
                              </a:solidFill>
                              <a:latin typeface="Cambria Math"/>
                              <a:ea typeface="Cambria Math"/>
                              <a:cs typeface="Cambria Math"/>
                            </a:rPr>
                          </m:ctrlPr>
                        </m:naryPr>
                        <m:sub>
                          <m:r>
                            <a:rPr lang="en-GB" sz="1800">
                              <a:solidFill>
                                <a:srgbClr val="182D45"/>
                              </a:solidFill>
                              <a:latin typeface="Cambria Math"/>
                              <a:ea typeface="Cambria Math"/>
                              <a:cs typeface="Cambria Math"/>
                            </a:rPr>
                            <m:t>𝑗</m:t>
                          </m:r>
                          <m:r>
                            <a:rPr lang="en-GB" sz="1800">
                              <a:solidFill>
                                <a:srgbClr val="182D45"/>
                              </a:solidFill>
                              <a:latin typeface="Cambria Math"/>
                              <a:ea typeface="Cambria Math"/>
                              <a:cs typeface="Cambria Math"/>
                            </a:rPr>
                            <m:t>=1</m:t>
                          </m:r>
                        </m:sub>
                        <m:sup>
                          <m:r>
                            <a:rPr lang="en-GB" sz="1800">
                              <a:solidFill>
                                <a:srgbClr val="182D45"/>
                              </a:solidFill>
                              <a:latin typeface="Cambria Math"/>
                              <a:ea typeface="Cambria Math"/>
                              <a:cs typeface="Cambria Math"/>
                            </a:rPr>
                            <m:t>3</m:t>
                          </m:r>
                        </m:sup>
                        <m:e>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𝜙</m:t>
                              </m:r>
                            </m:e>
                            <m:sub>
                              <m:r>
                                <a:rPr lang="en-GB" sz="1800">
                                  <a:solidFill>
                                    <a:srgbClr val="182D45"/>
                                  </a:solidFill>
                                  <a:latin typeface="Cambria Math"/>
                                  <a:ea typeface="Cambria Math"/>
                                  <a:cs typeface="Cambria Math"/>
                                </a:rPr>
                                <m:t>𝑗</m:t>
                              </m:r>
                            </m:sub>
                          </m:sSub>
                          <m:d>
                            <m:dPr>
                              <m:ctrlPr>
                                <a:rPr lang="en-GB">
                                  <a:solidFill>
                                    <a:srgbClr val="182D45"/>
                                  </a:solidFill>
                                  <a:latin typeface="Cambria Math"/>
                                  <a:ea typeface="Cambria Math"/>
                                  <a:cs typeface="Cambria Math"/>
                                </a:rPr>
                              </m:ctrlPr>
                            </m:dPr>
                            <m:e>
                              <m:r>
                                <a:rPr lang="en-GB">
                                  <a:solidFill>
                                    <a:srgbClr val="182D45"/>
                                  </a:solidFill>
                                  <a:latin typeface="Cambria Math"/>
                                  <a:ea typeface="Cambria Math"/>
                                  <a:cs typeface="Cambria Math"/>
                                </a:rPr>
                                <m:t>𝐱</m:t>
                              </m:r>
                            </m:e>
                          </m:d>
                          <m:sSub>
                            <m:sSubPr>
                              <m:ctrlPr>
                                <a:rPr lang="en-GB" i="1">
                                  <a:solidFill>
                                    <a:srgbClr val="182D45"/>
                                  </a:solidFill>
                                  <a:latin typeface="Cambria Math" panose="02040503050406030204" pitchFamily="18" charset="0"/>
                                  <a:ea typeface="Cambria Math"/>
                                  <a:cs typeface="Cambria Math"/>
                                </a:rPr>
                              </m:ctrlPr>
                            </m:sSubPr>
                            <m:e>
                              <m:d>
                                <m:dPr>
                                  <m:ctrlPr>
                                    <a:rPr lang="en-GB" i="1">
                                      <a:solidFill>
                                        <a:srgbClr val="182D45"/>
                                      </a:solidFill>
                                      <a:latin typeface="Cambria Math" panose="02040503050406030204" pitchFamily="18" charset="0"/>
                                      <a:ea typeface="Cambria Math"/>
                                      <a:cs typeface="Cambria Math"/>
                                    </a:rPr>
                                  </m:ctrlPr>
                                </m:dPr>
                                <m:e>
                                  <m:sSub>
                                    <m:sSubPr>
                                      <m:ctrlPr>
                                        <a:rPr lang="en-GB">
                                          <a:solidFill>
                                            <a:srgbClr val="182D45"/>
                                          </a:solidFill>
                                          <a:latin typeface="Cambria Math"/>
                                          <a:ea typeface="Cambria Math"/>
                                          <a:cs typeface="Cambria Math"/>
                                        </a:rPr>
                                      </m:ctrlPr>
                                    </m:sSubPr>
                                    <m:e>
                                      <m:r>
                                        <a:rPr lang="en-GB">
                                          <a:solidFill>
                                            <a:srgbClr val="182D45"/>
                                          </a:solidFill>
                                          <a:latin typeface="Cambria Math"/>
                                          <a:ea typeface="Cambria Math"/>
                                          <a:cs typeface="Cambria Math"/>
                                        </a:rPr>
                                        <m:t>𝐖</m:t>
                                      </m:r>
                                    </m:e>
                                    <m:sub>
                                      <m:r>
                                        <m:rPr>
                                          <m:sty m:val="p"/>
                                        </m:rPr>
                                        <a:rPr lang="en-GB">
                                          <a:solidFill>
                                            <a:srgbClr val="182D45"/>
                                          </a:solidFill>
                                          <a:latin typeface="Cambria Math"/>
                                          <a:ea typeface="Cambria Math"/>
                                          <a:cs typeface="Cambria Math"/>
                                        </a:rPr>
                                        <m:t>out</m:t>
                                      </m:r>
                                    </m:sub>
                                  </m:sSub>
                                </m:e>
                              </m:d>
                            </m:e>
                            <m:sub>
                              <m:r>
                                <a:rPr lang="en-GB">
                                  <a:solidFill>
                                    <a:srgbClr val="182D45"/>
                                  </a:solidFill>
                                  <a:latin typeface="Cambria Math"/>
                                  <a:ea typeface="Cambria Math"/>
                                  <a:cs typeface="Cambria Math"/>
                                </a:rPr>
                                <m:t>𝑗</m:t>
                              </m:r>
                            </m:sub>
                          </m:sSub>
                        </m:e>
                      </m:nary>
                    </m:oMath>
                  </m:oMathPara>
                </a14:m>
                <a:endParaRPr lang="en-GB" sz="1800" dirty="0"/>
              </a:p>
            </p:txBody>
          </p:sp>
        </mc:Choice>
        <mc:Fallback xmlns="">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4991100" y="3810000"/>
                <a:ext cx="2571750" cy="1047750"/>
              </a:xfrm>
              <a:prstGeom prst="ellipse">
                <a:avLst/>
              </a:prstGeom>
              <a:blipFill>
                <a:blip r:embed="rId8"/>
                <a:stretch>
                  <a:fillRect/>
                </a:stretch>
              </a:blipFill>
              <a:ln w="24765">
                <a:solidFill>
                  <a:srgbClr val="182D45"/>
                </a:solidFill>
              </a:ln>
            </p:spPr>
            <p:txBody>
              <a:bodyPr/>
              <a:lstStyle/>
              <a:p>
                <a:r>
                  <a:rPr lang="it-IT">
                    <a:noFill/>
                  </a:rPr>
                  <a:t> </a:t>
                </a:r>
              </a:p>
            </p:txBody>
          </p:sp>
        </mc:Fallback>
      </mc:AlternateContent>
      <p:sp>
        <p:nvSpPr>
          <p:cNvPr id="19" name="title">
            <a:extLst>
              <a:ext uri="{FF2B5EF4-FFF2-40B4-BE49-F238E27FC236}">
                <a16:creationId xmlns:a16="http://schemas.microsoft.com/office/drawing/2014/main" id="{8F7541A6-1671-4D58-B426-2716D9FB786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output layer</a:t>
            </a:r>
          </a:p>
        </p:txBody>
      </p:sp>
      <p:sp>
        <p:nvSpPr>
          <p:cNvPr id="20" name="lead">
            <a:extLst>
              <a:ext uri="{FF2B5EF4-FFF2-40B4-BE49-F238E27FC236}">
                <a16:creationId xmlns:a16="http://schemas.microsoft.com/office/drawing/2014/main" id="{71C83F32-EBB4-4959-9995-14B4AE893E63}"/>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100" b="0" dirty="0">
                <a:solidFill>
                  <a:srgbClr val="526276"/>
                </a:solidFill>
                <a:latin typeface="DejaVu Sans"/>
              </a:rPr>
              <a:t>Together, these neurons and the affine output layer form a </a:t>
            </a:r>
            <a:r>
              <a:rPr lang="en-GB" sz="2100" b="0" dirty="0">
                <a:solidFill>
                  <a:srgbClr val="FF0000"/>
                </a:solidFill>
                <a:latin typeface="DejaVu Sans"/>
              </a:rPr>
              <a:t>neural network</a:t>
            </a:r>
            <a:r>
              <a:rPr lang="en-GB" sz="2100" b="0" dirty="0">
                <a:solidFill>
                  <a:srgbClr val="526276"/>
                </a:solidFill>
                <a:latin typeface="DejaVu Sans"/>
              </a:rPr>
              <a:t>.</a:t>
            </a:r>
            <a:endParaRPr lang="en-GB" sz="2100"/>
          </a:p>
          <a:p>
            <a:pPr algn="ctr">
              <a:lnSpc>
                <a:spcPts val="2550"/>
              </a:lnSpc>
            </a:pPr>
            <a:r>
              <a:rPr lang="en-GB" sz="2100" b="0" dirty="0">
                <a:solidFill>
                  <a:srgbClr val="526276"/>
                </a:solidFill>
                <a:latin typeface="DejaVu Sans"/>
              </a:rPr>
              <a:t>The output layer combines the neurons’ activations using </a:t>
            </a:r>
            <a:r>
              <a:rPr lang="en-GB" sz="2100" b="0" dirty="0">
                <a:solidFill>
                  <a:srgbClr val="FF0000"/>
                </a:solidFill>
                <a:latin typeface="DejaVu Sans"/>
              </a:rPr>
              <a:t>weights</a:t>
            </a:r>
            <a:r>
              <a:rPr lang="en-GB" sz="2100" b="0" dirty="0">
                <a:solidFill>
                  <a:srgbClr val="526276"/>
                </a:solidFill>
                <a:latin typeface="DejaVu Sans"/>
              </a:rPr>
              <a:t> and a </a:t>
            </a:r>
            <a:r>
              <a:rPr lang="en-GB" sz="2100" b="0" dirty="0">
                <a:solidFill>
                  <a:srgbClr val="FF0000"/>
                </a:solidFill>
                <a:latin typeface="DejaVu Sans"/>
              </a:rPr>
              <a:t>bias</a:t>
            </a:r>
            <a:r>
              <a:rPr lang="en-GB" sz="2100" b="0" dirty="0">
                <a:solidFill>
                  <a:srgbClr val="526276"/>
                </a:solidFill>
                <a:latin typeface="DejaVu Sans"/>
              </a:rPr>
              <a:t>.</a:t>
            </a:r>
            <a:endParaRPr lang="en-GB" sz="2100"/>
          </a:p>
        </p:txBody>
      </p:sp>
      <mc:AlternateContent xmlns:mc="http://schemas.openxmlformats.org/markup-compatibility/2006" xmlns:a14="http://schemas.microsoft.com/office/drawing/2010/main">
        <mc:Choice Requires="a14">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p:cNvSpPr>
              <p:nvPr/>
            </p:nvSpPr>
            <p:spPr>
              <a:xfrm>
                <a:off x="476250" y="1876424"/>
                <a:ext cx="1123950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𝑓</m:t>
                      </m:r>
                      <m:d>
                        <m:dPr>
                          <m:ctrlPr>
                            <a:rPr lang="en-GB" sz="2500" smtClean="0">
                              <a:solidFill>
                                <a:srgbClr val="087F83"/>
                              </a:solidFill>
                              <a:latin typeface="Cambria Math"/>
                              <a:ea typeface="Cambria Math"/>
                              <a:cs typeface="Cambria Math"/>
                            </a:rPr>
                          </m:ctrlPr>
                        </m:dPr>
                        <m:e>
                          <m:r>
                            <a:rPr lang="en-GB" sz="2500" smtClean="0">
                              <a:solidFill>
                                <a:srgbClr val="087F83"/>
                              </a:solidFill>
                              <a:latin typeface="Cambria Math"/>
                              <a:ea typeface="Cambria Math"/>
                              <a:cs typeface="Cambria Math"/>
                            </a:rPr>
                            <m:t>𝐱</m:t>
                          </m:r>
                        </m:e>
                      </m:d>
                      <m:r>
                        <a:rPr lang="en-GB" sz="2500" smtClean="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𝑗</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3</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𝑗</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i="1">
                                  <a:solidFill>
                                    <a:srgbClr val="087F83"/>
                                  </a:solidFill>
                                  <a:latin typeface="Cambria Math" panose="02040503050406030204" pitchFamily="18" charset="0"/>
                                  <a:ea typeface="Cambria Math"/>
                                  <a:cs typeface="Cambria Math"/>
                                </a:rPr>
                              </m:ctrlPr>
                            </m:sSubPr>
                            <m:e>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e>
                              </m:d>
                            </m:e>
                            <m:sub>
                              <m:r>
                                <a:rPr lang="en-GB" sz="2500">
                                  <a:solidFill>
                                    <a:srgbClr val="087F83"/>
                                  </a:solidFill>
                                  <a:latin typeface="Cambria Math"/>
                                  <a:ea typeface="Cambria Math"/>
                                  <a:cs typeface="Cambria Math"/>
                                </a:rPr>
                                <m:t>𝑗</m:t>
                              </m:r>
                            </m:sub>
                          </m:sSub>
                        </m:e>
                      </m:nary>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it-IT" sz="2500" b="0" i="1" smtClean="0">
                          <a:solidFill>
                            <a:srgbClr val="087F83"/>
                          </a:solidFill>
                          <a:latin typeface="Cambria Math" panose="02040503050406030204" pitchFamily="18" charset="0"/>
                          <a:ea typeface="Cambria Math"/>
                          <a:cs typeface="Cambria Math"/>
                        </a:rPr>
                        <m:t>=</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3</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oMath>
                  </m:oMathPara>
                </a14:m>
                <a:endParaRPr lang="en-GB" sz="2500" dirty="0"/>
              </a:p>
            </p:txBody>
          </p:sp>
        </mc:Choice>
        <mc:Fallback xmlns="">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noRot="1" noChangeAspect="1" noMove="1" noResize="1" noEditPoints="1" noAdjustHandles="1" noChangeArrowheads="1" noChangeShapeType="1" noTextEdit="1"/>
              </p:cNvSpPr>
              <p:nvPr/>
            </p:nvSpPr>
            <p:spPr>
              <a:xfrm>
                <a:off x="476250" y="1876424"/>
                <a:ext cx="11239500" cy="723900"/>
              </a:xfrm>
              <a:prstGeom prst="rect">
                <a:avLst/>
              </a:prstGeom>
              <a:blipFill>
                <a:blip r:embed="rId9"/>
                <a:stretch>
                  <a:fillRect t="-21849" b="-26891"/>
                </a:stretch>
              </a:blipFill>
              <a:ln w="0">
                <a:noFill/>
              </a:ln>
            </p:spPr>
            <p:txBody>
              <a:bodyPr/>
              <a:lstStyle/>
              <a:p>
                <a:r>
                  <a:rPr lang="it-IT">
                    <a:noFill/>
                  </a:rPr>
                  <a:t> </a:t>
                </a:r>
              </a:p>
            </p:txBody>
          </p:sp>
        </mc:Fallback>
      </mc:AlternateContent>
      <p:sp>
        <p:nvSpPr>
          <p:cNvPr id="22" name="parameter_label">
            <a:extLst>
              <a:ext uri="{FF2B5EF4-FFF2-40B4-BE49-F238E27FC236}">
                <a16:creationId xmlns:a16="http://schemas.microsoft.com/office/drawing/2014/main" id="{CF9C63DA-9B95-4854-B6C4-50E08571E28C}"/>
              </a:ext>
            </a:extLst>
          </p:cNvPr>
          <p:cNvSpPr>
            <a:spLocks noGrp="1"/>
          </p:cNvSpPr>
          <p:nvPr/>
        </p:nvSpPr>
        <p:spPr>
          <a:xfrm>
            <a:off x="6191250" y="2781300"/>
            <a:ext cx="5619750" cy="40005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p:cNvSpPr>
              <p:nvPr/>
            </p:nvSpPr>
            <p:spPr>
              <a:xfrm>
                <a:off x="6191250" y="3190875"/>
                <a:ext cx="561975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3×1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noRot="1" noChangeAspect="1" noMove="1" noResize="1" noEditPoints="1" noAdjustHandles="1" noChangeArrowheads="1" noChangeShapeType="1" noTextEdit="1"/>
              </p:cNvSpPr>
              <p:nvPr/>
            </p:nvSpPr>
            <p:spPr>
              <a:xfrm>
                <a:off x="6191250" y="3190875"/>
                <a:ext cx="5619750" cy="571500"/>
              </a:xfrm>
              <a:prstGeom prst="rect">
                <a:avLst/>
              </a:prstGeom>
              <a:blipFill>
                <a:blip r:embed="rId10"/>
                <a:stretch>
                  <a:fillRect/>
                </a:stretch>
              </a:blipFill>
              <a:ln w="0">
                <a:noFill/>
              </a:ln>
            </p:spPr>
            <p:txBody>
              <a:bodyPr/>
              <a:lstStyle/>
              <a:p>
                <a:r>
                  <a:rPr lang="it-IT">
                    <a:noFill/>
                  </a:rPr>
                  <a:t> </a:t>
                </a:r>
              </a:p>
            </p:txBody>
          </p:sp>
        </mc:Fallback>
      </mc:AlternateContent>
      <p:sp>
        <p:nvSpPr>
          <p:cNvPr id="25" name="input_label">
            <a:extLst>
              <a:ext uri="{FF2B5EF4-FFF2-40B4-BE49-F238E27FC236}">
                <a16:creationId xmlns:a16="http://schemas.microsoft.com/office/drawing/2014/main" id="{0A0F8532-C56A-4587-B75D-2E77EC5913B2}"/>
              </a:ext>
            </a:extLst>
          </p:cNvPr>
          <p:cNvSpPr>
            <a:spLocks noGrp="1"/>
          </p:cNvSpPr>
          <p:nvPr/>
        </p:nvSpPr>
        <p:spPr>
          <a:xfrm>
            <a:off x="447675" y="5619750"/>
            <a:ext cx="129540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Input</a:t>
            </a:r>
          </a:p>
        </p:txBody>
      </p:sp>
      <p:sp>
        <p:nvSpPr>
          <p:cNvPr id="26" name="activation_label">
            <a:extLst>
              <a:ext uri="{FF2B5EF4-FFF2-40B4-BE49-F238E27FC236}">
                <a16:creationId xmlns:a16="http://schemas.microsoft.com/office/drawing/2014/main" id="{2F5D95E9-570E-420A-8A6E-50F4FC6BCAED}"/>
              </a:ext>
            </a:extLst>
          </p:cNvPr>
          <p:cNvSpPr>
            <a:spLocks noGrp="1"/>
          </p:cNvSpPr>
          <p:nvPr/>
        </p:nvSpPr>
        <p:spPr>
          <a:xfrm>
            <a:off x="2119312" y="5613464"/>
            <a:ext cx="2286000" cy="400050"/>
          </a:xfrm>
          <a:prstGeom prst="rect">
            <a:avLst/>
          </a:prstGeom>
          <a:noFill/>
          <a:ln w="0">
            <a:noFill/>
          </a:ln>
        </p:spPr>
        <p:txBody>
          <a:bodyPr anchor="ctr">
            <a:noAutofit/>
          </a:bodyPr>
          <a:lstStyle/>
          <a:p>
            <a:pPr algn="ctr">
              <a:defRPr sz="1800" b="0">
                <a:solidFill>
                  <a:srgbClr val="087F83"/>
                </a:solidFill>
                <a:latin typeface="DejaVu Sans"/>
                <a:ea typeface="DejaVu Sans"/>
                <a:cs typeface="DejaVu Sans"/>
              </a:defRPr>
            </a:pPr>
            <a:r>
              <a:rPr lang="it-IT" sz="1800" b="0" dirty="0" err="1">
                <a:solidFill>
                  <a:srgbClr val="087F83"/>
                </a:solidFill>
                <a:latin typeface="DejaVu Sans"/>
                <a:ea typeface="DejaVu Sans"/>
                <a:cs typeface="DejaVu Sans"/>
              </a:rPr>
              <a:t>Hidden layer</a:t>
            </a:r>
          </a:p>
        </p:txBody>
      </p:sp>
      <p:sp>
        <p:nvSpPr>
          <p:cNvPr id="27" name="output_label">
            <a:extLst>
              <a:ext uri="{FF2B5EF4-FFF2-40B4-BE49-F238E27FC236}">
                <a16:creationId xmlns:a16="http://schemas.microsoft.com/office/drawing/2014/main" id="{9EA64FFC-5839-419A-AB20-F0F22194879A}"/>
              </a:ext>
            </a:extLst>
          </p:cNvPr>
          <p:cNvSpPr>
            <a:spLocks noGrp="1"/>
          </p:cNvSpPr>
          <p:nvPr/>
        </p:nvSpPr>
        <p:spPr>
          <a:xfrm>
            <a:off x="8753475" y="5624513"/>
            <a:ext cx="1428750" cy="400050"/>
          </a:xfrm>
          <a:prstGeom prst="rect">
            <a:avLst/>
          </a:prstGeom>
          <a:noFill/>
          <a:ln w="0">
            <a:noFill/>
          </a:ln>
        </p:spPr>
        <p:txBody>
          <a:bodyPr anchor="ctr">
            <a:noAutofit/>
          </a:bodyPr>
          <a:lstStyle/>
          <a:p>
            <a:pPr algn="ctr">
              <a:defRPr sz="1800" b="0">
                <a:solidFill>
                  <a:srgbClr val="C45C28"/>
                </a:solidFill>
                <a:latin typeface="DejaVu Sans"/>
                <a:ea typeface="DejaVu Sans"/>
                <a:cs typeface="DejaVu Sans"/>
              </a:defRPr>
            </a:pPr>
            <a:r>
              <a:rPr sz="1800" b="0" dirty="0">
                <a:solidFill>
                  <a:srgbClr val="C45C28"/>
                </a:solidFill>
                <a:latin typeface="DejaVu Sans"/>
                <a:ea typeface="DejaVu Sans"/>
                <a:cs typeface="DejaVu Sans"/>
              </a:rPr>
              <a:t>Output</a:t>
            </a:r>
          </a:p>
        </p:txBody>
      </p:sp>
      <p:sp>
        <p:nvSpPr>
          <p:cNvPr id="36" name="takeaway">
            <a:extLst>
              <a:ext uri="{FF2B5EF4-FFF2-40B4-BE49-F238E27FC236}">
                <a16:creationId xmlns:a16="http://schemas.microsoft.com/office/drawing/2014/main" id="{6F05411B-FF25-4891-A667-0FA8AC6E2AAD}"/>
              </a:ext>
            </a:extLst>
          </p:cNvPr>
          <p:cNvSpPr>
            <a:spLocks noGrp="1"/>
          </p:cNvSpPr>
          <p:nvPr/>
        </p:nvSpPr>
        <p:spPr>
          <a:xfrm>
            <a:off x="476250" y="6105525"/>
            <a:ext cx="11239500" cy="438150"/>
          </a:xfrm>
          <a:prstGeom prst="rect">
            <a:avLst/>
          </a:prstGeom>
          <a:noFill/>
          <a:ln w="0">
            <a:noFill/>
          </a:ln>
        </p:spPr>
        <p:txBody>
          <a:bodyPr tIns="0" bIns="0" anchor="ctr">
            <a:noAutofit/>
          </a:bodyPr>
          <a:lstStyle/>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These neurons form a </a:t>
            </a:r>
            <a:r>
              <a:rPr sz="1700" b="1" dirty="0">
                <a:solidFill>
                  <a:srgbClr val="FF0000"/>
                </a:solidFill>
                <a:latin typeface="DejaVu Sans"/>
                <a:ea typeface="DejaVu Sans"/>
                <a:cs typeface="DejaVu Sans"/>
              </a:rPr>
              <a:t>hidden layer</a:t>
            </a:r>
            <a:r>
              <a:rPr sz="1700" b="1" dirty="0">
                <a:solidFill>
                  <a:srgbClr val="182D45"/>
                </a:solidFill>
                <a:latin typeface="DejaVu Sans"/>
                <a:ea typeface="DejaVu Sans"/>
                <a:cs typeface="DejaVu Sans"/>
              </a:rPr>
              <a:t>:</a:t>
            </a:r>
            <a:endParaRPr lang="it-IT" sz="1700"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their activations are </a:t>
            </a:r>
            <a:r>
              <a:rPr sz="1700" b="1" dirty="0">
                <a:solidFill>
                  <a:srgbClr val="FF0000"/>
                </a:solidFill>
                <a:latin typeface="DejaVu Sans"/>
                <a:ea typeface="DejaVu Sans"/>
                <a:cs typeface="DejaVu Sans"/>
              </a:rPr>
              <a:t>intermediate values</a:t>
            </a:r>
            <a:r>
              <a:rPr sz="1700" b="1" dirty="0">
                <a:solidFill>
                  <a:srgbClr val="182D45"/>
                </a:solidFill>
                <a:latin typeface="DejaVu Sans"/>
                <a:ea typeface="DejaVu Sans"/>
                <a:cs typeface="DejaVu Sans"/>
              </a:rPr>
              <a:t>,</a:t>
            </a:r>
            <a:r>
              <a:rPr lang="it-IT" sz="1700" b="1" dirty="0">
                <a:solidFill>
                  <a:srgbClr val="182D45"/>
                </a:solidFill>
                <a:latin typeface="DejaVu Sans"/>
                <a:ea typeface="DejaVu Sans"/>
                <a:cs typeface="DejaVu Sans"/>
              </a:rPr>
              <a:t> </a:t>
            </a:r>
            <a:r>
              <a:rPr sz="1700" b="1" dirty="0">
                <a:solidFill>
                  <a:srgbClr val="182D45"/>
                </a:solidFill>
                <a:latin typeface="DejaVu Sans"/>
                <a:ea typeface="DejaVu Sans"/>
                <a:cs typeface="DejaVu Sans"/>
              </a:rPr>
              <a:t>computed inside the network.</a:t>
            </a:r>
          </a:p>
        </p:txBody>
      </p:sp>
      <mc:AlternateContent xmlns:mc="http://schemas.openxmlformats.org/markup-compatibility/2006" xmlns:a14="http://schemas.microsoft.com/office/drawing/2010/main">
        <mc:Choice Requires="a14">
          <p:sp>
            <p:nvSpPr>
              <p:cNvPr id="29" name="weight_1" descr="(\mathbf{W}_{\mathrm{out}})_1">
                <a:extLst>
                  <a:ext uri="{FF2B5EF4-FFF2-40B4-BE49-F238E27FC236}">
                    <a16:creationId xmlns:a16="http://schemas.microsoft.com/office/drawing/2014/main" id="{25D91B23-EC22-427B-8F1E-E80A7561DC91}"/>
                  </a:ext>
                </a:extLst>
              </p:cNvPr>
              <p:cNvSpPr>
                <a:spLocks noGrp="1"/>
              </p:cNvSpPr>
              <p:nvPr/>
            </p:nvSpPr>
            <p:spPr>
              <a:xfrm>
                <a:off x="4184999" y="3295649"/>
                <a:ext cx="640652" cy="400051"/>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1</m:t>
                          </m:r>
                        </m:sub>
                      </m:sSub>
                    </m:oMath>
                  </m:oMathPara>
                </a14:m>
                <a:endParaRPr lang="en-GB" sz="1700" dirty="0"/>
              </a:p>
            </p:txBody>
          </p:sp>
        </mc:Choice>
        <mc:Fallback xmlns="">
          <p:sp>
            <p:nvSpPr>
              <p:cNvPr id="29" name="weight_1" descr="(\mathbf{W}_{\mathrm{out}})_1">
                <a:extLst>
                  <a:ext uri="{FF2B5EF4-FFF2-40B4-BE49-F238E27FC236}">
                    <a16:creationId xmlns:a16="http://schemas.microsoft.com/office/drawing/2014/main" id="{25D91B23-EC22-427B-8F1E-E80A7561DC91}"/>
                  </a:ext>
                </a:extLst>
              </p:cNvPr>
              <p:cNvSpPr>
                <a:spLocks noGrp="1" noRot="1" noChangeAspect="1" noMove="1" noResize="1" noEditPoints="1" noAdjustHandles="1" noChangeArrowheads="1" noChangeShapeType="1" noTextEdit="1"/>
              </p:cNvSpPr>
              <p:nvPr/>
            </p:nvSpPr>
            <p:spPr>
              <a:xfrm>
                <a:off x="4184999" y="3295649"/>
                <a:ext cx="640652" cy="400051"/>
              </a:xfrm>
              <a:prstGeom prst="rect">
                <a:avLst/>
              </a:prstGeom>
              <a:blipFill>
                <a:blip r:embed="rId11"/>
                <a:stretch>
                  <a:fillRect l="-26667" r="-9524" b="-615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weight_2" descr="(\mathbf{W}_{\mathrm{out}})_2">
                <a:extLst>
                  <a:ext uri="{FF2B5EF4-FFF2-40B4-BE49-F238E27FC236}">
                    <a16:creationId xmlns:a16="http://schemas.microsoft.com/office/drawing/2014/main" id="{45A7E4D5-665C-41CD-B84A-1B6BF40D72A3}"/>
                  </a:ext>
                </a:extLst>
              </p:cNvPr>
              <p:cNvSpPr>
                <a:spLocks noGrp="1"/>
              </p:cNvSpPr>
              <p:nvPr/>
            </p:nvSpPr>
            <p:spPr>
              <a:xfrm>
                <a:off x="3823856" y="3990975"/>
                <a:ext cx="567169" cy="3333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2</m:t>
                          </m:r>
                        </m:sub>
                      </m:sSub>
                    </m:oMath>
                  </m:oMathPara>
                </a14:m>
                <a:endParaRPr lang="en-GB" sz="1700" dirty="0"/>
              </a:p>
            </p:txBody>
          </p:sp>
        </mc:Choice>
        <mc:Fallback xmlns="">
          <p:sp>
            <p:nvSpPr>
              <p:cNvPr id="30" name="weight_2" descr="(\mathbf{W}_{\mathrm{out}})_2">
                <a:extLst>
                  <a:ext uri="{FF2B5EF4-FFF2-40B4-BE49-F238E27FC236}">
                    <a16:creationId xmlns:a16="http://schemas.microsoft.com/office/drawing/2014/main" id="{45A7E4D5-665C-41CD-B84A-1B6BF40D72A3}"/>
                  </a:ext>
                </a:extLst>
              </p:cNvPr>
              <p:cNvSpPr>
                <a:spLocks noGrp="1" noRot="1" noChangeAspect="1" noMove="1" noResize="1" noEditPoints="1" noAdjustHandles="1" noChangeArrowheads="1" noChangeShapeType="1" noTextEdit="1"/>
              </p:cNvSpPr>
              <p:nvPr/>
            </p:nvSpPr>
            <p:spPr>
              <a:xfrm>
                <a:off x="3823856" y="3990975"/>
                <a:ext cx="567169" cy="333375"/>
              </a:xfrm>
              <a:prstGeom prst="rect">
                <a:avLst/>
              </a:prstGeom>
              <a:blipFill>
                <a:blip r:embed="rId12"/>
                <a:stretch>
                  <a:fillRect l="-36559" r="-18280" b="-18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weight_3" descr="(\mathbf{W}_{\mathrm{out}})_3">
                <a:extLst>
                  <a:ext uri="{FF2B5EF4-FFF2-40B4-BE49-F238E27FC236}">
                    <a16:creationId xmlns:a16="http://schemas.microsoft.com/office/drawing/2014/main" id="{E3B90070-5983-421E-AFC3-376A19BF2922}"/>
                  </a:ext>
                </a:extLst>
              </p:cNvPr>
              <p:cNvSpPr>
                <a:spLocks noGrp="1"/>
              </p:cNvSpPr>
              <p:nvPr/>
            </p:nvSpPr>
            <p:spPr>
              <a:xfrm>
                <a:off x="4252914" y="4881562"/>
                <a:ext cx="504823" cy="4095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3</m:t>
                          </m:r>
                        </m:sub>
                      </m:sSub>
                    </m:oMath>
                  </m:oMathPara>
                </a14:m>
                <a:endParaRPr lang="en-GB" sz="1700" dirty="0"/>
              </a:p>
            </p:txBody>
          </p:sp>
        </mc:Choice>
        <mc:Fallback xmlns="">
          <p:sp>
            <p:nvSpPr>
              <p:cNvPr id="31" name="weight_3" descr="(\mathbf{W}_{\mathrm{out}})_3">
                <a:extLst>
                  <a:ext uri="{FF2B5EF4-FFF2-40B4-BE49-F238E27FC236}">
                    <a16:creationId xmlns:a16="http://schemas.microsoft.com/office/drawing/2014/main" id="{E3B90070-5983-421E-AFC3-376A19BF2922}"/>
                  </a:ext>
                </a:extLst>
              </p:cNvPr>
              <p:cNvSpPr>
                <a:spLocks noGrp="1" noRot="1" noChangeAspect="1" noMove="1" noResize="1" noEditPoints="1" noAdjustHandles="1" noChangeArrowheads="1" noChangeShapeType="1" noTextEdit="1"/>
              </p:cNvSpPr>
              <p:nvPr/>
            </p:nvSpPr>
            <p:spPr>
              <a:xfrm>
                <a:off x="4252914" y="4881562"/>
                <a:ext cx="504823" cy="409575"/>
              </a:xfrm>
              <a:prstGeom prst="rect">
                <a:avLst/>
              </a:prstGeom>
              <a:blipFill>
                <a:blip r:embed="rId13"/>
                <a:stretch>
                  <a:fillRect l="-48780" r="-28049" b="-447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output_bias_label" descr="+b_{\mathrm{out}}">
                <a:extLst>
                  <a:ext uri="{FF2B5EF4-FFF2-40B4-BE49-F238E27FC236}">
                    <a16:creationId xmlns:a16="http://schemas.microsoft.com/office/drawing/2014/main" id="{EDCEB93F-7D20-4703-92D0-50E561499ADE}"/>
                  </a:ext>
                </a:extLst>
              </p:cNvPr>
              <p:cNvSpPr>
                <a:spLocks noGrp="1"/>
              </p:cNvSpPr>
              <p:nvPr/>
            </p:nvSpPr>
            <p:spPr>
              <a:xfrm>
                <a:off x="7705725" y="3819525"/>
                <a:ext cx="1143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C45C28"/>
                          </a:solidFill>
                          <a:latin typeface="Cambria Math"/>
                          <a:ea typeface="Cambria Math"/>
                          <a:cs typeface="Cambria Math"/>
                        </a:rPr>
                        <m:t>+</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𝑏</m:t>
                          </m:r>
                        </m:e>
                        <m:sub>
                          <m:r>
                            <m:rPr>
                              <m:sty m:val="p"/>
                            </m:rPr>
                            <a:rPr lang="en-GB" sz="2400">
                              <a:solidFill>
                                <a:srgbClr val="C45C28"/>
                              </a:solidFill>
                              <a:latin typeface="Cambria Math"/>
                              <a:ea typeface="Cambria Math"/>
                              <a:cs typeface="Cambria Math"/>
                            </a:rPr>
                            <m:t>out</m:t>
                          </m:r>
                        </m:sub>
                      </m:sSub>
                    </m:oMath>
                  </m:oMathPara>
                </a14:m>
                <a:endParaRPr lang="en-GB" sz="2400"/>
              </a:p>
            </p:txBody>
          </p:sp>
        </mc:Choice>
        <mc:Fallback xmlns="">
          <p:sp>
            <p:nvSpPr>
              <p:cNvPr id="32" name="output_bias_label" descr="+b_{\mathrm{out}}">
                <a:extLst>
                  <a:ext uri="{FF2B5EF4-FFF2-40B4-BE49-F238E27FC236}">
                    <a16:creationId xmlns:a16="http://schemas.microsoft.com/office/drawing/2014/main" id="{EDCEB93F-7D20-4703-92D0-50E561499ADE}"/>
                  </a:ext>
                </a:extLst>
              </p:cNvPr>
              <p:cNvSpPr>
                <a:spLocks noGrp="1" noRot="1" noChangeAspect="1" noMove="1" noResize="1" noEditPoints="1" noAdjustHandles="1" noChangeArrowheads="1" noChangeShapeType="1" noTextEdit="1"/>
              </p:cNvSpPr>
              <p:nvPr/>
            </p:nvSpPr>
            <p:spPr>
              <a:xfrm>
                <a:off x="7705725" y="3819525"/>
                <a:ext cx="1143000" cy="409575"/>
              </a:xfrm>
              <a:prstGeom prst="rect">
                <a:avLst/>
              </a:prstGeom>
              <a:blipFill>
                <a:blip r:embed="rId14"/>
                <a:stretch>
                  <a:fillRect b="-7463"/>
                </a:stretch>
              </a:blipFill>
              <a:ln w="0">
                <a:noFill/>
              </a:ln>
            </p:spPr>
            <p:txBody>
              <a:bodyPr/>
              <a:lstStyle/>
              <a:p>
                <a:r>
                  <a:rPr lang="it-IT">
                    <a:noFill/>
                  </a:rPr>
                  <a:t> </a:t>
                </a:r>
              </a:p>
            </p:txBody>
          </p:sp>
        </mc:Fallback>
      </mc:AlternateContent>
      <p:sp>
        <p:nvSpPr>
          <p:cNvPr id="33" name="output_bias_arrow">
            <a:extLst>
              <a:ext uri="{FF2B5EF4-FFF2-40B4-BE49-F238E27FC236}">
                <a16:creationId xmlns:a16="http://schemas.microsoft.com/office/drawing/2014/main" id="{8D3831DA-856A-4F8C-A962-0F4073A18648}"/>
              </a:ext>
            </a:extLst>
          </p:cNvPr>
          <p:cNvSpPr>
            <a:spLocks noGrp="1"/>
          </p:cNvSpPr>
          <p:nvPr/>
        </p:nvSpPr>
        <p:spPr>
          <a:xfrm>
            <a:off x="7562850" y="4333875"/>
            <a:ext cx="1428750" cy="476"/>
          </a:xfrm>
          <a:prstGeom prst="line">
            <a:avLst/>
          </a:prstGeom>
          <a:noFill/>
          <a:ln w="14288">
            <a:solidFill>
              <a:srgbClr val="C45C28"/>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final_output" descr="f(\mathbf{x})">
                <a:extLst>
                  <a:ext uri="{FF2B5EF4-FFF2-40B4-BE49-F238E27FC236}">
                    <a16:creationId xmlns:a16="http://schemas.microsoft.com/office/drawing/2014/main" id="{37FDA004-45DD-43D8-9D49-E1DA05264A58}"/>
                  </a:ext>
                </a:extLst>
              </p:cNvPr>
              <p:cNvSpPr>
                <a:spLocks noGrp="1"/>
              </p:cNvSpPr>
              <p:nvPr/>
            </p:nvSpPr>
            <p:spPr>
              <a:xfrm>
                <a:off x="8991600" y="3857625"/>
                <a:ext cx="952500" cy="952500"/>
              </a:xfrm>
              <a:prstGeom prst="ellipse">
                <a:avLst/>
              </a:prstGeom>
              <a:solidFill>
                <a:srgbClr val="FFFFFF"/>
              </a:solidFill>
              <a:ln w="24765">
                <a:solidFill>
                  <a:srgbClr val="C45C28"/>
                </a:solidFill>
              </a:ln>
            </p:spPr>
            <p:txBody>
              <a:bodyPr vertOverflow="overflow" horzOverflow="overflow" wrap="none" lIns="0" tIns="0" rIns="0" bIns="0" anchor="ctr">
                <a:noAutofit/>
              </a:bodyPr>
              <a:lstStyle/>
              <a:p>
                <a:pPr algn="ctr"/>
                <a14:m>
                  <m:oMathPara xmlns:m="http://schemas.openxmlformats.org/officeDocument/2006/math">
                    <m:oMath>
                      <m:r>
                        <a:rPr lang="it-IT" sz="2000" b="0" i="0" smtClean="0">
                          <a:solidFill>
                            <a:srgbClr val="C45C28"/>
                          </a:solidFill>
                          <a:latin typeface="Cambria Math" panose="02040503050406030204" pitchFamily="18" charset="0"/>
                          <a:ea typeface="Cambria Math"/>
                          <a:cs typeface="Cambria Math"/>
                        </a:rPr>
                        <m:t> </m:t>
                      </m:r>
                      <m:r>
                        <a:rPr lang="en-GB" sz="2000">
                          <a:solidFill>
                            <a:srgbClr val="C45C28"/>
                          </a:solidFill>
                          <a:latin typeface="Cambria Math"/>
                          <a:ea typeface="Cambria Math"/>
                          <a:cs typeface="Cambria Math"/>
                        </a:rPr>
                        <m:t>𝑓</m:t>
                      </m:r>
                      <m:r>
                        <a:rPr lang="en-GB" sz="2000">
                          <a:solidFill>
                            <a:srgbClr val="C45C28"/>
                          </a:solidFill>
                          <a:latin typeface="Cambria Math"/>
                          <a:ea typeface="Cambria Math"/>
                          <a:cs typeface="Cambria Math"/>
                        </a:rPr>
                        <m:t>(</m:t>
                      </m:r>
                      <m:r>
                        <a:rPr lang="en-GB" sz="2000">
                          <a:solidFill>
                            <a:srgbClr val="C45C28"/>
                          </a:solidFill>
                          <a:latin typeface="Cambria Math"/>
                          <a:ea typeface="Cambria Math"/>
                          <a:cs typeface="Cambria Math"/>
                        </a:rPr>
                        <m:t>𝐱</m:t>
                      </m:r>
                      <m:r>
                        <a:rPr lang="en-GB" sz="2000">
                          <a:solidFill>
                            <a:srgbClr val="C45C28"/>
                          </a:solidFill>
                          <a:latin typeface="Cambria Math"/>
                          <a:ea typeface="Cambria Math"/>
                          <a:cs typeface="Cambria Math"/>
                        </a:rPr>
                        <m:t>)</m:t>
                      </m:r>
                    </m:oMath>
                  </m:oMathPara>
                </a14:m>
                <a:endParaRPr lang="en-GB" sz="2000" dirty="0"/>
              </a:p>
            </p:txBody>
          </p:sp>
        </mc:Choice>
        <mc:Fallback xmlns="">
          <p:sp>
            <p:nvSpPr>
              <p:cNvPr id="34" name="final_output" descr="f(\mathbf{x})">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8991600" y="3857625"/>
                <a:ext cx="952500" cy="952500"/>
              </a:xfrm>
              <a:prstGeom prst="ellipse">
                <a:avLst/>
              </a:prstGeom>
              <a:blipFill>
                <a:blip r:embed="rId15"/>
                <a:stretch>
                  <a:fillRect/>
                </a:stretch>
              </a:blipFill>
              <a:ln w="24765">
                <a:solidFill>
                  <a:srgbClr val="C45C28"/>
                </a:solidFill>
              </a:ln>
            </p:spPr>
            <p:txBody>
              <a:bodyPr/>
              <a:lstStyle/>
              <a:p>
                <a:r>
                  <a:rPr lang="it-IT">
                    <a:noFill/>
                  </a:rPr>
                  <a:t> </a:t>
                </a:r>
              </a:p>
            </p:txBody>
          </p:sp>
        </mc:Fallback>
      </mc:AlternateContent>
      <p:sp>
        <p:nvSpPr>
          <p:cNvPr id="35" name="weighted_sum_label">
            <a:extLst>
              <a:ext uri="{FF2B5EF4-FFF2-40B4-BE49-F238E27FC236}">
                <a16:creationId xmlns:a16="http://schemas.microsoft.com/office/drawing/2014/main" id="{17012F8A-CFCD-4BF7-B964-5A8808D8C7FE}"/>
              </a:ext>
            </a:extLst>
          </p:cNvPr>
          <p:cNvSpPr>
            <a:spLocks noGrp="1"/>
          </p:cNvSpPr>
          <p:nvPr/>
        </p:nvSpPr>
        <p:spPr>
          <a:xfrm>
            <a:off x="5086350" y="5613464"/>
            <a:ext cx="238125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Weighted sum</a:t>
            </a:r>
          </a:p>
        </p:txBody>
      </p:sp>
    </p:spTree>
    <p:extLst>
      <p:ext uri="{BB962C8B-B14F-4D97-AF65-F5344CB8AC3E}">
        <p14:creationId xmlns:p14="http://schemas.microsoft.com/office/powerpoint/2010/main" val="14831276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2595715-23F1-4E9A-958B-F4BCA7CEDC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Neural</a:t>
            </a:r>
            <a:r>
              <a:rPr lang="it-IT" sz="3300" b="1" dirty="0">
                <a:solidFill>
                  <a:srgbClr val="182D45"/>
                </a:solidFill>
                <a:latin typeface="DejaVu Sans"/>
                <a:ea typeface="DejaVu Sans"/>
                <a:cs typeface="DejaVu Sans"/>
              </a:rPr>
              <a:t> Network with o</a:t>
            </a:r>
            <a:r>
              <a:rPr sz="3300" b="1" dirty="0">
                <a:solidFill>
                  <a:srgbClr val="182D45"/>
                </a:solidFill>
                <a:latin typeface="DejaVu Sans"/>
                <a:ea typeface="DejaVu Sans"/>
                <a:cs typeface="DejaVu Sans"/>
              </a:rPr>
              <a:t>ne </a:t>
            </a:r>
            <a:r>
              <a:rPr lang="it-IT" sz="3300" b="1" dirty="0">
                <a:solidFill>
                  <a:srgbClr val="182D45"/>
                </a:solidFill>
                <a:latin typeface="DejaVu Sans"/>
                <a:ea typeface="DejaVu Sans"/>
                <a:cs typeface="DejaVu Sans"/>
              </a:rPr>
              <a:t>h</a:t>
            </a:r>
            <a:r>
              <a:rPr sz="3300" b="1" dirty="0" err="1">
                <a:solidFill>
                  <a:srgbClr val="182D45"/>
                </a:solidFill>
                <a:latin typeface="DejaVu Sans"/>
                <a:ea typeface="DejaVu Sans"/>
                <a:cs typeface="DejaVu Sans"/>
              </a:rPr>
              <a:t>idden</a:t>
            </a:r>
            <a:r>
              <a:rPr sz="3300" b="1" dirty="0">
                <a:solidFill>
                  <a:srgbClr val="182D45"/>
                </a:solidFill>
                <a:latin typeface="DejaVu Sans"/>
                <a:ea typeface="DejaVu Sans"/>
                <a:cs typeface="DejaVu Sans"/>
              </a:rPr>
              <a:t> </a:t>
            </a:r>
            <a:r>
              <a:rPr lang="it-IT" sz="3300" b="1" dirty="0">
                <a:solidFill>
                  <a:srgbClr val="182D45"/>
                </a:solidFill>
                <a:latin typeface="DejaVu Sans"/>
                <a:ea typeface="DejaVu Sans"/>
                <a:cs typeface="DejaVu Sans"/>
              </a:rPr>
              <a:t>l</a:t>
            </a:r>
            <a:r>
              <a:rPr sz="3300" b="1" dirty="0" err="1">
                <a:solidFill>
                  <a:srgbClr val="182D45"/>
                </a:solidFill>
                <a:latin typeface="DejaVu Sans"/>
                <a:ea typeface="DejaVu Sans"/>
                <a:cs typeface="DejaVu Sans"/>
              </a:rPr>
              <a:t>ayer</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24F6F089-6CBC-467E-B1EB-81111D143A1F}"/>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025" b="0" dirty="0">
                    <a:solidFill>
                      <a:srgbClr val="526276"/>
                    </a:solidFill>
                    <a:latin typeface="DejaVu Sans"/>
                  </a:rPr>
                  <a:t>A </a:t>
                </a:r>
                <a:r>
                  <a:rPr lang="en-GB" sz="2025" b="0" dirty="0">
                    <a:solidFill>
                      <a:srgbClr val="FF0000"/>
                    </a:solidFill>
                    <a:latin typeface="DejaVu Sans"/>
                  </a:rPr>
                  <a:t>hidden layer </a:t>
                </a:r>
                <a:r>
                  <a:rPr lang="en-GB" sz="2025" b="0" dirty="0">
                    <a:solidFill>
                      <a:srgbClr val="526276"/>
                    </a:solidFill>
                    <a:latin typeface="DejaVu Sans"/>
                  </a:rPr>
                  <a:t>groups neurons receiving the </a:t>
                </a:r>
                <a:r>
                  <a:rPr lang="en-GB" sz="2025" b="0" dirty="0">
                    <a:solidFill>
                      <a:srgbClr val="FF0000"/>
                    </a:solidFill>
                    <a:latin typeface="DejaVu Sans"/>
                  </a:rPr>
                  <a:t>same input row</a:t>
                </a:r>
                <a:r>
                  <a:rPr lang="en-GB" sz="2025" b="0" dirty="0">
                    <a:solidFill>
                      <a:srgbClr val="526276"/>
                    </a:solidFill>
                    <a:latin typeface="DejaVu Sans"/>
                  </a:rPr>
                  <a:t>.</a:t>
                </a:r>
                <a:endParaRPr lang="en-GB" sz="2025" dirty="0"/>
              </a:p>
              <a:p>
                <a:pPr algn="ctr">
                  <a:lnSpc>
                    <a:spcPts val="2550"/>
                  </a:lnSpc>
                </a:pPr>
                <a:r>
                  <a:rPr lang="en-GB" sz="2025" b="0" dirty="0">
                    <a:solidFill>
                      <a:srgbClr val="526276"/>
                    </a:solidFill>
                    <a:latin typeface="DejaVu Sans"/>
                  </a:rPr>
                  <a:t>Its </a:t>
                </a:r>
                <a:r>
                  <a:rPr lang="en-GB" sz="2025" b="0" dirty="0">
                    <a:solidFill>
                      <a:srgbClr val="FF0000"/>
                    </a:solidFill>
                    <a:latin typeface="DejaVu Sans"/>
                  </a:rPr>
                  <a:t>width </a:t>
                </a:r>
                <a14:m>
                  <m:oMath xmlns:m="http://schemas.openxmlformats.org/officeDocument/2006/math">
                    <m:r>
                      <a:rPr lang="en-GB" sz="2025">
                        <a:solidFill>
                          <a:srgbClr val="526276"/>
                        </a:solidFill>
                        <a:latin typeface="Cambria Math"/>
                        <a:ea typeface="Cambria Math"/>
                        <a:cs typeface="Cambria Math"/>
                      </a:rPr>
                      <m:t>𝑚</m:t>
                    </m:r>
                  </m:oMath>
                </a14:m>
                <a:r>
                  <a:rPr lang="en-GB" sz="2025" b="0" dirty="0">
                    <a:solidFill>
                      <a:srgbClr val="526276"/>
                    </a:solidFill>
                    <a:latin typeface="DejaVu Sans"/>
                  </a:rPr>
                  <a:t> is the number of neurons. Input and output dimensions are </a:t>
                </a:r>
                <a14:m>
                  <m:oMath xmlns:m="http://schemas.openxmlformats.org/officeDocument/2006/math">
                    <m:r>
                      <a:rPr lang="en-GB" sz="2025">
                        <a:solidFill>
                          <a:srgbClr val="526276"/>
                        </a:solidFill>
                        <a:latin typeface="Cambria Math"/>
                        <a:ea typeface="Cambria Math"/>
                        <a:cs typeface="Cambria Math"/>
                      </a:rPr>
                      <m:t>𝑑</m:t>
                    </m:r>
                  </m:oMath>
                </a14:m>
                <a:r>
                  <a:rPr lang="en-GB" sz="2025" b="0" dirty="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𝑞</m:t>
                    </m:r>
                  </m:oMath>
                </a14:m>
                <a:r>
                  <a:rPr lang="en-GB" sz="2025" b="0" dirty="0">
                    <a:solidFill>
                      <a:srgbClr val="526276"/>
                    </a:solidFill>
                    <a:latin typeface="DejaVu Sans"/>
                  </a:rPr>
                  <a:t>.</a:t>
                </a:r>
                <a:endParaRPr lang="en-GB" sz="2025" dirty="0"/>
              </a:p>
            </p:txBody>
          </p:sp>
        </mc:Choice>
        <mc:Fallback xmlns="">
          <p:sp>
            <p:nvSpPr>
              <p:cNvPr id="4" name="lead">
                <a:extLst>
                  <a:ext uri="{FF2B5EF4-FFF2-40B4-BE49-F238E27FC236}">
                    <a16:creationId xmlns:a16="http://schemas.microsoft.com/office/drawing/2014/main" id="{24F6F089-6CBC-467E-B1EB-81111D143A1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1015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input_domain" descr="\mathbf{x}=(x_1,\ldots,x_d)\in\mathbb{R}^{1\times d}">
                <a:extLst>
                  <a:ext uri="{FF2B5EF4-FFF2-40B4-BE49-F238E27FC236}">
                    <a16:creationId xmlns:a16="http://schemas.microsoft.com/office/drawing/2014/main" id="{BCD701CE-E2BA-4DFB-8B8A-12AB86C86FE8}"/>
                  </a:ext>
                </a:extLst>
              </p:cNvPr>
              <p:cNvSpPr>
                <a:spLocks noGrp="1"/>
              </p:cNvSpPr>
              <p:nvPr/>
            </p:nvSpPr>
            <p:spPr>
              <a:xfrm>
                <a:off x="333375" y="1733550"/>
                <a:ext cx="1152525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3" name="input_domain" descr="\mathbf{x}=(x_1,\ldots,x_d)\in\mathbb{R}^{1\times d}">
                <a:extLst>
                  <a:ext uri="{FF2B5EF4-FFF2-40B4-BE49-F238E27FC236}">
                    <a16:creationId xmlns:a16="http://schemas.microsoft.com/office/drawing/2014/main" id="{BCD701CE-E2BA-4DFB-8B8A-12AB86C86FE8}"/>
                  </a:ext>
                </a:extLst>
              </p:cNvPr>
              <p:cNvSpPr>
                <a:spLocks noGrp="1" noRot="1" noChangeAspect="1" noMove="1" noResize="1" noEditPoints="1" noAdjustHandles="1" noChangeArrowheads="1" noChangeShapeType="1" noTextEdit="1"/>
              </p:cNvSpPr>
              <p:nvPr/>
            </p:nvSpPr>
            <p:spPr>
              <a:xfrm>
                <a:off x="333375" y="1733550"/>
                <a:ext cx="11525250" cy="504825"/>
              </a:xfrm>
              <a:prstGeom prst="rect">
                <a:avLst/>
              </a:prstGeom>
              <a:blipFill>
                <a:blip r:embed="rId4"/>
                <a:stretch>
                  <a:fillRect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p:cNvSpPr>
              <p:nvPr/>
            </p:nvSpPr>
            <p:spPr>
              <a:xfrm>
                <a:off x="333375" y="2247900"/>
                <a:ext cx="1152525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𝐖</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𝐛</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𝑞</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𝑞</m:t>
                          </m:r>
                        </m:sup>
                      </m:sSup>
                    </m:oMath>
                  </m:oMathPara>
                </a14:m>
                <a:endParaRPr lang="en-GB" sz="2500" dirty="0"/>
              </a:p>
            </p:txBody>
          </p:sp>
        </mc:Choice>
        <mc:Fallback xmlns="">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noRot="1" noChangeAspect="1" noMove="1" noResize="1" noEditPoints="1" noAdjustHandles="1" noChangeArrowheads="1" noChangeShapeType="1" noTextEdit="1"/>
              </p:cNvSpPr>
              <p:nvPr/>
            </p:nvSpPr>
            <p:spPr>
              <a:xfrm>
                <a:off x="333375" y="2247900"/>
                <a:ext cx="11525250" cy="5524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p:cNvSpPr>
              <p:nvPr/>
            </p:nvSpPr>
            <p:spPr>
              <a:xfrm>
                <a:off x="381000" y="2777133"/>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Preactivation</a:t>
                </a:r>
                <a:r>
                  <a:rPr lang="en-GB" sz="2800" dirty="0" err="1">
                    <a:solidFill>
                      <a:srgbClr val="FF0000"/>
                    </a:solidFill>
                    <a:ea typeface="Cambria Math"/>
                    <a:cs typeface="Cambria Math"/>
                  </a:rPr>
                  <a:t>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i="1">
                        <a:solidFill>
                          <a:srgbClr val="087F83"/>
                        </a:solidFill>
                        <a:latin typeface="Cambria Math" panose="02040503050406030204" pitchFamily="18" charset="0"/>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𝐱𝐖</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𝐛</m:t>
                    </m:r>
                  </m:oMath>
                </a14:m>
                <a:endParaRPr lang="en-GB" sz="2800" dirty="0"/>
              </a:p>
            </p:txBody>
          </p:sp>
        </mc:Choice>
        <mc:Fallback xmlns="">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noRot="1" noChangeAspect="1" noMove="1" noResize="1" noEditPoints="1" noAdjustHandles="1" noChangeArrowheads="1" noChangeShapeType="1" noTextEdit="1"/>
              </p:cNvSpPr>
              <p:nvPr/>
            </p:nvSpPr>
            <p:spPr>
              <a:xfrm>
                <a:off x="381000" y="2777133"/>
                <a:ext cx="11430000" cy="762000"/>
              </a:xfrm>
              <a:prstGeom prst="rect">
                <a:avLst/>
              </a:prstGeom>
              <a:blipFill>
                <a:blip r:embed="rId6"/>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p:cNvSpPr>
              <p:nvPr/>
            </p:nvSpPr>
            <p:spPr>
              <a:xfrm>
                <a:off x="381000" y="3539728"/>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Activations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a14:m>
                <a:endParaRPr lang="en-GB" sz="2800" dirty="0"/>
              </a:p>
            </p:txBody>
          </p:sp>
        </mc:Choice>
        <mc:Fallback xmlns="">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noRot="1" noChangeAspect="1" noMove="1" noResize="1" noEditPoints="1" noAdjustHandles="1" noChangeArrowheads="1" noChangeShapeType="1" noTextEdit="1"/>
              </p:cNvSpPr>
              <p:nvPr/>
            </p:nvSpPr>
            <p:spPr>
              <a:xfrm>
                <a:off x="381000" y="3539728"/>
                <a:ext cx="11430000" cy="762000"/>
              </a:xfrm>
              <a:prstGeom prst="rect">
                <a:avLst/>
              </a:prstGeom>
              <a:blipFill>
                <a:blip r:embed="rId7"/>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p:cNvSpPr>
              <p:nvPr/>
            </p:nvSpPr>
            <p:spPr>
              <a:xfrm>
                <a:off x="571500" y="5026819"/>
                <a:ext cx="11049000" cy="714375"/>
              </a:xfrm>
              <a:prstGeom prst="rect">
                <a:avLst/>
              </a:prstGeom>
              <a:noFill/>
              <a:ln w="0">
                <a:noFill/>
              </a:ln>
            </p:spPr>
            <p:txBody>
              <a:bodyPr vertOverflow="overflow" horzOverflow="overflow" wrap="none" lIns="0" tIns="0" rIns="0" bIns="0" anchor="ctr">
                <a:noAutofit/>
              </a:bodyPr>
              <a:lstStyle/>
              <a:p>
                <a:pPr algn="ctr"/>
                <a:r>
                  <a:rPr lang="en-GB" sz="3100" dirty="0">
                    <a:solidFill>
                      <a:srgbClr val="FF0000"/>
                    </a:solidFill>
                    <a:ea typeface="Cambria Math"/>
                    <a:cs typeface="Cambria Math"/>
                  </a:rPr>
                  <a:t>Output</a:t>
                </a:r>
                <a:r>
                  <a:rPr lang="en-GB" sz="3100" dirty="0">
                    <a:solidFill>
                      <a:srgbClr val="087F83"/>
                    </a:solidFill>
                    <a:ea typeface="Cambria Math"/>
                    <a:cs typeface="Cambria Math"/>
                  </a:rPr>
                  <a:t>: </a:t>
                </a:r>
                <a14:m>
                  <m:oMath xmlns:m="http://schemas.openxmlformats.org/officeDocument/2006/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m:rPr>
                            <m:sty m:val="p"/>
                          </m:rPr>
                          <a:rPr lang="en-GB" sz="3100">
                            <a:solidFill>
                              <a:srgbClr val="087F83"/>
                            </a:solidFill>
                            <a:latin typeface="Cambria Math"/>
                            <a:ea typeface="Cambria Math"/>
                            <a:cs typeface="Cambria Math"/>
                          </a:rPr>
                          <m:t>out</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m:rPr>
                            <m:sty m:val="p"/>
                          </m:rPr>
                          <a:rPr lang="en-GB" sz="3100">
                            <a:solidFill>
                              <a:srgbClr val="087F83"/>
                            </a:solidFill>
                            <a:latin typeface="Cambria Math"/>
                            <a:ea typeface="Cambria Math"/>
                            <a:cs typeface="Cambria Math"/>
                          </a:rPr>
                          <m:t>out</m:t>
                        </m:r>
                      </m:sub>
                    </m:sSub>
                  </m:oMath>
                </a14:m>
                <a:endParaRPr lang="en-GB" sz="3100" dirty="0"/>
              </a:p>
            </p:txBody>
          </p:sp>
        </mc:Choice>
        <mc:Fallback xmlns="">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noRot="1" noChangeAspect="1" noMove="1" noResize="1" noEditPoints="1" noAdjustHandles="1" noChangeArrowheads="1" noChangeShapeType="1" noTextEdit="1"/>
              </p:cNvSpPr>
              <p:nvPr/>
            </p:nvSpPr>
            <p:spPr>
              <a:xfrm>
                <a:off x="571500" y="5026819"/>
                <a:ext cx="11049000" cy="714375"/>
              </a:xfrm>
              <a:prstGeom prst="rect">
                <a:avLst/>
              </a:prstGeom>
              <a:blipFill>
                <a:blip r:embed="rId8"/>
                <a:stretch>
                  <a:fillRect t="-855" b="-170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parameter_column">
                <a:extLst>
                  <a:ext uri="{FF2B5EF4-FFF2-40B4-BE49-F238E27FC236}">
                    <a16:creationId xmlns:a16="http://schemas.microsoft.com/office/drawing/2014/main" id="{5FFFA0A6-BBC1-4A35-8D0B-B5935114C0EC}"/>
                  </a:ext>
                </a:extLst>
              </p:cNvPr>
              <p:cNvSpPr>
                <a:spLocks noGrp="1"/>
              </p:cNvSpPr>
              <p:nvPr/>
            </p:nvSpPr>
            <p:spPr>
              <a:xfrm>
                <a:off x="523875" y="5838158"/>
                <a:ext cx="11144250" cy="542925"/>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parameter</a:t>
                </a:r>
                <a:r>
                  <a:rPr sz="2025" b="1" dirty="0">
                    <a:solidFill>
                      <a:srgbClr val="182D45"/>
                    </a:solidFill>
                    <a:latin typeface="DejaVu Sans"/>
                    <a:ea typeface="DejaVu Sans"/>
                    <a:cs typeface="DejaVu Sans"/>
                  </a:rPr>
                  <a:t> column </a:t>
                </a:r>
                <a14:m>
                  <m:oMath xmlns:m="http://schemas.openxmlformats.org/officeDocument/2006/math">
                    <m:r>
                      <a:rPr lang="it-IT" sz="2025" b="1" i="0" dirty="0" smtClean="0">
                        <a:solidFill>
                          <a:srgbClr val="182D45"/>
                        </a:solidFill>
                        <a:latin typeface="Cambria Math" panose="02040503050406030204" pitchFamily="18" charset="0"/>
                        <a:ea typeface="DejaVu Sans"/>
                        <a:cs typeface="DejaVu Sans"/>
                      </a:rPr>
                      <m:t>𝛉</m:t>
                    </m:r>
                  </m:oMath>
                </a14:m>
                <a:r>
                  <a:rPr sz="2025" b="1" dirty="0">
                    <a:solidFill>
                      <a:srgbClr val="182D45"/>
                    </a:solidFill>
                    <a:latin typeface="DejaVu Sans"/>
                    <a:ea typeface="DejaVu Sans"/>
                    <a:cs typeface="DejaVu Sans"/>
                  </a:rPr>
                  <a:t> collects all adjustable weights and biases.</a:t>
                </a:r>
              </a:p>
            </p:txBody>
          </p:sp>
        </mc:Choice>
        <mc:Fallback xmlns="">
          <p:sp>
            <p:nvSpPr>
              <p:cNvPr id="9" name="parameter_column">
                <a:extLst>
                  <a:ext uri="{FF2B5EF4-FFF2-40B4-BE49-F238E27FC236}">
                    <a16:creationId xmlns:a16="http://schemas.microsoft.com/office/drawing/2014/main" id="{5FFFA0A6-BBC1-4A35-8D0B-B5935114C0EC}"/>
                  </a:ext>
                </a:extLst>
              </p:cNvPr>
              <p:cNvSpPr>
                <a:spLocks noGrp="1" noRot="1" noChangeAspect="1" noMove="1" noResize="1" noEditPoints="1" noAdjustHandles="1" noChangeArrowheads="1" noChangeShapeType="1" noTextEdit="1"/>
              </p:cNvSpPr>
              <p:nvPr/>
            </p:nvSpPr>
            <p:spPr>
              <a:xfrm>
                <a:off x="523875" y="5838158"/>
                <a:ext cx="11144250" cy="542925"/>
              </a:xfrm>
              <a:prstGeom prst="rect">
                <a:avLst/>
              </a:prstGeom>
              <a:blipFill>
                <a:blip r:embed="rId9"/>
                <a:stretch>
                  <a:fillRect b="-5618"/>
                </a:stretch>
              </a:blipFill>
              <a:ln w="0">
                <a:noFill/>
              </a:ln>
            </p:spPr>
            <p:txBody>
              <a:bodyPr/>
              <a:lstStyle/>
              <a:p>
                <a:r>
                  <a:rPr lang="it-IT">
                    <a:noFill/>
                  </a:rPr>
                  <a:t> </a:t>
                </a:r>
              </a:p>
            </p:txBody>
          </p:sp>
        </mc:Fallback>
      </mc:AlternateContent>
      <p:sp>
        <p:nvSpPr>
          <p:cNvPr id="10" name="footer_course">
            <a:extLst>
              <a:ext uri="{FF2B5EF4-FFF2-40B4-BE49-F238E27FC236}">
                <a16:creationId xmlns:a16="http://schemas.microsoft.com/office/drawing/2014/main" id="{A39A48FC-4BFC-48F5-B8F8-8E14B4D5108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1" name="footer_number">
            <a:extLst>
              <a:ext uri="{FF2B5EF4-FFF2-40B4-BE49-F238E27FC236}">
                <a16:creationId xmlns:a16="http://schemas.microsoft.com/office/drawing/2014/main" id="{681581FA-EE25-4A39-8637-CC7556EBA0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p:cNvSpPr>
              <p:nvPr/>
            </p:nvSpPr>
            <p:spPr>
              <a:xfrm>
                <a:off x="428625" y="4171950"/>
                <a:ext cx="11430000" cy="952500"/>
              </a:xfrm>
              <a:prstGeom prst="rect">
                <a:avLst/>
              </a:prstGeom>
              <a:noFill/>
              <a:ln w="0">
                <a:noFill/>
              </a:ln>
            </p:spPr>
            <p:txBody>
              <a:bodyPr vertOverflow="overflow" horzOverflow="overflow" wrap="none" lIns="0" tIns="0" rIns="0" bIns="0" anchor="ctr">
                <a:noAutofit/>
              </a:bodyPr>
              <a:lstStyle/>
              <a:p>
                <a:pPr algn="ctr"/>
                <a:r>
                  <a:rPr lang="en-GB" sz="2900" dirty="0">
                    <a:solidFill>
                      <a:srgbClr val="087F83"/>
                    </a:solidFill>
                    <a:ea typeface="Cambria Math"/>
                    <a:cs typeface="Cambria Math"/>
                  </a:rPr>
                  <a:t>where    </a:t>
                </a:r>
                <a14:m>
                  <m:oMath xmlns:m="http://schemas.openxmlformats.org/officeDocument/2006/math">
                    <m:r>
                      <a:rPr lang="en-GB" sz="2900" smtClean="0">
                        <a:solidFill>
                          <a:srgbClr val="087F83"/>
                        </a:solidFill>
                        <a:latin typeface="Cambria Math"/>
                        <a:ea typeface="Cambria Math"/>
                        <a:cs typeface="Cambria Math"/>
                      </a:rPr>
                      <m:t>𝐑𝐞𝐋𝐔</m:t>
                    </m:r>
                    <m:r>
                      <a:rPr lang="en-GB" sz="2900" smtClean="0">
                        <a:solidFill>
                          <a:srgbClr val="087F83"/>
                        </a:solidFill>
                        <a:latin typeface="Cambria Math"/>
                        <a:ea typeface="Cambria Math"/>
                        <a:cs typeface="Cambria Math"/>
                      </a:rPr>
                      <m:t>(</m:t>
                    </m:r>
                    <m:r>
                      <a:rPr lang="en-GB" sz="2900" smtClean="0">
                        <a:solidFill>
                          <a:srgbClr val="087F83"/>
                        </a:solidFill>
                        <a:latin typeface="Cambria Math"/>
                        <a:ea typeface="Cambria Math"/>
                        <a:cs typeface="Cambria Math"/>
                      </a:rPr>
                      <m:t>𝐚</m:t>
                    </m:r>
                    <m:r>
                      <a:rPr lang="en-GB" sz="2900" smtClean="0">
                        <a:solidFill>
                          <a:srgbClr val="087F83"/>
                        </a:solidFill>
                        <a:latin typeface="Cambria Math"/>
                        <a:ea typeface="Cambria Math"/>
                        <a:cs typeface="Cambria Math"/>
                      </a:rPr>
                      <m:t>)≔</m:t>
                    </m:r>
                    <m:d>
                      <m:dPr>
                        <m:ctrlPr>
                          <a:rPr lang="en-GB" sz="2900" smtClean="0">
                            <a:solidFill>
                              <a:srgbClr val="087F83"/>
                            </a:solidFill>
                            <a:latin typeface="Cambria Math"/>
                            <a:ea typeface="Cambria Math"/>
                            <a:cs typeface="Cambria Math"/>
                          </a:rPr>
                        </m:ctrlPr>
                      </m:dPr>
                      <m:e>
                        <m:r>
                          <m:rPr>
                            <m:sty m:val="p"/>
                          </m:rPr>
                          <a:rPr lang="en-GB" sz="2900" smtClean="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1</m:t>
                                </m:r>
                              </m:sub>
                            </m:sSub>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𝑚</m:t>
                                </m:r>
                              </m:sub>
                            </m:sSub>
                          </m:e>
                        </m:d>
                      </m:e>
                    </m:d>
                  </m:oMath>
                </a14:m>
                <a:endParaRPr lang="en-GB" sz="2900" dirty="0"/>
              </a:p>
            </p:txBody>
          </p:sp>
        </mc:Choice>
        <mc:Fallback xmlns="">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noRot="1" noChangeAspect="1" noMove="1" noResize="1" noEditPoints="1" noAdjustHandles="1" noChangeArrowheads="1" noChangeShapeType="1" noTextEdit="1"/>
              </p:cNvSpPr>
              <p:nvPr/>
            </p:nvSpPr>
            <p:spPr>
              <a:xfrm>
                <a:off x="428625" y="4171950"/>
                <a:ext cx="11430000" cy="952500"/>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68619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03C39BD-9749-4001-8C81-D6D988DF918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a:t>
            </a:r>
            <a:r>
              <a:rPr lang="it-IT" sz="3300" b="1" dirty="0">
                <a:solidFill>
                  <a:srgbClr val="182D45"/>
                </a:solidFill>
                <a:latin typeface="DejaVu Sans"/>
                <a:ea typeface="DejaVu Sans"/>
                <a:cs typeface="DejaVu Sans"/>
              </a:rPr>
              <a:t> can</a:t>
            </a:r>
            <a:r>
              <a:rPr sz="3300" b="1" dirty="0">
                <a:solidFill>
                  <a:srgbClr val="182D45"/>
                </a:solidFill>
                <a:latin typeface="DejaVu Sans"/>
                <a:ea typeface="DejaVu Sans"/>
                <a:cs typeface="DejaVu Sans"/>
              </a:rPr>
              <a:t> change the feature functions</a:t>
            </a:r>
          </a:p>
        </p:txBody>
      </p:sp>
      <p:sp>
        <p:nvSpPr>
          <p:cNvPr id="3" name="lead">
            <a:extLst>
              <a:ext uri="{FF2B5EF4-FFF2-40B4-BE49-F238E27FC236}">
                <a16:creationId xmlns:a16="http://schemas.microsoft.com/office/drawing/2014/main" id="{DEC02672-B017-45E5-BA05-602708D5FAE2}"/>
              </a:ext>
            </a:extLst>
          </p:cNvPr>
          <p:cNvSpPr>
            <a:spLocks noGrp="1"/>
          </p:cNvSpPr>
          <p:nvPr/>
        </p:nvSpPr>
        <p:spPr>
          <a:xfrm>
            <a:off x="523875" y="1000125"/>
            <a:ext cx="11144250" cy="590550"/>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An illustrative change to the first neuron's weights and bias.</a:t>
            </a:r>
          </a:p>
        </p:txBody>
      </p:sp>
      <p:sp>
        <p:nvSpPr>
          <p:cNvPr id="4" name="original_heading">
            <a:extLst>
              <a:ext uri="{FF2B5EF4-FFF2-40B4-BE49-F238E27FC236}">
                <a16:creationId xmlns:a16="http://schemas.microsoft.com/office/drawing/2014/main" id="{E5B29505-5CB6-4788-8ECE-639579089696}"/>
              </a:ext>
            </a:extLst>
          </p:cNvPr>
          <p:cNvSpPr>
            <a:spLocks noGrp="1"/>
          </p:cNvSpPr>
          <p:nvPr/>
        </p:nvSpPr>
        <p:spPr>
          <a:xfrm>
            <a:off x="685800"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Original parameters</a:t>
            </a:r>
          </a:p>
        </p:txBody>
      </p:sp>
      <p:sp>
        <p:nvSpPr>
          <p:cNvPr id="5" name="changed_heading">
            <a:extLst>
              <a:ext uri="{FF2B5EF4-FFF2-40B4-BE49-F238E27FC236}">
                <a16:creationId xmlns:a16="http://schemas.microsoft.com/office/drawing/2014/main" id="{4FAED998-04D0-4968-8387-1F02FD01D336}"/>
              </a:ext>
            </a:extLst>
          </p:cNvPr>
          <p:cNvSpPr>
            <a:spLocks noGrp="1"/>
          </p:cNvSpPr>
          <p:nvPr/>
        </p:nvSpPr>
        <p:spPr>
          <a:xfrm>
            <a:off x="6391275"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Changed parameters</a:t>
            </a:r>
          </a:p>
        </p:txBody>
      </p:sp>
      <mc:AlternateContent xmlns:mc="http://schemas.openxmlformats.org/markup-compatibility/2006" xmlns:a14="http://schemas.microsoft.com/office/drawing/2010/main">
        <mc:Choice Requires="a14">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p:cNvSpPr>
              <p:nvPr/>
            </p:nvSpPr>
            <p:spPr>
              <a:xfrm>
                <a:off x="561975"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oMath>
                  </m:oMathPara>
                </a14:m>
                <a:endParaRPr lang="en-GB" sz="2600" dirty="0"/>
              </a:p>
            </p:txBody>
          </p:sp>
        </mc:Choice>
        <mc:Fallback xmlns="">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noRot="1" noChangeAspect="1" noMove="1" noResize="1" noEditPoints="1" noAdjustHandles="1" noChangeArrowheads="1" noChangeShapeType="1" noTextEdit="1"/>
              </p:cNvSpPr>
              <p:nvPr/>
            </p:nvSpPr>
            <p:spPr>
              <a:xfrm>
                <a:off x="561975" y="1971675"/>
                <a:ext cx="5381625" cy="4572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p:cNvSpPr>
              <p:nvPr/>
            </p:nvSpPr>
            <p:spPr>
              <a:xfrm>
                <a:off x="6286500"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acc>
                            <m:accPr>
                              <m:chr m:val="̃"/>
                              <m:ctrlPr>
                                <a:rPr lang="en-GB" sz="2600">
                                  <a:solidFill>
                                    <a:srgbClr val="087F83"/>
                                  </a:solidFill>
                                  <a:latin typeface="Cambria Math"/>
                                  <a:ea typeface="Cambria Math"/>
                                  <a:cs typeface="Cambria Math"/>
                                </a:rPr>
                              </m:ctrlPr>
                            </m:accPr>
                            <m:e>
                              <m:r>
                                <a:rPr lang="en-GB" sz="2600">
                                  <a:solidFill>
                                    <a:srgbClr val="087F83"/>
                                  </a:solidFill>
                                  <a:latin typeface="Cambria Math"/>
                                  <a:ea typeface="Cambria Math"/>
                                  <a:cs typeface="Cambria Math"/>
                                </a:rPr>
                                <m:t>𝜙</m:t>
                              </m:r>
                            </m:e>
                          </m:acc>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e>
                      </m:d>
                    </m:oMath>
                  </m:oMathPara>
                </a14:m>
                <a:endParaRPr lang="en-GB" sz="2600" dirty="0"/>
              </a:p>
            </p:txBody>
          </p:sp>
        </mc:Choice>
        <mc:Fallback xmlns="">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noRot="1" noChangeAspect="1" noMove="1" noResize="1" noEditPoints="1" noAdjustHandles="1" noChangeArrowheads="1" noChangeShapeType="1" noTextEdit="1"/>
              </p:cNvSpPr>
              <p:nvPr/>
            </p:nvSpPr>
            <p:spPr>
              <a:xfrm>
                <a:off x="6286500" y="1971675"/>
                <a:ext cx="5381625" cy="4572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riginal_parameters" descr="(W_{11},W_{21},b_1)=(1,-1,0)">
                <a:extLst>
                  <a:ext uri="{FF2B5EF4-FFF2-40B4-BE49-F238E27FC236}">
                    <a16:creationId xmlns:a16="http://schemas.microsoft.com/office/drawing/2014/main" id="{D087AFF9-B802-4B00-8D59-75385B481676}"/>
                  </a:ext>
                </a:extLst>
              </p:cNvPr>
              <p:cNvSpPr>
                <a:spLocks noGrp="1"/>
              </p:cNvSpPr>
              <p:nvPr/>
            </p:nvSpPr>
            <p:spPr>
              <a:xfrm>
                <a:off x="523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=(1,−1,0)</m:t>
                      </m:r>
                    </m:oMath>
                  </m:oMathPara>
                </a14:m>
                <a:endParaRPr lang="en-GB" sz="2000" dirty="0"/>
              </a:p>
            </p:txBody>
          </p:sp>
        </mc:Choice>
        <mc:Fallback xmlns="">
          <p:sp>
            <p:nvSpPr>
              <p:cNvPr id="8" name="original_parameters" descr="(W_{11},W_{21},b_1)=(1,-1,0)">
                <a:extLst>
                  <a:ext uri="{FF2B5EF4-FFF2-40B4-BE49-F238E27FC236}">
                    <a16:creationId xmlns:a16="http://schemas.microsoft.com/office/drawing/2014/main" id="{D087AFF9-B802-4B00-8D59-75385B481676}"/>
                  </a:ext>
                </a:extLst>
              </p:cNvPr>
              <p:cNvSpPr>
                <a:spLocks noGrp="1" noRot="1" noChangeAspect="1" noMove="1" noResize="1" noEditPoints="1" noAdjustHandles="1" noChangeArrowheads="1" noChangeShapeType="1" noTextEdit="1"/>
              </p:cNvSpPr>
              <p:nvPr/>
            </p:nvSpPr>
            <p:spPr>
              <a:xfrm>
                <a:off x="523875" y="2409825"/>
                <a:ext cx="5476875" cy="352425"/>
              </a:xfrm>
              <a:prstGeom prst="rect">
                <a:avLst/>
              </a:prstGeom>
              <a:blipFill>
                <a:blip r:embed="rId5"/>
                <a:stretch>
                  <a:fillRect b="-2413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hanged_parameters" descr="(W_{11},W_{21},b_1)=(1,1,-1)">
                <a:extLst>
                  <a:ext uri="{FF2B5EF4-FFF2-40B4-BE49-F238E27FC236}">
                    <a16:creationId xmlns:a16="http://schemas.microsoft.com/office/drawing/2014/main" id="{C2AB45DB-7880-4938-9D27-6246F071AD1C}"/>
                  </a:ext>
                </a:extLst>
              </p:cNvPr>
              <p:cNvSpPr>
                <a:spLocks noGrp="1"/>
              </p:cNvSpPr>
              <p:nvPr/>
            </p:nvSpPr>
            <p:spPr>
              <a:xfrm>
                <a:off x="6238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m:t>
                      </m:r>
                      <m:d>
                        <m:dPr>
                          <m:ctrlPr>
                            <a:rPr lang="en-GB" sz="2000">
                              <a:solidFill>
                                <a:srgbClr val="526276"/>
                              </a:solidFill>
                              <a:latin typeface="Cambria Math"/>
                              <a:ea typeface="Cambria Math"/>
                              <a:cs typeface="Cambria Math"/>
                            </a:rPr>
                          </m:ctrlPr>
                        </m:dPr>
                        <m:e>
                          <m:r>
                            <a:rPr lang="en-GB" sz="2000">
                              <a:solidFill>
                                <a:srgbClr val="526276"/>
                              </a:solidFill>
                              <a:latin typeface="Cambria Math"/>
                              <a:ea typeface="Cambria Math"/>
                              <a:cs typeface="Cambria Math"/>
                            </a:rPr>
                            <m:t>1,1,−1</m:t>
                          </m:r>
                        </m:e>
                      </m:d>
                    </m:oMath>
                  </m:oMathPara>
                </a14:m>
                <a:endParaRPr lang="en-GB" sz="2000" dirty="0"/>
              </a:p>
            </p:txBody>
          </p:sp>
        </mc:Choice>
        <mc:Fallback xmlns="">
          <p:sp>
            <p:nvSpPr>
              <p:cNvPr id="9" name="changed_parameters" descr="(W_{11},W_{21},b_1)=(1,1,-1)">
                <a:extLst>
                  <a:ext uri="{FF2B5EF4-FFF2-40B4-BE49-F238E27FC236}">
                    <a16:creationId xmlns:a16="http://schemas.microsoft.com/office/drawing/2014/main" id="{C2AB45DB-7880-4938-9D27-6246F071AD1C}"/>
                  </a:ext>
                </a:extLst>
              </p:cNvPr>
              <p:cNvSpPr>
                <a:spLocks noGrp="1" noRot="1" noChangeAspect="1" noMove="1" noResize="1" noEditPoints="1" noAdjustHandles="1" noChangeArrowheads="1" noChangeShapeType="1" noTextEdit="1"/>
              </p:cNvSpPr>
              <p:nvPr/>
            </p:nvSpPr>
            <p:spPr>
              <a:xfrm>
                <a:off x="6238875" y="2409825"/>
                <a:ext cx="5476875" cy="352425"/>
              </a:xfrm>
              <a:prstGeom prst="rect">
                <a:avLst/>
              </a:prstGeom>
              <a:blipFill>
                <a:blip r:embed="rId6"/>
                <a:stretch>
                  <a:fillRect b="-6897"/>
                </a:stretch>
              </a:blipFill>
              <a:ln w="0">
                <a:noFill/>
              </a:ln>
            </p:spPr>
            <p:txBody>
              <a:bodyPr/>
              <a:lstStyle/>
              <a:p>
                <a:r>
                  <a:rPr lang="it-IT">
                    <a:noFill/>
                  </a:rPr>
                  <a:t> </a:t>
                </a:r>
              </a:p>
            </p:txBody>
          </p:sp>
        </mc:Fallback>
      </mc:AlternateContent>
      <p:pic>
        <p:nvPicPr>
          <p:cNvPr id="10" name="Immagine 9" descr="Two heatmaps of the first hidden feature, with both input axes from 0 to 3 and a shared colour scale from 0 to 5. Left: ReLU(x1-x2), boundary x1=x2. Right: ReLU(x1+x2-1), boundary x1+x2=1. White regions are inactive. The input (1,2) lies inside both plots. Boundary equations are offset from the lines."/>
          <p:cNvPicPr>
            <a:picLocks noChangeAspect="1"/>
          </p:cNvPicPr>
          <p:nvPr/>
        </p:nvPicPr>
        <p:blipFill>
          <a:blip r:embed="rId7"/>
          <a:stretch/>
        </p:blipFill>
        <p:spPr>
          <a:xfrm>
            <a:off x="381000" y="2792412"/>
            <a:ext cx="11430000" cy="2968625"/>
          </a:xfrm>
          <a:prstGeom prst="rect">
            <a:avLst/>
          </a:prstGeom>
        </p:spPr>
      </p:pic>
      <mc:AlternateContent xmlns:mc="http://schemas.openxmlformats.org/markup-compatibility/2006" xmlns:a14="http://schemas.microsoft.com/office/drawing/2010/main">
        <mc:Choice Requires="a14">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p:cNvSpPr>
              <p:nvPr/>
            </p:nvSpPr>
            <p:spPr>
              <a:xfrm>
                <a:off x="381000" y="573405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𝐱</m:t>
                      </m:r>
                      <m:r>
                        <a:rPr lang="en-GB" sz="2500" smtClean="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1,2</m:t>
                          </m:r>
                        </m:e>
                      </m:d>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=0 ⟶ </m:t>
                      </m:r>
                      <m:sSub>
                        <m:sSubPr>
                          <m:ctrlPr>
                            <a:rPr lang="en-GB" sz="2500" i="1">
                              <a:solidFill>
                                <a:srgbClr val="087F83"/>
                              </a:solidFill>
                              <a:latin typeface="Cambria Math" panose="02040503050406030204" pitchFamily="18" charset="0"/>
                              <a:ea typeface="Cambria Math"/>
                              <a:cs typeface="Cambria Math"/>
                            </a:rPr>
                          </m:ctrlPr>
                        </m:sSub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𝜙</m:t>
                              </m:r>
                            </m:e>
                          </m:acc>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=2</m:t>
                      </m:r>
                    </m:oMath>
                  </m:oMathPara>
                </a14:m>
                <a:endParaRPr lang="en-GB" sz="2500" dirty="0"/>
              </a:p>
            </p:txBody>
          </p:sp>
        </mc:Choice>
        <mc:Fallback xmlns="">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noRot="1" noChangeAspect="1" noMove="1" noResize="1" noEditPoints="1" noAdjustHandles="1" noChangeArrowheads="1" noChangeShapeType="1" noTextEdit="1"/>
              </p:cNvSpPr>
              <p:nvPr/>
            </p:nvSpPr>
            <p:spPr>
              <a:xfrm>
                <a:off x="381000" y="5734050"/>
                <a:ext cx="11430000" cy="504825"/>
              </a:xfrm>
              <a:prstGeom prst="rect">
                <a:avLst/>
              </a:prstGeom>
              <a:blipFill>
                <a:blip r:embed="rId8"/>
                <a:stretch>
                  <a:fillRect/>
                </a:stretch>
              </a:blipFill>
              <a:ln w="0">
                <a:noFill/>
              </a:ln>
            </p:spPr>
            <p:txBody>
              <a:bodyPr/>
              <a:lstStyle/>
              <a:p>
                <a:r>
                  <a:rPr lang="it-IT">
                    <a:noFill/>
                  </a:rPr>
                  <a:t> </a:t>
                </a:r>
              </a:p>
            </p:txBody>
          </p:sp>
        </mc:Fallback>
      </mc:AlternateContent>
      <p:sp>
        <p:nvSpPr>
          <p:cNvPr id="12" name="takeaway">
            <a:extLst>
              <a:ext uri="{FF2B5EF4-FFF2-40B4-BE49-F238E27FC236}">
                <a16:creationId xmlns:a16="http://schemas.microsoft.com/office/drawing/2014/main" id="{2C4466A9-74E3-424E-A233-D0FCBCC771EE}"/>
              </a:ext>
            </a:extLst>
          </p:cNvPr>
          <p:cNvSpPr>
            <a:spLocks noGrp="1"/>
          </p:cNvSpPr>
          <p:nvPr/>
        </p:nvSpPr>
        <p:spPr>
          <a:xfrm>
            <a:off x="476250" y="6200775"/>
            <a:ext cx="11239500" cy="32385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input stays the same, but the feature value changes.</a:t>
            </a:r>
          </a:p>
        </p:txBody>
      </p:sp>
      <p:sp>
        <p:nvSpPr>
          <p:cNvPr id="13" name="footer_course">
            <a:extLst>
              <a:ext uri="{FF2B5EF4-FFF2-40B4-BE49-F238E27FC236}">
                <a16:creationId xmlns:a16="http://schemas.microsoft.com/office/drawing/2014/main" id="{EA83D1E2-B06A-45A3-A79F-7D6AF8000AF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4" name="footer_number">
            <a:extLst>
              <a:ext uri="{FF2B5EF4-FFF2-40B4-BE49-F238E27FC236}">
                <a16:creationId xmlns:a16="http://schemas.microsoft.com/office/drawing/2014/main" id="{1E82CDAA-1FED-4978-ABE0-DBA8F6C4874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p:spTree>
    <p:extLst>
      <p:ext uri="{BB962C8B-B14F-4D97-AF65-F5344CB8AC3E}">
        <p14:creationId xmlns:p14="http://schemas.microsoft.com/office/powerpoint/2010/main" val="1181343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 with multiple </a:t>
            </a:r>
            <a:r>
              <a:rPr lang="it-IT" sz="3100" b="1" dirty="0" err="1">
                <a:solidFill>
                  <a:srgbClr val="182D45"/>
                </a:solidFill>
                <a:latin typeface="DejaVu Sans"/>
                <a:ea typeface="DejaVu Sans"/>
                <a:cs typeface="DejaVu Sans"/>
              </a:rPr>
              <a:t>hidden</a:t>
            </a:r>
            <a:r>
              <a:rPr lang="it-IT" sz="3100" b="1" dirty="0">
                <a:solidFill>
                  <a:srgbClr val="182D45"/>
                </a:solidFill>
                <a:latin typeface="DejaVu Sans"/>
                <a:ea typeface="DejaVu Sans"/>
                <a:cs typeface="DejaVu Sans"/>
              </a:rPr>
              <a:t> </a:t>
            </a:r>
            <a:r>
              <a:rPr lang="it-IT" sz="3100" b="1" dirty="0" err="1">
                <a:solidFill>
                  <a:srgbClr val="182D45"/>
                </a:solidFill>
                <a:latin typeface="DejaVu Sans"/>
                <a:ea typeface="DejaVu Sans"/>
                <a:cs typeface="DejaVu Sans"/>
              </a:rPr>
              <a:t>layers</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381000" y="885825"/>
                <a:ext cx="11430000" cy="762000"/>
              </a:xfrm>
              <a:prstGeom prst="rect">
                <a:avLst/>
              </a:prstGeom>
              <a:noFill/>
              <a:ln w="0">
                <a:noFill/>
              </a:ln>
            </p:spPr>
            <p:txBody>
              <a:bodyPr wrap="none" lIns="0" tIns="0" rIns="0" bIns="0" anchor="ctr">
                <a:noAutofit/>
              </a:bodyPr>
              <a:lstStyle/>
              <a:p>
                <a:pPr algn="ctr">
                  <a:lnSpc>
                    <a:spcPts val="2500"/>
                  </a:lnSpc>
                </a:pPr>
                <a:r>
                  <a:rPr lang="en-GB" sz="1900" b="0" dirty="0">
                    <a:solidFill>
                      <a:srgbClr val="FF0000"/>
                    </a:solidFill>
                    <a:latin typeface="DejaVu Sans"/>
                  </a:rPr>
                  <a:t>Width </a:t>
                </a:r>
                <a14:m>
                  <m:oMath xmlns:m="http://schemas.openxmlformats.org/officeDocument/2006/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𝑚</m:t>
                        </m:r>
                      </m:e>
                      <m:sub>
                        <m:r>
                          <a:rPr lang="en-GB" sz="1900">
                            <a:solidFill>
                              <a:srgbClr val="182D45"/>
                            </a:solidFill>
                            <a:latin typeface="Cambria Math"/>
                            <a:ea typeface="Cambria Math"/>
                            <a:cs typeface="Cambria Math"/>
                          </a:rPr>
                          <m:t>𝑟</m:t>
                        </m:r>
                      </m:sub>
                    </m:sSub>
                  </m:oMath>
                </a14:m>
                <a:r>
                  <a:rPr lang="en-GB" sz="1900" b="0" dirty="0">
                    <a:solidFill>
                      <a:srgbClr val="182D45"/>
                    </a:solidFill>
                    <a:latin typeface="DejaVu Sans"/>
                  </a:rPr>
                  <a:t>: the number of neurons in layer </a:t>
                </a:r>
                <a14:m>
                  <m:oMath xmlns:m="http://schemas.openxmlformats.org/officeDocument/2006/math">
                    <m:r>
                      <a:rPr lang="en-GB" sz="1900">
                        <a:solidFill>
                          <a:srgbClr val="182D45"/>
                        </a:solidFill>
                        <a:latin typeface="Cambria Math"/>
                        <a:ea typeface="Cambria Math"/>
                        <a:cs typeface="Cambria Math"/>
                      </a:rPr>
                      <m:t>𝑟</m:t>
                    </m:r>
                  </m:oMath>
                </a14:m>
                <a:r>
                  <a:rPr lang="en-GB" sz="1900" b="0" dirty="0">
                    <a:solidFill>
                      <a:srgbClr val="182D45"/>
                    </a:solidFill>
                    <a:latin typeface="DejaVu Sans"/>
                  </a:rPr>
                  <a:t>.</a:t>
                </a:r>
              </a:p>
              <a:p>
                <a:pPr algn="ctr">
                  <a:lnSpc>
                    <a:spcPts val="2500"/>
                  </a:lnSpc>
                </a:pPr>
                <a:r>
                  <a:rPr lang="en-GB" sz="1900" dirty="0">
                    <a:solidFill>
                      <a:srgbClr val="526276"/>
                    </a:solidFill>
                    <a:latin typeface="DejaVu Sans"/>
                  </a:rPr>
                  <a:t>By convention,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0</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𝑑</m:t>
                    </m:r>
                  </m:oMath>
                </a14:m>
                <a:r>
                  <a:rPr lang="en-GB" sz="1900" dirty="0">
                    <a:solidFill>
                      <a:srgbClr val="526276"/>
                    </a:solidFill>
                    <a:latin typeface="DejaVu Sans"/>
                  </a:rPr>
                  <a:t> is the </a:t>
                </a:r>
                <a:r>
                  <a:rPr lang="en-GB" sz="1900" dirty="0">
                    <a:solidFill>
                      <a:srgbClr val="FF0000"/>
                    </a:solidFill>
                    <a:latin typeface="DejaVu Sans"/>
                  </a:rPr>
                  <a:t>input dimension </a:t>
                </a:r>
                <a:r>
                  <a:rPr lang="en-GB" sz="1900" dirty="0">
                    <a:solidFill>
                      <a:srgbClr val="526276"/>
                    </a:solidFill>
                    <a:latin typeface="DejaVu Sans"/>
                  </a:rPr>
                  <a:t>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𝑞</m:t>
                    </m:r>
                  </m:oMath>
                </a14:m>
                <a:r>
                  <a:rPr lang="en-GB" sz="1900" dirty="0">
                    <a:solidFill>
                      <a:srgbClr val="526276"/>
                    </a:solidFill>
                    <a:latin typeface="DejaVu Sans"/>
                  </a:rPr>
                  <a:t> the </a:t>
                </a:r>
                <a:r>
                  <a:rPr lang="en-GB" sz="1900" dirty="0">
                    <a:solidFill>
                      <a:srgbClr val="FF0000"/>
                    </a:solidFill>
                    <a:latin typeface="DejaVu Sans"/>
                  </a:rPr>
                  <a:t>output dimension</a:t>
                </a:r>
                <a:r>
                  <a:rPr lang="en-GB" sz="1900" dirty="0">
                    <a:solidFill>
                      <a:srgbClr val="526276"/>
                    </a:solidFill>
                    <a:latin typeface="DejaVu Sans"/>
                  </a:rPr>
                  <a:t>.</a:t>
                </a:r>
                <a:endParaRPr lang="en-GB" sz="1900" dirty="0"/>
              </a:p>
              <a:p>
                <a:pPr algn="ctr">
                  <a:lnSpc>
                    <a:spcPts val="2500"/>
                  </a:lnSpc>
                </a:pPr>
                <a:r>
                  <a:rPr lang="en-GB" sz="1900" b="0" dirty="0">
                    <a:solidFill>
                      <a:srgbClr val="FF0000"/>
                    </a:solidFill>
                    <a:latin typeface="DejaVu Sans"/>
                  </a:rPr>
                  <a:t>Depth </a:t>
                </a:r>
                <a14:m>
                  <m:oMath xmlns:m="http://schemas.openxmlformats.org/officeDocument/2006/math">
                    <m:r>
                      <a:rPr lang="en-GB" sz="1900">
                        <a:solidFill>
                          <a:srgbClr val="182D45"/>
                        </a:solidFill>
                        <a:latin typeface="Cambria Math"/>
                        <a:ea typeface="Cambria Math"/>
                        <a:cs typeface="Cambria Math"/>
                      </a:rPr>
                      <m:t>𝐿</m:t>
                    </m:r>
                  </m:oMath>
                </a14:m>
                <a:r>
                  <a:rPr lang="en-GB" sz="1900" b="0" dirty="0">
                    <a:solidFill>
                      <a:srgbClr val="182D45"/>
                    </a:solidFill>
                    <a:latin typeface="DejaVu Sans"/>
                  </a:rPr>
                  <a:t>: the number of layers, counting the output but excluding the input.</a:t>
                </a:r>
                <a:endParaRPr lang="en-GB" sz="1900" dirty="0"/>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381000" y="885825"/>
                <a:ext cx="11430000" cy="762000"/>
              </a:xfrm>
              <a:prstGeom prst="rect">
                <a:avLst/>
              </a:prstGeom>
              <a:blipFill>
                <a:blip r:embed="rId2"/>
                <a:stretch>
                  <a:fillRect t="-21600" b="-29600"/>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88" name="network_caption_0">
                <a:extLst>
                  <a:ext uri="{FF2B5EF4-FFF2-40B4-BE49-F238E27FC236}">
                    <a16:creationId xmlns:a16="http://schemas.microsoft.com/office/drawing/2014/main" id="{386FC55F-75D8-40DB-BD3D-7F5B7E7A4677}"/>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Input:</a:t>
                </a:r>
                <a:endParaRPr lang="en-GB" sz="1800" dirty="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dirty="0">
                    <a:solidFill>
                      <a:srgbClr val="182D45"/>
                    </a:solidFill>
                    <a:latin typeface="DejaVu Sans"/>
                  </a:rPr>
                  <a:t> coordinates</a:t>
                </a:r>
                <a:endParaRPr lang="en-GB" sz="1800" dirty="0"/>
              </a:p>
            </p:txBody>
          </p:sp>
        </mc:Choice>
        <mc:Fallback xmlns="">
          <p:sp>
            <p:nvSpPr>
              <p:cNvPr id="88" name="network_caption_0">
                <a:extLst>
                  <a:ext uri="{FF2B5EF4-FFF2-40B4-BE49-F238E27FC236}">
                    <a16:creationId xmlns:a16="http://schemas.microsoft.com/office/drawing/2014/main" id="{386FC55F-75D8-40DB-BD3D-7F5B7E7A4677}"/>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3"/>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network_caption_1">
                <a:extLst>
                  <a:ext uri="{FF2B5EF4-FFF2-40B4-BE49-F238E27FC236}">
                    <a16:creationId xmlns:a16="http://schemas.microsoft.com/office/drawing/2014/main" id="{972C6CF3-42DE-43C4-A4DC-CDCC5B411D4F}"/>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Hidden layer 1:</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dirty="0"/>
              </a:p>
            </p:txBody>
          </p:sp>
        </mc:Choice>
        <mc:Fallback xmlns="">
          <p:sp>
            <p:nvSpPr>
              <p:cNvPr id="89" name="network_caption_1">
                <a:extLst>
                  <a:ext uri="{FF2B5EF4-FFF2-40B4-BE49-F238E27FC236}">
                    <a16:creationId xmlns:a16="http://schemas.microsoft.com/office/drawing/2014/main" id="{972C6CF3-42DE-43C4-A4DC-CDCC5B411D4F}"/>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4"/>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network_caption_2">
                <a:extLst>
                  <a:ext uri="{FF2B5EF4-FFF2-40B4-BE49-F238E27FC236}">
                    <a16:creationId xmlns:a16="http://schemas.microsoft.com/office/drawing/2014/main" id="{0F457F3F-5C5D-4B35-BE62-81517E7CE3F8}"/>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Hidden layer 2:</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dirty="0"/>
              </a:p>
            </p:txBody>
          </p:sp>
        </mc:Choice>
        <mc:Fallback xmlns="">
          <p:sp>
            <p:nvSpPr>
              <p:cNvPr id="90" name="network_caption_2">
                <a:extLst>
                  <a:ext uri="{FF2B5EF4-FFF2-40B4-BE49-F238E27FC236}">
                    <a16:creationId xmlns:a16="http://schemas.microsoft.com/office/drawing/2014/main" id="{0F457F3F-5C5D-4B35-BE62-81517E7CE3F8}"/>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5"/>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network_caption_3">
                <a:extLst>
                  <a:ext uri="{FF2B5EF4-FFF2-40B4-BE49-F238E27FC236}">
                    <a16:creationId xmlns:a16="http://schemas.microsoft.com/office/drawing/2014/main" id="{DEB8C583-82F5-4C2B-A558-EC613127E434}"/>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Output layer </a:t>
                </a:r>
                <a14:m>
                  <m:oMath xmlns:m="http://schemas.openxmlformats.org/officeDocument/2006/math">
                    <m:r>
                      <a:rPr lang="en-GB" sz="1800">
                        <a:solidFill>
                          <a:srgbClr val="182D45"/>
                        </a:solidFill>
                        <a:latin typeface="Cambria Math"/>
                        <a:ea typeface="Cambria Math"/>
                        <a:cs typeface="Cambria Math"/>
                      </a:rPr>
                      <m:t>𝐿</m:t>
                    </m:r>
                    <m:r>
                      <a:rPr lang="en-GB" sz="1800">
                        <a:solidFill>
                          <a:srgbClr val="182D45"/>
                        </a:solidFill>
                        <a:latin typeface="Cambria Math"/>
                        <a:ea typeface="Cambria Math"/>
                        <a:cs typeface="Cambria Math"/>
                      </a:rPr>
                      <m:t>=3</m:t>
                    </m:r>
                  </m:oMath>
                </a14:m>
                <a:r>
                  <a:rPr lang="en-GB" sz="1800" b="0" dirty="0">
                    <a:solidFill>
                      <a:srgbClr val="182D45"/>
                    </a:solidFill>
                    <a:latin typeface="DejaVu Sans"/>
                  </a:rPr>
                  <a:t>:</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dirty="0"/>
              </a:p>
            </p:txBody>
          </p:sp>
        </mc:Choice>
        <mc:Fallback xmlns="">
          <p:sp>
            <p:nvSpPr>
              <p:cNvPr id="91" name="network_caption_3">
                <a:extLst>
                  <a:ext uri="{FF2B5EF4-FFF2-40B4-BE49-F238E27FC236}">
                    <a16:creationId xmlns:a16="http://schemas.microsoft.com/office/drawing/2014/main" id="{DEB8C583-82F5-4C2B-A558-EC613127E434}"/>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6"/>
                <a:stretch>
                  <a:fillRect t="-14894" b="-22340"/>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p:sp>
        <p:nvSpPr>
          <p:cNvPr id="97" name="depth_example"/>
          <p:cNvSpPr txBox="1"/>
          <p:nvPr/>
        </p:nvSpPr>
        <p:spPr>
          <a:xfrm>
            <a:off x="342900" y="4648200"/>
            <a:ext cx="11525250" cy="619125"/>
          </a:xfrm>
          <a:prstGeom prst="rect">
            <a:avLst/>
          </a:prstGeom>
          <a:noFill/>
          <a:ln w="0">
            <a:noFill/>
          </a:ln>
        </p:spPr>
        <p:txBody>
          <a:bodyPr wrap="none" lIns="0" tIns="0" rIns="0" bIns="0" anchor="ctr">
            <a:noAutofit/>
          </a:bodyPr>
          <a:lstStyle/>
          <a:p>
            <a:pPr algn="ctr">
              <a:lnSpc>
                <a:spcPts val="2300"/>
              </a:lnSpc>
            </a:pPr>
            <a:r>
              <a:rPr lang="en-GB" sz="1875" b="0" dirty="0">
                <a:solidFill>
                  <a:srgbClr val="182D45"/>
                </a:solidFill>
                <a:latin typeface="DejaVu Sans"/>
              </a:rPr>
              <a:t>Each additional hidden layer uses the previous layer’s </a:t>
            </a:r>
            <a:r>
              <a:rPr lang="en-GB" sz="1875" b="0" dirty="0">
                <a:solidFill>
                  <a:srgbClr val="FF0000"/>
                </a:solidFill>
                <a:latin typeface="DejaVu Sans"/>
              </a:rPr>
              <a:t>activations</a:t>
            </a:r>
            <a:r>
              <a:rPr lang="en-GB" sz="1875" b="0" dirty="0">
                <a:solidFill>
                  <a:srgbClr val="182D45"/>
                </a:solidFill>
                <a:latin typeface="DejaVu Sans"/>
              </a:rPr>
              <a:t> as inputs</a:t>
            </a:r>
            <a:r>
              <a:rPr lang="en-GB" sz="1875" dirty="0">
                <a:solidFill>
                  <a:srgbClr val="182D45"/>
                </a:solidFill>
                <a:latin typeface="DejaVu Sans"/>
              </a:rPr>
              <a:t>.</a:t>
            </a:r>
            <a:endParaRPr lang="en-GB" sz="1875" dirty="0"/>
          </a:p>
        </p:txBody>
      </p:sp>
      <p:sp>
        <p:nvSpPr>
          <p:cNvPr id="98" name="architecture_definition"/>
          <p:cNvSpPr txBox="1"/>
          <p:nvPr/>
        </p:nvSpPr>
        <p:spPr>
          <a:xfrm>
            <a:off x="317501" y="5343525"/>
            <a:ext cx="11556997" cy="619125"/>
          </a:xfrm>
          <a:prstGeom prst="rect">
            <a:avLst/>
          </a:prstGeom>
          <a:noFill/>
          <a:ln w="0">
            <a:noFill/>
          </a:ln>
        </p:spPr>
        <p:txBody>
          <a:bodyPr lIns="0" tIns="0" rIns="0" bIns="0" anchor="ctr">
            <a:noAutofit/>
          </a:bodyPr>
          <a:lstStyle/>
          <a:p>
            <a:pPr algn="ctr">
              <a:defRPr sz="1950" b="0">
                <a:solidFill>
                  <a:srgbClr val="182D45"/>
                </a:solidFill>
                <a:latin typeface="DejaVu Sans"/>
                <a:ea typeface="DejaVu Sans"/>
                <a:cs typeface="DejaVu Sans"/>
              </a:defRPr>
            </a:pPr>
            <a:r>
              <a:rPr lang="it-IT" sz="1950" b="0" dirty="0">
                <a:solidFill>
                  <a:srgbClr val="182D45"/>
                </a:solidFill>
                <a:latin typeface="DejaVu Sans"/>
                <a:ea typeface="DejaVu Sans"/>
                <a:cs typeface="DejaVu Sans"/>
              </a:rPr>
              <a:t>T</a:t>
            </a:r>
            <a:r>
              <a:rPr sz="1950" b="0" dirty="0">
                <a:solidFill>
                  <a:srgbClr val="182D45"/>
                </a:solidFill>
                <a:latin typeface="DejaVu Sans"/>
                <a:ea typeface="DejaVu Sans"/>
                <a:cs typeface="DejaVu Sans"/>
              </a:rPr>
              <a:t>he input dimension and layer widths specify the </a:t>
            </a:r>
            <a:r>
              <a:rPr sz="1950" b="0" dirty="0">
                <a:solidFill>
                  <a:srgbClr val="FF0000"/>
                </a:solidFill>
                <a:latin typeface="DejaVu Sans"/>
                <a:ea typeface="DejaVu Sans"/>
                <a:cs typeface="DejaVu Sans"/>
              </a:rPr>
              <a:t>architecture</a:t>
            </a:r>
            <a:r>
              <a:rPr sz="1950" b="0" dirty="0">
                <a:solidFill>
                  <a:srgbClr val="182D45"/>
                </a:solidFill>
                <a:latin typeface="DejaVu Sans"/>
                <a:ea typeface="DejaVu Sans"/>
                <a:cs typeface="DejaVu Sans"/>
              </a:rPr>
              <a:t>: </a:t>
            </a:r>
            <a:r>
              <a:rPr sz="1950" b="1" dirty="0">
                <a:solidFill>
                  <a:srgbClr val="182D45"/>
                </a:solidFill>
                <a:latin typeface="DejaVu Sans"/>
                <a:ea typeface="DejaVu Sans"/>
                <a:cs typeface="DejaVu Sans"/>
              </a:rPr>
              <a:t>2 → 5 → 7 → 3</a:t>
            </a:r>
            <a:r>
              <a:rPr sz="1950" b="0" dirty="0">
                <a:solidFill>
                  <a:srgbClr val="182D45"/>
                </a:solidFill>
                <a:latin typeface="DejaVu Sans"/>
                <a:ea typeface="DejaVu Sans"/>
                <a:cs typeface="DejaVu Sans"/>
              </a:rPr>
              <a:t>.</a:t>
            </a:r>
          </a:p>
        </p:txBody>
      </p:sp>
      <p:sp>
        <p:nvSpPr>
          <p:cNvPr id="99" name="architecture_parameters"/>
          <p:cNvSpPr txBox="1"/>
          <p:nvPr/>
        </p:nvSpPr>
        <p:spPr>
          <a:xfrm>
            <a:off x="381000" y="5989828"/>
            <a:ext cx="11430000" cy="571500"/>
          </a:xfrm>
          <a:prstGeom prst="rect">
            <a:avLst/>
          </a:prstGeom>
          <a:noFill/>
          <a:ln w="0">
            <a:noFill/>
          </a:ln>
        </p:spPr>
        <p:txBody>
          <a:bodyPr wrap="none" lIns="0" tIns="0" rIns="0" bIns="0" anchor="ctr">
            <a:noAutofit/>
          </a:bodyPr>
          <a:lstStyle/>
          <a:p>
            <a:pPr algn="ctr">
              <a:lnSpc>
                <a:spcPts val="2300"/>
              </a:lnSpc>
            </a:pPr>
            <a:r>
              <a:rPr lang="en-GB" sz="1750" b="0" dirty="0">
                <a:solidFill>
                  <a:srgbClr val="526276"/>
                </a:solidFill>
                <a:latin typeface="DejaVu Sans"/>
              </a:rPr>
              <a:t>The architecture fixes parameter shapes; fitting adjusts their values.</a:t>
            </a:r>
            <a:endParaRPr lang="en-GB" sz="1750" dirty="0"/>
          </a:p>
        </p:txBody>
      </p:sp>
    </p:spTree>
    <p:extLst>
      <p:ext uri="{BB962C8B-B14F-4D97-AF65-F5344CB8AC3E}">
        <p14:creationId xmlns:p14="http://schemas.microsoft.com/office/powerpoint/2010/main" val="98530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P spid="89" grpId="0"/>
      <p:bldP spid="90" grpId="0"/>
      <p:bldP spid="91" grpId="0"/>
      <p:bldP spid="98" grpId="0"/>
      <p:bldP spid="99"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p:cNvSpPr>
              <p:nvPr/>
            </p:nvSpPr>
            <p:spPr>
              <a:xfrm>
                <a:off x="285750" y="4562475"/>
                <a:ext cx="11620500" cy="428625"/>
              </a:xfrm>
              <a:prstGeom prst="rect">
                <a:avLst/>
              </a:prstGeom>
              <a:noFill/>
              <a:ln w="0">
                <a:noFill/>
              </a:ln>
            </p:spPr>
            <p:txBody>
              <a:bodyPr vertOverflow="overflow" horzOverflow="overflow" wrap="none" lIns="0" tIns="0" rIns="0" bIns="0" anchor="ctr">
                <a:noAutofit/>
              </a:bodyPr>
              <a:lstStyle/>
              <a:p>
                <a:pPr algn="ctr"/>
                <a:r>
                  <a:rPr lang="en-GB" sz="2400" dirty="0">
                    <a:solidFill>
                      <a:srgbClr val="FF0000"/>
                    </a:solidFill>
                    <a:latin typeface="DejaVu Sans"/>
                  </a:rPr>
                  <a:t>Input: </a:t>
                </a:r>
                <a14:m>
                  <m:oMath xmlns:m="http://schemas.openxmlformats.org/officeDocument/2006/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𝛟</m:t>
                        </m:r>
                      </m:e>
                      <m:sub>
                        <m:r>
                          <a:rPr lang="en-GB" sz="2400">
                            <a:solidFill>
                              <a:srgbClr val="087F83"/>
                            </a:solidFill>
                            <a:latin typeface="Cambria Math"/>
                            <a:ea typeface="Cambria Math"/>
                            <a:cs typeface="Cambria Math"/>
                          </a:rPr>
                          <m:t>0</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oMath>
                </a14:m>
                <a:endParaRPr lang="en-GB" sz="2400" dirty="0"/>
              </a:p>
            </p:txBody>
          </p:sp>
        </mc:Choice>
        <mc:Fallback xmlns="">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noRot="1" noChangeAspect="1" noMove="1" noResize="1" noEditPoints="1" noAdjustHandles="1" noChangeArrowheads="1" noChangeShapeType="1" noTextEdit="1"/>
              </p:cNvSpPr>
              <p:nvPr/>
            </p:nvSpPr>
            <p:spPr>
              <a:xfrm>
                <a:off x="285750" y="4562475"/>
                <a:ext cx="11620500" cy="428625"/>
              </a:xfrm>
              <a:prstGeom prst="rect">
                <a:avLst/>
              </a:prstGeom>
              <a:blipFill>
                <a:blip r:embed="rId3"/>
                <a:stretch>
                  <a:fillRect t="-18310" b="-3098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hidden_recursion" descr="Hidden layer hidden_recursion, r=1,\ldots,L-1">
                <a:extLst>
                  <a:ext uri="{FF2B5EF4-FFF2-40B4-BE49-F238E27FC236}">
                    <a16:creationId xmlns:a16="http://schemas.microsoft.com/office/drawing/2014/main" id="{A805226D-734D-463B-B7FE-7103B008F39B}"/>
                  </a:ext>
                </a:extLst>
              </p:cNvPr>
              <p:cNvSpPr>
                <a:spLocks noGrp="1"/>
              </p:cNvSpPr>
              <p:nvPr/>
            </p:nvSpPr>
            <p:spPr>
              <a:xfrm>
                <a:off x="285750" y="506730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Layer </a:t>
                </a:r>
                <a14:m>
                  <m:oMath xmlns:m="http://schemas.openxmlformats.org/officeDocument/2006/math">
                    <m:r>
                      <a:rPr lang="en-GB" sz="2500" b="0" i="1" dirty="0" smtClean="0">
                        <a:solidFill>
                          <a:srgbClr val="FF0000"/>
                        </a:solidFill>
                        <a:latin typeface="Cambria Math" panose="02040503050406030204" pitchFamily="18" charset="0"/>
                      </a:rPr>
                      <m:t>𝑟</m:t>
                    </m:r>
                  </m:oMath>
                </a14:m>
                <a:r>
                  <a:rPr lang="en-GB" sz="2500" b="0" dirty="0">
                    <a:solidFill>
                      <a:srgbClr val="FF0000"/>
                    </a:solidFill>
                    <a:latin typeface="DejaVu Sans"/>
                  </a:rPr>
                  <a:t> </a:t>
                </a:r>
                <a:r>
                  <a:rPr lang="en-GB" sz="2500" dirty="0">
                    <a:solidFill>
                      <a:srgbClr val="FF0000"/>
                    </a:solidFill>
                    <a:latin typeface="DejaVu Sans"/>
                  </a:rPr>
                  <a:t>p</a:t>
                </a:r>
                <a:r>
                  <a:rPr lang="en-GB" sz="2500" b="0" dirty="0">
                    <a:solidFill>
                      <a:srgbClr val="FF0000"/>
                    </a:solidFill>
                    <a:latin typeface="DejaVu Sans"/>
                  </a:rPr>
                  <a:t>reactivations: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1" smtClean="0">
                        <a:solidFill>
                          <a:srgbClr val="087F83"/>
                        </a:solidFill>
                        <a:latin typeface="Cambria Math" panose="02040503050406030204" pitchFamily="18" charset="0"/>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oMath>
                </a14:m>
                <a:endParaRPr lang="en-GB" sz="2500" dirty="0"/>
              </a:p>
            </p:txBody>
          </p:sp>
        </mc:Choice>
        <mc:Fallback xmlns="">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noRot="1" noChangeAspect="1" noMove="1" noResize="1" noEditPoints="1" noAdjustHandles="1" noChangeArrowheads="1" noChangeShapeType="1" noTextEdit="1"/>
              </p:cNvSpPr>
              <p:nvPr/>
            </p:nvSpPr>
            <p:spPr>
              <a:xfrm>
                <a:off x="285750" y="5067300"/>
                <a:ext cx="11620500" cy="409575"/>
              </a:xfrm>
              <a:prstGeom prst="rect">
                <a:avLst/>
              </a:prstGeom>
              <a:blipFill>
                <a:blip r:embed="rIdNotation20_0_10"/>
                <a:stretch>
                  <a:fillRect t="-22388" b="-4029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p:cNvSpPr>
              <p:nvPr/>
            </p:nvSpPr>
            <p:spPr>
              <a:xfrm>
                <a:off x="285750" y="601980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Output: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𝐟</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𝐿</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𝐿</m:t>
                        </m:r>
                      </m:sub>
                    </m:sSub>
                  </m:oMath>
                </a14:m>
                <a:endParaRPr lang="en-GB" sz="2500" dirty="0"/>
              </a:p>
            </p:txBody>
          </p:sp>
        </mc:Choice>
        <mc:Fallback xmlns="">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noRot="1" noChangeAspect="1" noMove="1" noResize="1" noEditPoints="1" noAdjustHandles="1" noChangeArrowheads="1" noChangeShapeType="1" noTextEdit="1"/>
              </p:cNvSpPr>
              <p:nvPr/>
            </p:nvSpPr>
            <p:spPr>
              <a:xfrm>
                <a:off x="285750" y="6019800"/>
                <a:ext cx="11620500" cy="409575"/>
              </a:xfrm>
              <a:prstGeom prst="rect">
                <a:avLst/>
              </a:prstGeom>
              <a:blipFill>
                <a:blip r:embed="rId5"/>
                <a:stretch>
                  <a:fillRect t="-23881" b="-38806"/>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mc:AlternateContent xmlns:mc="http://schemas.openxmlformats.org/markup-compatibility/2006" xmlns:a14="http://schemas.microsoft.com/office/drawing/2010/main">
        <mc:Choice Requires="a14">
          <p:sp>
            <p:nvSpPr>
              <p:cNvPr id="113" name="network_caption_0">
                <a:extLst>
                  <a:ext uri="{FF2B5EF4-FFF2-40B4-BE49-F238E27FC236}">
                    <a16:creationId xmlns:a16="http://schemas.microsoft.com/office/drawing/2014/main" id="{4A6C3825-273B-C416-6CC6-6B983BAFBBBE}"/>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Input:</a:t>
                </a:r>
                <a:endParaRPr lang="en-GB" sz="180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a:solidFill>
                      <a:srgbClr val="182D45"/>
                    </a:solidFill>
                    <a:latin typeface="DejaVu Sans"/>
                  </a:rPr>
                  <a:t> coordinates</a:t>
                </a:r>
                <a:endParaRPr lang="en-GB" sz="1800"/>
              </a:p>
            </p:txBody>
          </p:sp>
        </mc:Choice>
        <mc:Fallback xmlns="">
          <p:sp>
            <p:nvSpPr>
              <p:cNvPr id="113" name="network_caption_0">
                <a:extLst>
                  <a:ext uri="{FF2B5EF4-FFF2-40B4-BE49-F238E27FC236}">
                    <a16:creationId xmlns:a16="http://schemas.microsoft.com/office/drawing/2014/main" id="{4A6C3825-273B-C416-6CC6-6B983BAFBBBE}"/>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7"/>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network_caption_1">
                <a:extLst>
                  <a:ext uri="{FF2B5EF4-FFF2-40B4-BE49-F238E27FC236}">
                    <a16:creationId xmlns:a16="http://schemas.microsoft.com/office/drawing/2014/main" id="{91AD7A91-90A7-32DC-FB3A-9717C0AD1B8B}"/>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1:</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a:p>
            </p:txBody>
          </p:sp>
        </mc:Choice>
        <mc:Fallback xmlns="">
          <p:sp>
            <p:nvSpPr>
              <p:cNvPr id="115" name="network_caption_1">
                <a:extLst>
                  <a:ext uri="{FF2B5EF4-FFF2-40B4-BE49-F238E27FC236}">
                    <a16:creationId xmlns:a16="http://schemas.microsoft.com/office/drawing/2014/main" id="{91AD7A91-90A7-32DC-FB3A-9717C0AD1B8B}"/>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8"/>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network_caption_2">
                <a:extLst>
                  <a:ext uri="{FF2B5EF4-FFF2-40B4-BE49-F238E27FC236}">
                    <a16:creationId xmlns:a16="http://schemas.microsoft.com/office/drawing/2014/main" id="{FEB7A787-A5A9-3CA0-EC9E-90EC61DEEA6C}"/>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2:</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a:p>
            </p:txBody>
          </p:sp>
        </mc:Choice>
        <mc:Fallback xmlns="">
          <p:sp>
            <p:nvSpPr>
              <p:cNvPr id="117" name="network_caption_2">
                <a:extLst>
                  <a:ext uri="{FF2B5EF4-FFF2-40B4-BE49-F238E27FC236}">
                    <a16:creationId xmlns:a16="http://schemas.microsoft.com/office/drawing/2014/main" id="{FEB7A787-A5A9-3CA0-EC9E-90EC61DEEA6C}"/>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9"/>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hidden_activations" descr="Hidden layer hidden_activations, r=1,\ldots,L-1">
                <a:extLst>
                  <a:ext uri="{FF2B5EF4-FFF2-40B4-BE49-F238E27FC236}">
                    <a16:creationId xmlns:a16="http://schemas.microsoft.com/office/drawing/2014/main" id="{6655FCC5-8B8B-40CF-8429-8317F0E429D7}"/>
                  </a:ext>
                </a:extLst>
              </p:cNvPr>
              <p:cNvSpPr>
                <a:spLocks noGrp="1"/>
              </p:cNvSpPr>
              <p:nvPr/>
            </p:nvSpPr>
            <p:spPr>
              <a:xfrm>
                <a:off x="285750" y="554355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Layer </a:t>
                </a:r>
                <a14:m>
                  <m:oMath xmlns:m="http://schemas.openxmlformats.org/officeDocument/2006/math">
                    <m:r>
                      <a:rPr lang="en-GB" sz="2500" b="0" i="1" dirty="0" smtClean="0">
                        <a:solidFill>
                          <a:srgbClr val="FF0000"/>
                        </a:solidFill>
                        <a:latin typeface="Cambria Math" panose="02040503050406030204" pitchFamily="18" charset="0"/>
                      </a:rPr>
                      <m:t>𝑟</m:t>
                    </m:r>
                  </m:oMath>
                </a14:m>
                <a:r>
                  <a:rPr lang="en-GB" sz="2500" b="0" dirty="0">
                    <a:solidFill>
                      <a:srgbClr val="FF0000"/>
                    </a:solidFill>
                    <a:latin typeface="DejaVu Sans"/>
                  </a:rPr>
                  <a:t> activations :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𝐑𝐞𝐋𝐔</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oMath>
                </a14:m>
                <a:endParaRPr lang="en-GB" sz="2500" dirty="0"/>
              </a:p>
            </p:txBody>
          </p:sp>
        </mc:Choice>
        <mc:Fallback xmlns="">
          <p:sp>
            <p:nvSpPr>
              <p:cNvPr id="120" name="hidden_activations">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285750" y="5543550"/>
                <a:ext cx="11620500" cy="409575"/>
              </a:xfrm>
              <a:prstGeom prst="rect">
                <a:avLst/>
              </a:prstGeom>
              <a:blipFill>
                <a:blip r:embed="rIdNotation20_1_11"/>
                <a:stretch>
                  <a:fillRect t="-20588" b="-39706"/>
                </a:stretch>
              </a:blipFill>
              <a:ln w="0">
                <a:noFill/>
              </a:ln>
            </p:spPr>
            <p:txBody>
              <a:bodyPr/>
              <a:lstStyle/>
              <a:p>
                <a:r>
                  <a:rPr lang="it-IT">
                    <a:noFill/>
                  </a:rPr>
                  <a:t> </a:t>
                </a:r>
              </a:p>
            </p:txBody>
          </p:sp>
        </mc:Fallback>
      </mc:AlternateContent>
      <p:sp>
        <p:nvSpPr>
          <p:cNvPr id="88" name="title">
            <a:extLst>
              <a:ext uri="{FF2B5EF4-FFF2-40B4-BE49-F238E27FC236}">
                <a16:creationId xmlns:a16="http://schemas.microsoft.com/office/drawing/2014/main" id="{784F2E96-5A71-15CA-2D15-F0258BC18DFF}"/>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 with multiple </a:t>
            </a:r>
            <a:r>
              <a:rPr lang="it-IT" sz="3100" b="1" dirty="0" err="1">
                <a:solidFill>
                  <a:srgbClr val="182D45"/>
                </a:solidFill>
                <a:latin typeface="DejaVu Sans"/>
                <a:ea typeface="DejaVu Sans"/>
                <a:cs typeface="DejaVu Sans"/>
              </a:rPr>
              <a:t>hidden</a:t>
            </a:r>
            <a:r>
              <a:rPr lang="it-IT" sz="3100" b="1" dirty="0">
                <a:solidFill>
                  <a:srgbClr val="182D45"/>
                </a:solidFill>
                <a:latin typeface="DejaVu Sans"/>
                <a:ea typeface="DejaVu Sans"/>
                <a:cs typeface="DejaVu Sans"/>
              </a:rPr>
              <a:t> </a:t>
            </a:r>
            <a:r>
              <a:rPr lang="it-IT" sz="3100" b="1" dirty="0" err="1">
                <a:solidFill>
                  <a:srgbClr val="182D45"/>
                </a:solidFill>
                <a:latin typeface="DejaVu Sans"/>
                <a:ea typeface="DejaVu Sans"/>
                <a:cs typeface="DejaVu Sans"/>
              </a:rPr>
              <a:t>layers</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3" name="lead">
                <a:extLst>
                  <a:ext uri="{FF2B5EF4-FFF2-40B4-BE49-F238E27FC236}">
                    <a16:creationId xmlns:a16="http://schemas.microsoft.com/office/drawing/2014/main" id="{A2C19FED-93C5-E890-34A2-04526B2AF594}"/>
                  </a:ext>
                </a:extLst>
              </p:cNvPr>
              <p:cNvSpPr>
                <a:spLocks noGrp="1"/>
              </p:cNvSpPr>
              <p:nvPr/>
            </p:nvSpPr>
            <p:spPr>
              <a:xfrm>
                <a:off x="381000" y="885825"/>
                <a:ext cx="11430000" cy="762000"/>
              </a:xfrm>
              <a:prstGeom prst="rect">
                <a:avLst/>
              </a:prstGeom>
              <a:noFill/>
              <a:ln w="0">
                <a:noFill/>
              </a:ln>
            </p:spPr>
            <p:txBody>
              <a:bodyPr wrap="none" lIns="0" tIns="0" rIns="0" bIns="0" anchor="ctr">
                <a:noAutofit/>
              </a:bodyPr>
              <a:lstStyle/>
              <a:p>
                <a:pPr algn="ctr">
                  <a:lnSpc>
                    <a:spcPts val="2500"/>
                  </a:lnSpc>
                </a:pPr>
                <a:r>
                  <a:rPr lang="en-GB" sz="1900" b="0" dirty="0">
                    <a:solidFill>
                      <a:srgbClr val="FF0000"/>
                    </a:solidFill>
                    <a:latin typeface="DejaVu Sans"/>
                  </a:rPr>
                  <a:t>Width </a:t>
                </a:r>
                <a14:m>
                  <m:oMath xmlns:m="http://schemas.openxmlformats.org/officeDocument/2006/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𝑚</m:t>
                        </m:r>
                      </m:e>
                      <m:sub>
                        <m:r>
                          <a:rPr lang="en-GB" sz="1900">
                            <a:solidFill>
                              <a:srgbClr val="182D45"/>
                            </a:solidFill>
                            <a:latin typeface="Cambria Math"/>
                            <a:ea typeface="Cambria Math"/>
                            <a:cs typeface="Cambria Math"/>
                          </a:rPr>
                          <m:t>𝑟</m:t>
                        </m:r>
                      </m:sub>
                    </m:sSub>
                  </m:oMath>
                </a14:m>
                <a:r>
                  <a:rPr lang="en-GB" sz="1900" b="0" dirty="0">
                    <a:solidFill>
                      <a:srgbClr val="182D45"/>
                    </a:solidFill>
                    <a:latin typeface="DejaVu Sans"/>
                  </a:rPr>
                  <a:t>: the number of neurons in layer </a:t>
                </a:r>
                <a14:m>
                  <m:oMath xmlns:m="http://schemas.openxmlformats.org/officeDocument/2006/math">
                    <m:r>
                      <a:rPr lang="en-GB" sz="1900">
                        <a:solidFill>
                          <a:srgbClr val="182D45"/>
                        </a:solidFill>
                        <a:latin typeface="Cambria Math"/>
                        <a:ea typeface="Cambria Math"/>
                        <a:cs typeface="Cambria Math"/>
                      </a:rPr>
                      <m:t>𝑟</m:t>
                    </m:r>
                  </m:oMath>
                </a14:m>
                <a:r>
                  <a:rPr lang="en-GB" sz="1900" b="0" dirty="0">
                    <a:solidFill>
                      <a:srgbClr val="182D45"/>
                    </a:solidFill>
                    <a:latin typeface="DejaVu Sans"/>
                  </a:rPr>
                  <a:t>.</a:t>
                </a:r>
              </a:p>
              <a:p>
                <a:pPr algn="ctr">
                  <a:lnSpc>
                    <a:spcPts val="2500"/>
                  </a:lnSpc>
                </a:pPr>
                <a:r>
                  <a:rPr lang="en-GB" sz="1900" dirty="0">
                    <a:solidFill>
                      <a:srgbClr val="526276"/>
                    </a:solidFill>
                    <a:latin typeface="DejaVu Sans"/>
                  </a:rPr>
                  <a:t>By convention,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0</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𝑑</m:t>
                    </m:r>
                  </m:oMath>
                </a14:m>
                <a:r>
                  <a:rPr lang="en-GB" sz="1900" dirty="0">
                    <a:solidFill>
                      <a:srgbClr val="526276"/>
                    </a:solidFill>
                    <a:latin typeface="DejaVu Sans"/>
                  </a:rPr>
                  <a:t> is the </a:t>
                </a:r>
                <a:r>
                  <a:rPr lang="en-GB" sz="1900" dirty="0">
                    <a:solidFill>
                      <a:srgbClr val="FF0000"/>
                    </a:solidFill>
                    <a:latin typeface="DejaVu Sans"/>
                  </a:rPr>
                  <a:t>input dimension </a:t>
                </a:r>
                <a:r>
                  <a:rPr lang="en-GB" sz="1900" dirty="0">
                    <a:solidFill>
                      <a:srgbClr val="526276"/>
                    </a:solidFill>
                    <a:latin typeface="DejaVu Sans"/>
                  </a:rPr>
                  <a:t>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𝑞</m:t>
                    </m:r>
                  </m:oMath>
                </a14:m>
                <a:r>
                  <a:rPr lang="en-GB" sz="1900" dirty="0">
                    <a:solidFill>
                      <a:srgbClr val="526276"/>
                    </a:solidFill>
                    <a:latin typeface="DejaVu Sans"/>
                  </a:rPr>
                  <a:t> the </a:t>
                </a:r>
                <a:r>
                  <a:rPr lang="en-GB" sz="1900" dirty="0">
                    <a:solidFill>
                      <a:srgbClr val="FF0000"/>
                    </a:solidFill>
                    <a:latin typeface="DejaVu Sans"/>
                  </a:rPr>
                  <a:t>output dimension</a:t>
                </a:r>
                <a:r>
                  <a:rPr lang="en-GB" sz="1900" dirty="0">
                    <a:solidFill>
                      <a:srgbClr val="526276"/>
                    </a:solidFill>
                    <a:latin typeface="DejaVu Sans"/>
                  </a:rPr>
                  <a:t>.</a:t>
                </a:r>
                <a:endParaRPr lang="en-GB" sz="1900" dirty="0"/>
              </a:p>
              <a:p>
                <a:pPr algn="ctr">
                  <a:lnSpc>
                    <a:spcPts val="2500"/>
                  </a:lnSpc>
                </a:pPr>
                <a:r>
                  <a:rPr lang="en-GB" sz="1900" b="0" dirty="0">
                    <a:solidFill>
                      <a:srgbClr val="FF0000"/>
                    </a:solidFill>
                    <a:latin typeface="DejaVu Sans"/>
                  </a:rPr>
                  <a:t>Depth </a:t>
                </a:r>
                <a14:m>
                  <m:oMath xmlns:m="http://schemas.openxmlformats.org/officeDocument/2006/math">
                    <m:r>
                      <a:rPr lang="en-GB" sz="1900">
                        <a:solidFill>
                          <a:srgbClr val="182D45"/>
                        </a:solidFill>
                        <a:latin typeface="Cambria Math"/>
                        <a:ea typeface="Cambria Math"/>
                        <a:cs typeface="Cambria Math"/>
                      </a:rPr>
                      <m:t>𝐿</m:t>
                    </m:r>
                  </m:oMath>
                </a14:m>
                <a:r>
                  <a:rPr lang="en-GB" sz="1900" b="0" dirty="0">
                    <a:solidFill>
                      <a:srgbClr val="182D45"/>
                    </a:solidFill>
                    <a:latin typeface="DejaVu Sans"/>
                  </a:rPr>
                  <a:t>: the number of layers, counting the output but excluding the input.</a:t>
                </a:r>
                <a:endParaRPr lang="en-GB" sz="1900" dirty="0"/>
              </a:p>
            </p:txBody>
          </p:sp>
        </mc:Choice>
        <mc:Fallback xmlns="">
          <p:sp>
            <p:nvSpPr>
              <p:cNvPr id="3" name="lead">
                <a:extLst>
                  <a:ext uri="{FF2B5EF4-FFF2-40B4-BE49-F238E27FC236}">
                    <a16:creationId xmlns:a16="http://schemas.microsoft.com/office/drawing/2014/main" id="{A2C19FED-93C5-E890-34A2-04526B2AF594}"/>
                  </a:ext>
                </a:extLst>
              </p:cNvPr>
              <p:cNvSpPr>
                <a:spLocks noGrp="1" noRot="1" noChangeAspect="1" noMove="1" noResize="1" noEditPoints="1" noAdjustHandles="1" noChangeArrowheads="1" noChangeShapeType="1" noTextEdit="1"/>
              </p:cNvSpPr>
              <p:nvPr/>
            </p:nvSpPr>
            <p:spPr>
              <a:xfrm>
                <a:off x="381000" y="885825"/>
                <a:ext cx="11430000" cy="762000"/>
              </a:xfrm>
              <a:prstGeom prst="rect">
                <a:avLst/>
              </a:prstGeom>
              <a:blipFill>
                <a:blip r:embed="rId7"/>
                <a:stretch>
                  <a:fillRect t="-21600" b="-296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 name="network_caption_3">
                <a:extLst>
                  <a:ext uri="{FF2B5EF4-FFF2-40B4-BE49-F238E27FC236}">
                    <a16:creationId xmlns:a16="http://schemas.microsoft.com/office/drawing/2014/main" id="{6F47D461-0574-E372-7880-2381DC36B841}"/>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Output layer </a:t>
                </a:r>
                <a14:m>
                  <m:oMath xmlns:m="http://schemas.openxmlformats.org/officeDocument/2006/math">
                    <m:r>
                      <a:rPr lang="en-GB" sz="1800">
                        <a:solidFill>
                          <a:srgbClr val="182D45"/>
                        </a:solidFill>
                        <a:latin typeface="Cambria Math"/>
                        <a:ea typeface="Cambria Math"/>
                        <a:cs typeface="Cambria Math"/>
                      </a:rPr>
                      <m:t>𝐿</m:t>
                    </m:r>
                    <m:r>
                      <a:rPr lang="en-GB" sz="1800">
                        <a:solidFill>
                          <a:srgbClr val="182D45"/>
                        </a:solidFill>
                        <a:latin typeface="Cambria Math"/>
                        <a:ea typeface="Cambria Math"/>
                        <a:cs typeface="Cambria Math"/>
                      </a:rPr>
                      <m:t>=3</m:t>
                    </m:r>
                  </m:oMath>
                </a14:m>
                <a:r>
                  <a:rPr lang="en-GB" sz="1800" b="0" dirty="0">
                    <a:solidFill>
                      <a:srgbClr val="182D45"/>
                    </a:solidFill>
                    <a:latin typeface="DejaVu Sans"/>
                  </a:rPr>
                  <a:t>:</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dirty="0"/>
              </a:p>
            </p:txBody>
          </p:sp>
        </mc:Choice>
        <mc:Fallback xmlns="">
          <p:sp>
            <p:nvSpPr>
              <p:cNvPr id="2" name="network_caption_3">
                <a:extLst>
                  <a:ext uri="{FF2B5EF4-FFF2-40B4-BE49-F238E27FC236}">
                    <a16:creationId xmlns:a16="http://schemas.microsoft.com/office/drawing/2014/main" id="{6F47D461-0574-E372-7880-2381DC36B841}"/>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10"/>
                <a:stretch>
                  <a:fillRect t="-14894" b="-2234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8530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3" grpId="0"/>
      <p:bldP spid="94" grpId="0"/>
      <p:bldP spid="120"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7976EB3-E717-4304-87DD-44583264D8A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Dimensions and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2121462-FE2B-47A7-B458-089B74E6380E}"/>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600"/>
                  </a:lnSpc>
                </a:pPr>
                <a:r>
                  <a:rPr lang="en-GB" sz="2100" b="0">
                    <a:solidFill>
                      <a:srgbClr val="526276"/>
                    </a:solidFill>
                    <a:latin typeface="DejaVu Sans"/>
                  </a:rPr>
                  <a:t>For the </a:t>
                </a:r>
                <a:r>
                  <a:rPr lang="en-GB" sz="2100" b="0">
                    <a:solidFill>
                      <a:srgbClr val="FF0000"/>
                    </a:solidFill>
                    <a:latin typeface="DejaVu Sans"/>
                  </a:rPr>
                  <a:t>architecture </a:t>
                </a:r>
                <a14:m>
                  <m:oMath xmlns:m="http://schemas.openxmlformats.org/officeDocument/2006/math">
                    <m:r>
                      <a:rPr lang="en-GB" sz="2100">
                        <a:solidFill>
                          <a:srgbClr val="526276"/>
                        </a:solidFill>
                        <a:latin typeface="Cambria Math"/>
                        <a:ea typeface="Cambria Math"/>
                        <a:cs typeface="Cambria Math"/>
                      </a:rPr>
                      <m:t>2→5→7→3</m:t>
                    </m:r>
                  </m:oMath>
                </a14:m>
                <a:r>
                  <a:rPr lang="en-GB" sz="2100" b="0">
                    <a:solidFill>
                      <a:srgbClr val="526276"/>
                    </a:solidFill>
                    <a:latin typeface="DejaVu Sans"/>
                  </a:rPr>
                  <a:t>,</a:t>
                </a:r>
                <a:endParaRPr lang="en-GB" sz="2100"/>
              </a:p>
              <a:p>
                <a:pPr algn="ctr">
                  <a:lnSpc>
                    <a:spcPts val="2600"/>
                  </a:lnSpc>
                </a:pPr>
                <a:r>
                  <a:rPr lang="en-GB" sz="2100" b="0">
                    <a:solidFill>
                      <a:srgbClr val="526276"/>
                    </a:solidFill>
                    <a:latin typeface="DejaVu Sans"/>
                  </a:rPr>
                  <a:t>each layer </a:t>
                </a:r>
                <a14:m>
                  <m:oMath xmlns:m="http://schemas.openxmlformats.org/officeDocument/2006/math">
                    <m:r>
                      <a:rPr lang="en-GB" sz="2100">
                        <a:solidFill>
                          <a:srgbClr val="526276"/>
                        </a:solidFill>
                        <a:latin typeface="Cambria Math"/>
                        <a:ea typeface="Cambria Math"/>
                        <a:cs typeface="Cambria Math"/>
                      </a:rPr>
                      <m:t>𝑟</m:t>
                    </m:r>
                  </m:oMath>
                </a14:m>
                <a:r>
                  <a:rPr lang="en-GB" sz="2100" b="0">
                    <a:solidFill>
                      <a:srgbClr val="526276"/>
                    </a:solidFill>
                    <a:latin typeface="DejaVu Sans"/>
                  </a:rPr>
                  <a:t> has its own weights and biases.</a:t>
                </a:r>
                <a:endParaRPr lang="en-GB" sz="2100"/>
              </a:p>
            </p:txBody>
          </p:sp>
        </mc:Choice>
        <mc:Fallback xmlns="">
          <p:sp>
            <p:nvSpPr>
              <p:cNvPr id="2" name="lead">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4688" b="-1093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25B4CFF-7F46-4A4A-8E05-EC76D64CE3E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D3792A8-715F-40FD-994E-05E17CF4533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graphicFrame>
        <p:nvGraphicFramePr>
          <p:cNvPr id="12" name="Tabella 11"/>
          <p:cNvGraphicFramePr/>
          <p:nvPr/>
        </p:nvGraphicFramePr>
        <p:xfrm>
          <a:off x="762000" y="2781300"/>
          <a:ext cx="10668000" cy="2286000"/>
        </p:xfrm>
        <a:graphic>
          <a:graphicData uri="http://schemas.openxmlformats.org/drawingml/2006/table">
            <a:tbl>
              <a:tblPr/>
              <a:tblGrid>
                <a:gridCol w="1809750">
                  <a:extLst>
                    <a:ext uri="{9D8B030D-6E8A-4147-A177-3AD203B41FA5}">
                      <a16:colId xmlns:a16="http://schemas.microsoft.com/office/drawing/2014/main" val="20000"/>
                    </a:ext>
                  </a:extLst>
                </a:gridCol>
                <a:gridCol w="3095625">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gridCol w="3238500">
                  <a:extLst>
                    <a:ext uri="{9D8B030D-6E8A-4147-A177-3AD203B41FA5}">
                      <a16:colId xmlns:a16="http://schemas.microsoft.com/office/drawing/2014/main" val="20003"/>
                    </a:ext>
                  </a:extLst>
                </a:gridCol>
              </a:tblGrid>
              <a:tr h="571500">
                <a:tc>
                  <a:txBody>
                    <a:bodyPr/>
                    <a:lstStyle/>
                    <a:p>
                      <a:pPr algn="ctr"/>
                      <a:r>
                        <a:rPr sz="2100" b="1">
                          <a:solidFill>
                            <a:srgbClr val="182D45"/>
                          </a:solidFill>
                          <a:latin typeface="DejaVu Sans"/>
                          <a:ea typeface="DejaVu Sans"/>
                          <a:cs typeface="DejaVu Sans"/>
                        </a:rPr>
                        <a:t>Layer</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Weight matrix</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Bias row</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Parameters</a:t>
                      </a:r>
                    </a:p>
                  </a:txBody>
                  <a:tcPr marL="95250" marR="95250" marT="66675" marB="66675" anchor="ctr">
                    <a:solidFill>
                      <a:srgbClr val="EDF3F5"/>
                    </a:solidFill>
                  </a:tcPr>
                </a:tc>
                <a:extLst>
                  <a:ext uri="{0D108BD9-81ED-4DB2-BD59-A6C34878D82A}">
                    <a16:rowId xmlns:a16="http://schemas.microsoft.com/office/drawing/2014/main" val="10000"/>
                  </a:ext>
                </a:extLst>
              </a:tr>
              <a:tr h="571500">
                <a:tc>
                  <a:txBody>
                    <a:bodyPr/>
                    <a:lstStyle/>
                    <a:p>
                      <a:pPr algn="ctr"/>
                      <a:r>
                        <a:rPr sz="2100">
                          <a:solidFill>
                            <a:srgbClr val="182D45"/>
                          </a:solidFill>
                          <a:latin typeface="DejaVu Sans"/>
                          <a:ea typeface="DejaVu Sans"/>
                          <a:cs typeface="DejaVu Sans"/>
                        </a:rPr>
                        <a:t>1</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10 + 5 = 15</a:t>
                      </a:r>
                    </a:p>
                  </a:txBody>
                  <a:tcPr marL="95250" marR="95250" marT="66675" marB="66675" anchor="ctr">
                    <a:solidFill>
                      <a:srgbClr val="FFFFFF"/>
                    </a:solidFill>
                  </a:tcPr>
                </a:tc>
                <a:extLst>
                  <a:ext uri="{0D108BD9-81ED-4DB2-BD59-A6C34878D82A}">
                    <a16:rowId xmlns:a16="http://schemas.microsoft.com/office/drawing/2014/main" val="10001"/>
                  </a:ext>
                </a:extLst>
              </a:tr>
              <a:tr h="571500">
                <a:tc>
                  <a:txBody>
                    <a:bodyPr/>
                    <a:lstStyle/>
                    <a:p>
                      <a:pPr algn="ctr"/>
                      <a:r>
                        <a:rPr sz="2100">
                          <a:solidFill>
                            <a:srgbClr val="182D45"/>
                          </a:solidFill>
                          <a:latin typeface="DejaVu Sans"/>
                          <a:ea typeface="DejaVu Sans"/>
                          <a:cs typeface="DejaVu Sans"/>
                        </a:rPr>
                        <a:t>2</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5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35 + 7 = 42</a:t>
                      </a:r>
                    </a:p>
                  </a:txBody>
                  <a:tcPr marL="95250" marR="95250" marT="66675" marB="66675" anchor="ctr">
                    <a:solidFill>
                      <a:srgbClr val="FFFFFF"/>
                    </a:solidFill>
                  </a:tcPr>
                </a:tc>
                <a:extLst>
                  <a:ext uri="{0D108BD9-81ED-4DB2-BD59-A6C34878D82A}">
                    <a16:rowId xmlns:a16="http://schemas.microsoft.com/office/drawing/2014/main" val="10002"/>
                  </a:ext>
                </a:extLst>
              </a:tr>
              <a:tr h="571500">
                <a:tc>
                  <a:txBody>
                    <a:bodyPr/>
                    <a:lstStyle/>
                    <a:p>
                      <a:pPr algn="ctr"/>
                      <a:r>
                        <a:rPr sz="21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7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21 + 3 = 24</a:t>
                      </a:r>
                    </a:p>
                  </a:txBody>
                  <a:tcPr marL="95250" marR="95250" marT="66675" marB="66675" anchor="ctr">
                    <a:solidFill>
                      <a:srgbClr val="FFFFFF"/>
                    </a:solid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6" name="equation_1" descr="15+42+24=81">
                <a:extLst>
                  <a:ext uri="{FF2B5EF4-FFF2-40B4-BE49-F238E27FC236}">
                    <a16:creationId xmlns:a16="http://schemas.microsoft.com/office/drawing/2014/main" id="{FC7E83AE-B883-47D7-9B0C-20C1D70C7521}"/>
                  </a:ext>
                </a:extLst>
              </p:cNvPr>
              <p:cNvSpPr>
                <a:spLocks noGrp="1"/>
              </p:cNvSpPr>
              <p:nvPr/>
            </p:nvSpPr>
            <p:spPr>
              <a:xfrm>
                <a:off x="1428750" y="5210175"/>
                <a:ext cx="9334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a:solidFill>
                            <a:srgbClr val="087F83"/>
                          </a:solidFill>
                          <a:latin typeface="Cambria Math"/>
                          <a:ea typeface="Cambria Math"/>
                          <a:cs typeface="Cambria Math"/>
                        </a:rPr>
                        <m:t>15+42+24=81</m:t>
                      </m:r>
                    </m:oMath>
                  </m:oMathPara>
                </a14:m>
                <a:endParaRPr lang="en-GB" sz="3600"/>
              </a:p>
            </p:txBody>
          </p:sp>
        </mc:Choice>
        <mc:Fallback xmlns="">
          <p:sp>
            <p:nvSpPr>
              <p:cNvPr id="6" name="equation_1" descr="15+42+24=81">
                <a:extLst>
                  <a:ext uri="{FF2B5EF4-FFF2-40B4-BE49-F238E27FC236}">
                    <a16:creationId xmlns:a16="http://schemas.microsoft.com/office/drawing/2014/main" id="{FC7E83AE-B883-47D7-9B0C-20C1D70C7521}"/>
                  </a:ext>
                </a:extLst>
              </p:cNvPr>
              <p:cNvSpPr>
                <a:spLocks noGrp="1" noRot="1" noChangeAspect="1" noMove="1" noResize="1" noEditPoints="1" noAdjustHandles="1" noChangeArrowheads="1" noChangeShapeType="1" noTextEdit="1"/>
              </p:cNvSpPr>
              <p:nvPr/>
            </p:nvSpPr>
            <p:spPr>
              <a:xfrm>
                <a:off x="1428750" y="5210175"/>
                <a:ext cx="93345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7A65F493-26F2-4515-B45A-F5540A91297A}"/>
                  </a:ext>
                </a:extLst>
              </p:cNvPr>
              <p:cNvSpPr>
                <a:spLocks noGrp="1"/>
              </p:cNvSpPr>
              <p:nvPr/>
            </p:nvSpPr>
            <p:spPr>
              <a:xfrm>
                <a:off x="571500" y="5953125"/>
                <a:ext cx="11049000" cy="40005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parameter column </a:t>
                </a:r>
                <a14:m>
                  <m:oMath xmlns:m="http://schemas.openxmlformats.org/officeDocument/2006/math">
                    <m:r>
                      <a:rPr lang="it-IT" sz="2100" b="1" i="0" dirty="0" smtClean="0">
                        <a:solidFill>
                          <a:srgbClr val="182D45"/>
                        </a:solidFill>
                        <a:latin typeface="Cambria Math" panose="02040503050406030204" pitchFamily="18" charset="0"/>
                        <a:ea typeface="DejaVu Sans"/>
                        <a:cs typeface="DejaVu Sans"/>
                      </a:rPr>
                      <m:t>𝛉</m:t>
                    </m:r>
                  </m:oMath>
                </a14:m>
                <a:r>
                  <a:rPr sz="2100" b="1" dirty="0">
                    <a:solidFill>
                      <a:srgbClr val="182D45"/>
                    </a:solidFill>
                    <a:latin typeface="DejaVu Sans"/>
                    <a:ea typeface="DejaVu Sans"/>
                    <a:cs typeface="DejaVu Sans"/>
                  </a:rPr>
                  <a:t> has 81 entries.</a:t>
                </a:r>
              </a:p>
            </p:txBody>
          </p:sp>
        </mc:Choice>
        <mc:Fallback xmlns="">
          <p:sp>
            <p:nvSpPr>
              <p:cNvPr id="7" name="text_2">
                <a:extLst>
                  <a:ext uri="{FF2B5EF4-FFF2-40B4-BE49-F238E27FC236}">
                    <a16:creationId xmlns:a16="http://schemas.microsoft.com/office/drawing/2014/main" id="{7A65F493-26F2-4515-B45A-F5540A91297A}"/>
                  </a:ext>
                </a:extLst>
              </p:cNvPr>
              <p:cNvSpPr>
                <a:spLocks noGrp="1" noRot="1" noChangeAspect="1" noMove="1" noResize="1" noEditPoints="1" noAdjustHandles="1" noChangeArrowheads="1" noChangeShapeType="1" noTextEdit="1"/>
              </p:cNvSpPr>
              <p:nvPr/>
            </p:nvSpPr>
            <p:spPr>
              <a:xfrm>
                <a:off x="571500" y="5953125"/>
                <a:ext cx="11049000" cy="400050"/>
              </a:xfrm>
              <a:prstGeom prst="rect">
                <a:avLst/>
              </a:prstGeom>
              <a:blipFill>
                <a:blip r:embed="rId5"/>
                <a:stretch>
                  <a:fillRect t="-13846" b="-3076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p:cNvSpPr>
              <p:nvPr/>
            </p:nvSpPr>
            <p:spPr>
              <a:xfrm>
                <a:off x="381000" y="182880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𝐿</m:t>
                      </m:r>
                    </m:oMath>
                  </m:oMathPara>
                </a14:m>
                <a:endParaRPr lang="en-GB" sz="2600"/>
              </a:p>
            </p:txBody>
          </p:sp>
        </mc:Choice>
        <mc:Fallback xmlns="">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1828800"/>
                <a:ext cx="11430000" cy="5048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parameter_notation">
                <a:extLst>
                  <a:ext uri="{FF2B5EF4-FFF2-40B4-BE49-F238E27FC236}">
                    <a16:creationId xmlns:a16="http://schemas.microsoft.com/office/drawing/2014/main" id="{72121462-FE2B-47A7-B458-089B74E6380E}"/>
                  </a:ext>
                </a:extLst>
              </p:cNvPr>
              <p:cNvSpPr>
                <a:spLocks noGrp="1"/>
              </p:cNvSpPr>
              <p:nvPr/>
            </p:nvSpPr>
            <p:spPr>
              <a:xfrm>
                <a:off x="381000" y="2343150"/>
                <a:ext cx="11430000" cy="352425"/>
              </a:xfrm>
              <a:prstGeom prst="rect">
                <a:avLst/>
              </a:prstGeom>
              <a:noFill/>
              <a:ln w="0">
                <a:noFill/>
              </a:ln>
            </p:spPr>
            <p:txBody>
              <a:bodyPr wrap="none" lIns="0" tIns="0" rIns="0" bIns="0" anchor="ctr">
                <a:noAutofit/>
              </a:bodyPr>
              <a:lstStyle/>
              <a:p>
                <a:pPr algn="ctr"/>
                <a:r>
                  <a:rPr lang="en-GB" sz="1900" b="0">
                    <a:solidFill>
                      <a:srgbClr val="526276"/>
                    </a:solidFill>
                    <a:latin typeface="DejaVu Sans"/>
                  </a:rPr>
                  <a:t>Output parameters: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 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a:t>
                </a:r>
                <a:endParaRPr lang="en-GB" sz="1900"/>
              </a:p>
            </p:txBody>
          </p:sp>
        </mc:Choice>
        <mc:Fallback xmlns="">
          <p:sp>
            <p:nvSpPr>
              <p:cNvPr id="14" name="output_parameter_notation">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2343150"/>
                <a:ext cx="11430000" cy="352425"/>
              </a:xfrm>
              <a:prstGeom prst="rect">
                <a:avLst/>
              </a:prstGeom>
              <a:blipFill>
                <a:blip r:embed="rId7"/>
                <a:stretch>
                  <a:fillRect t="-15517" b="-3103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75325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442168E-F8CC-46C5-B04B-A54286FBB5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and binary classification</a:t>
            </a:r>
          </a:p>
        </p:txBody>
      </p:sp>
      <p:sp>
        <p:nvSpPr>
          <p:cNvPr id="2" name="lead">
            <a:extLst>
              <a:ext uri="{FF2B5EF4-FFF2-40B4-BE49-F238E27FC236}">
                <a16:creationId xmlns:a16="http://schemas.microsoft.com/office/drawing/2014/main" id="{52635A5C-1CFC-4DA6-ACDD-CD20412E9A3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scalar network output can play different roles.</a:t>
            </a:r>
          </a:p>
        </p:txBody>
      </p:sp>
      <p:sp>
        <p:nvSpPr>
          <p:cNvPr id="3" name="footer_course">
            <a:extLst>
              <a:ext uri="{FF2B5EF4-FFF2-40B4-BE49-F238E27FC236}">
                <a16:creationId xmlns:a16="http://schemas.microsoft.com/office/drawing/2014/main" id="{8B1A4651-A8B4-4B0C-A5EB-9B3BF17617C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715E508-5208-4EA2-A378-B705853C83B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text_1">
            <a:extLst>
              <a:ext uri="{FF2B5EF4-FFF2-40B4-BE49-F238E27FC236}">
                <a16:creationId xmlns:a16="http://schemas.microsoft.com/office/drawing/2014/main" id="{468B953D-9CC2-4893-8C83-4E9BED6B32E0}"/>
              </a:ext>
            </a:extLst>
          </p:cNvPr>
          <p:cNvSpPr>
            <a:spLocks noGrp="1"/>
          </p:cNvSpPr>
          <p:nvPr/>
        </p:nvSpPr>
        <p:spPr>
          <a:xfrm>
            <a:off x="619125"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Regression</a:t>
            </a:r>
          </a:p>
        </p:txBody>
      </p:sp>
      <p:sp>
        <p:nvSpPr>
          <p:cNvPr id="6" name="text_2">
            <a:extLst>
              <a:ext uri="{FF2B5EF4-FFF2-40B4-BE49-F238E27FC236}">
                <a16:creationId xmlns:a16="http://schemas.microsoft.com/office/drawing/2014/main" id="{CC0714E0-8E09-4B93-8D50-0FB691438889}"/>
              </a:ext>
            </a:extLst>
          </p:cNvPr>
          <p:cNvSpPr>
            <a:spLocks noGrp="1"/>
          </p:cNvSpPr>
          <p:nvPr/>
        </p:nvSpPr>
        <p:spPr>
          <a:xfrm>
            <a:off x="6381750"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7" name="equation_3" descr="\widehat y=f_{\boldsymbol{\theta}}(\mathbf{x})">
                <a:extLst>
                  <a:ext uri="{FF2B5EF4-FFF2-40B4-BE49-F238E27FC236}">
                    <a16:creationId xmlns:a16="http://schemas.microsoft.com/office/drawing/2014/main" id="{AF8875C3-7C25-4463-BC2D-D9EC906FD65C}"/>
                  </a:ext>
                </a:extLst>
              </p:cNvPr>
              <p:cNvSpPr>
                <a:spLocks noGrp="1"/>
              </p:cNvSpPr>
              <p:nvPr/>
            </p:nvSpPr>
            <p:spPr>
              <a:xfrm>
                <a:off x="523875" y="2886075"/>
                <a:ext cx="53816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3100">
                              <a:solidFill>
                                <a:srgbClr val="087F83"/>
                              </a:solidFill>
                              <a:latin typeface="Cambria Math"/>
                              <a:ea typeface="Cambria Math"/>
                              <a:cs typeface="Cambria Math"/>
                            </a:rPr>
                          </m:ctrlPr>
                        </m:accPr>
                        <m:e>
                          <m:r>
                            <a:rPr lang="en-GB" sz="3100">
                              <a:solidFill>
                                <a:srgbClr val="087F83"/>
                              </a:solidFill>
                              <a:latin typeface="Cambria Math"/>
                              <a:ea typeface="Cambria Math"/>
                              <a:cs typeface="Cambria Math"/>
                            </a:rPr>
                            <m:t>𝑦</m:t>
                          </m:r>
                        </m:e>
                      </m:acc>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𝑓</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oMath>
                  </m:oMathPara>
                </a14:m>
                <a:endParaRPr lang="en-GB" sz="3100"/>
              </a:p>
            </p:txBody>
          </p:sp>
        </mc:Choice>
        <mc:Fallback xmlns="">
          <p:sp>
            <p:nvSpPr>
              <p:cNvPr id="7" name="equation_3" descr="\widehat y=f_{\boldsymbol{\theta}}(\mathbf{x})">
                <a:extLst>
                  <a:ext uri="{FF2B5EF4-FFF2-40B4-BE49-F238E27FC236}">
                    <a16:creationId xmlns:a16="http://schemas.microsoft.com/office/drawing/2014/main" id="{AF8875C3-7C25-4463-BC2D-D9EC906FD65C}"/>
                  </a:ext>
                </a:extLst>
              </p:cNvPr>
              <p:cNvSpPr>
                <a:spLocks noGrp="1" noRot="1" noChangeAspect="1" noMove="1" noResize="1" noEditPoints="1" noAdjustHandles="1" noChangeArrowheads="1" noChangeShapeType="1" noTextEdit="1"/>
              </p:cNvSpPr>
              <p:nvPr/>
            </p:nvSpPr>
            <p:spPr>
              <a:xfrm>
                <a:off x="523875" y="2886075"/>
                <a:ext cx="5381625" cy="7143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p:cNvSpPr>
              <p:nvPr/>
            </p:nvSpPr>
            <p:spPr>
              <a:xfrm>
                <a:off x="6238875" y="28384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𝜎</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noRot="1" noChangeAspect="1" noMove="1" noResize="1" noEditPoints="1" noAdjustHandles="1" noChangeArrowheads="1" noChangeShapeType="1" noTextEdit="1"/>
              </p:cNvSpPr>
              <p:nvPr/>
            </p:nvSpPr>
            <p:spPr>
              <a:xfrm>
                <a:off x="6238875" y="2838450"/>
                <a:ext cx="5429250"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ell_{\mathrm{sq}}(\widehat y,y)=(\widehat y-y)^2">
                <a:extLst>
                  <a:ext uri="{FF2B5EF4-FFF2-40B4-BE49-F238E27FC236}">
                    <a16:creationId xmlns:a16="http://schemas.microsoft.com/office/drawing/2014/main" id="{C3076197-DC5C-4089-97AB-B774F1EA41BD}"/>
                  </a:ext>
                </a:extLst>
              </p:cNvPr>
              <p:cNvSpPr>
                <a:spLocks noGrp="1"/>
              </p:cNvSpPr>
              <p:nvPr/>
            </p:nvSpPr>
            <p:spPr>
              <a:xfrm>
                <a:off x="681036" y="4539424"/>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sq</m:t>
                          </m:r>
                        </m:sub>
                      </m:sSub>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9" name="equation_5" descr="\ell_{\mathrm{sq}}(\widehat y,y)=(\widehat y-y)^2">
                <a:extLst>
                  <a:ext uri="{FF2B5EF4-FFF2-40B4-BE49-F238E27FC236}">
                    <a16:creationId xmlns:a16="http://schemas.microsoft.com/office/drawing/2014/main" id="{C3076197-DC5C-4089-97AB-B774F1EA41BD}"/>
                  </a:ext>
                </a:extLst>
              </p:cNvPr>
              <p:cNvSpPr>
                <a:spLocks noGrp="1" noRot="1" noChangeAspect="1" noMove="1" noResize="1" noEditPoints="1" noAdjustHandles="1" noChangeArrowheads="1" noChangeShapeType="1" noTextEdit="1"/>
              </p:cNvSpPr>
              <p:nvPr/>
            </p:nvSpPr>
            <p:spPr>
              <a:xfrm>
                <a:off x="681036" y="4539424"/>
                <a:ext cx="5381625"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p:cNvSpPr>
              <p:nvPr/>
            </p:nvSpPr>
            <p:spPr>
              <a:xfrm>
                <a:off x="6286500" y="3609975"/>
                <a:ext cx="5334000" cy="971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)&gt;1/2</m:t>
                                </m:r>
                              </m:e>
                            </m:mr>
                            <m:mr>
                              <m:e>
                                <m:r>
                                  <a:rPr lang="en-GB" sz="2600">
                                    <a:solidFill>
                                      <a:srgbClr val="087F83"/>
                                    </a:solidFill>
                                    <a:latin typeface="Cambria Math"/>
                                    <a:ea typeface="Cambria Math"/>
                                    <a:cs typeface="Cambria Math"/>
                                  </a:rPr>
                                  <m:t>0</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)≤1/2</m:t>
                                </m:r>
                              </m:e>
                            </m:mr>
                          </m:m>
                        </m:e>
                      </m:d>
                    </m:oMath>
                  </m:oMathPara>
                </a14:m>
                <a:endParaRPr lang="en-GB" sz="2600" dirty="0"/>
              </a:p>
            </p:txBody>
          </p:sp>
        </mc:Choice>
        <mc:Fallback xmlns="">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noRot="1" noChangeAspect="1" noMove="1" noResize="1" noEditPoints="1" noAdjustHandles="1" noChangeArrowheads="1" noChangeShapeType="1" noTextEdit="1"/>
              </p:cNvSpPr>
              <p:nvPr/>
            </p:nvSpPr>
            <p:spPr>
              <a:xfrm>
                <a:off x="6286500" y="3609975"/>
                <a:ext cx="5334000" cy="971550"/>
              </a:xfrm>
              <a:prstGeom prst="rect">
                <a:avLst/>
              </a:prstGeom>
              <a:blipFill>
                <a:blip r:embed="rId6"/>
                <a:stretch>
                  <a:fillRect/>
                </a:stretch>
              </a:blipFill>
              <a:ln w="0">
                <a:noFill/>
              </a:ln>
            </p:spPr>
            <p:txBody>
              <a:bodyPr/>
              <a:lstStyle/>
              <a:p>
                <a:r>
                  <a:rPr lang="it-IT">
                    <a:noFill/>
                  </a:rPr>
                  <a:t> </a:t>
                </a:r>
              </a:p>
            </p:txBody>
          </p:sp>
        </mc:Fallback>
      </mc:AlternateContent>
      <p:sp>
        <p:nvSpPr>
          <p:cNvPr id="11" name="text_7">
            <a:extLst>
              <a:ext uri="{FF2B5EF4-FFF2-40B4-BE49-F238E27FC236}">
                <a16:creationId xmlns:a16="http://schemas.microsoft.com/office/drawing/2014/main" id="{9776CE5C-F3AA-4887-8E8B-A14EBAF92A2A}"/>
              </a:ext>
            </a:extLst>
          </p:cNvPr>
          <p:cNvSpPr>
            <a:spLocks noGrp="1"/>
          </p:cNvSpPr>
          <p:nvPr/>
        </p:nvSpPr>
        <p:spPr>
          <a:xfrm>
            <a:off x="681036" y="5482402"/>
            <a:ext cx="5381625"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p:txBody>
      </p:sp>
      <p:sp>
        <p:nvSpPr>
          <p:cNvPr id="12" name="text_8">
            <a:extLst>
              <a:ext uri="{FF2B5EF4-FFF2-40B4-BE49-F238E27FC236}">
                <a16:creationId xmlns:a16="http://schemas.microsoft.com/office/drawing/2014/main" id="{39B3B549-BA21-4E20-91B6-7055930D75F5}"/>
              </a:ext>
            </a:extLst>
          </p:cNvPr>
          <p:cNvSpPr>
            <a:spLocks noGrp="1"/>
          </p:cNvSpPr>
          <p:nvPr/>
        </p:nvSpPr>
        <p:spPr>
          <a:xfrm>
            <a:off x="6262687" y="5436682"/>
            <a:ext cx="5429250"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logistic loss</a:t>
            </a:r>
            <a:r>
              <a:rPr sz="2175" b="0" dirty="0">
                <a:solidFill>
                  <a:srgbClr val="526276"/>
                </a:solidFill>
                <a:latin typeface="DejaVu Sans"/>
                <a:ea typeface="DejaVu Sans"/>
                <a:cs typeface="DejaVu Sans"/>
              </a:rPr>
              <a:t>.</a:t>
            </a:r>
          </a:p>
        </p:txBody>
      </p:sp>
      <p:sp>
        <p:nvSpPr>
          <p:cNvPr id="13" name="text_9">
            <a:extLst>
              <a:ext uri="{FF2B5EF4-FFF2-40B4-BE49-F238E27FC236}">
                <a16:creationId xmlns:a16="http://schemas.microsoft.com/office/drawing/2014/main" id="{5700445E-21E0-487B-95D1-35CFD472C0CD}"/>
              </a:ext>
            </a:extLst>
          </p:cNvPr>
          <p:cNvSpPr>
            <a:spLocks noGrp="1"/>
          </p:cNvSpPr>
          <p:nvPr/>
        </p:nvSpPr>
        <p:spPr>
          <a:xfrm>
            <a:off x="571500" y="6027231"/>
            <a:ext cx="11049000" cy="590550"/>
          </a:xfrm>
          <a:prstGeom prst="rect">
            <a:avLst/>
          </a:prstGeom>
          <a:noFill/>
          <a:ln w="0">
            <a:noFill/>
          </a:ln>
        </p:spPr>
        <p:txBody>
          <a:bodyPr lIns="0" tIns="0" rIns="0" bIns="0"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each task,</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neural networks use the </a:t>
            </a:r>
            <a:r>
              <a:rPr sz="2100" b="1" dirty="0">
                <a:solidFill>
                  <a:srgbClr val="FF0000"/>
                </a:solidFill>
                <a:latin typeface="DejaVu Sans"/>
                <a:ea typeface="DejaVu Sans"/>
                <a:cs typeface="DejaVu Sans"/>
              </a:rPr>
              <a:t>same loss</a:t>
            </a:r>
          </a:p>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as the corresponding linear model.</a:t>
            </a:r>
          </a:p>
        </p:txBody>
      </p:sp>
      <mc:AlternateContent xmlns:mc="http://schemas.openxmlformats.org/markup-compatibility/2006" xmlns:a14="http://schemas.microsoft.com/office/drawing/2010/main">
        <mc:Choice Requires="a14">
          <p:sp>
            <p:nvSpPr>
              <p:cNvPr id="15" name="regression_output_role">
                <a:extLst>
                  <a:ext uri="{FF2B5EF4-FFF2-40B4-BE49-F238E27FC236}">
                    <a16:creationId xmlns:a16="http://schemas.microsoft.com/office/drawing/2014/main" id="{52635A5C-1CFC-4DA6-ACDD-CD20412E9A33}"/>
                  </a:ext>
                </a:extLst>
              </p:cNvPr>
              <p:cNvSpPr>
                <a:spLocks noGrp="1"/>
              </p:cNvSpPr>
              <p:nvPr/>
            </p:nvSpPr>
            <p:spPr>
              <a:xfrm>
                <a:off x="523875" y="2247900"/>
                <a:ext cx="5381625"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endParaRPr lang="en-GB" sz="1950" dirty="0"/>
              </a:p>
              <a:p>
                <a:pPr algn="ctr">
                  <a:lnSpc>
                    <a:spcPts val="2400"/>
                  </a:lnSpc>
                </a:pPr>
                <a:r>
                  <a:rPr lang="en-GB" sz="1950" dirty="0">
                    <a:solidFill>
                      <a:srgbClr val="526276"/>
                    </a:solidFill>
                    <a:latin typeface="DejaVu Sans"/>
                  </a:rPr>
                  <a:t>is the </a:t>
                </a:r>
                <a:r>
                  <a:rPr lang="en-GB" sz="1950" dirty="0">
                    <a:solidFill>
                      <a:srgbClr val="087F83"/>
                    </a:solidFill>
                    <a:latin typeface="DejaVu Sans"/>
                  </a:rPr>
                  <a:t>predicted value.</a:t>
                </a:r>
                <a:endParaRPr lang="en-GB" sz="1950" dirty="0"/>
              </a:p>
            </p:txBody>
          </p:sp>
        </mc:Choice>
        <mc:Fallback xmlns="">
          <p:sp>
            <p:nvSpPr>
              <p:cNvPr id="15" name="regress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523875" y="2247900"/>
                <a:ext cx="5381625" cy="590550"/>
              </a:xfrm>
              <a:prstGeom prst="rect">
                <a:avLst/>
              </a:prstGeom>
              <a:blipFill>
                <a:blip r:embed="rId7"/>
                <a:stretch>
                  <a:fillRect t="-15464" b="-247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lassification_output_role">
                <a:extLst>
                  <a:ext uri="{FF2B5EF4-FFF2-40B4-BE49-F238E27FC236}">
                    <a16:creationId xmlns:a16="http://schemas.microsoft.com/office/drawing/2014/main" id="{52635A5C-1CFC-4DA6-ACDD-CD20412E9A33}"/>
                  </a:ext>
                </a:extLst>
              </p:cNvPr>
              <p:cNvSpPr>
                <a:spLocks noGrp="1"/>
              </p:cNvSpPr>
              <p:nvPr/>
            </p:nvSpPr>
            <p:spPr>
              <a:xfrm>
                <a:off x="6238875" y="2247900"/>
                <a:ext cx="5429250"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r>
                  <a:rPr lang="en-GB" sz="1950" dirty="0"/>
                  <a:t> </a:t>
                </a:r>
                <a:r>
                  <a:rPr lang="en-GB" sz="1950" dirty="0">
                    <a:solidFill>
                      <a:srgbClr val="526276"/>
                    </a:solidFill>
                    <a:latin typeface="DejaVu Sans"/>
                  </a:rPr>
                  <a:t>is a </a:t>
                </a:r>
                <a:r>
                  <a:rPr lang="en-GB" sz="1950" dirty="0">
                    <a:solidFill>
                      <a:srgbClr val="087F83"/>
                    </a:solidFill>
                    <a:latin typeface="DejaVu Sans"/>
                  </a:rPr>
                  <a:t>score.</a:t>
                </a:r>
              </a:p>
            </p:txBody>
          </p:sp>
        </mc:Choice>
        <mc:Fallback xmlns="">
          <p:sp>
            <p:nvSpPr>
              <p:cNvPr id="16" name="classificat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6238875" y="2247900"/>
                <a:ext cx="5429250" cy="5905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5" descr="\ell_{\mathrm{sq}}(\widehat y,y)=(\widehat y-y)^2">
                <a:extLst>
                  <a:ext uri="{FF2B5EF4-FFF2-40B4-BE49-F238E27FC236}">
                    <a16:creationId xmlns:a16="http://schemas.microsoft.com/office/drawing/2014/main" id="{EAA82288-5201-A251-33EE-3522197982D4}"/>
                  </a:ext>
                </a:extLst>
              </p:cNvPr>
              <p:cNvSpPr>
                <a:spLocks noGrp="1"/>
              </p:cNvSpPr>
              <p:nvPr/>
            </p:nvSpPr>
            <p:spPr>
              <a:xfrm>
                <a:off x="6096000" y="4529902"/>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it-IT" sz="2700" b="0" i="0" smtClean="0">
                              <a:solidFill>
                                <a:srgbClr val="087F83"/>
                              </a:solidFill>
                              <a:latin typeface="Cambria Math" panose="02040503050406030204" pitchFamily="18" charset="0"/>
                              <a:ea typeface="Cambria Math"/>
                              <a:cs typeface="Cambria Math"/>
                            </a:rPr>
                            <m:t>log</m:t>
                          </m:r>
                        </m:sub>
                      </m:sSub>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it-IT" sz="2700" b="0" i="1" smtClean="0">
                          <a:solidFill>
                            <a:srgbClr val="087F83"/>
                          </a:solidFill>
                          <a:latin typeface="Cambria Math" panose="02040503050406030204" pitchFamily="18" charset="0"/>
                          <a:ea typeface="Cambria Math"/>
                          <a:cs typeface="Cambria Math"/>
                        </a:rPr>
                        <m:t>𝑦</m:t>
                      </m:r>
                      <m:func>
                        <m:funcPr>
                          <m:ctrlPr>
                            <a:rPr lang="it-IT" sz="2700" b="0" i="0" smtClean="0">
                              <a:solidFill>
                                <a:srgbClr val="087F83"/>
                              </a:solidFill>
                              <a:latin typeface="Cambria Math" panose="02040503050406030204" pitchFamily="18" charset="0"/>
                              <a:ea typeface="Cambria Math"/>
                              <a:cs typeface="Cambria Math"/>
                            </a:rPr>
                          </m:ctrlPr>
                        </m:funcPr>
                        <m:fName>
                          <m:r>
                            <m:rPr>
                              <m:sty m:val="p"/>
                            </m:rPr>
                            <a:rPr lang="it-IT" sz="2700" b="0" i="0" smtClean="0">
                              <a:solidFill>
                                <a:srgbClr val="087F83"/>
                              </a:solidFill>
                              <a:latin typeface="Cambria Math" panose="02040503050406030204" pitchFamily="18" charset="0"/>
                              <a:ea typeface="Cambria Math"/>
                              <a:cs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b="0" i="1" smtClean="0">
                                      <a:solidFill>
                                        <a:srgbClr val="087F83"/>
                                      </a:solidFill>
                                      <a:latin typeface="Cambria Math" panose="02040503050406030204" pitchFamily="18" charset="0"/>
                                      <a:ea typeface="Cambria Math"/>
                                    </a:rPr>
                                    <m:t>𝑝</m:t>
                                  </m:r>
                                </m:den>
                              </m:f>
                            </m:e>
                          </m:d>
                        </m:e>
                      </m:func>
                      <m:r>
                        <a:rPr lang="it-IT" sz="2700" b="0" i="1" smtClean="0">
                          <a:solidFill>
                            <a:srgbClr val="087F83"/>
                          </a:solidFill>
                          <a:latin typeface="Cambria Math" panose="02040503050406030204" pitchFamily="18" charset="0"/>
                          <a:ea typeface="Cambria Math"/>
                          <a:cs typeface="Cambria Math"/>
                        </a:rPr>
                        <m:t>+</m:t>
                      </m:r>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b="0" i="1" smtClean="0">
                              <a:solidFill>
                                <a:srgbClr val="087F83"/>
                              </a:solidFill>
                              <a:latin typeface="Cambria Math" panose="02040503050406030204" pitchFamily="18" charset="0"/>
                              <a:ea typeface="Cambria Math"/>
                            </a:rPr>
                            <m:t>𝑦</m:t>
                          </m:r>
                        </m:e>
                      </m:d>
                      <m:func>
                        <m:funcPr>
                          <m:ctrlPr>
                            <a:rPr lang="it-IT" sz="2700" b="0" i="0" smtClean="0">
                              <a:solidFill>
                                <a:srgbClr val="087F83"/>
                              </a:solidFill>
                              <a:latin typeface="Cambria Math" panose="02040503050406030204" pitchFamily="18" charset="0"/>
                              <a:ea typeface="Cambria Math"/>
                            </a:rPr>
                          </m:ctrlPr>
                        </m:funcPr>
                        <m:fName>
                          <m:r>
                            <m:rPr>
                              <m:sty m:val="p"/>
                            </m:rPr>
                            <a:rPr lang="it-IT" sz="2700" b="0" i="0" smtClean="0">
                              <a:solidFill>
                                <a:srgbClr val="087F83"/>
                              </a:solidFill>
                              <a:latin typeface="Cambria Math" panose="02040503050406030204" pitchFamily="18" charset="0"/>
                              <a:ea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i="1">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𝑝</m:t>
                                  </m:r>
                                </m:den>
                              </m:f>
                            </m:e>
                          </m:d>
                        </m:e>
                      </m:func>
                    </m:oMath>
                  </m:oMathPara>
                </a14:m>
                <a:endParaRPr lang="en-GB" sz="2700" dirty="0"/>
              </a:p>
            </p:txBody>
          </p:sp>
        </mc:Choice>
        <mc:Fallback xmlns="">
          <p:sp>
            <p:nvSpPr>
              <p:cNvPr id="20" name="equation_5" descr="\ell_{\mathrm{sq}}(\widehat y,y)=(\widehat y-y)^2">
                <a:extLst>
                  <a:ext uri="{FF2B5EF4-FFF2-40B4-BE49-F238E27FC236}">
                    <a16:creationId xmlns:a16="http://schemas.microsoft.com/office/drawing/2014/main" id="{EAA82288-5201-A251-33EE-3522197982D4}"/>
                  </a:ext>
                </a:extLst>
              </p:cNvPr>
              <p:cNvSpPr>
                <a:spLocks noGrp="1" noRot="1" noChangeAspect="1" noMove="1" noResize="1" noEditPoints="1" noAdjustHandles="1" noChangeArrowheads="1" noChangeShapeType="1" noTextEdit="1"/>
              </p:cNvSpPr>
              <p:nvPr/>
            </p:nvSpPr>
            <p:spPr>
              <a:xfrm>
                <a:off x="6096000" y="4529902"/>
                <a:ext cx="5381625" cy="952500"/>
              </a:xfrm>
              <a:prstGeom prst="rect">
                <a:avLst/>
              </a:prstGeom>
              <a:blipFill>
                <a:blip r:embed="rId9"/>
                <a:stretch>
                  <a:fillRect l="-10079" r="-82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26081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5" grpId="0"/>
      <p:bldP spid="16" grpId="0"/>
      <p:bldP spid="20"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104A02B-CA1F-452E-BF57-5195AF73E89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6425441-51AB-4D1B-9B23-5D6FD7DE365D}"/>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With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classes, the network outputs a row of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real scores.</a:t>
                </a:r>
                <a:endParaRPr lang="en-GB" sz="2025"/>
              </a:p>
              <a:p>
                <a:pPr algn="ctr">
                  <a:lnSpc>
                    <a:spcPts val="2500"/>
                  </a:lnSpc>
                </a:pPr>
                <a:r>
                  <a:rPr lang="en-GB" sz="2025" b="0">
                    <a:solidFill>
                      <a:srgbClr val="526276"/>
                    </a:solidFill>
                    <a:latin typeface="DejaVu Sans"/>
                  </a:rPr>
                  <a:t>The output width is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𝐿</m:t>
                        </m:r>
                      </m:sub>
                    </m:sSub>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𝑞</m:t>
                    </m:r>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𝐾</m:t>
                    </m:r>
                  </m:oMath>
                </a14:m>
                <a:r>
                  <a:rPr lang="en-GB" sz="2025" b="0">
                    <a:solidFill>
                      <a:srgbClr val="526276"/>
                    </a:solidFill>
                    <a:latin typeface="DejaVu Sans"/>
                  </a:rPr>
                  <a:t>.</a:t>
                </a:r>
                <a:endParaRPr lang="en-GB" sz="2025"/>
              </a:p>
            </p:txBody>
          </p:sp>
        </mc:Choice>
        <mc:Fallback xmlns="">
          <p:sp>
            <p:nvSpPr>
              <p:cNvPr id="2" name="lead">
                <a:extLst>
                  <a:ext uri="{FF2B5EF4-FFF2-40B4-BE49-F238E27FC236}">
                    <a16:creationId xmlns:a16="http://schemas.microsoft.com/office/drawing/2014/main" id="{F6425441-51AB-4D1B-9B23-5D6FD7DE36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8594"/>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261D2E0-B322-4C6C-A303-0F30949F9A2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28EB04A-2B55-4F09-9E6D-B3BF1C0242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mc:Choice xmlns:a14="http://schemas.microsoft.com/office/drawing/2010/main" Requires="a14">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p:cNvSpPr>
              <p:nvPr/>
            </p:nvSpPr>
            <p:spPr>
              <a:xfrm>
                <a:off x="571500" y="1971675"/>
                <a:ext cx="110490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𝐟</m:t>
                          </m:r>
                        </m:e>
                        <m:sub>
                          <m:r>
                            <a:rPr lang="en-GB" sz="3000">
                              <a:solidFill>
                                <a:srgbClr val="087F83"/>
                              </a:solidFill>
                              <a:latin typeface="Cambria Math"/>
                              <a:ea typeface="Cambria Math"/>
                              <a:cs typeface="Cambria Math"/>
                            </a:rPr>
                            <m:t>𝛉</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ℝ</m:t>
                          </m:r>
                        </m:e>
                        <m:sup>
                          <m:r>
                            <a:rPr lang="it-IT" sz="3000" b="0" i="1" smtClean="0">
                              <a:solidFill>
                                <a:srgbClr val="087F83"/>
                              </a:solidFill>
                              <a:latin typeface="Cambria Math" panose="02040503050406030204" pitchFamily="18" charset="0"/>
                              <a:ea typeface="Cambria Math"/>
                              <a:cs typeface="Cambria Math"/>
                            </a:rPr>
                            <m:t>1×</m:t>
                          </m:r>
                          <m:r>
                            <a:rPr lang="it-IT" sz="3000" b="0" i="1" smtClean="0">
                              <a:solidFill>
                                <a:srgbClr val="087F83"/>
                              </a:solidFill>
                              <a:latin typeface="Cambria Math" panose="02040503050406030204" pitchFamily="18" charset="0"/>
                              <a:ea typeface="Cambria Math"/>
                              <a:cs typeface="Cambria Math"/>
                            </a:rPr>
                            <m:t>𝐾</m:t>
                          </m:r>
                        </m:sup>
                      </m:sSup>
                    </m:oMath>
                  </m:oMathPara>
                </a14:m>
                <a:endParaRPr lang="en-GB" sz="3000" dirty="0"/>
              </a:p>
            </p:txBody>
          </p:sp>
        </mc:Choice>
        <mc:Fallback>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noRot="1" noChangeAspect="1" noMove="1" noResize="1" noEditPoints="1" noAdjustHandles="1" noChangeArrowheads="1" noChangeShapeType="1" noTextEdit="1"/>
              </p:cNvSpPr>
              <p:nvPr/>
            </p:nvSpPr>
            <p:spPr>
              <a:xfrm>
                <a:off x="571500" y="1971675"/>
                <a:ext cx="110490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p:cNvSpPr>
              <p:nvPr/>
            </p:nvSpPr>
            <p:spPr>
              <a:xfrm>
                <a:off x="333375" y="2914650"/>
                <a:ext cx="11525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𝐩</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Softmax</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𝐟</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e>
                      </m:d>
                      <m:r>
                        <a:rPr lang="it-IT" sz="2600" b="0" i="1" smtClean="0">
                          <a:solidFill>
                            <a:srgbClr val="087F83"/>
                          </a:solidFill>
                          <a:latin typeface="Cambria Math" panose="02040503050406030204" pitchFamily="18" charset="0"/>
                          <a:ea typeface="Cambria Math"/>
                          <a:cs typeface="Cambria Math"/>
                        </a:rPr>
                        <m:t>∈</m:t>
                      </m:r>
                      <m:sSup>
                        <m:sSupPr>
                          <m:ctrlPr>
                            <a:rPr lang="it-IT" sz="2600" b="0" i="1" smtClean="0">
                              <a:solidFill>
                                <a:srgbClr val="087F83"/>
                              </a:solidFill>
                              <a:latin typeface="Cambria Math" panose="02040503050406030204" pitchFamily="18" charset="0"/>
                              <a:ea typeface="Cambria Math"/>
                            </a:rPr>
                          </m:ctrlPr>
                        </m:sSupPr>
                        <m:e>
                          <m:d>
                            <m:dPr>
                              <m:ctrlPr>
                                <a:rPr lang="it-IT" sz="2600" b="0" i="1" smtClean="0">
                                  <a:solidFill>
                                    <a:srgbClr val="087F83"/>
                                  </a:solidFill>
                                  <a:latin typeface="Cambria Math" panose="02040503050406030204" pitchFamily="18" charset="0"/>
                                  <a:ea typeface="Cambria Math"/>
                                </a:rPr>
                              </m:ctrlPr>
                            </m:dPr>
                            <m:e>
                              <m:r>
                                <a:rPr lang="it-IT" sz="2600" b="0" i="1" smtClean="0">
                                  <a:solidFill>
                                    <a:srgbClr val="087F83"/>
                                  </a:solidFill>
                                  <a:latin typeface="Cambria Math" panose="02040503050406030204" pitchFamily="18" charset="0"/>
                                  <a:ea typeface="Cambria Math"/>
                                </a:rPr>
                                <m:t>0,1</m:t>
                              </m:r>
                            </m:e>
                          </m:d>
                        </m:e>
                        <m:sup>
                          <m:r>
                            <a:rPr lang="it-IT" sz="2600" b="0" i="1" smtClean="0">
                              <a:solidFill>
                                <a:srgbClr val="087F83"/>
                              </a:solidFill>
                              <a:latin typeface="Cambria Math" panose="02040503050406030204" pitchFamily="18" charset="0"/>
                              <a:ea typeface="Cambria Math"/>
                            </a:rPr>
                            <m:t>1×</m:t>
                          </m:r>
                          <m:r>
                            <a:rPr lang="it-IT" sz="2600" b="0" i="1" smtClean="0">
                              <a:solidFill>
                                <a:srgbClr val="087F83"/>
                              </a:solidFill>
                              <a:latin typeface="Cambria Math" panose="02040503050406030204" pitchFamily="18" charset="0"/>
                              <a:ea typeface="Cambria Math"/>
                            </a:rPr>
                            <m:t>𝐾</m:t>
                          </m:r>
                        </m:sup>
                      </m:sSup>
                    </m:oMath>
                  </m:oMathPara>
                </a14:m>
                <a:endParaRPr lang="en-GB" sz="2600" dirty="0"/>
              </a:p>
            </p:txBody>
          </p:sp>
        </mc:Choice>
        <mc:Fallback>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noRot="1" noChangeAspect="1" noMove="1" noResize="1" noEditPoints="1" noAdjustHandles="1" noChangeArrowheads="1" noChangeShapeType="1" noTextEdit="1"/>
              </p:cNvSpPr>
              <p:nvPr/>
            </p:nvSpPr>
            <p:spPr>
              <a:xfrm>
                <a:off x="333375" y="2914650"/>
                <a:ext cx="11525250" cy="1209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p:cNvSpPr>
              <p:nvPr/>
            </p:nvSpPr>
            <p:spPr>
              <a:xfrm>
                <a:off x="666750" y="4324350"/>
                <a:ext cx="10858500" cy="923925"/>
              </a:xfrm>
              <a:prstGeom prst="rect">
                <a:avLst/>
              </a:prstGeom>
              <a:noFill/>
              <a:ln w="0">
                <a:noFill/>
              </a:ln>
            </p:spPr>
            <p:txBody>
              <a:bodyPr vertOverflow="overflow" horzOverflow="overflow" wrap="none" lIns="0" tIns="0" rIns="0" bIns="0" anchor="ctr">
                <a:noAutofit/>
              </a:bodyPr>
              <a:lstStyle/>
              <a:p>
                <a:pPr algn="ctr"/>
                <a:r>
                  <a:rPr lang="en-GB" sz="2900" dirty="0"/>
                  <a:t>Use the </a:t>
                </a:r>
                <a:r>
                  <a:rPr lang="en-GB" sz="2900" dirty="0">
                    <a:solidFill>
                      <a:srgbClr val="FF0000"/>
                    </a:solidFill>
                  </a:rPr>
                  <a:t>plug-in classifier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it-IT" sz="2900" b="0" i="1" smtClean="0">
                        <a:solidFill>
                          <a:srgbClr val="087F83"/>
                        </a:solidFill>
                        <a:latin typeface="Cambria Math" panose="02040503050406030204" pitchFamily="18" charset="0"/>
                        <a:ea typeface="Cambria Math"/>
                        <a:cs typeface="Cambria Math"/>
                      </a:rPr>
                      <m:t>∈</m:t>
                    </m:r>
                    <m:d>
                      <m:dPr>
                        <m:begChr m:val="{"/>
                        <m:endChr m:val="}"/>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1,…,</m:t>
                        </m:r>
                        <m:r>
                          <a:rPr lang="it-IT" sz="2900" b="0" i="1" smtClean="0">
                            <a:solidFill>
                              <a:srgbClr val="087F83"/>
                            </a:solidFill>
                            <a:latin typeface="Cambria Math" panose="02040503050406030204" pitchFamily="18" charset="0"/>
                            <a:ea typeface="Cambria Math"/>
                          </a:rPr>
                          <m:t>𝐾</m:t>
                        </m:r>
                      </m:e>
                    </m:d>
                  </m:oMath>
                </a14:m>
                <a:r>
                  <a:rPr lang="en-GB" sz="2900" dirty="0"/>
                  <a:t> associated with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a:t>
                </a:r>
              </a:p>
              <a:p>
                <a:pPr algn="ctr"/>
                <a:r>
                  <a:rPr lang="en-GB" sz="2900" dirty="0"/>
                  <a:t>choose the most probable class, breaking ties with the smallest index.</a:t>
                </a:r>
              </a:p>
            </p:txBody>
          </p:sp>
        </mc:Choice>
        <mc:Fallback>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noRot="1" noChangeAspect="1" noMove="1" noResize="1" noEditPoints="1" noAdjustHandles="1" noChangeArrowheads="1" noChangeShapeType="1" noTextEdit="1"/>
              </p:cNvSpPr>
              <p:nvPr/>
            </p:nvSpPr>
            <p:spPr>
              <a:xfrm>
                <a:off x="666750" y="4324350"/>
                <a:ext cx="10858500" cy="923925"/>
              </a:xfrm>
              <a:prstGeom prst="rect">
                <a:avLst/>
              </a:prstGeom>
              <a:blipFill>
                <a:blip r:embed="rId6"/>
                <a:stretch>
                  <a:fillRect t="-11184" b="-243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4">
                <a:extLst>
                  <a:ext uri="{FF2B5EF4-FFF2-40B4-BE49-F238E27FC236}">
                    <a16:creationId xmlns:a16="http://schemas.microsoft.com/office/drawing/2014/main" id="{F7AFA847-46A5-403C-A182-D33E7849F830}"/>
                  </a:ext>
                </a:extLst>
              </p:cNvPr>
              <p:cNvSpPr>
                <a:spLocks noGrp="1"/>
              </p:cNvSpPr>
              <p:nvPr/>
            </p:nvSpPr>
            <p:spPr>
              <a:xfrm>
                <a:off x="571500" y="5448300"/>
                <a:ext cx="11049000" cy="9239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Fit with the same </a:t>
                </a:r>
                <a:r>
                  <a:rPr sz="2100" b="1" dirty="0">
                    <a:solidFill>
                      <a:srgbClr val="FF0000"/>
                    </a:solidFill>
                    <a:latin typeface="DejaVu Sans"/>
                    <a:ea typeface="DejaVu Sans"/>
                    <a:cs typeface="DejaVu Sans"/>
                  </a:rPr>
                  <a:t>cross-entropy loss</a:t>
                </a:r>
                <a:endParaRPr lang="it-IT" sz="21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endParaRPr lang="it-IT" sz="12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14:m>
                  <m:oMathPara xmlns:m="http://schemas.openxmlformats.org/officeDocument/2006/math">
                    <m:oMath>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multi</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𝐩</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𝑦</m:t>
                              </m:r>
                            </m:sub>
                          </m:sSub>
                        </m:e>
                      </m:d>
                    </m:oMath>
                  </m:oMathPara>
                </a14:m>
                <a:endParaRPr sz="2600" b="1" dirty="0">
                  <a:solidFill>
                    <a:srgbClr val="182D45"/>
                  </a:solidFill>
                  <a:latin typeface="DejaVu Sans"/>
                  <a:ea typeface="DejaVu Sans"/>
                  <a:cs typeface="DejaVu Sans"/>
                </a:endParaRPr>
              </a:p>
            </p:txBody>
          </p:sp>
        </mc:Choice>
        <mc:Fallback xmlns="">
          <p:sp>
            <p:nvSpPr>
              <p:cNvPr id="8" name="text_4">
                <a:extLst>
                  <a:ext uri="{FF2B5EF4-FFF2-40B4-BE49-F238E27FC236}">
                    <a16:creationId xmlns:a16="http://schemas.microsoft.com/office/drawing/2014/main" id="{F7AFA847-46A5-403C-A182-D33E7849F830}"/>
                  </a:ext>
                </a:extLst>
              </p:cNvPr>
              <p:cNvSpPr>
                <a:spLocks noGrp="1" noRot="1" noChangeAspect="1" noMove="1" noResize="1" noEditPoints="1" noAdjustHandles="1" noChangeArrowheads="1" noChangeShapeType="1" noTextEdit="1"/>
              </p:cNvSpPr>
              <p:nvPr/>
            </p:nvSpPr>
            <p:spPr>
              <a:xfrm>
                <a:off x="571500" y="5448300"/>
                <a:ext cx="11049000" cy="923925"/>
              </a:xfrm>
              <a:prstGeom prst="rect">
                <a:avLst/>
              </a:prstGeom>
              <a:blipFill>
                <a:blip r:embed="rId7"/>
                <a:stretch>
                  <a:fillRect t="-11921" b="-264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4500043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8C4C6CC-B09E-4BC7-9564-EE6F71443C7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B34C7461-2A22-4432-B93D-88A3998E33C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2156035-5598-4EB8-BA33-366627D3787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6EAA34FA-5910-4DCF-A0BC-EBBCC2351B8A}"/>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5ADC7F0D-DDED-4363-9926-BA9137359051}"/>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7ED28730-3627-46CA-AAC2-318FE81AE0BC}"/>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21BA124E-7ECD-44AC-9842-4D38E78979D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ECC6D25-01F1-4157-AF70-5671DC3F4A7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regression</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problem</a:t>
            </a:r>
            <a:r>
              <a:rPr lang="it-IT" sz="3300" b="1" dirty="0">
                <a:solidFill>
                  <a:srgbClr val="182D45"/>
                </a:solidFill>
                <a:latin typeface="DejaVu Sans"/>
                <a:ea typeface="DejaVu Sans"/>
                <a:cs typeface="DejaVu Sans"/>
              </a:rPr>
              <a:t>: the</a:t>
            </a:r>
            <a:r>
              <a:rPr sz="3300" b="1" dirty="0">
                <a:solidFill>
                  <a:srgbClr val="182D45"/>
                </a:solidFill>
                <a:latin typeface="DejaVu Sans"/>
                <a:ea typeface="DejaVu Sans"/>
                <a:cs typeface="DejaVu Sans"/>
              </a:rPr>
              <a:t> tent function</a:t>
            </a:r>
          </a:p>
        </p:txBody>
      </p:sp>
      <p:sp>
        <p:nvSpPr>
          <p:cNvPr id="3" name="lead">
            <a:extLst>
              <a:ext uri="{FF2B5EF4-FFF2-40B4-BE49-F238E27FC236}">
                <a16:creationId xmlns:a16="http://schemas.microsoft.com/office/drawing/2014/main" id="{DF253483-57C0-461C-8D59-883CE387E94E}"/>
              </a:ext>
            </a:extLst>
          </p:cNvPr>
          <p:cNvSpPr>
            <a:spLocks noGrp="1"/>
          </p:cNvSpPr>
          <p:nvPr/>
        </p:nvSpPr>
        <p:spPr>
          <a:xfrm>
            <a:off x="523875" y="1019175"/>
            <a:ext cx="11144250" cy="5715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could choose this function as a </a:t>
            </a:r>
            <a:r>
              <a:rPr sz="2175" b="0" dirty="0">
                <a:solidFill>
                  <a:srgbClr val="FF0000"/>
                </a:solidFill>
                <a:latin typeface="DejaVu Sans"/>
                <a:ea typeface="DejaVu Sans"/>
                <a:cs typeface="DejaVu Sans"/>
              </a:rPr>
              <a:t>fixed feature</a:t>
            </a:r>
            <a:r>
              <a:rPr sz="2175" b="0" dirty="0">
                <a:solidFill>
                  <a:srgbClr val="526276"/>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4" name="axis_x">
                <a:extLst>
                  <a:ext uri="{FF2B5EF4-FFF2-40B4-BE49-F238E27FC236}">
                    <a16:creationId xmlns:a16="http://schemas.microsoft.com/office/drawing/2014/main" id="{0CAA4C5D-0F32-42C1-8AB5-231A04B11C71}"/>
                  </a:ext>
                </a:extLst>
              </p:cNvPr>
              <p:cNvSpPr>
                <a:spLocks noGrp="1"/>
              </p:cNvSpPr>
              <p:nvPr/>
            </p:nvSpPr>
            <p:spPr>
              <a:xfrm>
                <a:off x="5505450" y="5200650"/>
                <a:ext cx="1619250" cy="28575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sz="1650" b="0" dirty="0">
                  <a:solidFill>
                    <a:srgbClr val="182D45"/>
                  </a:solidFill>
                  <a:latin typeface="DejaVu Sans"/>
                  <a:ea typeface="DejaVu Sans"/>
                  <a:cs typeface="DejaVu Sans"/>
                </a:endParaRPr>
              </a:p>
            </p:txBody>
          </p:sp>
        </mc:Choice>
        <mc:Fallback xmlns="">
          <p:sp>
            <p:nvSpPr>
              <p:cNvPr id="4" name="axis_x">
                <a:extLst>
                  <a:ext uri="{FF2B5EF4-FFF2-40B4-BE49-F238E27FC236}">
                    <a16:creationId xmlns:a16="http://schemas.microsoft.com/office/drawing/2014/main" id="{0CAA4C5D-0F32-42C1-8AB5-231A04B11C71}"/>
                  </a:ext>
                </a:extLst>
              </p:cNvPr>
              <p:cNvSpPr>
                <a:spLocks noGrp="1" noRot="1" noChangeAspect="1" noMove="1" noResize="1" noEditPoints="1" noAdjustHandles="1" noChangeArrowheads="1" noChangeShapeType="1" noTextEdit="1"/>
              </p:cNvSpPr>
              <p:nvPr/>
            </p:nvSpPr>
            <p:spPr>
              <a:xfrm>
                <a:off x="5505450" y="5200650"/>
                <a:ext cx="1619250" cy="285750"/>
              </a:xfrm>
              <a:prstGeom prst="rect">
                <a:avLst/>
              </a:prstGeom>
              <a:blipFill>
                <a:blip r:embed="rId3"/>
                <a:stretch>
                  <a:fillRect/>
                </a:stretch>
              </a:blipFill>
              <a:ln w="0">
                <a:noFill/>
              </a:ln>
            </p:spPr>
            <p:txBody>
              <a:bodyPr/>
              <a:lstStyle/>
              <a:p>
                <a:r>
                  <a:rPr lang="it-IT">
                    <a:noFill/>
                  </a:rPr>
                  <a:t> </a:t>
                </a:r>
              </a:p>
            </p:txBody>
          </p:sp>
        </mc:Fallback>
      </mc:AlternateContent>
      <p:sp>
        <p:nvSpPr>
          <p:cNvPr id="5" name="question">
            <a:extLst>
              <a:ext uri="{FF2B5EF4-FFF2-40B4-BE49-F238E27FC236}">
                <a16:creationId xmlns:a16="http://schemas.microsoft.com/office/drawing/2014/main" id="{BC4756EC-FB87-48C1-B98A-756142D718AE}"/>
              </a:ext>
            </a:extLst>
          </p:cNvPr>
          <p:cNvSpPr>
            <a:spLocks noGrp="1"/>
          </p:cNvSpPr>
          <p:nvPr/>
        </p:nvSpPr>
        <p:spPr>
          <a:xfrm>
            <a:off x="571500" y="5514975"/>
            <a:ext cx="11049000" cy="781050"/>
          </a:xfrm>
          <a:prstGeom prst="rect">
            <a:avLst/>
          </a:prstGeom>
          <a:noFill/>
          <a:ln w="0">
            <a:noFill/>
          </a:ln>
        </p:spPr>
        <p:txBody>
          <a:bodyPr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Can we build it</a:t>
            </a:r>
            <a:endParaRPr lang="it-IT" sz="2250" b="1" dirty="0">
              <a:solidFill>
                <a:srgbClr val="FF0000"/>
              </a:solidFill>
              <a:latin typeface="DejaVu Sans"/>
              <a:ea typeface="DejaVu Sans"/>
              <a:cs typeface="DejaVu Sans"/>
            </a:endParaRPr>
          </a:p>
          <a:p>
            <a:pPr algn="ctr">
              <a:defRPr sz="2250" b="1">
                <a:solidFill>
                  <a:srgbClr val="182D45"/>
                </a:solidFill>
                <a:latin typeface="DejaVu Sans"/>
                <a:ea typeface="DejaVu Sans"/>
                <a:cs typeface="DejaVu Sans"/>
              </a:defRPr>
            </a:pPr>
            <a:r>
              <a:rPr lang="it-IT" sz="2250" b="1" dirty="0">
                <a:solidFill>
                  <a:srgbClr val="182D45"/>
                </a:solidFill>
                <a:latin typeface="DejaVu Sans"/>
                <a:ea typeface="DejaVu Sans"/>
                <a:cs typeface="DejaVu Sans"/>
              </a:rPr>
              <a:t>by </a:t>
            </a:r>
            <a:r>
              <a:rPr lang="it-IT" sz="2250" b="1" dirty="0" err="1">
                <a:solidFill>
                  <a:srgbClr val="FF0000"/>
                </a:solidFill>
                <a:latin typeface="DejaVu Sans"/>
                <a:ea typeface="DejaVu Sans"/>
                <a:cs typeface="DejaVu Sans"/>
              </a:rPr>
              <a:t>adjusting</a:t>
            </a:r>
            <a:r>
              <a:rPr lang="it-IT" sz="2250" b="1" dirty="0">
                <a:solidFill>
                  <a:srgbClr val="FF0000"/>
                </a:solidFill>
                <a:latin typeface="DejaVu Sans"/>
                <a:ea typeface="DejaVu Sans"/>
                <a:cs typeface="DejaVu Sans"/>
              </a:rPr>
              <a:t> the </a:t>
            </a:r>
            <a:r>
              <a:rPr lang="it-IT" sz="2250" b="1" dirty="0" err="1">
                <a:solidFill>
                  <a:srgbClr val="FF0000"/>
                </a:solidFill>
                <a:latin typeface="DejaVu Sans"/>
                <a:ea typeface="DejaVu Sans"/>
                <a:cs typeface="DejaVu Sans"/>
              </a:rPr>
              <a:t>parameters</a:t>
            </a:r>
            <a:r>
              <a:rPr lang="it-IT" sz="2250" b="1" dirty="0">
                <a:solidFill>
                  <a:srgbClr val="FF0000"/>
                </a:solidFill>
                <a:latin typeface="DejaVu Sans"/>
                <a:ea typeface="DejaVu Sans"/>
                <a:cs typeface="DejaVu Sans"/>
              </a:rPr>
              <a:t> </a:t>
            </a:r>
            <a:r>
              <a:rPr lang="it-IT" sz="2250" b="1" dirty="0">
                <a:solidFill>
                  <a:srgbClr val="182D45"/>
                </a:solidFill>
                <a:latin typeface="DejaVu Sans"/>
                <a:ea typeface="DejaVu Sans"/>
                <a:cs typeface="DejaVu Sans"/>
              </a:rPr>
              <a:t>of a </a:t>
            </a:r>
            <a:r>
              <a:rPr lang="it-IT" sz="2250" b="1" dirty="0" err="1">
                <a:solidFill>
                  <a:srgbClr val="182D45"/>
                </a:solidFill>
                <a:latin typeface="DejaVu Sans"/>
                <a:ea typeface="DejaVu Sans"/>
                <a:cs typeface="DejaVu Sans"/>
              </a:rPr>
              <a:t>Neural</a:t>
            </a:r>
            <a:r>
              <a:rPr lang="it-IT" sz="2250" b="1" dirty="0">
                <a:solidFill>
                  <a:srgbClr val="182D45"/>
                </a:solidFill>
                <a:latin typeface="DejaVu Sans"/>
                <a:ea typeface="DejaVu Sans"/>
                <a:cs typeface="DejaVu Sans"/>
              </a:rPr>
              <a:t> Network?</a:t>
            </a:r>
          </a:p>
        </p:txBody>
      </p:sp>
      <p:graphicFrame>
        <p:nvGraphicFramePr>
          <p:cNvPr id="6" name="Chart"/>
          <p:cNvGraphicFramePr/>
          <p:nvPr/>
        </p:nvGraphicFramePr>
        <p:xfrm>
          <a:off x="1809750" y="1857375"/>
          <a:ext cx="8191500" cy="3333750"/>
        </p:xfrm>
        <a:graphic>
          <a:graphicData uri="http://schemas.openxmlformats.org/drawingml/2006/chart">
            <c:chart xmlns:c="http://schemas.openxmlformats.org/drawingml/2006/chart" xmlns:r="http://schemas.openxmlformats.org/officeDocument/2006/relationships" r:id="rId4"/>
          </a:graphicData>
        </a:graphic>
      </p:graphicFrame>
      <p:sp>
        <p:nvSpPr>
          <p:cNvPr id="7" name="footer_course">
            <a:extLst>
              <a:ext uri="{FF2B5EF4-FFF2-40B4-BE49-F238E27FC236}">
                <a16:creationId xmlns:a16="http://schemas.microsoft.com/office/drawing/2014/main" id="{E8BFCB12-2AF9-47A0-ABF7-C68679855B7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8" name="footer_number">
            <a:extLst>
              <a:ext uri="{FF2B5EF4-FFF2-40B4-BE49-F238E27FC236}">
                <a16:creationId xmlns:a16="http://schemas.microsoft.com/office/drawing/2014/main" id="{D0143490-68FA-45D5-8E2E-27F2CA44486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Tree>
    <p:extLst>
      <p:ext uri="{BB962C8B-B14F-4D97-AF65-F5344CB8AC3E}">
        <p14:creationId xmlns:p14="http://schemas.microsoft.com/office/powerpoint/2010/main" val="2611713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59A07BF-D907-493D-896F-F4E4C47F22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start</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83C7DFC-FAE9-4C62-AA69-2AA2E0A4A3AA}"/>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0</m:t>
                    </m:r>
                  </m:oMath>
                </a14:m>
                <a:r>
                  <a:rPr sz="2175" b="0" dirty="0">
                    <a:solidFill>
                      <a:srgbClr val="526276"/>
                    </a:solidFill>
                    <a:latin typeface="DejaVu Sans"/>
                    <a:ea typeface="DejaVu Sans"/>
                    <a:cs typeface="DejaVu Sans"/>
                  </a:rPr>
                  <a:t>, the slope changes from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 to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83C7DFC-FAE9-4C62-AA69-2AA2E0A4A3AA}"/>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1E128B2-389A-4C88-9F30-B40D59516F6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DD54D2B-A953-4F46-B9FC-C77620ED778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T_1(x)=\operatorname{ReLU}(x)">
                <a:extLst>
                  <a:ext uri="{FF2B5EF4-FFF2-40B4-BE49-F238E27FC236}">
                    <a16:creationId xmlns:a16="http://schemas.microsoft.com/office/drawing/2014/main" id="{CF1DF4AA-2EC8-4155-8B56-611904AC0BF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oMath>
                  </m:oMathPara>
                </a14:m>
                <a:endParaRPr lang="en-GB" sz="3100" dirty="0"/>
              </a:p>
            </p:txBody>
          </p:sp>
        </mc:Choice>
        <mc:Fallback xmlns="">
          <p:sp>
            <p:nvSpPr>
              <p:cNvPr id="5" name="equation_1" descr="T_1(x)=\operatorname{ReLU}(x)">
                <a:extLst>
                  <a:ext uri="{FF2B5EF4-FFF2-40B4-BE49-F238E27FC236}">
                    <a16:creationId xmlns:a16="http://schemas.microsoft.com/office/drawing/2014/main" id="{CF1DF4AA-2EC8-4155-8B56-611904AC0BFA}"/>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2DC0162E-A9AD-40AE-A592-5DEC1D4527A6}"/>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2DC0162E-A9AD-40AE-A592-5DEC1D4527A6}"/>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E54DFE30-6504-402F-ABFB-041A6244DD92}"/>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One neuron</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=1</m:t>
                    </m:r>
                  </m:oMath>
                </a14:m>
                <a:endParaRPr lang="en-GB" sz="2100"/>
              </a:p>
            </p:txBody>
          </p:sp>
        </mc:Choice>
        <mc:Fallback xmlns="">
          <p:sp>
            <p:nvSpPr>
              <p:cNvPr id="8" name="text_3">
                <a:extLst>
                  <a:ext uri="{FF2B5EF4-FFF2-40B4-BE49-F238E27FC236}">
                    <a16:creationId xmlns:a16="http://schemas.microsoft.com/office/drawing/2014/main" id="{E54DFE30-6504-402F-ABFB-041A6244DD92}"/>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22C42B21-73A9-4D38-8AF7-73277AC3C24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target returns</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to zero.</a:t>
            </a:r>
          </a:p>
        </p:txBody>
      </p:sp>
      <p:sp>
        <p:nvSpPr>
          <p:cNvPr id="10" name="text_5">
            <a:extLst>
              <a:ext uri="{FF2B5EF4-FFF2-40B4-BE49-F238E27FC236}">
                <a16:creationId xmlns:a16="http://schemas.microsoft.com/office/drawing/2014/main" id="{778978B4-9D62-4814-81DC-5CF36FEC6854}"/>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ReLU creates one change of slope.</a:t>
            </a:r>
          </a:p>
        </p:txBody>
      </p:sp>
    </p:spTree>
    <p:extLst>
      <p:ext uri="{BB962C8B-B14F-4D97-AF65-F5344CB8AC3E}">
        <p14:creationId xmlns:p14="http://schemas.microsoft.com/office/powerpoint/2010/main" val="1408614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4F959B3-8C18-4618-A3C1-74231221C9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turn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58EAA5C-8FBD-4A4B-B939-BA46D92F0F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1</m:t>
                    </m:r>
                  </m:oMath>
                </a14:m>
                <a:r>
                  <a:rPr sz="2175" b="0" dirty="0">
                    <a:solidFill>
                      <a:srgbClr val="526276"/>
                    </a:solidFill>
                    <a:latin typeface="DejaVu Sans"/>
                    <a:ea typeface="DejaVu Sans"/>
                    <a:cs typeface="DejaVu Sans"/>
                  </a:rPr>
                  <a:t>, the second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B58EAA5C-8FBD-4A4B-B939-BA46D92F0F0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75A1BD0-8566-40A5-9A37-06D8B01FDB9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A8D9275-1FFB-4249-86DF-631F382394B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2</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−2</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r>
                            <a:rPr lang="en-GB" sz="3100">
                              <a:solidFill>
                                <a:srgbClr val="087F83"/>
                              </a:solidFill>
                              <a:latin typeface="Cambria Math"/>
                              <a:ea typeface="Cambria Math"/>
                              <a:cs typeface="Cambria Math"/>
                            </a:rPr>
                            <m:t>−1</m:t>
                          </m:r>
                        </m:e>
                      </m:d>
                    </m:oMath>
                  </m:oMathPara>
                </a14:m>
                <a:endParaRPr lang="en-GB" sz="3100" dirty="0"/>
              </a:p>
            </p:txBody>
          </p:sp>
        </mc:Choice>
        <mc:Fallback xmlns="">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364D716E-2A84-49C8-B364-FF588A76D0A9}"/>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364D716E-2A84-49C8-B364-FF588A76D0A9}"/>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8C01EC18-3ED5-4278-B4A6-2DCA40AE57A6}"/>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Two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=2</m:t>
                    </m:r>
                  </m:oMath>
                </a14:m>
                <a:endParaRPr lang="en-GB" sz="2100"/>
              </a:p>
            </p:txBody>
          </p:sp>
        </mc:Choice>
        <mc:Fallback xmlns="">
          <p:sp>
            <p:nvSpPr>
              <p:cNvPr id="8" name="text_3">
                <a:extLst>
                  <a:ext uri="{FF2B5EF4-FFF2-40B4-BE49-F238E27FC236}">
                    <a16:creationId xmlns:a16="http://schemas.microsoft.com/office/drawing/2014/main" id="{8C01EC18-3ED5-4278-B4A6-2DCA40AE57A6}"/>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220210C2-8055-4C8C-AD11-750D6E652E5B}"/>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slope is now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but must become zero.</a:t>
                </a:r>
              </a:p>
            </p:txBody>
          </p:sp>
        </mc:Choice>
        <mc:Fallback xmlns="">
          <p:sp>
            <p:nvSpPr>
              <p:cNvPr id="9" name="text_4">
                <a:extLst>
                  <a:ext uri="{FF2B5EF4-FFF2-40B4-BE49-F238E27FC236}">
                    <a16:creationId xmlns:a16="http://schemas.microsoft.com/office/drawing/2014/main" id="{220210C2-8055-4C8C-AD11-750D6E652E5B}"/>
                  </a:ext>
                </a:extLst>
              </p:cNvPr>
              <p:cNvSpPr>
                <a:spLocks noGrp="1" noRot="1" noChangeAspect="1" noMove="1" noResize="1" noEditPoints="1" noAdjustHandles="1" noChangeArrowheads="1" noChangeShapeType="1" noTextEdit="1"/>
              </p:cNvSpPr>
              <p:nvPr/>
            </p:nvSpPr>
            <p:spPr>
              <a:xfrm>
                <a:off x="7810500" y="4076700"/>
                <a:ext cx="3714750" cy="1000125"/>
              </a:xfrm>
              <a:prstGeom prst="rect">
                <a:avLst/>
              </a:prstGeom>
              <a:blipFill>
                <a:blip r:embed="rId8"/>
                <a:stretch>
                  <a:fillRect/>
                </a:stretch>
              </a:blipFill>
              <a:ln w="0">
                <a:noFill/>
              </a:ln>
            </p:spPr>
            <p:txBody>
              <a:bodyPr/>
              <a:lstStyle/>
              <a:p>
                <a:r>
                  <a:rPr lang="it-IT">
                    <a:noFill/>
                  </a:rPr>
                  <a:t> </a:t>
                </a:r>
              </a:p>
            </p:txBody>
          </p:sp>
        </mc:Fallback>
      </mc:AlternateContent>
      <p:sp>
        <p:nvSpPr>
          <p:cNvPr id="10" name="text_5">
            <a:extLst>
              <a:ext uri="{FF2B5EF4-FFF2-40B4-BE49-F238E27FC236}">
                <a16:creationId xmlns:a16="http://schemas.microsoft.com/office/drawing/2014/main" id="{E90B6834-572A-4B6C-85C6-134D9E0C1687}"/>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output weights can be negative.</a:t>
            </a:r>
          </a:p>
        </p:txBody>
      </p:sp>
    </p:spTree>
    <p:extLst>
      <p:ext uri="{BB962C8B-B14F-4D97-AF65-F5344CB8AC3E}">
        <p14:creationId xmlns:p14="http://schemas.microsoft.com/office/powerpoint/2010/main" val="10485190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1B718B5A-35C2-4BE4-BDC2-E2F75FFC526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stop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022D751-51ED-4B66-A849-BC87AC9B42D0}"/>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the third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022D751-51ED-4B66-A849-BC87AC9B42D0}"/>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B0CF4B3-DCA5-4BF0-9617-E9B6FF69DB5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0FF3E57-32BB-424A-A8E2-64FABA4EB3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5B92E327-D9D0-460B-B341-DE2122437C4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0DE4B5FF-9496-4D76-A47B-06645A2E9429}"/>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DB58D26C-81DD-4B96-8ED9-2F7FFA0708E2}"/>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DB58D26C-81DD-4B96-8ED9-2F7FFA0708E2}"/>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three_units">
                <a:extLst>
                  <a:ext uri="{FF2B5EF4-FFF2-40B4-BE49-F238E27FC236}">
                    <a16:creationId xmlns:a16="http://schemas.microsoft.com/office/drawing/2014/main" id="{1F632ECA-7704-4BBC-BAC9-983DF2DE212F}"/>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Three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=3</m:t>
                    </m:r>
                  </m:oMath>
                </a14:m>
                <a:endParaRPr lang="en-GB" sz="2100"/>
              </a:p>
            </p:txBody>
          </p:sp>
        </mc:Choice>
        <mc:Fallback xmlns="">
          <p:sp>
            <p:nvSpPr>
              <p:cNvPr id="19" name="three_units">
                <a:extLst>
                  <a:ext uri="{FF2B5EF4-FFF2-40B4-BE49-F238E27FC236}">
                    <a16:creationId xmlns:a16="http://schemas.microsoft.com/office/drawing/2014/main" id="{1F632ECA-7704-4BBC-BAC9-983DF2DE212F}"/>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20" name="completion">
            <a:extLst>
              <a:ext uri="{FF2B5EF4-FFF2-40B4-BE49-F238E27FC236}">
                <a16:creationId xmlns:a16="http://schemas.microsoft.com/office/drawing/2014/main" id="{2A3CF8A8-B357-47DB-A449-E71138363A5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slope returns to zero.</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tent is complete.</a:t>
            </a:r>
          </a:p>
        </p:txBody>
      </p:sp>
      <p:sp>
        <p:nvSpPr>
          <p:cNvPr id="21" name="takeaway">
            <a:extLst>
              <a:ext uri="{FF2B5EF4-FFF2-40B4-BE49-F238E27FC236}">
                <a16:creationId xmlns:a16="http://schemas.microsoft.com/office/drawing/2014/main" id="{D3C84D02-87FA-4A5B-AA74-0856759A1BB8}"/>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Three </a:t>
            </a:r>
            <a:r>
              <a:rPr lang="it-IT" sz="2025" b="1" dirty="0" err="1">
                <a:solidFill>
                  <a:srgbClr val="182D45"/>
                </a:solidFill>
                <a:latin typeface="DejaVu Sans"/>
                <a:ea typeface="DejaVu Sans"/>
                <a:cs typeface="DejaVu Sans"/>
              </a:rPr>
              <a:t>neurons</a:t>
            </a:r>
            <a:r>
              <a:rPr sz="2025" b="1" dirty="0">
                <a:solidFill>
                  <a:srgbClr val="182D45"/>
                </a:solidFill>
                <a:latin typeface="DejaVu Sans"/>
                <a:ea typeface="DejaVu Sans"/>
                <a:cs typeface="DejaVu Sans"/>
              </a:rPr>
              <a:t> </a:t>
            </a:r>
            <a:r>
              <a:rPr lang="it-IT" sz="2025" b="1" dirty="0">
                <a:solidFill>
                  <a:srgbClr val="182D45"/>
                </a:solidFill>
                <a:latin typeface="DejaVu Sans"/>
                <a:ea typeface="DejaVu Sans"/>
                <a:cs typeface="DejaVu Sans"/>
              </a:rPr>
              <a:t>can </a:t>
            </a:r>
            <a:r>
              <a:rPr sz="2025" b="1" dirty="0">
                <a:solidFill>
                  <a:srgbClr val="182D45"/>
                </a:solidFill>
                <a:latin typeface="DejaVu Sans"/>
                <a:ea typeface="DejaVu Sans"/>
                <a:cs typeface="DejaVu Sans"/>
              </a:rPr>
              <a:t>produce the tent function.</a:t>
            </a:r>
          </a:p>
        </p:txBody>
      </p:sp>
    </p:spTree>
    <p:extLst>
      <p:ext uri="{BB962C8B-B14F-4D97-AF65-F5344CB8AC3E}">
        <p14:creationId xmlns:p14="http://schemas.microsoft.com/office/powerpoint/2010/main" val="2140362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51941221-56FE-4B26-BEDF-35ED92D226F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parameters of the tent network</a:t>
            </a:r>
          </a:p>
        </p:txBody>
      </p:sp>
      <p:sp>
        <p:nvSpPr>
          <p:cNvPr id="2" name="lead">
            <a:extLst>
              <a:ext uri="{FF2B5EF4-FFF2-40B4-BE49-F238E27FC236}">
                <a16:creationId xmlns:a16="http://schemas.microsoft.com/office/drawing/2014/main" id="{F5186BFC-575D-4444-A6D5-4C74F4BBA5D5}"/>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400" dirty="0">
                <a:ea typeface="Cambria Math"/>
                <a:cs typeface="Cambria Math"/>
              </a:rPr>
              <a:t>The tent function can be represented by a neural network with architecture:  </a:t>
            </a:r>
            <a:r>
              <a:rPr lang="it-IT" sz="2400" dirty="0">
                <a:latin typeface="DejaVu Sans"/>
                <a:ea typeface="DejaVu Sans"/>
                <a:cs typeface="DejaVu Sans"/>
              </a:rPr>
              <a:t>1 → 3 → 1</a:t>
            </a:r>
            <a:endParaRPr lang="en-GB" sz="2400" dirty="0"/>
          </a:p>
        </p:txBody>
      </p:sp>
      <p:sp>
        <p:nvSpPr>
          <p:cNvPr id="3" name="footer_course">
            <a:extLst>
              <a:ext uri="{FF2B5EF4-FFF2-40B4-BE49-F238E27FC236}">
                <a16:creationId xmlns:a16="http://schemas.microsoft.com/office/drawing/2014/main" id="{C29C6306-0C32-47DE-9C59-18AF7406A28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1670986D-933E-4F46-B029-0D25BDA026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mc:AlternateContent xmlns:mc="http://schemas.openxmlformats.org/markup-compatibility/2006">
        <mc:Choice xmlns:a14="http://schemas.microsoft.com/office/drawing/2010/main" Requires="a14">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p:cNvSpPr>
              <p:nvPr/>
            </p:nvSpPr>
            <p:spPr>
              <a:xfrm>
                <a:off x="82296" y="1809750"/>
                <a:ext cx="11996928"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a:rPr lang="it-IT" sz="2700" b="0" i="0" smtClean="0">
                          <a:solidFill>
                            <a:srgbClr val="00B0F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m:rPr>
                          <m:sty m:val="p"/>
                        </m:rPr>
                        <a:rPr lang="en-GB" sz="2700" smtClean="0">
                          <a:solidFill>
                            <a:srgbClr val="087F83"/>
                          </a:solidFill>
                          <a:latin typeface="Cambria Math"/>
                          <a:ea typeface="Cambria Math"/>
                          <a:cs typeface="Cambria Math"/>
                        </a:rPr>
                        <m:t>ReL</m:t>
                      </m:r>
                      <m:r>
                        <m:rPr>
                          <m:sty m:val="p"/>
                        </m:rPr>
                        <a:rPr lang="en-GB" sz="2700" smtClean="0">
                          <a:solidFill>
                            <a:srgbClr val="087F83"/>
                          </a:solidFill>
                          <a:latin typeface="Cambria Math"/>
                          <a:ea typeface="Cambria Math"/>
                          <a:cs typeface="Cambria Math"/>
                        </a:rPr>
                        <m:t>U</m:t>
                      </m:r>
                      <m:d>
                        <m:dPr>
                          <m:ctrlPr>
                            <a:rPr lang="it-IT" sz="2700">
                              <a:solidFill>
                                <a:srgbClr val="FF0000"/>
                              </a:solidFill>
                              <a:latin typeface="Cambria Math" panose="02040503050406030204" pitchFamily="18" charset="0"/>
                              <a:ea typeface="Cambria Math"/>
                              <a:cs typeface="Cambria Math"/>
                            </a:rPr>
                          </m:ctrlPr>
                        </m:dPr>
                        <m:e>
                          <m:r>
                            <a:rPr lang="it-IT" sz="2700">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a:solidFill>
                                <a:srgbClr val="087F83"/>
                              </a:solidFill>
                              <a:latin typeface="Cambria Math" panose="02040503050406030204" pitchFamily="18" charset="0"/>
                              <a:ea typeface="Cambria Math"/>
                              <a:cs typeface="Cambria Math"/>
                            </a:rPr>
                            <m:t>+</m:t>
                          </m:r>
                          <m:r>
                            <a:rPr lang="it-IT" sz="2700" i="1">
                              <a:solidFill>
                                <a:srgbClr val="9C7400"/>
                              </a:solidFill>
                              <a:latin typeface="Cambria Math" panose="02040503050406030204" pitchFamily="18" charset="0"/>
                              <a:ea typeface="Cambria Math"/>
                              <a:cs typeface="Cambria Math"/>
                            </a:rPr>
                            <m:t>0</m:t>
                          </m:r>
                        </m:e>
                      </m:d>
                      <m:r>
                        <a:rPr lang="en-GB" sz="2700">
                          <a:solidFill>
                            <a:srgbClr val="087F83"/>
                          </a:solidFill>
                          <a:latin typeface="Cambria Math"/>
                          <a:ea typeface="Cambria Math"/>
                          <a:cs typeface="Cambria Math"/>
                        </a:rPr>
                        <m:t>−</m:t>
                      </m:r>
                      <m:r>
                        <a:rPr lang="en-GB" sz="2700" smtClean="0">
                          <a:solidFill>
                            <a:srgbClr val="00B0F0"/>
                          </a:solidFill>
                          <a:latin typeface="Cambria Math"/>
                          <a:ea typeface="Cambria Math"/>
                          <a:cs typeface="Cambria Math"/>
                        </a:rPr>
                        <m:t>2</m:t>
                      </m:r>
                      <m:r>
                        <a:rPr lang="it-IT" sz="2700" b="0" i="1" smtClean="0">
                          <a:solidFill>
                            <a:srgbClr val="087F83"/>
                          </a:solidFill>
                          <a:latin typeface="Cambria Math" panose="02040503050406030204" pitchFamily="18" charset="0"/>
                          <a:ea typeface="Cambria Math"/>
                          <a:cs typeface="Cambria Math"/>
                        </a:rPr>
                        <m:t>⋅</m:t>
                      </m:r>
                      <m:r>
                        <m:rPr>
                          <m:sty m:val="p"/>
                        </m:rPr>
                        <a:rPr lang="en-GB" sz="2700">
                          <a:solidFill>
                            <a:srgbClr val="087F83"/>
                          </a:solidFill>
                          <a:latin typeface="Cambria Math"/>
                          <a:ea typeface="Cambria Math"/>
                          <a:cs typeface="Cambria Math"/>
                        </a:rPr>
                        <m:t>ReL</m:t>
                      </m:r>
                      <m:r>
                        <m:rPr>
                          <m:sty m:val="p"/>
                        </m:rPr>
                        <a:rPr lang="en-GB" sz="2700" smtClean="0">
                          <a:solidFill>
                            <a:srgbClr val="087F83"/>
                          </a:solidFill>
                          <a:latin typeface="Cambria Math"/>
                          <a:ea typeface="Cambria Math"/>
                          <a:cs typeface="Cambria Math"/>
                        </a:rPr>
                        <m:t>U</m:t>
                      </m:r>
                      <m:d>
                        <m:dPr>
                          <m:ctrlPr>
                            <a:rPr lang="it-IT" sz="2700">
                              <a:solidFill>
                                <a:srgbClr val="FF0000"/>
                              </a:solidFill>
                              <a:latin typeface="Cambria Math" panose="02040503050406030204" pitchFamily="18" charset="0"/>
                              <a:ea typeface="Cambria Math"/>
                              <a:cs typeface="Cambria Math"/>
                            </a:rPr>
                          </m:ctrlPr>
                        </m:dPr>
                        <m:e>
                          <m:r>
                            <a:rPr lang="it-IT" sz="2700">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smtClean="0">
                              <a:solidFill>
                                <a:srgbClr val="087F83"/>
                              </a:solidFill>
                              <a:latin typeface="Cambria Math" panose="02040503050406030204" pitchFamily="18" charset="0"/>
                              <a:ea typeface="Cambria Math"/>
                              <a:cs typeface="Cambria Math"/>
                            </a:rPr>
                            <m:t>+</m:t>
                          </m:r>
                          <m:d>
                            <m:dPr>
                              <m:ctrlPr>
                                <a:rPr lang="en-GB" sz="2700">
                                  <a:solidFill>
                                    <a:srgbClr val="9C7400"/>
                                  </a:solidFill>
                                  <a:latin typeface="Cambria Math"/>
                                  <a:ea typeface="Cambria Math"/>
                                  <a:cs typeface="Cambria Math"/>
                                </a:rPr>
                              </m:ctrlPr>
                            </m:dPr>
                            <m:e>
                              <m:r>
                                <a:rPr lang="en-GB" sz="2700">
                                  <a:solidFill>
                                    <a:srgbClr val="9C7400"/>
                                  </a:solidFill>
                                  <a:latin typeface="Cambria Math"/>
                                  <a:ea typeface="Cambria Math"/>
                                  <a:cs typeface="Cambria Math"/>
                                </a:rPr>
                                <m:t>−1</m:t>
                              </m:r>
                            </m:e>
                          </m:d>
                        </m:e>
                      </m:d>
                      <m:r>
                        <a:rPr lang="en-GB" sz="2700">
                          <a:solidFill>
                            <a:srgbClr val="087F83"/>
                          </a:solidFill>
                          <a:latin typeface="Cambria Math"/>
                          <a:ea typeface="Cambria Math"/>
                          <a:cs typeface="Cambria Math"/>
                        </a:rPr>
                        <m:t>+</m:t>
                      </m:r>
                      <m:r>
                        <a:rPr lang="it-IT" sz="2700" b="0" i="0" smtClean="0">
                          <a:solidFill>
                            <a:srgbClr val="00B0F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m:rPr>
                          <m:sty m:val="p"/>
                        </m:rPr>
                        <a:rPr lang="en-GB" sz="2700">
                          <a:solidFill>
                            <a:srgbClr val="087F83"/>
                          </a:solidFill>
                          <a:latin typeface="Cambria Math"/>
                          <a:ea typeface="Cambria Math"/>
                          <a:cs typeface="Cambria Math"/>
                        </a:rPr>
                        <m:t>ReL</m:t>
                      </m:r>
                      <m:r>
                        <m:rPr>
                          <m:sty m:val="p"/>
                        </m:rPr>
                        <a:rPr lang="en-GB" sz="2700" smtClean="0">
                          <a:solidFill>
                            <a:srgbClr val="087F83"/>
                          </a:solidFill>
                          <a:latin typeface="Cambria Math"/>
                          <a:ea typeface="Cambria Math"/>
                          <a:cs typeface="Cambria Math"/>
                        </a:rPr>
                        <m:t>U</m:t>
                      </m:r>
                      <m:d>
                        <m:dPr>
                          <m:ctrlPr>
                            <a:rPr lang="it-IT" sz="2700" i="1">
                              <a:solidFill>
                                <a:srgbClr val="FF0000"/>
                              </a:solidFill>
                              <a:latin typeface="Cambria Math" panose="02040503050406030204" pitchFamily="18" charset="0"/>
                              <a:ea typeface="Cambria Math"/>
                              <a:cs typeface="Cambria Math"/>
                            </a:rPr>
                          </m:ctrlPr>
                        </m:dPr>
                        <m:e>
                          <m:r>
                            <a:rPr lang="it-IT" sz="2700" i="1">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smtClean="0">
                              <a:solidFill>
                                <a:srgbClr val="087F83"/>
                              </a:solidFill>
                              <a:latin typeface="Cambria Math" panose="02040503050406030204" pitchFamily="18" charset="0"/>
                              <a:ea typeface="Cambria Math"/>
                              <a:cs typeface="Cambria Math"/>
                            </a:rPr>
                            <m:t>+</m:t>
                          </m:r>
                          <m:d>
                            <m:dPr>
                              <m:ctrlPr>
                                <a:rPr lang="en-GB" sz="2700">
                                  <a:solidFill>
                                    <a:srgbClr val="9C7400"/>
                                  </a:solidFill>
                                  <a:latin typeface="Cambria Math"/>
                                  <a:ea typeface="Cambria Math"/>
                                  <a:cs typeface="Cambria Math"/>
                                </a:rPr>
                              </m:ctrlPr>
                            </m:dPr>
                            <m:e>
                              <m:r>
                                <a:rPr lang="en-GB" sz="2700">
                                  <a:solidFill>
                                    <a:srgbClr val="9C7400"/>
                                  </a:solidFill>
                                  <a:latin typeface="Cambria Math"/>
                                  <a:ea typeface="Cambria Math"/>
                                  <a:cs typeface="Cambria Math"/>
                                </a:rPr>
                                <m:t>−2</m:t>
                              </m:r>
                            </m:e>
                          </m:d>
                        </m:e>
                      </m:d>
                      <m:r>
                        <a:rPr lang="it-IT" sz="2700" b="0" i="1" smtClean="0">
                          <a:solidFill>
                            <a:srgbClr val="087F83"/>
                          </a:solidFill>
                          <a:latin typeface="Cambria Math" panose="02040503050406030204" pitchFamily="18" charset="0"/>
                          <a:ea typeface="Cambria Math"/>
                          <a:cs typeface="Cambria Math"/>
                        </a:rPr>
                        <m:t>+</m:t>
                      </m:r>
                      <m:r>
                        <a:rPr lang="it-IT" sz="2700" b="0" i="1" smtClean="0">
                          <a:solidFill>
                            <a:srgbClr val="C45C28"/>
                          </a:solidFill>
                          <a:latin typeface="Cambria Math" panose="02040503050406030204" pitchFamily="18" charset="0"/>
                          <a:ea typeface="Cambria Math"/>
                          <a:cs typeface="Cambria Math"/>
                        </a:rPr>
                        <m:t>0</m:t>
                      </m:r>
                    </m:oMath>
                  </m:oMathPara>
                </a14:m>
                <a:endParaRPr lang="en-GB" sz="2700" dirty="0"/>
              </a:p>
            </p:txBody>
          </p:sp>
        </mc:Choice>
        <mc:Fallback>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noRot="1" noChangeAspect="1" noMove="1" noResize="1" noEditPoints="1" noAdjustHandles="1" noChangeArrowheads="1" noChangeShapeType="1" noTextEdit="1"/>
              </p:cNvSpPr>
              <p:nvPr/>
            </p:nvSpPr>
            <p:spPr>
              <a:xfrm>
                <a:off x="82296" y="1809750"/>
                <a:ext cx="11996928" cy="809625"/>
              </a:xfrm>
              <a:prstGeom prst="rect">
                <a:avLst/>
              </a:prstGeom>
              <a:blipFill>
                <a:blip r:embed="rId3"/>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ABA1D3F4-A5E5-42A9-917E-7EA950A575A3}"/>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ABA1D3F4-A5E5-42A9-917E-7EA950A575A3}"/>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m W_1=(1,1,1)">
                <a:extLst>
                  <a:ext uri="{FF2B5EF4-FFF2-40B4-BE49-F238E27FC236}">
                    <a16:creationId xmlns:a16="http://schemas.microsoft.com/office/drawing/2014/main" id="{03929139-4668-48A7-A059-B9A4FAAB6AA7}"/>
                  </a:ext>
                </a:extLst>
              </p:cNvPr>
              <p:cNvSpPr>
                <a:spLocks noGrp="1"/>
              </p:cNvSpPr>
              <p:nvPr/>
            </p:nvSpPr>
            <p:spPr>
              <a:xfrm>
                <a:off x="8001000" y="2819400"/>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𝐖</m:t>
                          </m:r>
                        </m:e>
                        <m:sub>
                          <m:r>
                            <a:rPr lang="en-GB" sz="2600">
                              <a:solidFill>
                                <a:srgbClr val="FF0000"/>
                              </a:solidFill>
                              <a:latin typeface="Cambria Math"/>
                              <a:ea typeface="Cambria Math"/>
                              <a:cs typeface="Cambria Math"/>
                            </a:rPr>
                            <m:t>1</m:t>
                          </m:r>
                        </m:sub>
                      </m:sSub>
                      <m:r>
                        <a:rPr lang="en-GB" sz="2600">
                          <a:solidFill>
                            <a:srgbClr val="FF0000"/>
                          </a:solidFill>
                          <a:latin typeface="Cambria Math"/>
                          <a:ea typeface="Cambria Math"/>
                          <a:cs typeface="Cambria Math"/>
                        </a:rPr>
                        <m:t>=</m:t>
                      </m:r>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1,1,1</m:t>
                          </m:r>
                        </m:e>
                      </m:d>
                    </m:oMath>
                  </m:oMathPara>
                </a14:m>
                <a:endParaRPr lang="en-GB" sz="2600" dirty="0"/>
              </a:p>
            </p:txBody>
          </p:sp>
        </mc:Choice>
        <mc:Fallback xmlns="">
          <p:sp>
            <p:nvSpPr>
              <p:cNvPr id="8" name="equation_3" descr="\bm W_1=(1,1,1)">
                <a:extLst>
                  <a:ext uri="{FF2B5EF4-FFF2-40B4-BE49-F238E27FC236}">
                    <a16:creationId xmlns:a16="http://schemas.microsoft.com/office/drawing/2014/main" id="{03929139-4668-48A7-A059-B9A4FAAB6AA7}"/>
                  </a:ext>
                </a:extLst>
              </p:cNvPr>
              <p:cNvSpPr>
                <a:spLocks noGrp="1" noRot="1" noChangeAspect="1" noMove="1" noResize="1" noEditPoints="1" noAdjustHandles="1" noChangeArrowheads="1" noChangeShapeType="1" noTextEdit="1"/>
              </p:cNvSpPr>
              <p:nvPr/>
            </p:nvSpPr>
            <p:spPr>
              <a:xfrm>
                <a:off x="8001000" y="2819400"/>
                <a:ext cx="3571875" cy="6191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4" descr="\bm b_1=(0,-1,-2)">
                <a:extLst>
                  <a:ext uri="{FF2B5EF4-FFF2-40B4-BE49-F238E27FC236}">
                    <a16:creationId xmlns:a16="http://schemas.microsoft.com/office/drawing/2014/main" id="{DFB3EF67-1775-451F-9BBB-9A7999945223}"/>
                  </a:ext>
                </a:extLst>
              </p:cNvPr>
              <p:cNvSpPr>
                <a:spLocks noGrp="1"/>
              </p:cNvSpPr>
              <p:nvPr/>
            </p:nvSpPr>
            <p:spPr>
              <a:xfrm>
                <a:off x="7762875" y="3495675"/>
                <a:ext cx="4000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9C7400"/>
                              </a:solidFill>
                              <a:latin typeface="Cambria Math"/>
                              <a:ea typeface="Cambria Math"/>
                              <a:cs typeface="Cambria Math"/>
                            </a:rPr>
                          </m:ctrlPr>
                        </m:sSubPr>
                        <m:e>
                          <m:r>
                            <a:rPr lang="en-GB" sz="2600">
                              <a:solidFill>
                                <a:srgbClr val="9C7400"/>
                              </a:solidFill>
                              <a:latin typeface="Cambria Math"/>
                              <a:ea typeface="Cambria Math"/>
                              <a:cs typeface="Cambria Math"/>
                            </a:rPr>
                            <m:t>𝐛</m:t>
                          </m:r>
                        </m:e>
                        <m:sub>
                          <m:r>
                            <a:rPr lang="en-GB" sz="2600">
                              <a:solidFill>
                                <a:srgbClr val="9C7400"/>
                              </a:solidFill>
                              <a:latin typeface="Cambria Math"/>
                              <a:ea typeface="Cambria Math"/>
                              <a:cs typeface="Cambria Math"/>
                            </a:rPr>
                            <m:t>1</m:t>
                          </m:r>
                        </m:sub>
                      </m:sSub>
                      <m:r>
                        <a:rPr lang="en-GB" sz="2600">
                          <a:solidFill>
                            <a:srgbClr val="9C7400"/>
                          </a:solidFill>
                          <a:latin typeface="Cambria Math"/>
                          <a:ea typeface="Cambria Math"/>
                          <a:cs typeface="Cambria Math"/>
                        </a:rPr>
                        <m:t>=</m:t>
                      </m:r>
                      <m:d>
                        <m:dPr>
                          <m:ctrlPr>
                            <a:rPr lang="en-GB" sz="2600">
                              <a:solidFill>
                                <a:srgbClr val="9C7400"/>
                              </a:solidFill>
                              <a:latin typeface="Cambria Math"/>
                              <a:ea typeface="Cambria Math"/>
                              <a:cs typeface="Cambria Math"/>
                            </a:rPr>
                          </m:ctrlPr>
                        </m:dPr>
                        <m:e>
                          <m:r>
                            <a:rPr lang="en-GB" sz="2600">
                              <a:solidFill>
                                <a:srgbClr val="9C7400"/>
                              </a:solidFill>
                              <a:latin typeface="Cambria Math"/>
                              <a:ea typeface="Cambria Math"/>
                              <a:cs typeface="Cambria Math"/>
                            </a:rPr>
                            <m:t>0,−1,−2</m:t>
                          </m:r>
                        </m:e>
                      </m:d>
                    </m:oMath>
                  </m:oMathPara>
                </a14:m>
                <a:endParaRPr lang="en-GB" sz="2600" dirty="0"/>
              </a:p>
            </p:txBody>
          </p:sp>
        </mc:Choice>
        <mc:Fallback xmlns="">
          <p:sp>
            <p:nvSpPr>
              <p:cNvPr id="9" name="equation_4" descr="\bm b_1=(0,-1,-2)">
                <a:extLst>
                  <a:ext uri="{FF2B5EF4-FFF2-40B4-BE49-F238E27FC236}">
                    <a16:creationId xmlns:a16="http://schemas.microsoft.com/office/drawing/2014/main" id="{DFB3EF67-1775-451F-9BBB-9A7999945223}"/>
                  </a:ext>
                </a:extLst>
              </p:cNvPr>
              <p:cNvSpPr>
                <a:spLocks noGrp="1" noRot="1" noChangeAspect="1" noMove="1" noResize="1" noEditPoints="1" noAdjustHandles="1" noChangeArrowheads="1" noChangeShapeType="1" noTextEdit="1"/>
              </p:cNvSpPr>
              <p:nvPr/>
            </p:nvSpPr>
            <p:spPr>
              <a:xfrm>
                <a:off x="7762875" y="3495675"/>
                <a:ext cx="400050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5" descr="\bm W_2=(1,-2,1)^{\mathsf T}">
                <a:extLst>
                  <a:ext uri="{FF2B5EF4-FFF2-40B4-BE49-F238E27FC236}">
                    <a16:creationId xmlns:a16="http://schemas.microsoft.com/office/drawing/2014/main" id="{47A31589-13ED-44C9-83F2-2E8458E4868F}"/>
                  </a:ext>
                </a:extLst>
              </p:cNvPr>
              <p:cNvSpPr>
                <a:spLocks noGrp="1"/>
              </p:cNvSpPr>
              <p:nvPr/>
            </p:nvSpPr>
            <p:spPr>
              <a:xfrm>
                <a:off x="7715250" y="4171950"/>
                <a:ext cx="4095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0B0F0"/>
                              </a:solidFill>
                              <a:latin typeface="Cambria Math"/>
                              <a:ea typeface="Cambria Math"/>
                              <a:cs typeface="Cambria Math"/>
                            </a:rPr>
                          </m:ctrlPr>
                        </m:sSubPr>
                        <m:e>
                          <m:r>
                            <a:rPr lang="en-GB" sz="2600">
                              <a:solidFill>
                                <a:srgbClr val="00B0F0"/>
                              </a:solidFill>
                              <a:latin typeface="Cambria Math"/>
                              <a:ea typeface="Cambria Math"/>
                              <a:cs typeface="Cambria Math"/>
                            </a:rPr>
                            <m:t>𝐖</m:t>
                          </m:r>
                        </m:e>
                        <m:sub>
                          <m:r>
                            <a:rPr lang="en-GB" sz="2600">
                              <a:solidFill>
                                <a:srgbClr val="00B0F0"/>
                              </a:solidFill>
                              <a:latin typeface="Cambria Math"/>
                              <a:ea typeface="Cambria Math"/>
                              <a:cs typeface="Cambria Math"/>
                            </a:rPr>
                            <m:t>2</m:t>
                          </m:r>
                        </m:sub>
                      </m:sSub>
                      <m:r>
                        <a:rPr lang="en-GB" sz="2600">
                          <a:solidFill>
                            <a:srgbClr val="00B0F0"/>
                          </a:solidFill>
                          <a:latin typeface="Cambria Math"/>
                          <a:ea typeface="Cambria Math"/>
                          <a:cs typeface="Cambria Math"/>
                        </a:rPr>
                        <m:t>=</m:t>
                      </m:r>
                      <m:sSup>
                        <m:sSupPr>
                          <m:ctrlPr>
                            <a:rPr lang="en-GB" sz="2600" i="1">
                              <a:solidFill>
                                <a:srgbClr val="00B0F0"/>
                              </a:solidFill>
                              <a:latin typeface="Cambria Math" panose="02040503050406030204" pitchFamily="18" charset="0"/>
                              <a:ea typeface="Cambria Math"/>
                              <a:cs typeface="Cambria Math"/>
                            </a:rPr>
                          </m:ctrlPr>
                        </m:sSupPr>
                        <m:e>
                          <m:d>
                            <m:dPr>
                              <m:ctrlPr>
                                <a:rPr lang="en-GB" sz="2600">
                                  <a:solidFill>
                                    <a:srgbClr val="00B0F0"/>
                                  </a:solidFill>
                                  <a:latin typeface="Cambria Math"/>
                                  <a:ea typeface="Cambria Math"/>
                                  <a:cs typeface="Cambria Math"/>
                                </a:rPr>
                              </m:ctrlPr>
                            </m:dPr>
                            <m:e>
                              <m:r>
                                <a:rPr lang="en-GB" sz="2600">
                                  <a:solidFill>
                                    <a:srgbClr val="00B0F0"/>
                                  </a:solidFill>
                                  <a:latin typeface="Cambria Math"/>
                                  <a:ea typeface="Cambria Math"/>
                                  <a:cs typeface="Cambria Math"/>
                                </a:rPr>
                                <m:t>1,−2,1</m:t>
                              </m:r>
                            </m:e>
                          </m:d>
                        </m:e>
                        <m:sup>
                          <m:r>
                            <a:rPr lang="en-GB" sz="2600">
                              <a:solidFill>
                                <a:srgbClr val="00B0F0"/>
                              </a:solidFill>
                              <a:latin typeface="Cambria Math"/>
                              <a:ea typeface="Cambria Math"/>
                              <a:cs typeface="Cambria Math"/>
                            </a:rPr>
                            <m:t>𝖳</m:t>
                          </m:r>
                        </m:sup>
                      </m:sSup>
                    </m:oMath>
                  </m:oMathPara>
                </a14:m>
                <a:endParaRPr lang="en-GB" sz="2600" dirty="0"/>
              </a:p>
            </p:txBody>
          </p:sp>
        </mc:Choice>
        <mc:Fallback xmlns="">
          <p:sp>
            <p:nvSpPr>
              <p:cNvPr id="10" name="equation_5" descr="\bm W_2=(1,-2,1)^{\mathsf T}">
                <a:extLst>
                  <a:ext uri="{FF2B5EF4-FFF2-40B4-BE49-F238E27FC236}">
                    <a16:creationId xmlns:a16="http://schemas.microsoft.com/office/drawing/2014/main" id="{47A31589-13ED-44C9-83F2-2E8458E4868F}"/>
                  </a:ext>
                </a:extLst>
              </p:cNvPr>
              <p:cNvSpPr>
                <a:spLocks noGrp="1" noRot="1" noChangeAspect="1" noMove="1" noResize="1" noEditPoints="1" noAdjustHandles="1" noChangeArrowheads="1" noChangeShapeType="1" noTextEdit="1"/>
              </p:cNvSpPr>
              <p:nvPr/>
            </p:nvSpPr>
            <p:spPr>
              <a:xfrm>
                <a:off x="7715250" y="4171950"/>
                <a:ext cx="4095750" cy="619125"/>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6" descr="\bm b_2=(0)">
                <a:extLst>
                  <a:ext uri="{FF2B5EF4-FFF2-40B4-BE49-F238E27FC236}">
                    <a16:creationId xmlns:a16="http://schemas.microsoft.com/office/drawing/2014/main" id="{C3FF8616-DB63-4CE2-A875-CE4AA5E66B2C}"/>
                  </a:ext>
                </a:extLst>
              </p:cNvPr>
              <p:cNvSpPr>
                <a:spLocks noGrp="1"/>
              </p:cNvSpPr>
              <p:nvPr/>
            </p:nvSpPr>
            <p:spPr>
              <a:xfrm>
                <a:off x="8001000" y="4848225"/>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C45C28"/>
                              </a:solidFill>
                              <a:latin typeface="Cambria Math"/>
                              <a:ea typeface="Cambria Math"/>
                              <a:cs typeface="Cambria Math"/>
                            </a:rPr>
                          </m:ctrlPr>
                        </m:sSubPr>
                        <m:e>
                          <m:r>
                            <a:rPr lang="en-GB" sz="2600">
                              <a:solidFill>
                                <a:srgbClr val="C45C28"/>
                              </a:solidFill>
                              <a:latin typeface="Cambria Math"/>
                              <a:ea typeface="Cambria Math"/>
                              <a:cs typeface="Cambria Math"/>
                            </a:rPr>
                            <m:t>𝐛</m:t>
                          </m:r>
                        </m:e>
                        <m:sub>
                          <m:r>
                            <a:rPr lang="en-GB" sz="2600">
                              <a:solidFill>
                                <a:srgbClr val="C45C28"/>
                              </a:solidFill>
                              <a:latin typeface="Cambria Math"/>
                              <a:ea typeface="Cambria Math"/>
                              <a:cs typeface="Cambria Math"/>
                            </a:rPr>
                            <m:t>2</m:t>
                          </m:r>
                        </m:sub>
                      </m:sSub>
                      <m:r>
                        <a:rPr lang="en-GB" sz="2600">
                          <a:solidFill>
                            <a:srgbClr val="C45C28"/>
                          </a:solidFill>
                          <a:latin typeface="Cambria Math"/>
                          <a:ea typeface="Cambria Math"/>
                          <a:cs typeface="Cambria Math"/>
                        </a:rPr>
                        <m:t>=</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m:t>
                          </m:r>
                        </m:e>
                      </m:d>
                    </m:oMath>
                  </m:oMathPara>
                </a14:m>
                <a:endParaRPr lang="en-GB" sz="2600" dirty="0"/>
              </a:p>
            </p:txBody>
          </p:sp>
        </mc:Choice>
        <mc:Fallback xmlns="">
          <p:sp>
            <p:nvSpPr>
              <p:cNvPr id="11" name="equation_6" descr="\bm b_2=(0)">
                <a:extLst>
                  <a:ext uri="{FF2B5EF4-FFF2-40B4-BE49-F238E27FC236}">
                    <a16:creationId xmlns:a16="http://schemas.microsoft.com/office/drawing/2014/main" id="{C3FF8616-DB63-4CE2-A875-CE4AA5E66B2C}"/>
                  </a:ext>
                </a:extLst>
              </p:cNvPr>
              <p:cNvSpPr>
                <a:spLocks noGrp="1" noRot="1" noChangeAspect="1" noMove="1" noResize="1" noEditPoints="1" noAdjustHandles="1" noChangeArrowheads="1" noChangeShapeType="1" noTextEdit="1"/>
              </p:cNvSpPr>
              <p:nvPr/>
            </p:nvSpPr>
            <p:spPr>
              <a:xfrm>
                <a:off x="8001000" y="4848225"/>
                <a:ext cx="3571875" cy="619125"/>
              </a:xfrm>
              <a:prstGeom prst="rect">
                <a:avLst/>
              </a:prstGeom>
              <a:blipFill>
                <a:blip r:embed="rId10"/>
                <a:stretch>
                  <a:fillRect/>
                </a:stretch>
              </a:blipFill>
              <a:ln w="0">
                <a:noFill/>
              </a:ln>
            </p:spPr>
            <p:txBody>
              <a:bodyPr/>
              <a:lstStyle/>
              <a:p>
                <a:r>
                  <a:rPr lang="it-IT">
                    <a:noFill/>
                  </a:rPr>
                  <a:t> </a:t>
                </a:r>
              </a:p>
            </p:txBody>
          </p:sp>
        </mc:Fallback>
      </mc:AlternateContent>
      <p:sp>
        <p:nvSpPr>
          <p:cNvPr id="12" name="text_7">
            <a:extLst>
              <a:ext uri="{FF2B5EF4-FFF2-40B4-BE49-F238E27FC236}">
                <a16:creationId xmlns:a16="http://schemas.microsoft.com/office/drawing/2014/main" id="{F948F515-3915-4AA4-A97D-08309582956C}"/>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biases place the breakpoints. The output weights change the slopes.</a:t>
            </a:r>
          </a:p>
        </p:txBody>
      </p:sp>
    </p:spTree>
    <p:extLst>
      <p:ext uri="{BB962C8B-B14F-4D97-AF65-F5344CB8AC3E}">
        <p14:creationId xmlns:p14="http://schemas.microsoft.com/office/powerpoint/2010/main" val="5376613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C4E8F6CB-176E-4562-8777-1F5E034A5EB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classification</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problem</a:t>
            </a:r>
            <a:r>
              <a:rPr lang="it-IT" sz="3300" b="1" dirty="0">
                <a:solidFill>
                  <a:srgbClr val="182D45"/>
                </a:solidFill>
                <a:latin typeface="DejaVu Sans"/>
                <a:ea typeface="DejaVu Sans"/>
                <a:cs typeface="DejaVu Sans"/>
              </a:rPr>
              <a:t>: t</a:t>
            </a:r>
            <a:r>
              <a:rPr sz="3300" b="1" dirty="0">
                <a:solidFill>
                  <a:srgbClr val="182D45"/>
                </a:solidFill>
                <a:latin typeface="DejaVu Sans"/>
                <a:ea typeface="DejaVu Sans"/>
                <a:cs typeface="DejaVu Sans"/>
              </a:rPr>
              <a:t>he XO</a:t>
            </a:r>
            <a:r>
              <a:rPr lang="it-IT" sz="3300" b="1" dirty="0">
                <a:solidFill>
                  <a:srgbClr val="182D45"/>
                </a:solidFill>
                <a:latin typeface="DejaVu Sans"/>
                <a:ea typeface="DejaVu Sans"/>
                <a:cs typeface="DejaVu Sans"/>
              </a:rPr>
              <a:t>R </a:t>
            </a:r>
            <a:r>
              <a:rPr lang="it-IT" sz="3300" b="1">
                <a:solidFill>
                  <a:srgbClr val="182D45"/>
                </a:solidFill>
                <a:latin typeface="DejaVu Sans"/>
                <a:ea typeface="DejaVu Sans"/>
                <a:cs typeface="DejaVu Sans"/>
              </a:rPr>
              <a:t>function</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90E7BA2-67F5-44B0-A457-13A1D62E843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The label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 when exactly one input coordinate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90E7BA2-67F5-44B0-A457-13A1D62E843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A4705DB-0F88-411B-8F0A-13EE47A927E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CA43364-43B8-4731-A942-EE009D673CA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graphicFrame>
        <p:nvGraphicFramePr>
          <p:cNvPr id="14" name="Chart"/>
          <p:cNvGraphicFramePr/>
          <p:nvPr/>
        </p:nvGraphicFramePr>
        <p:xfrm>
          <a:off x="619125" y="2009775"/>
          <a:ext cx="6381750" cy="352425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_1">
            <a:extLst>
              <a:ext uri="{FF2B5EF4-FFF2-40B4-BE49-F238E27FC236}">
                <a16:creationId xmlns:a16="http://schemas.microsoft.com/office/drawing/2014/main" id="{1F38A619-A975-44F7-BD95-2A91634D19F5}"/>
              </a:ext>
            </a:extLst>
          </p:cNvPr>
          <p:cNvSpPr>
            <a:spLocks noGrp="1"/>
          </p:cNvSpPr>
          <p:nvPr/>
        </p:nvSpPr>
        <p:spPr>
          <a:xfrm>
            <a:off x="3271838" y="530733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dirty="0">
                <a:solidFill>
                  <a:srgbClr val="182D45"/>
                </a:solidFill>
                <a:latin typeface="DejaVu Sans"/>
                <a:ea typeface="DejaVu Sans"/>
                <a:cs typeface="DejaVu Sans"/>
              </a:rPr>
              <a:t>x₁</a:t>
            </a:r>
          </a:p>
        </p:txBody>
      </p:sp>
      <mc:AlternateContent xmlns:mc="http://schemas.openxmlformats.org/markup-compatibility/2006" xmlns:a14="http://schemas.microsoft.com/office/drawing/2010/main">
        <mc:Choice Requires="a14">
          <p:sp>
            <p:nvSpPr>
              <p:cNvPr id="7" name="equation_2" descr="(0,0)\mapsto0,\quad(1,1)\mapsto0">
                <a:extLst>
                  <a:ext uri="{FF2B5EF4-FFF2-40B4-BE49-F238E27FC236}">
                    <a16:creationId xmlns:a16="http://schemas.microsoft.com/office/drawing/2014/main" id="{FA78C8CE-2D44-4C2F-BFC7-0E4421EE09E7}"/>
                  </a:ext>
                </a:extLst>
              </p:cNvPr>
              <p:cNvSpPr>
                <a:spLocks noGrp="1"/>
              </p:cNvSpPr>
              <p:nvPr/>
            </p:nvSpPr>
            <p:spPr>
              <a:xfrm>
                <a:off x="7191375" y="25622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0,0</m:t>
                          </m:r>
                        </m:e>
                      </m:d>
                      <m:r>
                        <a:rPr lang="en-GB" sz="2600">
                          <a:solidFill>
                            <a:srgbClr val="326CB2"/>
                          </a:solidFill>
                          <a:latin typeface="Cambria Math"/>
                          <a:ea typeface="Cambria Math"/>
                          <a:cs typeface="Cambria Math"/>
                        </a:rPr>
                        <m:t>↦0, </m:t>
                      </m:r>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1,1</m:t>
                          </m:r>
                        </m:e>
                      </m:d>
                      <m:r>
                        <a:rPr lang="en-GB" sz="2600">
                          <a:solidFill>
                            <a:srgbClr val="326CB2"/>
                          </a:solidFill>
                          <a:latin typeface="Cambria Math"/>
                          <a:ea typeface="Cambria Math"/>
                          <a:cs typeface="Cambria Math"/>
                        </a:rPr>
                        <m:t>↦0</m:t>
                      </m:r>
                    </m:oMath>
                  </m:oMathPara>
                </a14:m>
                <a:endParaRPr lang="en-GB" sz="2600" dirty="0"/>
              </a:p>
            </p:txBody>
          </p:sp>
        </mc:Choice>
        <mc:Fallback xmlns="">
          <p:sp>
            <p:nvSpPr>
              <p:cNvPr id="7" name="equation_2" descr="(0,0)\mapsto0,\quad(1,1)\mapsto0">
                <a:extLst>
                  <a:ext uri="{FF2B5EF4-FFF2-40B4-BE49-F238E27FC236}">
                    <a16:creationId xmlns:a16="http://schemas.microsoft.com/office/drawing/2014/main" id="{FA78C8CE-2D44-4C2F-BFC7-0E4421EE09E7}"/>
                  </a:ext>
                </a:extLst>
              </p:cNvPr>
              <p:cNvSpPr>
                <a:spLocks noGrp="1" noRot="1" noChangeAspect="1" noMove="1" noResize="1" noEditPoints="1" noAdjustHandles="1" noChangeArrowheads="1" noChangeShapeType="1" noTextEdit="1"/>
              </p:cNvSpPr>
              <p:nvPr/>
            </p:nvSpPr>
            <p:spPr>
              <a:xfrm>
                <a:off x="7191375" y="2562225"/>
                <a:ext cx="43815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1,0)\mapsto1,\quad(0,1)\mapsto1">
                <a:extLst>
                  <a:ext uri="{FF2B5EF4-FFF2-40B4-BE49-F238E27FC236}">
                    <a16:creationId xmlns:a16="http://schemas.microsoft.com/office/drawing/2014/main" id="{EA3C9706-566D-4B88-948D-6921A7B9EBA8}"/>
                  </a:ext>
                </a:extLst>
              </p:cNvPr>
              <p:cNvSpPr>
                <a:spLocks noGrp="1"/>
              </p:cNvSpPr>
              <p:nvPr/>
            </p:nvSpPr>
            <p:spPr>
              <a:xfrm>
                <a:off x="7191375" y="37814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1,0</m:t>
                          </m:r>
                        </m:e>
                      </m:d>
                      <m:r>
                        <a:rPr lang="en-GB" sz="2600">
                          <a:solidFill>
                            <a:srgbClr val="C45C28"/>
                          </a:solidFill>
                          <a:latin typeface="Cambria Math"/>
                          <a:ea typeface="Cambria Math"/>
                          <a:cs typeface="Cambria Math"/>
                        </a:rPr>
                        <m:t>↦1, </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0,1</m:t>
                          </m:r>
                        </m:e>
                      </m:d>
                      <m:r>
                        <a:rPr lang="en-GB" sz="2600">
                          <a:solidFill>
                            <a:srgbClr val="C45C28"/>
                          </a:solidFill>
                          <a:latin typeface="Cambria Math"/>
                          <a:ea typeface="Cambria Math"/>
                          <a:cs typeface="Cambria Math"/>
                        </a:rPr>
                        <m:t>↦1</m:t>
                      </m:r>
                    </m:oMath>
                  </m:oMathPara>
                </a14:m>
                <a:endParaRPr lang="en-GB" sz="2600" dirty="0"/>
              </a:p>
            </p:txBody>
          </p:sp>
        </mc:Choice>
        <mc:Fallback xmlns="">
          <p:sp>
            <p:nvSpPr>
              <p:cNvPr id="8" name="equation_3" descr="(1,0)\mapsto1,\quad(0,1)\mapsto1">
                <a:extLst>
                  <a:ext uri="{FF2B5EF4-FFF2-40B4-BE49-F238E27FC236}">
                    <a16:creationId xmlns:a16="http://schemas.microsoft.com/office/drawing/2014/main" id="{EA3C9706-566D-4B88-948D-6921A7B9EBA8}"/>
                  </a:ext>
                </a:extLst>
              </p:cNvPr>
              <p:cNvSpPr>
                <a:spLocks noGrp="1" noRot="1" noChangeAspect="1" noMove="1" noResize="1" noEditPoints="1" noAdjustHandles="1" noChangeArrowheads="1" noChangeShapeType="1" noTextEdit="1"/>
              </p:cNvSpPr>
              <p:nvPr/>
            </p:nvSpPr>
            <p:spPr>
              <a:xfrm>
                <a:off x="7191375" y="3781425"/>
                <a:ext cx="4381500" cy="762000"/>
              </a:xfrm>
              <a:prstGeom prst="rect">
                <a:avLst/>
              </a:prstGeom>
              <a:blipFill>
                <a:blip r:embed="rId6"/>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C8534DC2-45AF-4151-B1C7-FD420C9C0A3A}"/>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Can one </a:t>
            </a:r>
            <a:r>
              <a:rPr lang="it-IT" sz="2100" b="1" dirty="0" err="1">
                <a:solidFill>
                  <a:srgbClr val="182D45"/>
                </a:solidFill>
                <a:latin typeface="DejaVu Sans"/>
                <a:ea typeface="DejaVu Sans"/>
                <a:cs typeface="DejaVu Sans"/>
              </a:rPr>
              <a:t>straight</a:t>
            </a:r>
            <a:r>
              <a:rPr lang="it-IT" sz="2100" b="1" dirty="0">
                <a:solidFill>
                  <a:srgbClr val="182D45"/>
                </a:solidFill>
                <a:latin typeface="DejaVu Sans"/>
                <a:ea typeface="DejaVu Sans"/>
                <a:cs typeface="DejaVu Sans"/>
              </a:rPr>
              <a:t>-line</a:t>
            </a:r>
            <a:r>
              <a:rPr sz="2100" b="1" dirty="0">
                <a:solidFill>
                  <a:srgbClr val="182D45"/>
                </a:solidFill>
                <a:latin typeface="DejaVu Sans"/>
                <a:ea typeface="DejaVu Sans"/>
                <a:cs typeface="DejaVu Sans"/>
              </a:rPr>
              <a:t> decision boundary classify all four observations?</a:t>
            </a:r>
          </a:p>
        </p:txBody>
      </p:sp>
    </p:spTree>
    <p:extLst>
      <p:ext uri="{BB962C8B-B14F-4D97-AF65-F5344CB8AC3E}">
        <p14:creationId xmlns:p14="http://schemas.microsoft.com/office/powerpoint/2010/main" val="7308010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7C48A179-B461-4D4A-85E5-0DB3B4C837B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an affine score cannot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16028C0-7B27-4697-BBFB-676D5793E7A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score</a:t>
                </a:r>
                <a:r>
                  <a:rPr sz="2175" b="0" dirty="0">
                    <a:solidFill>
                      <a:srgbClr val="526276"/>
                    </a:solidFill>
                    <a:latin typeface="DejaVu Sans"/>
                    <a:ea typeface="DejaVu Sans"/>
                    <a:cs typeface="DejaVu Sans"/>
                  </a:rPr>
                  <a:t> must be </a:t>
                </a:r>
                <a:r>
                  <a:rPr lang="it-IT" sz="2175" b="0" dirty="0">
                    <a:solidFill>
                      <a:srgbClr val="C45C28"/>
                    </a:solidFill>
                    <a:latin typeface="DejaVu Sans"/>
                    <a:ea typeface="DejaVu Sans"/>
                    <a:cs typeface="DejaVu Sans"/>
                  </a:rPr>
                  <a:t>positive for class </a:t>
                </a:r>
                <a14:m>
                  <m:oMath xmlns:m="http://schemas.openxmlformats.org/officeDocument/2006/math">
                    <m:r>
                      <a:rPr lang="it-IT" sz="2175" b="0" i="1" dirty="0" smtClean="0">
                        <a:solidFill>
                          <a:srgbClr val="C45C28"/>
                        </a:solidFill>
                        <a:latin typeface="Cambria Math" panose="02040503050406030204" pitchFamily="18" charset="0"/>
                        <a:ea typeface="DejaVu Sans"/>
                        <a:cs typeface="DejaVu Sans"/>
                      </a:rPr>
                      <m:t>1</m:t>
                    </m:r>
                  </m:oMath>
                </a14:m>
                <a:r>
                  <a:rPr lang="it-IT" sz="2175" b="0" dirty="0">
                    <a:solidFill>
                      <a:srgbClr val="C45C28"/>
                    </a:solidFill>
                    <a:latin typeface="DejaVu Sans"/>
                    <a:ea typeface="DejaVu Sans"/>
                    <a:cs typeface="DejaVu Sans"/>
                  </a:rPr>
                  <a:t> </a:t>
                </a:r>
                <a:r>
                  <a:rPr sz="2175" b="0" dirty="0">
                    <a:solidFill>
                      <a:srgbClr val="526276"/>
                    </a:solidFill>
                    <a:latin typeface="DejaVu Sans"/>
                    <a:ea typeface="DejaVu Sans"/>
                    <a:cs typeface="DejaVu Sans"/>
                  </a:rPr>
                  <a:t>and </a:t>
                </a:r>
                <a:r>
                  <a:rPr lang="it-IT" sz="2175" b="0" dirty="0">
                    <a:solidFill>
                      <a:srgbClr val="326CB2"/>
                    </a:solidFill>
                    <a:latin typeface="DejaVu Sans"/>
                    <a:ea typeface="DejaVu Sans"/>
                    <a:cs typeface="DejaVu Sans"/>
                  </a:rPr>
                  <a:t>nonpositive for class </a:t>
                </a:r>
                <a14:m>
                  <m:oMath xmlns:m="http://schemas.openxmlformats.org/officeDocument/2006/math">
                    <m:r>
                      <a:rPr lang="it-IT" sz="2175" b="0" i="1" dirty="0" smtClean="0">
                        <a:solidFill>
                          <a:srgbClr val="326CB2"/>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816028C0-7B27-4697-BBFB-676D5793E7A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47C4BD-81EF-45C0-8C49-E0E1B58753C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AD363AF3-9DFF-441B-8215-69DAFC32E3A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mc:AlternateContent xmlns:mc="http://schemas.openxmlformats.org/markup-compatibility/2006" xmlns:a14="http://schemas.microsoft.com/office/drawing/2010/main">
        <mc:Choice Requires="a14">
          <p:sp>
            <p:nvSpPr>
              <p:cNvPr id="5" name="equation_1" descr="s(\mathbf{x})=b+w_1x_1+w_2x_2">
                <a:extLst>
                  <a:ext uri="{FF2B5EF4-FFF2-40B4-BE49-F238E27FC236}">
                    <a16:creationId xmlns:a16="http://schemas.microsoft.com/office/drawing/2014/main" id="{653E478E-D162-4ED1-B520-7268FFA94AC5}"/>
                  </a:ext>
                </a:extLst>
              </p:cNvPr>
              <p:cNvSpPr>
                <a:spLocks noGrp="1"/>
              </p:cNvSpPr>
              <p:nvPr/>
            </p:nvSpPr>
            <p:spPr>
              <a:xfrm>
                <a:off x="666750" y="1895475"/>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087F83"/>
                          </a:solidFill>
                          <a:latin typeface="Cambria Math"/>
                          <a:ea typeface="Cambria Math"/>
                          <a:cs typeface="Cambria Math"/>
                        </a:rPr>
                        <m:t>𝑠</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5" name="equation_1" descr="s(\mathbf{x})=b+w_1x_1+w_2x_2">
                <a:extLst>
                  <a:ext uri="{FF2B5EF4-FFF2-40B4-BE49-F238E27FC236}">
                    <a16:creationId xmlns:a16="http://schemas.microsoft.com/office/drawing/2014/main" id="{653E478E-D162-4ED1-B520-7268FFA94AC5}"/>
                  </a:ext>
                </a:extLst>
              </p:cNvPr>
              <p:cNvSpPr>
                <a:spLocks noGrp="1" noRot="1" noChangeAspect="1" noMove="1" noResize="1" noEditPoints="1" noAdjustHandles="1" noChangeArrowheads="1" noChangeShapeType="1" noTextEdit="1"/>
              </p:cNvSpPr>
              <p:nvPr/>
            </p:nvSpPr>
            <p:spPr>
              <a:xfrm>
                <a:off x="666750" y="1895475"/>
                <a:ext cx="10858500" cy="714375"/>
              </a:xfrm>
              <a:prstGeom prst="rect">
                <a:avLst/>
              </a:prstGeom>
              <a:blipFill>
                <a:blip r:embed="rId4"/>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92D40FE2-FF44-4FC9-BD56-CB7C3AD34551}"/>
              </a:ext>
            </a:extLst>
          </p:cNvPr>
          <p:cNvSpPr>
            <a:spLocks noGrp="1"/>
          </p:cNvSpPr>
          <p:nvPr/>
        </p:nvSpPr>
        <p:spPr>
          <a:xfrm>
            <a:off x="619125" y="2876550"/>
            <a:ext cx="5143500" cy="476250"/>
          </a:xfrm>
          <a:prstGeom prst="rect">
            <a:avLst/>
          </a:prstGeom>
          <a:noFill/>
          <a:ln w="0">
            <a:noFill/>
          </a:ln>
        </p:spPr>
        <p:txBody>
          <a:bodyPr anchor="ctr">
            <a:noAutofit/>
          </a:bodyPr>
          <a:lstStyle/>
          <a:p>
            <a:pPr algn="ctr">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Class 0 observations</a:t>
            </a:r>
          </a:p>
        </p:txBody>
      </p:sp>
      <p:sp>
        <p:nvSpPr>
          <p:cNvPr id="7" name="text_3">
            <a:extLst>
              <a:ext uri="{FF2B5EF4-FFF2-40B4-BE49-F238E27FC236}">
                <a16:creationId xmlns:a16="http://schemas.microsoft.com/office/drawing/2014/main" id="{035526B1-DA0F-4E82-B952-3D5604CA4205}"/>
              </a:ext>
            </a:extLst>
          </p:cNvPr>
          <p:cNvSpPr>
            <a:spLocks noGrp="1"/>
          </p:cNvSpPr>
          <p:nvPr/>
        </p:nvSpPr>
        <p:spPr>
          <a:xfrm>
            <a:off x="6429375" y="2876550"/>
            <a:ext cx="5143500" cy="476250"/>
          </a:xfrm>
          <a:prstGeom prst="rect">
            <a:avLst/>
          </a:prstGeom>
          <a:noFill/>
          <a:ln w="0">
            <a:noFill/>
          </a:ln>
        </p:spPr>
        <p:txBody>
          <a:bodyPr anchor="ctr">
            <a:noAutofit/>
          </a:bodyPr>
          <a:lstStyle/>
          <a:p>
            <a:pPr algn="ctr">
              <a:defRPr sz="2100" b="1">
                <a:solidFill>
                  <a:srgbClr val="C45C28"/>
                </a:solidFill>
                <a:latin typeface="DejaVu Sans"/>
                <a:ea typeface="DejaVu Sans"/>
                <a:cs typeface="DejaVu Sans"/>
              </a:defRPr>
            </a:pPr>
            <a:r>
              <a:rPr sz="2100" b="1" dirty="0">
                <a:solidFill>
                  <a:srgbClr val="C45C28"/>
                </a:solidFill>
                <a:latin typeface="DejaVu Sans"/>
                <a:ea typeface="DejaVu Sans"/>
                <a:cs typeface="DejaVu Sans"/>
              </a:rPr>
              <a:t>Class 1 observations</a:t>
            </a:r>
          </a:p>
        </p:txBody>
      </p:sp>
      <mc:AlternateContent xmlns:mc="http://schemas.openxmlformats.org/markup-compatibility/2006" xmlns:a14="http://schemas.microsoft.com/office/drawing/2010/main">
        <mc:Choice Requires="a14">
          <p:sp>
            <p:nvSpPr>
              <p:cNvPr id="8" name="equation_4" descr="s(0,0)=b&lt;=0; s(1,1)=b+w_1+w_2&lt;=0">
                <a:extLst>
                  <a:ext uri="{FF2B5EF4-FFF2-40B4-BE49-F238E27FC236}">
                    <a16:creationId xmlns:a16="http://schemas.microsoft.com/office/drawing/2014/main" id="{7E5319D7-00E7-4360-A52F-EB2C926622E5}"/>
                  </a:ext>
                </a:extLst>
              </p:cNvPr>
              <p:cNvSpPr>
                <a:spLocks noGrp="1"/>
              </p:cNvSpPr>
              <p:nvPr/>
            </p:nvSpPr>
            <p:spPr>
              <a:xfrm>
                <a:off x="428625" y="3524250"/>
                <a:ext cx="542925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326CB2"/>
                          </a:solidFill>
                          <a:latin typeface="Cambria Math"/>
                          <a:ea typeface="Cambria Math"/>
                          <a:cs typeface="Cambria Math"/>
                        </a:rPr>
                        <m:t>𝑏</m:t>
                      </m:r>
                      <m:r>
                        <a:rPr lang="it-IT" sz="2800" b="0" i="0" smtClean="0">
                          <a:solidFill>
                            <a:srgbClr val="326CB2"/>
                          </a:solidFill>
                          <a:latin typeface="Cambria Math" panose="02040503050406030204" pitchFamily="18" charset="0"/>
                          <a:ea typeface="Cambria Math"/>
                          <a:cs typeface="Cambria Math"/>
                        </a:rPr>
                        <m:t>=</m:t>
                      </m:r>
                      <m:r>
                        <a:rPr lang="en-GB" sz="2800">
                          <a:solidFill>
                            <a:srgbClr val="326CB2"/>
                          </a:solidFill>
                          <a:latin typeface="Cambria Math"/>
                          <a:ea typeface="Cambria Math"/>
                          <a:cs typeface="Cambria Math"/>
                        </a:rPr>
                        <m:t>𝑠</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0,0</m:t>
                          </m:r>
                        </m:e>
                      </m:d>
                      <m:r>
                        <a:rPr lang="en-GB" sz="2800">
                          <a:solidFill>
                            <a:srgbClr val="326CB2"/>
                          </a:solidFill>
                          <a:latin typeface="Cambria Math"/>
                          <a:ea typeface="Cambria Math"/>
                          <a:cs typeface="Cambria Math"/>
                        </a:rPr>
                        <m:t>≤0</m:t>
                      </m:r>
                    </m:oMath>
                  </m:oMathPara>
                </a14:m>
                <a:endParaRPr lang="en-GB" sz="2800" dirty="0"/>
              </a:p>
              <a:p>
                <a:pPr algn="ctr"/>
                <a14:m>
                  <m:oMathPara xmlns:m="http://schemas.openxmlformats.org/officeDocument/2006/math">
                    <m:oMath>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2</m:t>
                          </m:r>
                        </m:sub>
                      </m:sSub>
                      <m:r>
                        <a:rPr lang="it-IT" sz="2800" b="0" i="0" smtClean="0">
                          <a:solidFill>
                            <a:srgbClr val="326CB2"/>
                          </a:solidFill>
                          <a:latin typeface="Cambria Math" panose="02040503050406030204" pitchFamily="18" charset="0"/>
                          <a:ea typeface="Cambria Math"/>
                          <a:cs typeface="Cambria Math"/>
                        </a:rPr>
                        <m:t>=</m:t>
                      </m:r>
                      <m:r>
                        <a:rPr lang="en-GB" sz="2800">
                          <a:solidFill>
                            <a:srgbClr val="326CB2"/>
                          </a:solidFill>
                          <a:latin typeface="Cambria Math"/>
                          <a:ea typeface="Cambria Math"/>
                          <a:cs typeface="Cambria Math"/>
                        </a:rPr>
                        <m:t>𝑠</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1,1</m:t>
                          </m:r>
                        </m:e>
                      </m:d>
                      <m:r>
                        <a:rPr lang="en-GB" sz="2800">
                          <a:solidFill>
                            <a:srgbClr val="326CB2"/>
                          </a:solidFill>
                          <a:latin typeface="Cambria Math"/>
                          <a:ea typeface="Cambria Math"/>
                          <a:cs typeface="Cambria Math"/>
                        </a:rPr>
                        <m:t>≤0</m:t>
                      </m:r>
                    </m:oMath>
                  </m:oMathPara>
                </a14:m>
                <a:endParaRPr lang="en-GB" sz="2800" dirty="0"/>
              </a:p>
            </p:txBody>
          </p:sp>
        </mc:Choice>
        <mc:Fallback xmlns="">
          <p:sp>
            <p:nvSpPr>
              <p:cNvPr id="8" name="equation_4" descr="s(0,0)=b&lt;=0; s(1,1)=b+w_1+w_2&lt;=0">
                <a:extLst>
                  <a:ext uri="{FF2B5EF4-FFF2-40B4-BE49-F238E27FC236}">
                    <a16:creationId xmlns:a16="http://schemas.microsoft.com/office/drawing/2014/main" id="{7E5319D7-00E7-4360-A52F-EB2C926622E5}"/>
                  </a:ext>
                </a:extLst>
              </p:cNvPr>
              <p:cNvSpPr>
                <a:spLocks noGrp="1" noRot="1" noChangeAspect="1" noMove="1" noResize="1" noEditPoints="1" noAdjustHandles="1" noChangeArrowheads="1" noChangeShapeType="1" noTextEdit="1"/>
              </p:cNvSpPr>
              <p:nvPr/>
            </p:nvSpPr>
            <p:spPr>
              <a:xfrm>
                <a:off x="428625" y="3524250"/>
                <a:ext cx="5429250" cy="10953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s(1,0)=b+w_1&gt;0; s(0,1)=b+w_2&gt;0">
                <a:extLst>
                  <a:ext uri="{FF2B5EF4-FFF2-40B4-BE49-F238E27FC236}">
                    <a16:creationId xmlns:a16="http://schemas.microsoft.com/office/drawing/2014/main" id="{B98D4047-F6CD-4082-B738-B633B0AE30EA}"/>
                  </a:ext>
                </a:extLst>
              </p:cNvPr>
              <p:cNvSpPr>
                <a:spLocks noGrp="1"/>
              </p:cNvSpPr>
              <p:nvPr/>
            </p:nvSpPr>
            <p:spPr>
              <a:xfrm>
                <a:off x="6238875" y="3524250"/>
                <a:ext cx="542925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C45C28"/>
                          </a:solidFill>
                          <a:latin typeface="Cambria Math"/>
                          <a:ea typeface="Cambria Math"/>
                          <a:cs typeface="Cambria Math"/>
                        </a:rPr>
                        <m:t>𝑏</m:t>
                      </m:r>
                      <m: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1</m:t>
                          </m:r>
                        </m:sub>
                      </m:sSub>
                      <m:r>
                        <a:rPr lang="it-IT" sz="2800" b="0" i="1" smtClean="0">
                          <a:solidFill>
                            <a:srgbClr val="C45C28"/>
                          </a:solidFill>
                          <a:latin typeface="Cambria Math" panose="02040503050406030204" pitchFamily="18" charset="0"/>
                          <a:ea typeface="Cambria Math"/>
                          <a:cs typeface="Cambria Math"/>
                        </a:rPr>
                        <m:t>=</m:t>
                      </m:r>
                      <m:r>
                        <a:rPr lang="en-GB" sz="2800">
                          <a:solidFill>
                            <a:srgbClr val="C45C28"/>
                          </a:solidFill>
                          <a:latin typeface="Cambria Math"/>
                          <a:ea typeface="Cambria Math"/>
                          <a:cs typeface="Cambria Math"/>
                        </a:rPr>
                        <m:t>𝑠</m:t>
                      </m:r>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1,0</m:t>
                          </m:r>
                        </m:e>
                      </m:d>
                      <m:r>
                        <a:rPr lang="en-GB" sz="2800">
                          <a:solidFill>
                            <a:srgbClr val="C45C28"/>
                          </a:solidFill>
                          <a:latin typeface="Cambria Math"/>
                          <a:ea typeface="Cambria Math"/>
                          <a:cs typeface="Cambria Math"/>
                        </a:rPr>
                        <m:t>&gt;0</m:t>
                      </m:r>
                    </m:oMath>
                  </m:oMathPara>
                </a14:m>
                <a:endParaRPr lang="en-GB" sz="2800" dirty="0"/>
              </a:p>
              <a:p>
                <a:pPr algn="ctr"/>
                <a14:m>
                  <m:oMathPara xmlns:m="http://schemas.openxmlformats.org/officeDocument/2006/math">
                    <m:oMath>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2</m:t>
                          </m:r>
                        </m:sub>
                      </m:sSub>
                      <m:r>
                        <a:rPr lang="it-IT" sz="2800" b="0" i="1" smtClean="0">
                          <a:solidFill>
                            <a:srgbClr val="C45C28"/>
                          </a:solidFill>
                          <a:latin typeface="Cambria Math" panose="02040503050406030204" pitchFamily="18" charset="0"/>
                          <a:ea typeface="Cambria Math"/>
                          <a:cs typeface="Cambria Math"/>
                        </a:rPr>
                        <m:t>=</m:t>
                      </m:r>
                      <m:r>
                        <a:rPr lang="en-GB" sz="2800">
                          <a:solidFill>
                            <a:srgbClr val="C45C28"/>
                          </a:solidFill>
                          <a:latin typeface="Cambria Math"/>
                          <a:ea typeface="Cambria Math"/>
                          <a:cs typeface="Cambria Math"/>
                        </a:rPr>
                        <m:t>𝑠</m:t>
                      </m:r>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0,1</m:t>
                          </m:r>
                        </m:e>
                      </m:d>
                      <m:r>
                        <a:rPr lang="en-GB" sz="2800">
                          <a:solidFill>
                            <a:srgbClr val="C45C28"/>
                          </a:solidFill>
                          <a:latin typeface="Cambria Math"/>
                          <a:ea typeface="Cambria Math"/>
                          <a:cs typeface="Cambria Math"/>
                        </a:rPr>
                        <m:t>&gt;0</m:t>
                      </m:r>
                    </m:oMath>
                  </m:oMathPara>
                </a14:m>
                <a:endParaRPr lang="en-GB" sz="2800" dirty="0"/>
              </a:p>
            </p:txBody>
          </p:sp>
        </mc:Choice>
        <mc:Fallback xmlns="">
          <p:sp>
            <p:nvSpPr>
              <p:cNvPr id="9" name="equation_5" descr="s(1,0)=b+w_1&gt;0; s(0,1)=b+w_2&gt;0">
                <a:extLst>
                  <a:ext uri="{FF2B5EF4-FFF2-40B4-BE49-F238E27FC236}">
                    <a16:creationId xmlns:a16="http://schemas.microsoft.com/office/drawing/2014/main" id="{B98D4047-F6CD-4082-B738-B633B0AE30EA}"/>
                  </a:ext>
                </a:extLst>
              </p:cNvPr>
              <p:cNvSpPr>
                <a:spLocks noGrp="1" noRot="1" noChangeAspect="1" noMove="1" noResize="1" noEditPoints="1" noAdjustHandles="1" noChangeArrowheads="1" noChangeShapeType="1" noTextEdit="1"/>
              </p:cNvSpPr>
              <p:nvPr/>
            </p:nvSpPr>
            <p:spPr>
              <a:xfrm>
                <a:off x="6238875" y="3524250"/>
                <a:ext cx="5429250" cy="10953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2b+w_1+w_2\leq0">
                <a:extLst>
                  <a:ext uri="{FF2B5EF4-FFF2-40B4-BE49-F238E27FC236}">
                    <a16:creationId xmlns:a16="http://schemas.microsoft.com/office/drawing/2014/main" id="{5262E107-236D-421A-97E7-6B2A01E4CAD4}"/>
                  </a:ext>
                </a:extLst>
              </p:cNvPr>
              <p:cNvSpPr>
                <a:spLocks noGrp="1"/>
              </p:cNvSpPr>
              <p:nvPr/>
            </p:nvSpPr>
            <p:spPr>
              <a:xfrm>
                <a:off x="476250" y="542001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326CB2"/>
                          </a:solidFill>
                          <a:latin typeface="Cambria Math"/>
                          <a:ea typeface="Cambria Math"/>
                          <a:cs typeface="Cambria Math"/>
                        </a:rPr>
                        <m:t>2</m:t>
                      </m:r>
                      <m:r>
                        <a:rPr lang="en-GB" sz="2900">
                          <a:solidFill>
                            <a:srgbClr val="326CB2"/>
                          </a:solidFill>
                          <a:latin typeface="Cambria Math"/>
                          <a:ea typeface="Cambria Math"/>
                          <a:cs typeface="Cambria Math"/>
                        </a:rPr>
                        <m:t>𝑏</m:t>
                      </m:r>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1</m:t>
                          </m:r>
                        </m:sub>
                      </m:sSub>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2</m:t>
                          </m:r>
                        </m:sub>
                      </m:sSub>
                      <m:r>
                        <a:rPr lang="en-GB" sz="2900">
                          <a:solidFill>
                            <a:srgbClr val="326CB2"/>
                          </a:solidFill>
                          <a:latin typeface="Cambria Math"/>
                          <a:ea typeface="Cambria Math"/>
                          <a:cs typeface="Cambria Math"/>
                        </a:rPr>
                        <m:t>≤0</m:t>
                      </m:r>
                    </m:oMath>
                  </m:oMathPara>
                </a14:m>
                <a:endParaRPr lang="en-GB" sz="2900" dirty="0"/>
              </a:p>
            </p:txBody>
          </p:sp>
        </mc:Choice>
        <mc:Fallback xmlns="">
          <p:sp>
            <p:nvSpPr>
              <p:cNvPr id="10" name="equation_6" descr="2b+w_1+w_2\leq0">
                <a:extLst>
                  <a:ext uri="{FF2B5EF4-FFF2-40B4-BE49-F238E27FC236}">
                    <a16:creationId xmlns:a16="http://schemas.microsoft.com/office/drawing/2014/main" id="{5262E107-236D-421A-97E7-6B2A01E4CAD4}"/>
                  </a:ext>
                </a:extLst>
              </p:cNvPr>
              <p:cNvSpPr>
                <a:spLocks noGrp="1" noRot="1" noChangeAspect="1" noMove="1" noResize="1" noEditPoints="1" noAdjustHandles="1" noChangeArrowheads="1" noChangeShapeType="1" noTextEdit="1"/>
              </p:cNvSpPr>
              <p:nvPr/>
            </p:nvSpPr>
            <p:spPr>
              <a:xfrm>
                <a:off x="476250" y="5420010"/>
                <a:ext cx="5429250" cy="7143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2b+w_1+w_2&gt;0">
                <a:extLst>
                  <a:ext uri="{FF2B5EF4-FFF2-40B4-BE49-F238E27FC236}">
                    <a16:creationId xmlns:a16="http://schemas.microsoft.com/office/drawing/2014/main" id="{04303691-D3B6-4421-8B7C-799EB85F0DE5}"/>
                  </a:ext>
                </a:extLst>
              </p:cNvPr>
              <p:cNvSpPr>
                <a:spLocks noGrp="1"/>
              </p:cNvSpPr>
              <p:nvPr/>
            </p:nvSpPr>
            <p:spPr>
              <a:xfrm>
                <a:off x="6219825" y="5470112"/>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C45C28"/>
                          </a:solidFill>
                          <a:latin typeface="Cambria Math"/>
                          <a:ea typeface="Cambria Math"/>
                          <a:cs typeface="Cambria Math"/>
                        </a:rPr>
                        <m:t>2</m:t>
                      </m:r>
                      <m:r>
                        <a:rPr lang="en-GB" sz="2900">
                          <a:solidFill>
                            <a:srgbClr val="C45C28"/>
                          </a:solidFill>
                          <a:latin typeface="Cambria Math"/>
                          <a:ea typeface="Cambria Math"/>
                          <a:cs typeface="Cambria Math"/>
                        </a:rPr>
                        <m:t>𝑏</m:t>
                      </m:r>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1</m:t>
                          </m:r>
                        </m:sub>
                      </m:sSub>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2</m:t>
                          </m:r>
                        </m:sub>
                      </m:sSub>
                      <m:r>
                        <a:rPr lang="en-GB" sz="2900">
                          <a:solidFill>
                            <a:srgbClr val="C45C28"/>
                          </a:solidFill>
                          <a:latin typeface="Cambria Math"/>
                          <a:ea typeface="Cambria Math"/>
                          <a:cs typeface="Cambria Math"/>
                        </a:rPr>
                        <m:t>&gt;0</m:t>
                      </m:r>
                    </m:oMath>
                  </m:oMathPara>
                </a14:m>
                <a:endParaRPr lang="en-GB" sz="2900" dirty="0"/>
              </a:p>
            </p:txBody>
          </p:sp>
        </mc:Choice>
        <mc:Fallback xmlns="">
          <p:sp>
            <p:nvSpPr>
              <p:cNvPr id="11" name="equation_7" descr="2b+w_1+w_2&gt;0">
                <a:extLst>
                  <a:ext uri="{FF2B5EF4-FFF2-40B4-BE49-F238E27FC236}">
                    <a16:creationId xmlns:a16="http://schemas.microsoft.com/office/drawing/2014/main" id="{04303691-D3B6-4421-8B7C-799EB85F0DE5}"/>
                  </a:ext>
                </a:extLst>
              </p:cNvPr>
              <p:cNvSpPr>
                <a:spLocks noGrp="1" noRot="1" noChangeAspect="1" noMove="1" noResize="1" noEditPoints="1" noAdjustHandles="1" noChangeArrowheads="1" noChangeShapeType="1" noTextEdit="1"/>
              </p:cNvSpPr>
              <p:nvPr/>
            </p:nvSpPr>
            <p:spPr>
              <a:xfrm>
                <a:off x="6219825" y="5470112"/>
                <a:ext cx="5429250" cy="714375"/>
              </a:xfrm>
              <a:prstGeom prst="rect">
                <a:avLst/>
              </a:prstGeom>
              <a:blipFill>
                <a:blip r:embed="rId8"/>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99FA95AF-14B5-456C-9F95-3CA6E70655E8}"/>
              </a:ext>
            </a:extLst>
          </p:cNvPr>
          <p:cNvSpPr>
            <a:spLocks noGrp="1"/>
          </p:cNvSpPr>
          <p:nvPr/>
        </p:nvSpPr>
        <p:spPr>
          <a:xfrm>
            <a:off x="714375" y="4836984"/>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Adding the inequalities within each class</a:t>
            </a:r>
          </a:p>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gives two </a:t>
            </a:r>
            <a:r>
              <a:rPr lang="en-GB" sz="2100" b="1" dirty="0">
                <a:solidFill>
                  <a:srgbClr val="FF0000"/>
                </a:solidFill>
                <a:latin typeface="DejaVu Sans"/>
                <a:ea typeface="DejaVu Sans"/>
                <a:cs typeface="DejaVu Sans"/>
              </a:rPr>
              <a:t>incompatible</a:t>
            </a:r>
            <a:r>
              <a:rPr lang="en-GB" sz="2100" b="1" dirty="0">
                <a:solidFill>
                  <a:srgbClr val="182D45"/>
                </a:solidFill>
                <a:latin typeface="DejaVu Sans"/>
                <a:ea typeface="DejaVu Sans"/>
                <a:cs typeface="DejaVu Sans"/>
              </a:rPr>
              <a:t> inequalities.</a:t>
            </a:r>
          </a:p>
        </p:txBody>
      </p:sp>
    </p:spTree>
    <p:extLst>
      <p:ext uri="{BB962C8B-B14F-4D97-AF65-F5344CB8AC3E}">
        <p14:creationId xmlns:p14="http://schemas.microsoft.com/office/powerpoint/2010/main" val="684183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4693F7A-A046-47ED-9C0A-E3D4D0A467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features that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413CF4A-81FD-4695-B7C7-EFC993AEB8AB}"/>
                  </a:ext>
                </a:extLst>
              </p:cNvPr>
              <p:cNvSpPr>
                <a:spLocks noGrp="1"/>
              </p:cNvSpPr>
              <p:nvPr/>
            </p:nvSpPr>
            <p:spPr>
              <a:xfrm>
                <a:off x="523875" y="933450"/>
                <a:ext cx="11144250" cy="523875"/>
              </a:xfrm>
              <a:prstGeom prst="rect">
                <a:avLst/>
              </a:prstGeom>
              <a:noFill/>
              <a:ln w="0">
                <a:noFill/>
              </a:ln>
            </p:spPr>
            <p:txBody>
              <a:bodyPr wrap="none" lIns="0" tIns="0" rIns="0" bIns="0" anchor="ctr">
                <a:noAutofit/>
              </a:bodyPr>
              <a:lstStyle/>
              <a:p>
                <a:pPr algn="ctr"/>
                <a14:m>
                  <m:oMath xmlns:m="http://schemas.openxmlformats.org/officeDocument/2006/math">
                    <m:r>
                      <a:rPr lang="en-GB" sz="2100">
                        <a:solidFill>
                          <a:srgbClr val="526276"/>
                        </a:solidFill>
                        <a:latin typeface="Cambria Math"/>
                        <a:ea typeface="Cambria Math"/>
                        <a:cs typeface="Cambria Math"/>
                      </a:rPr>
                      <m:t>𝐿</m:t>
                    </m:r>
                    <m:r>
                      <a:rPr lang="en-GB" sz="2100">
                        <a:solidFill>
                          <a:srgbClr val="526276"/>
                        </a:solidFill>
                        <a:latin typeface="Cambria Math"/>
                        <a:ea typeface="Cambria Math"/>
                        <a:cs typeface="Cambria Math"/>
                      </a:rPr>
                      <m:t>=2</m:t>
                    </m:r>
                  </m:oMath>
                </a14:m>
                <a:r>
                  <a:rPr lang="en-GB" sz="2100" b="0" dirty="0">
                    <a:solidFill>
                      <a:srgbClr val="526276"/>
                    </a:solidFill>
                    <a:latin typeface="DejaVu Sans"/>
                  </a:rPr>
                  <a:t>, with widths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0</m:t>
                        </m:r>
                      </m:sub>
                    </m:sSub>
                    <m:r>
                      <a:rPr lang="en-GB" sz="2100">
                        <a:solidFill>
                          <a:srgbClr val="526276"/>
                        </a:solidFill>
                        <a:latin typeface="Cambria Math"/>
                        <a:ea typeface="Cambria Math"/>
                        <a:cs typeface="Cambria Math"/>
                      </a:rPr>
                      <m:t>=2</m:t>
                    </m:r>
                  </m:oMath>
                </a14:m>
                <a:r>
                  <a:rPr lang="en-GB" sz="2100" b="0" dirty="0">
                    <a:solidFill>
                      <a:srgbClr val="526276"/>
                    </a:solidFill>
                    <a:latin typeface="DejaVu Sans"/>
                  </a:rPr>
                  <a:t>,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1</m:t>
                        </m:r>
                      </m:sub>
                    </m:sSub>
                    <m:r>
                      <a:rPr lang="en-GB" sz="2100">
                        <a:solidFill>
                          <a:srgbClr val="526276"/>
                        </a:solidFill>
                        <a:latin typeface="Cambria Math"/>
                        <a:ea typeface="Cambria Math"/>
                        <a:cs typeface="Cambria Math"/>
                      </a:rPr>
                      <m:t>=2</m:t>
                    </m:r>
                  </m:oMath>
                </a14:m>
                <a:r>
                  <a:rPr lang="en-GB" sz="2100" b="0" dirty="0">
                    <a:solidFill>
                      <a:srgbClr val="526276"/>
                    </a:solidFill>
                    <a:latin typeface="DejaVu Sans"/>
                  </a:rPr>
                  <a:t> and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2</m:t>
                        </m:r>
                      </m:sub>
                    </m:sSub>
                    <m:r>
                      <a:rPr lang="en-GB" sz="2100">
                        <a:solidFill>
                          <a:srgbClr val="526276"/>
                        </a:solidFill>
                        <a:latin typeface="Cambria Math"/>
                        <a:ea typeface="Cambria Math"/>
                        <a:cs typeface="Cambria Math"/>
                      </a:rPr>
                      <m:t>=1</m:t>
                    </m:r>
                  </m:oMath>
                </a14:m>
                <a:r>
                  <a:rPr lang="en-GB" sz="2100" b="0" dirty="0">
                    <a:solidFill>
                      <a:srgbClr val="526276"/>
                    </a:solidFill>
                    <a:latin typeface="DejaVu Sans"/>
                  </a:rPr>
                  <a:t>.</a:t>
                </a:r>
                <a:endParaRPr lang="en-GB" sz="2100" dirty="0"/>
              </a:p>
            </p:txBody>
          </p:sp>
        </mc:Choice>
        <mc:Fallback xmlns="">
          <p:sp>
            <p:nvSpPr>
              <p:cNvPr id="2" name="lead">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523875" y="933450"/>
                <a:ext cx="11144250" cy="523875"/>
              </a:xfrm>
              <a:prstGeom prst="rect">
                <a:avLst/>
              </a:prstGeom>
              <a:blipFill>
                <a:blip r:embed="rId3"/>
                <a:stretch>
                  <a:fillRect b="-9302"/>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A7CC646B-DEBA-409E-B5E1-EFB337AEF51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50CD3C8-2B4A-4064-90D2-C7B70E0A70C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mc:AlternateContent xmlns:mc="http://schemas.openxmlformats.org/markup-compatibility/2006" xmlns:a14="http://schemas.microsoft.com/office/drawing/2010/main">
        <mc:Choice Requires="a14">
          <p:sp>
            <p:nvSpPr>
              <p:cNvPr id="5" name="equation_1" descr="\phi_1(\bm x)=\operatorname{ReLU}(x_1-x_2),\qquad\phi_2(\bm x)=\operatorname{ReLU}(x_2-x_1)">
                <a:extLst>
                  <a:ext uri="{FF2B5EF4-FFF2-40B4-BE49-F238E27FC236}">
                    <a16:creationId xmlns:a16="http://schemas.microsoft.com/office/drawing/2014/main" id="{CD5400A5-7D8E-4EF8-BE80-5C6B2B362E56}"/>
                  </a:ext>
                </a:extLst>
              </p:cNvPr>
              <p:cNvSpPr>
                <a:spLocks noGrp="1"/>
              </p:cNvSpPr>
              <p:nvPr/>
            </p:nvSpPr>
            <p:spPr>
              <a:xfrm>
                <a:off x="285750" y="1514475"/>
                <a:ext cx="116205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e>
                      </m:d>
                    </m:oMath>
                  </m:oMathPara>
                </a14:m>
                <a:endParaRPr lang="en-GB" sz="2600" dirty="0"/>
              </a:p>
            </p:txBody>
          </p:sp>
        </mc:Choice>
        <mc:Fallback xmlns="">
          <p:sp>
            <p:nvSpPr>
              <p:cNvPr id="5" name="equation_1" descr="\phi_1(\bm x)=\operatorname{ReLU}(x_1-x_2),\qquad\phi_2(\bm x)=\operatorname{ReLU}(x_2-x_1)">
                <a:extLst>
                  <a:ext uri="{FF2B5EF4-FFF2-40B4-BE49-F238E27FC236}">
                    <a16:creationId xmlns:a16="http://schemas.microsoft.com/office/drawing/2014/main" id="{CD5400A5-7D8E-4EF8-BE80-5C6B2B362E56}"/>
                  </a:ext>
                </a:extLst>
              </p:cNvPr>
              <p:cNvSpPr>
                <a:spLocks noGrp="1" noRot="1" noChangeAspect="1" noMove="1" noResize="1" noEditPoints="1" noAdjustHandles="1" noChangeArrowheads="1" noChangeShapeType="1" noTextEdit="1"/>
              </p:cNvSpPr>
              <p:nvPr/>
            </p:nvSpPr>
            <p:spPr>
              <a:xfrm>
                <a:off x="285750" y="1514475"/>
                <a:ext cx="1162050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f_{\bm\theta}(\bm x)=\phi_1(\bm x)+\phi_2(\bm x)-\frac12=|x_1-x_2|-\frac12">
                <a:extLst>
                  <a:ext uri="{FF2B5EF4-FFF2-40B4-BE49-F238E27FC236}">
                    <a16:creationId xmlns:a16="http://schemas.microsoft.com/office/drawing/2014/main" id="{51A08B84-EAAA-4EEB-92E4-B4F2A2A930D9}"/>
                  </a:ext>
                </a:extLst>
              </p:cNvPr>
              <p:cNvSpPr>
                <a:spLocks noGrp="1"/>
              </p:cNvSpPr>
              <p:nvPr/>
            </p:nvSpPr>
            <p:spPr>
              <a:xfrm>
                <a:off x="333375" y="2171700"/>
                <a:ext cx="1152525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6" name="equation_2" descr="f_{\bm\theta}(\bm x)=\phi_1(\bm x)+\phi_2(\bm x)-\frac12=|x_1-x_2|-\frac12">
                <a:extLst>
                  <a:ext uri="{FF2B5EF4-FFF2-40B4-BE49-F238E27FC236}">
                    <a16:creationId xmlns:a16="http://schemas.microsoft.com/office/drawing/2014/main" id="{51A08B84-EAAA-4EEB-92E4-B4F2A2A930D9}"/>
                  </a:ext>
                </a:extLst>
              </p:cNvPr>
              <p:cNvSpPr>
                <a:spLocks noGrp="1" noRot="1" noChangeAspect="1" noMove="1" noResize="1" noEditPoints="1" noAdjustHandles="1" noChangeArrowheads="1" noChangeShapeType="1" noTextEdit="1"/>
              </p:cNvSpPr>
              <p:nvPr/>
            </p:nvSpPr>
            <p:spPr>
              <a:xfrm>
                <a:off x="333375" y="2171700"/>
                <a:ext cx="11525250" cy="771525"/>
              </a:xfrm>
              <a:prstGeom prst="rect">
                <a:avLst/>
              </a:prstGeom>
              <a:blipFill>
                <a:blip r:embed="rId5"/>
                <a:stretch>
                  <a:fillRect/>
                </a:stretch>
              </a:blipFill>
              <a:ln w="0">
                <a:noFill/>
              </a:ln>
            </p:spPr>
            <p:txBody>
              <a:bodyPr/>
              <a:lstStyle/>
              <a:p>
                <a:r>
                  <a:rPr lang="it-IT">
                    <a:noFill/>
                  </a:rPr>
                  <a:t> </a:t>
                </a:r>
              </a:p>
            </p:txBody>
          </p:sp>
        </mc:Fallback>
      </mc:AlternateContent>
      <p:graphicFrame>
        <p:nvGraphicFramePr>
          <p:cNvPr id="14" name="Tabella 13"/>
          <p:cNvGraphicFramePr/>
          <p:nvPr/>
        </p:nvGraphicFramePr>
        <p:xfrm>
          <a:off x="1285875" y="4219575"/>
          <a:ext cx="9620250" cy="2095500"/>
        </p:xfrm>
        <a:graphic>
          <a:graphicData uri="http://schemas.openxmlformats.org/drawingml/2006/table">
            <a:tbl>
              <a:tblPr/>
              <a:tblGrid>
                <a:gridCol w="2762250">
                  <a:extLst>
                    <a:ext uri="{9D8B030D-6E8A-4147-A177-3AD203B41FA5}">
                      <a16:colId xmlns:a16="http://schemas.microsoft.com/office/drawing/2014/main" val="20000"/>
                    </a:ext>
                  </a:extLst>
                </a:gridCol>
                <a:gridCol w="27622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419100">
                <a:tc>
                  <a:txBody>
                    <a:bodyPr/>
                    <a:lstStyle/>
                    <a:p>
                      <a:pPr algn="ctr"/>
                      <a:r>
                        <a:rPr sz="1875" b="1">
                          <a:solidFill>
                            <a:srgbClr val="182D45"/>
                          </a:solidFill>
                          <a:latin typeface="DejaVu Sans"/>
                          <a:ea typeface="DejaVu Sans"/>
                          <a:cs typeface="DejaVu Sans"/>
                        </a:rPr>
                        <a:t>Input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Feature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Score</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Label</a:t>
                      </a:r>
                    </a:p>
                  </a:txBody>
                  <a:tcPr marL="95250" marR="95250" marT="66675" marB="66675" anchor="ctr">
                    <a:solidFill>
                      <a:srgbClr val="EDF3F5"/>
                    </a:solidFill>
                  </a:tcPr>
                </a:tc>
                <a:extLst>
                  <a:ext uri="{0D108BD9-81ED-4DB2-BD59-A6C34878D82A}">
                    <a16:rowId xmlns:a16="http://schemas.microsoft.com/office/drawing/2014/main" val="10000"/>
                  </a:ext>
                </a:extLst>
              </a:tr>
              <a:tr h="419100">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1"/>
                  </a:ext>
                </a:extLst>
              </a:tr>
              <a:tr h="419100">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2"/>
                  </a:ext>
                </a:extLst>
              </a:tr>
              <a:tr h="419100">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3"/>
                  </a:ext>
                </a:extLst>
              </a:tr>
              <a:tr h="419100">
                <a:tc>
                  <a:txBody>
                    <a:bodyPr/>
                    <a:lstStyle/>
                    <a:p>
                      <a:pPr algn="ctr"/>
                      <a:r>
                        <a:rPr sz="1875">
                          <a:solidFill>
                            <a:srgbClr val="182D45"/>
                          </a:solidFill>
                          <a:latin typeface="DejaVu Sans"/>
                          <a:ea typeface="DejaVu Sans"/>
                          <a:cs typeface="DejaVu Sans"/>
                        </a:rPr>
                        <a:t>(1, 1)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p:cNvSpPr>
              <p:nvPr/>
            </p:nvSpPr>
            <p:spPr>
              <a:xfrm>
                <a:off x="333375" y="3038475"/>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0,0</m:t>
                          </m:r>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m:t>
                          </m:r>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1</m:t>
                              </m:r>
                            </m:num>
                            <m:den>
                              <m:r>
                                <a:rPr lang="en-GB" sz="2400">
                                  <a:solidFill>
                                    <a:srgbClr val="087F83"/>
                                  </a:solidFill>
                                  <a:latin typeface="Cambria Math"/>
                                  <a:ea typeface="Cambria Math"/>
                                  <a:cs typeface="Cambria Math"/>
                                </a:rPr>
                                <m:t>2</m:t>
                              </m:r>
                            </m:den>
                          </m:f>
                        </m:e>
                      </m:d>
                    </m:oMath>
                  </m:oMathPara>
                </a14:m>
                <a:endParaRPr lang="en-GB" sz="2400" dirty="0"/>
              </a:p>
            </p:txBody>
          </p:sp>
        </mc:Choice>
        <mc:Fallback xmlns="">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333375" y="3038475"/>
                <a:ext cx="11525250" cy="952500"/>
              </a:xfrm>
              <a:prstGeom prst="rect">
                <a:avLst/>
              </a:prstGeom>
              <a:blipFill>
                <a:blip r:embed="rId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122863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title">
            <a:extLst>
              <a:ext uri="{FF2B5EF4-FFF2-40B4-BE49-F238E27FC236}">
                <a16:creationId xmlns:a16="http://schemas.microsoft.com/office/drawing/2014/main" id="{B1E1AA06-F473-4F6B-A561-D47C65603CB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straight boundary in feature space</a:t>
            </a:r>
          </a:p>
        </p:txBody>
      </p:sp>
      <p:sp>
        <p:nvSpPr>
          <p:cNvPr id="2" name="lead">
            <a:extLst>
              <a:ext uri="{FF2B5EF4-FFF2-40B4-BE49-F238E27FC236}">
                <a16:creationId xmlns:a16="http://schemas.microsoft.com/office/drawing/2014/main" id="{A8B96362-A362-42F9-B309-CD0532DB7AE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Non-affine features </a:t>
            </a:r>
            <a:r>
              <a:rPr lang="en-GB" sz="2175" b="0" dirty="0">
                <a:solidFill>
                  <a:srgbClr val="526276"/>
                </a:solidFill>
                <a:latin typeface="DejaVu Sans"/>
                <a:ea typeface="DejaVu Sans"/>
                <a:cs typeface="DejaVu Sans"/>
              </a:rPr>
              <a:t>allow an affine output to produce</a:t>
            </a:r>
          </a:p>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a nonlinear decision boundary</a:t>
            </a:r>
            <a:r>
              <a:rPr lang="en-GB" sz="2175" b="0" dirty="0">
                <a:solidFill>
                  <a:srgbClr val="526276"/>
                </a:solidFill>
                <a:latin typeface="DejaVu Sans"/>
                <a:ea typeface="DejaVu Sans"/>
                <a:cs typeface="DejaVu Sans"/>
              </a:rPr>
              <a:t> in the original input space.</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89B23693-2891-4047-A9CD-458C96AB1F0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555D3B3-8DEC-4F8E-975C-6690CB307AF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06DAC930-80FC-4E04-9B0D-DC742EDAE187}"/>
              </a:ext>
            </a:extLst>
          </p:cNvPr>
          <p:cNvSpPr>
            <a:spLocks noGrp="1"/>
          </p:cNvSpPr>
          <p:nvPr/>
        </p:nvSpPr>
        <p:spPr>
          <a:xfrm>
            <a:off x="523875"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Input space</a:t>
            </a:r>
          </a:p>
        </p:txBody>
      </p:sp>
      <p:sp>
        <p:nvSpPr>
          <p:cNvPr id="6" name="text_2">
            <a:extLst>
              <a:ext uri="{FF2B5EF4-FFF2-40B4-BE49-F238E27FC236}">
                <a16:creationId xmlns:a16="http://schemas.microsoft.com/office/drawing/2014/main" id="{D6203F44-797C-4295-A484-985B60C102BE}"/>
              </a:ext>
            </a:extLst>
          </p:cNvPr>
          <p:cNvSpPr>
            <a:spLocks noGrp="1"/>
          </p:cNvSpPr>
          <p:nvPr/>
        </p:nvSpPr>
        <p:spPr>
          <a:xfrm>
            <a:off x="6286500"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Feature space</a:t>
            </a:r>
          </a:p>
        </p:txBody>
      </p:sp>
      <p:graphicFrame>
        <p:nvGraphicFramePr>
          <p:cNvPr id="25" name="Chart"/>
          <p:cNvGraphicFramePr/>
          <p:nvPr/>
        </p:nvGraphicFramePr>
        <p:xfrm>
          <a:off x="476250" y="2171700"/>
          <a:ext cx="5381625" cy="314325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_3">
            <a:extLst>
              <a:ext uri="{FF2B5EF4-FFF2-40B4-BE49-F238E27FC236}">
                <a16:creationId xmlns:a16="http://schemas.microsoft.com/office/drawing/2014/main" id="{669D035E-688C-4893-BC64-7D06F72D77AF}"/>
              </a:ext>
            </a:extLst>
          </p:cNvPr>
          <p:cNvSpPr>
            <a:spLocks noGrp="1"/>
          </p:cNvSpPr>
          <p:nvPr/>
        </p:nvSpPr>
        <p:spPr>
          <a:xfrm>
            <a:off x="2578894" y="5141595"/>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x₁</a:t>
            </a:r>
          </a:p>
        </p:txBody>
      </p:sp>
      <p:graphicFrame>
        <p:nvGraphicFramePr>
          <p:cNvPr id="27" name="Chart"/>
          <p:cNvGraphicFramePr/>
          <p:nvPr/>
        </p:nvGraphicFramePr>
        <p:xfrm>
          <a:off x="6191250" y="2171700"/>
          <a:ext cx="5381625" cy="314325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_5">
            <a:extLst>
              <a:ext uri="{FF2B5EF4-FFF2-40B4-BE49-F238E27FC236}">
                <a16:creationId xmlns:a16="http://schemas.microsoft.com/office/drawing/2014/main" id="{157AC325-72A0-4D8C-9F6F-07D7B03BE049}"/>
              </a:ext>
            </a:extLst>
          </p:cNvPr>
          <p:cNvSpPr>
            <a:spLocks noGrp="1"/>
          </p:cNvSpPr>
          <p:nvPr/>
        </p:nvSpPr>
        <p:spPr>
          <a:xfrm>
            <a:off x="2931319" y="3467481"/>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2" name="text_6">
            <a:extLst>
              <a:ext uri="{FF2B5EF4-FFF2-40B4-BE49-F238E27FC236}">
                <a16:creationId xmlns:a16="http://schemas.microsoft.com/office/drawing/2014/main" id="{FE78F299-58BE-4105-96B6-17D555E4C1E3}"/>
              </a:ext>
            </a:extLst>
          </p:cNvPr>
          <p:cNvSpPr>
            <a:spLocks noGrp="1"/>
          </p:cNvSpPr>
          <p:nvPr/>
        </p:nvSpPr>
        <p:spPr>
          <a:xfrm>
            <a:off x="2284089" y="2411349"/>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3" name="text_7">
            <a:extLst>
              <a:ext uri="{FF2B5EF4-FFF2-40B4-BE49-F238E27FC236}">
                <a16:creationId xmlns:a16="http://schemas.microsoft.com/office/drawing/2014/main" id="{79611868-3994-4B9E-A669-16820FC17F0A}"/>
              </a:ext>
            </a:extLst>
          </p:cNvPr>
          <p:cNvSpPr>
            <a:spLocks noGrp="1"/>
          </p:cNvSpPr>
          <p:nvPr/>
        </p:nvSpPr>
        <p:spPr>
          <a:xfrm>
            <a:off x="3666807" y="435597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4" name="text_8">
            <a:extLst>
              <a:ext uri="{FF2B5EF4-FFF2-40B4-BE49-F238E27FC236}">
                <a16:creationId xmlns:a16="http://schemas.microsoft.com/office/drawing/2014/main" id="{B1A53DC3-7C98-4402-9338-8929B3AFE825}"/>
              </a:ext>
            </a:extLst>
          </p:cNvPr>
          <p:cNvSpPr>
            <a:spLocks noGrp="1"/>
          </p:cNvSpPr>
          <p:nvPr/>
        </p:nvSpPr>
        <p:spPr>
          <a:xfrm>
            <a:off x="7410698" y="4037457"/>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5" name="text_9">
            <a:extLst>
              <a:ext uri="{FF2B5EF4-FFF2-40B4-BE49-F238E27FC236}">
                <a16:creationId xmlns:a16="http://schemas.microsoft.com/office/drawing/2014/main" id="{77A92B47-12B2-4BF6-ABEC-BD67B7CFBC83}"/>
              </a:ext>
            </a:extLst>
          </p:cNvPr>
          <p:cNvSpPr>
            <a:spLocks noGrp="1"/>
          </p:cNvSpPr>
          <p:nvPr/>
        </p:nvSpPr>
        <p:spPr>
          <a:xfrm>
            <a:off x="9117032" y="318249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mc:AlternateContent xmlns:mc="http://schemas.openxmlformats.org/markup-compatibility/2006" xmlns:a14="http://schemas.microsoft.com/office/drawing/2010/main">
        <mc:Choice Requires="a14">
          <p:sp>
            <p:nvSpPr>
              <p:cNvPr id="16" name="equation_10" descr="|x_1-x_2|=\frac12">
                <a:extLst>
                  <a:ext uri="{FF2B5EF4-FFF2-40B4-BE49-F238E27FC236}">
                    <a16:creationId xmlns:a16="http://schemas.microsoft.com/office/drawing/2014/main" id="{0A774326-DAF2-4918-8CA1-70E55C9E18F0}"/>
                  </a:ext>
                </a:extLst>
              </p:cNvPr>
              <p:cNvSpPr>
                <a:spLocks noGrp="1"/>
              </p:cNvSpPr>
              <p:nvPr/>
            </p:nvSpPr>
            <p:spPr>
              <a:xfrm>
                <a:off x="666750" y="5553075"/>
                <a:ext cx="5143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begChr m:val="|"/>
                          <m:endChr m:val="|"/>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2</m:t>
                              </m:r>
                            </m:sub>
                          </m:sSub>
                        </m:e>
                      </m:d>
                      <m:r>
                        <a:rPr lang="en-GB" sz="2300">
                          <a:solidFill>
                            <a:srgbClr val="087F83"/>
                          </a:solidFill>
                          <a:latin typeface="Cambria Math"/>
                          <a:ea typeface="Cambria Math"/>
                          <a:cs typeface="Cambria Math"/>
                        </a:rPr>
                        <m:t>=</m:t>
                      </m:r>
                      <m:f>
                        <m:fPr>
                          <m:ctrlPr>
                            <a:rPr lang="en-GB" sz="2300">
                              <a:solidFill>
                                <a:srgbClr val="087F83"/>
                              </a:solidFill>
                              <a:latin typeface="Cambria Math"/>
                              <a:ea typeface="Cambria Math"/>
                              <a:cs typeface="Cambria Math"/>
                            </a:rPr>
                          </m:ctrlPr>
                        </m:fPr>
                        <m:num>
                          <m:r>
                            <a:rPr lang="en-GB" sz="2300">
                              <a:solidFill>
                                <a:srgbClr val="087F83"/>
                              </a:solidFill>
                              <a:latin typeface="Cambria Math"/>
                              <a:ea typeface="Cambria Math"/>
                              <a:cs typeface="Cambria Math"/>
                            </a:rPr>
                            <m:t>1</m:t>
                          </m:r>
                        </m:num>
                        <m:den>
                          <m:r>
                            <a:rPr lang="en-GB" sz="2300">
                              <a:solidFill>
                                <a:srgbClr val="087F83"/>
                              </a:solidFill>
                              <a:latin typeface="Cambria Math"/>
                              <a:ea typeface="Cambria Math"/>
                              <a:cs typeface="Cambria Math"/>
                            </a:rPr>
                            <m:t>2</m:t>
                          </m:r>
                        </m:den>
                      </m:f>
                    </m:oMath>
                  </m:oMathPara>
                </a14:m>
                <a:endParaRPr lang="en-GB" sz="2300" dirty="0"/>
              </a:p>
            </p:txBody>
          </p:sp>
        </mc:Choice>
        <mc:Fallback xmlns="">
          <p:sp>
            <p:nvSpPr>
              <p:cNvPr id="16" name="equation_10" descr="|x_1-x_2|=\frac12">
                <a:extLst>
                  <a:ext uri="{FF2B5EF4-FFF2-40B4-BE49-F238E27FC236}">
                    <a16:creationId xmlns:a16="http://schemas.microsoft.com/office/drawing/2014/main" id="{0A774326-DAF2-4918-8CA1-70E55C9E18F0}"/>
                  </a:ext>
                </a:extLst>
              </p:cNvPr>
              <p:cNvSpPr>
                <a:spLocks noGrp="1" noRot="1" noChangeAspect="1" noMove="1" noResize="1" noEditPoints="1" noAdjustHandles="1" noChangeArrowheads="1" noChangeShapeType="1" noTextEdit="1"/>
              </p:cNvSpPr>
              <p:nvPr/>
            </p:nvSpPr>
            <p:spPr>
              <a:xfrm>
                <a:off x="666750" y="5553075"/>
                <a:ext cx="5143500" cy="533400"/>
              </a:xfrm>
              <a:prstGeom prst="rect">
                <a:avLst/>
              </a:prstGeom>
              <a:blipFill>
                <a:blip r:embed="rId5"/>
                <a:stretch>
                  <a:fillRect t="-3448" b="-1264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1" descr="\phi_1(\bm x)+\phi_2(\bm x)=\frac12">
                <a:extLst>
                  <a:ext uri="{FF2B5EF4-FFF2-40B4-BE49-F238E27FC236}">
                    <a16:creationId xmlns:a16="http://schemas.microsoft.com/office/drawing/2014/main" id="{3A3A070A-4A4C-4664-95D6-93F892C0FA18}"/>
                  </a:ext>
                </a:extLst>
              </p:cNvPr>
              <p:cNvSpPr>
                <a:spLocks noGrp="1"/>
              </p:cNvSpPr>
              <p:nvPr/>
            </p:nvSpPr>
            <p:spPr>
              <a:xfrm>
                <a:off x="6204452" y="5610225"/>
                <a:ext cx="5381625"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oMath>
                  </m:oMathPara>
                </a14:m>
                <a:endParaRPr lang="en-GB" sz="2500" dirty="0"/>
              </a:p>
            </p:txBody>
          </p:sp>
        </mc:Choice>
        <mc:Fallback xmlns="">
          <p:sp>
            <p:nvSpPr>
              <p:cNvPr id="17" name="equation_11" descr="\phi_1(\bm x)+\phi_2(\bm x)=\frac12">
                <a:extLst>
                  <a:ext uri="{FF2B5EF4-FFF2-40B4-BE49-F238E27FC236}">
                    <a16:creationId xmlns:a16="http://schemas.microsoft.com/office/drawing/2014/main" id="{3A3A070A-4A4C-4664-95D6-93F892C0FA18}"/>
                  </a:ext>
                </a:extLst>
              </p:cNvPr>
              <p:cNvSpPr>
                <a:spLocks noGrp="1" noRot="1" noChangeAspect="1" noMove="1" noResize="1" noEditPoints="1" noAdjustHandles="1" noChangeArrowheads="1" noChangeShapeType="1" noTextEdit="1"/>
              </p:cNvSpPr>
              <p:nvPr/>
            </p:nvSpPr>
            <p:spPr>
              <a:xfrm>
                <a:off x="6204452" y="5610225"/>
                <a:ext cx="5381625" cy="495300"/>
              </a:xfrm>
              <a:prstGeom prst="rect">
                <a:avLst/>
              </a:prstGeom>
              <a:blipFill>
                <a:blip r:embed="rId6"/>
                <a:stretch>
                  <a:fillRect t="-12195" b="-219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text_12">
                <a:extLst>
                  <a:ext uri="{FF2B5EF4-FFF2-40B4-BE49-F238E27FC236}">
                    <a16:creationId xmlns:a16="http://schemas.microsoft.com/office/drawing/2014/main" id="{73074A83-FC0B-4B97-967A-EC8E2D62E8E0}"/>
                  </a:ext>
                </a:extLst>
              </p:cNvPr>
              <p:cNvSpPr>
                <a:spLocks noGrp="1"/>
              </p:cNvSpPr>
              <p:nvPr/>
            </p:nvSpPr>
            <p:spPr>
              <a:xfrm>
                <a:off x="6143625" y="6272211"/>
                <a:ext cx="5524500" cy="314325"/>
              </a:xfrm>
              <a:prstGeom prst="rect">
                <a:avLst/>
              </a:prstGeom>
              <a:noFill/>
              <a:ln w="0">
                <a:noFill/>
              </a:ln>
            </p:spPr>
            <p:txBody>
              <a:bodyPr anchor="ctr">
                <a:noAutofit/>
              </a:bodyPr>
              <a:lstStyle/>
              <a:p>
                <a:pPr algn="ctr">
                  <a:defRPr sz="1575" b="0">
                    <a:solidFill>
                      <a:srgbClr val="526276"/>
                    </a:solidFill>
                    <a:latin typeface="DejaVu Sans"/>
                    <a:ea typeface="DejaVu Sans"/>
                    <a:cs typeface="DejaVu Sans"/>
                  </a:defRPr>
                </a:pPr>
                <a14:m>
                  <m:oMath xmlns:m="http://schemas.openxmlformats.org/officeDocument/2006/math">
                    <m:d>
                      <m:dPr>
                        <m:ctrlPr>
                          <a:rPr lang="ar-AE" sz="1575" b="0" i="1" dirty="0" smtClean="0">
                            <a:solidFill>
                              <a:srgbClr val="526276"/>
                            </a:solidFill>
                            <a:latin typeface="Cambria Math" panose="02040503050406030204" pitchFamily="18" charset="0"/>
                            <a:ea typeface="DejaVu Sans"/>
                            <a:cs typeface="DejaVu Sans"/>
                          </a:rPr>
                        </m:ctrlPr>
                      </m:dPr>
                      <m:e>
                        <m:r>
                          <a:rPr lang="ar-AE" sz="1575" b="0" i="1" dirty="0" smtClean="0">
                            <a:solidFill>
                              <a:srgbClr val="526276"/>
                            </a:solidFill>
                            <a:latin typeface="Cambria Math" panose="02040503050406030204" pitchFamily="18" charset="0"/>
                            <a:ea typeface="DejaVu Sans"/>
                            <a:cs typeface="DejaVu Sans"/>
                          </a:rPr>
                          <m:t>0, 0</m:t>
                        </m:r>
                      </m:e>
                    </m:d>
                  </m:oMath>
                </a14:m>
                <a:r>
                  <a:rPr lang="it-IT" sz="1575" b="0" dirty="0">
                    <a:solidFill>
                      <a:srgbClr val="526276"/>
                    </a:solidFill>
                    <a:latin typeface="DejaVu Sans"/>
                    <a:ea typeface="DejaVu Sans"/>
                    <a:cs typeface="DejaVu Sans"/>
                  </a:rPr>
                  <a:t> and </a:t>
                </a:r>
                <a14:m>
                  <m:oMath xmlns:m="http://schemas.openxmlformats.org/officeDocument/2006/math">
                    <m:d>
                      <m:dPr>
                        <m:ctrlPr>
                          <a:rPr lang="it-IT" sz="1575" b="0" i="1" dirty="0" smtClean="0">
                            <a:solidFill>
                              <a:srgbClr val="526276"/>
                            </a:solidFill>
                            <a:latin typeface="Cambria Math" panose="02040503050406030204" pitchFamily="18" charset="0"/>
                            <a:ea typeface="DejaVu Sans"/>
                            <a:cs typeface="DejaVu Sans"/>
                          </a:rPr>
                        </m:ctrlPr>
                      </m:dPr>
                      <m:e>
                        <m:r>
                          <a:rPr lang="it-IT" sz="1575" b="0" i="1" dirty="0" smtClean="0">
                            <a:solidFill>
                              <a:srgbClr val="526276"/>
                            </a:solidFill>
                            <a:latin typeface="Cambria Math" panose="02040503050406030204" pitchFamily="18" charset="0"/>
                            <a:ea typeface="DejaVu Sans"/>
                            <a:cs typeface="DejaVu Sans"/>
                          </a:rPr>
                          <m:t>1, 1</m:t>
                        </m:r>
                      </m:e>
                    </m:d>
                  </m:oMath>
                </a14:m>
                <a:r>
                  <a:rPr lang="it-IT" sz="1575" b="0" dirty="0">
                    <a:solidFill>
                      <a:srgbClr val="526276"/>
                    </a:solidFill>
                    <a:latin typeface="DejaVu Sans"/>
                    <a:ea typeface="DejaVu Sans"/>
                    <a:cs typeface="DejaVu Sans"/>
                  </a:rPr>
                  <a:t> both map to the origin.</a:t>
                </a:r>
                <a:endParaRPr sz="1575" b="0" dirty="0">
                  <a:solidFill>
                    <a:srgbClr val="526276"/>
                  </a:solidFill>
                  <a:latin typeface="DejaVu Sans"/>
                  <a:ea typeface="DejaVu Sans"/>
                  <a:cs typeface="DejaVu Sans"/>
                </a:endParaRPr>
              </a:p>
            </p:txBody>
          </p:sp>
        </mc:Choice>
        <mc:Fallback xmlns="">
          <p:sp>
            <p:nvSpPr>
              <p:cNvPr id="18" name="text_12">
                <a:extLst>
                  <a:ext uri="{FF2B5EF4-FFF2-40B4-BE49-F238E27FC236}">
                    <a16:creationId xmlns:a16="http://schemas.microsoft.com/office/drawing/2014/main" id="{73074A83-FC0B-4B97-967A-EC8E2D62E8E0}"/>
                  </a:ext>
                </a:extLst>
              </p:cNvPr>
              <p:cNvSpPr>
                <a:spLocks noGrp="1" noRot="1" noChangeAspect="1" noMove="1" noResize="1" noEditPoints="1" noAdjustHandles="1" noChangeArrowheads="1" noChangeShapeType="1" noTextEdit="1"/>
              </p:cNvSpPr>
              <p:nvPr/>
            </p:nvSpPr>
            <p:spPr>
              <a:xfrm>
                <a:off x="6143625" y="6272211"/>
                <a:ext cx="5524500" cy="314325"/>
              </a:xfrm>
              <a:prstGeom prst="rect">
                <a:avLst/>
              </a:prstGeom>
              <a:blipFill>
                <a:blip r:embed="rId7"/>
                <a:stretch>
                  <a:fillRect t="-9804" b="-27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feature_axis_x" descr="\phi_1(\bm x)">
                <a:extLst>
                  <a:ext uri="{FF2B5EF4-FFF2-40B4-BE49-F238E27FC236}">
                    <a16:creationId xmlns:a16="http://schemas.microsoft.com/office/drawing/2014/main" id="{47A5EAD9-7191-493C-84DF-54158C483253}"/>
                  </a:ext>
                </a:extLst>
              </p:cNvPr>
              <p:cNvSpPr>
                <a:spLocks noGrp="1"/>
              </p:cNvSpPr>
              <p:nvPr/>
            </p:nvSpPr>
            <p:spPr>
              <a:xfrm>
                <a:off x="8239125" y="5200650"/>
                <a:ext cx="17145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1</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8" name="feature_axis_x" descr="\phi_{1,1}(\bm x)">
                <a:extLst>
                  <a:ext uri="{FF2B5EF4-FFF2-40B4-BE49-F238E27FC236}">
                    <a16:creationId xmlns:a16="http://schemas.microsoft.com/office/drawing/2014/main" id="{47A5EAD9-7191-493C-84DF-54158C483253}"/>
                  </a:ext>
                </a:extLst>
              </p:cNvPr>
              <p:cNvSpPr>
                <a:spLocks noGrp="1" noRot="1" noChangeAspect="1" noMove="1" noResize="1" noEditPoints="1" noAdjustHandles="1" noChangeArrowheads="1" noChangeShapeType="1" noTextEdit="1"/>
              </p:cNvSpPr>
              <p:nvPr/>
            </p:nvSpPr>
            <p:spPr>
              <a:xfrm>
                <a:off x="8239125" y="5200650"/>
                <a:ext cx="1714500" cy="323850"/>
              </a:xfrm>
              <a:prstGeom prst="rect">
                <a:avLst/>
              </a:prstGeom>
              <a:blipFill>
                <a:blip r:embed="rIdNotation33_1_10"/>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feature_axis_y" descr="\phi_2(\bm x)">
                <a:extLst>
                  <a:ext uri="{FF2B5EF4-FFF2-40B4-BE49-F238E27FC236}">
                    <a16:creationId xmlns:a16="http://schemas.microsoft.com/office/drawing/2014/main" id="{C113088A-AB55-4930-BC52-03D2151DB813}"/>
                  </a:ext>
                </a:extLst>
              </p:cNvPr>
              <p:cNvSpPr>
                <a:spLocks noGrp="1"/>
              </p:cNvSpPr>
              <p:nvPr/>
            </p:nvSpPr>
            <p:spPr>
              <a:xfrm rot="16200000">
                <a:off x="5343525" y="3448050"/>
                <a:ext cx="1428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2</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9" name="feature_axis_y" descr="\phi_{1,2}(\bm x)">
                <a:extLst>
                  <a:ext uri="{FF2B5EF4-FFF2-40B4-BE49-F238E27FC236}">
                    <a16:creationId xmlns:a16="http://schemas.microsoft.com/office/drawing/2014/main" id="{C113088A-AB55-4930-BC52-03D2151DB813}"/>
                  </a:ext>
                </a:extLst>
              </p:cNvPr>
              <p:cNvSpPr>
                <a:spLocks noGrp="1" noRot="1" noChangeAspect="1" noMove="1" noResize="1" noEditPoints="1" noAdjustHandles="1" noChangeArrowheads="1" noChangeShapeType="1" noTextEdit="1"/>
              </p:cNvSpPr>
              <p:nvPr/>
            </p:nvSpPr>
            <p:spPr>
              <a:xfrm rot="16200000">
                <a:off x="5343525" y="3448050"/>
                <a:ext cx="1428750" cy="323850"/>
              </a:xfrm>
              <a:prstGeom prst="rect">
                <a:avLst/>
              </a:prstGeom>
              <a:blipFill>
                <a:blip r:embed="rIdNotation33_2_11"/>
                <a:stretch>
                  <a:fillRect r="-2830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164247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2F0D33-2964-4B41-A54F-B72C7678C55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743FE78E-8327-4D4C-861C-31D78F3A367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8619E3DD-D38E-477D-AE1D-2853900FA1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4</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22DB1E5C-4512-4B5A-A808-B6C015E03C3C}"/>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62AE5310-1DC6-461E-957F-0F54C26236B2}"/>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5C697DE2-F767-4C40-A2F0-222FA9FF872B}"/>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B2D663F9-860E-48B8-960F-2003DCE9C3F6}"/>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3E7621C-2FC2-4E84-B1AC-8136342A83FF}"/>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Fitting all weights and biases</a:t>
            </a:r>
          </a:p>
        </p:txBody>
      </p:sp>
      <p:sp>
        <p:nvSpPr>
          <p:cNvPr id="2" name="lead">
            <a:extLst>
              <a:ext uri="{FF2B5EF4-FFF2-40B4-BE49-F238E27FC236}">
                <a16:creationId xmlns:a16="http://schemas.microsoft.com/office/drawing/2014/main" id="{7CFEEA11-9C75-4FED-B1ED-E3F285DA3274}"/>
              </a:ext>
            </a:extLst>
          </p:cNvPr>
          <p:cNvSpPr>
            <a:spLocks noGrp="1"/>
          </p:cNvSpPr>
          <p:nvPr/>
        </p:nvSpPr>
        <p:spPr>
          <a:xfrm>
            <a:off x="1285875" y="1514475"/>
            <a:ext cx="4953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Regression</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6EFDA82A-5973-4E3C-82B5-3DCE7FB040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8CF70F7-1F89-4C6E-8640-E629583A0A6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5</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p:cNvSpPr>
              <p:nvPr/>
            </p:nvSpPr>
            <p:spPr>
              <a:xfrm>
                <a:off x="571500" y="2457450"/>
                <a:ext cx="110490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smtClean="0">
                              <a:solidFill>
                                <a:srgbClr val="087F83"/>
                              </a:solidFill>
                              <a:latin typeface="Cambria Math"/>
                              <a:ea typeface="Cambria Math"/>
                              <a:cs typeface="Cambria Math"/>
                            </a:rPr>
                          </m:ctrlPr>
                        </m:sSubPr>
                        <m:e>
                          <m:r>
                            <a:rPr lang="en-GB" sz="2500" smtClean="0">
                              <a:solidFill>
                                <a:srgbClr val="087F83"/>
                              </a:solidFill>
                              <a:latin typeface="Cambria Math"/>
                              <a:ea typeface="Cambria Math"/>
                              <a:cs typeface="Cambria Math"/>
                            </a:rPr>
                            <m:t>ℒ</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𝑓</m:t>
                                  </m:r>
                                </m:e>
                                <m:sub>
                                  <m:r>
                                    <a:rPr lang="en-GB" sz="2500">
                                      <a:solidFill>
                                        <a:srgbClr val="087F83"/>
                                      </a:solidFill>
                                      <a:latin typeface="Cambria Math"/>
                                      <a:ea typeface="Cambria Math"/>
                                      <a:cs typeface="Cambria Math"/>
                                    </a:rPr>
                                    <m:t>𝛉</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𝐱</m:t>
                                      </m:r>
                                    </m:e>
                                    <m:sub>
                                      <m:r>
                                        <a:rPr lang="it-IT" sz="2500" b="0" i="1" smtClean="0">
                                          <a:solidFill>
                                            <a:srgbClr val="087F83"/>
                                          </a:solidFill>
                                          <a:latin typeface="Cambria Math" panose="02040503050406030204" pitchFamily="18" charset="0"/>
                                          <a:ea typeface="Cambria Math"/>
                                          <a:cs typeface="Cambria Math"/>
                                        </a:rPr>
                                        <m:t>𝑖</m:t>
                                      </m:r>
                                    </m:sub>
                                  </m:sSub>
                                </m:e>
                              </m:d>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𝑦</m:t>
                                  </m:r>
                                </m:e>
                                <m:sub>
                                  <m:r>
                                    <a:rPr lang="it-IT" sz="2500" b="0" i="1" smtClean="0">
                                      <a:solidFill>
                                        <a:srgbClr val="087F83"/>
                                      </a:solidFill>
                                      <a:latin typeface="Cambria Math" panose="02040503050406030204" pitchFamily="18" charset="0"/>
                                      <a:ea typeface="Cambria Math"/>
                                      <a:cs typeface="Cambria Math"/>
                                    </a:rPr>
                                    <m:t>𝑖</m:t>
                                  </m:r>
                                </m:sub>
                              </m:sSub>
                            </m:e>
                          </m:d>
                        </m:e>
                      </m:nary>
                      <m:r>
                        <a:rPr lang="it-IT" sz="2500" b="0" i="1" smtClean="0">
                          <a:solidFill>
                            <a:srgbClr val="087F83"/>
                          </a:solidFill>
                          <a:latin typeface="Cambria Math" panose="02040503050406030204" pitchFamily="18" charset="0"/>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oMath>
                  </m:oMathPara>
                </a14:m>
                <a:endParaRPr lang="en-GB" sz="2500" dirty="0"/>
              </a:p>
              <a:p>
                <a:pPr algn="ctr"/>
                <a:endParaRPr lang="en-GB" sz="2500" dirty="0"/>
              </a:p>
            </p:txBody>
          </p:sp>
        </mc:Choice>
        <mc:Fallback xmlns="">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noRot="1" noChangeAspect="1" noMove="1" noResize="1" noEditPoints="1" noAdjustHandles="1" noChangeArrowheads="1" noChangeShapeType="1" noTextEdit="1"/>
              </p:cNvSpPr>
              <p:nvPr/>
            </p:nvSpPr>
            <p:spPr>
              <a:xfrm>
                <a:off x="571500" y="2457450"/>
                <a:ext cx="11049000" cy="1028700"/>
              </a:xfrm>
              <a:prstGeom prst="rect">
                <a:avLst/>
              </a:prstGeom>
              <a:blipFill>
                <a:blip r:embed="rId3"/>
                <a:stretch>
                  <a:fillRect t="-1656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text_2">
                <a:extLst>
                  <a:ext uri="{FF2B5EF4-FFF2-40B4-BE49-F238E27FC236}">
                    <a16:creationId xmlns:a16="http://schemas.microsoft.com/office/drawing/2014/main" id="{36190696-B368-4CAA-8D2F-19364027A9E4}"/>
                  </a:ext>
                </a:extLst>
              </p:cNvPr>
              <p:cNvSpPr>
                <a:spLocks noGrp="1"/>
              </p:cNvSpPr>
              <p:nvPr/>
            </p:nvSpPr>
            <p:spPr>
              <a:xfrm>
                <a:off x="381000" y="3786188"/>
                <a:ext cx="11144250" cy="666750"/>
              </a:xfrm>
              <a:prstGeom prst="rect">
                <a:avLst/>
              </a:prstGeom>
              <a:noFill/>
              <a:ln w="0">
                <a:noFill/>
              </a:ln>
            </p:spPr>
            <p:txBody>
              <a:bodyPr wrap="none" lIns="0" tIns="0" rIns="0" bIns="0" anchor="ctr">
                <a:noAutofit/>
              </a:bodyPr>
              <a:lstStyle/>
              <a:p>
                <a:pPr algn="ctr">
                  <a:lnSpc>
                    <a:spcPts val="2700"/>
                  </a:lnSpc>
                </a:pPr>
                <a:r>
                  <a:rPr lang="en-GB" sz="2225" b="0" dirty="0">
                    <a:solidFill>
                      <a:srgbClr val="526276"/>
                    </a:solidFill>
                    <a:latin typeface="DejaVu Sans"/>
                  </a:rPr>
                  <a:t>Let </a:t>
                </a:r>
                <a14:m>
                  <m:oMath xmlns:m="http://schemas.openxmlformats.org/officeDocument/2006/math">
                    <m:r>
                      <a:rPr lang="en-GB" sz="2225">
                        <a:solidFill>
                          <a:srgbClr val="526276"/>
                        </a:solidFill>
                        <a:latin typeface="Cambria Math"/>
                        <a:ea typeface="Cambria Math"/>
                        <a:cs typeface="Cambria Math"/>
                      </a:rPr>
                      <m:t>ℒ</m:t>
                    </m:r>
                  </m:oMath>
                </a14:m>
                <a:r>
                  <a:rPr lang="en-GB" sz="2225" b="0" dirty="0">
                    <a:solidFill>
                      <a:srgbClr val="526276"/>
                    </a:solidFill>
                    <a:latin typeface="DejaVu Sans"/>
                  </a:rPr>
                  <a:t> be the </a:t>
                </a:r>
                <a:r>
                  <a:rPr lang="en-GB" sz="2225" b="0" dirty="0">
                    <a:solidFill>
                      <a:srgbClr val="FF0000"/>
                    </a:solidFill>
                    <a:latin typeface="DejaVu Sans"/>
                  </a:rPr>
                  <a:t>empirical loss</a:t>
                </a:r>
                <a:r>
                  <a:rPr lang="en-GB" sz="2225" b="0" dirty="0">
                    <a:solidFill>
                      <a:srgbClr val="526276"/>
                    </a:solidFill>
                    <a:latin typeface="DejaVu Sans"/>
                  </a:rPr>
                  <a:t> for the task.</a:t>
                </a:r>
                <a:endParaRPr lang="en-GB" sz="2225" dirty="0"/>
              </a:p>
              <a:p>
                <a:pPr algn="ctr">
                  <a:lnSpc>
                    <a:spcPts val="2700"/>
                  </a:lnSpc>
                </a:pPr>
                <a:r>
                  <a:rPr lang="en-GB" sz="2225" b="0" dirty="0">
                    <a:solidFill>
                      <a:srgbClr val="FF0000"/>
                    </a:solidFill>
                    <a:latin typeface="DejaVu Sans"/>
                  </a:rPr>
                  <a:t>Where differentiable</a:t>
                </a:r>
                <a:r>
                  <a:rPr lang="en-GB" sz="2225" b="0" dirty="0">
                    <a:solidFill>
                      <a:srgbClr val="526276"/>
                    </a:solidFill>
                    <a:latin typeface="DejaVu Sans"/>
                  </a:rPr>
                  <a:t>, we update the parameters by </a:t>
                </a:r>
                <a:r>
                  <a:rPr lang="en-GB" sz="2225" b="0" dirty="0">
                    <a:solidFill>
                      <a:srgbClr val="FF0000"/>
                    </a:solidFill>
                    <a:latin typeface="DejaVu Sans"/>
                  </a:rPr>
                  <a:t>gradient descent</a:t>
                </a:r>
                <a:r>
                  <a:rPr lang="en-GB" sz="2225" b="0" dirty="0">
                    <a:solidFill>
                      <a:srgbClr val="526276"/>
                    </a:solidFill>
                    <a:latin typeface="DejaVu Sans"/>
                  </a:rPr>
                  <a:t>.</a:t>
                </a:r>
                <a:endParaRPr lang="en-GB" sz="2225" dirty="0"/>
              </a:p>
            </p:txBody>
          </p:sp>
        </mc:Choice>
        <mc:Fallback xmlns="">
          <p:sp>
            <p:nvSpPr>
              <p:cNvPr id="6" name="text_2">
                <a:extLst>
                  <a:ext uri="{FF2B5EF4-FFF2-40B4-BE49-F238E27FC236}">
                    <a16:creationId xmlns:a16="http://schemas.microsoft.com/office/drawing/2014/main" id="{36190696-B368-4CAA-8D2F-19364027A9E4}"/>
                  </a:ext>
                </a:extLst>
              </p:cNvPr>
              <p:cNvSpPr>
                <a:spLocks noGrp="1" noRot="1" noChangeAspect="1" noMove="1" noResize="1" noEditPoints="1" noAdjustHandles="1" noChangeArrowheads="1" noChangeShapeType="1" noTextEdit="1"/>
              </p:cNvSpPr>
              <p:nvPr/>
            </p:nvSpPr>
            <p:spPr>
              <a:xfrm>
                <a:off x="381000" y="3786188"/>
                <a:ext cx="11144250" cy="666750"/>
              </a:xfrm>
              <a:prstGeom prst="rect">
                <a:avLst/>
              </a:prstGeom>
              <a:blipFill>
                <a:blip r:embed="rId4"/>
                <a:stretch>
                  <a:fillRect t="-16514" b="-247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p:cNvSpPr>
              <p:nvPr/>
            </p:nvSpPr>
            <p:spPr>
              <a:xfrm>
                <a:off x="381000" y="4738687"/>
                <a:ext cx="114300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r>
                                <a:rPr lang="en-GB" sz="3100">
                                  <a:solidFill>
                                    <a:srgbClr val="087F83"/>
                                  </a:solidFill>
                                  <a:latin typeface="Cambria Math"/>
                                  <a:ea typeface="Cambria Math"/>
                                  <a:cs typeface="Cambria Math"/>
                                </a:rPr>
                                <m:t>+1</m:t>
                              </m:r>
                            </m:e>
                          </m:d>
                        </m:sup>
                      </m:sSup>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𝜂</m:t>
                      </m:r>
                      <m:r>
                        <m:rPr>
                          <m:sty m:val="p"/>
                        </m:rP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ℒ</m:t>
                      </m:r>
                      <m:d>
                        <m:dPr>
                          <m:ctrlPr>
                            <a:rPr lang="en-GB" sz="3100" i="1">
                              <a:solidFill>
                                <a:srgbClr val="087F83"/>
                              </a:solidFill>
                              <a:latin typeface="Cambria Math" panose="02040503050406030204" pitchFamily="18" charset="0"/>
                              <a:ea typeface="Cambria Math"/>
                              <a:cs typeface="Cambria Math"/>
                            </a:rPr>
                          </m:ctrlPr>
                        </m:dPr>
                        <m:e>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𝜂</m:t>
                      </m:r>
                      <m:r>
                        <a:rPr lang="en-GB" sz="3100">
                          <a:solidFill>
                            <a:srgbClr val="087F83"/>
                          </a:solidFill>
                          <a:latin typeface="Cambria Math"/>
                          <a:ea typeface="Cambria Math"/>
                          <a:cs typeface="Cambria Math"/>
                        </a:rPr>
                        <m:t>&gt;0</m:t>
                      </m:r>
                    </m:oMath>
                  </m:oMathPara>
                </a14:m>
                <a:endParaRPr lang="en-GB" sz="3100" dirty="0"/>
              </a:p>
            </p:txBody>
          </p:sp>
        </mc:Choice>
        <mc:Fallback xmlns="">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noRot="1" noChangeAspect="1" noMove="1" noResize="1" noEditPoints="1" noAdjustHandles="1" noChangeArrowheads="1" noChangeShapeType="1" noTextEdit="1"/>
              </p:cNvSpPr>
              <p:nvPr/>
            </p:nvSpPr>
            <p:spPr>
              <a:xfrm>
                <a:off x="381000" y="4738687"/>
                <a:ext cx="11430000" cy="1019175"/>
              </a:xfrm>
              <a:prstGeom prst="rect">
                <a:avLst/>
              </a:prstGeom>
              <a:blipFill>
                <a:blip r:embed="rId5"/>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3DA11924-0ABF-42BA-B4C4-7B1506892CC1}"/>
              </a:ext>
            </a:extLst>
          </p:cNvPr>
          <p:cNvSpPr>
            <a:spLocks noGrp="1"/>
          </p:cNvSpPr>
          <p:nvPr/>
        </p:nvSpPr>
        <p:spPr>
          <a:xfrm>
            <a:off x="571500" y="5705475"/>
            <a:ext cx="11049000" cy="73126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neural networks</a:t>
            </a:r>
            <a:r>
              <a:rPr lang="it-IT" sz="2100" b="1" dirty="0">
                <a:solidFill>
                  <a:srgbClr val="182D45"/>
                </a:solidFill>
                <a:latin typeface="DejaVu Sans"/>
                <a:ea typeface="DejaVu Sans"/>
                <a:cs typeface="DejaVu Sans"/>
              </a:rPr>
              <a:t>,</a:t>
            </a:r>
          </a:p>
          <a:p>
            <a:pPr algn="ctr">
              <a:defRPr sz="2100"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will</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gradient</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descent</a:t>
            </a:r>
            <a:r>
              <a:rPr lang="it-IT" sz="2100" b="1" dirty="0">
                <a:solidFill>
                  <a:srgbClr val="182D45"/>
                </a:solidFill>
                <a:latin typeface="DejaVu Sans"/>
                <a:ea typeface="DejaVu Sans"/>
                <a:cs typeface="DejaVu Sans"/>
              </a:rPr>
              <a:t> converge to a global minimum?</a:t>
            </a:r>
          </a:p>
        </p:txBody>
      </p:sp>
      <p:sp>
        <p:nvSpPr>
          <p:cNvPr id="11" name="lead">
            <a:extLst>
              <a:ext uri="{FF2B5EF4-FFF2-40B4-BE49-F238E27FC236}">
                <a16:creationId xmlns:a16="http://schemas.microsoft.com/office/drawing/2014/main" id="{C9FA2463-165C-736F-B580-46AD9BCA9FC3}"/>
              </a:ext>
            </a:extLst>
          </p:cNvPr>
          <p:cNvSpPr>
            <a:spLocks noGrp="1"/>
          </p:cNvSpPr>
          <p:nvPr/>
        </p:nvSpPr>
        <p:spPr>
          <a:xfrm>
            <a:off x="666750" y="64770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observations stay fixed. The network parameters vary.</a:t>
            </a:r>
          </a:p>
        </p:txBody>
      </p:sp>
      <p:sp>
        <p:nvSpPr>
          <p:cNvPr id="13" name="lead">
            <a:extLst>
              <a:ext uri="{FF2B5EF4-FFF2-40B4-BE49-F238E27FC236}">
                <a16:creationId xmlns:a16="http://schemas.microsoft.com/office/drawing/2014/main" id="{3681B473-5C24-661B-AE54-BD30A9429EF8}"/>
              </a:ext>
            </a:extLst>
          </p:cNvPr>
          <p:cNvSpPr>
            <a:spLocks noGrp="1"/>
          </p:cNvSpPr>
          <p:nvPr/>
        </p:nvSpPr>
        <p:spPr>
          <a:xfrm>
            <a:off x="5857875" y="1514475"/>
            <a:ext cx="4572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Binary</a:t>
            </a:r>
            <a:r>
              <a:rPr lang="it-IT" sz="2175" dirty="0">
                <a:solidFill>
                  <a:srgbClr val="526276"/>
                </a:solidFill>
                <a:latin typeface="DejaVu Sans"/>
                <a:ea typeface="DejaVu Sans"/>
                <a:cs typeface="DejaVu Sans"/>
              </a:rPr>
              <a:t> </a:t>
            </a:r>
            <a:r>
              <a:rPr lang="it-IT" sz="2175" dirty="0" err="1">
                <a:solidFill>
                  <a:srgbClr val="526276"/>
                </a:solidFill>
                <a:latin typeface="DejaVu Sans"/>
                <a:ea typeface="DejaVu Sans"/>
                <a:cs typeface="DejaVu Sans"/>
              </a:rPr>
              <a:t>Classification</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2828007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53FBC18-9A8F-4F16-B550-E83831C26F55}"/>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network with one adjustable parameter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6CF802D-53F6-4B77-9F88-46B1EF7E90FA}"/>
                  </a:ext>
                </a:extLst>
              </p:cNvPr>
              <p:cNvSpPr>
                <a:spLocks noGrp="1"/>
              </p:cNvSpPr>
              <p:nvPr/>
            </p:nvSpPr>
            <p:spPr>
              <a:xfrm>
                <a:off x="428625" y="933450"/>
                <a:ext cx="11334750" cy="695325"/>
              </a:xfrm>
              <a:prstGeom prst="rect">
                <a:avLst/>
              </a:prstGeom>
              <a:noFill/>
              <a:ln w="0">
                <a:noFill/>
              </a:ln>
            </p:spPr>
            <p:txBody>
              <a:bodyPr wrap="none" lIns="0" tIns="0" rIns="0" bIns="0" anchor="ctr">
                <a:noAutofit/>
              </a:bodyPr>
              <a:lstStyle/>
              <a:p>
                <a:pPr algn="ctr">
                  <a:lnSpc>
                    <a:spcPts val="2500"/>
                  </a:lnSpc>
                </a:pPr>
                <a:r>
                  <a:rPr lang="en-GB" sz="2025" b="0" dirty="0">
                    <a:solidFill>
                      <a:srgbClr val="526276"/>
                    </a:solidFill>
                    <a:latin typeface="DejaVu Sans"/>
                  </a:rPr>
                  <a:t>To visualise the empirical loss, we vary only one scalar parameter </a:t>
                </a:r>
                <a14:m>
                  <m:oMath xmlns:m="http://schemas.openxmlformats.org/officeDocument/2006/math">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a:t>
                </a:r>
                <a:endParaRPr lang="en-GB" sz="2025" dirty="0"/>
              </a:p>
              <a:p>
                <a:pPr algn="ctr">
                  <a:lnSpc>
                    <a:spcPts val="2500"/>
                  </a:lnSpc>
                </a:pPr>
                <a:r>
                  <a:rPr lang="en-GB" sz="2025" b="0" dirty="0">
                    <a:solidFill>
                      <a:srgbClr val="526276"/>
                    </a:solidFill>
                    <a:latin typeface="DejaVu Sans"/>
                  </a:rPr>
                  <a:t>The hidden biases are </a:t>
                </a:r>
                <a14:m>
                  <m:oMath xmlns:m="http://schemas.openxmlformats.org/officeDocument/2006/math">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 All other coefficients stay fixed.</a:t>
                </a:r>
                <a:endParaRPr lang="en-GB" sz="2025" dirty="0"/>
              </a:p>
            </p:txBody>
          </p:sp>
        </mc:Choice>
        <mc:Fallback xmlns="">
          <p:sp>
            <p:nvSpPr>
              <p:cNvPr id="2" name="lead">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933450"/>
                <a:ext cx="11334750" cy="695325"/>
              </a:xfrm>
              <a:prstGeom prst="rect">
                <a:avLst/>
              </a:prstGeom>
              <a:blipFill>
                <a:blip r:embed="rId3"/>
                <a:stretch>
                  <a:fillRect t="-7895" b="-15789"/>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7A8790-43E6-4FD7-83E8-0536F073C7C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C6B51FF-9B6F-4AF2-A88F-22374E81EC84}"/>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6</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p:cNvSpPr>
              <p:nvPr/>
            </p:nvSpPr>
            <p:spPr>
              <a:xfrm>
                <a:off x="333375" y="2009775"/>
                <a:ext cx="1152525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𝜃</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𝜃</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−3=</m:t>
                      </m:r>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−3</m:t>
                      </m:r>
                    </m:oMath>
                  </m:oMathPara>
                </a14:m>
                <a:endParaRPr lang="en-GB" sz="2900" dirty="0"/>
              </a:p>
            </p:txBody>
          </p:sp>
        </mc:Choice>
        <mc:Fallback xmlns="">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noRot="1" noChangeAspect="1" noMove="1" noResize="1" noEditPoints="1" noAdjustHandles="1" noChangeArrowheads="1" noChangeShapeType="1" noTextEdit="1"/>
              </p:cNvSpPr>
              <p:nvPr/>
            </p:nvSpPr>
            <p:spPr>
              <a:xfrm>
                <a:off x="333375" y="2009775"/>
                <a:ext cx="11525250" cy="800100"/>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9" name="Chart"/>
          <p:cNvGraphicFramePr/>
          <p:nvPr/>
        </p:nvGraphicFramePr>
        <p:xfrm>
          <a:off x="523875" y="2971800"/>
          <a:ext cx="6953250" cy="275272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62B7B059-2318-4605-8D2A-021CC71A0730}"/>
              </a:ext>
            </a:extLst>
          </p:cNvPr>
          <p:cNvSpPr>
            <a:spLocks noGrp="1"/>
          </p:cNvSpPr>
          <p:nvPr/>
        </p:nvSpPr>
        <p:spPr>
          <a:xfrm>
            <a:off x="3490912" y="5605844"/>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4809BE71-0C43-4A51-9797-32525EFDA411}"/>
                  </a:ext>
                </a:extLst>
              </p:cNvPr>
              <p:cNvSpPr>
                <a:spLocks noGrp="1"/>
              </p:cNvSpPr>
              <p:nvPr/>
            </p:nvSpPr>
            <p:spPr>
              <a:xfrm>
                <a:off x="1524000" y="2857500"/>
                <a:ext cx="2095500" cy="285750"/>
              </a:xfrm>
              <a:prstGeom prst="rect">
                <a:avLst/>
              </a:prstGeom>
              <a:noFill/>
              <a:ln w="0">
                <a:noFill/>
              </a:ln>
            </p:spPr>
            <p:txBody>
              <a:bodyPr anchor="ctr">
                <a:noAutofit/>
              </a:bodyPr>
              <a:lstStyle/>
              <a:p>
                <a:pPr algn="ctr">
                  <a:defRPr sz="1725" b="1">
                    <a:solidFill>
                      <a:srgbClr val="326CB2"/>
                    </a:solidFill>
                    <a:latin typeface="DejaVu Sans"/>
                    <a:ea typeface="DejaVu Sans"/>
                    <a:cs typeface="DejaVu Sans"/>
                  </a:defRPr>
                </a:pPr>
                <a14:m>
                  <m:oMathPara xmlns:m="http://schemas.openxmlformats.org/officeDocument/2006/math">
                    <m:oMath>
                      <m:r>
                        <a:rPr lang="it-IT" sz="1725" b="1" i="1" dirty="0" smtClean="0">
                          <a:solidFill>
                            <a:srgbClr val="326CB2"/>
                          </a:solidFill>
                          <a:latin typeface="Cambria Math" panose="02040503050406030204" pitchFamily="18" charset="0"/>
                          <a:ea typeface="DejaVu Sans"/>
                          <a:cs typeface="DejaVu Sans"/>
                        </a:rPr>
                        <m:t>𝜽</m:t>
                      </m:r>
                      <m:r>
                        <a:rPr lang="it-IT" sz="1725" b="1" i="1" dirty="0" smtClean="0">
                          <a:solidFill>
                            <a:srgbClr val="326CB2"/>
                          </a:solidFill>
                          <a:latin typeface="Cambria Math" panose="02040503050406030204" pitchFamily="18" charset="0"/>
                          <a:ea typeface="DejaVu Sans"/>
                          <a:cs typeface="DejaVu Sans"/>
                        </a:rPr>
                        <m:t> = −</m:t>
                      </m:r>
                      <m:r>
                        <a:rPr lang="it-IT" sz="1725" b="1" i="1" dirty="0" smtClean="0">
                          <a:solidFill>
                            <a:srgbClr val="326CB2"/>
                          </a:solidFill>
                          <a:latin typeface="Cambria Math" panose="02040503050406030204" pitchFamily="18" charset="0"/>
                          <a:ea typeface="DejaVu Sans"/>
                          <a:cs typeface="DejaVu Sans"/>
                        </a:rPr>
                        <m:t>𝟏</m:t>
                      </m:r>
                    </m:oMath>
                  </m:oMathPara>
                </a14:m>
                <a:endParaRPr/>
              </a:p>
            </p:txBody>
          </p:sp>
        </mc:Choice>
        <mc:Fallback xmlns="">
          <p:sp>
            <p:nvSpPr>
              <p:cNvPr id="8" name="text_3">
                <a:extLst>
                  <a:ext uri="{FF2B5EF4-FFF2-40B4-BE49-F238E27FC236}">
                    <a16:creationId xmlns:a16="http://schemas.microsoft.com/office/drawing/2014/main" id="{4809BE71-0C43-4A51-9797-32525EFDA411}"/>
                  </a:ext>
                </a:extLst>
              </p:cNvPr>
              <p:cNvSpPr>
                <a:spLocks noGrp="1" noRot="1" noChangeAspect="1" noMove="1" noResize="1" noEditPoints="1" noAdjustHandles="1" noChangeArrowheads="1" noChangeShapeType="1" noTextEdit="1"/>
              </p:cNvSpPr>
              <p:nvPr/>
            </p:nvSpPr>
            <p:spPr>
              <a:xfrm>
                <a:off x="1524000" y="2857500"/>
                <a:ext cx="2095500" cy="285750"/>
              </a:xfrm>
              <a:prstGeom prst="rect">
                <a:avLst/>
              </a:prstGeom>
              <a:blipFill>
                <a:blip r:embed="rId6"/>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B09A4AC-539D-4F7B-BCDC-3A79FF2852D7}"/>
                  </a:ext>
                </a:extLst>
              </p:cNvPr>
              <p:cNvSpPr>
                <a:spLocks noGrp="1"/>
              </p:cNvSpPr>
              <p:nvPr/>
            </p:nvSpPr>
            <p:spPr>
              <a:xfrm>
                <a:off x="4095750" y="2857500"/>
                <a:ext cx="2095500" cy="285750"/>
              </a:xfrm>
              <a:prstGeom prst="rect">
                <a:avLst/>
              </a:prstGeom>
              <a:noFill/>
              <a:ln w="0">
                <a:noFill/>
              </a:ln>
            </p:spPr>
            <p:txBody>
              <a:bodyPr anchor="ctr">
                <a:noAutofit/>
              </a:bodyPr>
              <a:lstStyle/>
              <a:p>
                <a:pPr algn="ctr">
                  <a:defRPr sz="1725" b="1">
                    <a:solidFill>
                      <a:srgbClr val="C45C28"/>
                    </a:solidFill>
                    <a:latin typeface="DejaVu Sans"/>
                    <a:ea typeface="DejaVu Sans"/>
                    <a:cs typeface="DejaVu Sans"/>
                  </a:defRPr>
                </a:pPr>
                <a14:m>
                  <m:oMathPara xmlns:m="http://schemas.openxmlformats.org/officeDocument/2006/math">
                    <m:oMath>
                      <m:r>
                        <a:rPr lang="it-IT" sz="1725" b="1" i="1" dirty="0" smtClean="0">
                          <a:solidFill>
                            <a:srgbClr val="C45C28"/>
                          </a:solidFill>
                          <a:latin typeface="Cambria Math" panose="02040503050406030204" pitchFamily="18" charset="0"/>
                          <a:ea typeface="DejaVu Sans"/>
                          <a:cs typeface="DejaVu Sans"/>
                        </a:rPr>
                        <m:t>𝜽</m:t>
                      </m:r>
                      <m:r>
                        <a:rPr lang="it-IT" sz="1725" b="1" i="1" dirty="0" smtClean="0">
                          <a:solidFill>
                            <a:srgbClr val="C45C28"/>
                          </a:solidFill>
                          <a:latin typeface="Cambria Math" panose="02040503050406030204" pitchFamily="18" charset="0"/>
                          <a:ea typeface="DejaVu Sans"/>
                          <a:cs typeface="DejaVu Sans"/>
                        </a:rPr>
                        <m:t> = +</m:t>
                      </m:r>
                      <m:r>
                        <a:rPr lang="it-IT" sz="1725" b="1" i="1" dirty="0" smtClean="0">
                          <a:solidFill>
                            <a:srgbClr val="C45C28"/>
                          </a:solidFill>
                          <a:latin typeface="Cambria Math" panose="02040503050406030204" pitchFamily="18" charset="0"/>
                          <a:ea typeface="DejaVu Sans"/>
                          <a:cs typeface="DejaVu Sans"/>
                        </a:rPr>
                        <m:t>𝟏</m:t>
                      </m:r>
                    </m:oMath>
                  </m:oMathPara>
                </a14:m>
                <a:endParaRPr/>
              </a:p>
            </p:txBody>
          </p:sp>
        </mc:Choice>
        <mc:Fallback xmlns="">
          <p:sp>
            <p:nvSpPr>
              <p:cNvPr id="9" name="text_4">
                <a:extLst>
                  <a:ext uri="{FF2B5EF4-FFF2-40B4-BE49-F238E27FC236}">
                    <a16:creationId xmlns:a16="http://schemas.microsoft.com/office/drawing/2014/main" id="{DB09A4AC-539D-4F7B-BCDC-3A79FF2852D7}"/>
                  </a:ext>
                </a:extLst>
              </p:cNvPr>
              <p:cNvSpPr>
                <a:spLocks noGrp="1" noRot="1" noChangeAspect="1" noMove="1" noResize="1" noEditPoints="1" noAdjustHandles="1" noChangeArrowheads="1" noChangeShapeType="1" noTextEdit="1"/>
              </p:cNvSpPr>
              <p:nvPr/>
            </p:nvSpPr>
            <p:spPr>
              <a:xfrm>
                <a:off x="4095750" y="2857500"/>
                <a:ext cx="2095500" cy="285750"/>
              </a:xfrm>
              <a:prstGeom prst="rect">
                <a:avLst/>
              </a:prstGeom>
              <a:blipFill>
                <a:blip r:embed="rId7"/>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text_5">
                <a:extLst>
                  <a:ext uri="{FF2B5EF4-FFF2-40B4-BE49-F238E27FC236}">
                    <a16:creationId xmlns:a16="http://schemas.microsoft.com/office/drawing/2014/main" id="{A92421AA-C1FE-45D7-8C27-B2F13039C675}"/>
                  </a:ext>
                </a:extLst>
              </p:cNvPr>
              <p:cNvSpPr>
                <a:spLocks noGrp="1"/>
              </p:cNvSpPr>
              <p:nvPr/>
            </p:nvSpPr>
            <p:spPr>
              <a:xfrm>
                <a:off x="7667625" y="3086100"/>
                <a:ext cx="3905250" cy="847725"/>
              </a:xfrm>
              <a:prstGeom prst="rect">
                <a:avLst/>
              </a:prstGeom>
              <a:noFill/>
              <a:ln w="0">
                <a:noFill/>
              </a:ln>
            </p:spPr>
            <p:txBody>
              <a:bodyPr wrap="none" lIns="0" tIns="0" rIns="0" bIns="0" anchor="ctr">
                <a:noAutofit/>
              </a:bodyPr>
              <a:lstStyle/>
              <a:p>
                <a:pPr algn="ctr">
                  <a:lnSpc>
                    <a:spcPts val="3000"/>
                  </a:lnSpc>
                </a:pPr>
                <a:r>
                  <a:rPr lang="en-GB" sz="2200" b="1" dirty="0">
                    <a:solidFill>
                      <a:srgbClr val="182D45"/>
                    </a:solidFill>
                    <a:latin typeface="DejaVu Sans"/>
                  </a:rPr>
                  <a:t>Hidden bias row:</a:t>
                </a:r>
                <a:endParaRPr lang="en-GB" sz="2200" dirty="0"/>
              </a:p>
              <a:p>
                <a:pPr algn="ctr">
                  <a:lnSpc>
                    <a:spcPts val="3000"/>
                  </a:lnSpc>
                </a:pPr>
                <a14:m>
                  <m:oMathPara xmlns:m="http://schemas.openxmlformats.org/officeDocument/2006/math">
                    <m:oMath>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𝐛</m:t>
                          </m:r>
                        </m:e>
                        <m:sub>
                          <m:r>
                            <a:rPr lang="en-GB" sz="2200">
                              <a:solidFill>
                                <a:srgbClr val="182D45"/>
                              </a:solidFill>
                              <a:latin typeface="Cambria Math"/>
                              <a:ea typeface="Cambria Math"/>
                              <a:cs typeface="Cambria Math"/>
                            </a:rPr>
                            <m:t>1</m:t>
                          </m:r>
                        </m:sub>
                      </m:sSub>
                      <m:r>
                        <a:rPr lang="en-GB" sz="2200">
                          <a:solidFill>
                            <a:srgbClr val="182D45"/>
                          </a:solidFill>
                          <a:latin typeface="Cambria Math"/>
                          <a:ea typeface="Cambria Math"/>
                          <a:cs typeface="Cambria Math"/>
                        </a:rPr>
                        <m:t>=</m:t>
                      </m:r>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e>
                      </m:d>
                    </m:oMath>
                  </m:oMathPara>
                </a14:m>
                <a:endParaRPr lang="en-GB" sz="2200" dirty="0"/>
              </a:p>
            </p:txBody>
          </p:sp>
        </mc:Choice>
        <mc:Fallback xmlns="">
          <p:sp>
            <p:nvSpPr>
              <p:cNvPr id="10" name="text_5">
                <a:extLst>
                  <a:ext uri="{FF2B5EF4-FFF2-40B4-BE49-F238E27FC236}">
                    <a16:creationId xmlns:a16="http://schemas.microsoft.com/office/drawing/2014/main" id="{A92421AA-C1FE-45D7-8C27-B2F13039C675}"/>
                  </a:ext>
                </a:extLst>
              </p:cNvPr>
              <p:cNvSpPr>
                <a:spLocks noGrp="1" noRot="1" noChangeAspect="1" noMove="1" noResize="1" noEditPoints="1" noAdjustHandles="1" noChangeArrowheads="1" noChangeShapeType="1" noTextEdit="1"/>
              </p:cNvSpPr>
              <p:nvPr/>
            </p:nvSpPr>
            <p:spPr>
              <a:xfrm>
                <a:off x="7667625" y="3086100"/>
                <a:ext cx="3905250" cy="847725"/>
              </a:xfrm>
              <a:prstGeom prst="rect">
                <a:avLst/>
              </a:prstGeom>
              <a:blipFill>
                <a:blip r:embed="rId8"/>
                <a:stretch>
                  <a:fillRect t="-3597"/>
                </a:stretch>
              </a:blipFill>
              <a:ln w="0">
                <a:noFill/>
              </a:ln>
            </p:spPr>
            <p:txBody>
              <a:bodyPr/>
              <a:lstStyle/>
              <a:p>
                <a:r>
                  <a:rPr lang="it-IT">
                    <a:noFill/>
                  </a:rPr>
                  <a:t> </a:t>
                </a:r>
              </a:p>
            </p:txBody>
          </p:sp>
        </mc:Fallback>
      </mc:AlternateContent>
      <p:sp>
        <p:nvSpPr>
          <p:cNvPr id="11" name="text_6">
            <a:extLst>
              <a:ext uri="{FF2B5EF4-FFF2-40B4-BE49-F238E27FC236}">
                <a16:creationId xmlns:a16="http://schemas.microsoft.com/office/drawing/2014/main" id="{7AD47AD6-4B1C-485F-AC2C-15F4A0F6458F}"/>
              </a:ext>
            </a:extLst>
          </p:cNvPr>
          <p:cNvSpPr>
            <a:spLocks noGrp="1"/>
          </p:cNvSpPr>
          <p:nvPr/>
        </p:nvSpPr>
        <p:spPr>
          <a:xfrm>
            <a:off x="7667625" y="4048125"/>
            <a:ext cx="3905250" cy="828675"/>
          </a:xfrm>
          <a:prstGeom prst="rect">
            <a:avLst/>
          </a:prstGeom>
          <a:noFill/>
          <a:ln w="0">
            <a:noFill/>
          </a:ln>
        </p:spPr>
        <p:txBody>
          <a:bodyPr wrap="none" lIns="0" tIns="0" rIns="0" bIns="0" anchor="ctr">
            <a:noAutofit/>
          </a:bodyPr>
          <a:lstStyle/>
          <a:p>
            <a:pPr algn="ctr">
              <a:lnSpc>
                <a:spcPts val="2500"/>
              </a:lnSpc>
            </a:pPr>
            <a:r>
              <a:rPr lang="en-GB" sz="2025" b="0" dirty="0">
                <a:solidFill>
                  <a:srgbClr val="FF0000"/>
                </a:solidFill>
                <a:latin typeface="DejaVu Sans"/>
              </a:rPr>
              <a:t>The two biases vary together</a:t>
            </a:r>
            <a:endParaRPr lang="en-GB" sz="2025" dirty="0">
              <a:solidFill>
                <a:srgbClr val="FF0000"/>
              </a:solidFill>
            </a:endParaRPr>
          </a:p>
          <a:p>
            <a:pPr algn="ctr">
              <a:lnSpc>
                <a:spcPts val="2500"/>
              </a:lnSpc>
            </a:pPr>
            <a:r>
              <a:rPr lang="en-GB" sz="2025" b="0" dirty="0">
                <a:solidFill>
                  <a:srgbClr val="FF0000"/>
                </a:solidFill>
                <a:latin typeface="DejaVu Sans"/>
              </a:rPr>
              <a:t>and remain opposites.</a:t>
            </a:r>
            <a:endParaRPr lang="en-GB" sz="2025" dirty="0">
              <a:solidFill>
                <a:srgbClr val="FF0000"/>
              </a:solidFill>
            </a:endParaRPr>
          </a:p>
        </p:txBody>
      </p:sp>
      <mc:AlternateContent xmlns:mc="http://schemas.openxmlformats.org/markup-compatibility/2006" xmlns:a14="http://schemas.microsoft.com/office/drawing/2010/main">
        <mc:Choice Requires="a14">
          <p:sp>
            <p:nvSpPr>
              <p:cNvPr id="12" name="text_7">
                <a:extLst>
                  <a:ext uri="{FF2B5EF4-FFF2-40B4-BE49-F238E27FC236}">
                    <a16:creationId xmlns:a16="http://schemas.microsoft.com/office/drawing/2014/main" id="{863B7342-9DFD-4342-BDC2-9F396FF6D084}"/>
                  </a:ext>
                </a:extLst>
              </p:cNvPr>
              <p:cNvSpPr>
                <a:spLocks noGrp="1"/>
              </p:cNvSpPr>
              <p:nvPr/>
            </p:nvSpPr>
            <p:spPr>
              <a:xfrm>
                <a:off x="7667625" y="5048250"/>
                <a:ext cx="3905250" cy="790575"/>
              </a:xfrm>
              <a:prstGeom prst="rect">
                <a:avLst/>
              </a:prstGeom>
              <a:noFill/>
              <a:ln w="0">
                <a:noFill/>
              </a:ln>
            </p:spPr>
            <p:txBody>
              <a:bodyPr wrap="none" lIns="0" tIns="0" rIns="0" bIns="0" anchor="ctr">
                <a:noAutofit/>
              </a:bodyPr>
              <a:lstStyle/>
              <a:p>
                <a:pPr algn="ctr">
                  <a:lnSpc>
                    <a:spcPts val="2500"/>
                  </a:lnSpc>
                </a:pPr>
                <a:r>
                  <a:rPr lang="en-GB" sz="2025" b="0" dirty="0">
                    <a:solidFill>
                      <a:srgbClr val="FF0000"/>
                    </a:solidFill>
                    <a:latin typeface="DejaVu Sans"/>
                  </a:rPr>
                  <a:t>Changing </a:t>
                </a:r>
                <a14:m>
                  <m:oMath xmlns:m="http://schemas.openxmlformats.org/officeDocument/2006/math">
                    <m:r>
                      <a:rPr lang="en-GB" sz="2025">
                        <a:solidFill>
                          <a:srgbClr val="FF0000"/>
                        </a:solidFill>
                        <a:latin typeface="Cambria Math"/>
                        <a:ea typeface="Cambria Math"/>
                        <a:cs typeface="Cambria Math"/>
                      </a:rPr>
                      <m:t>𝜃</m:t>
                    </m:r>
                  </m:oMath>
                </a14:m>
                <a:r>
                  <a:rPr lang="en-GB" sz="2025" b="0" dirty="0">
                    <a:solidFill>
                      <a:srgbClr val="FF0000"/>
                    </a:solidFill>
                    <a:latin typeface="DejaVu Sans"/>
                  </a:rPr>
                  <a:t> shifts the</a:t>
                </a:r>
                <a:endParaRPr lang="en-GB" sz="2025" dirty="0">
                  <a:solidFill>
                    <a:srgbClr val="FF0000"/>
                  </a:solidFill>
                </a:endParaRPr>
              </a:p>
              <a:p>
                <a:pPr algn="ctr">
                  <a:lnSpc>
                    <a:spcPts val="2500"/>
                  </a:lnSpc>
                </a:pPr>
                <a:r>
                  <a:rPr lang="en-GB" sz="2025" b="0" dirty="0">
                    <a:solidFill>
                      <a:srgbClr val="FF0000"/>
                    </a:solidFill>
                    <a:latin typeface="DejaVu Sans"/>
                  </a:rPr>
                  <a:t>graph horizontally.</a:t>
                </a:r>
                <a:endParaRPr lang="en-GB" sz="2025" dirty="0">
                  <a:solidFill>
                    <a:srgbClr val="FF0000"/>
                  </a:solidFill>
                </a:endParaRPr>
              </a:p>
            </p:txBody>
          </p:sp>
        </mc:Choice>
        <mc:Fallback xmlns="">
          <p:sp>
            <p:nvSpPr>
              <p:cNvPr id="12" name="text_7">
                <a:extLst>
                  <a:ext uri="{FF2B5EF4-FFF2-40B4-BE49-F238E27FC236}">
                    <a16:creationId xmlns:a16="http://schemas.microsoft.com/office/drawing/2014/main" id="{863B7342-9DFD-4342-BDC2-9F396FF6D084}"/>
                  </a:ext>
                </a:extLst>
              </p:cNvPr>
              <p:cNvSpPr>
                <a:spLocks noGrp="1" noRot="1" noChangeAspect="1" noMove="1" noResize="1" noEditPoints="1" noAdjustHandles="1" noChangeArrowheads="1" noChangeShapeType="1" noTextEdit="1"/>
              </p:cNvSpPr>
              <p:nvPr/>
            </p:nvSpPr>
            <p:spPr>
              <a:xfrm>
                <a:off x="7667625" y="5048250"/>
                <a:ext cx="3905250" cy="790575"/>
              </a:xfrm>
              <a:prstGeom prst="rect">
                <a:avLst/>
              </a:prstGeom>
              <a:blipFill>
                <a:blip r:embed="rId9"/>
                <a:stretch>
                  <a:fillRect t="-769" b="-7692"/>
                </a:stretch>
              </a:blipFill>
              <a:ln w="0">
                <a:noFill/>
              </a:ln>
            </p:spPr>
            <p:txBody>
              <a:bodyPr/>
              <a:lstStyle/>
              <a:p>
                <a:r>
                  <a:rPr lang="it-IT">
                    <a:noFill/>
                  </a:rPr>
                  <a:t> </a:t>
                </a:r>
              </a:p>
            </p:txBody>
          </p:sp>
        </mc:Fallback>
      </mc:AlternateContent>
      <p:sp>
        <p:nvSpPr>
          <p:cNvPr id="13" name="text_8">
            <a:extLst>
              <a:ext uri="{FF2B5EF4-FFF2-40B4-BE49-F238E27FC236}">
                <a16:creationId xmlns:a16="http://schemas.microsoft.com/office/drawing/2014/main" id="{1624C763-E68C-426A-8DE6-8711B3FA7CE6}"/>
              </a:ext>
            </a:extLst>
          </p:cNvPr>
          <p:cNvSpPr>
            <a:spLocks noGrp="1"/>
          </p:cNvSpPr>
          <p:nvPr/>
        </p:nvSpPr>
        <p:spPr>
          <a:xfrm>
            <a:off x="571500" y="5895975"/>
            <a:ext cx="11049000" cy="590550"/>
          </a:xfrm>
          <a:prstGeom prst="rect">
            <a:avLst/>
          </a:prstGeom>
          <a:noFill/>
          <a:ln w="0">
            <a:noFill/>
          </a:ln>
        </p:spPr>
        <p:txBody>
          <a:bodyPr wrap="none" lIns="0" tIns="0" rIns="0" bIns="0" anchor="ctr">
            <a:noAutofit/>
          </a:bodyPr>
          <a:lstStyle/>
          <a:p>
            <a:pPr algn="ctr">
              <a:lnSpc>
                <a:spcPts val="2400"/>
              </a:lnSpc>
            </a:pPr>
            <a:r>
              <a:rPr lang="en-GB" sz="2025" b="1" dirty="0">
                <a:solidFill>
                  <a:srgbClr val="182D45"/>
                </a:solidFill>
                <a:latin typeface="DejaVu Sans"/>
              </a:rPr>
              <a:t>Similar optimisation difficulties can also occur</a:t>
            </a:r>
            <a:endParaRPr lang="en-GB" sz="2025" dirty="0"/>
          </a:p>
          <a:p>
            <a:pPr algn="ctr">
              <a:lnSpc>
                <a:spcPts val="2400"/>
              </a:lnSpc>
            </a:pPr>
            <a:r>
              <a:rPr lang="en-GB" sz="2025" b="1" dirty="0">
                <a:solidFill>
                  <a:srgbClr val="182D45"/>
                </a:solidFill>
                <a:latin typeface="DejaVu Sans"/>
              </a:rPr>
              <a:t>in networks where all parameters can vary.</a:t>
            </a:r>
            <a:endParaRPr lang="en-GB" sz="2025" dirty="0"/>
          </a:p>
        </p:txBody>
      </p:sp>
      <mc:AlternateContent xmlns:mc="http://schemas.openxmlformats.org/markup-compatibility/2006" xmlns:a14="http://schemas.microsoft.com/office/drawing/2010/main">
        <mc:Choice Requires="a14">
          <p:sp>
            <p:nvSpPr>
              <p:cNvPr id="20" name="architecture">
                <a:extLst>
                  <a:ext uri="{FF2B5EF4-FFF2-40B4-BE49-F238E27FC236}">
                    <a16:creationId xmlns:a16="http://schemas.microsoft.com/office/drawing/2014/main" id="{96CF802D-53F6-4B77-9F88-46B1EF7E90FA}"/>
                  </a:ext>
                </a:extLst>
              </p:cNvPr>
              <p:cNvSpPr>
                <a:spLocks noGrp="1"/>
              </p:cNvSpPr>
              <p:nvPr/>
            </p:nvSpPr>
            <p:spPr>
              <a:xfrm>
                <a:off x="428625" y="1647825"/>
                <a:ext cx="11334750" cy="333375"/>
              </a:xfrm>
              <a:prstGeom prst="rect">
                <a:avLst/>
              </a:prstGeom>
              <a:noFill/>
              <a:ln w="0">
                <a:noFill/>
              </a:ln>
            </p:spPr>
            <p:txBody>
              <a:bodyPr wrap="none" lIns="0" tIns="0" rIns="0" bIns="0" anchor="ctr">
                <a:noAutofit/>
              </a:bodyPr>
              <a:lstStyle/>
              <a:p>
                <a:pPr algn="ctr"/>
                <a14:m>
                  <m:oMath xmlns:m="http://schemas.openxmlformats.org/officeDocument/2006/math">
                    <m:r>
                      <a:rPr lang="en-GB" sz="1850">
                        <a:solidFill>
                          <a:srgbClr val="526276"/>
                        </a:solidFill>
                        <a:latin typeface="Cambria Math"/>
                        <a:ea typeface="Cambria Math"/>
                        <a:cs typeface="Cambria Math"/>
                      </a:rPr>
                      <m:t>𝐿</m:t>
                    </m:r>
                    <m:r>
                      <a:rPr lang="en-GB" sz="1850">
                        <a:solidFill>
                          <a:srgbClr val="526276"/>
                        </a:solidFill>
                        <a:latin typeface="Cambria Math"/>
                        <a:ea typeface="Cambria Math"/>
                        <a:cs typeface="Cambria Math"/>
                      </a:rPr>
                      <m:t>=2</m:t>
                    </m:r>
                  </m:oMath>
                </a14:m>
                <a:r>
                  <a:rPr lang="en-GB" sz="1850" b="0" dirty="0">
                    <a:solidFill>
                      <a:srgbClr val="526276"/>
                    </a:solidFill>
                    <a:latin typeface="DejaVu Sans"/>
                  </a:rPr>
                  <a:t>, with widths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0</m:t>
                        </m:r>
                      </m:sub>
                    </m:sSub>
                    <m:r>
                      <a:rPr lang="en-GB" sz="1850">
                        <a:solidFill>
                          <a:srgbClr val="526276"/>
                        </a:solidFill>
                        <a:latin typeface="Cambria Math"/>
                        <a:ea typeface="Cambria Math"/>
                        <a:cs typeface="Cambria Math"/>
                      </a:rPr>
                      <m:t>=1</m:t>
                    </m:r>
                  </m:oMath>
                </a14:m>
                <a:r>
                  <a:rPr lang="en-GB" sz="1850" b="0" dirty="0">
                    <a:solidFill>
                      <a:srgbClr val="526276"/>
                    </a:solidFill>
                    <a:latin typeface="DejaVu Sans"/>
                  </a:rPr>
                  <a:t>,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1</m:t>
                        </m:r>
                      </m:sub>
                    </m:sSub>
                    <m:r>
                      <a:rPr lang="en-GB" sz="1850">
                        <a:solidFill>
                          <a:srgbClr val="526276"/>
                        </a:solidFill>
                        <a:latin typeface="Cambria Math"/>
                        <a:ea typeface="Cambria Math"/>
                        <a:cs typeface="Cambria Math"/>
                      </a:rPr>
                      <m:t>=2</m:t>
                    </m:r>
                  </m:oMath>
                </a14:m>
                <a:r>
                  <a:rPr lang="en-GB" sz="1850" b="0" dirty="0">
                    <a:solidFill>
                      <a:srgbClr val="526276"/>
                    </a:solidFill>
                    <a:latin typeface="DejaVu Sans"/>
                  </a:rPr>
                  <a:t> and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2</m:t>
                        </m:r>
                      </m:sub>
                    </m:sSub>
                    <m:r>
                      <a:rPr lang="en-GB" sz="1850">
                        <a:solidFill>
                          <a:srgbClr val="526276"/>
                        </a:solidFill>
                        <a:latin typeface="Cambria Math"/>
                        <a:ea typeface="Cambria Math"/>
                        <a:cs typeface="Cambria Math"/>
                      </a:rPr>
                      <m:t>=1</m:t>
                    </m:r>
                  </m:oMath>
                </a14:m>
                <a:r>
                  <a:rPr lang="en-GB" sz="1850" b="0" dirty="0">
                    <a:solidFill>
                      <a:srgbClr val="526276"/>
                    </a:solidFill>
                    <a:latin typeface="DejaVu Sans"/>
                  </a:rPr>
                  <a:t>.</a:t>
                </a:r>
                <a:endParaRPr lang="en-GB" sz="1850" dirty="0"/>
              </a:p>
            </p:txBody>
          </p:sp>
        </mc:Choice>
        <mc:Fallback xmlns="">
          <p:sp>
            <p:nvSpPr>
              <p:cNvPr id="20" name="architecture">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1647825"/>
                <a:ext cx="11334750" cy="333375"/>
              </a:xfrm>
              <a:prstGeom prst="rect">
                <a:avLst/>
              </a:prstGeom>
              <a:blipFill>
                <a:blip r:embed="rId10"/>
                <a:stretch>
                  <a:fillRect t="-18182" b="-3454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00499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A660202A-1DB5-45AD-B39B-0E9DC2683451}"/>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regression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AB79B9A-6A2E-45C3-94F4-CA196602F436}"/>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Two observations: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1</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1</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r>
                      <a:rPr lang="en-GB" sz="2175" b="0" i="1" dirty="0" smtClean="0">
                        <a:solidFill>
                          <a:srgbClr val="526276"/>
                        </a:solidFill>
                        <a:latin typeface="Cambria Math" panose="02040503050406030204" pitchFamily="18" charset="0"/>
                        <a:ea typeface="DejaVu Sans"/>
                        <a:cs typeface="DejaVu Sans"/>
                      </a:rPr>
                      <m:t> </m:t>
                    </m:r>
                  </m:oMath>
                </a14:m>
                <a:r>
                  <a:rPr lang="en-GB" sz="2175" b="0" dirty="0">
                    <a:solidFill>
                      <a:srgbClr val="526276"/>
                    </a:solidFill>
                    <a:latin typeface="DejaVu Sans"/>
                    <a:ea typeface="DejaVu Sans"/>
                    <a:cs typeface="DejaVu Sans"/>
                  </a:rPr>
                  <a:t>and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2</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2</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oMath>
                </a14:m>
                <a:r>
                  <a:rPr lang="en-GB"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5AB79B9A-6A2E-45C3-94F4-CA196602F436}"/>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2391E8-8F96-4A6A-A51E-FCED65D7788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4C36854-928E-44A6-92FE-0A371E6A597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7</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p:cNvSpPr>
              <p:nvPr/>
            </p:nvSpPr>
            <p:spPr>
              <a:xfrm>
                <a:off x="428625" y="1771650"/>
                <a:ext cx="1133475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ℒ</m:t>
                          </m:r>
                        </m:e>
                        <m:sub>
                          <m:r>
                            <m:rPr>
                              <m:sty m:val="p"/>
                            </m:rPr>
                            <a:rPr lang="en-GB" sz="3000">
                              <a:solidFill>
                                <a:srgbClr val="087F83"/>
                              </a:solidFill>
                              <a:latin typeface="Cambria Math"/>
                              <a:ea typeface="Cambria Math"/>
                              <a:cs typeface="Cambria Math"/>
                            </a:rPr>
                            <m:t>sq</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𝜃</m:t>
                          </m:r>
                        </m:e>
                      </m:d>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noRot="1" noChangeAspect="1" noMove="1" noResize="1" noEditPoints="1" noAdjustHandles="1" noChangeArrowheads="1" noChangeShapeType="1" noTextEdit="1"/>
              </p:cNvSpPr>
              <p:nvPr/>
            </p:nvSpPr>
            <p:spPr>
              <a:xfrm>
                <a:off x="428625" y="1771650"/>
                <a:ext cx="11334750" cy="8286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905500" y="2809875"/>
          <a:ext cx="5619750" cy="292417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C1D005C-AD57-4CD1-9AEC-82DBAF99AD90}"/>
              </a:ext>
            </a:extLst>
          </p:cNvPr>
          <p:cNvSpPr>
            <a:spLocks noGrp="1"/>
          </p:cNvSpPr>
          <p:nvPr/>
        </p:nvSpPr>
        <p:spPr>
          <a:xfrm>
            <a:off x="8139113" y="5591366"/>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p:cNvSpPr>
              <p:nvPr/>
            </p:nvSpPr>
            <p:spPr>
              <a:xfrm>
                <a:off x="381000" y="3143250"/>
                <a:ext cx="5572125" cy="2133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ℒ</m:t>
                          </m:r>
                        </m:e>
                        <m:sub>
                          <m:r>
                            <m:rPr>
                              <m:sty m:val="p"/>
                            </m:rPr>
                            <a:rPr lang="en-GB" sz="2300">
                              <a:solidFill>
                                <a:srgbClr val="087F83"/>
                              </a:solidFill>
                              <a:latin typeface="Cambria Math"/>
                              <a:ea typeface="Cambria Math"/>
                              <a:cs typeface="Cambria Math"/>
                            </a:rPr>
                            <m:t>sq</m:t>
                          </m:r>
                        </m:sub>
                      </m:sSub>
                      <m:r>
                        <a:rPr lang="en-GB" sz="2300">
                          <a:solidFill>
                            <a:srgbClr val="087F83"/>
                          </a:solidFill>
                          <a:latin typeface="Cambria Math"/>
                          <a:ea typeface="Cambria Math"/>
                          <a:cs typeface="Cambria Math"/>
                        </a:rPr>
                        <m: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m:t>
                      </m:r>
                      <m:d>
                        <m:dPr>
                          <m:begChr m:val="{"/>
                          <m:endChr m:val=""/>
                          <m:ctrlPr>
                            <a:rPr lang="en-GB" sz="23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300" i="1">
                                  <a:solidFill>
                                    <a:srgbClr val="087F83"/>
                                  </a:solidFill>
                                  <a:latin typeface="Cambria Math" panose="02040503050406030204" pitchFamily="18" charset="0"/>
                                  <a:ea typeface="Cambria Math"/>
                                  <a:cs typeface="Cambria Math"/>
                                </a:rPr>
                              </m:ctrlPr>
                            </m:mP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 −1&lt;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&lt;1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
                        </m:e>
                      </m:d>
                    </m:oMath>
                  </m:oMathPara>
                </a14:m>
                <a:endParaRPr lang="en-GB" sz="2300" dirty="0"/>
              </a:p>
            </p:txBody>
          </p:sp>
        </mc:Choice>
        <mc:Fallback xmlns="">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noRot="1" noChangeAspect="1" noMove="1" noResize="1" noEditPoints="1" noAdjustHandles="1" noChangeArrowheads="1" noChangeShapeType="1" noTextEdit="1"/>
              </p:cNvSpPr>
              <p:nvPr/>
            </p:nvSpPr>
            <p:spPr>
              <a:xfrm>
                <a:off x="381000" y="3143250"/>
                <a:ext cx="5572125" cy="21336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6B2AA6C-9ABC-4954-980F-7D678F998C01}"/>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loss is a function of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𝜽</m:t>
                    </m:r>
                  </m:oMath>
                </a14:m>
                <a:r>
                  <a:rPr sz="2100" b="1" dirty="0">
                    <a:solidFill>
                      <a:srgbClr val="182D45"/>
                    </a:solidFill>
                    <a:latin typeface="DejaVu Sans"/>
                    <a:ea typeface="DejaVu Sans"/>
                    <a:cs typeface="DejaVu Sans"/>
                  </a:rPr>
                  <a:t>. Its graph has two valleys.</a:t>
                </a:r>
              </a:p>
            </p:txBody>
          </p:sp>
        </mc:Choice>
        <mc:Fallback xmlns="">
          <p:sp>
            <p:nvSpPr>
              <p:cNvPr id="9" name="text_4">
                <a:extLst>
                  <a:ext uri="{FF2B5EF4-FFF2-40B4-BE49-F238E27FC236}">
                    <a16:creationId xmlns:a16="http://schemas.microsoft.com/office/drawing/2014/main" id="{D6B2AA6C-9ABC-4954-980F-7D678F998C01}"/>
                  </a:ext>
                </a:extLst>
              </p:cNvPr>
              <p:cNvSpPr>
                <a:spLocks noGrp="1" noRot="1" noChangeAspect="1" noMove="1" noResize="1" noEditPoints="1" noAdjustHandles="1" noChangeArrowheads="1" noChangeShapeType="1" noTextEdit="1"/>
              </p:cNvSpPr>
              <p:nvPr/>
            </p:nvSpPr>
            <p:spPr>
              <a:xfrm>
                <a:off x="571500" y="5876925"/>
                <a:ext cx="11049000" cy="504825"/>
              </a:xfrm>
              <a:prstGeom prst="rect">
                <a:avLst/>
              </a:prstGeom>
              <a:blipFill>
                <a:blip r:embed="rId7"/>
                <a:stretch>
                  <a:fillRect b="-1325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89689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0CE0BE9-8B48-4F41-B022-95E6C94EA23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stationary points, different losses</a:t>
            </a:r>
          </a:p>
        </p:txBody>
      </p:sp>
      <p:sp>
        <p:nvSpPr>
          <p:cNvPr id="2" name="lead">
            <a:extLst>
              <a:ext uri="{FF2B5EF4-FFF2-40B4-BE49-F238E27FC236}">
                <a16:creationId xmlns:a16="http://schemas.microsoft.com/office/drawing/2014/main" id="{16E8EE2B-2BC5-492F-888E-F110AD52A1D5}"/>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Both points have derivative zero, but their losses are different.</a:t>
            </a:r>
          </a:p>
        </p:txBody>
      </p:sp>
      <p:sp>
        <p:nvSpPr>
          <p:cNvPr id="3" name="footer_course">
            <a:extLst>
              <a:ext uri="{FF2B5EF4-FFF2-40B4-BE49-F238E27FC236}">
                <a16:creationId xmlns:a16="http://schemas.microsoft.com/office/drawing/2014/main" id="{E080796A-6591-4E81-8F4E-2F2DFEC7F7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95450C62-D3A3-4D21-BF11-DC23A2FA574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8</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pPr algn="ctr"/>
                          <a:r>
                            <a:rPr lang="en-GB" sz="2100" b="1" dirty="0">
                              <a:solidFill>
                                <a:srgbClr val="182D45"/>
                              </a:solidFill>
                              <a:latin typeface="DejaVu Sans"/>
                              <a:ea typeface="DejaVu Sans"/>
                              <a:cs typeface="DejaVu Sans"/>
                            </a:rPr>
                            <a:t>Predictions at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𝒙</m:t>
                              </m:r>
                              <m:r>
                                <a:rPr lang="en-GB" sz="2100" b="1" i="1" dirty="0" smtClean="0">
                                  <a:solidFill>
                                    <a:srgbClr val="182D45"/>
                                  </a:solidFill>
                                  <a:latin typeface="Cambria Math" panose="02040503050406030204" pitchFamily="18" charset="0"/>
                                  <a:ea typeface="DejaVu Sans"/>
                                  <a:cs typeface="DejaVu Sans"/>
                                </a:rPr>
                                <m:t> = −</m:t>
                              </m:r>
                              <m:r>
                                <a:rPr lang="en-GB" sz="2100" b="1" i="1" dirty="0" smtClean="0">
                                  <a:solidFill>
                                    <a:srgbClr val="182D45"/>
                                  </a:solidFill>
                                  <a:latin typeface="Cambria Math" panose="02040503050406030204" pitchFamily="18" charset="0"/>
                                  <a:ea typeface="DejaVu Sans"/>
                                  <a:cs typeface="DejaVu Sans"/>
                                </a:rPr>
                                <m:t>𝟏</m:t>
                              </m:r>
                            </m:oMath>
                          </a14:m>
                          <a:r>
                            <a:rPr lang="it-IT" sz="2100" b="1" dirty="0">
                              <a:solidFill>
                                <a:srgbClr val="182D45"/>
                              </a:solidFill>
                              <a:latin typeface="DejaVu Sans"/>
                              <a:ea typeface="DejaVu Sans"/>
                              <a:cs typeface="DejaVu Sans"/>
                            </a:rPr>
                            <a:t> and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𝟏</m:t>
                              </m:r>
                            </m:oMath>
                          </a14:m>
                          <a:endParaRPr sz="2100" b="1" dirty="0">
                            <a:solidFill>
                              <a:srgbClr val="182D45"/>
                            </a:solidFill>
                            <a:latin typeface="DejaVu Sans"/>
                            <a:ea typeface="DejaVu Sans"/>
                            <a:cs typeface="DejaVu Sans"/>
                          </a:endParaRPr>
                        </a:p>
                      </a:txBody>
                      <a:tcPr marL="95250" marR="95250" marT="66675" marB="66675" anchor="ctr">
                        <a:solidFill>
                          <a:srgbClr val="EDF3F5"/>
                        </a:solid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sz="2100" dirty="0">
                            <a:solidFill>
                              <a:srgbClr val="182D45"/>
                            </a:solidFill>
                            <a:latin typeface="DejaVu Sans"/>
                            <a:ea typeface="DejaVu Sans"/>
                            <a:cs typeface="DejaVu Sans"/>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1"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0</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1"/>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0"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8</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endParaRPr lang="it-IT"/>
                        </a:p>
                      </a:txBody>
                      <a:tcPr marL="95250" marR="95250" marT="66675" marB="66675" anchor="ctr">
                        <a:blipFill>
                          <a:blip r:embed="rId3"/>
                          <a:stretch>
                            <a:fillRect l="-45705" t="-926" r="-45815" b="-202778"/>
                          </a:stretch>
                        </a:blip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endParaRPr lang="it-IT"/>
                        </a:p>
                      </a:txBody>
                      <a:tcPr marL="95250" marR="95250" marT="66675" marB="66675" anchor="ctr">
                        <a:blipFill>
                          <a:blip r:embed="rId3"/>
                          <a:stretch>
                            <a:fillRect l="-242" t="-100000" r="-319807" b="-100917"/>
                          </a:stretch>
                        </a:blipFill>
                      </a:tcPr>
                    </a:tc>
                    <a:tc>
                      <a:txBody>
                        <a:bodyPr/>
                        <a:lstStyle/>
                        <a:p>
                          <a:endParaRPr lang="it-IT"/>
                        </a:p>
                      </a:txBody>
                      <a:tcPr marL="95250" marR="95250" marT="66675" marB="66675" anchor="ctr">
                        <a:blipFill>
                          <a:blip r:embed="rId3"/>
                          <a:stretch>
                            <a:fillRect l="-45705" t="-100000" r="-45815" b="-100917"/>
                          </a:stretch>
                        </a:blipFill>
                      </a:tcPr>
                    </a:tc>
                    <a:tc>
                      <a:txBody>
                        <a:bodyPr/>
                        <a:lstStyle/>
                        <a:p>
                          <a:endParaRPr lang="it-IT"/>
                        </a:p>
                      </a:txBody>
                      <a:tcPr marL="95250" marR="95250" marT="66675" marB="66675" anchor="ctr">
                        <a:blipFill>
                          <a:blip r:embed="rId3"/>
                          <a:stretch>
                            <a:fillRect l="-319565" t="-100000" r="-483" b="-100917"/>
                          </a:stretch>
                        </a:blipFill>
                      </a:tcPr>
                    </a:tc>
                    <a:extLst>
                      <a:ext uri="{0D108BD9-81ED-4DB2-BD59-A6C34878D82A}">
                        <a16:rowId xmlns:a16="http://schemas.microsoft.com/office/drawing/2014/main" val="10001"/>
                      </a:ext>
                    </a:extLst>
                  </a:tr>
                  <a:tr h="657225">
                    <a:tc>
                      <a:txBody>
                        <a:bodyPr/>
                        <a:lstStyle/>
                        <a:p>
                          <a:endParaRPr lang="it-IT"/>
                        </a:p>
                      </a:txBody>
                      <a:tcPr marL="95250" marR="95250" marT="66675" marB="66675" anchor="ctr">
                        <a:blipFill>
                          <a:blip r:embed="rId3"/>
                          <a:stretch>
                            <a:fillRect l="-242" t="-201852" r="-319807" b="-1852"/>
                          </a:stretch>
                        </a:blipFill>
                      </a:tcPr>
                    </a:tc>
                    <a:tc>
                      <a:txBody>
                        <a:bodyPr/>
                        <a:lstStyle/>
                        <a:p>
                          <a:endParaRPr lang="it-IT"/>
                        </a:p>
                      </a:txBody>
                      <a:tcPr marL="95250" marR="95250" marT="66675" marB="66675" anchor="ctr">
                        <a:blipFill>
                          <a:blip r:embed="rId3"/>
                          <a:stretch>
                            <a:fillRect l="-45705" t="-201852" r="-45815" b="-1852"/>
                          </a:stretch>
                        </a:blipFill>
                      </a:tcPr>
                    </a:tc>
                    <a:tc>
                      <a:txBody>
                        <a:bodyPr/>
                        <a:lstStyle/>
                        <a:p>
                          <a:endParaRPr lang="it-IT"/>
                        </a:p>
                      </a:txBody>
                      <a:tcPr marL="95250" marR="95250" marT="66675" marB="66675" anchor="ctr">
                        <a:blipFill>
                          <a:blip r:embed="rId3"/>
                          <a:stretch>
                            <a:fillRect l="-319565" t="-201852" r="-483" b="-1852"/>
                          </a:stretch>
                        </a:blip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6" name="text_1">
                <a:extLst>
                  <a:ext uri="{FF2B5EF4-FFF2-40B4-BE49-F238E27FC236}">
                    <a16:creationId xmlns:a16="http://schemas.microsoft.com/office/drawing/2014/main" id="{813F44E7-530E-49EC-ABCC-C3D86A0BB034}"/>
                  </a:ext>
                </a:extLst>
              </p:cNvPr>
              <p:cNvSpPr>
                <a:spLocks noGrp="1"/>
              </p:cNvSpPr>
              <p:nvPr/>
            </p:nvSpPr>
            <p:spPr>
              <a:xfrm>
                <a:off x="666750" y="4552950"/>
                <a:ext cx="5238750" cy="504825"/>
              </a:xfrm>
              <a:prstGeom prst="rect">
                <a:avLst/>
              </a:prstGeom>
              <a:noFill/>
              <a:ln w="0">
                <a:noFill/>
              </a:ln>
            </p:spPr>
            <p:txBody>
              <a:bodyPr anchor="ctr">
                <a:noAutofit/>
              </a:bodyPr>
              <a:lstStyle/>
              <a:p>
                <a:pPr algn="ctr">
                  <a:defRPr sz="2175" b="1">
                    <a:solidFill>
                      <a:srgbClr val="167B32"/>
                    </a:solidFill>
                    <a:latin typeface="DejaVu Sans"/>
                    <a:ea typeface="DejaVu Sans"/>
                    <a:cs typeface="DejaVu Sans"/>
                  </a:defRPr>
                </a:pPr>
                <a:r>
                  <a:rPr sz="2175" b="1" dirty="0">
                    <a:solidFill>
                      <a:srgbClr val="167B32"/>
                    </a:solidFill>
                    <a:latin typeface="DejaVu Sans"/>
                    <a:ea typeface="DejaVu Sans"/>
                    <a:cs typeface="DejaVu Sans"/>
                  </a:rPr>
                  <a:t>Global minimum at </a:t>
                </a:r>
                <a14:m>
                  <m:oMath xmlns:m="http://schemas.openxmlformats.org/officeDocument/2006/math">
                    <m:r>
                      <a:rPr lang="it-IT" sz="2175" b="1" i="1" dirty="0" smtClean="0">
                        <a:solidFill>
                          <a:srgbClr val="167B32"/>
                        </a:solidFill>
                        <a:latin typeface="Cambria Math" panose="02040503050406030204" pitchFamily="18" charset="0"/>
                        <a:ea typeface="DejaVu Sans"/>
                        <a:cs typeface="DejaVu Sans"/>
                      </a:rPr>
                      <m:t>𝜽</m:t>
                    </m:r>
                    <m:r>
                      <a:rPr lang="it-IT" sz="2175" b="1" i="1" dirty="0" smtClean="0">
                        <a:solidFill>
                          <a:srgbClr val="167B32"/>
                        </a:solidFill>
                        <a:latin typeface="Cambria Math" panose="02040503050406030204" pitchFamily="18" charset="0"/>
                        <a:ea typeface="DejaVu Sans"/>
                        <a:cs typeface="DejaVu Sans"/>
                      </a:rPr>
                      <m:t> = −</m:t>
                    </m:r>
                    <m:r>
                      <a:rPr lang="it-IT" sz="2175" b="1" i="1" dirty="0" smtClean="0">
                        <a:solidFill>
                          <a:srgbClr val="167B32"/>
                        </a:solidFill>
                        <a:latin typeface="Cambria Math" panose="02040503050406030204" pitchFamily="18" charset="0"/>
                        <a:ea typeface="DejaVu Sans"/>
                        <a:cs typeface="DejaVu Sans"/>
                      </a:rPr>
                      <m:t>𝟑</m:t>
                    </m:r>
                  </m:oMath>
                </a14:m>
                <a:endParaRPr sz="2175" b="1" dirty="0">
                  <a:solidFill>
                    <a:srgbClr val="167B32"/>
                  </a:solidFill>
                  <a:latin typeface="DejaVu Sans"/>
                  <a:ea typeface="DejaVu Sans"/>
                  <a:cs typeface="DejaVu Sans"/>
                </a:endParaRPr>
              </a:p>
            </p:txBody>
          </p:sp>
        </mc:Choice>
        <mc:Fallback xmlns="">
          <p:sp>
            <p:nvSpPr>
              <p:cNvPr id="6" name="text_1">
                <a:extLst>
                  <a:ext uri="{FF2B5EF4-FFF2-40B4-BE49-F238E27FC236}">
                    <a16:creationId xmlns:a16="http://schemas.microsoft.com/office/drawing/2014/main" id="{813F44E7-530E-49EC-ABCC-C3D86A0BB034}"/>
                  </a:ext>
                </a:extLst>
              </p:cNvPr>
              <p:cNvSpPr>
                <a:spLocks noGrp="1" noRot="1" noChangeAspect="1" noMove="1" noResize="1" noEditPoints="1" noAdjustHandles="1" noChangeArrowheads="1" noChangeShapeType="1" noTextEdit="1"/>
              </p:cNvSpPr>
              <p:nvPr/>
            </p:nvSpPr>
            <p:spPr>
              <a:xfrm>
                <a:off x="666750" y="4552950"/>
                <a:ext cx="5238750" cy="504825"/>
              </a:xfrm>
              <a:prstGeom prst="rect">
                <a:avLst/>
              </a:prstGeom>
              <a:blipFill>
                <a:blip r:embed="rId4"/>
                <a:stretch>
                  <a:fillRect t="-1205"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5B1CDCE0-D463-4C62-9142-767C0A25158D}"/>
                  </a:ext>
                </a:extLst>
              </p:cNvPr>
              <p:cNvSpPr>
                <a:spLocks noGrp="1"/>
              </p:cNvSpPr>
              <p:nvPr/>
            </p:nvSpPr>
            <p:spPr>
              <a:xfrm>
                <a:off x="6334125" y="4552950"/>
                <a:ext cx="5238750" cy="504825"/>
              </a:xfrm>
              <a:prstGeom prst="rect">
                <a:avLst/>
              </a:prstGeom>
              <a:noFill/>
              <a:ln w="0">
                <a:noFill/>
              </a:ln>
            </p:spPr>
            <p:txBody>
              <a:bodyPr anchor="ctr">
                <a:noAutofit/>
              </a:bodyPr>
              <a:lstStyle/>
              <a:p>
                <a:pPr algn="ctr">
                  <a:defRPr sz="2175" b="1">
                    <a:solidFill>
                      <a:srgbClr val="C45C28"/>
                    </a:solidFill>
                    <a:latin typeface="DejaVu Sans"/>
                    <a:ea typeface="DejaVu Sans"/>
                    <a:cs typeface="DejaVu Sans"/>
                  </a:defRPr>
                </a:pPr>
                <a:r>
                  <a:rPr sz="2175" b="1" dirty="0">
                    <a:solidFill>
                      <a:srgbClr val="C45C28"/>
                    </a:solidFill>
                    <a:latin typeface="DejaVu Sans"/>
                    <a:ea typeface="DejaVu Sans"/>
                    <a:cs typeface="DejaVu Sans"/>
                  </a:rPr>
                  <a:t>Local minimum at </a:t>
                </a:r>
                <a14:m>
                  <m:oMath xmlns:m="http://schemas.openxmlformats.org/officeDocument/2006/math">
                    <m:r>
                      <a:rPr lang="it-IT" sz="2175" b="1" i="1" dirty="0" smtClean="0">
                        <a:solidFill>
                          <a:srgbClr val="C45C28"/>
                        </a:solidFill>
                        <a:latin typeface="Cambria Math" panose="02040503050406030204" pitchFamily="18" charset="0"/>
                        <a:ea typeface="DejaVu Sans"/>
                        <a:cs typeface="DejaVu Sans"/>
                      </a:rPr>
                      <m:t>𝜽</m:t>
                    </m:r>
                    <m:r>
                      <a:rPr lang="it-IT" sz="2175" b="1" i="1" dirty="0" smtClean="0">
                        <a:solidFill>
                          <a:srgbClr val="C45C28"/>
                        </a:solidFill>
                        <a:latin typeface="Cambria Math" panose="02040503050406030204" pitchFamily="18" charset="0"/>
                        <a:ea typeface="DejaVu Sans"/>
                        <a:cs typeface="DejaVu Sans"/>
                      </a:rPr>
                      <m:t> = +</m:t>
                    </m:r>
                    <m:r>
                      <a:rPr lang="it-IT" sz="2175" b="1" i="1" dirty="0" smtClean="0">
                        <a:solidFill>
                          <a:srgbClr val="C45C28"/>
                        </a:solidFill>
                        <a:latin typeface="Cambria Math" panose="02040503050406030204" pitchFamily="18" charset="0"/>
                        <a:ea typeface="DejaVu Sans"/>
                        <a:cs typeface="DejaVu Sans"/>
                      </a:rPr>
                      <m:t>𝟑</m:t>
                    </m:r>
                  </m:oMath>
                </a14:m>
                <a:endParaRPr sz="2175" b="1" dirty="0">
                  <a:solidFill>
                    <a:srgbClr val="C45C28"/>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5B1CDCE0-D463-4C62-9142-767C0A25158D}"/>
                  </a:ext>
                </a:extLst>
              </p:cNvPr>
              <p:cNvSpPr>
                <a:spLocks noGrp="1" noRot="1" noChangeAspect="1" noMove="1" noResize="1" noEditPoints="1" noAdjustHandles="1" noChangeArrowheads="1" noChangeShapeType="1" noTextEdit="1"/>
              </p:cNvSpPr>
              <p:nvPr/>
            </p:nvSpPr>
            <p:spPr>
              <a:xfrm>
                <a:off x="6334125" y="4552950"/>
                <a:ext cx="5238750" cy="504825"/>
              </a:xfrm>
              <a:prstGeom prst="rect">
                <a:avLst/>
              </a:prstGeom>
              <a:blipFill>
                <a:blip r:embed="rId5"/>
                <a:stretch>
                  <a:fillRect t="-1205" b="-14458"/>
                </a:stretch>
              </a:blipFill>
              <a:ln w="0">
                <a:noFill/>
              </a:ln>
            </p:spPr>
            <p:txBody>
              <a:bodyPr/>
              <a:lstStyle/>
              <a:p>
                <a:r>
                  <a:rPr lang="it-IT">
                    <a:noFill/>
                  </a:rPr>
                  <a:t> </a:t>
                </a:r>
              </a:p>
            </p:txBody>
          </p:sp>
        </mc:Fallback>
      </mc:AlternateContent>
      <p:sp>
        <p:nvSpPr>
          <p:cNvPr id="8" name="text_3">
            <a:extLst>
              <a:ext uri="{FF2B5EF4-FFF2-40B4-BE49-F238E27FC236}">
                <a16:creationId xmlns:a16="http://schemas.microsoft.com/office/drawing/2014/main" id="{93709E9E-EB21-4C61-A3F9-D561B9B15260}"/>
              </a:ext>
            </a:extLst>
          </p:cNvPr>
          <p:cNvSpPr>
            <a:spLocks noGrp="1"/>
          </p:cNvSpPr>
          <p:nvPr/>
        </p:nvSpPr>
        <p:spPr>
          <a:xfrm>
            <a:off x="809625"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parameter value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has a smaller loss.</a:t>
            </a:r>
          </a:p>
        </p:txBody>
      </p:sp>
      <p:sp>
        <p:nvSpPr>
          <p:cNvPr id="9" name="text_4">
            <a:extLst>
              <a:ext uri="{FF2B5EF4-FFF2-40B4-BE49-F238E27FC236}">
                <a16:creationId xmlns:a16="http://schemas.microsoft.com/office/drawing/2014/main" id="{B1D6504E-CE7C-4361-8535-92226932CE91}"/>
              </a:ext>
            </a:extLst>
          </p:cNvPr>
          <p:cNvSpPr>
            <a:spLocks noGrp="1"/>
          </p:cNvSpPr>
          <p:nvPr/>
        </p:nvSpPr>
        <p:spPr>
          <a:xfrm>
            <a:off x="6477000"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sufficiently small change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improves the loss.</a:t>
            </a:r>
          </a:p>
        </p:txBody>
      </p:sp>
    </p:spTree>
    <p:extLst>
      <p:ext uri="{BB962C8B-B14F-4D97-AF65-F5344CB8AC3E}">
        <p14:creationId xmlns:p14="http://schemas.microsoft.com/office/powerpoint/2010/main" val="11579324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E467B15-5A7B-4DEF-ACA3-76D2C5BD614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difficulty in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5DCE019-CB50-4C13-A95D-97811814475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Two observations: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1</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1</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m:t>
                        </m:r>
                        <m:r>
                          <a:rPr lang="it-IT" sz="2175" b="0" i="1" dirty="0" smtClean="0">
                            <a:solidFill>
                              <a:srgbClr val="526276"/>
                            </a:solidFill>
                            <a:latin typeface="Cambria Math" panose="02040503050406030204" pitchFamily="18" charset="0"/>
                            <a:ea typeface="DejaVu Sans"/>
                            <a:cs typeface="DejaVu Sans"/>
                          </a:rPr>
                          <m:t>0</m:t>
                        </m:r>
                      </m:e>
                    </m:d>
                    <m:r>
                      <a:rPr lang="ar-AE" sz="2175" i="1" dirty="0">
                        <a:solidFill>
                          <a:srgbClr val="526276"/>
                        </a:solidFill>
                        <a:latin typeface="Cambria Math" panose="02040503050406030204" pitchFamily="18" charset="0"/>
                        <a:ea typeface="DejaVu Sans"/>
                        <a:cs typeface="DejaVu Sans"/>
                      </a:rPr>
                      <m:t> </m:t>
                    </m:r>
                  </m:oMath>
                </a14:m>
                <a:r>
                  <a:rPr lang="en-GB" sz="2175" dirty="0">
                    <a:solidFill>
                      <a:srgbClr val="526276"/>
                    </a:solidFill>
                    <a:latin typeface="DejaVu Sans"/>
                    <a:ea typeface="DejaVu Sans"/>
                    <a:cs typeface="DejaVu Sans"/>
                  </a:rPr>
                  <a:t>and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2</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2</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1, 1</m:t>
                        </m:r>
                      </m:e>
                    </m:d>
                  </m:oMath>
                </a14:m>
                <a:r>
                  <a:rPr lang="ar-AE" sz="2175"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5DCE019-CB50-4C13-A95D-9781181447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5377677-CB25-4F42-8A0F-999A25D9FFD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30FBED-D755-4769-A551-006D7A5533D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39</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p:cNvSpPr>
              <p:nvPr/>
            </p:nvSpPr>
            <p:spPr>
              <a:xfrm>
                <a:off x="285750" y="1809750"/>
                <a:ext cx="11620500" cy="866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𝜃</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oMath>
                  </m:oMathPara>
                </a14:m>
                <a:endParaRPr lang="en-GB" sz="2600" dirty="0"/>
              </a:p>
            </p:txBody>
          </p:sp>
        </mc:Choice>
        <mc:Fallback xmlns="">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noRot="1" noChangeAspect="1" noMove="1" noResize="1" noEditPoints="1" noAdjustHandles="1" noChangeArrowheads="1" noChangeShapeType="1" noTextEdit="1"/>
              </p:cNvSpPr>
              <p:nvPr/>
            </p:nvSpPr>
            <p:spPr>
              <a:xfrm>
                <a:off x="285750" y="1809750"/>
                <a:ext cx="11620500" cy="8667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04825" y="2714625"/>
          <a:ext cx="5876925" cy="2971800"/>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D397354-333E-4F57-A11B-BFF6678E45F3}"/>
              </a:ext>
            </a:extLst>
          </p:cNvPr>
          <p:cNvSpPr>
            <a:spLocks noGrp="1"/>
          </p:cNvSpPr>
          <p:nvPr/>
        </p:nvSpPr>
        <p:spPr>
          <a:xfrm>
            <a:off x="2879884" y="5537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p:graphicFrame>
        <p:nvGraphicFramePr>
          <p:cNvPr id="17" name="Tabella 16"/>
          <p:cNvGraphicFramePr/>
          <p:nvPr/>
        </p:nvGraphicFramePr>
        <p:xfrm>
          <a:off x="6810375" y="3352800"/>
          <a:ext cx="4667250" cy="1933575"/>
        </p:xfrm>
        <a:graphic>
          <a:graphicData uri="http://schemas.openxmlformats.org/drawingml/2006/table">
            <a:tbl>
              <a:tblPr/>
              <a:tblGrid>
                <a:gridCol w="952500">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tblGrid>
              <a:tr h="644525">
                <a:tc>
                  <a:txBody>
                    <a:bodyPr/>
                    <a:lstStyle/>
                    <a:p>
                      <a:pPr algn="ctr"/>
                      <a:r>
                        <a:rPr sz="1800" b="1">
                          <a:solidFill>
                            <a:srgbClr val="182D45"/>
                          </a:solidFill>
                          <a:latin typeface="DejaVu Sans"/>
                          <a:ea typeface="DejaVu Sans"/>
                          <a:cs typeface="DejaVu Sans"/>
                        </a:rPr>
                        <a:t>θ</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Logistic loss</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Mistakes</a:t>
                      </a:r>
                    </a:p>
                  </a:txBody>
                  <a:tcPr marL="95250" marR="95250" marT="66675" marB="66675" anchor="ctr">
                    <a:solidFill>
                      <a:srgbClr val="EDF3F5"/>
                    </a:solidFill>
                  </a:tcPr>
                </a:tc>
                <a:extLst>
                  <a:ext uri="{0D108BD9-81ED-4DB2-BD59-A6C34878D82A}">
                    <a16:rowId xmlns:a16="http://schemas.microsoft.com/office/drawing/2014/main" val="10000"/>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0.627</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0 of 2</a:t>
                      </a:r>
                    </a:p>
                  </a:txBody>
                  <a:tcPr marL="95250" marR="95250" marT="66675" marB="66675" anchor="ctr">
                    <a:solidFill>
                      <a:srgbClr val="FFFFFF"/>
                    </a:solidFill>
                  </a:tcPr>
                </a:tc>
                <a:extLst>
                  <a:ext uri="{0D108BD9-81ED-4DB2-BD59-A6C34878D82A}">
                    <a16:rowId xmlns:a16="http://schemas.microsoft.com/office/drawing/2014/main" val="10001"/>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2.627</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2 of 2</a:t>
                      </a:r>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p:sp>
        <p:nvSpPr>
          <p:cNvPr id="9" name="text_3">
            <a:extLst>
              <a:ext uri="{FF2B5EF4-FFF2-40B4-BE49-F238E27FC236}">
                <a16:creationId xmlns:a16="http://schemas.microsoft.com/office/drawing/2014/main" id="{94A55510-6958-4FB1-9E49-CCFB9487BAD4}"/>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The local minimum can give much worse predictions </a:t>
            </a:r>
            <a:r>
              <a:rPr lang="it-IT" sz="2000" b="1" dirty="0" err="1">
                <a:solidFill>
                  <a:srgbClr val="182D45"/>
                </a:solidFill>
                <a:latin typeface="DejaVu Sans"/>
                <a:ea typeface="DejaVu Sans"/>
                <a:cs typeface="DejaVu Sans"/>
              </a:rPr>
              <a:t>than</a:t>
            </a:r>
            <a:r>
              <a:rPr lang="it-IT" sz="2000" b="1" dirty="0">
                <a:solidFill>
                  <a:srgbClr val="182D45"/>
                </a:solidFill>
                <a:latin typeface="DejaVu Sans"/>
                <a:ea typeface="DejaVu Sans"/>
                <a:cs typeface="DejaVu Sans"/>
              </a:rPr>
              <a:t> the global one</a:t>
            </a:r>
            <a:r>
              <a:rPr sz="2000" b="1"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15000750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024916-BF83-4B7F-81F8-ADA58A86F02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two starting points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3C8AEACA-C994-48D3-9BFB-44E48B577A2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m:t>
                    </m:r>
                    <m:r>
                      <a:rPr lang="ar-AE" sz="2175" b="0" i="1" dirty="0">
                        <a:solidFill>
                          <a:srgbClr val="526276"/>
                        </a:solidFill>
                        <a:latin typeface="Cambria Math" panose="02040503050406030204" pitchFamily="18" charset="0"/>
                        <a:ea typeface="DejaVu Sans"/>
                        <a:cs typeface="DejaVu Sans"/>
                      </a:rPr>
                      <m:t>= −1.5</m:t>
                    </m:r>
                  </m:oMath>
                </a14:m>
                <a:r>
                  <a:rPr lang="ar-AE"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3C8AEACA-C994-48D3-9BFB-44E48B577A23}"/>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7E984C0-C004-484B-BDA9-07E37BC4EF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B03AC8B-BB2D-4ACC-B65F-C4A8246D58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40</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26C1E4F8-1FA5-4C9E-B30E-128BCF8B5B7F}"/>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E1A2184B-AEEB-4EE0-8A7B-81AAA00087D4}"/>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E1A2184B-AEEB-4EE0-8A7B-81AAA00087D4}"/>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059FD6A3-3C18-41F5-B318-81B22850EB34}"/>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059FD6A3-3C18-41F5-B318-81B22850EB34}"/>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16DDEAE5-ACF3-4A9E-9750-CED5553BEF97}"/>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16DDEAE5-ACF3-4A9E-9750-CED5553BEF97}"/>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72ED6694-6582-457D-AA4D-F1BE1F5A24D1}"/>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≈4.5000</m:t>
                      </m:r>
                    </m:oMath>
                  </m:oMathPara>
                </a14:m>
                <a:endParaRPr lang="en-GB" sz="2400"/>
              </a:p>
            </p:txBody>
          </p:sp>
        </mc:Choice>
        <mc:Fallback xmlns="">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≈12.5000</m:t>
                      </m:r>
                    </m:oMath>
                  </m:oMathPara>
                </a14:m>
                <a:endParaRPr lang="en-GB" sz="2400"/>
              </a:p>
            </p:txBody>
          </p:sp>
        </mc:Choice>
        <mc:Fallback xmlns="">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BF233E8A-3219-4BFC-B0F8-0EF9A639C60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BF233E8A-3219-4BFC-B0F8-0EF9A639C60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F081915-8944-476F-A971-4EE78565396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≈−1.8000, 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≈2.8800</m:t>
                      </m:r>
                    </m:oMath>
                  </m:oMathPara>
                </a14:m>
                <a:endParaRPr lang="en-GB" sz="2400"/>
              </a:p>
            </p:txBody>
          </p:sp>
        </mc:Choice>
        <mc:Fallback xmlns="">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≈1.8000, 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≈10.8800</m:t>
                      </m:r>
                    </m:oMath>
                  </m:oMathPara>
                </a14:m>
                <a:endParaRPr lang="en-GB" sz="2400"/>
              </a:p>
            </p:txBody>
          </p:sp>
        </mc:Choice>
        <mc:Fallback xmlns="">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23" name="gd_state_1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239E7536-A7C8-4C42-B633-165C3F16F8D6}"/>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239E7536-A7C8-4C42-B633-165C3F16F8D6}"/>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7F35995F-4B6D-424A-B962-1B0E3DB382C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≈−2.0400, 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≈1.8432</m:t>
                      </m:r>
                    </m:oMath>
                  </m:oMathPara>
                </a14:m>
                <a:endParaRPr lang="en-GB" sz="2400"/>
              </a:p>
            </p:txBody>
          </p:sp>
        </mc:Choice>
        <mc:Fallback xmlns="">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≈2.0400, 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≈9.8432</m:t>
                      </m:r>
                    </m:oMath>
                  </m:oMathPara>
                </a14:m>
                <a:endParaRPr lang="en-GB" sz="2400"/>
              </a:p>
            </p:txBody>
          </p:sp>
        </mc:Choice>
        <mc:Fallback xmlns="">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0" name="gd_state_2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31" name="gd_state_2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32" name="gd_state_2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60B43031-5DA1-4E4D-8551-A5B651E35A81}"/>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60B43031-5DA1-4E4D-8551-A5B651E35A81}"/>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5F0052B-06B7-4F12-AD51-48D7979385A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≈−2.5085, 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≈0.4832</m:t>
                      </m:r>
                    </m:oMath>
                  </m:oMathPara>
                </a14:m>
                <a:endParaRPr lang="en-GB" sz="2400"/>
              </a:p>
            </p:txBody>
          </p:sp>
        </mc:Choice>
        <mc:Fallback xmlns="">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≈2.5085, 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≈8.4832</m:t>
                      </m:r>
                    </m:oMath>
                  </m:oMathPara>
                </a14:m>
                <a:endParaRPr lang="en-GB" sz="2400"/>
              </a:p>
            </p:txBody>
          </p:sp>
        </mc:Choice>
        <mc:Fallback xmlns="">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9" name="gd_state_5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40" name="gd_state_5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41" name="gd_state_5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42" name="gd_state_5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43" name="gd_state_5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44" name="gd_state_5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45" name="gd_state_5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46" name="gd_state_5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47" name="gd_state_5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90333312-3ECE-4793-A31C-9507394C6CB5}"/>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90333312-3ECE-4793-A31C-9507394C6CB5}"/>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1141A245-9A33-4AD5-8531-A8BC08BE9EF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≈−2.8389, 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≈0.0519</m:t>
                      </m:r>
                    </m:oMath>
                  </m:oMathPara>
                </a14:m>
                <a:endParaRPr lang="en-GB" sz="2400"/>
              </a:p>
            </p:txBody>
          </p:sp>
        </mc:Choice>
        <mc:Fallback xmlns="">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≈2.8389, 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≈8.0519</m:t>
                      </m:r>
                    </m:oMath>
                  </m:oMathPara>
                </a14:m>
                <a:endParaRPr lang="en-GB" sz="2400"/>
              </a:p>
            </p:txBody>
          </p:sp>
        </mc:Choice>
        <mc:Fallback xmlns="">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54" name="gd_state_1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55" name="gd_state_1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56" name="gd_state_1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57" name="gd_state_1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58" name="gd_state_1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59" name="gd_state_1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60" name="gd_state_1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61" name="gd_state_1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62" name="gd_state_1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63" name="gd_state_1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64" name="gd_state_1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65" name="gd_state_1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66" name="gd_state_1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67" name="gd_state_1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68" name="gd_state_1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69" name="gd_state_1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70" name="gd_state_1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71" name="gd_state_1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72" name="gd_state_1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7884F3AF-693B-4B49-BDD1-730A11D6B1CD}"/>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7884F3AF-693B-4B49-BDD1-730A11D6B1CD}"/>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b="-3279"/>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4A1045FF-9744-490E-A3EF-EC8A9BB8D830}"/>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≈−2.9827, </m:t>
                      </m:r>
                      <m:sSub>
                        <m:sSubPr>
                          <m:ctrlPr>
                            <a:rPr lang="en-GB" sz="2400" smtClean="0">
                              <a:solidFill>
                                <a:srgbClr val="326CB2"/>
                              </a:solidFill>
                              <a:latin typeface="Cambria Math"/>
                              <a:ea typeface="Cambria Math"/>
                              <a:cs typeface="Cambria Math"/>
                            </a:rPr>
                          </m:ctrlPr>
                        </m:sSubPr>
                        <m:e>
                          <m:r>
                            <a:rPr lang="en-GB" sz="2400" smtClean="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≈0.0006</m:t>
                      </m:r>
                    </m:oMath>
                  </m:oMathPara>
                </a14:m>
                <a:endParaRPr lang="en-GB" sz="2400" dirty="0"/>
              </a:p>
            </p:txBody>
          </p:sp>
        </mc:Choice>
        <mc:Fallback xmlns="">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≈2.9827, 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≈8.0006</m:t>
                      </m:r>
                    </m:oMath>
                  </m:oMathPara>
                </a14:m>
                <a:endParaRPr lang="en-GB" sz="2400" dirty="0"/>
              </a:p>
            </p:txBody>
          </p:sp>
        </mc:Choice>
        <mc:Fallback xmlns="">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79" name="gd_state_2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80" name="gd_state_2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81" name="gd_state_2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82" name="gd_state_2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83" name="gd_state_2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84" name="gd_state_2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85" name="gd_state_2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86" name="gd_state_2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87" name="gd_state_2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88" name="gd_state_20_gd_left_step_10" descr="Gradient descent update: [-2.8389387264, 0.051881467707308185] to [-2.87115098112, 0.03320413933267719]"/>
          <p:cNvCxnSpPr/>
          <p:nvPr/>
        </p:nvCxnSpPr>
        <p:spPr>
          <a:xfrm flipH="1">
            <a:off x="3798409" y="4877356"/>
            <a:ext cx="31869" cy="2886"/>
          </a:xfrm>
          <a:prstGeom prst="line">
            <a:avLst/>
          </a:prstGeom>
          <a:ln w="17145" cap="rnd">
            <a:solidFill>
              <a:srgbClr val="326CB2"/>
            </a:solidFill>
            <a:headEnd type="none" w="sm" len="sm"/>
            <a:tailEnd type="triangle" w="sm" len="sm"/>
          </a:ln>
        </p:spPr>
      </p:cxnSp>
      <p:cxnSp>
        <p:nvCxnSpPr>
          <p:cNvPr id="89" name="gd_state_20_gd_left_step_11" descr="Gradient descent update: [-2.87115098112, 0.03320413933267719] to [-2.896920784896, 0.02125064917291344]"/>
          <p:cNvCxnSpPr/>
          <p:nvPr/>
        </p:nvCxnSpPr>
        <p:spPr>
          <a:xfrm flipH="1">
            <a:off x="3772914" y="4880242"/>
            <a:ext cx="25495" cy="1847"/>
          </a:xfrm>
          <a:prstGeom prst="line">
            <a:avLst/>
          </a:prstGeom>
          <a:ln w="17145" cap="rnd">
            <a:solidFill>
              <a:srgbClr val="326CB2"/>
            </a:solidFill>
            <a:headEnd type="none" w="sm" len="sm"/>
            <a:tailEnd type="triangle" w="sm" len="sm"/>
          </a:ln>
        </p:spPr>
      </p:cxnSp>
      <p:cxnSp>
        <p:nvCxnSpPr>
          <p:cNvPr id="90" name="gd_state_20_gd_left_step_12" descr="Gradient descent update: [-2.896920784896, 0.02125064917291344] to [-2.9175366279168, 0.013600415470664573]"/>
          <p:cNvCxnSpPr/>
          <p:nvPr/>
        </p:nvCxnSpPr>
        <p:spPr>
          <a:xfrm flipH="1">
            <a:off x="3752518" y="4882089"/>
            <a:ext cx="20396" cy="1182"/>
          </a:xfrm>
          <a:prstGeom prst="line">
            <a:avLst/>
          </a:prstGeom>
          <a:ln w="17145" cap="rnd">
            <a:solidFill>
              <a:srgbClr val="326CB2"/>
            </a:solidFill>
            <a:headEnd type="none" w="sm" len="sm"/>
            <a:tailEnd type="triangle" w="sm" len="sm"/>
          </a:ln>
        </p:spPr>
      </p:cxnSp>
      <p:cxnSp>
        <p:nvCxnSpPr>
          <p:cNvPr id="91" name="gd_state_20_gd_left_step_13" descr="Gradient descent update: [-2.9175366279168, 0.013600415470664573] to [-2.93402930233344, 0.008704265901225373]"/>
          <p:cNvCxnSpPr/>
          <p:nvPr/>
        </p:nvCxnSpPr>
        <p:spPr>
          <a:xfrm flipH="1">
            <a:off x="3736202" y="4883271"/>
            <a:ext cx="16317" cy="757"/>
          </a:xfrm>
          <a:prstGeom prst="line">
            <a:avLst/>
          </a:prstGeom>
          <a:ln w="17145" cap="rnd">
            <a:solidFill>
              <a:srgbClr val="326CB2"/>
            </a:solidFill>
            <a:headEnd type="none" w="sm" len="sm"/>
            <a:tailEnd type="triangle" w="sm" len="sm"/>
          </a:ln>
        </p:spPr>
      </p:cxnSp>
      <p:cxnSp>
        <p:nvCxnSpPr>
          <p:cNvPr id="92" name="gd_state_20_gd_left_step_14" descr="Gradient descent update: [-2.93402930233344, 0.008704265901225373] to [-2.947223441866752, 0.005570730176784258]"/>
          <p:cNvCxnSpPr/>
          <p:nvPr/>
        </p:nvCxnSpPr>
        <p:spPr>
          <a:xfrm flipH="1">
            <a:off x="3723148" y="4884028"/>
            <a:ext cx="13053" cy="484"/>
          </a:xfrm>
          <a:prstGeom prst="line">
            <a:avLst/>
          </a:prstGeom>
          <a:ln w="17145" cap="rnd">
            <a:solidFill>
              <a:srgbClr val="326CB2"/>
            </a:solidFill>
            <a:headEnd type="none" w="sm" len="sm"/>
            <a:tailEnd type="triangle" w="sm" len="sm"/>
          </a:ln>
        </p:spPr>
      </p:cxnSp>
      <p:cxnSp>
        <p:nvCxnSpPr>
          <p:cNvPr id="93" name="gd_state_20_gd_left_step_15" descr="Gradient descent update: [-2.947223441866752, 0.005570730176784258] to [-2.9577787534934012, 0.0035652673131419546]"/>
          <p:cNvCxnSpPr/>
          <p:nvPr/>
        </p:nvCxnSpPr>
        <p:spPr>
          <a:xfrm flipH="1">
            <a:off x="3712706" y="4884512"/>
            <a:ext cx="10443" cy="310"/>
          </a:xfrm>
          <a:prstGeom prst="line">
            <a:avLst/>
          </a:prstGeom>
          <a:ln w="17145" cap="rnd">
            <a:solidFill>
              <a:srgbClr val="326CB2"/>
            </a:solidFill>
            <a:headEnd type="none" w="sm" len="sm"/>
            <a:tailEnd type="triangle" w="sm" len="sm"/>
          </a:ln>
        </p:spPr>
      </p:cxnSp>
      <p:cxnSp>
        <p:nvCxnSpPr>
          <p:cNvPr id="94" name="gd_state_20_gd_left_step_16" descr="Gradient descent update: [-2.9577787534934012, 0.0035652673131419546] to [-2.966223002794721, 0.002281771080410827]"/>
          <p:cNvCxnSpPr/>
          <p:nvPr/>
        </p:nvCxnSpPr>
        <p:spPr>
          <a:xfrm flipH="1">
            <a:off x="3704352" y="4884822"/>
            <a:ext cx="8354" cy="198"/>
          </a:xfrm>
          <a:prstGeom prst="line">
            <a:avLst/>
          </a:prstGeom>
          <a:ln w="17145" cap="rnd">
            <a:solidFill>
              <a:srgbClr val="326CB2"/>
            </a:solidFill>
            <a:headEnd type="none" w="sm" len="sm"/>
            <a:tailEnd type="triangle" w="sm" len="sm"/>
          </a:ln>
        </p:spPr>
      </p:cxnSp>
      <p:cxnSp>
        <p:nvCxnSpPr>
          <p:cNvPr id="95" name="gd_state_20_gd_left_step_17" descr="Gradient descent update: [-2.966223002794721, 0.002281771080410827] to [-2.972978402235777, 0.0014603334914629197]"/>
          <p:cNvCxnSpPr/>
          <p:nvPr/>
        </p:nvCxnSpPr>
        <p:spPr>
          <a:xfrm flipH="1">
            <a:off x="3697668" y="4885020"/>
            <a:ext cx="6683" cy="127"/>
          </a:xfrm>
          <a:prstGeom prst="line">
            <a:avLst/>
          </a:prstGeom>
          <a:ln w="17145" cap="rnd">
            <a:solidFill>
              <a:srgbClr val="326CB2"/>
            </a:solidFill>
            <a:headEnd type="none" w="sm" len="sm"/>
            <a:tailEnd type="triangle" w="sm" len="sm"/>
          </a:ln>
        </p:spPr>
      </p:cxnSp>
      <p:cxnSp>
        <p:nvCxnSpPr>
          <p:cNvPr id="96" name="gd_state_20_gd_left_step_18" descr="Gradient descent update: [-2.972978402235777, 0.0014603334914629197] to [-2.9783827217886216, 0.0009346134345362687]"/>
          <p:cNvCxnSpPr/>
          <p:nvPr/>
        </p:nvCxnSpPr>
        <p:spPr>
          <a:xfrm flipH="1">
            <a:off x="3692322" y="4885147"/>
            <a:ext cx="5347" cy="81"/>
          </a:xfrm>
          <a:prstGeom prst="line">
            <a:avLst/>
          </a:prstGeom>
          <a:ln w="17145" cap="rnd">
            <a:solidFill>
              <a:srgbClr val="326CB2"/>
            </a:solidFill>
            <a:headEnd type="none" w="sm" len="sm"/>
            <a:tailEnd type="triangle" w="sm" len="sm"/>
          </a:ln>
        </p:spPr>
      </p:cxnSp>
      <p:cxnSp>
        <p:nvCxnSpPr>
          <p:cNvPr id="97" name="gd_state_20_gd_left_step_19" descr="Gradient descent update: [-2.9783827217886216, 0.0009346134345362687] to [-2.9827061774308974, 0.0005981525981032058]"/>
          <p:cNvCxnSpPr/>
          <p:nvPr/>
        </p:nvCxnSpPr>
        <p:spPr>
          <a:xfrm flipH="1">
            <a:off x="3688044" y="4885228"/>
            <a:ext cx="4277" cy="52"/>
          </a:xfrm>
          <a:prstGeom prst="line">
            <a:avLst/>
          </a:prstGeom>
          <a:ln w="17145" cap="rnd">
            <a:solidFill>
              <a:srgbClr val="326CB2"/>
            </a:solidFill>
            <a:headEnd type="none" w="sm" len="sm"/>
            <a:tailEnd type="triangle" w="sm" len="sm"/>
          </a:ln>
        </p:spPr>
      </p:cxnSp>
      <p:cxnSp>
        <p:nvCxnSpPr>
          <p:cNvPr id="98" name="gd_state_2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99" name="gd_state_2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100" name="gd_state_2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101" name="gd_state_2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102" name="gd_state_2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103" name="gd_state_2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104" name="gd_state_2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105" name="gd_state_2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106" name="gd_state_2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107" name="gd_state_2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cxnSp>
        <p:nvCxnSpPr>
          <p:cNvPr id="108" name="gd_state_20_gd_right_step_10" descr="Gradient descent update: [2.8389387264, 8.051881467707307] to [2.87115098112, 8.033204139332677]"/>
          <p:cNvCxnSpPr/>
          <p:nvPr/>
        </p:nvCxnSpPr>
        <p:spPr>
          <a:xfrm>
            <a:off x="9447572" y="3641223"/>
            <a:ext cx="31869" cy="2886"/>
          </a:xfrm>
          <a:prstGeom prst="line">
            <a:avLst/>
          </a:prstGeom>
          <a:ln w="17145" cap="rnd">
            <a:solidFill>
              <a:srgbClr val="C45C28"/>
            </a:solidFill>
            <a:headEnd type="none" w="sm" len="sm"/>
            <a:tailEnd type="triangle" w="sm" len="sm"/>
          </a:ln>
        </p:spPr>
      </p:cxnSp>
      <p:cxnSp>
        <p:nvCxnSpPr>
          <p:cNvPr id="109" name="gd_state_20_gd_right_step_11" descr="Gradient descent update: [2.87115098112, 8.033204139332677] to [2.896920784896, 8.021250649172913]"/>
          <p:cNvCxnSpPr/>
          <p:nvPr/>
        </p:nvCxnSpPr>
        <p:spPr>
          <a:xfrm>
            <a:off x="9479441" y="3644109"/>
            <a:ext cx="25495" cy="1847"/>
          </a:xfrm>
          <a:prstGeom prst="line">
            <a:avLst/>
          </a:prstGeom>
          <a:ln w="17145" cap="rnd">
            <a:solidFill>
              <a:srgbClr val="C45C28"/>
            </a:solidFill>
            <a:headEnd type="none" w="sm" len="sm"/>
            <a:tailEnd type="triangle" w="sm" len="sm"/>
          </a:ln>
        </p:spPr>
      </p:cxnSp>
      <p:cxnSp>
        <p:nvCxnSpPr>
          <p:cNvPr id="110" name="gd_state_20_gd_right_step_12" descr="Gradient descent update: [2.896920784896, 8.021250649172913] to [2.9175366279168, 8.013600415470664]"/>
          <p:cNvCxnSpPr/>
          <p:nvPr/>
        </p:nvCxnSpPr>
        <p:spPr>
          <a:xfrm>
            <a:off x="9504936" y="3645956"/>
            <a:ext cx="20396" cy="1182"/>
          </a:xfrm>
          <a:prstGeom prst="line">
            <a:avLst/>
          </a:prstGeom>
          <a:ln w="17145" cap="rnd">
            <a:solidFill>
              <a:srgbClr val="C45C28"/>
            </a:solidFill>
            <a:headEnd type="none" w="sm" len="sm"/>
            <a:tailEnd type="triangle" w="sm" len="sm"/>
          </a:ln>
        </p:spPr>
      </p:cxnSp>
      <p:cxnSp>
        <p:nvCxnSpPr>
          <p:cNvPr id="111" name="gd_state_20_gd_right_step_13" descr="Gradient descent update: [2.9175366279168, 8.013600415470664] to [2.93402930233344, 8.008704265901226]"/>
          <p:cNvCxnSpPr/>
          <p:nvPr/>
        </p:nvCxnSpPr>
        <p:spPr>
          <a:xfrm>
            <a:off x="9525332" y="3647138"/>
            <a:ext cx="16317" cy="757"/>
          </a:xfrm>
          <a:prstGeom prst="line">
            <a:avLst/>
          </a:prstGeom>
          <a:ln w="17145" cap="rnd">
            <a:solidFill>
              <a:srgbClr val="C45C28"/>
            </a:solidFill>
            <a:headEnd type="none" w="sm" len="sm"/>
            <a:tailEnd type="triangle" w="sm" len="sm"/>
          </a:ln>
        </p:spPr>
      </p:cxnSp>
      <p:cxnSp>
        <p:nvCxnSpPr>
          <p:cNvPr id="112" name="gd_state_20_gd_right_step_14" descr="Gradient descent update: [2.93402930233344, 8.008704265901226] to [2.947223441866752, 8.005570730176784]"/>
          <p:cNvCxnSpPr/>
          <p:nvPr/>
        </p:nvCxnSpPr>
        <p:spPr>
          <a:xfrm>
            <a:off x="9541648" y="3647894"/>
            <a:ext cx="13053" cy="484"/>
          </a:xfrm>
          <a:prstGeom prst="line">
            <a:avLst/>
          </a:prstGeom>
          <a:ln w="17145" cap="rnd">
            <a:solidFill>
              <a:srgbClr val="C45C28"/>
            </a:solidFill>
            <a:headEnd type="none" w="sm" len="sm"/>
            <a:tailEnd type="triangle" w="sm" len="sm"/>
          </a:ln>
        </p:spPr>
      </p:cxnSp>
      <p:cxnSp>
        <p:nvCxnSpPr>
          <p:cNvPr id="113" name="gd_state_20_gd_right_step_15" descr="Gradient descent update: [2.947223441866752, 8.005570730176784] to [2.9577787534934012, 8.003565267313142]"/>
          <p:cNvCxnSpPr/>
          <p:nvPr/>
        </p:nvCxnSpPr>
        <p:spPr>
          <a:xfrm>
            <a:off x="9554702" y="3648378"/>
            <a:ext cx="10443" cy="310"/>
          </a:xfrm>
          <a:prstGeom prst="line">
            <a:avLst/>
          </a:prstGeom>
          <a:ln w="17145" cap="rnd">
            <a:solidFill>
              <a:srgbClr val="C45C28"/>
            </a:solidFill>
            <a:headEnd type="none" w="sm" len="sm"/>
            <a:tailEnd type="triangle" w="sm" len="sm"/>
          </a:ln>
        </p:spPr>
      </p:cxnSp>
      <p:cxnSp>
        <p:nvCxnSpPr>
          <p:cNvPr id="114" name="gd_state_20_gd_right_step_16" descr="Gradient descent update: [2.9577787534934012, 8.003565267313142] to [2.966223002794721, 8.00228177108041]"/>
          <p:cNvCxnSpPr/>
          <p:nvPr/>
        </p:nvCxnSpPr>
        <p:spPr>
          <a:xfrm>
            <a:off x="9565144" y="3648688"/>
            <a:ext cx="8354" cy="198"/>
          </a:xfrm>
          <a:prstGeom prst="line">
            <a:avLst/>
          </a:prstGeom>
          <a:ln w="17145" cap="rnd">
            <a:solidFill>
              <a:srgbClr val="C45C28"/>
            </a:solidFill>
            <a:headEnd type="none" w="sm" len="sm"/>
            <a:tailEnd type="triangle" w="sm" len="sm"/>
          </a:ln>
        </p:spPr>
      </p:cxnSp>
      <p:cxnSp>
        <p:nvCxnSpPr>
          <p:cNvPr id="115" name="gd_state_20_gd_right_step_17" descr="Gradient descent update: [2.966223002794721, 8.00228177108041] to [2.972978402235777, 8.001460333491464]"/>
          <p:cNvCxnSpPr/>
          <p:nvPr/>
        </p:nvCxnSpPr>
        <p:spPr>
          <a:xfrm>
            <a:off x="9573498" y="3648887"/>
            <a:ext cx="6683" cy="127"/>
          </a:xfrm>
          <a:prstGeom prst="line">
            <a:avLst/>
          </a:prstGeom>
          <a:ln w="17145" cap="rnd">
            <a:solidFill>
              <a:srgbClr val="C45C28"/>
            </a:solidFill>
            <a:headEnd type="none" w="sm" len="sm"/>
            <a:tailEnd type="triangle" w="sm" len="sm"/>
          </a:ln>
        </p:spPr>
      </p:cxnSp>
      <p:cxnSp>
        <p:nvCxnSpPr>
          <p:cNvPr id="116" name="gd_state_20_gd_right_step_18" descr="Gradient descent update: [2.972978402235777, 8.001460333491464] to [2.9783827217886216, 8.000934613434536]"/>
          <p:cNvCxnSpPr/>
          <p:nvPr/>
        </p:nvCxnSpPr>
        <p:spPr>
          <a:xfrm>
            <a:off x="9580182" y="3649014"/>
            <a:ext cx="5347" cy="81"/>
          </a:xfrm>
          <a:prstGeom prst="line">
            <a:avLst/>
          </a:prstGeom>
          <a:ln w="17145" cap="rnd">
            <a:solidFill>
              <a:srgbClr val="C45C28"/>
            </a:solidFill>
            <a:headEnd type="none" w="sm" len="sm"/>
            <a:tailEnd type="triangle" w="sm" len="sm"/>
          </a:ln>
        </p:spPr>
      </p:cxnSp>
      <p:cxnSp>
        <p:nvCxnSpPr>
          <p:cNvPr id="117" name="gd_state_20_gd_right_step_19" descr="Gradient descent update: [2.9783827217886216, 8.000934613434536] to [2.9827061774308974, 8.000598152598103]"/>
          <p:cNvCxnSpPr/>
          <p:nvPr/>
        </p:nvCxnSpPr>
        <p:spPr>
          <a:xfrm>
            <a:off x="9585528" y="3649095"/>
            <a:ext cx="4277" cy="52"/>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230951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CD9F0353-1D76-4510-A3B0-479CDE6BD5D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with logistic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495C4C43-988F-4E74-90EE-F29FE6A3A2E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 −1.5 </m:t>
                    </m:r>
                  </m:oMath>
                </a14:m>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495C4C43-988F-4E74-90EE-F29FE6A3A2E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D6C8F8A-2C77-49AB-9008-AE916D2F41A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C9C630D-9F9C-4144-8AAE-F7ACAC2D096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41</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D1C37075-0D99-4D72-B572-0C892C2317C0}"/>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BB83CB7F-11A7-4FE1-B189-B3E206B70257}"/>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BB83CB7F-11A7-4FE1-B189-B3E206B70257}"/>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1D31F602-8E28-4D2A-9240-28A9105B5E50}"/>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1D31F602-8E28-4D2A-9240-28A9105B5E50}"/>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D6F33400-0116-42E5-9BD8-0210AF83C3EB}"/>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D6F33400-0116-42E5-9BD8-0210AF83C3EB}"/>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F8B29D35-3867-4F63-9F3F-94139258B5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≈1.0530</m:t>
                      </m:r>
                    </m:oMath>
                  </m:oMathPara>
                </a14:m>
                <a:endParaRPr lang="en-GB" sz="2400"/>
              </a:p>
            </p:txBody>
          </p:sp>
        </mc:Choice>
        <mc:Fallback xmlns="">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≈3.0530</m:t>
                      </m:r>
                    </m:oMath>
                  </m:oMathPara>
                </a14:m>
                <a:endParaRPr lang="en-GB" sz="2400"/>
              </a:p>
            </p:txBody>
          </p:sp>
        </mc:Choice>
        <mc:Fallback xmlns="">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29C6A537-3FF8-4767-9C15-647824D86F2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29C6A537-3FF8-4767-9C15-647824D86F2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56A5545-04F6-4BAF-BE9F-47B45980AD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≈−1.7733, 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≈0.9154</m:t>
                      </m:r>
                    </m:oMath>
                  </m:oMathPara>
                </a14:m>
                <a:endParaRPr lang="en-GB" sz="2400"/>
              </a:p>
            </p:txBody>
          </p:sp>
        </mc:Choice>
        <mc:Fallback xmlns="">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≈1.7733, 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≈2.9154</m:t>
                      </m:r>
                    </m:oMath>
                  </m:oMathPara>
                </a14:m>
                <a:endParaRPr lang="en-GB" sz="2400"/>
              </a:p>
            </p:txBody>
          </p:sp>
        </mc:Choice>
        <mc:Fallback xmlns="">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23" name="gd_state_1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6C18C8FC-470D-4E5C-9227-C9B16FC13224}"/>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6C18C8FC-470D-4E5C-9227-C9B16FC13224}"/>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DB276A39-331C-4E2E-9F63-BCB88C504964}"/>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≈−2.0028, 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≈0.8190</m:t>
                      </m:r>
                    </m:oMath>
                  </m:oMathPara>
                </a14:m>
                <a:endParaRPr lang="en-GB" sz="2400"/>
              </a:p>
            </p:txBody>
          </p:sp>
        </mc:Choice>
        <mc:Fallback xmlns="">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≈2.0028, 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≈2.8190</m:t>
                      </m:r>
                    </m:oMath>
                  </m:oMathPara>
                </a14:m>
                <a:endParaRPr lang="en-GB" sz="2400"/>
              </a:p>
            </p:txBody>
          </p:sp>
        </mc:Choice>
        <mc:Fallback xmlns="">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0" name="gd_state_2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31" name="gd_state_2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32" name="gd_state_2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FB7920A3-FFEB-4A3D-BA3C-E97EEF4525E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FB7920A3-FFEB-4A3D-BA3C-E97EEF4525E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8CB810E-A511-46E5-9D99-58CBA770A9E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≈−2.4747, 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≈0.6806</m:t>
                      </m:r>
                    </m:oMath>
                  </m:oMathPara>
                </a14:m>
                <a:endParaRPr lang="en-GB" sz="2400"/>
              </a:p>
            </p:txBody>
          </p:sp>
        </mc:Choice>
        <mc:Fallback xmlns="">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≈2.4747, 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≈2.6806</m:t>
                      </m:r>
                    </m:oMath>
                  </m:oMathPara>
                </a14:m>
                <a:endParaRPr lang="en-GB" sz="2400"/>
              </a:p>
            </p:txBody>
          </p:sp>
        </mc:Choice>
        <mc:Fallback xmlns="">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9" name="gd_state_5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40" name="gd_state_5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41" name="gd_state_5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42" name="gd_state_5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43" name="gd_state_5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44" name="gd_state_5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45" name="gd_state_5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46" name="gd_state_5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47" name="gd_state_5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54E53238-0247-42F7-B9C0-CF379317F79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54E53238-0247-42F7-B9C0-CF379317F79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D7A43D3E-41F9-4A29-841F-6F25A58DD555}"/>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≈−2.8233, 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≈0.6327</m:t>
                      </m:r>
                    </m:oMath>
                  </m:oMathPara>
                </a14:m>
                <a:endParaRPr lang="en-GB" sz="2400"/>
              </a:p>
            </p:txBody>
          </p:sp>
        </mc:Choice>
        <mc:Fallback xmlns="">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≈2.8233, 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≈2.6327</m:t>
                      </m:r>
                    </m:oMath>
                  </m:oMathPara>
                </a14:m>
                <a:endParaRPr lang="en-GB" sz="2400"/>
              </a:p>
            </p:txBody>
          </p:sp>
        </mc:Choice>
        <mc:Fallback xmlns="">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54" name="gd_state_1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55" name="gd_state_1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56" name="gd_state_1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57" name="gd_state_1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58" name="gd_state_1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59" name="gd_state_1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60" name="gd_state_1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61" name="gd_state_1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62" name="gd_state_1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63" name="gd_state_1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64" name="gd_state_1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65" name="gd_state_1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66" name="gd_state_1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67" name="gd_state_1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68" name="gd_state_1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69" name="gd_state_1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70" name="gd_state_1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71" name="gd_state_1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72" name="gd_state_1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3B70A569-AEB2-431D-B8C7-00717BE01753}"/>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3B70A569-AEB2-431D-B8C7-00717BE01753}"/>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t="-18033" b="-39344"/>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2E36BC53-F0B1-4FDB-ACA2-6D57AF969A8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≈−2.9802, 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≈0.6266</m:t>
                      </m:r>
                    </m:oMath>
                  </m:oMathPara>
                </a14:m>
                <a:endParaRPr lang="en-GB" sz="2400"/>
              </a:p>
            </p:txBody>
          </p:sp>
        </mc:Choice>
        <mc:Fallback xmlns="">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≈2.9802, 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≈2.6266</m:t>
                      </m:r>
                    </m:oMath>
                  </m:oMathPara>
                </a14:m>
                <a:endParaRPr lang="en-GB" sz="2400"/>
              </a:p>
            </p:txBody>
          </p:sp>
        </mc:Choice>
        <mc:Fallback xmlns="">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79" name="gd_state_2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80" name="gd_state_2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81" name="gd_state_2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82" name="gd_state_2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83" name="gd_state_2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84" name="gd_state_2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85" name="gd_state_2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86" name="gd_state_2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87" name="gd_state_2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88" name="gd_state_20_gd_left_step_10" descr="Gradient descent update: [-2.823285717705432, 0.6326602851760501] to [-2.85799729143087, 0.6304868111411903]"/>
          <p:cNvCxnSpPr/>
          <p:nvPr/>
        </p:nvCxnSpPr>
        <p:spPr>
          <a:xfrm flipH="1">
            <a:off x="3811423" y="4445468"/>
            <a:ext cx="34341" cy="1511"/>
          </a:xfrm>
          <a:prstGeom prst="line">
            <a:avLst/>
          </a:prstGeom>
          <a:ln w="17145" cap="rnd">
            <a:solidFill>
              <a:srgbClr val="326CB2"/>
            </a:solidFill>
            <a:headEnd type="none" w="sm" len="sm"/>
            <a:tailEnd type="triangle" w="sm" len="sm"/>
          </a:ln>
        </p:spPr>
      </p:cxnSp>
      <p:cxnSp>
        <p:nvCxnSpPr>
          <p:cNvPr id="89" name="gd_state_20_gd_left_step_11" descr="Gradient descent update: [-2.85799729143087, 0.6304868111411903] to [-2.8858998352080794, 0.6290825365751509]"/>
          <p:cNvCxnSpPr/>
          <p:nvPr/>
        </p:nvCxnSpPr>
        <p:spPr>
          <a:xfrm flipH="1">
            <a:off x="3783818" y="4446979"/>
            <a:ext cx="27605" cy="976"/>
          </a:xfrm>
          <a:prstGeom prst="line">
            <a:avLst/>
          </a:prstGeom>
          <a:ln w="17145" cap="rnd">
            <a:solidFill>
              <a:srgbClr val="326CB2"/>
            </a:solidFill>
            <a:headEnd type="none" w="sm" len="sm"/>
            <a:tailEnd type="triangle" w="sm" len="sm"/>
          </a:ln>
        </p:spPr>
      </p:cxnSp>
      <p:cxnSp>
        <p:nvCxnSpPr>
          <p:cNvPr id="90" name="gd_state_20_gd_left_step_12" descr="Gradient descent update: [-2.8858998352080794, 0.6290825365751509] to [-2.908324535247046, 0.6281755705511063]"/>
          <p:cNvCxnSpPr/>
          <p:nvPr/>
        </p:nvCxnSpPr>
        <p:spPr>
          <a:xfrm flipH="1">
            <a:off x="3761632" y="4447956"/>
            <a:ext cx="22185" cy="631"/>
          </a:xfrm>
          <a:prstGeom prst="line">
            <a:avLst/>
          </a:prstGeom>
          <a:ln w="17145" cap="rnd">
            <a:solidFill>
              <a:srgbClr val="326CB2"/>
            </a:solidFill>
            <a:headEnd type="none" w="sm" len="sm"/>
            <a:tailEnd type="triangle" w="sm" len="sm"/>
          </a:ln>
        </p:spPr>
      </p:cxnSp>
      <p:cxnSp>
        <p:nvCxnSpPr>
          <p:cNvPr id="91" name="gd_state_20_gd_left_step_13" descr="Gradient descent update: [-2.908324535247046, 0.6281755705511063] to [-2.9263444866001436, 0.6275899345841608]"/>
          <p:cNvCxnSpPr/>
          <p:nvPr/>
        </p:nvCxnSpPr>
        <p:spPr>
          <a:xfrm flipH="1">
            <a:off x="3743805" y="4448586"/>
            <a:ext cx="17828" cy="407"/>
          </a:xfrm>
          <a:prstGeom prst="line">
            <a:avLst/>
          </a:prstGeom>
          <a:ln w="17145" cap="rnd">
            <a:solidFill>
              <a:srgbClr val="326CB2"/>
            </a:solidFill>
            <a:headEnd type="none" w="sm" len="sm"/>
            <a:tailEnd type="triangle" w="sm" len="sm"/>
          </a:ln>
        </p:spPr>
      </p:cxnSp>
      <p:cxnSp>
        <p:nvCxnSpPr>
          <p:cNvPr id="92" name="gd_state_20_gd_left_step_14" descr="Gradient descent update: [-2.9263444866001436, 0.6275899345841608] to [-2.9408236859316736, 0.6272118417056848]"/>
          <p:cNvCxnSpPr/>
          <p:nvPr/>
        </p:nvCxnSpPr>
        <p:spPr>
          <a:xfrm flipH="1">
            <a:off x="3729480" y="4448994"/>
            <a:ext cx="14325" cy="263"/>
          </a:xfrm>
          <a:prstGeom prst="line">
            <a:avLst/>
          </a:prstGeom>
          <a:ln w="17145" cap="rnd">
            <a:solidFill>
              <a:srgbClr val="326CB2"/>
            </a:solidFill>
            <a:headEnd type="none" w="sm" len="sm"/>
            <a:tailEnd type="triangle" w="sm" len="sm"/>
          </a:ln>
        </p:spPr>
      </p:cxnSp>
      <p:cxnSp>
        <p:nvCxnSpPr>
          <p:cNvPr id="93" name="gd_state_20_gd_left_step_15" descr="Gradient descent update: [-2.9408236859316736, 0.6272118417056848] to [-2.9524572350726865, 0.6269677647978555]"/>
          <p:cNvCxnSpPr/>
          <p:nvPr/>
        </p:nvCxnSpPr>
        <p:spPr>
          <a:xfrm flipH="1">
            <a:off x="3717970" y="4449256"/>
            <a:ext cx="11509" cy="170"/>
          </a:xfrm>
          <a:prstGeom prst="line">
            <a:avLst/>
          </a:prstGeom>
          <a:ln w="17145" cap="rnd">
            <a:solidFill>
              <a:srgbClr val="326CB2"/>
            </a:solidFill>
            <a:headEnd type="none" w="sm" len="sm"/>
            <a:tailEnd type="triangle" w="sm" len="sm"/>
          </a:ln>
        </p:spPr>
      </p:cxnSp>
      <p:cxnSp>
        <p:nvCxnSpPr>
          <p:cNvPr id="94" name="gd_state_20_gd_left_step_16" descr="Gradient descent update: [-2.9524572350726865, 0.6269677647978555] to [-2.9618040772028644, 0.6268102115266608]"/>
          <p:cNvCxnSpPr/>
          <p:nvPr/>
        </p:nvCxnSpPr>
        <p:spPr>
          <a:xfrm flipH="1">
            <a:off x="3708723" y="4449426"/>
            <a:ext cx="9247" cy="110"/>
          </a:xfrm>
          <a:prstGeom prst="line">
            <a:avLst/>
          </a:prstGeom>
          <a:ln w="17145" cap="rnd">
            <a:solidFill>
              <a:srgbClr val="326CB2"/>
            </a:solidFill>
            <a:headEnd type="none" w="sm" len="sm"/>
            <a:tailEnd type="triangle" w="sm" len="sm"/>
          </a:ln>
        </p:spPr>
      </p:cxnSp>
      <p:cxnSp>
        <p:nvCxnSpPr>
          <p:cNvPr id="95" name="gd_state_20_gd_left_step_17" descr="Gradient descent update: [-2.9618040772028644, 0.6268102115266608] to [-2.9693135233043426, 0.626708513989949]"/>
          <p:cNvCxnSpPr/>
          <p:nvPr/>
        </p:nvCxnSpPr>
        <p:spPr>
          <a:xfrm flipH="1">
            <a:off x="3701294" y="4449536"/>
            <a:ext cx="7429" cy="71"/>
          </a:xfrm>
          <a:prstGeom prst="line">
            <a:avLst/>
          </a:prstGeom>
          <a:ln w="17145" cap="rnd">
            <a:solidFill>
              <a:srgbClr val="326CB2"/>
            </a:solidFill>
            <a:headEnd type="none" w="sm" len="sm"/>
            <a:tailEnd type="triangle" w="sm" len="sm"/>
          </a:ln>
        </p:spPr>
      </p:cxnSp>
      <p:cxnSp>
        <p:nvCxnSpPr>
          <p:cNvPr id="96" name="gd_state_20_gd_left_step_18" descr="Gradient descent update: [-2.9693135233043426, 0.626708513989949] to [-2.975346680670965, 0.6266428719596864]"/>
          <p:cNvCxnSpPr/>
          <p:nvPr/>
        </p:nvCxnSpPr>
        <p:spPr>
          <a:xfrm flipH="1">
            <a:off x="3695325" y="4449606"/>
            <a:ext cx="5969" cy="46"/>
          </a:xfrm>
          <a:prstGeom prst="line">
            <a:avLst/>
          </a:prstGeom>
          <a:ln w="17145" cap="rnd">
            <a:solidFill>
              <a:srgbClr val="326CB2"/>
            </a:solidFill>
            <a:headEnd type="none" w="sm" len="sm"/>
            <a:tailEnd type="triangle" w="sm" len="sm"/>
          </a:ln>
        </p:spPr>
      </p:cxnSp>
      <p:cxnSp>
        <p:nvCxnSpPr>
          <p:cNvPr id="97" name="gd_state_20_gd_left_step_19" descr="Gradient descent update: [-2.975346680670965, 0.6266428719596864] to [-2.9801937292217606, 0.6266005031566841]"/>
          <p:cNvCxnSpPr/>
          <p:nvPr/>
        </p:nvCxnSpPr>
        <p:spPr>
          <a:xfrm flipH="1">
            <a:off x="3690530" y="4449652"/>
            <a:ext cx="4795" cy="29"/>
          </a:xfrm>
          <a:prstGeom prst="line">
            <a:avLst/>
          </a:prstGeom>
          <a:ln w="17145" cap="rnd">
            <a:solidFill>
              <a:srgbClr val="326CB2"/>
            </a:solidFill>
            <a:headEnd type="none" w="sm" len="sm"/>
            <a:tailEnd type="triangle" w="sm" len="sm"/>
          </a:ln>
        </p:spPr>
      </p:cxnSp>
      <p:cxnSp>
        <p:nvCxnSpPr>
          <p:cNvPr id="98" name="gd_state_2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99" name="gd_state_2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100" name="gd_state_2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101" name="gd_state_2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102" name="gd_state_2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103" name="gd_state_2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104" name="gd_state_2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105" name="gd_state_2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106" name="gd_state_2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107" name="gd_state_2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cxnSp>
        <p:nvCxnSpPr>
          <p:cNvPr id="108" name="gd_state_20_gd_right_step_10" descr="Gradient descent update: [2.8232857177054314, 2.63266028517605] to [2.85799729143087, 2.63048681114119]"/>
          <p:cNvCxnSpPr/>
          <p:nvPr/>
        </p:nvCxnSpPr>
        <p:spPr>
          <a:xfrm>
            <a:off x="9432086" y="3054818"/>
            <a:ext cx="34341" cy="1511"/>
          </a:xfrm>
          <a:prstGeom prst="line">
            <a:avLst/>
          </a:prstGeom>
          <a:ln w="17145" cap="rnd">
            <a:solidFill>
              <a:srgbClr val="C45C28"/>
            </a:solidFill>
            <a:headEnd type="none" w="sm" len="sm"/>
            <a:tailEnd type="triangle" w="sm" len="sm"/>
          </a:ln>
        </p:spPr>
      </p:cxnSp>
      <p:cxnSp>
        <p:nvCxnSpPr>
          <p:cNvPr id="109" name="gd_state_20_gd_right_step_11" descr="Gradient descent update: [2.85799729143087, 2.63048681114119] to [2.8858998352080794, 2.629082536575151]"/>
          <p:cNvCxnSpPr/>
          <p:nvPr/>
        </p:nvCxnSpPr>
        <p:spPr>
          <a:xfrm>
            <a:off x="9466427" y="3056329"/>
            <a:ext cx="27605" cy="976"/>
          </a:xfrm>
          <a:prstGeom prst="line">
            <a:avLst/>
          </a:prstGeom>
          <a:ln w="17145" cap="rnd">
            <a:solidFill>
              <a:srgbClr val="C45C28"/>
            </a:solidFill>
            <a:headEnd type="none" w="sm" len="sm"/>
            <a:tailEnd type="triangle" w="sm" len="sm"/>
          </a:ln>
        </p:spPr>
      </p:cxnSp>
      <p:cxnSp>
        <p:nvCxnSpPr>
          <p:cNvPr id="110" name="gd_state_20_gd_right_step_12" descr="Gradient descent update: [2.8858998352080794, 2.629082536575151] to [2.908324535247046, 2.6281755705511065]"/>
          <p:cNvCxnSpPr/>
          <p:nvPr/>
        </p:nvCxnSpPr>
        <p:spPr>
          <a:xfrm>
            <a:off x="9494032" y="3057306"/>
            <a:ext cx="22185" cy="631"/>
          </a:xfrm>
          <a:prstGeom prst="line">
            <a:avLst/>
          </a:prstGeom>
          <a:ln w="17145" cap="rnd">
            <a:solidFill>
              <a:srgbClr val="C45C28"/>
            </a:solidFill>
            <a:headEnd type="none" w="sm" len="sm"/>
            <a:tailEnd type="triangle" w="sm" len="sm"/>
          </a:ln>
        </p:spPr>
      </p:cxnSp>
      <p:cxnSp>
        <p:nvCxnSpPr>
          <p:cNvPr id="111" name="gd_state_20_gd_right_step_13" descr="Gradient descent update: [2.908324535247046, 2.6281755705511065] to [2.9263444866001436, 2.6275899345841607]"/>
          <p:cNvCxnSpPr/>
          <p:nvPr/>
        </p:nvCxnSpPr>
        <p:spPr>
          <a:xfrm>
            <a:off x="9516218" y="3057936"/>
            <a:ext cx="17828" cy="407"/>
          </a:xfrm>
          <a:prstGeom prst="line">
            <a:avLst/>
          </a:prstGeom>
          <a:ln w="17145" cap="rnd">
            <a:solidFill>
              <a:srgbClr val="C45C28"/>
            </a:solidFill>
            <a:headEnd type="none" w="sm" len="sm"/>
            <a:tailEnd type="triangle" w="sm" len="sm"/>
          </a:ln>
        </p:spPr>
      </p:cxnSp>
      <p:cxnSp>
        <p:nvCxnSpPr>
          <p:cNvPr id="112" name="gd_state_20_gd_right_step_14" descr="Gradient descent update: [2.9263444866001436, 2.6275899345841607] to [2.940823685931673, 2.6272118417056847]"/>
          <p:cNvCxnSpPr/>
          <p:nvPr/>
        </p:nvCxnSpPr>
        <p:spPr>
          <a:xfrm>
            <a:off x="9534045" y="3058344"/>
            <a:ext cx="14325" cy="263"/>
          </a:xfrm>
          <a:prstGeom prst="line">
            <a:avLst/>
          </a:prstGeom>
          <a:ln w="17145" cap="rnd">
            <a:solidFill>
              <a:srgbClr val="C45C28"/>
            </a:solidFill>
            <a:headEnd type="none" w="sm" len="sm"/>
            <a:tailEnd type="triangle" w="sm" len="sm"/>
          </a:ln>
        </p:spPr>
      </p:cxnSp>
      <p:cxnSp>
        <p:nvCxnSpPr>
          <p:cNvPr id="113" name="gd_state_20_gd_right_step_15" descr="Gradient descent update: [2.940823685931673, 2.6272118417056847] to [2.952457235072686, 2.6269677647978558]"/>
          <p:cNvCxnSpPr/>
          <p:nvPr/>
        </p:nvCxnSpPr>
        <p:spPr>
          <a:xfrm>
            <a:off x="9548370" y="3058606"/>
            <a:ext cx="11509" cy="170"/>
          </a:xfrm>
          <a:prstGeom prst="line">
            <a:avLst/>
          </a:prstGeom>
          <a:ln w="17145" cap="rnd">
            <a:solidFill>
              <a:srgbClr val="C45C28"/>
            </a:solidFill>
            <a:headEnd type="none" w="sm" len="sm"/>
            <a:tailEnd type="triangle" w="sm" len="sm"/>
          </a:ln>
        </p:spPr>
      </p:cxnSp>
      <p:cxnSp>
        <p:nvCxnSpPr>
          <p:cNvPr id="114" name="gd_state_20_gd_right_step_16" descr="Gradient descent update: [2.952457235072686, 2.6269677647978558] to [2.961804077202864, 2.626810211526661]"/>
          <p:cNvCxnSpPr/>
          <p:nvPr/>
        </p:nvCxnSpPr>
        <p:spPr>
          <a:xfrm>
            <a:off x="9559880" y="3058776"/>
            <a:ext cx="9247" cy="110"/>
          </a:xfrm>
          <a:prstGeom prst="line">
            <a:avLst/>
          </a:prstGeom>
          <a:ln w="17145" cap="rnd">
            <a:solidFill>
              <a:srgbClr val="C45C28"/>
            </a:solidFill>
            <a:headEnd type="none" w="sm" len="sm"/>
            <a:tailEnd type="triangle" w="sm" len="sm"/>
          </a:ln>
        </p:spPr>
      </p:cxnSp>
      <p:cxnSp>
        <p:nvCxnSpPr>
          <p:cNvPr id="115" name="gd_state_20_gd_right_step_17" descr="Gradient descent update: [2.961804077202864, 2.626810211526661] to [2.969313523304342, 2.626708513989949]"/>
          <p:cNvCxnSpPr/>
          <p:nvPr/>
        </p:nvCxnSpPr>
        <p:spPr>
          <a:xfrm>
            <a:off x="9569127" y="3058886"/>
            <a:ext cx="7429" cy="71"/>
          </a:xfrm>
          <a:prstGeom prst="line">
            <a:avLst/>
          </a:prstGeom>
          <a:ln w="17145" cap="rnd">
            <a:solidFill>
              <a:srgbClr val="C45C28"/>
            </a:solidFill>
            <a:headEnd type="none" w="sm" len="sm"/>
            <a:tailEnd type="triangle" w="sm" len="sm"/>
          </a:ln>
        </p:spPr>
      </p:cxnSp>
      <p:cxnSp>
        <p:nvCxnSpPr>
          <p:cNvPr id="116" name="gd_state_20_gd_right_step_18" descr="Gradient descent update: [2.969313523304342, 2.626708513989949] to [2.9753466806709645, 2.626642871959686]"/>
          <p:cNvCxnSpPr/>
          <p:nvPr/>
        </p:nvCxnSpPr>
        <p:spPr>
          <a:xfrm>
            <a:off x="9576556" y="3058956"/>
            <a:ext cx="5969" cy="46"/>
          </a:xfrm>
          <a:prstGeom prst="line">
            <a:avLst/>
          </a:prstGeom>
          <a:ln w="17145" cap="rnd">
            <a:solidFill>
              <a:srgbClr val="C45C28"/>
            </a:solidFill>
            <a:headEnd type="none" w="sm" len="sm"/>
            <a:tailEnd type="triangle" w="sm" len="sm"/>
          </a:ln>
        </p:spPr>
      </p:cxnSp>
      <p:cxnSp>
        <p:nvCxnSpPr>
          <p:cNvPr id="117" name="gd_state_20_gd_right_step_19" descr="Gradient descent update: [2.9753466806709645, 2.626642871959686] to [2.98019372922176, 2.626600503156684]"/>
          <p:cNvCxnSpPr/>
          <p:nvPr/>
        </p:nvCxnSpPr>
        <p:spPr>
          <a:xfrm>
            <a:off x="9582525" y="3059002"/>
            <a:ext cx="4795" cy="29"/>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812233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7015F027-3D39-4975-90F3-4AAE6DB6C82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Finding useful solutions in practice</a:t>
            </a:r>
          </a:p>
        </p:txBody>
      </p:sp>
      <p:sp>
        <p:nvSpPr>
          <p:cNvPr id="2" name="lead">
            <a:extLst>
              <a:ext uri="{FF2B5EF4-FFF2-40B4-BE49-F238E27FC236}">
                <a16:creationId xmlns:a16="http://schemas.microsoft.com/office/drawing/2014/main" id="{B7DE42E4-5177-4D4F-AE38-15395D744B7B}"/>
              </a:ext>
            </a:extLst>
          </p:cNvPr>
          <p:cNvSpPr>
            <a:spLocks noGrp="1"/>
          </p:cNvSpPr>
          <p:nvPr/>
        </p:nvSpPr>
        <p:spPr>
          <a:xfrm>
            <a:off x="523871" y="90338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These practical </a:t>
            </a:r>
            <a:r>
              <a:rPr sz="2175" b="0" dirty="0">
                <a:solidFill>
                  <a:srgbClr val="FF0000"/>
                </a:solidFill>
                <a:latin typeface="DejaVu Sans"/>
                <a:ea typeface="DejaVu Sans"/>
                <a:cs typeface="DejaVu Sans"/>
              </a:rPr>
              <a:t>heuristics</a:t>
            </a:r>
            <a:r>
              <a:rPr sz="2175" b="0" dirty="0">
                <a:solidFill>
                  <a:srgbClr val="526276"/>
                </a:solidFill>
                <a:latin typeface="DejaVu Sans"/>
                <a:ea typeface="DejaVu Sans"/>
                <a:cs typeface="DejaVu Sans"/>
              </a:rPr>
              <a:t> can help,</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without guaranteeing </a:t>
            </a:r>
            <a:r>
              <a:rPr lang="it-IT" sz="2175" b="0" dirty="0" err="1">
                <a:solidFill>
                  <a:srgbClr val="526276"/>
                </a:solidFill>
                <a:latin typeface="DejaVu Sans"/>
                <a:ea typeface="DejaVu Sans"/>
                <a:cs typeface="DejaVu Sans"/>
              </a:rPr>
              <a:t>convergence</a:t>
            </a:r>
            <a:r>
              <a:rPr lang="it-IT" sz="2175" b="0" dirty="0">
                <a:solidFill>
                  <a:srgbClr val="526276"/>
                </a:solidFill>
                <a:latin typeface="DejaVu Sans"/>
                <a:ea typeface="DejaVu Sans"/>
                <a:cs typeface="DejaVu Sans"/>
              </a:rPr>
              <a:t> to a</a:t>
            </a:r>
            <a:r>
              <a:rPr sz="2175" b="0" dirty="0">
                <a:solidFill>
                  <a:srgbClr val="526276"/>
                </a:solidFill>
                <a:latin typeface="DejaVu Sans"/>
                <a:ea typeface="DejaVu Sans"/>
                <a:cs typeface="DejaVu Sans"/>
              </a:rPr>
              <a:t> global minimum.</a:t>
            </a:r>
          </a:p>
        </p:txBody>
      </p:sp>
      <p:sp>
        <p:nvSpPr>
          <p:cNvPr id="3" name="footer_course">
            <a:extLst>
              <a:ext uri="{FF2B5EF4-FFF2-40B4-BE49-F238E27FC236}">
                <a16:creationId xmlns:a16="http://schemas.microsoft.com/office/drawing/2014/main" id="{D7BF2048-5671-4051-989A-023604FFD6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D139E99-32BD-4AE8-8B34-D04EA99BB440}"/>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2</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82BCC0A2-1699-4A7D-A2AB-6CA570704F38}"/>
              </a:ext>
            </a:extLst>
          </p:cNvPr>
          <p:cNvSpPr>
            <a:spLocks noGrp="1"/>
          </p:cNvSpPr>
          <p:nvPr/>
        </p:nvSpPr>
        <p:spPr>
          <a:xfrm>
            <a:off x="3381371" y="1714106"/>
            <a:ext cx="5238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Try different </a:t>
            </a:r>
            <a:r>
              <a:rPr sz="2175" b="1" dirty="0" err="1">
                <a:solidFill>
                  <a:srgbClr val="087F83"/>
                </a:solidFill>
                <a:latin typeface="DejaVu Sans"/>
                <a:ea typeface="DejaVu Sans"/>
                <a:cs typeface="DejaVu Sans"/>
              </a:rPr>
              <a:t>initialisations</a:t>
            </a:r>
            <a:endParaRPr sz="2175" b="1" dirty="0">
              <a:solidFill>
                <a:srgbClr val="087F83"/>
              </a:solidFill>
              <a:latin typeface="DejaVu Sans"/>
              <a:ea typeface="DejaVu Sans"/>
              <a:cs typeface="DejaVu Sans"/>
            </a:endParaRPr>
          </a:p>
        </p:txBody>
      </p:sp>
      <p:sp>
        <p:nvSpPr>
          <p:cNvPr id="6" name="text_2">
            <a:extLst>
              <a:ext uri="{FF2B5EF4-FFF2-40B4-BE49-F238E27FC236}">
                <a16:creationId xmlns:a16="http://schemas.microsoft.com/office/drawing/2014/main" id="{7BA0ACF9-270D-42C1-B41C-44866B2B2BD3}"/>
              </a:ext>
            </a:extLst>
          </p:cNvPr>
          <p:cNvSpPr>
            <a:spLocks noGrp="1"/>
          </p:cNvSpPr>
          <p:nvPr/>
        </p:nvSpPr>
        <p:spPr>
          <a:xfrm>
            <a:off x="452434" y="2065758"/>
            <a:ext cx="11096625" cy="74295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180" b="0" dirty="0">
                <a:solidFill>
                  <a:srgbClr val="FF0000"/>
                </a:solidFill>
                <a:latin typeface="DejaVu Sans"/>
                <a:ea typeface="DejaVu Sans"/>
                <a:cs typeface="DejaVu Sans"/>
              </a:rPr>
              <a:t>Different starting points</a:t>
            </a:r>
            <a:r>
              <a:rPr sz="2180" b="0" dirty="0">
                <a:solidFill>
                  <a:srgbClr val="182D45"/>
                </a:solidFill>
                <a:latin typeface="DejaVu Sans"/>
                <a:ea typeface="DejaVu Sans"/>
                <a:cs typeface="DejaVu Sans"/>
              </a:rPr>
              <a:t> can lead to different final </a:t>
            </a:r>
            <a:r>
              <a:rPr lang="it-IT" sz="2180" b="0" dirty="0" err="1">
                <a:solidFill>
                  <a:srgbClr val="182D45"/>
                </a:solidFill>
                <a:latin typeface="DejaVu Sans"/>
                <a:ea typeface="DejaVu Sans"/>
                <a:cs typeface="DejaVu Sans"/>
              </a:rPr>
              <a:t>parameters</a:t>
            </a:r>
            <a:r>
              <a:rPr sz="2180" b="0" dirty="0">
                <a:solidFill>
                  <a:srgbClr val="182D45"/>
                </a:solidFill>
                <a:latin typeface="DejaVu Sans"/>
                <a:ea typeface="DejaVu Sans"/>
                <a:cs typeface="DejaVu Sans"/>
              </a:rPr>
              <a:t>.</a:t>
            </a:r>
          </a:p>
          <a:p>
            <a:pPr algn="ctr">
              <a:defRPr sz="2025"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Keep track of which runs fit the training data better.</a:t>
            </a:r>
          </a:p>
        </p:txBody>
      </p:sp>
      <p:sp>
        <p:nvSpPr>
          <p:cNvPr id="7" name="text_3">
            <a:extLst>
              <a:ext uri="{FF2B5EF4-FFF2-40B4-BE49-F238E27FC236}">
                <a16:creationId xmlns:a16="http://schemas.microsoft.com/office/drawing/2014/main" id="{D0233B3F-5B71-4522-8838-994A78AF7906}"/>
              </a:ext>
            </a:extLst>
          </p:cNvPr>
          <p:cNvSpPr>
            <a:spLocks noGrp="1"/>
          </p:cNvSpPr>
          <p:nvPr/>
        </p:nvSpPr>
        <p:spPr>
          <a:xfrm>
            <a:off x="619121" y="286865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Change how the updates are computed</a:t>
            </a:r>
          </a:p>
        </p:txBody>
      </p:sp>
      <p:sp>
        <p:nvSpPr>
          <p:cNvPr id="8" name="text_4">
            <a:extLst>
              <a:ext uri="{FF2B5EF4-FFF2-40B4-BE49-F238E27FC236}">
                <a16:creationId xmlns:a16="http://schemas.microsoft.com/office/drawing/2014/main" id="{7AFDAF17-BA98-4773-9B6D-AC59EC084D30}"/>
              </a:ext>
            </a:extLst>
          </p:cNvPr>
          <p:cNvSpPr>
            <a:spLocks noGrp="1"/>
          </p:cNvSpPr>
          <p:nvPr/>
        </p:nvSpPr>
        <p:spPr>
          <a:xfrm>
            <a:off x="547684" y="3245704"/>
            <a:ext cx="11096625" cy="1114425"/>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lang="it-IT" sz="2180" b="0" dirty="0" err="1">
                <a:solidFill>
                  <a:srgbClr val="FF0000"/>
                </a:solidFill>
                <a:latin typeface="DejaVu Sans"/>
                <a:ea typeface="DejaVu Sans"/>
                <a:cs typeface="DejaVu Sans"/>
              </a:rPr>
              <a:t>Stochastic</a:t>
            </a:r>
            <a:r>
              <a:rPr lang="it-IT" sz="2180" b="0" dirty="0">
                <a:solidFill>
                  <a:srgbClr val="FF0000"/>
                </a:solidFill>
                <a:latin typeface="DejaVu Sans"/>
                <a:ea typeface="DejaVu Sans"/>
                <a:cs typeface="DejaVu Sans"/>
              </a:rPr>
              <a:t> </a:t>
            </a:r>
            <a:r>
              <a:rPr lang="it-IT" sz="2180" b="0" dirty="0" err="1">
                <a:solidFill>
                  <a:srgbClr val="FF0000"/>
                </a:solidFill>
                <a:latin typeface="DejaVu Sans"/>
                <a:ea typeface="DejaVu Sans"/>
                <a:cs typeface="DejaVu Sans"/>
              </a:rPr>
              <a:t>Gradient</a:t>
            </a:r>
            <a:r>
              <a:rPr lang="it-IT" sz="2180" b="0" dirty="0">
                <a:solidFill>
                  <a:srgbClr val="FF0000"/>
                </a:solidFill>
                <a:latin typeface="DejaVu Sans"/>
                <a:ea typeface="DejaVu Sans"/>
                <a:cs typeface="DejaVu Sans"/>
              </a:rPr>
              <a:t> </a:t>
            </a:r>
            <a:r>
              <a:rPr lang="it-IT" sz="2180" b="0" dirty="0" err="1">
                <a:solidFill>
                  <a:srgbClr val="FF0000"/>
                </a:solidFill>
                <a:latin typeface="DejaVu Sans"/>
                <a:ea typeface="DejaVu Sans"/>
                <a:cs typeface="DejaVu Sans"/>
              </a:rPr>
              <a:t>Descent</a:t>
            </a:r>
            <a:r>
              <a:rPr lang="it-IT" sz="2180" b="0" dirty="0">
                <a:solidFill>
                  <a:srgbClr val="FF0000"/>
                </a:solidFill>
                <a:latin typeface="DejaVu Sans"/>
                <a:ea typeface="DejaVu Sans"/>
                <a:cs typeface="DejaVu Sans"/>
              </a:rPr>
              <a:t>: </a:t>
            </a:r>
            <a:r>
              <a:rPr sz="2180" b="0" dirty="0">
                <a:solidFill>
                  <a:srgbClr val="182D45"/>
                </a:solidFill>
                <a:latin typeface="DejaVu Sans"/>
                <a:ea typeface="DejaVu Sans"/>
                <a:cs typeface="DejaVu Sans"/>
              </a:rPr>
              <a:t>use gradients from small random subsets.</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This may help the iterates leave the region around a local minimum.</a:t>
            </a:r>
          </a:p>
        </p:txBody>
      </p:sp>
      <p:sp>
        <p:nvSpPr>
          <p:cNvPr id="9" name="text_5">
            <a:extLst>
              <a:ext uri="{FF2B5EF4-FFF2-40B4-BE49-F238E27FC236}">
                <a16:creationId xmlns:a16="http://schemas.microsoft.com/office/drawing/2014/main" id="{49DE25A8-5D3D-48AF-8EFA-0A1D2885F32B}"/>
              </a:ext>
            </a:extLst>
          </p:cNvPr>
          <p:cNvSpPr>
            <a:spLocks noGrp="1"/>
          </p:cNvSpPr>
          <p:nvPr/>
        </p:nvSpPr>
        <p:spPr>
          <a:xfrm>
            <a:off x="547685" y="436854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Consider </a:t>
            </a:r>
            <a:r>
              <a:rPr lang="it-IT" sz="2175" b="1" dirty="0" err="1">
                <a:solidFill>
                  <a:srgbClr val="087F83"/>
                </a:solidFill>
                <a:latin typeface="DejaVu Sans"/>
                <a:ea typeface="DejaVu Sans"/>
                <a:cs typeface="DejaVu Sans"/>
              </a:rPr>
              <a:t>increasing</a:t>
            </a:r>
            <a:r>
              <a:rPr lang="it-IT" sz="2175" b="1" dirty="0">
                <a:solidFill>
                  <a:srgbClr val="087F83"/>
                </a:solidFill>
                <a:latin typeface="DejaVu Sans"/>
                <a:ea typeface="DejaVu Sans"/>
                <a:cs typeface="DejaVu Sans"/>
              </a:rPr>
              <a:t> the </a:t>
            </a:r>
            <a:r>
              <a:rPr sz="2175" b="1" dirty="0">
                <a:solidFill>
                  <a:srgbClr val="087F83"/>
                </a:solidFill>
                <a:latin typeface="DejaVu Sans"/>
                <a:ea typeface="DejaVu Sans"/>
                <a:cs typeface="DejaVu Sans"/>
              </a:rPr>
              <a:t>width</a:t>
            </a:r>
          </a:p>
        </p:txBody>
      </p:sp>
      <p:sp>
        <p:nvSpPr>
          <p:cNvPr id="10" name="text_6">
            <a:extLst>
              <a:ext uri="{FF2B5EF4-FFF2-40B4-BE49-F238E27FC236}">
                <a16:creationId xmlns:a16="http://schemas.microsoft.com/office/drawing/2014/main" id="{D3006BC7-E614-45FD-A48E-7462C4857A11}"/>
              </a:ext>
            </a:extLst>
          </p:cNvPr>
          <p:cNvSpPr>
            <a:spLocks noGrp="1"/>
          </p:cNvSpPr>
          <p:nvPr/>
        </p:nvSpPr>
        <p:spPr>
          <a:xfrm>
            <a:off x="323850" y="4654292"/>
            <a:ext cx="11096625" cy="1485994"/>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A wider network can sometimes be easier to </a:t>
            </a:r>
            <a:r>
              <a:rPr sz="2180" b="0" dirty="0" err="1">
                <a:solidFill>
                  <a:srgbClr val="182D45"/>
                </a:solidFill>
                <a:latin typeface="DejaVu Sans"/>
                <a:ea typeface="DejaVu Sans"/>
                <a:cs typeface="DejaVu Sans"/>
              </a:rPr>
              <a:t>optimise</a:t>
            </a:r>
            <a:r>
              <a:rPr sz="2180" b="0" dirty="0">
                <a:solidFill>
                  <a:srgbClr val="182D45"/>
                </a:solidFill>
                <a:latin typeface="DejaVu Sans"/>
                <a:ea typeface="DejaVu Sans"/>
                <a:cs typeface="DejaVu Sans"/>
              </a:rPr>
              <a:t>.</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Increasing width </a:t>
            </a:r>
            <a:r>
              <a:rPr sz="2180" b="0" dirty="0">
                <a:solidFill>
                  <a:srgbClr val="FF0000"/>
                </a:solidFill>
                <a:latin typeface="DejaVu Sans"/>
                <a:ea typeface="DejaVu Sans"/>
                <a:cs typeface="DejaVu Sans"/>
              </a:rPr>
              <a:t>does not guarantee</a:t>
            </a:r>
            <a:r>
              <a:rPr sz="2180" b="0" dirty="0">
                <a:solidFill>
                  <a:srgbClr val="182D45"/>
                </a:solidFill>
                <a:latin typeface="DejaVu Sans"/>
                <a:ea typeface="DejaVu Sans"/>
                <a:cs typeface="DejaVu Sans"/>
              </a:rPr>
              <a:t> that gradient descent</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reaches a global minimum.</a:t>
            </a:r>
          </a:p>
        </p:txBody>
      </p:sp>
    </p:spTree>
    <p:extLst>
      <p:ext uri="{BB962C8B-B14F-4D97-AF65-F5344CB8AC3E}">
        <p14:creationId xmlns:p14="http://schemas.microsoft.com/office/powerpoint/2010/main" val="55676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AD17576B-1270-4BEA-B609-EC9692FBED3F}"/>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B966EE1-B4D5-4A64-83A6-247EB89F02A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3</a:t>
            </a:r>
            <a:endParaRPr sz="1050" b="0" dirty="0">
              <a:solidFill>
                <a:srgbClr val="526276"/>
              </a:solidFill>
              <a:latin typeface="DejaVu Sans"/>
              <a:ea typeface="DejaVu Sans"/>
              <a:cs typeface="DejaVu Sans"/>
            </a:endParaRPr>
          </a:p>
        </p:txBody>
      </p:sp>
      <p:sp>
        <p:nvSpPr>
          <p:cNvPr id="5" name="title">
            <a:extLst>
              <a:ext uri="{FF2B5EF4-FFF2-40B4-BE49-F238E27FC236}">
                <a16:creationId xmlns:a16="http://schemas.microsoft.com/office/drawing/2014/main" id="{B44C4810-CAE0-4DAE-93FD-BF7A9D55FFE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600" b="1">
                <a:solidFill>
                  <a:srgbClr val="182D45"/>
                </a:solidFill>
                <a:latin typeface="DejaVu Sans"/>
                <a:ea typeface="DejaVu Sans"/>
                <a:cs typeface="DejaVu Sans"/>
              </a:defRPr>
            </a:pPr>
            <a:r>
              <a:rPr sz="3600" b="1">
                <a:solidFill>
                  <a:srgbClr val="182D45"/>
                </a:solidFill>
                <a:latin typeface="DejaVu Sans"/>
                <a:ea typeface="DejaVu Sans"/>
                <a:cs typeface="DejaVu Sans"/>
              </a:rPr>
              <a:t>Computing the gradient</a:t>
            </a:r>
          </a:p>
        </p:txBody>
      </p:sp>
      <p:sp>
        <p:nvSpPr>
          <p:cNvPr id="6" name="lead">
            <a:extLst>
              <a:ext uri="{FF2B5EF4-FFF2-40B4-BE49-F238E27FC236}">
                <a16:creationId xmlns:a16="http://schemas.microsoft.com/office/drawing/2014/main" id="{F876655C-576E-4405-BD01-6AFAC4F1650F}"/>
              </a:ext>
            </a:extLst>
          </p:cNvPr>
          <p:cNvSpPr>
            <a:spLocks noGrp="1"/>
          </p:cNvSpPr>
          <p:nvPr/>
        </p:nvSpPr>
        <p:spPr>
          <a:xfrm>
            <a:off x="523875" y="1020000"/>
            <a:ext cx="11144250" cy="7200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Gradient descent </a:t>
            </a:r>
            <a:r>
              <a:rPr sz="2175" b="0" dirty="0">
                <a:solidFill>
                  <a:srgbClr val="526276"/>
                </a:solidFill>
                <a:latin typeface="DejaVu Sans"/>
                <a:ea typeface="DejaVu Sans"/>
                <a:cs typeface="DejaVu Sans"/>
              </a:rPr>
              <a:t>requires the </a:t>
            </a:r>
            <a:r>
              <a:rPr sz="2175" b="0" dirty="0">
                <a:solidFill>
                  <a:srgbClr val="FF0000"/>
                </a:solidFill>
                <a:latin typeface="DejaVu Sans"/>
                <a:ea typeface="DejaVu Sans"/>
                <a:cs typeface="DejaVu Sans"/>
              </a:rPr>
              <a:t>derivative of the loss</a:t>
            </a: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 respect to every </a:t>
            </a:r>
            <a:r>
              <a:rPr sz="2175" b="0" dirty="0">
                <a:solidFill>
                  <a:srgbClr val="FF0000"/>
                </a:solidFill>
                <a:latin typeface="DejaVu Sans"/>
                <a:ea typeface="DejaVu Sans"/>
                <a:cs typeface="DejaVu Sans"/>
              </a:rPr>
              <a:t>weight and bias</a:t>
            </a:r>
            <a:r>
              <a:rPr sz="2175" b="0" dirty="0">
                <a:solidFill>
                  <a:srgbClr val="526276"/>
                </a:solidFill>
                <a:latin typeface="DejaVu Sans"/>
                <a:ea typeface="DejaVu Sans"/>
                <a:cs typeface="DejaVu Sans"/>
              </a:rPr>
              <a:t>.</a:t>
            </a:r>
          </a:p>
        </p:txBody>
      </p:sp>
      <p:sp>
        <p:nvSpPr>
          <p:cNvPr id="7" name="composition">
            <a:extLst>
              <a:ext uri="{FF2B5EF4-FFF2-40B4-BE49-F238E27FC236}">
                <a16:creationId xmlns:a16="http://schemas.microsoft.com/office/drawing/2014/main" id="{08AA75F1-A564-4585-9089-39FA35DCD18E}"/>
              </a:ext>
            </a:extLst>
          </p:cNvPr>
          <p:cNvSpPr>
            <a:spLocks noGrp="1"/>
          </p:cNvSpPr>
          <p:nvPr/>
        </p:nvSpPr>
        <p:spPr>
          <a:xfrm>
            <a:off x="619125" y="2010000"/>
            <a:ext cx="10953750" cy="70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The network composes affine transformations and activation functions.</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We then evaluate the loss.</a:t>
            </a:r>
          </a:p>
        </p:txBody>
      </p:sp>
      <p:sp>
        <p:nvSpPr>
          <p:cNvPr id="8" name="chain_rule">
            <a:extLst>
              <a:ext uri="{FF2B5EF4-FFF2-40B4-BE49-F238E27FC236}">
                <a16:creationId xmlns:a16="http://schemas.microsoft.com/office/drawing/2014/main" id="{7C24EB7C-7F00-47DB-B47E-11B9114CAB05}"/>
              </a:ext>
            </a:extLst>
          </p:cNvPr>
          <p:cNvSpPr>
            <a:spLocks noGrp="1"/>
          </p:cNvSpPr>
          <p:nvPr/>
        </p:nvSpPr>
        <p:spPr>
          <a:xfrm>
            <a:off x="619125" y="2880000"/>
            <a:ext cx="10953750" cy="700000"/>
          </a:xfrm>
          <a:prstGeom prst="rect">
            <a:avLst/>
          </a:prstGeom>
          <a:noFill/>
          <a:ln w="0">
            <a:noFill/>
          </a:ln>
        </p:spPr>
        <p:txBody>
          <a:bodyPr lIns="0" tIns="0" rIns="0" bIns="0" anchor="ctr">
            <a:noAutofit/>
          </a:bodyPr>
          <a:lstStyle/>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Where these operations are </a:t>
            </a:r>
            <a:r>
              <a:rPr sz="2150" b="0" dirty="0">
                <a:solidFill>
                  <a:srgbClr val="FF0000"/>
                </a:solidFill>
                <a:latin typeface="DejaVu Sans"/>
                <a:ea typeface="DejaVu Sans"/>
                <a:cs typeface="DejaVu Sans"/>
              </a:rPr>
              <a:t>differentiable</a:t>
            </a:r>
            <a:r>
              <a:rPr sz="2150" b="0" dirty="0">
                <a:solidFill>
                  <a:srgbClr val="087F83"/>
                </a:solidFill>
                <a:latin typeface="DejaVu Sans"/>
                <a:ea typeface="DejaVu Sans"/>
                <a:cs typeface="DejaVu Sans"/>
              </a:rPr>
              <a:t>,</a:t>
            </a:r>
          </a:p>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we apply the </a:t>
            </a:r>
            <a:r>
              <a:rPr sz="2150" b="0" dirty="0">
                <a:solidFill>
                  <a:srgbClr val="FF0000"/>
                </a:solidFill>
                <a:latin typeface="DejaVu Sans"/>
                <a:ea typeface="DejaVu Sans"/>
                <a:cs typeface="DejaVu Sans"/>
              </a:rPr>
              <a:t>chain rule</a:t>
            </a:r>
            <a:r>
              <a:rPr sz="2150" b="0" dirty="0">
                <a:solidFill>
                  <a:srgbClr val="087F83"/>
                </a:solidFill>
                <a:latin typeface="DejaVu Sans"/>
                <a:ea typeface="DejaVu Sans"/>
                <a:cs typeface="DejaVu Sans"/>
              </a:rPr>
              <a:t> through this composition.</a:t>
            </a:r>
          </a:p>
        </p:txBody>
      </p:sp>
      <p:sp>
        <p:nvSpPr>
          <p:cNvPr id="9" name="takeaway">
            <a:extLst>
              <a:ext uri="{FF2B5EF4-FFF2-40B4-BE49-F238E27FC236}">
                <a16:creationId xmlns:a16="http://schemas.microsoft.com/office/drawing/2014/main" id="{3A2B1598-FFF3-4B61-BA12-F05BA5E11E2D}"/>
              </a:ext>
            </a:extLst>
          </p:cNvPr>
          <p:cNvSpPr>
            <a:spLocks noGrp="1"/>
          </p:cNvSpPr>
          <p:nvPr/>
        </p:nvSpPr>
        <p:spPr>
          <a:xfrm>
            <a:off x="619125" y="5360000"/>
            <a:ext cx="10953750" cy="460000"/>
          </a:xfrm>
          <a:prstGeom prst="rect">
            <a:avLst/>
          </a:prstGeom>
          <a:noFill/>
          <a:ln w="0">
            <a:noFill/>
          </a:ln>
        </p:spPr>
        <p:txBody>
          <a:bodyPr lIns="0" tIns="0" rIns="0" bIns="0"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Backpropagation</a:t>
            </a:r>
            <a:r>
              <a:rPr sz="2250" b="1" dirty="0">
                <a:solidFill>
                  <a:srgbClr val="182D45"/>
                </a:solidFill>
                <a:latin typeface="DejaVu Sans"/>
                <a:ea typeface="DejaVu Sans"/>
                <a:cs typeface="DejaVu Sans"/>
              </a:rPr>
              <a:t> </a:t>
            </a:r>
            <a:r>
              <a:rPr sz="2250" b="1" dirty="0" err="1">
                <a:solidFill>
                  <a:srgbClr val="182D45"/>
                </a:solidFill>
                <a:latin typeface="DejaVu Sans"/>
                <a:ea typeface="DejaVu Sans"/>
                <a:cs typeface="DejaVu Sans"/>
              </a:rPr>
              <a:t>organises</a:t>
            </a:r>
            <a:r>
              <a:rPr sz="2250" b="1" dirty="0">
                <a:solidFill>
                  <a:srgbClr val="182D45"/>
                </a:solidFill>
                <a:latin typeface="DejaVu Sans"/>
                <a:ea typeface="DejaVu Sans"/>
                <a:cs typeface="DejaVu Sans"/>
              </a:rPr>
              <a:t> this calculation efficiently.</a:t>
            </a:r>
          </a:p>
        </p:txBody>
      </p:sp>
      <p:sp>
        <p:nvSpPr>
          <p:cNvPr id="10" name="next_lecture">
            <a:extLst>
              <a:ext uri="{FF2B5EF4-FFF2-40B4-BE49-F238E27FC236}">
                <a16:creationId xmlns:a16="http://schemas.microsoft.com/office/drawing/2014/main" id="{0183824D-E448-498A-A190-51518854DE8E}"/>
              </a:ext>
            </a:extLst>
          </p:cNvPr>
          <p:cNvSpPr>
            <a:spLocks noGrp="1"/>
          </p:cNvSpPr>
          <p:nvPr/>
        </p:nvSpPr>
        <p:spPr>
          <a:xfrm>
            <a:off x="619125" y="6076950"/>
            <a:ext cx="10953750" cy="333375"/>
          </a:xfrm>
          <a:prstGeom prst="rect">
            <a:avLst/>
          </a:prstGeom>
          <a:noFill/>
          <a:ln w="0">
            <a:noFill/>
          </a:ln>
        </p:spPr>
        <p:txBody>
          <a:bodyPr anchor="ctr">
            <a:noAutofit/>
          </a:bodyPr>
          <a:lstStyle/>
          <a:p>
            <a:pPr algn="ctr">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Next lecture: backpropagation.</a:t>
            </a:r>
          </a:p>
        </p:txBody>
      </p:sp>
      <p:sp>
        <p:nvSpPr>
          <p:cNvPr id="11" name="relu_zero_convention"/>
          <p:cNvSpPr txBox="1"/>
          <p:nvPr/>
        </p:nvSpPr>
        <p:spPr>
          <a:xfrm>
            <a:off x="619125" y="3870000"/>
            <a:ext cx="10953750" cy="114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err="1">
                <a:solidFill>
                  <a:srgbClr val="FF0000"/>
                </a:solidFill>
                <a:latin typeface="DejaVu Sans"/>
                <a:ea typeface="DejaVu Sans"/>
                <a:cs typeface="DejaVu Sans"/>
              </a:rPr>
              <a:t>ReLU</a:t>
            </a:r>
            <a:r>
              <a:rPr sz="2150" b="0" dirty="0">
                <a:solidFill>
                  <a:srgbClr val="FF0000"/>
                </a:solidFill>
                <a:latin typeface="DejaVu Sans"/>
                <a:ea typeface="DejaVu Sans"/>
                <a:cs typeface="DejaVu Sans"/>
              </a:rPr>
              <a:t> is not differentiable at zero.</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For parameter updates, we use 0 as its multiplier there.</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This is a </a:t>
            </a:r>
            <a:r>
              <a:rPr sz="2150" b="0" dirty="0">
                <a:solidFill>
                  <a:srgbClr val="FF0000"/>
                </a:solidFill>
                <a:latin typeface="DejaVu Sans"/>
                <a:ea typeface="DejaVu Sans"/>
                <a:cs typeface="DejaVu Sans"/>
              </a:rPr>
              <a:t>computational convention</a:t>
            </a:r>
            <a:r>
              <a:rPr sz="2150" b="0" dirty="0">
                <a:solidFill>
                  <a:srgbClr val="182D45"/>
                </a:solidFill>
                <a:latin typeface="DejaVu Sans"/>
                <a:ea typeface="DejaVu Sans"/>
                <a:cs typeface="DejaVu Sans"/>
              </a:rPr>
              <a:t>, not an ordinary derivative.</a:t>
            </a:r>
          </a:p>
        </p:txBody>
      </p:sp>
    </p:spTree>
    <p:extLst>
      <p:ext uri="{BB962C8B-B14F-4D97-AF65-F5344CB8AC3E}">
        <p14:creationId xmlns:p14="http://schemas.microsoft.com/office/powerpoint/2010/main" val="900079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4</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468</TotalTime>
  <Words>7936</Words>
  <Application>Microsoft Office PowerPoint</Application>
  <DocSecurity>0</DocSecurity>
  <PresentationFormat>Widescreen</PresentationFormat>
  <Paragraphs>873</Paragraphs>
  <Slides>44</Slides>
  <Notes>43</Notes>
  <HiddenSlides>0</HiddenSlides>
  <MMClips>0</MMClips>
  <ScaleCrop>false</ScaleCrop>
  <HeadingPairs>
    <vt:vector size="6" baseType="variant">
      <vt:variant>
        <vt:lpstr>Caratteri utilizzati</vt:lpstr>
      </vt:variant>
      <vt:variant>
        <vt:i4>4</vt:i4>
      </vt:variant>
      <vt:variant>
        <vt:lpstr>Tema</vt:lpstr>
      </vt:variant>
      <vt:variant>
        <vt:i4>2</vt:i4>
      </vt:variant>
      <vt:variant>
        <vt:lpstr>Titoli diapositive</vt:lpstr>
      </vt:variant>
      <vt:variant>
        <vt:i4>44</vt:i4>
      </vt:variant>
    </vt:vector>
  </HeadingPairs>
  <TitlesOfParts>
    <vt:vector size="50" baseType="lpstr">
      <vt:lpstr>Arial</vt:lpstr>
      <vt:lpstr>Calibri</vt:lpstr>
      <vt:lpstr>Cambria Math</vt:lpstr>
      <vt:lpstr>DejaVu Sans</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43</cp:revision>
  <dcterms:created xsi:type="dcterms:W3CDTF">2026-10-03T10:26:10Z</dcterms:created>
  <dcterms:modified xsi:type="dcterms:W3CDTF">2026-10-15T23:31:56Z</dcterms:modified>
</cp:coreProperties>
</file>